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93"/>
  </p:handoutMasterIdLst>
  <p:sldIdLst>
    <p:sldId id="256" r:id="rId3"/>
    <p:sldId id="522" r:id="rId5"/>
    <p:sldId id="2194" r:id="rId6"/>
    <p:sldId id="2197" r:id="rId7"/>
    <p:sldId id="2198" r:id="rId8"/>
    <p:sldId id="2200" r:id="rId9"/>
    <p:sldId id="2201" r:id="rId10"/>
    <p:sldId id="2202" r:id="rId11"/>
    <p:sldId id="2203" r:id="rId12"/>
    <p:sldId id="2205" r:id="rId13"/>
    <p:sldId id="2206" r:id="rId14"/>
    <p:sldId id="2207" r:id="rId15"/>
    <p:sldId id="2208" r:id="rId16"/>
    <p:sldId id="2211" r:id="rId17"/>
    <p:sldId id="2213" r:id="rId18"/>
    <p:sldId id="2214" r:id="rId19"/>
    <p:sldId id="2215" r:id="rId20"/>
    <p:sldId id="2216" r:id="rId21"/>
    <p:sldId id="2219" r:id="rId22"/>
    <p:sldId id="2220" r:id="rId23"/>
    <p:sldId id="2221" r:id="rId24"/>
    <p:sldId id="2223" r:id="rId25"/>
    <p:sldId id="2224" r:id="rId26"/>
    <p:sldId id="2225" r:id="rId27"/>
    <p:sldId id="2226" r:id="rId28"/>
    <p:sldId id="2228" r:id="rId29"/>
    <p:sldId id="2229" r:id="rId30"/>
    <p:sldId id="2230" r:id="rId31"/>
    <p:sldId id="2231" r:id="rId32"/>
    <p:sldId id="2232" r:id="rId33"/>
    <p:sldId id="2233" r:id="rId34"/>
    <p:sldId id="2234" r:id="rId35"/>
    <p:sldId id="2237" r:id="rId36"/>
    <p:sldId id="2238" r:id="rId37"/>
    <p:sldId id="2239" r:id="rId38"/>
    <p:sldId id="2240" r:id="rId39"/>
    <p:sldId id="2241" r:id="rId40"/>
    <p:sldId id="2242" r:id="rId41"/>
    <p:sldId id="2243" r:id="rId42"/>
    <p:sldId id="2244" r:id="rId43"/>
    <p:sldId id="2245" r:id="rId44"/>
    <p:sldId id="2246" r:id="rId45"/>
    <p:sldId id="2247" r:id="rId46"/>
    <p:sldId id="2248" r:id="rId47"/>
    <p:sldId id="2249" r:id="rId48"/>
    <p:sldId id="2250" r:id="rId49"/>
    <p:sldId id="2253" r:id="rId50"/>
    <p:sldId id="2254" r:id="rId51"/>
    <p:sldId id="2256" r:id="rId52"/>
    <p:sldId id="2257" r:id="rId53"/>
    <p:sldId id="2258" r:id="rId54"/>
    <p:sldId id="2261" r:id="rId55"/>
    <p:sldId id="2262" r:id="rId56"/>
    <p:sldId id="2265" r:id="rId57"/>
    <p:sldId id="2266" r:id="rId58"/>
    <p:sldId id="2267" r:id="rId59"/>
    <p:sldId id="2271" r:id="rId60"/>
    <p:sldId id="2272" r:id="rId61"/>
    <p:sldId id="2273" r:id="rId62"/>
    <p:sldId id="2277" r:id="rId63"/>
    <p:sldId id="2278" r:id="rId64"/>
    <p:sldId id="2279" r:id="rId65"/>
    <p:sldId id="2280" r:id="rId66"/>
    <p:sldId id="2283" r:id="rId67"/>
    <p:sldId id="2284" r:id="rId68"/>
    <p:sldId id="2285" r:id="rId69"/>
    <p:sldId id="2286" r:id="rId70"/>
    <p:sldId id="2287" r:id="rId71"/>
    <p:sldId id="2288" r:id="rId72"/>
    <p:sldId id="2289" r:id="rId73"/>
    <p:sldId id="2290" r:id="rId74"/>
    <p:sldId id="2292" r:id="rId75"/>
    <p:sldId id="2293" r:id="rId76"/>
    <p:sldId id="2294" r:id="rId77"/>
    <p:sldId id="2295" r:id="rId78"/>
    <p:sldId id="2296" r:id="rId79"/>
    <p:sldId id="2297" r:id="rId80"/>
    <p:sldId id="2300" r:id="rId81"/>
    <p:sldId id="2301" r:id="rId82"/>
    <p:sldId id="2302" r:id="rId83"/>
    <p:sldId id="2304" r:id="rId84"/>
    <p:sldId id="2303" r:id="rId85"/>
    <p:sldId id="2305" r:id="rId86"/>
    <p:sldId id="2306" r:id="rId87"/>
    <p:sldId id="2307" r:id="rId88"/>
    <p:sldId id="2308" r:id="rId89"/>
    <p:sldId id="2310" r:id="rId90"/>
    <p:sldId id="335" r:id="rId91"/>
    <p:sldId id="283" r:id="rId92"/>
  </p:sldIdLst>
  <p:sldSz cx="12192000" cy="6858000"/>
  <p:notesSz cx="6858000" cy="9144000"/>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晓娟" initials="wang" lastIdx="2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35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6" autoAdjust="0"/>
    <p:restoredTop sz="96871" autoAdjust="0"/>
  </p:normalViewPr>
  <p:slideViewPr>
    <p:cSldViewPr snapToGrid="0">
      <p:cViewPr varScale="1">
        <p:scale>
          <a:sx n="109" d="100"/>
          <a:sy n="109" d="100"/>
        </p:scale>
        <p:origin x="720"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89.xml"/><Relationship Id="rId97" Type="http://schemas.openxmlformats.org/officeDocument/2006/relationships/commentAuthors" Target="commentAuthors.xml"/><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handoutMaster" Target="handoutMasters/handoutMaster1.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591AB7-F5A4-4C0D-8EFD-8068E49AF65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F506D94-0700-400A-A759-B2484DAA309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1">
                <a:solidFill>
                  <a:srgbClr val="FF0000"/>
                </a:solidFill>
              </a:defRPr>
            </a:lvl1pPr>
          </a:lstStyle>
          <a:p>
            <a:fld id="{C11893D6-510C-4F6F-9867-0DA6859ED432}" type="slidenum">
              <a:rPr lang="zh-CN" altLang="en-US" smtClean="0"/>
            </a:fld>
            <a:endParaRPr lang="zh-CN" altLang="en-US" dirty="0"/>
          </a:p>
        </p:txBody>
      </p:sp>
      <p:sp>
        <p:nvSpPr>
          <p:cNvPr id="8" name="圆角矩形 12"/>
          <p:cNvSpPr/>
          <p:nvPr userDrawn="1"/>
        </p:nvSpPr>
        <p:spPr>
          <a:xfrm>
            <a:off x="4063999" y="810988"/>
            <a:ext cx="4117976" cy="693916"/>
          </a:xfrm>
          <a:prstGeom prst="roundRect">
            <a:avLst/>
          </a:prstGeom>
          <a:solidFill>
            <a:schemeClr val="bg1"/>
          </a:solidFill>
          <a:ln w="19050">
            <a:solidFill>
              <a:srgbClr val="1353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descr="C:\Users\wz\Desktop\黑马程序员横板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28544" y="603199"/>
            <a:ext cx="2448556" cy="108038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82771" y="603199"/>
            <a:ext cx="4540102" cy="143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829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3"/>
          <a:stretch>
            <a:fillRect/>
          </a:stretch>
        </p:blipFill>
        <p:spPr>
          <a:xfrm>
            <a:off x="8610600" y="313611"/>
            <a:ext cx="2990476" cy="761905"/>
          </a:xfrm>
          <a:prstGeom prst="rect">
            <a:avLst/>
          </a:prstGeom>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9314"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48" y="0"/>
            <a:ext cx="1220189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0338"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1362"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2386"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914409"/>
          </a:xfrm>
          <a:prstGeom prst="rect">
            <a:avLst/>
          </a:prstGeom>
        </p:spPr>
      </p:pic>
      <p:pic>
        <p:nvPicPr>
          <p:cNvPr id="6"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58806" y="776178"/>
            <a:ext cx="5074388" cy="153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pic>
        <p:nvPicPr>
          <p:cNvPr id="4"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占位符 5"/>
          <p:cNvSpPr>
            <a:spLocks noGrp="1"/>
          </p:cNvSpPr>
          <p:nvPr>
            <p:ph type="body" sz="quarter" idx="10" hasCustomPrompt="1"/>
          </p:nvPr>
        </p:nvSpPr>
        <p:spPr>
          <a:xfrm>
            <a:off x="11206163" y="6527800"/>
            <a:ext cx="479018" cy="255772"/>
          </a:xfrm>
        </p:spPr>
        <p:txBody>
          <a:bodyPr>
            <a:noAutofit/>
          </a:bodyPr>
          <a:lstStyle>
            <a:lvl1pPr marL="0" indent="0" algn="ctr">
              <a:buNone/>
              <a:defRPr sz="1400" b="1">
                <a:solidFill>
                  <a:srgbClr val="FF0000"/>
                </a:solidFill>
              </a:defRPr>
            </a:lvl1pPr>
            <a:lvl2pPr>
              <a:defRPr b="1">
                <a:solidFill>
                  <a:srgbClr val="FF0000"/>
                </a:solidFill>
              </a:defRPr>
            </a:lvl2pPr>
            <a:lvl3pPr>
              <a:defRPr b="1">
                <a:solidFill>
                  <a:srgbClr val="FF0000"/>
                </a:solidFill>
              </a:defRPr>
            </a:lvl3pPr>
            <a:lvl4pPr>
              <a:defRPr b="1">
                <a:solidFill>
                  <a:srgbClr val="FF0000"/>
                </a:solidFill>
              </a:defRPr>
            </a:lvl4pPr>
            <a:lvl5pPr>
              <a:defRPr b="1">
                <a:solidFill>
                  <a:srgbClr val="FF0000"/>
                </a:solidFill>
              </a:defRPr>
            </a:lvl5pPr>
          </a:lstStyle>
          <a:p>
            <a:pPr lvl="0"/>
            <a:fld id="{73FEE35F-1510-4CD3-A5F4-79EF5F7854AC}" type="slidenum">
              <a:rPr lang="zh-CN" altLang="en-US" smtClean="0"/>
            </a:fld>
            <a:endParaRPr lang="zh-CN" altLang="en-US" dirty="0"/>
          </a:p>
        </p:txBody>
      </p:sp>
      <p:sp>
        <p:nvSpPr>
          <p:cNvPr id="7" name="矩形 6"/>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563162" y="317547"/>
            <a:ext cx="2990476" cy="761905"/>
          </a:xfrm>
          <a:prstGeom prst="rect">
            <a:avLst/>
          </a:prstGeom>
        </p:spPr>
      </p:pic>
      <p:sp>
        <p:nvSpPr>
          <p:cNvPr id="4" name="矩形 3"/>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
        <p:nvSpPr>
          <p:cNvPr id="2" name="矩形 1"/>
          <p:cNvSpPr/>
          <p:nvPr userDrawn="1"/>
        </p:nvSpPr>
        <p:spPr>
          <a:xfrm>
            <a:off x="8389" y="6488884"/>
            <a:ext cx="2181138" cy="34814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latin typeface="+mn-lt"/>
                <a:cs typeface="Times New Roman" panose="02020603050405020304" pitchFamily="18" charset="0"/>
              </a:rPr>
              <a:t>www.henu.edu.cn</a:t>
            </a:r>
            <a:endParaRPr lang="zh-CN" altLang="en-US" sz="1400" b="1" dirty="0">
              <a:latin typeface="+mn-lt"/>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png"/><Relationship Id="rId11" Type="http://schemas.openxmlformats.org/officeDocument/2006/relationships/image" Target="../media/image7.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fld>
            <a:endParaRPr lang="zh-CN" altLang="en-US"/>
          </a:p>
        </p:txBody>
      </p:sp>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pic>
        <p:nvPicPr>
          <p:cNvPr id="9" name="图片 13"/>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1.vml"/><Relationship Id="rId4" Type="http://schemas.openxmlformats.org/officeDocument/2006/relationships/slideLayout" Target="../slideLayouts/slideLayout8.xml"/><Relationship Id="rId3" Type="http://schemas.openxmlformats.org/officeDocument/2006/relationships/tags" Target="../tags/tag4.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tags" Target="../tags/tag6.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8.xml"/><Relationship Id="rId2" Type="http://schemas.openxmlformats.org/officeDocument/2006/relationships/tags" Target="../tags/tag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8.xml"/><Relationship Id="rId2" Type="http://schemas.openxmlformats.org/officeDocument/2006/relationships/tags" Target="../tags/tag8.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8.xml"/><Relationship Id="rId2" Type="http://schemas.openxmlformats.org/officeDocument/2006/relationships/tags" Target="../tags/tag10.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8.xml"/><Relationship Id="rId2" Type="http://schemas.openxmlformats.org/officeDocument/2006/relationships/tags" Target="../tags/tag11.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vmlDrawing" Target="../drawings/vmlDrawing2.vml"/><Relationship Id="rId4" Type="http://schemas.openxmlformats.org/officeDocument/2006/relationships/slideLayout" Target="../slideLayouts/slideLayout8.xml"/><Relationship Id="rId3" Type="http://schemas.openxmlformats.org/officeDocument/2006/relationships/tags" Target="../tags/tag13.xml"/><Relationship Id="rId2" Type="http://schemas.openxmlformats.org/officeDocument/2006/relationships/image" Target="../media/image15.e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8.xml"/><Relationship Id="rId2" Type="http://schemas.openxmlformats.org/officeDocument/2006/relationships/tags" Target="../tags/tag14.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8.xml"/><Relationship Id="rId2" Type="http://schemas.openxmlformats.org/officeDocument/2006/relationships/tags" Target="../tags/tag15.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8.xml"/><Relationship Id="rId2" Type="http://schemas.openxmlformats.org/officeDocument/2006/relationships/tags" Target="../tags/tag16.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8.xml"/><Relationship Id="rId2" Type="http://schemas.openxmlformats.org/officeDocument/2006/relationships/tags" Target="../tags/tag1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8.xml"/><Relationship Id="rId2" Type="http://schemas.openxmlformats.org/officeDocument/2006/relationships/tags" Target="../tags/tag19.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tags" Target="../tags/tag20.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8.xml"/><Relationship Id="rId2" Type="http://schemas.openxmlformats.org/officeDocument/2006/relationships/tags" Target="../tags/tag22.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8.xml"/><Relationship Id="rId2" Type="http://schemas.openxmlformats.org/officeDocument/2006/relationships/tags" Target="../tags/tag23.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8.xml"/><Relationship Id="rId2" Type="http://schemas.openxmlformats.org/officeDocument/2006/relationships/tags" Target="../tags/tag24.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8.xml"/><Relationship Id="rId2" Type="http://schemas.openxmlformats.org/officeDocument/2006/relationships/tags" Target="../tags/tag25.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8.xml"/><Relationship Id="rId2" Type="http://schemas.openxmlformats.org/officeDocument/2006/relationships/tags" Target="../tags/tag29.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8.xml"/><Relationship Id="rId2" Type="http://schemas.openxmlformats.org/officeDocument/2006/relationships/tags" Target="../tags/tag31.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8.xml"/><Relationship Id="rId2" Type="http://schemas.openxmlformats.org/officeDocument/2006/relationships/tags" Target="../tags/tag37.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8.xml"/><Relationship Id="rId2" Type="http://schemas.openxmlformats.org/officeDocument/2006/relationships/tags" Target="../tags/tag40.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8.xml"/><Relationship Id="rId2" Type="http://schemas.openxmlformats.org/officeDocument/2006/relationships/tags" Target="../tags/tag42.xml"/><Relationship Id="rId1" Type="http://schemas.openxmlformats.org/officeDocument/2006/relationships/image" Target="../media/image2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8.xml"/><Relationship Id="rId2" Type="http://schemas.openxmlformats.org/officeDocument/2006/relationships/tags" Target="../tags/tag43.xml"/><Relationship Id="rId1" Type="http://schemas.openxmlformats.org/officeDocument/2006/relationships/image" Target="../media/image13.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8.xml"/><Relationship Id="rId2" Type="http://schemas.openxmlformats.org/officeDocument/2006/relationships/tags" Target="../tags/tag44.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8.xml"/><Relationship Id="rId2" Type="http://schemas.openxmlformats.org/officeDocument/2006/relationships/tags" Target="../tags/tag45.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8.xml"/><Relationship Id="rId2" Type="http://schemas.openxmlformats.org/officeDocument/2006/relationships/tags" Target="../tags/tag46.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8.xml"/><Relationship Id="rId2" Type="http://schemas.openxmlformats.org/officeDocument/2006/relationships/tags" Target="../tags/tag48.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8.xml"/><Relationship Id="rId2" Type="http://schemas.openxmlformats.org/officeDocument/2006/relationships/tags" Target="../tags/tag49.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8.xml"/><Relationship Id="rId2" Type="http://schemas.openxmlformats.org/officeDocument/2006/relationships/tags" Target="../tags/tag50.xml"/><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8.xml"/><Relationship Id="rId2" Type="http://schemas.openxmlformats.org/officeDocument/2006/relationships/tags" Target="../tags/tag52.xml"/><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8.xml"/><Relationship Id="rId2" Type="http://schemas.openxmlformats.org/officeDocument/2006/relationships/tags" Target="../tags/tag53.xml"/><Relationship Id="rId1" Type="http://schemas.openxmlformats.org/officeDocument/2006/relationships/image" Target="../media/image24.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8.xml"/><Relationship Id="rId2" Type="http://schemas.openxmlformats.org/officeDocument/2006/relationships/tags" Target="../tags/tag54.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8.xml"/><Relationship Id="rId2" Type="http://schemas.openxmlformats.org/officeDocument/2006/relationships/tags" Target="../tags/tag55.xml"/><Relationship Id="rId1" Type="http://schemas.openxmlformats.org/officeDocument/2006/relationships/image" Target="../media/image1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8.xml"/><Relationship Id="rId2" Type="http://schemas.openxmlformats.org/officeDocument/2006/relationships/tags" Target="../tags/tag56.xml"/><Relationship Id="rId1" Type="http://schemas.openxmlformats.org/officeDocument/2006/relationships/image" Target="../media/image25.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8.xml"/><Relationship Id="rId2" Type="http://schemas.openxmlformats.org/officeDocument/2006/relationships/tags" Target="../tags/tag57.xml"/><Relationship Id="rId1" Type="http://schemas.openxmlformats.org/officeDocument/2006/relationships/image" Target="../media/image26.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8.xml"/><Relationship Id="rId2" Type="http://schemas.openxmlformats.org/officeDocument/2006/relationships/tags" Target="../tags/tag58.xml"/><Relationship Id="rId1" Type="http://schemas.openxmlformats.org/officeDocument/2006/relationships/image" Target="../media/image26.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8.xml"/><Relationship Id="rId2" Type="http://schemas.openxmlformats.org/officeDocument/2006/relationships/tags" Target="../tags/tag59.xml"/><Relationship Id="rId1" Type="http://schemas.openxmlformats.org/officeDocument/2006/relationships/image" Target="../media/image2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60.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8.xml"/><Relationship Id="rId2" Type="http://schemas.openxmlformats.org/officeDocument/2006/relationships/tags" Target="../tags/tag61.xml"/><Relationship Id="rId1" Type="http://schemas.openxmlformats.org/officeDocument/2006/relationships/image" Target="../media/image13.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8.xml"/><Relationship Id="rId2" Type="http://schemas.openxmlformats.org/officeDocument/2006/relationships/tags" Target="../tags/tag62.xml"/><Relationship Id="rId1" Type="http://schemas.openxmlformats.org/officeDocument/2006/relationships/image" Target="../media/image13.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8.xml"/><Relationship Id="rId2" Type="http://schemas.openxmlformats.org/officeDocument/2006/relationships/tags" Target="../tags/tag63.xml"/><Relationship Id="rId1"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8.xml"/><Relationship Id="rId1" Type="http://schemas.openxmlformats.org/officeDocument/2006/relationships/tags" Target="../tags/tag6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tags" Target="../tags/tag6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8.xml"/><Relationship Id="rId1" Type="http://schemas.openxmlformats.org/officeDocument/2006/relationships/tags" Target="../tags/tag66.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67.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8.xml"/><Relationship Id="rId2" Type="http://schemas.openxmlformats.org/officeDocument/2006/relationships/tags" Target="../tags/tag68.xml"/><Relationship Id="rId1" Type="http://schemas.openxmlformats.org/officeDocument/2006/relationships/image" Target="../media/image13.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8.xml"/><Relationship Id="rId2" Type="http://schemas.openxmlformats.org/officeDocument/2006/relationships/tags" Target="../tags/tag69.xml"/><Relationship Id="rId1" Type="http://schemas.openxmlformats.org/officeDocument/2006/relationships/image" Target="../media/image13.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8.xml"/><Relationship Id="rId2" Type="http://schemas.openxmlformats.org/officeDocument/2006/relationships/tags" Target="../tags/tag70.xml"/><Relationship Id="rId1" Type="http://schemas.openxmlformats.org/officeDocument/2006/relationships/image" Target="../media/image13.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8.xml"/><Relationship Id="rId1" Type="http://schemas.openxmlformats.org/officeDocument/2006/relationships/tags" Target="../tags/tag71.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8.xml"/><Relationship Id="rId2" Type="http://schemas.openxmlformats.org/officeDocument/2006/relationships/tags" Target="../tags/tag72.xml"/><Relationship Id="rId1" Type="http://schemas.openxmlformats.org/officeDocument/2006/relationships/image" Target="../media/image2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8.xml"/><Relationship Id="rId1" Type="http://schemas.openxmlformats.org/officeDocument/2006/relationships/tags" Target="../tags/tag73.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8.xml"/><Relationship Id="rId2" Type="http://schemas.openxmlformats.org/officeDocument/2006/relationships/tags" Target="../tags/tag74.xml"/><Relationship Id="rId1" Type="http://schemas.openxmlformats.org/officeDocument/2006/relationships/image" Target="../media/image13.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8.xml"/><Relationship Id="rId2" Type="http://schemas.openxmlformats.org/officeDocument/2006/relationships/tags" Target="../tags/tag75.xml"/><Relationship Id="rId1" Type="http://schemas.openxmlformats.org/officeDocument/2006/relationships/image" Target="../media/image13.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8.xml"/><Relationship Id="rId2" Type="http://schemas.openxmlformats.org/officeDocument/2006/relationships/tags" Target="../tags/tag76.xml"/><Relationship Id="rId1" Type="http://schemas.openxmlformats.org/officeDocument/2006/relationships/image" Target="../media/image13.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8.xml"/><Relationship Id="rId1" Type="http://schemas.openxmlformats.org/officeDocument/2006/relationships/tags" Target="../tags/tag77.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8.xml"/><Relationship Id="rId1" Type="http://schemas.openxmlformats.org/officeDocument/2006/relationships/tags" Target="../tags/tag78.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8.xml"/><Relationship Id="rId2" Type="http://schemas.openxmlformats.org/officeDocument/2006/relationships/tags" Target="../tags/tag79.xml"/><Relationship Id="rId1" Type="http://schemas.openxmlformats.org/officeDocument/2006/relationships/image" Target="../media/image29.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8.xml"/><Relationship Id="rId2" Type="http://schemas.openxmlformats.org/officeDocument/2006/relationships/tags" Target="../tags/tag80.xml"/><Relationship Id="rId1" Type="http://schemas.openxmlformats.org/officeDocument/2006/relationships/image" Target="../media/image30.pn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8.xml"/><Relationship Id="rId2" Type="http://schemas.openxmlformats.org/officeDocument/2006/relationships/tags" Target="../tags/tag81.xml"/><Relationship Id="rId1" Type="http://schemas.openxmlformats.org/officeDocument/2006/relationships/image" Target="../media/image31.pn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8.xml"/><Relationship Id="rId2" Type="http://schemas.openxmlformats.org/officeDocument/2006/relationships/tags" Target="../tags/tag82.xml"/><Relationship Id="rId1" Type="http://schemas.openxmlformats.org/officeDocument/2006/relationships/image" Target="../media/image13.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8.xml"/><Relationship Id="rId2" Type="http://schemas.openxmlformats.org/officeDocument/2006/relationships/tags" Target="../tags/tag83.xml"/><Relationship Id="rId1" Type="http://schemas.openxmlformats.org/officeDocument/2006/relationships/image" Target="../media/image13.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8.xml"/><Relationship Id="rId2" Type="http://schemas.openxmlformats.org/officeDocument/2006/relationships/tags" Target="../tags/tag84.xml"/><Relationship Id="rId1" Type="http://schemas.openxmlformats.org/officeDocument/2006/relationships/image" Target="../media/image13.pn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8.xml"/><Relationship Id="rId2" Type="http://schemas.openxmlformats.org/officeDocument/2006/relationships/tags" Target="../tags/tag85.xml"/><Relationship Id="rId1" Type="http://schemas.openxmlformats.org/officeDocument/2006/relationships/image" Target="../media/image13.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8.xml"/><Relationship Id="rId1" Type="http://schemas.openxmlformats.org/officeDocument/2006/relationships/tags" Target="../tags/tag86.xml"/></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10.xml"/><Relationship Id="rId2" Type="http://schemas.openxmlformats.org/officeDocument/2006/relationships/tags" Target="../tags/tag87.xml"/><Relationship Id="rId1" Type="http://schemas.openxmlformats.org/officeDocument/2006/relationships/image" Target="../media/image32.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7.xml"/><Relationship Id="rId1" Type="http://schemas.openxmlformats.org/officeDocument/2006/relationships/tags" Target="../tags/tag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a:latin typeface="方正细倩简体"/>
                <a:ea typeface="方正细倩简体"/>
                <a:cs typeface="方正细倩简体"/>
              </a:rPr>
              <a:t>第</a:t>
            </a:r>
            <a:r>
              <a:rPr lang="en-US" altLang="zh-CN" b="1" dirty="0">
                <a:latin typeface="方正细倩简体"/>
                <a:ea typeface="方正细倩简体"/>
                <a:cs typeface="方正细倩简体"/>
              </a:rPr>
              <a:t>8</a:t>
            </a:r>
            <a:r>
              <a:rPr lang="zh-CN" altLang="en-US" b="1" dirty="0">
                <a:latin typeface="方正细倩简体"/>
                <a:ea typeface="方正细倩简体"/>
                <a:cs typeface="方正细倩简体"/>
              </a:rPr>
              <a:t>章  多线程</a:t>
            </a:r>
            <a:endParaRPr lang="zh-CN" altLang="zh-CN" b="1" dirty="0">
              <a:solidFill>
                <a:srgbClr val="000000"/>
              </a:solidFill>
            </a:endParaRPr>
          </a:p>
        </p:txBody>
      </p:sp>
      <p:pic>
        <p:nvPicPr>
          <p:cNvPr id="268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9213" y="4980313"/>
            <a:ext cx="2429827" cy="1456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4978397" y="5039254"/>
            <a:ext cx="3291843" cy="1337945"/>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线程简介</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线程的创建</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线程的生命周期及状态转换</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a:xfrm>
            <a:off x="8310880" y="4998614"/>
            <a:ext cx="3291843" cy="1753235"/>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线程的调度</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多线程同步</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线程通信</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8.1 </a:t>
            </a:r>
            <a:r>
              <a:rPr lang="zh-CN" altLang="en-US" sz="3200" b="1" dirty="0">
                <a:solidFill>
                  <a:srgbClr val="1353A2"/>
                </a:solidFill>
                <a:latin typeface="微软雅黑" panose="020B0503020204020204" pitchFamily="34" charset="-122"/>
                <a:ea typeface="微软雅黑" panose="020B0503020204020204" pitchFamily="34" charset="-122"/>
              </a:rPr>
              <a:t>线程简介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151379" y="1633220"/>
            <a:ext cx="5425440" cy="401732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人们在日常生活中，很多事情都是可以同时进行的。例如，一个人可以一边听音乐，一边打扫房间，可以一边吃饭，一边看电视。在使用计算机时，很多任务也是可以同时进行的。例如，可以一边浏览网页，一边打印文档，还可以一边聊天，一边复制文件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89265" y="1643380"/>
            <a:ext cx="3001963"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596C4A97-CD08-4841-94D6-E44FA05D0F26}"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anim calcmode="lin" valueType="num">
                                      <p:cBhvr>
                                        <p:cTn id="11" dur="1000" fill="hold"/>
                                        <p:tgtEl>
                                          <p:spTgt spid="8"/>
                                        </p:tgtEl>
                                        <p:attrNameLst>
                                          <p:attrName>ppt_x</p:attrName>
                                        </p:attrNameLst>
                                      </p:cBhvr>
                                      <p:tavLst>
                                        <p:tav tm="0">
                                          <p:val>
                                            <p:strVal val="#ppt_x"/>
                                          </p:val>
                                        </p:tav>
                                        <p:tav tm="100000">
                                          <p:val>
                                            <p:strVal val="#ppt_x"/>
                                          </p:val>
                                        </p:tav>
                                      </p:tavLst>
                                    </p:anim>
                                    <p:anim calcmode="lin" valueType="num">
                                      <p:cBhvr>
                                        <p:cTn id="1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8.1.1 </a:t>
            </a:r>
            <a:r>
              <a:rPr lang="zh-CN" altLang="en-US" sz="3200" b="1" dirty="0">
                <a:solidFill>
                  <a:srgbClr val="1353A2"/>
                </a:solidFill>
                <a:latin typeface="微软雅黑" panose="020B0503020204020204" pitchFamily="34" charset="-122"/>
                <a:ea typeface="微软雅黑" panose="020B0503020204020204" pitchFamily="34" charset="-122"/>
              </a:rPr>
              <a:t>进程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26258" y="1490980"/>
            <a:ext cx="8900887" cy="40767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在一个操作系统中，每个独立执行的程序都可称之为一个进程，也就是“正在运行的程序”。目前大部分计算机上安装的都是多任务操作系统，即能够同时执行多个应用程序，最常见的有</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Windows</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Linux</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Unix</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等。</a:t>
            </a:r>
            <a:endPar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在多任务操作系统中，表面上看是支持进程并发执行的，例如可以一边听音乐一边聊天。但实际上这些进程并不是同时运行的</a:t>
            </a:r>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操作系统会为每一个进程分配一段有限的</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使用时间，</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在这段时间中执行某个进程，然后会在下一段时间切换到另一个进程中去执行。由于</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运行速度很快，能在极短的时间内在不同的进程之间进行切换，所以给人以同时执行多个程序的感觉。</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占位符 2"/>
          <p:cNvSpPr>
            <a:spLocks noGrp="1"/>
          </p:cNvSpPr>
          <p:nvPr>
            <p:ph type="body" sz="quarter" idx="10"/>
          </p:nvPr>
        </p:nvSpPr>
        <p:spPr/>
        <p:txBody>
          <a:bodyPr/>
          <a:lstStyle/>
          <a:p>
            <a:fld id="{9F6890FF-601D-42FA-88AE-A014C5FD91FF}" type="slidenum">
              <a:rPr lang="zh-CN" altLang="en-US" smtClean="0"/>
            </a:fld>
            <a:endParaRPr lang="zh-CN" altLang="en-US" dirty="0"/>
          </a:p>
        </p:txBody>
      </p:sp>
    </p:spTree>
    <p:custDataLst>
      <p:tags r:id="rId1"/>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8.1.2 </a:t>
            </a:r>
            <a:r>
              <a:rPr lang="zh-CN" altLang="en-US" sz="3200" b="1" dirty="0">
                <a:solidFill>
                  <a:srgbClr val="1353A2"/>
                </a:solidFill>
                <a:latin typeface="微软雅黑" panose="020B0503020204020204" pitchFamily="34" charset="-122"/>
                <a:ea typeface="微软雅黑" panose="020B0503020204020204" pitchFamily="34" charset="-122"/>
              </a:rPr>
              <a:t>线程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161280" y="1297940"/>
            <a:ext cx="6045200" cy="45339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每个运行的程序都是一个进程，在一个进程中还可以有多个执行单元同时运行，这些执行单元可以看作程序执行的一条条线索，被称为线程。操作系统中的每一个进程中都至少存在一个线程。例如，当一个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程序启动时，就会产生一个进程，该进程中会默认创建一个线程，在这个线程上会运行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方法中的代码。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35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9574" y="1714500"/>
            <a:ext cx="3040063"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624B2A51-190B-4C16-B5EE-FA711BCF2D3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fade">
                                      <p:cBhvr>
                                        <p:cTn id="7" dur="500"/>
                                        <p:tgtEl>
                                          <p:spTgt spid="13517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8.1.2 </a:t>
            </a:r>
            <a:r>
              <a:rPr lang="zh-CN" altLang="en-US" sz="3200" b="1" dirty="0">
                <a:solidFill>
                  <a:srgbClr val="1353A2"/>
                </a:solidFill>
                <a:latin typeface="微软雅黑" panose="020B0503020204020204" pitchFamily="34" charset="-122"/>
                <a:ea typeface="微软雅黑" panose="020B0503020204020204" pitchFamily="34" charset="-122"/>
              </a:rPr>
              <a:t>线程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12899" y="1369060"/>
            <a:ext cx="6342381" cy="45339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前面章节所接触过的程序中，代码都是按照调用顺序依次往下执行，没有出现两段程序代码交替运行的效果，这样的程序称作单线程程序。如果希望程序中实现多段程序代码交替运行的效果，则需要创建多个线程，即多线程程序。所谓的多线程是指一个进程在执行过程中可以产生多个单线程，这些单线程程序在运行时是相互独立的，它们可以并发执行。</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8006080" y="1945018"/>
          <a:ext cx="4291284" cy="3033381"/>
        </p:xfrm>
        <a:graphic>
          <a:graphicData uri="http://schemas.openxmlformats.org/presentationml/2006/ole">
            <mc:AlternateContent xmlns:mc="http://schemas.openxmlformats.org/markup-compatibility/2006">
              <mc:Choice xmlns:v="urn:schemas-microsoft-com:vml" Requires="v">
                <p:oleObj spid="_x0000_s8199" name="Visio" r:id="rId1" imgW="2943860" imgH="2240915" progId="Visio.Drawing.11">
                  <p:embed/>
                </p:oleObj>
              </mc:Choice>
              <mc:Fallback>
                <p:oleObj name="Visio" r:id="rId1" imgW="2943860" imgH="2240915"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6080" y="1945018"/>
                        <a:ext cx="4291284" cy="3033381"/>
                      </a:xfrm>
                      <a:prstGeom prst="rect">
                        <a:avLst/>
                      </a:prstGeom>
                      <a:noFill/>
                    </p:spPr>
                  </p:pic>
                </p:oleObj>
              </mc:Fallback>
            </mc:AlternateContent>
          </a:graphicData>
        </a:graphic>
      </p:graphicFrame>
      <p:sp>
        <p:nvSpPr>
          <p:cNvPr id="5" name="文本占位符 4"/>
          <p:cNvSpPr>
            <a:spLocks noGrp="1"/>
          </p:cNvSpPr>
          <p:nvPr>
            <p:ph type="body" sz="quarter" idx="10"/>
          </p:nvPr>
        </p:nvSpPr>
        <p:spPr/>
        <p:txBody>
          <a:bodyPr/>
          <a:lstStyle/>
          <a:p>
            <a:fld id="{3758ED51-F1E3-40BF-B1B5-09F5C18AF9EE}" type="slidenum">
              <a:rPr lang="zh-CN" altLang="en-US" smtClean="0"/>
            </a:fld>
            <a:endParaRPr lang="zh-CN" altLang="en-US"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8.1.2 </a:t>
            </a:r>
            <a:r>
              <a:rPr lang="zh-CN" altLang="en-US" sz="3200" b="1" dirty="0">
                <a:solidFill>
                  <a:srgbClr val="1353A2"/>
                </a:solidFill>
                <a:latin typeface="微软雅黑" panose="020B0503020204020204" pitchFamily="34" charset="-122"/>
                <a:ea typeface="微软雅黑" panose="020B0503020204020204" pitchFamily="34" charset="-122"/>
              </a:rPr>
              <a:t>线程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55139" y="1490980"/>
            <a:ext cx="9735821" cy="42291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和多线程相比，多进程稳定性比多线程高，因为在多进程的情况下，一个进程崩溃不会影响其他进程，而在多线程的情况下，任何一个线程崩溃会直接导致整个进程崩溃</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除此之外，多进程也有一些缺点，具体如下：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创建进程比创建线程开销大，尤其是在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Windows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系统上。</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进程间通信比线程间通信要慢，因为线程间通信就是读写同一个变量，速度很快。</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344003EC-DD1C-4591-BE03-F5F62EB734BA}"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8.2 </a:t>
            </a:r>
            <a:r>
              <a:rPr lang="zh-CN" altLang="en-US" sz="3200" b="1" dirty="0">
                <a:solidFill>
                  <a:srgbClr val="1353A2"/>
                </a:solidFill>
                <a:latin typeface="微软雅黑" panose="020B0503020204020204" pitchFamily="34" charset="-122"/>
                <a:ea typeface="微软雅黑" panose="020B0503020204020204" pitchFamily="34" charset="-122"/>
              </a:rPr>
              <a:t>线程的创建</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190748" y="1490980"/>
            <a:ext cx="5631182" cy="40665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中提供了两种多线程实现方式</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一种</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是继承</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java.lang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包下的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类，覆写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方法中实现运行在线程上的代码；</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另一种</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是实现</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java.lang.Runnable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接口，同样是在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方法中实现运行在线程上的代码。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39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1930" y="1611311"/>
            <a:ext cx="3414713" cy="363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4640173E-C787-4FB4-AEE3-E34F93F45A8C}"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9266"/>
                                        </p:tgtEl>
                                        <p:attrNameLst>
                                          <p:attrName>style.visibility</p:attrName>
                                        </p:attrNameLst>
                                      </p:cBhvr>
                                      <p:to>
                                        <p:strVal val="visible"/>
                                      </p:to>
                                    </p:set>
                                    <p:animEffect transition="in" filter="fade">
                                      <p:cBhvr>
                                        <p:cTn id="11" dur="500"/>
                                        <p:tgtEl>
                                          <p:spTgt spid="139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4049" y="2266950"/>
            <a:ext cx="8612187" cy="345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06574" y="1369060"/>
            <a:ext cx="8355332" cy="8255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在学习多线程之前，先看熟悉的单线程程序</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060891" y="2319655"/>
            <a:ext cx="8475346" cy="335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myThread.run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该循环是一个死循环，打印输出语句</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B4409F23-02CB-4D5F-AF63-5E6522775BB8}"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7" y="2080260"/>
            <a:ext cx="8880477" cy="2989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446654" y="2080260"/>
            <a:ext cx="8668386" cy="2989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run()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该循环是一个死循环，打印输出语句</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EB132255-E89F-4D0B-BCF8-E8E61FFABC72}" type="slidenum">
              <a:rPr lang="zh-CN" altLang="en-US" smtClean="0"/>
            </a:fld>
            <a:endParaRPr lang="zh-CN" altLang="en-US" dirty="0"/>
          </a:p>
        </p:txBody>
      </p:sp>
    </p:spTree>
    <p:custDataLst>
      <p:tags r:id="rId2"/>
    </p:custData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94508" y="1755140"/>
            <a:ext cx="9491346" cy="30810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从运行结果可以看出，程序一直打印“</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方法在运行”，这是因为该程序是一个单线程程序，第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方法时，遇到第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12~14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行代码定义的死循环中，循环会一直进行。因此，</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类的打印语句将被无限执行，而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方法中的打印语句无法得到执行。</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2391C941-7424-4C94-9E88-E98D01888C91}"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269228" y="1389380"/>
            <a:ext cx="5977892" cy="45948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如果希望</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中两个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while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循环中的打印语句能够并发执行，就需要实现多线程。为此</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提供了一个线程类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类，并重写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方法便可实现多线程。在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类中，提供了一个</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start()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用于启动新线程，线程启动后，虚拟机会自动调用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方法，如果子类重写了该方法便会执行子类中的方法。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43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1" y="1706563"/>
            <a:ext cx="3218498" cy="3618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FDB93A06-0913-481E-B846-DF20C91DA367}"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43362"/>
                                        </p:tgtEl>
                                        <p:attrNameLst>
                                          <p:attrName>style.visibility</p:attrName>
                                        </p:attrNameLst>
                                      </p:cBhvr>
                                      <p:to>
                                        <p:strVal val="visible"/>
                                      </p:to>
                                    </p:set>
                                    <p:animEffect transition="in" filter="fade">
                                      <p:cBhvr>
                                        <p:cTn id="10" dur="1000"/>
                                        <p:tgtEl>
                                          <p:spTgt spid="143362"/>
                                        </p:tgtEl>
                                      </p:cBhvr>
                                    </p:animEffect>
                                    <p:anim calcmode="lin" valueType="num">
                                      <p:cBhvr>
                                        <p:cTn id="11" dur="1000" fill="hold"/>
                                        <p:tgtEl>
                                          <p:spTgt spid="143362"/>
                                        </p:tgtEl>
                                        <p:attrNameLst>
                                          <p:attrName>ppt_x</p:attrName>
                                        </p:attrNameLst>
                                      </p:cBhvr>
                                      <p:tavLst>
                                        <p:tav tm="0">
                                          <p:val>
                                            <p:strVal val="#ppt_x"/>
                                          </p:val>
                                        </p:tav>
                                        <p:tav tm="100000">
                                          <p:val>
                                            <p:strVal val="#ppt_x"/>
                                          </p:val>
                                        </p:tav>
                                      </p:tavLst>
                                    </p:anim>
                                    <p:anim calcmode="lin" valueType="num">
                                      <p:cBhvr>
                                        <p:cTn id="12" dur="1000" fill="hold"/>
                                        <p:tgtEl>
                                          <p:spTgt spid="1433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2621280"/>
            <a:ext cx="9342120" cy="341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44320" y="1257300"/>
            <a:ext cx="9702800" cy="12522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接下来，通过修改</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中的案例来演示如何通过继承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类的方式来实现多线程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103120" y="2621280"/>
            <a:ext cx="9265920" cy="341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的线程对象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myThread.start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通过死循环语句打印输出</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6384DE51-3458-42A0-9B30-12247EAFF108}"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6999" y="2235200"/>
            <a:ext cx="8467725"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849878" y="2235200"/>
            <a:ext cx="8026400" cy="2733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extends Thread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run()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通过死循环语句打印输出</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E89D16AF-D519-43EA-9C4F-8D2713F7E6AE}" type="slidenum">
              <a:rPr lang="zh-CN" altLang="en-US" smtClean="0"/>
            </a:fld>
            <a:endParaRPr lang="zh-CN" altLang="en-US" dirty="0"/>
          </a:p>
        </p:txBody>
      </p:sp>
    </p:spTree>
    <p:custDataLst>
      <p:tags r:id="rId2"/>
    </p:custDataLst>
  </p:cSld>
  <p:clrMapOvr>
    <a:masterClrMapping/>
  </p:clrMapOvr>
  <p:transition spd="slow">
    <p:wheel spokes="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3449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8.2.1 </a:t>
            </a:r>
            <a:r>
              <a:rPr lang="zh-CN" altLang="zh-CN" sz="3200" b="1" dirty="0">
                <a:solidFill>
                  <a:srgbClr val="1353A2"/>
                </a:solidFill>
                <a:latin typeface="微软雅黑" panose="020B0503020204020204" pitchFamily="34" charset="-122"/>
                <a:ea typeface="微软雅黑" panose="020B0503020204020204" pitchFamily="34" charset="-122"/>
              </a:rPr>
              <a:t>继承</a:t>
            </a:r>
            <a:r>
              <a:rPr lang="en-US" altLang="zh-CN" sz="3200" b="1" dirty="0">
                <a:solidFill>
                  <a:srgbClr val="1353A2"/>
                </a:solidFill>
                <a:latin typeface="微软雅黑" panose="020B0503020204020204" pitchFamily="34" charset="-122"/>
                <a:ea typeface="微软雅黑" panose="020B0503020204020204" pitchFamily="34" charset="-122"/>
              </a:rPr>
              <a:t>Thread</a:t>
            </a:r>
            <a:r>
              <a:rPr lang="zh-CN" altLang="zh-CN" sz="3200" b="1" dirty="0">
                <a:solidFill>
                  <a:srgbClr val="1353A2"/>
                </a:solidFill>
                <a:latin typeface="微软雅黑" panose="020B0503020204020204" pitchFamily="34" charset="-122"/>
                <a:ea typeface="微软雅黑" panose="020B0503020204020204" pitchFamily="34" charset="-122"/>
              </a:rPr>
              <a:t>类创建多线程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310640" y="1287780"/>
            <a:ext cx="10353040" cy="87968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单线程和多线程的执行过程，通过一个图例分析一下单线程和多线程的区别</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927932" y="1974142"/>
          <a:ext cx="6336135" cy="4315270"/>
        </p:xfrm>
        <a:graphic>
          <a:graphicData uri="http://schemas.openxmlformats.org/presentationml/2006/ole">
            <mc:AlternateContent xmlns:mc="http://schemas.openxmlformats.org/markup-compatibility/2006">
              <mc:Choice xmlns:v="urn:schemas-microsoft-com:vml" Requires="v">
                <p:oleObj spid="_x0000_s9224" name="Visio" r:id="rId1" imgW="7150100" imgH="4876800" progId="Visio.Drawing.11">
                  <p:embed/>
                </p:oleObj>
              </mc:Choice>
              <mc:Fallback>
                <p:oleObj name="Visio" r:id="rId1" imgW="7150100" imgH="48768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932" y="1974142"/>
                        <a:ext cx="6336135" cy="4315270"/>
                      </a:xfrm>
                      <a:prstGeom prst="rect">
                        <a:avLst/>
                      </a:prstGeom>
                      <a:noFill/>
                    </p:spPr>
                  </p:pic>
                </p:oleObj>
              </mc:Fallback>
            </mc:AlternateContent>
          </a:graphicData>
        </a:graphic>
      </p:graphicFrame>
      <p:sp>
        <p:nvSpPr>
          <p:cNvPr id="6" name="文本占位符 5"/>
          <p:cNvSpPr>
            <a:spLocks noGrp="1"/>
          </p:cNvSpPr>
          <p:nvPr>
            <p:ph type="body" sz="quarter" idx="10"/>
          </p:nvPr>
        </p:nvSpPr>
        <p:spPr/>
        <p:txBody>
          <a:bodyPr/>
          <a:lstStyle/>
          <a:p>
            <a:fld id="{26F3786C-F981-4E93-A903-1090EECB05F6}" type="slidenum">
              <a:rPr lang="zh-CN" altLang="en-US" smtClean="0"/>
            </a:fld>
            <a:endParaRPr lang="zh-CN" altLang="en-US" dirty="0"/>
          </a:p>
        </p:txBody>
      </p:sp>
    </p:spTree>
    <p:custDataLst>
      <p:tags r:id="rId3"/>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8.2.2 </a:t>
            </a:r>
            <a:r>
              <a:rPr lang="zh-CN" altLang="zh-CN" sz="3200" b="1" dirty="0">
                <a:solidFill>
                  <a:srgbClr val="1353A2"/>
                </a:solidFill>
                <a:latin typeface="微软雅黑" panose="020B0503020204020204" pitchFamily="34" charset="-122"/>
                <a:ea typeface="微软雅黑" panose="020B0503020204020204" pitchFamily="34" charset="-122"/>
              </a:rPr>
              <a:t>实现</a:t>
            </a:r>
            <a:r>
              <a:rPr lang="en-US" altLang="zh-CN" sz="3200" b="1" dirty="0">
                <a:solidFill>
                  <a:srgbClr val="1353A2"/>
                </a:solidFill>
                <a:latin typeface="微软雅黑" panose="020B0503020204020204" pitchFamily="34" charset="-122"/>
                <a:ea typeface="微软雅黑" panose="020B0503020204020204" pitchFamily="34" charset="-122"/>
              </a:rPr>
              <a:t>Runnable</a:t>
            </a:r>
            <a:r>
              <a:rPr lang="zh-CN" altLang="zh-CN" sz="3200" b="1" dirty="0">
                <a:solidFill>
                  <a:srgbClr val="1353A2"/>
                </a:solidFill>
                <a:latin typeface="微软雅黑" panose="020B0503020204020204" pitchFamily="34" charset="-122"/>
                <a:ea typeface="微软雅黑" panose="020B0503020204020204" pitchFamily="34" charset="-122"/>
              </a:rPr>
              <a:t>接口创建多线程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400038" y="1778000"/>
            <a:ext cx="5864862" cy="3434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实现多线程，但是这种方式有一定的局限性。因为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只支持单继承，一个类一旦继承了某个父类就无法再继承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类，比如学生类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继承了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Person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类，就无法通过继承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类创建线程。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52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5440" y="1640145"/>
            <a:ext cx="3347085" cy="3709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D5138AB0-D92A-4F91-9D95-8AFF2D54457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52578"/>
                                        </p:tgtEl>
                                        <p:attrNameLst>
                                          <p:attrName>style.visibility</p:attrName>
                                        </p:attrNameLst>
                                      </p:cBhvr>
                                      <p:to>
                                        <p:strVal val="visible"/>
                                      </p:to>
                                    </p:set>
                                    <p:animEffect transition="in" filter="fade">
                                      <p:cBhvr>
                                        <p:cTn id="10" dur="1000"/>
                                        <p:tgtEl>
                                          <p:spTgt spid="152578"/>
                                        </p:tgtEl>
                                      </p:cBhvr>
                                    </p:animEffect>
                                    <p:anim calcmode="lin" valueType="num">
                                      <p:cBhvr>
                                        <p:cTn id="11" dur="1000" fill="hold"/>
                                        <p:tgtEl>
                                          <p:spTgt spid="152578"/>
                                        </p:tgtEl>
                                        <p:attrNameLst>
                                          <p:attrName>ppt_x</p:attrName>
                                        </p:attrNameLst>
                                      </p:cBhvr>
                                      <p:tavLst>
                                        <p:tav tm="0">
                                          <p:val>
                                            <p:strVal val="#ppt_x"/>
                                          </p:val>
                                        </p:tav>
                                        <p:tav tm="100000">
                                          <p:val>
                                            <p:strVal val="#ppt_x"/>
                                          </p:val>
                                        </p:tav>
                                      </p:tavLst>
                                    </p:anim>
                                    <p:anim calcmode="lin" valueType="num">
                                      <p:cBhvr>
                                        <p:cTn id="12" dur="1000" fill="hold"/>
                                        <p:tgtEl>
                                          <p:spTgt spid="1525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12466" y="1842928"/>
            <a:ext cx="3459163" cy="349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8.2.2 </a:t>
            </a:r>
            <a:r>
              <a:rPr lang="zh-CN" altLang="zh-CN" sz="3200" b="1" dirty="0">
                <a:solidFill>
                  <a:srgbClr val="1353A2"/>
                </a:solidFill>
                <a:latin typeface="微软雅黑" panose="020B0503020204020204" pitchFamily="34" charset="-122"/>
                <a:ea typeface="微软雅黑" panose="020B0503020204020204" pitchFamily="34" charset="-122"/>
              </a:rPr>
              <a:t>实现</a:t>
            </a:r>
            <a:r>
              <a:rPr lang="en-US" altLang="zh-CN" sz="3200" b="1" dirty="0">
                <a:solidFill>
                  <a:srgbClr val="1353A2"/>
                </a:solidFill>
                <a:latin typeface="微软雅黑" panose="020B0503020204020204" pitchFamily="34" charset="-122"/>
                <a:ea typeface="微软雅黑" panose="020B0503020204020204" pitchFamily="34" charset="-122"/>
              </a:rPr>
              <a:t>Runnable</a:t>
            </a:r>
            <a:r>
              <a:rPr lang="zh-CN" altLang="zh-CN" sz="3200" b="1" dirty="0">
                <a:solidFill>
                  <a:srgbClr val="1353A2"/>
                </a:solidFill>
                <a:latin typeface="微软雅黑" panose="020B0503020204020204" pitchFamily="34" charset="-122"/>
                <a:ea typeface="微软雅黑" panose="020B0503020204020204" pitchFamily="34" charset="-122"/>
              </a:rPr>
              <a:t>接口创建多线程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15441" y="1402080"/>
            <a:ext cx="6868159" cy="4582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为了克服这种弊端，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类提供了另外一个构造方法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Thread(Runnable target)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是一个接口，它只有一个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方法。当通过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Thread(Runnable target)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构造方法创建线程对象时，只需为该方法传递一个实现了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接口的实例对象，这样创建的线程将调用实现了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接口的类中的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方法作为运行代码，而不需要调用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EDCEEB57-21EE-44B2-898E-BC16223900A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53602"/>
                                        </p:tgtEl>
                                        <p:attrNameLst>
                                          <p:attrName>style.visibility</p:attrName>
                                        </p:attrNameLst>
                                      </p:cBhvr>
                                      <p:to>
                                        <p:strVal val="visible"/>
                                      </p:to>
                                    </p:set>
                                    <p:animEffect transition="in" filter="wipe(down)">
                                      <p:cBhvr>
                                        <p:cTn id="11" dur="500"/>
                                        <p:tgtEl>
                                          <p:spTgt spid="153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113280"/>
            <a:ext cx="8172450" cy="339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8.2.2 </a:t>
            </a:r>
            <a:r>
              <a:rPr lang="zh-CN" altLang="zh-CN" sz="3200" b="1" dirty="0">
                <a:solidFill>
                  <a:srgbClr val="1353A2"/>
                </a:solidFill>
                <a:latin typeface="微软雅黑" panose="020B0503020204020204" pitchFamily="34" charset="-122"/>
                <a:ea typeface="微软雅黑" panose="020B0503020204020204" pitchFamily="34" charset="-122"/>
              </a:rPr>
              <a:t>实现</a:t>
            </a:r>
            <a:r>
              <a:rPr lang="en-US" altLang="zh-CN" sz="3200" b="1" dirty="0">
                <a:solidFill>
                  <a:srgbClr val="1353A2"/>
                </a:solidFill>
                <a:latin typeface="微软雅黑" panose="020B0503020204020204" pitchFamily="34" charset="-122"/>
                <a:ea typeface="微软雅黑" panose="020B0503020204020204" pitchFamily="34" charset="-122"/>
              </a:rPr>
              <a:t>Runnable</a:t>
            </a:r>
            <a:r>
              <a:rPr lang="zh-CN" altLang="zh-CN" sz="3200" b="1" dirty="0">
                <a:solidFill>
                  <a:srgbClr val="1353A2"/>
                </a:solidFill>
                <a:latin typeface="微软雅黑" panose="020B0503020204020204" pitchFamily="34" charset="-122"/>
                <a:ea typeface="微软雅黑" panose="020B0503020204020204" pitchFamily="34" charset="-122"/>
              </a:rPr>
              <a:t>接口创建多线程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08479" y="1351280"/>
            <a:ext cx="9530081" cy="9855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如何通过实现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接口的方式来创建多线程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660646" y="2241488"/>
            <a:ext cx="7823202" cy="339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的实例对象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Thread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Thread(</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thread.start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开启线程，执行线程中的</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D04F1809-C4E3-4EE6-A832-9D598FA57930}"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2207891"/>
            <a:ext cx="9191625" cy="2764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8.2.2 </a:t>
            </a:r>
            <a:r>
              <a:rPr lang="zh-CN" altLang="zh-CN" sz="3200" b="1" dirty="0">
                <a:solidFill>
                  <a:srgbClr val="1353A2"/>
                </a:solidFill>
                <a:latin typeface="微软雅黑" panose="020B0503020204020204" pitchFamily="34" charset="-122"/>
                <a:ea typeface="微软雅黑" panose="020B0503020204020204" pitchFamily="34" charset="-122"/>
              </a:rPr>
              <a:t>实现</a:t>
            </a:r>
            <a:r>
              <a:rPr lang="en-US" altLang="zh-CN" sz="3200" b="1" dirty="0">
                <a:solidFill>
                  <a:srgbClr val="1353A2"/>
                </a:solidFill>
                <a:latin typeface="微软雅黑" panose="020B0503020204020204" pitchFamily="34" charset="-122"/>
                <a:ea typeface="微软雅黑" panose="020B0503020204020204" pitchFamily="34" charset="-122"/>
              </a:rPr>
              <a:t>Runnable</a:t>
            </a:r>
            <a:r>
              <a:rPr lang="zh-CN" altLang="zh-CN" sz="3200" b="1" dirty="0">
                <a:solidFill>
                  <a:srgbClr val="1353A2"/>
                </a:solidFill>
                <a:latin typeface="微软雅黑" panose="020B0503020204020204" pitchFamily="34" charset="-122"/>
                <a:ea typeface="微软雅黑" panose="020B0503020204020204" pitchFamily="34" charset="-122"/>
              </a:rPr>
              <a:t>接口创建多线程</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57704" y="2245992"/>
            <a:ext cx="8869682" cy="26403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implements Runnable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run()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线程的代码段，当调用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方法时，线程从此处开始执行</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MyThread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方法在运行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68AA47C2-EAD5-4752-BEB7-BCE0B74E9AD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99921" y="1402080"/>
            <a:ext cx="9621518" cy="446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既然直接继承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类和实现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接口都能实现多线程，那么这两种实现多线程的方式在实际应用中又有什么区别呢？</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假设售票厅有四个窗口可发售某日某次列车的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张车票，这时，</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张车票可以看做共享资源，四个售票窗口需要创建四个线程。为了更直观显示窗口的售票情况，可以通过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currentThread</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方法得到当前的线程的实例对象，然后调用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getName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方法可以获取到线程的名称。</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058F10FD-C7AE-43E5-94A9-2AA33C663CF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6899" y="2408555"/>
            <a:ext cx="9300209" cy="3064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64641" y="1402080"/>
            <a:ext cx="9621518" cy="74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首先通过继承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类的方式创建多线程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113281" y="2418080"/>
            <a:ext cx="8981440" cy="3119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创建第一个线程对象</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并开启</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创建第二个线程对象</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并开启</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创建第三个线程对象</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并开启</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创建第四个线程对象</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并开启</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48F8CDD7-74B1-472B-A20E-69E184AF84FF}"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4500" y="1645920"/>
            <a:ext cx="9867900" cy="399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960882" y="1645920"/>
            <a:ext cx="9621518" cy="391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extends Thread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tickets = 100;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run()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通过死循环语句打印语句</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(tickets &gt; 0)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Thread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Thread.currentThread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th_name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th.getName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获取当前线程的名字</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th_name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正在发售第</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tickets--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张票</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82D82AF5-300C-4B48-A59E-33A45BDED8F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64641" y="1402080"/>
            <a:ext cx="9621518" cy="457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从运行结果可以看出，每张票都被打印了四次。出现这样现象的原因是四个线程没有共享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张票，而是各自出售了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张票。在程序中创建了四个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对象，就等于创建了四个售票程序，每个程序中都有</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张票，每个线程在独立地处理各自的资源。需要注意的是，</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中每个线程都有自己的名字，主线程默认的名字是“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main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”，用户创建的第一个线程的名字默认为“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”，第二个线程的名字默认为“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”，以此类推。如果希望指定线程的名称，可以通过调用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setName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name)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方法为线程设置名称。</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16B5B3D2-2659-4813-AB28-A4FF8A7551B9}"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4958081" y="1666240"/>
            <a:ext cx="6725919" cy="367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现实中铁路系统的票资源是共享的，因此上面的运行结果显然不合理。为了保证资源共享，在程序中只能创建一个售票对象，然后开启多个线程去运行同一个售票对象的售票方法。简单来说就是四个线程运行同一个售票程序，这时就需要用到多线程的第二种实现方式。</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4576" y="1954925"/>
            <a:ext cx="3803505" cy="3100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2E99ADC1-6E41-4371-B0BA-140334CBE2B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66975" y="3042920"/>
            <a:ext cx="8510111" cy="2995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239521" y="1137920"/>
            <a:ext cx="10535920" cy="1808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接口的方式来实现多线程的创建。</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修改上述程序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，并使用构造方法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Thread(Runnable target, String name)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在创建线程对象时指定线程的名称</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625568" y="3042920"/>
            <a:ext cx="8351519" cy="3068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Example05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Thread(</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1").start();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创建线程对象并命名为窗口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Thread(</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2").start();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创建线程对象并命名为窗口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Thread(</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3").start();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创建线程对象并命名为窗口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new Thread(</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4").start();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创建线程对象并命名为窗口</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，开启线程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1980B6D7-3066-4D2C-9A58-D25EF827756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1625" y="1676400"/>
            <a:ext cx="98869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767842" y="1676400"/>
            <a:ext cx="9580878" cy="3962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implements Runnable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tickets = 100;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run()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(true)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(tickets &gt; 0)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Thread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Thread.currentThread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获取当前线程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th_name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th.getName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获取当前线程的名字</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th_name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正在发售第</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tickets--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张票</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811A6D86-CEBB-4D4C-8D79-6FE2A7D67490}"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36687" y="1649890"/>
            <a:ext cx="3950768" cy="3358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86561" y="1615440"/>
            <a:ext cx="6045199" cy="3942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上述程序中，</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10~21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行代码创建了一个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对象并实现了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接口，然后在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mian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方法中创建了四个线程，在每个线程上都去调用这个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TicketWindow</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对象中的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方法，这样就可以确保四个线程访问的是同一个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tickets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变量，共享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张车票。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94E2888D-0927-43ED-B8F7-148DB32498B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13841" y="1351280"/>
            <a:ext cx="10038079" cy="462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实现多线程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也可以</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实现多线程，实现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接口相对于继承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类来说，具有以下优势：</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）适合多个相同程序代码的线程去处理同一个资源的情况，把线程同程序代码、数据有效的分离，很好的体现了面向对象的设计思想。</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）可以避免由于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的单继承带来的局限性。在开发中经常碰到这样一种情况，就是使用一个已经继承了某一个类的子类创建线程，由于一个类不能同时有两个父类，因此不能使用继承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类的方式，只能采用实现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接口的方式。</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C043EE31-9825-4643-8BBB-0203114DE398}"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98321" y="1615440"/>
            <a:ext cx="9733279" cy="4206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小提示：</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JDK8</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简化了多线程的创建方法，在创建线程时指定线程要调用的方法，格式如下。</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        Thread t = new Thread(() -&gt; {</a:t>
            </a:r>
            <a:endPar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			//</a:t>
            </a:r>
            <a:r>
              <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方法代码</a:t>
            </a:r>
            <a:endPar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3585A9ED-5A38-4DA0-AC7A-021A12996A50}"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81350" y="2174240"/>
            <a:ext cx="6972300" cy="388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15441" y="1381760"/>
            <a:ext cx="9733279" cy="79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下面我们通过一个案例来讲解，如下所示</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3688081" y="2225040"/>
            <a:ext cx="6004559" cy="3647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public class Main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public static void main(String[]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args</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Thread t = new Thread(() -&gt;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while (true){</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System.out.println</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("start new thread!");</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t.start</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启动新线程</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3541414D-3DAE-49FA-917B-FDEA1E9DC1E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62324" y="2153920"/>
            <a:ext cx="7172326" cy="268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8.2.3 </a:t>
            </a:r>
            <a:r>
              <a:rPr lang="zh-CN" altLang="zh-CN" sz="3200" b="1" dirty="0">
                <a:solidFill>
                  <a:srgbClr val="1353A2"/>
                </a:solidFill>
                <a:latin typeface="微软雅黑" panose="020B0503020204020204" pitchFamily="34" charset="-122"/>
                <a:ea typeface="微软雅黑" panose="020B0503020204020204" pitchFamily="34" charset="-122"/>
              </a:rPr>
              <a:t>两种实现多线程方式的对比分析</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3515362" y="2153920"/>
            <a:ext cx="6725920" cy="2682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class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MyThread</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extends Thread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public void run()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while (true) { //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通过死循环语句打印输出</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System.out.println</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MyThread</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类的</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run()</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方法在运行</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文本占位符 4"/>
          <p:cNvSpPr>
            <a:spLocks noGrp="1"/>
          </p:cNvSpPr>
          <p:nvPr>
            <p:ph type="body" sz="quarter" idx="10"/>
          </p:nvPr>
        </p:nvSpPr>
        <p:spPr/>
        <p:txBody>
          <a:bodyPr/>
          <a:lstStyle/>
          <a:p>
            <a:fld id="{BEFE2059-EB8E-4A36-94A6-97F1586A5CE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13841" y="1422400"/>
            <a:ext cx="10038079" cy="4257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中，任何对象都有生命周期，线程也不例外，它也有自己的生命周期。当</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对象创建完成时，线程的生命周期便开始了。当</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方法中代码正常执行完毕或者线程抛出一个未捕获的异常（</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）或者错误（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）时，线程的生命周期便会结束。线程整个生命周期可以分为五个阶段，分别是</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新建状态（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New</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就绪状态（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Runnable</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运行状态（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Running</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阻塞状态（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Blocked</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死亡状态（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Terminated</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线程的不同状态表明了线程当前正在进行的活动。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F7B07BD8-D0EA-4A79-8506-90C8905DCACB}"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13841" y="1442720"/>
            <a:ext cx="10038079" cy="86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在程序中，通过一些操作，可以使线程在不同状态之间转换</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5890" name="图片 25" descr="手机屏幕截图&#10;&#10;描述已自动生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5761" y="2306320"/>
            <a:ext cx="9460043" cy="3537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占位符 4"/>
          <p:cNvSpPr>
            <a:spLocks noGrp="1"/>
          </p:cNvSpPr>
          <p:nvPr>
            <p:ph type="body" sz="quarter" idx="10"/>
          </p:nvPr>
        </p:nvSpPr>
        <p:spPr/>
        <p:txBody>
          <a:bodyPr/>
          <a:lstStyle/>
          <a:p>
            <a:fld id="{F1407531-F3EC-4178-A77B-53B534B0184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5890"/>
                                        </p:tgtEl>
                                        <p:attrNameLst>
                                          <p:attrName>style.visibility</p:attrName>
                                        </p:attrNameLst>
                                      </p:cBhvr>
                                      <p:to>
                                        <p:strVal val="visible"/>
                                      </p:to>
                                    </p:set>
                                    <p:animEffect transition="in" filter="wipe(left)">
                                      <p:cBhvr>
                                        <p:cTn id="11" dur="500"/>
                                        <p:tgtEl>
                                          <p:spTgt spid="165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28800" y="1249680"/>
            <a:ext cx="9712960" cy="494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接下来针对线程生命周期中的五种状态分别进行详细讲解，具体如下：</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．新建状态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(New)</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创建一个线程对象后，该线程对象就处于新建状态，此时它不能运行，和其他</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对象一样，仅仅由</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虚拟机为其分配了内存，没有表现出任何线程的动态特征。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．就绪状态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(Runnable)</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当线程对象调用了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方法后，该线程就进入就绪状态。处于就绪状态的线程位于线程队列中，此时它只是具备了运行的条件，能否获得</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的使用权并开始运行，还需要等待系统的调度。</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B23D92C0-AA37-45C6-AB06-59DA57AA773C}"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28800" y="1544320"/>
            <a:ext cx="9712960" cy="376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．运行状态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(Running)</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如果处于就绪状态的线程获得了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的使用权，并开始执行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方法中的线程执行体，则该线程处于运行状态。一个线程启动后，它可能不会一直处于运行状态，当运行状态的线程使用完系统分配的时间后，系统就会剥夺该线程占用的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资源，让其他线程获得执行的机会。需要注意的是，只有处于就绪状态的线程才可能转换到运行状态。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D98FAF60-8F24-427E-8DDC-6DCB48438B97}"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28800" y="1544320"/>
            <a:ext cx="9712960" cy="376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．阻塞状态</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(Blocked)</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一个正在执行的线程在某些特殊情况下，如被人为挂起或执行耗时的输入</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输出操作时，会让出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的使用权并暂时中止自己的执行，进入阻塞状态。线程进入阻塞状态后，就不能进入排队队列。只有当引起阻塞的原因被消除后，线程才可以转入就绪状态。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EE5854DB-681E-4934-B350-A3DB6AE24CB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57680" y="1574800"/>
            <a:ext cx="9712960" cy="3972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下面就列举一下线程由运行状态转换成阻塞状态的原因，以及如何从阻塞状态转换成就绪状态。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当线程试图获取某个对象的同步锁时，如果该锁被其他线程所持有，则当前线程会进入阻塞状态，如果想从阻塞状态进入就绪状态必须得获取到其他线程所持有的锁。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当线程调用了一个阻塞式的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IO</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方法时，该线程就会进入阻塞状态，如果想进入就绪状态就必须要等到这个阻塞的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IO</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5BB37788-E069-4495-8B9B-0BB0A42EEA5B}"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28800" y="1341120"/>
            <a:ext cx="9712960" cy="456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当线程调用了某个对象的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wait()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方法时，也会使线程进入阻塞状态，如果想进入就绪状态就需要使用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notify()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方法唤醒该线程。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当线程调用了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Thread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sleep(long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millis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方法时，也会使线程进入阻塞状态，在这种情况下，只需等到线程睡眠的时间到了以后，线程就会自动进入就绪状态。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当在一个线程中调用了另一个线程的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join()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方法时，会使当前线程进入阻塞状态，在这种情况下，需要等到新加入的线程运行结束后才会结束阻塞状态，进入就绪状态。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E7CCD203-473E-46F0-A626-4A42F70AD3D0}"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6096000" y="2158346"/>
            <a:ext cx="4856480" cy="2529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线程从阻塞状态只能进入就绪状态，而不能直接进入运行状态，也就是说结束阻塞的线程需要重新进入可运行池中，等待系统的调度。</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7" name="组合 6"/>
          <p:cNvGrpSpPr/>
          <p:nvPr/>
        </p:nvGrpSpPr>
        <p:grpSpPr>
          <a:xfrm>
            <a:off x="2418080" y="1584901"/>
            <a:ext cx="2834640" cy="3676730"/>
            <a:chOff x="2311398" y="1676344"/>
            <a:chExt cx="2834640" cy="367673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16C9FEEF-40B6-4081-B0D5-583E85C0AAC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8.3 </a:t>
            </a:r>
            <a:r>
              <a:rPr lang="zh-CN" altLang="zh-CN" sz="3200" b="1" dirty="0">
                <a:solidFill>
                  <a:srgbClr val="1353A2"/>
                </a:solidFill>
                <a:latin typeface="微软雅黑" panose="020B0503020204020204" pitchFamily="34" charset="-122"/>
                <a:ea typeface="微软雅黑" panose="020B0503020204020204" pitchFamily="34" charset="-122"/>
              </a:rPr>
              <a:t>线程的生命周期及状态转换</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133600" y="1950720"/>
            <a:ext cx="9062720" cy="3037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5</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．死亡状态</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(Terminated)</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当线程调用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stop()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方法或</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方法正常执行完毕后，或者线程抛出一个未捕获的异常</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、错误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(Error)</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，线程就进入死亡状态。一旦进入死亡状态，线程将不再拥有运行的资格，也不能再转换到其他状态。</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A14EFB66-FD33-49B4-8300-08C0946F38EC}"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调度</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34160" y="1381760"/>
            <a:ext cx="9845040" cy="460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在计算机中，线程调度有两种模型，分别是</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分时调度模型</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抢占式调度模型</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。所谓分时调度模型是指让所有的线程轮流获得</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的使用权，并且平均分配每个线程占用的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的时间片。抢占式调度模型是指让可运行池中优先级高的线程优先占用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，而对于优先级相同的线程，随机选择一个线程使其占用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，当它失去了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的使用权后，再随机选择其他线程获取</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使用权。</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虚拟机默认采用抢占式调度模型，通常情况下程序员不需要去关心它，但在某些特定的需求下需要改变这种模式，由程序自己来控制</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的调度。</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EC25A4B2-EAC8-4CEF-AEB9-C64CC251C7C0}"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98320" y="1737360"/>
            <a:ext cx="5770880" cy="3667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在应用程序中，如果要对线程进行调度，最直接的方式就是设置线程的优先级。优先级越高的线程获得</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执行的机会越大，而优先级越低的线程获得</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执行的机会越小。线程的优先级用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之间的整数来表示，数字越大优先级越高。</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4023" y="1787683"/>
            <a:ext cx="2911475" cy="356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73356109-72E4-4E6A-A38F-F2EE89058273}"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34160" y="1381760"/>
            <a:ext cx="9845040" cy="1381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除了可以直接使用数字表示线程的优先级，还可以使用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类中提供的三个静态常量表示线程的优先级</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，如下表。</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2245360" y="2915918"/>
          <a:ext cx="8412480" cy="2773684"/>
        </p:xfrm>
        <a:graphic>
          <a:graphicData uri="http://schemas.openxmlformats.org/drawingml/2006/table">
            <a:tbl>
              <a:tblPr firstRow="1" firstCol="1" bandRow="1">
                <a:tableStyleId>{5C22544A-7EE6-4342-B048-85BDC9FD1C3A}</a:tableStyleId>
              </a:tblPr>
              <a:tblGrid>
                <a:gridCol w="3434080"/>
                <a:gridCol w="4978400"/>
              </a:tblGrid>
              <a:tr h="693421">
                <a:tc>
                  <a:txBody>
                    <a:bodyPr/>
                    <a:lstStyle/>
                    <a:p>
                      <a:pPr indent="266700" algn="ctr">
                        <a:spcAft>
                          <a:spcPts val="0"/>
                        </a:spcAft>
                      </a:pPr>
                      <a:r>
                        <a:rPr lang="en-US" sz="1800" kern="100">
                          <a:effectLst/>
                        </a:rPr>
                        <a:t>Thread</a:t>
                      </a:r>
                      <a:r>
                        <a:rPr lang="zh-CN" sz="1800" kern="100">
                          <a:effectLst/>
                        </a:rPr>
                        <a:t>类的静态常量</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indent="266700" algn="ctr">
                        <a:spcAft>
                          <a:spcPts val="0"/>
                        </a:spcAft>
                      </a:pPr>
                      <a:r>
                        <a:rPr lang="zh-CN" sz="1800" kern="100">
                          <a:effectLst/>
                        </a:rPr>
                        <a:t>功能描述</a:t>
                      </a:r>
                      <a:endParaRPr lang="zh-CN" sz="1800" kern="100">
                        <a:effectLst/>
                        <a:latin typeface="Times New Roman" panose="02020603050405020304"/>
                        <a:ea typeface="宋体" panose="02010600030101010101" pitchFamily="2" charset="-122"/>
                      </a:endParaRPr>
                    </a:p>
                  </a:txBody>
                  <a:tcPr marL="68580" marR="68580" marT="0" marB="0" anchor="ctr"/>
                </a:tc>
              </a:tr>
              <a:tr h="693421">
                <a:tc>
                  <a:txBody>
                    <a:bodyPr/>
                    <a:lstStyle/>
                    <a:p>
                      <a:pPr indent="466725" algn="l">
                        <a:spcAft>
                          <a:spcPts val="0"/>
                        </a:spcAft>
                      </a:pPr>
                      <a:r>
                        <a:rPr lang="en-US" sz="1800" kern="100">
                          <a:effectLst/>
                        </a:rPr>
                        <a:t>static int MAX_PRIORITY</a:t>
                      </a:r>
                      <a:endParaRPr lang="zh-CN" sz="1800" kern="100">
                        <a:effectLst/>
                        <a:latin typeface="Times New Roman" panose="02020603050405020304"/>
                        <a:ea typeface="宋体" panose="02010600030101010101" pitchFamily="2" charset="-122"/>
                        <a:cs typeface="宋体" panose="02010600030101010101" pitchFamily="2" charset="-122"/>
                      </a:endParaRPr>
                    </a:p>
                  </a:txBody>
                  <a:tcPr marL="68580" marR="68580" marT="0" marB="0" anchor="ctr"/>
                </a:tc>
                <a:tc>
                  <a:txBody>
                    <a:bodyPr/>
                    <a:lstStyle/>
                    <a:p>
                      <a:pPr indent="266700" algn="l">
                        <a:spcAft>
                          <a:spcPts val="0"/>
                        </a:spcAft>
                      </a:pPr>
                      <a:r>
                        <a:rPr lang="zh-CN" sz="1800" kern="100">
                          <a:effectLst/>
                        </a:rPr>
                        <a:t>表示线程的最高优先级，值为</a:t>
                      </a:r>
                      <a:r>
                        <a:rPr lang="en-US" sz="1800" kern="100">
                          <a:effectLst/>
                        </a:rPr>
                        <a:t>10</a:t>
                      </a:r>
                      <a:endParaRPr lang="zh-CN" sz="1800" kern="100">
                        <a:effectLst/>
                        <a:latin typeface="Times New Roman" panose="02020603050405020304"/>
                        <a:ea typeface="宋体" panose="02010600030101010101" pitchFamily="2" charset="-122"/>
                      </a:endParaRPr>
                    </a:p>
                  </a:txBody>
                  <a:tcPr marL="68580" marR="68580" marT="0" marB="0" anchor="ctr"/>
                </a:tc>
              </a:tr>
              <a:tr h="693421">
                <a:tc>
                  <a:txBody>
                    <a:bodyPr/>
                    <a:lstStyle/>
                    <a:p>
                      <a:pPr indent="466725" algn="l">
                        <a:spcAft>
                          <a:spcPts val="0"/>
                        </a:spcAft>
                      </a:pPr>
                      <a:r>
                        <a:rPr lang="en-US" sz="1800" kern="100">
                          <a:effectLst/>
                        </a:rPr>
                        <a:t>static int MIN_PRIORITY</a:t>
                      </a:r>
                      <a:endParaRPr lang="zh-CN" sz="1800" kern="100">
                        <a:effectLst/>
                        <a:latin typeface="Times New Roman" panose="02020603050405020304"/>
                        <a:ea typeface="宋体" panose="02010600030101010101" pitchFamily="2" charset="-122"/>
                        <a:cs typeface="宋体" panose="02010600030101010101" pitchFamily="2" charset="-122"/>
                      </a:endParaRPr>
                    </a:p>
                  </a:txBody>
                  <a:tcPr marL="68580" marR="68580" marT="0" marB="0" anchor="ctr"/>
                </a:tc>
                <a:tc>
                  <a:txBody>
                    <a:bodyPr/>
                    <a:lstStyle/>
                    <a:p>
                      <a:pPr indent="266700" algn="l">
                        <a:spcAft>
                          <a:spcPts val="0"/>
                        </a:spcAft>
                      </a:pPr>
                      <a:r>
                        <a:rPr lang="zh-CN" sz="1800" kern="100">
                          <a:effectLst/>
                        </a:rPr>
                        <a:t>表示线程的最低优先级，值为</a:t>
                      </a:r>
                      <a:r>
                        <a:rPr lang="en-US" sz="1800" kern="100">
                          <a:effectLst/>
                        </a:rPr>
                        <a:t>1</a:t>
                      </a:r>
                      <a:endParaRPr lang="zh-CN" sz="1800" kern="100">
                        <a:effectLst/>
                        <a:latin typeface="Times New Roman" panose="02020603050405020304"/>
                        <a:ea typeface="宋体" panose="02010600030101010101" pitchFamily="2" charset="-122"/>
                      </a:endParaRPr>
                    </a:p>
                  </a:txBody>
                  <a:tcPr marL="68580" marR="68580" marT="0" marB="0" anchor="ctr"/>
                </a:tc>
              </a:tr>
              <a:tr h="693421">
                <a:tc>
                  <a:txBody>
                    <a:bodyPr/>
                    <a:lstStyle/>
                    <a:p>
                      <a:pPr indent="466725" algn="l">
                        <a:spcAft>
                          <a:spcPts val="0"/>
                        </a:spcAft>
                      </a:pPr>
                      <a:r>
                        <a:rPr lang="en-US" sz="1800" kern="100">
                          <a:effectLst/>
                        </a:rPr>
                        <a:t>static int NORM_PRIORITY</a:t>
                      </a:r>
                      <a:endParaRPr lang="zh-CN" sz="1800" kern="100">
                        <a:effectLst/>
                        <a:latin typeface="Times New Roman" panose="02020603050405020304"/>
                        <a:ea typeface="宋体" panose="02010600030101010101" pitchFamily="2" charset="-122"/>
                        <a:cs typeface="宋体" panose="02010600030101010101" pitchFamily="2" charset="-122"/>
                      </a:endParaRPr>
                    </a:p>
                  </a:txBody>
                  <a:tcPr marL="68580" marR="68580" marT="0" marB="0" anchor="ctr"/>
                </a:tc>
                <a:tc>
                  <a:txBody>
                    <a:bodyPr/>
                    <a:lstStyle/>
                    <a:p>
                      <a:pPr indent="266700" algn="l">
                        <a:spcAft>
                          <a:spcPts val="0"/>
                        </a:spcAft>
                      </a:pPr>
                      <a:r>
                        <a:rPr lang="zh-CN" sz="1800" kern="100" dirty="0">
                          <a:effectLst/>
                        </a:rPr>
                        <a:t>表示线程的普通优先级，值为</a:t>
                      </a:r>
                      <a:r>
                        <a:rPr lang="en-US" sz="1800" kern="100" dirty="0">
                          <a:effectLst/>
                        </a:rPr>
                        <a:t>5</a:t>
                      </a:r>
                      <a:endParaRPr lang="zh-CN" sz="18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
        <p:nvSpPr>
          <p:cNvPr id="6" name="文本占位符 5"/>
          <p:cNvSpPr>
            <a:spLocks noGrp="1"/>
          </p:cNvSpPr>
          <p:nvPr>
            <p:ph type="body" sz="quarter" idx="10"/>
          </p:nvPr>
        </p:nvSpPr>
        <p:spPr/>
        <p:txBody>
          <a:bodyPr/>
          <a:lstStyle/>
          <a:p>
            <a:fld id="{EA109CD2-A08A-4BDA-88D1-6D0F30066DBA}"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262880" y="1381760"/>
            <a:ext cx="5882640" cy="456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程序在运行期间，处于就绪状态的每个线程都有自己的优先级，例如，</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main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线程具有普通优先级。然而线程优先级不是固定不变的，可以通过</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类的</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setPriority</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newPriority</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方法进行设置，</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setPriority</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方法中的参数</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newPriority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接收的是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之间的整数或者</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类的三个静态常量。</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863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1142" y="1559560"/>
            <a:ext cx="3247667" cy="420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BFD17D4A-0164-464D-8D0D-96BEE8326F50}"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86370"/>
                                        </p:tgtEl>
                                        <p:attrNameLst>
                                          <p:attrName>style.visibility</p:attrName>
                                        </p:attrNameLst>
                                      </p:cBhvr>
                                      <p:to>
                                        <p:strVal val="visible"/>
                                      </p:to>
                                    </p:set>
                                    <p:animEffect transition="in" filter="fade">
                                      <p:cBhvr>
                                        <p:cTn id="10" dur="1000"/>
                                        <p:tgtEl>
                                          <p:spTgt spid="186370"/>
                                        </p:tgtEl>
                                      </p:cBhvr>
                                    </p:animEffect>
                                    <p:anim calcmode="lin" valueType="num">
                                      <p:cBhvr>
                                        <p:cTn id="11" dur="1000" fill="hold"/>
                                        <p:tgtEl>
                                          <p:spTgt spid="186370"/>
                                        </p:tgtEl>
                                        <p:attrNameLst>
                                          <p:attrName>ppt_x</p:attrName>
                                        </p:attrNameLst>
                                      </p:cBhvr>
                                      <p:tavLst>
                                        <p:tav tm="0">
                                          <p:val>
                                            <p:strVal val="#ppt_x"/>
                                          </p:val>
                                        </p:tav>
                                        <p:tav tm="100000">
                                          <p:val>
                                            <p:strVal val="#ppt_x"/>
                                          </p:val>
                                        </p:tav>
                                      </p:tavLst>
                                    </p:anim>
                                    <p:anim calcmode="lin" valueType="num">
                                      <p:cBhvr>
                                        <p:cTn id="12" dur="1000" fill="hold"/>
                                        <p:tgtEl>
                                          <p:spTgt spid="1863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00480" y="2448560"/>
            <a:ext cx="10261600" cy="3033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300480" y="1381760"/>
            <a:ext cx="9845040" cy="721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接下来通过一个案例演示不同优先级的两个线程在程序中的运行情况</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483360" y="2448560"/>
            <a:ext cx="10078720" cy="309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定义类</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实现</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10;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正在输出：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460736D7-DA2A-480E-869D-C1CFA2544A4E}"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7775" y="2082165"/>
            <a:ext cx="10410825" cy="2994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473200" y="2072640"/>
            <a:ext cx="10078720" cy="3108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定义类</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实现</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10;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正在输出：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4116BA35-10CB-4992-9538-9595C6DE388E}" type="slidenum">
              <a:rPr lang="zh-CN" altLang="en-US" smtClean="0"/>
            </a:fld>
            <a:endParaRPr lang="zh-CN" altLang="en-US" dirty="0"/>
          </a:p>
        </p:txBody>
      </p:sp>
    </p:spTree>
    <p:custDataLst>
      <p:tags r:id="rId2"/>
    </p:custData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4975" y="1503680"/>
            <a:ext cx="9531985" cy="44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40560" y="1503680"/>
            <a:ext cx="9296400" cy="446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Example06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创建两个线程</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Thread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new Thread(new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优先级较低的线程</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Thread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new Thread(new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优先级较高的线程</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minPriority.setPriority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Thread.MIN_PRIORITY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设置线程的优先级为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maxPriority.setPriority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Thread.MAX_PRIORITY</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设置线程的优先级为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开启两个线程</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maxPriority.start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minPriority.start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2A323E0B-ADF0-4A7B-B25E-E3B170C0E68B}" type="slidenum">
              <a:rPr lang="zh-CN" altLang="en-US" smtClean="0"/>
            </a:fld>
            <a:endParaRPr lang="zh-CN" altLang="en-US" dirty="0"/>
          </a:p>
        </p:txBody>
      </p:sp>
    </p:spTree>
    <p:custDataLst>
      <p:tags r:id="rId2"/>
    </p:custData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8.4.1 </a:t>
            </a:r>
            <a:r>
              <a:rPr lang="zh-CN" altLang="zh-CN" sz="3200" b="1" dirty="0">
                <a:solidFill>
                  <a:srgbClr val="1353A2"/>
                </a:solidFill>
                <a:latin typeface="微软雅黑" panose="020B0503020204020204" pitchFamily="34" charset="-122"/>
                <a:ea typeface="微软雅黑" panose="020B0503020204020204" pitchFamily="34" charset="-122"/>
              </a:rPr>
              <a:t>线程的</a:t>
            </a:r>
            <a:r>
              <a:rPr lang="zh-CN" altLang="en-US" sz="3200" b="1" dirty="0">
                <a:solidFill>
                  <a:srgbClr val="1353A2"/>
                </a:solidFill>
                <a:latin typeface="微软雅黑" panose="020B0503020204020204" pitchFamily="34" charset="-122"/>
                <a:ea typeface="微软雅黑" panose="020B0503020204020204" pitchFamily="34" charset="-122"/>
              </a:rPr>
              <a:t>优先级</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537200" y="1544320"/>
            <a:ext cx="5791200" cy="3962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虽然</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中提供了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个线程优先级，但是这些优先级需要操作系统的支持，不同的操作系统对优先级的支持是不一样的，不会和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中线程优先级一一对应，因此，在设计多线程应用程序时，其功能的实现一定不能依赖于线程的优先级，而只能把线程优先级作为一种提高程序效率的手段。</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7" name="组合 6"/>
          <p:cNvGrpSpPr/>
          <p:nvPr/>
        </p:nvGrpSpPr>
        <p:grpSpPr>
          <a:xfrm>
            <a:off x="2153920" y="1687155"/>
            <a:ext cx="2834640" cy="3676730"/>
            <a:chOff x="2311398" y="1676344"/>
            <a:chExt cx="2834640" cy="367673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5123A4BC-656B-46B1-86DA-F78C0CBCA755}"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30871" y="1372821"/>
            <a:ext cx="8849360" cy="498347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在前面已经讲过线程的优先级，优先级高的程序会先执行，而优先级低的程序会后执行。如果希望人为地控制线程，使正在执行的线程暂停，将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CPU</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让给别的线程，这时可以使用静态方法</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sleep(long </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millis</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，该方法可以让当前正在执行的线程暂停一段时间，进入休眠等待状态。当前线程调用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sleep(long </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millis</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方法后，在指定时间</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单位毫秒</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内该线程是不会执行的，这样其他的线程就可以得到执行的机会了。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sleep(long </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millis</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方法声明会抛出</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异常，因此在调用该方法时应该捕获异常，或者声明抛出该异常。</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34BD25B4-054D-4675-8C01-6CA581756CF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6025" y="2021839"/>
            <a:ext cx="8048625" cy="4255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22400" y="1320800"/>
            <a:ext cx="10088880"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接下来通过一个案例来演示一下</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sleep(long </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millis</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方法在程序中的使用</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743200" y="2021840"/>
            <a:ext cx="7487920" cy="4170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Example07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throws Exception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创建一个线程</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Thread(new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1;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10;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5)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(2000);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当前线程休眠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主线程正在输出</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当前线程休眠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ACF425B4-EE1E-4A85-B0C8-8D6A0700435E}"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1175" y="1579880"/>
            <a:ext cx="9401175" cy="417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277110" y="1608455"/>
            <a:ext cx="8707120" cy="4170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类实现</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1;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10;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3)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(2000);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当前线程休眠</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秒</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D6617169-32AF-4589-9CAB-77EEF031461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7" y="1747947"/>
            <a:ext cx="8658423" cy="33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541754" y="1747947"/>
            <a:ext cx="8428067" cy="363685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线程正在输出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当前线程休眠</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(Exception e)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FEC62C4F-A804-4728-874B-1789B629520E}"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22400" y="1463040"/>
            <a:ext cx="10088880" cy="4216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在主线程与</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类线程中分别调用了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sleep(500)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方法让其线程休眠，目的是让一个线程在打印一次后休眠</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毫秒，从而使另一个线程获得执行的机会，这样就可以实现两个线程的交替执行。</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从运行结果可以看出，主线程输出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后，</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类线程没有交替输出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，而是主线程接着输出了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，这说明了当</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等于</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时，</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SleepThread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类线程进入了休眠等待状态。对于主线程也一样，当</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等于</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时，主线程会休眠</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2000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4B47BB45-F908-4A22-9FB8-1E61D1117F61}"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8.4.2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休眠</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758179" y="1879600"/>
            <a:ext cx="5044440" cy="309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是静态方法，只能控制当前正在运行的线程休眠，而不能控制其他线程休眠。当休眠时间结束后，线程就会返回到就绪状态，而不是立即开始运行。</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7" name="组合 6"/>
          <p:cNvGrpSpPr/>
          <p:nvPr/>
        </p:nvGrpSpPr>
        <p:grpSpPr>
          <a:xfrm>
            <a:off x="2153920" y="1687155"/>
            <a:ext cx="2834640" cy="3676730"/>
            <a:chOff x="2311398" y="1676344"/>
            <a:chExt cx="2834640" cy="367673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8A705D95-7D39-45A0-B384-E2489FC72B20}"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8.4.3 </a:t>
            </a:r>
            <a:r>
              <a:rPr lang="zh-CN" altLang="en-US" sz="3200" b="1" dirty="0">
                <a:solidFill>
                  <a:srgbClr val="1353A2"/>
                </a:solidFill>
                <a:latin typeface="微软雅黑" panose="020B0503020204020204" pitchFamily="34" charset="-122"/>
                <a:ea typeface="微软雅黑" panose="020B0503020204020204" pitchFamily="34" charset="-122"/>
              </a:rPr>
              <a:t>线程让步</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32560" y="1412240"/>
            <a:ext cx="5648960" cy="4500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线程让步可以通过</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yield()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方法来实现，该方法和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方法有点相似，都可以让当前正在运行的线程暂停，区别在于</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yield()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方法不会阻塞该线程，它只是将线程转换成就绪状态，让系统的调度器重新调度一次。当某个线程调用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yield()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方法之后，只有与当前线程优先级相同或者更高的线程才能获得执行的机会。</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505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93280" y="1873249"/>
            <a:ext cx="4495800" cy="310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31E52329-F8C8-4154-A6BA-5E5A6E72953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0530"/>
                                        </p:tgtEl>
                                        <p:attrNameLst>
                                          <p:attrName>style.visibility</p:attrName>
                                        </p:attrNameLst>
                                      </p:cBhvr>
                                      <p:to>
                                        <p:strVal val="visible"/>
                                      </p:to>
                                    </p:set>
                                    <p:animEffect transition="in" filter="fade">
                                      <p:cBhvr>
                                        <p:cTn id="11" dur="500"/>
                                        <p:tgtEl>
                                          <p:spTgt spid="150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90675" y="2143760"/>
            <a:ext cx="9788525" cy="348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8.4.3 </a:t>
            </a:r>
            <a:r>
              <a:rPr lang="zh-CN" altLang="en-US" sz="3200" b="1" dirty="0">
                <a:solidFill>
                  <a:srgbClr val="1353A2"/>
                </a:solidFill>
                <a:latin typeface="微软雅黑" panose="020B0503020204020204" pitchFamily="34" charset="-122"/>
                <a:ea typeface="微软雅黑" panose="020B0503020204020204" pitchFamily="34" charset="-122"/>
              </a:rPr>
              <a:t>线程让步</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32560" y="1280160"/>
            <a:ext cx="10180320"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接下来通过一个案例来演示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yield()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方法的使用</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90675" y="2143760"/>
            <a:ext cx="9788525" cy="3484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YieldThread</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类继承</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YieldThread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extends Thread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定义一个有参的构造方法</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YieldThread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(String name) {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super(name);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调用父类的构造方法</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0;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6;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 +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62EB9974-7375-46B5-B599-472C0D2AFF6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253420"/>
            <a:ext cx="8648700" cy="276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8.4.3 </a:t>
            </a:r>
            <a:r>
              <a:rPr lang="zh-CN" altLang="en-US" sz="3200" b="1" dirty="0">
                <a:solidFill>
                  <a:srgbClr val="1353A2"/>
                </a:solidFill>
                <a:latin typeface="微软雅黑" panose="020B0503020204020204" pitchFamily="34" charset="-122"/>
                <a:ea typeface="微软雅黑" panose="020B0503020204020204" pitchFamily="34" charset="-122"/>
              </a:rPr>
              <a:t>线程让步</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319863" y="873709"/>
            <a:ext cx="8648700" cy="293237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3)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线程让步</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Thread.yield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线程运行到此，作出让步</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A2A3A2B3-92CC-4B40-A196-264C876029BF}" type="slidenum">
              <a:rPr lang="zh-CN" altLang="en-US" smtClean="0"/>
            </a:fld>
            <a:endParaRPr lang="zh-CN" altLang="en-US" dirty="0"/>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7166" y="4185790"/>
            <a:ext cx="8648700" cy="228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307166" y="4178088"/>
            <a:ext cx="8657164" cy="24667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Example08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YieldThread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 .start();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YieldThread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B") .start();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8.4.4 </a:t>
            </a:r>
            <a:r>
              <a:rPr lang="zh-CN" altLang="en-US" sz="3200" b="1" dirty="0">
                <a:solidFill>
                  <a:srgbClr val="1353A2"/>
                </a:solidFill>
                <a:latin typeface="微软雅黑" panose="020B0503020204020204" pitchFamily="34" charset="-122"/>
                <a:ea typeface="微软雅黑" panose="020B0503020204020204" pitchFamily="34" charset="-122"/>
              </a:rPr>
              <a:t>线程插队</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4809067" y="1656080"/>
            <a:ext cx="6011333" cy="35407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现实生活中经常能碰到“插队”的情况，同样，在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类中也提供了一个</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join()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方法来实现这个“功能”。当在某个线程中调用其他线程的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join()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方法时，调用的线程将被阻塞，直到被</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join()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方法加入的线程执行完成后它才会继续运行。</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55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5760" y="1656080"/>
            <a:ext cx="2857500" cy="409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998E6F00-0C9D-4BD6-A2FF-FF53EE32DDB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55650"/>
                                        </p:tgtEl>
                                        <p:attrNameLst>
                                          <p:attrName>style.visibility</p:attrName>
                                        </p:attrNameLst>
                                      </p:cBhvr>
                                      <p:to>
                                        <p:strVal val="visible"/>
                                      </p:to>
                                    </p:set>
                                    <p:animEffect transition="in" filter="fade">
                                      <p:cBhvr>
                                        <p:cTn id="10" dur="1000"/>
                                        <p:tgtEl>
                                          <p:spTgt spid="155650"/>
                                        </p:tgtEl>
                                      </p:cBhvr>
                                    </p:animEffect>
                                    <p:anim calcmode="lin" valueType="num">
                                      <p:cBhvr>
                                        <p:cTn id="11" dur="1000" fill="hold"/>
                                        <p:tgtEl>
                                          <p:spTgt spid="155650"/>
                                        </p:tgtEl>
                                        <p:attrNameLst>
                                          <p:attrName>ppt_x</p:attrName>
                                        </p:attrNameLst>
                                      </p:cBhvr>
                                      <p:tavLst>
                                        <p:tav tm="0">
                                          <p:val>
                                            <p:strVal val="#ppt_x"/>
                                          </p:val>
                                        </p:tav>
                                        <p:tav tm="100000">
                                          <p:val>
                                            <p:strVal val="#ppt_x"/>
                                          </p:val>
                                        </p:tav>
                                      </p:tavLst>
                                    </p:anim>
                                    <p:anim calcmode="lin" valueType="num">
                                      <p:cBhvr>
                                        <p:cTn id="12" dur="1000" fill="hold"/>
                                        <p:tgtEl>
                                          <p:spTgt spid="155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8.4.4 </a:t>
            </a:r>
            <a:r>
              <a:rPr lang="zh-CN" altLang="en-US" sz="3200" b="1" dirty="0">
                <a:solidFill>
                  <a:srgbClr val="1353A2"/>
                </a:solidFill>
                <a:latin typeface="微软雅黑" panose="020B0503020204020204" pitchFamily="34" charset="-122"/>
                <a:ea typeface="微软雅黑" panose="020B0503020204020204" pitchFamily="34" charset="-122"/>
              </a:rPr>
              <a:t>线程插队</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34160" y="1178560"/>
            <a:ext cx="9702800" cy="74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接下来通过案例来演示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join()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方法的使用</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1452880" y="1828800"/>
            <a:ext cx="9784080" cy="4541520"/>
            <a:chOff x="1452880" y="1828800"/>
            <a:chExt cx="9784080" cy="4541520"/>
          </a:xfrm>
        </p:grpSpPr>
        <p:pic>
          <p:nvPicPr>
            <p:cNvPr id="1566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2880" y="1828800"/>
              <a:ext cx="9784080" cy="454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301238" y="1828800"/>
              <a:ext cx="8747760" cy="454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Example09{</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throws Exception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创建线程</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Thread t = new Thread(new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EmergencyThread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线程一</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t.start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开启线程</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1;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6;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输入：</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2)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t.join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join()</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6" name="文本占位符 5"/>
          <p:cNvSpPr>
            <a:spLocks noGrp="1"/>
          </p:cNvSpPr>
          <p:nvPr>
            <p:ph type="body" sz="quarter" idx="10"/>
          </p:nvPr>
        </p:nvSpPr>
        <p:spPr/>
        <p:txBody>
          <a:bodyPr/>
          <a:lstStyle/>
          <a:p>
            <a:fld id="{E5BC363A-24B5-45A2-912F-E3EE3C6BC90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8.4.4 </a:t>
            </a:r>
            <a:r>
              <a:rPr lang="zh-CN" altLang="en-US" sz="3200" b="1" dirty="0">
                <a:solidFill>
                  <a:srgbClr val="1353A2"/>
                </a:solidFill>
                <a:latin typeface="微软雅黑" panose="020B0503020204020204" pitchFamily="34" charset="-122"/>
                <a:ea typeface="微软雅黑" panose="020B0503020204020204" pitchFamily="34" charset="-122"/>
              </a:rPr>
              <a:t>线程插队</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1676400" y="1625600"/>
            <a:ext cx="9733280" cy="4104639"/>
            <a:chOff x="1676400" y="1625600"/>
            <a:chExt cx="9733280" cy="4104639"/>
          </a:xfrm>
        </p:grpSpPr>
        <p:pic>
          <p:nvPicPr>
            <p:cNvPr id="157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625600"/>
              <a:ext cx="9733280" cy="410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372358" y="1722120"/>
              <a:ext cx="8656320" cy="3906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EmergencyThread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for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1;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&lt; 6;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输入：</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500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6" name="文本占位符 5"/>
          <p:cNvSpPr>
            <a:spLocks noGrp="1"/>
          </p:cNvSpPr>
          <p:nvPr>
            <p:ph type="body" sz="quarter" idx="10"/>
          </p:nvPr>
        </p:nvSpPr>
        <p:spPr/>
        <p:txBody>
          <a:bodyPr/>
          <a:lstStyle/>
          <a:p>
            <a:fld id="{ED29461F-D0CB-4A86-955B-ECC1E96AA7C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 </a:t>
            </a:r>
            <a:r>
              <a:rPr lang="zh-CN" altLang="zh-CN" sz="3200" b="1" dirty="0">
                <a:solidFill>
                  <a:srgbClr val="1353A2"/>
                </a:solidFill>
                <a:latin typeface="微软雅黑" panose="020B0503020204020204" pitchFamily="34" charset="-122"/>
                <a:ea typeface="微软雅黑" panose="020B0503020204020204" pitchFamily="34" charset="-122"/>
              </a:rPr>
              <a:t>多线程同步</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181600" y="1451451"/>
            <a:ext cx="6014720" cy="4124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多线程的并发执行可以提高程序的效率，但是，当多个线程去访问同一个资源时，也会引发一些安全问题。例如，当统计一个班级的学生数目时，如果有同学进进出出，则很难统计正确。为了解决这样的问题，需要实现多线程的同步，即限制某个资源在同一时刻只能被一个线程访问。</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0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30639" y="1782921"/>
            <a:ext cx="3472210" cy="3462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68B902CA-D563-4E47-9B50-EF5A8443860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fade">
                                      <p:cBhvr>
                                        <p:cTn id="7" dur="1000"/>
                                        <p:tgtEl>
                                          <p:spTgt spid="160770"/>
                                        </p:tgtEl>
                                      </p:cBhvr>
                                    </p:animEffect>
                                    <p:anim calcmode="lin" valueType="num">
                                      <p:cBhvr>
                                        <p:cTn id="8" dur="1000" fill="hold"/>
                                        <p:tgtEl>
                                          <p:spTgt spid="160770"/>
                                        </p:tgtEl>
                                        <p:attrNameLst>
                                          <p:attrName>ppt_x</p:attrName>
                                        </p:attrNameLst>
                                      </p:cBhvr>
                                      <p:tavLst>
                                        <p:tav tm="0">
                                          <p:val>
                                            <p:strVal val="#ppt_x"/>
                                          </p:val>
                                        </p:tav>
                                        <p:tav tm="100000">
                                          <p:val>
                                            <p:strVal val="#ppt_x"/>
                                          </p:val>
                                        </p:tav>
                                      </p:tavLst>
                                    </p:anim>
                                    <p:anim calcmode="lin" valueType="num">
                                      <p:cBhvr>
                                        <p:cTn id="9" dur="1000" fill="hold"/>
                                        <p:tgtEl>
                                          <p:spTgt spid="16077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8.5.1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安全问题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93520" y="1735931"/>
            <a:ext cx="9824720" cy="304942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前面讲解的</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售票案例，极有可能碰到“意外”情况，如一张票被打印多次，或者打印出的票号为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甚至负数。这些“意外”都是由多线程操作共享资源</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所导致的线程安全问题。接下来</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对售票案例进行修改</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，模拟四个窗口出售</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张票，并在售票的代码中使用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方法，令每次售票时线程休眠</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AB778EE3-7BB3-4111-9BC5-9F79E4706FA7}"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7" y="1696720"/>
            <a:ext cx="8956677" cy="378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8.5.1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安全问题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595878" y="1696720"/>
            <a:ext cx="8524240" cy="384047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Example10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对象</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创建并开启四个线程</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线程一</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线程二</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线程三</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线程四</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6844EF87-001D-47A0-AA7D-A5FF87EAD59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849" y="1375757"/>
            <a:ext cx="9324975" cy="480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8.5.1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安全问题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52320" y="1330960"/>
            <a:ext cx="8971280" cy="48463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类实现</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private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tickets = 10; // 10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张票</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while (tickets &gt; 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经过此处的线程休眠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卖出的票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tickets--);</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ADBE39D2-8A2C-4D5D-8987-41F15BD3598A}"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8.5.1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安全问题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565422" y="1600994"/>
            <a:ext cx="5214338" cy="391588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运行结果</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中，最后打印售出的票出现了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和负数，这种现象是不应该出现的，因为售票程序中只有当票号大于</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时才会进行售票。运行结果中之所以出现了负数的票号是因为多线程在售票时出现了安全问题</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4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7358" y="2275364"/>
            <a:ext cx="4068993" cy="2307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7D0F474F-D796-4E11-B155-CD59CA210F0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64866"/>
                                        </p:tgtEl>
                                        <p:attrNameLst>
                                          <p:attrName>style.visibility</p:attrName>
                                        </p:attrNameLst>
                                      </p:cBhvr>
                                      <p:to>
                                        <p:strVal val="visible"/>
                                      </p:to>
                                    </p:set>
                                    <p:animEffect transition="in" filter="fade">
                                      <p:cBhvr>
                                        <p:cTn id="10" dur="1000"/>
                                        <p:tgtEl>
                                          <p:spTgt spid="164866"/>
                                        </p:tgtEl>
                                      </p:cBhvr>
                                    </p:animEffect>
                                    <p:anim calcmode="lin" valueType="num">
                                      <p:cBhvr>
                                        <p:cTn id="11" dur="1000" fill="hold"/>
                                        <p:tgtEl>
                                          <p:spTgt spid="164866"/>
                                        </p:tgtEl>
                                        <p:attrNameLst>
                                          <p:attrName>ppt_x</p:attrName>
                                        </p:attrNameLst>
                                      </p:cBhvr>
                                      <p:tavLst>
                                        <p:tav tm="0">
                                          <p:val>
                                            <p:strVal val="#ppt_x"/>
                                          </p:val>
                                        </p:tav>
                                        <p:tav tm="100000">
                                          <p:val>
                                            <p:strVal val="#ppt_x"/>
                                          </p:val>
                                        </p:tav>
                                      </p:tavLst>
                                    </p:anim>
                                    <p:anim calcmode="lin" valueType="num">
                                      <p:cBhvr>
                                        <p:cTn id="12" dur="1000" fill="hold"/>
                                        <p:tgtEl>
                                          <p:spTgt spid="1648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8.5.1 </a:t>
            </a:r>
            <a:r>
              <a:rPr lang="zh-CN" altLang="zh-CN" sz="3200" b="1" dirty="0">
                <a:solidFill>
                  <a:srgbClr val="1353A2"/>
                </a:solidFill>
                <a:latin typeface="微软雅黑" panose="020B0503020204020204" pitchFamily="34" charset="-122"/>
                <a:ea typeface="微软雅黑" panose="020B0503020204020204" pitchFamily="34" charset="-122"/>
              </a:rPr>
              <a:t>线程</a:t>
            </a:r>
            <a:r>
              <a:rPr lang="zh-CN" altLang="en-US" sz="3200" b="1" dirty="0">
                <a:solidFill>
                  <a:srgbClr val="1353A2"/>
                </a:solidFill>
                <a:latin typeface="微软雅黑" panose="020B0503020204020204" pitchFamily="34" charset="-122"/>
                <a:ea typeface="微软雅黑" panose="020B0503020204020204" pitchFamily="34" charset="-122"/>
              </a:rPr>
              <a:t>安全问题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12240" y="1560354"/>
            <a:ext cx="9824720" cy="418004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出现这样的安全问题的原因是在售票程序的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while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循环中添加了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方法，由于线程有延迟，当票号减为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时，假设线程</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此时出售</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号票，对票号进行判断后，进入</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while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循环，在售票之前通过</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sleep()</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方法让线程休眠，这时线程二会进行售票，由于此时票号仍为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，因此线程二也会进入循环，同理，四个线程都会进入</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while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循环，休眠结束后，四个线程都会进行售票，这样就相当于将票号减了四次，结果中出现了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这样的票号。</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624FB79E-EB9D-4B3C-9B54-39AC0FB519FC}"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52880" y="1326674"/>
            <a:ext cx="10088880" cy="44080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线程安全问题其实就是由多个线程同时处理共享资源所导致的</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要想解决线程安全问题，必须得保证在任何时刻只能有一个线程访问共享资源。</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while (tickets &gt; 0) {</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try {</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Thread.sleep</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(10); // </a:t>
            </a:r>
            <a:r>
              <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rPr>
              <a:t>经过此处的线程休眠</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10</a:t>
            </a:r>
            <a:r>
              <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rPr>
              <a:t>毫秒</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 catch (</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InterruptedException</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e) {</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e.printStackTrace</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Thread.currentThread</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rgbClr val="00B0F0"/>
                </a:solidFill>
                <a:latin typeface="Lucida Sans Unicode" panose="020B0602030504020204"/>
                <a:ea typeface="微软雅黑" panose="020B0503020204020204" pitchFamily="34" charset="-122"/>
                <a:cs typeface="Lucida Sans Unicode" panose="020B0602030504020204"/>
              </a:rPr>
              <a:t>getName</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rPr>
              <a:t>卖出的票</a:t>
            </a: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 tickets--);</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600" dirty="0">
                <a:solidFill>
                  <a:srgbClr val="00B0F0"/>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CA1D5A5D-1385-4B91-A458-98EBA511E162}"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57680" y="1509553"/>
            <a:ext cx="9580880" cy="411230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为了实现这种限制，</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中提供了同步机制。当多个线程使用同一个共享资源时，可以将处理共享资源的代码放在一个使用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关键字修饰的代码块中，这个代码块被称作同步代码块。使用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关键字创建同步代码块的语法格式如下： </a:t>
            </a:r>
            <a:endPar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800" dirty="0">
                <a:solidFill>
                  <a:srgbClr val="FF0000"/>
                </a:solidFill>
                <a:latin typeface="Lucida Sans Unicode" panose="020B0602030504020204"/>
                <a:ea typeface="微软雅黑" panose="020B0503020204020204" pitchFamily="34" charset="-122"/>
                <a:cs typeface="Lucida Sans Unicode" panose="020B0602030504020204"/>
              </a:rPr>
              <a:t>synchronized(lock){</a:t>
            </a:r>
            <a:endParaRPr lang="zh-CN" altLang="zh-CN" sz="28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800" dirty="0">
                <a:solidFill>
                  <a:srgbClr val="FF0000"/>
                </a:solidFill>
                <a:latin typeface="Lucida Sans Unicode" panose="020B0602030504020204"/>
                <a:ea typeface="微软雅黑" panose="020B0503020204020204" pitchFamily="34" charset="-122"/>
                <a:cs typeface="Lucida Sans Unicode" panose="020B0602030504020204"/>
              </a:rPr>
              <a:t>        </a:t>
            </a:r>
            <a:r>
              <a:rPr lang="zh-CN" altLang="zh-CN" sz="2800" dirty="0">
                <a:solidFill>
                  <a:srgbClr val="FF0000"/>
                </a:solidFill>
                <a:latin typeface="Lucida Sans Unicode" panose="020B0602030504020204"/>
                <a:ea typeface="微软雅黑" panose="020B0503020204020204" pitchFamily="34" charset="-122"/>
                <a:cs typeface="Lucida Sans Unicode" panose="020B0602030504020204"/>
              </a:rPr>
              <a:t>操作共享资源代码块</a:t>
            </a:r>
            <a:endParaRPr lang="zh-CN" altLang="zh-CN" sz="28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800" dirty="0">
                <a:solidFill>
                  <a:srgbClr val="FF0000"/>
                </a:solidFill>
                <a:latin typeface="Lucida Sans Unicode" panose="020B0602030504020204"/>
                <a:ea typeface="微软雅黑" panose="020B0503020204020204" pitchFamily="34" charset="-122"/>
                <a:cs typeface="Lucida Sans Unicode" panose="020B0602030504020204"/>
              </a:rPr>
              <a:t>}</a:t>
            </a:r>
            <a:endParaRPr lang="zh-CN" altLang="zh-CN" sz="2800" dirty="0">
              <a:solidFill>
                <a:srgbClr val="FF0000"/>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57059974-C13C-4518-A4A6-6D3A6D663DEB}"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57680" y="1509554"/>
            <a:ext cx="9580880" cy="399716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上面的</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格式</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lock</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是一个锁对象，它是同步代码块的关键。当某一个线程执行同步代码块时，其他线程将无法执行当前同步代码块，会发生阻塞，等当前线程执行完同步代码块后，所有的线程开始抢夺线程的执行权，抢到执行权的线程将进入同步代码块，执行其中的代码。循环往复，直到共享资源被处理完为止。这个过程就好比一个公用电话亭，只有前一个人打完电话出来后，后面的人才可以打。</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388B65C1-7710-40E0-8EAC-127375E9F19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2625" y="2034937"/>
            <a:ext cx="8949055" cy="3959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86560" y="1258491"/>
            <a:ext cx="9580880" cy="88820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接下来将售票的代码放到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区域中</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235200" y="2034937"/>
            <a:ext cx="8666480" cy="395946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Ticket1</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类继承</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Ticket1 implements Runnable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private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tickets = 10;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定义变量</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，并赋值</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Object lock = new Object();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定义任意一个对象，用作同步代码块的锁</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while (true)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synchronized (lock) {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定义同步代码块</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经过的线程休眠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C62FCFB3-FFCE-4F77-8B0E-B8AF49AC936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33525" y="1933575"/>
            <a:ext cx="9733915" cy="3348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86560" y="1984137"/>
            <a:ext cx="9580880" cy="327874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(tickets &gt; 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卖出的票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tickets--);</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else {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如果</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小于</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，跳出循环</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break;</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9237F727-1FB6-4E2B-9DB3-03E810C2121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5099" y="1860947"/>
            <a:ext cx="7705725" cy="3640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3012438" y="1841897"/>
            <a:ext cx="6949440" cy="376642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public class Example11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Ticket1 ticket = new Ticket1();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Ticket1</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对象</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创建并开启四个线程</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线程一</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线程二</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线程三</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线程四</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1F6F4A12-9B16-4AEE-9BC7-101047292B1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86560" y="1370250"/>
            <a:ext cx="9580880" cy="45733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将有关</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变量的操作全部都放到同步代码块中。为了保证线程的持续执行，将同步代码块放在死循环中，直到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ticket&lt;0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时跳出循环。从运行结果可以看出，售出的票不再出现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负数的情况，这是因为售票的代码实现了同步，之前出现的线程安全问题得以解决。运行结果中并没有出现线程二和线程三售票的语句，出现这样的现象是很正常的，因为线程在获得锁对象时有一定的随机性，在整个程序的运行期间，线程二和线程三始终未获得锁对象，所以未能显示它们的输出结果。</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AD188EB4-8127-4975-9E92-1CBB13C841C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8.5.2 </a:t>
            </a:r>
            <a:r>
              <a:rPr lang="zh-CN" altLang="en-US" sz="3200" b="1" dirty="0">
                <a:solidFill>
                  <a:srgbClr val="1353A2"/>
                </a:solidFill>
                <a:latin typeface="微软雅黑" panose="020B0503020204020204" pitchFamily="34" charset="-122"/>
                <a:ea typeface="微软雅黑" panose="020B0503020204020204" pitchFamily="34" charset="-122"/>
              </a:rPr>
              <a:t>同步代码块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207002" y="1370250"/>
            <a:ext cx="6060438" cy="45733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同步代码块中的锁对象可以是任意类型的对象，但多个线程共享的锁对象必须是唯一的。“任意”说的是共享锁对象的类型。锁对象的创建代码不能放到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方法中，否则每个线程运行到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方法都会创建一个新对象，这样每个线程都会有一个不同的锁，每个锁都有自己的标志位，这样线程之间便不能产生同步的效果。</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7" name="组合 6"/>
          <p:cNvGrpSpPr/>
          <p:nvPr/>
        </p:nvGrpSpPr>
        <p:grpSpPr>
          <a:xfrm>
            <a:off x="2184400" y="1818559"/>
            <a:ext cx="2834640" cy="3676730"/>
            <a:chOff x="2311398" y="1676344"/>
            <a:chExt cx="2834640" cy="367673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D34C430A-F349-42A0-9386-B13BD271B11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56080" y="1329610"/>
            <a:ext cx="9977120" cy="45733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同步代码块可以有效解决线程的安全问题，当把共享资源的操作放在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定义的区域内时，便为这些操作加了同步锁。在方法前面同样可以使用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关键字来修饰，被修饰的方法为同步方法，它能实现和同步代码块同样的功能，具体语法格式如下：</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synchronized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返回值类型 方法名</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参数</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1,...]){}</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被</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synchronized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修饰的方法在某一时刻只允许一个线程访问，访问该方法的其他线程都会发生阻塞，直到当前线程访问完毕后，其他线程才有机会执行该方法。</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D9C83CEF-7041-4A9B-A387-36F2C537C81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0450" y="2162729"/>
            <a:ext cx="6031230" cy="3580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56080" y="1329611"/>
            <a:ext cx="9977120" cy="87511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通过一个案例演示</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同步方法</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的使用。</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3845560" y="2162730"/>
            <a:ext cx="6106160" cy="36589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Ticket1</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类实现</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Runnable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接口</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Ticket1 implements Runnable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private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tickets = 10;</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while (true)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saleTicket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调用售票方法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(tickets &lt;= 0) {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break;</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F2BC9B85-2F35-47B7-8D08-AD5A3F1C5DA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4024" y="1532810"/>
            <a:ext cx="9410701" cy="4248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892300" y="1532810"/>
            <a:ext cx="9022080" cy="424823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定义一个同步方法</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saleTicket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private synchronized void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saleTicket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(tickets &gt; 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try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Thread.sleep</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经过的线程休眠</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毫秒</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catch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InterruptedException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卖出的票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tickets--);</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7489B823-3175-4CAA-B144-8D450E69D7F2}"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30094" y="1735930"/>
            <a:ext cx="8039101" cy="3834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311398" y="1803795"/>
            <a:ext cx="7416800" cy="371991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Example12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Ticket1 ticket = new Ticket1();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Ticket1</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对象</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创建并开启四个线程</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线程一</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线程二</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线程三</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Thread(ticket,"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线程四</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").start();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A64C5811-1CBE-416B-AC9E-6E0EA779501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899920" y="1412240"/>
            <a:ext cx="9265920" cy="4389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读者可能会有这样的疑问：同步代码块的锁是自己定义的任意类型的对象，那么同步方法是否也存在锁？如果有，它的锁是什么呢？答案是肯定的，同步方法也有锁，它的锁就是当前调用该方法的对象，也就是</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this</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指向的对象。这样做的好处是，同步方法被所有线程所共享，方法所在的对象相对于所有线程来说是唯一的，从而保证了锁的唯一性。当一个线程执行该方法时，其他的线程就不能进入该方法中，直到这个线程执行完该方法为止。从而达到了线程同步的效果。</a:t>
            </a:r>
            <a:endPar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580472D4-1AD2-4FB8-979B-3634D9B096EA}"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930400" y="1625600"/>
            <a:ext cx="8778240" cy="3789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有时候需要同步的方法是静态方法，静态方法不需要创建对象就可以直接用“类名</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方法名</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”的方式调用。这时候读者就会有一个疑问，如果不创建对象，静态同步方法的锁就不会是</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this</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，那么静态同步方法的锁是什么？</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Java</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中静态方法的锁是该方法所在类的</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class</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对象，该对象在装载该类时自动创建，该对象可以直接用类名</a:t>
            </a:r>
            <a:r>
              <a:rPr lang="en-US"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.class</a:t>
            </a: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的方式获取。</a:t>
            </a:r>
            <a:endPar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DAE2E23F-5C54-4B25-BDD1-5EC38C88738B}"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82560" y="1780379"/>
            <a:ext cx="3406775" cy="355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8.5.3 </a:t>
            </a:r>
            <a:r>
              <a:rPr lang="zh-CN" altLang="en-US" sz="3200" b="1" dirty="0">
                <a:solidFill>
                  <a:srgbClr val="1353A2"/>
                </a:solidFill>
                <a:latin typeface="微软雅黑" panose="020B0503020204020204" pitchFamily="34" charset="-122"/>
                <a:ea typeface="微软雅黑" panose="020B0503020204020204" pitchFamily="34" charset="-122"/>
              </a:rPr>
              <a:t>同步方法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92960" y="1595120"/>
            <a:ext cx="5689600" cy="4033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rPr>
              <a:t>同步代码块和同步方法解决多线程问题有好处也有弊端。同步解决了多个线程同时访问共享数据时的线程安全问题，只要加上同一个锁，在同一时间内只能有一条线程执行。但是线程在执行同步代码时每次都会判断锁的状态，非常消耗资源，效率较低。</a:t>
            </a:r>
            <a:endPar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0872AB48-249B-46E2-B5AE-824F7C212BB4}"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fade">
                                      <p:cBhvr>
                                        <p:cTn id="12" dur="500"/>
                                        <p:tgtEl>
                                          <p:spTgt spid="174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100320" y="1715691"/>
            <a:ext cx="6553200" cy="368943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rPr>
              <a:t>有这样一个场景：一个中国人和一个美国人在一起吃饭，美国人拿了中国人的筷子，中国人拿了美国人的刀叉，两个人开始争执不休：</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rPr>
              <a:t>中国人：“你先给我筷子，我再给你刀叉！”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rPr>
              <a:t>美国人：“你先给我刀叉，我再给你筷子！”</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楷体" panose="02010609060101010101" pitchFamily="49" charset="-122"/>
              <a:ea typeface="楷体" panose="02010609060101010101" pitchFamily="49"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75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3732" y="1911569"/>
            <a:ext cx="3451076" cy="270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A438EBEC-8840-4A4F-8A15-79255FF60364}"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175106"/>
                                        </p:tgtEl>
                                        <p:attrNameLst>
                                          <p:attrName>style.visibility</p:attrName>
                                        </p:attrNameLst>
                                      </p:cBhvr>
                                      <p:to>
                                        <p:strVal val="visible"/>
                                      </p:to>
                                    </p:set>
                                    <p:animEffect transition="in" filter="fade">
                                      <p:cBhvr>
                                        <p:cTn id="10" dur="500"/>
                                        <p:tgtEl>
                                          <p:spTgt spid="175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717040" y="1949371"/>
            <a:ext cx="5831840" cy="292743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结果可想而知，两个人都吃不到饭。这个例子中的中国人和美国人相当于不同的线程，筷子和刀叉就相当于锁。两个线程在运行时都在等待对方的锁，这样便造成了程序的停滞，这种现象称为死锁。</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761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4650" y="1949371"/>
            <a:ext cx="3423740" cy="3131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C37E0C1E-D642-4E6E-B653-D7A4953DC61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6130"/>
                                        </p:tgtEl>
                                        <p:attrNameLst>
                                          <p:attrName>style.visibility</p:attrName>
                                        </p:attrNameLst>
                                      </p:cBhvr>
                                      <p:to>
                                        <p:strVal val="visible"/>
                                      </p:to>
                                    </p:set>
                                    <p:animEffect transition="in" filter="fade">
                                      <p:cBhvr>
                                        <p:cTn id="11" dur="500"/>
                                        <p:tgtEl>
                                          <p:spTgt spid="176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5330" y="2633940"/>
            <a:ext cx="8450580" cy="2366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95120" y="1349931"/>
            <a:ext cx="9966960" cy="79382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接下来通过中国人和美国人吃饭的案例来模拟死锁问题</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062480" y="2681565"/>
            <a:ext cx="8412480" cy="246955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class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implements Runnable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static Object chopsticks = new Object();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Object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类型的</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chopsticks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static Object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new Object();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Object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类型的</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private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boolean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flag;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boolean</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类型的变量</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flag</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boolean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flag) {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定义有参的构造方法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this.flag</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flag;</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667A95A1-6A8E-429A-A4A9-617B74F831DF}"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0969" y="1636672"/>
            <a:ext cx="9848850" cy="431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683259" y="1636672"/>
            <a:ext cx="10576560" cy="42069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void run()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if (flag)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while (true)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synchronized (chopsticks) {        // chopsticks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锁对象上的同步代码块</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"---if---chopsticks");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synchronized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锁对象上的同步代码块</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"---if---</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C88EC2A7-9461-4C61-B048-84B1D0A4ACC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4900" y="1375757"/>
            <a:ext cx="10515600" cy="4624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290320" y="1462365"/>
            <a:ext cx="10403840" cy="461331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else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while (true)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synchronized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锁对象上的同步代码块</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"---else---</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synchronized (chopsticks) { // chopsticks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锁对象上的同步代码块</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Thread.currentThread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getName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"---else---chopsticks");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A6C6FA92-6E08-49E3-975E-5E555C53B89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828802"/>
            <a:ext cx="7905750" cy="3305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3078480" y="1828802"/>
            <a:ext cx="7396480" cy="3718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class Example13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创建两个</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对象</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d1 = new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(true);</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d2 = new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(false);</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创建并开启两个线程</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Thread(d1, "Chinese").start();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创建开启线程</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Chinese</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new Thread(d2, "American").start();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创建开启线程</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American</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5" name="文本占位符 4"/>
          <p:cNvSpPr>
            <a:spLocks noGrp="1"/>
          </p:cNvSpPr>
          <p:nvPr>
            <p:ph type="body" sz="quarter" idx="10"/>
          </p:nvPr>
        </p:nvSpPr>
        <p:spPr/>
        <p:txBody>
          <a:bodyPr/>
          <a:lstStyle/>
          <a:p>
            <a:fld id="{542D8045-E1BF-446F-A212-953ABD171532}"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3202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8.5.4 </a:t>
            </a:r>
            <a:r>
              <a:rPr lang="zh-CN" altLang="en-US" sz="3200" b="1" dirty="0">
                <a:solidFill>
                  <a:srgbClr val="1353A2"/>
                </a:solidFill>
                <a:latin typeface="微软雅黑" panose="020B0503020204020204" pitchFamily="34" charset="-122"/>
                <a:ea typeface="微软雅黑" panose="020B0503020204020204" pitchFamily="34" charset="-122"/>
              </a:rPr>
              <a:t>死锁问题</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03680" y="1349931"/>
            <a:ext cx="9966960" cy="42177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在上述代码中，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1~33</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行代码的</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DeadLockThread</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类中创建了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Chinese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American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两个线程，分别执行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run()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方法中</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if</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else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代码块中的同步代码块。第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10~19</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行代码中设置</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Chinese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线程中拥有</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chopsticks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锁，只有获得</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锁才能执行完毕；第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21 ~30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行代码中设置</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American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线程拥有</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knifeAndFork</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锁，只有获得</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chopsticks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锁才能执行完毕。两个线程都需要对方所占用的锁，但是都无法释放自己所拥有的锁，于是这两个线程都处于挂起状态，从而造成了死锁。</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835EA75F-7929-4886-BB1D-E5B5611ADEBF}"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64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8.6 </a:t>
            </a:r>
            <a:r>
              <a:rPr lang="zh-CN" altLang="en-US" sz="3200" b="1" dirty="0">
                <a:solidFill>
                  <a:srgbClr val="1353A2"/>
                </a:solidFill>
                <a:latin typeface="微软雅黑" panose="020B0503020204020204" pitchFamily="34" charset="-122"/>
                <a:ea typeface="微软雅黑" panose="020B0503020204020204" pitchFamily="34" charset="-122"/>
              </a:rPr>
              <a:t>本章小结</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67" name="矩形 66"/>
          <p:cNvSpPr/>
          <p:nvPr/>
        </p:nvSpPr>
        <p:spPr>
          <a:xfrm>
            <a:off x="5598160" y="1367432"/>
            <a:ext cx="5800117" cy="470898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a:solidFill>
                  <a:srgbClr val="1353A2"/>
                </a:solidFill>
                <a:latin typeface="微软雅黑" panose="020B0503020204020204" pitchFamily="34" charset="-122"/>
                <a:ea typeface="微软雅黑" panose="020B0503020204020204" pitchFamily="34" charset="-122"/>
              </a:rPr>
              <a:t>本章详细介绍了多线程的基础知识，首先从进程与线程两部分讲解了线程的概述；其次介绍了线程创建的两种方式，又对比了两种创建线程方式的优缺点；接着讲解了线程的生命周期与状态转换；然后从线程的优先级、休眠、让步和插队四方面讲解了线程的调度；最后从多线性的线程安全、同步代码块、同步方法和如何解决死锁问题几方面介绍了多线程的同步。通过本章的学习，读者对</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中多线程已经有了初步的认识，熟练掌握好这些知识，对以后的编程开发大有脾益。</a:t>
            </a:r>
            <a:endParaRPr lang="zh-CN" altLang="en-US" sz="2000" dirty="0">
              <a:solidFill>
                <a:srgbClr val="1353A2"/>
              </a:solidFill>
              <a:latin typeface="微软雅黑" panose="020B0503020204020204" pitchFamily="34" charset="-122"/>
              <a:ea typeface="微软雅黑" panose="020B0503020204020204" pitchFamily="34" charset="-122"/>
            </a:endParaRPr>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tags/tag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7.xml><?xml version="1.0" encoding="utf-8"?>
<p:tagLst xmlns:p="http://schemas.openxmlformats.org/presentationml/2006/main">
  <p:tag name="GENSWF_ADVANCE_TIME" val="0.00"/>
  <p:tag name="ISPRING_SLIDE_INDENT_LEVEL" val="0"/>
  <p:tag name="ISPRING_CUSTOM_TIMING_USED" val="0"/>
  <p:tag name="GENSWF_SLIDE_TITLE" val="4.7 本章小结"/>
</p:tagLst>
</file>

<file path=ppt/tags/tag88.xml><?xml version="1.0" encoding="utf-8"?>
<p:tagLst xmlns:p="http://schemas.openxmlformats.org/presentationml/2006/main">
  <p:tag name="GENSWF_ADVANCE_TIME" val="0.00"/>
  <p:tag name="ISPRING_SLIDE_INDENT_LEVEL" val="0"/>
  <p:tag name="ISPRING_CUSTOM_TIMING_USED" val="0"/>
  <p:tag name="GENSWF_SLIDE_TITLE" val="传智播客.黑马程序员"/>
</p:tagLst>
</file>

<file path=ppt/tags/tag89.xml><?xml version="1.0" encoding="utf-8"?>
<p:tagLst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6f21232e94b46569fb407c359ca3a72a584818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19641</Words>
  <Application>WPS 演示</Application>
  <PresentationFormat>宽屏</PresentationFormat>
  <Paragraphs>960</Paragraphs>
  <Slides>89</Slides>
  <Notes>89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89</vt:i4>
      </vt:variant>
    </vt:vector>
  </HeadingPairs>
  <TitlesOfParts>
    <vt:vector size="106" baseType="lpstr">
      <vt:lpstr>Arial</vt:lpstr>
      <vt:lpstr>宋体</vt:lpstr>
      <vt:lpstr>Wingdings</vt:lpstr>
      <vt:lpstr>微软雅黑</vt:lpstr>
      <vt:lpstr>Times New Roman</vt:lpstr>
      <vt:lpstr>方正细倩简体</vt:lpstr>
      <vt:lpstr>Segoe Print</vt:lpstr>
      <vt:lpstr>Lucida Sans Unicode</vt:lpstr>
      <vt:lpstr>等线</vt:lpstr>
      <vt:lpstr>Arial Unicode MS</vt:lpstr>
      <vt:lpstr>等线 Light</vt:lpstr>
      <vt:lpstr>Calibri</vt:lpstr>
      <vt:lpstr>楷体</vt:lpstr>
      <vt:lpstr>Times New Roman</vt:lpstr>
      <vt:lpstr>Office 主题​​</vt:lpstr>
      <vt:lpstr>Visio.Drawing.11</vt:lpstr>
      <vt:lpstr>Visio.Drawing.11</vt:lpstr>
      <vt:lpstr>第8章  多线程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小老头子</cp:lastModifiedBy>
  <cp:revision>1138</cp:revision>
  <dcterms:created xsi:type="dcterms:W3CDTF">2016-08-25T05:35:00Z</dcterms:created>
  <dcterms:modified xsi:type="dcterms:W3CDTF">2024-12-17T14:22:27Z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D6029EBE075747B7A9C1EC09DDDE31C8_13</vt:lpwstr>
  </property>
</Properties>
</file>