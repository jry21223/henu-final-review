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80"/>
  </p:handoutMasterIdLst>
  <p:sldIdLst>
    <p:sldId id="256" r:id="rId3"/>
    <p:sldId id="1404" r:id="rId5"/>
    <p:sldId id="1405" r:id="rId6"/>
    <p:sldId id="1406" r:id="rId7"/>
    <p:sldId id="1407" r:id="rId8"/>
    <p:sldId id="1410" r:id="rId9"/>
    <p:sldId id="1411" r:id="rId10"/>
    <p:sldId id="1412" r:id="rId11"/>
    <p:sldId id="1413" r:id="rId12"/>
    <p:sldId id="1417" r:id="rId13"/>
    <p:sldId id="1418" r:id="rId14"/>
    <p:sldId id="1420" r:id="rId15"/>
    <p:sldId id="1424" r:id="rId16"/>
    <p:sldId id="1425" r:id="rId17"/>
    <p:sldId id="1427" r:id="rId18"/>
    <p:sldId id="1428" r:id="rId19"/>
    <p:sldId id="1429" r:id="rId20"/>
    <p:sldId id="1432" r:id="rId21"/>
    <p:sldId id="1433" r:id="rId22"/>
    <p:sldId id="1434" r:id="rId23"/>
    <p:sldId id="1437" r:id="rId24"/>
    <p:sldId id="1438" r:id="rId25"/>
    <p:sldId id="1440" r:id="rId26"/>
    <p:sldId id="1441" r:id="rId27"/>
    <p:sldId id="1442" r:id="rId28"/>
    <p:sldId id="1445" r:id="rId29"/>
    <p:sldId id="1449" r:id="rId30"/>
    <p:sldId id="1450" r:id="rId31"/>
    <p:sldId id="1451" r:id="rId32"/>
    <p:sldId id="1452" r:id="rId33"/>
    <p:sldId id="1454" r:id="rId34"/>
    <p:sldId id="1456" r:id="rId35"/>
    <p:sldId id="1457" r:id="rId36"/>
    <p:sldId id="1458" r:id="rId37"/>
    <p:sldId id="1459" r:id="rId38"/>
    <p:sldId id="1460" r:id="rId39"/>
    <p:sldId id="1461" r:id="rId40"/>
    <p:sldId id="1464" r:id="rId41"/>
    <p:sldId id="1465" r:id="rId42"/>
    <p:sldId id="1466" r:id="rId43"/>
    <p:sldId id="1467" r:id="rId44"/>
    <p:sldId id="1468" r:id="rId45"/>
    <p:sldId id="1469" r:id="rId46"/>
    <p:sldId id="1471" r:id="rId47"/>
    <p:sldId id="1473" r:id="rId48"/>
    <p:sldId id="1476" r:id="rId49"/>
    <p:sldId id="1477" r:id="rId50"/>
    <p:sldId id="1478" r:id="rId51"/>
    <p:sldId id="1480" r:id="rId52"/>
    <p:sldId id="1481" r:id="rId53"/>
    <p:sldId id="1486" r:id="rId54"/>
    <p:sldId id="1487" r:id="rId55"/>
    <p:sldId id="1488" r:id="rId56"/>
    <p:sldId id="1492" r:id="rId57"/>
    <p:sldId id="1494" r:id="rId58"/>
    <p:sldId id="1495" r:id="rId59"/>
    <p:sldId id="1500" r:id="rId60"/>
    <p:sldId id="1501" r:id="rId61"/>
    <p:sldId id="1502" r:id="rId62"/>
    <p:sldId id="1503" r:id="rId63"/>
    <p:sldId id="1504" r:id="rId64"/>
    <p:sldId id="1506" r:id="rId65"/>
    <p:sldId id="1509" r:id="rId66"/>
    <p:sldId id="1510" r:id="rId67"/>
    <p:sldId id="1512" r:id="rId68"/>
    <p:sldId id="1513" r:id="rId69"/>
    <p:sldId id="1514" r:id="rId70"/>
    <p:sldId id="1515" r:id="rId71"/>
    <p:sldId id="1518" r:id="rId72"/>
    <p:sldId id="1519" r:id="rId73"/>
    <p:sldId id="1520" r:id="rId74"/>
    <p:sldId id="1521" r:id="rId75"/>
    <p:sldId id="1522" r:id="rId76"/>
    <p:sldId id="1524" r:id="rId77"/>
    <p:sldId id="1529" r:id="rId78"/>
    <p:sldId id="283" r:id="rId79"/>
  </p:sldIdLst>
  <p:sldSz cx="12192000" cy="6858000"/>
  <p:notesSz cx="6858000" cy="9144000"/>
  <p:custDataLst>
    <p:tags r:id="rId8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2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6871" autoAdjust="0"/>
  </p:normalViewPr>
  <p:slideViewPr>
    <p:cSldViewPr snapToGrid="0">
      <p:cViewPr varScale="1">
        <p:scale>
          <a:sx n="109" d="100"/>
          <a:sy n="109" d="100"/>
        </p:scale>
        <p:origin x="72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5" Type="http://schemas.openxmlformats.org/officeDocument/2006/relationships/tags" Target="tags/tag78.xml"/><Relationship Id="rId84" Type="http://schemas.openxmlformats.org/officeDocument/2006/relationships/commentAuthors" Target="commentAuthors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91AB7-F5A4-4C0D-8EFD-8068E49AF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06D94-0700-400A-A759-B2484DAA30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圆角矩形 12"/>
          <p:cNvSpPr/>
          <p:nvPr userDrawn="1"/>
        </p:nvSpPr>
        <p:spPr>
          <a:xfrm>
            <a:off x="4063999" y="810988"/>
            <a:ext cx="4117976" cy="69391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4" descr="C:\Users\wz\Desktop\黑马程序员横板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544" y="603199"/>
            <a:ext cx="2448556" cy="108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771" y="603199"/>
            <a:ext cx="4540102" cy="14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26829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10600" y="313611"/>
            <a:ext cx="2990476" cy="761905"/>
          </a:xfrm>
          <a:prstGeom prst="rect">
            <a:avLst/>
          </a:prstGeom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269314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48" y="0"/>
            <a:ext cx="122018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0338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1362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2386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4409"/>
          </a:xfrm>
          <a:prstGeom prst="rect">
            <a:avLst/>
          </a:prstGeom>
        </p:spPr>
      </p:pic>
      <p:pic>
        <p:nvPicPr>
          <p:cNvPr id="6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806" y="776178"/>
            <a:ext cx="5074388" cy="153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01262" y="279447"/>
            <a:ext cx="2990476" cy="761905"/>
          </a:xfrm>
          <a:prstGeom prst="rect">
            <a:avLst/>
          </a:prstGeom>
        </p:spPr>
      </p:pic>
      <p:pic>
        <p:nvPicPr>
          <p:cNvPr id="4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06163" y="6527800"/>
            <a:ext cx="479018" cy="255772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FF0000"/>
                </a:solidFill>
              </a:defRPr>
            </a:lvl1pPr>
            <a:lvl2pPr>
              <a:defRPr b="1">
                <a:solidFill>
                  <a:srgbClr val="FF0000"/>
                </a:solidFill>
              </a:defRPr>
            </a:lvl2pPr>
            <a:lvl3pPr>
              <a:defRPr b="1">
                <a:solidFill>
                  <a:srgbClr val="FF0000"/>
                </a:solidFill>
              </a:defRPr>
            </a:lvl3pPr>
            <a:lvl4pPr>
              <a:defRPr b="1">
                <a:solidFill>
                  <a:srgbClr val="FF0000"/>
                </a:solidFill>
              </a:defRPr>
            </a:lvl4pPr>
            <a:lvl5pPr>
              <a:defRPr b="1">
                <a:solidFill>
                  <a:srgbClr val="FF0000"/>
                </a:solidFill>
              </a:defRPr>
            </a:lvl5pPr>
          </a:lstStyle>
          <a:p>
            <a:pPr lvl="0"/>
            <a:fld id="{73FEE35F-1510-4CD3-A5F4-79EF5F7854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3162" y="317547"/>
            <a:ext cx="2990476" cy="761905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6486103"/>
            <a:ext cx="1768679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6486103"/>
            <a:ext cx="2197916" cy="36911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  <a:cs typeface="Times New Roman" panose="02020603050405020304" pitchFamily="18" charset="0"/>
              </a:rPr>
              <a:t>www.henu.edu.cn</a:t>
            </a:r>
            <a:endParaRPr lang="zh-CN" altLang="en-US" sz="1400" b="1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image" Target="../media/image7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6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7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8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0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1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3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7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9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0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3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34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35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6.xml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7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8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9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0.xml"/><Relationship Id="rId1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1.xml"/><Relationship Id="rId1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2.xml"/><Relationship Id="rId1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3.xml"/><Relationship Id="rId1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4.xml"/><Relationship Id="rId1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6.xml"/><Relationship Id="rId1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7.xml"/><Relationship Id="rId1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8.xml"/><Relationship Id="rId1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9.xml"/><Relationship Id="rId1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0.xml"/><Relationship Id="rId1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1.xml"/><Relationship Id="rId1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3.xml"/><Relationship Id="rId1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4.xml"/><Relationship Id="rId1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55.xml"/><Relationship Id="rId2" Type="http://schemas.openxmlformats.org/officeDocument/2006/relationships/image" Target="../media/image31.emf"/><Relationship Id="rId1" Type="http://schemas.openxmlformats.org/officeDocument/2006/relationships/oleObject" Target="../embeddings/oleObject3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6.xml"/><Relationship Id="rId1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7.xml"/><Relationship Id="rId1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8.xml"/><Relationship Id="rId1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59.xml"/><Relationship Id="rId1" Type="http://schemas.openxmlformats.org/officeDocument/2006/relationships/image" Target="../media/image33.jpe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0.xml"/><Relationship Id="rId1" Type="http://schemas.openxmlformats.org/officeDocument/2006/relationships/image" Target="../media/image34.jpe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1.xml"/><Relationship Id="rId1" Type="http://schemas.openxmlformats.org/officeDocument/2006/relationships/image" Target="../media/image35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2.xml"/><Relationship Id="rId1" Type="http://schemas.openxmlformats.org/officeDocument/2006/relationships/image" Target="../media/image36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3.xml"/><Relationship Id="rId1" Type="http://schemas.openxmlformats.org/officeDocument/2006/relationships/image" Target="../media/image11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4.xml"/><Relationship Id="rId1" Type="http://schemas.openxmlformats.org/officeDocument/2006/relationships/image" Target="../media/image37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5.xml"/><Relationship Id="rId1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7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8.xml"/><Relationship Id="rId1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9.xml"/><Relationship Id="rId1" Type="http://schemas.openxmlformats.org/officeDocument/2006/relationships/image" Target="../media/image38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70.xml"/><Relationship Id="rId1" Type="http://schemas.openxmlformats.org/officeDocument/2006/relationships/image" Target="../media/image16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71.xml"/><Relationship Id="rId1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1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72.xml"/><Relationship Id="rId2" Type="http://schemas.openxmlformats.org/officeDocument/2006/relationships/image" Target="../media/image39.emf"/><Relationship Id="rId1" Type="http://schemas.openxmlformats.org/officeDocument/2006/relationships/oleObject" Target="../embeddings/oleObject4.bin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73.xml"/><Relationship Id="rId1" Type="http://schemas.openxmlformats.org/officeDocument/2006/relationships/image" Target="../media/image11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74.xml"/><Relationship Id="rId1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5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6.xml"/><Relationship Id="rId1" Type="http://schemas.openxmlformats.org/officeDocument/2006/relationships/image" Target="../media/image4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7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章  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IO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（输入输出）</a:t>
            </a:r>
            <a:endParaRPr lang="zh-CN" altLang="zh-CN" b="1" dirty="0">
              <a:solidFill>
                <a:srgbClr val="000000"/>
              </a:solidFill>
            </a:endParaRPr>
          </a:p>
        </p:txBody>
      </p:sp>
      <p:pic>
        <p:nvPicPr>
          <p:cNvPr id="268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4980313"/>
            <a:ext cx="2429827" cy="145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4334230" y="5337143"/>
            <a:ext cx="6203674" cy="743050"/>
            <a:chOff x="4200415" y="5370397"/>
            <a:chExt cx="6203674" cy="743050"/>
          </a:xfrm>
        </p:grpSpPr>
        <p:sp>
          <p:nvSpPr>
            <p:cNvPr id="6" name="矩形 5"/>
            <p:cNvSpPr/>
            <p:nvPr/>
          </p:nvSpPr>
          <p:spPr>
            <a:xfrm>
              <a:off x="4200415" y="5374783"/>
              <a:ext cx="2021965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·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File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类</a:t>
              </a:r>
              <a:endPara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260926" y="5370397"/>
              <a:ext cx="199099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· 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字节流</a:t>
              </a:r>
              <a:endPara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466501" y="5370397"/>
              <a:ext cx="1937588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· </a:t>
              </a:r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字符流</a:t>
              </a:r>
              <a:endPara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2151379" y="1682432"/>
            <a:ext cx="5425440" cy="340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包中唯一代表磁盘文件本身的对象，它定义了一些与平台无关的方法用于操作文件。通过调用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类提供的各种方法，能够创建，删除或者重命名文件，判断硬盘上某个文件是否存在，查询文件最后修改时间等。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265" y="1643380"/>
            <a:ext cx="3001963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72E13FB-64C2-4452-AFD1-5C8EFE91DD6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73200" y="1310640"/>
            <a:ext cx="9469119" cy="75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类提供了专门创建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对象的构造方法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，如下表。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39230" y="2326640"/>
          <a:ext cx="9445082" cy="30717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5726"/>
                <a:gridCol w="5999356"/>
              </a:tblGrid>
              <a:tr h="5046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方法声明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功能描述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5046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File(String pathname)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通过指定的一个字符串类型的文件路径来创建一个新的</a:t>
                      </a:r>
                      <a:r>
                        <a:rPr lang="en-US" sz="1800" kern="100" dirty="0">
                          <a:effectLst/>
                        </a:rPr>
                        <a:t>File</a:t>
                      </a:r>
                      <a:r>
                        <a:rPr lang="zh-CN" sz="1800" kern="100" dirty="0">
                          <a:effectLst/>
                        </a:rPr>
                        <a:t>对象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10092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File(String</a:t>
                      </a:r>
                      <a:r>
                        <a:rPr lang="en-US" sz="1800" kern="100" baseline="0" dirty="0">
                          <a:effectLst/>
                        </a:rPr>
                        <a:t> </a:t>
                      </a:r>
                      <a:r>
                        <a:rPr lang="en-US" sz="1800" kern="100" dirty="0">
                          <a:effectLst/>
                        </a:rPr>
                        <a:t>parent, String child)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根据指定的一个字符串类型的父路径和一个字符串类型的子路径（包括文件名称）创建一个</a:t>
                      </a:r>
                      <a:r>
                        <a:rPr lang="en-US" sz="1800" kern="100" dirty="0">
                          <a:effectLst/>
                        </a:rPr>
                        <a:t>File</a:t>
                      </a:r>
                      <a:r>
                        <a:rPr lang="zh-CN" sz="1800" kern="100" dirty="0">
                          <a:effectLst/>
                        </a:rPr>
                        <a:t>对象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10092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File(File parent, String child)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根据指定的</a:t>
                      </a:r>
                      <a:r>
                        <a:rPr lang="en-US" sz="1800" kern="100" dirty="0">
                          <a:effectLst/>
                        </a:rPr>
                        <a:t>File</a:t>
                      </a:r>
                      <a:r>
                        <a:rPr lang="zh-CN" sz="1800" kern="100" dirty="0">
                          <a:effectLst/>
                        </a:rPr>
                        <a:t>类的父路径和字符串类型的子路径（包括文件名称）创建一个</a:t>
                      </a:r>
                      <a:r>
                        <a:rPr lang="en-US" sz="1800" kern="100" dirty="0">
                          <a:effectLst/>
                        </a:rPr>
                        <a:t>File</a:t>
                      </a:r>
                      <a:r>
                        <a:rPr lang="zh-CN" sz="1800" kern="100" dirty="0">
                          <a:effectLst/>
                        </a:rPr>
                        <a:t>对象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B5EFE0B-CFC7-47C5-AC29-D8040D3F683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506720" y="1493520"/>
            <a:ext cx="5486399" cy="421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在上表中，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的构造方法都需要传入文件路径。通常来讲，如果程序只处理一个目录或文件，并且知道该目录或文件的路径，使用第一个构造方法较方便。如果程序处理的是一个公共目录中的若干子目录或文件，那么使用第二个或者第三个构造方法会更方便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898" y="1959133"/>
            <a:ext cx="3803505" cy="310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E26FB10-F98E-404B-A293-B8866215C85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351280" y="1391920"/>
            <a:ext cx="9641839" cy="86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下面通过一个案例演示如何使用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类的构造方法创建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255519" y="2174240"/>
            <a:ext cx="8382743" cy="3850640"/>
            <a:chOff x="2174240" y="2184400"/>
            <a:chExt cx="8341360" cy="3850640"/>
          </a:xfrm>
        </p:grpSpPr>
        <p:pic>
          <p:nvPicPr>
            <p:cNvPr id="2969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4240" y="2184400"/>
              <a:ext cx="8341360" cy="3850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174240" y="2225040"/>
              <a:ext cx="8128001" cy="37693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java.io.File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Test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File f1 = new File("D:\\file\\a.txt");//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使用绝对路径构造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对象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File f2 = new File("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src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\\Hello.java");//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使用相对路径构造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对象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(f1);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(f2);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3A09691-805A-4354-AE71-8610B7359A3E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类的常用方法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84960" y="1320800"/>
            <a:ext cx="9834879" cy="71987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类中的常用方法如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2215" y="1983105"/>
          <a:ext cx="10473055" cy="3852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7725"/>
                <a:gridCol w="7085330"/>
              </a:tblGrid>
              <a:tr h="381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   </a:t>
                      </a:r>
                      <a:r>
                        <a:rPr lang="zh-CN" sz="1600" kern="100" dirty="0">
                          <a:effectLst/>
                        </a:rPr>
                        <a:t>方法声明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功能描述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boolean exists()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判断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对象对应的文件或目录是否存在，若存在则返回</a:t>
                      </a:r>
                      <a:r>
                        <a:rPr lang="en-US" sz="1600" kern="100">
                          <a:effectLst/>
                        </a:rPr>
                        <a:t>ture</a:t>
                      </a:r>
                      <a:r>
                        <a:rPr lang="zh-CN" sz="1600" kern="100">
                          <a:effectLst/>
                        </a:rPr>
                        <a:t>，否则返回</a:t>
                      </a:r>
                      <a:r>
                        <a:rPr lang="en-US" sz="1600" kern="100">
                          <a:effectLst/>
                        </a:rPr>
                        <a:t>false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effectLst/>
                        </a:rPr>
                        <a:t>boolean</a:t>
                      </a:r>
                      <a:r>
                        <a:rPr lang="en-US" sz="1600" b="1" kern="100" dirty="0">
                          <a:effectLst/>
                        </a:rPr>
                        <a:t> delete()</a:t>
                      </a:r>
                      <a:endParaRPr lang="zh-CN" sz="1600" b="1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删除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对象对应的文件或目录，若成功删除</a:t>
                      </a:r>
                      <a:r>
                        <a:rPr lang="zh-CN" sz="1600" kern="100" dirty="0">
                          <a:effectLst/>
                        </a:rPr>
                        <a:t>则返回</a:t>
                      </a:r>
                      <a:r>
                        <a:rPr lang="en-US" sz="1600" kern="100" dirty="0">
                          <a:effectLst/>
                        </a:rPr>
                        <a:t>true</a:t>
                      </a:r>
                      <a:r>
                        <a:rPr lang="zh-CN" sz="1600" kern="100" dirty="0">
                          <a:effectLst/>
                        </a:rPr>
                        <a:t>，否则返回</a:t>
                      </a:r>
                      <a:r>
                        <a:rPr lang="en-US" sz="1600" kern="100" dirty="0">
                          <a:effectLst/>
                        </a:rPr>
                        <a:t>false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702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boolean createNewFile()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当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对象对应的文件不存在时，该方法将新建一个此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对象所指定的新文件，若创建成功则返回</a:t>
                      </a:r>
                      <a:r>
                        <a:rPr lang="en-US" sz="1600" kern="100">
                          <a:effectLst/>
                        </a:rPr>
                        <a:t>true</a:t>
                      </a:r>
                      <a:r>
                        <a:rPr lang="zh-CN" sz="1600" kern="100">
                          <a:effectLst/>
                        </a:rPr>
                        <a:t>，否则返回</a:t>
                      </a:r>
                      <a:r>
                        <a:rPr lang="en-US" sz="1600" kern="100">
                          <a:effectLst/>
                        </a:rPr>
                        <a:t>false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String getName()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返回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对象表示的文件或文件夹的名称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String getPath()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返回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对象对应的路径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559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String getAbsolutePath()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对象对应的绝对路径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zh-CN" sz="1600" kern="100" dirty="0">
                          <a:effectLst/>
                        </a:rPr>
                        <a:t>在</a:t>
                      </a:r>
                      <a:r>
                        <a:rPr lang="en-US" sz="1600" kern="100" dirty="0">
                          <a:effectLst/>
                        </a:rPr>
                        <a:t>Unix/Linux</a:t>
                      </a:r>
                      <a:r>
                        <a:rPr lang="zh-CN" sz="1600" kern="100" dirty="0">
                          <a:effectLst/>
                        </a:rPr>
                        <a:t>等系统上，如果路径是以正斜线</a:t>
                      </a:r>
                      <a:r>
                        <a:rPr lang="en-US" sz="1600" kern="100" dirty="0">
                          <a:effectLst/>
                        </a:rPr>
                        <a:t>/</a:t>
                      </a:r>
                      <a:r>
                        <a:rPr lang="zh-CN" sz="1600" kern="100" dirty="0">
                          <a:effectLst/>
                        </a:rPr>
                        <a:t>开始，则这个路径是绝对路径；在</a:t>
                      </a:r>
                      <a:r>
                        <a:rPr lang="en-US" sz="1600" kern="100" dirty="0">
                          <a:effectLst/>
                        </a:rPr>
                        <a:t>Windows</a:t>
                      </a:r>
                      <a:r>
                        <a:rPr lang="zh-CN" sz="1600" kern="100" dirty="0">
                          <a:effectLst/>
                        </a:rPr>
                        <a:t>等系统上，如果路径是从盘符开始，则这个路径是绝对路径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String </a:t>
                      </a:r>
                      <a:r>
                        <a:rPr lang="en-US" sz="1600" b="1" kern="100" dirty="0" err="1">
                          <a:effectLst/>
                        </a:rPr>
                        <a:t>getParentFile</a:t>
                      </a:r>
                      <a:r>
                        <a:rPr lang="en-US" sz="1600" b="1" kern="100" dirty="0">
                          <a:effectLst/>
                        </a:rPr>
                        <a:t>()</a:t>
                      </a:r>
                      <a:endParaRPr lang="zh-CN" sz="1600" b="1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对象对应目录的父目录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zh-CN" sz="1600" kern="100" dirty="0">
                          <a:effectLst/>
                        </a:rPr>
                        <a:t>即返回的目录不包含最后一级子目录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3660A8B-A1A2-489F-B988-455B1FF3FE2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类的常用方法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14805" y="1482725"/>
          <a:ext cx="10070465" cy="4137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6195"/>
                <a:gridCol w="7494270"/>
              </a:tblGrid>
              <a:tr h="4165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   </a:t>
                      </a:r>
                      <a:r>
                        <a:rPr lang="zh-CN" sz="1600" kern="100" dirty="0">
                          <a:effectLst/>
                        </a:rPr>
                        <a:t>方法声明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功能描述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effectLst/>
                        </a:rPr>
                        <a:t>boolean</a:t>
                      </a:r>
                      <a:r>
                        <a:rPr lang="en-US" sz="1600" b="1" kern="100" dirty="0">
                          <a:effectLst/>
                        </a:rPr>
                        <a:t> </a:t>
                      </a:r>
                      <a:r>
                        <a:rPr lang="en-US" sz="1600" b="1" kern="100" dirty="0" err="1">
                          <a:effectLst/>
                        </a:rPr>
                        <a:t>canRead</a:t>
                      </a:r>
                      <a:r>
                        <a:rPr lang="en-US" sz="1600" b="1" kern="100" dirty="0">
                          <a:effectLst/>
                        </a:rPr>
                        <a:t>()</a:t>
                      </a:r>
                      <a:endParaRPr lang="zh-CN" sz="1600" b="1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判断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对象对应的文件或目录是否可读，若可读则返回</a:t>
                      </a:r>
                      <a:r>
                        <a:rPr lang="en-US" sz="1600" kern="100">
                          <a:effectLst/>
                        </a:rPr>
                        <a:t>true</a:t>
                      </a:r>
                      <a:r>
                        <a:rPr lang="zh-CN" sz="1600" kern="100">
                          <a:effectLst/>
                        </a:rPr>
                        <a:t>，反之返回</a:t>
                      </a:r>
                      <a:r>
                        <a:rPr lang="en-US" sz="1600" kern="100">
                          <a:effectLst/>
                        </a:rPr>
                        <a:t>false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boolean canWrite()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判断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对象对应的文件或目录是否可写，若可写则返回</a:t>
                      </a:r>
                      <a:r>
                        <a:rPr lang="en-US" sz="1600" kern="100">
                          <a:effectLst/>
                        </a:rPr>
                        <a:t>true</a:t>
                      </a:r>
                      <a:r>
                        <a:rPr lang="zh-CN" sz="1600" kern="100">
                          <a:effectLst/>
                        </a:rPr>
                        <a:t>，反之返回</a:t>
                      </a:r>
                      <a:r>
                        <a:rPr lang="en-US" sz="1600" kern="100">
                          <a:effectLst/>
                        </a:rPr>
                        <a:t>false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boolean isFile()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判断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对象对应的是否是文件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zh-CN" sz="1600" kern="100" dirty="0">
                          <a:effectLst/>
                        </a:rPr>
                        <a:t>不是目录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r>
                        <a:rPr lang="zh-CN" sz="1600" kern="100" dirty="0">
                          <a:effectLst/>
                        </a:rPr>
                        <a:t>，若是文件则返回</a:t>
                      </a:r>
                      <a:r>
                        <a:rPr lang="en-US" sz="1600" kern="100" dirty="0">
                          <a:effectLst/>
                        </a:rPr>
                        <a:t>true</a:t>
                      </a:r>
                      <a:r>
                        <a:rPr lang="zh-CN" sz="1600" kern="100" dirty="0">
                          <a:effectLst/>
                        </a:rPr>
                        <a:t>，反之返回</a:t>
                      </a:r>
                      <a:r>
                        <a:rPr lang="en-US" sz="1600" kern="100" dirty="0">
                          <a:effectLst/>
                        </a:rPr>
                        <a:t>false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boolean isDirectory()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判断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对象对应的是否是目录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zh-CN" sz="1600" kern="100" dirty="0">
                          <a:effectLst/>
                        </a:rPr>
                        <a:t>不是文件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r>
                        <a:rPr lang="zh-CN" sz="1600" kern="100" dirty="0">
                          <a:effectLst/>
                        </a:rPr>
                        <a:t>，若是目录则返回</a:t>
                      </a:r>
                      <a:r>
                        <a:rPr lang="en-US" sz="1600" kern="100" dirty="0">
                          <a:effectLst/>
                        </a:rPr>
                        <a:t>true</a:t>
                      </a:r>
                      <a:r>
                        <a:rPr lang="zh-CN" sz="1600" kern="100" dirty="0">
                          <a:effectLst/>
                        </a:rPr>
                        <a:t>，反之返回</a:t>
                      </a:r>
                      <a:r>
                        <a:rPr lang="en-US" sz="1600" kern="100" dirty="0">
                          <a:effectLst/>
                        </a:rPr>
                        <a:t>false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boolean isAbsolute()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判断</a:t>
                      </a:r>
                      <a:r>
                        <a:rPr lang="en-US" sz="1600" kern="100">
                          <a:effectLst/>
                        </a:rPr>
                        <a:t>File</a:t>
                      </a:r>
                      <a:r>
                        <a:rPr lang="zh-CN" sz="1600" kern="100">
                          <a:effectLst/>
                        </a:rPr>
                        <a:t>对象对应的文件或目录是否是绝对路径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long lastModified()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返回</a:t>
                      </a:r>
                      <a:r>
                        <a:rPr lang="en-US" sz="1600" kern="100">
                          <a:effectLst/>
                        </a:rPr>
                        <a:t>1970</a:t>
                      </a:r>
                      <a:r>
                        <a:rPr lang="zh-CN" sz="1600" kern="100">
                          <a:effectLst/>
                        </a:rPr>
                        <a:t>年</a:t>
                      </a:r>
                      <a:r>
                        <a:rPr lang="en-US" sz="1600" kern="100">
                          <a:effectLst/>
                        </a:rPr>
                        <a:t>1</a:t>
                      </a:r>
                      <a:r>
                        <a:rPr lang="zh-CN" sz="1600" kern="100">
                          <a:effectLst/>
                        </a:rPr>
                        <a:t>月</a:t>
                      </a:r>
                      <a:r>
                        <a:rPr lang="en-US" sz="1600" kern="100">
                          <a:effectLst/>
                        </a:rPr>
                        <a:t>1</a:t>
                      </a:r>
                      <a:r>
                        <a:rPr lang="zh-CN" sz="1600" kern="100">
                          <a:effectLst/>
                        </a:rPr>
                        <a:t>日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zh-CN" sz="1600" kern="100">
                          <a:effectLst/>
                        </a:rPr>
                        <a:t>时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zh-CN" sz="1600" kern="100">
                          <a:effectLst/>
                        </a:rPr>
                        <a:t>分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zh-CN" sz="1600" kern="100">
                          <a:effectLst/>
                        </a:rPr>
                        <a:t>秒到文件最后修改时间的毫秒值；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long length()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返回文件内容的长度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String[] list()</a:t>
                      </a:r>
                      <a:endParaRPr lang="zh-CN" sz="1600" b="1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列出指定目录的全部内容，只是列出名称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File[] </a:t>
                      </a:r>
                      <a:r>
                        <a:rPr lang="en-US" sz="1600" b="1" kern="100" dirty="0" err="1">
                          <a:effectLst/>
                        </a:rPr>
                        <a:t>listFiles</a:t>
                      </a:r>
                      <a:r>
                        <a:rPr lang="en-US" sz="1600" b="1" kern="100" dirty="0">
                          <a:effectLst/>
                        </a:rPr>
                        <a:t>()</a:t>
                      </a:r>
                      <a:endParaRPr lang="zh-CN" sz="1600" b="1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返回一个包含了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对象所有子文件和子目录的</a:t>
                      </a:r>
                      <a:r>
                        <a:rPr lang="en-US" sz="1600" kern="100" dirty="0">
                          <a:effectLst/>
                        </a:rPr>
                        <a:t>File</a:t>
                      </a:r>
                      <a:r>
                        <a:rPr lang="zh-CN" sz="1600" kern="100" dirty="0">
                          <a:effectLst/>
                        </a:rPr>
                        <a:t>数组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DF3A675-B48F-4DB8-B928-1F0D4D71B8C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807" y="2088344"/>
            <a:ext cx="7994996" cy="400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类的常用方法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850302" y="1224744"/>
            <a:ext cx="9834879" cy="86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接下来，通过一个案例演示如何使用这些方法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360807" y="2021840"/>
            <a:ext cx="7994995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java.io.IOException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class Examole01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磁盘下创建文件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File file=new File("d:\\hello\\demo.txt");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if(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file.exists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()){                   //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如果存在这个文件就删除，否则就创建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file.delete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}else{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file.createNewFile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6948A43-9D13-48F8-93D7-D8CF4DF2BF4B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998" y="1557252"/>
            <a:ext cx="7994996" cy="445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File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类的常用方法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2418998" y="1557252"/>
            <a:ext cx="8025484" cy="4419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在磁盘下创建一层目录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并且在目录下创建文件文件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File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fileDemo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=new File("d:\\hello1\\demo.txt");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if(!(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fileDemo.getParentFile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().exists())){  //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d:\ hello1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目录是否存在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fileDemo.getParentFile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().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if(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fileDemo.exists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()){                //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如果存在这个文件就删除，否则就创建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fileDemo.delete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}else{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fileDemo.createNewFile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0D730C8-8A4F-409B-88C7-D03EA3C04E5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40843" y="550210"/>
            <a:ext cx="6323653" cy="36933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 sz="16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</a:t>
            </a:r>
            <a:r>
              <a:rPr lang="en-US" altLang="zh-CN" sz="16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b="1" dirty="0" err="1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createTempFile</a:t>
            </a:r>
            <a:r>
              <a:rPr lang="en-US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方法和</a:t>
            </a:r>
            <a:r>
              <a:rPr lang="en-US" altLang="zh-CN" b="1" dirty="0" err="1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deleteOnExit</a:t>
            </a:r>
            <a:r>
              <a:rPr lang="en-US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endParaRPr lang="zh-CN" altLang="en-US" b="1" dirty="0">
              <a:solidFill>
                <a:srgbClr val="1353A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4938597" y="1829558"/>
            <a:ext cx="5798633" cy="307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在一些特定情况下，程序需要读写一些临时文件，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对象提供了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createTempFile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来创建一个临时文件，以及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deleteOnExit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Jvm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退出时自动删除该文件。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718" y="1469751"/>
            <a:ext cx="2489200" cy="398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0EAEA9A-D493-4622-AFEB-CFA4C2C6226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998" y="2269374"/>
            <a:ext cx="7994996" cy="3740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内容占位符 2"/>
          <p:cNvSpPr txBox="1"/>
          <p:nvPr/>
        </p:nvSpPr>
        <p:spPr>
          <a:xfrm>
            <a:off x="1513840" y="1351280"/>
            <a:ext cx="9773920" cy="853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下面我们通过一个案例来演示两个方法的使用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2973441" y="2204720"/>
            <a:ext cx="7168505" cy="3830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Example02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提供临时文件的前缀和后缀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File f =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File.createTempFile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itcast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-", ".txt"); 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f.deleteOnExit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 // JVM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退出时自动删除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f.isFile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f.getPath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2285088" y="609769"/>
            <a:ext cx="6457468" cy="36933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 sz="16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</a:t>
            </a:r>
            <a:r>
              <a:rPr lang="en-US" altLang="zh-CN" sz="16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b="1" dirty="0" err="1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createTempFile</a:t>
            </a:r>
            <a:r>
              <a:rPr lang="en-US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方法和</a:t>
            </a:r>
            <a:r>
              <a:rPr lang="en-US" altLang="zh-CN" b="1" dirty="0" err="1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deleteOnExit</a:t>
            </a:r>
            <a:r>
              <a:rPr lang="en-US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zh-CN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endParaRPr lang="zh-CN" altLang="en-US" b="1" dirty="0">
              <a:solidFill>
                <a:srgbClr val="1353A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D2708F1-9876-4B1F-8AD1-51C90DE986D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850302" y="1208297"/>
            <a:ext cx="9834879" cy="6811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方法用于遍历指定目录下的所有文件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1859821" y="1952980"/>
            <a:ext cx="9346342" cy="4511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lang="en-US" altLang="zh-CN" sz="16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java.io.File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Example03{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6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File file = new File("D:/IdeaWorkspace/chapter07"); 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if (</a:t>
            </a:r>
            <a:r>
              <a:rPr lang="en-US" altLang="zh-CN" sz="16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file.isDirectory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{ // </a:t>
            </a:r>
            <a:r>
              <a:rPr lang="zh-CN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对象对应的目录是否存在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String[] names = </a:t>
            </a:r>
            <a:r>
              <a:rPr lang="en-US" altLang="zh-CN" sz="16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file.list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(); // </a:t>
            </a:r>
            <a:r>
              <a:rPr lang="zh-CN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获得目录下的所有文件的文件名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for (String name : names) {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	</a:t>
            </a:r>
            <a:r>
              <a:rPr lang="en-US" altLang="zh-CN" sz="16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(name); // </a:t>
            </a:r>
            <a:r>
              <a:rPr lang="zh-CN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输出文件名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}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BED5145-14DB-414A-AA04-5489EC3BF2A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63040" y="1493520"/>
            <a:ext cx="9865360" cy="40944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有时程序只是需要得到指定类型的文件，如获取指定目录下所有的“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”文件。针对这种需求，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类中提供了一个重载的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list(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filter)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方法，该方法接收一个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类型的参数。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是一个接口，被称作文件过滤器，当中定义了一个抽象方法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accept(File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dir,String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name)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。在调用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方法时，需要实现文件过滤器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accept()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方法中做出判断，从而获得指定类型的文件。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007501C-EE0D-46DA-BF97-E89EE4C275C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18036" y="1357970"/>
            <a:ext cx="9688127" cy="473059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list(</a:t>
            </a:r>
            <a:r>
              <a:rPr lang="en-US" altLang="zh-CN" sz="2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filter)</a:t>
            </a:r>
            <a:r>
              <a:rPr lang="zh-CN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方法的工作原理：</a:t>
            </a:r>
            <a:endParaRPr lang="zh-CN" altLang="zh-CN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方法传入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文件过滤器对象。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取出当前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对象所代表目录下的所有子目录和文件。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对于每一个子目录或文件，都会调用文件过滤器对象的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accept(File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dir,String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name)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方法，并把代表当前目录的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对象以及这个子目录或文件的名字作为参数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传递给方法。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accept()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方法返回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，就将当前遍历的这个子目录或文件添加到数组中，如果返回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，则不添加。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13C60AB-FA3E-42F1-A83D-DC2033A0514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8" y="2305540"/>
            <a:ext cx="6814583" cy="3075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02080" y="1330960"/>
            <a:ext cx="10210800" cy="74316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遍历指定目录下所有扩展名为“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”的文件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2311398" y="2227723"/>
            <a:ext cx="6712989" cy="3230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java.io.FilenameFilter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Example04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File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File("D:/IdeaProjects/text/com/itcast");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创建过滤器对象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filter = new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FilenameFilter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6A75FA9-99D7-4340-BD46-6119ADC1B2D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142" y="1645920"/>
            <a:ext cx="6858000" cy="410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3281680" y="1645920"/>
            <a:ext cx="6136640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accept()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public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boolean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accept(File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String name)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File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currFile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File(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name);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如果文件名以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.java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结尾返回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，否则返回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false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if 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currFile.isFile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&amp;&amp;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name.endsWith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(".java"))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return true;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} else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return false;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490FE78-8C3B-49B4-9075-31346DA8047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54" y="2051068"/>
            <a:ext cx="7556269" cy="325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3234966" y="2192386"/>
            <a:ext cx="6888617" cy="30280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if 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file.exists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{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对象对应的目录是否存在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String[] lists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file.list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(filter);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获得过滤后的所有文件名数组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for (String name : lists)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(name);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5005BF2-D3DF-4C07-8AAB-3CEF6995F1A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25600" y="1930400"/>
            <a:ext cx="9540240" cy="3017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有时候在一个目录下，除了文件，还有子目录，如果想得到所有子目录下的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类型对象，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方法显然不能满足要求，这时需要使用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类提供的另一个方法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listFiles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listFiles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方法返回一个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对象数组，当对数组中的元素进行遍历时，如果元素中还有子目录需要遍历，则需要使用递归。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FC62AB1-5701-4495-A8E0-16D3D0F33B1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683" y="2063774"/>
            <a:ext cx="9913434" cy="3512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2144941" y="1262057"/>
            <a:ext cx="9540240" cy="802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遍历指定目录下的文件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1672683" y="2064697"/>
            <a:ext cx="9824223" cy="3510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java.io.File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Example05{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  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创建一个代表目录的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File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=new File("D:\\eclipseWorkspace\\JavaBasicWorkspace\\chapter07"); 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   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fileDir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(file);	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FileDir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4C212B2-88AB-48BC-8A87-01E923528C0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333" y="1608997"/>
            <a:ext cx="9994331" cy="4231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遍历目录下的文件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2032000" y="1640840"/>
            <a:ext cx="9367520" cy="4119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fileDir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(File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File[] files =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dir.listFiles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获得表示目录下所有文件的数组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for (File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: files) {		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遍历所有的子目录和文件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if (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file.isDirectory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fileDir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(file);	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如果是目录，递归调用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fileDir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    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file.getAbsolutePath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输出文件的绝对路径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BAD7645-EA2D-4E94-AD1C-3B9F26E3A3B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删除文件及目录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245735" y="1660525"/>
            <a:ext cx="5015865" cy="3652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在操作文件时，我们会遇到需要删除一个目录下的某个文件或者删除整个目录，这时需要使用到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delete()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方法。接下来通过一个案例来演示使用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delete()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方法删除文件或文件夹。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698" y="1660302"/>
            <a:ext cx="2660652" cy="395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5C649A4-8DC3-4B30-84AC-306F98986CC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删除文件及目录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493520" y="1188720"/>
            <a:ext cx="9834880" cy="87425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Example06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delete()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方法删除文件夹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578741" y="1839951"/>
            <a:ext cx="8936859" cy="4538547"/>
            <a:chOff x="2499042" y="2795586"/>
            <a:chExt cx="8059854" cy="4248614"/>
          </a:xfrm>
        </p:grpSpPr>
        <p:pic>
          <p:nvPicPr>
            <p:cNvPr id="5120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9042" y="2987041"/>
              <a:ext cx="7975918" cy="4057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499042" y="2795586"/>
              <a:ext cx="8059854" cy="413710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java.io.*;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Example06 {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20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File </a:t>
              </a:r>
              <a:r>
                <a:rPr lang="en-US" altLang="zh-CN" sz="20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new File("D:\\hello\\test");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if (</a:t>
              </a:r>
              <a:r>
                <a:rPr lang="en-US" altLang="zh-CN" sz="20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file.exists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 {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r>
                <a:rPr lang="en-US" altLang="zh-CN" sz="20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0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file.delete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());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}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0671B33-F1B2-482F-B316-823FB283822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删除文件及目录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757362" y="1847386"/>
            <a:ext cx="9448801" cy="3037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运行结果中输出了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false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，这说明删除文件失败了。原因是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delete()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方法只能删除一个指定的文件，假如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对象代表目录，并且目录下包含子目录或文件，则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delete()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方法不允许对这个目录直接删除。在这种情况下，需要通过递归的方式将整个目录以及其中的文件全部删除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E29916C-B9A7-41F9-B879-BE3D39888A2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删除文件及目录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96719" y="1341120"/>
            <a:ext cx="9448801" cy="894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递归的方式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演示如何删除包含子文件的目录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208530" y="2052320"/>
            <a:ext cx="8733790" cy="4003040"/>
            <a:chOff x="2076450" y="2052320"/>
            <a:chExt cx="8733790" cy="4003040"/>
          </a:xfrm>
        </p:grpSpPr>
        <p:pic>
          <p:nvPicPr>
            <p:cNvPr id="5325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6450" y="2052320"/>
              <a:ext cx="8733790" cy="4003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/>
            <p:nvPr/>
          </p:nvSpPr>
          <p:spPr>
            <a:xfrm>
              <a:off x="2076450" y="2062480"/>
              <a:ext cx="8733790" cy="38912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java.io.*;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Example07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File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new File("D:\\hello\\test");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deleteDir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(file);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deleteDir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删除方法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deleteDir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(File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dir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if (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dir.exists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 {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判断传入的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对象是否存在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File[] files =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dir.listFiles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 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得到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数组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17A08EB-C124-486A-9A02-BF4568F0F5C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删除文件及目录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391920" y="1492529"/>
            <a:ext cx="9814243" cy="4852514"/>
            <a:chOff x="1849120" y="1503680"/>
            <a:chExt cx="9814243" cy="4852514"/>
          </a:xfrm>
        </p:grpSpPr>
        <p:pic>
          <p:nvPicPr>
            <p:cNvPr id="5427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120" y="1503680"/>
              <a:ext cx="9408160" cy="4358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/>
            <p:nvPr/>
          </p:nvSpPr>
          <p:spPr>
            <a:xfrm>
              <a:off x="1849120" y="1513839"/>
              <a:ext cx="9814243" cy="4842355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for (File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: files) {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遍历所有的子目录和文件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if 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file.isDirectory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deleteDir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(file);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如果是目录，递归调用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deleteDir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} else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如果是文件，直接删除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file.delete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删除完一个目录里的所有文件后，就删除这个目录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dir.delete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DE182AE-1CC3-4458-B69D-BC9651840BE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10540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删除文件及目录</a:t>
            </a:r>
            <a:endParaRPr lang="zh-CN" altLang="en-US" sz="3200" b="1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6063615" y="1996440"/>
            <a:ext cx="4856480" cy="2865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删除目录是从虚拟机直接删除而不放入回收站的，文件一旦删除就无法恢复，因此在进行删除操作的时候需要格外小心。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418080" y="1584901"/>
            <a:ext cx="2834640" cy="3676730"/>
            <a:chOff x="2311398" y="1676344"/>
            <a:chExt cx="2834640" cy="367673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注      意</a:t>
              </a:r>
              <a:endPara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058E4B8-C958-4B6C-93ED-7C8D6845415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84960" y="1503680"/>
            <a:ext cx="6004560" cy="3992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在程序的开发中，我们经常会需要处理设备之间的数据传输，而计算机中，无论是文本、图片、音频还是视频，所有文件都是以二进制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形式存在的。而对于字节的输入输出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流提供了一系列的流，统称为字节流，字节流是程序中最常用的流，根据数据的传输方向可将其分为字节输入流和字节输出流。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623" y="1797842"/>
            <a:ext cx="2911475" cy="356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F34AD3E-88BC-4B03-9080-A0556AC514A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34160" y="1280160"/>
            <a:ext cx="9875520" cy="2519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中，提供了两个抽象类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，它们是字节流的顶级父类，所有的字节输入流都继承自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，所有的字节输出流都继承自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。为了方便理解，可以把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比作两根“水管”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7346" name="Picture 2" descr="一些文字和图案&#10;&#10;描述已自动生成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094" y="3698240"/>
            <a:ext cx="5081121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492A9CA-8883-4E08-B7A3-AC081F01E3BE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110480" y="1780223"/>
            <a:ext cx="6177280" cy="3464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在上图中，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被看成一个输入管道，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被看成一个输出管道，数据通过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从源设备输入到程序，通过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从程序输出到目标设备，从而实现数据的传输。由此可见，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流中的输入输出都是相对于程序而言的。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158" y="1780223"/>
            <a:ext cx="2903537" cy="351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8DAFB63-6DBA-4086-8914-1198C09B67A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280160" y="1361441"/>
            <a:ext cx="10007600" cy="77959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提供了一系列与读写数据相关的方法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80160" y="2315639"/>
          <a:ext cx="9648409" cy="32040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8679"/>
                <a:gridCol w="5999730"/>
              </a:tblGrid>
              <a:tr h="38877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方法声明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功能描述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5828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int</a:t>
                      </a:r>
                      <a:r>
                        <a:rPr lang="en-US" sz="1800" dirty="0">
                          <a:effectLst/>
                        </a:rPr>
                        <a:t> read()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从输入流读取一个</a:t>
                      </a:r>
                      <a:r>
                        <a:rPr lang="en-US" sz="1800">
                          <a:effectLst/>
                        </a:rPr>
                        <a:t>8</a:t>
                      </a:r>
                      <a:r>
                        <a:rPr lang="zh-CN" sz="1800">
                          <a:effectLst/>
                        </a:rPr>
                        <a:t>位的字节，把它转换为</a:t>
                      </a:r>
                      <a:r>
                        <a:rPr lang="en-US" sz="1800">
                          <a:effectLst/>
                        </a:rPr>
                        <a:t>0~255</a:t>
                      </a:r>
                      <a:r>
                        <a:rPr lang="zh-CN" sz="1800">
                          <a:effectLst/>
                        </a:rPr>
                        <a:t>之间的整数，并返回这一整数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5828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int</a:t>
                      </a:r>
                      <a:r>
                        <a:rPr lang="en-US" sz="1800" dirty="0">
                          <a:effectLst/>
                        </a:rPr>
                        <a:t> read(byte[] b)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从输入流读取若干字节，把它们保存到参数</a:t>
                      </a:r>
                      <a:r>
                        <a:rPr lang="en-US" sz="1800">
                          <a:effectLst/>
                        </a:rPr>
                        <a:t>b</a:t>
                      </a:r>
                      <a:r>
                        <a:rPr lang="zh-CN" sz="1800">
                          <a:effectLst/>
                        </a:rPr>
                        <a:t>指定的字节数组中，返回的整数表示读取字节的数目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909941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int</a:t>
                      </a:r>
                      <a:r>
                        <a:rPr lang="en-US" sz="1800" dirty="0">
                          <a:effectLst/>
                        </a:rPr>
                        <a:t> read(byte[] </a:t>
                      </a:r>
                      <a:r>
                        <a:rPr lang="en-US" sz="1800" dirty="0" err="1">
                          <a:effectLst/>
                        </a:rPr>
                        <a:t>b,int</a:t>
                      </a:r>
                      <a:r>
                        <a:rPr lang="en-US" sz="1800" dirty="0">
                          <a:effectLst/>
                        </a:rPr>
                        <a:t> off</a:t>
                      </a:r>
                      <a:r>
                        <a:rPr lang="zh-CN" sz="1800" dirty="0">
                          <a:effectLst/>
                        </a:rPr>
                        <a:t>，</a:t>
                      </a:r>
                      <a:r>
                        <a:rPr lang="en-US" sz="1800" dirty="0" err="1">
                          <a:effectLst/>
                        </a:rPr>
                        <a:t>int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len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从输入流读取若干字节，把它们保存到参数</a:t>
                      </a:r>
                      <a:r>
                        <a:rPr lang="en-US" sz="1800" dirty="0">
                          <a:effectLst/>
                        </a:rPr>
                        <a:t>b</a:t>
                      </a:r>
                      <a:r>
                        <a:rPr lang="zh-CN" sz="1800" dirty="0">
                          <a:effectLst/>
                        </a:rPr>
                        <a:t>指定的字节数组中，</a:t>
                      </a:r>
                      <a:r>
                        <a:rPr lang="en-US" sz="1800" dirty="0">
                          <a:effectLst/>
                        </a:rPr>
                        <a:t>off</a:t>
                      </a:r>
                      <a:r>
                        <a:rPr lang="zh-CN" sz="1800" dirty="0">
                          <a:effectLst/>
                        </a:rPr>
                        <a:t>指定字节数组开始保存数据的起始下标，</a:t>
                      </a:r>
                      <a:r>
                        <a:rPr lang="en-US" sz="1800" dirty="0" err="1">
                          <a:effectLst/>
                        </a:rPr>
                        <a:t>len</a:t>
                      </a:r>
                      <a:r>
                        <a:rPr lang="zh-CN" sz="1800" dirty="0">
                          <a:effectLst/>
                        </a:rPr>
                        <a:t>表示读取的字节数目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88771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void close()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关闭此输入流并释放与该流关联的所有系统资源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4CEF4E2-212B-4E24-95BA-F2DD562CF6C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239520" y="1341120"/>
            <a:ext cx="10424160" cy="13017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对应的是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是用于写数据的，因此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提供了一些与写数据有关的方法如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527718" y="2778636"/>
          <a:ext cx="9678446" cy="2743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6996"/>
                <a:gridCol w="6091450"/>
              </a:tblGrid>
              <a:tr h="39188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方法名称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方法描述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91886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void write(int b)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向输出流写入一个字节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91886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void write(byte[] b)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把参数</a:t>
                      </a:r>
                      <a:r>
                        <a:rPr lang="en-US" sz="1800">
                          <a:effectLst/>
                        </a:rPr>
                        <a:t>b</a:t>
                      </a:r>
                      <a:r>
                        <a:rPr lang="zh-CN" sz="1800">
                          <a:effectLst/>
                        </a:rPr>
                        <a:t>指定的字节数组的所有字节写到输出流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83771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void write(byte[] b,int off,int len)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将指定</a:t>
                      </a:r>
                      <a:r>
                        <a:rPr lang="en-US" sz="1800">
                          <a:effectLst/>
                        </a:rPr>
                        <a:t>byte</a:t>
                      </a:r>
                      <a:r>
                        <a:rPr lang="zh-CN" sz="1800">
                          <a:effectLst/>
                        </a:rPr>
                        <a:t>数组中从偏移量</a:t>
                      </a:r>
                      <a:r>
                        <a:rPr lang="en-US" sz="1800">
                          <a:effectLst/>
                        </a:rPr>
                        <a:t>off</a:t>
                      </a:r>
                      <a:r>
                        <a:rPr lang="zh-CN" sz="1800">
                          <a:effectLst/>
                        </a:rPr>
                        <a:t>开始的</a:t>
                      </a:r>
                      <a:r>
                        <a:rPr lang="en-US" sz="1800">
                          <a:effectLst/>
                        </a:rPr>
                        <a:t>len</a:t>
                      </a:r>
                      <a:r>
                        <a:rPr lang="zh-CN" sz="1800">
                          <a:effectLst/>
                        </a:rPr>
                        <a:t>个字节写入输出流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91886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void flush()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刷新此输出流并强制写出所有缓冲的输出字节</a:t>
                      </a:r>
                      <a:endParaRPr lang="zh-CN" sz="18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91886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void close()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关闭此输出流并释放与此流相关的所有系统资源</a:t>
                      </a:r>
                      <a:endParaRPr lang="zh-CN" sz="18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7237578-B0C7-434F-8078-DFF0FFB0A08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5309086" y="1588174"/>
            <a:ext cx="5763262" cy="361653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这两个类虽然提供了一系列和读写数据有关的方法，但是这两个类是抽象类，不能被实例化，因此，针对不同的功能，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提供了不同的子类，这些子类形成了一个体系结构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165" y="1588174"/>
            <a:ext cx="3210081" cy="3849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1E34CBF-374C-4C81-BFA6-FCB6318F849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8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8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01139" y="1410021"/>
            <a:ext cx="5763262" cy="7871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280160" y="2451207"/>
          <a:ext cx="10307934" cy="2720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Visio" r:id="rId1" imgW="10470515" imgH="2763520" progId="Visio.Drawing.11">
                  <p:embed/>
                </p:oleObj>
              </mc:Choice>
              <mc:Fallback>
                <p:oleObj name="Visio" r:id="rId1" imgW="10470515" imgH="276352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160" y="2451207"/>
                        <a:ext cx="10307934" cy="27202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643522A-1BCF-4587-9088-D37FDF6C1D9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字节流的概念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01139" y="1410021"/>
            <a:ext cx="5763262" cy="7871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96244" y="2448560"/>
          <a:ext cx="9194349" cy="277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Visio" r:id="rId1" imgW="11480800" imgH="3492500" progId="Visio.Drawing.11">
                  <p:embed/>
                </p:oleObj>
              </mc:Choice>
              <mc:Fallback>
                <p:oleObj name="Visio" r:id="rId1" imgW="11480800" imgH="3492500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244" y="2448560"/>
                        <a:ext cx="9194349" cy="2773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C131AD4-76FA-4DE2-9A54-176D969F418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687" y="1649890"/>
            <a:ext cx="3950768" cy="335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56080" y="1389700"/>
            <a:ext cx="6065520" cy="45335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就是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提供的基本输入流。但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并不是一个接口，而是一个抽象类，它是所有输入流的父类，而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的子类，它是操作文件的字节输入流，专门用于读取文件中的数据。由于从文件读取数据是重复的操作，因此需要通过循环语句来实现数据的持续读取。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C02DDEC-7050-4D6F-9F1D-890F8BA3A4B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320" y="2140906"/>
            <a:ext cx="9509760" cy="266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44320" y="1288099"/>
            <a:ext cx="9865360" cy="730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流对文件数据的</a:t>
            </a:r>
            <a:r>
              <a:rPr lang="zh-CN" altLang="zh-CN" sz="2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读取。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1544320" y="2219994"/>
            <a:ext cx="9458960" cy="28368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Example08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创建一个文件字节输入流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 = new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("test.txt");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 = 0;          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类型的变量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，记住每次读取的一个字节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95CA0EB-C55E-4F92-ACB2-3DA29969126B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127" y="1620981"/>
            <a:ext cx="8717276" cy="4196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2539996" y="1613220"/>
            <a:ext cx="8554720" cy="42287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while (true)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b =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in.read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记住读取的一个字节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if (b == -1) {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如果读取的字节为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，跳出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break;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(b);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否则将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写出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in.close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EB1B3B5-0F29-4EA8-8C98-C60583B987F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645920" y="1359220"/>
            <a:ext cx="9865360" cy="195691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有时，在文件读取的过程中可能会发生错误。例如，文件不存在导致无法读取，没有读取权限等，这些错都是由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虚拟机自动封装成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异常并抛出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，如下图所示。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8704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37" y="3143083"/>
            <a:ext cx="5717784" cy="315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560F1FF-279C-47AD-9BB3-F660B75067A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689" y="1891983"/>
            <a:ext cx="3750676" cy="3116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1564640" y="1635762"/>
            <a:ext cx="6350000" cy="36293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文件不存在时控制台的报错信息对于上述异常错误，会有一个潜在的问题，如果读取过程中发生了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就无法正常关闭，资源也无法及时释放。对于这种问题我们可以使用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try…finally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来保证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在无论是否发生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错误的时候都能够正确关闭。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EC22B37-B9DC-4517-85CE-3193DA3D274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2998" y="1584960"/>
            <a:ext cx="8255002" cy="3923982"/>
            <a:chOff x="2311398" y="1584960"/>
            <a:chExt cx="8255002" cy="3923982"/>
          </a:xfrm>
        </p:grpSpPr>
        <p:pic>
          <p:nvPicPr>
            <p:cNvPr id="8909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584960"/>
              <a:ext cx="8255002" cy="3759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内容占位符 2"/>
            <p:cNvSpPr txBox="1"/>
            <p:nvPr/>
          </p:nvSpPr>
          <p:spPr>
            <a:xfrm>
              <a:off x="2311398" y="1676400"/>
              <a:ext cx="7950202" cy="383254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java.io.FileInputStream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java.io.InputStream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Example9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throws Exception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InputStream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input =null;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try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创建一个文件字节输入流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FileInputStream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in = 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FileInputStream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("test.txt");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b = 0;   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定义一个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类型的变量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，记住每次读取的一个字节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74E003A-74BD-42E8-ABB0-5C2EF74C3B68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InputStream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51499" y="1270001"/>
            <a:ext cx="7493002" cy="4907279"/>
            <a:chOff x="2233339" y="1270001"/>
            <a:chExt cx="7493002" cy="4907279"/>
          </a:xfrm>
        </p:grpSpPr>
        <p:pic>
          <p:nvPicPr>
            <p:cNvPr id="9011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3339" y="1270001"/>
              <a:ext cx="7493002" cy="4907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内容占位符 2"/>
            <p:cNvSpPr txBox="1"/>
            <p:nvPr/>
          </p:nvSpPr>
          <p:spPr>
            <a:xfrm>
              <a:off x="3271520" y="1371600"/>
              <a:ext cx="6045200" cy="48056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b =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in.read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记住读取的一个字节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if (b == -1) {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如果读取的字节为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-1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，跳出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while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循环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break;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(b);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否则将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写出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} finally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if (input != null)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input.close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5465946-147F-40E4-B97F-C2DB1974F57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407" y="1988343"/>
            <a:ext cx="3186113" cy="318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OutputStream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4541520" y="1493522"/>
            <a:ext cx="6786880" cy="417575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提供的最基本的输出流，与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类似的是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也是抽象类，它是所有输出流的父类。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是一个抽象类，如果使用此类，则首先必须通过子类实例化对象。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的子类，它是操作文件的字节输出流，专门用于把数据写入文件。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1D295B5-C05D-4F37-954E-8A7FA49860D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OutputStream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2241643" y="1227494"/>
            <a:ext cx="7708714" cy="721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将数据写入文件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21558" y="1960882"/>
            <a:ext cx="8051802" cy="4267198"/>
            <a:chOff x="2311398" y="1971042"/>
            <a:chExt cx="8051802" cy="4267198"/>
          </a:xfrm>
        </p:grpSpPr>
        <p:pic>
          <p:nvPicPr>
            <p:cNvPr id="9216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971042"/>
              <a:ext cx="8051802" cy="4267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/>
            <p:nvPr/>
          </p:nvSpPr>
          <p:spPr>
            <a:xfrm>
              <a:off x="2311398" y="1971042"/>
              <a:ext cx="7828282" cy="4267198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java.io.*;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Example10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throws Exception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创建一个文件字节输出流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OutputStream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out = 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FileOutputStream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("example.txt");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String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str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传智播客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";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byte[] b =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str.getBytes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for 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0;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&lt;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b.length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++)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out.write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(b[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]);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out.close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44F6A09-B67C-4767-A538-56B9EE738BB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OutputStream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625600" y="1905000"/>
            <a:ext cx="9560560" cy="351449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需要注意的是，如果是通过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向一个已经存在的文件中写入数据，那么该文件中的数据首先会被清空，再写入新的数据。若希望在已存在的文件内容之后追加新内容，则可使用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的构造函数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(String 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boolean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append)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来创建文件输出流对象，并把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append 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参数的值设置为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C3AB0F8-8ADF-482E-83CA-CE6C004CC6C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389" y="1523539"/>
            <a:ext cx="8835969" cy="443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OutputStream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2331718" y="1498600"/>
            <a:ext cx="8569962" cy="4434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Example11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public static void main(String[] args) throws Exception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OutputStream out = new FileOutputStream("example.txt ", true);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String str = "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欢迎你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!";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byte[] b = str.getBytes();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for (int i = 0; i &lt; b.length; i++)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out.write(b[i]);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out.close();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9BFC3A0-4198-4724-B2B3-2CE6721924E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cover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OutputStream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727200" y="1564640"/>
            <a:ext cx="6136640" cy="4043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流在进行数据读写操作时会出现异常，为了代码的简洁，在上面的程序中使用了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关键字将异常抛出。然而一旦遇到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close()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方法将无法得到执行，流对象所占用的系统资源将得不到释放，因此，为了保证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close()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方法必须执行，通常将关闭流的操作写在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代码块中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693" y="1745773"/>
            <a:ext cx="3254375" cy="368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FB96D86-1BBD-4154-A86C-80E3507127AE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926" y="1320800"/>
            <a:ext cx="7805651" cy="4866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en-US" altLang="zh-CN" sz="3200" b="1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OutputStream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2946381" y="1320800"/>
            <a:ext cx="7213600" cy="4866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finally{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try{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if(in!=null)             // 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不为空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关闭输入流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in.close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}catch(Exception e){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                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e.printStackTrace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try{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if(out!=null)            // 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不为空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关闭输出流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out.close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}catch(Exception e){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e.printStackTrace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5C2293E-7E88-4AC7-8735-A74BF9963FE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cover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的拷贝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5872480" y="1940560"/>
            <a:ext cx="5222240" cy="2987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在应用程序中，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流通常都是成对出现的，即输入流和输出流一起使用。例如，文件的拷贝就需要通过输入流来读取文件中的数据，通过输出流将数据写入文件。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556" y="2301319"/>
            <a:ext cx="4172063" cy="2265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8828686-C659-4F30-B325-7F04E95575F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0" y="1652395"/>
            <a:ext cx="9792392" cy="4249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的拷贝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451946" y="1652395"/>
            <a:ext cx="9784080" cy="41914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Example12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创建一个字节输入流，用于读取当前目录下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source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文件夹中的文件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 = new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("source/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五环之歌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.doc");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创建一个文件字节输出流，用于将读取的数据写入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target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目录下的文件中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out = new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("target/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五环之歌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.doc");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类型的变量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，记住每次读取的一个字节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获取拷贝文件前的系统时间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long begintime = System.currentTimeMillis();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BAA417C7-39DA-43FF-A5BE-4E42E58114F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83" y="1645920"/>
            <a:ext cx="9722658" cy="410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的拷贝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629283" y="1645920"/>
            <a:ext cx="10055898" cy="4165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while ((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in.read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!= -1) {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读取一个字节并判断是否读到文件末尾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out.write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将读到的字节写入文件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获取文件拷贝结束时的系统时间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long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System.currentTimeMillis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拷贝文件所消耗的时间是：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+ 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begintime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+"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毫秒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9CCCF56E-EDE4-43CA-B979-87834725669E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的拷贝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625600" y="1371600"/>
            <a:ext cx="9377680" cy="4592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实现的文件拷贝是一个字节一个字节的读写，需要频繁的操作文件，效率非常低。这就好比从北京运送烤鸭到上海，如果有一万只烤鸭，每次运送一只，就必须运输一万次，这样的效率显然非常低。为了减少运输次数，可以先把一批烤鸭装在车厢中，这样就可以成批的运送烤鸭，这时的车厢就相当于一个临时缓冲区。当通过流的方式拷贝文件时，为了提高效率也可以定义一个字节数组作为缓冲区。在拷贝文件时，可以一次性读取多个字节的数据，并保存在字节数组中，然后将字节数组中的数据一次性写入文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0187D05-9B61-41ED-919C-72461D7FFCF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047" y="2153920"/>
            <a:ext cx="9160626" cy="3415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的拷贝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625600" y="1371600"/>
            <a:ext cx="9377680" cy="782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上述程序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来学习如何使用缓冲区拷贝文件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1838960" y="2143760"/>
            <a:ext cx="8950960" cy="3789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Example13{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创建一个字节输入流，用于读取当前目录下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source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文件夹中的文件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 = new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("source/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五环之歌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.doc");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创建一个文件字节输出流，用于将读取的数据写入当前目录的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target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文件中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out = new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("target/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五环之歌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.doc");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以下是用缓冲区读写文件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byte[] buff = new byte[1024];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定义一个字节数组，作为缓冲区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CF56FA9-6B49-4135-83A1-173735EA90A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560" y="1304174"/>
            <a:ext cx="9902035" cy="482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7.2.4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的拷贝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940560" y="1336040"/>
            <a:ext cx="9902034" cy="4759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类型的变量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记住读取读入缓冲区的字节数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long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begintime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System.currentTimeMillis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while ((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in.read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(buff)) != -1) {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判断是否读到文件末尾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out.write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(buff, 0,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从第一个字节开始，向文件写入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个字节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long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System.currentTimeMillis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拷贝文件所消耗的时间是：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+ 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begintime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+ "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毫秒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D3E2A0E-12D2-4601-889D-F27DAD3C797B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7.2.5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字节缓冲流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1544320" y="1391920"/>
            <a:ext cx="9641840" cy="2468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提供两个带缓冲的字节流，分别是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，它们的构造方法中分别接收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类型的参数作为对象，在读写数据时提供缓冲功能。应用程序、缓冲流和底层字节流之间的关系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79799" y="4104640"/>
          <a:ext cx="8293561" cy="107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Visio" r:id="rId1" imgW="5707380" imgH="743585" progId="Visio.Drawing.11">
                  <p:embed/>
                </p:oleObj>
              </mc:Choice>
              <mc:Fallback>
                <p:oleObj name="Visio" r:id="rId1" imgW="5707380" imgH="743585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799" y="4104640"/>
                        <a:ext cx="8293561" cy="10769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8F45F23-C72E-4218-8D79-FD0D55D6683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654233"/>
            <a:ext cx="8819804" cy="378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7.2.5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字节缓冲流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2011680" y="1615440"/>
            <a:ext cx="8819804" cy="4023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Example14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创建一个带缓冲区的输入流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(new 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("src.txt"));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创建一个带缓冲区的输出流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BufferedOutputStream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bos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BufferedOutputStream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	new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("des.txt"));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58BE7FF-7491-4276-A075-5A9D8777AAC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377" y="1696817"/>
            <a:ext cx="6767184" cy="3549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699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7.2.5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字节缓冲流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2934377" y="1696817"/>
            <a:ext cx="6767184" cy="36557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while ((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bis.read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!= -1) {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bos.write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bis.close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bos.close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722C2F9-6D6E-441C-8BE0-E7788894933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416" y="1341119"/>
            <a:ext cx="3344863" cy="480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字符流定义及基本用法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4907280" y="1341120"/>
            <a:ext cx="6329680" cy="46329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类在读写文件时操作的都是字节，如果希望在程序中操作字符，使用这两个类就不太方便，为此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提供了字符流。同字节流一样，字符流也有两个抽象的顶级父类，分别是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。其中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是字符输入流，用于从某个源设备读取字符。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是字符输出流，用于向某个目标设备写入字符。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E2BAF48-02E9-4768-BF35-D602AE41201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字符流定义及基本用法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635760" y="1341120"/>
            <a:ext cx="9601200" cy="137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作为字符流的顶级父类，也有许多子类，接下来通过一张继承关系图列举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的一些常用子类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1858" name="Picture 2" descr="手机屏幕截图&#10;&#10;描述已自动生成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999" y="2853848"/>
            <a:ext cx="6922984" cy="262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E577302-13F3-4B20-8491-2FA997FE4E1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字符流定义及基本用法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2882" name="Picture 2" descr="图片包含 游戏机, 截图&#10;&#10;描述已自动生成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976" y="2079251"/>
            <a:ext cx="8724448" cy="255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7AE5F50-CCBF-4629-98C2-AC416582460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889" y="1822926"/>
            <a:ext cx="3719513" cy="352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7.3.1 字符流定义及基本用法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981200" y="1585912"/>
            <a:ext cx="5292090" cy="4003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字符流的继承关系与字节流的继承关系有些类似，很多子类都是成对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输入流和输出流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出现的，其中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用于读写文件，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是具有缓冲功能的流，使用它们可以提高读写效率。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A8FFD37-7472-45B0-B22B-5012BD77468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5514339" y="1920449"/>
            <a:ext cx="5292090" cy="30083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在程序开发中，经常需要对文本文件的内容进行读取，如果想从文件中直接读取字符便可以使用字符输入流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，通过此流可以从关联的文件中读取一个或一组字符。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525" y="1772285"/>
            <a:ext cx="2995613" cy="352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2B279BE-6497-4976-AF01-D5566183C89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676" y="1452880"/>
            <a:ext cx="9205884" cy="44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内容占位符 2"/>
          <p:cNvSpPr txBox="1"/>
          <p:nvPr/>
        </p:nvSpPr>
        <p:spPr>
          <a:xfrm>
            <a:off x="2001520" y="1452880"/>
            <a:ext cx="9083040" cy="446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Example15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FileReader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对象用来读取文件中的字符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FileReader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reader = new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FileReader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("reader.txt");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		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定义一个变量用于记录读取的字符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while ((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reader.read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!= -1) { 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循环判断是否读取到文件的末尾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((char)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不是字符流末尾就转为字符打印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关闭文件读取流，释放资源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9476D07-BD6F-4044-91E8-9BE0ED1019F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4895881" y="1815783"/>
            <a:ext cx="6156960" cy="31694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对象返回的字符流是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对象返回的字符流是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byte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这就是两者之间最大的区别。如果要向文件中写入字符就需要使用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类，该类是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的一个子类。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1" y="1965960"/>
            <a:ext cx="282733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CE200CB-AF35-4E86-B00B-B49D38647D5C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505" y="2055553"/>
            <a:ext cx="7273637" cy="4079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422400" y="1310640"/>
            <a:ext cx="9682480" cy="86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接下来通过一个案例来学习如何使用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将字符写入文件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2485505" y="2047240"/>
            <a:ext cx="7446949" cy="4079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Example16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public static void main(String[] args) throws Exception {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创建一个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对象用于向文件中写入数据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FileWriter writer = new FileWriter("writer.txt");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String str = "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你好，传智播客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writer.write(str); 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将字符数据写入到文本文件中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writer.write("\r\n"); 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将输出语句换行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writer.close();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关闭写入流，释放资源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A4A9E99-D216-43C9-B691-416FF39504D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605280" y="1615440"/>
            <a:ext cx="9682480" cy="3535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一样，如果指定的文件不存在，就会先创建文件，再写入数据，如果文件存在，则会首先清空文件中的内容，再进行写入。如果想在文件末尾追加数据，同样需要调用重载的构造方法，现将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行代码进行如下修改：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writer = new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FileWriter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writer.txt",true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再次运行程序，即可实现在文件中追加内容的效果。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2CEF221-CA4E-45AA-A2EB-04C0614BA69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706880" y="1615440"/>
            <a:ext cx="9611360" cy="3535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包装流可以对一个已存在的流进行包装来实现数据读写功能，利用包装流可以有效地提高读写数据的效率。字符流同样提供了带缓冲区的包装流，分别是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，其中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用于对字符输入流进行包装，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用于对字符输出流进行包装。需要注意的是，在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中有一个重要的方法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readLine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，该方法用于一次读取一行文本。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C12608E-18E5-41AA-BDEE-3B39D3FEB86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776265" y="1372591"/>
            <a:ext cx="9794240" cy="7126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接下来通过一个案例来学习如何使用这两个包装流实现文件的拷贝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947821" y="2307027"/>
            <a:ext cx="8802370" cy="3322319"/>
            <a:chOff x="1845310" y="2692400"/>
            <a:chExt cx="8802370" cy="3322319"/>
          </a:xfrm>
        </p:grpSpPr>
        <p:pic>
          <p:nvPicPr>
            <p:cNvPr id="13005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5310" y="2692400"/>
              <a:ext cx="8802370" cy="3322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/>
            <p:nvPr/>
          </p:nvSpPr>
          <p:spPr>
            <a:xfrm>
              <a:off x="2494278" y="2783840"/>
              <a:ext cx="7731760" cy="30988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import java.io.*;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Example17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throws Exception 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FileReader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reader = new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FileReader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("src.txt");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创建一个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BufferedReader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缓冲对象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BufferedReader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new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BufferedReader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(reader);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FileWriter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writer = new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FileWriter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("des.txt");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70798B1-BC38-4B01-A274-A712681240B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128519" y="1361440"/>
            <a:ext cx="9093201" cy="4775200"/>
            <a:chOff x="1981199" y="1361440"/>
            <a:chExt cx="9093201" cy="4775200"/>
          </a:xfrm>
        </p:grpSpPr>
        <p:pic>
          <p:nvPicPr>
            <p:cNvPr id="13107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361440"/>
              <a:ext cx="9093200" cy="4775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/>
            <p:nvPr/>
          </p:nvSpPr>
          <p:spPr>
            <a:xfrm>
              <a:off x="1981199" y="1361440"/>
              <a:ext cx="9077643" cy="47752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创建一个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BufferdWriter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缓冲区对象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BufferedWriter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bw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BufferedWriter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(writer);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String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每次读取一行文本，判断是否到文件末尾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 while ((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=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br.readLine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()) != null) {			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bw.write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str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写入一个换行符，该方法会根据不同的操作系统生成相应的换行符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		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bw.newLine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   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br.close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bw.close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10998F5-F576-4DDC-B07E-B5A3E18F06F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字符流操作文件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4917124" y="1588174"/>
            <a:ext cx="6289039" cy="4003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由于字符缓冲流内部使用了缓冲区，在循环中调用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方法写入字符时，这些字符首先会被写入缓冲区，当缓冲区写满时或调用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close()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方法时，缓冲区中的字符才会被写入目标文件。因此在循环结束时一定要调用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close()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方法，否则极有可能会导致部分存在缓冲区中的数据没有被写入目标文件。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788160" y="1808421"/>
            <a:ext cx="2834640" cy="3676730"/>
            <a:chOff x="2311398" y="1676344"/>
            <a:chExt cx="2834640" cy="367673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内容占位符 2"/>
            <p:cNvSpPr txBox="1"/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注      意</a:t>
              </a:r>
              <a:endPara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F7338F7-1CF7-448F-8278-2C7A0EB0C94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转换流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2418081" y="1800860"/>
            <a:ext cx="4927599" cy="3576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前面提到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流可分为字节流和字符流，有时字节流和字符流之间也需要进行转换。在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中提供了两个类可以将字节流转换为字符流，它们分别是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265" y="1643380"/>
            <a:ext cx="3001963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124CB0B-86B7-405C-A1FA-0DAF2ACACD2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转换流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422400" y="1320800"/>
            <a:ext cx="10027919" cy="2428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的子类，它可以将一个字节输入流转换成字符输入流，方便直接读取字符。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的子类，它可以将一个字节输出流转换成字符输出流，方便直接写入字符。通过转换流进行数据读写的过程如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64639" y="4124960"/>
          <a:ext cx="9885680" cy="92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Visio" r:id="rId1" imgW="8420735" imgH="633095" progId="Visio.Drawing.11">
                  <p:embed/>
                </p:oleObj>
              </mc:Choice>
              <mc:Fallback>
                <p:oleObj name="Visio" r:id="rId1" imgW="8420735" imgH="633095" progId="Visio.Drawing.11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4639" y="4124960"/>
                        <a:ext cx="9885680" cy="9245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BB91CB8-5724-44BF-ADA8-3834891997A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8" y="2553629"/>
            <a:ext cx="7099069" cy="3350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转换流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1422400" y="1219200"/>
            <a:ext cx="10027919" cy="133442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通过转换流进行数据读写的过程将字节流转为字符流，为了提高读写效率，可以通过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实现转换工作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内容占位符 2"/>
          <p:cNvSpPr txBox="1"/>
          <p:nvPr/>
        </p:nvSpPr>
        <p:spPr>
          <a:xfrm>
            <a:off x="2311398" y="2553629"/>
            <a:ext cx="7609840" cy="3423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import java.io.*;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class Example18 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public static void main(String[]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创建字节输入流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 = new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FileInputStream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("src.txt");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将字节流输入转换成字符输入流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InputStreamReader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InputStreamReader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(in); 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赋予字符流对象缓冲区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isr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out = new 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FileOutputStream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("des.txt");</a:t>
            </a: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66C193F-47D0-4717-A975-5D47552E48F8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505" y="1529538"/>
            <a:ext cx="8032408" cy="4497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转换流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内容占位符 2"/>
          <p:cNvSpPr txBox="1"/>
          <p:nvPr/>
        </p:nvSpPr>
        <p:spPr>
          <a:xfrm>
            <a:off x="2616200" y="1544320"/>
            <a:ext cx="8056880" cy="4399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         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将字节输出流转换成字符输出流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OutputStreamWriter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osw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OutputStreamWriter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(out);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赋予字符输出流对象缓冲区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bw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osw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String line;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while ((line = 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br.readLine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!= null) {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判断是否读到文件末尾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bw.write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(line); // </a:t>
            </a:r>
            <a:r>
              <a: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输出读取到的文件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bw.close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49F090B-E9CC-4FFD-A2FD-CDE216EDC45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058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x-none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转换流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>
          <a:xfrm>
            <a:off x="2311398" y="1789894"/>
            <a:ext cx="8349168" cy="315009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上述代码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了字节流和字符流之间的转换，将字节流转换为字符流，从而实现直接对字符的读写。需要注意的是，在使用转换流时，只能针对操作文本文件的字节流进行转换，如果字节流操作的是一张图片，此时转换为字符流就会造成数据丢失。 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5734343-5DA8-4399-A495-BA4F546448C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824589" y="1719685"/>
            <a:ext cx="5147101" cy="3785652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本章主要介绍了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流的相关知识。首先讲解了如何创建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对象和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的常用方法，并以案例的形式讲解了如何对文件和文件夹进行相应的创建、查询、遍历以及删除等操作。最后使用字节流和字符流来对磁盘上的文件进行读写以及拷贝。通过本章的学习，希望读者可以认识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流，并能够熟练掌握输入输出的相关知识。</a:t>
            </a:r>
            <a:endParaRPr lang="zh-CN" altLang="en-US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.xml><?xml version="1.0" encoding="utf-8"?>
<p:tagLst xmlns:p="http://schemas.openxmlformats.org/presentationml/2006/main">
  <p:tag name="KSO_WM_UNIT_TABLE_BEAUTIFY" val="smartTable{5f5c709f-0af2-457e-a36d-f2c7c2b1856e}"/>
</p:tagLst>
</file>

<file path=ppt/tags/tag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.xml><?xml version="1.0" encoding="utf-8"?>
<p:tagLst xmlns:p="http://schemas.openxmlformats.org/presentationml/2006/main">
  <p:tag name="KSO_WM_UNIT_TABLE_BEAUTIFY" val="smartTable{8ecbbbc6-e587-4d8e-a92e-98ab8b079166}"/>
</p:tagLst>
</file>

<file path=ppt/tags/tag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7 本章小结"/>
</p:tagLst>
</file>

<file path=ppt/tags/tag7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ags/tag78.xml><?xml version="1.0" encoding="utf-8"?>
<p:tagLst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6f21232e94b46569fb407c359ca3a72a5848185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17458</Words>
  <Application>WPS 演示</Application>
  <PresentationFormat>宽屏</PresentationFormat>
  <Paragraphs>931</Paragraphs>
  <Slides>76</Slides>
  <Notes>76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76</vt:i4>
      </vt:variant>
    </vt:vector>
  </HeadingPairs>
  <TitlesOfParts>
    <vt:vector size="95" baseType="lpstr">
      <vt:lpstr>Arial</vt:lpstr>
      <vt:lpstr>宋体</vt:lpstr>
      <vt:lpstr>Wingdings</vt:lpstr>
      <vt:lpstr>微软雅黑</vt:lpstr>
      <vt:lpstr>Times New Roman</vt:lpstr>
      <vt:lpstr>方正细倩简体</vt:lpstr>
      <vt:lpstr>Segoe Print</vt:lpstr>
      <vt:lpstr>Times New Roman</vt:lpstr>
      <vt:lpstr>楷体</vt:lpstr>
      <vt:lpstr>Wingdings</vt:lpstr>
      <vt:lpstr>等线</vt:lpstr>
      <vt:lpstr>Arial Unicode MS</vt:lpstr>
      <vt:lpstr>等线 Light</vt:lpstr>
      <vt:lpstr>Calibri</vt:lpstr>
      <vt:lpstr>Office 主题​​</vt:lpstr>
      <vt:lpstr>Visio.Drawing.11</vt:lpstr>
      <vt:lpstr>Visio.Drawing.11</vt:lpstr>
      <vt:lpstr>Visio.Drawing.11</vt:lpstr>
      <vt:lpstr>Visio.Drawing.11</vt:lpstr>
      <vt:lpstr>第7章  IO（输入输出）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Administrator</cp:lastModifiedBy>
  <cp:revision>1126</cp:revision>
  <dcterms:created xsi:type="dcterms:W3CDTF">2016-08-25T05:35:00Z</dcterms:created>
  <dcterms:modified xsi:type="dcterms:W3CDTF">2024-11-20T02:11:46Z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