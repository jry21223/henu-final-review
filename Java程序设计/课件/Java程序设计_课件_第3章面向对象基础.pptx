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tags/tag40.xml" ContentType="application/vnd.openxmlformats-officedocument.presentationml.tags+xml"/>
  <Override PartName="/ppt/notesSlides/notesSlide40.xml" ContentType="application/vnd.openxmlformats-officedocument.presentationml.notesSlide+xml"/>
  <Override PartName="/ppt/tags/tag41.xml" ContentType="application/vnd.openxmlformats-officedocument.presentationml.tags+xml"/>
  <Override PartName="/ppt/notesSlides/notesSlide41.xml" ContentType="application/vnd.openxmlformats-officedocument.presentationml.notesSlide+xml"/>
  <Override PartName="/ppt/tags/tag42.xml" ContentType="application/vnd.openxmlformats-officedocument.presentationml.tags+xml"/>
  <Override PartName="/ppt/notesSlides/notesSlide42.xml" ContentType="application/vnd.openxmlformats-officedocument.presentationml.notesSlide+xml"/>
  <Override PartName="/ppt/tags/tag43.xml" ContentType="application/vnd.openxmlformats-officedocument.presentationml.tags+xml"/>
  <Override PartName="/ppt/notesSlides/notesSlide43.xml" ContentType="application/vnd.openxmlformats-officedocument.presentationml.notesSlide+xml"/>
  <Override PartName="/ppt/tags/tag44.xml" ContentType="application/vnd.openxmlformats-officedocument.presentationml.tags+xml"/>
  <Override PartName="/ppt/notesSlides/notesSlide44.xml" ContentType="application/vnd.openxmlformats-officedocument.presentationml.notesSlide+xml"/>
  <Override PartName="/ppt/tags/tag45.xml" ContentType="application/vnd.openxmlformats-officedocument.presentationml.tags+xml"/>
  <Override PartName="/ppt/notesSlides/notesSlide45.xml" ContentType="application/vnd.openxmlformats-officedocument.presentationml.notesSlide+xml"/>
  <Override PartName="/ppt/tags/tag46.xml" ContentType="application/vnd.openxmlformats-officedocument.presentationml.tags+xml"/>
  <Override PartName="/ppt/notesSlides/notesSlide46.xml" ContentType="application/vnd.openxmlformats-officedocument.presentationml.notesSlide+xml"/>
  <Override PartName="/ppt/tags/tag47.xml" ContentType="application/vnd.openxmlformats-officedocument.presentationml.tags+xml"/>
  <Override PartName="/ppt/notesSlides/notesSlide47.xml" ContentType="application/vnd.openxmlformats-officedocument.presentationml.notesSlide+xml"/>
  <Override PartName="/ppt/tags/tag48.xml" ContentType="application/vnd.openxmlformats-officedocument.presentationml.tags+xml"/>
  <Override PartName="/ppt/notesSlides/notesSlide48.xml" ContentType="application/vnd.openxmlformats-officedocument.presentationml.notesSlide+xml"/>
  <Override PartName="/ppt/tags/tag49.xml" ContentType="application/vnd.openxmlformats-officedocument.presentationml.tags+xml"/>
  <Override PartName="/ppt/notesSlides/notesSlide49.xml" ContentType="application/vnd.openxmlformats-officedocument.presentationml.notesSlide+xml"/>
  <Override PartName="/ppt/tags/tag50.xml" ContentType="application/vnd.openxmlformats-officedocument.presentationml.tags+xml"/>
  <Override PartName="/ppt/notesSlides/notesSlide50.xml" ContentType="application/vnd.openxmlformats-officedocument.presentationml.notesSlide+xml"/>
  <Override PartName="/ppt/tags/tag51.xml" ContentType="application/vnd.openxmlformats-officedocument.presentationml.tags+xml"/>
  <Override PartName="/ppt/notesSlides/notesSlide51.xml" ContentType="application/vnd.openxmlformats-officedocument.presentationml.notesSlide+xml"/>
  <Override PartName="/ppt/tags/tag52.xml" ContentType="application/vnd.openxmlformats-officedocument.presentationml.tags+xml"/>
  <Override PartName="/ppt/notesSlides/notesSlide52.xml" ContentType="application/vnd.openxmlformats-officedocument.presentationml.notesSlide+xml"/>
  <Override PartName="/ppt/tags/tag53.xml" ContentType="application/vnd.openxmlformats-officedocument.presentationml.tags+xml"/>
  <Override PartName="/ppt/notesSlides/notesSlide53.xml" ContentType="application/vnd.openxmlformats-officedocument.presentationml.notesSlide+xml"/>
  <Override PartName="/ppt/tags/tag54.xml" ContentType="application/vnd.openxmlformats-officedocument.presentationml.tags+xml"/>
  <Override PartName="/ppt/notesSlides/notesSlide54.xml" ContentType="application/vnd.openxmlformats-officedocument.presentationml.notesSlide+xml"/>
  <Override PartName="/ppt/tags/tag55.xml" ContentType="application/vnd.openxmlformats-officedocument.presentationml.tags+xml"/>
  <Override PartName="/ppt/notesSlides/notesSlide55.xml" ContentType="application/vnd.openxmlformats-officedocument.presentationml.notesSlide+xml"/>
  <Override PartName="/ppt/tags/tag56.xml" ContentType="application/vnd.openxmlformats-officedocument.presentationml.tags+xml"/>
  <Override PartName="/ppt/notesSlides/notesSlide56.xml" ContentType="application/vnd.openxmlformats-officedocument.presentationml.notesSlide+xml"/>
  <Override PartName="/ppt/tags/tag57.xml" ContentType="application/vnd.openxmlformats-officedocument.presentationml.tags+xml"/>
  <Override PartName="/ppt/notesSlides/notesSlide57.xml" ContentType="application/vnd.openxmlformats-officedocument.presentationml.notesSlide+xml"/>
  <Override PartName="/ppt/tags/tag58.xml" ContentType="application/vnd.openxmlformats-officedocument.presentationml.tags+xml"/>
  <Override PartName="/ppt/notesSlides/notesSlide58.xml" ContentType="application/vnd.openxmlformats-officedocument.presentationml.notesSlide+xml"/>
  <Override PartName="/ppt/tags/tag59.xml" ContentType="application/vnd.openxmlformats-officedocument.presentationml.tags+xml"/>
  <Override PartName="/ppt/notesSlides/notesSlide59.xml" ContentType="application/vnd.openxmlformats-officedocument.presentationml.notesSlide+xml"/>
  <Override PartName="/ppt/tags/tag60.xml" ContentType="application/vnd.openxmlformats-officedocument.presentationml.tags+xml"/>
  <Override PartName="/ppt/notesSlides/notesSlide60.xml" ContentType="application/vnd.openxmlformats-officedocument.presentationml.notesSlide+xml"/>
  <Override PartName="/ppt/tags/tag61.xml" ContentType="application/vnd.openxmlformats-officedocument.presentationml.tags+xml"/>
  <Override PartName="/ppt/notesSlides/notesSlide61.xml" ContentType="application/vnd.openxmlformats-officedocument.presentationml.notesSlide+xml"/>
  <Override PartName="/ppt/tags/tag62.xml" ContentType="application/vnd.openxmlformats-officedocument.presentationml.tags+xml"/>
  <Override PartName="/ppt/notesSlides/notesSlide62.xml" ContentType="application/vnd.openxmlformats-officedocument.presentationml.notesSlide+xml"/>
  <Override PartName="/ppt/tags/tag63.xml" ContentType="application/vnd.openxmlformats-officedocument.presentationml.tags+xml"/>
  <Override PartName="/ppt/notesSlides/notesSlide63.xml" ContentType="application/vnd.openxmlformats-officedocument.presentationml.notesSlide+xml"/>
  <Override PartName="/ppt/tags/tag64.xml" ContentType="application/vnd.openxmlformats-officedocument.presentationml.tags+xml"/>
  <Override PartName="/ppt/notesSlides/notesSlide64.xml" ContentType="application/vnd.openxmlformats-officedocument.presentationml.notesSlide+xml"/>
  <Override PartName="/ppt/tags/tag65.xml" ContentType="application/vnd.openxmlformats-officedocument.presentationml.tags+xml"/>
  <Override PartName="/ppt/notesSlides/notesSlide65.xml" ContentType="application/vnd.openxmlformats-officedocument.presentationml.notesSlide+xml"/>
  <Override PartName="/ppt/tags/tag66.xml" ContentType="application/vnd.openxmlformats-officedocument.presentationml.tags+xml"/>
  <Override PartName="/ppt/notesSlides/notesSlide66.xml" ContentType="application/vnd.openxmlformats-officedocument.presentationml.notesSlide+xml"/>
  <Override PartName="/ppt/tags/tag67.xml" ContentType="application/vnd.openxmlformats-officedocument.presentationml.tags+xml"/>
  <Override PartName="/ppt/notesSlides/notesSlide67.xml" ContentType="application/vnd.openxmlformats-officedocument.presentationml.notesSlide+xml"/>
  <Override PartName="/ppt/tags/tag68.xml" ContentType="application/vnd.openxmlformats-officedocument.presentationml.tags+xml"/>
  <Override PartName="/ppt/notesSlides/notesSlide68.xml" ContentType="application/vnd.openxmlformats-officedocument.presentationml.notesSlide+xml"/>
  <Override PartName="/ppt/tags/tag69.xml" ContentType="application/vnd.openxmlformats-officedocument.presentationml.tags+xml"/>
  <Override PartName="/ppt/notesSlides/notesSlide69.xml" ContentType="application/vnd.openxmlformats-officedocument.presentationml.notesSlide+xml"/>
  <Override PartName="/ppt/tags/tag70.xml" ContentType="application/vnd.openxmlformats-officedocument.presentationml.tags+xml"/>
  <Override PartName="/ppt/notesSlides/notesSlide70.xml" ContentType="application/vnd.openxmlformats-officedocument.presentationml.notesSlide+xml"/>
  <Override PartName="/ppt/tags/tag71.xml" ContentType="application/vnd.openxmlformats-officedocument.presentationml.tags+xml"/>
  <Override PartName="/ppt/notesSlides/notesSlide71.xml" ContentType="application/vnd.openxmlformats-officedocument.presentationml.notesSlide+xml"/>
  <Override PartName="/ppt/tags/tag72.xml" ContentType="application/vnd.openxmlformats-officedocument.presentationml.tags+xml"/>
  <Override PartName="/ppt/notesSlides/notesSlide72.xml" ContentType="application/vnd.openxmlformats-officedocument.presentationml.notesSlide+xml"/>
  <Override PartName="/ppt/tags/tag73.xml" ContentType="application/vnd.openxmlformats-officedocument.presentationml.tags+xml"/>
  <Override PartName="/ppt/notesSlides/notesSlide73.xml" ContentType="application/vnd.openxmlformats-officedocument.presentationml.notesSlide+xml"/>
  <Override PartName="/ppt/tags/tag74.xml" ContentType="application/vnd.openxmlformats-officedocument.presentationml.tags+xml"/>
  <Override PartName="/ppt/notesSlides/notesSlide74.xml" ContentType="application/vnd.openxmlformats-officedocument.presentationml.notesSlide+xml"/>
  <Override PartName="/ppt/tags/tag75.xml" ContentType="application/vnd.openxmlformats-officedocument.presentationml.tags+xml"/>
  <Override PartName="/ppt/notesSlides/notesSlide75.xml" ContentType="application/vnd.openxmlformats-officedocument.presentationml.notesSlide+xml"/>
  <Override PartName="/ppt/tags/tag76.xml" ContentType="application/vnd.openxmlformats-officedocument.presentationml.tags+xml"/>
  <Override PartName="/ppt/notesSlides/notesSlide76.xml" ContentType="application/vnd.openxmlformats-officedocument.presentationml.notesSlide+xml"/>
  <Override PartName="/ppt/tags/tag77.xml" ContentType="application/vnd.openxmlformats-officedocument.presentationml.tags+xml"/>
  <Override PartName="/ppt/notesSlides/notesSlide77.xml" ContentType="application/vnd.openxmlformats-officedocument.presentationml.notesSlide+xml"/>
  <Override PartName="/ppt/tags/tag78.xml" ContentType="application/vnd.openxmlformats-officedocument.presentationml.tags+xml"/>
  <Override PartName="/ppt/notesSlides/notesSlide78.xml" ContentType="application/vnd.openxmlformats-officedocument.presentationml.notesSlide+xml"/>
  <Override PartName="/ppt/tags/tag79.xml" ContentType="application/vnd.openxmlformats-officedocument.presentationml.tags+xml"/>
  <Override PartName="/ppt/notesSlides/notesSlide79.xml" ContentType="application/vnd.openxmlformats-officedocument.presentationml.notesSlide+xml"/>
  <Override PartName="/ppt/tags/tag80.xml" ContentType="application/vnd.openxmlformats-officedocument.presentationml.tags+xml"/>
  <Override PartName="/ppt/notesSlides/notesSlide80.xml" ContentType="application/vnd.openxmlformats-officedocument.presentationml.notesSlide+xml"/>
  <Override PartName="/ppt/tags/tag81.xml" ContentType="application/vnd.openxmlformats-officedocument.presentationml.tags+xml"/>
  <Override PartName="/ppt/notesSlides/notesSlide81.xml" ContentType="application/vnd.openxmlformats-officedocument.presentationml.notesSlide+xml"/>
  <Override PartName="/ppt/tags/tag82.xml" ContentType="application/vnd.openxmlformats-officedocument.presentationml.tags+xml"/>
  <Override PartName="/ppt/notesSlides/notesSlide82.xml" ContentType="application/vnd.openxmlformats-officedocument.presentationml.notesSlide+xml"/>
  <Override PartName="/ppt/tags/tag83.xml" ContentType="application/vnd.openxmlformats-officedocument.presentationml.tags+xml"/>
  <Override PartName="/ppt/notesSlides/notesSlide83.xml" ContentType="application/vnd.openxmlformats-officedocument.presentationml.notesSlide+xml"/>
  <Override PartName="/ppt/tags/tag84.xml" ContentType="application/vnd.openxmlformats-officedocument.presentationml.tags+xml"/>
  <Override PartName="/ppt/notesSlides/notesSlide84.xml" ContentType="application/vnd.openxmlformats-officedocument.presentationml.notesSlide+xml"/>
  <Override PartName="/ppt/tags/tag85.xml" ContentType="application/vnd.openxmlformats-officedocument.presentationml.tags+xml"/>
  <Override PartName="/ppt/notesSlides/notesSlide85.xml" ContentType="application/vnd.openxmlformats-officedocument.presentationml.notesSlide+xml"/>
  <Override PartName="/ppt/tags/tag86.xml" ContentType="application/vnd.openxmlformats-officedocument.presentationml.tags+xml"/>
  <Override PartName="/ppt/notesSlides/notesSlide86.xml" ContentType="application/vnd.openxmlformats-officedocument.presentationml.notesSlide+xml"/>
  <Override PartName="/ppt/tags/tag87.xml" ContentType="application/vnd.openxmlformats-officedocument.presentationml.tags+xml"/>
  <Override PartName="/ppt/notesSlides/notesSlide87.xml" ContentType="application/vnd.openxmlformats-officedocument.presentationml.notesSlide+xml"/>
  <Override PartName="/ppt/tags/tag88.xml" ContentType="application/vnd.openxmlformats-officedocument.presentationml.tags+xml"/>
  <Override PartName="/ppt/notesSlides/notesSlide88.xml" ContentType="application/vnd.openxmlformats-officedocument.presentationml.notesSlide+xml"/>
  <Override PartName="/ppt/tags/tag89.xml" ContentType="application/vnd.openxmlformats-officedocument.presentationml.tags+xml"/>
  <Override PartName="/ppt/notesSlides/notesSlide89.xml" ContentType="application/vnd.openxmlformats-officedocument.presentationml.notesSlide+xml"/>
  <Override PartName="/ppt/tags/tag90.xml" ContentType="application/vnd.openxmlformats-officedocument.presentationml.tags+xml"/>
  <Override PartName="/ppt/notesSlides/notesSlide90.xml" ContentType="application/vnd.openxmlformats-officedocument.presentationml.notesSlide+xml"/>
  <Override PartName="/ppt/tags/tag91.xml" ContentType="application/vnd.openxmlformats-officedocument.presentationml.tags+xml"/>
  <Override PartName="/ppt/notesSlides/notesSlide91.xml" ContentType="application/vnd.openxmlformats-officedocument.presentationml.notesSlide+xml"/>
  <Override PartName="/ppt/tags/tag92.xml" ContentType="application/vnd.openxmlformats-officedocument.presentationml.tags+xml"/>
  <Override PartName="/ppt/notesSlides/notesSlide92.xml" ContentType="application/vnd.openxmlformats-officedocument.presentationml.notesSlide+xml"/>
  <Override PartName="/ppt/tags/tag93.xml" ContentType="application/vnd.openxmlformats-officedocument.presentationml.tags+xml"/>
  <Override PartName="/ppt/notesSlides/notesSlide93.xml" ContentType="application/vnd.openxmlformats-officedocument.presentationml.notesSlide+xml"/>
  <Override PartName="/ppt/tags/tag94.xml" ContentType="application/vnd.openxmlformats-officedocument.presentationml.tags+xml"/>
  <Override PartName="/ppt/notesSlides/notesSlide94.xml" ContentType="application/vnd.openxmlformats-officedocument.presentationml.notesSlide+xml"/>
  <Override PartName="/ppt/tags/tag95.xml" ContentType="application/vnd.openxmlformats-officedocument.presentationml.tags+xml"/>
  <Override PartName="/ppt/notesSlides/notesSlide95.xml" ContentType="application/vnd.openxmlformats-officedocument.presentationml.notesSlide+xml"/>
  <Override PartName="/ppt/tags/tag96.xml" ContentType="application/vnd.openxmlformats-officedocument.presentationml.tags+xml"/>
  <Override PartName="/ppt/notesSlides/notesSlide96.xml" ContentType="application/vnd.openxmlformats-officedocument.presentationml.notesSlide+xml"/>
  <Override PartName="/ppt/tags/tag97.xml" ContentType="application/vnd.openxmlformats-officedocument.presentationml.tags+xml"/>
  <Override PartName="/ppt/notesSlides/notesSlide97.xml" ContentType="application/vnd.openxmlformats-officedocument.presentationml.notesSlide+xml"/>
  <Override PartName="/ppt/tags/tag98.xml" ContentType="application/vnd.openxmlformats-officedocument.presentationml.tags+xml"/>
  <Override PartName="/ppt/notesSlides/notesSlide98.xml" ContentType="application/vnd.openxmlformats-officedocument.presentationml.notesSlide+xml"/>
  <Override PartName="/ppt/tags/tag99.xml" ContentType="application/vnd.openxmlformats-officedocument.presentationml.tags+xml"/>
  <Override PartName="/ppt/notesSlides/notesSlide99.xml" ContentType="application/vnd.openxmlformats-officedocument.presentationml.notesSlide+xml"/>
  <Override PartName="/ppt/tags/tag100.xml" ContentType="application/vnd.openxmlformats-officedocument.presentationml.tags+xml"/>
  <Override PartName="/ppt/notesSlides/notesSlide100.xml" ContentType="application/vnd.openxmlformats-officedocument.presentationml.notesSlide+xml"/>
  <Override PartName="/ppt/tags/tag101.xml" ContentType="application/vnd.openxmlformats-officedocument.presentationml.tags+xml"/>
  <Override PartName="/ppt/notesSlides/notesSlide101.xml" ContentType="application/vnd.openxmlformats-officedocument.presentationml.notesSlide+xml"/>
  <Override PartName="/ppt/tags/tag102.xml" ContentType="application/vnd.openxmlformats-officedocument.presentationml.tags+xml"/>
  <Override PartName="/ppt/notesSlides/notesSlide102.xml" ContentType="application/vnd.openxmlformats-officedocument.presentationml.notesSlide+xml"/>
  <Override PartName="/ppt/tags/tag103.xml" ContentType="application/vnd.openxmlformats-officedocument.presentationml.tags+xml"/>
  <Override PartName="/ppt/notesSlides/notesSlide103.xml" ContentType="application/vnd.openxmlformats-officedocument.presentationml.notesSlide+xml"/>
  <Override PartName="/ppt/tags/tag104.xml" ContentType="application/vnd.openxmlformats-officedocument.presentationml.tags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6"/>
  </p:notesMasterIdLst>
  <p:handoutMasterIdLst>
    <p:handoutMasterId r:id="rId107"/>
  </p:handoutMasterIdLst>
  <p:sldIdLst>
    <p:sldId id="256" r:id="rId2"/>
    <p:sldId id="522" r:id="rId3"/>
    <p:sldId id="1398" r:id="rId4"/>
    <p:sldId id="1399" r:id="rId5"/>
    <p:sldId id="1400" r:id="rId6"/>
    <p:sldId id="1401" r:id="rId7"/>
    <p:sldId id="1402" r:id="rId8"/>
    <p:sldId id="1403" r:id="rId9"/>
    <p:sldId id="1405" r:id="rId10"/>
    <p:sldId id="1406" r:id="rId11"/>
    <p:sldId id="1407" r:id="rId12"/>
    <p:sldId id="1408" r:id="rId13"/>
    <p:sldId id="1409" r:id="rId14"/>
    <p:sldId id="1410" r:id="rId15"/>
    <p:sldId id="1411" r:id="rId16"/>
    <p:sldId id="1412" r:id="rId17"/>
    <p:sldId id="1413" r:id="rId18"/>
    <p:sldId id="1414" r:id="rId19"/>
    <p:sldId id="1415" r:id="rId20"/>
    <p:sldId id="1416" r:id="rId21"/>
    <p:sldId id="1417" r:id="rId22"/>
    <p:sldId id="1420" r:id="rId23"/>
    <p:sldId id="1421" r:id="rId24"/>
    <p:sldId id="1422" r:id="rId25"/>
    <p:sldId id="1423" r:id="rId26"/>
    <p:sldId id="1426" r:id="rId27"/>
    <p:sldId id="1427" r:id="rId28"/>
    <p:sldId id="1428" r:id="rId29"/>
    <p:sldId id="1429" r:id="rId30"/>
    <p:sldId id="1430" r:id="rId31"/>
    <p:sldId id="1431" r:id="rId32"/>
    <p:sldId id="1432" r:id="rId33"/>
    <p:sldId id="1433" r:id="rId34"/>
    <p:sldId id="1434" r:id="rId35"/>
    <p:sldId id="1435" r:id="rId36"/>
    <p:sldId id="1436" r:id="rId37"/>
    <p:sldId id="1438" r:id="rId38"/>
    <p:sldId id="1439" r:id="rId39"/>
    <p:sldId id="1440" r:id="rId40"/>
    <p:sldId id="1441" r:id="rId41"/>
    <p:sldId id="1442" r:id="rId42"/>
    <p:sldId id="1443" r:id="rId43"/>
    <p:sldId id="1444" r:id="rId44"/>
    <p:sldId id="1445" r:id="rId45"/>
    <p:sldId id="1446" r:id="rId46"/>
    <p:sldId id="1449" r:id="rId47"/>
    <p:sldId id="1450" r:id="rId48"/>
    <p:sldId id="1451" r:id="rId49"/>
    <p:sldId id="1453" r:id="rId50"/>
    <p:sldId id="1454" r:id="rId51"/>
    <p:sldId id="1455" r:id="rId52"/>
    <p:sldId id="1457" r:id="rId53"/>
    <p:sldId id="1458" r:id="rId54"/>
    <p:sldId id="1459" r:id="rId55"/>
    <p:sldId id="1462" r:id="rId56"/>
    <p:sldId id="1463" r:id="rId57"/>
    <p:sldId id="1464" r:id="rId58"/>
    <p:sldId id="1466" r:id="rId59"/>
    <p:sldId id="1469" r:id="rId60"/>
    <p:sldId id="1470" r:id="rId61"/>
    <p:sldId id="1471" r:id="rId62"/>
    <p:sldId id="1472" r:id="rId63"/>
    <p:sldId id="1473" r:id="rId64"/>
    <p:sldId id="1474" r:id="rId65"/>
    <p:sldId id="1475" r:id="rId66"/>
    <p:sldId id="1476" r:id="rId67"/>
    <p:sldId id="1516" r:id="rId68"/>
    <p:sldId id="1478" r:id="rId69"/>
    <p:sldId id="1479" r:id="rId70"/>
    <p:sldId id="1480" r:id="rId71"/>
    <p:sldId id="1481" r:id="rId72"/>
    <p:sldId id="1482" r:id="rId73"/>
    <p:sldId id="1483" r:id="rId74"/>
    <p:sldId id="1484" r:id="rId75"/>
    <p:sldId id="1485" r:id="rId76"/>
    <p:sldId id="1486" r:id="rId77"/>
    <p:sldId id="1487" r:id="rId78"/>
    <p:sldId id="1488" r:id="rId79"/>
    <p:sldId id="1489" r:id="rId80"/>
    <p:sldId id="1490" r:id="rId81"/>
    <p:sldId id="1492" r:id="rId82"/>
    <p:sldId id="1491" r:id="rId83"/>
    <p:sldId id="1494" r:id="rId84"/>
    <p:sldId id="1493" r:id="rId85"/>
    <p:sldId id="1495" r:id="rId86"/>
    <p:sldId id="1496" r:id="rId87"/>
    <p:sldId id="1497" r:id="rId88"/>
    <p:sldId id="1499" r:id="rId89"/>
    <p:sldId id="1498" r:id="rId90"/>
    <p:sldId id="1502" r:id="rId91"/>
    <p:sldId id="1503" r:id="rId92"/>
    <p:sldId id="1504" r:id="rId93"/>
    <p:sldId id="1505" r:id="rId94"/>
    <p:sldId id="1506" r:id="rId95"/>
    <p:sldId id="1508" r:id="rId96"/>
    <p:sldId id="1507" r:id="rId97"/>
    <p:sldId id="1509" r:id="rId98"/>
    <p:sldId id="1510" r:id="rId99"/>
    <p:sldId id="1511" r:id="rId100"/>
    <p:sldId id="1512" r:id="rId101"/>
    <p:sldId id="1514" r:id="rId102"/>
    <p:sldId id="1513" r:id="rId103"/>
    <p:sldId id="335" r:id="rId104"/>
    <p:sldId id="283" r:id="rId105"/>
  </p:sldIdLst>
  <p:sldSz cx="12192000" cy="6858000"/>
  <p:notesSz cx="6858000" cy="9144000"/>
  <p:custDataLst>
    <p:tags r:id="rId10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2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1353A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6" autoAdjust="0"/>
    <p:restoredTop sz="96871" autoAdjust="0"/>
  </p:normalViewPr>
  <p:slideViewPr>
    <p:cSldViewPr snapToGrid="0">
      <p:cViewPr varScale="1">
        <p:scale>
          <a:sx n="111" d="100"/>
          <a:sy n="111" d="100"/>
        </p:scale>
        <p:origin x="64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42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commentAuthors" Target="commentAuthor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91AB7-F5A4-4C0D-8EFD-8068E49AF6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06D94-0700-400A-A759-B2484DAA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292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73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3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278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4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圆角矩形 12">
            <a:extLst>
              <a:ext uri="{FF2B5EF4-FFF2-40B4-BE49-F238E27FC236}">
                <a16:creationId xmlns:a16="http://schemas.microsoft.com/office/drawing/2014/main" id="{F66A5689-815C-4A86-86F9-99F279F8FE04}"/>
              </a:ext>
            </a:extLst>
          </p:cNvPr>
          <p:cNvSpPr/>
          <p:nvPr userDrawn="1"/>
        </p:nvSpPr>
        <p:spPr>
          <a:xfrm>
            <a:off x="4063999" y="810988"/>
            <a:ext cx="4117976" cy="69391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4" descr="C:\Users\wz\Desktop\黑马程序员横板logo.png">
            <a:extLst>
              <a:ext uri="{FF2B5EF4-FFF2-40B4-BE49-F238E27FC236}">
                <a16:creationId xmlns:a16="http://schemas.microsoft.com/office/drawing/2014/main" id="{F169713A-E595-43C4-9D10-5C95C4F30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544" y="603199"/>
            <a:ext cx="2448556" cy="108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771" y="603199"/>
            <a:ext cx="4540102" cy="14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6829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10600" y="313611"/>
            <a:ext cx="2990476" cy="761905"/>
          </a:xfrm>
          <a:prstGeom prst="rect">
            <a:avLst/>
          </a:prstGeom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108E81B-792D-4CDE-9428-3EDE9AD095B9}"/>
              </a:ext>
            </a:extLst>
          </p:cNvPr>
          <p:cNvSpPr/>
          <p:nvPr userDrawn="1"/>
        </p:nvSpPr>
        <p:spPr>
          <a:xfrm>
            <a:off x="0" y="6492877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69314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48" y="0"/>
            <a:ext cx="122018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923F74E-9212-43C8-9102-995E227020C8}"/>
              </a:ext>
            </a:extLst>
          </p:cNvPr>
          <p:cNvSpPr/>
          <p:nvPr userDrawn="1"/>
        </p:nvSpPr>
        <p:spPr>
          <a:xfrm>
            <a:off x="0" y="6492877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270338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65E086E-DF0D-4B19-804F-3901CDC14E01}"/>
              </a:ext>
            </a:extLst>
          </p:cNvPr>
          <p:cNvSpPr/>
          <p:nvPr userDrawn="1"/>
        </p:nvSpPr>
        <p:spPr>
          <a:xfrm>
            <a:off x="0" y="6492877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271362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3E2E8D5-6FE8-47C0-A557-C3F3BC3756D4}"/>
              </a:ext>
            </a:extLst>
          </p:cNvPr>
          <p:cNvSpPr/>
          <p:nvPr userDrawn="1"/>
        </p:nvSpPr>
        <p:spPr>
          <a:xfrm>
            <a:off x="0" y="6492877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272386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FEF2F15-0C5A-4B85-9E49-06F92EB46B03}"/>
              </a:ext>
            </a:extLst>
          </p:cNvPr>
          <p:cNvSpPr/>
          <p:nvPr userDrawn="1"/>
        </p:nvSpPr>
        <p:spPr>
          <a:xfrm>
            <a:off x="0" y="6492877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4409"/>
          </a:xfrm>
          <a:prstGeom prst="rect">
            <a:avLst/>
          </a:prstGeom>
        </p:spPr>
      </p:pic>
      <p:pic>
        <p:nvPicPr>
          <p:cNvPr id="6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806" y="776178"/>
            <a:ext cx="5074388" cy="1536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6948" cy="6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01262" y="279447"/>
            <a:ext cx="2990476" cy="761905"/>
          </a:xfrm>
          <a:prstGeom prst="rect">
            <a:avLst/>
          </a:prstGeom>
        </p:spPr>
      </p:pic>
      <p:pic>
        <p:nvPicPr>
          <p:cNvPr id="4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06163" y="6527800"/>
            <a:ext cx="479018" cy="255772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FF0000"/>
                </a:solidFill>
              </a:defRPr>
            </a:lvl1pPr>
            <a:lvl2pPr>
              <a:defRPr b="1">
                <a:solidFill>
                  <a:srgbClr val="FF0000"/>
                </a:solidFill>
              </a:defRPr>
            </a:lvl2pPr>
            <a:lvl3pPr>
              <a:defRPr b="1">
                <a:solidFill>
                  <a:srgbClr val="FF0000"/>
                </a:solidFill>
              </a:defRPr>
            </a:lvl3pPr>
            <a:lvl4pPr>
              <a:defRPr b="1">
                <a:solidFill>
                  <a:srgbClr val="FF0000"/>
                </a:solidFill>
              </a:defRPr>
            </a:lvl4pPr>
            <a:lvl5pPr>
              <a:defRPr b="1">
                <a:solidFill>
                  <a:srgbClr val="FF0000"/>
                </a:solidFill>
              </a:defRPr>
            </a:lvl5pPr>
          </a:lstStyle>
          <a:p>
            <a:pPr lvl="0"/>
            <a:fld id="{B8A72814-E313-4892-AA75-13E6254DBDF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0EF60B-DCE5-4418-9974-56B1A1AC8025}"/>
              </a:ext>
            </a:extLst>
          </p:cNvPr>
          <p:cNvSpPr/>
          <p:nvPr userDrawn="1"/>
        </p:nvSpPr>
        <p:spPr>
          <a:xfrm>
            <a:off x="0" y="6492877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027D74-335F-42F6-95A5-379A5141F55D}"/>
              </a:ext>
            </a:extLst>
          </p:cNvPr>
          <p:cNvSpPr/>
          <p:nvPr userDrawn="1"/>
        </p:nvSpPr>
        <p:spPr>
          <a:xfrm>
            <a:off x="0" y="6483733"/>
            <a:ext cx="2167128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6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7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8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5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6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8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9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0.xml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1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2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3.xml"/><Relationship Id="rId4" Type="http://schemas.openxmlformats.org/officeDocument/2006/relationships/image" Target="../media/image4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4.xml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.xml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0.xml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1.xml"/><Relationship Id="rId4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2.xml"/><Relationship Id="rId4" Type="http://schemas.openxmlformats.org/officeDocument/2006/relationships/image" Target="../media/image4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4.xml"/><Relationship Id="rId4" Type="http://schemas.openxmlformats.org/officeDocument/2006/relationships/image" Target="../media/image4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5.xml"/><Relationship Id="rId4" Type="http://schemas.openxmlformats.org/officeDocument/2006/relationships/image" Target="../media/image4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6.xml"/><Relationship Id="rId4" Type="http://schemas.openxmlformats.org/officeDocument/2006/relationships/image" Target="../media/image4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8.xml"/><Relationship Id="rId4" Type="http://schemas.openxmlformats.org/officeDocument/2006/relationships/image" Target="../media/image4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9.xml"/><Relationship Id="rId4" Type="http://schemas.openxmlformats.org/officeDocument/2006/relationships/image" Target="../media/image4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2.xml"/><Relationship Id="rId4" Type="http://schemas.openxmlformats.org/officeDocument/2006/relationships/image" Target="../media/image4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3.xml"/><Relationship Id="rId4" Type="http://schemas.openxmlformats.org/officeDocument/2006/relationships/image" Target="../media/image5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5.xml"/><Relationship Id="rId4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6.xml"/><Relationship Id="rId4" Type="http://schemas.openxmlformats.org/officeDocument/2006/relationships/image" Target="../media/image5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7.xml"/><Relationship Id="rId4" Type="http://schemas.openxmlformats.org/officeDocument/2006/relationships/image" Target="../media/image5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0.xml"/><Relationship Id="rId4" Type="http://schemas.openxmlformats.org/officeDocument/2006/relationships/image" Target="../media/image5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1.xml"/><Relationship Id="rId4" Type="http://schemas.openxmlformats.org/officeDocument/2006/relationships/image" Target="../media/image5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2.xml"/><Relationship Id="rId4" Type="http://schemas.openxmlformats.org/officeDocument/2006/relationships/image" Target="../media/image5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4.xml"/><Relationship Id="rId4" Type="http://schemas.openxmlformats.org/officeDocument/2006/relationships/image" Target="../media/image55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6.xml"/><Relationship Id="rId4" Type="http://schemas.openxmlformats.org/officeDocument/2006/relationships/image" Target="../media/image5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7.xml"/><Relationship Id="rId4" Type="http://schemas.openxmlformats.org/officeDocument/2006/relationships/image" Target="../media/image5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9.xml"/><Relationship Id="rId4" Type="http://schemas.openxmlformats.org/officeDocument/2006/relationships/image" Target="../media/image5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1.xml"/><Relationship Id="rId4" Type="http://schemas.openxmlformats.org/officeDocument/2006/relationships/image" Target="../media/image5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2.xml"/><Relationship Id="rId4" Type="http://schemas.openxmlformats.org/officeDocument/2006/relationships/image" Target="../media/image5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3.xml"/><Relationship Id="rId4" Type="http://schemas.openxmlformats.org/officeDocument/2006/relationships/image" Target="../media/image5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4.xml"/><Relationship Id="rId4" Type="http://schemas.openxmlformats.org/officeDocument/2006/relationships/image" Target="../media/image5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6.xml"/><Relationship Id="rId4" Type="http://schemas.openxmlformats.org/officeDocument/2006/relationships/image" Target="../media/image5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7.xml"/><Relationship Id="rId4" Type="http://schemas.openxmlformats.org/officeDocument/2006/relationships/image" Target="../media/image2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8.xml"/><Relationship Id="rId4" Type="http://schemas.openxmlformats.org/officeDocument/2006/relationships/image" Target="../media/image6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9.xml"/><Relationship Id="rId4" Type="http://schemas.openxmlformats.org/officeDocument/2006/relationships/image" Target="../media/image6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0.xml"/><Relationship Id="rId4" Type="http://schemas.openxmlformats.org/officeDocument/2006/relationships/image" Target="../media/image6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2.xml"/><Relationship Id="rId4" Type="http://schemas.openxmlformats.org/officeDocument/2006/relationships/image" Target="../media/image6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3.xml"/><Relationship Id="rId4" Type="http://schemas.openxmlformats.org/officeDocument/2006/relationships/image" Target="../media/image6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solidFill>
                  <a:srgbClr val="000000"/>
                </a:solidFill>
                <a:latin typeface="方正细倩简体"/>
                <a:ea typeface="方正细倩简体"/>
                <a:cs typeface="方正细倩简体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方正细倩简体"/>
                <a:ea typeface="方正细倩简体"/>
                <a:cs typeface="方正细倩简体"/>
              </a:rPr>
              <a:t>章 面向对象（上）</a:t>
            </a:r>
            <a:endParaRPr lang="zh-CN" altLang="zh-CN" b="1" dirty="0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85920" y="5010793"/>
            <a:ext cx="291592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面向对象思想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类与对象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封装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07331" y="5010793"/>
            <a:ext cx="310130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构造方法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this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关键字与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static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关键字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代码块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268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4980313"/>
            <a:ext cx="2429827" cy="145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面向对象的思想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270000" y="2025656"/>
            <a:ext cx="4551680" cy="25565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面向过程：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分析出解决问题所需要的步骤，然后用函数把这些步骤一一实现，使用的时候依次调用就可以了。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289040" y="1371600"/>
            <a:ext cx="45720" cy="490728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内容占位符 2"/>
          <p:cNvSpPr txBox="1">
            <a:spLocks/>
          </p:cNvSpPr>
          <p:nvPr/>
        </p:nvSpPr>
        <p:spPr>
          <a:xfrm>
            <a:off x="6756400" y="2015496"/>
            <a:ext cx="4551680" cy="25565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面向对象：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把构成问题的事务按照一定规则划分为多个独立的对象，然后通过调用对象的方法来解决问题。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F0A000E-57A6-4E78-AB2C-CF7CC416133E}" type="slidenum">
              <a:rPr lang="zh-CN" altLang="en-US" smtClean="0"/>
              <a:t>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面向对象的思想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5232400" y="1696720"/>
            <a:ext cx="6146800" cy="3769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面向对象是一种符合人类思维习惯的编程思想。现实生活中存在各种形态不同的事物，这些事物之间存在着各种各样的联系。在程序中使用对象映射现实中的事物，使用对象的关系描述事物之间的联系，这种思想就是面向对象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147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56" y="2050572"/>
            <a:ext cx="3752004" cy="2856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1C4E530-B648-48BD-BF4F-5D0FAE84AE2C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217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7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426" y="1836420"/>
            <a:ext cx="4008437" cy="352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面向对象的思想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2658426" y="2194560"/>
            <a:ext cx="3810000" cy="25704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面向对象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具有三大特性：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封装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继承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多态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F293DB5-92F0-4264-A763-B7805EDBA60A}" type="slidenum">
              <a:rPr lang="zh-CN" altLang="en-US" smtClean="0"/>
              <a:t>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71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面向对象的思想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595120" y="1676400"/>
            <a:ext cx="9804400" cy="3718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．封装性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封装是面向对象的核心思想，它有两层含义，一是指把对象的属性和行为看成是一个密不可分的整体，将这两者“封装”在一起（即封装在对象中）；另外一层含义指“信息隐藏”，将不想让外界知道的信息隐藏起来。例如，驾校的学员学开车，只需要知道如何操作汽车，无需知道汽车内部是如何工作的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D349F22-58A8-4B3E-AA69-A6B43999DE9B}" type="slidenum">
              <a:rPr lang="zh-CN" altLang="en-US" smtClean="0"/>
              <a:t>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953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面向对象的思想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595120" y="1381760"/>
            <a:ext cx="9804400" cy="4622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．继承性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继承性主要描述的是类与类之间的关系，通过继承，可以在无需重新编写原有类的情况下，对原有类的功能进行扩展。例如，有一个汽车类，该类描述了汽车的普通特性和功能。进一步再产生轿车类，而轿车类中不仅应该包含汽车的特性和功能，还应该增加轿车特有的功能，这时，可以让轿车类继承汽车类，在轿车类中单独添加轿车特性和方法就可以了。继承不仅增强了代码的复用性、提高开发效率，还降低了程序产生错误的可能性，为程序的维护以及扩展提供了便利。 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FE2F391-78B8-4D2E-9693-135A08BF8267}" type="slidenum">
              <a:rPr lang="zh-CN" altLang="en-US" smtClean="0"/>
              <a:t>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281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面向对象的思想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584960" y="1463040"/>
            <a:ext cx="9804400" cy="4145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．多态性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多态性指的是在一个类中定义的属性和方法被其它类继承后，它们可以具有不同的数据类型或表现出不同的行为，这使得同一个属性和方法在不同的类中具有不同的语义。例如，当听到“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 这个单词时，理发师的行为是剪发，演员的行为表现是停止表演，不同的对象，所表现的行为是不一样的。多态的特性使程序更抽象、便捷，有助于开发人员设计程序时分组协同开发。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3D8F260-863B-46B1-885C-D06F7F8F9EA5}" type="slidenum">
              <a:rPr lang="zh-CN" altLang="en-US" smtClean="0"/>
              <a:t>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261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类与对象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520082" y="1564640"/>
            <a:ext cx="5110480" cy="4145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在面向对象中，为了做到让程序对事物的描述与事物在现实中的形态保持一致，面向对象思想中提出了两个概念，即类和对象。在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程序中类和对象是最基本、最重要的单元。类表示某类群体的一些基本特征抽象，对象表示一个个具体的事物。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F129973-BF71-438E-979A-E40AD50A6F5F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880" y="1781174"/>
            <a:ext cx="3853180" cy="326834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346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类与对象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5238765" y="1710370"/>
            <a:ext cx="5476240" cy="3749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在上图中，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学生可以看作是一个类，小明、李华、大军都是学生类型的对象。类用于描述多个对象的共同特征，它是对象的模板。对象用于描述现实中的个体，它是类的实例。对象是根据类创建的，一个类可以对应多个对象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177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920" y="1764350"/>
            <a:ext cx="3325179" cy="369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6652C02-7014-42E5-9033-E0D6CF45BD83}" type="slidenum">
              <a:rPr lang="zh-CN" altLang="en-US" smtClean="0"/>
              <a:t>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419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类的定义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2311398" y="2082800"/>
            <a:ext cx="5212080" cy="3068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在面向对象的思想中最核心的就是对象，而创建对象的前提是需要定义一个类，类是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中一个重要的引用数据类型，也是组成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程序的基本要素，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所有的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程序都是基于类的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188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1311910"/>
            <a:ext cx="2911475" cy="46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A6290CD-94A6-4807-9CE8-083160B5E15A}" type="slidenum">
              <a:rPr lang="zh-CN" altLang="en-US" smtClean="0"/>
              <a:t>10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类的定义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534156" y="1717040"/>
            <a:ext cx="5059684" cy="3637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类是对象的抽象，用于描述一组对象的共同特征和行为。类中可以定义成员变量和成员方法，其中，成员变量用于描述对象的特征，成员变量也被称作对象的属性；成员方法用于描述对象的行为，可简称为方法。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7670800" y="1869440"/>
            <a:ext cx="3586480" cy="2997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类的定义格式如下所示：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成员变量；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成员方法；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071360" y="1351280"/>
            <a:ext cx="50800" cy="48564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E47872A-141F-4521-895D-28BB676B8249}" type="slidenum">
              <a:rPr lang="zh-CN" altLang="en-US" smtClean="0"/>
              <a:t>11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05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类的定义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534156" y="1198880"/>
            <a:ext cx="10200644" cy="182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根据上述格式定义一个学生类，成员变量包括姓名（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）、年龄（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）、性别（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sex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）；成员方法包括读书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read()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。学生类定义的示例代码如下所示。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479040" y="2926080"/>
            <a:ext cx="8483600" cy="3342640"/>
            <a:chOff x="2468880" y="2946400"/>
            <a:chExt cx="8483600" cy="3342640"/>
          </a:xfrm>
        </p:grpSpPr>
        <p:pic>
          <p:nvPicPr>
            <p:cNvPr id="41984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8880" y="2979738"/>
              <a:ext cx="8483600" cy="3309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3068316" y="2946400"/>
              <a:ext cx="7680964" cy="33426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Student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String name;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类型的变量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类型的变量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String  sex;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String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类型的变量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sex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read ()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void read() {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大家好，我是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+ name + ",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我在看书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!");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624EDEA-E307-4DB5-BE94-2A11F6ADE518}" type="slidenum">
              <a:rPr lang="zh-CN" altLang="en-US" smtClean="0"/>
              <a:t>12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443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6555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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脚下留心：局部变量与成员变量的不同</a:t>
            </a: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5364472" y="1788160"/>
            <a:ext cx="5699764" cy="3525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中，定义在</a:t>
            </a:r>
            <a:r>
              <a:rPr lang="zh-CN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类中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的变量被称为成员变量，定义在</a:t>
            </a:r>
            <a:r>
              <a:rPr lang="zh-CN" altLang="zh-CN" sz="24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方法中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的变量被称为局部变量。如果在某一个方法中定义的局部变量与成员变量同名，这种情况是允许的，此时，在方法中通过变量名访问到的是局部变量，而并非成员变量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208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933232"/>
            <a:ext cx="3310255" cy="3235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D24244F-AF4F-4FEC-98D7-DAFE4523E191}" type="slidenum">
              <a:rPr lang="zh-CN" altLang="en-US" smtClean="0"/>
              <a:t>13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20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6555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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脚下留心：局部变量与成员变量的不同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69440" y="1381761"/>
            <a:ext cx="8890000" cy="2713038"/>
            <a:chOff x="1706880" y="1371601"/>
            <a:chExt cx="8890000" cy="2713038"/>
          </a:xfrm>
        </p:grpSpPr>
        <p:pic>
          <p:nvPicPr>
            <p:cNvPr id="42189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6880" y="1371601"/>
              <a:ext cx="8890000" cy="271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2428240" y="1402080"/>
              <a:ext cx="7843520" cy="26517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Student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 = 30;       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类中定义的变量被称作成员变量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void read() {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 = 50;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方法内部定义的变量被称作局部变量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大家好，我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+ age + 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岁了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,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我在看书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!");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91920" y="4216400"/>
            <a:ext cx="10342880" cy="18186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上面的代码中，在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read 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方法中有一条打印语句，访问了变量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，此时访问的是局部变量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，也就是说当有另外一个程序调用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read 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方法时，输出的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值为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50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，而不是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FE37541-45D6-45CF-B897-0C599B052EFF}" type="slidenum">
              <a:rPr lang="zh-CN" altLang="en-US" smtClean="0"/>
              <a:t>14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75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686556" y="1645920"/>
            <a:ext cx="10170164" cy="3545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程序中可以使用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关键字创建对象，具体格式如下：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 对象名称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= null;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对象名称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= new 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上述格式中，创建对象分为声明对象和实例化对象两步，也可以直接通过下面的方式创建对象，具体格式如下：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 对象名称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= new 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50AE8D3-088B-4622-B605-91E20E94304F}" type="slidenum">
              <a:rPr lang="zh-CN" altLang="en-US" smtClean="0"/>
              <a:t>15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128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483360" y="1818640"/>
            <a:ext cx="10424160" cy="31394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例如，创建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类的实例对象，示例代码如下：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 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= new Student();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 Student()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类的一个实例对象，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 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则是声明了一个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类型的变量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。运算符 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”将新创建的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对象地址赋值给变量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，变量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引用的对象简称为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640909E-7207-4FBB-BA8A-31A2F8B68F7E}" type="slidenum">
              <a:rPr lang="zh-CN" altLang="en-US" smtClean="0"/>
              <a:t>16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67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43760" y="1564640"/>
            <a:ext cx="8625839" cy="4257040"/>
            <a:chOff x="2092960" y="1554480"/>
            <a:chExt cx="8625839" cy="4257040"/>
          </a:xfrm>
        </p:grpSpPr>
        <p:pic>
          <p:nvPicPr>
            <p:cNvPr id="4229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2960" y="1554480"/>
              <a:ext cx="8625839" cy="4257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2895600" y="1645920"/>
              <a:ext cx="7640320" cy="41656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Student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String name;       			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声明姓名属性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void read() {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大家好，我是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+ name + ",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我在看书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!");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 class Test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[]) {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Student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Student();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创建并实例化对象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43832" y="2256889"/>
            <a:ext cx="830997" cy="235417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对象创建示 例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BE8E900-34FE-40E1-A6A1-E9E27B3C3793}" type="slidenum">
              <a:rPr lang="zh-CN" altLang="en-US" smtClean="0"/>
              <a:t>17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095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71500" y="1432560"/>
            <a:ext cx="11051540" cy="1320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方法中实例化了一个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对象，对象名称为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关键字创建的对象是在堆内存分配空间。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对象的内存分配如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 descr="手机屏幕截图&#10;&#10;描述已自动生成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280" y="2823210"/>
            <a:ext cx="6466840" cy="313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12C904C-1C5E-4819-B577-100134DD765E}" type="slidenum">
              <a:rPr lang="zh-CN" altLang="en-US" smtClean="0"/>
              <a:t>18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93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219200" y="1534158"/>
            <a:ext cx="5379718" cy="4185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对象后，可以使用对象访问类中的某个属性或方法，对象属性和方法的访问通过“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”运算符实现，具体格式如下：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对象名称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属性名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对象名称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方法名</a:t>
            </a:r>
          </a:p>
        </p:txBody>
      </p:sp>
      <p:pic>
        <p:nvPicPr>
          <p:cNvPr id="4239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0" y="2100737"/>
            <a:ext cx="3536699" cy="305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6821884-A7C3-455F-8ACB-ACD984A8F095}" type="slidenum">
              <a:rPr lang="zh-CN" altLang="en-US" smtClean="0"/>
              <a:t>19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493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37638" y="1310638"/>
            <a:ext cx="8793482" cy="7620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接下来通过一个案例学习对象属性和方法的访问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26360" y="2306320"/>
            <a:ext cx="7731760" cy="2870199"/>
            <a:chOff x="2092960" y="2306320"/>
            <a:chExt cx="7597141" cy="2870199"/>
          </a:xfrm>
        </p:grpSpPr>
        <p:pic>
          <p:nvPicPr>
            <p:cNvPr id="42496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2960" y="2306320"/>
              <a:ext cx="7597141" cy="2870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656245" y="2438398"/>
              <a:ext cx="6924042" cy="2656841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	String name;       	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声明姓名属性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	void read() { 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	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大家好，我是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+ name);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	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}</a:t>
              </a: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8E1170E-FC83-48F5-955A-69D43296FD50}" type="slidenum">
              <a:rPr lang="zh-CN" altLang="en-US" smtClean="0"/>
              <a:t>20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762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869440" y="1605278"/>
            <a:ext cx="9184640" cy="4226562"/>
            <a:chOff x="1757680" y="1605278"/>
            <a:chExt cx="9184640" cy="4226562"/>
          </a:xfrm>
        </p:grpSpPr>
        <p:pic>
          <p:nvPicPr>
            <p:cNvPr id="42598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7680" y="1605278"/>
              <a:ext cx="9184640" cy="4226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148838" y="1605278"/>
              <a:ext cx="8793482" cy="422656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class Example01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	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		Student stu1 = new Student(); 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创建第一个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	Student stu2 = new Student(); 	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创建第二个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	stu1.name = 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小明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                 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为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stu1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属性赋值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	stu1.read();                  	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调用对象的方法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	stu2.name = 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小华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	stu2.read();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	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47CCCE3-539F-4260-97D6-E38F95BFDDF7}" type="slidenum">
              <a:rPr lang="zh-CN" altLang="en-US" smtClean="0"/>
              <a:t>21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359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205592" y="1544318"/>
            <a:ext cx="5567680" cy="40436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从运行结果可以看出，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对象在调用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read()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方法时，打印的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值不相同。这是因为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对象是两个完全独立的个体，它们分别拥有各自的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属性，对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属性进行赋值并不会影响到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属性的值。</a:t>
            </a:r>
          </a:p>
        </p:txBody>
      </p:sp>
      <p:pic>
        <p:nvPicPr>
          <p:cNvPr id="4270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07" y="2242977"/>
            <a:ext cx="3819083" cy="247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94F1066-709E-417A-A805-34AF6BD73368}" type="slidenum">
              <a:rPr lang="zh-CN" altLang="en-US" smtClean="0"/>
              <a:t>22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475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977" y="2312352"/>
            <a:ext cx="7207885" cy="3621088"/>
          </a:xfrm>
          <a:prstGeom prst="rect">
            <a:avLst/>
          </a:prstGeom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对象的创建与使用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76400" y="1432558"/>
            <a:ext cx="9845040" cy="136144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对象中的属性赋值后，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对象的内存变化如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145EA55-5934-4D51-96E2-53756CA72C90}" type="slidenum">
              <a:rPr lang="zh-CN" altLang="en-US" smtClean="0"/>
              <a:t>23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418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对象的引用传递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76400" y="1320798"/>
            <a:ext cx="9845040" cy="13512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类属于引用数据类型，引用数据类型就是指内存空间可以同时被多个栈内存引用。接下来通过一个案例为大家详细讲解对象的引用传递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01520" y="2698433"/>
            <a:ext cx="9296400" cy="3153727"/>
            <a:chOff x="1838960" y="2830513"/>
            <a:chExt cx="9296400" cy="3153727"/>
          </a:xfrm>
        </p:grpSpPr>
        <p:pic>
          <p:nvPicPr>
            <p:cNvPr id="42803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8960" y="2830513"/>
              <a:ext cx="9296400" cy="31537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534918" y="2915918"/>
              <a:ext cx="8361680" cy="303784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	String name;       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声明姓名属性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           	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声明年龄属性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	void read() { 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	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大家好，我是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"+name+"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，年龄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"+age);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	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93401C6-7880-459A-A919-5FA962EC88F0}" type="slidenum">
              <a:rPr lang="zh-CN" altLang="en-US" smtClean="0"/>
              <a:t>24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754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对象的引用传递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940560" y="1483358"/>
            <a:ext cx="9174480" cy="4490723"/>
            <a:chOff x="1940560" y="1483358"/>
            <a:chExt cx="9174480" cy="4490723"/>
          </a:xfrm>
        </p:grpSpPr>
        <p:pic>
          <p:nvPicPr>
            <p:cNvPr id="42905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0560" y="1483359"/>
              <a:ext cx="9174480" cy="4490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616198" y="1483358"/>
              <a:ext cx="8097520" cy="449072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class Example02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		Student stu1 = new Student ();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stu1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对象并实例化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		Student stu2 = null;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stu2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对象，但不对其进行实例化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		stu2 = stu1;                       // stu1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给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stu2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分配空间使用权。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		stu1.name = 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小明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    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为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stu1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属性赋值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		stu1.age = 20;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		stu2.age = 50;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		stu1.read();                  	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调用对象的方法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		stu2.read();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19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0D50EEC-B75E-4965-8364-AAB975D83F52}" type="slidenum">
              <a:rPr lang="zh-CN" altLang="en-US" smtClean="0"/>
              <a:t>25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853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477" y="2546350"/>
            <a:ext cx="7050405" cy="347853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对象的引用传递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341118"/>
            <a:ext cx="9845040" cy="10833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对象引用传递的内存分配如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。首先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声明对象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并为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对象开辟空间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DC1CB00-F539-4BA7-998A-3E849E4B8642}" type="slidenum">
              <a:rPr lang="zh-CN" altLang="en-US" smtClean="0"/>
              <a:t>26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92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对象的引用传递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452878"/>
            <a:ext cx="9845040" cy="8432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然后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对象分配使用权，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指向同一内存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453640"/>
            <a:ext cx="6492240" cy="28905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DFA747D-4E03-4F6B-9A35-D60CF484365B}" type="slidenum">
              <a:rPr lang="zh-CN" altLang="en-US" smtClean="0"/>
              <a:t>27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466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对象的引用传递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452878"/>
            <a:ext cx="9845040" cy="8432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对象为属性赋值。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280" y="2296160"/>
            <a:ext cx="5669280" cy="31165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9BA02CB-AC6E-4D82-A8A9-29721C6899F8}" type="slidenum">
              <a:rPr lang="zh-CN" altLang="en-US" smtClean="0"/>
              <a:t>28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104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对象的引用传递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452878"/>
            <a:ext cx="9845040" cy="8432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属性的值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680" y="2212340"/>
            <a:ext cx="7161530" cy="35280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F1957DE-52C6-4ADB-9585-7D0A57E4F4F9}" type="slidenum">
              <a:rPr lang="zh-CN" altLang="en-US" smtClean="0"/>
              <a:t>29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058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对象的引用传递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164549" y="2077532"/>
            <a:ext cx="3992880" cy="30073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一个栈内存空间只能指向一个堆内存空间，如果想要再指向其它堆内存空间，就必须先断开已有的指向才能分配新的指向。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88259" y="1717634"/>
            <a:ext cx="2834640" cy="3676730"/>
            <a:chOff x="2311398" y="1676344"/>
            <a:chExt cx="2834640" cy="367673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      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4596A80-4F18-4299-B126-53791D5A64DD}" type="slidenum">
              <a:rPr lang="zh-CN" altLang="en-US" smtClean="0"/>
              <a:t>30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095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访问控制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452878"/>
            <a:ext cx="9845040" cy="19710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针对类、成员方法和属性，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提供了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种访问控制权限，分别是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private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default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protected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。这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种访问控制权限按级别由小到大依次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排列，如下图。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240" y="3423916"/>
            <a:ext cx="7399020" cy="18999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20A5359-F9D2-4B2B-B5F7-74A50918DFB5}" type="slidenum">
              <a:rPr lang="zh-CN" altLang="en-US" smtClean="0"/>
              <a:t>31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669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访问控制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452878"/>
            <a:ext cx="9845040" cy="44500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种访问控制权限，具体介绍如下。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private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当前类访问级别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private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属于私有访问权限，用于修饰类的属性和方法。类的成员一旦使用了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private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关键字修饰，则该成员只能在本类中进行访问。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default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：如果一个类中的属性或方法没有任何的访问权限声明，则该属性或方法就是默认的访问权限，默认的访问权限可以被本包中的其它类访问，但是不能被其他包的类访问。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2560EBF-2DF2-4493-8E11-F9F7F0879907}" type="slidenum">
              <a:rPr lang="zh-CN" altLang="en-US" smtClean="0"/>
              <a:t>32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927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访问控制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981198"/>
            <a:ext cx="9946640" cy="261112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protected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：属于受保护的访问权限。一个类中的成员使用了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protected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访问权限，则只能被本包及不同包的子类访问。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属于公共访问权限。如果一个类中的成员使用了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访问权限，则该成员可以在所有类中被访问，不管是否在同一包中。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333C677-CAFA-4D89-BA3A-21F9D4EF6A04}" type="slidenum">
              <a:rPr lang="zh-CN" altLang="en-US" smtClean="0"/>
              <a:t>33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880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访问控制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656080"/>
            <a:ext cx="9946640" cy="86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下面通过一张表总结上述的访问控制权限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703456"/>
              </p:ext>
            </p:extLst>
          </p:nvPr>
        </p:nvGraphicFramePr>
        <p:xfrm>
          <a:off x="2143760" y="2656364"/>
          <a:ext cx="8808719" cy="28503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1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00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访问范围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private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default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protected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public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0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同一类中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0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同一包中的类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0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不同包的子类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√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0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全局范围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 dirty="0">
                          <a:effectLst/>
                        </a:rPr>
                        <a:t>√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32DF741-96A6-40D2-A277-00139A2869A6}" type="slidenum">
              <a:rPr lang="zh-CN" altLang="en-US" smtClean="0"/>
              <a:t>34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505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访问控制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381760"/>
            <a:ext cx="9946640" cy="86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下面通过一段代码演示四种访问控制权限修饰符的用法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11398" y="2123440"/>
            <a:ext cx="8356602" cy="3982720"/>
            <a:chOff x="2311398" y="2123440"/>
            <a:chExt cx="8356602" cy="3982720"/>
          </a:xfrm>
        </p:grpSpPr>
        <p:pic>
          <p:nvPicPr>
            <p:cNvPr id="45261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2123440"/>
              <a:ext cx="8356602" cy="3982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936240" y="2225040"/>
              <a:ext cx="7731760" cy="37185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 class Test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public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		//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aa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可以被所有的类访问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protected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boolean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bb; 		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可以被所有子类以及本包的类使用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void cc() { 			//default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访问权限，能在本包范围内使用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包访问权限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//private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权限的内部类，即这是私有的内部类，只能在本类使用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InnerClass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6A9CD56-3DFA-497C-92B9-4D3337C0CFD8}" type="slidenum">
              <a:rPr lang="zh-CN" altLang="en-US" smtClean="0"/>
              <a:t>35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154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访问控制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310640" y="1117600"/>
            <a:ext cx="10322560" cy="1849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Test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只能使用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修饰或者不写修饰符。局部成员是没有访问权限控制的，因为局部成员只在其所在的作用域内起作用，不可能被其他类访问到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错误示例代码如下所示：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77440" y="2763520"/>
            <a:ext cx="8473440" cy="3627120"/>
            <a:chOff x="2275840" y="2804160"/>
            <a:chExt cx="8473440" cy="3627120"/>
          </a:xfrm>
        </p:grpSpPr>
        <p:pic>
          <p:nvPicPr>
            <p:cNvPr id="45363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5840" y="2846388"/>
              <a:ext cx="8473440" cy="35848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890517" y="2804160"/>
              <a:ext cx="7661193" cy="36271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 class Test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 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public </a:t>
              </a:r>
              <a:r>
                <a:rPr lang="en-US" altLang="zh-CN" sz="1400" dirty="0" err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400" dirty="0" err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aa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	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错误，局部变量没有访问权限控制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protected </a:t>
              </a:r>
              <a:r>
                <a:rPr lang="en-US" altLang="zh-CN" sz="1400" dirty="0" err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boolean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bb; 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错误，局部变量没有访问权限控制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void cc() { 			//default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访问权限，能在本包范围内使用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包访问权限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private class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InnerClass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{  //private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权限的内部类，即这是私有的内部类，只能在本类使用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B020C37-43C8-4843-AE16-EFE617086DB2}" type="slidenum">
              <a:rPr lang="zh-CN" altLang="en-US" smtClean="0"/>
              <a:t>36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296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访问控制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055273" y="1688151"/>
            <a:ext cx="5516880" cy="3576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如果一个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源文件中定义的所有类都没有使用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修饰，那么这个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源文件的文件名可以是一切合法的文件名；如果一个源文件中定义了一个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修饰的类，那么这个源文件的文件名必须与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修饰的类名相同。</a:t>
            </a:r>
          </a:p>
        </p:txBody>
      </p:sp>
      <p:pic>
        <p:nvPicPr>
          <p:cNvPr id="4546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899" y="1594564"/>
            <a:ext cx="2489200" cy="398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CACF49D-FAF4-4AA6-A2E4-1A71B03BB0E3}" type="slidenum">
              <a:rPr lang="zh-CN" altLang="en-US" smtClean="0"/>
              <a:t>37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117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4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54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54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为什么要封装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245360" y="1798318"/>
            <a:ext cx="5161280" cy="3464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面向对象的思想中，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封装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是指一种将抽象性函数式接口的实现细节部分包装、隐藏起来的方法。封装可以被认为是一个保护屏障，防止本类的代码和数据被外部类定义的代码随机访问。</a:t>
            </a:r>
          </a:p>
        </p:txBody>
      </p:sp>
      <p:pic>
        <p:nvPicPr>
          <p:cNvPr id="4556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848" y="1537015"/>
            <a:ext cx="2255837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B4CB901-540F-4FFD-BBF0-E6E855C18995}" type="slidenum">
              <a:rPr lang="zh-CN" altLang="en-US" smtClean="0"/>
              <a:t>38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195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5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为什么要封装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565400" y="1361437"/>
            <a:ext cx="8006079" cy="4907282"/>
            <a:chOff x="2407920" y="1361438"/>
            <a:chExt cx="8006079" cy="4907282"/>
          </a:xfrm>
        </p:grpSpPr>
        <p:pic>
          <p:nvPicPr>
            <p:cNvPr id="45670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7920" y="1361438"/>
              <a:ext cx="8006079" cy="4907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966720" y="1361438"/>
              <a:ext cx="7203440" cy="490728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	String name;       	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声明姓名属性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	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           	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声明年龄属性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	void read() {  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大家好，我是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"+name+"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，年龄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"+age);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public class Example03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		Student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Student();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创建学生对象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		stu.name = 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	              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为对象的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属性赋值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		</a:t>
              </a:r>
              <a:r>
                <a:rPr lang="en-US" altLang="zh-CN" sz="1400" dirty="0" err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stu.age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-18;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                 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为对象的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属性赋值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stu.read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                       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调用对象的方法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86731" y="2189952"/>
            <a:ext cx="830997" cy="325024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 使 用 封 装 示 例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4E90742-505A-4D4C-9139-B3ABF29E6539}" type="slidenum">
              <a:rPr lang="zh-CN" altLang="en-US" smtClean="0"/>
              <a:t>39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933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为什么要封装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595120" y="1869440"/>
            <a:ext cx="9530080" cy="3007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行代码将年龄赋值为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-18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岁，这在程序中是不会有任何问题的，因为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的值可以取负数。但是在现实中，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-18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明显是一个不合理的年龄值。为了避免这种错误的发生，在设计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类时，应该对成员变量的访问作出一些限定，不允许外界随意访问，这就需要实现类的封装。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03A8388-34FE-4D9D-A001-C3EB77781A3D}" type="slidenum">
              <a:rPr lang="zh-CN" altLang="en-US" smtClean="0"/>
              <a:t>40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302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如何实现封装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747520" y="1493520"/>
            <a:ext cx="9398000" cy="4165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类的封装是指将对象的状态信息隐藏在对象内部，不允许外部程序直接访问对象的内部信息，而是通过该类提供的方法实现对内部信息的操作访问。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开发中，在定义一个类时，将类中的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属性私有化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，即使用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private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关键字修饰类的属性，被私有化的属性只能在类中被访问。如果外界想要访问私有属性，则必须通过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方法设置和获取属性值。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7B73BCA-F214-4870-AAB9-AEB44AE9EC30}" type="slidenum">
              <a:rPr lang="zh-CN" altLang="en-US" smtClean="0"/>
              <a:t>41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68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如何实现封装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794000" y="1442720"/>
            <a:ext cx="6634479" cy="4632960"/>
            <a:chOff x="2794000" y="1442720"/>
            <a:chExt cx="6634479" cy="4632960"/>
          </a:xfrm>
        </p:grpSpPr>
        <p:pic>
          <p:nvPicPr>
            <p:cNvPr id="45773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4000" y="1442720"/>
              <a:ext cx="6634479" cy="46329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3647440" y="1534160"/>
              <a:ext cx="5557520" cy="4541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private String name;       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声明姓名属性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AutoNum type="arabicPlain" startAt="3"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           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声明年龄属性</a:t>
              </a:r>
              <a:endPara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AutoNum type="arabicPlain" startAt="3"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 String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getName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 {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AutoNum type="arabicPlain" startAt="3"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return name;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 public void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setName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(String name)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  this.name = name;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 public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getAge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     return age;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7" name="TextBox 4"/>
          <p:cNvSpPr txBox="1"/>
          <p:nvPr/>
        </p:nvSpPr>
        <p:spPr>
          <a:xfrm>
            <a:off x="1617641" y="2887040"/>
            <a:ext cx="830997" cy="18508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封 装 示 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13F5489-6971-487B-A893-DD498E55CE8C}" type="slidenum">
              <a:rPr lang="zh-CN" altLang="en-US" smtClean="0"/>
              <a:t>42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464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如何实现封装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311398" y="1422400"/>
            <a:ext cx="8183882" cy="4460240"/>
            <a:chOff x="2311398" y="1422400"/>
            <a:chExt cx="8183882" cy="4460240"/>
          </a:xfrm>
        </p:grpSpPr>
        <p:pic>
          <p:nvPicPr>
            <p:cNvPr id="4587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422400"/>
              <a:ext cx="8183881" cy="4460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844800" y="1503680"/>
              <a:ext cx="7650480" cy="41656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public void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setAge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   if(age&lt;=0){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您输入的年龄有误！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    } else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age;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  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19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20    public void read() {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21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大家好，我是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"+name+"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，年龄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"+age);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22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23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14B8F16-F196-4993-9506-301BF6E391BC}" type="slidenum">
              <a:rPr lang="zh-CN" altLang="en-US" smtClean="0"/>
              <a:t>43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214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如何实现封装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468880" y="1910080"/>
            <a:ext cx="8514079" cy="3403599"/>
            <a:chOff x="2468880" y="1910080"/>
            <a:chExt cx="8514079" cy="3403599"/>
          </a:xfrm>
        </p:grpSpPr>
        <p:pic>
          <p:nvPicPr>
            <p:cNvPr id="45977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8880" y="1910080"/>
              <a:ext cx="8514079" cy="34035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778758" y="2052320"/>
              <a:ext cx="8087360" cy="30581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24 public class Example04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25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26		Student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Student();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创建学生对象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27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stu.setName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	      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为对象的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属性赋值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28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stu.setAge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(-18);	       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为对象的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属性赋值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29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stu.read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         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调用对象的方法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30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31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F911BDC-CF3D-4032-BE6E-9CF513E90B8E}" type="slidenum">
              <a:rPr lang="zh-CN" altLang="en-US" smtClean="0"/>
              <a:t>44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214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如何实现封装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381760" y="1249680"/>
            <a:ext cx="10058400" cy="2641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上述代码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private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关键字将属性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声明为私有变量，并对外界提供公有的访问方法，其中，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getName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getAge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方法用于获取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属性的值，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setName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setAge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方法方法用于设置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属性的值。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755" y="3749040"/>
            <a:ext cx="6480810" cy="2153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29B5CE1-0E74-491C-B672-A21468B894AA}" type="slidenum">
              <a:rPr lang="zh-CN" altLang="en-US" smtClean="0"/>
              <a:t>45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130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899920" y="1534159"/>
            <a:ext cx="5770880" cy="4124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实例化一个对象后，如果要为这个对象中的属性赋值，则必须通过直接访问对象的属性或调用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方法才可以，如果需要在实例化对象的时为这个对象的属性赋值，可以通过构造方法实现。构造方法（也被成为构造器）是类的一个特殊成员方法，在类实例化对象时自动调用。</a:t>
            </a:r>
          </a:p>
        </p:txBody>
      </p:sp>
      <p:pic>
        <p:nvPicPr>
          <p:cNvPr id="4608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255" y="1763871"/>
            <a:ext cx="2674937" cy="366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50B430A-66E7-4C54-8D98-F8E08C6184DF}" type="slidenum">
              <a:rPr lang="zh-CN" altLang="en-US" smtClean="0"/>
              <a:t>46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163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定义构造方法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879600" y="1991359"/>
            <a:ext cx="9367520" cy="29870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构造方法是一个特殊的成员方法，在定义时，有以下几点需要注意： 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）构造方法的名称必须与类名一致。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）构造方法名称前不能有任何返回值类型的声明。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）不能在构造方法中使用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return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返回一个值，但是可以单独写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return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语句作为方法的结束。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C4D2EC9-5FE7-4687-9D36-A425C1917B60}" type="slidenum">
              <a:rPr lang="zh-CN" altLang="en-US" smtClean="0"/>
              <a:t>47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80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定义构造方法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879600" y="1168401"/>
            <a:ext cx="9367520" cy="7823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接下来通过一个案例演示构造方法的定义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29840" y="1869441"/>
            <a:ext cx="7924799" cy="4328159"/>
            <a:chOff x="2529840" y="1869441"/>
            <a:chExt cx="7924799" cy="4328159"/>
          </a:xfrm>
        </p:grpSpPr>
        <p:pic>
          <p:nvPicPr>
            <p:cNvPr id="4618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840" y="1869442"/>
              <a:ext cx="7924799" cy="4328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2529841" y="1869441"/>
              <a:ext cx="7924798" cy="432815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	public Student() {  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调用了无参构造方法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public class Example05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                    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声明对象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...");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                        Student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null;           	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                   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实例化对象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...");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                    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Student();     	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实例化对象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9058F5B-3338-4DC4-8EC9-82EC44D3FEE3}" type="slidenum">
              <a:rPr lang="zh-CN" altLang="en-US" smtClean="0"/>
              <a:t>48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707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定义构造方法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53538" y="1259838"/>
            <a:ext cx="9679942" cy="17170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在一个类中除了定义无参的构造方法外，还可以定义有参的构造方法，通过有参的构造方法可以实现对属性的赋值。接下来演示有参构造方法的定义与调用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36720" y="2788285"/>
            <a:ext cx="4805680" cy="3388995"/>
            <a:chOff x="4053840" y="2727325"/>
            <a:chExt cx="4805680" cy="3388995"/>
          </a:xfrm>
        </p:grpSpPr>
        <p:pic>
          <p:nvPicPr>
            <p:cNvPr id="46285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3840" y="2727325"/>
              <a:ext cx="4805680" cy="3388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4518658" y="2885439"/>
              <a:ext cx="4117342" cy="306832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private String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private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lvl="0" eaLnBrk="1" hangingPunct="1">
                <a:lnSpc>
                  <a:spcPct val="150000"/>
                </a:lnSpc>
                <a:spcBef>
                  <a:spcPct val="0"/>
                </a:spcBef>
                <a:buAutoNum type="arabicPlain" startAt="4"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 Student(String n,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a) </a:t>
              </a:r>
            </a:p>
            <a:p>
              <a:pPr lvl="0" eaLnBrk="1" hangingPunct="1">
                <a:lnSpc>
                  <a:spcPct val="150000"/>
                </a:lnSpc>
                <a:spcBef>
                  <a:spcPct val="0"/>
                </a:spcBef>
                <a:buAutoNum type="arabicPlain" startAt="4"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  name = n;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   age = a;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F08E9C8-18E8-45D1-B101-E0808C1E711B}" type="slidenum">
              <a:rPr lang="zh-CN" altLang="en-US" smtClean="0"/>
              <a:t>49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556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定义构造方法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524758" y="1595118"/>
            <a:ext cx="8346442" cy="4277362"/>
            <a:chOff x="2311398" y="1595118"/>
            <a:chExt cx="8346442" cy="4277362"/>
          </a:xfrm>
        </p:grpSpPr>
        <p:pic>
          <p:nvPicPr>
            <p:cNvPr id="46387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595118"/>
              <a:ext cx="8346442" cy="4277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715258" y="1595118"/>
              <a:ext cx="7759702" cy="427736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public void read(){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:"+name+",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年龄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:"+age);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public class Example06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      Student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",18);   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实例化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stu.read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2162FC1-3431-4793-B21F-E960061632D5}" type="slidenum">
              <a:rPr lang="zh-CN" altLang="en-US" smtClean="0"/>
              <a:t>50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959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定义构造方法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53538" y="1422398"/>
            <a:ext cx="9679942" cy="80264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 descr="手机屏幕截图&#10;&#10;描述已自动生成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155" y="2649537"/>
            <a:ext cx="6930707" cy="2298383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E3C6943-BE9E-498C-A27A-F8775386003F}" type="slidenum">
              <a:rPr lang="zh-CN" altLang="en-US" smtClean="0"/>
              <a:t>51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71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构造方法的重载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58338" y="1971036"/>
            <a:ext cx="5438142" cy="29260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与普通方法一样，构造方法也可以重载，在一个类中可以定义多个构造方法，只要每个构造方法的参数或参数个数不同即可。在创建对象时，可以通过调用不同的构造方法为不同的属性赋值。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4648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360" y="1729896"/>
            <a:ext cx="3038475" cy="3146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6C74800-7DDE-497D-8831-E33ACFCDB195}" type="slidenum">
              <a:rPr lang="zh-CN" altLang="en-US" smtClean="0"/>
              <a:t>52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803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构造方法的重载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88160" y="1381760"/>
            <a:ext cx="3362960" cy="1432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接下来通过一个案例学习构造方法的重载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81699" y="1381760"/>
            <a:ext cx="4749800" cy="4683760"/>
            <a:chOff x="5981699" y="1381760"/>
            <a:chExt cx="4749800" cy="4683760"/>
          </a:xfrm>
        </p:grpSpPr>
        <p:pic>
          <p:nvPicPr>
            <p:cNvPr id="46592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1699" y="1381760"/>
              <a:ext cx="4749799" cy="4683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6563360" y="1402080"/>
              <a:ext cx="4168139" cy="45618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private String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private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  public Student() {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   public Student(String n)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        name = n;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public Student(String n,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            name = n;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        age = a;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  }</a:t>
              </a: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8614498-46E0-4D74-8671-A043A0B0AE22}" type="slidenum">
              <a:rPr lang="zh-CN" altLang="en-US" smtClean="0"/>
              <a:t>53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89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构造方法的重载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235200" y="1300480"/>
            <a:ext cx="8707120" cy="4998720"/>
            <a:chOff x="2123440" y="1310640"/>
            <a:chExt cx="8707120" cy="4998720"/>
          </a:xfrm>
        </p:grpSpPr>
        <p:pic>
          <p:nvPicPr>
            <p:cNvPr id="46694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3440" y="1310640"/>
              <a:ext cx="8707120" cy="49987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631440" y="1310640"/>
              <a:ext cx="7995920" cy="4998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public void read(){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:"+name+",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年龄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:"+age);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public class Example07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        Student stu1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19         Student stu2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",18);  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实例化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20         stu1.read();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21         stu2.read();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22  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23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D92CE65-CA87-4850-A337-039D832614E5}" type="slidenum">
              <a:rPr lang="zh-CN" altLang="en-US" smtClean="0"/>
              <a:t>54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02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多学一招：默认构造方法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78000" y="1940560"/>
            <a:ext cx="5760720" cy="3129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中的每个类都至少有一个构造方法，如果在一个类中没有定义构造方法，系统会自动为这个类创建一个默认的构造方法，这个默认的构造方法没有参数，方法体中没有任何代码，即什么也不做。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pic>
        <p:nvPicPr>
          <p:cNvPr id="4679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618" y="1502092"/>
            <a:ext cx="2308843" cy="420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0D18BF9-AF62-45EB-B43F-88425E3950B0}" type="slidenum">
              <a:rPr lang="zh-CN" altLang="en-US" smtClean="0"/>
              <a:t>55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49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79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多学一招：默认构造方法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34160" y="1402080"/>
            <a:ext cx="10129520" cy="4683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下面程序中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类的两种写法，效果是完全一样的。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第一种写法：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			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第二种写法：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class Student {	                        class Student{</a:t>
            </a:r>
            <a:endParaRPr lang="zh-CN" altLang="zh-CN" sz="18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}						public Student(){</a:t>
            </a:r>
            <a:endParaRPr lang="zh-CN" altLang="zh-CN" sz="18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第二种写法：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				</a:t>
            </a:r>
            <a:r>
              <a:rPr lang="zh-CN" altLang="en-US" sz="18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｝</a:t>
            </a:r>
            <a:endParaRPr lang="zh-CN" altLang="zh-CN" sz="18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					}</a:t>
            </a:r>
            <a:endParaRPr lang="zh-CN" altLang="zh-CN" sz="18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对于第一种写法，类中虽然没有声明构造方法，但仍然可以用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new Student()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语句创建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类的实例对象，在实例化对象时调用默认构造方法。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1A933D5-19E5-4C17-AB87-09E7482197DB}" type="slidenum">
              <a:rPr lang="zh-CN" altLang="en-US" smtClean="0"/>
              <a:t>56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361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多学一招：默认构造方法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88160" y="1696720"/>
            <a:ext cx="9479280" cy="3657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上面的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类中定义了一个有参构造方法，这时系统就不再提供默认的构造方法。接下来再编写一个测试程序调用上面的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public class Example08 { </a:t>
            </a:r>
            <a:endParaRPr lang="zh-CN" altLang="zh-CN" sz="20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	public static void main(String[] </a:t>
            </a:r>
            <a:r>
              <a:rPr lang="en-US" altLang="zh-CN" sz="2000" dirty="0" err="1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args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) {</a:t>
            </a:r>
            <a:endParaRPr lang="zh-CN" altLang="zh-CN" sz="20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		Student </a:t>
            </a:r>
            <a:r>
              <a:rPr lang="en-US" altLang="zh-CN" sz="2000" dirty="0" err="1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= new Student(); 	// </a:t>
            </a:r>
            <a:r>
              <a:rPr lang="zh-CN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实例化 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对象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	}</a:t>
            </a:r>
            <a:endParaRPr lang="zh-CN" altLang="zh-CN" sz="20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}</a:t>
            </a:r>
            <a:endParaRPr lang="zh-CN" altLang="zh-CN" sz="20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1F8DC60-8B14-4FAC-ADB0-00239BD571F0}" type="slidenum">
              <a:rPr lang="zh-CN" altLang="en-US" smtClean="0"/>
              <a:t>57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40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多学一招：默认构造方法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60880" y="1696720"/>
            <a:ext cx="8788400" cy="3657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编译器提示无法将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类的无参构造方应用到有参构造方法，原因是调用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new Student 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类的实例对象时，需要调用无参构造方法，而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类中定义了一个有参的构造方法，系统不再提供无参的构造方法。为了避免上面的错误，在一个类中如果定义了有参的构造方法，最好再定义一个无参的构造方法。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需要注意的是，构造方法通常使用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public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进行修饰。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CA2B3A6-DC64-438F-93CE-1A7EFF30423B}" type="slidenum">
              <a:rPr lang="zh-CN" altLang="en-US" smtClean="0"/>
              <a:t>58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79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025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0" y="1656080"/>
            <a:ext cx="9936480" cy="3474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开发中，当成员变量与局部变量发生重名问题时，需要使用到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关键字分辨成员变量与局部变量，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关键字语法比较灵活，其主要作用主要有以下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种。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关键字调用本类中的属性。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关键字调用成员方法。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关键字调用本类的构造方法。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70CA611-6E1E-4AEA-9D81-217275B5D9AB}" type="slidenum">
              <a:rPr lang="zh-CN" altLang="en-US" smtClean="0"/>
              <a:t>59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801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调用本类中的属性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22400" y="1391920"/>
            <a:ext cx="4135120" cy="2468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类的构造方法中，如果参数名称与类属性名称相同，则会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导致成员变量和局部变量的名称冲突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837238" y="1300480"/>
            <a:ext cx="5501323" cy="5029200"/>
            <a:chOff x="5837238" y="1300480"/>
            <a:chExt cx="5501323" cy="5029200"/>
          </a:xfrm>
        </p:grpSpPr>
        <p:pic>
          <p:nvPicPr>
            <p:cNvPr id="46899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7238" y="1315720"/>
              <a:ext cx="5501323" cy="5013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6217921" y="1300480"/>
              <a:ext cx="5120640" cy="50292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 private String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 private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定义构造方法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   public Student(String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      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 = name;</a:t>
              </a:r>
              <a:endParaRPr lang="zh-CN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       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 = age;</a:t>
              </a:r>
              <a:endParaRPr lang="zh-CN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   public String read(){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     return 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:"+name+",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年龄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31D1D2D-CAAC-4762-B2EB-CED9342708D4}" type="slidenum">
              <a:rPr lang="zh-CN" altLang="en-US" smtClean="0"/>
              <a:t>60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66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调用本类中的属性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926080" y="2072640"/>
            <a:ext cx="7335520" cy="3159760"/>
            <a:chOff x="2854960" y="1991360"/>
            <a:chExt cx="6522720" cy="2763520"/>
          </a:xfrm>
        </p:grpSpPr>
        <p:pic>
          <p:nvPicPr>
            <p:cNvPr id="47001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4960" y="1991360"/>
              <a:ext cx="6522720" cy="2763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3735561" y="2247844"/>
              <a:ext cx="5567680" cy="2311547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public class Example09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      Student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 18);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stu.read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D380F31-CC82-4DA7-AD62-E10E5E5E07AB}" type="slidenum">
              <a:rPr lang="zh-CN" altLang="en-US" smtClean="0"/>
              <a:t>61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27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调用本类中的属性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44320" y="1391920"/>
            <a:ext cx="9906000" cy="883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733" y="2484120"/>
            <a:ext cx="6483667" cy="217932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57732B4-580E-4555-B762-FC67498C37AA}" type="slidenum">
              <a:rPr lang="zh-CN" altLang="en-US" smtClean="0"/>
              <a:t>62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405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调用本类中的属性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103120" y="1757680"/>
            <a:ext cx="9011920" cy="3068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从运行结果可以看出，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对象姓名为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null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，年龄为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，这表明构造方法中的赋值并没有成功。这是因为参数名称与对象成员变量名称相同，编译器无法确定哪个名称是当前对象的属性。为了解决这个问题，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提供了关键字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指代当前对象，通过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可以访问当前对象的成员。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B775719-F6E7-4D47-A940-C860807B22E0}" type="slidenum">
              <a:rPr lang="zh-CN" altLang="en-US" smtClean="0"/>
              <a:t>63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40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调用本类中的属性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91360" y="1346200"/>
            <a:ext cx="9011920" cy="782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关键字指定当前对象属性。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093718" y="2194561"/>
            <a:ext cx="6517642" cy="3434080"/>
            <a:chOff x="2311398" y="2194561"/>
            <a:chExt cx="6517642" cy="3434080"/>
          </a:xfrm>
        </p:grpSpPr>
        <p:pic>
          <p:nvPicPr>
            <p:cNvPr id="47104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2194561"/>
              <a:ext cx="6517642" cy="3434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3454400" y="2250440"/>
              <a:ext cx="4765040" cy="32969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 private String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 private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定义构造方法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   public Student(String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  this.name =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A2AFEE1-D84A-4400-A407-8F853B002DEF}" type="slidenum">
              <a:rPr lang="zh-CN" altLang="en-US" smtClean="0"/>
              <a:t>64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649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调用本类中的属性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743200" y="1574800"/>
            <a:ext cx="7447280" cy="4307839"/>
            <a:chOff x="2052320" y="1574800"/>
            <a:chExt cx="7447280" cy="4307839"/>
          </a:xfrm>
        </p:grpSpPr>
        <p:pic>
          <p:nvPicPr>
            <p:cNvPr id="47206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2320" y="1574800"/>
              <a:ext cx="7447280" cy="43078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3261360" y="1671320"/>
              <a:ext cx="5636259" cy="40182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public String read(){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     return 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:"+name+",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年龄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public class Example10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      Student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 18);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stu.read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59EBE96-5352-4BD9-B32F-B7D094BB9A89}" type="slidenum">
              <a:rPr lang="zh-CN" altLang="en-US" smtClean="0"/>
              <a:t>65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505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调用本类中的属性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91360" y="1346200"/>
            <a:ext cx="9011920" cy="1722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在构造方法之中，使用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关键字明确标识出了类中的两个属性“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this.name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”和“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this.age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”，所以在进行赋值操作时不会产生歧义。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 descr="手机屏幕截图&#10;&#10;描述已自动生成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063" y="3408680"/>
            <a:ext cx="6620034" cy="219964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8A173EF-3969-4248-BDCA-76D309C3EF3A}" type="slidenum">
              <a:rPr lang="zh-CN" altLang="en-US" smtClean="0"/>
              <a:t>66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723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调用成员方法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915920" y="1508760"/>
            <a:ext cx="7203440" cy="4272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关键字调用成员方法，具体示例代码如下：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Student {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public void </a:t>
            </a:r>
            <a:r>
              <a:rPr lang="en-US" altLang="zh-CN" sz="20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openMouth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 {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...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}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public void read() {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en-US" altLang="zh-CN" sz="20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this.openMouth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();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}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4D284CF-A8C8-4D6D-B588-DEB49F17A952}" type="slidenum">
              <a:rPr lang="zh-CN" altLang="en-US" smtClean="0"/>
              <a:t>67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630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361440" y="1203960"/>
            <a:ext cx="9977120" cy="236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构造方法是在实例化对象时被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虚拟机自动调用，在程序中不能像调用其他成员方法一样调用构造方法，但可以在一个构造方法中使用“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this(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1,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2…)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”的形式调用其他的构造方法。接下来通过一个案例演示使用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关键字调用构造方法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86710" y="3520440"/>
            <a:ext cx="7385050" cy="2717800"/>
            <a:chOff x="2886710" y="3581400"/>
            <a:chExt cx="7385050" cy="2717800"/>
          </a:xfrm>
        </p:grpSpPr>
        <p:pic>
          <p:nvPicPr>
            <p:cNvPr id="47309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6710" y="3581400"/>
              <a:ext cx="7263130" cy="271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3373120" y="3581400"/>
              <a:ext cx="6898640" cy="27178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Student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private String name;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private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public Student 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实例化了一个新的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public Student (String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this();                  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调用无参的构造方法</a:t>
              </a: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FB90256-AC47-4871-B200-1EE1CD2C5BD0}" type="slidenum">
              <a:rPr lang="zh-CN" altLang="en-US" smtClean="0"/>
              <a:t>68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01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311398" y="1325880"/>
            <a:ext cx="8376922" cy="4881880"/>
            <a:chOff x="2311398" y="1325880"/>
            <a:chExt cx="8376922" cy="4881880"/>
          </a:xfrm>
        </p:grpSpPr>
        <p:pic>
          <p:nvPicPr>
            <p:cNvPr id="4741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325880"/>
              <a:ext cx="8376922" cy="4881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3271520" y="1325880"/>
              <a:ext cx="7315200" cy="48818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this.name = name;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age;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public String read(){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return 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:"+name+",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年龄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:"+age;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 class Example11 {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    Student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Student 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",18);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实例化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stu.read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9D75FDE-5294-4921-9816-BFB20953DE7A}" type="slidenum">
              <a:rPr lang="zh-CN" altLang="en-US" smtClean="0"/>
              <a:t>69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035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76400" y="1447800"/>
            <a:ext cx="9977120" cy="4495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调用类的构造方法时，应注意以下几点：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）只能在构造方法中使用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调用其他的构造方法，不能在成员方法中通过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调用其他构造方法。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）在构造方法中，使用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调用构造方法的语句必须位于第一行，且只能出现一次。下面程序的写法是错误的：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 Student(String name) {</a:t>
            </a:r>
            <a:endParaRPr lang="zh-CN" altLang="zh-CN" sz="18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en-US" altLang="zh-CN" sz="18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System.out.println</a:t>
            </a:r>
            <a:r>
              <a:rPr lang="en-US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("</a:t>
            </a:r>
            <a:r>
              <a:rPr lang="zh-CN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有参的构造方法被调用了。</a:t>
            </a:r>
            <a:r>
              <a:rPr lang="en-US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");</a:t>
            </a:r>
            <a:endParaRPr lang="zh-CN" altLang="zh-CN" sz="18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this(name); 			//</a:t>
            </a:r>
            <a:r>
              <a:rPr lang="zh-CN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不在第一行，编译错误！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18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4991D01-ED9B-4D65-9867-DEFBA5D22A6F}" type="slidenum">
              <a:rPr lang="zh-CN" altLang="en-US" smtClean="0"/>
              <a:t>70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280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调用构造方法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56080" y="1488440"/>
            <a:ext cx="9977120" cy="4302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）不能在一个类的两个构造方法中使用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互相调用，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错误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Student {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public Student () {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this("</a:t>
            </a:r>
            <a:r>
              <a:rPr lang="zh-CN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张三</a:t>
            </a: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");  		    		// </a:t>
            </a:r>
            <a:r>
              <a:rPr lang="zh-CN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调用有参构造方法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en-US" altLang="zh-CN" sz="16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System.out.println</a:t>
            </a: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("</a:t>
            </a:r>
            <a:r>
              <a:rPr lang="zh-CN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无参的构造方法被调用了。</a:t>
            </a: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");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}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public Student (String name) {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this();                  		// </a:t>
            </a:r>
            <a:r>
              <a:rPr lang="zh-CN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调用无参构造方法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en-US" altLang="zh-CN" sz="16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System.out.println</a:t>
            </a: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("</a:t>
            </a:r>
            <a:r>
              <a:rPr lang="zh-CN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有参的构造方法被调用了。</a:t>
            </a: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");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}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B9FB5C1-0AE0-49A8-ABB6-062007F92F00}" type="slidenum">
              <a:rPr lang="zh-CN" altLang="en-US" smtClean="0"/>
              <a:t>71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77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153920" y="1856740"/>
            <a:ext cx="5201920" cy="3144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代码块，简单来讲，就是用“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{}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”括号括起来的一段代码，根据位置及声明关键字的不同，代码块可以分为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种：普通代码块、构造块、静态代码块、同步代码块。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4751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463" y="1657350"/>
            <a:ext cx="3338513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48B2FF4-6AC0-4135-A850-DA6B946C0715}" type="slidenum">
              <a:rPr lang="zh-CN" altLang="en-US" smtClean="0"/>
              <a:t>72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35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普通代码块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64640" y="1389380"/>
            <a:ext cx="9499600" cy="7543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普通代码块就是直接在方法或是语句中定义的代码块，具体示例如下。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60320" y="2143760"/>
            <a:ext cx="7244080" cy="3911600"/>
            <a:chOff x="2560320" y="2143760"/>
            <a:chExt cx="7244080" cy="3911600"/>
          </a:xfrm>
        </p:grpSpPr>
        <p:pic>
          <p:nvPicPr>
            <p:cNvPr id="47616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0320" y="2143760"/>
              <a:ext cx="7244080" cy="3911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3266440" y="2264410"/>
              <a:ext cx="6537960" cy="36703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 class Example12 {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  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 = 18;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这是普通代码块。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age:"+age);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       }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 = 30;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("age:"+age);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F58A957-C412-49B1-A2E8-3CCCBCFBD9A3}" type="slidenum">
              <a:rPr lang="zh-CN" altLang="en-US" smtClean="0"/>
              <a:t>73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57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普通代码块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64640" y="1633220"/>
            <a:ext cx="9499600" cy="35382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在上述代码中，每一对“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{}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”括起来的代码都称为一个代码块。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Example12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是一个大的代码块，在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Example12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代码块中包含了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方法代码块，在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方法中又定义了一个局部代码块，局部代码块对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方法进行了“分隔”，起到了限定作用域的作用。局部代码块中定义了变量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方法代码块中也定义了变量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，但由于两个变量处在不同的代码块，作用域不同，因此并不相互影响。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D6F4D71-84B6-4656-A20C-0B35DE16280D}" type="slidenum">
              <a:rPr lang="zh-CN" altLang="en-US" smtClean="0"/>
              <a:t>74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004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64640" y="1290320"/>
            <a:ext cx="9499600" cy="1391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构造代码块是直接在类中定义的代码块。接下来通过一个案例演示构造代码块的作用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09520" y="2479040"/>
            <a:ext cx="7874000" cy="3749041"/>
            <a:chOff x="2509520" y="2479040"/>
            <a:chExt cx="7874000" cy="3749041"/>
          </a:xfrm>
        </p:grpSpPr>
        <p:pic>
          <p:nvPicPr>
            <p:cNvPr id="47718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9520" y="2529841"/>
              <a:ext cx="7874000" cy="3698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3322320" y="2479040"/>
              <a:ext cx="6675120" cy="36982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String name;    				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成员属性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      </a:t>
              </a:r>
              <a:r>
                <a:rPr lang="en-US" altLang="zh-CN" sz="1600" dirty="0" err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我是构造代码块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       //</a:t>
              </a:r>
              <a:r>
                <a:rPr lang="zh-CN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与构造方法同级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   }</a:t>
              </a:r>
              <a:endParaRPr lang="zh-CN" altLang="zh-CN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构造方法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public Student(){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类的构造方法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C46FECE-8503-4B0B-B505-5EFA08849706}" type="slidenum">
              <a:rPr lang="zh-CN" altLang="en-US" smtClean="0"/>
              <a:t>75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479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590800" y="2113280"/>
            <a:ext cx="7030719" cy="2804159"/>
            <a:chOff x="2499360" y="1991360"/>
            <a:chExt cx="7030719" cy="2804159"/>
          </a:xfrm>
        </p:grpSpPr>
        <p:pic>
          <p:nvPicPr>
            <p:cNvPr id="47821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9360" y="1991360"/>
              <a:ext cx="7030719" cy="2804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3520440" y="2103120"/>
              <a:ext cx="5151120" cy="25806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public class Example12 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13{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    Student stu1 = new Student();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     Student stu2 = new Student();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1D183F7-F081-4058-BD47-429AD79167C0}" type="slidenum">
              <a:rPr lang="zh-CN" altLang="en-US" smtClean="0"/>
              <a:t>76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377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64640" y="1290320"/>
            <a:ext cx="9499600" cy="782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3058795" y="2349182"/>
            <a:ext cx="6745605" cy="2486978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3576479-5458-4176-9429-ED5D4F836857}" type="slidenum">
              <a:rPr lang="zh-CN" altLang="en-US" smtClean="0"/>
              <a:t>77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527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构造块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64640" y="1524000"/>
            <a:ext cx="9977120" cy="4114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3~5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行表示的代码块定义在成员位置，与构造方法、成员属性同级，这就是构造块。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运行结果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可以得出以下两点结论：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）在实例化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时，构造块的执行顺序大于构造方法（这里和构造块写在前面还是后面没有关系）。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）每当实例化一个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类对象，都会在执行构造方法之前执行构造代码块。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77F8188-C676-4372-9EF7-3E946C9B73AB}" type="slidenum">
              <a:rPr lang="zh-CN" altLang="en-US" smtClean="0"/>
              <a:t>78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059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 static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42720" y="1625600"/>
            <a:ext cx="9977120" cy="3688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在定义一个类时，只是在描述某事物的特征和行为，并没有产生具体的数据。只有通过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new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关键字创建该类的实例对象时，才会开辟栈内存及堆内存，在堆内存中要保存对象的属性时，每个对象会有自己的属性。如果希望某些属性被所有对象共享，就必须将其声明为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属性。如果属性使用了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关键字进行修饰，则该属性可以直接使用类名称进行调用。除了修饰属性，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关键字还可以修饰成员方法。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651C7C1-E6B0-4D24-BD70-0CB9FBC6ED5A}" type="slidenum">
              <a:rPr lang="zh-CN" altLang="en-US" smtClean="0"/>
              <a:t>79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093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057899" y="1763910"/>
            <a:ext cx="4358641" cy="360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修饰属性，则该属性称为静态属性（也称全局属性），静态属性可以使用类名直接访问，访问格式如下：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属性名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894556" y="1706880"/>
            <a:ext cx="2227128" cy="3720861"/>
            <a:chOff x="3028131" y="1788160"/>
            <a:chExt cx="2227128" cy="3720861"/>
          </a:xfrm>
        </p:grpSpPr>
        <p:pic>
          <p:nvPicPr>
            <p:cNvPr id="47923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8131" y="1788160"/>
              <a:ext cx="2227128" cy="3720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3566161" y="2806461"/>
              <a:ext cx="883919" cy="62761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static</a:t>
              </a:r>
              <a:endPara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BFF9A0F-D986-409A-9798-6BB39121DED1}" type="slidenum">
              <a:rPr lang="zh-CN" altLang="en-US" smtClean="0"/>
              <a:t>80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011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12240" y="1188720"/>
            <a:ext cx="9865359" cy="75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在学习静态属性之前，先来看一个案例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21840" y="1828800"/>
            <a:ext cx="8950959" cy="4521200"/>
            <a:chOff x="2011680" y="1879600"/>
            <a:chExt cx="8950959" cy="4521200"/>
          </a:xfrm>
        </p:grpSpPr>
        <p:pic>
          <p:nvPicPr>
            <p:cNvPr id="48025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1680" y="1879600"/>
              <a:ext cx="8950959" cy="4521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428240" y="1879600"/>
              <a:ext cx="8361680" cy="43992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String name;            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                 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  String school = "A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school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   public Student(String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   this.name = name;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age;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}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public void info(){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姓名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 this.name+"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，年龄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+this. age+"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，学校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 school);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A09783A-8BE1-4103-B6B0-3F674B86FCE4}" type="slidenum">
              <a:rPr lang="zh-CN" altLang="en-US" smtClean="0"/>
              <a:t>81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123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586988" y="1549401"/>
            <a:ext cx="7950201" cy="4307839"/>
            <a:chOff x="2311398" y="1706880"/>
            <a:chExt cx="7950201" cy="4307839"/>
          </a:xfrm>
        </p:grpSpPr>
        <p:pic>
          <p:nvPicPr>
            <p:cNvPr id="48128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706880"/>
              <a:ext cx="7950201" cy="43078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875279" y="1706880"/>
              <a:ext cx="7175499" cy="41757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public class Example13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     Student stu1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",18);   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创建学生对象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     Student stu2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李四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",19);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   Student stu3 = new Student("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王五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",20);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       stu1.info();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19        stu2.info();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20        stu3.info();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21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22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0926F46-A3E9-4A6D-8D85-52259DE00991}" type="slidenum">
              <a:rPr lang="zh-CN" altLang="en-US" smtClean="0"/>
              <a:t>82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358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98320" y="2042160"/>
            <a:ext cx="9225279" cy="2560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5~7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行代码声明了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类的有参构造，第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9~12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行代码输出了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属性的值。第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16~21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行代码分别定义了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类的三个实例对象，并分别使用三个实例对象调用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info()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55475E5-1A9B-4D5D-A294-2408D77235D1}" type="slidenum">
              <a:rPr lang="zh-CN" altLang="en-US" smtClean="0"/>
              <a:t>83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563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98320" y="1371600"/>
            <a:ext cx="9225279" cy="670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3363594" y="2670173"/>
            <a:ext cx="6094730" cy="199326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C343D8E-87B8-48D3-95DB-0AFE47BF407D}" type="slidenum">
              <a:rPr lang="zh-CN" altLang="en-US" smtClean="0"/>
              <a:t>84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169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73200" y="1381760"/>
            <a:ext cx="9906000" cy="4632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上述案例中，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三名均学生均来自于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大学。下面，我们考虑一种情况：假设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大学改名为了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大学，而且此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类已经产生了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万个学生对象，那么意味着，如果要修改这些学生对象的学校信息，则要把这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万个对象中的学校属性全部修改，共修改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万遍，这样肯定是非常麻烦的。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为了解决上述问题，可以使用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关键字修饰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属性，将其变为公共属性。这样，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属性只会分配一块内存空间，被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类的所有对象共享，只要某个对象进行了一次修改，全部学生对象的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属性值都会发生变化。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EC3B605-E652-4384-B2D6-0E1D5457E553}" type="slidenum">
              <a:rPr lang="zh-CN" altLang="en-US" smtClean="0"/>
              <a:t>85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288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73200" y="1219200"/>
            <a:ext cx="9906000" cy="75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接下来修改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关键字修饰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20240" y="1869440"/>
            <a:ext cx="8869680" cy="4419600"/>
            <a:chOff x="1920240" y="1869440"/>
            <a:chExt cx="8869680" cy="4419600"/>
          </a:xfrm>
        </p:grpSpPr>
        <p:pic>
          <p:nvPicPr>
            <p:cNvPr id="48230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240" y="1920240"/>
              <a:ext cx="8798560" cy="4368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2245360" y="1869440"/>
              <a:ext cx="8544560" cy="44196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String name;                  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                       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  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static String school = "A</a:t>
              </a:r>
              <a:r>
                <a:rPr lang="zh-CN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大学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 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school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   public Student(String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   this.name = name;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age;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}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public void info(){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姓名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+this. name+"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，年龄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+"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，学校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 school);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3A70A50-85D9-456A-B00F-B21B8251163D}" type="slidenum">
              <a:rPr lang="zh-CN" altLang="en-US" smtClean="0"/>
              <a:t>86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749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499360" y="1574800"/>
            <a:ext cx="7995920" cy="4175760"/>
            <a:chOff x="2641600" y="1574800"/>
            <a:chExt cx="7518400" cy="4175760"/>
          </a:xfrm>
        </p:grpSpPr>
        <p:pic>
          <p:nvPicPr>
            <p:cNvPr id="48333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1600" y="1574800"/>
              <a:ext cx="7284720" cy="4175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3159760" y="1595120"/>
              <a:ext cx="7000240" cy="40944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public class Example14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     Student stu1 = new Student("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",18);  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创建学生对象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     Student stu2 = new Student("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李四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",19);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   Student stu3 = new Student("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王五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",20);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       stu1.school = "B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19        stu1.info();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20        stu2.info();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21        stu3.info();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22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23 }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C345888-E6A0-4608-B7C9-474DCEF67FAC}" type="slidenum">
              <a:rPr lang="zh-CN" altLang="en-US" smtClean="0"/>
              <a:t>87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217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64640" y="1991360"/>
            <a:ext cx="9906000" cy="3017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关键字修饰了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属性，第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18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属性重新赋值。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运行结果中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可以发现，只修改了一个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对象的学校属性，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属性内容都发生了变化，说明使用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声明的属性是对所有对象共享的。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2AE98CB-7DD5-4455-93D6-F7F5AA844F62}" type="slidenum">
              <a:rPr lang="zh-CN" altLang="en-US" smtClean="0"/>
              <a:t>88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317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静态属性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73200" y="1381760"/>
            <a:ext cx="9906000" cy="741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2835275" y="2489200"/>
            <a:ext cx="7181850" cy="256032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4CBC8B3-F59B-4153-B7DC-156B65B018B5}" type="slidenum">
              <a:rPr lang="zh-CN" altLang="en-US" smtClean="0"/>
              <a:t>89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22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93516" y="1442720"/>
            <a:ext cx="4968240" cy="4551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如果想要使用类中的成员方法，就需要先将这个类实例化，而在实际开发时，开发人员有时希望在不创建对象的情况下，通过类名就可以直接调用某个方法，要实现这样的效果，只需要在成员方法前加上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关键字修饰的方法通常称为静态方法。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7487920" y="1640840"/>
            <a:ext cx="3799840" cy="3769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同静态变量一样，静态方法也可以通过类名和对象访问，具体如下所示。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类名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或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实例对象名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959600" y="1320800"/>
            <a:ext cx="10160" cy="48768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0F2F3E2-8363-438D-A038-68D649073B28}" type="slidenum">
              <a:rPr lang="zh-CN" altLang="en-US" smtClean="0"/>
              <a:t>90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730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940560" y="2082800"/>
            <a:ext cx="8646160" cy="3606800"/>
            <a:chOff x="1940560" y="2082800"/>
            <a:chExt cx="8646160" cy="3606800"/>
          </a:xfrm>
        </p:grpSpPr>
        <p:pic>
          <p:nvPicPr>
            <p:cNvPr id="4843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0560" y="2082800"/>
              <a:ext cx="8646160" cy="3606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2626358" y="2204720"/>
              <a:ext cx="7863842" cy="34848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 class Student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    private String name;                         	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   private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age;                              	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age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    private static String school = "A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大学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   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school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    public Student(String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6        this.name =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7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age;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8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049421" y="2374900"/>
            <a:ext cx="754887" cy="296491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静态方法使用示例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DEA0F92-E579-42F6-AAE5-121849B69FEB}" type="slidenum">
              <a:rPr lang="zh-CN" altLang="en-US" smtClean="0"/>
              <a:t>91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383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331718" y="1554480"/>
            <a:ext cx="8082280" cy="4267200"/>
            <a:chOff x="1879600" y="1554480"/>
            <a:chExt cx="8082280" cy="4267200"/>
          </a:xfrm>
        </p:grpSpPr>
        <p:pic>
          <p:nvPicPr>
            <p:cNvPr id="48537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600" y="1554480"/>
              <a:ext cx="8082280" cy="426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2179322" y="1554480"/>
              <a:ext cx="7782558" cy="42672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 public void info(){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10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姓名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+this.name+"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，年龄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+"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，学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11   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校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 + school);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12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13   public String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getName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14     return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15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16   public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setName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(String name)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17     this.name = 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18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49421" y="2374900"/>
            <a:ext cx="754887" cy="296491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静态方法使用示例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0EB9C66-1836-4133-893C-F8DF8E37C5B4}" type="slidenum">
              <a:rPr lang="zh-CN" altLang="en-US" smtClean="0"/>
              <a:t>92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12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850640" y="1229360"/>
            <a:ext cx="5290820" cy="5201920"/>
            <a:chOff x="3068320" y="1229360"/>
            <a:chExt cx="5290820" cy="5201920"/>
          </a:xfrm>
        </p:grpSpPr>
        <p:pic>
          <p:nvPicPr>
            <p:cNvPr id="48640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8320" y="1249680"/>
              <a:ext cx="5110480" cy="5181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3556000" y="1229360"/>
              <a:ext cx="4803140" cy="51816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19 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setName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(String name)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20     this.name = name;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21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22   public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getAge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23     return age;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24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25   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setAge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age)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26    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this.age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age;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27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28   public static String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getSchool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29      return school;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30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31   public static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setSchool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(String school)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32     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Student.school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school;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33  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34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49421" y="2374900"/>
            <a:ext cx="754887" cy="296491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静态方法使用示例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613404B-5EB2-4834-83AB-68D9CCBA69AD}" type="slidenum">
              <a:rPr lang="zh-CN" altLang="en-US" smtClean="0"/>
              <a:t>93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12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078478" y="1320800"/>
            <a:ext cx="7000239" cy="4866640"/>
            <a:chOff x="2854960" y="1351280"/>
            <a:chExt cx="7000239" cy="4866640"/>
          </a:xfrm>
        </p:grpSpPr>
        <p:pic>
          <p:nvPicPr>
            <p:cNvPr id="4874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4960" y="1422400"/>
              <a:ext cx="6990080" cy="4795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3301998" y="1351280"/>
              <a:ext cx="6553201" cy="48666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35 class Example15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36    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37        Student stu1 = new Student("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张三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",18);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创建学生对象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38        Student stu2 = new Student("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李四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",19);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39        Student stu3 = new Student("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王五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",20);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40	   stu1.setAge(20);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41        stu2.setName("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小明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42	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Student.setSchool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大学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43        stu1.info();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44        stu2.info();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45        stu3.info();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46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47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49421" y="2374900"/>
            <a:ext cx="754887" cy="296491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静态方法使用示例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01F181B-B7AD-4D5B-BA4E-F5ACD1CDAE1B}" type="slidenum">
              <a:rPr lang="zh-CN" altLang="en-US" smtClean="0"/>
              <a:t>94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387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93516" y="1849120"/>
            <a:ext cx="9672324" cy="304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类将所有的属性都进行了封装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所以想要更改属性就必须使用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方法。第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13~30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行代码声明了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方法，第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37~39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行代码分别对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age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属性的值进行修改，但是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school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属性是使用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声明的，所以可以直接使用类名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进行调用。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CDDADC6-E5CA-424A-BD21-A7D142007238}" type="slidenum">
              <a:rPr lang="zh-CN" altLang="en-US" smtClean="0"/>
              <a:t>95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218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93516" y="1442720"/>
            <a:ext cx="9672324" cy="731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zh-CN" altLang="zh-CN" sz="20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3129280" y="2529840"/>
            <a:ext cx="7222490" cy="222504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75A2EFA-A012-48AD-BD25-3652C134AE66}" type="slidenum">
              <a:rPr lang="zh-CN" altLang="en-US" smtClean="0"/>
              <a:t>96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223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静态方法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872480" y="1849120"/>
            <a:ext cx="5293360" cy="304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静态方法只能访问静态成员，因为非静态成员需要先创建对象才能访问，即随着对象的创建，非静态成员才会分配内存。而静态方法在被调用时可以不创建任何对象。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311398" y="1665530"/>
            <a:ext cx="2834640" cy="3676730"/>
            <a:chOff x="2311398" y="1676344"/>
            <a:chExt cx="2834640" cy="367673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      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6BE8F03-53D5-4C50-87F9-F772B46CC1F7}" type="slidenum">
              <a:rPr lang="zh-CN" altLang="en-US" smtClean="0"/>
              <a:t>97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532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057398" y="1645920"/>
            <a:ext cx="5293360" cy="3373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类中，用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关键字修饰的代码块称为静态代码块。当类被加载时，静态代码块会执行，由于类只加载一次，因此静态代码块只执行一次。在程序中，通常使用静态代码块对类的成员变量进行初始化。</a:t>
            </a:r>
          </a:p>
        </p:txBody>
      </p:sp>
      <p:pic>
        <p:nvPicPr>
          <p:cNvPr id="4884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608" y="1645920"/>
            <a:ext cx="3382963" cy="360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1DC6D5D-46ED-45A5-9A21-8FACF390B846}" type="slidenum">
              <a:rPr lang="zh-CN" altLang="en-US" smtClean="0"/>
              <a:t>98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500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88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32278" y="1203960"/>
            <a:ext cx="9464042" cy="680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接下来通过一个案例学习静态代码块的使用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098800" y="1833880"/>
            <a:ext cx="7010399" cy="4424680"/>
            <a:chOff x="3098800" y="1833880"/>
            <a:chExt cx="7010399" cy="4424680"/>
          </a:xfrm>
        </p:grpSpPr>
        <p:pic>
          <p:nvPicPr>
            <p:cNvPr id="48947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8800" y="1884680"/>
              <a:ext cx="7010399" cy="4373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3835398" y="1833880"/>
              <a:ext cx="5969002" cy="43840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Student{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String name;    				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成员属性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我是构造代码块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static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我是静态代码块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public Student(){      			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构造方法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我是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类的构造方法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A29A430-636E-4DC7-98BB-04663D2212DB}" type="slidenum">
              <a:rPr lang="zh-CN" altLang="en-US" smtClean="0"/>
              <a:t>99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03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037839" y="2077720"/>
            <a:ext cx="6624319" cy="3164840"/>
            <a:chOff x="3037840" y="1935480"/>
            <a:chExt cx="6624319" cy="3164840"/>
          </a:xfrm>
        </p:grpSpPr>
        <p:pic>
          <p:nvPicPr>
            <p:cNvPr id="49049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7840" y="1935480"/>
              <a:ext cx="6624319" cy="3164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4229099" y="1976120"/>
              <a:ext cx="4993642" cy="29921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Example16{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Student stu1 = new Student();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Student stu2 = new Student();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Student stu3 = new Student();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F4009E2-4C9E-4745-AE03-1561851CB8C4}" type="slidenum">
              <a:rPr lang="zh-CN" altLang="en-US" smtClean="0"/>
              <a:t>100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78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32278" y="1518920"/>
            <a:ext cx="9464042" cy="4211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3~5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行代码声明了一个构造代码块，第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6~8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行声明了一个静态代码块，第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15~17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行代码分别实例化了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运行结果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可以看出，代码块的执行顺序为静态代码块、构造代码块、构造方法。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修饰的量会随着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文件一同加载，属于优先级最高的。在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方法中创建了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对象，但在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次实例化对象的过程中，静态代码块中的内容只输出了一次，这就说明静态代码块在类第一次使用时才会被加载，并且只会加载一次。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35FBFE3-A3C1-4E31-A615-31F91AD53ADC}" type="slidenum">
              <a:rPr lang="zh-CN" altLang="en-US" smtClean="0"/>
              <a:t>101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790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930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静态代码块</a:t>
            </a:r>
            <a:endParaRPr lang="zh-CN" altLang="zh-CN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32278" y="1518920"/>
            <a:ext cx="9464042" cy="680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程序运行结果如下图。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3322320" y="2465387"/>
            <a:ext cx="7100570" cy="3183573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835CECA-FCB4-4C3F-A2D9-6D56F8CBA0C2}" type="slidenum">
              <a:rPr lang="zh-CN" altLang="en-US" smtClean="0"/>
              <a:t>102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681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3.8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</a:p>
        </p:txBody>
      </p:sp>
      <p:sp>
        <p:nvSpPr>
          <p:cNvPr id="67" name="矩形 66"/>
          <p:cNvSpPr/>
          <p:nvPr/>
        </p:nvSpPr>
        <p:spPr>
          <a:xfrm>
            <a:off x="5254414" y="1473549"/>
            <a:ext cx="6399106" cy="419294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详细介绍了面向对象的基础知识。首先介绍了面向对象的思想；其次介绍了类与对象之间的关系，包括类的定义、对象的创建与使用等；接着介绍了类的封装；然后介绍了构造方法，包括构造方法的定义与重载；最后介绍了代码块的使用以及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static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关键字的使用。通过本章的学习，读者已经对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中面向对象的思想有了初步的认识，熟练掌握好这些知识，有助于学习下一章的内容。深入理解面向对象的思想，对以后的实际开发也是大有裨益的。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07474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6f21232e94b46569fb407c359ca3a72a584818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4.7 本章小结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10045</TotalTime>
  <Words>6069</Words>
  <Application>Microsoft Office PowerPoint</Application>
  <PresentationFormat>宽屏</PresentationFormat>
  <Paragraphs>890</Paragraphs>
  <Slides>104</Slides>
  <Notes>104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104</vt:i4>
      </vt:variant>
    </vt:vector>
  </HeadingPairs>
  <TitlesOfParts>
    <vt:vector size="115" baseType="lpstr">
      <vt:lpstr>等线</vt:lpstr>
      <vt:lpstr>等线 Light</vt:lpstr>
      <vt:lpstr>方正细倩简体</vt:lpstr>
      <vt:lpstr>楷体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第3章 面向对象（上）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Windows 用户</cp:lastModifiedBy>
  <cp:revision>1053</cp:revision>
  <dcterms:created xsi:type="dcterms:W3CDTF">2016-08-25T05:35:30Z</dcterms:created>
  <dcterms:modified xsi:type="dcterms:W3CDTF">2024-09-11T00:53:02Z</dcterms:modified>
</cp:coreProperties>
</file>