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256" r:id="rId3"/>
    <p:sldId id="1544" r:id="rId5"/>
    <p:sldId id="1545" r:id="rId6"/>
    <p:sldId id="1547" r:id="rId7"/>
    <p:sldId id="1548" r:id="rId8"/>
    <p:sldId id="1549" r:id="rId9"/>
    <p:sldId id="1550" r:id="rId10"/>
    <p:sldId id="1590" r:id="rId11"/>
    <p:sldId id="1551" r:id="rId12"/>
    <p:sldId id="1552" r:id="rId13"/>
    <p:sldId id="1553" r:id="rId14"/>
    <p:sldId id="1554" r:id="rId15"/>
    <p:sldId id="1555" r:id="rId16"/>
    <p:sldId id="1557" r:id="rId17"/>
    <p:sldId id="1558" r:id="rId18"/>
    <p:sldId id="1559" r:id="rId19"/>
    <p:sldId id="1561" r:id="rId20"/>
    <p:sldId id="1562" r:id="rId21"/>
    <p:sldId id="1563" r:id="rId22"/>
    <p:sldId id="1564" r:id="rId23"/>
    <p:sldId id="1565" r:id="rId24"/>
    <p:sldId id="1568" r:id="rId25"/>
    <p:sldId id="1569" r:id="rId26"/>
    <p:sldId id="1570" r:id="rId27"/>
    <p:sldId id="1571" r:id="rId28"/>
    <p:sldId id="1573" r:id="rId29"/>
    <p:sldId id="1578" r:id="rId30"/>
    <p:sldId id="1579" r:id="rId31"/>
    <p:sldId id="1580" r:id="rId32"/>
    <p:sldId id="1581" r:id="rId33"/>
    <p:sldId id="1582" r:id="rId34"/>
    <p:sldId id="1583" r:id="rId35"/>
    <p:sldId id="1584" r:id="rId36"/>
    <p:sldId id="1585" r:id="rId37"/>
    <p:sldId id="1586" r:id="rId38"/>
    <p:sldId id="1587" r:id="rId39"/>
    <p:sldId id="1588" r:id="rId40"/>
    <p:sldId id="283" r:id="rId41"/>
  </p:sldIdLst>
  <p:sldSz cx="12192000" cy="6858000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晓娟" initials="wang" lastIdx="2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53A2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6" autoAdjust="0"/>
    <p:restoredTop sz="96871" autoAdjust="0"/>
  </p:normalViewPr>
  <p:slideViewPr>
    <p:cSldViewPr snapToGrid="0">
      <p:cViewPr varScale="1">
        <p:scale>
          <a:sx n="109" d="100"/>
          <a:sy n="109" d="100"/>
        </p:scale>
        <p:origin x="720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tags" Target="tags/tag38.xml"/><Relationship Id="rId46" Type="http://schemas.openxmlformats.org/officeDocument/2006/relationships/commentAuthors" Target="commentAuthors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591AB7-F5A4-4C0D-8EFD-8068E49AF65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506D94-0700-400A-A759-B2484DAA309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B00CE-9247-49D0-8AE5-6DFFAEFF8C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144000" cy="191298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fld id="{C11893D6-510C-4F6F-9867-0DA6859ED432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圆角矩形 12"/>
          <p:cNvSpPr/>
          <p:nvPr userDrawn="1"/>
        </p:nvSpPr>
        <p:spPr>
          <a:xfrm>
            <a:off x="4063999" y="810988"/>
            <a:ext cx="4117976" cy="69391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1353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4" descr="C:\Users\wz\Desktop\黑马程序员横板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544" y="603199"/>
            <a:ext cx="2448556" cy="1080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1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771" y="603199"/>
            <a:ext cx="4540102" cy="143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pic>
        <p:nvPicPr>
          <p:cNvPr id="268290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2000" cy="685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10600" y="313611"/>
            <a:ext cx="2990476" cy="761905"/>
          </a:xfrm>
          <a:prstGeom prst="rect">
            <a:avLst/>
          </a:prstGeom>
        </p:spPr>
      </p:pic>
      <p:pic>
        <p:nvPicPr>
          <p:cNvPr id="10" name="图片 1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 userDrawn="1"/>
        </p:nvSpPr>
        <p:spPr>
          <a:xfrm>
            <a:off x="0" y="6490095"/>
            <a:ext cx="1820411" cy="365124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www.henu.edu.cn</a:t>
            </a:r>
            <a:endParaRPr lang="zh-CN" altLang="en-US" sz="1400" b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pic>
        <p:nvPicPr>
          <p:cNvPr id="269314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48" y="0"/>
            <a:ext cx="122018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1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 userDrawn="1"/>
        </p:nvSpPr>
        <p:spPr>
          <a:xfrm>
            <a:off x="0" y="6492876"/>
            <a:ext cx="1820411" cy="365124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www.henu.edu.cn</a:t>
            </a:r>
            <a:endParaRPr lang="zh-CN" altLang="en-US" sz="1400" b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pic>
        <p:nvPicPr>
          <p:cNvPr id="270338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2000" cy="685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1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 userDrawn="1"/>
        </p:nvSpPr>
        <p:spPr>
          <a:xfrm>
            <a:off x="0" y="6492876"/>
            <a:ext cx="1820411" cy="365124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www.henu.edu.cn</a:t>
            </a:r>
            <a:endParaRPr lang="zh-CN" altLang="en-US" sz="1400" b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pic>
        <p:nvPicPr>
          <p:cNvPr id="271362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2000" cy="685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 userDrawn="1"/>
        </p:nvSpPr>
        <p:spPr>
          <a:xfrm>
            <a:off x="0" y="6492876"/>
            <a:ext cx="1820411" cy="365124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www.henu.edu.cn</a:t>
            </a:r>
            <a:endParaRPr lang="zh-CN" altLang="en-US" sz="1400" b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pic>
        <p:nvPicPr>
          <p:cNvPr id="272386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2000" cy="685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1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0" y="6492876"/>
            <a:ext cx="1820411" cy="365124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www.henu.edu.cn</a:t>
            </a:r>
            <a:endParaRPr lang="zh-CN" altLang="en-US" sz="1400" b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14409"/>
          </a:xfrm>
          <a:prstGeom prst="rect">
            <a:avLst/>
          </a:prstGeom>
        </p:spPr>
      </p:pic>
      <p:pic>
        <p:nvPicPr>
          <p:cNvPr id="6" name="图片 1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806" y="776178"/>
            <a:ext cx="5074388" cy="1536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410" name="Picture 2" descr="C:\Users\admin\Desktop\图片1(1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1"/>
            <a:ext cx="12196948" cy="6855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01262" y="279447"/>
            <a:ext cx="2990476" cy="761905"/>
          </a:xfrm>
          <a:prstGeom prst="rect">
            <a:avLst/>
          </a:prstGeom>
        </p:spPr>
      </p:pic>
      <p:pic>
        <p:nvPicPr>
          <p:cNvPr id="4" name="图片 1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11206163" y="6527800"/>
            <a:ext cx="479018" cy="255772"/>
          </a:xfrm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rgbClr val="FF0000"/>
                </a:solidFill>
              </a:defRPr>
            </a:lvl1pPr>
            <a:lvl2pPr>
              <a:defRPr b="1">
                <a:solidFill>
                  <a:srgbClr val="FF0000"/>
                </a:solidFill>
              </a:defRPr>
            </a:lvl2pPr>
            <a:lvl3pPr>
              <a:defRPr b="1">
                <a:solidFill>
                  <a:srgbClr val="FF0000"/>
                </a:solidFill>
              </a:defRPr>
            </a:lvl3pPr>
            <a:lvl4pPr>
              <a:defRPr b="1">
                <a:solidFill>
                  <a:srgbClr val="FF0000"/>
                </a:solidFill>
              </a:defRPr>
            </a:lvl4pPr>
            <a:lvl5pPr>
              <a:defRPr b="1">
                <a:solidFill>
                  <a:srgbClr val="FF0000"/>
                </a:solidFill>
              </a:defRPr>
            </a:lvl5pPr>
          </a:lstStyle>
          <a:p>
            <a:pPr lvl="0"/>
            <a:fld id="{73FEE35F-1510-4CD3-A5F4-79EF5F7854AC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6492876"/>
            <a:ext cx="1820411" cy="365124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www.henu.edu.cn</a:t>
            </a:r>
            <a:endParaRPr lang="zh-CN" altLang="en-US" sz="1400" b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492876"/>
            <a:ext cx="1820411" cy="365124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www.henu.edu.cn</a:t>
            </a:r>
            <a:endParaRPr lang="zh-CN" altLang="en-US" sz="1400" b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3.png"/><Relationship Id="rId10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93D6-510C-4F6F-9867-0DA6859ED432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1904"/>
          </a:xfrm>
          <a:prstGeom prst="rect">
            <a:avLst/>
          </a:prstGeom>
        </p:spPr>
      </p:pic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871382" y="363024"/>
            <a:ext cx="893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  <p:pic>
        <p:nvPicPr>
          <p:cNvPr id="9" name="图片 1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68" y="72711"/>
            <a:ext cx="3189768" cy="996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8.xml"/><Relationship Id="rId3" Type="http://schemas.openxmlformats.org/officeDocument/2006/relationships/tags" Target="../tags/tag4.xm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7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1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4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5.xml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7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18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0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1.xml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2.xml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3.xml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4.xml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5.xml"/><Relationship Id="rId1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6.xml"/><Relationship Id="rId1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7.xml"/><Relationship Id="rId1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8.xml"/><Relationship Id="rId1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29.xml"/><Relationship Id="rId1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30.xml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1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32.xml"/><Relationship Id="rId1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33.xml"/><Relationship Id="rId1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34.xml"/><Relationship Id="rId1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5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36.xml"/><Relationship Id="rId1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473852" cy="1912983"/>
          </a:xfrm>
        </p:spPr>
        <p:txBody>
          <a:bodyPr/>
          <a:lstStyle/>
          <a:p>
            <a:r>
              <a:rPr lang="zh-CN" altLang="en-US" b="1" dirty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第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6</a:t>
            </a:r>
            <a:r>
              <a:rPr lang="zh-CN" altLang="en-US" b="1" dirty="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章 异常处理机制</a:t>
            </a:r>
            <a:endParaRPr lang="zh-CN" altLang="en-US" b="1" dirty="0">
              <a:solidFill>
                <a:srgbClr val="000000"/>
              </a:solidFill>
              <a:latin typeface="+mj-lt"/>
              <a:ea typeface="+mj-lt"/>
              <a:cs typeface="+mj-lt"/>
            </a:endParaRPr>
          </a:p>
        </p:txBody>
      </p:sp>
      <p:pic>
        <p:nvPicPr>
          <p:cNvPr id="26829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3" y="4980313"/>
            <a:ext cx="2429827" cy="1456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4735830" y="5010785"/>
            <a:ext cx="2572385" cy="133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异常概述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异常分类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捕捉异常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661910" y="5010785"/>
            <a:ext cx="2500630" cy="133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声明异常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 throw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抛出异常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自定义异常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异常概述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259840" y="1686560"/>
            <a:ext cx="9845040" cy="34645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尽管人人希望自己身体健康，处理的事情都能顺利进行，但在实际生活中总会遇到各种状况，比如感冒发烧，工作时电脑蓝屏、死机等。同样，在程序运行的过程中，也会发生各种非正常状况，例如，程序运行时磁盘空间不足、网络连接中断、被装载的类不存在等。针对这种情况， 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语言引入了异常，以异常类的形式对这些非正常情况进行封装，通过异常处理机制对程序运行时发生的各种问题进行处理。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825B312F-6FE9-4451-BCAA-6A3C2377876D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异常概述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259840" y="1209040"/>
            <a:ext cx="9845040" cy="812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接下来通过一个案例认识一下什么是异常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737360" y="1869440"/>
            <a:ext cx="9479280" cy="4165600"/>
            <a:chOff x="1737360" y="1869440"/>
            <a:chExt cx="9479280" cy="4165600"/>
          </a:xfrm>
        </p:grpSpPr>
        <p:pic>
          <p:nvPicPr>
            <p:cNvPr id="12290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7360" y="1869440"/>
              <a:ext cx="9479280" cy="4165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内容占位符 2"/>
            <p:cNvSpPr txBox="1"/>
            <p:nvPr/>
          </p:nvSpPr>
          <p:spPr>
            <a:xfrm>
              <a:off x="2255520" y="1869440"/>
              <a:ext cx="8961120" cy="40538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public class Example24 {                     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public static void main(String[]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args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result = divide(4, 0);   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调用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divide()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方法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(result);   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下面的方法实现了两个整数相除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public static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divide(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x,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y) {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result = x / y;     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定义一个变量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result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记录两个数相除的结果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	return result;           	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将结果返回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041A3AAB-39B4-462A-8C35-33051367A292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异常概述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5221001" y="1553650"/>
            <a:ext cx="5425440" cy="37287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从运行结果可以看出，程序发生了算术异常（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ArithmeticException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），该异常是由于调用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divide()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方法时传入了参数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，运算时出现了被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除的情况。异常发生后，程序会立即结束，无法继续向下执行。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360" y="1553650"/>
            <a:ext cx="2437130" cy="388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2A66507D-8040-48DB-9907-E2F364FA691F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异常分类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412240" y="1198880"/>
            <a:ext cx="10078720" cy="1930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上述程序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产生的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ArithmeticException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异常只是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异常类中的一种，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提供了大量的异常类，这些类都继承自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java.lang.Throwable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接下来通过一张图展示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Throwable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类的继承体系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515360" y="3024345"/>
          <a:ext cx="6197600" cy="3230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Visio" r:id="rId1" imgW="15062200" imgH="7810500" progId="Visio.Drawing.11">
                  <p:embed/>
                </p:oleObj>
              </mc:Choice>
              <mc:Fallback>
                <p:oleObj name="Visio" r:id="rId1" imgW="15062200" imgH="7810500" progId="Visio.Drawing.11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5360" y="3024345"/>
                        <a:ext cx="6197600" cy="32304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8CFE90EF-6BF3-4EE2-AE86-C223C848D667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3"/>
    </p:custData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6.2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异常分类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686560" y="1463040"/>
            <a:ext cx="9723120" cy="41960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Throwable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有两个直接子类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Error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Exception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，其中，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Error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代表程序中产生的错误，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Exception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代表程序中产生的异常。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● 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Error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类称为错误类，它表示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程序运行时产生的系统内部错误或资源耗尽的错误，这类错误比较严重，仅靠修改程序本身是不能恢复执行的。举一个生活中的例子，在盖楼的过程中因偷工减料，导致大楼坍塌，这就相当于一个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Error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。例如，使用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命令去运行一个不存在的类就会出现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Error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错误。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A7F35068-1415-4F0A-B484-35BB5AF8DC63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6.2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异常分类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849120" y="1879600"/>
            <a:ext cx="9418320" cy="30581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● 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Exception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类称为异常类，它表示程序本身可以处理的错误，在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程序中进行的异常处理，都是针对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Exception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类及其子类的。在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Exception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类的众多子类中有一个特殊的子类—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RuntimeException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RuntimeException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类及其子类用于表示运行时异常。 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Exception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类的其他子类都用于表示编译时异常。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04459ACA-1F48-49FD-980E-1991476F9898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运行时异常与编译时异常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3807460" y="1486535"/>
            <a:ext cx="7562850" cy="43243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b="1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编译时异常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是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在程序编译时产生的异常，必须要进行处理，也称为checked异常。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处理编译时期的异常有两种方式：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（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1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）使用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try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…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catch...finally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语句对异常进行捕获处理。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（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2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）使用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throws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关键字声明抛出异常，调用者对异常进行处理。</a:t>
            </a:r>
            <a:endParaRPr lang="zh-CN" altLang="zh-CN" sz="16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b="1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运行时异常</a:t>
            </a:r>
            <a:r>
              <a:rPr lang="zh-CN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是在程序运行时产生的，这种异常即使不编写异常处理代码，依然可以通过编译，也称为unchecked异常。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1800" dirty="0" err="1">
                <a:solidFill>
                  <a:srgbClr val="00B0F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如：</a:t>
            </a:r>
            <a:r>
              <a:rPr lang="en-US" altLang="zh-CN" sz="1800" dirty="0" err="1">
                <a:solidFill>
                  <a:srgbClr val="00B0F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int</a:t>
            </a:r>
            <a:r>
              <a:rPr lang="en-US" altLang="zh-CN" sz="1800" dirty="0">
                <a:solidFill>
                  <a:srgbClr val="00B0F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[] </a:t>
            </a:r>
            <a:r>
              <a:rPr lang="en-US" altLang="zh-CN" sz="1800" dirty="0" err="1">
                <a:solidFill>
                  <a:srgbClr val="00B0F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arr</a:t>
            </a:r>
            <a:r>
              <a:rPr lang="en-US" altLang="zh-CN" sz="1800" dirty="0">
                <a:solidFill>
                  <a:srgbClr val="00B0F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=new </a:t>
            </a:r>
            <a:r>
              <a:rPr lang="en-US" altLang="zh-CN" sz="1800" dirty="0" err="1">
                <a:solidFill>
                  <a:srgbClr val="00B0F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int</a:t>
            </a:r>
            <a:r>
              <a:rPr lang="en-US" altLang="zh-CN" sz="1800" dirty="0">
                <a:solidFill>
                  <a:srgbClr val="00B0F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[5]; </a:t>
            </a:r>
            <a:r>
              <a:rPr lang="en-US" altLang="zh-CN" sz="1800" dirty="0" err="1">
                <a:solidFill>
                  <a:srgbClr val="00B0F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System.out.println</a:t>
            </a:r>
            <a:r>
              <a:rPr lang="en-US" altLang="zh-CN" sz="1800" dirty="0">
                <a:solidFill>
                  <a:srgbClr val="00B0F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(</a:t>
            </a:r>
            <a:r>
              <a:rPr lang="en-US" altLang="zh-CN" sz="1800" dirty="0" err="1">
                <a:solidFill>
                  <a:srgbClr val="00B0F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arr</a:t>
            </a:r>
            <a:r>
              <a:rPr lang="en-US" altLang="zh-CN" sz="1800" dirty="0">
                <a:solidFill>
                  <a:srgbClr val="00B0F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[6]); 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1800" dirty="0">
                <a:solidFill>
                  <a:srgbClr val="00B0F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会产生下标越界异常。</a:t>
            </a:r>
            <a:endParaRPr lang="zh-CN" altLang="zh-CN" sz="1800" dirty="0">
              <a:solidFill>
                <a:srgbClr val="00B0F0"/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 err="1">
                <a:solidFill>
                  <a:srgbClr val="00B0F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      </a:t>
            </a:r>
            <a:endParaRPr lang="zh-CN" altLang="zh-CN" sz="18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426" y="1709419"/>
            <a:ext cx="2620963" cy="3611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62B69BF6-1C16-482C-AB74-AE1552F604D6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6.2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异常分类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625600" y="1498600"/>
            <a:ext cx="9418320" cy="762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Throwable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类中的常用方法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如下表。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875280" y="2595404"/>
          <a:ext cx="7515860" cy="22813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19167"/>
                <a:gridCol w="4196693"/>
              </a:tblGrid>
              <a:tr h="4517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方法声明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功能描述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45174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String getMessage() 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zh-CN" sz="1800" kern="100">
                          <a:effectLst/>
                        </a:rPr>
                        <a:t>返回异常的消息字符串</a:t>
                      </a:r>
                      <a:r>
                        <a:rPr lang="en-US" sz="1800" kern="100">
                          <a:effectLst/>
                        </a:rPr>
                        <a:t>  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45174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String toString()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zh-CN" sz="1800" kern="100">
                          <a:effectLst/>
                        </a:rPr>
                        <a:t>返回异常的简单信息描述</a:t>
                      </a:r>
                      <a:endParaRPr lang="zh-CN" sz="1800" kern="10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92615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void </a:t>
                      </a:r>
                      <a:r>
                        <a:rPr lang="en-US" sz="1800" kern="100" dirty="0" err="1">
                          <a:effectLst/>
                        </a:rPr>
                        <a:t>printStackTrace</a:t>
                      </a:r>
                      <a:r>
                        <a:rPr lang="en-US" sz="1800" kern="100" dirty="0">
                          <a:effectLst/>
                        </a:rPr>
                        <a:t>()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zh-CN" sz="1800" kern="100" dirty="0">
                          <a:effectLst/>
                        </a:rPr>
                        <a:t>获取异常类名和异常信息，以及异常出现在程序中的位置，把信息输出在控制台。</a:t>
                      </a:r>
                      <a:endParaRPr lang="zh-CN" sz="1800" kern="100" dirty="0"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DD716E55-A715-4799-88FC-E9EC3FEF9211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捕捉异常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2047875" y="1353820"/>
            <a:ext cx="9256395" cy="508063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出现异常后，程序会立即终止。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为了解决异常，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Java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提供了对异常进行处理的方式一一异常捕获。异常捕获使用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try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…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catch...finally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语句实现，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try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…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catch...finally</a:t>
            </a:r>
            <a:r>
              <a:rPr lang="zh-CN" altLang="zh-CN" sz="20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具体语法格式如下：</a:t>
            </a:r>
            <a:endParaRPr lang="zh-CN" altLang="zh-CN" sz="20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457200" lvl="1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try{</a:t>
            </a:r>
            <a:endParaRPr lang="zh-CN" altLang="zh-CN" sz="1800" dirty="0">
              <a:solidFill>
                <a:srgbClr val="FF0000"/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457200" lvl="1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      //</a:t>
            </a:r>
            <a:r>
              <a:rPr lang="zh-CN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程序代码块</a:t>
            </a:r>
            <a:endParaRPr lang="zh-CN" altLang="zh-CN" sz="1800" dirty="0">
              <a:solidFill>
                <a:srgbClr val="FF0000"/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457200" lvl="1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} catch(</a:t>
            </a:r>
            <a:r>
              <a:rPr lang="zh-CN" altLang="en-US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异常</a:t>
            </a:r>
            <a:r>
              <a:rPr lang="zh-CN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类</a:t>
            </a:r>
            <a:r>
              <a:rPr lang="en-US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  </a:t>
            </a:r>
            <a:r>
              <a:rPr lang="zh-CN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异常对象</a:t>
            </a:r>
            <a:r>
              <a:rPr lang="en-US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){</a:t>
            </a:r>
            <a:endParaRPr lang="zh-CN" altLang="zh-CN" sz="1800" dirty="0">
              <a:solidFill>
                <a:srgbClr val="FF0000"/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457200" lvl="1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     //</a:t>
            </a:r>
            <a:r>
              <a:rPr lang="zh-CN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处理异常</a:t>
            </a:r>
            <a:endParaRPr lang="zh-CN" altLang="zh-CN" sz="1800" dirty="0">
              <a:solidFill>
                <a:srgbClr val="FF0000"/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457200" lvl="1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} catch</a:t>
            </a:r>
            <a:r>
              <a:rPr lang="en-US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(</a:t>
            </a:r>
            <a:r>
              <a:rPr lang="zh-CN" altLang="en-US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异常</a:t>
            </a:r>
            <a:r>
              <a:rPr lang="zh-CN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类</a:t>
            </a:r>
            <a:r>
              <a:rPr lang="en-US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 </a:t>
            </a:r>
            <a:r>
              <a:rPr lang="zh-CN" altLang="en-US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异常对象</a:t>
            </a:r>
            <a:r>
              <a:rPr lang="en-US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){</a:t>
            </a:r>
            <a:endParaRPr lang="en-US" altLang="zh-CN" sz="1800" dirty="0">
              <a:solidFill>
                <a:srgbClr val="FF0000"/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  <a:sym typeface="+mn-ea"/>
            </a:endParaRPr>
          </a:p>
          <a:p>
            <a:pPr marL="457200" lvl="1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     //</a:t>
            </a:r>
            <a:r>
              <a:rPr lang="zh-CN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处理异常</a:t>
            </a:r>
            <a:endParaRPr lang="en-US" altLang="zh-CN" sz="1800" dirty="0">
              <a:solidFill>
                <a:srgbClr val="FF0000"/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  <a:sym typeface="+mn-ea"/>
            </a:endParaRPr>
          </a:p>
          <a:p>
            <a:pPr marL="457200" lvl="1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} finally {</a:t>
            </a:r>
            <a:endParaRPr lang="en-US" altLang="zh-CN" sz="1800" dirty="0">
              <a:solidFill>
                <a:srgbClr val="FF0000"/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0" lvl="1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    </a:t>
            </a:r>
            <a:r>
              <a:rPr lang="en-US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        //</a:t>
            </a:r>
            <a:r>
              <a:rPr lang="zh-CN" altLang="en-US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最终</a:t>
            </a:r>
            <a:r>
              <a:rPr lang="zh-CN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  <a:sym typeface="+mn-ea"/>
              </a:rPr>
              <a:t>处理</a:t>
            </a:r>
            <a:endParaRPr lang="en-US" altLang="zh-CN" sz="1800" dirty="0">
              <a:solidFill>
                <a:srgbClr val="FF0000"/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457200" lvl="1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}</a:t>
            </a:r>
            <a:endParaRPr lang="en-US" altLang="zh-CN" sz="1800" dirty="0">
              <a:solidFill>
                <a:srgbClr val="FF0000"/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634A4D85-AFF9-40C9-A011-CD3E0E0EDDCA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6.3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捕捉异常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361440" y="1742440"/>
            <a:ext cx="9916160" cy="32867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上述语法格式中，在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try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代码块中编写可能发生异常的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语句，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catch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代码块中编写针对异常进行处理的代码。当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try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代码块中的程序发生了异常，系统会将异常的信息封装成一个异常对象，并将这个对象传递给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catch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代码块进行处理。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catch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代码块需要一个参数指明它所能够接收的异常类型，这个参数的类型必须是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Exception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类或其子类。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FD4CA5FD-8082-4548-95D5-C399CDBD28B9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6.3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捕捉异常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280160" y="1353820"/>
            <a:ext cx="9916160" cy="7772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接下来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通过一个案例演示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try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…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catch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语句对异常进行捕获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950720" y="2131060"/>
            <a:ext cx="8981439" cy="3863340"/>
            <a:chOff x="1859280" y="2131060"/>
            <a:chExt cx="8981439" cy="3863340"/>
          </a:xfrm>
        </p:grpSpPr>
        <p:pic>
          <p:nvPicPr>
            <p:cNvPr id="34818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9280" y="2131060"/>
              <a:ext cx="8981439" cy="3863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/>
            <p:nvPr/>
          </p:nvSpPr>
          <p:spPr>
            <a:xfrm>
              <a:off x="2509520" y="2197100"/>
              <a:ext cx="8067040" cy="36957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public class Example25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public static void main(String[]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args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        //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下面的代码定义了一个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try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…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catch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语句用于捕获异常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try {                                      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result = divide(4, 0);    //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调用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divide()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方法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(result);   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} catch (Exception e) {            //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对异常进行处理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("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捕获的异常信息为：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" +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e.getMessage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());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("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程序继续向下执行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...");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4E3D0014-15DF-41E7-A7E8-B230F4CCBAF1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6.3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捕捉异常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788160" y="2113280"/>
            <a:ext cx="9118598" cy="2682240"/>
            <a:chOff x="1788160" y="2113280"/>
            <a:chExt cx="9118598" cy="2682240"/>
          </a:xfrm>
        </p:grpSpPr>
        <p:pic>
          <p:nvPicPr>
            <p:cNvPr id="35842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8160" y="2113280"/>
              <a:ext cx="9118597" cy="2682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/>
            <p:nvPr/>
          </p:nvSpPr>
          <p:spPr>
            <a:xfrm>
              <a:off x="2311398" y="2349500"/>
              <a:ext cx="8595360" cy="23545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下面的方法实现了两个整数相除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public static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divide(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x,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y) {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result = x / y;          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定义一个变量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result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记录两个数相除的结果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return result;                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将结果返回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845E6E65-A17F-4B79-8A96-561E81970B41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6.3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捕捉异常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391920" y="1607820"/>
            <a:ext cx="9916160" cy="41630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上述代码中，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对可能发生异常的代码用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try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…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catch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语句进行了处理。在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try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代码块中发生除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异常时，程序会通过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catch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语句捕获异常，在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catch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语句中通过调用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Exception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对象的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getMessage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方法，返回异常信息“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/ by zero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”。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catch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代码块对异常处理完毕后，程序仍会向下执行，而不会终止程序。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需要注意的是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try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代码块中，发生异常语句后面的代码是不会被执行的，如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上述代码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中的打印语句就没有执行。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5E3B05E-6E75-4E23-A0CB-7369D1FB76C8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6.3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捕捉异常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219200" y="1158240"/>
            <a:ext cx="10180320" cy="12395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在程序中，有时候会希望有些语句无论程序是否发生异常都要执行，这时就可以在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try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…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catch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语句后，加一个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finally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代码块。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110739" y="2397760"/>
            <a:ext cx="8798560" cy="3901440"/>
            <a:chOff x="2042160" y="2397760"/>
            <a:chExt cx="8798560" cy="3901440"/>
          </a:xfrm>
        </p:grpSpPr>
        <p:pic>
          <p:nvPicPr>
            <p:cNvPr id="36866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2160" y="2397760"/>
              <a:ext cx="8798560" cy="39014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/>
            <p:nvPr/>
          </p:nvSpPr>
          <p:spPr>
            <a:xfrm>
              <a:off x="2311398" y="2397760"/>
              <a:ext cx="8397242" cy="39014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public class Example26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public static void main(String[]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args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         //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下面的代码定义了一个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try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…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catch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…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finally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语句用于捕获异常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try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result = divide(4, 0);       //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调用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divide()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方法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(result);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} catch (Exception e) {               //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对捕获到的异常进行处理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("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捕获的异常信息为：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" +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e.getMessage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());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            			 return;                             //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用于结束当前语句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} finally {                             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("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进入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finally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代码块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");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CF9599F0-8240-41FD-ABAC-AA2BB121B145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6.3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捕捉异常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164078" y="1986279"/>
            <a:ext cx="9179560" cy="3149600"/>
            <a:chOff x="1706880" y="1899920"/>
            <a:chExt cx="9179560" cy="3149600"/>
          </a:xfrm>
        </p:grpSpPr>
        <p:pic>
          <p:nvPicPr>
            <p:cNvPr id="37890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6880" y="1899920"/>
              <a:ext cx="9062720" cy="30581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/>
            <p:nvPr/>
          </p:nvSpPr>
          <p:spPr>
            <a:xfrm>
              <a:off x="2098040" y="1899920"/>
              <a:ext cx="8788400" cy="31496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程序继续向下执行…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");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   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下面的方法实现了两个整数相除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public static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divide(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x,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y)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result = x / y;          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定义一个变量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result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记录两个数相除的结果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return result;                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将结果返回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0B889905-E6AA-4AEB-9D4D-7020206EDE77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6.3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捕捉异常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432560" y="1798320"/>
            <a:ext cx="9723120" cy="3027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上述代码中，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catch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代码块中增加了一个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return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语句，用于结束当前方法，程序第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13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行代码就不会执行了，而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finally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代码块中的代码仍会执行，不受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return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语句影响。也就是说不论程序是发生异常还是使用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return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语句结束，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finally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中的语句都会执行。因此，在程序设计时，通常会使用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finally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代码块处理完成必须做的事情，如释放系统资源。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57F84FFF-4EBC-4AB5-A823-6B723BCB7206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6.3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捕捉异常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5252720" y="1915141"/>
            <a:ext cx="5953760" cy="3027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finally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中的代码块在一种情况下是不会执行的，那就是在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try...catch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中执行了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System.exit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(0)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语句。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System.exit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(0)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表示退出当前的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虚拟机，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虚拟机停止了，任何代码都不能再执行了。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1656079" y="1590616"/>
            <a:ext cx="2834640" cy="3676730"/>
            <a:chOff x="2311398" y="1676344"/>
            <a:chExt cx="2834640" cy="3676730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398" y="1676344"/>
              <a:ext cx="2834640" cy="3676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内容占位符 2"/>
            <p:cNvSpPr txBox="1"/>
            <p:nvPr/>
          </p:nvSpPr>
          <p:spPr>
            <a:xfrm>
              <a:off x="2941318" y="2734203"/>
              <a:ext cx="1762762" cy="647773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注      意</a:t>
              </a:r>
              <a:endPara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85CE411F-1A6B-4A1B-A93E-2B7E3CF2C046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声明异常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899920" y="1462386"/>
            <a:ext cx="5760720" cy="441009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在实际开发中，大部分情况下我们会调用别人编写方法，并不知道别人编写的方法是否会发生异常。针对这种情况，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允许在方法的后面使用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throws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关键字对外声明该方法有可能发生的异常，这样调用者在调用方法时，就明确地知道该方法有异常，并且必须在程序中对异常进行处理，否则编译无法通过。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458" y="1763871"/>
            <a:ext cx="2674937" cy="3665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A54FCC14-121E-4DC3-B241-4A29DE060E6B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声明异常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259840" y="1635106"/>
            <a:ext cx="10474960" cy="351601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throws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关键字声明抛出异常的语法格式如下：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修饰符 返回值类型 方法名</a:t>
            </a:r>
            <a:r>
              <a:rPr lang="en-US" altLang="zh-CN" sz="24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(</a:t>
            </a:r>
            <a:r>
              <a:rPr lang="zh-CN" altLang="zh-CN" sz="24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参数</a:t>
            </a:r>
            <a:r>
              <a:rPr lang="en-US" altLang="zh-CN" sz="24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1</a:t>
            </a:r>
            <a:r>
              <a:rPr lang="zh-CN" altLang="zh-CN" sz="24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，参数</a:t>
            </a:r>
            <a:r>
              <a:rPr lang="en-US" altLang="zh-CN" sz="24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2.....)throws </a:t>
            </a:r>
            <a:r>
              <a:rPr lang="zh-CN" altLang="zh-CN" sz="24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异常类</a:t>
            </a:r>
            <a:r>
              <a:rPr lang="en-US" altLang="zh-CN" sz="24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1, </a:t>
            </a:r>
            <a:r>
              <a:rPr lang="zh-CN" altLang="zh-CN" sz="24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异常类</a:t>
            </a:r>
            <a:r>
              <a:rPr lang="en-US" altLang="zh-CN" sz="24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2.....{</a:t>
            </a:r>
            <a:endParaRPr lang="zh-CN" altLang="zh-CN" sz="2400" dirty="0">
              <a:solidFill>
                <a:srgbClr val="FF0000"/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        //</a:t>
            </a:r>
            <a:r>
              <a:rPr lang="zh-CN" altLang="zh-CN" sz="24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方法体</a:t>
            </a:r>
            <a:r>
              <a:rPr lang="en-US" altLang="zh-CN" sz="24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.....</a:t>
            </a:r>
            <a:endParaRPr lang="zh-CN" altLang="zh-CN" sz="2400" dirty="0">
              <a:solidFill>
                <a:srgbClr val="FF0000"/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}</a:t>
            </a:r>
            <a:endParaRPr lang="zh-CN" altLang="zh-CN" sz="2400" dirty="0">
              <a:solidFill>
                <a:srgbClr val="FF0000"/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从上述语法格式中可以看出，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throws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关键字需要写在方法声明的后面，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throws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后面需要声明方法中发生异常的类型。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D872131B-7F8C-4B99-83AF-E9C4E68BE489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声明异常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259840" y="1309986"/>
            <a:ext cx="10474960" cy="76265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接下来通过一个案例演示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throws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关键字的用法。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910080" y="2026591"/>
            <a:ext cx="9164320" cy="4079567"/>
            <a:chOff x="1727200" y="2026591"/>
            <a:chExt cx="9164320" cy="4079567"/>
          </a:xfrm>
        </p:grpSpPr>
        <p:pic>
          <p:nvPicPr>
            <p:cNvPr id="38914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7200" y="2026591"/>
              <a:ext cx="9164320" cy="40795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/>
            <p:nvPr/>
          </p:nvSpPr>
          <p:spPr>
            <a:xfrm>
              <a:off x="2179320" y="2026591"/>
              <a:ext cx="8625840" cy="4079567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public class Example27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public static void main(String[]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args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result = divide(4, 2);   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调用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divide()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方法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(result);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   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下面的方法实现了两个整数相除，并使用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throws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关键字声明抛出异常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public static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divide(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x,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y) throws Exception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result = x / y;          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定义一个变量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result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记录两个数相除的结果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return result;                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将结果返回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246FDC0C-B08C-4F45-BD13-5213061FE4A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声明异常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117600" y="1330960"/>
            <a:ext cx="10302240" cy="7924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接下来修改上述程序，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try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…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catch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处理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divide()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方法抛出的异常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270760" y="2037080"/>
            <a:ext cx="8412479" cy="3911600"/>
            <a:chOff x="1991360" y="2032000"/>
            <a:chExt cx="8412479" cy="3911600"/>
          </a:xfrm>
        </p:grpSpPr>
        <p:pic>
          <p:nvPicPr>
            <p:cNvPr id="39938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1360" y="2032000"/>
              <a:ext cx="8412479" cy="3911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/>
            <p:nvPr/>
          </p:nvSpPr>
          <p:spPr>
            <a:xfrm>
              <a:off x="2540000" y="2153920"/>
              <a:ext cx="7670800" cy="37896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public class Example28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public static void main(String[]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args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       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下面的代码定义了一个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try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…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catch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语句用于捕获异常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try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result = divide(4, 2);  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调用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divide()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方法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(result);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} catch (Exception e) {          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对捕获到的异常进行处理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e.printStackTrace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();         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打印捕获的异常信息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C48AD4D7-8CF8-467A-8B94-ECF376107343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声明异常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940560" y="2042160"/>
            <a:ext cx="9184639" cy="2804160"/>
            <a:chOff x="1493520" y="2042160"/>
            <a:chExt cx="9184639" cy="2804160"/>
          </a:xfrm>
        </p:grpSpPr>
        <p:pic>
          <p:nvPicPr>
            <p:cNvPr id="40962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3520" y="2042160"/>
              <a:ext cx="9184639" cy="2804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/>
            <p:nvPr/>
          </p:nvSpPr>
          <p:spPr>
            <a:xfrm>
              <a:off x="2011680" y="2275840"/>
              <a:ext cx="8458198" cy="233680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下面的方法实现了两个整数相除，并使用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throws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关键字声明抛出异常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public static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divide(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x,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y) throws Exception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result = x / y;     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定义一个变量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result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记录两个数相除的结果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return result;            //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将结果返回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75035F61-269D-42C3-A726-02A56C030E11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声明异常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442720" y="1361440"/>
            <a:ext cx="10160000" cy="11480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上述代码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由于使用了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try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…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catch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对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divide()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方法进行了异常处理，因此程序可以编译通过，运行后正确的打印出了运行结果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。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程序运行结果如下图。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2794635" y="2994660"/>
            <a:ext cx="7456170" cy="207518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6288E27D-DA21-4368-A9EA-3BD74703658A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声明异常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209040" y="1127760"/>
            <a:ext cx="10576560" cy="18186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由于使用了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try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…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catch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对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divide()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方法进行了异常处理，因此程序可以编译通过，运行后正确的打印出了运行结果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。下面修改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上述程序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，将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divide()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方法抛出的异常继续抛出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910080" y="2824480"/>
            <a:ext cx="8930640" cy="3576320"/>
            <a:chOff x="1910080" y="2824480"/>
            <a:chExt cx="8930640" cy="3576320"/>
          </a:xfrm>
        </p:grpSpPr>
        <p:pic>
          <p:nvPicPr>
            <p:cNvPr id="41986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10080" y="2835910"/>
              <a:ext cx="8930640" cy="35648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/>
            <p:nvPr/>
          </p:nvSpPr>
          <p:spPr>
            <a:xfrm>
              <a:off x="2875280" y="2824480"/>
              <a:ext cx="7965440" cy="35255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public class Example29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public static void main(String[]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args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)throws Exception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result = divide(4, 0);   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调用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divide()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方法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(result);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   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下面的方法实现了两个整数相除，并使用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throws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关键字声明抛出异常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public static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divide(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x,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y) throws Exception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result = x / y;          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定义一个变量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result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记录两个数相除的结果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return result;                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将结果返回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34BC9590-98AC-401E-9777-E777F878D29D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6.4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声明异常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4878534" y="1736209"/>
            <a:ext cx="5684520" cy="34645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上述代码，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main()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方法继续使用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throws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关键字将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Exception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抛出，程序虽然可以通过编译，但从运行结果可以看出，在运行时期由于没有对“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/by zero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”的异常进行处理，最终导致程序终止运行。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2311398" y="1822569"/>
            <a:ext cx="2227128" cy="3720861"/>
            <a:chOff x="3028131" y="1788160"/>
            <a:chExt cx="2227128" cy="3720861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8131" y="1788160"/>
              <a:ext cx="2227128" cy="3720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内容占位符 2"/>
            <p:cNvSpPr txBox="1"/>
            <p:nvPr/>
          </p:nvSpPr>
          <p:spPr>
            <a:xfrm>
              <a:off x="3606801" y="2806461"/>
              <a:ext cx="883919" cy="627619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解 析</a:t>
              </a:r>
              <a:endPara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endPara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AA15B4B2-733F-4486-ADA2-34DEDA5B85BF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6.5 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475423" y="1574800"/>
            <a:ext cx="6390640" cy="40335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JDK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中定义了大量的异常类，虽然这些异常类可以描述编程时出现的大部分异常情况，但是在程序开发中有时可能需要描述程序中特有的异常情况，例如，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前面讲解的程序中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divide()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方法，不允许被除数为负数。为了解决这个问题，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Java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允许用户自定义异常，但自定义的异常类必须继承自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Exception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或其子类。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503" y="1657350"/>
            <a:ext cx="3338513" cy="354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E5E229AE-7AE0-444C-AA84-5B7822913C57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6.5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475423" y="1270000"/>
            <a:ext cx="6390640" cy="6908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自定义异常的具体代码如下所示。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062480" y="2072640"/>
            <a:ext cx="8879840" cy="3870960"/>
            <a:chOff x="1971040" y="2062480"/>
            <a:chExt cx="8879840" cy="3870960"/>
          </a:xfrm>
        </p:grpSpPr>
        <p:pic>
          <p:nvPicPr>
            <p:cNvPr id="43010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1040" y="2062480"/>
              <a:ext cx="8879840" cy="38709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/>
            <p:nvPr/>
          </p:nvSpPr>
          <p:spPr>
            <a:xfrm>
              <a:off x="2301238" y="2062480"/>
              <a:ext cx="8359457" cy="387096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下面的代码是自定义一个异常类继承自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Exception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public class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DivideByMinusException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extends Exception{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public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DivideByMinusException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super();          	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调用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Exception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无参的构造方法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public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DivideByMinusException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(String message){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super(message); 	// 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调用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Exception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有参的构造方法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2819079E-BB78-4B4C-9E42-95E683239E50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6.5 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4680585" y="1517015"/>
            <a:ext cx="6120765" cy="40538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在实际开发中，如果没有特殊的要求，自定义的异常类只需继承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Exception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类，在构造方法中使用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super()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语句调用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Exception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的构造方法即可。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自定义异常类中使用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throw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关键字在方法中声明异常的实例对象，格式如下：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throw Exception</a:t>
            </a:r>
            <a:r>
              <a:rPr lang="zh-CN" altLang="zh-CN" sz="2400" dirty="0">
                <a:solidFill>
                  <a:srgbClr val="FF0000"/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异常对象</a:t>
            </a:r>
            <a:endParaRPr lang="zh-CN" altLang="zh-CN" sz="2400" dirty="0">
              <a:solidFill>
                <a:srgbClr val="FF0000"/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605" y="1438910"/>
            <a:ext cx="2800350" cy="421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A48D9E7C-AC54-43F8-BE23-8178888288D5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6.5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117600" y="1209040"/>
            <a:ext cx="10170159" cy="812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下面通过一个案例演示自定义异常类。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717040" y="1940560"/>
            <a:ext cx="9347200" cy="4185920"/>
            <a:chOff x="1717040" y="1950720"/>
            <a:chExt cx="9347200" cy="4185920"/>
          </a:xfrm>
        </p:grpSpPr>
        <p:pic>
          <p:nvPicPr>
            <p:cNvPr id="45058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7040" y="1950720"/>
              <a:ext cx="9347200" cy="41859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/>
            <p:nvPr/>
          </p:nvSpPr>
          <p:spPr>
            <a:xfrm>
              <a:off x="2270759" y="1950720"/>
              <a:ext cx="8595360" cy="41859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public class Example30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public static void main(String[]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args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result = divide(4, -2);   			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        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System.out.println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(result);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//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下面的方法实现了两个整数相除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public static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divide(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x,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y) {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if(y&lt;0){ 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	throw new 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DivideByMinusException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("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除数是负数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");	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</a:t>
              </a:r>
              <a:r>
                <a:rPr lang="en-US" altLang="zh-CN" sz="14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result = x / y;   	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定义一个变量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result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记录两个数相除的结果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return result;         	// </a:t>
              </a:r>
              <a:r>
                <a:rPr lang="zh-CN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将结果返回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}</a:t>
              </a:r>
              <a:endParaRPr lang="zh-CN" altLang="zh-CN" sz="1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76C6A3EB-7DB3-42AB-820F-8BE767F008AD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6.5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483359" y="1381760"/>
            <a:ext cx="6847841" cy="812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编译程序，编译器报错，如下图。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2155190" y="2403474"/>
            <a:ext cx="8531859" cy="2524126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05FACD71-869B-48BB-BD2C-6F6D0ECB633D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6.5 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1280159" y="1503680"/>
            <a:ext cx="10170159" cy="41351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从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运行结果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可以看出，程序在编译时就发生了异常。因为在一个方法内使用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throw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关键字抛出异常对象时，需要使用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try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…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catch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语句对抛出的异常进行处理，或者在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divide()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方法上使用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throws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关键字声明抛出异常，由该方法的调用者负责处理。但是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程序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没有这样做。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为了解决上面的问题，对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程序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进行修改，在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divide()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方法上，使用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throws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关键字声明抛出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DivideByMinusException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异常，并在调用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divide()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方法时使用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try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…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catch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语句对异常进行处理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EED5C916-6CE8-4CC9-9865-3B506A469AC2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6.5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559559" y="1635760"/>
            <a:ext cx="9672320" cy="4094480"/>
            <a:chOff x="1422400" y="1706880"/>
            <a:chExt cx="9672320" cy="4094480"/>
          </a:xfrm>
        </p:grpSpPr>
        <p:pic>
          <p:nvPicPr>
            <p:cNvPr id="46082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400" y="1706880"/>
              <a:ext cx="9672320" cy="4094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/>
            <p:nvPr/>
          </p:nvSpPr>
          <p:spPr>
            <a:xfrm>
              <a:off x="1422400" y="1869440"/>
              <a:ext cx="9646603" cy="37896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public class Example31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public static void main(String[]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args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            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下面的代码定义了一个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try…catch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语句用于捕获异常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try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result = divide(4, -2);  			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                                      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(result);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} catch 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DivideByMinusException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e) {    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对捕获到的异常进行处理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System.out.println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e.getMessage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());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打印捕获的异常信息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   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</p:txBody>
        </p:sp>
      </p:grp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38506C4F-266D-4B38-A3D1-A94B3648E631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6.5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483360" y="1686560"/>
            <a:ext cx="9489440" cy="3901440"/>
            <a:chOff x="1483360" y="1686560"/>
            <a:chExt cx="9489440" cy="3901440"/>
          </a:xfrm>
        </p:grpSpPr>
        <p:pic>
          <p:nvPicPr>
            <p:cNvPr id="47106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3360" y="1686560"/>
              <a:ext cx="9489440" cy="3901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/>
            <p:nvPr/>
          </p:nvSpPr>
          <p:spPr>
            <a:xfrm>
              <a:off x="2021841" y="2032000"/>
              <a:ext cx="8382000" cy="33223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下面的方法实现了两个整数相除，并使用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throws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关键字声明抛出自定义异常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public static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divide(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x,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y) throws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DivideByMinusException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if (y &lt; 0) {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	throw new 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DivideByMinusException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("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除数是负数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");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</a:t>
              </a:r>
              <a:r>
                <a:rPr lang="en-US" altLang="zh-CN" sz="1600" dirty="0" err="1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int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result = x / y;    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定义一个变量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result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记录两个数相除的结果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	return result;           // </a:t>
              </a:r>
              <a:r>
                <a:rPr lang="zh-CN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将结果返回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	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Lucida Sans Unicode" panose="020B0602030504020204"/>
                  <a:ea typeface="微软雅黑" panose="020B0503020204020204" pitchFamily="34" charset="-122"/>
                  <a:cs typeface="Lucida Sans Unicode" panose="020B0602030504020204"/>
                </a:rPr>
                <a:t> }</a:t>
              </a:r>
              <a:endParaRPr lang="zh-CN" altLang="zh-CN" sz="16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endParaRPr>
            </a:p>
          </p:txBody>
        </p:sp>
      </p:grp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89D9CAFD-2165-458B-8D3E-897705936128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6.5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内容占位符 2"/>
          <p:cNvSpPr txBox="1"/>
          <p:nvPr/>
        </p:nvSpPr>
        <p:spPr>
          <a:xfrm>
            <a:off x="1280159" y="1503680"/>
            <a:ext cx="10170159" cy="8432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程序运行结果如下图。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2895600" y="2609850"/>
            <a:ext cx="7425690" cy="211455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3AC76833-993B-4B2A-9AFC-F8D3B9260F58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7401562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6.5</a:t>
            </a:r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自定义异常</a:t>
            </a:r>
            <a:endParaRPr lang="zh-CN" altLang="zh-CN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内容占位符 2"/>
          <p:cNvSpPr txBox="1"/>
          <p:nvPr/>
        </p:nvSpPr>
        <p:spPr>
          <a:xfrm>
            <a:off x="1308098" y="2032000"/>
            <a:ext cx="9865361" cy="28041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上述代码中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main()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方法中，第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4~9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行代码使用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try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…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catch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语句捕获处理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divide()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方法抛出的异常。在调用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divide()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方法时，如果传入的被除数不能为负数，程序会抛出一个自定义的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DivideByMinusException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异常，该异常最终被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catch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代码块捕获处理，并打印出异常信息。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Lucida Sans Unicode" panose="020B0602030504020204"/>
                <a:ea typeface="微软雅黑" panose="020B0503020204020204" pitchFamily="34" charset="-122"/>
                <a:cs typeface="Lucida Sans Unicode" panose="020B0602030504020204"/>
              </a:rPr>
              <a:t> 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Lucida Sans Unicode" panose="020B0602030504020204"/>
              <a:ea typeface="微软雅黑" panose="020B0503020204020204" pitchFamily="34" charset="-122"/>
              <a:cs typeface="Lucida Sans Unicode" panose="020B0602030504020204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11515CA8-C139-47BD-979F-4FAC7970E44A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9338" y="500143"/>
            <a:ext cx="5903119" cy="5835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本章小结</a:t>
            </a:r>
            <a:endParaRPr lang="zh-CN" altLang="en-US" sz="3200" b="1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495401" y="2421604"/>
            <a:ext cx="5281506" cy="101473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本章主要介绍了异常的概念、异常的分类、捕捉异常、声明异常及自定义异常等。</a:t>
            </a:r>
            <a:endParaRPr lang="zh-CN" altLang="en-US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4" name="直接连接符 71"/>
          <p:cNvCxnSpPr/>
          <p:nvPr/>
        </p:nvCxnSpPr>
        <p:spPr>
          <a:xfrm flipH="1">
            <a:off x="9202549" y="7121749"/>
            <a:ext cx="1474501" cy="1463953"/>
          </a:xfrm>
          <a:prstGeom prst="line">
            <a:avLst/>
          </a:prstGeom>
          <a:ln>
            <a:solidFill>
              <a:srgbClr val="FEA5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73"/>
          <p:cNvCxnSpPr/>
          <p:nvPr/>
        </p:nvCxnSpPr>
        <p:spPr>
          <a:xfrm flipH="1">
            <a:off x="11069007" y="5941656"/>
            <a:ext cx="658541" cy="626903"/>
          </a:xfrm>
          <a:prstGeom prst="line">
            <a:avLst/>
          </a:prstGeom>
          <a:ln>
            <a:solidFill>
              <a:srgbClr val="05B0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41" y="1634705"/>
            <a:ext cx="4730773" cy="3870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fld id="{E777ADAD-61B2-451E-9F2B-ACD0F7599F67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4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5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6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7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8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9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0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1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2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3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4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5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6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7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8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19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0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1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2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3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4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5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6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7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8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29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0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1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2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3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4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5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1 性能测试概述"/>
</p:tagLst>
</file>

<file path=ppt/tags/tag36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4.7 本章小结"/>
</p:tagLst>
</file>

<file path=ppt/tags/tag37.xml><?xml version="1.0" encoding="utf-8"?>
<p:tagLst xmlns:p="http://schemas.openxmlformats.org/presentationml/2006/main">
  <p:tag name="GENSWF_ADVANCE_TIME" val="0.00"/>
  <p:tag name="ISPRING_SLIDE_INDENT_LEVEL" val="0"/>
  <p:tag name="ISPRING_CUSTOM_TIMING_USED" val="0"/>
  <p:tag name="GENSWF_SLIDE_TITLE" val="传智播客.黑马程序员"/>
</p:tagLst>
</file>

<file path=ppt/tags/tag38.xml><?xml version="1.0" encoding="utf-8"?>
<p:tagLst xmlns:p="http://schemas.openxmlformats.org/presentationml/2006/main">
  <p:tag name="ISPRING_UUID" val="{8D62E317-9EB8-4EE3-A0B2-DEA7D8D8667A}"/>
  <p:tag name="ISPRING_RESOURCE_FOLDER" val="F:\7、计算机组装与维护\5、资源\2.PPT\ppt\第1章 认识计算机 教学PPT_薛蒙蒙_0827_1\"/>
  <p:tag name="ISPRING_RESOURCE_FOLDER_STATIC" val="F:\7、计算机组装与维护\5、资源\2.PPT\ppt\第1章 认识计算机 教学PPT_薛蒙蒙_0827_1\"/>
  <p:tag name="ISPRING_PRESENTATION_PATH" val="F:\7、计算机组装与维护\5、资源\2.PPT\ppt\第1章 认识计算机 教学PPT_薛蒙蒙_0827.pptx"/>
  <p:tag name="ISPRING_PROJECT_FOLDER_UPDATED" val="1"/>
  <p:tag name="ISPRING_PLAYERS_CUSTOMIZATION" val="UEsDBBQAAgAIAO9xSE3/6EwIKgQAAHYOAAAdAAAAdW5pdmVyc2FsL2NvbW1vbl9tZXNzYWdlcy5sbmetV1uP00YUfkfiP4wsUbUPXaASCKnZoEk8m1g4drAne+lF1mw8BAvHs7WdwPYJVS1i+wIStKItLVppu1upNK2QWlFW5ddsnOVf9NhOIAm0tnd5sJSx8n3n9p3jM6WLN7ou6nM/cIS3KJ1dOCMh7rWF7XidRalFl96/IKEgZJ7NXOHxRckTErpYPnmi5DKv02MdDr9PnkCo1OVBAMegHJ9enZFjL0rNilXVG02srVmqXtOtilKTylXR3WDeJlJFR3ziv/vB+Qs3zp47/17p9BiZh8hsYFWdpUIJ07kzOYg0auiqBWxEtTSySqXyO53ww/mnGI/eoqqiEak83NkbPXtyuHdr+MPzYhRNgyyDKy6Yn3syeVqGQTRqmaoiE0sxLU2nScJUQokslaMHvw/v7o7290b7vx08/frg6c3o8Xb0553DvduHgz+G/3yTZUA28Iqi1Syq66ppEU2evJHKo/170Y+PRvf3R4/vF6QxsEkM8O7e7ovvdo6AtRIRpPBo62b0cKsYSV2p1VV4aOzFi18fHDwbFCNoEg0SkB13g5gmrhGroq9CaUAjd3eLQPRLYGV7cDjYKYJaI2ZS+SyMhpeVGqaKrsXKMYhJDaWayGZN9FCbeUh47iZi7Tbg0IbP+47oBfCm7/Dr3EaB69g8KGbFJJdbIFgFq6mVq6zPUSgSyjEhcjwUXuWo4/Q5uODb3M+yAQ1UJXJcnsst5SNrCSsqkS2ol6yvWDRp9NgY8znyRIiY64o4ALDL7D7z2hyt8zbrBRxtwt9sx07+tsEg7NiTz3rO54iFqX/o1LjZNJmsnlo4nmsKVWFyrDDfg/FbkGqm1V8PttsLINIw5N2NMCuKqUwsvBUvjhtXE5vmfwaVpy7HjGjOftFwTJA4MeCrBy1fcUR+BGmAPqQy6TLHzY9StCUw1PR5wL2Q+0jxrhSwqeljAk2go3IsQ+ZnXFiGihTAr5CKqdA4x3w9cEKehUwKldb7zRppw4Lg8pC/0sk6vyKg/13O+lBEeO8EqXAWjmCskCAmkzUegdNzesyigUMdFsI6hsAl1+lC/HYOzlaDTDKYjteZTLzxyz/6/ssiH///M5L6bvCg1+UT2SRBZJGaBBvVulXFWpWA1Id3vo3+up0TBFKNfVKpaam4EsOjJ9vw9Y+++CV69HO09RwCHN76ajj4Oydhun/JZAkD6ThzOaHzjqT2YSf66WEhBmi+eOSQl0wfayLkwadZJBRXZnHJIQ9qvLFOcEX21qTs46xhSnG13gBlmIkQRM9vZ68D0wwNbFyC5k9WKqncYP41mBxUCLcQSxJ3PL3CYtaPtLhPExxvAMdRU6VpYVlOrjZwqXGd9rX0w2Ujloyw+I7jwh0nL1m1jjWYLnN83HbCgoTJQJ80O7Rdep4oLd7XXpvvL09BckMsnZ66MP4LUEsDBBQAAgAIAO9xSE2LtzoSDwQAANwPAAAnAAAAdW5pdmVyc2FsL2ZsYXNoX3B1Ymxpc2hpbmdfc2V0dGluZ3MueG1s5VdRaxtHEH7Xr1iupG/RyYldO+5JwdgSEZVl17rShFLM6m6s23pv93q7J0V5CiEJTV8aKIWShhZDavehdUugkNY0P6ZEkn9G53S2LFlyenJISSjiEDf7zbczs7Pf3lpXb/qcNCFUTIq8MZPNGQSEI10mGnnjI7t0ccEgSlPhUi4F5A0hDXK1kLGCqM6Z8mqgNUIVQRqhFgOdNzytg0XTbLVaWaaCMB6VPNLIr7KO9M0gBAVCQ2gGnLbxT7cDUEYhkyHESkyr0o04EOZiCILF0VFe4lR5hpnA6tTZboQyEu6y5DIkYaOeN95ZWIp/x5iEaoX5IOLkVAGNsVkvUtdlcTyU19gtIB6whoeBz88apMVc7eWNy7lLMQ3CzXGaPnmSBI1pliVmI/QRvw+aulTT5DWZUMNNrY4NicltC+ozx8YREhcgb6zYm7VKeaW4WV2zi7XNa/ZqJYlhCie7eN2ewsku25XiNPi09NdurBc3KuXqB5v22lrFLq+feGFFRwpimaMVs7CyMgodGBTM0l7k1wVlHLvtVBkVaOxXTsMG2LLEcBW3KFdgkM8CaHwYUc50G9s6h229DRAsqQAcvREvW97QYQTGCV1CiIHhWg56Yu7KoCfmF0ZSN5PZT9KaGKVFtaaOh82Dtn5oljlsOoZtSTGSWvxO6pK7g4TAr4NbpT4M7YnaNhMlRM4YZAsXgWOqSyGj3CBMY+rOwFlFdaWZ7u/C0jCSIBfudiCrtbFSOB4N1UjFB1WPG98pfFKVGtSnSSkS01nQ7re/dh7u9g72ege/vHj25Ytnt7s/7/Qe3e3+/tXh3heH+791/vomDc8NGRE/UpqgkgQcNBDtAfk8YrdIHbZkCIQDbaLmoJ0pojhzITsVcUCVOiGlOuEgF5IdUK6uFK9fIFoS6japcKYkx6UHP9Cvg59i7kLiFJzLFrhDFFgZh0YKSBthLnP7sDRpZs+9sudZVocKIgVvE+rg5lcEJbbJZKTQ0mQQp9QPUaXl82gT4irEzkeuhIl+zg3cPzhZ6EKYhi03c+ny7Nx78wtXFrPm37d3L77U6UgQ1zmNZ0sUcflMxU3ndUp3/8XpJeo75luSoR93pTs26eQT5Uj5xrXBMmPNmixhfaV9ExWs+8OP3QfPewdfd79/nKrZn+50Hz/o3vnpyPHR3c79e539P9L4dp7s9f58erh3v/Pd8zT4fv3TAN/l+v3TTyq/BmJPPSl3fKp8H+6mgfV29g/3n6RBboCKfCDrQ59eadw+pqHAA+GtgFbx7Gr0MyN4enHmM9yZb4VEnaUWr65u/4lCvdJHViJvr0ehzrWwb7yo/18qlrwNbjojVxvLnHiJjEd8JpiPdYw/WgY3z8LcbA4vSxOHMhlkG72RFzL/AFBLAwQUAAIACADvcUhNBOcD0bYCAABTCgAAIQAAAHVuaXZlcnNhbC9mbGFzaF9za2luX3NldHRpbmdzLnhtbJVWbU/bMBD+vl9Rdd8Jey2TTCUonYTEBhqI705yTaw6dmQ7Zf338yux26TNekKq757Hd763guSWsOWH2QwVnHLxDEoRVkmjCboZKa/neacUZxcFZwqYumBcNJjOlx9/2g/KLPIci+9ATOVscAG9m4X9TKF4H98WRsYIBW9azPYPvOIXOS62leAdK8+GVu9bEJSwrUZe/lis1qMOKJHqXkGTxLS+MjKN0gqQEkxI39dGzrIozoEGT5f2M5HTuzr9+gPajkiiLO3mk5ExWosrSJN8dWNkHM/07WlVFkZOExT8VRr65bORUSjFexDp5XdfjYwyeNu1/9MjreCVSWjKOV3Edw7luNTjZ6K6NHKWYB5kHJ2tgk+PfetdBPJf47lHZlwFp08mrwcLwRQ9p7BUogOUhZOzyZq/PXZKzwcsN5hKDYhVPehJB/2EOxmuSXU97g+8EVZGIK/oEa+cdg2sXLyx09TQE1arW7srYuy7LopQwM4roxB7ZY/8rfN6hIyUPfKZkhIeGd0fwQ8tjhNqfIt9NU+nX1uBYX0MCQunYDWeHszkysi1VwRMw0tYShPOC2nAlA1lVudCyo5iQgzvSIUV4eyXweV7+xiJsgODb7XhxkKKKApD/WZj1Fs6rpc9p+3orWk/ul+F/nHuPFN6iV/PsVK4qBv9qyTnM8/TU6ITM8+GGWZNajiIe7bhEcf6HiM1WGxBvHBOp7phXIGcej13szUGR1mUA5QNZxn5S4bSz7omB7HWVSMQ2ibVOVxNqprqP/VK4A3KlDBidExV6+sYJu9dGSl8CwAWRR161h2cpemoIhR2QL01UtgHj70MSd2jY+12ox5go+KG85pJHekXRd8pMS41DBBedVzDDGc5v4QVzqV9WTL3YQf3g59s5bDLTOvF3p3Ct1Jys7Yfp1ArzT+T/wBQSwMEFAACAAgA73FITaPtv2riAwAA7Q4AACYAAAB1bml2ZXJzYWwvaHRtbF9wdWJsaXNoaW5nX3NldHRpbmdzLnhtbN1X328bRRB+91+xOlTe6kv6g6Th7CpKHMXCdUJyiFYIReu7sW/p3u71ds+u+1ShUlFeqISQUKlAkUrCAwRUCakQ0T8G1Xb+DGZ9jhPHSTgHaNXKOlk7N/PtfLOz3946V2+HnDQhVkyKgjWdn7IICE/6TDQK1gfu0vlZiyhNhU+5FFCwhLTI1WLOiZIaZypYB63RVRGEEWou0gUr0Dqas+1Wq5VnKorNW8kTjfgq78nQjmJQIDTEdsRpG/90OwJlFXM5QpzUdE36CQfCfExBMJMd5cs65JadetWod7MRy0T4C5LLmMSNWsF6a3be/PZ9UqRFFoIw3FQRjcas56jvM5MO5evsDpAAWCPAvGcuWaTFfB0UrItTFwwMutvjMH3wlAM1MAsSyQg9wA9BU59qmg7TCTXc1mrfkJr8tqAh81x8Qwz/grXobqxXyouljeqKW1rfWHavVdIcJghyS9fdCYLcslspTeKfFX75xmpprVKuvrfhrqxU3PLqQRRWdKQgjj1aMQcrK5PYg2HBHB0kYU1QxrHZjpRRgcZ25TRugCuXGK5inXIFFvkkgsb7CeVMt7Grp7CrbwJE8yoCT6+ZZStYOk7AOoBLATExXMthT1y+MuyJmdkR6nY6+wGtY7N0qNbUC7B50NZPzbEPm/bd6lKMUDNjUpPcHxKqY5U5cpmPGeUWYRq5ecO32lRALzGO9Tex0/m60GPkvIDGaqSGwzqaVvaKH1WlBvVxSi41neTa/eaXzsOt3u52b/fnF8++ePHsbvenzd6je93fvtzb/nxv59fOn19nwbkhExImShOUhoiDBqIDILcSdofUoC5jIBxoE0UE7UwRxZkP+YmAI6rUASjVKQY5l/Z0ubpYun6OaEmo36TCmxAcFxPCSP8f+BS5C4lTcC5b4B+CwMp4NFFA2ujmM7/vloVm/swre5Zl9aggUvA2oR5uZ0VQNJtMJgotTQaGUj9FlRUvoE0wVTDBg1DCRJ9zAw8JnCz2Ic6CNjV94eKly+/MzF6Zy9t/3d06f2rQQOJWOTWzpRq3cKKGZos6oqT/EHSKno7FLsk4NF3pj016/Bkx0LJxbXBsoyTHi1JfO1+OJnW//6H74Hlv96vud48zte/Tze7jB91PfxwEPrrXuf9ZZ+f3LLGdJ9u9P57ubd/vfPs8i3+/olkc3+b63aNPprgG+h55Mu7hTHwfbmVx623u7O08yeK5BioJgawe+jzKEvYhjQVK/GvhWsXTqNFnRvA84ixkuNdeC9E5af//e716KZpz+odQqkj/keacaalevfC+sTVIR8Mbw8gVwbGPvYzl0D56RS3m/gZQSwMEFAACAAgA73FITQ/kWSCZAQAAHQYAAB8AAAB1bml2ZXJzYWwvaHRtbF9za2luX3NldHRpbmdzLmpzjZRNb8IwDIbv/AqUXSfEPrvthgaTJnGYNG7TDmkxpSJNoiR0MMR/Xx2+mtYdxJfm7dPXsStn0+mWiyWs+9Ld+Ge//wj3XgPUnFnCdaiLFj1HnVmRTWGS5SAyCayGFIdPj/L2RFDGTHrTeP2JtrbixxS+mXFhq7gmLAyhWUIrCO2HSrKixN+gtH1Zu5IqfY6XzinZS5R0IF1PKpNzz7CrN7+qFdZgVYA5g854AoFp5FcbeXJ8iDCqXKJyzeV6rFLVi3mySI1aymlb/vlagyn/+GIH9J+j11FgJzLr3h3k9cSjJ4x2UhuwFvZ5H0cYJCx4DKLi2/frHzQwbhZUo4vMZu5AD24wqrTmKTS69DTACDFZejW6GWE0OQcrtyPubjECQvA1mIbV8B4jAJVe6gt+oDYqxY400GbPj6hQfJrJdJ+6j0FyeFi0beveqVB//CELRkjVRmhOjGnednNcMPaOHFxbyzqmZl5QoqRERSTWFFiQp3H1awT3X13GnePJPC9vh/JqLNvAzQLMRClRHv/73EGLo7jL1dn+AVBLAwQUAAIACADvcUhNGtrqO6oAAAAfAQAAGgAAAHVuaXZlcnNhbC9pMThuX3ByZXNldHMueG1snY8xD8IgEIV3fgW5XbBb0wDdTNwcdDYVUUno0XDU+vOF1Bhnh0vuXd73Xk71rzHwp0vkI2poxBa4QxuvHu8aTsfdpgVOecDrECI6DRiB94Yp37R4SI5cJl4ikDQ8cp46KZdlEZ6mVBIohjmXYBI2jrLMGFFWUk4rCivb+b/ozw0MY5yry+xD3qMpe1GrhVOyGipzdig83iLIalDy667KzpRLRRFK/jxm2BtQSwMEFAACAAgA73FITZQTsyJpAAAAbgAAABwAAAB1bml2ZXJzYWwvbG9jYWxfc2V0dGluZ3MueG1sDcwxDoMwDEDRnVNY3int1oHAxlaW0gNYxEWRHBuRgOD2ZPvD02/7MwocvKVg6vD1eCKwzuaDLg5/01C/EVIm9SSm7FANoe+qVmwm+XLOBSZYhS7eJo4lMo8Uixx2EajhU17/wB6brroBUEsDBBQAAgAIAKBhr0TOggk37AIAAIgIAAAUAAAAdW5pdmVyc2FsL3BsYXllci54bWytVU1v2zAMPafA/oOhe62kXdc0kFt0BYod1qFA1m23QLUZW4tteZJcN/31o/xtz+lWYAcDNsX3SPGRNLt6TmLnCZQWMvXIwp0TB1JfBiINPfLw9fZ4Sa4u3x2xLOZ7UI4IPJKnwgJ4TJwAtK9EZhB8z03kkZ7BRWbiZEpIJcweuc+Qu4u0JO+OZuiSao9ExmQrSouicIVGRBpqGeeWRLu+TGimQENqQNEqDeI02JX5OxqfRKbU7DPQPWRm3h64Jmk5nrUYkBSnrlQhPZnPF/TH3ee1H0HCj0WqDU99IA5WclaW8pH7uzsZ5DFoa5uxKsk1GGOTKG0zZlZisUwdrXyPVA6bBLTmIWg3TkNCKyydALNtzHVU8+gBreXVO1Hzln4b+71p3ErlaOec5Y+x0BEe9SGddRLI6DAqS8rrlh300HTQrWUijoJfuVAQlJ/f2haZL0gVsO24Mk9XFz4e4Nst941U+xuEYRfVCrqtaG4lmluCWg63jb7uKEhz2y1wkytoSjVjTyIA+YUrxW1bXBqVA6MjY42lQzCj1ZVrkTpBWGSS+OwftLF+I2l+6teUKQH/Q5hPSNTWRKQBPN8K9DGQYE0NYLGtzTVZ7NqYXU46f0x6fT0wVTnWouBFHMNVCDiGATecdnZ6CAqKa3TxczXC9g4OgiMRRjE+ZpJhfHqQJuFqN8nQOzgIjqW/m4C25raMdFzHUTO1HcToxDphfq6NTMRL2Z6DPWNWZR++NnLN0XUm2oPz+R+jOIjRDOaWTKwu+9bbV83hvZ1TozufTVZZBt2K8wAmzyqvZhbybOQTwJbnsbnp59Tswx50lPPUdExzfcd+l8VavIBTiMD+6RantiYR2J7xyIflaY8B9cTtMghfmqYiMlpLUql5SDmGtXkSUFSYalY+ouqhknkajLRxs+7noGPcVdcKuBPDFjNdnGDzycwj7/GlvsvF2UV3lfPFRYMt87qvAle5vGFV1wl3nUHrfm0vwuqZx9ffUEsDBBQAAgAIAO9xSE0129mtaAEAAPMCAAApAAAAdW5pdmVyc2FsL3NraW5fY3VzdG9taXphdGlvbl9zZXR0aW5ncy54bWyNUttqGzEQfc9XiPyAJY1uC1uDrsWQh0IT8rz1qmGJoy0rhYSij682rXHcurSap5lz5gwzOn1+nJJ9zmV+mr4PZZrT51jKlB7y9gqhfj8f5uXTEnMseXOq3E9pnF926eu81lo1lyGNwzLaFc1bjMLbQ0pq5VTLmGEUSeapV8h5bhvWgevANsxRYvvNbxI/dZe4j6lcVu03Z+ifDbuU41J2aYyvWzhnv4fON/i4DOPUeHkr2Br1OLU6tgZihEvuK9UAIJDljjhcpeykJshjxjFUoyhQQIRz0olKJOXQstCJpsJ8JxCTjFFXqaetG2ltHLVVQkeIbtO86mwNwUiMESEEmKtcQDAYNTY0DQ1qPSA4MCCqNpooQMEGE1j1zgvLkaJeYFyZMYDx6bin7d6f61T973WO5/yH4MUvuIiu3tpcMFe/f16WRr6NT98OQ4noy5DjbvxwHe5ubq5/efLNv0fGatS28V99/QNQSwMEFAACAAgA73FITe7Vv9acGQAA8D4AABcAAAB1bml2ZXJzYWwvdW5pdmVyc2FsLnBuZ+17f1jSV/83u9ty3/XDWpmYP7idrZqWjlxaqdBWd9ZaulrmSoWSlJoikYkoArU2TUSpNXOulO3b7myZUlhCIlArwCSlckWEQvFJzQDxYwrIzwdsV652X89zPc9138/1XNfjHwrnfT6f9+v1fp/zfp/30XNKP0+In/HO/HcgEMiMDevXboFA3hRBIH8zvz3VLcmq6z/v/ngjd0v8J5DGzoABd+NN7MebPoZALjKn2Xe95W7/177123MhkJnXPT9vSPFnd0MgiG83rP14Kwll6MGVNfRvd4GtC9EHI1YPlX49Dyx9Ur2+6JdroermS2+93/y2eA/8k/X/WHp59pJrX72J33Lx8xnid3E/euFwDVc+Vt1YuO2+i/aZ2Y+durJvBbZReTwgt1Hui9DfPH85s+OWOjeTjb7/WdAKXKHhsiIB7XiWnIh2DldFFD2ehnZTgxy8Lznhw9+mT1GpA0ROg8a5VAD3yLvfv5hbHi5hV6GpKwXvjUv+cTE/jYFmi5yFhR6rIDxZurnw70LfZfxZnuYg54EgiDR4pf/utDfczUfhZT26Q/q/ebq+PARO82Bl+InGmyf+J809vRvR1rsDvVVoBMWm0iA2bDn1FmHhDeXRGr9ISYT7gYeWfpqzv0vHFlGNwewFDjQh6obfsZpAH8DX3Yuze3oFJVe+GzFpGW2dFXSP8oNRC/ZuIxK3Mjw2Xwre0MRpOp1ud3P7acaGHytfvrv+7nm9/ix0nMaa7zIzsPFii9vU1f7ffRQWExP6Av7oL9uVys1wqtvI28ULOtonIf7jEKeflUerVwiG28Pq3PNxbMTochqvpmuzYoQSIEsQ+hLxrJXpsjC76tnCwkLHqMIoWHf3U7GCWFQuVRQmvYTc7COffuwStYk9OgHQbnm/Jn5cyYmkDPt3nSHjJGTnllE39B8bZ52R5Cf65Xmbx8yrnHMM9N2C3R7SO7cnSSJ+pWnGOvMT5AibfiDRNZKoGfn9i8SaWvLgFbLiB+zEY/muUbQrr1B/UZrARFj3PPOwNaY1db5UukWj9UPDc8Rto1fklEEtKx5OFzeJtJw6FtWqzoqQ/+nB9KFzkgbDCtNlNsWgzno+btqSercdo4bSRbU8ywmpIVJoEj/Nq8TSxgPry22V4MZnKYwd4HUDNq23cMJaa6aH4sGws25rKf5Ieb21WeqLIj3WrqKZ82n5xuUFf3qWWAMjubRlEWoyrnbCMepyQpiwgWCbfgHK13pppRnBjclxa25N8DWm3y589mudOuBK6D1I5kuXDOTMRarCah3Lb3A/QZi7c+ukQWT9p1N+mNDMTyuyAURIWVUTy5Ux8d5g9NQLsmL2vx6Pgdhlnll34XwoUHUgaML6VcwJN/3L4S4c661KZAutzwS07y6lg8uD0Lqkl3N43T1/fCvB2hctKgDPz9q56bXu/+ejCHM/iy0gWstElrIuo3PQWEt1KGiOkWmioWlXA33RMnB5IFoFLkdMYJ8tBMW+id5I+9DAzyVBf5vngwbAy6gJ7VvjnBZg4HDGzqWvigvu+54qsexgT5A9x/G6efXHcy9Jlp/Tv7HswplzExEYSj4YQH1aQj0izhAZzzf8Kajbg/5eAo1HFQ68P2/0yfHEM3/t9gIUDxno/l8npZPSSem/W5qzjOqJc1+OzOTsRTt7cbVU60B0hApN6wuBja23WmU3KJSna2AtpDGOjd8pjYy1D13HC3sMBtpYFW3sN+do2taJ3JaknPJkp32H6g6om8Oy3BCzTiJtTciNEZqy9AsP55++k1dyflYGW/TZdBRADeeLLF82WsHpKlW2F9vgCCzgc/9F6Fcw0O5F13XA2p4s3A/qkuJrnskfEGPp2PWOTqO9U7zvo9qk5ZLTln4eKnVR+2BM45wqaQZIlOjMmN9JlG5sK5WMBDiktNQodRVoDc7xx+e3Ghp80UXgiFJONWlX2bh8gdpkEBx/NYHt/5DaYGizLK+9eBmWF3qHOPJfmM/pWgUpjbEueOo/oRUoyui9MtsRfAqjCsgjuDan0siw4Kl18Hbxaq7jfjvBsZhaboOFJB2RSOfIs8tsZSomdzliMDgHmcMPvKLt5VFby3mdboYL1VyeHGwhrfS/n5Pyp0KmMm71TAn7cs8TLBUXX1O9J3bjV1DMlrkiyQqfcvhiyWlomUTVNrVJAD0vUQWu2d56qhwNCvG0ecmMLwGgdPNXtO1QV2w20ktVxTVHo2DGxLmiCpXR2F+z5U/JPMP76GEwC2d8YqkUIBiy9CX0O3taqbFNoVMbSA7igvlcZRk+j4FNK8ceKP/5A39RM3uairkoyybM4CqFrRQVMArKtwNRxl9eS/YMdJYulooTZ8C/Kn8ju7tvGbxQHClNf7OM1ilhQ6XNSN9sG8jQ3crGN1HGOKCOwzTWbPsrL3OunX5tr02eco91kaCkBtAJoVPZoBxcehS+Ryy7A60qBnHfYm7T8QUMbLlYprQsFzbsj41ZUswBnUyWf5SwY5maCT6/3qxdBfhlgsM8SjfaFCnSOvyM6NR5OC9e/qf/wuO77XTsLpzIBy45I6tVbo0D9qbO42pmfgafKX76EV1XDg+V/GpAeoNORvqe+UZ0a49B7pqvYCqYOsmR5Y0wfPQg5vsZ6ODiehIZfgCHhMGJYh0wbNABFCisy+Qg1yX9NWI2SSIGG//qxEhqTd2kdFI6Kf2/IE23p6chraeRPzqFTc1/6nv2uASWAFswJauUPfpnMSiFJcIW/0Us9kWP6CO+TH1tZwrXhaHH2gfGV9Wf/Hiq8R0u9j+xLwgYYDufsb88dWnpS4UrtjBCIgQj75YVDt9cZHQkbNRMgK34zp1pJREG2UuUit32HSfBjbaJBTHET3Q/035X+NJMYL07U/qJLkVMqvn/SE2gn0gIluNPIZ5Xy0/VkrSl0+RIl12wMdxYja1dKTBSjDGObrmj+9t4GGVE/b4RBVLR/Y4HKCRVoAcqmMbwqolJetNyuTkEUBz2RpDg1DibvskXUCRJakuCCp+mf0hXfUNaKbmQ30RCNkZuxbFh1xVc4WhDWZXZ8cjb+UhQNZj5MkAkx9zhzB+0+Ey5HcKM3W9kCRXZ+lIsXZynVeBUjz8o/gXOMLA2+3D5eg5oNagqPs7pzmyNfahO5GXb6TY/ebZ/iMJkhTtxmkESmdBj6MfYhHi25sqrtveMYKnitw9UYhPF7gqiEDQwbW6e2OPiXngUjuUTFV52bWk4WU5WP+876BPBVEjzEKO/JqZ1L5TU8UQkSmsNL3uueTa31HZEhTWSGVsJShJa2wtPL9dJ3SXN5lR8N7pbARWlry6rktqgXD8jpv/V4SAeB8MkNVCySS5pp1/7irEW/rbYICHNnfKQ+BP95w8a54gkOO3wZgaWQIMvxqGRkguLc/zN0fMxW1MX5US3ZPPKDn1lW1pN4MN5GUCySRhPQNtsKhQ361VPxqyilgf3h15P3hZ7OnTdf0OPpj+iV5klDz5adwan1AFRKnQ8wAKov+1pdVDgB8R7ltf6Ra1rNoxKHVg8phvdikCpdaiXSYqw4EUND59ajn+r9VOCQ1+iYuJ9uplbVJK2j+hVgEGs42o+8Tt8z1SNVkmQ0siW9AP+GdfvCXkJrSwCS6VjmsMQXoSxZgLNZnY0fv/qBNJVoAGVNX09fRcWWpURch96RhJ59r+hjZKDzS7TTUMGkDIL6F089Z88pkMHVO/APGjJts83R+bM4colbFKK6uOwxmiE2mHxEdtWFfMsUC5GZaIwzHjk93lLXo0XRaAo/XbpY2wEnbC3tTVi6k9Qajr0Hfg7OFHG/ukogtKp+gDDmM9VIXKzbFYSGegvMmhKDEjpCh88rbXBoPIXq5RCNsFGSmtNBKygjgQDFGCU+fCO6Xk2bpfgtbn2xEud1fFvCGrVJvfkosV25yt190R/ieVmV/R1GarCxf/59XCKWUZNi8rGofH2Fv7EEhW/zL0nagEUp5mIQnh2Obag/JiOo4hnWX+vC0fB1GaheexEW99rz5+R238U2O3P5ejW2KlsS7+5tT/ON6Ie+1r8GkBd6aLaFXGWR4d9RTNV8M8c7a9aEgOnirkxOVL2UDm+CNDuH31tBePGUSl9kayVccNtIb4R8RrrfS4D3fGaO+6AYbZrJqUOoy98+nNJOPU2hYEijBGnfyF6LdbcewDYDhiyKay4wSAfbNGPbrbDYBj3xuDrX/P/4qq9hslFZVLNf17NFgb6vA7mfAwbfLWCm/yX0iTEJMQkxCTEJMQkxCTEJMQkxCTEJMQkxCTEJMQkxCTEJMQkxP8uhMXEFVGMjxsWCAQrQib+UBdBGdhYZ6Sa+eagvk/vunywa07NfkmlPVcel+85jT8Y1135S5e4ehZ2DTHzFvR/fTT+/7AZN6RxOTSLxmXH/g36AueLUAW9lV11SMdAVzzSeqfLCzF0qOu6N7I7oRUNOsU2PyPeRPC8I8BFH9GDrrS5sI2WJ4uQBQ0d7zX6c/24crXJLZPhBqMVQSKhc5TNog5UUT+gYPl0c7TaqAc8NwgKCx9/6/sQMdBHLe14D9GpBzR0XffluL4WrdkayirTtZgsoyCTFkvx4peZY2yknGeeA2Xf6jkClmuMhaSMydBUlc5lwrtMIymi0RTfILL+Ijet01BgUmI19m7k6O9f4K9k22zvKlSoZh8RFijU2PuiNfuVJEcSDR1hi9yPHMQQBd7UocO90oIvVK4duUhnb96IsiZN7e0e53mJ6VdgNKxoGtVopkY4ArLFeRxV40Kq3Gie80NjHLXnXiXcY8yVUuhsodEmNKZ/3hauIQ9d89KYWqCd2lH4pW9glkMwniWPFpcTXzSIGaHLxzwHyEUrD4qvfkSN+I1pb2OmrkqVGLQKHi4VnzqPFp7+OV0mkalUmRxkiBlAnNOJpfPxSOcSaa9K1RPBdTDukFTJKwP4rTD3bF3qvD4cwoz9zikgJyn7d4XxO85pzU4q4sqjh0CyKaHHRynN3cp4C/7JDTZ84W6Fkv54gf9CbTVCdS1YfT9JHRTtyzIbjs6VF9KvhaHU3mvhByTGpNaAw72WOH9AyUPZC6DyNxnwvbYlDZ5D+Ylelx67acUbQxDF4P48geUHKatfNV+kLsUyUL0v/abZfsxBIWe8INSula82Faz4zZJ322K6UF+RBK/N9mLISH2KmEXURJMoH/6umG3bvAwVJG+nH/qKkQh/r1z3DdgfXPxPRxNPy6rXqGRORoCASVrpPNXZGL3ugkE3yFUVNd+bZT7WY95WZZ4CgfBS7bfq9MaH9TKEb4oSt20es2FQIXcto/bchr7HkTVrq5ersOrd6fv85OFaU4YoH2N/6P0xOExd/Q5gvU46qRzFAnczaOtyCmHJArXewS/V68Co3WZBZU+f+2MGBHJLzG2pkcnHHsoQMA+Cr8b5AyW8UWbJW4M50hauesj0ToGTbvQWs/O3mcjmnAq0UuUtYdfLBsluJ2Q4HsOcuwod9W2D/hDIDzFVsGe1N8cVdV5bhBy7OfKcEChh+89fs5aonKVpJyrz0i101uXvHecX5SQX6bTEfd3OW2ySw3JfcsFRjU4hOEDc4V322EZSDyllzWik6BwyJFrArEcZe4JEVJeZ5hr5NqLo8Yj9uRwWVMuxqdtzjucdfxw2bsrvtQV91SNGRf97tlPZGdyVviyXvb9LfjNJkAUohPUo4hz3rPki2U+U/mA+MiQ7YmoleFhS4lh8zXBEnstYDZgXUiMkV32ALXbhjRUrp7bDi8VszIKH6oXqTuJW+rW95JMOyOXl7vB6gtDKe/PUVflZdmuHxt7RpRCaLpPRBo1O7rLLu3Sd4w7O1Nxx8/P4hdeNc7GUxq/1zzluv6feYJWftLNGy9HRc9f8BvUJb3KdaNpVxAfUegPBdaN/lbDhQ8bFrNR5h7t4S2pxy1EixyEzBuqvUDnV5T+HomCibdfdFLFsb/d8VfdBf28cFm6d0r0pA80MnnnBc9FEnWwd0Pbqq9GJiLEn4gzQ+gx9REnBZ3CV5odZ7LTp+5V57FA+HgJ5tB9squGIUljHX1A71f2kn+YnOphSRYkrhrasuxfZqFUFcymDuayNXuf0Qq5J4X2adPI09GrOMLqGY5sKgewHI90akjVr7VKHfnRN3timHH9mSAXiRBsi2jMNOu6M33/ISTONQuXa+eKh79OwvPOOnSd6zPdNLWs+qt3bTGFpU+B4HXoHBHLVXASWoT9zJVB+d6c/vGgM1myuEmuM0vzK3S5Q0II7Ip0Grgh2hjidHOgNbTMIuwsY9BEiuv55U2XPmXdhmNhjjzhmbFEQRxrXpJJkgGDmmp3dCxGJAOG+Yx4tkyNPdK+H3S16HSH2ZNjM7q9202HfiJY6M971IhDbMs2CyyLqA1gbyODwmCeLbBiixk1K1cN28TGxOQ+o2A2MCIBD0s9iBmuNls32FkrA5z1RN/IAguwp22Vla1qzGajTPDUurqIt54tSM7noFkgVD3Epeh9Y/2JEseH2cj6uaOY6GyxtDsxlKRKrjugymZoKOjJS2V+X/sJPKx46y0KaHL4bLrl872wjatxuXEb4Eubw3TYeZSS+3tilmH24g7inVOqtEsnwsEQGNqR8NpaoghY1T7ltQv4mZauuLXECVMYeoDl+N4vVoI+KBC9KpLHFjSChQgYA5bQgGDYVz9jZpKrYTCiaCSgsp8plUtcd2twIDXv2EpvdXWh8S3MoaHFx1qenfUUrU8AW3hL+jCGiUgEsninTDweHM9dEUgMzFNPG59aVc7qAu0qKO2nhqxwU6yoJ8A0UxQH3zj3dYareuIuogueILU202FlTNs89fFsP70jKGOeV7AMjezziJgULue8EqnuiENGYv5fJlc5hEhmTqkLw9QvHh63yyK4w6vOgwqc/d5UgRty/kPbHXJLLpqFZb7LsN8t00Gs7w22FAR21Y8uzWdtOpgWNJ4hcH0D0jZ41g6hsuj4+ZdWDU2CW1db8Z/V0aS/45S5GGKCMxzylY8NxrJ99aFzYlFv6ZoLA8LTJYRLyElLzp68Do7Q4sYohY7YhkO7hyMwZhm/lzoge61avtVffRCB9AEXnxgjBAWs1a6y67FDYCbmsSI+B8d1vR+ccFyx9ROawpYT1kuAf0oTRzo2f2H/8g1zknBLz4pmDcJKYDcptuhK98A3IQS7ZOlDXJfoCncwIhUsY0hl3TMMOrhnH6vmIj5u+kuBwLy2YakPvxdnZIgF++mpFJYXazFFt1VIqtJgKJsUFM8aDBKlUFHgmk9uDqC3T5cSLDJizNtDwExnELhwf3BjwVqNZaBbg/VpCCT28Tabmg8abwiBgXyDOJT5eyr682a74Wr8qmG/0DNJFChoYYtKCXHdvNbJ6oiGQo7an8cgfnQLrWZDxTz0HzK6zxFCIBXmqWVy+HpSRmruoi1vO6XPHw9KYNZpdb1kR4f8sk1suv5bBum6x4K1LeLIbrEp9bqR70SK5a5sIYQ0Bua/DbmG6LAOJzieJCS7317bA5/G0kXhfjbq9V/uoXYhqDLEVTgdEp9ZWOaYtEEokt+eKUERLsTs7cVSpSQH67cq8pvHMxG4d/nTMbM89Rslxe+fUcUvku7RtHHkHA8wKoR6l2BlsB8/Hu93Vh3f2fdLaKrIrqAZFgmg4TPRdRdhI1QxEa5JpdH+gUoE5sgs3PWVzbE+UUFJs+KLktKVQpu486l6kiSd1R8x70UTB+LjJKOPJK4eSwJHL3H25w2NyGsLRmirmR1EF/hwmVldHfVYXXjvMDWzW7qXaLi5AcQUJsYZBKVUvVRPjBouz9Y8bOOwqXZswqIQUqjeRdU3pf+frB3gpfwSZ4/Po9saTnhH43DZSh6xxOqypu1nH3WPUrwVgLpJ15ZVQQCE57I2wnNgcthuz4QHaWEKzlHTp7qCjTEPblApZ3m40MwUcuQet5Gqm+omR6H6yuOlFpFTNQG8mOsaNuRIfVLDAEWNa2fZiPf/YrglkUvnATvvDD6k1dX8iil8znqNy1owny26FyDna5BhDK/sx7gphJcldDd+VS/OgoigOnsxggU2wjdo8lc7SLOUv9SeT6vW63lXqUlqBmOJeNu/1OtwldLgvUvWBjW96xpGL3X68F/f8VuRAv7aFgfaHOYdKumAkVxVtrAo/831w2DlsOWQ2UoxkzbKz+/J3Y7zxlRRBanwRjWhaXoBM6yVffVFSGmosfHL0H7XbYD+mPouJzh8dKEkuiJJgkTZlmZfVRsjqW0TVLkqgDXnRjs4MGzG5Cw4z3r+QVM9yKFmbRKhGoJnVEoCPGQxxh0W40QsC+dBXk1HpEJD/AeY2cOTXtqUu4hvoWjPCFhCQZwB1jY3s5LTpNNCXBo44zSJk4JVlfwSba46mjuLvGqZzC2qMbxiHqW67L+dax9DJyiWdvcp9XPCXrz0UQW9NHoLguQEdQTUpPMdfz2AUQxeZFL121QtVnt0NoEV+yEYcTMtrWlEC/xAhVJG2XLssZe9LkZ/izYivLZ+N2Wa3sy1EtiUPWeSQ4O0SMfewOKPYsx3kxeXvPcxr1OXMQ/hKA+aLOsVdiUiK9ZEXklToKfrfQ/lWZXA9W5ufvMc3mRDZ+D1FyIUlfzQLH8VoxhIK3xi/b51xkRw3JPHH/+LruUR9NW0eXzHFZRO5TqLe9vTnb9ejvE85abUOz23sq5+mG+nhEvZTmrOfdjfsxRvvxiiedoBh1sF8EdlzIbbL36N5NfZillg4SqtJcHl35wtO2jaJajwKN/wjYW3jJzu//h9QSwMEFAACAAgA73FITXA/OElKAAAAagAAABsAAAB1bml2ZXJzYWwvdW5pdmVyc2FsLnBuZy54bWyzsa/IzVEoSy0qzszPs1Uy1DNQsrfj5bIpKEoty0wtV6gAihnpGUCAkkIlKrc8M6Ukw1bJ0tAYIZaRmpmeUWKrZGZhChfUBxoJAFBLAQIAABQAAgAIAO9xSE3/6EwIKgQAAHYOAAAdAAAAAAAAAAEAAAAAAAAAAAB1bml2ZXJzYWwvY29tbW9uX21lc3NhZ2VzLmxuZ1BLAQIAABQAAgAIAO9xSE2LtzoSDwQAANwPAAAnAAAAAAAAAAEAAAAAAGUEAAB1bml2ZXJzYWwvZmxhc2hfcHVibGlzaGluZ19zZXR0aW5ncy54bWxQSwECAAAUAAIACADvcUhNBOcD0bYCAABTCgAAIQAAAAAAAAABAAAAAAC5CAAAdW5pdmVyc2FsL2ZsYXNoX3NraW5fc2V0dGluZ3MueG1sUEsBAgAAFAACAAgA73FITaPtv2riAwAA7Q4AACYAAAAAAAAAAQAAAAAArgsAAHVuaXZlcnNhbC9odG1sX3B1Ymxpc2hpbmdfc2V0dGluZ3MueG1sUEsBAgAAFAACAAgA73FITQ/kWSCZAQAAHQYAAB8AAAAAAAAAAQAAAAAA1A8AAHVuaXZlcnNhbC9odG1sX3NraW5fc2V0dGluZ3MuanNQSwECAAAUAAIACADvcUhNGtrqO6oAAAAfAQAAGgAAAAAAAAABAAAAAACqEQAAdW5pdmVyc2FsL2kxOG5fcHJlc2V0cy54bWxQSwECAAAUAAIACADvcUhNlBOzImkAAABuAAAAHAAAAAAAAAABAAAAAACMEgAAdW5pdmVyc2FsL2xvY2FsX3NldHRpbmdzLnhtbFBLAQIAABQAAgAIAKBhr0TOggk37AIAAIgIAAAUAAAAAAAAAAEAAAAAAC8TAAB1bml2ZXJzYWwvcGxheWVyLnhtbFBLAQIAABQAAgAIAO9xSE0129mtaAEAAPMCAAApAAAAAAAAAAEAAAAAAE0WAAB1bml2ZXJzYWwvc2tpbl9jdXN0b21pemF0aW9uX3NldHRpbmdzLnhtbFBLAQIAABQAAgAIAO9xSE3u1b/WnBkAAPA+AAAXAAAAAAAAAAAAAAAAAPwXAAB1bml2ZXJzYWwvdW5pdmVyc2FsLnBuZ1BLAQIAABQAAgAIAO9xSE1wPzhJSgAAAGoAAAAbAAAAAAAAAAEAAAAAAM0xAAB1bml2ZXJzYWwvdW5pdmVyc2FsLnBuZy54bWxQSwUGAAAAAAsACwBJAwAAUDIAAAAA"/>
  <p:tag name="ISPRING_ULTRA_SCORM_COURSE_ID" val="29CDFE28-0755-48D7-B396-2DB4679C4ED9"/>
  <p:tag name="ISPRING_SCORM_RATE_SLIDES" val="1"/>
  <p:tag name="ISPRING_SCORM_RATE_QUIZZES" val="0"/>
  <p:tag name="ISPRING_SCORM_PASSING_SCORE" val="100.0000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Content List"/>
  <p:tag name="ISPRING_PRESENTATION_TITLE" val="第1章 认识计算机 教学PPT_薛蒙蒙_0827"/>
  <p:tag name="ISPRING_RESOURCE_PATHS_HASH_PRESENTER" val="6f21232e94b46569fb407c359ca3a72a58481855"/>
  <p:tag name="commondata" val="eyJoZGlkIjoiYzA1YzQ2ZjZiNzY4M2IzMTg2YjJlYTMwN2E0ZWVhY2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7809</Words>
  <Application>WPS 演示</Application>
  <PresentationFormat>宽屏</PresentationFormat>
  <Paragraphs>409</Paragraphs>
  <Slides>38</Slides>
  <Notes>139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1" baseType="lpstr">
      <vt:lpstr>Arial</vt:lpstr>
      <vt:lpstr>宋体</vt:lpstr>
      <vt:lpstr>Wingdings</vt:lpstr>
      <vt:lpstr>微软雅黑</vt:lpstr>
      <vt:lpstr>Times New Roman</vt:lpstr>
      <vt:lpstr>Lucida Sans Unicode</vt:lpstr>
      <vt:lpstr>等线</vt:lpstr>
      <vt:lpstr>等线 Light</vt:lpstr>
      <vt:lpstr>Arial Unicode MS</vt:lpstr>
      <vt:lpstr>Calibri</vt:lpstr>
      <vt:lpstr>Times New Roman</vt:lpstr>
      <vt:lpstr>Office 主题​​</vt:lpstr>
      <vt:lpstr>Visio.Drawing.11</vt:lpstr>
      <vt:lpstr>第6章 异常处理机制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认识计算机 教学PPT_薛蒙蒙_0827</dc:title>
  <dc:creator>lucius</dc:creator>
  <cp:lastModifiedBy>Administrator</cp:lastModifiedBy>
  <cp:revision>1075</cp:revision>
  <dcterms:created xsi:type="dcterms:W3CDTF">2016-08-25T05:35:00Z</dcterms:created>
  <dcterms:modified xsi:type="dcterms:W3CDTF">2024-11-20T01:22:15Z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  <property fmtid="{D5CDD505-2E9C-101B-9397-08002B2CF9AE}" pid="3" name="ICV">
    <vt:lpwstr>254906F3C27F4AA1B398FDC22951763E_12</vt:lpwstr>
  </property>
</Properties>
</file>