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43"/>
  </p:handoutMasterIdLst>
  <p:sldIdLst>
    <p:sldId id="256" r:id="rId3"/>
    <p:sldId id="1399" r:id="rId5"/>
    <p:sldId id="1400" r:id="rId6"/>
    <p:sldId id="1402" r:id="rId7"/>
    <p:sldId id="1403" r:id="rId8"/>
    <p:sldId id="1404" r:id="rId9"/>
    <p:sldId id="1407" r:id="rId10"/>
    <p:sldId id="1408" r:id="rId11"/>
    <p:sldId id="1411" r:id="rId12"/>
    <p:sldId id="1415" r:id="rId13"/>
    <p:sldId id="1416" r:id="rId14"/>
    <p:sldId id="1417" r:id="rId15"/>
    <p:sldId id="1420" r:id="rId16"/>
    <p:sldId id="1421" r:id="rId17"/>
    <p:sldId id="1422" r:id="rId18"/>
    <p:sldId id="1425" r:id="rId19"/>
    <p:sldId id="1426" r:id="rId20"/>
    <p:sldId id="1427" r:id="rId21"/>
    <p:sldId id="1428" r:id="rId22"/>
    <p:sldId id="1429" r:id="rId23"/>
    <p:sldId id="1432" r:id="rId24"/>
    <p:sldId id="1433" r:id="rId25"/>
    <p:sldId id="1434" r:id="rId26"/>
    <p:sldId id="1437" r:id="rId27"/>
    <p:sldId id="1438" r:id="rId28"/>
    <p:sldId id="1439" r:id="rId29"/>
    <p:sldId id="1440" r:id="rId30"/>
    <p:sldId id="1441" r:id="rId31"/>
    <p:sldId id="1442" r:id="rId32"/>
    <p:sldId id="1443" r:id="rId33"/>
    <p:sldId id="1444" r:id="rId34"/>
    <p:sldId id="1445" r:id="rId35"/>
    <p:sldId id="1447" r:id="rId36"/>
    <p:sldId id="1448" r:id="rId37"/>
    <p:sldId id="1449" r:id="rId38"/>
    <p:sldId id="1450" r:id="rId39"/>
    <p:sldId id="1451" r:id="rId40"/>
    <p:sldId id="1452" r:id="rId41"/>
    <p:sldId id="1453" r:id="rId42"/>
    <p:sldId id="1454" r:id="rId43"/>
    <p:sldId id="1455" r:id="rId44"/>
    <p:sldId id="1458" r:id="rId45"/>
    <p:sldId id="1459" r:id="rId46"/>
    <p:sldId id="1460" r:id="rId47"/>
    <p:sldId id="1461" r:id="rId48"/>
    <p:sldId id="1462" r:id="rId49"/>
    <p:sldId id="1463" r:id="rId50"/>
    <p:sldId id="1464" r:id="rId51"/>
    <p:sldId id="1465" r:id="rId52"/>
    <p:sldId id="1466" r:id="rId53"/>
    <p:sldId id="1469" r:id="rId54"/>
    <p:sldId id="1470" r:id="rId55"/>
    <p:sldId id="1471" r:id="rId56"/>
    <p:sldId id="1472" r:id="rId57"/>
    <p:sldId id="1473" r:id="rId58"/>
    <p:sldId id="1474" r:id="rId59"/>
    <p:sldId id="1475" r:id="rId60"/>
    <p:sldId id="1476" r:id="rId61"/>
    <p:sldId id="1477" r:id="rId62"/>
    <p:sldId id="1486" r:id="rId63"/>
    <p:sldId id="1487" r:id="rId64"/>
    <p:sldId id="1488" r:id="rId65"/>
    <p:sldId id="1489" r:id="rId66"/>
    <p:sldId id="1492" r:id="rId67"/>
    <p:sldId id="1493" r:id="rId68"/>
    <p:sldId id="1494" r:id="rId69"/>
    <p:sldId id="1495" r:id="rId70"/>
    <p:sldId id="1497" r:id="rId71"/>
    <p:sldId id="1498" r:id="rId72"/>
    <p:sldId id="1499" r:id="rId73"/>
    <p:sldId id="1500" r:id="rId74"/>
    <p:sldId id="1503" r:id="rId75"/>
    <p:sldId id="1504" r:id="rId76"/>
    <p:sldId id="1505" r:id="rId77"/>
    <p:sldId id="1506" r:id="rId78"/>
    <p:sldId id="1511" r:id="rId79"/>
    <p:sldId id="1512" r:id="rId80"/>
    <p:sldId id="1513" r:id="rId81"/>
    <p:sldId id="1515" r:id="rId82"/>
    <p:sldId id="1516" r:id="rId83"/>
    <p:sldId id="1518" r:id="rId84"/>
    <p:sldId id="1519" r:id="rId85"/>
    <p:sldId id="1520" r:id="rId86"/>
    <p:sldId id="1521" r:id="rId87"/>
    <p:sldId id="1522" r:id="rId88"/>
    <p:sldId id="1525" r:id="rId89"/>
    <p:sldId id="1526" r:id="rId90"/>
    <p:sldId id="1527" r:id="rId91"/>
    <p:sldId id="1528" r:id="rId92"/>
    <p:sldId id="1529" r:id="rId93"/>
    <p:sldId id="1532" r:id="rId94"/>
    <p:sldId id="1533" r:id="rId95"/>
    <p:sldId id="1534" r:id="rId96"/>
    <p:sldId id="1535" r:id="rId97"/>
    <p:sldId id="1538" r:id="rId98"/>
    <p:sldId id="1539" r:id="rId99"/>
    <p:sldId id="1541" r:id="rId100"/>
    <p:sldId id="1542" r:id="rId101"/>
    <p:sldId id="1543" r:id="rId102"/>
    <p:sldId id="1544" r:id="rId103"/>
    <p:sldId id="1545" r:id="rId104"/>
    <p:sldId id="1547" r:id="rId105"/>
    <p:sldId id="1548" r:id="rId106"/>
    <p:sldId id="1549" r:id="rId107"/>
    <p:sldId id="1550" r:id="rId108"/>
    <p:sldId id="1551" r:id="rId109"/>
    <p:sldId id="1552" r:id="rId110"/>
    <p:sldId id="1553" r:id="rId111"/>
    <p:sldId id="1554" r:id="rId112"/>
    <p:sldId id="1555" r:id="rId113"/>
    <p:sldId id="1557" r:id="rId114"/>
    <p:sldId id="1558" r:id="rId115"/>
    <p:sldId id="1559" r:id="rId116"/>
    <p:sldId id="1561" r:id="rId117"/>
    <p:sldId id="1562" r:id="rId118"/>
    <p:sldId id="1563" r:id="rId119"/>
    <p:sldId id="1564" r:id="rId120"/>
    <p:sldId id="1565" r:id="rId121"/>
    <p:sldId id="1568" r:id="rId122"/>
    <p:sldId id="1569" r:id="rId123"/>
    <p:sldId id="1570" r:id="rId124"/>
    <p:sldId id="1571" r:id="rId125"/>
    <p:sldId id="1573" r:id="rId126"/>
    <p:sldId id="1574" r:id="rId127"/>
    <p:sldId id="1575" r:id="rId128"/>
    <p:sldId id="1576" r:id="rId129"/>
    <p:sldId id="1577" r:id="rId130"/>
    <p:sldId id="1578" r:id="rId131"/>
    <p:sldId id="1579" r:id="rId132"/>
    <p:sldId id="1580" r:id="rId133"/>
    <p:sldId id="1581" r:id="rId134"/>
    <p:sldId id="1582" r:id="rId135"/>
    <p:sldId id="1583" r:id="rId136"/>
    <p:sldId id="1584" r:id="rId137"/>
    <p:sldId id="1585" r:id="rId138"/>
    <p:sldId id="1586" r:id="rId139"/>
    <p:sldId id="1587" r:id="rId140"/>
    <p:sldId id="1588" r:id="rId141"/>
    <p:sldId id="283" r:id="rId142"/>
  </p:sldIdLst>
  <p:sldSz cx="12192000" cy="6858000"/>
  <p:notesSz cx="6858000" cy="9144000"/>
  <p:custDataLst>
    <p:tags r:id="rId14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王晓娟" initials="wang" lastIdx="28"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53A2"/>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56" autoAdjust="0"/>
    <p:restoredTop sz="96871" autoAdjust="0"/>
  </p:normalViewPr>
  <p:slideViewPr>
    <p:cSldViewPr snapToGrid="0">
      <p:cViewPr varScale="1">
        <p:scale>
          <a:sx n="109" d="100"/>
          <a:sy n="109" d="100"/>
        </p:scale>
        <p:origin x="720" y="7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8" Type="http://schemas.openxmlformats.org/officeDocument/2006/relationships/tags" Target="tags/tag139.xml"/><Relationship Id="rId147" Type="http://schemas.openxmlformats.org/officeDocument/2006/relationships/commentAuthors" Target="commentAuthors.xml"/><Relationship Id="rId146" Type="http://schemas.openxmlformats.org/officeDocument/2006/relationships/tableStyles" Target="tableStyles.xml"/><Relationship Id="rId145" Type="http://schemas.openxmlformats.org/officeDocument/2006/relationships/viewProps" Target="viewProps.xml"/><Relationship Id="rId144" Type="http://schemas.openxmlformats.org/officeDocument/2006/relationships/presProps" Target="presProps.xml"/><Relationship Id="rId143" Type="http://schemas.openxmlformats.org/officeDocument/2006/relationships/handoutMaster" Target="handoutMasters/handoutMaster1.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E591AB7-F5A4-4C0D-8EFD-8068E49AF65B}"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F506D94-0700-400A-A759-B2484DAA3090}"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0B00CE-9247-49D0-8AE5-6DFFAEFF8CE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7D86BB-FDB9-4079-8E00-8F1F7A4AA6F0}"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6858001"/>
          </a:xfrm>
          <a:prstGeom prst="rect">
            <a:avLst/>
          </a:prstGeom>
        </p:spPr>
      </p:pic>
      <p:sp>
        <p:nvSpPr>
          <p:cNvPr id="2" name="标题 1"/>
          <p:cNvSpPr>
            <a:spLocks noGrp="1"/>
          </p:cNvSpPr>
          <p:nvPr>
            <p:ph type="ctrTitle"/>
          </p:nvPr>
        </p:nvSpPr>
        <p:spPr>
          <a:xfrm>
            <a:off x="1524000" y="1596979"/>
            <a:ext cx="9144000" cy="1912983"/>
          </a:xfrm>
        </p:spPr>
        <p:txBody>
          <a:bodyPr anchor="b">
            <a:normAutofit/>
          </a:bodyPr>
          <a:lstStyle>
            <a:lvl1pPr algn="ctr">
              <a:defRPr sz="4800">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solidFill>
                  <a:schemeClr val="bg1"/>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lvl1pPr>
              <a:defRPr b="1">
                <a:solidFill>
                  <a:srgbClr val="FF0000"/>
                </a:solidFill>
              </a:defRPr>
            </a:lvl1pPr>
          </a:lstStyle>
          <a:p>
            <a:fld id="{C11893D6-510C-4F6F-9867-0DA6859ED432}" type="slidenum">
              <a:rPr lang="zh-CN" altLang="en-US" smtClean="0"/>
            </a:fld>
            <a:endParaRPr lang="zh-CN" altLang="en-US" dirty="0"/>
          </a:p>
        </p:txBody>
      </p:sp>
      <p:sp>
        <p:nvSpPr>
          <p:cNvPr id="8" name="圆角矩形 12"/>
          <p:cNvSpPr/>
          <p:nvPr userDrawn="1"/>
        </p:nvSpPr>
        <p:spPr>
          <a:xfrm>
            <a:off x="4063999" y="810988"/>
            <a:ext cx="4117976" cy="693916"/>
          </a:xfrm>
          <a:prstGeom prst="roundRect">
            <a:avLst/>
          </a:prstGeom>
          <a:solidFill>
            <a:schemeClr val="bg1"/>
          </a:solidFill>
          <a:ln w="19050">
            <a:solidFill>
              <a:srgbClr val="1353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Picture 4" descr="C:\Users\wz\Desktop\黑马程序员横板logo.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828544" y="603199"/>
            <a:ext cx="2448556" cy="1080389"/>
          </a:xfrm>
          <a:prstGeom prst="rect">
            <a:avLst/>
          </a:prstGeom>
          <a:noFill/>
          <a:extLst>
            <a:ext uri="{909E8E84-426E-40DD-AFC4-6F175D3DCCD1}">
              <a14:hiddenFill xmlns:a14="http://schemas.microsoft.com/office/drawing/2010/main">
                <a:solidFill>
                  <a:srgbClr val="FFFFFF"/>
                </a:solidFill>
              </a14:hiddenFill>
            </a:ext>
          </a:extLst>
        </p:spPr>
      </p:pic>
      <p:pic>
        <p:nvPicPr>
          <p:cNvPr id="10" name="图片 1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782771" y="603199"/>
            <a:ext cx="4540102" cy="143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100329" y="313611"/>
            <a:ext cx="6510271" cy="652306"/>
          </a:xfrm>
        </p:spPr>
        <p:txBody>
          <a:bodyPr>
            <a:normAutofit/>
          </a:bodyPr>
          <a:lstStyle>
            <a:lvl1pPr>
              <a:defRPr sz="3200">
                <a:solidFill>
                  <a:srgbClr val="1353A2"/>
                </a:solidFill>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11893D6-510C-4F6F-9867-0DA6859ED432}" type="slidenum">
              <a:rPr lang="zh-CN" altLang="en-US" smtClean="0"/>
            </a:fld>
            <a:endParaRPr lang="zh-CN" altLang="en-US"/>
          </a:p>
        </p:txBody>
      </p:sp>
      <p:pic>
        <p:nvPicPr>
          <p:cNvPr id="268290" name="Picture 2" descr="C:\Users\admin\Desktop\图片1(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781"/>
            <a:ext cx="12192000" cy="6852438"/>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p:cNvPicPr>
            <a:picLocks noChangeAspect="1"/>
          </p:cNvPicPr>
          <p:nvPr userDrawn="1"/>
        </p:nvPicPr>
        <p:blipFill>
          <a:blip r:embed="rId3"/>
          <a:stretch>
            <a:fillRect/>
          </a:stretch>
        </p:blipFill>
        <p:spPr>
          <a:xfrm>
            <a:off x="8610600" y="313611"/>
            <a:ext cx="2990476" cy="761905"/>
          </a:xfrm>
          <a:prstGeom prst="rect">
            <a:avLst/>
          </a:prstGeom>
        </p:spPr>
      </p:pic>
      <p:pic>
        <p:nvPicPr>
          <p:cNvPr id="10" name="图片 1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676168" y="72711"/>
            <a:ext cx="3189768" cy="99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p:cNvSpPr/>
          <p:nvPr userDrawn="1"/>
        </p:nvSpPr>
        <p:spPr>
          <a:xfrm>
            <a:off x="0" y="6490095"/>
            <a:ext cx="1820411" cy="365124"/>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b="1" dirty="0"/>
              <a:t>www.henu.edu.cn</a:t>
            </a:r>
            <a:endParaRPr lang="zh-CN" altLang="en-US" sz="1400" b="1"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11893D6-510C-4F6F-9867-0DA6859ED432}" type="slidenum">
              <a:rPr lang="zh-CN" altLang="en-US" smtClean="0"/>
            </a:fld>
            <a:endParaRPr lang="zh-CN" altLang="en-US"/>
          </a:p>
        </p:txBody>
      </p:sp>
      <p:pic>
        <p:nvPicPr>
          <p:cNvPr id="269314" name="Picture 2" descr="C:\Users\admin\Desktop\图片1(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948" y="0"/>
            <a:ext cx="12201896" cy="6858000"/>
          </a:xfrm>
          <a:prstGeom prst="rect">
            <a:avLst/>
          </a:prstGeom>
          <a:noFill/>
          <a:extLst>
            <a:ext uri="{909E8E84-426E-40DD-AFC4-6F175D3DCCD1}">
              <a14:hiddenFill xmlns:a14="http://schemas.microsoft.com/office/drawing/2010/main">
                <a:solidFill>
                  <a:srgbClr val="FFFFFF"/>
                </a:solidFill>
              </a14:hiddenFill>
            </a:ext>
          </a:extLst>
        </p:spPr>
      </p:pic>
      <p:pic>
        <p:nvPicPr>
          <p:cNvPr id="8" name="图片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76168" y="72711"/>
            <a:ext cx="3189768" cy="99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p:cNvSpPr/>
          <p:nvPr userDrawn="1"/>
        </p:nvSpPr>
        <p:spPr>
          <a:xfrm>
            <a:off x="0" y="6492876"/>
            <a:ext cx="1820411" cy="365124"/>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b="1" dirty="0"/>
              <a:t>www.henu.edu.cn</a:t>
            </a:r>
            <a:endParaRPr lang="zh-CN" altLang="en-US" sz="1400" b="1"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11893D6-510C-4F6F-9867-0DA6859ED432}" type="slidenum">
              <a:rPr lang="zh-CN" altLang="en-US" smtClean="0"/>
            </a:fld>
            <a:endParaRPr lang="zh-CN" altLang="en-US"/>
          </a:p>
        </p:txBody>
      </p:sp>
      <p:sp>
        <p:nvSpPr>
          <p:cNvPr id="8" name="标题 1"/>
          <p:cNvSpPr>
            <a:spLocks noGrp="1"/>
          </p:cNvSpPr>
          <p:nvPr>
            <p:ph type="title"/>
          </p:nvPr>
        </p:nvSpPr>
        <p:spPr>
          <a:xfrm>
            <a:off x="2100329" y="313611"/>
            <a:ext cx="6510271" cy="652306"/>
          </a:xfrm>
        </p:spPr>
        <p:txBody>
          <a:bodyPr>
            <a:normAutofit/>
          </a:bodyPr>
          <a:lstStyle>
            <a:lvl1pPr>
              <a:defRPr sz="3200">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a:p>
        </p:txBody>
      </p:sp>
      <p:pic>
        <p:nvPicPr>
          <p:cNvPr id="270338" name="Picture 2" descr="C:\Users\admin\Desktop\图片1(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781"/>
            <a:ext cx="12192000" cy="6852438"/>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76168" y="72711"/>
            <a:ext cx="3189768" cy="99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userDrawn="1"/>
        </p:nvSpPr>
        <p:spPr>
          <a:xfrm>
            <a:off x="0" y="6492876"/>
            <a:ext cx="1820411" cy="365124"/>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b="1" dirty="0"/>
              <a:t>www.henu.edu.cn</a:t>
            </a:r>
            <a:endParaRPr lang="zh-CN" altLang="en-US" sz="1400" b="1"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11893D6-510C-4F6F-9867-0DA6859ED432}" type="slidenum">
              <a:rPr lang="zh-CN" altLang="en-US" smtClean="0"/>
            </a:fld>
            <a:endParaRPr lang="zh-CN" altLang="en-US"/>
          </a:p>
        </p:txBody>
      </p:sp>
      <p:sp>
        <p:nvSpPr>
          <p:cNvPr id="10" name="标题 1"/>
          <p:cNvSpPr>
            <a:spLocks noGrp="1"/>
          </p:cNvSpPr>
          <p:nvPr>
            <p:ph type="title"/>
          </p:nvPr>
        </p:nvSpPr>
        <p:spPr>
          <a:xfrm>
            <a:off x="2100329" y="313611"/>
            <a:ext cx="6510271" cy="652306"/>
          </a:xfrm>
        </p:spPr>
        <p:txBody>
          <a:bodyPr>
            <a:normAutofit/>
          </a:bodyPr>
          <a:lstStyle>
            <a:lvl1pPr>
              <a:defRPr sz="3200">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a:p>
        </p:txBody>
      </p:sp>
      <p:pic>
        <p:nvPicPr>
          <p:cNvPr id="271362" name="Picture 2" descr="C:\Users\admin\Desktop\图片1(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781"/>
            <a:ext cx="12192000" cy="6852438"/>
          </a:xfrm>
          <a:prstGeom prst="rect">
            <a:avLst/>
          </a:prstGeom>
          <a:noFill/>
          <a:extLst>
            <a:ext uri="{909E8E84-426E-40DD-AFC4-6F175D3DCCD1}">
              <a14:hiddenFill xmlns:a14="http://schemas.microsoft.com/office/drawing/2010/main">
                <a:solidFill>
                  <a:srgbClr val="FFFFFF"/>
                </a:solidFill>
              </a14:hiddenFill>
            </a:ext>
          </a:extLst>
        </p:spPr>
      </p:pic>
      <p:pic>
        <p:nvPicPr>
          <p:cNvPr id="11" name="图片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76168" y="72711"/>
            <a:ext cx="3189768" cy="99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矩形 11"/>
          <p:cNvSpPr/>
          <p:nvPr userDrawn="1"/>
        </p:nvSpPr>
        <p:spPr>
          <a:xfrm>
            <a:off x="0" y="6492876"/>
            <a:ext cx="1820411" cy="365124"/>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b="1" dirty="0"/>
              <a:t>www.henu.edu.cn</a:t>
            </a:r>
            <a:endParaRPr lang="zh-CN" altLang="en-US" sz="1400" b="1"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11893D6-510C-4F6F-9867-0DA6859ED432}" type="slidenum">
              <a:rPr lang="zh-CN" altLang="en-US" smtClean="0"/>
            </a:fld>
            <a:endParaRPr lang="zh-CN" altLang="en-US"/>
          </a:p>
        </p:txBody>
      </p:sp>
      <p:sp>
        <p:nvSpPr>
          <p:cNvPr id="6" name="标题 1"/>
          <p:cNvSpPr>
            <a:spLocks noGrp="1"/>
          </p:cNvSpPr>
          <p:nvPr>
            <p:ph type="title"/>
          </p:nvPr>
        </p:nvSpPr>
        <p:spPr>
          <a:xfrm>
            <a:off x="2100329" y="313611"/>
            <a:ext cx="6510271" cy="652306"/>
          </a:xfrm>
        </p:spPr>
        <p:txBody>
          <a:bodyPr>
            <a:normAutofit/>
          </a:bodyPr>
          <a:lstStyle>
            <a:lvl1pPr>
              <a:defRPr sz="3200">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a:p>
        </p:txBody>
      </p:sp>
      <p:pic>
        <p:nvPicPr>
          <p:cNvPr id="272386" name="Picture 2" descr="C:\Users\admin\Desktop\图片1(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781"/>
            <a:ext cx="12192000" cy="6852438"/>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76168" y="72711"/>
            <a:ext cx="3189768" cy="99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userDrawn="1"/>
        </p:nvSpPr>
        <p:spPr>
          <a:xfrm>
            <a:off x="0" y="6492876"/>
            <a:ext cx="1820411" cy="365124"/>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b="1" dirty="0"/>
              <a:t>www.henu.edu.cn</a:t>
            </a:r>
            <a:endParaRPr lang="zh-CN" altLang="en-US" sz="1400" b="1"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11893D6-510C-4F6F-9867-0DA6859ED432}" type="slidenum">
              <a:rPr lang="zh-CN" altLang="en-US" smtClean="0"/>
            </a:fld>
            <a:endParaRPr lang="zh-CN" altLang="en-US"/>
          </a:p>
        </p:txBody>
      </p:sp>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6914409"/>
          </a:xfrm>
          <a:prstGeom prst="rect">
            <a:avLst/>
          </a:prstGeom>
        </p:spPr>
      </p:pic>
      <p:pic>
        <p:nvPicPr>
          <p:cNvPr id="6" name="图片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558806" y="776178"/>
            <a:ext cx="5074388" cy="1536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273410" name="Picture 2" descr="C:\Users\admin\Desktop\图片1(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781"/>
            <a:ext cx="12196948" cy="6855219"/>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p:cNvPicPr>
            <a:picLocks noChangeAspect="1"/>
          </p:cNvPicPr>
          <p:nvPr userDrawn="1"/>
        </p:nvPicPr>
        <p:blipFill>
          <a:blip r:embed="rId3"/>
          <a:stretch>
            <a:fillRect/>
          </a:stretch>
        </p:blipFill>
        <p:spPr>
          <a:xfrm>
            <a:off x="8601262" y="279447"/>
            <a:ext cx="2990476" cy="761905"/>
          </a:xfrm>
          <a:prstGeom prst="rect">
            <a:avLst/>
          </a:prstGeom>
        </p:spPr>
      </p:pic>
      <p:pic>
        <p:nvPicPr>
          <p:cNvPr id="4" name="图片 1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676168" y="72711"/>
            <a:ext cx="3189768" cy="99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占位符 5"/>
          <p:cNvSpPr>
            <a:spLocks noGrp="1"/>
          </p:cNvSpPr>
          <p:nvPr>
            <p:ph type="body" sz="quarter" idx="10" hasCustomPrompt="1"/>
          </p:nvPr>
        </p:nvSpPr>
        <p:spPr>
          <a:xfrm>
            <a:off x="11206163" y="6527800"/>
            <a:ext cx="479018" cy="255772"/>
          </a:xfrm>
        </p:spPr>
        <p:txBody>
          <a:bodyPr>
            <a:noAutofit/>
          </a:bodyPr>
          <a:lstStyle>
            <a:lvl1pPr marL="0" indent="0" algn="ctr">
              <a:buNone/>
              <a:defRPr sz="1400" b="1">
                <a:solidFill>
                  <a:srgbClr val="FF0000"/>
                </a:solidFill>
              </a:defRPr>
            </a:lvl1pPr>
            <a:lvl2pPr>
              <a:defRPr b="1">
                <a:solidFill>
                  <a:srgbClr val="FF0000"/>
                </a:solidFill>
              </a:defRPr>
            </a:lvl2pPr>
            <a:lvl3pPr>
              <a:defRPr b="1">
                <a:solidFill>
                  <a:srgbClr val="FF0000"/>
                </a:solidFill>
              </a:defRPr>
            </a:lvl3pPr>
            <a:lvl4pPr>
              <a:defRPr b="1">
                <a:solidFill>
                  <a:srgbClr val="FF0000"/>
                </a:solidFill>
              </a:defRPr>
            </a:lvl4pPr>
            <a:lvl5pPr>
              <a:defRPr b="1">
                <a:solidFill>
                  <a:srgbClr val="FF0000"/>
                </a:solidFill>
              </a:defRPr>
            </a:lvl5pPr>
          </a:lstStyle>
          <a:p>
            <a:pPr lvl="0"/>
            <a:fld id="{73FEE35F-1510-4CD3-A5F4-79EF5F7854AC}" type="slidenum">
              <a:rPr lang="zh-CN" altLang="en-US" smtClean="0"/>
            </a:fld>
            <a:endParaRPr lang="zh-CN" altLang="en-US" dirty="0"/>
          </a:p>
        </p:txBody>
      </p:sp>
      <p:sp>
        <p:nvSpPr>
          <p:cNvPr id="7" name="矩形 6"/>
          <p:cNvSpPr/>
          <p:nvPr userDrawn="1"/>
        </p:nvSpPr>
        <p:spPr>
          <a:xfrm>
            <a:off x="0" y="6492876"/>
            <a:ext cx="1820411" cy="365124"/>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b="1" dirty="0"/>
              <a:t>www.henu.edu.cn</a:t>
            </a:r>
            <a:endParaRPr lang="zh-CN" altLang="en-US" sz="1400" b="1"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两栏内容">
    <p:spTree>
      <p:nvGrpSpPr>
        <p:cNvPr id="1" name=""/>
        <p:cNvGrpSpPr/>
        <p:nvPr/>
      </p:nvGrpSpPr>
      <p:grpSpPr>
        <a:xfrm>
          <a:off x="0" y="0"/>
          <a:ext cx="0" cy="0"/>
          <a:chOff x="0" y="0"/>
          <a:chExt cx="0" cy="0"/>
        </a:xfrm>
      </p:grpSpPr>
      <p:sp>
        <p:nvSpPr>
          <p:cNvPr id="2" name="矩形 1"/>
          <p:cNvSpPr/>
          <p:nvPr userDrawn="1"/>
        </p:nvSpPr>
        <p:spPr>
          <a:xfrm>
            <a:off x="0" y="6492876"/>
            <a:ext cx="1820411" cy="365124"/>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b="1" dirty="0"/>
              <a:t>www.henu.edu.cn</a:t>
            </a:r>
            <a:endParaRPr lang="zh-CN" altLang="en-US" sz="1400" b="1"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image" Target="../media/image3.png"/><Relationship Id="rId10" Type="http://schemas.openxmlformats.org/officeDocument/2006/relationships/image" Target="../media/image7.jpe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1893D6-510C-4F6F-9867-0DA6859ED432}" type="slidenum">
              <a:rPr lang="zh-CN" altLang="en-US" smtClean="0"/>
            </a:fld>
            <a:endParaRPr lang="zh-CN" altLang="en-US"/>
          </a:p>
        </p:txBody>
      </p:sp>
      <p:pic>
        <p:nvPicPr>
          <p:cNvPr id="7" name="图片 6"/>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0" y="0"/>
            <a:ext cx="12192000" cy="6851904"/>
          </a:xfrm>
          <a:prstGeom prst="rect">
            <a:avLst/>
          </a:prstGeom>
        </p:spPr>
      </p:pic>
      <p:sp>
        <p:nvSpPr>
          <p:cNvPr id="8" name="矩形 1"/>
          <p:cNvSpPr>
            <a:spLocks noChangeArrowheads="1"/>
          </p:cNvSpPr>
          <p:nvPr userDrawn="1"/>
        </p:nvSpPr>
        <p:spPr bwMode="auto">
          <a:xfrm>
            <a:off x="871382" y="363024"/>
            <a:ext cx="8930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pic>
        <p:nvPicPr>
          <p:cNvPr id="9" name="图片 13"/>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8676168" y="72711"/>
            <a:ext cx="3189768" cy="99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8.xml"/><Relationship Id="rId2" Type="http://schemas.openxmlformats.org/officeDocument/2006/relationships/tags" Target="../tags/tag1.xml"/><Relationship Id="rId1" Type="http://schemas.openxmlformats.org/officeDocument/2006/relationships/image" Target="../media/image9.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8.xml"/><Relationship Id="rId2" Type="http://schemas.openxmlformats.org/officeDocument/2006/relationships/tags" Target="../tags/tag2.xml"/><Relationship Id="rId1"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8.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8.xml"/><Relationship Id="rId2" Type="http://schemas.openxmlformats.org/officeDocument/2006/relationships/tags" Target="../tags/tag4.xml"/><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8.xml"/><Relationship Id="rId2" Type="http://schemas.openxmlformats.org/officeDocument/2006/relationships/tags" Target="../tags/tag5.xml"/><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8.xml"/><Relationship Id="rId2" Type="http://schemas.openxmlformats.org/officeDocument/2006/relationships/tags" Target="../tags/tag6.xml"/><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8.xml"/><Relationship Id="rId2" Type="http://schemas.openxmlformats.org/officeDocument/2006/relationships/tags" Target="../tags/tag7.xml"/><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8.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8.xml"/><Relationship Id="rId2" Type="http://schemas.openxmlformats.org/officeDocument/2006/relationships/tags" Target="../tags/tag9.xml"/><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8.xml"/><Relationship Id="rId2" Type="http://schemas.openxmlformats.org/officeDocument/2006/relationships/tags" Target="../tags/tag10.xml"/><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8.xml"/><Relationship Id="rId2" Type="http://schemas.openxmlformats.org/officeDocument/2006/relationships/tags" Target="../tags/tag11.xml"/><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8.xml"/><Relationship Id="rId2" Type="http://schemas.openxmlformats.org/officeDocument/2006/relationships/tags" Target="../tags/tag12.xml"/><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8.xml"/><Relationship Id="rId2" Type="http://schemas.openxmlformats.org/officeDocument/2006/relationships/tags" Target="../tags/tag13.xml"/><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8.xml"/><Relationship Id="rId2" Type="http://schemas.openxmlformats.org/officeDocument/2006/relationships/tags" Target="../tags/tag14.xml"/><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8.xml"/><Relationship Id="rId2" Type="http://schemas.openxmlformats.org/officeDocument/2006/relationships/tags" Target="../tags/tag15.xml"/><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8.xml"/><Relationship Id="rId2" Type="http://schemas.openxmlformats.org/officeDocument/2006/relationships/tags" Target="../tags/tag16.xml"/><Relationship Id="rId1" Type="http://schemas.openxmlformats.org/officeDocument/2006/relationships/image" Target="../media/image18.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8.xml"/><Relationship Id="rId2" Type="http://schemas.openxmlformats.org/officeDocument/2006/relationships/tags" Target="../tags/tag17.xml"/><Relationship Id="rId1" Type="http://schemas.openxmlformats.org/officeDocument/2006/relationships/image" Target="../media/image19.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8.xml"/><Relationship Id="rId2" Type="http://schemas.openxmlformats.org/officeDocument/2006/relationships/tags" Target="../tags/tag18.xml"/><Relationship Id="rId1" Type="http://schemas.openxmlformats.org/officeDocument/2006/relationships/image" Target="../media/image19.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8.xml"/><Relationship Id="rId2" Type="http://schemas.openxmlformats.org/officeDocument/2006/relationships/tags" Target="../tags/tag19.xml"/><Relationship Id="rId1" Type="http://schemas.openxmlformats.org/officeDocument/2006/relationships/image" Target="../media/image19.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8.xml"/><Relationship Id="rId2" Type="http://schemas.openxmlformats.org/officeDocument/2006/relationships/tags" Target="../tags/tag20.xml"/><Relationship Id="rId1" Type="http://schemas.openxmlformats.org/officeDocument/2006/relationships/image" Target="../media/image20.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8.xml"/><Relationship Id="rId3" Type="http://schemas.openxmlformats.org/officeDocument/2006/relationships/tags" Target="../tags/tag21.xml"/><Relationship Id="rId2" Type="http://schemas.openxmlformats.org/officeDocument/2006/relationships/image" Target="../media/image21.png"/><Relationship Id="rId1" Type="http://schemas.openxmlformats.org/officeDocument/2006/relationships/image" Target="../media/image20.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8.xml"/><Relationship Id="rId2" Type="http://schemas.openxmlformats.org/officeDocument/2006/relationships/tags" Target="../tags/tag22.xml"/><Relationship Id="rId1" Type="http://schemas.openxmlformats.org/officeDocument/2006/relationships/image" Target="../media/image21.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8.xml"/><Relationship Id="rId2" Type="http://schemas.openxmlformats.org/officeDocument/2006/relationships/tags" Target="../tags/tag23.xml"/><Relationship Id="rId1"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8.xml"/><Relationship Id="rId1" Type="http://schemas.openxmlformats.org/officeDocument/2006/relationships/tags" Target="../tags/tag24.xml"/></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8.xml"/><Relationship Id="rId2" Type="http://schemas.openxmlformats.org/officeDocument/2006/relationships/tags" Target="../tags/tag25.xml"/><Relationship Id="rId1"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8.xml"/><Relationship Id="rId1" Type="http://schemas.openxmlformats.org/officeDocument/2006/relationships/tags" Target="../tags/tag26.xml"/></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8.xml"/><Relationship Id="rId2" Type="http://schemas.openxmlformats.org/officeDocument/2006/relationships/tags" Target="../tags/tag27.xml"/><Relationship Id="rId1" Type="http://schemas.openxmlformats.org/officeDocument/2006/relationships/image" Target="../media/image23.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8.xml"/><Relationship Id="rId2" Type="http://schemas.openxmlformats.org/officeDocument/2006/relationships/tags" Target="../tags/tag28.xml"/><Relationship Id="rId1" Type="http://schemas.openxmlformats.org/officeDocument/2006/relationships/image" Target="../media/image24.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8.xml"/><Relationship Id="rId2" Type="http://schemas.openxmlformats.org/officeDocument/2006/relationships/tags" Target="../tags/tag29.xml"/><Relationship Id="rId1" Type="http://schemas.openxmlformats.org/officeDocument/2006/relationships/image" Target="../media/image25.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8.xml"/><Relationship Id="rId2" Type="http://schemas.openxmlformats.org/officeDocument/2006/relationships/tags" Target="../tags/tag30.xml"/><Relationship Id="rId1" Type="http://schemas.openxmlformats.org/officeDocument/2006/relationships/image" Target="../media/image25.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8.xml"/><Relationship Id="rId2" Type="http://schemas.openxmlformats.org/officeDocument/2006/relationships/tags" Target="../tags/tag31.xml"/><Relationship Id="rId1" Type="http://schemas.openxmlformats.org/officeDocument/2006/relationships/image" Target="../media/image26.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8.xml"/><Relationship Id="rId2" Type="http://schemas.openxmlformats.org/officeDocument/2006/relationships/tags" Target="../tags/tag32.xml"/><Relationship Id="rId1" Type="http://schemas.openxmlformats.org/officeDocument/2006/relationships/image" Target="../media/image27.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8.xml"/><Relationship Id="rId2" Type="http://schemas.openxmlformats.org/officeDocument/2006/relationships/tags" Target="../tags/tag33.xml"/><Relationship Id="rId1" Type="http://schemas.openxmlformats.org/officeDocument/2006/relationships/image" Target="../media/image28.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8.xml"/><Relationship Id="rId2" Type="http://schemas.openxmlformats.org/officeDocument/2006/relationships/tags" Target="../tags/tag34.xml"/><Relationship Id="rId1" Type="http://schemas.openxmlformats.org/officeDocument/2006/relationships/image" Target="../media/image29.pn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8.xml"/><Relationship Id="rId2" Type="http://schemas.openxmlformats.org/officeDocument/2006/relationships/tags" Target="../tags/tag35.xml"/><Relationship Id="rId1" Type="http://schemas.openxmlformats.org/officeDocument/2006/relationships/image" Target="../media/image30.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8.xml"/><Relationship Id="rId1" Type="http://schemas.openxmlformats.org/officeDocument/2006/relationships/tags" Target="../tags/tag36.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8.xml"/><Relationship Id="rId1" Type="http://schemas.openxmlformats.org/officeDocument/2006/relationships/tags" Target="../tags/tag37.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8.xml"/><Relationship Id="rId1" Type="http://schemas.openxmlformats.org/officeDocument/2006/relationships/tags" Target="../tags/tag38.xml"/></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8.xml"/><Relationship Id="rId2" Type="http://schemas.openxmlformats.org/officeDocument/2006/relationships/tags" Target="../tags/tag39.xml"/><Relationship Id="rId1" Type="http://schemas.openxmlformats.org/officeDocument/2006/relationships/image" Target="../media/image31.png"/></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8.xml"/><Relationship Id="rId2" Type="http://schemas.openxmlformats.org/officeDocument/2006/relationships/tags" Target="../tags/tag40.xml"/><Relationship Id="rId1" Type="http://schemas.openxmlformats.org/officeDocument/2006/relationships/image" Target="../media/image31.pn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8.xml"/><Relationship Id="rId2" Type="http://schemas.openxmlformats.org/officeDocument/2006/relationships/tags" Target="../tags/tag41.xml"/><Relationship Id="rId1" Type="http://schemas.openxmlformats.org/officeDocument/2006/relationships/image" Target="../media/image22.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8.xml"/><Relationship Id="rId1" Type="http://schemas.openxmlformats.org/officeDocument/2006/relationships/tags" Target="../tags/tag4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8.xml"/><Relationship Id="rId1" Type="http://schemas.openxmlformats.org/officeDocument/2006/relationships/tags" Target="../tags/tag43.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8.xml"/><Relationship Id="rId1" Type="http://schemas.openxmlformats.org/officeDocument/2006/relationships/tags" Target="../tags/tag44.xml"/></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8.xml"/><Relationship Id="rId2" Type="http://schemas.openxmlformats.org/officeDocument/2006/relationships/tags" Target="../tags/tag45.xml"/><Relationship Id="rId1" Type="http://schemas.openxmlformats.org/officeDocument/2006/relationships/image" Target="../media/image29.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8.xml"/><Relationship Id="rId1" Type="http://schemas.openxmlformats.org/officeDocument/2006/relationships/tags" Target="../tags/tag46.xml"/></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8.xml"/><Relationship Id="rId2" Type="http://schemas.openxmlformats.org/officeDocument/2006/relationships/tags" Target="../tags/tag47.xml"/><Relationship Id="rId1" Type="http://schemas.openxmlformats.org/officeDocument/2006/relationships/image" Target="../media/image32.jpeg"/></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8.xml"/><Relationship Id="rId2" Type="http://schemas.openxmlformats.org/officeDocument/2006/relationships/tags" Target="../tags/tag48.xml"/><Relationship Id="rId1" Type="http://schemas.openxmlformats.org/officeDocument/2006/relationships/image" Target="../media/image32.jpeg"/></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8.xml"/><Relationship Id="rId2" Type="http://schemas.openxmlformats.org/officeDocument/2006/relationships/tags" Target="../tags/tag49.xml"/><Relationship Id="rId1" Type="http://schemas.openxmlformats.org/officeDocument/2006/relationships/image" Target="../media/image32.jpe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8.xml"/><Relationship Id="rId1" Type="http://schemas.openxmlformats.org/officeDocument/2006/relationships/tags" Target="../tags/tag50.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8.xml"/><Relationship Id="rId1" Type="http://schemas.openxmlformats.org/officeDocument/2006/relationships/tags" Target="../tags/tag51.xml"/></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8.xml"/><Relationship Id="rId2" Type="http://schemas.openxmlformats.org/officeDocument/2006/relationships/tags" Target="../tags/tag52.xml"/><Relationship Id="rId1" Type="http://schemas.openxmlformats.org/officeDocument/2006/relationships/image" Target="../media/image33.jpeg"/></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8.xml"/><Relationship Id="rId2" Type="http://schemas.openxmlformats.org/officeDocument/2006/relationships/tags" Target="../tags/tag53.xml"/><Relationship Id="rId1" Type="http://schemas.openxmlformats.org/officeDocument/2006/relationships/image" Target="../media/image33.jpe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55.xml"/><Relationship Id="rId3" Type="http://schemas.openxmlformats.org/officeDocument/2006/relationships/slideLayout" Target="../slideLayouts/slideLayout8.xml"/><Relationship Id="rId2" Type="http://schemas.openxmlformats.org/officeDocument/2006/relationships/tags" Target="../tags/tag54.xml"/><Relationship Id="rId1" Type="http://schemas.openxmlformats.org/officeDocument/2006/relationships/image" Target="../media/image33.jpeg"/></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8.xml"/><Relationship Id="rId2" Type="http://schemas.openxmlformats.org/officeDocument/2006/relationships/tags" Target="../tags/tag55.xml"/><Relationship Id="rId1" Type="http://schemas.openxmlformats.org/officeDocument/2006/relationships/image" Target="../media/image34.jpe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57.xml"/><Relationship Id="rId3" Type="http://schemas.openxmlformats.org/officeDocument/2006/relationships/slideLayout" Target="../slideLayouts/slideLayout8.xml"/><Relationship Id="rId2" Type="http://schemas.openxmlformats.org/officeDocument/2006/relationships/tags" Target="../tags/tag56.xml"/><Relationship Id="rId1" Type="http://schemas.openxmlformats.org/officeDocument/2006/relationships/image" Target="../media/image35.jpeg"/></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58.xml"/><Relationship Id="rId3" Type="http://schemas.openxmlformats.org/officeDocument/2006/relationships/slideLayout" Target="../slideLayouts/slideLayout8.xml"/><Relationship Id="rId2" Type="http://schemas.openxmlformats.org/officeDocument/2006/relationships/tags" Target="../tags/tag57.xml"/><Relationship Id="rId1" Type="http://schemas.openxmlformats.org/officeDocument/2006/relationships/image" Target="../media/image35.jpeg"/></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8.xml"/><Relationship Id="rId2" Type="http://schemas.openxmlformats.org/officeDocument/2006/relationships/tags" Target="../tags/tag58.xml"/><Relationship Id="rId1" Type="http://schemas.openxmlformats.org/officeDocument/2006/relationships/image" Target="../media/image35.jpe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8.xml"/><Relationship Id="rId1" Type="http://schemas.openxmlformats.org/officeDocument/2006/relationships/tags" Target="../tags/tag59.xml"/></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61.xml"/><Relationship Id="rId3" Type="http://schemas.openxmlformats.org/officeDocument/2006/relationships/slideLayout" Target="../slideLayouts/slideLayout8.xml"/><Relationship Id="rId2" Type="http://schemas.openxmlformats.org/officeDocument/2006/relationships/tags" Target="../tags/tag60.xml"/><Relationship Id="rId1" Type="http://schemas.openxmlformats.org/officeDocument/2006/relationships/image" Target="../media/image36.jpeg"/></Relationships>
</file>

<file path=ppt/slides/_rels/slide62.xml.rels><?xml version="1.0" encoding="UTF-8" standalone="yes"?>
<Relationships xmlns="http://schemas.openxmlformats.org/package/2006/relationships"><Relationship Id="rId4" Type="http://schemas.openxmlformats.org/officeDocument/2006/relationships/notesSlide" Target="../notesSlides/notesSlide62.xml"/><Relationship Id="rId3" Type="http://schemas.openxmlformats.org/officeDocument/2006/relationships/slideLayout" Target="../slideLayouts/slideLayout8.xml"/><Relationship Id="rId2" Type="http://schemas.openxmlformats.org/officeDocument/2006/relationships/tags" Target="../tags/tag61.xml"/><Relationship Id="rId1" Type="http://schemas.openxmlformats.org/officeDocument/2006/relationships/image" Target="../media/image37.jpeg"/></Relationships>
</file>

<file path=ppt/slides/_rels/slide63.xml.rels><?xml version="1.0" encoding="UTF-8" standalone="yes"?>
<Relationships xmlns="http://schemas.openxmlformats.org/package/2006/relationships"><Relationship Id="rId4" Type="http://schemas.openxmlformats.org/officeDocument/2006/relationships/notesSlide" Target="../notesSlides/notesSlide63.xml"/><Relationship Id="rId3" Type="http://schemas.openxmlformats.org/officeDocument/2006/relationships/slideLayout" Target="../slideLayouts/slideLayout8.xml"/><Relationship Id="rId2" Type="http://schemas.openxmlformats.org/officeDocument/2006/relationships/tags" Target="../tags/tag62.xml"/><Relationship Id="rId1" Type="http://schemas.openxmlformats.org/officeDocument/2006/relationships/image" Target="../media/image37.jpeg"/></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64.xml"/><Relationship Id="rId3" Type="http://schemas.openxmlformats.org/officeDocument/2006/relationships/slideLayout" Target="../slideLayouts/slideLayout8.xml"/><Relationship Id="rId2" Type="http://schemas.openxmlformats.org/officeDocument/2006/relationships/tags" Target="../tags/tag63.xml"/><Relationship Id="rId1" Type="http://schemas.openxmlformats.org/officeDocument/2006/relationships/image" Target="../media/image38.jpeg"/></Relationships>
</file>

<file path=ppt/slides/_rels/slide65.xml.rels><?xml version="1.0" encoding="UTF-8" standalone="yes"?>
<Relationships xmlns="http://schemas.openxmlformats.org/package/2006/relationships"><Relationship Id="rId4" Type="http://schemas.openxmlformats.org/officeDocument/2006/relationships/notesSlide" Target="../notesSlides/notesSlide65.xml"/><Relationship Id="rId3" Type="http://schemas.openxmlformats.org/officeDocument/2006/relationships/slideLayout" Target="../slideLayouts/slideLayout8.xml"/><Relationship Id="rId2" Type="http://schemas.openxmlformats.org/officeDocument/2006/relationships/tags" Target="../tags/tag64.xml"/><Relationship Id="rId1" Type="http://schemas.openxmlformats.org/officeDocument/2006/relationships/image" Target="../media/image38.jpeg"/></Relationships>
</file>

<file path=ppt/slides/_rels/slide66.xml.rels><?xml version="1.0" encoding="UTF-8" standalone="yes"?>
<Relationships xmlns="http://schemas.openxmlformats.org/package/2006/relationships"><Relationship Id="rId4" Type="http://schemas.openxmlformats.org/officeDocument/2006/relationships/notesSlide" Target="../notesSlides/notesSlide66.xml"/><Relationship Id="rId3" Type="http://schemas.openxmlformats.org/officeDocument/2006/relationships/slideLayout" Target="../slideLayouts/slideLayout8.xml"/><Relationship Id="rId2" Type="http://schemas.openxmlformats.org/officeDocument/2006/relationships/tags" Target="../tags/tag65.xml"/><Relationship Id="rId1" Type="http://schemas.openxmlformats.org/officeDocument/2006/relationships/image" Target="../media/image39.jpeg"/></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67.xml"/><Relationship Id="rId3" Type="http://schemas.openxmlformats.org/officeDocument/2006/relationships/slideLayout" Target="../slideLayouts/slideLayout8.xml"/><Relationship Id="rId2" Type="http://schemas.openxmlformats.org/officeDocument/2006/relationships/tags" Target="../tags/tag66.xml"/><Relationship Id="rId1" Type="http://schemas.openxmlformats.org/officeDocument/2006/relationships/image" Target="../media/image39.jpe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8.xml"/><Relationship Id="rId1" Type="http://schemas.openxmlformats.org/officeDocument/2006/relationships/tags" Target="../tags/tag67.xml"/></Relationships>
</file>

<file path=ppt/slides/_rels/slide69.xml.rels><?xml version="1.0" encoding="UTF-8" standalone="yes"?>
<Relationships xmlns="http://schemas.openxmlformats.org/package/2006/relationships"><Relationship Id="rId4" Type="http://schemas.openxmlformats.org/officeDocument/2006/relationships/notesSlide" Target="../notesSlides/notesSlide69.xml"/><Relationship Id="rId3" Type="http://schemas.openxmlformats.org/officeDocument/2006/relationships/slideLayout" Target="../slideLayouts/slideLayout8.xml"/><Relationship Id="rId2" Type="http://schemas.openxmlformats.org/officeDocument/2006/relationships/tags" Target="../tags/tag68.xml"/><Relationship Id="rId1" Type="http://schemas.openxmlformats.org/officeDocument/2006/relationships/image" Target="../media/image22.png"/></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70.xml"/><Relationship Id="rId3" Type="http://schemas.openxmlformats.org/officeDocument/2006/relationships/slideLayout" Target="../slideLayouts/slideLayout8.xml"/><Relationship Id="rId2" Type="http://schemas.openxmlformats.org/officeDocument/2006/relationships/tags" Target="../tags/tag69.xml"/><Relationship Id="rId1" Type="http://schemas.openxmlformats.org/officeDocument/2006/relationships/image" Target="../media/image40.jpeg"/></Relationships>
</file>

<file path=ppt/slides/_rels/slide71.xml.rels><?xml version="1.0" encoding="UTF-8" standalone="yes"?>
<Relationships xmlns="http://schemas.openxmlformats.org/package/2006/relationships"><Relationship Id="rId4" Type="http://schemas.openxmlformats.org/officeDocument/2006/relationships/notesSlide" Target="../notesSlides/notesSlide71.xml"/><Relationship Id="rId3" Type="http://schemas.openxmlformats.org/officeDocument/2006/relationships/slideLayout" Target="../slideLayouts/slideLayout8.xml"/><Relationship Id="rId2" Type="http://schemas.openxmlformats.org/officeDocument/2006/relationships/tags" Target="../tags/tag70.xml"/><Relationship Id="rId1" Type="http://schemas.openxmlformats.org/officeDocument/2006/relationships/image" Target="../media/image40.jpeg"/></Relationships>
</file>

<file path=ppt/slides/_rels/slide72.xml.rels><?xml version="1.0" encoding="UTF-8" standalone="yes"?>
<Relationships xmlns="http://schemas.openxmlformats.org/package/2006/relationships"><Relationship Id="rId4" Type="http://schemas.openxmlformats.org/officeDocument/2006/relationships/notesSlide" Target="../notesSlides/notesSlide72.xml"/><Relationship Id="rId3" Type="http://schemas.openxmlformats.org/officeDocument/2006/relationships/slideLayout" Target="../slideLayouts/slideLayout8.xml"/><Relationship Id="rId2" Type="http://schemas.openxmlformats.org/officeDocument/2006/relationships/tags" Target="../tags/tag71.xml"/><Relationship Id="rId1" Type="http://schemas.openxmlformats.org/officeDocument/2006/relationships/image" Target="../media/image22.pn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8.xml"/><Relationship Id="rId1" Type="http://schemas.openxmlformats.org/officeDocument/2006/relationships/tags" Target="../tags/tag72.xml"/></Relationships>
</file>

<file path=ppt/slides/_rels/slide74.xml.rels><?xml version="1.0" encoding="UTF-8" standalone="yes"?>
<Relationships xmlns="http://schemas.openxmlformats.org/package/2006/relationships"><Relationship Id="rId4" Type="http://schemas.openxmlformats.org/officeDocument/2006/relationships/notesSlide" Target="../notesSlides/notesSlide74.xml"/><Relationship Id="rId3" Type="http://schemas.openxmlformats.org/officeDocument/2006/relationships/slideLayout" Target="../slideLayouts/slideLayout8.xml"/><Relationship Id="rId2" Type="http://schemas.openxmlformats.org/officeDocument/2006/relationships/tags" Target="../tags/tag73.xml"/><Relationship Id="rId1" Type="http://schemas.openxmlformats.org/officeDocument/2006/relationships/image" Target="../media/image41.jpeg"/></Relationships>
</file>

<file path=ppt/slides/_rels/slide75.xml.rels><?xml version="1.0" encoding="UTF-8" standalone="yes"?>
<Relationships xmlns="http://schemas.openxmlformats.org/package/2006/relationships"><Relationship Id="rId4" Type="http://schemas.openxmlformats.org/officeDocument/2006/relationships/notesSlide" Target="../notesSlides/notesSlide75.xml"/><Relationship Id="rId3" Type="http://schemas.openxmlformats.org/officeDocument/2006/relationships/slideLayout" Target="../slideLayouts/slideLayout8.xml"/><Relationship Id="rId2" Type="http://schemas.openxmlformats.org/officeDocument/2006/relationships/tags" Target="../tags/tag74.xml"/><Relationship Id="rId1" Type="http://schemas.openxmlformats.org/officeDocument/2006/relationships/image" Target="../media/image41.jpeg"/></Relationships>
</file>

<file path=ppt/slides/_rels/slide76.xml.rels><?xml version="1.0" encoding="UTF-8" standalone="yes"?>
<Relationships xmlns="http://schemas.openxmlformats.org/package/2006/relationships"><Relationship Id="rId4" Type="http://schemas.openxmlformats.org/officeDocument/2006/relationships/notesSlide" Target="../notesSlides/notesSlide76.xml"/><Relationship Id="rId3" Type="http://schemas.openxmlformats.org/officeDocument/2006/relationships/slideLayout" Target="../slideLayouts/slideLayout8.xml"/><Relationship Id="rId2" Type="http://schemas.openxmlformats.org/officeDocument/2006/relationships/tags" Target="../tags/tag75.xml"/><Relationship Id="rId1" Type="http://schemas.openxmlformats.org/officeDocument/2006/relationships/image" Target="../media/image38.jpe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8.xml"/><Relationship Id="rId1" Type="http://schemas.openxmlformats.org/officeDocument/2006/relationships/tags" Target="../tags/tag76.xml"/></Relationships>
</file>

<file path=ppt/slides/_rels/slide78.xml.rels><?xml version="1.0" encoding="UTF-8" standalone="yes"?>
<Relationships xmlns="http://schemas.openxmlformats.org/package/2006/relationships"><Relationship Id="rId4" Type="http://schemas.openxmlformats.org/officeDocument/2006/relationships/notesSlide" Target="../notesSlides/notesSlide78.xml"/><Relationship Id="rId3" Type="http://schemas.openxmlformats.org/officeDocument/2006/relationships/slideLayout" Target="../slideLayouts/slideLayout8.xml"/><Relationship Id="rId2" Type="http://schemas.openxmlformats.org/officeDocument/2006/relationships/tags" Target="../tags/tag77.xml"/><Relationship Id="rId1" Type="http://schemas.openxmlformats.org/officeDocument/2006/relationships/image" Target="../media/image42.jpeg"/></Relationships>
</file>

<file path=ppt/slides/_rels/slide79.xml.rels><?xml version="1.0" encoding="UTF-8" standalone="yes"?>
<Relationships xmlns="http://schemas.openxmlformats.org/package/2006/relationships"><Relationship Id="rId4" Type="http://schemas.openxmlformats.org/officeDocument/2006/relationships/notesSlide" Target="../notesSlides/notesSlide79.xml"/><Relationship Id="rId3" Type="http://schemas.openxmlformats.org/officeDocument/2006/relationships/slideLayout" Target="../slideLayouts/slideLayout8.xml"/><Relationship Id="rId2" Type="http://schemas.openxmlformats.org/officeDocument/2006/relationships/tags" Target="../tags/tag78.xml"/><Relationship Id="rId1" Type="http://schemas.openxmlformats.org/officeDocument/2006/relationships/image" Target="../media/image43.jpeg"/></Relationships>
</file>

<file path=ppt/slides/_rels/slide80.xml.rels><?xml version="1.0" encoding="UTF-8" standalone="yes"?>
<Relationships xmlns="http://schemas.openxmlformats.org/package/2006/relationships"><Relationship Id="rId4" Type="http://schemas.openxmlformats.org/officeDocument/2006/relationships/notesSlide" Target="../notesSlides/notesSlide80.xml"/><Relationship Id="rId3" Type="http://schemas.openxmlformats.org/officeDocument/2006/relationships/slideLayout" Target="../slideLayouts/slideLayout8.xml"/><Relationship Id="rId2" Type="http://schemas.openxmlformats.org/officeDocument/2006/relationships/tags" Target="../tags/tag79.xml"/><Relationship Id="rId1" Type="http://schemas.openxmlformats.org/officeDocument/2006/relationships/image" Target="../media/image44.jpeg"/></Relationships>
</file>

<file path=ppt/slides/_rels/slide81.xml.rels><?xml version="1.0" encoding="UTF-8" standalone="yes"?>
<Relationships xmlns="http://schemas.openxmlformats.org/package/2006/relationships"><Relationship Id="rId4" Type="http://schemas.openxmlformats.org/officeDocument/2006/relationships/notesSlide" Target="../notesSlides/notesSlide81.xml"/><Relationship Id="rId3" Type="http://schemas.openxmlformats.org/officeDocument/2006/relationships/slideLayout" Target="../slideLayouts/slideLayout8.xml"/><Relationship Id="rId2" Type="http://schemas.openxmlformats.org/officeDocument/2006/relationships/tags" Target="../tags/tag80.xml"/><Relationship Id="rId1" Type="http://schemas.openxmlformats.org/officeDocument/2006/relationships/image" Target="../media/image45.jpeg"/></Relationships>
</file>

<file path=ppt/slides/_rels/slide82.xml.rels><?xml version="1.0" encoding="UTF-8" standalone="yes"?>
<Relationships xmlns="http://schemas.openxmlformats.org/package/2006/relationships"><Relationship Id="rId4" Type="http://schemas.openxmlformats.org/officeDocument/2006/relationships/notesSlide" Target="../notesSlides/notesSlide82.xml"/><Relationship Id="rId3" Type="http://schemas.openxmlformats.org/officeDocument/2006/relationships/slideLayout" Target="../slideLayouts/slideLayout8.xml"/><Relationship Id="rId2" Type="http://schemas.openxmlformats.org/officeDocument/2006/relationships/tags" Target="../tags/tag81.xml"/><Relationship Id="rId1" Type="http://schemas.openxmlformats.org/officeDocument/2006/relationships/image" Target="../media/image46.jpeg"/></Relationships>
</file>

<file path=ppt/slides/_rels/slide83.xml.rels><?xml version="1.0" encoding="UTF-8" standalone="yes"?>
<Relationships xmlns="http://schemas.openxmlformats.org/package/2006/relationships"><Relationship Id="rId4" Type="http://schemas.openxmlformats.org/officeDocument/2006/relationships/notesSlide" Target="../notesSlides/notesSlide83.xml"/><Relationship Id="rId3" Type="http://schemas.openxmlformats.org/officeDocument/2006/relationships/slideLayout" Target="../slideLayouts/slideLayout8.xml"/><Relationship Id="rId2" Type="http://schemas.openxmlformats.org/officeDocument/2006/relationships/tags" Target="../tags/tag82.xml"/><Relationship Id="rId1" Type="http://schemas.openxmlformats.org/officeDocument/2006/relationships/image" Target="../media/image47.jpeg"/></Relationships>
</file>

<file path=ppt/slides/_rels/slide84.xml.rels><?xml version="1.0" encoding="UTF-8" standalone="yes"?>
<Relationships xmlns="http://schemas.openxmlformats.org/package/2006/relationships"><Relationship Id="rId4" Type="http://schemas.openxmlformats.org/officeDocument/2006/relationships/notesSlide" Target="../notesSlides/notesSlide84.xml"/><Relationship Id="rId3" Type="http://schemas.openxmlformats.org/officeDocument/2006/relationships/slideLayout" Target="../slideLayouts/slideLayout8.xml"/><Relationship Id="rId2" Type="http://schemas.openxmlformats.org/officeDocument/2006/relationships/tags" Target="../tags/tag83.xml"/><Relationship Id="rId1" Type="http://schemas.openxmlformats.org/officeDocument/2006/relationships/image" Target="../media/image47.jpeg"/></Relationships>
</file>

<file path=ppt/slides/_rels/slide85.xml.rels><?xml version="1.0" encoding="UTF-8" standalone="yes"?>
<Relationships xmlns="http://schemas.openxmlformats.org/package/2006/relationships"><Relationship Id="rId4" Type="http://schemas.openxmlformats.org/officeDocument/2006/relationships/notesSlide" Target="../notesSlides/notesSlide85.xml"/><Relationship Id="rId3" Type="http://schemas.openxmlformats.org/officeDocument/2006/relationships/slideLayout" Target="../slideLayouts/slideLayout8.xml"/><Relationship Id="rId2" Type="http://schemas.openxmlformats.org/officeDocument/2006/relationships/tags" Target="../tags/tag84.xml"/><Relationship Id="rId1" Type="http://schemas.openxmlformats.org/officeDocument/2006/relationships/image" Target="../media/image47.jpeg"/></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8.xml"/><Relationship Id="rId1" Type="http://schemas.openxmlformats.org/officeDocument/2006/relationships/tags" Target="../tags/tag85.xml"/></Relationships>
</file>

<file path=ppt/slides/_rels/slide87.xml.rels><?xml version="1.0" encoding="UTF-8" standalone="yes"?>
<Relationships xmlns="http://schemas.openxmlformats.org/package/2006/relationships"><Relationship Id="rId4" Type="http://schemas.openxmlformats.org/officeDocument/2006/relationships/notesSlide" Target="../notesSlides/notesSlide87.xml"/><Relationship Id="rId3" Type="http://schemas.openxmlformats.org/officeDocument/2006/relationships/slideLayout" Target="../slideLayouts/slideLayout8.xml"/><Relationship Id="rId2" Type="http://schemas.openxmlformats.org/officeDocument/2006/relationships/tags" Target="../tags/tag86.xml"/><Relationship Id="rId1" Type="http://schemas.openxmlformats.org/officeDocument/2006/relationships/image" Target="../media/image48.jpeg"/></Relationships>
</file>

<file path=ppt/slides/_rels/slide88.xml.rels><?xml version="1.0" encoding="UTF-8" standalone="yes"?>
<Relationships xmlns="http://schemas.openxmlformats.org/package/2006/relationships"><Relationship Id="rId4" Type="http://schemas.openxmlformats.org/officeDocument/2006/relationships/notesSlide" Target="../notesSlides/notesSlide88.xml"/><Relationship Id="rId3" Type="http://schemas.openxmlformats.org/officeDocument/2006/relationships/slideLayout" Target="../slideLayouts/slideLayout8.xml"/><Relationship Id="rId2" Type="http://schemas.openxmlformats.org/officeDocument/2006/relationships/tags" Target="../tags/tag87.xml"/><Relationship Id="rId1" Type="http://schemas.openxmlformats.org/officeDocument/2006/relationships/image" Target="../media/image49.jpeg"/></Relationships>
</file>

<file path=ppt/slides/_rels/slide89.xml.rels><?xml version="1.0" encoding="UTF-8" standalone="yes"?>
<Relationships xmlns="http://schemas.openxmlformats.org/package/2006/relationships"><Relationship Id="rId4" Type="http://schemas.openxmlformats.org/officeDocument/2006/relationships/notesSlide" Target="../notesSlides/notesSlide89.xml"/><Relationship Id="rId3" Type="http://schemas.openxmlformats.org/officeDocument/2006/relationships/slideLayout" Target="../slideLayouts/slideLayout8.xml"/><Relationship Id="rId2" Type="http://schemas.openxmlformats.org/officeDocument/2006/relationships/tags" Target="../tags/tag88.xml"/><Relationship Id="rId1" Type="http://schemas.openxmlformats.org/officeDocument/2006/relationships/image" Target="../media/image49.jpeg"/></Relationships>
</file>

<file path=ppt/slides/_rels/slide90.xml.rels><?xml version="1.0" encoding="UTF-8" standalone="yes"?>
<Relationships xmlns="http://schemas.openxmlformats.org/package/2006/relationships"><Relationship Id="rId4" Type="http://schemas.openxmlformats.org/officeDocument/2006/relationships/notesSlide" Target="../notesSlides/notesSlide90.xml"/><Relationship Id="rId3" Type="http://schemas.openxmlformats.org/officeDocument/2006/relationships/slideLayout" Target="../slideLayouts/slideLayout8.xml"/><Relationship Id="rId2" Type="http://schemas.openxmlformats.org/officeDocument/2006/relationships/tags" Target="../tags/tag89.xml"/><Relationship Id="rId1" Type="http://schemas.openxmlformats.org/officeDocument/2006/relationships/image" Target="../media/image49.jpeg"/></Relationships>
</file>

<file path=ppt/slides/_rels/slide91.xml.rels><?xml version="1.0" encoding="UTF-8" standalone="yes"?>
<Relationships xmlns="http://schemas.openxmlformats.org/package/2006/relationships"><Relationship Id="rId4" Type="http://schemas.openxmlformats.org/officeDocument/2006/relationships/notesSlide" Target="../notesSlides/notesSlide91.xml"/><Relationship Id="rId3" Type="http://schemas.openxmlformats.org/officeDocument/2006/relationships/slideLayout" Target="../slideLayouts/slideLayout8.xml"/><Relationship Id="rId2" Type="http://schemas.openxmlformats.org/officeDocument/2006/relationships/tags" Target="../tags/tag90.xml"/><Relationship Id="rId1" Type="http://schemas.openxmlformats.org/officeDocument/2006/relationships/image" Target="../media/image50.jpeg"/></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92.xml"/><Relationship Id="rId2" Type="http://schemas.openxmlformats.org/officeDocument/2006/relationships/slideLayout" Target="../slideLayouts/slideLayout8.xml"/><Relationship Id="rId1" Type="http://schemas.openxmlformats.org/officeDocument/2006/relationships/tags" Target="../tags/tag91.xml"/></Relationships>
</file>

<file path=ppt/slides/_rels/slide93.xml.rels><?xml version="1.0" encoding="UTF-8" standalone="yes"?>
<Relationships xmlns="http://schemas.openxmlformats.org/package/2006/relationships"><Relationship Id="rId4" Type="http://schemas.openxmlformats.org/officeDocument/2006/relationships/notesSlide" Target="../notesSlides/notesSlide93.xml"/><Relationship Id="rId3" Type="http://schemas.openxmlformats.org/officeDocument/2006/relationships/slideLayout" Target="../slideLayouts/slideLayout8.xml"/><Relationship Id="rId2" Type="http://schemas.openxmlformats.org/officeDocument/2006/relationships/tags" Target="../tags/tag92.xml"/><Relationship Id="rId1" Type="http://schemas.openxmlformats.org/officeDocument/2006/relationships/image" Target="../media/image51.jpeg"/></Relationships>
</file>

<file path=ppt/slides/_rels/slide94.xml.rels><?xml version="1.0" encoding="UTF-8" standalone="yes"?>
<Relationships xmlns="http://schemas.openxmlformats.org/package/2006/relationships"><Relationship Id="rId4" Type="http://schemas.openxmlformats.org/officeDocument/2006/relationships/notesSlide" Target="../notesSlides/notesSlide94.xml"/><Relationship Id="rId3" Type="http://schemas.openxmlformats.org/officeDocument/2006/relationships/slideLayout" Target="../slideLayouts/slideLayout8.xml"/><Relationship Id="rId2" Type="http://schemas.openxmlformats.org/officeDocument/2006/relationships/tags" Target="../tags/tag93.xml"/><Relationship Id="rId1" Type="http://schemas.openxmlformats.org/officeDocument/2006/relationships/image" Target="../media/image51.jpeg"/></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95.xml"/><Relationship Id="rId2" Type="http://schemas.openxmlformats.org/officeDocument/2006/relationships/slideLayout" Target="../slideLayouts/slideLayout8.xml"/><Relationship Id="rId1" Type="http://schemas.openxmlformats.org/officeDocument/2006/relationships/tags" Target="../tags/tag94.xml"/></Relationships>
</file>

<file path=ppt/slides/_rels/slide96.xml.rels><?xml version="1.0" encoding="UTF-8" standalone="yes"?>
<Relationships xmlns="http://schemas.openxmlformats.org/package/2006/relationships"><Relationship Id="rId4" Type="http://schemas.openxmlformats.org/officeDocument/2006/relationships/notesSlide" Target="../notesSlides/notesSlide96.xml"/><Relationship Id="rId3" Type="http://schemas.openxmlformats.org/officeDocument/2006/relationships/slideLayout" Target="../slideLayouts/slideLayout8.xml"/><Relationship Id="rId2" Type="http://schemas.openxmlformats.org/officeDocument/2006/relationships/tags" Target="../tags/tag95.xml"/><Relationship Id="rId1" Type="http://schemas.openxmlformats.org/officeDocument/2006/relationships/image" Target="../media/image52.jpeg"/></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8.xml"/><Relationship Id="rId1" Type="http://schemas.openxmlformats.org/officeDocument/2006/relationships/tags" Target="../tags/tag96.xml"/></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8.xml"/><Relationship Id="rId1" Type="http://schemas.openxmlformats.org/officeDocument/2006/relationships/tags" Target="../tags/tag97.xm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8.xml"/><Relationship Id="rId1" Type="http://schemas.openxmlformats.org/officeDocument/2006/relationships/tags" Target="../tags/tag98.xml"/></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100.xml"/><Relationship Id="rId2" Type="http://schemas.openxmlformats.org/officeDocument/2006/relationships/slideLayout" Target="../slideLayouts/slideLayout8.xml"/><Relationship Id="rId1" Type="http://schemas.openxmlformats.org/officeDocument/2006/relationships/tags" Target="../tags/tag99.xml"/></Relationships>
</file>

<file path=ppt/slides/_rels/slide101.xml.rels><?xml version="1.0" encoding="UTF-8" standalone="yes"?>
<Relationships xmlns="http://schemas.openxmlformats.org/package/2006/relationships"><Relationship Id="rId4" Type="http://schemas.openxmlformats.org/officeDocument/2006/relationships/notesSlide" Target="../notesSlides/notesSlide101.xml"/><Relationship Id="rId3" Type="http://schemas.openxmlformats.org/officeDocument/2006/relationships/slideLayout" Target="../slideLayouts/slideLayout8.xml"/><Relationship Id="rId2" Type="http://schemas.openxmlformats.org/officeDocument/2006/relationships/tags" Target="../tags/tag100.xml"/><Relationship Id="rId1" Type="http://schemas.openxmlformats.org/officeDocument/2006/relationships/image" Target="../media/image53.jpeg"/></Relationships>
</file>

<file path=ppt/slides/_rels/slide102.xml.rels><?xml version="1.0" encoding="UTF-8" standalone="yes"?>
<Relationships xmlns="http://schemas.openxmlformats.org/package/2006/relationships"><Relationship Id="rId4" Type="http://schemas.openxmlformats.org/officeDocument/2006/relationships/notesSlide" Target="../notesSlides/notesSlide102.xml"/><Relationship Id="rId3" Type="http://schemas.openxmlformats.org/officeDocument/2006/relationships/slideLayout" Target="../slideLayouts/slideLayout8.xml"/><Relationship Id="rId2" Type="http://schemas.openxmlformats.org/officeDocument/2006/relationships/tags" Target="../tags/tag101.xml"/><Relationship Id="rId1" Type="http://schemas.openxmlformats.org/officeDocument/2006/relationships/image" Target="../media/image54.jpeg"/></Relationships>
</file>

<file path=ppt/slides/_rels/slide103.xml.rels><?xml version="1.0" encoding="UTF-8" standalone="yes"?>
<Relationships xmlns="http://schemas.openxmlformats.org/package/2006/relationships"><Relationship Id="rId6" Type="http://schemas.openxmlformats.org/officeDocument/2006/relationships/notesSlide" Target="../notesSlides/notesSlide103.xml"/><Relationship Id="rId5" Type="http://schemas.openxmlformats.org/officeDocument/2006/relationships/vmlDrawing" Target="../drawings/vmlDrawing1.vml"/><Relationship Id="rId4" Type="http://schemas.openxmlformats.org/officeDocument/2006/relationships/slideLayout" Target="../slideLayouts/slideLayout8.xml"/><Relationship Id="rId3" Type="http://schemas.openxmlformats.org/officeDocument/2006/relationships/tags" Target="../tags/tag102.xml"/><Relationship Id="rId2" Type="http://schemas.openxmlformats.org/officeDocument/2006/relationships/image" Target="../media/image55.emf"/><Relationship Id="rId1" Type="http://schemas.openxmlformats.org/officeDocument/2006/relationships/oleObject" Target="../embeddings/oleObject1.bin"/></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8.xml"/><Relationship Id="rId1" Type="http://schemas.openxmlformats.org/officeDocument/2006/relationships/tags" Target="../tags/tag103.xml"/></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105.xml"/><Relationship Id="rId2" Type="http://schemas.openxmlformats.org/officeDocument/2006/relationships/slideLayout" Target="../slideLayouts/slideLayout8.xml"/><Relationship Id="rId1" Type="http://schemas.openxmlformats.org/officeDocument/2006/relationships/tags" Target="../tags/tag104.xml"/></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106.xml"/><Relationship Id="rId2" Type="http://schemas.openxmlformats.org/officeDocument/2006/relationships/slideLayout" Target="../slideLayouts/slideLayout8.xml"/><Relationship Id="rId1" Type="http://schemas.openxmlformats.org/officeDocument/2006/relationships/tags" Target="../tags/tag105.xml"/></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107.xml"/><Relationship Id="rId2" Type="http://schemas.openxmlformats.org/officeDocument/2006/relationships/slideLayout" Target="../slideLayouts/slideLayout8.xml"/><Relationship Id="rId1" Type="http://schemas.openxmlformats.org/officeDocument/2006/relationships/tags" Target="../tags/tag106.xml"/></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108.xml"/><Relationship Id="rId2" Type="http://schemas.openxmlformats.org/officeDocument/2006/relationships/slideLayout" Target="../slideLayouts/slideLayout8.xml"/><Relationship Id="rId1" Type="http://schemas.openxmlformats.org/officeDocument/2006/relationships/tags" Target="../tags/tag107.xml"/></Relationships>
</file>

<file path=ppt/slides/_rels/slide109.xml.rels><?xml version="1.0" encoding="UTF-8" standalone="yes"?>
<Relationships xmlns="http://schemas.openxmlformats.org/package/2006/relationships"><Relationship Id="rId4" Type="http://schemas.openxmlformats.org/officeDocument/2006/relationships/notesSlide" Target="../notesSlides/notesSlide109.xml"/><Relationship Id="rId3" Type="http://schemas.openxmlformats.org/officeDocument/2006/relationships/slideLayout" Target="../slideLayouts/slideLayout8.xml"/><Relationship Id="rId2" Type="http://schemas.openxmlformats.org/officeDocument/2006/relationships/tags" Target="../tags/tag108.xml"/><Relationship Id="rId1" Type="http://schemas.openxmlformats.org/officeDocument/2006/relationships/image" Target="../media/image56.jpeg"/></Relationships>
</file>

<file path=ppt/slides/_rels/slide110.xml.rels><?xml version="1.0" encoding="UTF-8" standalone="yes"?>
<Relationships xmlns="http://schemas.openxmlformats.org/package/2006/relationships"><Relationship Id="rId4" Type="http://schemas.openxmlformats.org/officeDocument/2006/relationships/notesSlide" Target="../notesSlides/notesSlide110.xml"/><Relationship Id="rId3" Type="http://schemas.openxmlformats.org/officeDocument/2006/relationships/slideLayout" Target="../slideLayouts/slideLayout8.xml"/><Relationship Id="rId2" Type="http://schemas.openxmlformats.org/officeDocument/2006/relationships/tags" Target="../tags/tag109.xml"/><Relationship Id="rId1" Type="http://schemas.openxmlformats.org/officeDocument/2006/relationships/image" Target="../media/image56.jpeg"/></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111.xml"/><Relationship Id="rId2" Type="http://schemas.openxmlformats.org/officeDocument/2006/relationships/slideLayout" Target="../slideLayouts/slideLayout8.xml"/><Relationship Id="rId1" Type="http://schemas.openxmlformats.org/officeDocument/2006/relationships/tags" Target="../tags/tag110.xml"/></Relationships>
</file>

<file path=ppt/slides/_rels/slide112.xml.rels><?xml version="1.0" encoding="UTF-8" standalone="yes"?>
<Relationships xmlns="http://schemas.openxmlformats.org/package/2006/relationships"><Relationship Id="rId4" Type="http://schemas.openxmlformats.org/officeDocument/2006/relationships/notesSlide" Target="../notesSlides/notesSlide112.xml"/><Relationship Id="rId3" Type="http://schemas.openxmlformats.org/officeDocument/2006/relationships/slideLayout" Target="../slideLayouts/slideLayout8.xml"/><Relationship Id="rId2" Type="http://schemas.openxmlformats.org/officeDocument/2006/relationships/tags" Target="../tags/tag111.xml"/><Relationship Id="rId1" Type="http://schemas.openxmlformats.org/officeDocument/2006/relationships/image" Target="../media/image57.jpeg"/></Relationships>
</file>

<file path=ppt/slides/_rels/slide113.xml.rels><?xml version="1.0" encoding="UTF-8" standalone="yes"?>
<Relationships xmlns="http://schemas.openxmlformats.org/package/2006/relationships"><Relationship Id="rId4" Type="http://schemas.openxmlformats.org/officeDocument/2006/relationships/notesSlide" Target="../notesSlides/notesSlide113.xml"/><Relationship Id="rId3" Type="http://schemas.openxmlformats.org/officeDocument/2006/relationships/slideLayout" Target="../slideLayouts/slideLayout8.xml"/><Relationship Id="rId2" Type="http://schemas.openxmlformats.org/officeDocument/2006/relationships/tags" Target="../tags/tag112.xml"/><Relationship Id="rId1" Type="http://schemas.openxmlformats.org/officeDocument/2006/relationships/image" Target="../media/image57.jpeg"/></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114.xml"/><Relationship Id="rId2" Type="http://schemas.openxmlformats.org/officeDocument/2006/relationships/slideLayout" Target="../slideLayouts/slideLayout8.xml"/><Relationship Id="rId1" Type="http://schemas.openxmlformats.org/officeDocument/2006/relationships/tags" Target="../tags/tag113.xml"/></Relationships>
</file>

<file path=ppt/slides/_rels/slide115.xml.rels><?xml version="1.0" encoding="UTF-8" standalone="yes"?>
<Relationships xmlns="http://schemas.openxmlformats.org/package/2006/relationships"><Relationship Id="rId4" Type="http://schemas.openxmlformats.org/officeDocument/2006/relationships/notesSlide" Target="../notesSlides/notesSlide115.xml"/><Relationship Id="rId3" Type="http://schemas.openxmlformats.org/officeDocument/2006/relationships/slideLayout" Target="../slideLayouts/slideLayout8.xml"/><Relationship Id="rId2" Type="http://schemas.openxmlformats.org/officeDocument/2006/relationships/tags" Target="../tags/tag114.xml"/><Relationship Id="rId1" Type="http://schemas.openxmlformats.org/officeDocument/2006/relationships/image" Target="../media/image22.png"/></Relationships>
</file>

<file path=ppt/slides/_rels/slide116.xml.rels><?xml version="1.0" encoding="UTF-8" standalone="yes"?>
<Relationships xmlns="http://schemas.openxmlformats.org/package/2006/relationships"><Relationship Id="rId4" Type="http://schemas.openxmlformats.org/officeDocument/2006/relationships/notesSlide" Target="../notesSlides/notesSlide116.xml"/><Relationship Id="rId3" Type="http://schemas.openxmlformats.org/officeDocument/2006/relationships/slideLayout" Target="../slideLayouts/slideLayout8.xml"/><Relationship Id="rId2" Type="http://schemas.openxmlformats.org/officeDocument/2006/relationships/tags" Target="../tags/tag115.xml"/><Relationship Id="rId1" Type="http://schemas.openxmlformats.org/officeDocument/2006/relationships/image" Target="../media/image58.jpeg"/></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117.xml"/><Relationship Id="rId2" Type="http://schemas.openxmlformats.org/officeDocument/2006/relationships/slideLayout" Target="../slideLayouts/slideLayout8.xml"/><Relationship Id="rId1" Type="http://schemas.openxmlformats.org/officeDocument/2006/relationships/tags" Target="../tags/tag116.xml"/></Relationships>
</file>

<file path=ppt/slides/_rels/slide118.xml.rels><?xml version="1.0" encoding="UTF-8" standalone="yes"?>
<Relationships xmlns="http://schemas.openxmlformats.org/package/2006/relationships"><Relationship Id="rId4" Type="http://schemas.openxmlformats.org/officeDocument/2006/relationships/notesSlide" Target="../notesSlides/notesSlide118.xml"/><Relationship Id="rId3" Type="http://schemas.openxmlformats.org/officeDocument/2006/relationships/slideLayout" Target="../slideLayouts/slideLayout8.xml"/><Relationship Id="rId2" Type="http://schemas.openxmlformats.org/officeDocument/2006/relationships/tags" Target="../tags/tag117.xml"/><Relationship Id="rId1" Type="http://schemas.openxmlformats.org/officeDocument/2006/relationships/image" Target="../media/image59.jpeg"/></Relationships>
</file>

<file path=ppt/slides/_rels/slide119.xml.rels><?xml version="1.0" encoding="UTF-8" standalone="yes"?>
<Relationships xmlns="http://schemas.openxmlformats.org/package/2006/relationships"><Relationship Id="rId4" Type="http://schemas.openxmlformats.org/officeDocument/2006/relationships/notesSlide" Target="../notesSlides/notesSlide119.xml"/><Relationship Id="rId3" Type="http://schemas.openxmlformats.org/officeDocument/2006/relationships/slideLayout" Target="../slideLayouts/slideLayout8.xml"/><Relationship Id="rId2" Type="http://schemas.openxmlformats.org/officeDocument/2006/relationships/tags" Target="../tags/tag118.xml"/><Relationship Id="rId1" Type="http://schemas.openxmlformats.org/officeDocument/2006/relationships/image" Target="../media/image60.jpeg"/></Relationships>
</file>

<file path=ppt/slides/_rels/slide120.xml.rels><?xml version="1.0" encoding="UTF-8" standalone="yes"?>
<Relationships xmlns="http://schemas.openxmlformats.org/package/2006/relationships"><Relationship Id="rId4" Type="http://schemas.openxmlformats.org/officeDocument/2006/relationships/notesSlide" Target="../notesSlides/notesSlide120.xml"/><Relationship Id="rId3" Type="http://schemas.openxmlformats.org/officeDocument/2006/relationships/slideLayout" Target="../slideLayouts/slideLayout8.xml"/><Relationship Id="rId2" Type="http://schemas.openxmlformats.org/officeDocument/2006/relationships/tags" Target="../tags/tag119.xml"/><Relationship Id="rId1" Type="http://schemas.openxmlformats.org/officeDocument/2006/relationships/image" Target="../media/image60.jpeg"/></Relationships>
</file>

<file path=ppt/slides/_rels/slide121.xml.rels><?xml version="1.0" encoding="UTF-8" standalone="yes"?>
<Relationships xmlns="http://schemas.openxmlformats.org/package/2006/relationships"><Relationship Id="rId4" Type="http://schemas.openxmlformats.org/officeDocument/2006/relationships/notesSlide" Target="../notesSlides/notesSlide121.xml"/><Relationship Id="rId3" Type="http://schemas.openxmlformats.org/officeDocument/2006/relationships/slideLayout" Target="../slideLayouts/slideLayout8.xml"/><Relationship Id="rId2" Type="http://schemas.openxmlformats.org/officeDocument/2006/relationships/tags" Target="../tags/tag120.xml"/><Relationship Id="rId1" Type="http://schemas.openxmlformats.org/officeDocument/2006/relationships/image" Target="../media/image61.jpeg"/></Relationships>
</file>

<file path=ppt/slides/_rels/slide122.xml.rels><?xml version="1.0" encoding="UTF-8" standalone="yes"?>
<Relationships xmlns="http://schemas.openxmlformats.org/package/2006/relationships"><Relationship Id="rId4" Type="http://schemas.openxmlformats.org/officeDocument/2006/relationships/notesSlide" Target="../notesSlides/notesSlide122.xml"/><Relationship Id="rId3" Type="http://schemas.openxmlformats.org/officeDocument/2006/relationships/slideLayout" Target="../slideLayouts/slideLayout8.xml"/><Relationship Id="rId2" Type="http://schemas.openxmlformats.org/officeDocument/2006/relationships/tags" Target="../tags/tag121.xml"/><Relationship Id="rId1" Type="http://schemas.openxmlformats.org/officeDocument/2006/relationships/image" Target="../media/image62.jpeg"/></Relationships>
</file>

<file path=ppt/slides/_rels/slide123.xml.rels><?xml version="1.0" encoding="UTF-8" standalone="yes"?>
<Relationships xmlns="http://schemas.openxmlformats.org/package/2006/relationships"><Relationship Id="rId4" Type="http://schemas.openxmlformats.org/officeDocument/2006/relationships/notesSlide" Target="../notesSlides/notesSlide123.xml"/><Relationship Id="rId3" Type="http://schemas.openxmlformats.org/officeDocument/2006/relationships/slideLayout" Target="../slideLayouts/slideLayout8.xml"/><Relationship Id="rId2" Type="http://schemas.openxmlformats.org/officeDocument/2006/relationships/tags" Target="../tags/tag122.xml"/><Relationship Id="rId1" Type="http://schemas.openxmlformats.org/officeDocument/2006/relationships/image" Target="../media/image63.jpeg"/></Relationships>
</file>

<file path=ppt/slides/_rels/slide124.xml.rels><?xml version="1.0" encoding="UTF-8" standalone="yes"?>
<Relationships xmlns="http://schemas.openxmlformats.org/package/2006/relationships"><Relationship Id="rId4" Type="http://schemas.openxmlformats.org/officeDocument/2006/relationships/notesSlide" Target="../notesSlides/notesSlide124.xml"/><Relationship Id="rId3" Type="http://schemas.openxmlformats.org/officeDocument/2006/relationships/slideLayout" Target="../slideLayouts/slideLayout8.xml"/><Relationship Id="rId2" Type="http://schemas.openxmlformats.org/officeDocument/2006/relationships/tags" Target="../tags/tag123.xml"/><Relationship Id="rId1" Type="http://schemas.openxmlformats.org/officeDocument/2006/relationships/image" Target="../media/image38.jpeg"/></Relationships>
</file>

<file path=ppt/slides/_rels/slide125.xml.rels><?xml version="1.0" encoding="UTF-8" standalone="yes"?>
<Relationships xmlns="http://schemas.openxmlformats.org/package/2006/relationships"><Relationship Id="rId3" Type="http://schemas.openxmlformats.org/officeDocument/2006/relationships/notesSlide" Target="../notesSlides/notesSlide125.xml"/><Relationship Id="rId2" Type="http://schemas.openxmlformats.org/officeDocument/2006/relationships/slideLayout" Target="../slideLayouts/slideLayout8.xml"/><Relationship Id="rId1" Type="http://schemas.openxmlformats.org/officeDocument/2006/relationships/tags" Target="../tags/tag124.xml"/></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126.xml"/><Relationship Id="rId2" Type="http://schemas.openxmlformats.org/officeDocument/2006/relationships/slideLayout" Target="../slideLayouts/slideLayout8.xml"/><Relationship Id="rId1" Type="http://schemas.openxmlformats.org/officeDocument/2006/relationships/tags" Target="../tags/tag125.xml"/></Relationships>
</file>

<file path=ppt/slides/_rels/slide127.xml.rels><?xml version="1.0" encoding="UTF-8" standalone="yes"?>
<Relationships xmlns="http://schemas.openxmlformats.org/package/2006/relationships"><Relationship Id="rId3" Type="http://schemas.openxmlformats.org/officeDocument/2006/relationships/notesSlide" Target="../notesSlides/notesSlide127.xml"/><Relationship Id="rId2" Type="http://schemas.openxmlformats.org/officeDocument/2006/relationships/slideLayout" Target="../slideLayouts/slideLayout8.xml"/><Relationship Id="rId1" Type="http://schemas.openxmlformats.org/officeDocument/2006/relationships/tags" Target="../tags/tag126.xml"/></Relationships>
</file>

<file path=ppt/slides/_rels/slide128.xml.rels><?xml version="1.0" encoding="UTF-8" standalone="yes"?>
<Relationships xmlns="http://schemas.openxmlformats.org/package/2006/relationships"><Relationship Id="rId4" Type="http://schemas.openxmlformats.org/officeDocument/2006/relationships/notesSlide" Target="../notesSlides/notesSlide128.xml"/><Relationship Id="rId3" Type="http://schemas.openxmlformats.org/officeDocument/2006/relationships/slideLayout" Target="../slideLayouts/slideLayout8.xml"/><Relationship Id="rId2" Type="http://schemas.openxmlformats.org/officeDocument/2006/relationships/tags" Target="../tags/tag127.xml"/><Relationship Id="rId1" Type="http://schemas.openxmlformats.org/officeDocument/2006/relationships/image" Target="../media/image64.jpeg"/></Relationships>
</file>

<file path=ppt/slides/_rels/slide129.xml.rels><?xml version="1.0" encoding="UTF-8" standalone="yes"?>
<Relationships xmlns="http://schemas.openxmlformats.org/package/2006/relationships"><Relationship Id="rId4" Type="http://schemas.openxmlformats.org/officeDocument/2006/relationships/notesSlide" Target="../notesSlides/notesSlide129.xml"/><Relationship Id="rId3" Type="http://schemas.openxmlformats.org/officeDocument/2006/relationships/slideLayout" Target="../slideLayouts/slideLayout8.xml"/><Relationship Id="rId2" Type="http://schemas.openxmlformats.org/officeDocument/2006/relationships/tags" Target="../tags/tag128.xml"/><Relationship Id="rId1" Type="http://schemas.openxmlformats.org/officeDocument/2006/relationships/image" Target="../media/image65.jpeg"/></Relationships>
</file>

<file path=ppt/slides/_rels/slide130.xml.rels><?xml version="1.0" encoding="UTF-8" standalone="yes"?>
<Relationships xmlns="http://schemas.openxmlformats.org/package/2006/relationships"><Relationship Id="rId4" Type="http://schemas.openxmlformats.org/officeDocument/2006/relationships/notesSlide" Target="../notesSlides/notesSlide130.xml"/><Relationship Id="rId3" Type="http://schemas.openxmlformats.org/officeDocument/2006/relationships/slideLayout" Target="../slideLayouts/slideLayout8.xml"/><Relationship Id="rId2" Type="http://schemas.openxmlformats.org/officeDocument/2006/relationships/tags" Target="../tags/tag129.xml"/><Relationship Id="rId1" Type="http://schemas.openxmlformats.org/officeDocument/2006/relationships/image" Target="../media/image66.jpeg"/></Relationships>
</file>

<file path=ppt/slides/_rels/slide131.xml.rels><?xml version="1.0" encoding="UTF-8" standalone="yes"?>
<Relationships xmlns="http://schemas.openxmlformats.org/package/2006/relationships"><Relationship Id="rId4" Type="http://schemas.openxmlformats.org/officeDocument/2006/relationships/notesSlide" Target="../notesSlides/notesSlide131.xml"/><Relationship Id="rId3" Type="http://schemas.openxmlformats.org/officeDocument/2006/relationships/slideLayout" Target="../slideLayouts/slideLayout8.xml"/><Relationship Id="rId2" Type="http://schemas.openxmlformats.org/officeDocument/2006/relationships/tags" Target="../tags/tag130.xml"/><Relationship Id="rId1" Type="http://schemas.openxmlformats.org/officeDocument/2006/relationships/image" Target="../media/image67.jpeg"/></Relationships>
</file>

<file path=ppt/slides/_rels/slide132.xml.rels><?xml version="1.0" encoding="UTF-8" standalone="yes"?>
<Relationships xmlns="http://schemas.openxmlformats.org/package/2006/relationships"><Relationship Id="rId4" Type="http://schemas.openxmlformats.org/officeDocument/2006/relationships/notesSlide" Target="../notesSlides/notesSlide132.xml"/><Relationship Id="rId3" Type="http://schemas.openxmlformats.org/officeDocument/2006/relationships/slideLayout" Target="../slideLayouts/slideLayout8.xml"/><Relationship Id="rId2" Type="http://schemas.openxmlformats.org/officeDocument/2006/relationships/tags" Target="../tags/tag131.xml"/><Relationship Id="rId1" Type="http://schemas.openxmlformats.org/officeDocument/2006/relationships/image" Target="../media/image68.jpeg"/></Relationships>
</file>

<file path=ppt/slides/_rels/slide133.xml.rels><?xml version="1.0" encoding="UTF-8" standalone="yes"?>
<Relationships xmlns="http://schemas.openxmlformats.org/package/2006/relationships"><Relationship Id="rId3" Type="http://schemas.openxmlformats.org/officeDocument/2006/relationships/notesSlide" Target="../notesSlides/notesSlide133.xml"/><Relationship Id="rId2" Type="http://schemas.openxmlformats.org/officeDocument/2006/relationships/slideLayout" Target="../slideLayouts/slideLayout8.xml"/><Relationship Id="rId1" Type="http://schemas.openxmlformats.org/officeDocument/2006/relationships/tags" Target="../tags/tag132.xml"/></Relationships>
</file>

<file path=ppt/slides/_rels/slide134.xml.rels><?xml version="1.0" encoding="UTF-8" standalone="yes"?>
<Relationships xmlns="http://schemas.openxmlformats.org/package/2006/relationships"><Relationship Id="rId4" Type="http://schemas.openxmlformats.org/officeDocument/2006/relationships/notesSlide" Target="../notesSlides/notesSlide134.xml"/><Relationship Id="rId3" Type="http://schemas.openxmlformats.org/officeDocument/2006/relationships/slideLayout" Target="../slideLayouts/slideLayout8.xml"/><Relationship Id="rId2" Type="http://schemas.openxmlformats.org/officeDocument/2006/relationships/tags" Target="../tags/tag133.xml"/><Relationship Id="rId1" Type="http://schemas.openxmlformats.org/officeDocument/2006/relationships/image" Target="../media/image69.jpeg"/></Relationships>
</file>

<file path=ppt/slides/_rels/slide135.xml.rels><?xml version="1.0" encoding="UTF-8" standalone="yes"?>
<Relationships xmlns="http://schemas.openxmlformats.org/package/2006/relationships"><Relationship Id="rId4" Type="http://schemas.openxmlformats.org/officeDocument/2006/relationships/notesSlide" Target="../notesSlides/notesSlide135.xml"/><Relationship Id="rId3" Type="http://schemas.openxmlformats.org/officeDocument/2006/relationships/slideLayout" Target="../slideLayouts/slideLayout8.xml"/><Relationship Id="rId2" Type="http://schemas.openxmlformats.org/officeDocument/2006/relationships/tags" Target="../tags/tag134.xml"/><Relationship Id="rId1" Type="http://schemas.openxmlformats.org/officeDocument/2006/relationships/image" Target="../media/image69.jpeg"/></Relationships>
</file>

<file path=ppt/slides/_rels/slide136.xml.rels><?xml version="1.0" encoding="UTF-8" standalone="yes"?>
<Relationships xmlns="http://schemas.openxmlformats.org/package/2006/relationships"><Relationship Id="rId4" Type="http://schemas.openxmlformats.org/officeDocument/2006/relationships/notesSlide" Target="../notesSlides/notesSlide136.xml"/><Relationship Id="rId3" Type="http://schemas.openxmlformats.org/officeDocument/2006/relationships/slideLayout" Target="../slideLayouts/slideLayout8.xml"/><Relationship Id="rId2" Type="http://schemas.openxmlformats.org/officeDocument/2006/relationships/tags" Target="../tags/tag135.xml"/><Relationship Id="rId1" Type="http://schemas.openxmlformats.org/officeDocument/2006/relationships/image" Target="../media/image70.jpeg"/></Relationships>
</file>

<file path=ppt/slides/_rels/slide137.xml.rels><?xml version="1.0" encoding="UTF-8" standalone="yes"?>
<Relationships xmlns="http://schemas.openxmlformats.org/package/2006/relationships"><Relationship Id="rId3" Type="http://schemas.openxmlformats.org/officeDocument/2006/relationships/notesSlide" Target="../notesSlides/notesSlide137.xml"/><Relationship Id="rId2" Type="http://schemas.openxmlformats.org/officeDocument/2006/relationships/slideLayout" Target="../slideLayouts/slideLayout8.xml"/><Relationship Id="rId1" Type="http://schemas.openxmlformats.org/officeDocument/2006/relationships/tags" Target="../tags/tag136.xml"/></Relationships>
</file>

<file path=ppt/slides/_rels/slide138.xml.rels><?xml version="1.0" encoding="UTF-8" standalone="yes"?>
<Relationships xmlns="http://schemas.openxmlformats.org/package/2006/relationships"><Relationship Id="rId4" Type="http://schemas.openxmlformats.org/officeDocument/2006/relationships/notesSlide" Target="../notesSlides/notesSlide138.xml"/><Relationship Id="rId3" Type="http://schemas.openxmlformats.org/officeDocument/2006/relationships/slideLayout" Target="../slideLayouts/slideLayout8.xml"/><Relationship Id="rId2" Type="http://schemas.openxmlformats.org/officeDocument/2006/relationships/tags" Target="../tags/tag137.xml"/><Relationship Id="rId1" Type="http://schemas.openxmlformats.org/officeDocument/2006/relationships/image" Target="../media/image71.jpeg"/></Relationships>
</file>

<file path=ppt/slides/_rels/slide139.xml.rels><?xml version="1.0" encoding="UTF-8" standalone="yes"?>
<Relationships xmlns="http://schemas.openxmlformats.org/package/2006/relationships"><Relationship Id="rId3" Type="http://schemas.openxmlformats.org/officeDocument/2006/relationships/notesSlide" Target="../notesSlides/notesSlide139.xml"/><Relationship Id="rId2" Type="http://schemas.openxmlformats.org/officeDocument/2006/relationships/slideLayout" Target="../slideLayouts/slideLayout7.xml"/><Relationship Id="rId1" Type="http://schemas.openxmlformats.org/officeDocument/2006/relationships/tags" Target="../tags/tag1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ctrTitle"/>
          </p:nvPr>
        </p:nvSpPr>
        <p:spPr>
          <a:xfrm>
            <a:off x="1524000" y="1596979"/>
            <a:ext cx="9473852" cy="1912983"/>
          </a:xfrm>
        </p:spPr>
        <p:txBody>
          <a:bodyPr/>
          <a:lstStyle/>
          <a:p>
            <a:r>
              <a:rPr lang="zh-CN" altLang="en-US" b="1" dirty="0">
                <a:solidFill>
                  <a:srgbClr val="000000"/>
                </a:solidFill>
                <a:latin typeface="+mj-lt"/>
                <a:ea typeface="+mj-lt"/>
                <a:cs typeface="+mj-lt"/>
              </a:rPr>
              <a:t>第</a:t>
            </a:r>
            <a:r>
              <a:rPr lang="en-US" altLang="zh-CN" b="1" dirty="0">
                <a:solidFill>
                  <a:srgbClr val="000000"/>
                </a:solidFill>
                <a:latin typeface="+mj-lt"/>
                <a:ea typeface="+mj-lt"/>
                <a:cs typeface="+mj-lt"/>
              </a:rPr>
              <a:t>4</a:t>
            </a:r>
            <a:r>
              <a:rPr lang="zh-CN" altLang="en-US" b="1" dirty="0">
                <a:solidFill>
                  <a:srgbClr val="000000"/>
                </a:solidFill>
                <a:latin typeface="+mj-lt"/>
                <a:ea typeface="+mj-lt"/>
                <a:cs typeface="+mj-lt"/>
              </a:rPr>
              <a:t>章 面向对象高级技术</a:t>
            </a:r>
            <a:endParaRPr lang="en-US" altLang="zh-CN" b="1" dirty="0">
              <a:solidFill>
                <a:srgbClr val="000000"/>
              </a:solidFill>
              <a:latin typeface="+mj-lt"/>
              <a:ea typeface="+mj-lt"/>
              <a:cs typeface="+mj-lt"/>
            </a:endParaRPr>
          </a:p>
        </p:txBody>
      </p:sp>
      <p:pic>
        <p:nvPicPr>
          <p:cNvPr id="26829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19213" y="4980313"/>
            <a:ext cx="2429827" cy="1456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6"/>
          <p:cNvSpPr/>
          <p:nvPr/>
        </p:nvSpPr>
        <p:spPr>
          <a:xfrm>
            <a:off x="4735830" y="5010785"/>
            <a:ext cx="2572385" cy="1337945"/>
          </a:xfrm>
          <a:prstGeom prst="rect">
            <a:avLst/>
          </a:prstGeom>
        </p:spPr>
        <p:txBody>
          <a:bodyPr wrap="square">
            <a:spAutoFit/>
          </a:bodyPr>
          <a:lstStyle/>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类的继承</a:t>
            </a:r>
            <a:endPar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super/final</a:t>
            </a:r>
            <a:r>
              <a:rPr lang="zh-CN" altLang="en-US"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关键字</a:t>
            </a:r>
            <a:endPar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抽象类与接口</a:t>
            </a:r>
            <a:endPar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矩形 7"/>
          <p:cNvSpPr/>
          <p:nvPr/>
        </p:nvSpPr>
        <p:spPr>
          <a:xfrm>
            <a:off x="7661847" y="5010793"/>
            <a:ext cx="1435069" cy="1338828"/>
          </a:xfrm>
          <a:prstGeom prst="rect">
            <a:avLst/>
          </a:prstGeom>
        </p:spPr>
        <p:txBody>
          <a:bodyPr wrap="square">
            <a:spAutoFit/>
          </a:bodyPr>
          <a:lstStyle/>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多态</a:t>
            </a:r>
            <a:endPar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内部类</a:t>
            </a:r>
            <a:endPar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异常</a:t>
            </a:r>
            <a:endPar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4.1.1 </a:t>
            </a:r>
            <a:r>
              <a:rPr lang="zh-CN" altLang="en-US" sz="3200" b="1" dirty="0">
                <a:solidFill>
                  <a:srgbClr val="1353A2"/>
                </a:solidFill>
                <a:latin typeface="微软雅黑" panose="020B0503020204020204" pitchFamily="34" charset="-122"/>
                <a:ea typeface="微软雅黑" panose="020B0503020204020204" pitchFamily="34" charset="-122"/>
              </a:rPr>
              <a:t>继承的概念</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5222240" y="1574800"/>
            <a:ext cx="5699760" cy="41656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现实生活中，继承一般指的是子女继承父辈的财产。在程序中，继承描述的是事物之间的所属关系，通过继承可以使多种事物之间形成一种关系体系。例如，猫和狗都属于动物，程序中便可以描述为猫和狗继承自动物，同理，波斯猫和巴厘猫继承猫科，而沙皮狗和斑点狗继承自犬科。</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1724024" y="1870075"/>
            <a:ext cx="2987675" cy="3116263"/>
            <a:chOff x="1876424" y="1758315"/>
            <a:chExt cx="2987675" cy="3116263"/>
          </a:xfrm>
        </p:grpSpPr>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76424" y="1758315"/>
              <a:ext cx="2987675" cy="311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2773680" y="2641600"/>
              <a:ext cx="1473200" cy="563086"/>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继     承</a:t>
              </a:r>
              <a:endParaRPr lang="zh-CN" altLang="zh-CN" sz="2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2F5799D4-C79E-4C96-B42D-0658A7B7C797}" type="slidenum">
              <a:rPr lang="zh-CN" altLang="en-US" smtClean="0"/>
            </a:fld>
            <a:endParaRPr lang="zh-CN" altLang="en-US" dirty="0"/>
          </a:p>
        </p:txBody>
      </p:sp>
    </p:spTree>
    <p:custDataLst>
      <p:tags r:id="rId2"/>
    </p:custData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up)">
                                      <p:cBhvr>
                                        <p:cTn id="1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4.1.1 </a:t>
            </a:r>
            <a:r>
              <a:rPr lang="zh-CN" altLang="en-US" sz="3200" b="1" dirty="0">
                <a:solidFill>
                  <a:srgbClr val="1353A2"/>
                </a:solidFill>
                <a:latin typeface="微软雅黑" panose="020B0503020204020204" pitchFamily="34" charset="-122"/>
                <a:ea typeface="微软雅黑" panose="020B0503020204020204" pitchFamily="34" charset="-122"/>
              </a:rPr>
              <a:t>继承的概念</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9" name="图片 8" descr="图片包含 游戏机, 文字&#10;&#10;描述已自动生成"/>
          <p:cNvPicPr/>
          <p:nvPr/>
        </p:nvPicPr>
        <p:blipFill>
          <a:blip r:embed="rId1">
            <a:extLst>
              <a:ext uri="{28A0092B-C50C-407E-A947-70E740481C1C}">
                <a14:useLocalDpi xmlns:a14="http://schemas.microsoft.com/office/drawing/2010/main" val="0"/>
              </a:ext>
            </a:extLst>
          </a:blip>
          <a:stretch>
            <a:fillRect/>
          </a:stretch>
        </p:blipFill>
        <p:spPr>
          <a:xfrm>
            <a:off x="5732382" y="1871980"/>
            <a:ext cx="5863590" cy="2783840"/>
          </a:xfrm>
          <a:prstGeom prst="rect">
            <a:avLst/>
          </a:prstGeom>
        </p:spPr>
      </p:pic>
      <p:sp>
        <p:nvSpPr>
          <p:cNvPr id="3" name="文本占位符 2"/>
          <p:cNvSpPr>
            <a:spLocks noGrp="1"/>
          </p:cNvSpPr>
          <p:nvPr>
            <p:ph type="body" sz="quarter" idx="10"/>
          </p:nvPr>
        </p:nvSpPr>
        <p:spPr/>
        <p:txBody>
          <a:bodyPr/>
          <a:lstStyle/>
          <a:p>
            <a:fld id="{A5A6786D-3310-40B7-ADA8-5A1BF7F9AE4A}" type="slidenum">
              <a:rPr lang="zh-CN" altLang="en-US" smtClean="0"/>
            </a:fld>
            <a:endParaRPr lang="zh-CN" altLang="en-US" dirty="0"/>
          </a:p>
        </p:txBody>
      </p:sp>
      <p:sp>
        <p:nvSpPr>
          <p:cNvPr id="6" name="内容占位符 2"/>
          <p:cNvSpPr txBox="1"/>
          <p:nvPr/>
        </p:nvSpPr>
        <p:spPr>
          <a:xfrm>
            <a:off x="873883" y="1686127"/>
            <a:ext cx="4663440" cy="35052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中，类的继承是指在一个现有类的基础上去构建一个新的类，构建出来的新类被称作子类，现有类被称作父类。子类继承父类的属性和方法，使得子类对象（实例）具有父类的特征和行为。</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ustDataLst>
      <p:tags r:id="rId2"/>
    </p:custData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4.1.1 </a:t>
            </a:r>
            <a:r>
              <a:rPr lang="zh-CN" altLang="en-US" sz="3200" b="1" dirty="0">
                <a:solidFill>
                  <a:srgbClr val="1353A2"/>
                </a:solidFill>
                <a:latin typeface="微软雅黑" panose="020B0503020204020204" pitchFamily="34" charset="-122"/>
                <a:ea typeface="微软雅黑" panose="020B0503020204020204" pitchFamily="34" charset="-122"/>
              </a:rPr>
              <a:t>继承的概念</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2067558" y="1993900"/>
            <a:ext cx="4028442" cy="24257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在程序中，如果想声明一个类继承另一个类，需要使用</a:t>
            </a:r>
            <a:r>
              <a:rPr lang="en-US" altLang="zh-CN" sz="24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extends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关键字，语法格式如下所示。</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内容占位符 2"/>
          <p:cNvSpPr txBox="1"/>
          <p:nvPr/>
        </p:nvSpPr>
        <p:spPr>
          <a:xfrm>
            <a:off x="6807196" y="1648460"/>
            <a:ext cx="3947162" cy="36550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class </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父类</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class </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子类</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extends </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父类</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 </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ABFD6CB6-516B-4595-981D-F1C6CCE93D97}" type="slidenum">
              <a:rPr lang="zh-CN" altLang="en-US" smtClean="0"/>
            </a:fld>
            <a:endParaRPr lang="zh-CN" altLang="en-US" dirty="0"/>
          </a:p>
        </p:txBody>
      </p:sp>
    </p:spTree>
    <p:custDataLst>
      <p:tags r:id="rId1"/>
    </p:custData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4.1.1 </a:t>
            </a:r>
            <a:r>
              <a:rPr lang="zh-CN" altLang="en-US" sz="3200" b="1" dirty="0">
                <a:solidFill>
                  <a:srgbClr val="1353A2"/>
                </a:solidFill>
                <a:latin typeface="微软雅黑" panose="020B0503020204020204" pitchFamily="34" charset="-122"/>
                <a:ea typeface="微软雅黑" panose="020B0503020204020204" pitchFamily="34" charset="-122"/>
              </a:rPr>
              <a:t>继承的概念</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270000" y="1303020"/>
            <a:ext cx="10383520" cy="6883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接下来通过一个案例学习子类是如何继承父类</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1790382" y="2123440"/>
            <a:ext cx="4638675" cy="3870960"/>
            <a:chOff x="1223645" y="2123440"/>
            <a:chExt cx="4638675" cy="3870960"/>
          </a:xfrm>
        </p:grpSpPr>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23645" y="2123440"/>
              <a:ext cx="4638675" cy="3870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内容占位符 2"/>
            <p:cNvSpPr txBox="1"/>
            <p:nvPr/>
          </p:nvSpPr>
          <p:spPr>
            <a:xfrm>
              <a:off x="1442720" y="2123440"/>
              <a:ext cx="4419600" cy="37490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class Animal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private String name;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name</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属性</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    private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age;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name</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属性</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5    public 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getName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6        return name;</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7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8    public void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setName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 name)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9        this.name = name;</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4" name="组合 3"/>
          <p:cNvGrpSpPr/>
          <p:nvPr/>
        </p:nvGrpSpPr>
        <p:grpSpPr>
          <a:xfrm>
            <a:off x="7223126" y="1991360"/>
            <a:ext cx="3688397" cy="4318000"/>
            <a:chOff x="6867843" y="1920240"/>
            <a:chExt cx="3688397" cy="4389120"/>
          </a:xfrm>
        </p:grpSpPr>
        <p:pic>
          <p:nvPicPr>
            <p:cNvPr id="307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67843" y="1920240"/>
              <a:ext cx="3688397" cy="4389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7051040" y="2066724"/>
              <a:ext cx="3403600" cy="41046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11 public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getAge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12        return age;</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13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14 public void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setAge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age)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15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this.age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age;</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16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17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18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类继承</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19 class Dog extends Animal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20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此处不写任何代码</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21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5" name="文本占位符 4"/>
          <p:cNvSpPr>
            <a:spLocks noGrp="1"/>
          </p:cNvSpPr>
          <p:nvPr>
            <p:ph type="body" sz="quarter" idx="10"/>
          </p:nvPr>
        </p:nvSpPr>
        <p:spPr/>
        <p:txBody>
          <a:bodyPr/>
          <a:lstStyle/>
          <a:p>
            <a:fld id="{CBF7041C-A1E2-4C32-8590-08A433CE35F2}" type="slidenum">
              <a:rPr lang="zh-CN" altLang="en-US" smtClean="0"/>
            </a:fld>
            <a:endParaRPr lang="zh-CN" altLang="en-US" dirty="0"/>
          </a:p>
        </p:txBody>
      </p:sp>
    </p:spTree>
    <p:custDataLst>
      <p:tags r:id="rId2"/>
    </p:custData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4.1.1 </a:t>
            </a:r>
            <a:r>
              <a:rPr lang="zh-CN" altLang="en-US" sz="3200" b="1" dirty="0">
                <a:solidFill>
                  <a:srgbClr val="1353A2"/>
                </a:solidFill>
                <a:latin typeface="微软雅黑" panose="020B0503020204020204" pitchFamily="34" charset="-122"/>
                <a:ea typeface="微软雅黑" panose="020B0503020204020204" pitchFamily="34" charset="-122"/>
              </a:rPr>
              <a:t>继承的概念</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1950720" y="1950720"/>
            <a:ext cx="9123679" cy="3444240"/>
            <a:chOff x="1645920" y="1950720"/>
            <a:chExt cx="9123679" cy="3444240"/>
          </a:xfrm>
        </p:grpSpPr>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45920" y="1960880"/>
              <a:ext cx="9123679" cy="3434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1645921" y="1950720"/>
              <a:ext cx="9123678" cy="33629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22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定义测试类</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23 public class Example01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24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25       Dog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Dog();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创建一个</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类的实例对象</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26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dog.setName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牧羊犬</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此时访问的方法时父类中的，子类中并没有定义</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27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dog.setAge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此时访问的方法时父类中的，子类中并没有定义</a:t>
              </a:r>
              <a:endPar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28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名称：</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dog.getName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年龄：</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dog.getAge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29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30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3358C77E-AC8D-436C-BBBA-6BC217C65770}" type="slidenum">
              <a:rPr lang="zh-CN" altLang="en-US" smtClean="0"/>
            </a:fld>
            <a:endParaRPr lang="zh-CN" altLang="en-US" dirty="0"/>
          </a:p>
        </p:txBody>
      </p:sp>
    </p:spTree>
    <p:custDataLst>
      <p:tags r:id="rId2"/>
    </p:custData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4.1.1 </a:t>
            </a:r>
            <a:r>
              <a:rPr lang="zh-CN" altLang="en-US" sz="3200" b="1" dirty="0">
                <a:solidFill>
                  <a:srgbClr val="1353A2"/>
                </a:solidFill>
                <a:latin typeface="微软雅黑" panose="020B0503020204020204" pitchFamily="34" charset="-122"/>
                <a:ea typeface="微软雅黑" panose="020B0503020204020204" pitchFamily="34" charset="-122"/>
              </a:rPr>
              <a:t>继承的概念</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270000" y="1209040"/>
            <a:ext cx="9977120" cy="6400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除了继承父类的属性和方法，</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子类也可以定义自己的属性和方法</a:t>
            </a: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 name="组合 2"/>
          <p:cNvGrpSpPr/>
          <p:nvPr/>
        </p:nvGrpSpPr>
        <p:grpSpPr>
          <a:xfrm>
            <a:off x="1872298" y="1930400"/>
            <a:ext cx="4030662" cy="4295140"/>
            <a:chOff x="1872298" y="1930400"/>
            <a:chExt cx="4030662" cy="4295140"/>
          </a:xfrm>
        </p:grpSpPr>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72298" y="1930400"/>
              <a:ext cx="4030662" cy="4295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p:cNvSpPr txBox="1"/>
            <p:nvPr/>
          </p:nvSpPr>
          <p:spPr>
            <a:xfrm>
              <a:off x="2082800" y="1930400"/>
              <a:ext cx="3708400" cy="42951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class Animal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private String name;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name</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属性</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    private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age;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name</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属性</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5    public String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getName</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6        return name;</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7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8    public void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setName</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 name)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9        this.name = name;</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    }</a:t>
              </a:r>
              <a:endPar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11 public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getAge</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12        return age;</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13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4" name="组合 3"/>
          <p:cNvGrpSpPr/>
          <p:nvPr/>
        </p:nvGrpSpPr>
        <p:grpSpPr>
          <a:xfrm>
            <a:off x="6616383" y="1818640"/>
            <a:ext cx="4010977" cy="4551680"/>
            <a:chOff x="6616383" y="1818640"/>
            <a:chExt cx="4010977" cy="4551680"/>
          </a:xfrm>
        </p:grpSpPr>
        <p:pic>
          <p:nvPicPr>
            <p:cNvPr id="512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616383" y="1856423"/>
              <a:ext cx="3868737" cy="4493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6858000" y="1818640"/>
              <a:ext cx="3769360" cy="45516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14 public void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setAge</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age)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15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this.age</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age;</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16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17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18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类继承</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19class Dog extends Animal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20    private String color;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name</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属性</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21    public String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getColor</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22    return color;</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23 }</a:t>
              </a:r>
              <a:endPar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24 public void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setColor</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 color)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25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this.color</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color;</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26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27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8" name="文本占位符 7"/>
          <p:cNvSpPr>
            <a:spLocks noGrp="1"/>
          </p:cNvSpPr>
          <p:nvPr>
            <p:ph type="body" sz="quarter" idx="10"/>
          </p:nvPr>
        </p:nvSpPr>
        <p:spPr/>
        <p:txBody>
          <a:bodyPr/>
          <a:lstStyle/>
          <a:p>
            <a:fld id="{D0A1E835-A2D6-4748-85CF-0D60523C87C8}" type="slidenum">
              <a:rPr lang="zh-CN" altLang="en-US" smtClean="0"/>
            </a:fld>
            <a:endParaRPr lang="zh-CN" altLang="en-US" dirty="0"/>
          </a:p>
        </p:txBody>
      </p:sp>
    </p:spTree>
    <p:custDataLst>
      <p:tags r:id="rId2"/>
    </p:custData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4.1.1 </a:t>
            </a:r>
            <a:r>
              <a:rPr lang="zh-CN" altLang="en-US" sz="3200" b="1" dirty="0">
                <a:solidFill>
                  <a:srgbClr val="1353A2"/>
                </a:solidFill>
                <a:latin typeface="微软雅黑" panose="020B0503020204020204" pitchFamily="34" charset="-122"/>
                <a:ea typeface="微软雅黑" panose="020B0503020204020204" pitchFamily="34" charset="-122"/>
              </a:rPr>
              <a:t>继承的概念</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245360" y="1607820"/>
            <a:ext cx="8402320" cy="4112260"/>
            <a:chOff x="2103120" y="1648460"/>
            <a:chExt cx="8402320" cy="4112260"/>
          </a:xfrm>
        </p:grpSpPr>
        <p:pic>
          <p:nvPicPr>
            <p:cNvPr id="6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03120" y="1648460"/>
              <a:ext cx="8402320" cy="4112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p:cNvSpPr txBox="1"/>
            <p:nvPr/>
          </p:nvSpPr>
          <p:spPr>
            <a:xfrm>
              <a:off x="2631440" y="1648460"/>
              <a:ext cx="7874000" cy="41122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28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定义测试类</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29 public class Example02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30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31       Dog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Dog();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创建一个</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类的实例对象</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32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dog.setName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牧羊犬</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此时访问的方法时父类中的，子类中并没有定义</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33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dog.setAge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此时访问的方法时父类中的，子类中并没有定义</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34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dog.setColor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黑色</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35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名称：</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dog.getName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年龄：</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dog.getAge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36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颜色：</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dog.getColor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37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38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A478B5D7-DE48-4521-A110-044F5E11AE5E}" type="slidenum">
              <a:rPr lang="zh-CN" altLang="en-US" smtClean="0"/>
            </a:fld>
            <a:endParaRPr lang="zh-CN" altLang="en-US" dirty="0"/>
          </a:p>
        </p:txBody>
      </p:sp>
    </p:spTree>
    <p:custDataLst>
      <p:tags r:id="rId2"/>
    </p:custData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4.1.1 </a:t>
            </a:r>
            <a:r>
              <a:rPr lang="zh-CN" altLang="en-US" sz="3200" b="1" dirty="0">
                <a:solidFill>
                  <a:srgbClr val="1353A2"/>
                </a:solidFill>
                <a:latin typeface="微软雅黑" panose="020B0503020204020204" pitchFamily="34" charset="-122"/>
                <a:ea typeface="微软雅黑" panose="020B0503020204020204" pitchFamily="34" charset="-122"/>
              </a:rPr>
              <a:t>继承的概念</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631090" y="1433117"/>
            <a:ext cx="10754305" cy="435436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继承中需要注意的问题。</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中，类只支持单继承，不允许多重继承。</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多个类可以继承一个父类</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中，多层继承也是可以的，即一个类的父类可以再继承另外的父类</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中，子类和父类是一种相对概念，一个类可以是某个类的父类，也可以是另一个类的子类。</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在继承中，子类不能直接访问父类中的私有成员，子类可以调用父类的非私有方法，但是不能调用父类的私有成员。</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7FB1006D-1AFC-4A47-AC00-11BC0481F950}" type="slidenum">
              <a:rPr lang="zh-CN" altLang="en-US" smtClean="0"/>
            </a:fld>
            <a:endParaRPr lang="zh-CN" altLang="en-US" dirty="0"/>
          </a:p>
        </p:txBody>
      </p:sp>
    </p:spTree>
    <p:custDataLst>
      <p:tags r:id="rId1"/>
    </p:custData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4.1.2 </a:t>
            </a:r>
            <a:r>
              <a:rPr lang="zh-CN" altLang="en-US" sz="3200" b="1" dirty="0">
                <a:solidFill>
                  <a:srgbClr val="1353A2"/>
                </a:solidFill>
                <a:latin typeface="微软雅黑" panose="020B0503020204020204" pitchFamily="34" charset="-122"/>
                <a:ea typeface="微软雅黑" panose="020B0503020204020204" pitchFamily="34" charset="-122"/>
              </a:rPr>
              <a:t>方法的重写</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904998" y="1483360"/>
            <a:ext cx="5674362" cy="40132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在继承关系中，子类会自动继承父类中定义的方法，但有时在子类中需要对继承的方法进行一些修改，即对父类的方法进行重写。在子类中重写的方法需要和父类被重写的方法具有</a:t>
            </a:r>
            <a:r>
              <a:rPr lang="zh-CN" altLang="zh-CN" sz="24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相同的方法名、参数列表和返回值类型。</a:t>
            </a:r>
            <a:endParaRPr lang="zh-CN" altLang="zh-CN" sz="24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914640" y="1662747"/>
            <a:ext cx="3268663" cy="383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6B8891AC-32BA-4593-B827-CBB748AFE9B3}"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42" presetClass="entr" presetSubtype="0" fill="hold" nodeType="withEffect">
                                  <p:stCondLst>
                                    <p:cond delay="0"/>
                                  </p:stCondLst>
                                  <p:childTnLst>
                                    <p:set>
                                      <p:cBhvr>
                                        <p:cTn id="9" dur="1" fill="hold">
                                          <p:stCondLst>
                                            <p:cond delay="0"/>
                                          </p:stCondLst>
                                        </p:cTn>
                                        <p:tgtEl>
                                          <p:spTgt spid="7170"/>
                                        </p:tgtEl>
                                        <p:attrNameLst>
                                          <p:attrName>style.visibility</p:attrName>
                                        </p:attrNameLst>
                                      </p:cBhvr>
                                      <p:to>
                                        <p:strVal val="visible"/>
                                      </p:to>
                                    </p:set>
                                    <p:animEffect transition="in" filter="fade">
                                      <p:cBhvr>
                                        <p:cTn id="10" dur="1000"/>
                                        <p:tgtEl>
                                          <p:spTgt spid="7170"/>
                                        </p:tgtEl>
                                      </p:cBhvr>
                                    </p:animEffect>
                                    <p:anim calcmode="lin" valueType="num">
                                      <p:cBhvr>
                                        <p:cTn id="11" dur="1000" fill="hold"/>
                                        <p:tgtEl>
                                          <p:spTgt spid="7170"/>
                                        </p:tgtEl>
                                        <p:attrNameLst>
                                          <p:attrName>ppt_x</p:attrName>
                                        </p:attrNameLst>
                                      </p:cBhvr>
                                      <p:tavLst>
                                        <p:tav tm="0">
                                          <p:val>
                                            <p:strVal val="#ppt_x"/>
                                          </p:val>
                                        </p:tav>
                                        <p:tav tm="100000">
                                          <p:val>
                                            <p:strVal val="#ppt_x"/>
                                          </p:val>
                                        </p:tav>
                                      </p:tavLst>
                                    </p:anim>
                                    <p:anim calcmode="lin" valueType="num">
                                      <p:cBhvr>
                                        <p:cTn id="12" dur="1000" fill="hold"/>
                                        <p:tgtEl>
                                          <p:spTgt spid="717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4.1.2 </a:t>
            </a:r>
            <a:r>
              <a:rPr lang="zh-CN" altLang="en-US" sz="3200" b="1" dirty="0">
                <a:solidFill>
                  <a:srgbClr val="1353A2"/>
                </a:solidFill>
                <a:latin typeface="微软雅黑" panose="020B0503020204020204" pitchFamily="34" charset="-122"/>
                <a:ea typeface="微软雅黑" panose="020B0503020204020204" pitchFamily="34" charset="-122"/>
              </a:rPr>
              <a:t>方法的重写</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671318" y="1178560"/>
            <a:ext cx="5674362" cy="7315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下面通过一个案例讲解方法的重写</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 name="组合 2"/>
          <p:cNvGrpSpPr/>
          <p:nvPr/>
        </p:nvGrpSpPr>
        <p:grpSpPr>
          <a:xfrm>
            <a:off x="3200400" y="1818640"/>
            <a:ext cx="6075680" cy="4561840"/>
            <a:chOff x="2570480" y="1818640"/>
            <a:chExt cx="6075680" cy="4561840"/>
          </a:xfrm>
        </p:grpSpPr>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70480" y="1859280"/>
              <a:ext cx="6075680" cy="4511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3195318" y="1818640"/>
              <a:ext cx="5146042" cy="45618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class Animal {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定义动物叫的方法</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	void shout() {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5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动物发出叫声</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6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7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8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类继承动物类</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9 class Dog extends Animal {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重写父类</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中的</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shout()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11	void shout() {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12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汪汪汪……</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13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14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37C10A66-EEF9-471A-98CD-31A47F8ACD3E}"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16" presetClass="entr" presetSubtype="37"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outVertical)">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4.1.2 </a:t>
            </a:r>
            <a:r>
              <a:rPr lang="zh-CN" altLang="en-US" sz="3200" b="1" dirty="0">
                <a:solidFill>
                  <a:srgbClr val="1353A2"/>
                </a:solidFill>
                <a:latin typeface="微软雅黑" panose="020B0503020204020204" pitchFamily="34" charset="-122"/>
                <a:ea typeface="微软雅黑" panose="020B0503020204020204" pitchFamily="34" charset="-122"/>
              </a:rPr>
              <a:t>方法的重写</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214880" y="2072640"/>
            <a:ext cx="8361680" cy="3037840"/>
            <a:chOff x="2123440" y="2011680"/>
            <a:chExt cx="8361680" cy="3037840"/>
          </a:xfrm>
        </p:grpSpPr>
        <p:pic>
          <p:nvPicPr>
            <p:cNvPr id="92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23440" y="2011680"/>
              <a:ext cx="8361680" cy="2956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606038" y="2011680"/>
              <a:ext cx="7716522" cy="30378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15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定义测试类</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16 public class Example03 {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17	public static void main(String[]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18		Dog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Dog();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类的实例对象</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19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dog.shout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调用</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重写的</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shout()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20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21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4F559DFE-1967-43BC-8235-85C7E6544306}"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8437882" cy="4616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2400" b="1" dirty="0">
                <a:solidFill>
                  <a:srgbClr val="1353A2"/>
                </a:solidFill>
                <a:latin typeface="楷体" panose="02010609060101010101" pitchFamily="49" charset="-122"/>
                <a:ea typeface="楷体" panose="02010609060101010101" pitchFamily="49" charset="-122"/>
                <a:sym typeface="Wingdings" panose="05000000000000000000"/>
              </a:rPr>
              <a:t></a:t>
            </a:r>
            <a:r>
              <a:rPr lang="zh-CN" altLang="zh-CN" sz="2400" b="1" dirty="0">
                <a:solidFill>
                  <a:srgbClr val="1353A2"/>
                </a:solidFill>
                <a:latin typeface="楷体" panose="02010609060101010101" pitchFamily="49" charset="-122"/>
                <a:ea typeface="楷体" panose="02010609060101010101" pitchFamily="49" charset="-122"/>
              </a:rPr>
              <a:t>脚下留心：子类重写父类方法时的访问权限</a:t>
            </a:r>
            <a:endParaRPr lang="zh-CN" altLang="en-US" sz="2400" b="1" dirty="0">
              <a:solidFill>
                <a:srgbClr val="1353A2"/>
              </a:solidFill>
              <a:latin typeface="楷体" panose="02010609060101010101" pitchFamily="49" charset="-122"/>
              <a:ea typeface="楷体" panose="02010609060101010101" pitchFamily="49"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5226948" y="1491703"/>
            <a:ext cx="5151120" cy="36169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子类</a:t>
            </a:r>
            <a:r>
              <a:rPr lang="zh-CN" altLang="zh-CN" sz="2400" b="1"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重写</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父类方法时，</a:t>
            </a:r>
            <a:r>
              <a:rPr lang="zh-CN" altLang="zh-CN" sz="2400" b="1" dirty="0">
                <a:solidFill>
                  <a:srgbClr val="FF0000"/>
                </a:solidFill>
                <a:latin typeface="楷体" panose="02010609060101010101" pitchFamily="49" charset="-122"/>
                <a:ea typeface="楷体" panose="02010609060101010101" pitchFamily="49" charset="-122"/>
                <a:cs typeface="Times New Roman" panose="02020603050405020304" pitchFamily="18" charset="0"/>
              </a:rPr>
              <a:t>不能使用比父类中被重写的方法更严格的访问权限</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。例如，父类中的方法是</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public</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权限，子类的方法就不能是</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private</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权限。如果子类在重写父类方法时定义的权限缩小，则在编译时将出现错误提示。</a:t>
            </a:r>
            <a:endPar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p:txBody>
      </p:sp>
      <p:pic>
        <p:nvPicPr>
          <p:cNvPr id="1024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89478" y="1498600"/>
            <a:ext cx="272415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9DC3C4A7-A23A-4BDD-B31F-07B313C435EC}"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42" presetClass="entr" presetSubtype="0" fill="hold" nodeType="withEffect">
                                  <p:stCondLst>
                                    <p:cond delay="0"/>
                                  </p:stCondLst>
                                  <p:childTnLst>
                                    <p:set>
                                      <p:cBhvr>
                                        <p:cTn id="9" dur="1" fill="hold">
                                          <p:stCondLst>
                                            <p:cond delay="0"/>
                                          </p:stCondLst>
                                        </p:cTn>
                                        <p:tgtEl>
                                          <p:spTgt spid="10242"/>
                                        </p:tgtEl>
                                        <p:attrNameLst>
                                          <p:attrName>style.visibility</p:attrName>
                                        </p:attrNameLst>
                                      </p:cBhvr>
                                      <p:to>
                                        <p:strVal val="visible"/>
                                      </p:to>
                                    </p:set>
                                    <p:animEffect transition="in" filter="fade">
                                      <p:cBhvr>
                                        <p:cTn id="10" dur="1000"/>
                                        <p:tgtEl>
                                          <p:spTgt spid="10242"/>
                                        </p:tgtEl>
                                      </p:cBhvr>
                                    </p:animEffect>
                                    <p:anim calcmode="lin" valueType="num">
                                      <p:cBhvr>
                                        <p:cTn id="11" dur="1000" fill="hold"/>
                                        <p:tgtEl>
                                          <p:spTgt spid="10242"/>
                                        </p:tgtEl>
                                        <p:attrNameLst>
                                          <p:attrName>ppt_x</p:attrName>
                                        </p:attrNameLst>
                                      </p:cBhvr>
                                      <p:tavLst>
                                        <p:tav tm="0">
                                          <p:val>
                                            <p:strVal val="#ppt_x"/>
                                          </p:val>
                                        </p:tav>
                                        <p:tav tm="100000">
                                          <p:val>
                                            <p:strVal val="#ppt_x"/>
                                          </p:val>
                                        </p:tav>
                                      </p:tavLst>
                                    </p:anim>
                                    <p:anim calcmode="lin" valueType="num">
                                      <p:cBhvr>
                                        <p:cTn id="12" dur="1000" fill="hold"/>
                                        <p:tgtEl>
                                          <p:spTgt spid="102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8437882" cy="4616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2400" b="1" dirty="0">
                <a:solidFill>
                  <a:srgbClr val="1353A2"/>
                </a:solidFill>
                <a:latin typeface="楷体" panose="02010609060101010101" pitchFamily="49" charset="-122"/>
                <a:ea typeface="楷体" panose="02010609060101010101" pitchFamily="49" charset="-122"/>
                <a:sym typeface="Wingdings" panose="05000000000000000000"/>
              </a:rPr>
              <a:t></a:t>
            </a:r>
            <a:r>
              <a:rPr lang="zh-CN" altLang="zh-CN" sz="2400" b="1" dirty="0">
                <a:solidFill>
                  <a:srgbClr val="1353A2"/>
                </a:solidFill>
                <a:latin typeface="楷体" panose="02010609060101010101" pitchFamily="49" charset="-122"/>
                <a:ea typeface="楷体" panose="02010609060101010101" pitchFamily="49" charset="-122"/>
              </a:rPr>
              <a:t>脚下留心：子类重写父类方法时的访问权限</a:t>
            </a:r>
            <a:endParaRPr lang="zh-CN" altLang="en-US" sz="2400" b="1" dirty="0">
              <a:solidFill>
                <a:srgbClr val="1353A2"/>
              </a:solidFill>
              <a:latin typeface="楷体" panose="02010609060101010101" pitchFamily="49" charset="-122"/>
              <a:ea typeface="楷体" panose="02010609060101010101" pitchFamily="49"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987040" y="1219200"/>
            <a:ext cx="6888479" cy="5171440"/>
            <a:chOff x="2987040" y="1219200"/>
            <a:chExt cx="6888479" cy="5171440"/>
          </a:xfrm>
        </p:grpSpPr>
        <p:pic>
          <p:nvPicPr>
            <p:cNvPr id="112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87040" y="1259840"/>
              <a:ext cx="6888479" cy="513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内容占位符 2"/>
            <p:cNvSpPr txBox="1"/>
            <p:nvPr/>
          </p:nvSpPr>
          <p:spPr>
            <a:xfrm>
              <a:off x="3708400" y="1219200"/>
              <a:ext cx="5933440" cy="5130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1 // </a:t>
              </a:r>
              <a:r>
                <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定义</a:t>
              </a: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Animal</a:t>
              </a:r>
              <a:r>
                <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类</a:t>
              </a:r>
              <a:endPar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2 class Animal {		</a:t>
              </a:r>
              <a:endPar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3    //</a:t>
              </a:r>
              <a:r>
                <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定义动物叫的方法</a:t>
              </a: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a:t>
              </a:r>
              <a:endPar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4  </a:t>
              </a:r>
              <a:r>
                <a:rPr lang="en-US" altLang="zh-CN" sz="16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 public </a:t>
              </a: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void shout() {			  </a:t>
              </a:r>
              <a:endPar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5		</a:t>
              </a:r>
              <a:r>
                <a:rPr lang="en-US" altLang="zh-CN" sz="16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System.out.println</a:t>
              </a: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t>
              </a:r>
              <a:r>
                <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动物发出叫声</a:t>
              </a: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t>
              </a:r>
              <a:endPar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6	}</a:t>
              </a:r>
              <a:endPar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7 }</a:t>
              </a:r>
              <a:endPar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8 // </a:t>
              </a:r>
              <a:r>
                <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定义</a:t>
              </a: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Dog</a:t>
              </a:r>
              <a:r>
                <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类继承动物类</a:t>
              </a:r>
              <a:endPar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9 class Dog extends Animal {    </a:t>
              </a:r>
              <a:endPar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10	//</a:t>
              </a:r>
              <a:r>
                <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重写父类</a:t>
              </a: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Animal</a:t>
              </a:r>
              <a:r>
                <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中的</a:t>
              </a: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shout()</a:t>
              </a:r>
              <a:r>
                <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方法</a:t>
              </a:r>
              <a:endPar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11	</a:t>
              </a:r>
              <a:r>
                <a:rPr lang="en-US" altLang="zh-CN" sz="16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private</a:t>
              </a: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void shout() {			 </a:t>
              </a:r>
              <a:endPar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12		</a:t>
              </a:r>
              <a:r>
                <a:rPr lang="en-US" altLang="zh-CN" sz="16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System.out.println</a:t>
              </a: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t>
              </a:r>
              <a:r>
                <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汪汪汪……</a:t>
              </a: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a:t>
              </a:r>
              <a:endPar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13	}</a:t>
              </a:r>
              <a:endPar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14 }</a:t>
              </a:r>
              <a:endParaRPr lang="zh-CN" altLang="zh-CN" sz="16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3CE7EEC3-EFDE-4D6B-9389-A422EDD7D554}"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8437882" cy="4616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2400" b="1" dirty="0">
                <a:solidFill>
                  <a:srgbClr val="1353A2"/>
                </a:solidFill>
                <a:latin typeface="楷体" panose="02010609060101010101" pitchFamily="49" charset="-122"/>
                <a:ea typeface="楷体" panose="02010609060101010101" pitchFamily="49" charset="-122"/>
                <a:sym typeface="Wingdings" panose="05000000000000000000"/>
              </a:rPr>
              <a:t></a:t>
            </a:r>
            <a:r>
              <a:rPr lang="zh-CN" altLang="zh-CN" sz="2400" b="1" dirty="0">
                <a:solidFill>
                  <a:srgbClr val="1353A2"/>
                </a:solidFill>
                <a:latin typeface="楷体" panose="02010609060101010101" pitchFamily="49" charset="-122"/>
                <a:ea typeface="楷体" panose="02010609060101010101" pitchFamily="49" charset="-122"/>
              </a:rPr>
              <a:t>脚下留心：子类重写父类方法时的访问权限</a:t>
            </a:r>
            <a:endParaRPr lang="zh-CN" altLang="en-US" sz="2400" b="1" dirty="0">
              <a:solidFill>
                <a:srgbClr val="1353A2"/>
              </a:solidFill>
              <a:latin typeface="楷体" panose="02010609060101010101" pitchFamily="49" charset="-122"/>
              <a:ea typeface="楷体" panose="02010609060101010101" pitchFamily="49"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311398" y="1981200"/>
            <a:ext cx="8191498" cy="3058160"/>
            <a:chOff x="2184401" y="1981200"/>
            <a:chExt cx="8191498" cy="3058160"/>
          </a:xfrm>
        </p:grpSpPr>
        <p:pic>
          <p:nvPicPr>
            <p:cNvPr id="1229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84401" y="1981200"/>
              <a:ext cx="8191498" cy="3058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内容占位符 2"/>
            <p:cNvSpPr txBox="1"/>
            <p:nvPr/>
          </p:nvSpPr>
          <p:spPr>
            <a:xfrm>
              <a:off x="2684779" y="1991360"/>
              <a:ext cx="7691120" cy="29870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15 // </a:t>
              </a:r>
              <a:r>
                <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定义测试类</a:t>
              </a:r>
              <a:endPar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16 public class Example04 {	</a:t>
              </a:r>
              <a:endPar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17	public static void main(String[] </a:t>
              </a:r>
              <a:r>
                <a:rPr lang="en-US" altLang="zh-CN" sz="18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args</a:t>
              </a: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a:t>
              </a:r>
              <a:endPar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18		Dog </a:t>
              </a:r>
              <a:r>
                <a:rPr lang="en-US" altLang="zh-CN" sz="18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dog</a:t>
              </a: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 new Dog(); // </a:t>
              </a:r>
              <a:r>
                <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创建</a:t>
              </a: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Dog</a:t>
              </a:r>
              <a:r>
                <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类的实例对象</a:t>
              </a:r>
              <a:endPar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19		</a:t>
              </a:r>
              <a:r>
                <a:rPr lang="en-US" altLang="zh-CN" sz="18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dog.shout</a:t>
              </a: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 </a:t>
              </a:r>
              <a:r>
                <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调用</a:t>
              </a: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dog</a:t>
              </a:r>
              <a:r>
                <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重写的</a:t>
              </a: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shout()</a:t>
              </a:r>
              <a:r>
                <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方法</a:t>
              </a:r>
              <a:endPar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20	}</a:t>
              </a:r>
              <a:endPar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21 }</a:t>
              </a:r>
              <a:endPar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548DC76D-7665-47C1-9942-4EAEEDBEB52F}"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4.1.3 super</a:t>
            </a:r>
            <a:r>
              <a:rPr lang="zh-CN" altLang="en-US" sz="3200" b="1" dirty="0">
                <a:solidFill>
                  <a:srgbClr val="1353A2"/>
                </a:solidFill>
                <a:latin typeface="微软雅黑" panose="020B0503020204020204" pitchFamily="34" charset="-122"/>
                <a:ea typeface="微软雅黑" panose="020B0503020204020204" pitchFamily="34" charset="-122"/>
              </a:rPr>
              <a:t>关键字</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2139670" y="1655144"/>
            <a:ext cx="5003802" cy="3556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当子类重写父类的方法后，子类对象将无法访问父类被重写的方法，为了解决这个问题，</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提供了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super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关键字，</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super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关键字可以在子类中调用父类的普通属性、方法以及构造方法。</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33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76004" y="1669489"/>
            <a:ext cx="3154045" cy="3603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D8D76F60-2274-4122-9D43-412065A670C2}" type="slidenum">
              <a:rPr lang="zh-CN" altLang="en-US" smtClean="0"/>
            </a:fld>
            <a:endParaRPr lang="zh-CN" altLang="en-US" dirty="0"/>
          </a:p>
        </p:txBody>
      </p:sp>
    </p:spTree>
    <p:custDataLst>
      <p:tags r:id="rId2"/>
    </p:custData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42" presetClass="entr" presetSubtype="0" fill="hold" nodeType="withEffect">
                                  <p:stCondLst>
                                    <p:cond delay="0"/>
                                  </p:stCondLst>
                                  <p:childTnLst>
                                    <p:set>
                                      <p:cBhvr>
                                        <p:cTn id="9" dur="1" fill="hold">
                                          <p:stCondLst>
                                            <p:cond delay="0"/>
                                          </p:stCondLst>
                                        </p:cTn>
                                        <p:tgtEl>
                                          <p:spTgt spid="13314"/>
                                        </p:tgtEl>
                                        <p:attrNameLst>
                                          <p:attrName>style.visibility</p:attrName>
                                        </p:attrNameLst>
                                      </p:cBhvr>
                                      <p:to>
                                        <p:strVal val="visible"/>
                                      </p:to>
                                    </p:set>
                                    <p:animEffect transition="in" filter="fade">
                                      <p:cBhvr>
                                        <p:cTn id="10" dur="1000"/>
                                        <p:tgtEl>
                                          <p:spTgt spid="13314"/>
                                        </p:tgtEl>
                                      </p:cBhvr>
                                    </p:animEffect>
                                    <p:anim calcmode="lin" valueType="num">
                                      <p:cBhvr>
                                        <p:cTn id="11" dur="1000" fill="hold"/>
                                        <p:tgtEl>
                                          <p:spTgt spid="13314"/>
                                        </p:tgtEl>
                                        <p:attrNameLst>
                                          <p:attrName>ppt_x</p:attrName>
                                        </p:attrNameLst>
                                      </p:cBhvr>
                                      <p:tavLst>
                                        <p:tav tm="0">
                                          <p:val>
                                            <p:strVal val="#ppt_x"/>
                                          </p:val>
                                        </p:tav>
                                        <p:tav tm="100000">
                                          <p:val>
                                            <p:strVal val="#ppt_x"/>
                                          </p:val>
                                        </p:tav>
                                      </p:tavLst>
                                    </p:anim>
                                    <p:anim calcmode="lin" valueType="num">
                                      <p:cBhvr>
                                        <p:cTn id="12" dur="1000" fill="hold"/>
                                        <p:tgtEl>
                                          <p:spTgt spid="133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4.1.3 super</a:t>
            </a:r>
            <a:r>
              <a:rPr lang="zh-CN" altLang="en-US" sz="3200" b="1" dirty="0">
                <a:solidFill>
                  <a:srgbClr val="1353A2"/>
                </a:solidFill>
                <a:latin typeface="微软雅黑" panose="020B0503020204020204" pitchFamily="34" charset="-122"/>
                <a:ea typeface="微软雅黑" panose="020B0503020204020204" pitchFamily="34" charset="-122"/>
              </a:rPr>
              <a:t>关键字</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5415280" y="1869440"/>
            <a:ext cx="5720080" cy="32512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接下来详细讲解</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super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关键字的具体用法。</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super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关键字访问父类的成员变量和成员方法，具体格式如下：</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super.</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成员变量</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super.</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成员方法</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参数</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参数</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433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65580" y="1546971"/>
            <a:ext cx="3807460" cy="3573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615C9AA3-5C0D-4790-9319-539A87E0FB65}" type="slidenum">
              <a:rPr lang="zh-CN" altLang="en-US" smtClean="0"/>
            </a:fld>
            <a:endParaRPr lang="zh-CN" altLang="en-US" dirty="0"/>
          </a:p>
        </p:txBody>
      </p:sp>
    </p:spTree>
    <p:custDataLst>
      <p:tags r:id="rId2"/>
    </p:custData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wipe(down)">
                                      <p:cBhvr>
                                        <p:cTn id="7" dur="500"/>
                                        <p:tgtEl>
                                          <p:spTgt spid="14338"/>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4.1.3 super</a:t>
            </a:r>
            <a:r>
              <a:rPr lang="zh-CN" altLang="en-US" sz="3200" b="1" dirty="0">
                <a:solidFill>
                  <a:srgbClr val="1353A2"/>
                </a:solidFill>
                <a:latin typeface="微软雅黑" panose="020B0503020204020204" pitchFamily="34" charset="-122"/>
                <a:ea typeface="微软雅黑" panose="020B0503020204020204" pitchFamily="34" charset="-122"/>
              </a:rPr>
              <a:t>关键字</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483360" y="1300480"/>
            <a:ext cx="9652000" cy="8534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接下来通过一个案例学习</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super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关键字访问父类的成员变量和成员方法</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 name="组合 2"/>
          <p:cNvGrpSpPr/>
          <p:nvPr/>
        </p:nvGrpSpPr>
        <p:grpSpPr>
          <a:xfrm>
            <a:off x="2936240" y="2153920"/>
            <a:ext cx="6908800" cy="3586480"/>
            <a:chOff x="2560320" y="1991360"/>
            <a:chExt cx="6908800" cy="3586480"/>
          </a:xfrm>
        </p:grpSpPr>
        <p:pic>
          <p:nvPicPr>
            <p:cNvPr id="1536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60320" y="1991360"/>
              <a:ext cx="6908800" cy="358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3230880" y="2123440"/>
              <a:ext cx="6024880" cy="34239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class Animal {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String name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牧羊犬</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定义动物叫的方法</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5	void shout() {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6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动物发出叫声</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7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8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FB83D201-8AE1-485A-9F26-2AEBBBDAA302}" type="slidenum">
              <a:rPr lang="zh-CN" altLang="en-US" smtClean="0"/>
            </a:fld>
            <a:endParaRPr lang="zh-CN" altLang="en-US" dirty="0"/>
          </a:p>
        </p:txBody>
      </p:sp>
    </p:spTree>
    <p:custDataLst>
      <p:tags r:id="rId2"/>
    </p:custData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4.1.3 super</a:t>
            </a:r>
            <a:r>
              <a:rPr lang="zh-CN" altLang="en-US" sz="3200" b="1" dirty="0">
                <a:solidFill>
                  <a:srgbClr val="1353A2"/>
                </a:solidFill>
                <a:latin typeface="微软雅黑" panose="020B0503020204020204" pitchFamily="34" charset="-122"/>
                <a:ea typeface="微软雅黑" panose="020B0503020204020204" pitchFamily="34" charset="-122"/>
              </a:rPr>
              <a:t>关键字</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032000" y="1402080"/>
            <a:ext cx="8981440" cy="4653280"/>
            <a:chOff x="1960880" y="1442720"/>
            <a:chExt cx="8981440" cy="4653280"/>
          </a:xfrm>
        </p:grpSpPr>
        <p:pic>
          <p:nvPicPr>
            <p:cNvPr id="1638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60880" y="1442720"/>
              <a:ext cx="8981440" cy="4653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336800" y="1442720"/>
              <a:ext cx="8453120" cy="45821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9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类继承动物类</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 class Dog extends Animal {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11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重写父类</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中的</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shout()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扩大了访问权限</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12	public void shout() {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13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super.shout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调用父类中的</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shout()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14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汪汪汪……</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15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16     public void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printName</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17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名字</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:"+super.name);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调用父类中的</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name</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属性</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18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19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70658D70-810B-479A-B1C5-0CB4B43BBFE3}" type="slidenum">
              <a:rPr lang="zh-CN" altLang="en-US" smtClean="0"/>
            </a:fld>
            <a:endParaRPr lang="zh-CN" altLang="en-US" dirty="0"/>
          </a:p>
        </p:txBody>
      </p:sp>
    </p:spTree>
    <p:custDataLst>
      <p:tags r:id="rId2"/>
    </p:custDataLst>
  </p:cSld>
  <p:clrMapOvr>
    <a:masterClrMapping/>
  </p:clrMapOvr>
  <p:transition spd="slow">
    <p:wheel spokes="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4.1.3 super</a:t>
            </a:r>
            <a:r>
              <a:rPr lang="zh-CN" altLang="en-US" sz="3200" b="1" dirty="0">
                <a:solidFill>
                  <a:srgbClr val="1353A2"/>
                </a:solidFill>
                <a:latin typeface="微软雅黑" panose="020B0503020204020204" pitchFamily="34" charset="-122"/>
                <a:ea typeface="微软雅黑" panose="020B0503020204020204" pitchFamily="34" charset="-122"/>
              </a:rPr>
              <a:t>关键字</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392678" y="1737360"/>
            <a:ext cx="8468362" cy="3586480"/>
            <a:chOff x="2311398" y="1737360"/>
            <a:chExt cx="8051802" cy="3586480"/>
          </a:xfrm>
        </p:grpSpPr>
        <p:pic>
          <p:nvPicPr>
            <p:cNvPr id="174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1398" y="1737360"/>
              <a:ext cx="8051802" cy="357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852461" y="1838960"/>
              <a:ext cx="7447280" cy="34848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20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定义测试类</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21 public class Example05 {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22	public static void main(String[]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23	        Dog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Dog();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类的实例对象</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24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dog.shout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调用</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重写的</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shout()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25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dog.printName</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调用</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类中的</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printName</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26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27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C4786979-013D-49C2-B759-C6B2E757CD81}" type="slidenum">
              <a:rPr lang="zh-CN" altLang="en-US" smtClean="0"/>
            </a:fld>
            <a:endParaRPr lang="zh-CN" altLang="en-US" dirty="0"/>
          </a:p>
        </p:txBody>
      </p:sp>
    </p:spTree>
    <p:custDataLst>
      <p:tags r:id="rId2"/>
    </p:custDataLst>
  </p:cSld>
  <p:clrMapOvr>
    <a:masterClrMapping/>
  </p:clrMapOvr>
  <p:transition spd="slow">
    <p:wheel spokes="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4.1.3 super</a:t>
            </a:r>
            <a:r>
              <a:rPr lang="zh-CN" altLang="en-US" sz="3200" b="1" dirty="0">
                <a:solidFill>
                  <a:srgbClr val="1353A2"/>
                </a:solidFill>
                <a:latin typeface="微软雅黑" panose="020B0503020204020204" pitchFamily="34" charset="-122"/>
                <a:ea typeface="微软雅黑" panose="020B0503020204020204" pitchFamily="34" charset="-122"/>
              </a:rPr>
              <a:t>关键字</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219200" y="1300480"/>
            <a:ext cx="10058400" cy="18694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super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关键字访问父类中指定的构造方法，具体格式如下：</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super(</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参数</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参数</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接下来就通过一个案例学习如何使用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super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关键字调用父类的构造方法</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 name="组合 2"/>
          <p:cNvGrpSpPr/>
          <p:nvPr/>
        </p:nvGrpSpPr>
        <p:grpSpPr>
          <a:xfrm>
            <a:off x="3403600" y="3139440"/>
            <a:ext cx="5821680" cy="2997200"/>
            <a:chOff x="3088640" y="3139440"/>
            <a:chExt cx="5821680" cy="2997200"/>
          </a:xfrm>
        </p:grpSpPr>
        <p:pic>
          <p:nvPicPr>
            <p:cNvPr id="1843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88640" y="3139440"/>
              <a:ext cx="5821680" cy="299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p:cNvSpPr txBox="1"/>
            <p:nvPr/>
          </p:nvSpPr>
          <p:spPr>
            <a:xfrm>
              <a:off x="4165600" y="3139440"/>
              <a:ext cx="4185920" cy="29972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class Animal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private String name;</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    private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age;</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5    public Animal(String name,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age)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6        this.name = name;</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7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this.age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age;</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8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7CB3A95A-7FC7-484A-AD4F-8CED77C8675E}" type="slidenum">
              <a:rPr lang="zh-CN" altLang="en-US" smtClean="0"/>
            </a:fld>
            <a:endParaRPr lang="zh-CN" altLang="en-US" dirty="0"/>
          </a:p>
        </p:txBody>
      </p:sp>
    </p:spTree>
    <p:custDataLst>
      <p:tags r:id="rId2"/>
    </p:custData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4.1.3 super</a:t>
            </a:r>
            <a:r>
              <a:rPr lang="zh-CN" altLang="en-US" sz="3200" b="1" dirty="0">
                <a:solidFill>
                  <a:srgbClr val="1353A2"/>
                </a:solidFill>
                <a:latin typeface="微软雅黑" panose="020B0503020204020204" pitchFamily="34" charset="-122"/>
                <a:ea typeface="微软雅黑" panose="020B0503020204020204" pitchFamily="34" charset="-122"/>
              </a:rPr>
              <a:t>关键字</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1076960" y="1437640"/>
            <a:ext cx="4734560" cy="4561840"/>
            <a:chOff x="924560" y="1300480"/>
            <a:chExt cx="4592320" cy="4561840"/>
          </a:xfrm>
        </p:grpSpPr>
        <p:pic>
          <p:nvPicPr>
            <p:cNvPr id="1945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24560" y="1336040"/>
              <a:ext cx="4409440" cy="4526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内容占位符 2"/>
            <p:cNvSpPr txBox="1"/>
            <p:nvPr/>
          </p:nvSpPr>
          <p:spPr>
            <a:xfrm>
              <a:off x="1219200" y="1300480"/>
              <a:ext cx="4297680" cy="45618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9 public 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getName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        return name;</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11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12    public void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setName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 name)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13        this.name = name;</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14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15    public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getAge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16        return age;</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17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18    public void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setAge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age)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19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this.age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age;</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20    }</a:t>
              </a:r>
              <a:endPar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4" name="组合 3"/>
          <p:cNvGrpSpPr/>
          <p:nvPr/>
        </p:nvGrpSpPr>
        <p:grpSpPr>
          <a:xfrm>
            <a:off x="5872480" y="1336040"/>
            <a:ext cx="6045198" cy="4663440"/>
            <a:chOff x="5720080" y="1336040"/>
            <a:chExt cx="5837461" cy="4663440"/>
          </a:xfrm>
        </p:grpSpPr>
        <p:pic>
          <p:nvPicPr>
            <p:cNvPr id="1945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0080" y="1386840"/>
              <a:ext cx="5709920" cy="4612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5847621" y="1336040"/>
              <a:ext cx="5709920" cy="46634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21 public String info()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22        return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名称：</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this.getName</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年龄：</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this.getAge</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23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24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25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类继承动物类</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26 class Dog extends Animal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27    private String color;</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28    public Dog(String name,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age, String color)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29        super(name, age);</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30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this.setColor</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(color);</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31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32    public String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getColor</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33        return color;</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34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5" name="文本占位符 4"/>
          <p:cNvSpPr>
            <a:spLocks noGrp="1"/>
          </p:cNvSpPr>
          <p:nvPr>
            <p:ph type="body" sz="quarter" idx="10"/>
          </p:nvPr>
        </p:nvSpPr>
        <p:spPr/>
        <p:txBody>
          <a:bodyPr/>
          <a:lstStyle/>
          <a:p>
            <a:fld id="{D1EAD8EA-FC40-46CE-BC94-EFEC8D712FED}" type="slidenum">
              <a:rPr lang="zh-CN" altLang="en-US" smtClean="0"/>
            </a:fld>
            <a:endParaRPr lang="zh-CN" altLang="en-US" dirty="0"/>
          </a:p>
        </p:txBody>
      </p:sp>
    </p:spTree>
    <p:custDataLst>
      <p:tags r:id="rId3"/>
    </p:custDataLst>
  </p:cSld>
  <p:clrMapOvr>
    <a:masterClrMapping/>
  </p:clrMapOvr>
  <p:transition spd="slow">
    <p:wheel spokes="1"/>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4.1.3 super</a:t>
            </a:r>
            <a:r>
              <a:rPr lang="zh-CN" altLang="en-US" sz="3200" b="1" dirty="0">
                <a:solidFill>
                  <a:srgbClr val="1353A2"/>
                </a:solidFill>
                <a:latin typeface="微软雅黑" panose="020B0503020204020204" pitchFamily="34" charset="-122"/>
                <a:ea typeface="微软雅黑" panose="020B0503020204020204" pitchFamily="34" charset="-122"/>
              </a:rPr>
              <a:t>关键字</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956560" y="1280160"/>
            <a:ext cx="7112000" cy="5049521"/>
            <a:chOff x="2560320" y="1351280"/>
            <a:chExt cx="7112000" cy="4885641"/>
          </a:xfrm>
        </p:grpSpPr>
        <p:pic>
          <p:nvPicPr>
            <p:cNvPr id="2048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60320" y="1351280"/>
              <a:ext cx="7112000" cy="4846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p:cNvSpPr txBox="1"/>
            <p:nvPr/>
          </p:nvSpPr>
          <p:spPr>
            <a:xfrm>
              <a:off x="2875280" y="1390601"/>
              <a:ext cx="6532880" cy="48463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35 public void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setColor</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 color)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36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this.color</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color;</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37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38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重写父类的</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info()</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39    public String info()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40        return super.info()+",</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颜色：</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this.getColor</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扩充父类中的方法</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41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42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43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定义测试类</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44 public class Example06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45    public static void main(String[]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46        Dog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Dog("</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牧羊犬</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黑色</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类的实例对象</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47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(dog.info());</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48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49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7057B6C6-34B6-4B31-9A0B-31EE314C3C49}" type="slidenum">
              <a:rPr lang="zh-CN" altLang="en-US" smtClean="0"/>
            </a:fld>
            <a:endParaRPr lang="zh-CN" altLang="en-US" dirty="0"/>
          </a:p>
        </p:txBody>
      </p:sp>
    </p:spTree>
    <p:custDataLst>
      <p:tags r:id="rId2"/>
    </p:custDataLst>
  </p:cSld>
  <p:clrMapOvr>
    <a:masterClrMapping/>
  </p:clrMapOvr>
  <p:transition spd="slow">
    <p:wheel spokes="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4.1.3 super</a:t>
            </a:r>
            <a:r>
              <a:rPr lang="zh-CN" altLang="en-US" sz="3200" b="1" dirty="0">
                <a:solidFill>
                  <a:srgbClr val="1353A2"/>
                </a:solidFill>
                <a:latin typeface="微软雅黑" panose="020B0503020204020204" pitchFamily="34" charset="-122"/>
                <a:ea typeface="微软雅黑" panose="020B0503020204020204" pitchFamily="34" charset="-122"/>
              </a:rPr>
              <a:t>关键字</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5833326" y="2127866"/>
            <a:ext cx="4548459" cy="2590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通过</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super()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调用父类构造方法的代码必须位于子类构造方法的</a:t>
            </a:r>
            <a:r>
              <a:rPr lang="zh-CN" altLang="zh-CN" sz="24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第一行</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，并且只能</a:t>
            </a:r>
            <a:r>
              <a:rPr lang="zh-CN" altLang="zh-CN" sz="24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出现一次</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5" name="组合 4"/>
          <p:cNvGrpSpPr/>
          <p:nvPr/>
        </p:nvGrpSpPr>
        <p:grpSpPr>
          <a:xfrm>
            <a:off x="2588259" y="1717634"/>
            <a:ext cx="2834640" cy="3676730"/>
            <a:chOff x="2311398" y="1676344"/>
            <a:chExt cx="2834640" cy="3676730"/>
          </a:xfrm>
        </p:grpSpPr>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1398" y="1676344"/>
              <a:ext cx="2834640" cy="367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2941318" y="2734203"/>
              <a:ext cx="1762762" cy="64777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注      意</a:t>
              </a:r>
              <a:endParaRPr lang="en-US" altLang="zh-CN" sz="2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3" name="文本占位符 2"/>
          <p:cNvSpPr>
            <a:spLocks noGrp="1"/>
          </p:cNvSpPr>
          <p:nvPr>
            <p:ph type="body" sz="quarter" idx="10"/>
          </p:nvPr>
        </p:nvSpPr>
        <p:spPr/>
        <p:txBody>
          <a:bodyPr/>
          <a:lstStyle/>
          <a:p>
            <a:fld id="{BC33A753-9F6B-48E6-8C20-B722589541E9}" type="slidenum">
              <a:rPr lang="zh-CN" altLang="en-US" smtClean="0"/>
            </a:fld>
            <a:endParaRPr lang="zh-CN" altLang="en-US" dirty="0"/>
          </a:p>
        </p:txBody>
      </p:sp>
    </p:spTree>
    <p:custDataLst>
      <p:tags r:id="rId2"/>
    </p:custData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14" presetClass="entr" presetSubtype="1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4.1.3 super</a:t>
            </a:r>
            <a:r>
              <a:rPr lang="zh-CN" altLang="en-US" sz="3200" b="1" dirty="0">
                <a:solidFill>
                  <a:srgbClr val="1353A2"/>
                </a:solidFill>
                <a:latin typeface="微软雅黑" panose="020B0503020204020204" pitchFamily="34" charset="-122"/>
                <a:ea typeface="微软雅黑" panose="020B0503020204020204" pitchFamily="34" charset="-122"/>
              </a:rPr>
              <a:t>关键字</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249680" y="1320800"/>
            <a:ext cx="10271760" cy="13411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super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与</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this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关键字的作用非常相似，都可以调用构造方法、普通方法和属性，但是两者之间还是有区别的，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super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与</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this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的区别如</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下</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表</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3" name="表格 2"/>
          <p:cNvGraphicFramePr>
            <a:graphicFrameLocks noGrp="1"/>
          </p:cNvGraphicFramePr>
          <p:nvPr/>
        </p:nvGraphicFramePr>
        <p:xfrm>
          <a:off x="2377436" y="2790984"/>
          <a:ext cx="8181338" cy="2949416"/>
        </p:xfrm>
        <a:graphic>
          <a:graphicData uri="http://schemas.openxmlformats.org/drawingml/2006/table">
            <a:tbl>
              <a:tblPr firstRow="1" firstCol="1" bandRow="1">
                <a:tableStyleId>{5C22544A-7EE6-4342-B048-85BDC9FD1C3A}</a:tableStyleId>
              </a:tblPr>
              <a:tblGrid>
                <a:gridCol w="1302040"/>
                <a:gridCol w="4335375"/>
                <a:gridCol w="2543923"/>
              </a:tblGrid>
              <a:tr h="421346">
                <a:tc>
                  <a:txBody>
                    <a:bodyPr/>
                    <a:lstStyle/>
                    <a:p>
                      <a:pPr algn="ctr">
                        <a:spcAft>
                          <a:spcPts val="0"/>
                        </a:spcAft>
                      </a:pPr>
                      <a:r>
                        <a:rPr lang="zh-CN" sz="1800" kern="100" dirty="0">
                          <a:effectLst/>
                        </a:rPr>
                        <a:t>区别点</a:t>
                      </a:r>
                      <a:endParaRPr lang="zh-CN" sz="18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800" kern="100">
                          <a:effectLst/>
                        </a:rPr>
                        <a:t>this</a:t>
                      </a:r>
                      <a:endParaRPr lang="zh-CN" sz="18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800" kern="100">
                          <a:effectLst/>
                        </a:rPr>
                        <a:t>super</a:t>
                      </a:r>
                      <a:endParaRPr lang="zh-CN" sz="1800" kern="100">
                        <a:effectLst/>
                        <a:latin typeface="Times New Roman" panose="02020603050405020304"/>
                        <a:ea typeface="宋体" panose="02010600030101010101" pitchFamily="2" charset="-122"/>
                      </a:endParaRPr>
                    </a:p>
                  </a:txBody>
                  <a:tcPr marL="68580" marR="68580" marT="0" marB="0" anchor="ctr"/>
                </a:tc>
              </a:tr>
              <a:tr h="842690">
                <a:tc>
                  <a:txBody>
                    <a:bodyPr/>
                    <a:lstStyle/>
                    <a:p>
                      <a:pPr algn="l">
                        <a:spcAft>
                          <a:spcPts val="0"/>
                        </a:spcAft>
                      </a:pPr>
                      <a:r>
                        <a:rPr lang="zh-CN" sz="1800" kern="100">
                          <a:effectLst/>
                        </a:rPr>
                        <a:t>属性访问</a:t>
                      </a:r>
                      <a:endParaRPr lang="zh-CN" sz="1800" kern="100">
                        <a:effectLst/>
                        <a:latin typeface="Times New Roman" panose="02020603050405020304"/>
                        <a:ea typeface="宋体" panose="02010600030101010101" pitchFamily="2" charset="-122"/>
                      </a:endParaRPr>
                    </a:p>
                  </a:txBody>
                  <a:tcPr marL="68580" marR="68580" marT="0" marB="0" anchor="ctr"/>
                </a:tc>
                <a:tc>
                  <a:txBody>
                    <a:bodyPr/>
                    <a:lstStyle/>
                    <a:p>
                      <a:pPr algn="l">
                        <a:spcAft>
                          <a:spcPts val="0"/>
                        </a:spcAft>
                      </a:pPr>
                      <a:r>
                        <a:rPr lang="zh-CN" sz="1800" kern="100" dirty="0">
                          <a:effectLst/>
                        </a:rPr>
                        <a:t>访问本类中的属性，如果本类中没有该属性，则从父类中查找。</a:t>
                      </a:r>
                      <a:endParaRPr lang="zh-CN" sz="1800" kern="100" dirty="0">
                        <a:effectLst/>
                        <a:latin typeface="Times New Roman" panose="02020603050405020304"/>
                        <a:ea typeface="宋体" panose="02010600030101010101" pitchFamily="2" charset="-122"/>
                      </a:endParaRPr>
                    </a:p>
                  </a:txBody>
                  <a:tcPr marL="68580" marR="68580" marT="0" marB="0" anchor="ctr"/>
                </a:tc>
                <a:tc>
                  <a:txBody>
                    <a:bodyPr/>
                    <a:lstStyle/>
                    <a:p>
                      <a:pPr algn="l">
                        <a:spcAft>
                          <a:spcPts val="0"/>
                        </a:spcAft>
                      </a:pPr>
                      <a:r>
                        <a:rPr lang="zh-CN" sz="1800" kern="100">
                          <a:effectLst/>
                        </a:rPr>
                        <a:t>访问父类中的属性</a:t>
                      </a:r>
                      <a:endParaRPr lang="zh-CN" sz="1800" kern="100">
                        <a:effectLst/>
                        <a:latin typeface="Times New Roman" panose="02020603050405020304"/>
                        <a:ea typeface="宋体" panose="02010600030101010101" pitchFamily="2" charset="-122"/>
                      </a:endParaRPr>
                    </a:p>
                  </a:txBody>
                  <a:tcPr marL="68580" marR="68580" marT="0" marB="0" anchor="ctr"/>
                </a:tc>
              </a:tr>
              <a:tr h="842690">
                <a:tc>
                  <a:txBody>
                    <a:bodyPr/>
                    <a:lstStyle/>
                    <a:p>
                      <a:pPr algn="l">
                        <a:spcAft>
                          <a:spcPts val="0"/>
                        </a:spcAft>
                      </a:pPr>
                      <a:r>
                        <a:rPr lang="zh-CN" sz="1800" kern="100" dirty="0">
                          <a:effectLst/>
                        </a:rPr>
                        <a:t>方法</a:t>
                      </a:r>
                      <a:endParaRPr lang="zh-CN" sz="1800" kern="100" dirty="0">
                        <a:effectLst/>
                        <a:latin typeface="Times New Roman" panose="02020603050405020304"/>
                        <a:ea typeface="宋体" panose="02010600030101010101" pitchFamily="2" charset="-122"/>
                      </a:endParaRPr>
                    </a:p>
                  </a:txBody>
                  <a:tcPr marL="68580" marR="68580" marT="0" marB="0" anchor="ctr"/>
                </a:tc>
                <a:tc>
                  <a:txBody>
                    <a:bodyPr/>
                    <a:lstStyle/>
                    <a:p>
                      <a:pPr algn="l">
                        <a:spcAft>
                          <a:spcPts val="0"/>
                        </a:spcAft>
                      </a:pPr>
                      <a:r>
                        <a:rPr lang="zh-CN" sz="1800" kern="100" dirty="0">
                          <a:effectLst/>
                        </a:rPr>
                        <a:t>访问本类中的方法，如果本类中没有该方法，则从父类中继续查找</a:t>
                      </a:r>
                      <a:r>
                        <a:rPr lang="zh-CN" altLang="en-US" sz="1800" kern="100" dirty="0">
                          <a:effectLst/>
                        </a:rPr>
                        <a:t>。</a:t>
                      </a:r>
                      <a:endParaRPr lang="zh-CN" sz="1800" kern="100" dirty="0">
                        <a:effectLst/>
                        <a:latin typeface="Times New Roman" panose="02020603050405020304"/>
                        <a:ea typeface="宋体" panose="02010600030101010101" pitchFamily="2" charset="-122"/>
                      </a:endParaRPr>
                    </a:p>
                  </a:txBody>
                  <a:tcPr marL="68580" marR="68580" marT="0" marB="0" anchor="ctr"/>
                </a:tc>
                <a:tc>
                  <a:txBody>
                    <a:bodyPr/>
                    <a:lstStyle/>
                    <a:p>
                      <a:pPr algn="l">
                        <a:spcAft>
                          <a:spcPts val="0"/>
                        </a:spcAft>
                      </a:pPr>
                      <a:r>
                        <a:rPr lang="zh-CN" sz="1800" kern="100">
                          <a:effectLst/>
                        </a:rPr>
                        <a:t>直接访问父类中的方法</a:t>
                      </a:r>
                      <a:endParaRPr lang="zh-CN" sz="1800" kern="100">
                        <a:effectLst/>
                        <a:latin typeface="Times New Roman" panose="02020603050405020304"/>
                        <a:ea typeface="宋体" panose="02010600030101010101" pitchFamily="2" charset="-122"/>
                      </a:endParaRPr>
                    </a:p>
                  </a:txBody>
                  <a:tcPr marL="68580" marR="68580" marT="0" marB="0" anchor="ctr"/>
                </a:tc>
              </a:tr>
              <a:tr h="842690">
                <a:tc>
                  <a:txBody>
                    <a:bodyPr/>
                    <a:lstStyle/>
                    <a:p>
                      <a:pPr algn="l">
                        <a:spcAft>
                          <a:spcPts val="0"/>
                        </a:spcAft>
                      </a:pPr>
                      <a:r>
                        <a:rPr lang="zh-CN" sz="1800" kern="100">
                          <a:effectLst/>
                        </a:rPr>
                        <a:t>调用构造</a:t>
                      </a:r>
                      <a:endParaRPr lang="zh-CN" sz="1800" kern="100">
                        <a:effectLst/>
                        <a:latin typeface="Times New Roman" panose="02020603050405020304"/>
                        <a:ea typeface="宋体" panose="02010600030101010101" pitchFamily="2" charset="-122"/>
                      </a:endParaRPr>
                    </a:p>
                  </a:txBody>
                  <a:tcPr marL="68580" marR="68580" marT="0" marB="0" anchor="ctr"/>
                </a:tc>
                <a:tc>
                  <a:txBody>
                    <a:bodyPr/>
                    <a:lstStyle/>
                    <a:p>
                      <a:pPr algn="l">
                        <a:spcAft>
                          <a:spcPts val="0"/>
                        </a:spcAft>
                      </a:pPr>
                      <a:r>
                        <a:rPr lang="zh-CN" sz="1800" kern="100" dirty="0">
                          <a:effectLst/>
                        </a:rPr>
                        <a:t>调用本类构造，必须放在构造方法的首行</a:t>
                      </a:r>
                      <a:r>
                        <a:rPr lang="zh-CN" altLang="en-US" sz="1800" kern="100" dirty="0">
                          <a:effectLst/>
                        </a:rPr>
                        <a:t>。</a:t>
                      </a:r>
                      <a:endParaRPr lang="zh-CN" sz="1800" kern="100" dirty="0">
                        <a:effectLst/>
                        <a:latin typeface="Times New Roman" panose="02020603050405020304"/>
                        <a:ea typeface="宋体" panose="02010600030101010101" pitchFamily="2" charset="-122"/>
                      </a:endParaRPr>
                    </a:p>
                  </a:txBody>
                  <a:tcPr marL="68580" marR="68580" marT="0" marB="0" anchor="ctr"/>
                </a:tc>
                <a:tc>
                  <a:txBody>
                    <a:bodyPr/>
                    <a:lstStyle/>
                    <a:p>
                      <a:pPr algn="l">
                        <a:spcAft>
                          <a:spcPts val="0"/>
                        </a:spcAft>
                      </a:pPr>
                      <a:r>
                        <a:rPr lang="zh-CN" sz="1800" kern="100" dirty="0">
                          <a:effectLst/>
                        </a:rPr>
                        <a:t>调用父类构造，必须放在子类构造方法的首行</a:t>
                      </a:r>
                      <a:r>
                        <a:rPr lang="zh-CN" altLang="en-US" sz="1800" kern="100" dirty="0">
                          <a:effectLst/>
                        </a:rPr>
                        <a:t>。</a:t>
                      </a:r>
                      <a:endParaRPr lang="zh-CN" sz="1800" kern="100" dirty="0">
                        <a:effectLst/>
                        <a:latin typeface="Times New Roman" panose="02020603050405020304"/>
                        <a:ea typeface="宋体" panose="02010600030101010101" pitchFamily="2" charset="-122"/>
                      </a:endParaRPr>
                    </a:p>
                  </a:txBody>
                  <a:tcPr marL="68580" marR="68580" marT="0" marB="0" anchor="ctr"/>
                </a:tc>
              </a:tr>
            </a:tbl>
          </a:graphicData>
        </a:graphic>
      </p:graphicFrame>
      <p:sp>
        <p:nvSpPr>
          <p:cNvPr id="4" name="文本占位符 3"/>
          <p:cNvSpPr>
            <a:spLocks noGrp="1"/>
          </p:cNvSpPr>
          <p:nvPr>
            <p:ph type="body" sz="quarter" idx="10"/>
          </p:nvPr>
        </p:nvSpPr>
        <p:spPr/>
        <p:txBody>
          <a:bodyPr/>
          <a:lstStyle/>
          <a:p>
            <a:fld id="{7D4C90F5-16FC-49C6-AD11-869330B216E1}" type="slidenum">
              <a:rPr lang="zh-CN" altLang="en-US" smtClean="0"/>
            </a:fld>
            <a:endParaRPr lang="zh-CN" altLang="en-US" dirty="0"/>
          </a:p>
        </p:txBody>
      </p:sp>
    </p:spTree>
    <p:custDataLst>
      <p:tags r:id="rId1"/>
    </p:custData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4.1.3 super</a:t>
            </a:r>
            <a:r>
              <a:rPr lang="zh-CN" altLang="en-US" sz="3200" b="1" dirty="0">
                <a:solidFill>
                  <a:srgbClr val="1353A2"/>
                </a:solidFill>
                <a:latin typeface="微软雅黑" panose="020B0503020204020204" pitchFamily="34" charset="-122"/>
                <a:ea typeface="微软雅黑" panose="020B0503020204020204" pitchFamily="34" charset="-122"/>
              </a:rPr>
              <a:t>关键字</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6279376" y="1877060"/>
            <a:ext cx="4057804" cy="27736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调用构造方法时，</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this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super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两者不可以同时出现，因为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this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super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在调用构造方法时都要求必须放在构造方法的首行。</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5" name="组合 4"/>
          <p:cNvGrpSpPr/>
          <p:nvPr/>
        </p:nvGrpSpPr>
        <p:grpSpPr>
          <a:xfrm>
            <a:off x="2588259" y="1717634"/>
            <a:ext cx="2834640" cy="3676730"/>
            <a:chOff x="2311398" y="1676344"/>
            <a:chExt cx="2834640" cy="3676730"/>
          </a:xfrm>
        </p:grpSpPr>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1398" y="1676344"/>
              <a:ext cx="2834640" cy="367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2941318" y="2734203"/>
              <a:ext cx="1762762" cy="64777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注      意</a:t>
              </a:r>
              <a:endParaRPr lang="en-US" altLang="zh-CN" sz="2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3" name="文本占位符 2"/>
          <p:cNvSpPr>
            <a:spLocks noGrp="1"/>
          </p:cNvSpPr>
          <p:nvPr>
            <p:ph type="body" sz="quarter" idx="10"/>
          </p:nvPr>
        </p:nvSpPr>
        <p:spPr/>
        <p:txBody>
          <a:bodyPr/>
          <a:lstStyle/>
          <a:p>
            <a:fld id="{D50D6E5B-1F0C-496F-9D2D-9C4C9AA8F7C2}" type="slidenum">
              <a:rPr lang="zh-CN" altLang="en-US" smtClean="0"/>
            </a:fld>
            <a:endParaRPr lang="zh-CN" altLang="en-US" dirty="0"/>
          </a:p>
        </p:txBody>
      </p:sp>
    </p:spTree>
    <p:custDataLst>
      <p:tags r:id="rId2"/>
    </p:custData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14" presetClass="entr" presetSubtype="1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4.2 final</a:t>
            </a:r>
            <a:r>
              <a:rPr lang="zh-CN" altLang="en-US" sz="3200" b="1" dirty="0">
                <a:solidFill>
                  <a:srgbClr val="1353A2"/>
                </a:solidFill>
                <a:latin typeface="微软雅黑" panose="020B0503020204020204" pitchFamily="34" charset="-122"/>
                <a:ea typeface="微软雅黑" panose="020B0503020204020204" pitchFamily="34" charset="-122"/>
              </a:rPr>
              <a:t>关键字</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371600" y="1849120"/>
            <a:ext cx="10292080" cy="30886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final</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的英文意思是“最终”。在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中，可以使用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final</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关键字声明类、属性、方法，在声明时需要注意以下几点：</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final</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修饰的类不能有子类。</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final</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修饰的方法不能被子类重写。</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final</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修饰的变量（成员变量和局部变量）是常量，常量不可修改。</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85F8535F-FF51-41A5-95FC-343979E77603}"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4.2.1 final</a:t>
            </a:r>
            <a:r>
              <a:rPr lang="zh-CN" altLang="en-US" sz="3200" b="1" dirty="0">
                <a:solidFill>
                  <a:srgbClr val="1353A2"/>
                </a:solidFill>
                <a:latin typeface="微软雅黑" panose="020B0503020204020204" pitchFamily="34" charset="-122"/>
                <a:ea typeface="微软雅黑" panose="020B0503020204020204" pitchFamily="34" charset="-122"/>
              </a:rPr>
              <a:t>关键字修饰类</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036320" y="1188720"/>
            <a:ext cx="10403840" cy="6756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中的类被</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final</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关键字修饰后，该类将不可以被继承，</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即</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不能够派生子类。</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 name="组合 2"/>
          <p:cNvGrpSpPr/>
          <p:nvPr/>
        </p:nvGrpSpPr>
        <p:grpSpPr>
          <a:xfrm>
            <a:off x="2760979" y="1813560"/>
            <a:ext cx="7747002" cy="4577080"/>
            <a:chOff x="2240278" y="1813560"/>
            <a:chExt cx="7747002" cy="4577080"/>
          </a:xfrm>
        </p:grpSpPr>
        <p:pic>
          <p:nvPicPr>
            <p:cNvPr id="430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40278" y="1813560"/>
              <a:ext cx="7645402" cy="4577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p:cNvSpPr txBox="1"/>
            <p:nvPr/>
          </p:nvSpPr>
          <p:spPr>
            <a:xfrm>
              <a:off x="2773680" y="1833880"/>
              <a:ext cx="7213600" cy="44907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使用</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final</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关键字修饰</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4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2 final </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class Animal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方法体为空</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5 // Dog</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类继承</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6 class Dog extends Animal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7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方法体为空</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8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9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定义测试类</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 public class Example07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11	public static void main(String[]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12		Dog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Dog();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类的实例对象</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13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14 }</a:t>
              </a:r>
              <a:endPar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E26A0BC8-DD6E-4D11-90F4-D21281F81798}"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4.2.1 final</a:t>
            </a:r>
            <a:r>
              <a:rPr lang="zh-CN" altLang="en-US" sz="3200" b="1" dirty="0">
                <a:solidFill>
                  <a:srgbClr val="1353A2"/>
                </a:solidFill>
                <a:latin typeface="微软雅黑" panose="020B0503020204020204" pitchFamily="34" charset="-122"/>
                <a:ea typeface="微软雅黑" panose="020B0503020204020204" pitchFamily="34" charset="-122"/>
              </a:rPr>
              <a:t>关键字修饰类</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188720" y="1391920"/>
            <a:ext cx="10403840" cy="8940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程序编译时报错，如下图。</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8" name="图片 7"/>
          <p:cNvPicPr/>
          <p:nvPr/>
        </p:nvPicPr>
        <p:blipFill>
          <a:blip r:embed="rId1"/>
          <a:stretch>
            <a:fillRect/>
          </a:stretch>
        </p:blipFill>
        <p:spPr>
          <a:xfrm>
            <a:off x="2610084" y="2640012"/>
            <a:ext cx="8004016" cy="2287588"/>
          </a:xfrm>
          <a:prstGeom prst="rect">
            <a:avLst/>
          </a:prstGeom>
        </p:spPr>
      </p:pic>
      <p:sp>
        <p:nvSpPr>
          <p:cNvPr id="3" name="文本占位符 2"/>
          <p:cNvSpPr>
            <a:spLocks noGrp="1"/>
          </p:cNvSpPr>
          <p:nvPr>
            <p:ph type="body" sz="quarter" idx="10"/>
          </p:nvPr>
        </p:nvSpPr>
        <p:spPr/>
        <p:txBody>
          <a:bodyPr/>
          <a:lstStyle/>
          <a:p>
            <a:fld id="{1FE2A38B-79D9-4762-A0DD-80A023AE1C45}"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4.2.2 final</a:t>
            </a:r>
            <a:r>
              <a:rPr lang="zh-CN" altLang="en-US" sz="3200" b="1" dirty="0">
                <a:solidFill>
                  <a:srgbClr val="1353A2"/>
                </a:solidFill>
                <a:latin typeface="微软雅黑" panose="020B0503020204020204" pitchFamily="34" charset="-122"/>
                <a:ea typeface="微软雅黑" panose="020B0503020204020204" pitchFamily="34" charset="-122"/>
              </a:rPr>
              <a:t>关键字修饰方法</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778000" y="2082800"/>
            <a:ext cx="3675379" cy="26924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当一个类的方法被</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final</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关键字修饰后，这个类的子类将不能重写该方法。接下来通过一个案例验证</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 name="组合 2"/>
          <p:cNvGrpSpPr/>
          <p:nvPr/>
        </p:nvGrpSpPr>
        <p:grpSpPr>
          <a:xfrm>
            <a:off x="6238240" y="1422399"/>
            <a:ext cx="4480560" cy="4693921"/>
            <a:chOff x="5994400" y="1371600"/>
            <a:chExt cx="4480560" cy="4693921"/>
          </a:xfrm>
        </p:grpSpPr>
        <p:pic>
          <p:nvPicPr>
            <p:cNvPr id="4403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994400" y="1371600"/>
              <a:ext cx="4480560" cy="4693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6319520" y="1473200"/>
              <a:ext cx="4084320" cy="45110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class Animal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使用</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final</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关键字修饰</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shout()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	public final void shout()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5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6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7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类继承</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8 class Dog extends Animal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9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重写</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shout()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	public void shout()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11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12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900EFB1B-77B7-4BCC-A545-6AFB94E49682}" type="slidenum">
              <a:rPr lang="zh-CN" altLang="en-US" smtClean="0"/>
            </a:fld>
            <a:endParaRPr lang="zh-CN" altLang="en-US" dirty="0"/>
          </a:p>
        </p:txBody>
      </p:sp>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4.2.2 final</a:t>
            </a:r>
            <a:r>
              <a:rPr lang="zh-CN" altLang="en-US" sz="3200" b="1" dirty="0">
                <a:solidFill>
                  <a:srgbClr val="1353A2"/>
                </a:solidFill>
                <a:latin typeface="微软雅黑" panose="020B0503020204020204" pitchFamily="34" charset="-122"/>
                <a:ea typeface="微软雅黑" panose="020B0503020204020204" pitchFamily="34" charset="-122"/>
              </a:rPr>
              <a:t>关键字修饰方法</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743200" y="2133600"/>
            <a:ext cx="7426960" cy="2783839"/>
            <a:chOff x="2672080" y="2164080"/>
            <a:chExt cx="7426960" cy="2783839"/>
          </a:xfrm>
        </p:grpSpPr>
        <p:pic>
          <p:nvPicPr>
            <p:cNvPr id="4505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72080" y="2164080"/>
              <a:ext cx="7426960" cy="2783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3241040" y="2357120"/>
              <a:ext cx="6573520" cy="2336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13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定义测试类</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14 public class Example08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15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16		Dog dog=new Dog();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类的实例对象</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17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18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C8918A70-A979-42FF-B223-0F736DEA55B6}" type="slidenum">
              <a:rPr lang="zh-CN" altLang="en-US" smtClean="0"/>
            </a:fld>
            <a:endParaRPr lang="zh-CN" altLang="en-US" dirty="0"/>
          </a:p>
        </p:txBody>
      </p:sp>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4.2.2 final</a:t>
            </a:r>
            <a:r>
              <a:rPr lang="zh-CN" altLang="en-US" sz="3200" b="1" dirty="0">
                <a:solidFill>
                  <a:srgbClr val="1353A2"/>
                </a:solidFill>
                <a:latin typeface="微软雅黑" panose="020B0503020204020204" pitchFamily="34" charset="-122"/>
                <a:ea typeface="微软雅黑" panose="020B0503020204020204" pitchFamily="34" charset="-122"/>
              </a:rPr>
              <a:t>关键字修饰方法</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777999" y="1452880"/>
            <a:ext cx="3675379" cy="8229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程序运行结果如下图。</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8" name="图片 7"/>
          <p:cNvPicPr/>
          <p:nvPr/>
        </p:nvPicPr>
        <p:blipFill>
          <a:blip r:embed="rId1"/>
          <a:stretch>
            <a:fillRect/>
          </a:stretch>
        </p:blipFill>
        <p:spPr>
          <a:xfrm>
            <a:off x="3169920" y="2592704"/>
            <a:ext cx="6965633" cy="2212975"/>
          </a:xfrm>
          <a:prstGeom prst="rect">
            <a:avLst/>
          </a:prstGeom>
        </p:spPr>
      </p:pic>
      <p:sp>
        <p:nvSpPr>
          <p:cNvPr id="3" name="文本占位符 2"/>
          <p:cNvSpPr>
            <a:spLocks noGrp="1"/>
          </p:cNvSpPr>
          <p:nvPr>
            <p:ph type="body" sz="quarter" idx="10"/>
          </p:nvPr>
        </p:nvSpPr>
        <p:spPr/>
        <p:txBody>
          <a:bodyPr/>
          <a:lstStyle/>
          <a:p>
            <a:fld id="{F12F0F4B-C77E-44B0-9C46-8A2B6679D8E5}" type="slidenum">
              <a:rPr lang="zh-CN" altLang="en-US" smtClean="0"/>
            </a:fld>
            <a:endParaRPr lang="zh-CN" altLang="en-US" dirty="0"/>
          </a:p>
        </p:txBody>
      </p:sp>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4.2.3 final</a:t>
            </a:r>
            <a:r>
              <a:rPr lang="zh-CN" altLang="en-US" sz="3200" b="1" dirty="0">
                <a:solidFill>
                  <a:srgbClr val="1353A2"/>
                </a:solidFill>
                <a:latin typeface="微软雅黑" panose="020B0503020204020204" pitchFamily="34" charset="-122"/>
                <a:ea typeface="微软雅黑" panose="020B0503020204020204" pitchFamily="34" charset="-122"/>
              </a:rPr>
              <a:t>关键字修饰变量</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534160" y="1239520"/>
            <a:ext cx="9977120" cy="19304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中被</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final</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修饰的变量是为常量，常量只能在声明时被赋值一次，在后面的程序中，其值不能被改变。如果再次对该常量赋值，则程序会在编译时报错。接下来通过一个案例进行验证</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 name="组合 2"/>
          <p:cNvGrpSpPr/>
          <p:nvPr/>
        </p:nvGrpSpPr>
        <p:grpSpPr>
          <a:xfrm>
            <a:off x="2661920" y="3108960"/>
            <a:ext cx="7508240" cy="2834639"/>
            <a:chOff x="2397760" y="3058160"/>
            <a:chExt cx="7508240" cy="2834639"/>
          </a:xfrm>
        </p:grpSpPr>
        <p:pic>
          <p:nvPicPr>
            <p:cNvPr id="4608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97760" y="3058160"/>
              <a:ext cx="7508240" cy="2834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p:cNvSpPr txBox="1"/>
            <p:nvPr/>
          </p:nvSpPr>
          <p:spPr>
            <a:xfrm>
              <a:off x="3230880" y="3180080"/>
              <a:ext cx="6431280" cy="26111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public class Example09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public static void main(String[]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final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AGE = 18;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第一次可以赋值</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		AGE = 20;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再次赋值会报错</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5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6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7776E845-1D9D-4DA5-8083-76577FDE8CE5}"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500" fill="hold"/>
                                        <p:tgtEl>
                                          <p:spTgt spid="3"/>
                                        </p:tgtEl>
                                        <p:attrNameLst>
                                          <p:attrName>ppt_w</p:attrName>
                                        </p:attrNameLst>
                                      </p:cBhvr>
                                      <p:tavLst>
                                        <p:tav tm="0">
                                          <p:val>
                                            <p:fltVal val="0"/>
                                          </p:val>
                                        </p:tav>
                                        <p:tav tm="100000">
                                          <p:val>
                                            <p:strVal val="#ppt_w"/>
                                          </p:val>
                                        </p:tav>
                                      </p:tavLst>
                                    </p:anim>
                                    <p:anim calcmode="lin" valueType="num">
                                      <p:cBhvr>
                                        <p:cTn id="12" dur="500" fill="hold"/>
                                        <p:tgtEl>
                                          <p:spTgt spid="3"/>
                                        </p:tgtEl>
                                        <p:attrNameLst>
                                          <p:attrName>ppt_h</p:attrName>
                                        </p:attrNameLst>
                                      </p:cBhvr>
                                      <p:tavLst>
                                        <p:tav tm="0">
                                          <p:val>
                                            <p:fltVal val="0"/>
                                          </p:val>
                                        </p:tav>
                                        <p:tav tm="100000">
                                          <p:val>
                                            <p:strVal val="#ppt_h"/>
                                          </p:val>
                                        </p:tav>
                                      </p:tavLst>
                                    </p:anim>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4.2.3 final</a:t>
            </a:r>
            <a:r>
              <a:rPr lang="zh-CN" altLang="en-US" sz="3200" b="1" dirty="0">
                <a:solidFill>
                  <a:srgbClr val="1353A2"/>
                </a:solidFill>
                <a:latin typeface="微软雅黑" panose="020B0503020204020204" pitchFamily="34" charset="-122"/>
                <a:ea typeface="微软雅黑" panose="020B0503020204020204" pitchFamily="34" charset="-122"/>
              </a:rPr>
              <a:t>关键字修饰变量</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493520" y="1371600"/>
            <a:ext cx="9977120" cy="762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编译上述程序，程序报错，如下图。</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8" name="图片 7"/>
          <p:cNvPicPr/>
          <p:nvPr/>
        </p:nvPicPr>
        <p:blipFill>
          <a:blip r:embed="rId1"/>
          <a:stretch>
            <a:fillRect/>
          </a:stretch>
        </p:blipFill>
        <p:spPr>
          <a:xfrm>
            <a:off x="2560320" y="2447605"/>
            <a:ext cx="8178800" cy="2520633"/>
          </a:xfrm>
          <a:prstGeom prst="rect">
            <a:avLst/>
          </a:prstGeom>
        </p:spPr>
      </p:pic>
      <p:sp>
        <p:nvSpPr>
          <p:cNvPr id="3" name="文本占位符 2"/>
          <p:cNvSpPr>
            <a:spLocks noGrp="1"/>
          </p:cNvSpPr>
          <p:nvPr>
            <p:ph type="body" sz="quarter" idx="10"/>
          </p:nvPr>
        </p:nvSpPr>
        <p:spPr/>
        <p:txBody>
          <a:bodyPr/>
          <a:lstStyle/>
          <a:p>
            <a:fld id="{F97B360B-8CFB-46CD-B118-D158C3030309}"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4.2.3 final</a:t>
            </a:r>
            <a:r>
              <a:rPr lang="zh-CN" altLang="en-US" sz="3200" b="1" dirty="0">
                <a:solidFill>
                  <a:srgbClr val="1353A2"/>
                </a:solidFill>
                <a:latin typeface="微软雅黑" panose="020B0503020204020204" pitchFamily="34" charset="-122"/>
                <a:ea typeface="微软雅黑" panose="020B0503020204020204" pitchFamily="34" charset="-122"/>
              </a:rPr>
              <a:t>关键字修饰变量</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4650739" y="1819879"/>
            <a:ext cx="6657341" cy="3048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在使用</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final</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声明变量时，要求全部的字母大写。如果一个程序中的变量使用</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public static final</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声明，则此变量将成为全局变量，如下面代码所示。</a:t>
            </a:r>
            <a:endPar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public static final String NAME = "</a:t>
            </a:r>
            <a:r>
              <a:rPr lang="zh-CN" altLang="zh-CN" sz="24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哈士奇</a:t>
            </a:r>
            <a:r>
              <a:rPr lang="en-US" altLang="zh-CN" sz="24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a:t>
            </a:r>
            <a:endParaRPr lang="zh-CN" altLang="zh-CN" sz="2400" dirty="0">
              <a:solidFill>
                <a:srgbClr val="00B0F0"/>
              </a:solidFill>
              <a:latin typeface="楷体" panose="02010609060101010101" pitchFamily="49" charset="-122"/>
              <a:ea typeface="楷体" panose="02010609060101010101" pitchFamily="49" charset="-122"/>
              <a:cs typeface="Times New Roman" panose="02020603050405020304" pitchFamily="18" charset="0"/>
            </a:endParaRPr>
          </a:p>
        </p:txBody>
      </p:sp>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61539" y="1452324"/>
            <a:ext cx="2489200" cy="3983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E230E44B-A4CE-441C-883B-9102894D18E9}"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42"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1000"/>
                                        <p:tgtEl>
                                          <p:spTgt spid="6"/>
                                        </p:tgtEl>
                                      </p:cBhvr>
                                    </p:animEffect>
                                    <p:anim calcmode="lin" valueType="num">
                                      <p:cBhvr>
                                        <p:cTn id="11" dur="1000" fill="hold"/>
                                        <p:tgtEl>
                                          <p:spTgt spid="6"/>
                                        </p:tgtEl>
                                        <p:attrNameLst>
                                          <p:attrName>ppt_x</p:attrName>
                                        </p:attrNameLst>
                                      </p:cBhvr>
                                      <p:tavLst>
                                        <p:tav tm="0">
                                          <p:val>
                                            <p:strVal val="#ppt_x"/>
                                          </p:val>
                                        </p:tav>
                                        <p:tav tm="100000">
                                          <p:val>
                                            <p:strVal val="#ppt_x"/>
                                          </p:val>
                                        </p:tav>
                                      </p:tavLst>
                                    </p:anim>
                                    <p:anim calcmode="lin" valueType="num">
                                      <p:cBhvr>
                                        <p:cTn id="1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4.3.1 </a:t>
            </a:r>
            <a:r>
              <a:rPr lang="zh-CN" altLang="en-US" sz="3200" b="1" dirty="0">
                <a:solidFill>
                  <a:srgbClr val="1353A2"/>
                </a:solidFill>
                <a:latin typeface="微软雅黑" panose="020B0503020204020204" pitchFamily="34" charset="-122"/>
                <a:ea typeface="微软雅黑" panose="020B0503020204020204" pitchFamily="34" charset="-122"/>
              </a:rPr>
              <a:t>抽象类</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849120" y="1564640"/>
            <a:ext cx="5862320" cy="4064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当定义一个类时，常常需要定义一些成员方法描述类的行为特征，但有时这些方法的实现方式是无法确定的。例如，前面在定义</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类时，</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shout()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方法用于描述动物的叫声，但是针对不同的动物，叫声也是不同的，因此在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shout()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方法中无法准确描述动物的叫声。</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82618" y="1419225"/>
            <a:ext cx="2308843" cy="4209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0AD62C01-8EF9-477F-9197-4D6647BF090B}"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42"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1000"/>
                                        <p:tgtEl>
                                          <p:spTgt spid="6"/>
                                        </p:tgtEl>
                                      </p:cBhvr>
                                    </p:animEffect>
                                    <p:anim calcmode="lin" valueType="num">
                                      <p:cBhvr>
                                        <p:cTn id="11" dur="1000" fill="hold"/>
                                        <p:tgtEl>
                                          <p:spTgt spid="6"/>
                                        </p:tgtEl>
                                        <p:attrNameLst>
                                          <p:attrName>ppt_x</p:attrName>
                                        </p:attrNameLst>
                                      </p:cBhvr>
                                      <p:tavLst>
                                        <p:tav tm="0">
                                          <p:val>
                                            <p:strVal val="#ppt_x"/>
                                          </p:val>
                                        </p:tav>
                                        <p:tav tm="100000">
                                          <p:val>
                                            <p:strVal val="#ppt_x"/>
                                          </p:val>
                                        </p:tav>
                                      </p:tavLst>
                                    </p:anim>
                                    <p:anim calcmode="lin" valueType="num">
                                      <p:cBhvr>
                                        <p:cTn id="1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4.3.1 </a:t>
            </a:r>
            <a:r>
              <a:rPr lang="zh-CN" altLang="en-US" sz="3200" b="1" dirty="0">
                <a:solidFill>
                  <a:srgbClr val="1353A2"/>
                </a:solidFill>
                <a:latin typeface="微软雅黑" panose="020B0503020204020204" pitchFamily="34" charset="-122"/>
                <a:ea typeface="微软雅黑" panose="020B0503020204020204" pitchFamily="34" charset="-122"/>
              </a:rPr>
              <a:t>抽象类</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727200" y="1574800"/>
            <a:ext cx="9621520" cy="36779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针对上面描述的情况，</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提供了抽象方法来满足这种需求。抽象方法是使用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abstract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关键字修饰的成员方法，抽象方法在定义时不需要实现方法体。抽象方法的定义格式如下：</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abstract void </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方法名称</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参数</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当一个类包含了抽象方法，该类必须是抽象类。抽象类和抽象方法一样，必须使用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abstract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关键字进行修饰。</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34D75A93-E1C3-45A5-A71F-876A7E671853}"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4.3.1 </a:t>
            </a:r>
            <a:r>
              <a:rPr lang="zh-CN" altLang="en-US" sz="3200" b="1" dirty="0">
                <a:solidFill>
                  <a:srgbClr val="1353A2"/>
                </a:solidFill>
                <a:latin typeface="微软雅黑" panose="020B0503020204020204" pitchFamily="34" charset="-122"/>
                <a:ea typeface="微软雅黑" panose="020B0503020204020204" pitchFamily="34" charset="-122"/>
              </a:rPr>
              <a:t>抽象类</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802889" y="1442720"/>
            <a:ext cx="10983950" cy="44805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抽象类的定义格式如下：</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abstract class </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抽象类名称</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dirty="0">
                <a:latin typeface="微软雅黑" panose="020B0503020204020204" pitchFamily="34" charset="-122"/>
                <a:ea typeface="微软雅黑" panose="020B0503020204020204" pitchFamily="34" charset="-122"/>
                <a:cs typeface="Times New Roman" panose="02020603050405020304" pitchFamily="18" charset="0"/>
              </a:rPr>
              <a:t>访问权限 返回值类型 方法名称</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latin typeface="微软雅黑" panose="020B0503020204020204" pitchFamily="34" charset="-122"/>
                <a:ea typeface="微软雅黑" panose="020B0503020204020204" pitchFamily="34" charset="-122"/>
                <a:cs typeface="Times New Roman" panose="02020603050405020304" pitchFamily="18" charset="0"/>
              </a:rPr>
              <a:t>参数</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return [</a:t>
            </a:r>
            <a:r>
              <a:rPr lang="zh-CN" altLang="zh-CN" sz="2400" dirty="0">
                <a:latin typeface="微软雅黑" panose="020B0503020204020204" pitchFamily="34" charset="-122"/>
                <a:ea typeface="微软雅黑" panose="020B0503020204020204" pitchFamily="34" charset="-122"/>
                <a:cs typeface="Times New Roman" panose="02020603050405020304" pitchFamily="18" charset="0"/>
              </a:rPr>
              <a:t>返回值</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访问权限</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abstract </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返回值类型 抽象方法名称</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参数</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latin typeface="微软雅黑" panose="020B0503020204020204" pitchFamily="34" charset="-122"/>
                <a:ea typeface="微软雅黑" panose="020B0503020204020204" pitchFamily="34" charset="-122"/>
                <a:cs typeface="Times New Roman" panose="02020603050405020304" pitchFamily="18" charset="0"/>
              </a:rPr>
              <a:t>抽象方法，无方法体</a:t>
            </a:r>
            <a:endParaRPr lang="zh-CN"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ADE6E32F-ADE1-44C7-8D88-2BB05C3020A6}"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4.3.1 </a:t>
            </a:r>
            <a:r>
              <a:rPr lang="zh-CN" altLang="en-US" sz="3200" b="1" dirty="0">
                <a:solidFill>
                  <a:srgbClr val="1353A2"/>
                </a:solidFill>
                <a:latin typeface="微软雅黑" panose="020B0503020204020204" pitchFamily="34" charset="-122"/>
                <a:ea typeface="微软雅黑" panose="020B0503020204020204" pitchFamily="34" charset="-122"/>
              </a:rPr>
              <a:t>抽象类</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727200" y="1605280"/>
            <a:ext cx="9621520" cy="3606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抽象类的定义规则如下：</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包含一个以上抽象方法的类必须是抽象类。</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抽象类和抽象方法都要使用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abstract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关键字声明。</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抽象方法只需声明而不需要实现。</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如果一个类继承了抽象类，那么该子类必须实现抽象类中的全部抽象方法。</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C808E3E5-103F-4040-B61F-9FDB73C51B72}"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4.3.1 </a:t>
            </a:r>
            <a:r>
              <a:rPr lang="zh-CN" altLang="en-US" sz="3200" b="1" dirty="0">
                <a:solidFill>
                  <a:srgbClr val="1353A2"/>
                </a:solidFill>
                <a:latin typeface="微软雅黑" panose="020B0503020204020204" pitchFamily="34" charset="-122"/>
                <a:ea typeface="微软雅黑" panose="020B0503020204020204" pitchFamily="34" charset="-122"/>
              </a:rPr>
              <a:t>抽象类</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544320" y="1209040"/>
            <a:ext cx="9621520" cy="7721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接下来通过一个案例学习抽象类的使用</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 name="组合 2"/>
          <p:cNvGrpSpPr/>
          <p:nvPr/>
        </p:nvGrpSpPr>
        <p:grpSpPr>
          <a:xfrm>
            <a:off x="3281680" y="1869440"/>
            <a:ext cx="5994400" cy="4439920"/>
            <a:chOff x="2915920" y="1869440"/>
            <a:chExt cx="5994400" cy="4439920"/>
          </a:xfrm>
        </p:grpSpPr>
        <p:pic>
          <p:nvPicPr>
            <p:cNvPr id="4710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15920" y="1869440"/>
              <a:ext cx="5994400" cy="4439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p:cNvSpPr txBox="1"/>
            <p:nvPr/>
          </p:nvSpPr>
          <p:spPr>
            <a:xfrm>
              <a:off x="3667760" y="1869440"/>
              <a:ext cx="4866640" cy="44399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定义抽象类</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abstract class Animal {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定义抽象方法</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shout()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	abstract void shout();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5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6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类继承抽象类</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7 class Dog extends Animal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8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实现抽象方法</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shout()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9	void shout()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汪汪</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11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12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7C9F2D6E-5837-4B31-9BAF-5A595ABD74C5}"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194560" y="1879600"/>
            <a:ext cx="8717280" cy="3108960"/>
            <a:chOff x="1838960" y="1889760"/>
            <a:chExt cx="8717280" cy="3108960"/>
          </a:xfrm>
        </p:grpSpPr>
        <p:pic>
          <p:nvPicPr>
            <p:cNvPr id="4813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38960" y="1889760"/>
              <a:ext cx="8717280" cy="3108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p:cNvSpPr txBox="1"/>
            <p:nvPr/>
          </p:nvSpPr>
          <p:spPr>
            <a:xfrm>
              <a:off x="2448560" y="1960880"/>
              <a:ext cx="7945120" cy="29565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13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定义测试类</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14 public class Example10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15	public static void main(String[]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16		Dog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Dog();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类的实例对象</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17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dog.shout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调用</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对象的</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shout()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18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19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4.3.1 </a:t>
            </a:r>
            <a:r>
              <a:rPr lang="zh-CN" altLang="en-US" sz="3200" b="1" dirty="0">
                <a:solidFill>
                  <a:srgbClr val="1353A2"/>
                </a:solidFill>
                <a:latin typeface="微软雅黑" panose="020B0503020204020204" pitchFamily="34" charset="-122"/>
                <a:ea typeface="微软雅黑" panose="020B0503020204020204" pitchFamily="34" charset="-122"/>
              </a:rPr>
              <a:t>抽象类</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4" name="文本占位符 3"/>
          <p:cNvSpPr>
            <a:spLocks noGrp="1"/>
          </p:cNvSpPr>
          <p:nvPr>
            <p:ph type="body" sz="quarter" idx="10"/>
          </p:nvPr>
        </p:nvSpPr>
        <p:spPr/>
        <p:txBody>
          <a:bodyPr/>
          <a:lstStyle/>
          <a:p>
            <a:fld id="{11D4E96C-F6A1-468A-98B4-BDDD7D10CA2B}"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4.3.1 </a:t>
            </a:r>
            <a:r>
              <a:rPr lang="zh-CN" altLang="en-US" sz="3200" b="1" dirty="0">
                <a:solidFill>
                  <a:srgbClr val="1353A2"/>
                </a:solidFill>
                <a:latin typeface="微软雅黑" panose="020B0503020204020204" pitchFamily="34" charset="-122"/>
                <a:ea typeface="微软雅黑" panose="020B0503020204020204" pitchFamily="34" charset="-122"/>
              </a:rPr>
              <a:t>抽象类</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6096000" y="1939906"/>
            <a:ext cx="4592320" cy="29667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abstract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关键字修饰的抽象方法不能使用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private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修饰，因为抽象方法必须被子类实现，如果使用了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private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声明，则子类无法实现该方法。</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5" name="组合 4"/>
          <p:cNvGrpSpPr/>
          <p:nvPr/>
        </p:nvGrpSpPr>
        <p:grpSpPr>
          <a:xfrm>
            <a:off x="2557779" y="1717634"/>
            <a:ext cx="2834640" cy="3676730"/>
            <a:chOff x="2311398" y="1676344"/>
            <a:chExt cx="2834640" cy="3676730"/>
          </a:xfrm>
        </p:grpSpPr>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1398" y="1676344"/>
              <a:ext cx="2834640" cy="367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2941318" y="2734203"/>
              <a:ext cx="1762762" cy="64777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注      意</a:t>
              </a:r>
              <a:endParaRPr lang="en-US" altLang="zh-CN" sz="2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3" name="文本占位符 2"/>
          <p:cNvSpPr>
            <a:spLocks noGrp="1"/>
          </p:cNvSpPr>
          <p:nvPr>
            <p:ph type="body" sz="quarter" idx="10"/>
          </p:nvPr>
        </p:nvSpPr>
        <p:spPr/>
        <p:txBody>
          <a:bodyPr/>
          <a:lstStyle/>
          <a:p>
            <a:fld id="{4A837F83-16C4-4FAA-B107-679ABDB4D24E}"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14" presetClass="entr" presetSubtype="1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4.3.2 </a:t>
            </a:r>
            <a:r>
              <a:rPr lang="zh-CN" altLang="en-US" sz="3200" b="1" dirty="0">
                <a:solidFill>
                  <a:srgbClr val="1353A2"/>
                </a:solidFill>
                <a:latin typeface="微软雅黑" panose="020B0503020204020204" pitchFamily="34" charset="-122"/>
                <a:ea typeface="微软雅黑" panose="020B0503020204020204" pitchFamily="34" charset="-122"/>
              </a:rPr>
              <a:t>接口</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483360" y="1483360"/>
            <a:ext cx="9784080" cy="40944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如果一个抽象类的所有方法都是抽象的，则可以将这个类定义接口。接口是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中最重要的概念之一，接口是一种特殊的类，由全局常量和公共的抽象方法组成，不能包含普通方法。</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JDK8</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之前，接口是由</a:t>
            </a:r>
            <a:r>
              <a:rPr lang="zh-CN" altLang="zh-CN" sz="24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全局常量和抽象方法</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组成的，且接口中的抽象方法不允许有方法体。</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JDK 8</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对接口进行了重新定义，接口中除了抽象方法外，还可以有</a:t>
            </a:r>
            <a:r>
              <a:rPr lang="zh-CN" altLang="zh-CN" sz="24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默认方法和静态方法</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也叫类方法</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，默认方法使用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default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修饰，静态方法使用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static</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修饰，且这两种方法都允许有方法体。</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608C2C44-3562-43A9-8C87-5012521AE7F1}" type="slidenum">
              <a:rPr lang="zh-CN" altLang="en-US" smtClean="0"/>
            </a:fld>
            <a:endParaRPr lang="zh-CN" altLang="en-US" dirty="0"/>
          </a:p>
        </p:txBody>
      </p:sp>
    </p:spTree>
    <p:custDataLst>
      <p:tags r:id="rId1"/>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4.3.2 </a:t>
            </a:r>
            <a:r>
              <a:rPr lang="zh-CN" altLang="en-US" sz="3200" b="1" dirty="0">
                <a:solidFill>
                  <a:srgbClr val="1353A2"/>
                </a:solidFill>
                <a:latin typeface="微软雅黑" panose="020B0503020204020204" pitchFamily="34" charset="-122"/>
                <a:ea typeface="微软雅黑" panose="020B0503020204020204" pitchFamily="34" charset="-122"/>
              </a:rPr>
              <a:t>接口</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2392555" y="1273221"/>
            <a:ext cx="7933473" cy="48463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interface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关键字声明，语法格式如下：</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public interface </a:t>
            </a:r>
            <a:r>
              <a:rPr lang="zh-CN"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接口名 </a:t>
            </a:r>
            <a:r>
              <a:rPr lang="en-US"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extends </a:t>
            </a:r>
            <a:r>
              <a:rPr lang="zh-CN"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接口</a:t>
            </a:r>
            <a:r>
              <a:rPr lang="en-US"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接口</a:t>
            </a:r>
            <a:r>
              <a:rPr lang="en-US"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 {</a:t>
            </a:r>
            <a:endParaRPr lang="zh-CN"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public static final </a:t>
            </a:r>
            <a:r>
              <a:rPr lang="zh-CN"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数据类型 常量名</a:t>
            </a:r>
            <a:r>
              <a:rPr lang="en-US"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常量值</a:t>
            </a:r>
            <a:r>
              <a:rPr lang="en-US"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public abstract </a:t>
            </a:r>
            <a:r>
              <a:rPr lang="zh-CN"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返回值类型 抽象方法名</a:t>
            </a:r>
            <a:r>
              <a:rPr lang="en-US"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参数列表</a:t>
            </a:r>
            <a:r>
              <a:rPr lang="en-US"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public default </a:t>
            </a:r>
            <a:r>
              <a:rPr lang="zh-CN"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返回值类型 方法名</a:t>
            </a:r>
            <a:r>
              <a:rPr lang="en-US"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参数列表</a:t>
            </a:r>
            <a:r>
              <a:rPr lang="en-US"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800" dirty="0">
                <a:latin typeface="微软雅黑" panose="020B0503020204020204" pitchFamily="34" charset="-122"/>
                <a:ea typeface="微软雅黑" panose="020B0503020204020204" pitchFamily="34" charset="-122"/>
                <a:cs typeface="Times New Roman" panose="02020603050405020304" pitchFamily="18" charset="0"/>
              </a:rPr>
              <a:t>默认方法的方法体</a:t>
            </a:r>
            <a:endParaRPr lang="zh-CN" altLang="zh-CN" sz="18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public static </a:t>
            </a:r>
            <a:r>
              <a:rPr lang="zh-CN"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返回值类型</a:t>
            </a:r>
            <a:r>
              <a:rPr lang="en-US"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方法名</a:t>
            </a:r>
            <a:r>
              <a:rPr lang="en-US"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参数列表</a:t>
            </a:r>
            <a:r>
              <a:rPr lang="en-US"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800" dirty="0">
                <a:latin typeface="微软雅黑" panose="020B0503020204020204" pitchFamily="34" charset="-122"/>
                <a:ea typeface="微软雅黑" panose="020B0503020204020204" pitchFamily="34" charset="-122"/>
                <a:cs typeface="Times New Roman" panose="02020603050405020304" pitchFamily="18" charset="0"/>
              </a:rPr>
              <a:t>类方法的方法体</a:t>
            </a:r>
            <a:endParaRPr lang="zh-CN" altLang="zh-CN" sz="18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CD60C6C5-7044-4E69-8E29-E92414842903}" type="slidenum">
              <a:rPr lang="zh-CN" altLang="en-US" smtClean="0"/>
            </a:fld>
            <a:endParaRPr lang="zh-CN" altLang="en-US" dirty="0"/>
          </a:p>
        </p:txBody>
      </p:sp>
    </p:spTree>
    <p:custDataLst>
      <p:tags r:id="rId1"/>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4.3.2 </a:t>
            </a:r>
            <a:r>
              <a:rPr lang="zh-CN" altLang="en-US" sz="3200" b="1" dirty="0">
                <a:solidFill>
                  <a:srgbClr val="1353A2"/>
                </a:solidFill>
                <a:latin typeface="微软雅黑" panose="020B0503020204020204" pitchFamily="34" charset="-122"/>
                <a:ea typeface="微软雅黑" panose="020B0503020204020204" pitchFamily="34" charset="-122"/>
              </a:rPr>
              <a:t>接口</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463040" y="1737360"/>
            <a:ext cx="9977120" cy="36372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在上述语法中，“</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extends </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”表示一个接口可以有多个父接口，父接口之间使用逗号分隔。</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使用接口的目的是为了克服单继承的限制，因为一个类只能有一个父类，而一个接口可以同时继承多个父接口。接口中的变量默认使用“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 static final</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”进行修饰，即全局常量。接口中定义的方法默认使用“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 abstract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”进行修饰，即抽象方法。如果接口声明为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，则接口中的变量和方法全部为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ADA60282-05F8-4697-A7F5-73F15DDC3B56}" type="slidenum">
              <a:rPr lang="zh-CN" altLang="en-US" smtClean="0"/>
            </a:fld>
            <a:endParaRPr lang="zh-CN" altLang="en-US" dirty="0"/>
          </a:p>
        </p:txBody>
      </p:sp>
    </p:spTree>
    <p:custDataLst>
      <p:tags r:id="rId1"/>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4.3.2 </a:t>
            </a:r>
            <a:r>
              <a:rPr lang="zh-CN" altLang="en-US" sz="3200" b="1" dirty="0">
                <a:solidFill>
                  <a:srgbClr val="1353A2"/>
                </a:solidFill>
                <a:latin typeface="微软雅黑" panose="020B0503020204020204" pitchFamily="34" charset="-122"/>
                <a:ea typeface="微软雅黑" panose="020B0503020204020204" pitchFamily="34" charset="-122"/>
              </a:rPr>
              <a:t>接口</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4337825" y="1483360"/>
            <a:ext cx="7031216" cy="44907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在很多的</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Java</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程序中，经常看到编写接口中的方法时省略了</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public </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，有很多读者认为它的访问权限是</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default</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，这实际上是错误的。不管写不写访问权限，</a:t>
            </a:r>
            <a:r>
              <a:rPr lang="zh-CN" altLang="zh-CN" sz="2400" b="1" dirty="0">
                <a:solidFill>
                  <a:srgbClr val="FF0000"/>
                </a:solidFill>
                <a:latin typeface="楷体" panose="02010609060101010101" pitchFamily="49" charset="-122"/>
                <a:ea typeface="楷体" panose="02010609060101010101" pitchFamily="49" charset="-122"/>
                <a:cs typeface="Times New Roman" panose="02020603050405020304" pitchFamily="18" charset="0"/>
              </a:rPr>
              <a:t>接口中的方法访问权限永远是</a:t>
            </a:r>
            <a:r>
              <a:rPr lang="en-US" altLang="zh-CN" sz="2400" b="1" dirty="0">
                <a:solidFill>
                  <a:srgbClr val="FF0000"/>
                </a:solidFill>
                <a:latin typeface="楷体" panose="02010609060101010101" pitchFamily="49" charset="-122"/>
                <a:ea typeface="楷体" panose="02010609060101010101" pitchFamily="49" charset="-122"/>
                <a:cs typeface="Times New Roman" panose="02020603050405020304" pitchFamily="18" charset="0"/>
              </a:rPr>
              <a:t>public</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。与此类似，在接口中定义常量时，可以省略前面的“</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public static final</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”，此时，接口会默认为常量添加“</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public static final</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t>
            </a:r>
            <a:endPar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p:txBody>
      </p:sp>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87262" y="1588174"/>
            <a:ext cx="2489200" cy="3983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09FEBAEE-79A1-4A3A-89E0-52FE52D64808}" type="slidenum">
              <a:rPr lang="zh-CN" altLang="en-US" smtClean="0"/>
            </a:fld>
            <a:endParaRPr lang="zh-CN" altLang="en-US" dirty="0"/>
          </a:p>
        </p:txBody>
      </p:sp>
    </p:spTree>
    <p:custDataLst>
      <p:tags r:id="rId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42"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1000"/>
                                        <p:tgtEl>
                                          <p:spTgt spid="5"/>
                                        </p:tgtEl>
                                      </p:cBhvr>
                                    </p:animEffect>
                                    <p:anim calcmode="lin" valueType="num">
                                      <p:cBhvr>
                                        <p:cTn id="11" dur="1000" fill="hold"/>
                                        <p:tgtEl>
                                          <p:spTgt spid="5"/>
                                        </p:tgtEl>
                                        <p:attrNameLst>
                                          <p:attrName>ppt_x</p:attrName>
                                        </p:attrNameLst>
                                      </p:cBhvr>
                                      <p:tavLst>
                                        <p:tav tm="0">
                                          <p:val>
                                            <p:strVal val="#ppt_x"/>
                                          </p:val>
                                        </p:tav>
                                        <p:tav tm="100000">
                                          <p:val>
                                            <p:strVal val="#ppt_x"/>
                                          </p:val>
                                        </p:tav>
                                      </p:tavLst>
                                    </p:anim>
                                    <p:anim calcmode="lin" valueType="num">
                                      <p:cBhvr>
                                        <p:cTn id="1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4.3.2 </a:t>
            </a:r>
            <a:r>
              <a:rPr lang="zh-CN" altLang="en-US" sz="3200" b="1" dirty="0">
                <a:solidFill>
                  <a:srgbClr val="1353A2"/>
                </a:solidFill>
                <a:latin typeface="微软雅黑" panose="020B0503020204020204" pitchFamily="34" charset="-122"/>
                <a:ea typeface="微软雅黑" panose="020B0503020204020204" pitchFamily="34" charset="-122"/>
              </a:rPr>
              <a:t>接口</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463040" y="1595120"/>
            <a:ext cx="9977120" cy="40030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与抽象类一样，接口的使用必须通过子类，子类通过</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implements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关键字实现接口，并且子类必须实现接口中的所有抽象方法。需要注意的是，一个类可以同时实现多个接口，多个接口之间需要使用英文逗号</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分隔。</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定义接口的实现类，语法格式如下：</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修饰符</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class </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类名</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implements </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接口</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接口</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A643F10D-7BFD-41DC-84A9-9519CD36B82B}" type="slidenum">
              <a:rPr lang="zh-CN" altLang="en-US" smtClean="0"/>
            </a:fld>
            <a:endParaRPr lang="zh-CN" altLang="en-US" dirty="0"/>
          </a:p>
        </p:txBody>
      </p:sp>
    </p:spTree>
    <p:custDataLst>
      <p:tags r:id="rId1"/>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4.3.2 </a:t>
            </a:r>
            <a:r>
              <a:rPr lang="zh-CN" altLang="en-US" sz="3200" b="1" dirty="0">
                <a:solidFill>
                  <a:srgbClr val="1353A2"/>
                </a:solidFill>
                <a:latin typeface="微软雅黑" panose="020B0503020204020204" pitchFamily="34" charset="-122"/>
                <a:ea typeface="微软雅黑" panose="020B0503020204020204" pitchFamily="34" charset="-122"/>
              </a:rPr>
              <a:t>接口</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463040" y="1320800"/>
            <a:ext cx="9977120" cy="7518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下面通过一个案例学习接口的使用</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 name="组合 2"/>
          <p:cNvGrpSpPr/>
          <p:nvPr/>
        </p:nvGrpSpPr>
        <p:grpSpPr>
          <a:xfrm>
            <a:off x="2783840" y="2052320"/>
            <a:ext cx="7315199" cy="4074160"/>
            <a:chOff x="2550160" y="2072640"/>
            <a:chExt cx="7315199" cy="4074160"/>
          </a:xfrm>
        </p:grpSpPr>
        <p:pic>
          <p:nvPicPr>
            <p:cNvPr id="4915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50160" y="2072640"/>
              <a:ext cx="7315199" cy="4074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p:cNvSpPr txBox="1"/>
            <p:nvPr/>
          </p:nvSpPr>
          <p:spPr>
            <a:xfrm>
              <a:off x="3159760" y="2153920"/>
              <a:ext cx="6548120" cy="39116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定义抽象类</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interface Animal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ID = 1;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定义全局常量</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    String NAME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牧羊犬</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5    void shout();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定义抽象方法</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shout()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6    static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getID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7        return Animal.ID;</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8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9    public void info();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定义静态方法</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info()</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EE45F1D1-75E1-4739-BCC9-20921087E13C}" type="slidenum">
              <a:rPr lang="zh-CN" altLang="en-US" smtClean="0"/>
            </a:fld>
            <a:endParaRPr lang="zh-CN" altLang="en-US" dirty="0"/>
          </a:p>
        </p:txBody>
      </p:sp>
    </p:spTree>
    <p:custDataLst>
      <p:tags r:id="rId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4.3.2 </a:t>
            </a:r>
            <a:r>
              <a:rPr lang="zh-CN" altLang="en-US" sz="3200" b="1" dirty="0">
                <a:solidFill>
                  <a:srgbClr val="1353A2"/>
                </a:solidFill>
                <a:latin typeface="微软雅黑" panose="020B0503020204020204" pitchFamily="34" charset="-122"/>
                <a:ea typeface="微软雅黑" panose="020B0503020204020204" pitchFamily="34" charset="-122"/>
              </a:rPr>
              <a:t>接口</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3078480" y="1330960"/>
            <a:ext cx="7010399" cy="4917440"/>
            <a:chOff x="3048000" y="1412240"/>
            <a:chExt cx="7010399" cy="4917440"/>
          </a:xfrm>
        </p:grpSpPr>
        <p:pic>
          <p:nvPicPr>
            <p:cNvPr id="5017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0" y="1412240"/>
              <a:ext cx="7010399" cy="4917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p:cNvSpPr txBox="1"/>
            <p:nvPr/>
          </p:nvSpPr>
          <p:spPr>
            <a:xfrm>
              <a:off x="3515360" y="1432560"/>
              <a:ext cx="6106160" cy="47650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11 interface Action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12    public void eat();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定义抽象方法</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13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14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类实现</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接口和</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Action</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15 class Dog implements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Animal,Action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16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重写</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Action</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接口中的抽象方法</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17    public void eat()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18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喜欢吃骨头</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19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20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重写</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接口中的抽象方法</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shout()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21    public void shout()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22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汪汪</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23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01CB5501-09DD-4851-A24E-8ADBAF394163}" type="slidenum">
              <a:rPr lang="zh-CN" altLang="en-US" smtClean="0"/>
            </a:fld>
            <a:endParaRPr lang="zh-CN" altLang="en-US" dirty="0"/>
          </a:p>
        </p:txBody>
      </p:sp>
    </p:spTree>
    <p:custDataLst>
      <p:tags r:id="rId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4.3.2 </a:t>
            </a:r>
            <a:r>
              <a:rPr lang="zh-CN" altLang="en-US" sz="3200" b="1" dirty="0">
                <a:solidFill>
                  <a:srgbClr val="1353A2"/>
                </a:solidFill>
                <a:latin typeface="微软雅黑" panose="020B0503020204020204" pitchFamily="34" charset="-122"/>
                <a:ea typeface="微软雅黑" panose="020B0503020204020204" pitchFamily="34" charset="-122"/>
              </a:rPr>
              <a:t>接口</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3027680" y="1209040"/>
            <a:ext cx="6979920" cy="5181600"/>
            <a:chOff x="3027680" y="1209040"/>
            <a:chExt cx="6979920" cy="5181600"/>
          </a:xfrm>
        </p:grpSpPr>
        <p:pic>
          <p:nvPicPr>
            <p:cNvPr id="5120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27680" y="1229360"/>
              <a:ext cx="6817359" cy="5161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p:cNvSpPr txBox="1"/>
            <p:nvPr/>
          </p:nvSpPr>
          <p:spPr>
            <a:xfrm>
              <a:off x="3627120" y="1209040"/>
              <a:ext cx="6380480" cy="51612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24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重写</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接口中的抽象方法</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info()</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25    public void info()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26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名称：</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"+NAME);</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27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28 }</a:t>
              </a:r>
              <a:endPar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29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定义测试类</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30 class Example11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31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32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编号</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Animal.getID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33        Dog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Dog();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类的实例对象</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34        dog.info();</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35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dog.shout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调用</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类中重写的</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shout()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36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dog.eat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调用</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类中重写的</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37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40613ECC-89C0-4A71-93D0-BDC86CD100CE}" type="slidenum">
              <a:rPr lang="zh-CN" altLang="en-US" smtClean="0"/>
            </a:fld>
            <a:endParaRPr lang="zh-CN" altLang="en-US" dirty="0"/>
          </a:p>
        </p:txBody>
      </p:sp>
    </p:spTree>
    <p:custDataLst>
      <p:tags r:id="rId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4.3.2 </a:t>
            </a:r>
            <a:r>
              <a:rPr lang="zh-CN" altLang="en-US" sz="3200" b="1" dirty="0">
                <a:solidFill>
                  <a:srgbClr val="1353A2"/>
                </a:solidFill>
                <a:latin typeface="微软雅黑" panose="020B0503020204020204" pitchFamily="34" charset="-122"/>
                <a:ea typeface="微软雅黑" panose="020B0503020204020204" pitchFamily="34" charset="-122"/>
              </a:rPr>
              <a:t>接口</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463040" y="2092960"/>
            <a:ext cx="9977120" cy="24079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从运行结果可以看出，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类的实例化对象可以访问接口中的常量、实现的接口方法以及本类内部的方法，而</a:t>
            </a:r>
            <a:r>
              <a:rPr lang="zh-CN" altLang="zh-CN" sz="24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接口中的静态方法则可以直接使用接口名调用</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。需要注意的是，接口的实现类，必须实现接口中的所有方法，否则程序编译报错。</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9A097578-9C5B-4384-98DA-9FD1D55D7B0B}" type="slidenum">
              <a:rPr lang="zh-CN" altLang="en-US" smtClean="0"/>
            </a:fld>
            <a:endParaRPr lang="zh-CN" altLang="en-US" dirty="0"/>
          </a:p>
        </p:txBody>
      </p:sp>
    </p:spTree>
    <p:custDataLst>
      <p:tags r:id="rId1"/>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4.3.2 </a:t>
            </a:r>
            <a:r>
              <a:rPr lang="zh-CN" altLang="en-US" sz="3200" b="1" dirty="0">
                <a:solidFill>
                  <a:srgbClr val="1353A2"/>
                </a:solidFill>
                <a:latin typeface="微软雅黑" panose="020B0503020204020204" pitchFamily="34" charset="-122"/>
                <a:ea typeface="微软雅黑" panose="020B0503020204020204" pitchFamily="34" charset="-122"/>
              </a:rPr>
              <a:t>接口</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463040" y="1981200"/>
            <a:ext cx="9977120" cy="28143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如果在开发中一个子类既要实现接口又要继承抽象类，则可以按照以下格式定义子类。</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修饰符</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class </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类名</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extends </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父类名</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implements </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接口</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接口</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 {</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FB024F09-F873-4493-B6CB-87C85D3555DB}" type="slidenum">
              <a:rPr lang="zh-CN" altLang="en-US" smtClean="0"/>
            </a:fld>
            <a:endParaRPr lang="zh-CN" altLang="en-US" dirty="0"/>
          </a:p>
        </p:txBody>
      </p:sp>
    </p:spTree>
    <p:custDataLst>
      <p:tags r:id="rId1"/>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4.3.2 </a:t>
            </a:r>
            <a:r>
              <a:rPr lang="zh-CN" altLang="en-US" sz="3200" b="1" dirty="0">
                <a:solidFill>
                  <a:srgbClr val="1353A2"/>
                </a:solidFill>
                <a:latin typeface="微软雅黑" panose="020B0503020204020204" pitchFamily="34" charset="-122"/>
                <a:ea typeface="微软雅黑" panose="020B0503020204020204" pitchFamily="34" charset="-122"/>
              </a:rPr>
              <a:t>接口</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320800" y="1300480"/>
            <a:ext cx="9977120" cy="6502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下面通过一个案例</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演示子类既实现接口又继承抽象类的情况</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 name="组合 2"/>
          <p:cNvGrpSpPr/>
          <p:nvPr/>
        </p:nvGrpSpPr>
        <p:grpSpPr>
          <a:xfrm>
            <a:off x="2509520" y="2092960"/>
            <a:ext cx="7498080" cy="3667760"/>
            <a:chOff x="2194560" y="2092960"/>
            <a:chExt cx="7498080" cy="3667760"/>
          </a:xfrm>
        </p:grpSpPr>
        <p:pic>
          <p:nvPicPr>
            <p:cNvPr id="522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94560" y="2092960"/>
              <a:ext cx="7498080" cy="3667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p:cNvSpPr txBox="1"/>
            <p:nvPr/>
          </p:nvSpPr>
          <p:spPr>
            <a:xfrm>
              <a:off x="3291840" y="2184400"/>
              <a:ext cx="5669280" cy="35763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定义抽象类</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interface Animal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public String NAME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牧羊犬</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    public void shout();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定义抽象方法</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shout()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5    public void info();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定义抽象方法</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info()</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6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7 abstract class Action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8    public abstract void eat();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定义抽象方法</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9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89E00669-85B3-4F8E-8921-A9DE7906795B}" type="slidenum">
              <a:rPr lang="zh-CN" altLang="en-US" smtClean="0"/>
            </a:fld>
            <a:endParaRPr lang="zh-CN" altLang="en-US" dirty="0"/>
          </a:p>
        </p:txBody>
      </p:sp>
    </p:spTree>
    <p:custDataLst>
      <p:tags r:id="rId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4.3.2 </a:t>
            </a:r>
            <a:r>
              <a:rPr lang="zh-CN" altLang="en-US" sz="3200" b="1" dirty="0">
                <a:solidFill>
                  <a:srgbClr val="1353A2"/>
                </a:solidFill>
                <a:latin typeface="微软雅黑" panose="020B0503020204020204" pitchFamily="34" charset="-122"/>
                <a:ea typeface="微软雅黑" panose="020B0503020204020204" pitchFamily="34" charset="-122"/>
              </a:rPr>
              <a:t>接口</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3586480" y="1239520"/>
            <a:ext cx="5486399" cy="5019040"/>
            <a:chOff x="3312160" y="1239520"/>
            <a:chExt cx="5486399" cy="5019040"/>
          </a:xfrm>
        </p:grpSpPr>
        <p:pic>
          <p:nvPicPr>
            <p:cNvPr id="532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12160" y="1239520"/>
              <a:ext cx="5486399" cy="5019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p:cNvSpPr txBox="1"/>
            <p:nvPr/>
          </p:nvSpPr>
          <p:spPr>
            <a:xfrm>
              <a:off x="3906520" y="1310640"/>
              <a:ext cx="4526280" cy="49479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类实现</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接口和</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Action</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11 class Dog extends Animal implements Action{</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12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重写</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Action</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接口中的抽象方法</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13    public void eat()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14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喜欢吃骨头</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15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16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重写</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接口中的抽象方法</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shout()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17    public void shout()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18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汪汪</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19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20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重写</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接口中的抽象方法</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info()</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21    public void info()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22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名称：</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"+NAME);</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23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24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00A4BAE7-B448-4B24-A074-3312F825EB89}" type="slidenum">
              <a:rPr lang="zh-CN" altLang="en-US" smtClean="0"/>
            </a:fld>
            <a:endParaRPr lang="zh-CN" altLang="en-US" dirty="0"/>
          </a:p>
        </p:txBody>
      </p:sp>
    </p:spTree>
    <p:custDataLst>
      <p:tags r:id="rId2"/>
    </p:custData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4.3.2 </a:t>
            </a:r>
            <a:r>
              <a:rPr lang="zh-CN" altLang="en-US" sz="3200" b="1" dirty="0">
                <a:solidFill>
                  <a:srgbClr val="1353A2"/>
                </a:solidFill>
                <a:latin typeface="微软雅黑" panose="020B0503020204020204" pitchFamily="34" charset="-122"/>
                <a:ea typeface="微软雅黑" panose="020B0503020204020204" pitchFamily="34" charset="-122"/>
              </a:rPr>
              <a:t>接口</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479040" y="1778000"/>
            <a:ext cx="7955279" cy="3556000"/>
            <a:chOff x="2479040" y="1778000"/>
            <a:chExt cx="7955279" cy="3556000"/>
          </a:xfrm>
        </p:grpSpPr>
        <p:pic>
          <p:nvPicPr>
            <p:cNvPr id="542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79040" y="1778000"/>
              <a:ext cx="7955279" cy="355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p:cNvSpPr txBox="1"/>
            <p:nvPr/>
          </p:nvSpPr>
          <p:spPr>
            <a:xfrm>
              <a:off x="3139440" y="1869440"/>
              <a:ext cx="7091680" cy="34645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25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定义测试类</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26 class Example12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27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28        Dog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Dog();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类的实例对象</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29        dog.info();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调用</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类中重写的</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info()</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30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dog.shout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调用</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类中重写的</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shout()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31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dog.eat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调用</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类中重写的</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32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33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F1A27180-4A94-4FAE-BD2A-9A147A4CF307}" type="slidenum">
              <a:rPr lang="zh-CN" altLang="en-US" smtClean="0"/>
            </a:fld>
            <a:endParaRPr lang="zh-CN" altLang="en-US" dirty="0"/>
          </a:p>
        </p:txBody>
      </p:sp>
    </p:spTree>
    <p:custDataLst>
      <p:tags r:id="rId2"/>
    </p:custData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4.3.2 </a:t>
            </a:r>
            <a:r>
              <a:rPr lang="zh-CN" altLang="en-US" sz="3200" b="1" dirty="0">
                <a:solidFill>
                  <a:srgbClr val="1353A2"/>
                </a:solidFill>
                <a:latin typeface="微软雅黑" panose="020B0503020204020204" pitchFamily="34" charset="-122"/>
                <a:ea typeface="微软雅黑" panose="020B0503020204020204" pitchFamily="34" charset="-122"/>
              </a:rPr>
              <a:t>接口</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965960" y="1747520"/>
            <a:ext cx="5521960" cy="31394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上述代码中，</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类通过</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extends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实现了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接口，同时通过</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implements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实现了抽象类</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Action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。因为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接口和抽象类</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Action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本身都有抽象方法，所以子类中必须实现</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52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965440" y="1595119"/>
            <a:ext cx="3057525" cy="3679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24F697B5-9BF5-43E4-9458-26DBA3236A34}" type="slidenum">
              <a:rPr lang="zh-CN" altLang="en-US" smtClean="0"/>
            </a:fld>
            <a:endParaRPr lang="zh-CN" altLang="en-US" dirty="0"/>
          </a:p>
        </p:txBody>
      </p:sp>
    </p:spTree>
    <p:custDataLst>
      <p:tags r:id="rId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42" presetClass="entr" presetSubtype="0" fill="hold" nodeType="withEffect">
                                  <p:stCondLst>
                                    <p:cond delay="0"/>
                                  </p:stCondLst>
                                  <p:childTnLst>
                                    <p:set>
                                      <p:cBhvr>
                                        <p:cTn id="9" dur="1" fill="hold">
                                          <p:stCondLst>
                                            <p:cond delay="0"/>
                                          </p:stCondLst>
                                        </p:cTn>
                                        <p:tgtEl>
                                          <p:spTgt spid="55298"/>
                                        </p:tgtEl>
                                        <p:attrNameLst>
                                          <p:attrName>style.visibility</p:attrName>
                                        </p:attrNameLst>
                                      </p:cBhvr>
                                      <p:to>
                                        <p:strVal val="visible"/>
                                      </p:to>
                                    </p:set>
                                    <p:animEffect transition="in" filter="fade">
                                      <p:cBhvr>
                                        <p:cTn id="10" dur="1000"/>
                                        <p:tgtEl>
                                          <p:spTgt spid="55298"/>
                                        </p:tgtEl>
                                      </p:cBhvr>
                                    </p:animEffect>
                                    <p:anim calcmode="lin" valueType="num">
                                      <p:cBhvr>
                                        <p:cTn id="11" dur="1000" fill="hold"/>
                                        <p:tgtEl>
                                          <p:spTgt spid="55298"/>
                                        </p:tgtEl>
                                        <p:attrNameLst>
                                          <p:attrName>ppt_x</p:attrName>
                                        </p:attrNameLst>
                                      </p:cBhvr>
                                      <p:tavLst>
                                        <p:tav tm="0">
                                          <p:val>
                                            <p:strVal val="#ppt_x"/>
                                          </p:val>
                                        </p:tav>
                                        <p:tav tm="100000">
                                          <p:val>
                                            <p:strVal val="#ppt_x"/>
                                          </p:val>
                                        </p:tav>
                                      </p:tavLst>
                                    </p:anim>
                                    <p:anim calcmode="lin" valueType="num">
                                      <p:cBhvr>
                                        <p:cTn id="12" dur="1000" fill="hold"/>
                                        <p:tgtEl>
                                          <p:spTgt spid="5529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4.3.2 </a:t>
            </a:r>
            <a:r>
              <a:rPr lang="zh-CN" altLang="en-US" sz="3200" b="1" dirty="0">
                <a:solidFill>
                  <a:srgbClr val="1353A2"/>
                </a:solidFill>
                <a:latin typeface="微软雅黑" panose="020B0503020204020204" pitchFamily="34" charset="-122"/>
                <a:ea typeface="微软雅黑" panose="020B0503020204020204" pitchFamily="34" charset="-122"/>
              </a:rPr>
              <a:t>接口</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442720" y="1564640"/>
            <a:ext cx="3088640" cy="33731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中，接口是不允许继承抽象类的，但是允许一个接口继承多个接口。接下来通过一个案例讲解接口的继承</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 name="组合 2"/>
          <p:cNvGrpSpPr/>
          <p:nvPr/>
        </p:nvGrpSpPr>
        <p:grpSpPr>
          <a:xfrm>
            <a:off x="4884419" y="1412240"/>
            <a:ext cx="6644640" cy="4582160"/>
            <a:chOff x="2628899" y="2184400"/>
            <a:chExt cx="6644640" cy="4582160"/>
          </a:xfrm>
        </p:grpSpPr>
        <p:pic>
          <p:nvPicPr>
            <p:cNvPr id="563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28899" y="2184400"/>
              <a:ext cx="6644640" cy="4582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3535680" y="2336800"/>
              <a:ext cx="5567680" cy="36576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定义抽象类</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interface Animal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public String NAME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牧羊犬</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    public void info();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定义抽象方法</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info()</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5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6 interface Color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7    public void black();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定义抽象方法</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shout()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8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9 interface Action extends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Animal,Color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    public void shout();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定义抽象方法</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black()</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11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67EC292C-C679-492E-B2DE-A40C610BA32F}" type="slidenum">
              <a:rPr lang="zh-CN" altLang="en-US" smtClean="0"/>
            </a:fld>
            <a:endParaRPr lang="zh-CN" altLang="en-US" dirty="0"/>
          </a:p>
        </p:txBody>
      </p:sp>
    </p:spTree>
    <p:custDataLst>
      <p:tags r:id="rId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randombar(horizontal)">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4.3.2 </a:t>
            </a:r>
            <a:r>
              <a:rPr lang="zh-CN" altLang="en-US" sz="3200" b="1" dirty="0">
                <a:solidFill>
                  <a:srgbClr val="1353A2"/>
                </a:solidFill>
                <a:latin typeface="微软雅黑" panose="020B0503020204020204" pitchFamily="34" charset="-122"/>
                <a:ea typeface="微软雅黑" panose="020B0503020204020204" pitchFamily="34" charset="-122"/>
              </a:rPr>
              <a:t>接口</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3180080" y="1280160"/>
            <a:ext cx="5669280" cy="5039360"/>
            <a:chOff x="3180080" y="1280160"/>
            <a:chExt cx="5669280" cy="5039360"/>
          </a:xfrm>
        </p:grpSpPr>
        <p:pic>
          <p:nvPicPr>
            <p:cNvPr id="573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80080" y="1280160"/>
              <a:ext cx="5669280" cy="5039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3911600" y="1330960"/>
              <a:ext cx="4399280" cy="48564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12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类实现</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Action</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13 class Dog implements Action{</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14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重写</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接口中的抽象方法</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info()</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15    public void info()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16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名称：</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"+NAME);</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17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18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重写</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Color</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接口中的抽象方法</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black()</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19    public void black()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20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黑色</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21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22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重写</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Action</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接口中的抽象方法</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shout()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23    public void shout()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24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汪汪</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25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26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0A343AE8-A1B6-484D-990A-AD4317E0F1EE}" type="slidenum">
              <a:rPr lang="zh-CN" altLang="en-US" smtClean="0"/>
            </a:fld>
            <a:endParaRPr lang="zh-CN" altLang="en-US" dirty="0"/>
          </a:p>
        </p:txBody>
      </p:sp>
    </p:spTree>
    <p:custDataLst>
      <p:tags r:id="rId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4.3.2 </a:t>
            </a:r>
            <a:r>
              <a:rPr lang="zh-CN" altLang="en-US" sz="3200" b="1" dirty="0">
                <a:solidFill>
                  <a:srgbClr val="1353A2"/>
                </a:solidFill>
                <a:latin typeface="微软雅黑" panose="020B0503020204020204" pitchFamily="34" charset="-122"/>
                <a:ea typeface="微软雅黑" panose="020B0503020204020204" pitchFamily="34" charset="-122"/>
              </a:rPr>
              <a:t>接口</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738118" y="1717040"/>
            <a:ext cx="7863840" cy="3870960"/>
            <a:chOff x="2184400" y="1686560"/>
            <a:chExt cx="7863840" cy="3870960"/>
          </a:xfrm>
        </p:grpSpPr>
        <p:pic>
          <p:nvPicPr>
            <p:cNvPr id="583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84400" y="1686560"/>
              <a:ext cx="7518399" cy="3870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926080" y="1727200"/>
              <a:ext cx="7122160" cy="37693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27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定义测试类</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28 class Example13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29    public static void main(String[]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30        Dog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Dog();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类的实例对象</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31        dog.info();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调用</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类中重写的</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info()</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32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dog.shout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调用</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类中重写的</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shout()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33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dog.black</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调用</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类中重写的</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34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35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46EB1F72-5878-4704-BB14-EEE5764D9BCA}" type="slidenum">
              <a:rPr lang="zh-CN" altLang="en-US" smtClean="0"/>
            </a:fld>
            <a:endParaRPr lang="zh-CN" altLang="en-US" dirty="0"/>
          </a:p>
        </p:txBody>
      </p:sp>
    </p:spTree>
    <p:custDataLst>
      <p:tags r:id="rId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8132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4.4.1 </a:t>
            </a:r>
            <a:r>
              <a:rPr lang="zh-CN" altLang="zh-CN" sz="3200" b="1" dirty="0">
                <a:solidFill>
                  <a:srgbClr val="1353A2"/>
                </a:solidFill>
                <a:latin typeface="微软雅黑" panose="020B0503020204020204" pitchFamily="34" charset="-122"/>
                <a:ea typeface="微软雅黑" panose="020B0503020204020204" pitchFamily="34" charset="-122"/>
              </a:rPr>
              <a:t>多态概述</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856736" y="1696720"/>
            <a:ext cx="9380224" cy="36576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多态性是面向对象思想中的一个非常重要的概念，在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多态是指不同对象在调用同一个方法时表现出的多种不同行为。例如，要实现一个动物叫的方法，由于每种动物的叫声是不同的，因此可以在方法中接收一个动物类型的参数，当传入猫类对象时就发出猫类的叫声，传入犬类对象时就发出犬类的叫声。在同一个方法中，这种由于参数类型不同而导致执行效果不同的现象就是多态。</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2C5B6D31-B432-4139-AEEB-6F796A26C617}"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8132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4.4.1 </a:t>
            </a:r>
            <a:r>
              <a:rPr lang="zh-CN" altLang="zh-CN" sz="3200" b="1" dirty="0">
                <a:solidFill>
                  <a:srgbClr val="1353A2"/>
                </a:solidFill>
                <a:latin typeface="微软雅黑" panose="020B0503020204020204" pitchFamily="34" charset="-122"/>
                <a:ea typeface="微软雅黑" panose="020B0503020204020204" pitchFamily="34" charset="-122"/>
              </a:rPr>
              <a:t>多态概述</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2505707" y="2367280"/>
            <a:ext cx="5092704" cy="21234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中多态主要有以下两种形式：</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）方法的重载。</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）对象的多态性（方法重写）。</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43863" y="1311910"/>
            <a:ext cx="2911475" cy="461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FDCC1EDF-8F4B-449A-81CF-A20CFFBF3B47}"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32" presetClass="emph" presetSubtype="0" fill="hold" nodeType="withEffect">
                                  <p:stCondLst>
                                    <p:cond delay="0"/>
                                  </p:stCondLst>
                                  <p:childTnLst>
                                    <p:animRot by="120000">
                                      <p:cBhvr>
                                        <p:cTn id="9" dur="100" fill="hold">
                                          <p:stCondLst>
                                            <p:cond delay="0"/>
                                          </p:stCondLst>
                                        </p:cTn>
                                        <p:tgtEl>
                                          <p:spTgt spid="5"/>
                                        </p:tgtEl>
                                        <p:attrNameLst>
                                          <p:attrName>r</p:attrName>
                                        </p:attrNameLst>
                                      </p:cBhvr>
                                    </p:animRot>
                                    <p:animRot by="-240000">
                                      <p:cBhvr>
                                        <p:cTn id="10" dur="200" fill="hold">
                                          <p:stCondLst>
                                            <p:cond delay="200"/>
                                          </p:stCondLst>
                                        </p:cTn>
                                        <p:tgtEl>
                                          <p:spTgt spid="5"/>
                                        </p:tgtEl>
                                        <p:attrNameLst>
                                          <p:attrName>r</p:attrName>
                                        </p:attrNameLst>
                                      </p:cBhvr>
                                    </p:animRot>
                                    <p:animRot by="240000">
                                      <p:cBhvr>
                                        <p:cTn id="11" dur="200" fill="hold">
                                          <p:stCondLst>
                                            <p:cond delay="400"/>
                                          </p:stCondLst>
                                        </p:cTn>
                                        <p:tgtEl>
                                          <p:spTgt spid="5"/>
                                        </p:tgtEl>
                                        <p:attrNameLst>
                                          <p:attrName>r</p:attrName>
                                        </p:attrNameLst>
                                      </p:cBhvr>
                                    </p:animRot>
                                    <p:animRot by="-240000">
                                      <p:cBhvr>
                                        <p:cTn id="12" dur="200" fill="hold">
                                          <p:stCondLst>
                                            <p:cond delay="600"/>
                                          </p:stCondLst>
                                        </p:cTn>
                                        <p:tgtEl>
                                          <p:spTgt spid="5"/>
                                        </p:tgtEl>
                                        <p:attrNameLst>
                                          <p:attrName>r</p:attrName>
                                        </p:attrNameLst>
                                      </p:cBhvr>
                                    </p:animRot>
                                    <p:animRot by="120000">
                                      <p:cBhvr>
                                        <p:cTn id="13" dur="200" fill="hold">
                                          <p:stCondLst>
                                            <p:cond delay="800"/>
                                          </p:stCondLst>
                                        </p:cTn>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8132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4.4.1 </a:t>
            </a:r>
            <a:r>
              <a:rPr lang="zh-CN" altLang="zh-CN" sz="3200" b="1" dirty="0">
                <a:solidFill>
                  <a:srgbClr val="1353A2"/>
                </a:solidFill>
                <a:latin typeface="微软雅黑" panose="020B0503020204020204" pitchFamily="34" charset="-122"/>
                <a:ea typeface="微软雅黑" panose="020B0503020204020204" pitchFamily="34" charset="-122"/>
              </a:rPr>
              <a:t>多态概述</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310640" y="1330960"/>
            <a:ext cx="8514079" cy="8229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接下来通过一个案例演示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程序中的多态</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 name="组合 2"/>
          <p:cNvGrpSpPr/>
          <p:nvPr/>
        </p:nvGrpSpPr>
        <p:grpSpPr>
          <a:xfrm>
            <a:off x="3190240" y="2052320"/>
            <a:ext cx="6634479" cy="4104640"/>
            <a:chOff x="3098800" y="2103120"/>
            <a:chExt cx="6634479" cy="4104640"/>
          </a:xfrm>
        </p:grpSpPr>
        <p:pic>
          <p:nvPicPr>
            <p:cNvPr id="6349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98800" y="2103120"/>
              <a:ext cx="6482079" cy="4104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3098800" y="2103120"/>
              <a:ext cx="6634479" cy="41046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定义抽象类</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Anmal</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abstract class Animal {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abstract  void shout();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定义抽象</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shout()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5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类继承</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抽象类</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6 class Cat extends Animal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7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实现</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shout()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8	public void shout()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9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喵喵……</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11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C0E40D81-1437-405B-8B65-0C59320191EA}"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16" presetClass="entr" presetSubtype="37"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outVertical)">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8132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4.4.1 </a:t>
            </a:r>
            <a:r>
              <a:rPr lang="zh-CN" altLang="zh-CN" sz="3200" b="1" dirty="0">
                <a:solidFill>
                  <a:srgbClr val="1353A2"/>
                </a:solidFill>
                <a:latin typeface="微软雅黑" panose="020B0503020204020204" pitchFamily="34" charset="-122"/>
                <a:ea typeface="微软雅黑" panose="020B0503020204020204" pitchFamily="34" charset="-122"/>
              </a:rPr>
              <a:t>多态概述</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225039" y="1219200"/>
            <a:ext cx="8669701" cy="5191760"/>
            <a:chOff x="2225039" y="1219200"/>
            <a:chExt cx="8669701" cy="5191760"/>
          </a:xfrm>
        </p:grpSpPr>
        <p:pic>
          <p:nvPicPr>
            <p:cNvPr id="645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25040" y="1229360"/>
              <a:ext cx="8585199"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225039" y="1219200"/>
              <a:ext cx="8669701" cy="51816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类继承</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抽象类</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class Dog extends Animal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实现</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shout()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	public void shout()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5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汪汪……</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6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7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8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定义测试类</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9 public class Example14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	public static void main(String[]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11		Animal an1 = new Cat();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使用</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类型的变量</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an1</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引用</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12		Animal an2 = new Dog();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使用</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类型的变量</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an2</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引用</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13		an1.shout();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14		an2.shout();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15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16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BA348857-A590-46A8-AB13-D7139F14AA43}"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8132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4.4.2 </a:t>
            </a:r>
            <a:r>
              <a:rPr lang="zh-CN" altLang="en-US" sz="3200" b="1" dirty="0">
                <a:solidFill>
                  <a:srgbClr val="1353A2"/>
                </a:solidFill>
                <a:latin typeface="微软雅黑" panose="020B0503020204020204" pitchFamily="34" charset="-122"/>
                <a:ea typeface="微软雅黑" panose="020B0503020204020204" pitchFamily="34" charset="-122"/>
              </a:rPr>
              <a:t>对象类型的转换</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4628312" y="1648618"/>
            <a:ext cx="5740400" cy="30886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对象类型转换主要分为以下两种情况：</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）向上转型：子类对象→父类对象。</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）向下转型：父类对象→子类对象。</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对于向上转型，程序会自动完成，而向下转型时，必须指明要转型的子类类型。</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08599" y="1648618"/>
            <a:ext cx="2620963" cy="3611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210B9E92-7E35-4444-A1AD-182CD7F645A0}"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8132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4.4.2 </a:t>
            </a:r>
            <a:r>
              <a:rPr lang="zh-CN" altLang="en-US" sz="3200" b="1" dirty="0">
                <a:solidFill>
                  <a:srgbClr val="1353A2"/>
                </a:solidFill>
                <a:latin typeface="微软雅黑" panose="020B0503020204020204" pitchFamily="34" charset="-122"/>
                <a:ea typeface="微软雅黑" panose="020B0503020204020204" pitchFamily="34" charset="-122"/>
              </a:rPr>
              <a:t>对象类型的转换</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4470400" y="1588173"/>
            <a:ext cx="6644640" cy="340757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对象类型的转换格式如下所示。</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对象向上转型：</a:t>
            </a:r>
            <a:endPar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dirty="0">
                <a:latin typeface="微软雅黑" panose="020B0503020204020204" pitchFamily="34" charset="-122"/>
                <a:ea typeface="微软雅黑" panose="020B0503020204020204" pitchFamily="34" charset="-122"/>
                <a:cs typeface="Times New Roman" panose="02020603050405020304" pitchFamily="18" charset="0"/>
              </a:rPr>
              <a:t>父类类型 父类对象</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2400" dirty="0">
                <a:latin typeface="微软雅黑" panose="020B0503020204020204" pitchFamily="34" charset="-122"/>
                <a:ea typeface="微软雅黑" panose="020B0503020204020204" pitchFamily="34" charset="-122"/>
                <a:cs typeface="Times New Roman" panose="02020603050405020304" pitchFamily="18" charset="0"/>
              </a:rPr>
              <a:t>子类实例</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对象向下转型：</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dirty="0">
                <a:latin typeface="微软雅黑" panose="020B0503020204020204" pitchFamily="34" charset="-122"/>
                <a:ea typeface="微软雅黑" panose="020B0503020204020204" pitchFamily="34" charset="-122"/>
                <a:cs typeface="Times New Roman" panose="02020603050405020304" pitchFamily="18" charset="0"/>
              </a:rPr>
              <a:t>子类类型 子类对象</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2400" dirty="0">
                <a:latin typeface="微软雅黑" panose="020B0503020204020204" pitchFamily="34" charset="-122"/>
                <a:ea typeface="微软雅黑" panose="020B0503020204020204" pitchFamily="34" charset="-122"/>
                <a:cs typeface="Times New Roman" panose="02020603050405020304" pitchFamily="18" charset="0"/>
              </a:rPr>
              <a:t>（子类）父类对象</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70459" y="1588173"/>
            <a:ext cx="2620963" cy="3611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B14E9A12-CD32-4C49-AB57-668CE46C0209}"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8132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4.4.2 </a:t>
            </a:r>
            <a:r>
              <a:rPr lang="zh-CN" altLang="en-US" sz="3200" b="1" dirty="0">
                <a:solidFill>
                  <a:srgbClr val="1353A2"/>
                </a:solidFill>
                <a:latin typeface="微软雅黑" panose="020B0503020204020204" pitchFamily="34" charset="-122"/>
                <a:ea typeface="微软雅黑" panose="020B0503020204020204" pitchFamily="34" charset="-122"/>
              </a:rPr>
              <a:t>对象类型的转换</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452880" y="1341120"/>
            <a:ext cx="9966960" cy="9347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下面通过一个案例介绍如何进行对象的向上转型操作</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 name="组合 2"/>
          <p:cNvGrpSpPr/>
          <p:nvPr/>
        </p:nvGrpSpPr>
        <p:grpSpPr>
          <a:xfrm>
            <a:off x="2042160" y="2275840"/>
            <a:ext cx="3850640" cy="2910840"/>
            <a:chOff x="1452880" y="2275840"/>
            <a:chExt cx="3850640" cy="2910840"/>
          </a:xfrm>
        </p:grpSpPr>
        <p:pic>
          <p:nvPicPr>
            <p:cNvPr id="6553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52880" y="2275840"/>
              <a:ext cx="3850640" cy="2910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1838960" y="2677160"/>
              <a:ext cx="3464560" cy="25095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定义类</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Anmal</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class Animal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public void shout(){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喵喵……</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5  }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6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4" name="组合 3"/>
          <p:cNvGrpSpPr/>
          <p:nvPr/>
        </p:nvGrpSpPr>
        <p:grpSpPr>
          <a:xfrm>
            <a:off x="6599555" y="2079625"/>
            <a:ext cx="4571365" cy="4046855"/>
            <a:chOff x="6010275" y="2079625"/>
            <a:chExt cx="4571365" cy="4046855"/>
          </a:xfrm>
        </p:grpSpPr>
        <p:pic>
          <p:nvPicPr>
            <p:cNvPr id="6553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10275" y="2079625"/>
              <a:ext cx="4571365" cy="4046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p:nvPr/>
          </p:nvSpPr>
          <p:spPr>
            <a:xfrm>
              <a:off x="6436360" y="2199640"/>
              <a:ext cx="4145280" cy="3810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7 // Dog</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8 class Dog extends Animal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9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重写</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shout()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   public void shout()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11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汪汪……</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12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13   public void eat()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14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吃骨头……</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15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16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5" name="文本占位符 4"/>
          <p:cNvSpPr>
            <a:spLocks noGrp="1"/>
          </p:cNvSpPr>
          <p:nvPr>
            <p:ph type="body" sz="quarter" idx="10"/>
          </p:nvPr>
        </p:nvSpPr>
        <p:spPr/>
        <p:txBody>
          <a:bodyPr/>
          <a:lstStyle/>
          <a:p>
            <a:fld id="{EC931780-5C84-4AEA-80E0-7FD82D4131D7}"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8132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4.4.2 </a:t>
            </a:r>
            <a:r>
              <a:rPr lang="zh-CN" altLang="en-US" sz="3200" b="1" dirty="0">
                <a:solidFill>
                  <a:srgbClr val="1353A2"/>
                </a:solidFill>
                <a:latin typeface="微软雅黑" panose="020B0503020204020204" pitchFamily="34" charset="-122"/>
                <a:ea typeface="微软雅黑" panose="020B0503020204020204" pitchFamily="34" charset="-122"/>
              </a:rPr>
              <a:t>对象类型的转换</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702560" y="1960880"/>
            <a:ext cx="7701279" cy="3301999"/>
            <a:chOff x="2011680" y="1950720"/>
            <a:chExt cx="7701279" cy="3301999"/>
          </a:xfrm>
        </p:grpSpPr>
        <p:pic>
          <p:nvPicPr>
            <p:cNvPr id="6656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11680" y="1950720"/>
              <a:ext cx="7701279" cy="3301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3921760" y="2103120"/>
              <a:ext cx="4724400" cy="30175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17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定义测试类</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18 public class Example15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19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20       Dog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Dog();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21       Animal an = dog;</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22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an.shout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23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24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A51A2032-6EAF-430C-B40C-36C4CD31AEF7}"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8132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4.4.2 </a:t>
            </a:r>
            <a:r>
              <a:rPr lang="zh-CN" altLang="en-US" sz="3200" b="1" dirty="0">
                <a:solidFill>
                  <a:srgbClr val="1353A2"/>
                </a:solidFill>
                <a:latin typeface="微软雅黑" panose="020B0503020204020204" pitchFamily="34" charset="-122"/>
                <a:ea typeface="微软雅黑" panose="020B0503020204020204" pitchFamily="34" charset="-122"/>
              </a:rPr>
              <a:t>对象类型的转换</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452880" y="1788160"/>
            <a:ext cx="9966960" cy="30886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上述代码中，</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创建了一个</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对象，并将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对象向上转型成</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类型的对象</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，然后使用对象</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调用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shout()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方法。从程序的运行结果中可以发现，虽然是使用父类对象</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调用了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shout()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方法，但实际上调用的是被子类重写过的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shout()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方法。也就是说，如果对象发生了向上转型关系后，所调用的方法一定是被子类重写过的方法。</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7E263E5B-143A-415C-95D8-433C7E80128C}"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8132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4.4.2 </a:t>
            </a:r>
            <a:r>
              <a:rPr lang="zh-CN" altLang="en-US" sz="3200" b="1" dirty="0">
                <a:solidFill>
                  <a:srgbClr val="1353A2"/>
                </a:solidFill>
                <a:latin typeface="微软雅黑" panose="020B0503020204020204" pitchFamily="34" charset="-122"/>
                <a:ea typeface="微软雅黑" panose="020B0503020204020204" pitchFamily="34" charset="-122"/>
              </a:rPr>
              <a:t>对象类型的转换</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5923280" y="2052320"/>
            <a:ext cx="4643120" cy="26009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父类</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的对象</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是无法调用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类中的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方法的，因为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方法只在子类中定义，而没有在父类中定义。</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5" name="组合 4"/>
          <p:cNvGrpSpPr/>
          <p:nvPr/>
        </p:nvGrpSpPr>
        <p:grpSpPr>
          <a:xfrm>
            <a:off x="2557779" y="1717634"/>
            <a:ext cx="2834640" cy="3676730"/>
            <a:chOff x="2311398" y="1676344"/>
            <a:chExt cx="2834640" cy="3676730"/>
          </a:xfrm>
        </p:grpSpPr>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1398" y="1676344"/>
              <a:ext cx="2834640" cy="367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2941318" y="2734203"/>
              <a:ext cx="1762762" cy="64777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注      意</a:t>
              </a:r>
              <a:endParaRPr lang="en-US" altLang="zh-CN" sz="2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3" name="文本占位符 2"/>
          <p:cNvSpPr>
            <a:spLocks noGrp="1"/>
          </p:cNvSpPr>
          <p:nvPr>
            <p:ph type="body" sz="quarter" idx="10"/>
          </p:nvPr>
        </p:nvSpPr>
        <p:spPr/>
        <p:txBody>
          <a:bodyPr/>
          <a:lstStyle/>
          <a:p>
            <a:fld id="{582ACB3C-6F06-46B8-9D16-FCFDBACD698A}"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14" presetClass="entr" presetSubtype="1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8132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4.4.2 </a:t>
            </a:r>
            <a:r>
              <a:rPr lang="zh-CN" altLang="en-US" sz="3200" b="1" dirty="0">
                <a:solidFill>
                  <a:srgbClr val="1353A2"/>
                </a:solidFill>
                <a:latin typeface="微软雅黑" panose="020B0503020204020204" pitchFamily="34" charset="-122"/>
                <a:ea typeface="微软雅黑" panose="020B0503020204020204" pitchFamily="34" charset="-122"/>
              </a:rPr>
              <a:t>对象类型的转换</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290320" y="1239520"/>
            <a:ext cx="9946640" cy="13106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在进行对象的向下转型前，必须发生对象向上转型，否则将出现对象转换异常。接下来通过一个案例演示对象进行向下转型</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4" name="组合 3"/>
          <p:cNvGrpSpPr/>
          <p:nvPr/>
        </p:nvGrpSpPr>
        <p:grpSpPr>
          <a:xfrm>
            <a:off x="2301157" y="2468878"/>
            <a:ext cx="8544721" cy="3789679"/>
            <a:chOff x="1564479" y="2550160"/>
            <a:chExt cx="8544721" cy="3789679"/>
          </a:xfrm>
        </p:grpSpPr>
        <p:pic>
          <p:nvPicPr>
            <p:cNvPr id="6758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64479" y="2550160"/>
              <a:ext cx="8544721" cy="3789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p:nvPr/>
          </p:nvSpPr>
          <p:spPr>
            <a:xfrm>
              <a:off x="1960881" y="3068320"/>
              <a:ext cx="3545759" cy="22961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定义类</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Anmal</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class Animal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public void shout(){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喵喵……</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5  }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6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内容占位符 2"/>
            <p:cNvSpPr txBox="1"/>
            <p:nvPr/>
          </p:nvSpPr>
          <p:spPr>
            <a:xfrm>
              <a:off x="6146800" y="2560320"/>
              <a:ext cx="3931920" cy="37084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7 // Dog</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8 class Dog extends Animal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9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重写</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shout()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   public void shout()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11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汪汪……</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12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13   public void eat()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14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吃骨头……</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15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16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3" name="文本占位符 2"/>
          <p:cNvSpPr>
            <a:spLocks noGrp="1"/>
          </p:cNvSpPr>
          <p:nvPr>
            <p:ph type="body" sz="quarter" idx="10"/>
          </p:nvPr>
        </p:nvSpPr>
        <p:spPr/>
        <p:txBody>
          <a:bodyPr/>
          <a:lstStyle/>
          <a:p>
            <a:fld id="{9F244A9E-D473-4472-9136-8D043ED21829}"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randombar(horizontal)">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8132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4.4.2 </a:t>
            </a:r>
            <a:r>
              <a:rPr lang="zh-CN" altLang="en-US" sz="3200" b="1" dirty="0">
                <a:solidFill>
                  <a:srgbClr val="1353A2"/>
                </a:solidFill>
                <a:latin typeface="微软雅黑" panose="020B0503020204020204" pitchFamily="34" charset="-122"/>
                <a:ea typeface="微软雅黑" panose="020B0503020204020204" pitchFamily="34" charset="-122"/>
              </a:rPr>
              <a:t>对象类型的转换</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773680" y="1911419"/>
            <a:ext cx="7802880" cy="3558674"/>
            <a:chOff x="2529840" y="1879600"/>
            <a:chExt cx="7802880" cy="3352799"/>
          </a:xfrm>
        </p:grpSpPr>
        <p:pic>
          <p:nvPicPr>
            <p:cNvPr id="686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29840" y="1879600"/>
              <a:ext cx="7802880" cy="3352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p:nvPr/>
          </p:nvSpPr>
          <p:spPr>
            <a:xfrm>
              <a:off x="3373120" y="1927462"/>
              <a:ext cx="6573520" cy="3187552"/>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17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定义测试类</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18 public class Example16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19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20       Animal an = new Dog();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此时发生了向上转型，子类→父类</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21       Dog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(Dog)an;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此时发生了向下转型</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22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dog.shout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23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dog.eat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24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25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3AFF994B-E300-4C7F-9030-D662DB0DE243}"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8132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4.4.2 </a:t>
            </a:r>
            <a:r>
              <a:rPr lang="zh-CN" altLang="en-US" sz="3200" b="1" dirty="0">
                <a:solidFill>
                  <a:srgbClr val="1353A2"/>
                </a:solidFill>
                <a:latin typeface="微软雅黑" panose="020B0503020204020204" pitchFamily="34" charset="-122"/>
                <a:ea typeface="微软雅黑" panose="020B0503020204020204" pitchFamily="34" charset="-122"/>
              </a:rPr>
              <a:t>对象类型的转换</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4775200" y="2001520"/>
            <a:ext cx="6393179" cy="31902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在向下转型时，不能直接将父类实例强制转换为子类实例，否则程序会报错。例如，将文件</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4-16</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中的第</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20~21</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行代码修改为下面一行代码，则程序报错。</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Dog </a:t>
            </a:r>
            <a:r>
              <a:rPr lang="en-US" altLang="zh-CN" sz="24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dog</a:t>
            </a:r>
            <a:r>
              <a:rPr lang="en-US" altLang="zh-CN" sz="24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 (Dog)new Animal();	//</a:t>
            </a:r>
            <a:r>
              <a:rPr lang="zh-CN" altLang="zh-CN" sz="24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编译错误</a:t>
            </a:r>
            <a:endParaRPr lang="zh-CN" altLang="zh-CN" sz="24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5" name="组合 4"/>
          <p:cNvGrpSpPr/>
          <p:nvPr/>
        </p:nvGrpSpPr>
        <p:grpSpPr>
          <a:xfrm>
            <a:off x="1551939" y="1717634"/>
            <a:ext cx="2834640" cy="3676730"/>
            <a:chOff x="2311398" y="1676344"/>
            <a:chExt cx="2834640" cy="3676730"/>
          </a:xfrm>
        </p:grpSpPr>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1398" y="1676344"/>
              <a:ext cx="2834640" cy="367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2941318" y="2734203"/>
              <a:ext cx="1762762" cy="64777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注      意</a:t>
              </a:r>
              <a:endParaRPr lang="en-US" altLang="zh-CN" sz="2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3" name="文本占位符 2"/>
          <p:cNvSpPr>
            <a:spLocks noGrp="1"/>
          </p:cNvSpPr>
          <p:nvPr>
            <p:ph type="body" sz="quarter" idx="10"/>
          </p:nvPr>
        </p:nvSpPr>
        <p:spPr/>
        <p:txBody>
          <a:bodyPr/>
          <a:lstStyle/>
          <a:p>
            <a:fld id="{347692E6-8FB6-400A-85D8-B7149A46AB1D}"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14" presetClass="entr" presetSubtype="1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8132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4.4.3 </a:t>
            </a:r>
            <a:r>
              <a:rPr lang="en-US" altLang="zh-CN" sz="3200" b="1" dirty="0" err="1">
                <a:solidFill>
                  <a:srgbClr val="1353A2"/>
                </a:solidFill>
                <a:latin typeface="微软雅黑" panose="020B0503020204020204" pitchFamily="34" charset="-122"/>
                <a:ea typeface="微软雅黑" panose="020B0503020204020204" pitchFamily="34" charset="-122"/>
              </a:rPr>
              <a:t>instanceof</a:t>
            </a:r>
            <a:r>
              <a:rPr lang="zh-CN" altLang="en-US" sz="3200" b="1" dirty="0">
                <a:solidFill>
                  <a:srgbClr val="1353A2"/>
                </a:solidFill>
                <a:latin typeface="微软雅黑" panose="020B0503020204020204" pitchFamily="34" charset="-122"/>
                <a:ea typeface="微软雅黑" panose="020B0503020204020204" pitchFamily="34" charset="-122"/>
              </a:rPr>
              <a:t>关键字</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656080" y="1747520"/>
            <a:ext cx="9489440" cy="29667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中可以使用</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instanceof</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关键字判断一个对象是否是某个类（或接口）的实例，语法格式如下所示。</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对象</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dirty="0" err="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instanceof</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类（或接口）</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在上述格式中，如果对象是指定的类的实例对象，则返回</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true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，否则返回</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false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9713FFD4-E86B-49AD-9FB5-07B63EC89504}"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8132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4.4.3 </a:t>
            </a:r>
            <a:r>
              <a:rPr lang="en-US" altLang="zh-CN" sz="3200" b="1" dirty="0" err="1">
                <a:solidFill>
                  <a:srgbClr val="1353A2"/>
                </a:solidFill>
                <a:latin typeface="微软雅黑" panose="020B0503020204020204" pitchFamily="34" charset="-122"/>
                <a:ea typeface="微软雅黑" panose="020B0503020204020204" pitchFamily="34" charset="-122"/>
              </a:rPr>
              <a:t>instanceof</a:t>
            </a:r>
            <a:r>
              <a:rPr lang="zh-CN" altLang="en-US" sz="3200" b="1" dirty="0">
                <a:solidFill>
                  <a:srgbClr val="1353A2"/>
                </a:solidFill>
                <a:latin typeface="微软雅黑" panose="020B0503020204020204" pitchFamily="34" charset="-122"/>
                <a:ea typeface="微软雅黑" panose="020B0503020204020204" pitchFamily="34" charset="-122"/>
              </a:rPr>
              <a:t>关键字</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341120" y="1371600"/>
            <a:ext cx="10038080" cy="762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接下来通过一个案例演示</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instanceof</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关键字的用法</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 name="组合 2"/>
          <p:cNvGrpSpPr/>
          <p:nvPr/>
        </p:nvGrpSpPr>
        <p:grpSpPr>
          <a:xfrm>
            <a:off x="1935798" y="2428240"/>
            <a:ext cx="4028122" cy="2794000"/>
            <a:chOff x="1559878" y="2133601"/>
            <a:chExt cx="3936682" cy="2794000"/>
          </a:xfrm>
        </p:grpSpPr>
        <p:pic>
          <p:nvPicPr>
            <p:cNvPr id="6963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59878" y="2133601"/>
              <a:ext cx="3936682" cy="279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p:cNvSpPr txBox="1"/>
            <p:nvPr/>
          </p:nvSpPr>
          <p:spPr>
            <a:xfrm>
              <a:off x="1849120" y="2428240"/>
              <a:ext cx="3647440" cy="24993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定义类</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Anmal</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class Animal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public void shout(){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动物叫……</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5  }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6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4" name="组合 3"/>
          <p:cNvGrpSpPr/>
          <p:nvPr/>
        </p:nvGrpSpPr>
        <p:grpSpPr>
          <a:xfrm>
            <a:off x="6471126" y="2133600"/>
            <a:ext cx="4339114" cy="3840480"/>
            <a:chOff x="6095206" y="2001520"/>
            <a:chExt cx="4339114" cy="3840480"/>
          </a:xfrm>
        </p:grpSpPr>
        <p:pic>
          <p:nvPicPr>
            <p:cNvPr id="6963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5206" y="2001520"/>
              <a:ext cx="4339114" cy="3840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6390640" y="2001520"/>
              <a:ext cx="4043680" cy="38404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7 // Dog</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8 class Dog extends Animal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9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重写</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shout()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   public void shout()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11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汪汪……</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12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13   public void eat()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14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吃骨头……</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15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16}</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8" name="文本占位符 7"/>
          <p:cNvSpPr>
            <a:spLocks noGrp="1"/>
          </p:cNvSpPr>
          <p:nvPr>
            <p:ph type="body" sz="quarter" idx="10"/>
          </p:nvPr>
        </p:nvSpPr>
        <p:spPr/>
        <p:txBody>
          <a:bodyPr/>
          <a:lstStyle/>
          <a:p>
            <a:fld id="{98B18CB9-E957-4219-AA48-98777E922419}"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8132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4.4.3 </a:t>
            </a:r>
            <a:r>
              <a:rPr lang="en-US" altLang="zh-CN" sz="3200" b="1" dirty="0" err="1">
                <a:solidFill>
                  <a:srgbClr val="1353A2"/>
                </a:solidFill>
                <a:latin typeface="微软雅黑" panose="020B0503020204020204" pitchFamily="34" charset="-122"/>
                <a:ea typeface="微软雅黑" panose="020B0503020204020204" pitchFamily="34" charset="-122"/>
              </a:rPr>
              <a:t>instanceof</a:t>
            </a:r>
            <a:r>
              <a:rPr lang="zh-CN" altLang="en-US" sz="3200" b="1" dirty="0">
                <a:solidFill>
                  <a:srgbClr val="1353A2"/>
                </a:solidFill>
                <a:latin typeface="微软雅黑" panose="020B0503020204020204" pitchFamily="34" charset="-122"/>
                <a:ea typeface="微软雅黑" panose="020B0503020204020204" pitchFamily="34" charset="-122"/>
              </a:rPr>
              <a:t>关键字</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1910080" y="1564640"/>
            <a:ext cx="9093200" cy="4257040"/>
            <a:chOff x="1778000" y="1595120"/>
            <a:chExt cx="9093200" cy="4257040"/>
          </a:xfrm>
        </p:grpSpPr>
        <p:pic>
          <p:nvPicPr>
            <p:cNvPr id="7065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78000" y="1595120"/>
              <a:ext cx="8879840" cy="4257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p:cNvSpPr txBox="1"/>
            <p:nvPr/>
          </p:nvSpPr>
          <p:spPr>
            <a:xfrm>
              <a:off x="2153920" y="1595120"/>
              <a:ext cx="8717280" cy="41351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17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定义测试类</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18 public class Example17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19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20	Animal a1 = new Dog();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通过向上转型实例化</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21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 a1 = new Dog()</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"+(a1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instanceof</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Animal));</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22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 a1 = new Dog()</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"+(a1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instanceof</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Dog));</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23	Animal a2 = new Animal();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实例化</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24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 a1 = new Animal()</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"+(a2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instanceof</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Animal));</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25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 a1 = new Animal()</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"+(a2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instanceof</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Dog));</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26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27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E0D468AE-83E4-403B-A2C5-5D292A73DA27}"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4.5 Object</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4729664" y="1581777"/>
            <a:ext cx="5717541" cy="3478847"/>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提供了一个</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Object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类，它是所有类的父类，每个类都直接或间接继承</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Object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类，因此</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Object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类通常被称之为超类。当定义一个类时，如果没有使用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extends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关键字为这个类显式地指定父类，那么该类会默认继承</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Object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08239" y="1744344"/>
            <a:ext cx="2620963" cy="3611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DD1D6B40-CB72-4D2A-9C55-E1D481E84388}"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4.5 Object</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452880" y="1402081"/>
            <a:ext cx="9763761" cy="91439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Object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类常用方法如</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下</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表</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3" name="表格 2"/>
          <p:cNvGraphicFramePr>
            <a:graphicFrameLocks noGrp="1"/>
          </p:cNvGraphicFramePr>
          <p:nvPr/>
        </p:nvGraphicFramePr>
        <p:xfrm>
          <a:off x="2331718" y="2526824"/>
          <a:ext cx="8302625" cy="2482056"/>
        </p:xfrm>
        <a:graphic>
          <a:graphicData uri="http://schemas.openxmlformats.org/drawingml/2006/table">
            <a:tbl>
              <a:tblPr firstRow="1" firstCol="1" bandRow="1">
                <a:tableStyleId>{5C22544A-7EE6-4342-B048-85BDC9FD1C3A}</a:tableStyleId>
              </a:tblPr>
              <a:tblGrid>
                <a:gridCol w="2670232"/>
                <a:gridCol w="5632393"/>
              </a:tblGrid>
              <a:tr h="530997">
                <a:tc>
                  <a:txBody>
                    <a:bodyPr/>
                    <a:lstStyle/>
                    <a:p>
                      <a:pPr algn="ctr">
                        <a:spcAft>
                          <a:spcPts val="0"/>
                        </a:spcAft>
                      </a:pPr>
                      <a:r>
                        <a:rPr lang="zh-CN" sz="1800" kern="100">
                          <a:effectLst/>
                        </a:rPr>
                        <a:t>方法名称</a:t>
                      </a:r>
                      <a:endParaRPr lang="zh-CN" sz="18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zh-CN" sz="1800" kern="100">
                          <a:effectLst/>
                        </a:rPr>
                        <a:t>方法说明</a:t>
                      </a:r>
                      <a:endParaRPr lang="zh-CN" sz="1800" kern="100">
                        <a:effectLst/>
                        <a:latin typeface="Times New Roman" panose="02020603050405020304"/>
                        <a:ea typeface="宋体" panose="02010600030101010101" pitchFamily="2" charset="-122"/>
                      </a:endParaRPr>
                    </a:p>
                  </a:txBody>
                  <a:tcPr marL="68580" marR="68580" marT="0" marB="0" anchor="ctr"/>
                </a:tc>
              </a:tr>
              <a:tr h="512687">
                <a:tc>
                  <a:txBody>
                    <a:bodyPr/>
                    <a:lstStyle/>
                    <a:p>
                      <a:pPr algn="l">
                        <a:spcAft>
                          <a:spcPts val="0"/>
                        </a:spcAft>
                      </a:pPr>
                      <a:r>
                        <a:rPr lang="en-US" sz="1800" kern="100">
                          <a:effectLst/>
                        </a:rPr>
                        <a:t>boolean equals()</a:t>
                      </a:r>
                      <a:endParaRPr lang="zh-CN" sz="1800" kern="100">
                        <a:effectLst/>
                        <a:latin typeface="Times New Roman" panose="02020603050405020304"/>
                        <a:ea typeface="宋体" panose="02010600030101010101" pitchFamily="2" charset="-122"/>
                      </a:endParaRPr>
                    </a:p>
                  </a:txBody>
                  <a:tcPr marL="68580" marR="68580" marT="0" marB="0" anchor="ctr"/>
                </a:tc>
                <a:tc>
                  <a:txBody>
                    <a:bodyPr/>
                    <a:lstStyle/>
                    <a:p>
                      <a:pPr algn="l">
                        <a:spcAft>
                          <a:spcPts val="0"/>
                        </a:spcAft>
                      </a:pPr>
                      <a:r>
                        <a:rPr lang="zh-CN" sz="1800" kern="100">
                          <a:effectLst/>
                        </a:rPr>
                        <a:t>判断两个对象是否“相等”</a:t>
                      </a:r>
                      <a:endParaRPr lang="zh-CN" sz="1800" kern="100">
                        <a:effectLst/>
                        <a:latin typeface="Times New Roman" panose="02020603050405020304"/>
                        <a:ea typeface="宋体" panose="02010600030101010101" pitchFamily="2" charset="-122"/>
                      </a:endParaRPr>
                    </a:p>
                  </a:txBody>
                  <a:tcPr marL="68580" marR="68580" marT="0" marB="0" anchor="ctr"/>
                </a:tc>
              </a:tr>
              <a:tr h="671376">
                <a:tc>
                  <a:txBody>
                    <a:bodyPr/>
                    <a:lstStyle/>
                    <a:p>
                      <a:pPr algn="l">
                        <a:spcAft>
                          <a:spcPts val="0"/>
                        </a:spcAft>
                      </a:pPr>
                      <a:r>
                        <a:rPr lang="en-US" sz="1800" kern="100">
                          <a:effectLst/>
                        </a:rPr>
                        <a:t>int hashCode()</a:t>
                      </a:r>
                      <a:endParaRPr lang="zh-CN" sz="1800" kern="100">
                        <a:effectLst/>
                        <a:latin typeface="Times New Roman" panose="02020603050405020304"/>
                        <a:ea typeface="宋体" panose="02010600030101010101" pitchFamily="2" charset="-122"/>
                      </a:endParaRPr>
                    </a:p>
                  </a:txBody>
                  <a:tcPr marL="68580" marR="68580" marT="0" marB="0" anchor="ctr"/>
                </a:tc>
                <a:tc>
                  <a:txBody>
                    <a:bodyPr/>
                    <a:lstStyle/>
                    <a:p>
                      <a:pPr algn="l">
                        <a:spcAft>
                          <a:spcPts val="0"/>
                        </a:spcAft>
                      </a:pPr>
                      <a:r>
                        <a:rPr lang="zh-CN" sz="1800" kern="100">
                          <a:effectLst/>
                        </a:rPr>
                        <a:t>返回对象的哈希码值</a:t>
                      </a:r>
                      <a:endParaRPr lang="zh-CN" sz="1800" kern="100">
                        <a:effectLst/>
                        <a:latin typeface="Times New Roman" panose="02020603050405020304"/>
                        <a:ea typeface="宋体" panose="02010600030101010101" pitchFamily="2" charset="-122"/>
                      </a:endParaRPr>
                    </a:p>
                  </a:txBody>
                  <a:tcPr marL="68580" marR="68580" marT="0" marB="0" anchor="ctr"/>
                </a:tc>
              </a:tr>
              <a:tr h="766996">
                <a:tc>
                  <a:txBody>
                    <a:bodyPr/>
                    <a:lstStyle/>
                    <a:p>
                      <a:pPr algn="l">
                        <a:spcAft>
                          <a:spcPts val="0"/>
                        </a:spcAft>
                      </a:pPr>
                      <a:r>
                        <a:rPr lang="en-US" sz="1800" kern="100">
                          <a:effectLst/>
                        </a:rPr>
                        <a:t>String toString()</a:t>
                      </a:r>
                      <a:endParaRPr lang="zh-CN" sz="1800" kern="100">
                        <a:effectLst/>
                        <a:latin typeface="Times New Roman" panose="02020603050405020304"/>
                        <a:ea typeface="宋体" panose="02010600030101010101" pitchFamily="2" charset="-122"/>
                      </a:endParaRPr>
                    </a:p>
                  </a:txBody>
                  <a:tcPr marL="68580" marR="68580" marT="0" marB="0" anchor="ctr"/>
                </a:tc>
                <a:tc>
                  <a:txBody>
                    <a:bodyPr/>
                    <a:lstStyle/>
                    <a:p>
                      <a:pPr algn="l">
                        <a:spcAft>
                          <a:spcPts val="0"/>
                        </a:spcAft>
                      </a:pPr>
                      <a:r>
                        <a:rPr lang="zh-CN" sz="1800" kern="100" dirty="0">
                          <a:effectLst/>
                        </a:rPr>
                        <a:t>返回对象的字符串表示形式</a:t>
                      </a:r>
                      <a:endParaRPr lang="zh-CN" sz="1800" kern="100" dirty="0">
                        <a:effectLst/>
                        <a:latin typeface="Times New Roman" panose="02020603050405020304"/>
                        <a:ea typeface="宋体" panose="02010600030101010101" pitchFamily="2" charset="-122"/>
                      </a:endParaRPr>
                    </a:p>
                  </a:txBody>
                  <a:tcPr marL="68580" marR="68580" marT="0" marB="0" anchor="ctr"/>
                </a:tc>
              </a:tr>
            </a:tbl>
          </a:graphicData>
        </a:graphic>
      </p:graphicFrame>
      <p:sp>
        <p:nvSpPr>
          <p:cNvPr id="4" name="文本占位符 3"/>
          <p:cNvSpPr>
            <a:spLocks noGrp="1"/>
          </p:cNvSpPr>
          <p:nvPr>
            <p:ph type="body" sz="quarter" idx="10"/>
          </p:nvPr>
        </p:nvSpPr>
        <p:spPr/>
        <p:txBody>
          <a:bodyPr/>
          <a:lstStyle/>
          <a:p>
            <a:fld id="{8D4DD097-CF85-403D-9B8A-ECD5A172E379}"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4.5 Object</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452880" y="1127760"/>
            <a:ext cx="9763761" cy="66039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下面通过一个例子演示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Object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类中</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toString</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方法的使用</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4" name="组合 3"/>
          <p:cNvGrpSpPr/>
          <p:nvPr/>
        </p:nvGrpSpPr>
        <p:grpSpPr>
          <a:xfrm>
            <a:off x="2052320" y="1767839"/>
            <a:ext cx="8829040" cy="4561841"/>
            <a:chOff x="1808480" y="1818639"/>
            <a:chExt cx="8829040" cy="4561841"/>
          </a:xfrm>
        </p:grpSpPr>
        <p:pic>
          <p:nvPicPr>
            <p:cNvPr id="11878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08480" y="1818640"/>
              <a:ext cx="8829040" cy="4561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291078" y="1818639"/>
              <a:ext cx="8341361" cy="4561841"/>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class Animal {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定义动物叫的方法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	void shout() {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5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动物叫！</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6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7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8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定义测试类</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9 public class Example18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	public static void main(String[]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11		Animal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Animal();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类对象</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12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animal.toString</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调用</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toString</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方法并打印</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13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14}</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3" name="文本占位符 2"/>
          <p:cNvSpPr>
            <a:spLocks noGrp="1"/>
          </p:cNvSpPr>
          <p:nvPr>
            <p:ph type="body" sz="quarter" idx="10"/>
          </p:nvPr>
        </p:nvSpPr>
        <p:spPr/>
        <p:txBody>
          <a:bodyPr/>
          <a:lstStyle/>
          <a:p>
            <a:fld id="{04C576F3-0BC4-421B-849C-CCFB1BEB4A4B}"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16" presetClass="entr" presetSubtype="26"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arn(inHorizontal)">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4.5 Object</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5694556" y="1949440"/>
            <a:ext cx="4977161" cy="30886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在实际开发中，通常希望对象的</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toString</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方法返回的不仅仅是基本信息，而是对象特有的信息，这时可以重写</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Object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toString</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198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99359" y="1562418"/>
            <a:ext cx="2926081" cy="4203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F0C102E0-AE6F-485F-99E4-16A9DE802C27}"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42" presetClass="entr" presetSubtype="0" fill="hold" nodeType="withEffect">
                                  <p:stCondLst>
                                    <p:cond delay="0"/>
                                  </p:stCondLst>
                                  <p:childTnLst>
                                    <p:set>
                                      <p:cBhvr>
                                        <p:cTn id="9" dur="1" fill="hold">
                                          <p:stCondLst>
                                            <p:cond delay="0"/>
                                          </p:stCondLst>
                                        </p:cTn>
                                        <p:tgtEl>
                                          <p:spTgt spid="119810"/>
                                        </p:tgtEl>
                                        <p:attrNameLst>
                                          <p:attrName>style.visibility</p:attrName>
                                        </p:attrNameLst>
                                      </p:cBhvr>
                                      <p:to>
                                        <p:strVal val="visible"/>
                                      </p:to>
                                    </p:set>
                                    <p:animEffect transition="in" filter="fade">
                                      <p:cBhvr>
                                        <p:cTn id="10" dur="1000"/>
                                        <p:tgtEl>
                                          <p:spTgt spid="119810"/>
                                        </p:tgtEl>
                                      </p:cBhvr>
                                    </p:animEffect>
                                    <p:anim calcmode="lin" valueType="num">
                                      <p:cBhvr>
                                        <p:cTn id="11" dur="1000" fill="hold"/>
                                        <p:tgtEl>
                                          <p:spTgt spid="119810"/>
                                        </p:tgtEl>
                                        <p:attrNameLst>
                                          <p:attrName>ppt_x</p:attrName>
                                        </p:attrNameLst>
                                      </p:cBhvr>
                                      <p:tavLst>
                                        <p:tav tm="0">
                                          <p:val>
                                            <p:strVal val="#ppt_x"/>
                                          </p:val>
                                        </p:tav>
                                        <p:tav tm="100000">
                                          <p:val>
                                            <p:strVal val="#ppt_x"/>
                                          </p:val>
                                        </p:tav>
                                      </p:tavLst>
                                    </p:anim>
                                    <p:anim calcmode="lin" valueType="num">
                                      <p:cBhvr>
                                        <p:cTn id="12" dur="1000" fill="hold"/>
                                        <p:tgtEl>
                                          <p:spTgt spid="1198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4.5 Object</a:t>
            </a:r>
            <a:r>
              <a:rPr lang="zh-CN" altLang="en-US" sz="3200" b="1" dirty="0">
                <a:solidFill>
                  <a:srgbClr val="1353A2"/>
                </a:solidFill>
                <a:latin typeface="微软雅黑" panose="020B0503020204020204" pitchFamily="34" charset="-122"/>
                <a:ea typeface="微软雅黑" panose="020B0503020204020204" pitchFamily="34" charset="-122"/>
              </a:rPr>
              <a:t>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133600" y="1442720"/>
            <a:ext cx="9032235" cy="4551680"/>
            <a:chOff x="1950720" y="1310640"/>
            <a:chExt cx="9032235" cy="4551680"/>
          </a:xfrm>
        </p:grpSpPr>
        <p:pic>
          <p:nvPicPr>
            <p:cNvPr id="12083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50720" y="1310640"/>
              <a:ext cx="9032235" cy="4551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316476" y="1310640"/>
              <a:ext cx="8666479" cy="45516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class Animal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重写</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Object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toString</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   public String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toString</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5	return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这是一个动物。</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6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7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8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定义测试类</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9 public class Example19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	public static void main(String[]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11		Animal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Animal();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类对象</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12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animal.toString</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调用</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toString</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方法并打印</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13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14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04DED1AE-1D5C-4041-9154-D48774F34F57}"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4.6 </a:t>
            </a:r>
            <a:r>
              <a:rPr lang="zh-CN" altLang="en-US" sz="3200" b="1" dirty="0">
                <a:solidFill>
                  <a:srgbClr val="1353A2"/>
                </a:solidFill>
                <a:latin typeface="微软雅黑" panose="020B0503020204020204" pitchFamily="34" charset="-122"/>
                <a:ea typeface="微软雅黑" panose="020B0503020204020204" pitchFamily="34" charset="-122"/>
              </a:rPr>
              <a:t>内部类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2001520" y="1567325"/>
            <a:ext cx="5100320" cy="398003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中，允许在一个类的内部定义类，这样的类称作内部类，内部类所在的类称作外部类。在实际开发中，根据内部类的位置、修饰符和定义方式的不同，内部类可分为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种，分别是成员内部类、局部内部类、静态内部类、匿名内部类。</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403146" y="1567325"/>
            <a:ext cx="4008437" cy="3529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643F68AD-6622-4799-84E3-68893C722501}"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4.6.1 </a:t>
            </a:r>
            <a:r>
              <a:rPr lang="zh-CN" altLang="en-US" sz="3200" b="1" dirty="0">
                <a:solidFill>
                  <a:srgbClr val="1353A2"/>
                </a:solidFill>
                <a:latin typeface="微软雅黑" panose="020B0503020204020204" pitchFamily="34" charset="-122"/>
                <a:ea typeface="微软雅黑" panose="020B0503020204020204" pitchFamily="34" charset="-122"/>
              </a:rPr>
              <a:t>成员内部类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6248400" y="1851805"/>
            <a:ext cx="4409440" cy="300467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在一个类中除了可以定义成员变量、成员方法，还可以定义类，这样的类被称作成员内部类。成员内部类可以访问外部类的所有成员。</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50072" y="1940062"/>
            <a:ext cx="3555047" cy="2828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21D9846D-A514-401F-976A-9078061C8567}"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22" presetClass="entr" presetSubtype="4" fill="hold" nodeType="withEffect">
                                  <p:stCondLst>
                                    <p:cond delay="0"/>
                                  </p:stCondLst>
                                  <p:childTnLst>
                                    <p:set>
                                      <p:cBhvr>
                                        <p:cTn id="9" dur="1" fill="hold">
                                          <p:stCondLst>
                                            <p:cond delay="0"/>
                                          </p:stCondLst>
                                        </p:cTn>
                                        <p:tgtEl>
                                          <p:spTgt spid="1026"/>
                                        </p:tgtEl>
                                        <p:attrNameLst>
                                          <p:attrName>style.visibility</p:attrName>
                                        </p:attrNameLst>
                                      </p:cBhvr>
                                      <p:to>
                                        <p:strVal val="visible"/>
                                      </p:to>
                                    </p:set>
                                    <p:animEffect transition="in" filter="wipe(down)">
                                      <p:cBhvr>
                                        <p:cTn id="10"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4.6.1 </a:t>
            </a:r>
            <a:r>
              <a:rPr lang="zh-CN" altLang="en-US" sz="3200" b="1" dirty="0">
                <a:solidFill>
                  <a:srgbClr val="1353A2"/>
                </a:solidFill>
                <a:latin typeface="微软雅黑" panose="020B0503020204020204" pitchFamily="34" charset="-122"/>
                <a:ea typeface="微软雅黑" panose="020B0503020204020204" pitchFamily="34" charset="-122"/>
              </a:rPr>
              <a:t>成员内部类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259840" y="1229361"/>
            <a:ext cx="10373360" cy="66039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接下来通过一个案例学习如何定义成员内部类</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 name="组合 2"/>
          <p:cNvGrpSpPr/>
          <p:nvPr/>
        </p:nvGrpSpPr>
        <p:grpSpPr>
          <a:xfrm>
            <a:off x="3088640" y="1915160"/>
            <a:ext cx="6512560" cy="4312920"/>
            <a:chOff x="2733040" y="1935480"/>
            <a:chExt cx="6512560" cy="4312920"/>
          </a:xfrm>
        </p:grpSpPr>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33040" y="1935480"/>
              <a:ext cx="6512560" cy="429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733040" y="1955800"/>
              <a:ext cx="6512560" cy="42926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class Outer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m = 0;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定义类的成员变量</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下面的代码定义了一个成员方法，方法中访问内部类</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    void test1()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5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外部类成员方法</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6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7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下面的代码定义了一个成员内部类</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8    class Inner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9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n = 1;</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        void show1()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11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在成员内部类的方法中访问外部类的成员变量</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12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外部成员变量</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 = " + m);</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13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32A0A7ED-0510-4895-B8B8-59388965C8BA}"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4.6.1 </a:t>
            </a:r>
            <a:r>
              <a:rPr lang="zh-CN" altLang="en-US" sz="3200" b="1" dirty="0">
                <a:solidFill>
                  <a:srgbClr val="1353A2"/>
                </a:solidFill>
                <a:latin typeface="微软雅黑" panose="020B0503020204020204" pitchFamily="34" charset="-122"/>
                <a:ea typeface="微软雅黑" panose="020B0503020204020204" pitchFamily="34" charset="-122"/>
              </a:rPr>
              <a:t>成员内部类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738118" y="1620520"/>
            <a:ext cx="7401562" cy="4201160"/>
            <a:chOff x="2311398" y="1529080"/>
            <a:chExt cx="7401562" cy="4201160"/>
          </a:xfrm>
        </p:grpSpPr>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1398" y="1529080"/>
              <a:ext cx="7401562" cy="4180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416841" y="1549400"/>
              <a:ext cx="7296119" cy="41808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14 void show2()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15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在成员内部类的方法中访问外部类的成员变量</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16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内部成员方法</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17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18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19    void test2()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20        Inner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inner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Inner();</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21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内部成员变量</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 = "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inner.n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22        inner.show2();</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23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24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2C999533-2D2A-4135-8E7A-C4A5AD743F1B}"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4.6.1 </a:t>
            </a:r>
            <a:r>
              <a:rPr lang="zh-CN" altLang="en-US" sz="3200" b="1" dirty="0">
                <a:solidFill>
                  <a:srgbClr val="1353A2"/>
                </a:solidFill>
                <a:latin typeface="微软雅黑" panose="020B0503020204020204" pitchFamily="34" charset="-122"/>
                <a:ea typeface="微软雅黑" panose="020B0503020204020204" pitchFamily="34" charset="-122"/>
              </a:rPr>
              <a:t>成员内部类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3108960" y="1778000"/>
            <a:ext cx="6390640" cy="3616960"/>
            <a:chOff x="2753360" y="1727200"/>
            <a:chExt cx="6390640" cy="3616960"/>
          </a:xfrm>
        </p:grpSpPr>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53360" y="1727200"/>
              <a:ext cx="6390640" cy="3616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3850640" y="2087880"/>
              <a:ext cx="4752339" cy="30327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25 public class Example20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26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27        Outer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outer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Outer();</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28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Outer.Inner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inner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outer.new</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Inner();</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29        inner.show1();</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30       outer.test2();</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31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32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D1DEDBEF-547D-4634-8FE0-77F134FF6AE6}"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4.6.1 </a:t>
            </a:r>
            <a:r>
              <a:rPr lang="zh-CN" altLang="en-US" sz="3200" b="1" dirty="0">
                <a:solidFill>
                  <a:srgbClr val="1353A2"/>
                </a:solidFill>
                <a:latin typeface="微软雅黑" panose="020B0503020204020204" pitchFamily="34" charset="-122"/>
                <a:ea typeface="微软雅黑" panose="020B0503020204020204" pitchFamily="34" charset="-122"/>
              </a:rPr>
              <a:t>成员内部类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2118358" y="2286001"/>
            <a:ext cx="8818880" cy="207263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如果想通过外部类访问内部类，则需要通过外部类创建内部类对象，创建内部类对象的具体语法格式如下：</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外部类名</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内部类名 变量名</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 new </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外部类名</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().new </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内部类名</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06F114C1-304F-4228-BD99-CC175EDCC948}"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4.6.2 </a:t>
            </a:r>
            <a:r>
              <a:rPr lang="zh-CN" altLang="en-US" sz="3200" b="1" dirty="0">
                <a:solidFill>
                  <a:srgbClr val="1353A2"/>
                </a:solidFill>
                <a:latin typeface="微软雅黑" panose="020B0503020204020204" pitchFamily="34" charset="-122"/>
                <a:ea typeface="微软雅黑" panose="020B0503020204020204" pitchFamily="34" charset="-122"/>
              </a:rPr>
              <a:t>局部内部类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691638" y="1503681"/>
            <a:ext cx="5847082" cy="408431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局部内部类，也叫作方法内部类，是指定义在某个局部范围中的类，它和局部变量一样，都是在方法中定义的，</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有效范围只限于方法内部。</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在局部内部类中，局部内部类可以访问外部类的所有成员变量和方法，而局部内部类中变量和方法却只能在所属方法中访问。</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52435" y="1706562"/>
            <a:ext cx="2811463" cy="344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44C64F6D-0ACD-422D-B547-0066F555AF6F}"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122"/>
                                        </p:tgtEl>
                                        <p:attrNameLst>
                                          <p:attrName>style.visibility</p:attrName>
                                        </p:attrNameLst>
                                      </p:cBhvr>
                                      <p:to>
                                        <p:strVal val="visible"/>
                                      </p:to>
                                    </p:set>
                                    <p:animEffect transition="in" filter="fade">
                                      <p:cBhvr>
                                        <p:cTn id="11" dur="5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4.6.2 </a:t>
            </a:r>
            <a:r>
              <a:rPr lang="zh-CN" altLang="en-US" sz="3200" b="1" dirty="0">
                <a:solidFill>
                  <a:srgbClr val="1353A2"/>
                </a:solidFill>
                <a:latin typeface="微软雅黑" panose="020B0503020204020204" pitchFamily="34" charset="-122"/>
                <a:ea typeface="微软雅黑" panose="020B0503020204020204" pitchFamily="34" charset="-122"/>
              </a:rPr>
              <a:t>局部内部类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691638" y="1341121"/>
            <a:ext cx="9951722" cy="77215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接下来通过一个案例学习局部内部类的定义和使用</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 name="组合 2"/>
          <p:cNvGrpSpPr/>
          <p:nvPr/>
        </p:nvGrpSpPr>
        <p:grpSpPr>
          <a:xfrm>
            <a:off x="2722880" y="2382840"/>
            <a:ext cx="7315200" cy="2869880"/>
            <a:chOff x="2550160" y="2403160"/>
            <a:chExt cx="7315200" cy="2869880"/>
          </a:xfrm>
        </p:grpSpPr>
        <p:pic>
          <p:nvPicPr>
            <p:cNvPr id="6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50160" y="2403160"/>
              <a:ext cx="7315200" cy="2869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3210560" y="2509521"/>
              <a:ext cx="6624320" cy="276351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class Outer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m = 0;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定义类的成员变量</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下面的代码定义了一个成员方法，方法中访问内部类</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     void test1()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5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外部类成员方法</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6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2B966062-5378-49C3-A503-50F916091307}"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randombar(horizontal)">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4.6.2 </a:t>
            </a:r>
            <a:r>
              <a:rPr lang="zh-CN" altLang="en-US" sz="3200" b="1" dirty="0">
                <a:solidFill>
                  <a:srgbClr val="1353A2"/>
                </a:solidFill>
                <a:latin typeface="微软雅黑" panose="020B0503020204020204" pitchFamily="34" charset="-122"/>
                <a:ea typeface="微软雅黑" panose="020B0503020204020204" pitchFamily="34" charset="-122"/>
              </a:rPr>
              <a:t>局部内部类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712720" y="1330961"/>
            <a:ext cx="7112000" cy="4856479"/>
            <a:chOff x="2600960" y="1371601"/>
            <a:chExt cx="7112000" cy="4856479"/>
          </a:xfrm>
        </p:grpSpPr>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00960" y="1371601"/>
              <a:ext cx="7112000" cy="4856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3484880" y="1371601"/>
              <a:ext cx="5567680" cy="485647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7 void test2()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8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下面的代码定义了一个成员内部类</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9        class Inner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n = 1;</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11            void show()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12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在成员内部类的方法中访问外部类的成员变量</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13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外部成员变量</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 = " + m);</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14                test1();</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15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16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17        Inner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inner</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Inner();</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18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局部内部类变量</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 = "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inner.n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19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inner.show</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20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21}</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7E826071-AA6D-41B0-90C1-51984463BDA7}"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4.6.2 </a:t>
            </a:r>
            <a:r>
              <a:rPr lang="zh-CN" altLang="en-US" sz="3200" b="1" dirty="0">
                <a:solidFill>
                  <a:srgbClr val="1353A2"/>
                </a:solidFill>
                <a:latin typeface="微软雅黑" panose="020B0503020204020204" pitchFamily="34" charset="-122"/>
                <a:ea typeface="微软雅黑" panose="020B0503020204020204" pitchFamily="34" charset="-122"/>
              </a:rPr>
              <a:t>局部内部类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3586480" y="2204721"/>
            <a:ext cx="5933440" cy="2763519"/>
            <a:chOff x="3129280" y="2082800"/>
            <a:chExt cx="5933440" cy="2763519"/>
          </a:xfrm>
        </p:grpSpPr>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29280" y="2082800"/>
              <a:ext cx="5933440" cy="2763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3921760" y="2174241"/>
              <a:ext cx="4886960" cy="264159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22 public class Example21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23    public static void main(String[]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24        Outer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outer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Outer();</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25        outer.test2();</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26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27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13738052-E97C-4FC5-A6A8-F34B361450AC}"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4.6.3 </a:t>
            </a:r>
            <a:r>
              <a:rPr lang="zh-CN" altLang="en-US" sz="3200" b="1" dirty="0">
                <a:solidFill>
                  <a:srgbClr val="1353A2"/>
                </a:solidFill>
                <a:latin typeface="微软雅黑" panose="020B0503020204020204" pitchFamily="34" charset="-122"/>
                <a:ea typeface="微软雅黑" panose="020B0503020204020204" pitchFamily="34" charset="-122"/>
              </a:rPr>
              <a:t>静态内部类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904998" y="1615440"/>
            <a:ext cx="5379722" cy="39928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所谓静态内部类，就是使用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static</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关键字修饰的成员内部类。与成员内部类相比，在形式上，静态内部类只是在内部类前增加了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static</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关键字，但在功能上，静态内部类只能访问外部类的静态成员，通过外部类访问静态内部类成员时，可以跳过外部类直接访问静态内部类。</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80960" y="2100737"/>
            <a:ext cx="3536699" cy="305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4DA961A4-8686-4F56-A76D-CA09D09920DF}"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4.6.3 </a:t>
            </a:r>
            <a:r>
              <a:rPr lang="zh-CN" altLang="en-US" sz="3200" b="1" dirty="0">
                <a:solidFill>
                  <a:srgbClr val="1353A2"/>
                </a:solidFill>
                <a:latin typeface="微软雅黑" panose="020B0503020204020204" pitchFamily="34" charset="-122"/>
                <a:ea typeface="微软雅黑" panose="020B0503020204020204" pitchFamily="34" charset="-122"/>
              </a:rPr>
              <a:t>静态内部类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2067558" y="2509520"/>
            <a:ext cx="9281162" cy="13309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创建静态内部类对象的基本语法格式如下：</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外部类名</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静态内部类名 变量名</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 new </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外部类名</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静态内部类名</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452BEC07-2B9B-40BA-AF9D-337D7C78645E}"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4.6.3 </a:t>
            </a:r>
            <a:r>
              <a:rPr lang="zh-CN" altLang="en-US" sz="3200" b="1" dirty="0">
                <a:solidFill>
                  <a:srgbClr val="1353A2"/>
                </a:solidFill>
                <a:latin typeface="微软雅黑" panose="020B0503020204020204" pitchFamily="34" charset="-122"/>
                <a:ea typeface="微软雅黑" panose="020B0503020204020204" pitchFamily="34" charset="-122"/>
              </a:rPr>
              <a:t>静态内部类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539238" y="1259840"/>
            <a:ext cx="9281162" cy="762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接下来通过一个案例学习静态内部类的定义和使用</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 name="组合 2"/>
          <p:cNvGrpSpPr/>
          <p:nvPr/>
        </p:nvGrpSpPr>
        <p:grpSpPr>
          <a:xfrm>
            <a:off x="2661920" y="1950720"/>
            <a:ext cx="7335520" cy="4165600"/>
            <a:chOff x="2448560" y="1981200"/>
            <a:chExt cx="7335520" cy="4165600"/>
          </a:xfrm>
        </p:grpSpPr>
        <p:pic>
          <p:nvPicPr>
            <p:cNvPr id="92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48560" y="1981200"/>
              <a:ext cx="7335520" cy="4135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p:cNvSpPr txBox="1"/>
            <p:nvPr/>
          </p:nvSpPr>
          <p:spPr>
            <a:xfrm>
              <a:off x="2448560" y="2011680"/>
              <a:ext cx="7335520" cy="41351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class Outer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static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m = 0;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定义类的成员变量</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下面的代码定义了一个静态内部类</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    static class Inner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5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n = 1;</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6         void show()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7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在静态内部类的方法中访问外部类的成员变量</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8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外部静态变量</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 = " + m);</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9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11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8A1C302C-02E3-469E-86AD-2057E4D2F842}"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16" presetClass="entr" presetSubtype="42"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outHorizontal)">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4.6.3 </a:t>
            </a:r>
            <a:r>
              <a:rPr lang="zh-CN" altLang="en-US" sz="3200" b="1" dirty="0">
                <a:solidFill>
                  <a:srgbClr val="1353A2"/>
                </a:solidFill>
                <a:latin typeface="微软雅黑" panose="020B0503020204020204" pitchFamily="34" charset="-122"/>
                <a:ea typeface="微软雅黑" panose="020B0503020204020204" pitchFamily="34" charset="-122"/>
              </a:rPr>
              <a:t>静态内部类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3129280" y="2021840"/>
            <a:ext cx="6583680" cy="2926080"/>
            <a:chOff x="2895600" y="1991360"/>
            <a:chExt cx="6583680" cy="2926080"/>
          </a:xfrm>
        </p:grpSpPr>
        <p:pic>
          <p:nvPicPr>
            <p:cNvPr id="1024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95600" y="1991360"/>
              <a:ext cx="6583680" cy="2926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p:cNvSpPr txBox="1"/>
            <p:nvPr/>
          </p:nvSpPr>
          <p:spPr>
            <a:xfrm>
              <a:off x="3637280" y="2138680"/>
              <a:ext cx="5466080" cy="26365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12 public class Example22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13    public static void main(String[]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14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Outer.Inner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inner = new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Outer.Inner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15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inner.show</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16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17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3B934927-12D8-49DD-98C5-B890C38191E1}"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4.6.4 </a:t>
            </a:r>
            <a:r>
              <a:rPr lang="zh-CN" altLang="en-US" sz="3200" b="1" dirty="0">
                <a:solidFill>
                  <a:srgbClr val="1353A2"/>
                </a:solidFill>
                <a:latin typeface="微软雅黑" panose="020B0503020204020204" pitchFamily="34" charset="-122"/>
                <a:ea typeface="微软雅黑" panose="020B0503020204020204" pitchFamily="34" charset="-122"/>
              </a:rPr>
              <a:t>匿名内部类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468118" y="1696720"/>
            <a:ext cx="5156202" cy="3606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匿名内部类是没有名称的内部类。在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中调用某个方法时，如果该方法的参数是接口类型，除了可以传入一个接口实现类，还可以使用实现接口的匿名内部类作为参数，在匿名内部类中直接完成方法的实现。</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内容占位符 2"/>
          <p:cNvSpPr txBox="1"/>
          <p:nvPr/>
        </p:nvSpPr>
        <p:spPr>
          <a:xfrm>
            <a:off x="7406640" y="1986280"/>
            <a:ext cx="4185920" cy="30276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创建匿名内部类的基本语法格式如下：</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new </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父接口</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匿名内部类实现部分</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4" name="直接连接符 3"/>
          <p:cNvCxnSpPr/>
          <p:nvPr/>
        </p:nvCxnSpPr>
        <p:spPr>
          <a:xfrm>
            <a:off x="6990080" y="1493520"/>
            <a:ext cx="0" cy="4653280"/>
          </a:xfrm>
          <a:prstGeom prst="line">
            <a:avLst/>
          </a:prstGeom>
        </p:spPr>
        <p:style>
          <a:lnRef idx="3">
            <a:schemeClr val="accent5"/>
          </a:lnRef>
          <a:fillRef idx="0">
            <a:schemeClr val="accent5"/>
          </a:fillRef>
          <a:effectRef idx="2">
            <a:schemeClr val="accent5"/>
          </a:effectRef>
          <a:fontRef idx="minor">
            <a:schemeClr val="tx1"/>
          </a:fontRef>
        </p:style>
      </p:cxnSp>
      <p:sp>
        <p:nvSpPr>
          <p:cNvPr id="3" name="文本占位符 2"/>
          <p:cNvSpPr>
            <a:spLocks noGrp="1"/>
          </p:cNvSpPr>
          <p:nvPr>
            <p:ph type="body" sz="quarter" idx="10"/>
          </p:nvPr>
        </p:nvSpPr>
        <p:spPr/>
        <p:txBody>
          <a:bodyPr/>
          <a:lstStyle/>
          <a:p>
            <a:fld id="{970523C9-0613-45C6-B997-15902EE3D65E}"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4.6.4 </a:t>
            </a:r>
            <a:r>
              <a:rPr lang="zh-CN" altLang="en-US" sz="3200" b="1" dirty="0">
                <a:solidFill>
                  <a:srgbClr val="1353A2"/>
                </a:solidFill>
                <a:latin typeface="微软雅黑" panose="020B0503020204020204" pitchFamily="34" charset="-122"/>
                <a:ea typeface="微软雅黑" panose="020B0503020204020204" pitchFamily="34" charset="-122"/>
              </a:rPr>
              <a:t>匿名内部类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3393440" y="1361440"/>
            <a:ext cx="5455919" cy="4897120"/>
            <a:chOff x="3393440" y="1361440"/>
            <a:chExt cx="5455919" cy="4897120"/>
          </a:xfrm>
        </p:grpSpPr>
        <p:pic>
          <p:nvPicPr>
            <p:cNvPr id="1126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93440" y="1361440"/>
              <a:ext cx="5455919" cy="4897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4295137" y="1457960"/>
              <a:ext cx="4056383" cy="4699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interface Animal{</a:t>
              </a:r>
              <a:endParaRPr lang="zh-CN"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void shout();</a:t>
              </a:r>
              <a:endParaRPr lang="zh-CN"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a:t>
              </a:r>
              <a:endParaRPr lang="zh-CN"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 public class Example23{</a:t>
              </a:r>
              <a:endParaRPr lang="zh-CN"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5    public static void main(String[] </a:t>
              </a:r>
              <a:r>
                <a:rPr lang="en-US" altLang="zh-CN" sz="12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6        String name = "</a:t>
              </a:r>
              <a:r>
                <a:rPr lang="zh-CN"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小花</a:t>
              </a:r>
              <a:r>
                <a:rPr lang="en-US"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7        </a:t>
              </a:r>
              <a:r>
                <a:rPr lang="en-US" altLang="zh-CN" sz="12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animalShout</a:t>
              </a:r>
              <a:r>
                <a:rPr lang="en-US"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(new Animal(){</a:t>
              </a:r>
              <a:endParaRPr lang="zh-CN"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8           @Override</a:t>
              </a:r>
              <a:endParaRPr lang="zh-CN"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9            public void shout() {</a:t>
              </a:r>
              <a:endParaRPr lang="zh-CN"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                </a:t>
              </a:r>
              <a:r>
                <a:rPr lang="en-US" altLang="zh-CN" sz="12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(name+"</a:t>
              </a:r>
              <a:r>
                <a:rPr lang="zh-CN"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喵喵</a:t>
              </a:r>
              <a:r>
                <a:rPr lang="en-US"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11            }</a:t>
              </a:r>
              <a:endParaRPr lang="zh-CN"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12       });</a:t>
              </a:r>
              <a:endParaRPr lang="zh-CN"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13   }</a:t>
              </a:r>
              <a:endParaRPr lang="zh-CN"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14   public static void </a:t>
              </a:r>
              <a:r>
                <a:rPr lang="en-US" altLang="zh-CN" sz="12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animalShout</a:t>
              </a:r>
              <a:r>
                <a:rPr lang="en-US"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 an){</a:t>
              </a:r>
              <a:endParaRPr lang="zh-CN"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15       </a:t>
              </a:r>
              <a:r>
                <a:rPr lang="en-US" altLang="zh-CN" sz="12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an.shout</a:t>
              </a:r>
              <a:r>
                <a:rPr lang="en-US"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16    }</a:t>
              </a:r>
              <a:endParaRPr lang="zh-CN"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17 }</a:t>
              </a:r>
              <a:endParaRPr lang="zh-CN" altLang="zh-CN" sz="12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D22871D4-854E-42EC-83F8-E3DF622671FC}"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4.6.4 </a:t>
            </a:r>
            <a:r>
              <a:rPr lang="zh-CN" altLang="en-US" sz="3200" b="1" dirty="0">
                <a:solidFill>
                  <a:srgbClr val="1353A2"/>
                </a:solidFill>
                <a:latin typeface="微软雅黑" panose="020B0503020204020204" pitchFamily="34" charset="-122"/>
                <a:ea typeface="微软雅黑" panose="020B0503020204020204" pitchFamily="34" charset="-122"/>
              </a:rPr>
              <a:t>匿名内部类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731534" y="1588174"/>
            <a:ext cx="9062846" cy="345167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上述代码</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中的匿名内部类中访问了局部变量</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name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，而局部变量</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name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并没有使用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final</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修饰符修饰，程序也没有报错。这是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JDK 8</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的新增特性，允许在局部内部类、匿名内部类中访问非</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final</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修饰的局部变量，而在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JDK 8</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之前，局部变量前必须加</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final</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修饰符，否则程序编译时报错。</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E91D62DC-16AC-453D-BD40-59E84E50A761}"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4.6.4 </a:t>
            </a:r>
            <a:r>
              <a:rPr lang="zh-CN" altLang="en-US" sz="3200" b="1" dirty="0">
                <a:solidFill>
                  <a:srgbClr val="1353A2"/>
                </a:solidFill>
                <a:latin typeface="微软雅黑" panose="020B0503020204020204" pitchFamily="34" charset="-122"/>
                <a:ea typeface="微软雅黑" panose="020B0503020204020204" pitchFamily="34" charset="-122"/>
              </a:rPr>
              <a:t>匿名内部类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772918" y="1635760"/>
            <a:ext cx="9677402" cy="36576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匿名类的编写步骤：</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）在调用</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animalShout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方法时，在方法的参数位置写上</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new Animal(){}</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，这相当于创建了一个实例对象，并将对象作为参数传给</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animalShout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new Animal()</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后面有一对大括号，表示创建的对象为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的子类实例，该子类是匿名的。具体代码如下所示：</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animalShout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(new Animal(){});</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3DAF6EF5-68A3-4723-8CE9-46D8A3E752B2}"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4.6.4 </a:t>
            </a:r>
            <a:r>
              <a:rPr lang="zh-CN" altLang="en-US" sz="3200" b="1" dirty="0">
                <a:solidFill>
                  <a:srgbClr val="1353A2"/>
                </a:solidFill>
                <a:latin typeface="微软雅黑" panose="020B0503020204020204" pitchFamily="34" charset="-122"/>
                <a:ea typeface="微软雅黑" panose="020B0503020204020204" pitchFamily="34" charset="-122"/>
              </a:rPr>
              <a:t>匿名内部类</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2524758" y="1798320"/>
            <a:ext cx="8315962" cy="35356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）在大括号中编写匿名子类的实现代码，具体如下所示：</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animalShout</a:t>
            </a:r>
            <a:r>
              <a:rPr lang="en-US" altLang="zh-CN" sz="24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(new Animal() {</a:t>
            </a:r>
            <a:endParaRPr lang="zh-CN" altLang="zh-CN" sz="24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public void shout() {</a:t>
            </a:r>
            <a:endParaRPr lang="zh-CN" altLang="zh-CN" sz="24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24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喵喵</a:t>
            </a:r>
            <a:r>
              <a:rPr lang="en-US" altLang="zh-CN" sz="24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24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C4AF7F2F-8A5F-4882-952A-53B8AD5898D6}"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4.7.1 </a:t>
            </a:r>
            <a:r>
              <a:rPr lang="zh-CN" altLang="en-US" sz="3200" b="1" dirty="0">
                <a:solidFill>
                  <a:srgbClr val="1353A2"/>
                </a:solidFill>
                <a:latin typeface="微软雅黑" panose="020B0503020204020204" pitchFamily="34" charset="-122"/>
                <a:ea typeface="微软雅黑" panose="020B0503020204020204" pitchFamily="34" charset="-122"/>
              </a:rPr>
              <a:t>什么是异常</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259840" y="1686560"/>
            <a:ext cx="9845040" cy="34645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尽管人人希望自己身体健康，处理的事情都能顺利进行，但在实际生活中总会遇到各种状况，比如感冒发烧，工作时电脑蓝屏、死机等。同样，在程序运行的过程中，也会发生各种非正常状况，例如，程序运行时磁盘空间不足、网络连接中断、被装载的类不存在等。针对这种情况， </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语言引入了异常，以异常类的形式对这些非正常情况进行封装，通过异常处理机制对程序运行时发生的各种问题进行处理。</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占位符 2"/>
          <p:cNvSpPr>
            <a:spLocks noGrp="1"/>
          </p:cNvSpPr>
          <p:nvPr>
            <p:ph type="body" sz="quarter" idx="10"/>
          </p:nvPr>
        </p:nvSpPr>
        <p:spPr/>
        <p:txBody>
          <a:bodyPr/>
          <a:lstStyle/>
          <a:p>
            <a:fld id="{825B312F-6FE9-4451-BCAA-6A3C2377876D}" type="slidenum">
              <a:rPr lang="zh-CN" altLang="en-US" smtClean="0"/>
            </a:fld>
            <a:endParaRPr lang="zh-CN" altLang="en-US" dirty="0"/>
          </a:p>
        </p:txBody>
      </p:sp>
    </p:spTree>
    <p:custDataLst>
      <p:tags r:id="rId1"/>
    </p:custData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4.7.1 </a:t>
            </a:r>
            <a:r>
              <a:rPr lang="zh-CN" altLang="en-US" sz="3200" b="1" dirty="0">
                <a:solidFill>
                  <a:srgbClr val="1353A2"/>
                </a:solidFill>
                <a:latin typeface="微软雅黑" panose="020B0503020204020204" pitchFamily="34" charset="-122"/>
                <a:ea typeface="微软雅黑" panose="020B0503020204020204" pitchFamily="34" charset="-122"/>
              </a:rPr>
              <a:t>什么是异常</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259840" y="1209040"/>
            <a:ext cx="9845040" cy="812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接下来通过一个案例认识一下什么是异常</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 name="组合 2"/>
          <p:cNvGrpSpPr/>
          <p:nvPr/>
        </p:nvGrpSpPr>
        <p:grpSpPr>
          <a:xfrm>
            <a:off x="1737360" y="1869440"/>
            <a:ext cx="9479280" cy="4165600"/>
            <a:chOff x="1737360" y="1869440"/>
            <a:chExt cx="9479280" cy="4165600"/>
          </a:xfrm>
        </p:grpSpPr>
        <p:pic>
          <p:nvPicPr>
            <p:cNvPr id="1229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37360" y="1869440"/>
              <a:ext cx="9479280" cy="416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p:cNvSpPr txBox="1"/>
            <p:nvPr/>
          </p:nvSpPr>
          <p:spPr>
            <a:xfrm>
              <a:off x="2255520" y="1869440"/>
              <a:ext cx="8961120" cy="40538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public class Example24 {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result = divide(4, 0);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调用</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divide()</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(result);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5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6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下面的方法实现了两个整数相除</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7	public static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divide(</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x,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y) {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8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result = x / y;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定义一个变量</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result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记录两个数相除的结果</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9		return result;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将结果返回</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10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11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041A3AAB-39B4-462A-8C35-33051367A292}" type="slidenum">
              <a:rPr lang="zh-CN" altLang="en-US" smtClean="0"/>
            </a:fld>
            <a:endParaRPr lang="zh-CN" altLang="en-US" dirty="0"/>
          </a:p>
        </p:txBody>
      </p:sp>
    </p:spTree>
    <p:custDataLst>
      <p:tags r:id="rId2"/>
    </p:custData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4.7.1 </a:t>
            </a:r>
            <a:r>
              <a:rPr lang="zh-CN" altLang="en-US" sz="3200" b="1" dirty="0">
                <a:solidFill>
                  <a:srgbClr val="1353A2"/>
                </a:solidFill>
                <a:latin typeface="微软雅黑" panose="020B0503020204020204" pitchFamily="34" charset="-122"/>
                <a:ea typeface="微软雅黑" panose="020B0503020204020204" pitchFamily="34" charset="-122"/>
              </a:rPr>
              <a:t>什么是异常</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5221001" y="1553650"/>
            <a:ext cx="5425440" cy="37287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从运行结果可以看出，程序发生了算术异常（</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ArithmeticException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），该异常是由于文件</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4-24</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中的第</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行代码调用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divide()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方法时传入了参数</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0</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，运算时出现了被</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0</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除的情况。异常发生后，程序会立即结束，无法继续向下执行。</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33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99360" y="1553650"/>
            <a:ext cx="2437130" cy="388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占位符 2"/>
          <p:cNvSpPr>
            <a:spLocks noGrp="1"/>
          </p:cNvSpPr>
          <p:nvPr>
            <p:ph type="body" sz="quarter" idx="10"/>
          </p:nvPr>
        </p:nvSpPr>
        <p:spPr/>
        <p:txBody>
          <a:bodyPr/>
          <a:lstStyle/>
          <a:p>
            <a:fld id="{2A66507D-8040-48DB-9907-E2F364FA691F}" type="slidenum">
              <a:rPr lang="zh-CN" altLang="en-US" smtClean="0"/>
            </a:fld>
            <a:endParaRPr lang="zh-CN" altLang="en-US" dirty="0"/>
          </a:p>
        </p:txBody>
      </p:sp>
    </p:spTree>
    <p:custDataLst>
      <p:tags r:id="rId2"/>
    </p:custData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13314"/>
                                        </p:tgtEl>
                                        <p:attrNameLst>
                                          <p:attrName>style.visibility</p:attrName>
                                        </p:attrNameLst>
                                      </p:cBhvr>
                                      <p:to>
                                        <p:strVal val="visible"/>
                                      </p:to>
                                    </p:set>
                                    <p:animEffect transition="in" filter="fade">
                                      <p:cBhvr>
                                        <p:cTn id="10" dur="500"/>
                                        <p:tgtEl>
                                          <p:spTgt spid="13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4.7.1 </a:t>
            </a:r>
            <a:r>
              <a:rPr lang="zh-CN" altLang="en-US" sz="3200" b="1" dirty="0">
                <a:solidFill>
                  <a:srgbClr val="1353A2"/>
                </a:solidFill>
                <a:latin typeface="微软雅黑" panose="020B0503020204020204" pitchFamily="34" charset="-122"/>
                <a:ea typeface="微软雅黑" panose="020B0503020204020204" pitchFamily="34" charset="-122"/>
              </a:rPr>
              <a:t>什么是异常</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412240" y="1198880"/>
            <a:ext cx="10078720" cy="19304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上述程序</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产生的</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ArithmeticException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异常只是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异常类中的一种，</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提供了大量的异常类，这些类都继承自</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java.lang.Throwable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接下来通过一张图展示</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Throwable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类的继承体系</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4" name="对象 3"/>
          <p:cNvGraphicFramePr>
            <a:graphicFrameLocks noChangeAspect="1"/>
          </p:cNvGraphicFramePr>
          <p:nvPr/>
        </p:nvGraphicFramePr>
        <p:xfrm>
          <a:off x="3515360" y="3024345"/>
          <a:ext cx="6197600" cy="3230401"/>
        </p:xfrm>
        <a:graphic>
          <a:graphicData uri="http://schemas.openxmlformats.org/presentationml/2006/ole">
            <mc:AlternateContent xmlns:mc="http://schemas.openxmlformats.org/markup-compatibility/2006">
              <mc:Choice xmlns:v="urn:schemas-microsoft-com:vml" Requires="v">
                <p:oleObj spid="_x0000_s1037" name="Visio" r:id="rId1" imgW="15062200" imgH="7810500" progId="Visio.Drawing.11">
                  <p:embed/>
                </p:oleObj>
              </mc:Choice>
              <mc:Fallback>
                <p:oleObj name="Visio" r:id="rId1" imgW="15062200" imgH="7810500" progId="Visio.Drawing.11">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5360" y="3024345"/>
                        <a:ext cx="6197600" cy="3230401"/>
                      </a:xfrm>
                      <a:prstGeom prst="rect">
                        <a:avLst/>
                      </a:prstGeom>
                      <a:noFill/>
                    </p:spPr>
                  </p:pic>
                </p:oleObj>
              </mc:Fallback>
            </mc:AlternateContent>
          </a:graphicData>
        </a:graphic>
      </p:graphicFrame>
      <p:sp>
        <p:nvSpPr>
          <p:cNvPr id="5" name="文本占位符 4"/>
          <p:cNvSpPr>
            <a:spLocks noGrp="1"/>
          </p:cNvSpPr>
          <p:nvPr>
            <p:ph type="body" sz="quarter" idx="10"/>
          </p:nvPr>
        </p:nvSpPr>
        <p:spPr/>
        <p:txBody>
          <a:bodyPr/>
          <a:lstStyle/>
          <a:p>
            <a:fld id="{8CFE90EF-6BF3-4EE2-AE86-C223C848D667}" type="slidenum">
              <a:rPr lang="zh-CN" altLang="en-US" smtClean="0"/>
            </a:fld>
            <a:endParaRPr lang="zh-CN" altLang="en-US" dirty="0"/>
          </a:p>
        </p:txBody>
      </p:sp>
    </p:spTree>
    <p:custDataLst>
      <p:tags r:id="rId3"/>
    </p:custData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4.7.1 </a:t>
            </a:r>
            <a:r>
              <a:rPr lang="zh-CN" altLang="en-US" sz="3200" b="1" dirty="0">
                <a:solidFill>
                  <a:srgbClr val="1353A2"/>
                </a:solidFill>
                <a:latin typeface="微软雅黑" panose="020B0503020204020204" pitchFamily="34" charset="-122"/>
                <a:ea typeface="微软雅黑" panose="020B0503020204020204" pitchFamily="34" charset="-122"/>
              </a:rPr>
              <a:t>什么是异常</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686560" y="1463040"/>
            <a:ext cx="9723120" cy="41960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Throwable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有两个直接子类</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Error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Exception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，其中，</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Error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代表程序中产生的错误，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Exception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代表程序中产生的异常。</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Error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类称为错误类，它表示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程序运行时产生的系统内部错误或资源耗尽的错误，这类错误比较严重，仅靠修改程序本身是不能恢复执行的。举一个生活中的例子，在盖楼的过程中因偷工减料，导致大楼坍塌，这就相当于一个</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Error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。例如，使用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命令去运行一个不存在的类就会出现</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Error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错误。</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占位符 3"/>
          <p:cNvSpPr>
            <a:spLocks noGrp="1"/>
          </p:cNvSpPr>
          <p:nvPr>
            <p:ph type="body" sz="quarter" idx="10"/>
          </p:nvPr>
        </p:nvSpPr>
        <p:spPr/>
        <p:txBody>
          <a:bodyPr/>
          <a:lstStyle/>
          <a:p>
            <a:fld id="{A7F35068-1415-4F0A-B484-35BB5AF8DC63}" type="slidenum">
              <a:rPr lang="zh-CN" altLang="en-US" smtClean="0"/>
            </a:fld>
            <a:endParaRPr lang="zh-CN" altLang="en-US" dirty="0"/>
          </a:p>
        </p:txBody>
      </p:sp>
    </p:spTree>
    <p:custDataLst>
      <p:tags r:id="rId1"/>
    </p:custData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4.7.1 </a:t>
            </a:r>
            <a:r>
              <a:rPr lang="zh-CN" altLang="en-US" sz="3200" b="1" dirty="0">
                <a:solidFill>
                  <a:srgbClr val="1353A2"/>
                </a:solidFill>
                <a:latin typeface="微软雅黑" panose="020B0503020204020204" pitchFamily="34" charset="-122"/>
                <a:ea typeface="微软雅黑" panose="020B0503020204020204" pitchFamily="34" charset="-122"/>
              </a:rPr>
              <a:t>什么是异常</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849120" y="1879600"/>
            <a:ext cx="9418320" cy="30581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Exception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类称为异常类，它表示程序本身可以处理的错误，在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程序中进行的异常处理，都是针对</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Exception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类及其子类的。在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Exception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类的众多子类中有一个特殊的子类—</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RuntimeException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RuntimeException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类及其子类用于表示运行时异常。 </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Exception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类的其他子类都用于表示编译时异常。</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占位符 3"/>
          <p:cNvSpPr>
            <a:spLocks noGrp="1"/>
          </p:cNvSpPr>
          <p:nvPr>
            <p:ph type="body" sz="quarter" idx="10"/>
          </p:nvPr>
        </p:nvSpPr>
        <p:spPr/>
        <p:txBody>
          <a:bodyPr/>
          <a:lstStyle/>
          <a:p>
            <a:fld id="{04459ACA-1F48-49FD-980E-1991476F9898}" type="slidenum">
              <a:rPr lang="zh-CN" altLang="en-US" smtClean="0"/>
            </a:fld>
            <a:endParaRPr lang="zh-CN" altLang="en-US" dirty="0"/>
          </a:p>
        </p:txBody>
      </p:sp>
    </p:spTree>
    <p:custDataLst>
      <p:tags r:id="rId1"/>
    </p:custData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4.7.1 </a:t>
            </a:r>
            <a:r>
              <a:rPr lang="zh-CN" altLang="en-US" sz="3200" b="1" dirty="0">
                <a:solidFill>
                  <a:srgbClr val="1353A2"/>
                </a:solidFill>
                <a:latin typeface="微软雅黑" panose="020B0503020204020204" pitchFamily="34" charset="-122"/>
                <a:ea typeface="微软雅黑" panose="020B0503020204020204" pitchFamily="34" charset="-122"/>
              </a:rPr>
              <a:t>什么是异常</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625600" y="1498600"/>
            <a:ext cx="9418320" cy="762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Throwable</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类中的常用方法</a:t>
            </a: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如下表。</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4" name="表格 3"/>
          <p:cNvGraphicFramePr>
            <a:graphicFrameLocks noGrp="1"/>
          </p:cNvGraphicFramePr>
          <p:nvPr/>
        </p:nvGraphicFramePr>
        <p:xfrm>
          <a:off x="2875280" y="2595404"/>
          <a:ext cx="7515860" cy="2281395"/>
        </p:xfrm>
        <a:graphic>
          <a:graphicData uri="http://schemas.openxmlformats.org/drawingml/2006/table">
            <a:tbl>
              <a:tblPr firstRow="1" firstCol="1" bandRow="1">
                <a:tableStyleId>{5C22544A-7EE6-4342-B048-85BDC9FD1C3A}</a:tableStyleId>
              </a:tblPr>
              <a:tblGrid>
                <a:gridCol w="3319167"/>
                <a:gridCol w="4196693"/>
              </a:tblGrid>
              <a:tr h="451748">
                <a:tc>
                  <a:txBody>
                    <a:bodyPr/>
                    <a:lstStyle/>
                    <a:p>
                      <a:pPr algn="ctr">
                        <a:spcAft>
                          <a:spcPts val="0"/>
                        </a:spcAft>
                      </a:pPr>
                      <a:r>
                        <a:rPr lang="zh-CN" sz="1800" kern="100">
                          <a:effectLst/>
                        </a:rPr>
                        <a:t>方法声明</a:t>
                      </a:r>
                      <a:endParaRPr lang="zh-CN" sz="18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zh-CN" sz="1800" kern="100">
                          <a:effectLst/>
                        </a:rPr>
                        <a:t>功能描述</a:t>
                      </a:r>
                      <a:endParaRPr lang="zh-CN" sz="1800" kern="100">
                        <a:effectLst/>
                        <a:latin typeface="Times New Roman" panose="02020603050405020304"/>
                        <a:ea typeface="宋体" panose="02010600030101010101" pitchFamily="2" charset="-122"/>
                      </a:endParaRPr>
                    </a:p>
                  </a:txBody>
                  <a:tcPr marL="68580" marR="68580" marT="0" marB="0" anchor="ctr"/>
                </a:tc>
              </a:tr>
              <a:tr h="451748">
                <a:tc>
                  <a:txBody>
                    <a:bodyPr/>
                    <a:lstStyle/>
                    <a:p>
                      <a:pPr algn="just">
                        <a:spcAft>
                          <a:spcPts val="0"/>
                        </a:spcAft>
                      </a:pPr>
                      <a:r>
                        <a:rPr lang="en-US" sz="1800" kern="100">
                          <a:effectLst/>
                        </a:rPr>
                        <a:t>String getMessage() </a:t>
                      </a:r>
                      <a:endParaRPr lang="zh-CN" sz="1800" kern="100">
                        <a:effectLst/>
                        <a:latin typeface="Times New Roman" panose="02020603050405020304"/>
                        <a:ea typeface="宋体" panose="02010600030101010101" pitchFamily="2" charset="-122"/>
                      </a:endParaRPr>
                    </a:p>
                  </a:txBody>
                  <a:tcPr marL="68580" marR="68580" marT="0" marB="0" anchor="ctr"/>
                </a:tc>
                <a:tc>
                  <a:txBody>
                    <a:bodyPr/>
                    <a:lstStyle/>
                    <a:p>
                      <a:pPr algn="l">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zh-CN" sz="1800" kern="100">
                          <a:effectLst/>
                        </a:rPr>
                        <a:t>返回异常的消息字符串</a:t>
                      </a:r>
                      <a:r>
                        <a:rPr lang="en-US" sz="1800" kern="100">
                          <a:effectLst/>
                        </a:rPr>
                        <a:t>  </a:t>
                      </a:r>
                      <a:endParaRPr lang="zh-CN" sz="1800" kern="100">
                        <a:effectLst/>
                        <a:latin typeface="Times New Roman" panose="02020603050405020304"/>
                        <a:ea typeface="宋体" panose="02010600030101010101" pitchFamily="2" charset="-122"/>
                      </a:endParaRPr>
                    </a:p>
                  </a:txBody>
                  <a:tcPr marL="68580" marR="68580" marT="0" marB="0" anchor="ctr"/>
                </a:tc>
              </a:tr>
              <a:tr h="451748">
                <a:tc>
                  <a:txBody>
                    <a:bodyPr/>
                    <a:lstStyle/>
                    <a:p>
                      <a:pPr algn="just">
                        <a:spcAft>
                          <a:spcPts val="0"/>
                        </a:spcAft>
                      </a:pPr>
                      <a:r>
                        <a:rPr lang="en-US" sz="1800" kern="100">
                          <a:effectLst/>
                        </a:rPr>
                        <a:t>String toString()</a:t>
                      </a:r>
                      <a:endParaRPr lang="zh-CN" sz="1800" kern="100">
                        <a:effectLst/>
                        <a:latin typeface="Times New Roman" panose="02020603050405020304"/>
                        <a:ea typeface="宋体" panose="02010600030101010101" pitchFamily="2" charset="-122"/>
                      </a:endParaRPr>
                    </a:p>
                  </a:txBody>
                  <a:tcPr marL="68580" marR="68580" marT="0" marB="0" anchor="ctr"/>
                </a:tc>
                <a:tc>
                  <a:txBody>
                    <a:bodyPr/>
                    <a:lstStyle/>
                    <a:p>
                      <a:pPr algn="l">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zh-CN" sz="1800" kern="100">
                          <a:effectLst/>
                        </a:rPr>
                        <a:t>返回异常的简单信息描述</a:t>
                      </a:r>
                      <a:endParaRPr lang="zh-CN" sz="1800" kern="100">
                        <a:effectLst/>
                        <a:latin typeface="Times New Roman" panose="02020603050405020304"/>
                        <a:ea typeface="宋体" panose="02010600030101010101" pitchFamily="2" charset="-122"/>
                      </a:endParaRPr>
                    </a:p>
                  </a:txBody>
                  <a:tcPr marL="68580" marR="68580" marT="0" marB="0" anchor="ctr"/>
                </a:tc>
              </a:tr>
              <a:tr h="926151">
                <a:tc>
                  <a:txBody>
                    <a:bodyPr/>
                    <a:lstStyle/>
                    <a:p>
                      <a:pPr algn="just">
                        <a:spcAft>
                          <a:spcPts val="0"/>
                        </a:spcAft>
                      </a:pPr>
                      <a:r>
                        <a:rPr lang="en-US" sz="1800" kern="100" dirty="0">
                          <a:effectLst/>
                        </a:rPr>
                        <a:t>void </a:t>
                      </a:r>
                      <a:r>
                        <a:rPr lang="en-US" sz="1800" kern="100" dirty="0" err="1">
                          <a:effectLst/>
                        </a:rPr>
                        <a:t>printStackTrace</a:t>
                      </a:r>
                      <a:r>
                        <a:rPr lang="en-US" sz="1800" kern="100" dirty="0">
                          <a:effectLst/>
                        </a:rPr>
                        <a:t>()</a:t>
                      </a:r>
                      <a:endParaRPr lang="zh-CN" sz="1800" kern="100" dirty="0">
                        <a:effectLst/>
                        <a:latin typeface="Times New Roman" panose="02020603050405020304"/>
                        <a:ea typeface="宋体" panose="02010600030101010101" pitchFamily="2" charset="-122"/>
                      </a:endParaRPr>
                    </a:p>
                  </a:txBody>
                  <a:tcPr marL="68580" marR="68580" marT="0" marB="0" anchor="ctr"/>
                </a:tc>
                <a:tc>
                  <a:txBody>
                    <a:bodyPr/>
                    <a:lstStyle/>
                    <a:p>
                      <a:pPr algn="just">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zh-CN" sz="1800" kern="100" dirty="0">
                          <a:effectLst/>
                        </a:rPr>
                        <a:t>获取异常类名和异常信息，以及异常出现在程序中的位置，把信息输出在控制台。</a:t>
                      </a:r>
                      <a:endParaRPr lang="zh-CN" sz="1800" kern="100" dirty="0">
                        <a:effectLst/>
                        <a:latin typeface="Times New Roman" panose="02020603050405020304"/>
                        <a:ea typeface="宋体" panose="02010600030101010101" pitchFamily="2" charset="-122"/>
                      </a:endParaRPr>
                    </a:p>
                  </a:txBody>
                  <a:tcPr marL="68580" marR="68580" marT="0" marB="0" anchor="ctr"/>
                </a:tc>
              </a:tr>
            </a:tbl>
          </a:graphicData>
        </a:graphic>
      </p:graphicFrame>
      <p:sp>
        <p:nvSpPr>
          <p:cNvPr id="5" name="文本占位符 4"/>
          <p:cNvSpPr>
            <a:spLocks noGrp="1"/>
          </p:cNvSpPr>
          <p:nvPr>
            <p:ph type="body" sz="quarter" idx="10"/>
          </p:nvPr>
        </p:nvSpPr>
        <p:spPr/>
        <p:txBody>
          <a:bodyPr/>
          <a:lstStyle/>
          <a:p>
            <a:fld id="{DD716E55-A715-4799-88FC-E9EC3FEF9211}" type="slidenum">
              <a:rPr lang="zh-CN" altLang="en-US" smtClean="0"/>
            </a:fld>
            <a:endParaRPr lang="zh-CN" altLang="en-US" dirty="0"/>
          </a:p>
        </p:txBody>
      </p:sp>
    </p:spTree>
    <p:custDataLst>
      <p:tags r:id="rId1"/>
    </p:custData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4.7.2 try…catch</a:t>
            </a:r>
            <a:r>
              <a:rPr lang="zh-CN" altLang="zh-CN" sz="3200" b="1" dirty="0">
                <a:solidFill>
                  <a:srgbClr val="1353A2"/>
                </a:solidFill>
                <a:latin typeface="微软雅黑" panose="020B0503020204020204" pitchFamily="34" charset="-122"/>
                <a:ea typeface="微软雅黑" panose="020B0503020204020204" pitchFamily="34" charset="-122"/>
              </a:rPr>
              <a:t>和</a:t>
            </a:r>
            <a:r>
              <a:rPr lang="en-US" altLang="zh-CN" sz="3200" b="1" dirty="0">
                <a:solidFill>
                  <a:srgbClr val="1353A2"/>
                </a:solidFill>
                <a:latin typeface="微软雅黑" panose="020B0503020204020204" pitchFamily="34" charset="-122"/>
                <a:ea typeface="微软雅黑" panose="020B0503020204020204" pitchFamily="34" charset="-122"/>
              </a:rPr>
              <a:t>finally</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2854960" y="1447800"/>
            <a:ext cx="7538720" cy="44856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出现异常后，程序会立即终止。</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为了解决异常，</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Java</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提供了对异常进行处理的方式一一异常捕获。异常捕获使用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try</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catch</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语句实现，</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try</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catch</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具体语法格式如下：</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en-US" altLang="zh-CN" sz="2400" dirty="0">
                <a:solidFill>
                  <a:srgbClr val="FF0000"/>
                </a:solidFill>
                <a:latin typeface="Lucida Sans Unicode" panose="020B0602030504020204"/>
                <a:ea typeface="微软雅黑" panose="020B0503020204020204" pitchFamily="34" charset="-122"/>
                <a:cs typeface="Lucida Sans Unicode" panose="020B0602030504020204"/>
              </a:rPr>
              <a:t>try{</a:t>
            </a:r>
            <a:endPar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en-US" altLang="zh-CN" sz="2400" dirty="0">
                <a:solidFill>
                  <a:srgbClr val="FF0000"/>
                </a:solidFill>
                <a:latin typeface="Lucida Sans Unicode" panose="020B0602030504020204"/>
                <a:ea typeface="微软雅黑" panose="020B0503020204020204" pitchFamily="34" charset="-122"/>
                <a:cs typeface="Lucida Sans Unicode" panose="020B0602030504020204"/>
              </a:rPr>
              <a:t>    //</a:t>
            </a:r>
            <a:r>
              <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rPr>
              <a:t>程序代码块</a:t>
            </a:r>
            <a:endPar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en-US" altLang="zh-CN" sz="2400" dirty="0">
                <a:solidFill>
                  <a:srgbClr val="FF0000"/>
                </a:solidFill>
                <a:latin typeface="Lucida Sans Unicode" panose="020B0602030504020204"/>
                <a:ea typeface="微软雅黑" panose="020B0503020204020204" pitchFamily="34" charset="-122"/>
                <a:cs typeface="Lucida Sans Unicode" panose="020B0602030504020204"/>
              </a:rPr>
              <a:t>}catch(</a:t>
            </a:r>
            <a:r>
              <a:rPr lang="en-US" altLang="zh-CN" sz="2400" dirty="0" err="1">
                <a:solidFill>
                  <a:srgbClr val="FF0000"/>
                </a:solidFill>
                <a:latin typeface="Lucida Sans Unicode" panose="020B0602030504020204"/>
                <a:ea typeface="微软雅黑" panose="020B0503020204020204" pitchFamily="34" charset="-122"/>
                <a:cs typeface="Lucida Sans Unicode" panose="020B0602030504020204"/>
              </a:rPr>
              <a:t>ExceptionType</a:t>
            </a:r>
            <a:r>
              <a:rPr lang="en-US" altLang="zh-CN" sz="2400" dirty="0">
                <a:solidFill>
                  <a:srgbClr val="FF0000"/>
                </a:solidFill>
                <a:latin typeface="Lucida Sans Unicode" panose="020B0602030504020204"/>
                <a:ea typeface="微软雅黑" panose="020B0503020204020204" pitchFamily="34" charset="-122"/>
                <a:cs typeface="Lucida Sans Unicode" panose="020B0602030504020204"/>
              </a:rPr>
              <a:t>(Exception</a:t>
            </a:r>
            <a:r>
              <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rPr>
              <a:t>类及其子类</a:t>
            </a:r>
            <a:r>
              <a:rPr lang="en-US" altLang="zh-CN" sz="2400" dirty="0">
                <a:solidFill>
                  <a:srgbClr val="FF0000"/>
                </a:solidFill>
                <a:latin typeface="Lucida Sans Unicode" panose="020B0602030504020204"/>
                <a:ea typeface="微软雅黑" panose="020B0503020204020204" pitchFamily="34" charset="-122"/>
                <a:cs typeface="Lucida Sans Unicode" panose="020B0602030504020204"/>
              </a:rPr>
              <a:t>) e){</a:t>
            </a:r>
            <a:endPar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en-US" altLang="zh-CN" sz="2400" dirty="0">
                <a:solidFill>
                  <a:srgbClr val="FF0000"/>
                </a:solidFill>
                <a:latin typeface="Lucida Sans Unicode" panose="020B0602030504020204"/>
                <a:ea typeface="微软雅黑" panose="020B0503020204020204" pitchFamily="34" charset="-122"/>
                <a:cs typeface="Lucida Sans Unicode" panose="020B0602030504020204"/>
              </a:rPr>
              <a:t>    //</a:t>
            </a:r>
            <a:r>
              <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rPr>
              <a:t>对</a:t>
            </a:r>
            <a:r>
              <a:rPr lang="en-US" altLang="zh-CN" sz="2400" dirty="0" err="1">
                <a:solidFill>
                  <a:srgbClr val="FF0000"/>
                </a:solidFill>
                <a:latin typeface="Lucida Sans Unicode" panose="020B0602030504020204"/>
                <a:ea typeface="微软雅黑" panose="020B0503020204020204" pitchFamily="34" charset="-122"/>
                <a:cs typeface="Lucida Sans Unicode" panose="020B0602030504020204"/>
              </a:rPr>
              <a:t>ExceptionType</a:t>
            </a:r>
            <a:r>
              <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rPr>
              <a:t>的处理</a:t>
            </a:r>
            <a:endPar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en-US" altLang="zh-CN" sz="2400" dirty="0">
                <a:solidFill>
                  <a:srgbClr val="FF0000"/>
                </a:solidFill>
                <a:latin typeface="Lucida Sans Unicode" panose="020B0602030504020204"/>
                <a:ea typeface="微软雅黑" panose="020B0503020204020204" pitchFamily="34" charset="-122"/>
                <a:cs typeface="Lucida Sans Unicode" panose="020B0602030504020204"/>
              </a:rPr>
              <a:t>} </a:t>
            </a:r>
            <a:endPar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占位符 3"/>
          <p:cNvSpPr>
            <a:spLocks noGrp="1"/>
          </p:cNvSpPr>
          <p:nvPr>
            <p:ph type="body" sz="quarter" idx="10"/>
          </p:nvPr>
        </p:nvSpPr>
        <p:spPr/>
        <p:txBody>
          <a:bodyPr/>
          <a:lstStyle/>
          <a:p>
            <a:fld id="{634A4D85-AFF9-40C9-A011-CD3E0E0EDDCA}"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4.7.2 try…catch</a:t>
            </a:r>
            <a:r>
              <a:rPr lang="zh-CN" altLang="zh-CN" sz="3200" b="1" dirty="0">
                <a:solidFill>
                  <a:srgbClr val="1353A2"/>
                </a:solidFill>
                <a:latin typeface="微软雅黑" panose="020B0503020204020204" pitchFamily="34" charset="-122"/>
                <a:ea typeface="微软雅黑" panose="020B0503020204020204" pitchFamily="34" charset="-122"/>
              </a:rPr>
              <a:t>和</a:t>
            </a:r>
            <a:r>
              <a:rPr lang="en-US" altLang="zh-CN" sz="3200" b="1" dirty="0">
                <a:solidFill>
                  <a:srgbClr val="1353A2"/>
                </a:solidFill>
                <a:latin typeface="微软雅黑" panose="020B0503020204020204" pitchFamily="34" charset="-122"/>
                <a:ea typeface="微软雅黑" panose="020B0503020204020204" pitchFamily="34" charset="-122"/>
              </a:rPr>
              <a:t>finally</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361440" y="1742440"/>
            <a:ext cx="9916160" cy="32867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上述语法格式中，在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try</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代码块中编写可能发生异常的</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Java</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语句，</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catch</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代码块中编写针对异常进行处理的代码。当</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try</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代码块中的程序发生了异常，系统会将异常的信息封装成一个异常对象，并将这个对象传递给</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catch</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代码块进行处理。</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catch</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代码块需要一个参数指明它所能够接收的异常类型，这个参数的类型必须是</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Exception</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类或其子类。</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占位符 3"/>
          <p:cNvSpPr>
            <a:spLocks noGrp="1"/>
          </p:cNvSpPr>
          <p:nvPr>
            <p:ph type="body" sz="quarter" idx="10"/>
          </p:nvPr>
        </p:nvSpPr>
        <p:spPr/>
        <p:txBody>
          <a:bodyPr/>
          <a:lstStyle/>
          <a:p>
            <a:fld id="{FD4CA5FD-8082-4548-95D5-C399CDBD28B9}"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4.7.2 try…catch</a:t>
            </a:r>
            <a:r>
              <a:rPr lang="zh-CN" altLang="zh-CN" sz="3200" b="1" dirty="0">
                <a:solidFill>
                  <a:srgbClr val="1353A2"/>
                </a:solidFill>
                <a:latin typeface="微软雅黑" panose="020B0503020204020204" pitchFamily="34" charset="-122"/>
                <a:ea typeface="微软雅黑" panose="020B0503020204020204" pitchFamily="34" charset="-122"/>
              </a:rPr>
              <a:t>和</a:t>
            </a:r>
            <a:r>
              <a:rPr lang="en-US" altLang="zh-CN" sz="3200" b="1" dirty="0">
                <a:solidFill>
                  <a:srgbClr val="1353A2"/>
                </a:solidFill>
                <a:latin typeface="微软雅黑" panose="020B0503020204020204" pitchFamily="34" charset="-122"/>
                <a:ea typeface="微软雅黑" panose="020B0503020204020204" pitchFamily="34" charset="-122"/>
              </a:rPr>
              <a:t>finally</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280160" y="1353820"/>
            <a:ext cx="9916160" cy="7772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接下来</a:t>
            </a: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通过一个案例演示</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try</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catch</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语句对异常进行捕获</a:t>
            </a: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4" name="组合 3"/>
          <p:cNvGrpSpPr/>
          <p:nvPr/>
        </p:nvGrpSpPr>
        <p:grpSpPr>
          <a:xfrm>
            <a:off x="1950720" y="2131060"/>
            <a:ext cx="8981439" cy="3863340"/>
            <a:chOff x="1859280" y="2131060"/>
            <a:chExt cx="8981439" cy="3863340"/>
          </a:xfrm>
        </p:grpSpPr>
        <p:pic>
          <p:nvPicPr>
            <p:cNvPr id="348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59280" y="2131060"/>
              <a:ext cx="8981439" cy="3863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509520" y="2197100"/>
              <a:ext cx="8067040" cy="36957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 public class Example25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2	public static void main(String[]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args</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3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下面的代码定义了一个</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try</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catch</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语句用于捕获异常</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4		try {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5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result = divide(4, 0);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调用</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divide()</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6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System.out.println</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(result);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7		} catch (Exception e)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对异常进行处理</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8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System.out.println</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捕获的异常信息为：</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e.getMessage</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9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10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System.out.println</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程序继续向下执行</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11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grpSp>
      <p:sp>
        <p:nvSpPr>
          <p:cNvPr id="5" name="文本占位符 4"/>
          <p:cNvSpPr>
            <a:spLocks noGrp="1"/>
          </p:cNvSpPr>
          <p:nvPr>
            <p:ph type="body" sz="quarter" idx="10"/>
          </p:nvPr>
        </p:nvSpPr>
        <p:spPr/>
        <p:txBody>
          <a:bodyPr/>
          <a:lstStyle/>
          <a:p>
            <a:fld id="{4E3D0014-15DF-41E7-A7E8-B230F4CCBAF1}"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4.7.2 try…catch</a:t>
            </a:r>
            <a:r>
              <a:rPr lang="zh-CN" altLang="zh-CN" sz="3200" b="1" dirty="0">
                <a:solidFill>
                  <a:srgbClr val="1353A2"/>
                </a:solidFill>
                <a:latin typeface="微软雅黑" panose="020B0503020204020204" pitchFamily="34" charset="-122"/>
                <a:ea typeface="微软雅黑" panose="020B0503020204020204" pitchFamily="34" charset="-122"/>
              </a:rPr>
              <a:t>和</a:t>
            </a:r>
            <a:r>
              <a:rPr lang="en-US" altLang="zh-CN" sz="3200" b="1" dirty="0">
                <a:solidFill>
                  <a:srgbClr val="1353A2"/>
                </a:solidFill>
                <a:latin typeface="微软雅黑" panose="020B0503020204020204" pitchFamily="34" charset="-122"/>
                <a:ea typeface="微软雅黑" panose="020B0503020204020204" pitchFamily="34" charset="-122"/>
              </a:rPr>
              <a:t>finally</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4" name="组合 3"/>
          <p:cNvGrpSpPr/>
          <p:nvPr/>
        </p:nvGrpSpPr>
        <p:grpSpPr>
          <a:xfrm>
            <a:off x="1788160" y="2113280"/>
            <a:ext cx="9118598" cy="2682240"/>
            <a:chOff x="1788160" y="2113280"/>
            <a:chExt cx="9118598" cy="2682240"/>
          </a:xfrm>
        </p:grpSpPr>
        <p:pic>
          <p:nvPicPr>
            <p:cNvPr id="3584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88160" y="2113280"/>
              <a:ext cx="9118597" cy="2682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311398" y="2349500"/>
              <a:ext cx="8595360" cy="23545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12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下面的方法实现了两个整数相除</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13	public static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divide(</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x,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y) {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14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result = x / y;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定义一个变量</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result</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记录两个数相除的结果</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15		return result;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将结果返回</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16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17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grpSp>
      <p:sp>
        <p:nvSpPr>
          <p:cNvPr id="5" name="文本占位符 4"/>
          <p:cNvSpPr>
            <a:spLocks noGrp="1"/>
          </p:cNvSpPr>
          <p:nvPr>
            <p:ph type="body" sz="quarter" idx="10"/>
          </p:nvPr>
        </p:nvSpPr>
        <p:spPr/>
        <p:txBody>
          <a:bodyPr/>
          <a:lstStyle/>
          <a:p>
            <a:fld id="{845E6E65-A17F-4B79-8A96-561E81970B41}"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4.7.2 try…catch</a:t>
            </a:r>
            <a:r>
              <a:rPr lang="zh-CN" altLang="zh-CN" sz="3200" b="1" dirty="0">
                <a:solidFill>
                  <a:srgbClr val="1353A2"/>
                </a:solidFill>
                <a:latin typeface="微软雅黑" panose="020B0503020204020204" pitchFamily="34" charset="-122"/>
                <a:ea typeface="微软雅黑" panose="020B0503020204020204" pitchFamily="34" charset="-122"/>
              </a:rPr>
              <a:t>和</a:t>
            </a:r>
            <a:r>
              <a:rPr lang="en-US" altLang="zh-CN" sz="3200" b="1" dirty="0">
                <a:solidFill>
                  <a:srgbClr val="1353A2"/>
                </a:solidFill>
                <a:latin typeface="微软雅黑" panose="020B0503020204020204" pitchFamily="34" charset="-122"/>
                <a:ea typeface="微软雅黑" panose="020B0503020204020204" pitchFamily="34" charset="-122"/>
              </a:rPr>
              <a:t>finally</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391920" y="1607820"/>
            <a:ext cx="9916160" cy="41630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上述代码中，</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第</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4~9</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行代码是对可能发生异常的代码用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try</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catch</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语句进行了处理。在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try</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代码块中发生除</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0</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异常时，程序会通过</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catch</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语句捕获异常，第</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8</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行代码在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catch</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语句中通过调用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Exception</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对象的</a:t>
            </a:r>
            <a:r>
              <a:rPr lang="en-US" altLang="zh-CN" sz="2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getMessage</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方法，返回异常信息“</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by zero</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catch</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代码块对异常处理完毕后，程序仍会向下执行，而不会终止程序。</a:t>
            </a:r>
            <a:endPar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需要注意的是，</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try</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代码块中，发生异常语句后面的代码是不会被执行的，如</a:t>
            </a: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上述代码</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中第</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6</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行代码的打印语句就没有执行。</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占位符 3"/>
          <p:cNvSpPr>
            <a:spLocks noGrp="1"/>
          </p:cNvSpPr>
          <p:nvPr>
            <p:ph type="body" sz="quarter" idx="10"/>
          </p:nvPr>
        </p:nvSpPr>
        <p:spPr/>
        <p:txBody>
          <a:bodyPr/>
          <a:lstStyle/>
          <a:p>
            <a:fld id="{55E3B05E-6E75-4E23-A0CB-7369D1FB76C8}"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4.7.2 try…catch</a:t>
            </a:r>
            <a:r>
              <a:rPr lang="zh-CN" altLang="zh-CN" sz="3200" b="1" dirty="0">
                <a:solidFill>
                  <a:srgbClr val="1353A2"/>
                </a:solidFill>
                <a:latin typeface="微软雅黑" panose="020B0503020204020204" pitchFamily="34" charset="-122"/>
                <a:ea typeface="微软雅黑" panose="020B0503020204020204" pitchFamily="34" charset="-122"/>
              </a:rPr>
              <a:t>和</a:t>
            </a:r>
            <a:r>
              <a:rPr lang="en-US" altLang="zh-CN" sz="3200" b="1" dirty="0">
                <a:solidFill>
                  <a:srgbClr val="1353A2"/>
                </a:solidFill>
                <a:latin typeface="微软雅黑" panose="020B0503020204020204" pitchFamily="34" charset="-122"/>
                <a:ea typeface="微软雅黑" panose="020B0503020204020204" pitchFamily="34" charset="-122"/>
              </a:rPr>
              <a:t>finally</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219200" y="1158240"/>
            <a:ext cx="10180320" cy="12395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在程序中，有时候会希望有些语句无论程序是否发生异常都要执行，这时就可以在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try</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catch</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语句后，加一个</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finally</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代码块。</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4" name="组合 3"/>
          <p:cNvGrpSpPr/>
          <p:nvPr/>
        </p:nvGrpSpPr>
        <p:grpSpPr>
          <a:xfrm>
            <a:off x="2110739" y="2397760"/>
            <a:ext cx="8798560" cy="3901440"/>
            <a:chOff x="2042160" y="2397760"/>
            <a:chExt cx="8798560" cy="3901440"/>
          </a:xfrm>
        </p:grpSpPr>
        <p:pic>
          <p:nvPicPr>
            <p:cNvPr id="368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42160" y="2397760"/>
              <a:ext cx="8798560" cy="3901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311398" y="2397760"/>
              <a:ext cx="8397242" cy="39014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 public class Example26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2	public static void main(String[]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args</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3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下面的代码定义了一个</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try</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catch</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finally</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语句用于捕获异常</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4		try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5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result = divide(4, 0);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调用</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divide()</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6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System.out.println</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(result);</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7		} catch (Exception e)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对捕获到的异常进行处理</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8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System.out.println</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捕获的异常信息为：</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e.getMessage</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9             			 return;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用于结束当前语句</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10		} finally {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11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System.out.println</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进入</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finally</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代码块</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12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grpSp>
      <p:sp>
        <p:nvSpPr>
          <p:cNvPr id="5" name="文本占位符 4"/>
          <p:cNvSpPr>
            <a:spLocks noGrp="1"/>
          </p:cNvSpPr>
          <p:nvPr>
            <p:ph type="body" sz="quarter" idx="10"/>
          </p:nvPr>
        </p:nvSpPr>
        <p:spPr/>
        <p:txBody>
          <a:bodyPr/>
          <a:lstStyle/>
          <a:p>
            <a:fld id="{CF9599F0-8240-41FD-ABAC-AA2BB121B145}"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4.7.2 try…catch</a:t>
            </a:r>
            <a:r>
              <a:rPr lang="zh-CN" altLang="zh-CN" sz="3200" b="1" dirty="0">
                <a:solidFill>
                  <a:srgbClr val="1353A2"/>
                </a:solidFill>
                <a:latin typeface="微软雅黑" panose="020B0503020204020204" pitchFamily="34" charset="-122"/>
                <a:ea typeface="微软雅黑" panose="020B0503020204020204" pitchFamily="34" charset="-122"/>
              </a:rPr>
              <a:t>和</a:t>
            </a:r>
            <a:r>
              <a:rPr lang="en-US" altLang="zh-CN" sz="3200" b="1" dirty="0">
                <a:solidFill>
                  <a:srgbClr val="1353A2"/>
                </a:solidFill>
                <a:latin typeface="微软雅黑" panose="020B0503020204020204" pitchFamily="34" charset="-122"/>
                <a:ea typeface="微软雅黑" panose="020B0503020204020204" pitchFamily="34" charset="-122"/>
              </a:rPr>
              <a:t>finally</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4" name="组合 3"/>
          <p:cNvGrpSpPr/>
          <p:nvPr/>
        </p:nvGrpSpPr>
        <p:grpSpPr>
          <a:xfrm>
            <a:off x="2164078" y="1986279"/>
            <a:ext cx="9179560" cy="3149600"/>
            <a:chOff x="1706880" y="1899920"/>
            <a:chExt cx="9179560" cy="3149600"/>
          </a:xfrm>
        </p:grpSpPr>
        <p:pic>
          <p:nvPicPr>
            <p:cNvPr id="3789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06880" y="1899920"/>
              <a:ext cx="9062720" cy="3058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098040" y="1899920"/>
              <a:ext cx="8788400" cy="31496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13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System.out.println</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程序继续向下执行…</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14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15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下面的方法实现了两个整数相除</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16	public static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divide(</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x,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y)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17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result = x / y;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定义一个变量</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result</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记录两个数相除的结果</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18		return result;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将结果返回</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19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20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grpSp>
      <p:sp>
        <p:nvSpPr>
          <p:cNvPr id="5" name="文本占位符 4"/>
          <p:cNvSpPr>
            <a:spLocks noGrp="1"/>
          </p:cNvSpPr>
          <p:nvPr>
            <p:ph type="body" sz="quarter" idx="10"/>
          </p:nvPr>
        </p:nvSpPr>
        <p:spPr/>
        <p:txBody>
          <a:bodyPr/>
          <a:lstStyle/>
          <a:p>
            <a:fld id="{0B889905-E6AA-4AEB-9D4D-7020206EDE77}"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4.7.2 try…catch</a:t>
            </a:r>
            <a:r>
              <a:rPr lang="zh-CN" altLang="zh-CN" sz="3200" b="1" dirty="0">
                <a:solidFill>
                  <a:srgbClr val="1353A2"/>
                </a:solidFill>
                <a:latin typeface="微软雅黑" panose="020B0503020204020204" pitchFamily="34" charset="-122"/>
                <a:ea typeface="微软雅黑" panose="020B0503020204020204" pitchFamily="34" charset="-122"/>
              </a:rPr>
              <a:t>和</a:t>
            </a:r>
            <a:r>
              <a:rPr lang="en-US" altLang="zh-CN" sz="3200" b="1" dirty="0">
                <a:solidFill>
                  <a:srgbClr val="1353A2"/>
                </a:solidFill>
                <a:latin typeface="微软雅黑" panose="020B0503020204020204" pitchFamily="34" charset="-122"/>
                <a:ea typeface="微软雅黑" panose="020B0503020204020204" pitchFamily="34" charset="-122"/>
              </a:rPr>
              <a:t>finally</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432560" y="1798320"/>
            <a:ext cx="9723120" cy="30276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上述代码中，</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第</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9</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行代码是在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catch</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代码块中增加了一个</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return</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语句，用于结束当前方法，程序第</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13</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行代码就不会执行了，而</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finally</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代码块中的代码仍会执行，不受</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return</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语句影响。也就是说不论程序是发生异常还是使用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return</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语句结束，</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finally</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中的语句都会执行。因此，在程序设计时，通常会使用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finally</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代码块处理完成必须做的事情，如释放系统资源。</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占位符 3"/>
          <p:cNvSpPr>
            <a:spLocks noGrp="1"/>
          </p:cNvSpPr>
          <p:nvPr>
            <p:ph type="body" sz="quarter" idx="10"/>
          </p:nvPr>
        </p:nvSpPr>
        <p:spPr/>
        <p:txBody>
          <a:bodyPr/>
          <a:lstStyle/>
          <a:p>
            <a:fld id="{57F84FFF-4EBC-4AB5-A823-6B723BCB7206}"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4.7.2 try…catch</a:t>
            </a:r>
            <a:r>
              <a:rPr lang="zh-CN" altLang="zh-CN" sz="3200" b="1" dirty="0">
                <a:solidFill>
                  <a:srgbClr val="1353A2"/>
                </a:solidFill>
                <a:latin typeface="微软雅黑" panose="020B0503020204020204" pitchFamily="34" charset="-122"/>
                <a:ea typeface="微软雅黑" panose="020B0503020204020204" pitchFamily="34" charset="-122"/>
              </a:rPr>
              <a:t>和</a:t>
            </a:r>
            <a:r>
              <a:rPr lang="en-US" altLang="zh-CN" sz="3200" b="1" dirty="0">
                <a:solidFill>
                  <a:srgbClr val="1353A2"/>
                </a:solidFill>
                <a:latin typeface="微软雅黑" panose="020B0503020204020204" pitchFamily="34" charset="-122"/>
                <a:ea typeface="微软雅黑" panose="020B0503020204020204" pitchFamily="34" charset="-122"/>
              </a:rPr>
              <a:t>finally</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5516880" y="1909426"/>
            <a:ext cx="5953760" cy="30276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finally</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中的代码块在一种情况下是不会执行的，那就是在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try...catch</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中执行了</a:t>
            </a:r>
            <a:r>
              <a:rPr lang="en-US" altLang="zh-CN" sz="2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System.exit</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(0)</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语句。</a:t>
            </a:r>
            <a:r>
              <a:rPr lang="en-US" altLang="zh-CN" sz="2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System.exit</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(0)</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表示退出当前的</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Java</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虚拟机，</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Java</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虚拟机停止了，任何代码都不能再执行了。</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6" name="组合 5"/>
          <p:cNvGrpSpPr/>
          <p:nvPr/>
        </p:nvGrpSpPr>
        <p:grpSpPr>
          <a:xfrm>
            <a:off x="2059939" y="1584901"/>
            <a:ext cx="2834640" cy="3676730"/>
            <a:chOff x="2311398" y="1676344"/>
            <a:chExt cx="2834640" cy="3676730"/>
          </a:xfrm>
        </p:grpSpPr>
        <p:pic>
          <p:nvPicPr>
            <p:cNvPr id="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1398" y="1676344"/>
              <a:ext cx="2834640" cy="367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p:nvPr/>
          </p:nvSpPr>
          <p:spPr>
            <a:xfrm>
              <a:off x="2941318" y="2734203"/>
              <a:ext cx="1762762" cy="64777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注      意</a:t>
              </a:r>
              <a:endParaRPr lang="en-US" altLang="zh-CN" sz="2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85CE411F-1A6B-4A1B-A93E-2B7E3CF2C046}"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14" presetClass="entr" presetSubtype="1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randombar(horizontal)">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4.7.3 throws</a:t>
            </a:r>
            <a:r>
              <a:rPr lang="zh-CN" altLang="zh-CN" sz="3200" b="1" dirty="0">
                <a:solidFill>
                  <a:srgbClr val="1353A2"/>
                </a:solidFill>
                <a:latin typeface="微软雅黑" panose="020B0503020204020204" pitchFamily="34" charset="-122"/>
                <a:ea typeface="微软雅黑" panose="020B0503020204020204" pitchFamily="34" charset="-122"/>
              </a:rPr>
              <a:t>关键字</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899920" y="1462386"/>
            <a:ext cx="5760720" cy="441009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在实际开发中，大部分情况下我们会调用别人编写方法，并不知道别人编写的方法是否会发生异常。针对这种情况，</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Java</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允许在方法的后面使用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throws</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关键字对外声明该方法有可能发生的异常，这样调用者在调用方法时，就明确地知道该方法有异常，并且必须在程序中对异常进行处理，否则编译无法通过。</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32458" y="1763871"/>
            <a:ext cx="2674937" cy="3665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占位符 3"/>
          <p:cNvSpPr>
            <a:spLocks noGrp="1"/>
          </p:cNvSpPr>
          <p:nvPr>
            <p:ph type="body" sz="quarter" idx="10"/>
          </p:nvPr>
        </p:nvSpPr>
        <p:spPr/>
        <p:txBody>
          <a:bodyPr/>
          <a:lstStyle/>
          <a:p>
            <a:fld id="{A54FCC14-121E-4DC3-B241-4A29DE060E6B}" type="slidenum">
              <a:rPr lang="zh-CN" altLang="en-US" smtClean="0"/>
            </a:fld>
            <a:endParaRPr lang="zh-CN" altLang="en-US" dirty="0"/>
          </a:p>
        </p:txBody>
      </p:sp>
    </p:spTree>
    <p:custDataLst>
      <p:tags r:id="rId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4.7.3 throws</a:t>
            </a:r>
            <a:r>
              <a:rPr lang="zh-CN" altLang="zh-CN" sz="3200" b="1" dirty="0">
                <a:solidFill>
                  <a:srgbClr val="1353A2"/>
                </a:solidFill>
                <a:latin typeface="微软雅黑" panose="020B0503020204020204" pitchFamily="34" charset="-122"/>
                <a:ea typeface="微软雅黑" panose="020B0503020204020204" pitchFamily="34" charset="-122"/>
              </a:rPr>
              <a:t>关键字</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259840" y="1635106"/>
            <a:ext cx="10474960" cy="351601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throws</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关键字声明抛出异常的语法格式如下：</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rPr>
              <a:t>修饰符 返回值类型 方法名</a:t>
            </a:r>
            <a:r>
              <a:rPr lang="en-US" altLang="zh-CN" sz="2400" dirty="0">
                <a:solidFill>
                  <a:srgbClr val="FF0000"/>
                </a:solidFill>
                <a:latin typeface="Lucida Sans Unicode" panose="020B0602030504020204"/>
                <a:ea typeface="微软雅黑" panose="020B0503020204020204" pitchFamily="34" charset="-122"/>
                <a:cs typeface="Lucida Sans Unicode" panose="020B0602030504020204"/>
              </a:rPr>
              <a:t>(</a:t>
            </a:r>
            <a:r>
              <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rPr>
              <a:t>参数</a:t>
            </a:r>
            <a:r>
              <a:rPr lang="en-US" altLang="zh-CN" sz="2400" dirty="0">
                <a:solidFill>
                  <a:srgbClr val="FF0000"/>
                </a:solidFill>
                <a:latin typeface="Lucida Sans Unicode" panose="020B0602030504020204"/>
                <a:ea typeface="微软雅黑" panose="020B0503020204020204" pitchFamily="34" charset="-122"/>
                <a:cs typeface="Lucida Sans Unicode" panose="020B0602030504020204"/>
              </a:rPr>
              <a:t>1</a:t>
            </a:r>
            <a:r>
              <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rPr>
              <a:t>，参数</a:t>
            </a:r>
            <a:r>
              <a:rPr lang="en-US" altLang="zh-CN" sz="2400" dirty="0">
                <a:solidFill>
                  <a:srgbClr val="FF0000"/>
                </a:solidFill>
                <a:latin typeface="Lucida Sans Unicode" panose="020B0602030504020204"/>
                <a:ea typeface="微软雅黑" panose="020B0503020204020204" pitchFamily="34" charset="-122"/>
                <a:cs typeface="Lucida Sans Unicode" panose="020B0602030504020204"/>
              </a:rPr>
              <a:t>2.....)throws </a:t>
            </a:r>
            <a:r>
              <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rPr>
              <a:t>异常类</a:t>
            </a:r>
            <a:r>
              <a:rPr lang="en-US" altLang="zh-CN" sz="2400" dirty="0">
                <a:solidFill>
                  <a:srgbClr val="FF0000"/>
                </a:solidFill>
                <a:latin typeface="Lucida Sans Unicode" panose="020B0602030504020204"/>
                <a:ea typeface="微软雅黑" panose="020B0503020204020204" pitchFamily="34" charset="-122"/>
                <a:cs typeface="Lucida Sans Unicode" panose="020B0602030504020204"/>
              </a:rPr>
              <a:t>1, </a:t>
            </a:r>
            <a:r>
              <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rPr>
              <a:t>异常类</a:t>
            </a:r>
            <a:r>
              <a:rPr lang="en-US" altLang="zh-CN" sz="2400" dirty="0">
                <a:solidFill>
                  <a:srgbClr val="FF0000"/>
                </a:solidFill>
                <a:latin typeface="Lucida Sans Unicode" panose="020B0602030504020204"/>
                <a:ea typeface="微软雅黑" panose="020B0503020204020204" pitchFamily="34" charset="-122"/>
                <a:cs typeface="Lucida Sans Unicode" panose="020B0602030504020204"/>
              </a:rPr>
              <a:t>2.....{</a:t>
            </a:r>
            <a:endPar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en-US" altLang="zh-CN" sz="2400" dirty="0">
                <a:solidFill>
                  <a:srgbClr val="FF0000"/>
                </a:solidFill>
                <a:latin typeface="Lucida Sans Unicode" panose="020B0602030504020204"/>
                <a:ea typeface="微软雅黑" panose="020B0503020204020204" pitchFamily="34" charset="-122"/>
                <a:cs typeface="Lucida Sans Unicode" panose="020B0602030504020204"/>
              </a:rPr>
              <a:t>        //</a:t>
            </a:r>
            <a:r>
              <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rPr>
              <a:t>方法体</a:t>
            </a:r>
            <a:r>
              <a:rPr lang="en-US" altLang="zh-CN" sz="2400" dirty="0">
                <a:solidFill>
                  <a:srgbClr val="FF0000"/>
                </a:solidFill>
                <a:latin typeface="Lucida Sans Unicode" panose="020B0602030504020204"/>
                <a:ea typeface="微软雅黑" panose="020B0503020204020204" pitchFamily="34" charset="-122"/>
                <a:cs typeface="Lucida Sans Unicode" panose="020B0602030504020204"/>
              </a:rPr>
              <a:t>.....</a:t>
            </a:r>
            <a:endPar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en-US" altLang="zh-CN" sz="2400" dirty="0">
                <a:solidFill>
                  <a:srgbClr val="FF0000"/>
                </a:solidFill>
                <a:latin typeface="Lucida Sans Unicode" panose="020B0602030504020204"/>
                <a:ea typeface="微软雅黑" panose="020B0503020204020204" pitchFamily="34" charset="-122"/>
                <a:cs typeface="Lucida Sans Unicode" panose="020B0602030504020204"/>
              </a:rPr>
              <a:t>}</a:t>
            </a:r>
            <a:endPar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从上述语法格式中可以看出，</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throws</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关键字需要写在方法声明的后面，</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throws</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后面需要声明方法中发生异常的类型。</a:t>
            </a:r>
            <a:endPar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占位符 3"/>
          <p:cNvSpPr>
            <a:spLocks noGrp="1"/>
          </p:cNvSpPr>
          <p:nvPr>
            <p:ph type="body" sz="quarter" idx="10"/>
          </p:nvPr>
        </p:nvSpPr>
        <p:spPr/>
        <p:txBody>
          <a:bodyPr/>
          <a:lstStyle/>
          <a:p>
            <a:fld id="{D872131B-7F8C-4B99-83AF-E9C4E68BE489}" type="slidenum">
              <a:rPr lang="zh-CN" altLang="en-US" smtClean="0"/>
            </a:fld>
            <a:endParaRPr lang="zh-CN" altLang="en-US" dirty="0"/>
          </a:p>
        </p:txBody>
      </p:sp>
    </p:spTree>
    <p:custDataLst>
      <p:tags r:id="rId1"/>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4.7.3 throws</a:t>
            </a:r>
            <a:r>
              <a:rPr lang="zh-CN" altLang="zh-CN" sz="3200" b="1" dirty="0">
                <a:solidFill>
                  <a:srgbClr val="1353A2"/>
                </a:solidFill>
                <a:latin typeface="微软雅黑" panose="020B0503020204020204" pitchFamily="34" charset="-122"/>
                <a:ea typeface="微软雅黑" panose="020B0503020204020204" pitchFamily="34" charset="-122"/>
              </a:rPr>
              <a:t>关键字</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259840" y="1309986"/>
            <a:ext cx="10474960" cy="76265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接下来通过一个案例演示</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throws</a:t>
            </a: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关键字的用法。</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4" name="组合 3"/>
          <p:cNvGrpSpPr/>
          <p:nvPr/>
        </p:nvGrpSpPr>
        <p:grpSpPr>
          <a:xfrm>
            <a:off x="1910080" y="2026591"/>
            <a:ext cx="9164320" cy="4079567"/>
            <a:chOff x="1727200" y="2026591"/>
            <a:chExt cx="9164320" cy="4079567"/>
          </a:xfrm>
        </p:grpSpPr>
        <p:pic>
          <p:nvPicPr>
            <p:cNvPr id="389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27200" y="2026591"/>
              <a:ext cx="9164320" cy="4079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179320" y="2026591"/>
              <a:ext cx="8625840" cy="4079567"/>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 public class Example27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2	public static void main(String[]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args</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3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result = divide(4, 2);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调用</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divide()</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4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System.out.println</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(result);</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5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6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下面的方法实现了两个整数相除，并使用</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throws</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关键字声明抛出异常</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7	public static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divide(</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x,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y) throws Exception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8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result = x / y;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定义一个变量</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result</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记录两个数相除的结果</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9		return result;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将结果返回</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10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11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grpSp>
      <p:sp>
        <p:nvSpPr>
          <p:cNvPr id="5" name="文本占位符 4"/>
          <p:cNvSpPr>
            <a:spLocks noGrp="1"/>
          </p:cNvSpPr>
          <p:nvPr>
            <p:ph type="body" sz="quarter" idx="10"/>
          </p:nvPr>
        </p:nvSpPr>
        <p:spPr/>
        <p:txBody>
          <a:bodyPr/>
          <a:lstStyle/>
          <a:p>
            <a:fld id="{246FDC0C-B08C-4F45-BD13-5213061FE4A4}" type="slidenum">
              <a:rPr lang="zh-CN" altLang="en-US" smtClean="0"/>
            </a:fld>
            <a:endParaRPr lang="zh-CN" altLang="en-US" dirty="0"/>
          </a:p>
        </p:txBody>
      </p:sp>
    </p:spTree>
    <p:custDataLst>
      <p:tags r:id="rId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randombar(horizontal)">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4.7.3 throws</a:t>
            </a:r>
            <a:r>
              <a:rPr lang="zh-CN" altLang="zh-CN" sz="3200" b="1" dirty="0">
                <a:solidFill>
                  <a:srgbClr val="1353A2"/>
                </a:solidFill>
                <a:latin typeface="微软雅黑" panose="020B0503020204020204" pitchFamily="34" charset="-122"/>
                <a:ea typeface="微软雅黑" panose="020B0503020204020204" pitchFamily="34" charset="-122"/>
              </a:rPr>
              <a:t>关键字</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117600" y="1330960"/>
            <a:ext cx="10302240" cy="7924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接下来修改上述程序，</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try</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catch</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处理</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divide()</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方法抛出的异常</a:t>
            </a: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4" name="组合 3"/>
          <p:cNvGrpSpPr/>
          <p:nvPr/>
        </p:nvGrpSpPr>
        <p:grpSpPr>
          <a:xfrm>
            <a:off x="2270760" y="2037080"/>
            <a:ext cx="8412479" cy="3911600"/>
            <a:chOff x="1991360" y="2032000"/>
            <a:chExt cx="8412479" cy="3911600"/>
          </a:xfrm>
        </p:grpSpPr>
        <p:pic>
          <p:nvPicPr>
            <p:cNvPr id="3993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91360" y="2032000"/>
              <a:ext cx="8412479" cy="391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540000" y="2153920"/>
              <a:ext cx="7670800" cy="37896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 public class Example28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2	public static void main(String[]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args</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3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下面的代码定义了一个</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try</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catch</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语句用于捕获异常</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4		try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5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result = divide(4, 2);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调用</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divide()</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7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System.out.println</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(result);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8		} catch (Exception e) {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对捕获到的异常进行处理</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9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e.printStackTrace</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打印捕获的异常信息</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10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11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grpSp>
      <p:sp>
        <p:nvSpPr>
          <p:cNvPr id="5" name="文本占位符 4"/>
          <p:cNvSpPr>
            <a:spLocks noGrp="1"/>
          </p:cNvSpPr>
          <p:nvPr>
            <p:ph type="body" sz="quarter" idx="10"/>
          </p:nvPr>
        </p:nvSpPr>
        <p:spPr/>
        <p:txBody>
          <a:bodyPr/>
          <a:lstStyle/>
          <a:p>
            <a:fld id="{C48AD4D7-8CF8-467A-8B94-ECF376107343}" type="slidenum">
              <a:rPr lang="zh-CN" altLang="en-US" smtClean="0"/>
            </a:fld>
            <a:endParaRPr lang="zh-CN" altLang="en-US" dirty="0"/>
          </a:p>
        </p:txBody>
      </p:sp>
    </p:spTree>
    <p:custDataLst>
      <p:tags r:id="rId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strips(downLeft)">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4.7.3 throws</a:t>
            </a:r>
            <a:r>
              <a:rPr lang="zh-CN" altLang="zh-CN" sz="3200" b="1" dirty="0">
                <a:solidFill>
                  <a:srgbClr val="1353A2"/>
                </a:solidFill>
                <a:latin typeface="微软雅黑" panose="020B0503020204020204" pitchFamily="34" charset="-122"/>
                <a:ea typeface="微软雅黑" panose="020B0503020204020204" pitchFamily="34" charset="-122"/>
              </a:rPr>
              <a:t>关键字</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4" name="组合 3"/>
          <p:cNvGrpSpPr/>
          <p:nvPr/>
        </p:nvGrpSpPr>
        <p:grpSpPr>
          <a:xfrm>
            <a:off x="1940560" y="2042160"/>
            <a:ext cx="9184639" cy="2804160"/>
            <a:chOff x="1493520" y="2042160"/>
            <a:chExt cx="9184639" cy="2804160"/>
          </a:xfrm>
        </p:grpSpPr>
        <p:pic>
          <p:nvPicPr>
            <p:cNvPr id="4096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93520" y="2042160"/>
              <a:ext cx="9184639" cy="2804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内容占位符 2"/>
            <p:cNvSpPr txBox="1"/>
            <p:nvPr/>
          </p:nvSpPr>
          <p:spPr>
            <a:xfrm>
              <a:off x="2011680" y="2275840"/>
              <a:ext cx="8458198" cy="2336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12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下面的方法实现了两个整数相除，并使用</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throws</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关键字声明抛出异常</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13	public static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divide(</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x,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y) throws Exception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14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result = x / y;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定义一个变量</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result</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记录两个数相除的结果</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15		return result;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将结果返回</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16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17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grpSp>
      <p:sp>
        <p:nvSpPr>
          <p:cNvPr id="5" name="文本占位符 4"/>
          <p:cNvSpPr>
            <a:spLocks noGrp="1"/>
          </p:cNvSpPr>
          <p:nvPr>
            <p:ph type="body" sz="quarter" idx="10"/>
          </p:nvPr>
        </p:nvSpPr>
        <p:spPr/>
        <p:txBody>
          <a:bodyPr/>
          <a:lstStyle/>
          <a:p>
            <a:fld id="{75035F61-269D-42C3-A726-02A56C030E11}" type="slidenum">
              <a:rPr lang="zh-CN" altLang="en-US" smtClean="0"/>
            </a:fld>
            <a:endParaRPr lang="zh-CN" altLang="en-US" dirty="0"/>
          </a:p>
        </p:txBody>
      </p:sp>
    </p:spTree>
    <p:custDataLst>
      <p:tags r:id="rId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Righ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4.7.3 throws</a:t>
            </a:r>
            <a:r>
              <a:rPr lang="zh-CN" altLang="zh-CN" sz="3200" b="1" dirty="0">
                <a:solidFill>
                  <a:srgbClr val="1353A2"/>
                </a:solidFill>
                <a:latin typeface="微软雅黑" panose="020B0503020204020204" pitchFamily="34" charset="-122"/>
                <a:ea typeface="微软雅黑" panose="020B0503020204020204" pitchFamily="34" charset="-122"/>
              </a:rPr>
              <a:t>关键字</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442720" y="1361440"/>
            <a:ext cx="10160000" cy="11480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上述代码</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由于使用了</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try</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catch</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对</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divide()</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方法进行了异常处理，因此程序可以编译通过，运行后正确的打印出了运行结果</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2</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程序运行结果如下图。</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9" name="图片 8"/>
          <p:cNvPicPr/>
          <p:nvPr/>
        </p:nvPicPr>
        <p:blipFill>
          <a:blip r:embed="rId1"/>
          <a:stretch>
            <a:fillRect/>
          </a:stretch>
        </p:blipFill>
        <p:spPr>
          <a:xfrm>
            <a:off x="2794635" y="2994660"/>
            <a:ext cx="7456170" cy="2075180"/>
          </a:xfrm>
          <a:prstGeom prst="rect">
            <a:avLst/>
          </a:prstGeom>
        </p:spPr>
      </p:pic>
      <p:sp>
        <p:nvSpPr>
          <p:cNvPr id="4" name="文本占位符 3"/>
          <p:cNvSpPr>
            <a:spLocks noGrp="1"/>
          </p:cNvSpPr>
          <p:nvPr>
            <p:ph type="body" sz="quarter" idx="10"/>
          </p:nvPr>
        </p:nvSpPr>
        <p:spPr/>
        <p:txBody>
          <a:bodyPr/>
          <a:lstStyle/>
          <a:p>
            <a:fld id="{6288E27D-DA21-4368-A9EA-3BD74703658A}" type="slidenum">
              <a:rPr lang="zh-CN" altLang="en-US" smtClean="0"/>
            </a:fld>
            <a:endParaRPr lang="zh-CN" altLang="en-US" dirty="0"/>
          </a:p>
        </p:txBody>
      </p:sp>
    </p:spTree>
    <p:custDataLst>
      <p:tags r:id="rId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4.7.3 throws</a:t>
            </a:r>
            <a:r>
              <a:rPr lang="zh-CN" altLang="zh-CN" sz="3200" b="1" dirty="0">
                <a:solidFill>
                  <a:srgbClr val="1353A2"/>
                </a:solidFill>
                <a:latin typeface="微软雅黑" panose="020B0503020204020204" pitchFamily="34" charset="-122"/>
                <a:ea typeface="微软雅黑" panose="020B0503020204020204" pitchFamily="34" charset="-122"/>
              </a:rPr>
              <a:t>关键字</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209040" y="1127760"/>
            <a:ext cx="10576560" cy="18186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由于使用了</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try</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catch</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对</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divide()</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方法进行了异常处理，因此程序可以编译通过，运行后正确的打印出了运行结果</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2</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。下面修改</a:t>
            </a: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上述程序</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，将</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divide()</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方法抛出的异常继续抛出</a:t>
            </a: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4" name="组合 3"/>
          <p:cNvGrpSpPr/>
          <p:nvPr/>
        </p:nvGrpSpPr>
        <p:grpSpPr>
          <a:xfrm>
            <a:off x="1910080" y="2824480"/>
            <a:ext cx="8930640" cy="3576320"/>
            <a:chOff x="1910080" y="2824480"/>
            <a:chExt cx="8930640" cy="3576320"/>
          </a:xfrm>
        </p:grpSpPr>
        <p:pic>
          <p:nvPicPr>
            <p:cNvPr id="4198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10080" y="2835910"/>
              <a:ext cx="8930640" cy="35648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2875280" y="2824480"/>
              <a:ext cx="7965440" cy="35255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 public class Example29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2	public static void main(String[]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args</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)throws Exception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3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result = divide(4, 0);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调用</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divide()</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4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System.out.println</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(result);</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5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6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下面的方法实现了两个整数相除，并使用</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throws</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关键字声明抛出异常</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7	public static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divide(</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x,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y) throws Exception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8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result = x / y;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定义一个变量</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result</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记录两个数相除的结果</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9		return result;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将结果返回</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10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11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grpSp>
      <p:sp>
        <p:nvSpPr>
          <p:cNvPr id="5" name="文本占位符 4"/>
          <p:cNvSpPr>
            <a:spLocks noGrp="1"/>
          </p:cNvSpPr>
          <p:nvPr>
            <p:ph type="body" sz="quarter" idx="10"/>
          </p:nvPr>
        </p:nvSpPr>
        <p:spPr/>
        <p:txBody>
          <a:bodyPr/>
          <a:lstStyle/>
          <a:p>
            <a:fld id="{34BC9590-98AC-401E-9777-E777F878D29D}" type="slidenum">
              <a:rPr lang="zh-CN" altLang="en-US" smtClean="0"/>
            </a:fld>
            <a:endParaRPr lang="zh-CN" altLang="en-US" dirty="0"/>
          </a:p>
        </p:txBody>
      </p:sp>
    </p:spTree>
    <p:custDataLst>
      <p:tags r:id="rId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4.7.3 throws</a:t>
            </a:r>
            <a:r>
              <a:rPr lang="zh-CN" altLang="zh-CN" sz="3200" b="1" dirty="0">
                <a:solidFill>
                  <a:srgbClr val="1353A2"/>
                </a:solidFill>
                <a:latin typeface="微软雅黑" panose="020B0503020204020204" pitchFamily="34" charset="-122"/>
                <a:ea typeface="微软雅黑" panose="020B0503020204020204" pitchFamily="34" charset="-122"/>
              </a:rPr>
              <a:t>关键字</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4878534" y="1736209"/>
            <a:ext cx="5684520" cy="34645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上述代码，</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main()</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方法继续使用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throws</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关键字将</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Exception</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抛出，程序虽然可以通过编译，但从运行结果可以看出，在运行时期由于没有对“</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/by zero</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”的异常进行处理，最终导致程序终止运行。</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8" name="组合 7"/>
          <p:cNvGrpSpPr/>
          <p:nvPr/>
        </p:nvGrpSpPr>
        <p:grpSpPr>
          <a:xfrm>
            <a:off x="2311398" y="1822569"/>
            <a:ext cx="2227128" cy="3720861"/>
            <a:chOff x="3028131" y="1788160"/>
            <a:chExt cx="2227128" cy="3720861"/>
          </a:xfrm>
        </p:grpSpPr>
        <p:pic>
          <p:nvPicPr>
            <p:cNvPr id="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28131" y="1788160"/>
              <a:ext cx="2227128" cy="3720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内容占位符 2"/>
            <p:cNvSpPr txBox="1"/>
            <p:nvPr/>
          </p:nvSpPr>
          <p:spPr>
            <a:xfrm>
              <a:off x="3606801" y="2806461"/>
              <a:ext cx="883919" cy="62761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解 析</a:t>
              </a:r>
              <a:endParaRPr lang="zh-CN"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AA15B4B2-733F-4486-ADA2-34DEDA5B85BF}" type="slidenum">
              <a:rPr lang="zh-CN" altLang="en-US" smtClean="0"/>
            </a:fld>
            <a:endParaRPr lang="zh-CN" altLang="en-US" dirty="0"/>
          </a:p>
        </p:txBody>
      </p:sp>
    </p:spTree>
    <p:custDataLst>
      <p:tags r:id="rId2"/>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42"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1000"/>
                                        <p:tgtEl>
                                          <p:spTgt spid="8"/>
                                        </p:tgtEl>
                                      </p:cBhvr>
                                    </p:animEffect>
                                    <p:anim calcmode="lin" valueType="num">
                                      <p:cBhvr>
                                        <p:cTn id="11" dur="1000" fill="hold"/>
                                        <p:tgtEl>
                                          <p:spTgt spid="8"/>
                                        </p:tgtEl>
                                        <p:attrNameLst>
                                          <p:attrName>ppt_x</p:attrName>
                                        </p:attrNameLst>
                                      </p:cBhvr>
                                      <p:tavLst>
                                        <p:tav tm="0">
                                          <p:val>
                                            <p:strVal val="#ppt_x"/>
                                          </p:val>
                                        </p:tav>
                                        <p:tav tm="100000">
                                          <p:val>
                                            <p:strVal val="#ppt_x"/>
                                          </p:val>
                                        </p:tav>
                                      </p:tavLst>
                                    </p:anim>
                                    <p:anim calcmode="lin" valueType="num">
                                      <p:cBhvr>
                                        <p:cTn id="1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4.7.4 </a:t>
            </a:r>
            <a:r>
              <a:rPr lang="zh-CN" altLang="zh-CN" sz="3200" b="1" dirty="0">
                <a:solidFill>
                  <a:srgbClr val="1353A2"/>
                </a:solidFill>
                <a:latin typeface="微软雅黑" panose="020B0503020204020204" pitchFamily="34" charset="-122"/>
                <a:ea typeface="微软雅黑" panose="020B0503020204020204" pitchFamily="34" charset="-122"/>
              </a:rPr>
              <a:t>运行时异常与编译时异常</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5273040" y="1452880"/>
            <a:ext cx="5872480" cy="41249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在实际开发中，经常会在程序编译时产生一些异常，这些异常必须要进行处理，这种异常被称为编译时异常，也称为</a:t>
            </a:r>
            <a:r>
              <a:rPr lang="en-US" altLang="zh-CN" sz="2400" dirty="0">
                <a:solidFill>
                  <a:srgbClr val="FF0000"/>
                </a:solidFill>
                <a:latin typeface="Lucida Sans Unicode" panose="020B0602030504020204"/>
                <a:ea typeface="微软雅黑" panose="020B0503020204020204" pitchFamily="34" charset="-122"/>
                <a:cs typeface="Lucida Sans Unicode" panose="020B0602030504020204"/>
              </a:rPr>
              <a:t>checked</a:t>
            </a:r>
            <a:r>
              <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rPr>
              <a:t>异常</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。另外还有一种异常是在程序运行时产生的，这种异常即使不编写异常处理代码，依然可以通过编译，因此被称为运行时异常，也称为</a:t>
            </a:r>
            <a:r>
              <a:rPr lang="en-US" altLang="zh-CN" sz="2400" dirty="0">
                <a:solidFill>
                  <a:srgbClr val="FF0000"/>
                </a:solidFill>
                <a:latin typeface="Lucida Sans Unicode" panose="020B0602030504020204"/>
                <a:ea typeface="微软雅黑" panose="020B0503020204020204" pitchFamily="34" charset="-122"/>
                <a:cs typeface="Lucida Sans Unicode" panose="020B0602030504020204"/>
              </a:rPr>
              <a:t>unchecked</a:t>
            </a:r>
            <a:r>
              <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rPr>
              <a:t>异常</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43136" y="1744344"/>
            <a:ext cx="2620963" cy="3611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占位符 3"/>
          <p:cNvSpPr>
            <a:spLocks noGrp="1"/>
          </p:cNvSpPr>
          <p:nvPr>
            <p:ph type="body" sz="quarter" idx="10"/>
          </p:nvPr>
        </p:nvSpPr>
        <p:spPr/>
        <p:txBody>
          <a:bodyPr/>
          <a:lstStyle/>
          <a:p>
            <a:fld id="{62B69BF6-1C16-482C-AB74-AE1552F604D6}"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4.7.4 </a:t>
            </a:r>
            <a:r>
              <a:rPr lang="zh-CN" altLang="zh-CN" sz="3200" b="1" dirty="0">
                <a:solidFill>
                  <a:srgbClr val="1353A2"/>
                </a:solidFill>
                <a:latin typeface="微软雅黑" panose="020B0503020204020204" pitchFamily="34" charset="-122"/>
                <a:ea typeface="微软雅黑" panose="020B0503020204020204" pitchFamily="34" charset="-122"/>
              </a:rPr>
              <a:t>运行时异常与编译时异常</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371600" y="1452880"/>
            <a:ext cx="10048240" cy="41249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rgbClr val="FF0000"/>
                </a:solidFill>
                <a:latin typeface="Lucida Sans Unicode" panose="020B0602030504020204"/>
                <a:ea typeface="微软雅黑" panose="020B0503020204020204" pitchFamily="34" charset="-122"/>
                <a:cs typeface="Lucida Sans Unicode" panose="020B0602030504020204"/>
              </a:rPr>
              <a:t>1</a:t>
            </a:r>
            <a:r>
              <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rPr>
              <a:t>．编译时异常</a:t>
            </a:r>
            <a:endPar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Exception</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类中，除了</a:t>
            </a:r>
            <a:r>
              <a:rPr lang="en-US" altLang="zh-CN" sz="2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RuntimeException</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类及其子类，</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Exception</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的其他子类都是编译时异常。编译时异常的特点是</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Java</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编译器会对异常进行检查，如果出现异常就必须对异常进行处理，否则程序无法通过编译。</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处理编译时期的异常有两种方式，具体如下：</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）使用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try</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catch</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语句对异常进行捕获处理。</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2</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）使用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throws</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关键字声明抛出异常，调用者对异常进行处理。</a:t>
            </a:r>
            <a:endPar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占位符 3"/>
          <p:cNvSpPr>
            <a:spLocks noGrp="1"/>
          </p:cNvSpPr>
          <p:nvPr>
            <p:ph type="body" sz="quarter" idx="10"/>
          </p:nvPr>
        </p:nvSpPr>
        <p:spPr/>
        <p:txBody>
          <a:bodyPr/>
          <a:lstStyle/>
          <a:p>
            <a:fld id="{EDDA02BC-2908-48E1-A8E8-89B1724FFE86}"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4.7.4 </a:t>
            </a:r>
            <a:r>
              <a:rPr lang="zh-CN" altLang="zh-CN" sz="3200" b="1" dirty="0">
                <a:solidFill>
                  <a:srgbClr val="1353A2"/>
                </a:solidFill>
                <a:latin typeface="微软雅黑" panose="020B0503020204020204" pitchFamily="34" charset="-122"/>
                <a:ea typeface="微软雅黑" panose="020B0503020204020204" pitchFamily="34" charset="-122"/>
              </a:rPr>
              <a:t>运行时异常与编译时异常</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757680" y="1666240"/>
            <a:ext cx="9286240" cy="35763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rgbClr val="FF0000"/>
                </a:solidFill>
                <a:latin typeface="Lucida Sans Unicode" panose="020B0602030504020204"/>
                <a:ea typeface="微软雅黑" panose="020B0503020204020204" pitchFamily="34" charset="-122"/>
                <a:cs typeface="Lucida Sans Unicode" panose="020B0602030504020204"/>
              </a:rPr>
              <a:t>2</a:t>
            </a:r>
            <a:r>
              <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rPr>
              <a:t>．运行时异常</a:t>
            </a:r>
            <a:endPar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en-US" altLang="zh-CN" sz="2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RuntimeException</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类及其子类都是运行时异常。运行时异常的特点是</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Java</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编译器不会对异常进行检查。也就是说，当程序中出现这类异常时，即使没有使用</a:t>
            </a:r>
            <a:r>
              <a:rPr lang="en-US" altLang="zh-CN" sz="2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try..catch</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语句捕获或使用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throws</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关键字声明抛出，程序也能编译通过。运行时异常一般是由程序中的逻辑错误引起的，在程序运行时无法恢复。</a:t>
            </a:r>
            <a:endPar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endPar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占位符 3"/>
          <p:cNvSpPr>
            <a:spLocks noGrp="1"/>
          </p:cNvSpPr>
          <p:nvPr>
            <p:ph type="body" sz="quarter" idx="10"/>
          </p:nvPr>
        </p:nvSpPr>
        <p:spPr/>
        <p:txBody>
          <a:bodyPr/>
          <a:lstStyle/>
          <a:p>
            <a:fld id="{1D816AB4-371F-42BB-84F1-FC4D7819FDD5}"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4.7.4 </a:t>
            </a:r>
            <a:r>
              <a:rPr lang="zh-CN" altLang="zh-CN" sz="3200" b="1" dirty="0">
                <a:solidFill>
                  <a:srgbClr val="1353A2"/>
                </a:solidFill>
                <a:latin typeface="微软雅黑" panose="020B0503020204020204" pitchFamily="34" charset="-122"/>
                <a:ea typeface="微软雅黑" panose="020B0503020204020204" pitchFamily="34" charset="-122"/>
              </a:rPr>
              <a:t>运行时异常与编译时异常</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666240" y="1676400"/>
            <a:ext cx="9712960" cy="35763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例如，通过数组的角标访问数组的元素时，如果角标超过了数组范围，就会发生运行时异常，代码如下所示：</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en-US" altLang="zh-CN" sz="2400" dirty="0" err="1">
                <a:solidFill>
                  <a:srgbClr val="00B0F0"/>
                </a:solidFill>
                <a:latin typeface="Lucida Sans Unicode" panose="020B0602030504020204"/>
                <a:ea typeface="微软雅黑" panose="020B0503020204020204" pitchFamily="34" charset="-122"/>
                <a:cs typeface="Lucida Sans Unicode" panose="020B0602030504020204"/>
              </a:rPr>
              <a:t>int</a:t>
            </a:r>
            <a:r>
              <a:rPr lang="en-US" altLang="zh-CN" sz="2400" dirty="0">
                <a:solidFill>
                  <a:srgbClr val="00B0F0"/>
                </a:solidFill>
                <a:latin typeface="Lucida Sans Unicode" panose="020B0602030504020204"/>
                <a:ea typeface="微软雅黑" panose="020B0503020204020204" pitchFamily="34" charset="-122"/>
                <a:cs typeface="Lucida Sans Unicode" panose="020B0602030504020204"/>
              </a:rPr>
              <a:t>[] </a:t>
            </a:r>
            <a:r>
              <a:rPr lang="en-US" altLang="zh-CN" sz="2400" dirty="0" err="1">
                <a:solidFill>
                  <a:srgbClr val="00B0F0"/>
                </a:solidFill>
                <a:latin typeface="Lucida Sans Unicode" panose="020B0602030504020204"/>
                <a:ea typeface="微软雅黑" panose="020B0503020204020204" pitchFamily="34" charset="-122"/>
                <a:cs typeface="Lucida Sans Unicode" panose="020B0602030504020204"/>
              </a:rPr>
              <a:t>arr</a:t>
            </a:r>
            <a:r>
              <a:rPr lang="en-US" altLang="zh-CN" sz="2400" dirty="0">
                <a:solidFill>
                  <a:srgbClr val="00B0F0"/>
                </a:solidFill>
                <a:latin typeface="Lucida Sans Unicode" panose="020B0602030504020204"/>
                <a:ea typeface="微软雅黑" panose="020B0503020204020204" pitchFamily="34" charset="-122"/>
                <a:cs typeface="Lucida Sans Unicode" panose="020B0602030504020204"/>
              </a:rPr>
              <a:t>=new </a:t>
            </a:r>
            <a:r>
              <a:rPr lang="en-US" altLang="zh-CN" sz="2400" dirty="0" err="1">
                <a:solidFill>
                  <a:srgbClr val="00B0F0"/>
                </a:solidFill>
                <a:latin typeface="Lucida Sans Unicode" panose="020B0602030504020204"/>
                <a:ea typeface="微软雅黑" panose="020B0503020204020204" pitchFamily="34" charset="-122"/>
                <a:cs typeface="Lucida Sans Unicode" panose="020B0602030504020204"/>
              </a:rPr>
              <a:t>int</a:t>
            </a:r>
            <a:r>
              <a:rPr lang="en-US" altLang="zh-CN" sz="2400" dirty="0">
                <a:solidFill>
                  <a:srgbClr val="00B0F0"/>
                </a:solidFill>
                <a:latin typeface="Lucida Sans Unicode" panose="020B0602030504020204"/>
                <a:ea typeface="微软雅黑" panose="020B0503020204020204" pitchFamily="34" charset="-122"/>
                <a:cs typeface="Lucida Sans Unicode" panose="020B0602030504020204"/>
              </a:rPr>
              <a:t>[5];</a:t>
            </a:r>
            <a:endParaRPr lang="zh-CN" altLang="zh-CN" sz="2400" dirty="0">
              <a:solidFill>
                <a:srgbClr val="00B0F0"/>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en-US" altLang="zh-CN" sz="2400" dirty="0" err="1">
                <a:solidFill>
                  <a:srgbClr val="00B0F0"/>
                </a:solidFill>
                <a:latin typeface="Lucida Sans Unicode" panose="020B0602030504020204"/>
                <a:ea typeface="微软雅黑" panose="020B0503020204020204" pitchFamily="34" charset="-122"/>
                <a:cs typeface="Lucida Sans Unicode" panose="020B0602030504020204"/>
              </a:rPr>
              <a:t>System.out.println</a:t>
            </a:r>
            <a:r>
              <a:rPr lang="en-US" altLang="zh-CN" sz="2400" dirty="0">
                <a:solidFill>
                  <a:srgbClr val="00B0F0"/>
                </a:solidFill>
                <a:latin typeface="Lucida Sans Unicode" panose="020B0602030504020204"/>
                <a:ea typeface="微软雅黑" panose="020B0503020204020204" pitchFamily="34" charset="-122"/>
                <a:cs typeface="Lucida Sans Unicode" panose="020B0602030504020204"/>
              </a:rPr>
              <a:t>(</a:t>
            </a:r>
            <a:r>
              <a:rPr lang="en-US" altLang="zh-CN" sz="2400" dirty="0" err="1">
                <a:solidFill>
                  <a:srgbClr val="00B0F0"/>
                </a:solidFill>
                <a:latin typeface="Lucida Sans Unicode" panose="020B0602030504020204"/>
                <a:ea typeface="微软雅黑" panose="020B0503020204020204" pitchFamily="34" charset="-122"/>
                <a:cs typeface="Lucida Sans Unicode" panose="020B0602030504020204"/>
              </a:rPr>
              <a:t>arr</a:t>
            </a:r>
            <a:r>
              <a:rPr lang="en-US" altLang="zh-CN" sz="2400" dirty="0">
                <a:solidFill>
                  <a:srgbClr val="00B0F0"/>
                </a:solidFill>
                <a:latin typeface="Lucida Sans Unicode" panose="020B0602030504020204"/>
                <a:ea typeface="微软雅黑" panose="020B0503020204020204" pitchFamily="34" charset="-122"/>
                <a:cs typeface="Lucida Sans Unicode" panose="020B0602030504020204"/>
              </a:rPr>
              <a:t>[6]); </a:t>
            </a:r>
            <a:endParaRPr lang="zh-CN" altLang="zh-CN" sz="2400" dirty="0">
              <a:solidFill>
                <a:srgbClr val="00B0F0"/>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在上面的代码中，由于数组</a:t>
            </a:r>
            <a:r>
              <a:rPr lang="en-US" altLang="zh-CN" sz="2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arr</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的</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length</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为</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5</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，最大角标应为</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4</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，当使用</a:t>
            </a:r>
            <a:r>
              <a:rPr lang="en-US" altLang="zh-CN" sz="2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arr</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[6]</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访问数组中的元素就会发生数组角标越界的异常。</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占位符 3"/>
          <p:cNvSpPr>
            <a:spLocks noGrp="1"/>
          </p:cNvSpPr>
          <p:nvPr>
            <p:ph type="body" sz="quarter" idx="10"/>
          </p:nvPr>
        </p:nvSpPr>
        <p:spPr/>
        <p:txBody>
          <a:bodyPr/>
          <a:lstStyle/>
          <a:p>
            <a:fld id="{2E411211-42BA-445A-8BD3-AD9D0209D9B1}"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4.7.5  </a:t>
            </a:r>
            <a:r>
              <a:rPr lang="zh-CN" altLang="zh-CN" sz="3200" b="1" dirty="0">
                <a:solidFill>
                  <a:srgbClr val="1353A2"/>
                </a:solidFill>
                <a:latin typeface="微软雅黑" panose="020B0503020204020204" pitchFamily="34" charset="-122"/>
                <a:ea typeface="微软雅黑" panose="020B0503020204020204" pitchFamily="34" charset="-122"/>
              </a:rPr>
              <a:t>自定义异常</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475423" y="1574800"/>
            <a:ext cx="6390640" cy="40335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JDK</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中定义了大量的异常类，虽然这些异常类可以描述编程时出现的大部分异常情况，但是在程序开发中有时可能需要描述程序中特有的异常情况，例如，</a:t>
            </a: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前面讲解的程序中</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的</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divide()</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方法，不允许被除数为负数。为了解决这个问题，</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Java</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允许用户自定义异常，但自定义的异常类必须继承自</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Exception</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或其子类。</a:t>
            </a:r>
            <a:endPar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957503" y="1657350"/>
            <a:ext cx="3338513" cy="354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占位符 3"/>
          <p:cNvSpPr>
            <a:spLocks noGrp="1"/>
          </p:cNvSpPr>
          <p:nvPr>
            <p:ph type="body" sz="quarter" idx="10"/>
          </p:nvPr>
        </p:nvSpPr>
        <p:spPr/>
        <p:txBody>
          <a:bodyPr/>
          <a:lstStyle/>
          <a:p>
            <a:fld id="{E5E229AE-7AE0-444C-AA84-5B7822913C57}"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4.7.5  </a:t>
            </a:r>
            <a:r>
              <a:rPr lang="zh-CN" altLang="zh-CN" sz="3200" b="1" dirty="0">
                <a:solidFill>
                  <a:srgbClr val="1353A2"/>
                </a:solidFill>
                <a:latin typeface="微软雅黑" panose="020B0503020204020204" pitchFamily="34" charset="-122"/>
                <a:ea typeface="微软雅黑" panose="020B0503020204020204" pitchFamily="34" charset="-122"/>
              </a:rPr>
              <a:t>自定义异常</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475423" y="1270000"/>
            <a:ext cx="6390640" cy="6908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自定义异常的具体代码如下所示。</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4" name="组合 3"/>
          <p:cNvGrpSpPr/>
          <p:nvPr/>
        </p:nvGrpSpPr>
        <p:grpSpPr>
          <a:xfrm>
            <a:off x="2062480" y="2072640"/>
            <a:ext cx="8879840" cy="3870960"/>
            <a:chOff x="1971040" y="2062480"/>
            <a:chExt cx="8879840" cy="3870960"/>
          </a:xfrm>
        </p:grpSpPr>
        <p:pic>
          <p:nvPicPr>
            <p:cNvPr id="430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71040" y="2062480"/>
              <a:ext cx="8879840" cy="3870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2301238" y="2062480"/>
              <a:ext cx="8359457" cy="38709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8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zh-CN" altLang="zh-CN" sz="18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下面的代码是自定义一个异常类继承自</a:t>
              </a:r>
              <a:r>
                <a:rPr lang="en-US" altLang="zh-CN" sz="18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Exception</a:t>
              </a:r>
              <a:endParaRPr lang="zh-CN" altLang="zh-CN" sz="18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en-US" altLang="zh-CN" sz="18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public class </a:t>
              </a:r>
              <a:r>
                <a:rPr lang="en-US" altLang="zh-CN" sz="18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DivideByMinusException</a:t>
              </a:r>
              <a:r>
                <a:rPr lang="en-US" altLang="zh-CN" sz="18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extends Exception{</a:t>
              </a:r>
              <a:endParaRPr lang="zh-CN" altLang="zh-CN" sz="18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en-US" altLang="zh-CN" sz="18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public </a:t>
              </a:r>
              <a:r>
                <a:rPr lang="en-US" altLang="zh-CN" sz="18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DivideByMinusException</a:t>
              </a:r>
              <a:r>
                <a:rPr lang="en-US" altLang="zh-CN" sz="18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8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en-US" altLang="zh-CN" sz="18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super();          	// </a:t>
              </a:r>
              <a:r>
                <a:rPr lang="zh-CN" altLang="zh-CN" sz="18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调用</a:t>
              </a:r>
              <a:r>
                <a:rPr lang="en-US" altLang="zh-CN" sz="18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Exception</a:t>
              </a:r>
              <a:r>
                <a:rPr lang="zh-CN" altLang="zh-CN" sz="18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无参的构造方法</a:t>
              </a:r>
              <a:endParaRPr lang="zh-CN" altLang="zh-CN" sz="18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en-US" altLang="zh-CN" sz="18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8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en-US" altLang="zh-CN" sz="18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public </a:t>
              </a:r>
              <a:r>
                <a:rPr lang="en-US" altLang="zh-CN" sz="18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DivideByMinusException</a:t>
              </a:r>
              <a:r>
                <a:rPr lang="en-US" altLang="zh-CN" sz="18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(String message){</a:t>
              </a:r>
              <a:endParaRPr lang="zh-CN" altLang="zh-CN" sz="18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en-US" altLang="zh-CN" sz="18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super(message); 	// </a:t>
              </a:r>
              <a:r>
                <a:rPr lang="zh-CN" altLang="zh-CN" sz="18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调用</a:t>
              </a:r>
              <a:r>
                <a:rPr lang="en-US" altLang="zh-CN" sz="18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Exception</a:t>
              </a:r>
              <a:r>
                <a:rPr lang="zh-CN" altLang="zh-CN" sz="18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有参的构造方法</a:t>
              </a:r>
              <a:endParaRPr lang="zh-CN" altLang="zh-CN" sz="18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en-US" altLang="zh-CN" sz="18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8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en-US" altLang="zh-CN" sz="18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8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grpSp>
      <p:sp>
        <p:nvSpPr>
          <p:cNvPr id="5" name="文本占位符 4"/>
          <p:cNvSpPr>
            <a:spLocks noGrp="1"/>
          </p:cNvSpPr>
          <p:nvPr>
            <p:ph type="body" sz="quarter" idx="10"/>
          </p:nvPr>
        </p:nvSpPr>
        <p:spPr/>
        <p:txBody>
          <a:bodyPr/>
          <a:lstStyle/>
          <a:p>
            <a:fld id="{2819079E-BB78-4B4C-9E42-95E683239E50}"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4.7.5  </a:t>
            </a:r>
            <a:r>
              <a:rPr lang="zh-CN" altLang="zh-CN" sz="3200" b="1" dirty="0">
                <a:solidFill>
                  <a:srgbClr val="1353A2"/>
                </a:solidFill>
                <a:latin typeface="微软雅黑" panose="020B0503020204020204" pitchFamily="34" charset="-122"/>
                <a:ea typeface="微软雅黑" panose="020B0503020204020204" pitchFamily="34" charset="-122"/>
              </a:rPr>
              <a:t>自定义异常</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5539423" y="1595120"/>
            <a:ext cx="5382577" cy="40538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在实际开发中，如果没有特殊的要求，自定义的异常类只需继承</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Exception</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类，在构造方法中使用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super()</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语句调用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Exception</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的构造方法即可。</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自定义异常类中使用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throw</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关键字在方法中声明异常的实例对象，格式如下：</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en-US" altLang="zh-CN" sz="2400" dirty="0">
                <a:solidFill>
                  <a:srgbClr val="FF0000"/>
                </a:solidFill>
                <a:latin typeface="Lucida Sans Unicode" panose="020B0602030504020204"/>
                <a:ea typeface="微软雅黑" panose="020B0503020204020204" pitchFamily="34" charset="-122"/>
                <a:cs typeface="Lucida Sans Unicode" panose="020B0602030504020204"/>
              </a:rPr>
              <a:t>throw Exception</a:t>
            </a:r>
            <a:r>
              <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rPr>
              <a:t>异常对象</a:t>
            </a:r>
            <a:endParaRPr lang="zh-CN" altLang="zh-CN" sz="2400" dirty="0">
              <a:solidFill>
                <a:srgbClr val="FF0000"/>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4403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65985" y="1517015"/>
            <a:ext cx="2800350" cy="421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占位符 3"/>
          <p:cNvSpPr>
            <a:spLocks noGrp="1"/>
          </p:cNvSpPr>
          <p:nvPr>
            <p:ph type="body" sz="quarter" idx="10"/>
          </p:nvPr>
        </p:nvSpPr>
        <p:spPr/>
        <p:txBody>
          <a:bodyPr/>
          <a:lstStyle/>
          <a:p>
            <a:fld id="{A48D9E7C-AC54-43F8-BE23-8178888288D5}"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44034"/>
                                        </p:tgtEl>
                                        <p:attrNameLst>
                                          <p:attrName>style.visibility</p:attrName>
                                        </p:attrNameLst>
                                      </p:cBhvr>
                                      <p:to>
                                        <p:strVal val="visible"/>
                                      </p:to>
                                    </p:set>
                                    <p:animEffect transition="in" filter="fade">
                                      <p:cBhvr>
                                        <p:cTn id="10" dur="500"/>
                                        <p:tgtEl>
                                          <p:spTgt spid="440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4.7.5  </a:t>
            </a:r>
            <a:r>
              <a:rPr lang="zh-CN" altLang="zh-CN" sz="3200" b="1" dirty="0">
                <a:solidFill>
                  <a:srgbClr val="1353A2"/>
                </a:solidFill>
                <a:latin typeface="微软雅黑" panose="020B0503020204020204" pitchFamily="34" charset="-122"/>
                <a:ea typeface="微软雅黑" panose="020B0503020204020204" pitchFamily="34" charset="-122"/>
              </a:rPr>
              <a:t>自定义异常</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117600" y="1209040"/>
            <a:ext cx="10170159" cy="812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下面通过一个案例演示自定义异常类。</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4" name="组合 3"/>
          <p:cNvGrpSpPr/>
          <p:nvPr/>
        </p:nvGrpSpPr>
        <p:grpSpPr>
          <a:xfrm>
            <a:off x="1717040" y="1940560"/>
            <a:ext cx="9347200" cy="4185920"/>
            <a:chOff x="1717040" y="1950720"/>
            <a:chExt cx="9347200" cy="4185920"/>
          </a:xfrm>
        </p:grpSpPr>
        <p:pic>
          <p:nvPicPr>
            <p:cNvPr id="4505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17040" y="1950720"/>
              <a:ext cx="9347200" cy="4185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2270759" y="1950720"/>
              <a:ext cx="8595360" cy="41859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 public class Example30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2	public static void main(String[]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args</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3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result = divide(4, -2);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4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System.out.println</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(result);</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5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6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下面的方法实现了两个整数相除</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7	public static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divide(</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x,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y)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8		if(y&lt;0){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9			throw new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DivideByMinusException</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除数是负数</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10		</a:t>
              </a:r>
              <a:r>
                <a:rPr lang="en-US" altLang="zh-CN" sz="1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result = x / y;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定义一个变量</a:t>
              </a: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result</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记录两个数相除的结果</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11		return result;         	// </a:t>
              </a:r>
              <a:r>
                <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将结果返回</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12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13 }</a:t>
              </a:r>
              <a:endParaRPr lang="zh-CN" altLang="zh-CN" sz="1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grpSp>
      <p:sp>
        <p:nvSpPr>
          <p:cNvPr id="5" name="文本占位符 4"/>
          <p:cNvSpPr>
            <a:spLocks noGrp="1"/>
          </p:cNvSpPr>
          <p:nvPr>
            <p:ph type="body" sz="quarter" idx="10"/>
          </p:nvPr>
        </p:nvSpPr>
        <p:spPr/>
        <p:txBody>
          <a:bodyPr/>
          <a:lstStyle/>
          <a:p>
            <a:fld id="{76C6A3EB-7DB3-42AB-820F-8BE767F008AD}"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randombar(horizontal)">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4.7.5  </a:t>
            </a:r>
            <a:r>
              <a:rPr lang="zh-CN" altLang="zh-CN" sz="3200" b="1" dirty="0">
                <a:solidFill>
                  <a:srgbClr val="1353A2"/>
                </a:solidFill>
                <a:latin typeface="微软雅黑" panose="020B0503020204020204" pitchFamily="34" charset="-122"/>
                <a:ea typeface="微软雅黑" panose="020B0503020204020204" pitchFamily="34" charset="-122"/>
              </a:rPr>
              <a:t>自定义异常</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483359" y="1381760"/>
            <a:ext cx="6847841" cy="812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编译程序，编译器报错，如下图。</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9" name="图片 8"/>
          <p:cNvPicPr/>
          <p:nvPr/>
        </p:nvPicPr>
        <p:blipFill>
          <a:blip r:embed="rId1"/>
          <a:stretch>
            <a:fillRect/>
          </a:stretch>
        </p:blipFill>
        <p:spPr>
          <a:xfrm>
            <a:off x="2155190" y="2403474"/>
            <a:ext cx="8531859" cy="2524126"/>
          </a:xfrm>
          <a:prstGeom prst="rect">
            <a:avLst/>
          </a:prstGeom>
        </p:spPr>
      </p:pic>
      <p:sp>
        <p:nvSpPr>
          <p:cNvPr id="4" name="文本占位符 3"/>
          <p:cNvSpPr>
            <a:spLocks noGrp="1"/>
          </p:cNvSpPr>
          <p:nvPr>
            <p:ph type="body" sz="quarter" idx="10"/>
          </p:nvPr>
        </p:nvSpPr>
        <p:spPr/>
        <p:txBody>
          <a:bodyPr/>
          <a:lstStyle/>
          <a:p>
            <a:fld id="{05FACD71-869B-48BB-BD2C-6F6D0ECB633D}"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4.7.5  </a:t>
            </a:r>
            <a:r>
              <a:rPr lang="zh-CN" altLang="zh-CN" sz="3200" b="1" dirty="0">
                <a:solidFill>
                  <a:srgbClr val="1353A2"/>
                </a:solidFill>
                <a:latin typeface="微软雅黑" panose="020B0503020204020204" pitchFamily="34" charset="-122"/>
                <a:ea typeface="微软雅黑" panose="020B0503020204020204" pitchFamily="34" charset="-122"/>
              </a:rPr>
              <a:t>自定义异常</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1280159" y="1503680"/>
            <a:ext cx="10170159" cy="41351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从</a:t>
            </a: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运行结果</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可以看出，程序在编译时就发生了异常。因为在一个方法内使用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throw</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关键字抛出异常对象时，需要使用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try</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catch</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语句对抛出的异常进行处理，或者在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divide()</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方法上使用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throws</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关键字声明抛出异常，由该方法的调用者负责处理。但是</a:t>
            </a: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程序</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没有这样做。</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indent="0" eaLnBrk="1" hangingPunct="1">
              <a:lnSpc>
                <a:spcPct val="150000"/>
              </a:lnSpc>
              <a:spcBef>
                <a:spcPct val="0"/>
              </a:spcBef>
              <a:buNone/>
              <a:defRPr/>
            </a:pP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为了解决上面的问题，对</a:t>
            </a: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程序</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进行修改，在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divide()</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方法上，使用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throws</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关键字声明抛出</a:t>
            </a:r>
            <a:r>
              <a:rPr lang="en-US" altLang="zh-CN" sz="2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DivideByMinusException</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异常，并在调用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divide()</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方法时使用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try</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catch</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语句对异常进行处理</a:t>
            </a: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占位符 3"/>
          <p:cNvSpPr>
            <a:spLocks noGrp="1"/>
          </p:cNvSpPr>
          <p:nvPr>
            <p:ph type="body" sz="quarter" idx="10"/>
          </p:nvPr>
        </p:nvSpPr>
        <p:spPr/>
        <p:txBody>
          <a:bodyPr/>
          <a:lstStyle/>
          <a:p>
            <a:fld id="{EED5C916-6CE8-4CC9-9865-3B506A469AC2}"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4.7.5  </a:t>
            </a:r>
            <a:r>
              <a:rPr lang="zh-CN" altLang="zh-CN" sz="3200" b="1" dirty="0">
                <a:solidFill>
                  <a:srgbClr val="1353A2"/>
                </a:solidFill>
                <a:latin typeface="微软雅黑" panose="020B0503020204020204" pitchFamily="34" charset="-122"/>
                <a:ea typeface="微软雅黑" panose="020B0503020204020204" pitchFamily="34" charset="-122"/>
              </a:rPr>
              <a:t>自定义异常</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4" name="组合 3"/>
          <p:cNvGrpSpPr/>
          <p:nvPr/>
        </p:nvGrpSpPr>
        <p:grpSpPr>
          <a:xfrm>
            <a:off x="1559559" y="1635760"/>
            <a:ext cx="9672320" cy="4094480"/>
            <a:chOff x="1422400" y="1706880"/>
            <a:chExt cx="9672320" cy="4094480"/>
          </a:xfrm>
        </p:grpSpPr>
        <p:pic>
          <p:nvPicPr>
            <p:cNvPr id="4608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22400" y="1706880"/>
              <a:ext cx="9672320" cy="4094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内容占位符 2"/>
            <p:cNvSpPr txBox="1"/>
            <p:nvPr/>
          </p:nvSpPr>
          <p:spPr>
            <a:xfrm>
              <a:off x="1422400" y="1869440"/>
              <a:ext cx="9646603" cy="37896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 public class Example31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2	public static void main(String[]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args</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3              //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下面的代码定义了一个</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try…catch</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语句用于捕获异常</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4		try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5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result = divide(4, -2);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6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System.out.println</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(result);</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7		} catch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DivideByMinusException</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e) {     //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对捕获到的异常进行处理</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8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System.out.println</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e.getMessage</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打印捕获的异常信息</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9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10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gr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占位符 4"/>
          <p:cNvSpPr>
            <a:spLocks noGrp="1"/>
          </p:cNvSpPr>
          <p:nvPr>
            <p:ph type="body" sz="quarter" idx="10"/>
          </p:nvPr>
        </p:nvSpPr>
        <p:spPr/>
        <p:txBody>
          <a:bodyPr/>
          <a:lstStyle/>
          <a:p>
            <a:fld id="{38506C4F-266D-4B38-A3D1-A94B3648E631}"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out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4.7.5  </a:t>
            </a:r>
            <a:r>
              <a:rPr lang="zh-CN" altLang="zh-CN" sz="3200" b="1" dirty="0">
                <a:solidFill>
                  <a:srgbClr val="1353A2"/>
                </a:solidFill>
                <a:latin typeface="微软雅黑" panose="020B0503020204020204" pitchFamily="34" charset="-122"/>
                <a:ea typeface="微软雅黑" panose="020B0503020204020204" pitchFamily="34" charset="-122"/>
              </a:rPr>
              <a:t>自定义异常</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4" name="组合 3"/>
          <p:cNvGrpSpPr/>
          <p:nvPr/>
        </p:nvGrpSpPr>
        <p:grpSpPr>
          <a:xfrm>
            <a:off x="1483360" y="1686560"/>
            <a:ext cx="9489440" cy="3901440"/>
            <a:chOff x="1483360" y="1686560"/>
            <a:chExt cx="9489440" cy="3901440"/>
          </a:xfrm>
        </p:grpSpPr>
        <p:pic>
          <p:nvPicPr>
            <p:cNvPr id="4710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83360" y="1686560"/>
              <a:ext cx="9489440" cy="3901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内容占位符 2"/>
            <p:cNvSpPr txBox="1"/>
            <p:nvPr/>
          </p:nvSpPr>
          <p:spPr>
            <a:xfrm>
              <a:off x="2021841" y="2032000"/>
              <a:ext cx="8382000" cy="33223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11 //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下面的方法实现了两个整数相除，并使用</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throws</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关键字声明抛出自定义异常</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12	public static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divide(</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x,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y) throws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DivideByMinusException</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13		if (y &lt; 0)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14			throw new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DivideByMinusException</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除数是负数</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15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16		</a:t>
              </a:r>
              <a:r>
                <a:rPr lang="en-US" altLang="zh-CN" sz="16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int</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result = x / y;     //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定义一个变量</a:t>
              </a: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result</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记录两个数相除的结果</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17		return result;           // </a:t>
              </a:r>
              <a:r>
                <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将结果返回</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18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a:p>
              <a:pPr marL="0" lvl="0" indent="0" eaLnBrk="1" hangingPunct="1">
                <a:lnSpc>
                  <a:spcPct val="150000"/>
                </a:lnSpc>
                <a:spcBef>
                  <a:spcPct val="0"/>
                </a:spcBef>
                <a:buNone/>
                <a:defRPr/>
              </a:pPr>
              <a:r>
                <a:rPr lang="en-US"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19 }</a:t>
              </a:r>
              <a:endParaRPr lang="zh-CN" altLang="zh-CN" sz="16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gr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占位符 4"/>
          <p:cNvSpPr>
            <a:spLocks noGrp="1"/>
          </p:cNvSpPr>
          <p:nvPr>
            <p:ph type="body" sz="quarter" idx="10"/>
          </p:nvPr>
        </p:nvSpPr>
        <p:spPr/>
        <p:txBody>
          <a:bodyPr/>
          <a:lstStyle/>
          <a:p>
            <a:fld id="{89D9CAFD-2165-458B-8D3E-897705936128}"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out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4.7.5  </a:t>
            </a:r>
            <a:r>
              <a:rPr lang="zh-CN" altLang="zh-CN" sz="3200" b="1" dirty="0">
                <a:solidFill>
                  <a:srgbClr val="1353A2"/>
                </a:solidFill>
                <a:latin typeface="微软雅黑" panose="020B0503020204020204" pitchFamily="34" charset="-122"/>
                <a:ea typeface="微软雅黑" panose="020B0503020204020204" pitchFamily="34" charset="-122"/>
              </a:rPr>
              <a:t>自定义异常</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280159" y="1503680"/>
            <a:ext cx="10170159" cy="8432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程序运行结果如下图。</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pic>
        <p:nvPicPr>
          <p:cNvPr id="9" name="图片 8"/>
          <p:cNvPicPr/>
          <p:nvPr/>
        </p:nvPicPr>
        <p:blipFill>
          <a:blip r:embed="rId1"/>
          <a:stretch>
            <a:fillRect/>
          </a:stretch>
        </p:blipFill>
        <p:spPr>
          <a:xfrm>
            <a:off x="2895600" y="2609850"/>
            <a:ext cx="7425690" cy="2114550"/>
          </a:xfrm>
          <a:prstGeom prst="rect">
            <a:avLst/>
          </a:prstGeom>
        </p:spPr>
      </p:pic>
      <p:sp>
        <p:nvSpPr>
          <p:cNvPr id="4" name="文本占位符 3"/>
          <p:cNvSpPr>
            <a:spLocks noGrp="1"/>
          </p:cNvSpPr>
          <p:nvPr>
            <p:ph type="body" sz="quarter" idx="10"/>
          </p:nvPr>
        </p:nvSpPr>
        <p:spPr/>
        <p:txBody>
          <a:bodyPr/>
          <a:lstStyle/>
          <a:p>
            <a:fld id="{3AC76833-993B-4B2A-9AFC-F8D3B9260F58}"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401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4.7.5  </a:t>
            </a:r>
            <a:r>
              <a:rPr lang="zh-CN" altLang="zh-CN" sz="3200" b="1" dirty="0">
                <a:solidFill>
                  <a:srgbClr val="1353A2"/>
                </a:solidFill>
                <a:latin typeface="微软雅黑" panose="020B0503020204020204" pitchFamily="34" charset="-122"/>
                <a:ea typeface="微软雅黑" panose="020B0503020204020204" pitchFamily="34" charset="-122"/>
              </a:rPr>
              <a:t>自定义异常</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内容占位符 2"/>
          <p:cNvSpPr txBox="1"/>
          <p:nvPr/>
        </p:nvSpPr>
        <p:spPr>
          <a:xfrm>
            <a:off x="1308098" y="2032000"/>
            <a:ext cx="9865361" cy="28041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上述代码中</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的</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main()</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方法中，第</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4~9</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行代码使用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try</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catch</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语句捕获处理</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divide()</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方法抛出的异常。在调用</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divide()</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方法时，如果传入的被除数不能为负数，程序会抛出一个自定义的</a:t>
            </a:r>
            <a:r>
              <a:rPr lang="en-US" altLang="zh-CN" sz="2400" dirty="0" err="1">
                <a:solidFill>
                  <a:schemeClr val="bg1">
                    <a:lumMod val="50000"/>
                  </a:schemeClr>
                </a:solidFill>
                <a:latin typeface="Lucida Sans Unicode" panose="020B0602030504020204"/>
                <a:ea typeface="微软雅黑" panose="020B0503020204020204" pitchFamily="34" charset="-122"/>
                <a:cs typeface="Lucida Sans Unicode" panose="020B0602030504020204"/>
              </a:rPr>
              <a:t>DivideByMinusException</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异常，该异常最终被</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catch</a:t>
            </a:r>
            <a:r>
              <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代码块捕获处理，并打印出异常信息。</a:t>
            </a: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endParaRPr lang="zh-CN"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endParaRPr>
          </a:p>
        </p:txBody>
      </p:sp>
      <p:sp>
        <p:nvSpPr>
          <p:cNvPr id="4" name="文本占位符 3"/>
          <p:cNvSpPr>
            <a:spLocks noGrp="1"/>
          </p:cNvSpPr>
          <p:nvPr>
            <p:ph type="body" sz="quarter" idx="10"/>
          </p:nvPr>
        </p:nvSpPr>
        <p:spPr/>
        <p:txBody>
          <a:bodyPr/>
          <a:lstStyle/>
          <a:p>
            <a:fld id="{11515CA8-C139-47BD-979F-4FAC7970E44A}"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9338" y="500143"/>
            <a:ext cx="5903119" cy="584776"/>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4.8 </a:t>
            </a:r>
            <a:r>
              <a:rPr lang="zh-CN" altLang="en-US" sz="3200" b="1" dirty="0">
                <a:solidFill>
                  <a:srgbClr val="1353A2"/>
                </a:solidFill>
                <a:latin typeface="微软雅黑" panose="020B0503020204020204" pitchFamily="34" charset="-122"/>
                <a:ea typeface="微软雅黑" panose="020B0503020204020204" pitchFamily="34" charset="-122"/>
              </a:rPr>
              <a:t>本章小结</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67" name="矩形 66"/>
          <p:cNvSpPr/>
          <p:nvPr/>
        </p:nvSpPr>
        <p:spPr>
          <a:xfrm>
            <a:off x="5787501" y="1768189"/>
            <a:ext cx="5281506" cy="3785652"/>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457200" defTabSz="720725">
              <a:lnSpc>
                <a:spcPct val="150000"/>
              </a:lnSpc>
            </a:pPr>
            <a:r>
              <a:rPr lang="zh-CN" altLang="zh-CN" sz="2000" dirty="0">
                <a:solidFill>
                  <a:srgbClr val="1353A2"/>
                </a:solidFill>
                <a:latin typeface="微软雅黑" panose="020B0503020204020204" pitchFamily="34" charset="-122"/>
                <a:ea typeface="微软雅黑" panose="020B0503020204020204" pitchFamily="34" charset="-122"/>
              </a:rPr>
              <a:t>本章主要介绍了面向对象的继承、多态特性，与第</a:t>
            </a:r>
            <a:r>
              <a:rPr lang="en-US" altLang="zh-CN" sz="2000" dirty="0">
                <a:solidFill>
                  <a:srgbClr val="1353A2"/>
                </a:solidFill>
                <a:latin typeface="微软雅黑" panose="020B0503020204020204" pitchFamily="34" charset="-122"/>
                <a:ea typeface="微软雅黑" panose="020B0503020204020204" pitchFamily="34" charset="-122"/>
              </a:rPr>
              <a:t>3</a:t>
            </a:r>
            <a:r>
              <a:rPr lang="zh-CN" altLang="zh-CN" sz="2000" dirty="0">
                <a:solidFill>
                  <a:srgbClr val="1353A2"/>
                </a:solidFill>
                <a:latin typeface="微软雅黑" panose="020B0503020204020204" pitchFamily="34" charset="-122"/>
                <a:ea typeface="微软雅黑" panose="020B0503020204020204" pitchFamily="34" charset="-122"/>
              </a:rPr>
              <a:t>章学习的面向对象的封装性构成了面向对象语言程序设计的三大特性，这是</a:t>
            </a:r>
            <a:r>
              <a:rPr lang="en-US" altLang="zh-CN" sz="2000" dirty="0">
                <a:solidFill>
                  <a:srgbClr val="1353A2"/>
                </a:solidFill>
                <a:latin typeface="微软雅黑" panose="020B0503020204020204" pitchFamily="34" charset="-122"/>
                <a:ea typeface="微软雅黑" panose="020B0503020204020204" pitchFamily="34" charset="-122"/>
              </a:rPr>
              <a:t>Java</a:t>
            </a:r>
            <a:r>
              <a:rPr lang="zh-CN" altLang="zh-CN" sz="2000" dirty="0">
                <a:solidFill>
                  <a:srgbClr val="1353A2"/>
                </a:solidFill>
                <a:latin typeface="微软雅黑" panose="020B0503020204020204" pitchFamily="34" charset="-122"/>
                <a:ea typeface="微软雅黑" panose="020B0503020204020204" pitchFamily="34" charset="-122"/>
              </a:rPr>
              <a:t>语言的精髓所在。此外，本章还介绍了</a:t>
            </a:r>
            <a:r>
              <a:rPr lang="en-US" altLang="zh-CN" sz="2000" dirty="0">
                <a:solidFill>
                  <a:srgbClr val="1353A2"/>
                </a:solidFill>
                <a:latin typeface="微软雅黑" panose="020B0503020204020204" pitchFamily="34" charset="-122"/>
                <a:ea typeface="微软雅黑" panose="020B0503020204020204" pitchFamily="34" charset="-122"/>
              </a:rPr>
              <a:t>final</a:t>
            </a:r>
            <a:r>
              <a:rPr lang="zh-CN" altLang="zh-CN" sz="2000" dirty="0">
                <a:solidFill>
                  <a:srgbClr val="1353A2"/>
                </a:solidFill>
                <a:latin typeface="微软雅黑" panose="020B0503020204020204" pitchFamily="34" charset="-122"/>
                <a:ea typeface="微软雅黑" panose="020B0503020204020204" pitchFamily="34" charset="-122"/>
              </a:rPr>
              <a:t>关键字、抽象类和接口、</a:t>
            </a:r>
            <a:r>
              <a:rPr lang="en-US" altLang="zh-CN" sz="2000" dirty="0">
                <a:solidFill>
                  <a:srgbClr val="1353A2"/>
                </a:solidFill>
                <a:latin typeface="微软雅黑" panose="020B0503020204020204" pitchFamily="34" charset="-122"/>
                <a:ea typeface="微软雅黑" panose="020B0503020204020204" pitchFamily="34" charset="-122"/>
              </a:rPr>
              <a:t>Object</a:t>
            </a:r>
            <a:r>
              <a:rPr lang="zh-CN" altLang="zh-CN" sz="2000" dirty="0">
                <a:solidFill>
                  <a:srgbClr val="1353A2"/>
                </a:solidFill>
                <a:latin typeface="微软雅黑" panose="020B0503020204020204" pitchFamily="34" charset="-122"/>
                <a:ea typeface="微软雅黑" panose="020B0503020204020204" pitchFamily="34" charset="-122"/>
              </a:rPr>
              <a:t>类、内部类、异常的概念以及异常的处理机制等。本章和第</a:t>
            </a:r>
            <a:r>
              <a:rPr lang="en-US" altLang="zh-CN" sz="2000" dirty="0">
                <a:solidFill>
                  <a:srgbClr val="1353A2"/>
                </a:solidFill>
                <a:latin typeface="微软雅黑" panose="020B0503020204020204" pitchFamily="34" charset="-122"/>
                <a:ea typeface="微软雅黑" panose="020B0503020204020204" pitchFamily="34" charset="-122"/>
              </a:rPr>
              <a:t>3</a:t>
            </a:r>
            <a:r>
              <a:rPr lang="zh-CN" altLang="zh-CN" sz="2000" dirty="0">
                <a:solidFill>
                  <a:srgbClr val="1353A2"/>
                </a:solidFill>
                <a:latin typeface="微软雅黑" panose="020B0503020204020204" pitchFamily="34" charset="-122"/>
                <a:ea typeface="微软雅黑" panose="020B0503020204020204" pitchFamily="34" charset="-122"/>
              </a:rPr>
              <a:t>章，是本书最重要的两章，熟练掌握这两章内容，才是掌握了</a:t>
            </a:r>
            <a:r>
              <a:rPr lang="en-US" altLang="zh-CN" sz="2000" dirty="0">
                <a:solidFill>
                  <a:srgbClr val="1353A2"/>
                </a:solidFill>
                <a:latin typeface="微软雅黑" panose="020B0503020204020204" pitchFamily="34" charset="-122"/>
                <a:ea typeface="微软雅黑" panose="020B0503020204020204" pitchFamily="34" charset="-122"/>
              </a:rPr>
              <a:t>Java</a:t>
            </a:r>
            <a:r>
              <a:rPr lang="zh-CN" altLang="zh-CN" sz="2000" dirty="0">
                <a:solidFill>
                  <a:srgbClr val="1353A2"/>
                </a:solidFill>
                <a:latin typeface="微软雅黑" panose="020B0503020204020204" pitchFamily="34" charset="-122"/>
                <a:ea typeface="微软雅黑" panose="020B0503020204020204" pitchFamily="34" charset="-122"/>
              </a:rPr>
              <a:t>语言的精髓。</a:t>
            </a:r>
            <a:endParaRPr lang="zh-CN" altLang="en-US" sz="2000" dirty="0">
              <a:solidFill>
                <a:srgbClr val="1353A2"/>
              </a:solidFill>
              <a:latin typeface="微软雅黑" panose="020B0503020204020204" pitchFamily="34" charset="-122"/>
              <a:ea typeface="微软雅黑" panose="020B0503020204020204" pitchFamily="34" charset="-122"/>
            </a:endParaRPr>
          </a:p>
        </p:txBody>
      </p:sp>
      <p:cxnSp>
        <p:nvCxnSpPr>
          <p:cNvPr id="94" name="直接连接符 71"/>
          <p:cNvCxnSpPr/>
          <p:nvPr/>
        </p:nvCxnSpPr>
        <p:spPr>
          <a:xfrm flipH="1">
            <a:off x="9202549" y="7121749"/>
            <a:ext cx="1474501" cy="1463953"/>
          </a:xfrm>
          <a:prstGeom prst="line">
            <a:avLst/>
          </a:prstGeom>
          <a:ln>
            <a:solidFill>
              <a:srgbClr val="FEA521"/>
            </a:solidFill>
          </a:ln>
        </p:spPr>
        <p:style>
          <a:lnRef idx="1">
            <a:schemeClr val="accent1"/>
          </a:lnRef>
          <a:fillRef idx="0">
            <a:schemeClr val="accent1"/>
          </a:fillRef>
          <a:effectRef idx="0">
            <a:schemeClr val="accent1"/>
          </a:effectRef>
          <a:fontRef idx="minor">
            <a:schemeClr val="tx1"/>
          </a:fontRef>
        </p:style>
      </p:cxnSp>
      <p:cxnSp>
        <p:nvCxnSpPr>
          <p:cNvPr id="95" name="直接连接符 73"/>
          <p:cNvCxnSpPr/>
          <p:nvPr/>
        </p:nvCxnSpPr>
        <p:spPr>
          <a:xfrm flipH="1">
            <a:off x="11069007" y="5941656"/>
            <a:ext cx="658541" cy="626903"/>
          </a:xfrm>
          <a:prstGeom prst="line">
            <a:avLst/>
          </a:prstGeom>
          <a:ln>
            <a:solidFill>
              <a:srgbClr val="05B0F3"/>
            </a:solidFill>
          </a:ln>
        </p:spPr>
        <p:style>
          <a:lnRef idx="1">
            <a:schemeClr val="accent1"/>
          </a:lnRef>
          <a:fillRef idx="0">
            <a:schemeClr val="accent1"/>
          </a:fillRef>
          <a:effectRef idx="0">
            <a:schemeClr val="accent1"/>
          </a:effectRef>
          <a:fontRef idx="minor">
            <a:schemeClr val="tx1"/>
          </a:fontRef>
        </p:style>
      </p:cxnSp>
      <p:pic>
        <p:nvPicPr>
          <p:cNvPr id="65"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3641" y="1634705"/>
            <a:ext cx="4730773" cy="3870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占位符 1"/>
          <p:cNvSpPr>
            <a:spLocks noGrp="1"/>
          </p:cNvSpPr>
          <p:nvPr>
            <p:ph type="body" sz="quarter" idx="10"/>
          </p:nvPr>
        </p:nvSpPr>
        <p:spPr/>
        <p:txBody>
          <a:bodyPr/>
          <a:lstStyle/>
          <a:p>
            <a:fld id="{E777ADAD-61B2-451E-9F2B-ACD0F7599F67}" type="slidenum">
              <a:rPr lang="zh-CN" altLang="en-US" smtClean="0"/>
            </a:fld>
            <a:endParaRPr lang="zh-CN" altLang="en-US"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cSld>
  <p:clrMapOvr>
    <a:masterClrMapping/>
  </p:clrMapOvr>
</p:sld>
</file>

<file path=ppt/tags/tag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9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9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9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9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9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9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9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9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9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9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0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0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0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0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0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0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0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0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0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0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1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1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1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1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1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1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1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1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1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1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2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2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2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2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2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2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2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2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2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2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3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3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3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3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3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3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3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37.xml><?xml version="1.0" encoding="utf-8"?>
<p:tagLst xmlns:p="http://schemas.openxmlformats.org/presentationml/2006/main">
  <p:tag name="GENSWF_ADVANCE_TIME" val="0.00"/>
  <p:tag name="ISPRING_SLIDE_INDENT_LEVEL" val="0"/>
  <p:tag name="ISPRING_CUSTOM_TIMING_USED" val="0"/>
  <p:tag name="GENSWF_SLIDE_TITLE" val="4.7 本章小结"/>
</p:tagLst>
</file>

<file path=ppt/tags/tag138.xml><?xml version="1.0" encoding="utf-8"?>
<p:tagLst xmlns:p="http://schemas.openxmlformats.org/presentationml/2006/main">
  <p:tag name="GENSWF_ADVANCE_TIME" val="0.00"/>
  <p:tag name="ISPRING_SLIDE_INDENT_LEVEL" val="0"/>
  <p:tag name="ISPRING_CUSTOM_TIMING_USED" val="0"/>
  <p:tag name="GENSWF_SLIDE_TITLE" val="传智播客.黑马程序员"/>
</p:tagLst>
</file>

<file path=ppt/tags/tag139.xml><?xml version="1.0" encoding="utf-8"?>
<p:tagLst xmlns:p="http://schemas.openxmlformats.org/presentationml/2006/main">
  <p:tag name="ISPRING_UUID" val="{8D62E317-9EB8-4EE3-A0B2-DEA7D8D8667A}"/>
  <p:tag name="ISPRING_RESOURCE_FOLDER" val="F:\7、计算机组装与维护\5、资源\2.PPT\ppt\第1章 认识计算机 教学PPT_薛蒙蒙_0827_1\"/>
  <p:tag name="ISPRING_RESOURCE_FOLDER_STATIC" val="F:\7、计算机组装与维护\5、资源\2.PPT\ppt\第1章 认识计算机 教学PPT_薛蒙蒙_0827_1\"/>
  <p:tag name="ISPRING_PRESENTATION_PATH" val="F:\7、计算机组装与维护\5、资源\2.PPT\ppt\第1章 认识计算机 教学PPT_薛蒙蒙_0827.pptx"/>
  <p:tag name="ISPRING_PROJECT_FOLDER_UPDATED" val="1"/>
  <p:tag name="ISPRING_PLAYERS_CUSTOMIZATION" val="UEsDBBQAAgAIAO9xSE3/6EwIKgQAAHYOAAAdAAAAdW5pdmVyc2FsL2NvbW1vbl9tZXNzYWdlcy5sbmetV1uP00YUfkfiP4wsUbUPXaASCKnZoEk8m1g4drAne+lF1mw8BAvHs7WdwPYJVS1i+wIStKItLVppu1upNK2QWlFW5ddsnOVf9NhOIAm0tnd5sJSx8n3n9p3jM6WLN7ou6nM/cIS3KJ1dOCMh7rWF7XidRalFl96/IKEgZJ7NXOHxRckTErpYPnmi5DKv02MdDr9PnkCo1OVBAMegHJ9enZFjL0rNilXVG02srVmqXtOtilKTylXR3WDeJlJFR3ziv/vB+Qs3zp47/17p9BiZh8hsYFWdpUIJ07kzOYg0auiqBWxEtTSySqXyO53ww/mnGI/eoqqiEak83NkbPXtyuHdr+MPzYhRNgyyDKy6Yn3syeVqGQTRqmaoiE0sxLU2nScJUQokslaMHvw/v7o7290b7vx08/frg6c3o8Xb0553DvduHgz+G/3yTZUA28Iqi1Syq66ppEU2evJHKo/170Y+PRvf3R4/vF6QxsEkM8O7e7ovvdo6AtRIRpPBo62b0cKsYSV2p1VV4aOzFi18fHDwbFCNoEg0SkB13g5gmrhGroq9CaUAjd3eLQPRLYGV7cDjYKYJaI2ZS+SyMhpeVGqaKrsXKMYhJDaWayGZN9FCbeUh47iZi7Tbg0IbP+47oBfCm7/Dr3EaB69g8KGbFJJdbIFgFq6mVq6zPUSgSyjEhcjwUXuWo4/Q5uODb3M+yAQ1UJXJcnsst5SNrCSsqkS2ol6yvWDRp9NgY8znyRIiY64o4ALDL7D7z2hyt8zbrBRxtwt9sx07+tsEg7NiTz3rO54iFqX/o1LjZNJmsnlo4nmsKVWFyrDDfg/FbkGqm1V8PttsLINIw5N2NMCuKqUwsvBUvjhtXE5vmfwaVpy7HjGjOftFwTJA4MeCrBy1fcUR+BGmAPqQy6TLHzY9StCUw1PR5wL2Q+0jxrhSwqeljAk2go3IsQ+ZnXFiGihTAr5CKqdA4x3w9cEKehUwKldb7zRppw4Lg8pC/0sk6vyKg/13O+lBEeO8EqXAWjmCskCAmkzUegdNzesyigUMdFsI6hsAl1+lC/HYOzlaDTDKYjteZTLzxyz/6/ssiH///M5L6bvCg1+UT2SRBZJGaBBvVulXFWpWA1Id3vo3+up0TBFKNfVKpaam4EsOjJ9vw9Y+++CV69HO09RwCHN76ajj4Oydhun/JZAkD6ThzOaHzjqT2YSf66WEhBmi+eOSQl0wfayLkwadZJBRXZnHJIQ9qvLFOcEX21qTs46xhSnG13gBlmIkQRM9vZ68D0wwNbFyC5k9WKqncYP41mBxUCLcQSxJ3PL3CYtaPtLhPExxvAMdRU6VpYVlOrjZwqXGd9rX0w2Ujloyw+I7jwh0nL1m1jjWYLnN83HbCgoTJQJ80O7Rdep4oLd7XXpvvL09BckMsnZ66MP4LUEsDBBQAAgAIAO9xSE2LtzoSDwQAANwPAAAnAAAAdW5pdmVyc2FsL2ZsYXNoX3B1Ymxpc2hpbmdfc2V0dGluZ3MueG1s5VdRaxtHEH7Xr1iupG/RyYldO+5JwdgSEZVl17rShFLM6m6s23pv93q7J0V5CiEJTV8aKIWShhZDavehdUugkNY0P6ZEkn9G53S2LFlyenJISSjiEDf7zbczs7Pf3lpXb/qcNCFUTIq8MZPNGQSEI10mGnnjI7t0ccEgSlPhUi4F5A0hDXK1kLGCqM6Z8mqgNUIVQRqhFgOdNzytg0XTbLVaWaaCMB6VPNLIr7KO9M0gBAVCQ2gGnLbxT7cDUEYhkyHESkyr0o04EOZiCILF0VFe4lR5hpnA6tTZboQyEu6y5DIkYaOeN95ZWIp/x5iEaoX5IOLkVAGNsVkvUtdlcTyU19gtIB6whoeBz88apMVc7eWNy7lLMQ3CzXGaPnmSBI1pliVmI/QRvw+aulTT5DWZUMNNrY4NicltC+ozx8YREhcgb6zYm7VKeaW4WV2zi7XNa/ZqJYlhCie7eN2ewsku25XiNPi09NdurBc3KuXqB5v22lrFLq+feGFFRwpimaMVs7CyMgodGBTM0l7k1wVlHLvtVBkVaOxXTsMG2LLEcBW3KFdgkM8CaHwYUc50G9s6h229DRAsqQAcvREvW97QYQTGCV1CiIHhWg56Yu7KoCfmF0ZSN5PZT9KaGKVFtaaOh82Dtn5oljlsOoZtSTGSWvxO6pK7g4TAr4NbpT4M7YnaNhMlRM4YZAsXgWOqSyGj3CBMY+rOwFlFdaWZ7u/C0jCSIBfudiCrtbFSOB4N1UjFB1WPG98pfFKVGtSnSSkS01nQ7re/dh7u9g72ege/vHj25Ytnt7s/7/Qe3e3+/tXh3heH+791/vomDc8NGRE/UpqgkgQcNBDtAfk8YrdIHbZkCIQDbaLmoJ0pojhzITsVcUCVOiGlOuEgF5IdUK6uFK9fIFoS6japcKYkx6UHP9Cvg59i7kLiFJzLFrhDFFgZh0YKSBthLnP7sDRpZs+9sudZVocKIgVvE+rg5lcEJbbJZKTQ0mQQp9QPUaXl82gT4irEzkeuhIl+zg3cPzhZ6EKYhi03c+ny7Nx78wtXFrPm37d3L77U6UgQ1zmNZ0sUcflMxU3ndUp3/8XpJeo75luSoR93pTs26eQT5Uj5xrXBMmPNmixhfaV9ExWs+8OP3QfPewdfd79/nKrZn+50Hz/o3vnpyPHR3c79e539P9L4dp7s9f58erh3v/Pd8zT4fv3TAN/l+v3TTyq/BmJPPSl3fKp8H+6mgfV29g/3n6RBboCKfCDrQ59eadw+pqHAA+GtgFbx7Gr0MyN4enHmM9yZb4VEnaUWr65u/4lCvdJHViJvr0ehzrWwb7yo/18qlrwNbjojVxvLnHiJjEd8JpiPdYw/WgY3z8LcbA4vSxOHMhlkG72RFzL/AFBLAwQUAAIACADvcUhNBOcD0bYCAABTCgAAIQAAAHVuaXZlcnNhbC9mbGFzaF9za2luX3NldHRpbmdzLnhtbJVWbU/bMBD+vl9Rdd8Jey2TTCUonYTEBhqI705yTaw6dmQ7Zf338yux26TNekKq757Hd763guSWsOWH2QwVnHLxDEoRVkmjCboZKa/neacUZxcFZwqYumBcNJjOlx9/2g/KLPIci+9ATOVscAG9m4X9TKF4H98WRsYIBW9azPYPvOIXOS62leAdK8+GVu9bEJSwrUZe/lis1qMOKJHqXkGTxLS+MjKN0gqQEkxI39dGzrIozoEGT5f2M5HTuzr9+gPajkiiLO3mk5ExWosrSJN8dWNkHM/07WlVFkZOExT8VRr65bORUSjFexDp5XdfjYwyeNu1/9MjreCVSWjKOV3Edw7luNTjZ6K6NHKWYB5kHJ2tgk+PfetdBPJf47lHZlwFp08mrwcLwRQ9p7BUogOUhZOzyZq/PXZKzwcsN5hKDYhVPehJB/2EOxmuSXU97g+8EVZGIK/oEa+cdg2sXLyx09TQE1arW7srYuy7LopQwM4roxB7ZY/8rfN6hIyUPfKZkhIeGd0fwQ8tjhNqfIt9NU+nX1uBYX0MCQunYDWeHszkysi1VwRMw0tYShPOC2nAlA1lVudCyo5iQgzvSIUV4eyXweV7+xiJsgODb7XhxkKKKApD/WZj1Fs6rpc9p+3orWk/ul+F/nHuPFN6iV/PsVK4qBv9qyTnM8/TU6ITM8+GGWZNajiIe7bhEcf6HiM1WGxBvHBOp7phXIGcej13szUGR1mUA5QNZxn5S4bSz7omB7HWVSMQ2ibVOVxNqprqP/VK4A3KlDBidExV6+sYJu9dGSl8CwAWRR161h2cpemoIhR2QL01UtgHj70MSd2jY+12ox5go+KG85pJHekXRd8pMS41DBBedVzDDGc5v4QVzqV9WTL3YQf3g59s5bDLTOvF3p3Ct1Jys7Yfp1ArzT+T/wBQSwMEFAACAAgA73FITaPtv2riAwAA7Q4AACYAAAB1bml2ZXJzYWwvaHRtbF9wdWJsaXNoaW5nX3NldHRpbmdzLnhtbN1X328bRRB+91+xOlTe6kv6g6Th7CpKHMXCdUJyiFYIReu7sW/p3u71ds+u+1ShUlFeqISQUKlAkUrCAwRUCakQ0T8G1Xb+DGZ9jhPHSTgHaNXKOlk7N/PtfLOz3946V2+HnDQhVkyKgjWdn7IICE/6TDQK1gfu0vlZiyhNhU+5FFCwhLTI1WLOiZIaZypYB63RVRGEEWou0gUr0Dqas+1Wq5VnKorNW8kTjfgq78nQjmJQIDTEdsRpG/90OwJlFXM5QpzUdE36CQfCfExBMJMd5cs65JadetWod7MRy0T4C5LLmMSNWsF6a3be/PZ9UqRFFoIw3FQRjcas56jvM5MO5evsDpAAWCPAvGcuWaTFfB0UrItTFwwMutvjMH3wlAM1MAsSyQg9wA9BU59qmg7TCTXc1mrfkJr8tqAh81x8Qwz/grXobqxXyouljeqKW1rfWHavVdIcJghyS9fdCYLcslspTeKfFX75xmpprVKuvrfhrqxU3PLqQRRWdKQgjj1aMQcrK5PYg2HBHB0kYU1QxrHZjpRRgcZ25TRugCuXGK5inXIFFvkkgsb7CeVMt7Grp7CrbwJE8yoCT6+ZZStYOk7AOoBLATExXMthT1y+MuyJmdkR6nY6+wGtY7N0qNbUC7B50NZPzbEPm/bd6lKMUDNjUpPcHxKqY5U5cpmPGeUWYRq5ecO32lRALzGO9Tex0/m60GPkvIDGaqSGwzqaVvaKH1WlBvVxSi41neTa/eaXzsOt3u52b/fnF8++ePHsbvenzd6je93fvtzb/nxv59fOn19nwbkhExImShOUhoiDBqIDILcSdofUoC5jIBxoE0UE7UwRxZkP+YmAI6rUASjVKQY5l/Z0ubpYun6OaEmo36TCmxAcFxPCSP8f+BS5C4lTcC5b4B+CwMp4NFFA2ujmM7/vloVm/swre5Zl9aggUvA2oR5uZ0VQNJtMJgotTQaGUj9FlRUvoE0wVTDBg1DCRJ9zAw8JnCz2Ic6CNjV94eKly+/MzF6Zy9t/3d06f2rQQOJWOTWzpRq3cKKGZos6oqT/EHSKno7FLsk4NF3pj016/Bkx0LJxbXBsoyTHi1JfO1+OJnW//6H74Hlv96vud48zte/Tze7jB91PfxwEPrrXuf9ZZ+f3LLGdJ9u9P57ubd/vfPs8i3+/olkc3+b63aNPprgG+h55Mu7hTHwfbmVx623u7O08yeK5BioJgawe+jzKEvYhjQVK/GvhWsXTqNFnRvA84ixkuNdeC9E5af//e716KZpz+odQqkj/keacaalevfC+sTVIR8Mbw8gVwbGPvYzl0D56RS3m/gZQSwMEFAACAAgA73FITQ/kWSCZAQAAHQYAAB8AAAB1bml2ZXJzYWwvaHRtbF9za2luX3NldHRpbmdzLmpzjZRNb8IwDIbv/AqUXSfEPrvthgaTJnGYNG7TDmkxpSJNoiR0MMR/Xx2+mtYdxJfm7dPXsStn0+mWiyWs+9Ld+Ge//wj3XgPUnFnCdaiLFj1HnVmRTWGS5SAyCayGFIdPj/L2RFDGTHrTeP2JtrbixxS+mXFhq7gmLAyhWUIrCO2HSrKixN+gtH1Zu5IqfY6XzinZS5R0IF1PKpNzz7CrN7+qFdZgVYA5g854AoFp5FcbeXJ8iDCqXKJyzeV6rFLVi3mySI1aymlb/vlagyn/+GIH9J+j11FgJzLr3h3k9cSjJ4x2UhuwFvZ5H0cYJCx4DKLi2/frHzQwbhZUo4vMZu5AD24wqrTmKTS69DTACDFZejW6GWE0OQcrtyPubjECQvA1mIbV8B4jAJVe6gt+oDYqxY400GbPj6hQfJrJdJ+6j0FyeFi0beveqVB//CELRkjVRmhOjGnednNcMPaOHFxbyzqmZl5QoqRERSTWFFiQp3H1awT3X13GnePJPC9vh/JqLNvAzQLMRClRHv/73EGLo7jL1dn+AVBLAwQUAAIACADvcUhNGtrqO6oAAAAfAQAAGgAAAHVuaXZlcnNhbC9pMThuX3ByZXNldHMueG1snY8xD8IgEIV3fgW5XbBb0wDdTNwcdDYVUUno0XDU+vOF1Bhnh0vuXd73Xk71rzHwp0vkI2poxBa4QxuvHu8aTsfdpgVOecDrECI6DRiB94Yp37R4SI5cJl4ikDQ8cp46KZdlEZ6mVBIohjmXYBI2jrLMGFFWUk4rCivb+b/ozw0MY5yry+xD3qMpe1GrhVOyGipzdig83iLIalDy667KzpRLRRFK/jxm2BtQSwMEFAACAAgA73FITZQTsyJpAAAAbgAAABwAAAB1bml2ZXJzYWwvbG9jYWxfc2V0dGluZ3MueG1sDcwxDoMwDEDRnVNY3int1oHAxlaW0gNYxEWRHBuRgOD2ZPvD02/7MwocvKVg6vD1eCKwzuaDLg5/01C/EVIm9SSm7FANoe+qVmwm+XLOBSZYhS7eJo4lMo8Uixx2EajhU17/wB6brroBUEsDBBQAAgAIAKBhr0TOggk37AIAAIgIAAAUAAAAdW5pdmVyc2FsL3BsYXllci54bWytVU1v2zAMPafA/oOhe62kXdc0kFt0BYod1qFA1m23QLUZW4tteZJcN/31o/xtz+lWYAcDNsX3SPGRNLt6TmLnCZQWMvXIwp0TB1JfBiINPfLw9fZ4Sa4u3x2xLOZ7UI4IPJKnwgJ4TJwAtK9EZhB8z03kkZ7BRWbiZEpIJcweuc+Qu4u0JO+OZuiSao9ExmQrSouicIVGRBpqGeeWRLu+TGimQENqQNEqDeI02JX5OxqfRKbU7DPQPWRm3h64Jmk5nrUYkBSnrlQhPZnPF/TH3ee1H0HCj0WqDU99IA5WclaW8pH7uzsZ5DFoa5uxKsk1GGOTKG0zZlZisUwdrXyPVA6bBLTmIWg3TkNCKyydALNtzHVU8+gBreXVO1Hzln4b+71p3ErlaOec5Y+x0BEe9SGddRLI6DAqS8rrlh300HTQrWUijoJfuVAQlJ/f2haZL0gVsO24Mk9XFz4e4Nst941U+xuEYRfVCrqtaG4lmluCWg63jb7uKEhz2y1wkytoSjVjTyIA+YUrxW1bXBqVA6MjY42lQzCj1ZVrkTpBWGSS+OwftLF+I2l+6teUKQH/Q5hPSNTWRKQBPN8K9DGQYE0NYLGtzTVZ7NqYXU46f0x6fT0wVTnWouBFHMNVCDiGATecdnZ6CAqKa3TxczXC9g4OgiMRRjE+ZpJhfHqQJuFqN8nQOzgIjqW/m4C25raMdFzHUTO1HcToxDphfq6NTMRL2Z6DPWNWZR++NnLN0XUm2oPz+R+jOIjRDOaWTKwu+9bbV83hvZ1TozufTVZZBt2K8wAmzyqvZhbybOQTwJbnsbnp59Tswx50lPPUdExzfcd+l8VavIBTiMD+6RantiYR2J7xyIflaY8B9cTtMghfmqYiMlpLUql5SDmGtXkSUFSYalY+ouqhknkajLRxs+7noGPcVdcKuBPDFjNdnGDzycwj7/GlvsvF2UV3lfPFRYMt87qvAle5vGFV1wl3nUHrfm0vwuqZx9ffUEsDBBQAAgAIAO9xSE0129mtaAEAAPMCAAApAAAAdW5pdmVyc2FsL3NraW5fY3VzdG9taXphdGlvbl9zZXR0aW5ncy54bWyNUttqGzEQfc9XiPyAJY1uC1uDrsWQh0IT8rz1qmGJoy0rhYSij682rXHcurSap5lz5gwzOn1+nJJ9zmV+mr4PZZrT51jKlB7y9gqhfj8f5uXTEnMseXOq3E9pnF926eu81lo1lyGNwzLaFc1bjMLbQ0pq5VTLmGEUSeapV8h5bhvWgevANsxRYvvNbxI/dZe4j6lcVu03Z+ifDbuU41J2aYyvWzhnv4fON/i4DOPUeHkr2Br1OLU6tgZihEvuK9UAIJDljjhcpeykJshjxjFUoyhQQIRz0olKJOXQstCJpsJ8JxCTjFFXqaetG2ltHLVVQkeIbtO86mwNwUiMESEEmKtcQDAYNTY0DQ1qPSA4MCCqNpooQMEGE1j1zgvLkaJeYFyZMYDx6bin7d6f61T973WO5/yH4MUvuIiu3tpcMFe/f16WRr6NT98OQ4noy5DjbvxwHe5ubq5/efLNv0fGatS28V99/QNQSwMEFAACAAgA73FITe7Vv9acGQAA8D4AABcAAAB1bml2ZXJzYWwvdW5pdmVyc2FsLnBuZ+17f1jSV/83u9ty3/XDWpmYP7idrZqWjlxaqdBWd9ZaulrmSoWSlJoikYkoArU2TUSpNXOulO3b7myZUlhCIlArwCSlckWEQvFJzQDxYwrIzwdsV652X89zPc9138/1XNfjHwrnfT6f9+v1fp/zfp/30XNKP0+In/HO/HcgEMiMDevXboFA3hRBIH8zvz3VLcmq6z/v/ngjd0v8J5DGzoABd+NN7MebPoZALjKn2Xe95W7/177123MhkJnXPT9vSPFnd0MgiG83rP14Kwll6MGVNfRvd4GtC9EHI1YPlX49Dyx9Ur2+6JdroermS2+93/y2eA/8k/X/WHp59pJrX72J33Lx8xnid3E/euFwDVc+Vt1YuO2+i/aZ2Y+durJvBbZReTwgt1Hui9DfPH85s+OWOjeTjb7/WdAKXKHhsiIB7XiWnIh2DldFFD2ehnZTgxy8Lznhw9+mT1GpA0ROg8a5VAD3yLvfv5hbHi5hV6GpKwXvjUv+cTE/jYFmi5yFhR6rIDxZurnw70LfZfxZnuYg54EgiDR4pf/utDfczUfhZT26Q/q/ebq+PARO82Bl+InGmyf+J809vRvR1rsDvVVoBMWm0iA2bDn1FmHhDeXRGr9ISYT7gYeWfpqzv0vHFlGNwewFDjQh6obfsZpAH8DX3Yuze3oFJVe+GzFpGW2dFXSP8oNRC/ZuIxK3Mjw2Xwre0MRpOp1ud3P7acaGHytfvrv+7nm9/ix0nMaa7zIzsPFii9vU1f7ffRQWExP6Av7oL9uVys1wqtvI28ULOtonIf7jEKeflUerVwiG28Pq3PNxbMTochqvpmuzYoQSIEsQ+hLxrJXpsjC76tnCwkLHqMIoWHf3U7GCWFQuVRQmvYTc7COffuwStYk9OgHQbnm/Jn5cyYmkDPt3nSHjJGTnllE39B8bZ52R5Cf65Xmbx8yrnHMM9N2C3R7SO7cnSSJ+pWnGOvMT5AibfiDRNZKoGfn9i8SaWvLgFbLiB+zEY/muUbQrr1B/UZrARFj3PPOwNaY1db5UukWj9UPDc8Rto1fklEEtKx5OFzeJtJw6FtWqzoqQ/+nB9KFzkgbDCtNlNsWgzno+btqSercdo4bSRbU8ywmpIVJoEj/Nq8TSxgPry22V4MZnKYwd4HUDNq23cMJaa6aH4sGws25rKf5Ieb21WeqLIj3WrqKZ82n5xuUFf3qWWAMjubRlEWoyrnbCMepyQpiwgWCbfgHK13pppRnBjclxa25N8DWm3y589mudOuBK6D1I5kuXDOTMRarCah3Lb3A/QZi7c+ukQWT9p1N+mNDMTyuyAURIWVUTy5Ux8d5g9NQLsmL2vx6Pgdhlnll34XwoUHUgaML6VcwJN/3L4S4c661KZAutzwS07y6lg8uD0Lqkl3N43T1/fCvB2hctKgDPz9q56bXu/+ejCHM/iy0gWstElrIuo3PQWEt1KGiOkWmioWlXA33RMnB5IFoFLkdMYJ8tBMW+id5I+9DAzyVBf5vngwbAy6gJ7VvjnBZg4HDGzqWvigvu+54qsexgT5A9x/G6efXHcy9Jlp/Tv7HswplzExEYSj4YQH1aQj0izhAZzzf8Kajbg/5eAo1HFQ68P2/0yfHEM3/t9gIUDxno/l8npZPSSem/W5qzjOqJc1+OzOTsRTt7cbVU60B0hApN6wuBja23WmU3KJSna2AtpDGOjd8pjYy1D13HC3sMBtpYFW3sN+do2taJ3JaknPJkp32H6g6om8Oy3BCzTiJtTciNEZqy9AsP55++k1dyflYGW/TZdBRADeeLLF82WsHpKlW2F9vgCCzgc/9F6Fcw0O5F13XA2p4s3A/qkuJrnskfEGPp2PWOTqO9U7zvo9qk5ZLTln4eKnVR+2BM45wqaQZIlOjMmN9JlG5sK5WMBDiktNQodRVoDc7xx+e3Ghp80UXgiFJONWlX2bh8gdpkEBx/NYHt/5DaYGizLK+9eBmWF3qHOPJfmM/pWgUpjbEueOo/oRUoyui9MtsRfAqjCsgjuDan0siw4Kl18Hbxaq7jfjvBsZhaboOFJB2RSOfIs8tsZSomdzliMDgHmcMPvKLt5VFby3mdboYL1VyeHGwhrfS/n5Pyp0KmMm71TAn7cs8TLBUXX1O9J3bjV1DMlrkiyQqfcvhiyWlomUTVNrVJAD0vUQWu2d56qhwNCvG0ecmMLwGgdPNXtO1QV2w20ktVxTVHo2DGxLmiCpXR2F+z5U/JPMP76GEwC2d8YqkUIBiy9CX0O3taqbFNoVMbSA7igvlcZRk+j4FNK8ceKP/5A39RM3uairkoyybM4CqFrRQVMArKtwNRxl9eS/YMdJYulooTZ8C/Kn8ju7tvGbxQHClNf7OM1ilhQ6XNSN9sG8jQ3crGN1HGOKCOwzTWbPsrL3OunX5tr02eco91kaCkBtAJoVPZoBxcehS+Ryy7A60qBnHfYm7T8QUMbLlYprQsFzbsj41ZUswBnUyWf5SwY5maCT6/3qxdBfhlgsM8SjfaFCnSOvyM6NR5OC9e/qf/wuO77XTsLpzIBy45I6tVbo0D9qbO42pmfgafKX76EV1XDg+V/GpAeoNORvqe+UZ0a49B7pqvYCqYOsmR5Y0wfPQg5vsZ6ODiehIZfgCHhMGJYh0wbNABFCisy+Qg1yX9NWI2SSIGG//qxEhqTd2kdFI6Kf2/IE23p6chraeRPzqFTc1/6nv2uASWAFswJauUPfpnMSiFJcIW/0Us9kWP6CO+TH1tZwrXhaHH2gfGV9Wf/Hiq8R0u9j+xLwgYYDufsb88dWnpS4UrtjBCIgQj75YVDt9cZHQkbNRMgK34zp1pJREG2UuUit32HSfBjbaJBTHET3Q/035X+NJMYL07U/qJLkVMqvn/SE2gn0gIluNPIZ5Xy0/VkrSl0+RIl12wMdxYja1dKTBSjDGObrmj+9t4GGVE/b4RBVLR/Y4HKCRVoAcqmMbwqolJetNyuTkEUBz2RpDg1DibvskXUCRJakuCCp+mf0hXfUNaKbmQ30RCNkZuxbFh1xVc4WhDWZXZ8cjb+UhQNZj5MkAkx9zhzB+0+Ey5HcKM3W9kCRXZ+lIsXZynVeBUjz8o/gXOMLA2+3D5eg5oNagqPs7pzmyNfahO5GXb6TY/ebZ/iMJkhTtxmkESmdBj6MfYhHi25sqrtveMYKnitw9UYhPF7gqiEDQwbW6e2OPiXngUjuUTFV52bWk4WU5WP+876BPBVEjzEKO/JqZ1L5TU8UQkSmsNL3uueTa31HZEhTWSGVsJShJa2wtPL9dJ3SXN5lR8N7pbARWlry6rktqgXD8jpv/V4SAeB8MkNVCySS5pp1/7irEW/rbYICHNnfKQ+BP95w8a54gkOO3wZgaWQIMvxqGRkguLc/zN0fMxW1MX5US3ZPPKDn1lW1pN4MN5GUCySRhPQNtsKhQ361VPxqyilgf3h15P3hZ7OnTdf0OPpj+iV5klDz5adwan1AFRKnQ8wAKov+1pdVDgB8R7ltf6Ra1rNoxKHVg8phvdikCpdaiXSYqw4EUND59ajn+r9VOCQ1+iYuJ9uplbVJK2j+hVgEGs42o+8Tt8z1SNVkmQ0siW9AP+GdfvCXkJrSwCS6VjmsMQXoSxZgLNZnY0fv/qBNJVoAGVNX09fRcWWpURch96RhJ59r+hjZKDzS7TTUMGkDIL6F089Z88pkMHVO/APGjJts83R+bM4colbFKK6uOwxmiE2mHxEdtWFfMsUC5GZaIwzHjk93lLXo0XRaAo/XbpY2wEnbC3tTVi6k9Qajr0Hfg7OFHG/ukogtKp+gDDmM9VIXKzbFYSGegvMmhKDEjpCh88rbXBoPIXq5RCNsFGSmtNBKygjgQDFGCU+fCO6Xk2bpfgtbn2xEud1fFvCGrVJvfkosV25yt190R/ieVmV/R1GarCxf/59XCKWUZNi8rGofH2Fv7EEhW/zL0nagEUp5mIQnh2Obag/JiOo4hnWX+vC0fB1GaheexEW99rz5+R238U2O3P5ejW2KlsS7+5tT/ON6Ie+1r8GkBd6aLaFXGWR4d9RTNV8M8c7a9aEgOnirkxOVL2UDm+CNDuH31tBePGUSl9kayVccNtIb4R8RrrfS4D3fGaO+6AYbZrJqUOoy98+nNJOPU2hYEijBGnfyF6LdbcewDYDhiyKay4wSAfbNGPbrbDYBj3xuDrX/P/4qq9hslFZVLNf17NFgb6vA7mfAwbfLWCm/yX0iTEJMQkxCTEJMQkxCTEJMQkxCTEJMQkxCTEJMQkxCTEJMQkxP8uhMXEFVGMjxsWCAQrQib+UBdBGdhYZ6Sa+eagvk/vunywa07NfkmlPVcel+85jT8Y1135S5e4ehZ2DTHzFvR/fTT+/7AZN6RxOTSLxmXH/g36AueLUAW9lV11SMdAVzzSeqfLCzF0qOu6N7I7oRUNOsU2PyPeRPC8I8BFH9GDrrS5sI2WJ4uQBQ0d7zX6c/24crXJLZPhBqMVQSKhc5TNog5UUT+gYPl0c7TaqAc8NwgKCx9/6/sQMdBHLe14D9GpBzR0XffluL4WrdkayirTtZgsoyCTFkvx4peZY2yknGeeA2Xf6jkClmuMhaSMydBUlc5lwrtMIymi0RTfILL+Ijet01BgUmI19m7k6O9f4K9k22zvKlSoZh8RFijU2PuiNfuVJEcSDR1hi9yPHMQQBd7UocO90oIvVK4duUhnb96IsiZN7e0e53mJ6VdgNKxoGtVopkY4ArLFeRxV40Kq3Gie80NjHLXnXiXcY8yVUuhsodEmNKZ/3hauIQ9d89KYWqCd2lH4pW9glkMwniWPFpcTXzSIGaHLxzwHyEUrD4qvfkSN+I1pb2OmrkqVGLQKHi4VnzqPFp7+OV0mkalUmRxkiBlAnNOJpfPxSOcSaa9K1RPBdTDukFTJKwP4rTD3bF3qvD4cwoz9zikgJyn7d4XxO85pzU4q4sqjh0CyKaHHRynN3cp4C/7JDTZ84W6Fkv54gf9CbTVCdS1YfT9JHRTtyzIbjs6VF9KvhaHU3mvhByTGpNaAw72WOH9AyUPZC6DyNxnwvbYlDZ5D+Ylelx67acUbQxDF4P48geUHKatfNV+kLsUyUL0v/abZfsxBIWe8INSula82Faz4zZJ322K6UF+RBK/N9mLISH2KmEXURJMoH/6umG3bvAwVJG+nH/qKkQh/r1z3DdgfXPxPRxNPy6rXqGRORoCASVrpPNXZGL3ugkE3yFUVNd+bZT7WY95WZZ4CgfBS7bfq9MaH9TKEb4oSt20es2FQIXcto/bchr7HkTVrq5ersOrd6fv85OFaU4YoH2N/6P0xOExd/Q5gvU46qRzFAnczaOtyCmHJArXewS/V68Co3WZBZU+f+2MGBHJLzG2pkcnHHsoQMA+Cr8b5AyW8UWbJW4M50hauesj0ToGTbvQWs/O3mcjmnAq0UuUtYdfLBsluJ2Q4HsOcuwod9W2D/hDIDzFVsGe1N8cVdV5bhBy7OfKcEChh+89fs5aonKVpJyrz0i101uXvHecX5SQX6bTEfd3OW2ySw3JfcsFRjU4hOEDc4V322EZSDyllzWik6BwyJFrArEcZe4JEVJeZ5hr5NqLo8Yj9uRwWVMuxqdtzjucdfxw2bsrvtQV91SNGRf97tlPZGdyVviyXvb9LfjNJkAUohPUo4hz3rPki2U+U/mA+MiQ7YmoleFhS4lh8zXBEnstYDZgXUiMkV32ALXbhjRUrp7bDi8VszIKH6oXqTuJW+rW95JMOyOXl7vB6gtDKe/PUVflZdmuHxt7RpRCaLpPRBo1O7rLLu3Sd4w7O1Nxx8/P4hdeNc7GUxq/1zzluv6feYJWftLNGy9HRc9f8BvUJb3KdaNpVxAfUegPBdaN/lbDhQ8bFrNR5h7t4S2pxy1EixyEzBuqvUDnV5T+HomCibdfdFLFsb/d8VfdBf28cFm6d0r0pA80MnnnBc9FEnWwd0Pbqq9GJiLEn4gzQ+gx9REnBZ3CV5odZ7LTp+5V57FA+HgJ5tB9squGIUljHX1A71f2kn+YnOphSRYkrhrasuxfZqFUFcymDuayNXuf0Qq5J4X2adPI09GrOMLqGY5sKgewHI90akjVr7VKHfnRN3timHH9mSAXiRBsi2jMNOu6M33/ISTONQuXa+eKh79OwvPOOnSd6zPdNLWs+qt3bTGFpU+B4HXoHBHLVXASWoT9zJVB+d6c/vGgM1myuEmuM0vzK3S5Q0II7Ip0Grgh2hjidHOgNbTMIuwsY9BEiuv55U2XPmXdhmNhjjzhmbFEQRxrXpJJkgGDmmp3dCxGJAOG+Yx4tkyNPdK+H3S16HSH2ZNjM7q9202HfiJY6M971IhDbMs2CyyLqA1gbyODwmCeLbBiixk1K1cN28TGxOQ+o2A2MCIBD0s9iBmuNls32FkrA5z1RN/IAguwp22Vla1qzGajTPDUurqIt54tSM7noFkgVD3Epeh9Y/2JEseH2cj6uaOY6GyxtDsxlKRKrjugymZoKOjJS2V+X/sJPKx46y0KaHL4bLrl872wjatxuXEb4Eubw3TYeZSS+3tilmH24g7inVOqtEsnwsEQGNqR8NpaoghY1T7ltQv4mZauuLXECVMYeoDl+N4vVoI+KBC9KpLHFjSChQgYA5bQgGDYVz9jZpKrYTCiaCSgsp8plUtcd2twIDXv2EpvdXWh8S3MoaHFx1qenfUUrU8AW3hL+jCGiUgEsninTDweHM9dEUgMzFNPG59aVc7qAu0qKO2nhqxwU6yoJ8A0UxQH3zj3dYareuIuogueILU202FlTNs89fFsP70jKGOeV7AMjezziJgULue8EqnuiENGYv5fJlc5hEhmTqkLw9QvHh63yyK4w6vOgwqc/d5UgRty/kPbHXJLLpqFZb7LsN8t00Gs7w22FAR21Y8uzWdtOpgWNJ4hcH0D0jZ41g6hsuj4+ZdWDU2CW1db8Z/V0aS/45S5GGKCMxzylY8NxrJ99aFzYlFv6ZoLA8LTJYRLyElLzp68Do7Q4sYohY7YhkO7hyMwZhm/lzoge61avtVffRCB9AEXnxgjBAWs1a6y67FDYCbmsSI+B8d1vR+ccFyx9ROawpYT1kuAf0oTRzo2f2H/8g1zknBLz4pmDcJKYDcptuhK98A3IQS7ZOlDXJfoCncwIhUsY0hl3TMMOrhnH6vmIj5u+kuBwLy2YakPvxdnZIgF++mpFJYXazFFt1VIqtJgKJsUFM8aDBKlUFHgmk9uDqC3T5cSLDJizNtDwExnELhwf3BjwVqNZaBbg/VpCCT28Tabmg8abwiBgXyDOJT5eyr682a74Wr8qmG/0DNJFChoYYtKCXHdvNbJ6oiGQo7an8cgfnQLrWZDxTz0HzK6zxFCIBXmqWVy+HpSRmruoi1vO6XPHw9KYNZpdb1kR4f8sk1suv5bBum6x4K1LeLIbrEp9bqR70SK5a5sIYQ0Bua/DbmG6LAOJzieJCS7317bA5/G0kXhfjbq9V/uoXYhqDLEVTgdEp9ZWOaYtEEokt+eKUERLsTs7cVSpSQH67cq8pvHMxG4d/nTMbM89Rslxe+fUcUvku7RtHHkHA8wKoR6l2BlsB8/Hu93Vh3f2fdLaKrIrqAZFgmg4TPRdRdhI1QxEa5JpdH+gUoE5sgs3PWVzbE+UUFJs+KLktKVQpu486l6kiSd1R8x70UTB+LjJKOPJK4eSwJHL3H25w2NyGsLRmirmR1EF/hwmVldHfVYXXjvMDWzW7qXaLi5AcQUJsYZBKVUvVRPjBouz9Y8bOOwqXZswqIQUqjeRdU3pf+frB3gpfwSZ4/Po9saTnhH43DZSh6xxOqypu1nH3WPUrwVgLpJ15ZVQQCE57I2wnNgcthuz4QHaWEKzlHTp7qCjTEPblApZ3m40MwUcuQet5Gqm+omR6H6yuOlFpFTNQG8mOsaNuRIfVLDAEWNa2fZiPf/YrglkUvnATvvDD6k1dX8iil8znqNy1owny26FyDna5BhDK/sx7gphJcldDd+VS/OgoigOnsxggU2wjdo8lc7SLOUv9SeT6vW63lXqUlqBmOJeNu/1OtwldLgvUvWBjW96xpGL3X68F/f8VuRAv7aFgfaHOYdKumAkVxVtrAo/831w2DlsOWQ2UoxkzbKz+/J3Y7zxlRRBanwRjWhaXoBM6yVffVFSGmosfHL0H7XbYD+mPouJzh8dKEkuiJJgkTZlmZfVRsjqW0TVLkqgDXnRjs4MGzG5Cw4z3r+QVM9yKFmbRKhGoJnVEoCPGQxxh0W40QsC+dBXk1HpEJD/AeY2cOTXtqUu4hvoWjPCFhCQZwB1jY3s5LTpNNCXBo44zSJk4JVlfwSba46mjuLvGqZzC2qMbxiHqW67L+dax9DJyiWdvcp9XPCXrz0UQW9NHoLguQEdQTUpPMdfz2AUQxeZFL121QtVnt0NoEV+yEYcTMtrWlEC/xAhVJG2XLssZe9LkZ/izYivLZ+N2Wa3sy1EtiUPWeSQ4O0SMfewOKPYsx3kxeXvPcxr1OXMQ/hKA+aLOsVdiUiK9ZEXklToKfrfQ/lWZXA9W5ufvMc3mRDZ+D1FyIUlfzQLH8VoxhIK3xi/b51xkRw3JPHH/+LruUR9NW0eXzHFZRO5TqLe9vTnb9ejvE85abUOz23sq5+mG+nhEvZTmrOfdjfsxRvvxiiedoBh1sF8EdlzIbbL36N5NfZillg4SqtJcHl35wtO2jaJajwKN/wjYW3jJzu//h9QSwMEFAACAAgA73FITXA/OElKAAAAagAAABsAAAB1bml2ZXJzYWwvdW5pdmVyc2FsLnBuZy54bWyzsa/IzVEoSy0qzszPs1Uy1DNQsrfj5bIpKEoty0wtV6gAihnpGUCAkkIlKrc8M6Ukw1bJ0tAYIZaRmpmeUWKrZGZhChfUBxoJAFBLAQIAABQAAgAIAO9xSE3/6EwIKgQAAHYOAAAdAAAAAAAAAAEAAAAAAAAAAAB1bml2ZXJzYWwvY29tbW9uX21lc3NhZ2VzLmxuZ1BLAQIAABQAAgAIAO9xSE2LtzoSDwQAANwPAAAnAAAAAAAAAAEAAAAAAGUEAAB1bml2ZXJzYWwvZmxhc2hfcHVibGlzaGluZ19zZXR0aW5ncy54bWxQSwECAAAUAAIACADvcUhNBOcD0bYCAABTCgAAIQAAAAAAAAABAAAAAAC5CAAAdW5pdmVyc2FsL2ZsYXNoX3NraW5fc2V0dGluZ3MueG1sUEsBAgAAFAACAAgA73FITaPtv2riAwAA7Q4AACYAAAAAAAAAAQAAAAAArgsAAHVuaXZlcnNhbC9odG1sX3B1Ymxpc2hpbmdfc2V0dGluZ3MueG1sUEsBAgAAFAACAAgA73FITQ/kWSCZAQAAHQYAAB8AAAAAAAAAAQAAAAAA1A8AAHVuaXZlcnNhbC9odG1sX3NraW5fc2V0dGluZ3MuanNQSwECAAAUAAIACADvcUhNGtrqO6oAAAAfAQAAGgAAAAAAAAABAAAAAACqEQAAdW5pdmVyc2FsL2kxOG5fcHJlc2V0cy54bWxQSwECAAAUAAIACADvcUhNlBOzImkAAABuAAAAHAAAAAAAAAABAAAAAACMEgAAdW5pdmVyc2FsL2xvY2FsX3NldHRpbmdzLnhtbFBLAQIAABQAAgAIAKBhr0TOggk37AIAAIgIAAAUAAAAAAAAAAEAAAAAAC8TAAB1bml2ZXJzYWwvcGxheWVyLnhtbFBLAQIAABQAAgAIAO9xSE0129mtaAEAAPMCAAApAAAAAAAAAAEAAAAAAE0WAAB1bml2ZXJzYWwvc2tpbl9jdXN0b21pemF0aW9uX3NldHRpbmdzLnhtbFBLAQIAABQAAgAIAO9xSE3u1b/WnBkAAPA+AAAXAAAAAAAAAAAAAAAAAPwXAAB1bml2ZXJzYWwvdW5pdmVyc2FsLnBuZ1BLAQIAABQAAgAIAO9xSE1wPzhJSgAAAGoAAAAbAAAAAAAAAAEAAAAAAM0xAAB1bml2ZXJzYWwvdW5pdmVyc2FsLnBuZy54bWxQSwUGAAAAAAsACwBJAwAAUDIAAAAA"/>
  <p:tag name="ISPRING_ULTRA_SCORM_COURSE_ID" val="29CDFE28-0755-48D7-B396-2DB4679C4ED9"/>
  <p:tag name="ISPRING_SCORM_RATE_SLIDES" val="1"/>
  <p:tag name="ISPRING_SCORM_RATE_QUIZZES" val="0"/>
  <p:tag name="ISPRING_SCORM_PASSING_SCORE" val="100.0000000000"/>
  <p:tag name="ISPRING_SCORM_ENDPOINT" val="&lt;endpoint&gt;&lt;enable&gt;0&lt;/enable&gt;&lt;lrs&gt;http://&lt;/lrs&gt;&lt;auth&gt;0&lt;/auth&gt;&lt;login&gt;&lt;/login&gt;&lt;password&gt;&lt;/password&gt;&lt;key&gt;&lt;/key&gt;&lt;name&gt;&lt;/name&gt;&lt;email&gt;&lt;/email&gt;&lt;/endpoint&gt;&#10;"/>
  <p:tag name="ISPRINGONLINEFOLDERID" val="0"/>
  <p:tag name="ISPRINGONLINEFOLDERPATH" val="Content List"/>
  <p:tag name="ISPRINGCLOUDFOLDERID" val="0"/>
  <p:tag name="ISPRINGCLOUDFOLDERPATH" val="Content List"/>
  <p:tag name="ISPRING_PRESENTATION_TITLE" val="第1章 认识计算机 教学PPT_薛蒙蒙_0827"/>
  <p:tag name="ISPRING_RESOURCE_PATHS_HASH_PRESENTER" val="6f21232e94b46569fb407c359ca3a72a58481855"/>
  <p:tag name="commondata" val="eyJoZGlkIjoiYzA1YzQ2ZjZiNzY4M2IzMTg2YjJlYTMwN2E0ZWVhY2I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30272</Words>
  <Application>WPS 演示</Application>
  <PresentationFormat>宽屏</PresentationFormat>
  <Paragraphs>1727</Paragraphs>
  <Slides>139</Slides>
  <Notes>139</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139</vt:i4>
      </vt:variant>
    </vt:vector>
  </HeadingPairs>
  <TitlesOfParts>
    <vt:vector size="154" baseType="lpstr">
      <vt:lpstr>Arial</vt:lpstr>
      <vt:lpstr>宋体</vt:lpstr>
      <vt:lpstr>Wingdings</vt:lpstr>
      <vt:lpstr>微软雅黑</vt:lpstr>
      <vt:lpstr>Times New Roman</vt:lpstr>
      <vt:lpstr>等线</vt:lpstr>
      <vt:lpstr>等线 Light</vt:lpstr>
      <vt:lpstr>Arial Unicode MS</vt:lpstr>
      <vt:lpstr>Calibri</vt:lpstr>
      <vt:lpstr>楷体</vt:lpstr>
      <vt:lpstr>Wingdings</vt:lpstr>
      <vt:lpstr>Times New Roman</vt:lpstr>
      <vt:lpstr>Lucida Sans Unicode</vt:lpstr>
      <vt:lpstr>Office 主题​​</vt:lpstr>
      <vt:lpstr>Visio.Drawing.11</vt:lpstr>
      <vt:lpstr>第4章 面向对象高级技术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认识计算机 教学PPT_薛蒙蒙_0827</dc:title>
  <dc:creator>lucius</dc:creator>
  <cp:lastModifiedBy>朱长江</cp:lastModifiedBy>
  <cp:revision>1071</cp:revision>
  <dcterms:created xsi:type="dcterms:W3CDTF">2016-08-25T05:35:00Z</dcterms:created>
  <dcterms:modified xsi:type="dcterms:W3CDTF">2024-10-13T09:23:30Z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2052-12.1.0.17147</vt:lpwstr>
  </property>
  <property fmtid="{D5CDD505-2E9C-101B-9397-08002B2CF9AE}" pid="3" name="ICV">
    <vt:lpwstr>254906F3C27F4AA1B398FDC22951763E_12</vt:lpwstr>
  </property>
</Properties>
</file>