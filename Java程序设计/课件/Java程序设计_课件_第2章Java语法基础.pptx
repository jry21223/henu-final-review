
<file path=[Content_Types].xml><?xml version="1.0" encoding="utf-8"?>
<Types xmlns="http://schemas.openxmlformats.org/package/2006/content-types">
  <Default Extension="vml" ContentType="application/vnd.openxmlformats-officedocument.vmlDrawing"/>
  <Default Extension="xls" ContentType="application/vnd.ms-excel"/>
  <Default Extension="bin" ContentType="application/vnd.openxmlformats-officedocument.oleObject"/>
  <Default Extension="jpeg" ContentType="image/jpeg"/>
  <Default Extension="JPG" ContentType="image/.jpg"/>
  <Default Extension="png" ContentType="image/png"/>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2" r:id="rId3"/>
  </p:sldMasterIdLst>
  <p:notesMasterIdLst>
    <p:notesMasterId r:id="rId36"/>
  </p:notesMasterIdLst>
  <p:sldIdLst>
    <p:sldId id="343" r:id="rId4"/>
    <p:sldId id="465" r:id="rId5"/>
    <p:sldId id="306" r:id="rId6"/>
    <p:sldId id="258" r:id="rId7"/>
    <p:sldId id="344" r:id="rId8"/>
    <p:sldId id="345" r:id="rId9"/>
    <p:sldId id="346" r:id="rId10"/>
    <p:sldId id="347" r:id="rId11"/>
    <p:sldId id="348" r:id="rId12"/>
    <p:sldId id="350" r:id="rId13"/>
    <p:sldId id="352" r:id="rId14"/>
    <p:sldId id="353" r:id="rId15"/>
    <p:sldId id="354" r:id="rId16"/>
    <p:sldId id="355" r:id="rId17"/>
    <p:sldId id="473" r:id="rId18"/>
    <p:sldId id="357" r:id="rId19"/>
    <p:sldId id="358" r:id="rId20"/>
    <p:sldId id="359" r:id="rId21"/>
    <p:sldId id="365" r:id="rId22"/>
    <p:sldId id="474" r:id="rId23"/>
    <p:sldId id="367" r:id="rId24"/>
    <p:sldId id="368" r:id="rId25"/>
    <p:sldId id="369" r:id="rId26"/>
    <p:sldId id="370" r:id="rId27"/>
    <p:sldId id="375" r:id="rId28"/>
    <p:sldId id="376" r:id="rId29"/>
    <p:sldId id="377" r:id="rId30"/>
    <p:sldId id="378" r:id="rId31"/>
    <p:sldId id="379" r:id="rId32"/>
    <p:sldId id="380" r:id="rId33"/>
    <p:sldId id="381" r:id="rId34"/>
    <p:sldId id="518" r:id="rId35"/>
    <p:sldId id="505" r:id="rId37"/>
    <p:sldId id="391" r:id="rId38"/>
    <p:sldId id="392" r:id="rId39"/>
    <p:sldId id="394" r:id="rId40"/>
    <p:sldId id="395" r:id="rId41"/>
    <p:sldId id="398" r:id="rId42"/>
    <p:sldId id="397" r:id="rId43"/>
    <p:sldId id="507" r:id="rId44"/>
    <p:sldId id="401" r:id="rId45"/>
    <p:sldId id="407" r:id="rId46"/>
    <p:sldId id="521" r:id="rId47"/>
    <p:sldId id="525" r:id="rId48"/>
    <p:sldId id="475" r:id="rId49"/>
    <p:sldId id="482" r:id="rId50"/>
    <p:sldId id="412" r:id="rId51"/>
    <p:sldId id="415" r:id="rId52"/>
    <p:sldId id="414" r:id="rId53"/>
    <p:sldId id="417" r:id="rId54"/>
    <p:sldId id="486" r:id="rId55"/>
    <p:sldId id="418" r:id="rId56"/>
    <p:sldId id="420" r:id="rId57"/>
    <p:sldId id="421" r:id="rId58"/>
    <p:sldId id="488" r:id="rId59"/>
    <p:sldId id="426" r:id="rId60"/>
    <p:sldId id="427" r:id="rId61"/>
    <p:sldId id="430" r:id="rId62"/>
    <p:sldId id="432" r:id="rId63"/>
    <p:sldId id="637" r:id="rId64"/>
    <p:sldId id="638" r:id="rId65"/>
    <p:sldId id="639" r:id="rId66"/>
    <p:sldId id="640" r:id="rId67"/>
    <p:sldId id="641" r:id="rId68"/>
    <p:sldId id="446" r:id="rId69"/>
    <p:sldId id="494" r:id="rId70"/>
    <p:sldId id="448" r:id="rId71"/>
    <p:sldId id="477" r:id="rId72"/>
    <p:sldId id="450" r:id="rId73"/>
    <p:sldId id="455" r:id="rId74"/>
    <p:sldId id="497" r:id="rId75"/>
    <p:sldId id="459" r:id="rId76"/>
    <p:sldId id="462" r:id="rId77"/>
    <p:sldId id="463" r:id="rId78"/>
    <p:sldId id="464" r:id="rId79"/>
    <p:sldId id="618" r:id="rId80"/>
    <p:sldId id="619" r:id="rId81"/>
    <p:sldId id="620" r:id="rId82"/>
    <p:sldId id="621" r:id="rId83"/>
    <p:sldId id="622" r:id="rId84"/>
    <p:sldId id="623" r:id="rId85"/>
    <p:sldId id="308" r:id="rId86"/>
  </p:sldIdLst>
  <p:sldSz cx="9144000" cy="6858000" type="screen4x3"/>
  <p:notesSz cx="6858000" cy="9144000"/>
  <p:custShowLst>
    <p:custShow name="自定义放映 1" id="0">
      <p:sldLst>
        <p:sld r:id="rId4"/>
        <p:sld r:id="rId5"/>
        <p:sld r:id="rId6"/>
        <p:sld r:id="rId7"/>
        <p:sld r:id="rId8"/>
        <p:sld r:id="rId9"/>
        <p:sld r:id="rId10"/>
        <p:sld r:id="rId11"/>
        <p:sld r:id="rId12"/>
        <p:sld r:id="rId13"/>
        <p:sld r:id="rId14"/>
        <p:sld r:id="rId15"/>
        <p:sld r:id="rId16"/>
        <p:sld r:id="rId17"/>
        <p:sld r:id="rId18"/>
        <p:sld r:id="rId19"/>
        <p:sld r:id="rId20"/>
        <p:sld r:id="rId21"/>
        <p:sld r:id="rId22"/>
        <p:sld r:id="rId23"/>
        <p:sld r:id="rId24"/>
        <p:sld r:id="rId25"/>
        <p:sld r:id="rId26"/>
        <p:sld r:id="rId27"/>
        <p:sld r:id="rId28"/>
        <p:sld r:id="rId29"/>
        <p:sld r:id="rId30"/>
        <p:sld r:id="rId31"/>
        <p:sld r:id="rId32"/>
        <p:sld r:id="rId33"/>
        <p:sld r:id="rId34"/>
        <p:sld r:id="rId37"/>
        <p:sld r:id="rId38"/>
        <p:sld r:id="rId39"/>
        <p:sld r:id="rId40"/>
        <p:sld r:id="rId41"/>
        <p:sld r:id="rId42"/>
        <p:sld r:id="rId43"/>
        <p:sld r:id="rId44"/>
        <p:sld r:id="rId45"/>
        <p:sld r:id="rId46"/>
        <p:sld r:id="rId47"/>
        <p:sld r:id="rId48"/>
        <p:sld r:id="rId49"/>
        <p:sld r:id="rId50"/>
        <p:sld r:id="rId51"/>
        <p:sld r:id="rId52"/>
        <p:sld r:id="rId53"/>
        <p:sld r:id="rId54"/>
        <p:sld r:id="rId55"/>
        <p:sld r:id="rId56"/>
        <p:sld r:id="rId57"/>
        <p:sld r:id="rId58"/>
        <p:sld r:id="rId59"/>
        <p:sld r:id="rId60"/>
        <p:sld r:id="rId61"/>
        <p:sld r:id="rId62"/>
        <p:sld r:id="rId63"/>
        <p:sld r:id="rId80"/>
        <p:sld r:id="rId81"/>
        <p:sld r:id="rId82"/>
        <p:sld r:id="rId83"/>
        <p:sld r:id="rId84"/>
        <p:sld r:id="rId85"/>
        <p:sld r:id="rId69"/>
        <p:sld r:id="rId70"/>
        <p:sld r:id="rId71"/>
        <p:sld r:id="rId72"/>
        <p:sld r:id="rId73"/>
        <p:sld r:id="rId74"/>
        <p:sld r:id="rId75"/>
        <p:sld r:id="rId76"/>
        <p:sld r:id="rId77"/>
        <p:sld r:id="rId78"/>
        <p:sld r:id="rId79"/>
        <p:sld r:id="rId86"/>
      </p:sldLst>
    </p:custShow>
  </p:custShowLst>
  <p:custDataLst>
    <p:tags r:id="rId90"/>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13" userDrawn="1">
          <p15:clr>
            <a:srgbClr val="A4A3A4"/>
          </p15:clr>
        </p15:guide>
        <p15:guide id="2" pos="288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rgbClr val="FF0000"/>
    </p:penClr>
    <p:extLst>
      <p:ext uri="{2FDB2607-1784-4EEB-B798-7EB5836EED8A}">
        <p14:showMediaCtrls xmlns:p14="http://schemas.microsoft.com/office/powerpoint/2010/main" val="1"/>
      </p:ext>
    </p:extLst>
  </p:showPr>
  <p:clrMru>
    <a:srgbClr val="1369B2"/>
    <a:srgbClr val="D5F4FF"/>
    <a:srgbClr val="009ED6"/>
    <a:srgbClr val="E0E0E0"/>
    <a:srgbClr val="FFFF00"/>
    <a:srgbClr val="A3D3FF"/>
    <a:srgbClr val="D5F2FF"/>
    <a:srgbClr val="3B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4358"/>
    <p:restoredTop sz="99276"/>
  </p:normalViewPr>
  <p:slideViewPr>
    <p:cSldViewPr snapToGrid="0" snapToObjects="1" showGuides="1">
      <p:cViewPr varScale="1">
        <p:scale>
          <a:sx n="114" d="100"/>
          <a:sy n="114" d="100"/>
        </p:scale>
        <p:origin x="864" y="84"/>
      </p:cViewPr>
      <p:guideLst>
        <p:guide orient="horz" pos="2113"/>
        <p:guide pos="2881"/>
      </p:guideLst>
    </p:cSldViewPr>
  </p:slideViewPr>
  <p:notesTextViewPr>
    <p:cViewPr>
      <p:scale>
        <a:sx n="1" d="1"/>
        <a:sy n="1" d="1"/>
      </p:scale>
      <p:origin x="0" y="0"/>
    </p:cViewPr>
  </p:notesTextViewPr>
  <p:sorterViewPr showFormatting="0">
    <p:cViewPr>
      <p:scale>
        <a:sx n="100" d="100"/>
        <a:sy n="100" d="100"/>
      </p:scale>
      <p:origin x="0" y="-34506"/>
    </p:cViewPr>
  </p:sorterViewPr>
  <p:gridSpacing cx="71999" cy="71999"/>
</p:viewPr>
</file>

<file path=ppt/_rels/presentation.xml.rels><?xml version="1.0" encoding="UTF-8" standalone="yes"?>
<Relationships xmlns="http://schemas.openxmlformats.org/package/2006/relationships"><Relationship Id="rId90" Type="http://schemas.openxmlformats.org/officeDocument/2006/relationships/tags" Target="tags/tag1.xml"/><Relationship Id="rId9" Type="http://schemas.openxmlformats.org/officeDocument/2006/relationships/slide" Target="slides/slide6.xml"/><Relationship Id="rId89" Type="http://schemas.openxmlformats.org/officeDocument/2006/relationships/tableStyles" Target="tableStyles.xml"/><Relationship Id="rId88" Type="http://schemas.openxmlformats.org/officeDocument/2006/relationships/viewProps" Target="viewProps.xml"/><Relationship Id="rId87" Type="http://schemas.openxmlformats.org/officeDocument/2006/relationships/presProps" Target="presProps.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notesMaster" Target="notesMasters/notesMaster1.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buFont typeface="Arial" panose="020B0604020202020204" pitchFamily="34" charset="0"/>
              <a:buNone/>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buFont typeface="Arial" panose="020B0604020202020204" pitchFamily="34" charset="0"/>
              <a:buNone/>
              <a:defRPr sz="120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5364" name="Rectangle 4"/>
          <p:cNvSpPr>
            <a:spLocks noGrp="1" noRot="1" noChangeAspect="1"/>
          </p:cNvSpPr>
          <p:nvPr>
            <p:ph type="sldImg"/>
          </p:nvPr>
        </p:nvSpPr>
        <p:spPr>
          <a:xfrm>
            <a:off x="1143000" y="685800"/>
            <a:ext cx="4572000" cy="3429000"/>
          </a:xfrm>
          <a:prstGeom prst="rect">
            <a:avLst/>
          </a:prstGeom>
          <a:noFill/>
          <a:ln w="9525">
            <a:noFill/>
          </a:ln>
        </p:spPr>
      </p:sp>
      <p:sp>
        <p:nvSpPr>
          <p:cNvPr id="2053"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2054"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buFont typeface="Arial" panose="020B0604020202020204" pitchFamily="34" charset="0"/>
              <a:buNone/>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
            <a:pPr lvl="0" algn="r" eaLnBrk="1" hangingPunct="1">
              <a:buFont typeface="Arial" panose="020B0604020202020204" pitchFamily="34" charset="0"/>
              <a:buChar char="•"/>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幻灯片图像占位符 1"/>
          <p:cNvSpPr>
            <a:spLocks noGrp="1" noRot="1" noChangeAspect="1" noTextEdit="1"/>
          </p:cNvSpPr>
          <p:nvPr>
            <p:ph type="sldImg"/>
          </p:nvPr>
        </p:nvSpPr>
        <p:spPr/>
      </p:sp>
      <p:sp>
        <p:nvSpPr>
          <p:cNvPr id="49155" name="备注占位符 2"/>
          <p:cNvSpPr>
            <a:spLocks noGrp="1"/>
          </p:cNvSpPr>
          <p:nvPr>
            <p:ph type="body"/>
          </p:nvPr>
        </p:nvSpPr>
        <p:spPr/>
        <p:txBody>
          <a:bodyPr wrap="square" lIns="91440" tIns="45720" rIns="91440" bIns="45720" anchor="ctr" anchorCtr="0"/>
          <a:p>
            <a:pPr lvl="0"/>
            <a:endParaRPr lang="zh-CN" altLang="en-US" dirty="0"/>
          </a:p>
        </p:txBody>
      </p:sp>
      <p:sp>
        <p:nvSpPr>
          <p:cNvPr id="4915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buChar char="•"/>
            </a:pPr>
            <a:fld id="{9A0DB2DC-4C9A-4742-B13C-FB6460FD3503}" type="slidenum">
              <a:rPr lang="zh-CN" altLang="en-US" sz="1200" dirty="0"/>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2052" name="图片 7"/>
          <p:cNvPicPr>
            <a:picLocks noChangeAspect="1"/>
          </p:cNvPicPr>
          <p:nvPr userDrawn="1"/>
        </p:nvPicPr>
        <p:blipFill>
          <a:blip r:embed="rId2"/>
          <a:stretch>
            <a:fillRect/>
          </a:stretch>
        </p:blipFill>
        <p:spPr>
          <a:xfrm>
            <a:off x="3175" y="0"/>
            <a:ext cx="9140825" cy="6858000"/>
          </a:xfrm>
          <a:prstGeom prst="rect">
            <a:avLst/>
          </a:prstGeom>
          <a:noFill/>
          <a:ln w="9525">
            <a:noFill/>
          </a:ln>
        </p:spPr>
      </p:pic>
      <p:pic>
        <p:nvPicPr>
          <p:cNvPr id="2053" name="图片 13"/>
          <p:cNvPicPr>
            <a:picLocks noChangeAspect="1"/>
          </p:cNvPicPr>
          <p:nvPr userDrawn="1"/>
        </p:nvPicPr>
        <p:blipFill>
          <a:blip r:embed="rId3"/>
          <a:stretch>
            <a:fillRect/>
          </a:stretch>
        </p:blipFill>
        <p:spPr>
          <a:xfrm>
            <a:off x="2879725" y="501650"/>
            <a:ext cx="3384550" cy="850900"/>
          </a:xfrm>
          <a:prstGeom prst="rect">
            <a:avLst/>
          </a:prstGeom>
          <a:noFill/>
          <a:ln w="9525">
            <a:noFill/>
          </a:ln>
        </p:spPr>
      </p:pic>
      <p:sp>
        <p:nvSpPr>
          <p:cNvPr id="2" name="Title 1"/>
          <p:cNvSpPr>
            <a:spLocks noGrp="1"/>
          </p:cNvSpPr>
          <p:nvPr>
            <p:ph type="ctrTitle"/>
          </p:nvPr>
        </p:nvSpPr>
        <p:spPr>
          <a:xfrm>
            <a:off x="685800" y="1352281"/>
            <a:ext cx="7772400" cy="2157681"/>
          </a:xfrm>
        </p:spPr>
        <p:txBody>
          <a:bodyPr anchor="b">
            <a:normAutofit/>
          </a:bodyPr>
          <a:lstStyle>
            <a:lvl1pPr algn="ctr">
              <a:defRPr sz="4800">
                <a:solidFill>
                  <a:schemeClr val="bg1"/>
                </a:solidFill>
                <a:latin typeface="微软雅黑" panose="020B0503020204020204" pitchFamily="34" charset="-122"/>
                <a:ea typeface="微软雅黑" panose="020B0503020204020204" pitchFamily="34" charset="-122"/>
              </a:defRPr>
            </a:lvl1pPr>
          </a:lstStyle>
          <a:p>
            <a:r>
              <a:rPr lang="zh-CN" altLang="en-US" noProof="1"/>
              <a:t>单击此处编辑母版标题样式</a:t>
            </a:r>
            <a:endParaRPr lang="en-US" noProof="1"/>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2800">
                <a:solidFill>
                  <a:schemeClr val="bg1"/>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endParaRPr lang="en-US" noProof="1"/>
          </a:p>
        </p:txBody>
      </p:sp>
      <p:sp>
        <p:nvSpPr>
          <p:cNvPr id="11"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3"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buNone/>
            </a:pPr>
            <a:fld id="{9A0DB2DC-4C9A-4742-B13C-FB6460FD3503}" type="slidenum">
              <a:rPr lang="zh-CN" altLang="en-US" dirty="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
        <p:nvSpPr>
          <p:cNvPr id="9" name="矩形 1"/>
          <p:cNvSpPr>
            <a:spLocks noChangeArrowheads="1"/>
          </p:cNvSpPr>
          <p:nvPr/>
        </p:nvSpPr>
        <p:spPr bwMode="auto">
          <a:xfrm>
            <a:off x="690563" y="220663"/>
            <a:ext cx="785813" cy="646113"/>
          </a:xfrm>
          <a:prstGeom prst="rect">
            <a:avLst/>
          </a:prstGeom>
          <a:no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 </a:t>
            </a:r>
            <a:endParaRPr kumimoji="0" lang="zh-CN" altLang="en-US" sz="36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10" name="矩形 9"/>
          <p:cNvSpPr/>
          <p:nvPr/>
        </p:nvSpPr>
        <p:spPr>
          <a:xfrm>
            <a:off x="0" y="6610350"/>
            <a:ext cx="1778000" cy="223838"/>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200" b="1" i="0" u="none" strike="noStrike" kern="1200" cap="none" spc="0" normalizeH="0" baseline="0" noProof="0" dirty="0">
              <a:ln>
                <a:noFill/>
              </a:ln>
              <a:solidFill>
                <a:schemeClr val="lt1"/>
              </a:solidFill>
              <a:effectLst/>
              <a:uLnTx/>
              <a:uFillTx/>
              <a:latin typeface="+mn-lt"/>
              <a:ea typeface="+mn-ea"/>
              <a:cs typeface="+mn-cs"/>
            </a:endParaRPr>
          </a:p>
        </p:txBody>
      </p:sp>
      <p:sp>
        <p:nvSpPr>
          <p:cNvPr id="3" name="Content Placeholder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7"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noProof="1"/>
              <a:t>单击此处编辑母版标题样式</a:t>
            </a:r>
            <a:endParaRPr lang="en-US" noProof="1"/>
          </a:p>
        </p:txBody>
      </p:sp>
      <p:sp>
        <p:nvSpPr>
          <p:cNvPr id="11" name="Date Placeholder 3"/>
          <p:cNvSpPr>
            <a:spLocks noGrp="1"/>
          </p:cNvSpPr>
          <p:nvPr>
            <p:ph type="dt" sz="half" idx="2"/>
          </p:nvPr>
        </p:nvSpPr>
        <p:spPr>
          <a:xfrm>
            <a:off x="636588" y="6354763"/>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dirty="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3" name="Slide Number Placeholder 5"/>
          <p:cNvSpPr>
            <a:spLocks noGrp="1"/>
          </p:cNvSpPr>
          <p:nvPr>
            <p:ph type="sldNum" sz="quarter" idx="4"/>
          </p:nvPr>
        </p:nvSpPr>
        <p:spPr>
          <a:xfrm>
            <a:off x="6584950" y="6356350"/>
            <a:ext cx="2057400" cy="365125"/>
          </a:xfrm>
          <a:prstGeom prst="rect">
            <a:avLst/>
          </a:prstGeom>
        </p:spPr>
        <p:txBody>
          <a:bodyPr vert="horz" wrap="square" lIns="91440" tIns="45720" rIns="91440" bIns="45720" numCol="1" anchor="ctr" anchorCtr="0" compatLnSpc="1"/>
          <a:p>
            <a:pPr algn="r">
              <a:buNone/>
            </a:pPr>
            <a:fld id="{9A0DB2DC-4C9A-4742-B13C-FB6460FD3503}" type="slidenum">
              <a:rPr lang="zh-CN" altLang="en-US" b="1" dirty="0">
                <a:solidFill>
                  <a:srgbClr val="FF0000"/>
                </a:solidFill>
              </a:rPr>
            </a:fld>
            <a:endParaRPr lang="zh-CN" altLang="en-US" b="1" dirty="0">
              <a:solidFill>
                <a:srgbClr val="FF0000"/>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bg>
      <p:bgPr>
        <a:solidFill>
          <a:schemeClr val="bg1"/>
        </a:solidFill>
        <a:effectLst/>
      </p:bgPr>
    </p:bg>
    <p:spTree>
      <p:nvGrpSpPr>
        <p:cNvPr id="1" name=""/>
        <p:cNvGrpSpPr/>
        <p:nvPr/>
      </p:nvGrpSpPr>
      <p:grpSpPr>
        <a:xfrm>
          <a:off x="0" y="0"/>
          <a:ext cx="0" cy="0"/>
          <a:chOff x="0" y="0"/>
          <a:chExt cx="0" cy="0"/>
        </a:xfrm>
      </p:grpSpPr>
      <p:sp>
        <p:nvSpPr>
          <p:cNvPr id="9" name="矩形 1"/>
          <p:cNvSpPr>
            <a:spLocks noChangeArrowheads="1"/>
          </p:cNvSpPr>
          <p:nvPr/>
        </p:nvSpPr>
        <p:spPr bwMode="auto">
          <a:xfrm>
            <a:off x="690563" y="220663"/>
            <a:ext cx="785813" cy="646113"/>
          </a:xfrm>
          <a:prstGeom prst="rect">
            <a:avLst/>
          </a:prstGeom>
          <a:no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 </a:t>
            </a:r>
            <a:endParaRPr kumimoji="0" lang="zh-CN" altLang="en-US" sz="36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10" name="矩形 9"/>
          <p:cNvSpPr/>
          <p:nvPr/>
        </p:nvSpPr>
        <p:spPr>
          <a:xfrm>
            <a:off x="0" y="6610350"/>
            <a:ext cx="1778000" cy="223838"/>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200" b="1" i="0" u="none" strike="noStrike" kern="1200" cap="none" spc="0" normalizeH="0" baseline="0" noProof="0" dirty="0">
              <a:ln>
                <a:noFill/>
              </a:ln>
              <a:solidFill>
                <a:schemeClr val="lt1"/>
              </a:solidFill>
              <a:effectLst/>
              <a:uLnTx/>
              <a:uFillTx/>
              <a:latin typeface="+mn-lt"/>
              <a:ea typeface="+mn-ea"/>
              <a:cs typeface="+mn-cs"/>
            </a:endParaRPr>
          </a:p>
        </p:txBody>
      </p:sp>
      <p:sp>
        <p:nvSpPr>
          <p:cNvPr id="3" name="Content Placeholder 2"/>
          <p:cNvSpPr>
            <a:spLocks noGrp="1"/>
          </p:cNvSpPr>
          <p:nvPr>
            <p:ph sz="half" idx="1"/>
          </p:nvPr>
        </p:nvSpPr>
        <p:spPr>
          <a:xfrm>
            <a:off x="628650" y="1825625"/>
            <a:ext cx="38862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4" name="Content Placeholder 3"/>
          <p:cNvSpPr>
            <a:spLocks noGrp="1"/>
          </p:cNvSpPr>
          <p:nvPr>
            <p:ph sz="half" idx="2"/>
          </p:nvPr>
        </p:nvSpPr>
        <p:spPr>
          <a:xfrm>
            <a:off x="4629150" y="1825625"/>
            <a:ext cx="38862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8"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noProof="1"/>
              <a:t>单击此处编辑母版标题样式</a:t>
            </a:r>
            <a:endParaRPr lang="en-US" noProof="1"/>
          </a:p>
        </p:txBody>
      </p:sp>
      <p:sp>
        <p:nvSpPr>
          <p:cNvPr id="11" name="Date Placeholder 4"/>
          <p:cNvSpPr>
            <a:spLocks noGrp="1"/>
          </p:cNvSpPr>
          <p:nvPr>
            <p:ph type="dt" sz="half" idx="1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Footer Placeholder 5"/>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3" name="Slide Number Placeholder 6"/>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buNone/>
            </a:pPr>
            <a:fld id="{9A0DB2DC-4C9A-4742-B13C-FB6460FD3503}" type="slidenum">
              <a:rPr lang="zh-CN" altLang="en-US" dirty="0"/>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较">
    <p:bg>
      <p:bgPr>
        <a:solidFill>
          <a:schemeClr val="bg1"/>
        </a:solidFill>
        <a:effectLst/>
      </p:bgPr>
    </p:bg>
    <p:spTree>
      <p:nvGrpSpPr>
        <p:cNvPr id="1" name=""/>
        <p:cNvGrpSpPr/>
        <p:nvPr/>
      </p:nvGrpSpPr>
      <p:grpSpPr>
        <a:xfrm>
          <a:off x="0" y="0"/>
          <a:ext cx="0" cy="0"/>
          <a:chOff x="0" y="0"/>
          <a:chExt cx="0" cy="0"/>
        </a:xfrm>
      </p:grpSpPr>
      <p:sp>
        <p:nvSpPr>
          <p:cNvPr id="9" name="矩形 1"/>
          <p:cNvSpPr>
            <a:spLocks noChangeArrowheads="1"/>
          </p:cNvSpPr>
          <p:nvPr/>
        </p:nvSpPr>
        <p:spPr bwMode="auto">
          <a:xfrm>
            <a:off x="690563" y="220663"/>
            <a:ext cx="785813" cy="646113"/>
          </a:xfrm>
          <a:prstGeom prst="rect">
            <a:avLst/>
          </a:prstGeom>
          <a:no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 </a:t>
            </a:r>
            <a:endParaRPr kumimoji="0" lang="zh-CN" altLang="en-US" sz="36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2" name="矩形 9"/>
          <p:cNvSpPr/>
          <p:nvPr/>
        </p:nvSpPr>
        <p:spPr>
          <a:xfrm>
            <a:off x="0" y="6610350"/>
            <a:ext cx="1778000" cy="223838"/>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200" b="1" i="0" u="none" strike="noStrike" kern="1200" cap="none" spc="0" normalizeH="0" baseline="0" noProof="0" dirty="0">
              <a:ln>
                <a:noFill/>
              </a:ln>
              <a:solidFill>
                <a:schemeClr val="lt1"/>
              </a:solidFill>
              <a:effectLst/>
              <a:uLnTx/>
              <a:uFillTx/>
              <a:latin typeface="+mn-lt"/>
              <a:ea typeface="+mn-ea"/>
              <a:cs typeface="+mn-cs"/>
            </a:endParaRP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Content Placeholder 3"/>
          <p:cNvSpPr>
            <a:spLocks noGrp="1"/>
          </p:cNvSpPr>
          <p:nvPr>
            <p:ph sz="half" idx="2"/>
          </p:nvPr>
        </p:nvSpPr>
        <p:spPr>
          <a:xfrm>
            <a:off x="629842" y="2505075"/>
            <a:ext cx="3868340" cy="36845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Content Placeholder 5"/>
          <p:cNvSpPr>
            <a:spLocks noGrp="1"/>
          </p:cNvSpPr>
          <p:nvPr>
            <p:ph sz="quarter" idx="4"/>
          </p:nvPr>
        </p:nvSpPr>
        <p:spPr>
          <a:xfrm>
            <a:off x="4629150" y="2505075"/>
            <a:ext cx="3887391" cy="36845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10"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noProof="1"/>
              <a:t>单击此处编辑母版标题样式</a:t>
            </a:r>
            <a:endParaRPr lang="en-US" noProof="1"/>
          </a:p>
        </p:txBody>
      </p:sp>
      <p:sp>
        <p:nvSpPr>
          <p:cNvPr id="11" name="Date Placeholder 6"/>
          <p:cNvSpPr>
            <a:spLocks noGrp="1"/>
          </p:cNvSpPr>
          <p:nvPr>
            <p:ph type="dt" sz="half" idx="1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Footer Placeholder 7"/>
          <p:cNvSpPr>
            <a:spLocks noGrp="1"/>
          </p:cNvSpPr>
          <p:nvPr>
            <p:ph type="ftr" sz="quarter" idx="1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3" name="Slide Number Placeholder 8"/>
          <p:cNvSpPr>
            <a:spLocks noGrp="1"/>
          </p:cNvSpPr>
          <p:nvPr>
            <p:ph type="sldNum" sz="quarter" idx="14"/>
          </p:nvPr>
        </p:nvSpPr>
        <p:spPr>
          <a:xfrm>
            <a:off x="6457950" y="6356350"/>
            <a:ext cx="2057400" cy="365125"/>
          </a:xfrm>
          <a:prstGeom prst="rect">
            <a:avLst/>
          </a:prstGeom>
        </p:spPr>
        <p:txBody>
          <a:bodyPr vert="horz" wrap="square" lIns="91440" tIns="45720" rIns="91440" bIns="45720" numCol="1" anchor="ctr" anchorCtr="0" compatLnSpc="1"/>
          <a:p>
            <a:pPr algn="r">
              <a:buNone/>
            </a:pPr>
            <a:fld id="{9A0DB2DC-4C9A-4742-B13C-FB6460FD3503}" type="slidenum">
              <a:rPr lang="zh-CN" altLang="en-US" dirty="0"/>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9" name="矩形 1"/>
          <p:cNvSpPr>
            <a:spLocks noChangeArrowheads="1"/>
          </p:cNvSpPr>
          <p:nvPr/>
        </p:nvSpPr>
        <p:spPr bwMode="auto">
          <a:xfrm>
            <a:off x="690563" y="220663"/>
            <a:ext cx="785813" cy="646113"/>
          </a:xfrm>
          <a:prstGeom prst="rect">
            <a:avLst/>
          </a:prstGeom>
          <a:no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 </a:t>
            </a:r>
            <a:endParaRPr kumimoji="0" lang="zh-CN" altLang="en-US" sz="36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10" name="矩形 9"/>
          <p:cNvSpPr/>
          <p:nvPr/>
        </p:nvSpPr>
        <p:spPr>
          <a:xfrm>
            <a:off x="0" y="6610350"/>
            <a:ext cx="1778000" cy="223838"/>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200" b="1" i="0" u="none" strike="noStrike" kern="1200" cap="none" spc="0" normalizeH="0" baseline="0" noProof="0" dirty="0">
              <a:ln>
                <a:noFill/>
              </a:ln>
              <a:solidFill>
                <a:schemeClr val="lt1"/>
              </a:solidFill>
              <a:effectLst/>
              <a:uLnTx/>
              <a:uFillTx/>
              <a:latin typeface="+mn-lt"/>
              <a:ea typeface="+mn-ea"/>
              <a:cs typeface="+mn-cs"/>
            </a:endParaRPr>
          </a:p>
        </p:txBody>
      </p:sp>
      <p:sp>
        <p:nvSpPr>
          <p:cNvPr id="2"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noProof="1"/>
              <a:t>单击此处编辑母版标题样式</a:t>
            </a:r>
            <a:endParaRPr lang="en-US" noProof="1"/>
          </a:p>
        </p:txBody>
      </p:sp>
      <p:sp>
        <p:nvSpPr>
          <p:cNvPr id="11" name="Date Placeholder 2"/>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Footer Placeholder 3"/>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3" name="Slide Number Placeholder 4"/>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buNone/>
            </a:pPr>
            <a:fld id="{9A0DB2DC-4C9A-4742-B13C-FB6460FD3503}" type="slidenum">
              <a:rPr lang="zh-CN" altLang="en-US" dirty="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solidFill>
          <a:schemeClr val="bg1"/>
        </a:solidFill>
        <a:effectLst/>
      </p:bgPr>
    </p:bg>
    <p:spTree>
      <p:nvGrpSpPr>
        <p:cNvPr id="1" name=""/>
        <p:cNvGrpSpPr/>
        <p:nvPr/>
      </p:nvGrpSpPr>
      <p:grpSpPr>
        <a:xfrm>
          <a:off x="0" y="0"/>
          <a:ext cx="0" cy="0"/>
          <a:chOff x="0" y="0"/>
          <a:chExt cx="0" cy="0"/>
        </a:xfrm>
      </p:grpSpPr>
      <p:sp>
        <p:nvSpPr>
          <p:cNvPr id="9" name="矩形 1"/>
          <p:cNvSpPr>
            <a:spLocks noChangeArrowheads="1"/>
          </p:cNvSpPr>
          <p:nvPr/>
        </p:nvSpPr>
        <p:spPr bwMode="auto">
          <a:xfrm>
            <a:off x="690563" y="220663"/>
            <a:ext cx="785813" cy="646113"/>
          </a:xfrm>
          <a:prstGeom prst="rect">
            <a:avLst/>
          </a:prstGeom>
          <a:no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 </a:t>
            </a:r>
            <a:endParaRPr kumimoji="0" lang="zh-CN" altLang="en-US" sz="36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10" name="矩形 9"/>
          <p:cNvSpPr/>
          <p:nvPr/>
        </p:nvSpPr>
        <p:spPr>
          <a:xfrm>
            <a:off x="0" y="6610350"/>
            <a:ext cx="1778000" cy="223838"/>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200" b="1" i="0" u="none" strike="noStrike" kern="1200" cap="none" spc="0" normalizeH="0" baseline="0" noProof="0" dirty="0">
              <a:ln>
                <a:noFill/>
              </a:ln>
              <a:solidFill>
                <a:schemeClr val="lt1"/>
              </a:solidFill>
              <a:effectLst/>
              <a:uLnTx/>
              <a:uFillTx/>
              <a:latin typeface="+mn-lt"/>
              <a:ea typeface="+mn-ea"/>
              <a:cs typeface="+mn-cs"/>
            </a:endParaRPr>
          </a:p>
        </p:txBody>
      </p:sp>
      <p:sp>
        <p:nvSpPr>
          <p:cNvPr id="3" name="Vertical Text Placeholder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7"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noProof="1"/>
              <a:t>单击此处编辑母版标题样式</a:t>
            </a:r>
            <a:endParaRPr lang="en-US" noProof="1"/>
          </a:p>
        </p:txBody>
      </p:sp>
      <p:sp>
        <p:nvSpPr>
          <p:cNvPr id="11"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3"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buNone/>
            </a:pPr>
            <a:fld id="{9A0DB2DC-4C9A-4742-B13C-FB6460FD3503}" type="slidenum">
              <a:rPr lang="zh-CN" altLang="en-US" dirty="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标题幻灯片">
    <p:bg>
      <p:bgPr>
        <a:solidFill>
          <a:schemeClr val="bg1"/>
        </a:solidFill>
        <a:effectLst/>
      </p:bgPr>
    </p:bg>
    <p:spTree>
      <p:nvGrpSpPr>
        <p:cNvPr id="1" name=""/>
        <p:cNvGrpSpPr/>
        <p:nvPr/>
      </p:nvGrpSpPr>
      <p:grpSpPr>
        <a:xfrm>
          <a:off x="0" y="0"/>
          <a:ext cx="0" cy="0"/>
          <a:chOff x="0" y="0"/>
          <a:chExt cx="0" cy="0"/>
        </a:xfrm>
      </p:grpSpPr>
      <p:pic>
        <p:nvPicPr>
          <p:cNvPr id="8196" name="图片 7"/>
          <p:cNvPicPr>
            <a:picLocks noChangeAspect="1"/>
          </p:cNvPicPr>
          <p:nvPr userDrawn="1"/>
        </p:nvPicPr>
        <p:blipFill>
          <a:blip r:embed="rId2"/>
          <a:stretch>
            <a:fillRect/>
          </a:stretch>
        </p:blipFill>
        <p:spPr>
          <a:xfrm>
            <a:off x="-1587" y="0"/>
            <a:ext cx="9145587" cy="6858000"/>
          </a:xfrm>
          <a:prstGeom prst="rect">
            <a:avLst/>
          </a:prstGeom>
          <a:noFill/>
          <a:ln w="9525">
            <a:noFill/>
          </a:ln>
        </p:spPr>
      </p:pic>
      <p:sp>
        <p:nvSpPr>
          <p:cNvPr id="10" name="日期占位符 1"/>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1" name="页脚占位符 2"/>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buNone/>
            </a:pPr>
            <a:fld id="{9A0DB2DC-4C9A-4742-B13C-FB6460FD3503}" type="slidenum">
              <a:rPr lang="zh-CN" altLang="en-US" dirty="0"/>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目录">
    <p:bg>
      <p:bgPr>
        <a:solidFill>
          <a:schemeClr val="bg1"/>
        </a:solidFill>
        <a:effectLst/>
      </p:bgPr>
    </p:bg>
    <p:spTree>
      <p:nvGrpSpPr>
        <p:cNvPr id="1" name=""/>
        <p:cNvGrpSpPr/>
        <p:nvPr/>
      </p:nvGrpSpPr>
      <p:grpSpPr>
        <a:xfrm>
          <a:off x="0" y="0"/>
          <a:ext cx="0" cy="0"/>
          <a:chOff x="0" y="0"/>
          <a:chExt cx="0" cy="0"/>
        </a:xfrm>
      </p:grpSpPr>
      <p:sp>
        <p:nvSpPr>
          <p:cNvPr id="9" name="矩形 8"/>
          <p:cNvSpPr/>
          <p:nvPr/>
        </p:nvSpPr>
        <p:spPr>
          <a:xfrm>
            <a:off x="0" y="6610350"/>
            <a:ext cx="1778000" cy="223838"/>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200" b="1" i="0" u="none" strike="noStrike" kern="1200" cap="none" spc="0" normalizeH="0" baseline="0" noProof="0" dirty="0">
              <a:ln>
                <a:noFill/>
              </a:ln>
              <a:solidFill>
                <a:schemeClr val="lt1"/>
              </a:solidFill>
              <a:effectLst/>
              <a:uLnTx/>
              <a:uFillTx/>
              <a:latin typeface="+mn-lt"/>
              <a:ea typeface="+mn-ea"/>
              <a:cs typeface="+mn-cs"/>
            </a:endParaRPr>
          </a:p>
        </p:txBody>
      </p:sp>
      <p:sp>
        <p:nvSpPr>
          <p:cNvPr id="3" name="内容占位符 2"/>
          <p:cNvSpPr>
            <a:spLocks noGrp="1"/>
          </p:cNvSpPr>
          <p:nvPr>
            <p:ph idx="1"/>
          </p:nvPr>
        </p:nvSpPr>
        <p:spPr>
          <a:xfrm>
            <a:off x="457200" y="1066800"/>
            <a:ext cx="8229600" cy="5059363"/>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1"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buNone/>
            </a:pPr>
            <a:fld id="{9A0DB2DC-4C9A-4742-B13C-FB6460FD3503}" type="slidenum">
              <a:rPr lang="zh-CN" altLang="en-US" dirty="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正文">
    <p:bg>
      <p:bgPr>
        <a:solidFill>
          <a:schemeClr val="bg1"/>
        </a:solidFill>
        <a:effectLst/>
      </p:bgPr>
    </p:bg>
    <p:spTree>
      <p:nvGrpSpPr>
        <p:cNvPr id="1" name=""/>
        <p:cNvGrpSpPr/>
        <p:nvPr/>
      </p:nvGrpSpPr>
      <p:grpSpPr>
        <a:xfrm>
          <a:off x="0" y="0"/>
          <a:ext cx="0" cy="0"/>
          <a:chOff x="0" y="0"/>
          <a:chExt cx="0" cy="0"/>
        </a:xfrm>
      </p:grpSpPr>
      <p:sp>
        <p:nvSpPr>
          <p:cNvPr id="9" name="矩形 1"/>
          <p:cNvSpPr>
            <a:spLocks noChangeArrowheads="1"/>
          </p:cNvSpPr>
          <p:nvPr/>
        </p:nvSpPr>
        <p:spPr bwMode="auto">
          <a:xfrm>
            <a:off x="690563" y="220663"/>
            <a:ext cx="785813" cy="646113"/>
          </a:xfrm>
          <a:prstGeom prst="rect">
            <a:avLst/>
          </a:prstGeom>
          <a:no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 </a:t>
            </a:r>
            <a:endParaRPr kumimoji="0" lang="zh-CN" altLang="en-US" sz="36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10" name="矩形 9"/>
          <p:cNvSpPr/>
          <p:nvPr/>
        </p:nvSpPr>
        <p:spPr>
          <a:xfrm>
            <a:off x="0" y="6610350"/>
            <a:ext cx="1778000" cy="223838"/>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200" b="1" i="0" u="none" strike="noStrike" kern="1200" cap="none" spc="0" normalizeH="0" baseline="0" noProof="0" dirty="0">
              <a:ln>
                <a:noFill/>
              </a:ln>
              <a:solidFill>
                <a:schemeClr val="lt1"/>
              </a:solidFill>
              <a:effectLst/>
              <a:uLnTx/>
              <a:uFillTx/>
              <a:latin typeface="+mn-lt"/>
              <a:ea typeface="+mn-ea"/>
              <a:cs typeface="+mn-cs"/>
            </a:endParaRPr>
          </a:p>
        </p:txBody>
      </p:sp>
      <p:sp>
        <p:nvSpPr>
          <p:cNvPr id="3" name="内容占位符 2"/>
          <p:cNvSpPr>
            <a:spLocks noGrp="1"/>
          </p:cNvSpPr>
          <p:nvPr>
            <p:ph idx="1"/>
          </p:nvPr>
        </p:nvSpPr>
        <p:spPr>
          <a:xfrm>
            <a:off x="457200" y="1066800"/>
            <a:ext cx="822960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日期占位符 1"/>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页脚占位符 3"/>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3" name="灯片编号占位符 4"/>
          <p:cNvSpPr>
            <a:spLocks noGrp="1"/>
          </p:cNvSpPr>
          <p:nvPr>
            <p:ph type="sldNum" sz="quarter" idx="4"/>
          </p:nvPr>
        </p:nvSpPr>
        <p:spPr>
          <a:xfrm>
            <a:off x="6553200" y="6356350"/>
            <a:ext cx="2057400" cy="365125"/>
          </a:xfrm>
          <a:prstGeom prst="rect">
            <a:avLst/>
          </a:prstGeom>
        </p:spPr>
        <p:txBody>
          <a:bodyPr vert="horz" wrap="square" lIns="91440" tIns="45720" rIns="91440" bIns="45720" numCol="1" anchor="ctr" anchorCtr="0" compatLnSpc="1"/>
          <a:p>
            <a:pPr algn="r">
              <a:buNone/>
            </a:pPr>
            <a:fld id="{9A0DB2DC-4C9A-4742-B13C-FB6460FD3503}" type="slidenum">
              <a:rPr lang="zh-CN" altLang="en-US" b="1" dirty="0">
                <a:solidFill>
                  <a:srgbClr val="FF0000"/>
                </a:solidFill>
              </a:rPr>
            </a:fld>
            <a:endParaRPr lang="zh-CN" altLang="en-US" b="1" dirty="0">
              <a:solidFill>
                <a:srgbClr val="FF0000"/>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小结">
    <p:bg>
      <p:bgPr>
        <a:solidFill>
          <a:schemeClr val="bg1"/>
        </a:solidFill>
        <a:effectLst/>
      </p:bgPr>
    </p:bg>
    <p:spTree>
      <p:nvGrpSpPr>
        <p:cNvPr id="1" name=""/>
        <p:cNvGrpSpPr/>
        <p:nvPr/>
      </p:nvGrpSpPr>
      <p:grpSpPr>
        <a:xfrm>
          <a:off x="0" y="0"/>
          <a:ext cx="0" cy="0"/>
          <a:chOff x="0" y="0"/>
          <a:chExt cx="0" cy="0"/>
        </a:xfrm>
      </p:grpSpPr>
      <p:sp>
        <p:nvSpPr>
          <p:cNvPr id="9" name="矩形 8"/>
          <p:cNvSpPr/>
          <p:nvPr/>
        </p:nvSpPr>
        <p:spPr>
          <a:xfrm>
            <a:off x="0" y="6610350"/>
            <a:ext cx="1778000" cy="223838"/>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200" b="1" i="0" u="none" strike="noStrike" kern="1200" cap="none" spc="0" normalizeH="0" baseline="0" noProof="0" dirty="0">
              <a:ln>
                <a:noFill/>
              </a:ln>
              <a:solidFill>
                <a:schemeClr val="lt1"/>
              </a:solidFill>
              <a:effectLst/>
              <a:uLnTx/>
              <a:uFillTx/>
              <a:latin typeface="+mn-lt"/>
              <a:ea typeface="+mn-ea"/>
              <a:cs typeface="+mn-cs"/>
            </a:endParaRPr>
          </a:p>
        </p:txBody>
      </p:sp>
      <p:sp>
        <p:nvSpPr>
          <p:cNvPr id="3" name="内容占位符 2"/>
          <p:cNvSpPr>
            <a:spLocks noGrp="1"/>
          </p:cNvSpPr>
          <p:nvPr>
            <p:ph idx="1"/>
          </p:nvPr>
        </p:nvSpPr>
        <p:spPr>
          <a:xfrm>
            <a:off x="457200" y="1066800"/>
            <a:ext cx="8229600" cy="5059363"/>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1"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buNone/>
            </a:pPr>
            <a:fld id="{9A0DB2DC-4C9A-4742-B13C-FB6460FD3503}" type="slidenum">
              <a:rPr lang="zh-CN" altLang="en-US" dirty="0"/>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正文">
    <p:bg>
      <p:bgPr>
        <a:solidFill>
          <a:schemeClr val="bg1"/>
        </a:solidFill>
        <a:effectLst/>
      </p:bgPr>
    </p:bg>
    <p:spTree>
      <p:nvGrpSpPr>
        <p:cNvPr id="1" name=""/>
        <p:cNvGrpSpPr/>
        <p:nvPr/>
      </p:nvGrpSpPr>
      <p:grpSpPr>
        <a:xfrm>
          <a:off x="0" y="0"/>
          <a:ext cx="0" cy="0"/>
          <a:chOff x="0" y="0"/>
          <a:chExt cx="0" cy="0"/>
        </a:xfrm>
      </p:grpSpPr>
      <p:sp>
        <p:nvSpPr>
          <p:cNvPr id="9" name="矩形 8"/>
          <p:cNvSpPr/>
          <p:nvPr/>
        </p:nvSpPr>
        <p:spPr>
          <a:xfrm>
            <a:off x="0" y="6610350"/>
            <a:ext cx="1778000" cy="223838"/>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200" b="1" i="0" u="none" strike="noStrike" kern="1200" cap="none" spc="0" normalizeH="0" baseline="0" noProof="0" dirty="0">
              <a:ln>
                <a:noFill/>
              </a:ln>
              <a:solidFill>
                <a:schemeClr val="lt1"/>
              </a:solidFill>
              <a:effectLst/>
              <a:uLnTx/>
              <a:uFillTx/>
              <a:latin typeface="+mn-lt"/>
              <a:ea typeface="+mn-ea"/>
              <a:cs typeface="+mn-cs"/>
            </a:endParaRPr>
          </a:p>
        </p:txBody>
      </p:sp>
      <p:sp>
        <p:nvSpPr>
          <p:cNvPr id="10"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1"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buNone/>
            </a:pPr>
            <a:fld id="{9A0DB2DC-4C9A-4742-B13C-FB6460FD3503}" type="slidenum">
              <a:rPr lang="zh-CN" altLang="en-US" dirty="0"/>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9" name="矩形 8"/>
          <p:cNvSpPr/>
          <p:nvPr/>
        </p:nvSpPr>
        <p:spPr>
          <a:xfrm>
            <a:off x="0" y="6610350"/>
            <a:ext cx="1778000" cy="223838"/>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200" b="1" i="0" u="none" strike="noStrike" kern="1200" cap="none" spc="0" normalizeH="0" baseline="0" noProof="0" dirty="0">
              <a:ln>
                <a:noFill/>
              </a:ln>
              <a:solidFill>
                <a:schemeClr val="lt1"/>
              </a:solidFill>
              <a:effectLst/>
              <a:uLnTx/>
              <a:uFillTx/>
              <a:latin typeface="+mn-lt"/>
              <a:ea typeface="+mn-ea"/>
              <a:cs typeface="+mn-cs"/>
            </a:endParaRPr>
          </a:p>
        </p:txBody>
      </p:sp>
      <p:sp>
        <p:nvSpPr>
          <p:cNvPr id="10" name="日期占位符 1"/>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1" name="页脚占位符 2"/>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buNone/>
            </a:pPr>
            <a:fld id="{9A0DB2DC-4C9A-4742-B13C-FB6460FD3503}" type="slidenum">
              <a:rPr lang="zh-CN" altLang="en-US" dirty="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6_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9" name="矩形 8"/>
          <p:cNvSpPr/>
          <p:nvPr/>
        </p:nvSpPr>
        <p:spPr>
          <a:xfrm>
            <a:off x="0" y="6610350"/>
            <a:ext cx="1778000" cy="223838"/>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200" b="1" i="0" u="none" strike="noStrike" kern="1200" cap="none" spc="0" normalizeH="0" baseline="0" noProof="0" dirty="0">
              <a:ln>
                <a:noFill/>
              </a:ln>
              <a:solidFill>
                <a:schemeClr val="lt1"/>
              </a:solidFill>
              <a:effectLst/>
              <a:uLnTx/>
              <a:uFillTx/>
              <a:latin typeface="+mn-lt"/>
              <a:ea typeface="+mn-ea"/>
              <a:cs typeface="+mn-cs"/>
            </a:endParaRPr>
          </a:p>
        </p:txBody>
      </p:sp>
      <p:sp>
        <p:nvSpPr>
          <p:cNvPr id="10" name="日期占位符 1"/>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1" name="页脚占位符 2"/>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buNone/>
            </a:pPr>
            <a:fld id="{9A0DB2DC-4C9A-4742-B13C-FB6460FD3503}" type="slidenum">
              <a:rPr lang="zh-CN" altLang="en-US" dirty="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2052" name="图片 7"/>
          <p:cNvPicPr>
            <a:picLocks noChangeAspect="1"/>
          </p:cNvPicPr>
          <p:nvPr userDrawn="1"/>
        </p:nvPicPr>
        <p:blipFill>
          <a:blip r:embed="rId2"/>
          <a:stretch>
            <a:fillRect/>
          </a:stretch>
        </p:blipFill>
        <p:spPr>
          <a:xfrm>
            <a:off x="3175" y="0"/>
            <a:ext cx="9140825" cy="6858000"/>
          </a:xfrm>
          <a:prstGeom prst="rect">
            <a:avLst/>
          </a:prstGeom>
          <a:noFill/>
          <a:ln w="9525">
            <a:noFill/>
          </a:ln>
        </p:spPr>
      </p:pic>
      <p:pic>
        <p:nvPicPr>
          <p:cNvPr id="2053" name="图片 13"/>
          <p:cNvPicPr>
            <a:picLocks noChangeAspect="1"/>
          </p:cNvPicPr>
          <p:nvPr userDrawn="1"/>
        </p:nvPicPr>
        <p:blipFill>
          <a:blip r:embed="rId3"/>
          <a:stretch>
            <a:fillRect/>
          </a:stretch>
        </p:blipFill>
        <p:spPr>
          <a:xfrm>
            <a:off x="2879725" y="501650"/>
            <a:ext cx="3384550" cy="850900"/>
          </a:xfrm>
          <a:prstGeom prst="rect">
            <a:avLst/>
          </a:prstGeom>
          <a:noFill/>
          <a:ln w="9525">
            <a:noFill/>
          </a:ln>
        </p:spPr>
      </p:pic>
      <p:sp>
        <p:nvSpPr>
          <p:cNvPr id="2" name="Title 1"/>
          <p:cNvSpPr>
            <a:spLocks noGrp="1"/>
          </p:cNvSpPr>
          <p:nvPr>
            <p:ph type="ctrTitle"/>
          </p:nvPr>
        </p:nvSpPr>
        <p:spPr>
          <a:xfrm>
            <a:off x="685800" y="1352281"/>
            <a:ext cx="7772400" cy="2157681"/>
          </a:xfrm>
        </p:spPr>
        <p:txBody>
          <a:bodyPr anchor="b">
            <a:normAutofit/>
          </a:bodyPr>
          <a:lstStyle>
            <a:lvl1pPr algn="ctr">
              <a:defRPr sz="4800">
                <a:solidFill>
                  <a:schemeClr val="bg1"/>
                </a:solidFill>
                <a:latin typeface="微软雅黑" panose="020B0503020204020204" pitchFamily="34" charset="-122"/>
                <a:ea typeface="微软雅黑" panose="020B0503020204020204" pitchFamily="34" charset="-122"/>
              </a:defRPr>
            </a:lvl1pPr>
          </a:lstStyle>
          <a:p>
            <a:r>
              <a:rPr lang="zh-CN" altLang="en-US" noProof="1"/>
              <a:t>单击此处编辑母版标题样式</a:t>
            </a:r>
            <a:endParaRPr lang="en-US" noProof="1"/>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2800">
                <a:solidFill>
                  <a:schemeClr val="bg1"/>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endParaRPr lang="en-US" noProof="1"/>
          </a:p>
        </p:txBody>
      </p:sp>
      <p:sp>
        <p:nvSpPr>
          <p:cNvPr id="11"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3"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buNone/>
            </a:pPr>
            <a:fld id="{9A0DB2DC-4C9A-4742-B13C-FB6460FD3503}" type="slidenum">
              <a:rPr lang="zh-CN" altLang="en-US" dirty="0"/>
            </a:fld>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
        <p:nvSpPr>
          <p:cNvPr id="9" name="矩形 1"/>
          <p:cNvSpPr>
            <a:spLocks noChangeArrowheads="1"/>
          </p:cNvSpPr>
          <p:nvPr/>
        </p:nvSpPr>
        <p:spPr bwMode="auto">
          <a:xfrm>
            <a:off x="690563" y="220663"/>
            <a:ext cx="785813" cy="646113"/>
          </a:xfrm>
          <a:prstGeom prst="rect">
            <a:avLst/>
          </a:prstGeom>
          <a:no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 </a:t>
            </a:r>
            <a:endParaRPr kumimoji="0" lang="zh-CN" altLang="en-US" sz="36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10" name="矩形 9"/>
          <p:cNvSpPr/>
          <p:nvPr/>
        </p:nvSpPr>
        <p:spPr>
          <a:xfrm>
            <a:off x="0" y="6610350"/>
            <a:ext cx="1778000" cy="223838"/>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200" b="1" i="0" u="none" strike="noStrike" kern="1200" cap="none" spc="0" normalizeH="0" baseline="0" noProof="0" dirty="0">
              <a:ln>
                <a:noFill/>
              </a:ln>
              <a:solidFill>
                <a:schemeClr val="lt1"/>
              </a:solidFill>
              <a:effectLst/>
              <a:uLnTx/>
              <a:uFillTx/>
              <a:latin typeface="+mn-lt"/>
              <a:ea typeface="+mn-ea"/>
              <a:cs typeface="+mn-cs"/>
            </a:endParaRPr>
          </a:p>
        </p:txBody>
      </p:sp>
      <p:sp>
        <p:nvSpPr>
          <p:cNvPr id="3" name="Content Placeholder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7"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noProof="1"/>
              <a:t>单击此处编辑母版标题样式</a:t>
            </a:r>
            <a:endParaRPr lang="en-US" noProof="1"/>
          </a:p>
        </p:txBody>
      </p:sp>
      <p:sp>
        <p:nvSpPr>
          <p:cNvPr id="11" name="Date Placeholder 3"/>
          <p:cNvSpPr>
            <a:spLocks noGrp="1"/>
          </p:cNvSpPr>
          <p:nvPr>
            <p:ph type="dt" sz="half" idx="2"/>
          </p:nvPr>
        </p:nvSpPr>
        <p:spPr>
          <a:xfrm>
            <a:off x="636588" y="6354763"/>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dirty="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3" name="Slide Number Placeholder 5"/>
          <p:cNvSpPr>
            <a:spLocks noGrp="1"/>
          </p:cNvSpPr>
          <p:nvPr>
            <p:ph type="sldNum" sz="quarter" idx="4"/>
          </p:nvPr>
        </p:nvSpPr>
        <p:spPr>
          <a:xfrm>
            <a:off x="6584950" y="6356350"/>
            <a:ext cx="2057400" cy="365125"/>
          </a:xfrm>
          <a:prstGeom prst="rect">
            <a:avLst/>
          </a:prstGeom>
        </p:spPr>
        <p:txBody>
          <a:bodyPr vert="horz" wrap="square" lIns="91440" tIns="45720" rIns="91440" bIns="45720" numCol="1" anchor="ctr" anchorCtr="0" compatLnSpc="1"/>
          <a:p>
            <a:pPr algn="r">
              <a:buNone/>
            </a:pPr>
            <a:fld id="{9A0DB2DC-4C9A-4742-B13C-FB6460FD3503}" type="slidenum">
              <a:rPr lang="zh-CN" altLang="en-US" b="1" dirty="0">
                <a:solidFill>
                  <a:srgbClr val="FF0000"/>
                </a:solidFill>
              </a:rPr>
            </a:fld>
            <a:endParaRPr lang="zh-CN" altLang="en-US" b="1" dirty="0">
              <a:solidFill>
                <a:srgbClr val="FF0000"/>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两栏内容">
    <p:bg>
      <p:bgPr>
        <a:solidFill>
          <a:schemeClr val="bg1"/>
        </a:solidFill>
        <a:effectLst/>
      </p:bgPr>
    </p:bg>
    <p:spTree>
      <p:nvGrpSpPr>
        <p:cNvPr id="1" name=""/>
        <p:cNvGrpSpPr/>
        <p:nvPr/>
      </p:nvGrpSpPr>
      <p:grpSpPr>
        <a:xfrm>
          <a:off x="0" y="0"/>
          <a:ext cx="0" cy="0"/>
          <a:chOff x="0" y="0"/>
          <a:chExt cx="0" cy="0"/>
        </a:xfrm>
      </p:grpSpPr>
      <p:sp>
        <p:nvSpPr>
          <p:cNvPr id="9" name="矩形 1"/>
          <p:cNvSpPr>
            <a:spLocks noChangeArrowheads="1"/>
          </p:cNvSpPr>
          <p:nvPr/>
        </p:nvSpPr>
        <p:spPr bwMode="auto">
          <a:xfrm>
            <a:off x="690563" y="220663"/>
            <a:ext cx="785813" cy="646113"/>
          </a:xfrm>
          <a:prstGeom prst="rect">
            <a:avLst/>
          </a:prstGeom>
          <a:no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 </a:t>
            </a:r>
            <a:endParaRPr kumimoji="0" lang="zh-CN" altLang="en-US" sz="36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10" name="矩形 9"/>
          <p:cNvSpPr/>
          <p:nvPr/>
        </p:nvSpPr>
        <p:spPr>
          <a:xfrm>
            <a:off x="0" y="6610350"/>
            <a:ext cx="1778000" cy="223838"/>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200" b="1" i="0" u="none" strike="noStrike" kern="1200" cap="none" spc="0" normalizeH="0" baseline="0" noProof="0" dirty="0">
              <a:ln>
                <a:noFill/>
              </a:ln>
              <a:solidFill>
                <a:schemeClr val="lt1"/>
              </a:solidFill>
              <a:effectLst/>
              <a:uLnTx/>
              <a:uFillTx/>
              <a:latin typeface="+mn-lt"/>
              <a:ea typeface="+mn-ea"/>
              <a:cs typeface="+mn-cs"/>
            </a:endParaRPr>
          </a:p>
        </p:txBody>
      </p:sp>
      <p:sp>
        <p:nvSpPr>
          <p:cNvPr id="3" name="Content Placeholder 2"/>
          <p:cNvSpPr>
            <a:spLocks noGrp="1"/>
          </p:cNvSpPr>
          <p:nvPr>
            <p:ph sz="half" idx="1"/>
          </p:nvPr>
        </p:nvSpPr>
        <p:spPr>
          <a:xfrm>
            <a:off x="628650" y="1825625"/>
            <a:ext cx="38862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4" name="Content Placeholder 3"/>
          <p:cNvSpPr>
            <a:spLocks noGrp="1"/>
          </p:cNvSpPr>
          <p:nvPr>
            <p:ph sz="half" idx="2"/>
          </p:nvPr>
        </p:nvSpPr>
        <p:spPr>
          <a:xfrm>
            <a:off x="4629150" y="1825625"/>
            <a:ext cx="3886200" cy="435133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8"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noProof="1"/>
              <a:t>单击此处编辑母版标题样式</a:t>
            </a:r>
            <a:endParaRPr lang="en-US" noProof="1"/>
          </a:p>
        </p:txBody>
      </p:sp>
      <p:sp>
        <p:nvSpPr>
          <p:cNvPr id="11" name="Date Placeholder 4"/>
          <p:cNvSpPr>
            <a:spLocks noGrp="1"/>
          </p:cNvSpPr>
          <p:nvPr>
            <p:ph type="dt" sz="half" idx="1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Footer Placeholder 5"/>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3" name="Slide Number Placeholder 6"/>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buNone/>
            </a:pPr>
            <a:fld id="{9A0DB2DC-4C9A-4742-B13C-FB6460FD3503}" type="slidenum">
              <a:rPr lang="zh-CN" altLang="en-US" dirty="0"/>
            </a:fld>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比较">
    <p:bg>
      <p:bgPr>
        <a:solidFill>
          <a:schemeClr val="bg1"/>
        </a:solidFill>
        <a:effectLst/>
      </p:bgPr>
    </p:bg>
    <p:spTree>
      <p:nvGrpSpPr>
        <p:cNvPr id="1" name=""/>
        <p:cNvGrpSpPr/>
        <p:nvPr/>
      </p:nvGrpSpPr>
      <p:grpSpPr>
        <a:xfrm>
          <a:off x="0" y="0"/>
          <a:ext cx="0" cy="0"/>
          <a:chOff x="0" y="0"/>
          <a:chExt cx="0" cy="0"/>
        </a:xfrm>
      </p:grpSpPr>
      <p:sp>
        <p:nvSpPr>
          <p:cNvPr id="9" name="矩形 1"/>
          <p:cNvSpPr>
            <a:spLocks noChangeArrowheads="1"/>
          </p:cNvSpPr>
          <p:nvPr/>
        </p:nvSpPr>
        <p:spPr bwMode="auto">
          <a:xfrm>
            <a:off x="690563" y="220663"/>
            <a:ext cx="785813" cy="646113"/>
          </a:xfrm>
          <a:prstGeom prst="rect">
            <a:avLst/>
          </a:prstGeom>
          <a:no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 </a:t>
            </a:r>
            <a:endParaRPr kumimoji="0" lang="zh-CN" altLang="en-US" sz="36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2" name="矩形 9"/>
          <p:cNvSpPr/>
          <p:nvPr/>
        </p:nvSpPr>
        <p:spPr>
          <a:xfrm>
            <a:off x="0" y="6610350"/>
            <a:ext cx="1778000" cy="223838"/>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200" b="1" i="0" u="none" strike="noStrike" kern="1200" cap="none" spc="0" normalizeH="0" baseline="0" noProof="0" dirty="0">
              <a:ln>
                <a:noFill/>
              </a:ln>
              <a:solidFill>
                <a:schemeClr val="lt1"/>
              </a:solidFill>
              <a:effectLst/>
              <a:uLnTx/>
              <a:uFillTx/>
              <a:latin typeface="+mn-lt"/>
              <a:ea typeface="+mn-ea"/>
              <a:cs typeface="+mn-cs"/>
            </a:endParaRP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Content Placeholder 3"/>
          <p:cNvSpPr>
            <a:spLocks noGrp="1"/>
          </p:cNvSpPr>
          <p:nvPr>
            <p:ph sz="half" idx="2"/>
          </p:nvPr>
        </p:nvSpPr>
        <p:spPr>
          <a:xfrm>
            <a:off x="629842" y="2505075"/>
            <a:ext cx="3868340" cy="36845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Content Placeholder 5"/>
          <p:cNvSpPr>
            <a:spLocks noGrp="1"/>
          </p:cNvSpPr>
          <p:nvPr>
            <p:ph sz="quarter" idx="4"/>
          </p:nvPr>
        </p:nvSpPr>
        <p:spPr>
          <a:xfrm>
            <a:off x="4629150" y="2505075"/>
            <a:ext cx="3887391" cy="36845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10"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noProof="1"/>
              <a:t>单击此处编辑母版标题样式</a:t>
            </a:r>
            <a:endParaRPr lang="en-US" noProof="1"/>
          </a:p>
        </p:txBody>
      </p:sp>
      <p:sp>
        <p:nvSpPr>
          <p:cNvPr id="11" name="Date Placeholder 6"/>
          <p:cNvSpPr>
            <a:spLocks noGrp="1"/>
          </p:cNvSpPr>
          <p:nvPr>
            <p:ph type="dt" sz="half" idx="1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Footer Placeholder 7"/>
          <p:cNvSpPr>
            <a:spLocks noGrp="1"/>
          </p:cNvSpPr>
          <p:nvPr>
            <p:ph type="ftr" sz="quarter" idx="1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3" name="Slide Number Placeholder 8"/>
          <p:cNvSpPr>
            <a:spLocks noGrp="1"/>
          </p:cNvSpPr>
          <p:nvPr>
            <p:ph type="sldNum" sz="quarter" idx="14"/>
          </p:nvPr>
        </p:nvSpPr>
        <p:spPr>
          <a:xfrm>
            <a:off x="6457950" y="6356350"/>
            <a:ext cx="2057400" cy="365125"/>
          </a:xfrm>
          <a:prstGeom prst="rect">
            <a:avLst/>
          </a:prstGeom>
        </p:spPr>
        <p:txBody>
          <a:bodyPr vert="horz" wrap="square" lIns="91440" tIns="45720" rIns="91440" bIns="45720" numCol="1" anchor="ctr" anchorCtr="0" compatLnSpc="1"/>
          <a:p>
            <a:pPr algn="r">
              <a:buNone/>
            </a:pPr>
            <a:fld id="{9A0DB2DC-4C9A-4742-B13C-FB6460FD3503}" type="slidenum">
              <a:rPr lang="zh-CN" altLang="en-US" dirty="0"/>
            </a:fld>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9" name="矩形 1"/>
          <p:cNvSpPr>
            <a:spLocks noChangeArrowheads="1"/>
          </p:cNvSpPr>
          <p:nvPr/>
        </p:nvSpPr>
        <p:spPr bwMode="auto">
          <a:xfrm>
            <a:off x="690563" y="220663"/>
            <a:ext cx="785813" cy="646113"/>
          </a:xfrm>
          <a:prstGeom prst="rect">
            <a:avLst/>
          </a:prstGeom>
          <a:no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 </a:t>
            </a:r>
            <a:endParaRPr kumimoji="0" lang="zh-CN" altLang="en-US" sz="36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10" name="矩形 9"/>
          <p:cNvSpPr/>
          <p:nvPr/>
        </p:nvSpPr>
        <p:spPr>
          <a:xfrm>
            <a:off x="0" y="6610350"/>
            <a:ext cx="1778000" cy="223838"/>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200" b="1" i="0" u="none" strike="noStrike" kern="1200" cap="none" spc="0" normalizeH="0" baseline="0" noProof="0" dirty="0">
              <a:ln>
                <a:noFill/>
              </a:ln>
              <a:solidFill>
                <a:schemeClr val="lt1"/>
              </a:solidFill>
              <a:effectLst/>
              <a:uLnTx/>
              <a:uFillTx/>
              <a:latin typeface="+mn-lt"/>
              <a:ea typeface="+mn-ea"/>
              <a:cs typeface="+mn-cs"/>
            </a:endParaRPr>
          </a:p>
        </p:txBody>
      </p:sp>
      <p:sp>
        <p:nvSpPr>
          <p:cNvPr id="2"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noProof="1"/>
              <a:t>单击此处编辑母版标题样式</a:t>
            </a:r>
            <a:endParaRPr lang="en-US" noProof="1"/>
          </a:p>
        </p:txBody>
      </p:sp>
      <p:sp>
        <p:nvSpPr>
          <p:cNvPr id="11" name="Date Placeholder 2"/>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Footer Placeholder 3"/>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3" name="Slide Number Placeholder 4"/>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buNone/>
            </a:pPr>
            <a:fld id="{9A0DB2DC-4C9A-4742-B13C-FB6460FD3503}" type="slidenum">
              <a:rPr lang="zh-CN" altLang="en-US" dirty="0"/>
            </a:fld>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solidFill>
          <a:schemeClr val="bg1"/>
        </a:solidFill>
        <a:effectLst/>
      </p:bgPr>
    </p:bg>
    <p:spTree>
      <p:nvGrpSpPr>
        <p:cNvPr id="1" name=""/>
        <p:cNvGrpSpPr/>
        <p:nvPr/>
      </p:nvGrpSpPr>
      <p:grpSpPr>
        <a:xfrm>
          <a:off x="0" y="0"/>
          <a:ext cx="0" cy="0"/>
          <a:chOff x="0" y="0"/>
          <a:chExt cx="0" cy="0"/>
        </a:xfrm>
      </p:grpSpPr>
      <p:sp>
        <p:nvSpPr>
          <p:cNvPr id="9" name="矩形 1"/>
          <p:cNvSpPr>
            <a:spLocks noChangeArrowheads="1"/>
          </p:cNvSpPr>
          <p:nvPr/>
        </p:nvSpPr>
        <p:spPr bwMode="auto">
          <a:xfrm>
            <a:off x="690563" y="220663"/>
            <a:ext cx="785813" cy="646113"/>
          </a:xfrm>
          <a:prstGeom prst="rect">
            <a:avLst/>
          </a:prstGeom>
          <a:no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 </a:t>
            </a:r>
            <a:endParaRPr kumimoji="0" lang="zh-CN" altLang="en-US" sz="36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10" name="矩形 9"/>
          <p:cNvSpPr/>
          <p:nvPr/>
        </p:nvSpPr>
        <p:spPr>
          <a:xfrm>
            <a:off x="0" y="6610350"/>
            <a:ext cx="1778000" cy="223838"/>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200" b="1" i="0" u="none" strike="noStrike" kern="1200" cap="none" spc="0" normalizeH="0" baseline="0" noProof="0" dirty="0">
              <a:ln>
                <a:noFill/>
              </a:ln>
              <a:solidFill>
                <a:schemeClr val="lt1"/>
              </a:solidFill>
              <a:effectLst/>
              <a:uLnTx/>
              <a:uFillTx/>
              <a:latin typeface="+mn-lt"/>
              <a:ea typeface="+mn-ea"/>
              <a:cs typeface="+mn-cs"/>
            </a:endParaRPr>
          </a:p>
        </p:txBody>
      </p:sp>
      <p:sp>
        <p:nvSpPr>
          <p:cNvPr id="3" name="Vertical Text Placeholder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7" name="Title 1"/>
          <p:cNvSpPr>
            <a:spLocks noGrp="1"/>
          </p:cNvSpPr>
          <p:nvPr>
            <p:ph type="title"/>
          </p:nvPr>
        </p:nvSpPr>
        <p:spPr>
          <a:xfrm>
            <a:off x="1657350" y="154546"/>
            <a:ext cx="4716082" cy="776289"/>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noProof="1"/>
              <a:t>单击此处编辑母版标题样式</a:t>
            </a:r>
            <a:endParaRPr lang="en-US" noProof="1"/>
          </a:p>
        </p:txBody>
      </p:sp>
      <p:sp>
        <p:nvSpPr>
          <p:cNvPr id="11"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3"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buNone/>
            </a:pPr>
            <a:fld id="{9A0DB2DC-4C9A-4742-B13C-FB6460FD3503}" type="slidenum">
              <a:rPr lang="zh-CN" altLang="en-US" dirty="0"/>
            </a:fld>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标题幻灯片">
    <p:bg>
      <p:bgPr>
        <a:solidFill>
          <a:schemeClr val="bg1"/>
        </a:solidFill>
        <a:effectLst/>
      </p:bgPr>
    </p:bg>
    <p:spTree>
      <p:nvGrpSpPr>
        <p:cNvPr id="1" name=""/>
        <p:cNvGrpSpPr/>
        <p:nvPr/>
      </p:nvGrpSpPr>
      <p:grpSpPr>
        <a:xfrm>
          <a:off x="0" y="0"/>
          <a:ext cx="0" cy="0"/>
          <a:chOff x="0" y="0"/>
          <a:chExt cx="0" cy="0"/>
        </a:xfrm>
      </p:grpSpPr>
      <p:pic>
        <p:nvPicPr>
          <p:cNvPr id="8196" name="图片 7"/>
          <p:cNvPicPr>
            <a:picLocks noChangeAspect="1"/>
          </p:cNvPicPr>
          <p:nvPr userDrawn="1"/>
        </p:nvPicPr>
        <p:blipFill>
          <a:blip r:embed="rId2"/>
          <a:stretch>
            <a:fillRect/>
          </a:stretch>
        </p:blipFill>
        <p:spPr>
          <a:xfrm>
            <a:off x="-1587" y="0"/>
            <a:ext cx="9145587" cy="6858000"/>
          </a:xfrm>
          <a:prstGeom prst="rect">
            <a:avLst/>
          </a:prstGeom>
          <a:noFill/>
          <a:ln w="9525">
            <a:noFill/>
          </a:ln>
        </p:spPr>
      </p:pic>
      <p:sp>
        <p:nvSpPr>
          <p:cNvPr id="10" name="日期占位符 1"/>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1" name="页脚占位符 2"/>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buNone/>
            </a:pPr>
            <a:fld id="{9A0DB2DC-4C9A-4742-B13C-FB6460FD3503}" type="slidenum">
              <a:rPr lang="zh-CN" altLang="en-US" dirty="0"/>
            </a:fld>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目录">
    <p:bg>
      <p:bgPr>
        <a:solidFill>
          <a:schemeClr val="bg1"/>
        </a:solidFill>
        <a:effectLst/>
      </p:bgPr>
    </p:bg>
    <p:spTree>
      <p:nvGrpSpPr>
        <p:cNvPr id="1" name=""/>
        <p:cNvGrpSpPr/>
        <p:nvPr/>
      </p:nvGrpSpPr>
      <p:grpSpPr>
        <a:xfrm>
          <a:off x="0" y="0"/>
          <a:ext cx="0" cy="0"/>
          <a:chOff x="0" y="0"/>
          <a:chExt cx="0" cy="0"/>
        </a:xfrm>
      </p:grpSpPr>
      <p:sp>
        <p:nvSpPr>
          <p:cNvPr id="9" name="矩形 8"/>
          <p:cNvSpPr/>
          <p:nvPr/>
        </p:nvSpPr>
        <p:spPr>
          <a:xfrm>
            <a:off x="0" y="6610350"/>
            <a:ext cx="1778000" cy="223838"/>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200" b="1" i="0" u="none" strike="noStrike" kern="1200" cap="none" spc="0" normalizeH="0" baseline="0" noProof="0" dirty="0">
              <a:ln>
                <a:noFill/>
              </a:ln>
              <a:solidFill>
                <a:schemeClr val="lt1"/>
              </a:solidFill>
              <a:effectLst/>
              <a:uLnTx/>
              <a:uFillTx/>
              <a:latin typeface="+mn-lt"/>
              <a:ea typeface="+mn-ea"/>
              <a:cs typeface="+mn-cs"/>
            </a:endParaRPr>
          </a:p>
        </p:txBody>
      </p:sp>
      <p:sp>
        <p:nvSpPr>
          <p:cNvPr id="3" name="内容占位符 2"/>
          <p:cNvSpPr>
            <a:spLocks noGrp="1"/>
          </p:cNvSpPr>
          <p:nvPr>
            <p:ph idx="1"/>
          </p:nvPr>
        </p:nvSpPr>
        <p:spPr>
          <a:xfrm>
            <a:off x="457200" y="1066800"/>
            <a:ext cx="8229600" cy="5059363"/>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1"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buNone/>
            </a:pPr>
            <a:fld id="{9A0DB2DC-4C9A-4742-B13C-FB6460FD3503}" type="slidenum">
              <a:rPr lang="zh-CN" altLang="en-US" dirty="0"/>
            </a:fld>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正文">
    <p:bg>
      <p:bgPr>
        <a:solidFill>
          <a:schemeClr val="bg1"/>
        </a:solidFill>
        <a:effectLst/>
      </p:bgPr>
    </p:bg>
    <p:spTree>
      <p:nvGrpSpPr>
        <p:cNvPr id="1" name=""/>
        <p:cNvGrpSpPr/>
        <p:nvPr/>
      </p:nvGrpSpPr>
      <p:grpSpPr>
        <a:xfrm>
          <a:off x="0" y="0"/>
          <a:ext cx="0" cy="0"/>
          <a:chOff x="0" y="0"/>
          <a:chExt cx="0" cy="0"/>
        </a:xfrm>
      </p:grpSpPr>
      <p:sp>
        <p:nvSpPr>
          <p:cNvPr id="9" name="矩形 1"/>
          <p:cNvSpPr>
            <a:spLocks noChangeArrowheads="1"/>
          </p:cNvSpPr>
          <p:nvPr/>
        </p:nvSpPr>
        <p:spPr bwMode="auto">
          <a:xfrm>
            <a:off x="690563" y="220663"/>
            <a:ext cx="785813" cy="646113"/>
          </a:xfrm>
          <a:prstGeom prst="rect">
            <a:avLst/>
          </a:prstGeom>
          <a:noFill/>
          <a:ln>
            <a:noFill/>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 </a:t>
            </a:r>
            <a:endParaRPr kumimoji="0" lang="zh-CN" altLang="en-US" sz="3600"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sym typeface="+mn-ea"/>
            </a:endParaRPr>
          </a:p>
        </p:txBody>
      </p:sp>
      <p:sp>
        <p:nvSpPr>
          <p:cNvPr id="10" name="矩形 9"/>
          <p:cNvSpPr/>
          <p:nvPr/>
        </p:nvSpPr>
        <p:spPr>
          <a:xfrm>
            <a:off x="0" y="6610350"/>
            <a:ext cx="1778000" cy="223838"/>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200" b="1" i="0" u="none" strike="noStrike" kern="1200" cap="none" spc="0" normalizeH="0" baseline="0" noProof="0" dirty="0">
              <a:ln>
                <a:noFill/>
              </a:ln>
              <a:solidFill>
                <a:schemeClr val="lt1"/>
              </a:solidFill>
              <a:effectLst/>
              <a:uLnTx/>
              <a:uFillTx/>
              <a:latin typeface="+mn-lt"/>
              <a:ea typeface="+mn-ea"/>
              <a:cs typeface="+mn-cs"/>
            </a:endParaRPr>
          </a:p>
        </p:txBody>
      </p:sp>
      <p:sp>
        <p:nvSpPr>
          <p:cNvPr id="3" name="内容占位符 2"/>
          <p:cNvSpPr>
            <a:spLocks noGrp="1"/>
          </p:cNvSpPr>
          <p:nvPr>
            <p:ph idx="1"/>
          </p:nvPr>
        </p:nvSpPr>
        <p:spPr>
          <a:xfrm>
            <a:off x="457200" y="1066800"/>
            <a:ext cx="8229600" cy="5059363"/>
          </a:xfrm>
          <a:prstGeom prst="rect">
            <a:avLst/>
          </a:prstGeom>
        </p:spPr>
        <p:txBody>
          <a:bodyPr/>
          <a:lstStyle>
            <a:lvl1pPr>
              <a:lnSpc>
                <a:spcPct val="150000"/>
              </a:lnSpc>
              <a:defRPr sz="2400"/>
            </a:lvl1pPr>
            <a:lvl2pPr>
              <a:lnSpc>
                <a:spcPct val="150000"/>
              </a:lnSpc>
              <a:defRPr sz="2000"/>
            </a:lvl2pPr>
            <a:lvl3pPr>
              <a:lnSpc>
                <a:spcPct val="150000"/>
              </a:lnSpc>
              <a:defRPr sz="1800"/>
            </a:lvl3pPr>
            <a:lvl4pPr>
              <a:lnSpc>
                <a:spcPct val="150000"/>
              </a:lnSpc>
              <a:defRPr sz="1600"/>
            </a:lvl4pPr>
            <a:lvl5pPr>
              <a:lnSpc>
                <a:spcPct val="150000"/>
              </a:lnSpc>
              <a:defRPr sz="1600"/>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日期占位符 1"/>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页脚占位符 3"/>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3" name="灯片编号占位符 4"/>
          <p:cNvSpPr>
            <a:spLocks noGrp="1"/>
          </p:cNvSpPr>
          <p:nvPr>
            <p:ph type="sldNum" sz="quarter" idx="4"/>
          </p:nvPr>
        </p:nvSpPr>
        <p:spPr>
          <a:xfrm>
            <a:off x="6553200" y="6356350"/>
            <a:ext cx="2057400" cy="365125"/>
          </a:xfrm>
          <a:prstGeom prst="rect">
            <a:avLst/>
          </a:prstGeom>
        </p:spPr>
        <p:txBody>
          <a:bodyPr vert="horz" wrap="square" lIns="91440" tIns="45720" rIns="91440" bIns="45720" numCol="1" anchor="ctr" anchorCtr="0" compatLnSpc="1"/>
          <a:p>
            <a:pPr algn="r">
              <a:buNone/>
            </a:pPr>
            <a:fld id="{9A0DB2DC-4C9A-4742-B13C-FB6460FD3503}" type="slidenum">
              <a:rPr lang="zh-CN" altLang="en-US" b="1" dirty="0">
                <a:solidFill>
                  <a:srgbClr val="FF0000"/>
                </a:solidFill>
              </a:rPr>
            </a:fld>
            <a:endParaRPr lang="zh-CN" altLang="en-US" b="1" dirty="0">
              <a:solidFill>
                <a:srgbClr val="FF0000"/>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小结">
    <p:bg>
      <p:bgPr>
        <a:solidFill>
          <a:schemeClr val="bg1"/>
        </a:solidFill>
        <a:effectLst/>
      </p:bgPr>
    </p:bg>
    <p:spTree>
      <p:nvGrpSpPr>
        <p:cNvPr id="1" name=""/>
        <p:cNvGrpSpPr/>
        <p:nvPr/>
      </p:nvGrpSpPr>
      <p:grpSpPr>
        <a:xfrm>
          <a:off x="0" y="0"/>
          <a:ext cx="0" cy="0"/>
          <a:chOff x="0" y="0"/>
          <a:chExt cx="0" cy="0"/>
        </a:xfrm>
      </p:grpSpPr>
      <p:sp>
        <p:nvSpPr>
          <p:cNvPr id="9" name="矩形 8"/>
          <p:cNvSpPr/>
          <p:nvPr/>
        </p:nvSpPr>
        <p:spPr>
          <a:xfrm>
            <a:off x="0" y="6610350"/>
            <a:ext cx="1778000" cy="223838"/>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200" b="1" i="0" u="none" strike="noStrike" kern="1200" cap="none" spc="0" normalizeH="0" baseline="0" noProof="0" dirty="0">
              <a:ln>
                <a:noFill/>
              </a:ln>
              <a:solidFill>
                <a:schemeClr val="lt1"/>
              </a:solidFill>
              <a:effectLst/>
              <a:uLnTx/>
              <a:uFillTx/>
              <a:latin typeface="+mn-lt"/>
              <a:ea typeface="+mn-ea"/>
              <a:cs typeface="+mn-cs"/>
            </a:endParaRPr>
          </a:p>
        </p:txBody>
      </p:sp>
      <p:sp>
        <p:nvSpPr>
          <p:cNvPr id="3" name="内容占位符 2"/>
          <p:cNvSpPr>
            <a:spLocks noGrp="1"/>
          </p:cNvSpPr>
          <p:nvPr>
            <p:ph idx="1"/>
          </p:nvPr>
        </p:nvSpPr>
        <p:spPr>
          <a:xfrm>
            <a:off x="457200" y="1066800"/>
            <a:ext cx="8229600" cy="5059363"/>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1"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buNone/>
            </a:pPr>
            <a:fld id="{9A0DB2DC-4C9A-4742-B13C-FB6460FD3503}" type="slidenum">
              <a:rPr lang="zh-CN" altLang="en-US" dirty="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正文">
    <p:bg>
      <p:bgPr>
        <a:solidFill>
          <a:schemeClr val="bg1"/>
        </a:solidFill>
        <a:effectLst/>
      </p:bgPr>
    </p:bg>
    <p:spTree>
      <p:nvGrpSpPr>
        <p:cNvPr id="1" name=""/>
        <p:cNvGrpSpPr/>
        <p:nvPr/>
      </p:nvGrpSpPr>
      <p:grpSpPr>
        <a:xfrm>
          <a:off x="0" y="0"/>
          <a:ext cx="0" cy="0"/>
          <a:chOff x="0" y="0"/>
          <a:chExt cx="0" cy="0"/>
        </a:xfrm>
      </p:grpSpPr>
      <p:sp>
        <p:nvSpPr>
          <p:cNvPr id="9" name="矩形 8"/>
          <p:cNvSpPr/>
          <p:nvPr/>
        </p:nvSpPr>
        <p:spPr>
          <a:xfrm>
            <a:off x="0" y="6610350"/>
            <a:ext cx="1778000" cy="223838"/>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200" b="1" i="0" u="none" strike="noStrike" kern="1200" cap="none" spc="0" normalizeH="0" baseline="0" noProof="0" dirty="0">
              <a:ln>
                <a:noFill/>
              </a:ln>
              <a:solidFill>
                <a:schemeClr val="lt1"/>
              </a:solidFill>
              <a:effectLst/>
              <a:uLnTx/>
              <a:uFillTx/>
              <a:latin typeface="+mn-lt"/>
              <a:ea typeface="+mn-ea"/>
              <a:cs typeface="+mn-cs"/>
            </a:endParaRPr>
          </a:p>
        </p:txBody>
      </p:sp>
      <p:sp>
        <p:nvSpPr>
          <p:cNvPr id="10"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1"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buNone/>
            </a:pPr>
            <a:fld id="{9A0DB2DC-4C9A-4742-B13C-FB6460FD3503}" type="slidenum">
              <a:rPr lang="zh-CN" altLang="en-US" dirty="0"/>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9" name="矩形 8"/>
          <p:cNvSpPr/>
          <p:nvPr/>
        </p:nvSpPr>
        <p:spPr>
          <a:xfrm>
            <a:off x="0" y="6610350"/>
            <a:ext cx="1778000" cy="223838"/>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200" b="1" i="0" u="none" strike="noStrike" kern="1200" cap="none" spc="0" normalizeH="0" baseline="0" noProof="0" dirty="0">
              <a:ln>
                <a:noFill/>
              </a:ln>
              <a:solidFill>
                <a:schemeClr val="lt1"/>
              </a:solidFill>
              <a:effectLst/>
              <a:uLnTx/>
              <a:uFillTx/>
              <a:latin typeface="+mn-lt"/>
              <a:ea typeface="+mn-ea"/>
              <a:cs typeface="+mn-cs"/>
            </a:endParaRPr>
          </a:p>
        </p:txBody>
      </p:sp>
      <p:sp>
        <p:nvSpPr>
          <p:cNvPr id="10" name="日期占位符 1"/>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1" name="页脚占位符 2"/>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buNone/>
            </a:pPr>
            <a:fld id="{9A0DB2DC-4C9A-4742-B13C-FB6460FD3503}" type="slidenum">
              <a:rPr lang="zh-CN" altLang="en-US" dirty="0"/>
            </a:fld>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6_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9" name="矩形 8"/>
          <p:cNvSpPr/>
          <p:nvPr/>
        </p:nvSpPr>
        <p:spPr>
          <a:xfrm>
            <a:off x="0" y="6610350"/>
            <a:ext cx="1778000" cy="223838"/>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1" i="0" u="none" strike="noStrike" kern="1200" cap="none" spc="0" normalizeH="0" baseline="0" noProof="0" dirty="0">
                <a:ln>
                  <a:noFill/>
                </a:ln>
                <a:solidFill>
                  <a:schemeClr val="lt1"/>
                </a:solidFill>
                <a:effectLst/>
                <a:uLnTx/>
                <a:uFillTx/>
                <a:latin typeface="+mn-lt"/>
                <a:ea typeface="+mn-ea"/>
                <a:cs typeface="+mn-cs"/>
              </a:rPr>
              <a:t>www.henu.edu.cn</a:t>
            </a:r>
            <a:endParaRPr kumimoji="0" lang="zh-CN" altLang="en-US" sz="1200" b="1" i="0" u="none" strike="noStrike" kern="1200" cap="none" spc="0" normalizeH="0" baseline="0" noProof="0" dirty="0">
              <a:ln>
                <a:noFill/>
              </a:ln>
              <a:solidFill>
                <a:schemeClr val="lt1"/>
              </a:solidFill>
              <a:effectLst/>
              <a:uLnTx/>
              <a:uFillTx/>
              <a:latin typeface="+mn-lt"/>
              <a:ea typeface="+mn-ea"/>
              <a:cs typeface="+mn-cs"/>
            </a:endParaRPr>
          </a:p>
        </p:txBody>
      </p:sp>
      <p:sp>
        <p:nvSpPr>
          <p:cNvPr id="10" name="日期占位符 1"/>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1" name="页脚占位符 2"/>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
            <a:pPr algn="r">
              <a:buNone/>
            </a:pPr>
            <a:fld id="{9A0DB2DC-4C9A-4742-B13C-FB6460FD3503}" type="slidenum">
              <a:rPr lang="zh-CN" altLang="en-US" dirty="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2.png"/><Relationship Id="rId14" Type="http://schemas.openxmlformats.org/officeDocument/2006/relationships/image" Target="../media/image5.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6" Type="http://schemas.openxmlformats.org/officeDocument/2006/relationships/theme" Target="../theme/theme2.xml"/><Relationship Id="rId15" Type="http://schemas.openxmlformats.org/officeDocument/2006/relationships/image" Target="../media/image2.png"/><Relationship Id="rId14" Type="http://schemas.openxmlformats.org/officeDocument/2006/relationships/image" Target="../media/image5.jpeg"/><Relationship Id="rId13" Type="http://schemas.openxmlformats.org/officeDocument/2006/relationships/slideLayout" Target="../slideLayouts/slideLayout26.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026" name="图片 6"/>
          <p:cNvPicPr>
            <a:picLocks noChangeAspect="1"/>
          </p:cNvPicPr>
          <p:nvPr/>
        </p:nvPicPr>
        <p:blipFill>
          <a:blip r:embed="rId14"/>
          <a:stretch>
            <a:fillRect/>
          </a:stretch>
        </p:blipFill>
        <p:spPr>
          <a:xfrm>
            <a:off x="0" y="0"/>
            <a:ext cx="9144000" cy="6858000"/>
          </a:xfrm>
          <a:prstGeom prst="rect">
            <a:avLst/>
          </a:prstGeom>
          <a:noFill/>
          <a:ln w="9525">
            <a:noFill/>
          </a:ln>
        </p:spPr>
      </p:pic>
      <p:sp>
        <p:nvSpPr>
          <p:cNvPr id="1027" name="Title Placeholder 1"/>
          <p:cNvSpPr>
            <a:spLocks noGrp="1"/>
          </p:cNvSpPr>
          <p:nvPr>
            <p:ph type="title"/>
          </p:nvPr>
        </p:nvSpPr>
        <p:spPr>
          <a:xfrm>
            <a:off x="628650" y="365125"/>
            <a:ext cx="7886700" cy="1325563"/>
          </a:xfrm>
          <a:prstGeom prst="rect">
            <a:avLst/>
          </a:prstGeom>
          <a:noFill/>
          <a:ln w="9525">
            <a:noFill/>
          </a:ln>
        </p:spPr>
        <p:txBody>
          <a:bodyPr anchor="ctr" anchorCtr="0"/>
          <a:p>
            <a:pPr lvl="0"/>
            <a:r>
              <a:rPr lang="zh-CN" altLang="en-US" dirty="0"/>
              <a:t>单击此处编辑母版标题样式</a:t>
            </a:r>
            <a:endParaRPr lang="en-US" altLang="zh-CN" dirty="0"/>
          </a:p>
        </p:txBody>
      </p:sp>
      <p:sp>
        <p:nvSpPr>
          <p:cNvPr id="1028" name="Text Placeholder 2"/>
          <p:cNvSpPr>
            <a:spLocks noGrp="1"/>
          </p:cNvSpPr>
          <p:nvPr>
            <p:ph type="body"/>
          </p:nvPr>
        </p:nvSpPr>
        <p:spPr>
          <a:xfrm>
            <a:off x="628650" y="1825625"/>
            <a:ext cx="7886700" cy="4351338"/>
          </a:xfrm>
          <a:prstGeom prst="rect">
            <a:avLst/>
          </a:prstGeom>
          <a:noFill/>
          <a:ln w="9525">
            <a:noFill/>
          </a:ln>
        </p:spPr>
        <p:txBody>
          <a:bodyPr/>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0" hangingPunct="0">
              <a:buFontTx/>
              <a:buNone/>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0" hangingPunct="0">
              <a:buFontTx/>
              <a:buNone/>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lvl="0">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pic>
        <p:nvPicPr>
          <p:cNvPr id="1032" name="图片 13"/>
          <p:cNvPicPr>
            <a:picLocks noChangeAspect="1"/>
          </p:cNvPicPr>
          <p:nvPr userDrawn="1"/>
        </p:nvPicPr>
        <p:blipFill>
          <a:blip r:embed="rId15"/>
          <a:stretch>
            <a:fillRect/>
          </a:stretch>
        </p:blipFill>
        <p:spPr>
          <a:xfrm>
            <a:off x="6291263" y="230188"/>
            <a:ext cx="2686050" cy="8509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等线 Light" panose="02010600030101010101" charset="-122"/>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等线 Light" panose="02010600030101010101" charset="-122"/>
          <a:cs typeface="等线 Light" panose="02010600030101010101"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等线 Light" panose="02010600030101010101" charset="-122"/>
          <a:cs typeface="等线 Light" panose="02010600030101010101"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等线 Light" panose="02010600030101010101" charset="-122"/>
          <a:cs typeface="等线 Light" panose="02010600030101010101"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等线 Light" panose="02010600030101010101" charset="-122"/>
          <a:cs typeface="等线 Light" panose="02010600030101010101"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等线 Light" panose="02010600030101010101" charset="-122"/>
          <a:cs typeface="等线 Light" panose="02010600030101010101"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等线 Light" panose="02010600030101010101" charset="-122"/>
          <a:cs typeface="等线 Light" panose="02010600030101010101"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等线 Light" panose="02010600030101010101" charset="-122"/>
          <a:cs typeface="等线 Light" panose="02010600030101010101"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等线 Light" panose="02010600030101010101" charset="-122"/>
          <a:cs typeface="等线 Light" panose="02010600030101010101"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pic>
        <p:nvPicPr>
          <p:cNvPr id="1026" name="图片 6"/>
          <p:cNvPicPr>
            <a:picLocks noChangeAspect="1"/>
          </p:cNvPicPr>
          <p:nvPr/>
        </p:nvPicPr>
        <p:blipFill>
          <a:blip r:embed="rId14"/>
          <a:stretch>
            <a:fillRect/>
          </a:stretch>
        </p:blipFill>
        <p:spPr>
          <a:xfrm>
            <a:off x="0" y="0"/>
            <a:ext cx="9144000" cy="6858000"/>
          </a:xfrm>
          <a:prstGeom prst="rect">
            <a:avLst/>
          </a:prstGeom>
          <a:noFill/>
          <a:ln w="9525">
            <a:noFill/>
          </a:ln>
        </p:spPr>
      </p:pic>
      <p:sp>
        <p:nvSpPr>
          <p:cNvPr id="1027" name="Title Placeholder 1"/>
          <p:cNvSpPr>
            <a:spLocks noGrp="1"/>
          </p:cNvSpPr>
          <p:nvPr>
            <p:ph type="title"/>
          </p:nvPr>
        </p:nvSpPr>
        <p:spPr>
          <a:xfrm>
            <a:off x="628650" y="365125"/>
            <a:ext cx="7886700" cy="1325563"/>
          </a:xfrm>
          <a:prstGeom prst="rect">
            <a:avLst/>
          </a:prstGeom>
          <a:noFill/>
          <a:ln w="9525">
            <a:noFill/>
          </a:ln>
        </p:spPr>
        <p:txBody>
          <a:bodyPr anchor="ctr" anchorCtr="0"/>
          <a:p>
            <a:pPr lvl="0"/>
            <a:r>
              <a:rPr lang="zh-CN" altLang="en-US" dirty="0"/>
              <a:t>单击此处编辑母版标题样式</a:t>
            </a:r>
            <a:endParaRPr lang="en-US" altLang="zh-CN" dirty="0"/>
          </a:p>
        </p:txBody>
      </p:sp>
      <p:sp>
        <p:nvSpPr>
          <p:cNvPr id="1028" name="Text Placeholder 2"/>
          <p:cNvSpPr>
            <a:spLocks noGrp="1"/>
          </p:cNvSpPr>
          <p:nvPr>
            <p:ph type="body"/>
          </p:nvPr>
        </p:nvSpPr>
        <p:spPr>
          <a:xfrm>
            <a:off x="628650" y="1825625"/>
            <a:ext cx="7886700" cy="4351338"/>
          </a:xfrm>
          <a:prstGeom prst="rect">
            <a:avLst/>
          </a:prstGeom>
          <a:noFill/>
          <a:ln w="9525">
            <a:noFill/>
          </a:ln>
        </p:spPr>
        <p:txBody>
          <a:bodyPr/>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0" hangingPunct="0">
              <a:buFontTx/>
              <a:buNone/>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0" hangingPunct="0">
              <a:buFontTx/>
              <a:buNone/>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lvl="0">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pic>
        <p:nvPicPr>
          <p:cNvPr id="1032" name="图片 13"/>
          <p:cNvPicPr>
            <a:picLocks noChangeAspect="1"/>
          </p:cNvPicPr>
          <p:nvPr userDrawn="1"/>
        </p:nvPicPr>
        <p:blipFill>
          <a:blip r:embed="rId15"/>
          <a:stretch>
            <a:fillRect/>
          </a:stretch>
        </p:blipFill>
        <p:spPr>
          <a:xfrm>
            <a:off x="6291263" y="230188"/>
            <a:ext cx="2686050" cy="8509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等线 Light" panose="02010600030101010101" charset="-122"/>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等线 Light" panose="02010600030101010101" charset="-122"/>
          <a:cs typeface="等线 Light" panose="02010600030101010101"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等线 Light" panose="02010600030101010101" charset="-122"/>
          <a:cs typeface="等线 Light" panose="02010600030101010101"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等线 Light" panose="02010600030101010101" charset="-122"/>
          <a:cs typeface="等线 Light" panose="02010600030101010101"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等线 Light" panose="02010600030101010101" charset="-122"/>
          <a:cs typeface="等线 Light" panose="02010600030101010101"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等线 Light" panose="02010600030101010101" charset="-122"/>
          <a:cs typeface="等线 Light" panose="02010600030101010101"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等线 Light" panose="02010600030101010101" charset="-122"/>
          <a:cs typeface="等线 Light" panose="02010600030101010101"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等线 Light" panose="02010600030101010101" charset="-122"/>
          <a:cs typeface="等线 Light" panose="02010600030101010101"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等线 Light" panose="02010600030101010101" charset="-122"/>
          <a:cs typeface="等线 Light" panose="02010600030101010101"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oleObject" Target="../embeddings/Workbook1.xls"/></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12.png"/><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14.png"/><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20.png"/><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21.png"/><Relationship Id="rId1"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4.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5.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6.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7.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1.xml"/><Relationship Id="rId1" Type="http://schemas.openxmlformats.org/officeDocument/2006/relationships/image" Target="../media/image31.png"/></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9.xml"/><Relationship Id="rId2" Type="http://schemas.openxmlformats.org/officeDocument/2006/relationships/image" Target="../media/image32.emf"/><Relationship Id="rId1" Type="http://schemas.openxmlformats.org/officeDocument/2006/relationships/oleObject" Target="../embeddings/oleObject1.bin"/></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34.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35.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36.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3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38.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1.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40.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41.png"/></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9.xml"/><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45.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46.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4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48.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49.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50.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51.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5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54.png"/><Relationship Id="rId1" Type="http://schemas.openxmlformats.org/officeDocument/2006/relationships/image" Target="../media/image5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image" Target="../media/image56.png"/><Relationship Id="rId1" Type="http://schemas.openxmlformats.org/officeDocument/2006/relationships/image" Target="../media/image55.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57.png"/></Relationships>
</file>

<file path=ppt/slides/_rels/slide66.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9.xml"/><Relationship Id="rId4" Type="http://schemas.openxmlformats.org/officeDocument/2006/relationships/image" Target="../media/image60.png"/><Relationship Id="rId3" Type="http://schemas.openxmlformats.org/officeDocument/2006/relationships/image" Target="../media/image59.emf"/><Relationship Id="rId2" Type="http://schemas.openxmlformats.org/officeDocument/2006/relationships/oleObject" Target="../embeddings/oleObject2.bin"/><Relationship Id="rId1" Type="http://schemas.openxmlformats.org/officeDocument/2006/relationships/image" Target="../media/image5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61.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6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64.png"/><Relationship Id="rId1" Type="http://schemas.openxmlformats.org/officeDocument/2006/relationships/image" Target="../media/image63.jpeg"/></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66.png"/><Relationship Id="rId1" Type="http://schemas.openxmlformats.org/officeDocument/2006/relationships/image" Target="../media/image65.jpe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68.png"/><Relationship Id="rId1" Type="http://schemas.openxmlformats.org/officeDocument/2006/relationships/image" Target="../media/image67.jpe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69.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0.GIF"/></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7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标题 2"/>
          <p:cNvSpPr txBox="1"/>
          <p:nvPr/>
        </p:nvSpPr>
        <p:spPr>
          <a:xfrm>
            <a:off x="685800" y="2781300"/>
            <a:ext cx="7772400" cy="124777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gn="ctr" eaLnBrk="1" hangingPunct="1">
              <a:spcBef>
                <a:spcPct val="0"/>
              </a:spcBef>
              <a:buNone/>
            </a:pPr>
            <a:r>
              <a:rPr lang="zh-CN" altLang="en-US" sz="48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第二章  </a:t>
            </a:r>
            <a:r>
              <a:rPr lang="en-US" altLang="zh-CN" sz="48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Java</a:t>
            </a:r>
            <a:r>
              <a:rPr lang="zh-CN" altLang="en-US" sz="48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语法基础</a:t>
            </a:r>
            <a:endParaRPr lang="zh-CN" altLang="en-US" sz="4800" dirty="0">
              <a:solidFill>
                <a:schemeClr val="bg1"/>
              </a:solidFill>
              <a:latin typeface="微软雅黑" panose="020B0503020204020204" pitchFamily="34" charset="-122"/>
              <a:ea typeface="微软雅黑" panose="020B0503020204020204" pitchFamily="34" charset="-122"/>
            </a:endParaRPr>
          </a:p>
        </p:txBody>
      </p:sp>
      <p:sp>
        <p:nvSpPr>
          <p:cNvPr id="9" name="副标题 3"/>
          <p:cNvSpPr txBox="1"/>
          <p:nvPr/>
        </p:nvSpPr>
        <p:spPr bwMode="auto">
          <a:xfrm>
            <a:off x="1409700" y="5292725"/>
            <a:ext cx="3190875" cy="1328738"/>
          </a:xfrm>
          <a:prstGeom prst="rect">
            <a:avLst/>
          </a:prstGeom>
          <a:noFill/>
        </p:spPr>
        <p:txBody>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bg1"/>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marR="0" lvl="0" indent="-342900" algn="l" defTabSz="914400" rtl="0" eaLnBrk="1" fontAlgn="base" latinLnBrk="0" hangingPunct="1">
              <a:lnSpc>
                <a:spcPct val="150000"/>
              </a:lnSpc>
              <a:spcBef>
                <a:spcPts val="200"/>
              </a:spcBef>
              <a:spcAft>
                <a:spcPct val="0"/>
              </a:spcAft>
              <a:buClrTx/>
              <a:buSzTx/>
              <a:buFontTx/>
              <a:buChar char="•"/>
              <a:defRPr/>
            </a:pPr>
            <a:r>
              <a:rPr kumimoji="0" lang="en-US" altLang="zh-CN" sz="1800" b="0"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Java</a:t>
            </a:r>
            <a:r>
              <a:rPr kumimoji="0" lang="zh-CN" altLang="en-US" sz="1800" b="0"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的基本语法格式</a:t>
            </a:r>
            <a:endParaRPr kumimoji="0" lang="zh-CN" altLang="en-US" sz="1800" b="0"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342900" marR="0" lvl="0" indent="-342900" algn="l" defTabSz="914400" rtl="0" eaLnBrk="1" fontAlgn="base" latinLnBrk="0" hangingPunct="1">
              <a:lnSpc>
                <a:spcPct val="150000"/>
              </a:lnSpc>
              <a:spcBef>
                <a:spcPts val="200"/>
              </a:spcBef>
              <a:spcAft>
                <a:spcPct val="0"/>
              </a:spcAft>
              <a:buClrTx/>
              <a:buSzTx/>
              <a:buFontTx/>
              <a:buChar char="•"/>
              <a:defRPr/>
            </a:pPr>
            <a:r>
              <a:rPr kumimoji="0" lang="en-US" altLang="zh-CN" sz="1800" b="0"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Java</a:t>
            </a:r>
            <a:r>
              <a:rPr kumimoji="0" lang="zh-CN" altLang="en-US" sz="1800" b="0"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语言中的常量与变量</a:t>
            </a:r>
            <a:endParaRPr kumimoji="0" lang="zh-CN" altLang="en-US" sz="1800" b="0"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342900" marR="0" lvl="0" indent="-342900" algn="l" defTabSz="914400" rtl="0" eaLnBrk="1" fontAlgn="base" latinLnBrk="0" hangingPunct="1">
              <a:lnSpc>
                <a:spcPct val="150000"/>
              </a:lnSpc>
              <a:spcBef>
                <a:spcPts val="200"/>
              </a:spcBef>
              <a:spcAft>
                <a:spcPct val="0"/>
              </a:spcAft>
              <a:buClrTx/>
              <a:buSzTx/>
              <a:buFontTx/>
              <a:buChar char="•"/>
              <a:defRPr/>
            </a:pPr>
            <a:r>
              <a:rPr kumimoji="0" lang="en-US" altLang="zh-CN" sz="1800" b="0"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Java</a:t>
            </a:r>
            <a:r>
              <a:rPr kumimoji="0" lang="zh-CN" altLang="en-US" sz="1800" b="0"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语言运算符的使用</a:t>
            </a:r>
            <a:endParaRPr kumimoji="0" lang="zh-CN" altLang="en-US" sz="1800" b="0"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0" name="副标题 3"/>
          <p:cNvSpPr txBox="1"/>
          <p:nvPr/>
        </p:nvSpPr>
        <p:spPr bwMode="auto">
          <a:xfrm>
            <a:off x="5257800" y="5292725"/>
            <a:ext cx="3286125" cy="1328738"/>
          </a:xfrm>
          <a:prstGeom prst="rect">
            <a:avLst/>
          </a:prstGeom>
          <a:noFill/>
          <a:ln>
            <a:noFill/>
          </a:ln>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50000"/>
              </a:lnSpc>
              <a:spcBef>
                <a:spcPts val="200"/>
              </a:spcBef>
              <a:spcAft>
                <a:spcPct val="0"/>
              </a:spcAft>
              <a:buClrTx/>
              <a:buSzTx/>
              <a:buFontTx/>
              <a:buChar char="•"/>
              <a:defRPr/>
            </a:pPr>
            <a:r>
              <a:rPr kumimoji="0" lang="en-US" altLang="zh-CN" sz="1800" b="0"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Java</a:t>
            </a:r>
            <a:r>
              <a:rPr kumimoji="0" lang="zh-CN" altLang="en-US" sz="1800" b="0"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程序的流程控制</a:t>
            </a:r>
            <a:endParaRPr kumimoji="0" lang="zh-CN" altLang="en-US" sz="1800" b="0"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342900" marR="0" lvl="0" indent="-342900" algn="l" defTabSz="914400" rtl="0" eaLnBrk="1" fontAlgn="base" latinLnBrk="0" hangingPunct="1">
              <a:lnSpc>
                <a:spcPct val="150000"/>
              </a:lnSpc>
              <a:spcBef>
                <a:spcPts val="200"/>
              </a:spcBef>
              <a:spcAft>
                <a:spcPct val="0"/>
              </a:spcAft>
              <a:buClrTx/>
              <a:buSzTx/>
              <a:buFontTx/>
              <a:buChar char="•"/>
              <a:defRPr/>
            </a:pPr>
            <a:r>
              <a:rPr kumimoji="0" lang="en-US" altLang="zh-CN" sz="1800" b="0"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Java</a:t>
            </a:r>
            <a:r>
              <a:rPr kumimoji="0" lang="zh-CN" altLang="en-US" sz="1800" b="0"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中方法的定义与使用</a:t>
            </a:r>
            <a:endParaRPr kumimoji="0" lang="zh-CN" altLang="en-US" sz="1800" b="0"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342900" marR="0" lvl="0" indent="-342900" algn="l" defTabSz="914400" rtl="0" eaLnBrk="1" fontAlgn="base" latinLnBrk="0" hangingPunct="1">
              <a:lnSpc>
                <a:spcPct val="150000"/>
              </a:lnSpc>
              <a:spcBef>
                <a:spcPts val="200"/>
              </a:spcBef>
              <a:spcAft>
                <a:spcPct val="0"/>
              </a:spcAft>
              <a:buClrTx/>
              <a:buSzTx/>
              <a:buFontTx/>
              <a:buChar char="•"/>
              <a:defRPr/>
            </a:pPr>
            <a:r>
              <a:rPr kumimoji="0" lang="en-US" altLang="zh-CN" sz="1800" b="0"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Java</a:t>
            </a:r>
            <a:r>
              <a:rPr kumimoji="0" lang="zh-CN" altLang="en-US" sz="1800" b="0"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中数组的定义与使用</a:t>
            </a:r>
            <a:endParaRPr kumimoji="0" lang="zh-CN" altLang="en-US" sz="1800" b="0"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 name="组合 18"/>
          <p:cNvGrpSpPr/>
          <p:nvPr/>
        </p:nvGrpSpPr>
        <p:grpSpPr>
          <a:xfrm>
            <a:off x="2767013" y="1376363"/>
            <a:ext cx="4714875" cy="1181100"/>
            <a:chOff x="547807" y="2318315"/>
            <a:chExt cx="4359534" cy="1179618"/>
          </a:xfrm>
        </p:grpSpPr>
        <p:sp>
          <p:nvSpPr>
            <p:cNvPr id="17438" name="矩形 5"/>
            <p:cNvSpPr/>
            <p:nvPr/>
          </p:nvSpPr>
          <p:spPr>
            <a:xfrm>
              <a:off x="1246976" y="2318315"/>
              <a:ext cx="3660365" cy="1014905"/>
            </a:xfrm>
            <a:prstGeom prst="rect">
              <a:avLst/>
            </a:prstGeom>
            <a:noFill/>
            <a:ln w="9525">
              <a:noFill/>
            </a:ln>
          </p:spPr>
          <p:txBody>
            <a:bodyPr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457200" lvl="0" indent="-457200" eaLnBrk="1" hangingPunct="1">
                <a:lnSpc>
                  <a:spcPts val="3600"/>
                </a:lnSpc>
                <a:spcBef>
                  <a:spcPct val="0"/>
                </a:spcBef>
                <a:buNone/>
              </a:pPr>
              <a:r>
                <a:rPr lang="zh-CN" altLang="zh-CN" sz="2000" b="1" dirty="0">
                  <a:latin typeface="微软雅黑" panose="020B0503020204020204" pitchFamily="34" charset="-122"/>
                  <a:ea typeface="微软雅黑" panose="020B0503020204020204" pitchFamily="34" charset="-122"/>
                </a:rPr>
                <a:t>掌握</a:t>
              </a:r>
              <a:r>
                <a:rPr lang="en-US" altLang="zh-CN" sz="2000" b="1" dirty="0">
                  <a:solidFill>
                    <a:srgbClr val="00B0F0"/>
                  </a:solidFill>
                  <a:latin typeface="微软雅黑" panose="020B0503020204020204" pitchFamily="34" charset="-122"/>
                  <a:ea typeface="微软雅黑" panose="020B0503020204020204" pitchFamily="34" charset="-122"/>
                </a:rPr>
                <a:t>Java</a:t>
              </a:r>
              <a:r>
                <a:rPr lang="zh-CN" altLang="en-US" sz="2000" b="1" dirty="0">
                  <a:solidFill>
                    <a:srgbClr val="00B0F0"/>
                  </a:solidFill>
                  <a:latin typeface="微软雅黑" panose="020B0503020204020204" pitchFamily="34" charset="-122"/>
                  <a:ea typeface="微软雅黑" panose="020B0503020204020204" pitchFamily="34" charset="-122"/>
                </a:rPr>
                <a:t>基本语法、常量、变量、流程控制语句、方法以及数组</a:t>
              </a:r>
              <a:endParaRPr lang="en-US" altLang="zh-CN" sz="2000" b="1" dirty="0">
                <a:solidFill>
                  <a:srgbClr val="00B0F0"/>
                </a:solidFill>
                <a:latin typeface="微软雅黑" panose="020B0503020204020204" pitchFamily="34" charset="-122"/>
                <a:ea typeface="微软雅黑" panose="020B0503020204020204" pitchFamily="34" charset="-122"/>
              </a:endParaRPr>
            </a:p>
          </p:txBody>
        </p:sp>
        <p:grpSp>
          <p:nvGrpSpPr>
            <p:cNvPr id="17439" name="组合 16"/>
            <p:cNvGrpSpPr/>
            <p:nvPr/>
          </p:nvGrpSpPr>
          <p:grpSpPr>
            <a:xfrm>
              <a:off x="860198" y="2845720"/>
              <a:ext cx="1286740" cy="652213"/>
              <a:chOff x="860198" y="2352244"/>
              <a:chExt cx="1286740" cy="652213"/>
            </a:xfrm>
          </p:grpSpPr>
          <p:cxnSp>
            <p:nvCxnSpPr>
              <p:cNvPr id="17443" name="直接连接符 7"/>
              <p:cNvCxnSpPr/>
              <p:nvPr/>
            </p:nvCxnSpPr>
            <p:spPr>
              <a:xfrm>
                <a:off x="860198" y="2352244"/>
                <a:ext cx="372267" cy="652213"/>
              </a:xfrm>
              <a:prstGeom prst="line">
                <a:avLst/>
              </a:prstGeom>
              <a:ln w="28575" cap="flat" cmpd="sng">
                <a:solidFill>
                  <a:srgbClr val="00ACE6"/>
                </a:solidFill>
                <a:prstDash val="solid"/>
                <a:headEnd type="none" w="med" len="med"/>
                <a:tailEnd type="none" w="med" len="med"/>
              </a:ln>
            </p:spPr>
          </p:cxnSp>
          <p:cxnSp>
            <p:nvCxnSpPr>
              <p:cNvPr id="17444" name="直接连接符 10"/>
              <p:cNvCxnSpPr/>
              <p:nvPr/>
            </p:nvCxnSpPr>
            <p:spPr>
              <a:xfrm>
                <a:off x="1222939" y="3004457"/>
                <a:ext cx="923999" cy="0"/>
              </a:xfrm>
              <a:prstGeom prst="line">
                <a:avLst/>
              </a:prstGeom>
              <a:ln w="28575" cap="flat" cmpd="sng">
                <a:solidFill>
                  <a:srgbClr val="00ACE6"/>
                </a:solidFill>
                <a:prstDash val="solid"/>
                <a:headEnd type="none" w="med" len="med"/>
                <a:tailEnd type="oval" w="med" len="med"/>
              </a:ln>
            </p:spPr>
          </p:cxnSp>
        </p:grpSp>
        <p:grpSp>
          <p:nvGrpSpPr>
            <p:cNvPr id="17440" name="组合 15"/>
            <p:cNvGrpSpPr/>
            <p:nvPr/>
          </p:nvGrpSpPr>
          <p:grpSpPr>
            <a:xfrm>
              <a:off x="547807" y="2356492"/>
              <a:ext cx="474581" cy="522300"/>
              <a:chOff x="1232465" y="3529898"/>
              <a:chExt cx="474581" cy="522300"/>
            </a:xfrm>
          </p:grpSpPr>
          <p:sp>
            <p:nvSpPr>
              <p:cNvPr id="12" name="椭圆 11"/>
              <p:cNvSpPr/>
              <p:nvPr/>
            </p:nvSpPr>
            <p:spPr bwMode="auto">
              <a:xfrm>
                <a:off x="1232465" y="3558312"/>
                <a:ext cx="474117" cy="474067"/>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TextBox 12"/>
              <p:cNvSpPr txBox="1"/>
              <p:nvPr/>
            </p:nvSpPr>
            <p:spPr>
              <a:xfrm>
                <a:off x="1288244" y="3529773"/>
                <a:ext cx="334671" cy="521632"/>
              </a:xfrm>
              <a:prstGeom prst="rect">
                <a:avLst/>
              </a:prstGeom>
              <a:noFill/>
              <a:effectLst>
                <a:outerShdw blurRad="12700" dist="12700" dir="2700000" algn="tl" rotWithShape="0">
                  <a:prstClr val="black">
                    <a:alpha val="40000"/>
                  </a:prstClr>
                </a:outerShdw>
              </a:effectLst>
            </p:spPr>
            <p:txBody>
              <a:bodyPr>
                <a:spAutoFit/>
              </a:bodyPr>
              <a:lstStyle/>
              <a:p>
                <a:pPr marR="0" defTabSz="914400">
                  <a:buClrTx/>
                  <a:buSzTx/>
                  <a:buFontTx/>
                  <a:buNone/>
                  <a:defRPr/>
                </a:pPr>
                <a:r>
                  <a:rPr kumimoji="0" lang="en-US" altLang="zh-CN" sz="2800" b="1" kern="1200" cap="none" spc="0" normalizeH="0" baseline="0" noProof="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ea"/>
                  </a:rPr>
                  <a:t>1</a:t>
                </a:r>
                <a:endParaRPr kumimoji="0" lang="zh-CN" altLang="en-US" sz="2800" b="1" kern="1200" cap="none" spc="0" normalizeH="0" baseline="0" noProof="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grpSp>
      <p:grpSp>
        <p:nvGrpSpPr>
          <p:cNvPr id="16" name="组合 17"/>
          <p:cNvGrpSpPr/>
          <p:nvPr/>
        </p:nvGrpSpPr>
        <p:grpSpPr>
          <a:xfrm>
            <a:off x="333375" y="4313238"/>
            <a:ext cx="3054350" cy="1104900"/>
            <a:chOff x="547807" y="3950799"/>
            <a:chExt cx="3053974" cy="1104147"/>
          </a:xfrm>
        </p:grpSpPr>
        <p:grpSp>
          <p:nvGrpSpPr>
            <p:cNvPr id="17431" name="组合 26"/>
            <p:cNvGrpSpPr/>
            <p:nvPr/>
          </p:nvGrpSpPr>
          <p:grpSpPr>
            <a:xfrm rot="-10800000" flipH="1">
              <a:off x="860198" y="3950799"/>
              <a:ext cx="2178276" cy="652213"/>
              <a:chOff x="860198" y="2352244"/>
              <a:chExt cx="2178276" cy="652213"/>
            </a:xfrm>
          </p:grpSpPr>
          <p:cxnSp>
            <p:nvCxnSpPr>
              <p:cNvPr id="17436" name="直接连接符 27"/>
              <p:cNvCxnSpPr/>
              <p:nvPr/>
            </p:nvCxnSpPr>
            <p:spPr>
              <a:xfrm>
                <a:off x="860198" y="2352244"/>
                <a:ext cx="372267" cy="652213"/>
              </a:xfrm>
              <a:prstGeom prst="line">
                <a:avLst/>
              </a:prstGeom>
              <a:ln w="28575" cap="flat" cmpd="sng">
                <a:solidFill>
                  <a:srgbClr val="00ACE6"/>
                </a:solidFill>
                <a:prstDash val="solid"/>
                <a:headEnd type="none" w="med" len="med"/>
                <a:tailEnd type="none" w="med" len="med"/>
              </a:ln>
            </p:spPr>
          </p:cxnSp>
          <p:cxnSp>
            <p:nvCxnSpPr>
              <p:cNvPr id="17437" name="直接连接符 28"/>
              <p:cNvCxnSpPr/>
              <p:nvPr/>
            </p:nvCxnSpPr>
            <p:spPr>
              <a:xfrm>
                <a:off x="1222939" y="3004457"/>
                <a:ext cx="1815535" cy="0"/>
              </a:xfrm>
              <a:prstGeom prst="line">
                <a:avLst/>
              </a:prstGeom>
              <a:ln w="28575" cap="flat" cmpd="sng">
                <a:solidFill>
                  <a:srgbClr val="00ACE6"/>
                </a:solidFill>
                <a:prstDash val="solid"/>
                <a:headEnd type="none" w="med" len="med"/>
                <a:tailEnd type="oval" w="med" len="med"/>
              </a:ln>
            </p:spPr>
          </p:cxnSp>
        </p:grpSp>
        <p:grpSp>
          <p:nvGrpSpPr>
            <p:cNvPr id="17432" name="组合 29"/>
            <p:cNvGrpSpPr/>
            <p:nvPr/>
          </p:nvGrpSpPr>
          <p:grpSpPr>
            <a:xfrm>
              <a:off x="547807" y="4531428"/>
              <a:ext cx="474580" cy="523518"/>
              <a:chOff x="1232465" y="3533639"/>
              <a:chExt cx="474580" cy="523518"/>
            </a:xfrm>
          </p:grpSpPr>
          <p:sp>
            <p:nvSpPr>
              <p:cNvPr id="20" name="椭圆 19"/>
              <p:cNvSpPr/>
              <p:nvPr/>
            </p:nvSpPr>
            <p:spPr bwMode="auto">
              <a:xfrm>
                <a:off x="1232465" y="3559022"/>
                <a:ext cx="474605" cy="474339"/>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 name="TextBox 20"/>
              <p:cNvSpPr txBox="1"/>
              <p:nvPr/>
            </p:nvSpPr>
            <p:spPr>
              <a:xfrm>
                <a:off x="1275323" y="3533639"/>
                <a:ext cx="334921" cy="523518"/>
              </a:xfrm>
              <a:prstGeom prst="rect">
                <a:avLst/>
              </a:prstGeom>
              <a:noFill/>
              <a:effectLst>
                <a:outerShdw blurRad="12700" dist="12700" dir="2700000" algn="tl" rotWithShape="0">
                  <a:prstClr val="black">
                    <a:alpha val="40000"/>
                  </a:prstClr>
                </a:outerShdw>
              </a:effectLst>
            </p:spPr>
            <p:txBody>
              <a:bodyPr>
                <a:spAutoFit/>
              </a:bodyPr>
              <a:lstStyle/>
              <a:p>
                <a:pPr marR="0" defTabSz="914400">
                  <a:buClrTx/>
                  <a:buSzTx/>
                  <a:buFontTx/>
                  <a:buNone/>
                  <a:defRPr/>
                </a:pPr>
                <a:r>
                  <a:rPr kumimoji="0" lang="en-US" altLang="zh-CN" sz="2800" b="1" kern="1200" cap="none" spc="0" normalizeH="0" baseline="0" noProof="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ea"/>
                  </a:rPr>
                  <a:t>3</a:t>
                </a:r>
                <a:endParaRPr kumimoji="0" lang="zh-CN" altLang="en-US" sz="2800" b="1" kern="1200" cap="none" spc="0" normalizeH="0" baseline="0" noProof="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sp>
          <p:nvSpPr>
            <p:cNvPr id="17433" name="矩形 21"/>
            <p:cNvSpPr/>
            <p:nvPr/>
          </p:nvSpPr>
          <p:spPr>
            <a:xfrm>
              <a:off x="1125641" y="4087947"/>
              <a:ext cx="2476140" cy="961222"/>
            </a:xfrm>
            <a:prstGeom prst="rect">
              <a:avLst/>
            </a:prstGeom>
            <a:noFill/>
            <a:ln w="9525">
              <a:noFill/>
            </a:ln>
          </p:spPr>
          <p:txBody>
            <a:bodyPr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457200" lvl="0" indent="-457200" eaLnBrk="1" hangingPunct="1">
                <a:lnSpc>
                  <a:spcPts val="3600"/>
                </a:lnSpc>
                <a:spcBef>
                  <a:spcPct val="0"/>
                </a:spcBef>
                <a:buFont typeface="Calibri" panose="020F0502020204030204" pitchFamily="34" charset="0"/>
                <a:buNone/>
              </a:pPr>
              <a:r>
                <a:rPr lang="zh-CN" altLang="en-US" sz="2000" b="1"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了解</a:t>
              </a:r>
              <a:r>
                <a:rPr lang="en-US" altLang="zh-CN" sz="2000" b="1" dirty="0">
                  <a:solidFill>
                    <a:srgbClr val="00ACE6"/>
                  </a:solidFill>
                  <a:latin typeface="微软雅黑" panose="020B0503020204020204" pitchFamily="34" charset="-122"/>
                  <a:ea typeface="微软雅黑" panose="020B0503020204020204" pitchFamily="34" charset="-122"/>
                  <a:sym typeface="宋体" panose="02010600030101010101" pitchFamily="2" charset="-122"/>
                </a:rPr>
                <a:t>Java</a:t>
              </a:r>
              <a:r>
                <a:rPr lang="zh-CN" altLang="en-US" sz="2000" b="1" dirty="0">
                  <a:solidFill>
                    <a:srgbClr val="00ACE6"/>
                  </a:solidFill>
                  <a:latin typeface="微软雅黑" panose="020B0503020204020204" pitchFamily="34" charset="-122"/>
                  <a:ea typeface="微软雅黑" panose="020B0503020204020204" pitchFamily="34" charset="-122"/>
                  <a:sym typeface="宋体" panose="02010600030101010101" pitchFamily="2" charset="-122"/>
                </a:rPr>
                <a:t>代码的</a:t>
              </a:r>
              <a:endParaRPr lang="en-US" altLang="zh-CN" sz="2000" b="1" dirty="0">
                <a:solidFill>
                  <a:srgbClr val="00ACE6"/>
                </a:solidFill>
                <a:latin typeface="微软雅黑" panose="020B0503020204020204" pitchFamily="34" charset="-122"/>
                <a:ea typeface="微软雅黑" panose="020B0503020204020204" pitchFamily="34" charset="-122"/>
                <a:sym typeface="宋体" panose="02010600030101010101" pitchFamily="2" charset="-122"/>
              </a:endParaRPr>
            </a:p>
            <a:p>
              <a:pPr marL="457200" lvl="0" indent="-457200" eaLnBrk="1" hangingPunct="1">
                <a:lnSpc>
                  <a:spcPts val="3600"/>
                </a:lnSpc>
                <a:spcBef>
                  <a:spcPct val="0"/>
                </a:spcBef>
                <a:buFont typeface="Calibri" panose="020F0502020204030204" pitchFamily="34" charset="0"/>
                <a:buNone/>
              </a:pPr>
              <a:r>
                <a:rPr lang="zh-CN" altLang="en-US" sz="2000" b="1" dirty="0">
                  <a:solidFill>
                    <a:srgbClr val="00ACE6"/>
                  </a:solidFill>
                  <a:latin typeface="微软雅黑" panose="020B0503020204020204" pitchFamily="34" charset="-122"/>
                  <a:ea typeface="微软雅黑" panose="020B0503020204020204" pitchFamily="34" charset="-122"/>
                  <a:sym typeface="宋体" panose="02010600030101010101" pitchFamily="2" charset="-122"/>
                </a:rPr>
                <a:t>       基本格式</a:t>
              </a:r>
              <a:endParaRPr lang="en-US" altLang="zh-CN" sz="2000" b="1" dirty="0">
                <a:solidFill>
                  <a:srgbClr val="00ACE6"/>
                </a:solidFill>
                <a:latin typeface="微软雅黑" panose="020B0503020204020204" pitchFamily="34" charset="-122"/>
                <a:ea typeface="微软雅黑" panose="020B0503020204020204" pitchFamily="34" charset="-122"/>
                <a:sym typeface="宋体" panose="02010600030101010101" pitchFamily="2" charset="-122"/>
              </a:endParaRPr>
            </a:p>
          </p:txBody>
        </p:sp>
      </p:grpSp>
      <p:grpSp>
        <p:nvGrpSpPr>
          <p:cNvPr id="24" name="组合 23"/>
          <p:cNvGrpSpPr/>
          <p:nvPr/>
        </p:nvGrpSpPr>
        <p:grpSpPr>
          <a:xfrm>
            <a:off x="5686425" y="4313238"/>
            <a:ext cx="2927350" cy="1554162"/>
            <a:chOff x="5770212" y="4225925"/>
            <a:chExt cx="2926113" cy="1553210"/>
          </a:xfrm>
        </p:grpSpPr>
        <p:grpSp>
          <p:nvGrpSpPr>
            <p:cNvPr id="17424" name="组合 38"/>
            <p:cNvGrpSpPr/>
            <p:nvPr/>
          </p:nvGrpSpPr>
          <p:grpSpPr>
            <a:xfrm rot="10800000">
              <a:off x="6253163" y="4225925"/>
              <a:ext cx="2178050" cy="652463"/>
              <a:chOff x="860198" y="2352244"/>
              <a:chExt cx="2178276" cy="652213"/>
            </a:xfrm>
          </p:grpSpPr>
          <p:cxnSp>
            <p:nvCxnSpPr>
              <p:cNvPr id="17429" name="直接连接符 39"/>
              <p:cNvCxnSpPr/>
              <p:nvPr/>
            </p:nvCxnSpPr>
            <p:spPr>
              <a:xfrm>
                <a:off x="860198" y="2352244"/>
                <a:ext cx="372267" cy="652213"/>
              </a:xfrm>
              <a:prstGeom prst="line">
                <a:avLst/>
              </a:prstGeom>
              <a:ln w="28575" cap="flat" cmpd="sng">
                <a:solidFill>
                  <a:srgbClr val="00ACE6"/>
                </a:solidFill>
                <a:prstDash val="solid"/>
                <a:headEnd type="none" w="med" len="med"/>
                <a:tailEnd type="none" w="med" len="med"/>
              </a:ln>
            </p:spPr>
          </p:cxnSp>
          <p:cxnSp>
            <p:nvCxnSpPr>
              <p:cNvPr id="17430" name="直接连接符 40"/>
              <p:cNvCxnSpPr/>
              <p:nvPr/>
            </p:nvCxnSpPr>
            <p:spPr>
              <a:xfrm>
                <a:off x="1222939" y="3004457"/>
                <a:ext cx="1815535" cy="0"/>
              </a:xfrm>
              <a:prstGeom prst="line">
                <a:avLst/>
              </a:prstGeom>
              <a:ln w="28575" cap="flat" cmpd="sng">
                <a:solidFill>
                  <a:srgbClr val="00ACE6"/>
                </a:solidFill>
                <a:prstDash val="solid"/>
                <a:headEnd type="none" w="med" len="med"/>
                <a:tailEnd type="oval" w="med" len="med"/>
              </a:ln>
            </p:spPr>
          </p:cxnSp>
        </p:grpSp>
        <p:grpSp>
          <p:nvGrpSpPr>
            <p:cNvPr id="17425" name="组合 41"/>
            <p:cNvGrpSpPr/>
            <p:nvPr/>
          </p:nvGrpSpPr>
          <p:grpSpPr>
            <a:xfrm flipH="1">
              <a:off x="8223250" y="4806950"/>
              <a:ext cx="473075" cy="523875"/>
              <a:chOff x="1232465" y="3533629"/>
              <a:chExt cx="474415" cy="523220"/>
            </a:xfrm>
          </p:grpSpPr>
          <p:sp>
            <p:nvSpPr>
              <p:cNvPr id="28" name="椭圆 27"/>
              <p:cNvSpPr/>
              <p:nvPr/>
            </p:nvSpPr>
            <p:spPr bwMode="auto">
              <a:xfrm>
                <a:off x="1232465" y="3558626"/>
                <a:ext cx="474215" cy="473778"/>
              </a:xfrm>
              <a:prstGeom prst="ellipse">
                <a:avLst/>
              </a:prstGeom>
              <a:solidFill>
                <a:srgbClr val="3BCCFF"/>
              </a:solidFill>
              <a:ln w="28575" cap="flat" cmpd="sng" algn="ctr">
                <a:noFill/>
                <a:prstDash val="solid"/>
                <a:round/>
                <a:headEnd type="none" w="med" len="med"/>
                <a:tailEnd type="none" w="med" len="med"/>
              </a:ln>
              <a:effectLst>
                <a:outerShdw blurRad="25400" dist="12700" dir="2700000" algn="tl" rotWithShape="0">
                  <a:prstClr val="black">
                    <a:alpha val="40000"/>
                  </a:prstClr>
                </a:outerShdw>
              </a:effec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9" name="TextBox 28"/>
              <p:cNvSpPr txBox="1"/>
              <p:nvPr/>
            </p:nvSpPr>
            <p:spPr>
              <a:xfrm>
                <a:off x="1305666" y="3533274"/>
                <a:ext cx="335769" cy="522900"/>
              </a:xfrm>
              <a:prstGeom prst="rect">
                <a:avLst/>
              </a:prstGeom>
              <a:noFill/>
              <a:effectLst>
                <a:outerShdw blurRad="12700" dist="12700" dir="2700000" algn="tl" rotWithShape="0">
                  <a:prstClr val="black">
                    <a:alpha val="40000"/>
                  </a:prstClr>
                </a:outerShdw>
              </a:effectLst>
            </p:spPr>
            <p:txBody>
              <a:bodyPr>
                <a:spAutoFit/>
              </a:bodyPr>
              <a:lstStyle/>
              <a:p>
                <a:pPr marR="0" defTabSz="914400">
                  <a:buClrTx/>
                  <a:buSzTx/>
                  <a:buFontTx/>
                  <a:buNone/>
                  <a:defRPr/>
                </a:pPr>
                <a:r>
                  <a:rPr kumimoji="0" lang="en-US" altLang="zh-CN" sz="2800" b="1" kern="1200" cap="none" spc="0" normalizeH="0" baseline="0" noProof="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ea"/>
                  </a:rPr>
                  <a:t>2</a:t>
                </a:r>
                <a:endParaRPr kumimoji="0" lang="zh-CN" altLang="en-US" sz="2800" b="1" kern="1200" cap="none" spc="0" normalizeH="0" baseline="0" noProof="0" dirty="0">
                  <a:solidFill>
                    <a:schemeClr val="bg1"/>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sp>
          <p:nvSpPr>
            <p:cNvPr id="17426" name="矩形 51"/>
            <p:cNvSpPr/>
            <p:nvPr/>
          </p:nvSpPr>
          <p:spPr>
            <a:xfrm>
              <a:off x="5770212" y="4302725"/>
              <a:ext cx="2451101" cy="1476410"/>
            </a:xfrm>
            <a:prstGeom prst="rect">
              <a:avLst/>
            </a:prstGeom>
            <a:noFill/>
            <a:ln w="9525">
              <a:noFill/>
            </a:ln>
          </p:spPr>
          <p:txBody>
            <a:bodyPr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457200" lvl="0" indent="-457200" algn="r" eaLnBrk="1" hangingPunct="1">
                <a:lnSpc>
                  <a:spcPts val="3600"/>
                </a:lnSpc>
                <a:spcBef>
                  <a:spcPct val="0"/>
                </a:spcBef>
                <a:buFont typeface="Calibri" panose="020F0502020204030204" pitchFamily="34" charset="0"/>
                <a:buNone/>
              </a:pPr>
              <a:r>
                <a:rPr lang="zh-CN" altLang="en-US" sz="2000" b="1"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熟悉</a:t>
              </a:r>
              <a:r>
                <a:rPr lang="en-US" altLang="zh-CN" sz="2000" b="1" dirty="0">
                  <a:solidFill>
                    <a:srgbClr val="00B0F0"/>
                  </a:solidFill>
                  <a:latin typeface="微软雅黑" panose="020B0503020204020204" pitchFamily="34" charset="-122"/>
                  <a:ea typeface="微软雅黑" panose="020B0503020204020204" pitchFamily="34" charset="-122"/>
                  <a:sym typeface="宋体" panose="02010600030101010101" pitchFamily="2" charset="-122"/>
                </a:rPr>
                <a:t>Java</a:t>
              </a:r>
              <a:endParaRPr lang="en-US" altLang="zh-CN" sz="2000" b="1"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a:p>
              <a:pPr marL="457200" lvl="0" indent="-457200" algn="r" eaLnBrk="1" hangingPunct="1">
                <a:lnSpc>
                  <a:spcPts val="3600"/>
                </a:lnSpc>
                <a:spcBef>
                  <a:spcPct val="0"/>
                </a:spcBef>
                <a:buFont typeface="Calibri" panose="020F0502020204030204" pitchFamily="34" charset="0"/>
                <a:buNone/>
              </a:pPr>
              <a:r>
                <a:rPr lang="zh-CN" altLang="en-US" sz="2000" b="1" dirty="0">
                  <a:solidFill>
                    <a:srgbClr val="00B0F0"/>
                  </a:solidFill>
                  <a:latin typeface="微软雅黑" panose="020B0503020204020204" pitchFamily="34" charset="-122"/>
                  <a:ea typeface="微软雅黑" panose="020B0503020204020204" pitchFamily="34" charset="-122"/>
                  <a:sym typeface="宋体" panose="02010600030101010101" pitchFamily="2" charset="-122"/>
                </a:rPr>
                <a:t>运算符的使用</a:t>
              </a:r>
              <a:endParaRPr lang="en-US" altLang="zh-CN" sz="2000" b="1" dirty="0">
                <a:latin typeface="微软雅黑" panose="020B0503020204020204" pitchFamily="34" charset="-122"/>
                <a:ea typeface="微软雅黑" panose="020B0503020204020204" pitchFamily="34" charset="-122"/>
                <a:sym typeface="宋体" panose="02010600030101010101" pitchFamily="2" charset="-122"/>
              </a:endParaRPr>
            </a:p>
            <a:p>
              <a:pPr marL="457200" lvl="0" indent="-457200" algn="r" eaLnBrk="1" hangingPunct="1">
                <a:lnSpc>
                  <a:spcPts val="3600"/>
                </a:lnSpc>
                <a:spcBef>
                  <a:spcPct val="0"/>
                </a:spcBef>
                <a:buFont typeface="Calibri" panose="020F0502020204030204" pitchFamily="34" charset="0"/>
                <a:buNone/>
              </a:pPr>
              <a:endParaRPr lang="en-US" altLang="zh-CN" sz="2000" b="1" dirty="0">
                <a:solidFill>
                  <a:srgbClr val="00B0F0"/>
                </a:solidFill>
                <a:latin typeface="微软雅黑" panose="020B0503020204020204" pitchFamily="34" charset="-122"/>
                <a:ea typeface="微软雅黑" panose="020B0503020204020204" pitchFamily="34" charset="-122"/>
                <a:sym typeface="宋体" panose="02010600030101010101" pitchFamily="2" charset="-122"/>
              </a:endParaRPr>
            </a:p>
          </p:txBody>
        </p:sp>
      </p:grpSp>
      <p:grpSp>
        <p:nvGrpSpPr>
          <p:cNvPr id="32" name="组合 31"/>
          <p:cNvGrpSpPr/>
          <p:nvPr/>
        </p:nvGrpSpPr>
        <p:grpSpPr>
          <a:xfrm>
            <a:off x="1928813" y="2478088"/>
            <a:ext cx="5122862" cy="3449637"/>
            <a:chOff x="2074895" y="2022507"/>
            <a:chExt cx="5122798" cy="3449574"/>
          </a:xfrm>
        </p:grpSpPr>
        <p:sp>
          <p:nvSpPr>
            <p:cNvPr id="33" name="弧形 32"/>
            <p:cNvSpPr/>
            <p:nvPr/>
          </p:nvSpPr>
          <p:spPr bwMode="auto">
            <a:xfrm rot="5400000">
              <a:off x="3977494" y="3085315"/>
              <a:ext cx="1312838" cy="1314434"/>
            </a:xfrm>
            <a:prstGeom prst="arc">
              <a:avLst>
                <a:gd name="adj1" fmla="val 5382197"/>
                <a:gd name="adj2" fmla="val 0"/>
              </a:avLst>
            </a:prstGeom>
            <a:noFill/>
            <a:ln w="57150" cap="flat" cmpd="sng" algn="ctr">
              <a:solidFill>
                <a:srgbClr val="D5F4FF"/>
              </a:solidFill>
              <a:prstDash val="solid"/>
              <a:round/>
              <a:headEnd type="oval" w="sm" len="sm"/>
              <a:tailEnd type="oval" w="sm" len="sm"/>
            </a:ln>
            <a:effec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4" name="弧形 33"/>
            <p:cNvSpPr/>
            <p:nvPr/>
          </p:nvSpPr>
          <p:spPr bwMode="auto">
            <a:xfrm>
              <a:off x="4092582" y="3203585"/>
              <a:ext cx="1082661" cy="1084242"/>
            </a:xfrm>
            <a:prstGeom prst="arc">
              <a:avLst>
                <a:gd name="adj1" fmla="val 10763236"/>
                <a:gd name="adj2" fmla="val 0"/>
              </a:avLst>
            </a:prstGeom>
            <a:noFill/>
            <a:ln w="57150" cap="flat" cmpd="sng" algn="ctr">
              <a:solidFill>
                <a:srgbClr val="D5F4FF"/>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5" name="弧形 34"/>
            <p:cNvSpPr/>
            <p:nvPr/>
          </p:nvSpPr>
          <p:spPr bwMode="auto">
            <a:xfrm rot="16200000">
              <a:off x="4172752" y="3347248"/>
              <a:ext cx="898509" cy="823903"/>
            </a:xfrm>
            <a:prstGeom prst="arc">
              <a:avLst>
                <a:gd name="adj1" fmla="val 16251812"/>
                <a:gd name="adj2" fmla="val 0"/>
              </a:avLst>
            </a:prstGeom>
            <a:noFill/>
            <a:ln w="57150" cap="flat" cmpd="sng" algn="ctr">
              <a:solidFill>
                <a:srgbClr val="D5F4FF"/>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17419" name="组合 3"/>
            <p:cNvGrpSpPr/>
            <p:nvPr/>
          </p:nvGrpSpPr>
          <p:grpSpPr>
            <a:xfrm>
              <a:off x="2074895" y="2022507"/>
              <a:ext cx="5122798" cy="3449574"/>
              <a:chOff x="2074895" y="2022507"/>
              <a:chExt cx="5122798" cy="3449574"/>
            </a:xfrm>
          </p:grpSpPr>
          <p:graphicFrame>
            <p:nvGraphicFramePr>
              <p:cNvPr id="17422" name="图表 2"/>
              <p:cNvGraphicFramePr/>
              <p:nvPr/>
            </p:nvGraphicFramePr>
            <p:xfrm>
              <a:off x="2024095" y="1971707"/>
              <a:ext cx="5224398" cy="3551174"/>
            </p:xfrm>
            <a:graphic>
              <a:graphicData uri="http://schemas.openxmlformats.org/presentationml/2006/ole">
                <mc:AlternateContent xmlns:mc="http://schemas.openxmlformats.org/markup-compatibility/2006">
                  <mc:Choice xmlns:v="urn:schemas-microsoft-com:vml" Requires="v">
                    <p:oleObj spid="_x0000_s3076" name="" r:id="rId1" imgW="5224145" imgH="3554095" progId="Excel.Chart.8">
                      <p:embed/>
                    </p:oleObj>
                  </mc:Choice>
                  <mc:Fallback>
                    <p:oleObj name="" r:id="rId1" imgW="5224145" imgH="3554095" progId="Excel.Chart.8">
                      <p:embed/>
                      <p:pic>
                        <p:nvPicPr>
                          <p:cNvPr id="0" name="图片 3075"/>
                          <p:cNvPicPr/>
                          <p:nvPr/>
                        </p:nvPicPr>
                        <p:blipFill>
                          <a:blip r:embed="rId2"/>
                          <a:stretch>
                            <a:fillRect/>
                          </a:stretch>
                        </p:blipFill>
                        <p:spPr>
                          <a:xfrm>
                            <a:off x="2024095" y="1971707"/>
                            <a:ext cx="5224398" cy="3551174"/>
                          </a:xfrm>
                          <a:prstGeom prst="rect">
                            <a:avLst/>
                          </a:prstGeom>
                          <a:noFill/>
                          <a:ln w="38100">
                            <a:noFill/>
                            <a:miter/>
                          </a:ln>
                        </p:spPr>
                      </p:pic>
                    </p:oleObj>
                  </mc:Fallback>
                </mc:AlternateContent>
              </a:graphicData>
            </a:graphic>
          </p:graphicFrame>
          <p:sp>
            <p:nvSpPr>
              <p:cNvPr id="17423" name="TextBox 39"/>
              <p:cNvSpPr txBox="1"/>
              <p:nvPr/>
            </p:nvSpPr>
            <p:spPr>
              <a:xfrm>
                <a:off x="4294192" y="2455886"/>
                <a:ext cx="1041387" cy="369881"/>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zh-CN" altLang="en-US" sz="1800" dirty="0">
                    <a:latin typeface="微软雅黑" panose="020B0503020204020204" pitchFamily="34" charset="-122"/>
                    <a:ea typeface="微软雅黑" panose="020B0503020204020204" pitchFamily="34" charset="-122"/>
                  </a:rPr>
                  <a:t>掌握</a:t>
                </a:r>
                <a:endParaRPr lang="zh-CN" altLang="en-US" sz="1800" dirty="0">
                  <a:latin typeface="微软雅黑" panose="020B0503020204020204" pitchFamily="34" charset="-122"/>
                  <a:ea typeface="微软雅黑" panose="020B0503020204020204" pitchFamily="34" charset="-122"/>
                </a:endParaRPr>
              </a:p>
            </p:txBody>
          </p:sp>
        </p:grpSp>
        <p:sp>
          <p:nvSpPr>
            <p:cNvPr id="17420" name="TextBox 36"/>
            <p:cNvSpPr txBox="1"/>
            <p:nvPr/>
          </p:nvSpPr>
          <p:spPr>
            <a:xfrm rot="-8019173" flipV="1">
              <a:off x="3526648" y="4441016"/>
              <a:ext cx="1041381" cy="369882"/>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zh-CN" altLang="en-US" sz="1800" dirty="0">
                  <a:latin typeface="微软雅黑" panose="020B0503020204020204" pitchFamily="34" charset="-122"/>
                  <a:ea typeface="微软雅黑" panose="020B0503020204020204" pitchFamily="34" charset="-122"/>
                </a:rPr>
                <a:t>了解</a:t>
              </a:r>
              <a:endParaRPr lang="zh-CN" altLang="en-US" sz="1800" dirty="0">
                <a:latin typeface="微软雅黑" panose="020B0503020204020204" pitchFamily="34" charset="-122"/>
                <a:ea typeface="微软雅黑" panose="020B0503020204020204" pitchFamily="34" charset="-122"/>
              </a:endParaRPr>
            </a:p>
          </p:txBody>
        </p:sp>
        <p:sp>
          <p:nvSpPr>
            <p:cNvPr id="17421" name="TextBox 37"/>
            <p:cNvSpPr txBox="1"/>
            <p:nvPr/>
          </p:nvSpPr>
          <p:spPr>
            <a:xfrm rot="8019173" flipH="1" flipV="1">
              <a:off x="4979986" y="4179878"/>
              <a:ext cx="1041381" cy="36829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zh-CN" altLang="en-US" sz="1800" dirty="0">
                  <a:latin typeface="微软雅黑" panose="020B0503020204020204" pitchFamily="34" charset="-122"/>
                  <a:ea typeface="微软雅黑" panose="020B0503020204020204" pitchFamily="34" charset="-122"/>
                </a:rPr>
                <a:t>熟悉</a:t>
              </a:r>
              <a:endParaRPr lang="zh-CN" altLang="en-US" sz="1800" dirty="0">
                <a:latin typeface="微软雅黑" panose="020B0503020204020204" pitchFamily="34" charset="-122"/>
                <a:ea typeface="微软雅黑" panose="020B0503020204020204" pitchFamily="34" charset="-122"/>
              </a:endParaRPr>
            </a:p>
          </p:txBody>
        </p:sp>
      </p:grpSp>
      <p:sp>
        <p:nvSpPr>
          <p:cNvPr id="36" name="标题 1"/>
          <p:cNvSpPr>
            <a:spLocks noChangeArrowheads="1"/>
          </p:cNvSpPr>
          <p:nvPr/>
        </p:nvSpPr>
        <p:spPr bwMode="auto">
          <a:xfrm>
            <a:off x="1743075" y="16192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学习目标</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17415"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4"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heel(4)">
                                      <p:cBhvr>
                                        <p:cTn id="7" dur="20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right)">
                                      <p:cBhvr>
                                        <p:cTn id="12" dur="500"/>
                                        <p:tgtEl>
                                          <p:spTgt spid="8"/>
                                        </p:tgtEl>
                                      </p:cBhvr>
                                    </p:animEffect>
                                  </p:childTnLst>
                                </p:cTn>
                              </p:par>
                            </p:childTnLst>
                          </p:cTn>
                        </p:par>
                        <p:par>
                          <p:cTn id="13" fill="hold">
                            <p:stCondLst>
                              <p:cond delay="500"/>
                            </p:stCondLst>
                            <p:childTnLst>
                              <p:par>
                                <p:cTn id="14" presetID="26" presetClass="emph" presetSubtype="0" fill="hold" nodeType="afterEffect">
                                  <p:stCondLst>
                                    <p:cond delay="0"/>
                                  </p:stCondLst>
                                  <p:childTnLst>
                                    <p:animEffect transition="out" filter="fade">
                                      <p:cBhvr>
                                        <p:cTn id="15" dur="500" tmFilter="0, 0; .2, .5; .8, .5; 1, 0"/>
                                        <p:tgtEl>
                                          <p:spTgt spid="8"/>
                                        </p:tgtEl>
                                      </p:cBhvr>
                                    </p:animEffect>
                                    <p:animScale>
                                      <p:cBhvr>
                                        <p:cTn id="16" dur="250" autoRev="1" fill="hold"/>
                                        <p:tgtEl>
                                          <p:spTgt spid="8"/>
                                        </p:tgtEl>
                                      </p:cBhvr>
                                      <p:by x="105000" y="105000"/>
                                    </p:animScale>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wipe(left)">
                                      <p:cBhvr>
                                        <p:cTn id="21" dur="500"/>
                                        <p:tgtEl>
                                          <p:spTgt spid="24"/>
                                        </p:tgtEl>
                                      </p:cBhvr>
                                    </p:animEffect>
                                  </p:childTnLst>
                                </p:cTn>
                              </p:par>
                            </p:childTnLst>
                          </p:cTn>
                        </p:par>
                        <p:par>
                          <p:cTn id="22" fill="hold">
                            <p:stCondLst>
                              <p:cond delay="500"/>
                            </p:stCondLst>
                            <p:childTnLst>
                              <p:par>
                                <p:cTn id="23" presetID="26" presetClass="emph" presetSubtype="0" fill="hold" nodeType="afterEffect">
                                  <p:stCondLst>
                                    <p:cond delay="0"/>
                                  </p:stCondLst>
                                  <p:childTnLst>
                                    <p:animEffect transition="out" filter="fade">
                                      <p:cBhvr>
                                        <p:cTn id="24" dur="500" tmFilter="0, 0; .2, .5; .8, .5; 1, 0"/>
                                        <p:tgtEl>
                                          <p:spTgt spid="24"/>
                                        </p:tgtEl>
                                      </p:cBhvr>
                                    </p:animEffect>
                                    <p:animScale>
                                      <p:cBhvr>
                                        <p:cTn id="25" dur="250" autoRev="1" fill="hold"/>
                                        <p:tgtEl>
                                          <p:spTgt spid="24"/>
                                        </p:tgtEl>
                                      </p:cBhvr>
                                      <p:by x="105000" y="105000"/>
                                    </p:animScale>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right)">
                                      <p:cBhvr>
                                        <p:cTn id="30" dur="500"/>
                                        <p:tgtEl>
                                          <p:spTgt spid="16"/>
                                        </p:tgtEl>
                                      </p:cBhvr>
                                    </p:animEffect>
                                  </p:childTnLst>
                                </p:cTn>
                              </p:par>
                            </p:childTnLst>
                          </p:cTn>
                        </p:par>
                        <p:par>
                          <p:cTn id="31" fill="hold">
                            <p:stCondLst>
                              <p:cond delay="500"/>
                            </p:stCondLst>
                            <p:childTnLst>
                              <p:par>
                                <p:cTn id="32" presetID="26" presetClass="emph" presetSubtype="0" fill="hold" nodeType="afterEffect">
                                  <p:stCondLst>
                                    <p:cond delay="0"/>
                                  </p:stCondLst>
                                  <p:childTnLst>
                                    <p:animEffect transition="out" filter="fade">
                                      <p:cBhvr>
                                        <p:cTn id="33" dur="500" tmFilter="0, 0; .2, .5; .8, .5; 1, 0"/>
                                        <p:tgtEl>
                                          <p:spTgt spid="16"/>
                                        </p:tgtEl>
                                      </p:cBhvr>
                                    </p:animEffect>
                                    <p:animScale>
                                      <p:cBhvr>
                                        <p:cTn id="34" dur="250" autoRev="1" fill="hold"/>
                                        <p:tgtEl>
                                          <p:spTgt spid="1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8434" name="组合 1"/>
          <p:cNvGrpSpPr/>
          <p:nvPr/>
        </p:nvGrpSpPr>
        <p:grpSpPr>
          <a:xfrm>
            <a:off x="1736725" y="1204913"/>
            <a:ext cx="3665538" cy="338137"/>
            <a:chOff x="1710657" y="1224031"/>
            <a:chExt cx="4042443" cy="632229"/>
          </a:xfrm>
        </p:grpSpPr>
        <p:grpSp>
          <p:nvGrpSpPr>
            <p:cNvPr id="18492" name="组合 29"/>
            <p:cNvGrpSpPr/>
            <p:nvPr/>
          </p:nvGrpSpPr>
          <p:grpSpPr>
            <a:xfrm rot="-12767">
              <a:off x="1710657" y="1263652"/>
              <a:ext cx="884411" cy="592608"/>
              <a:chOff x="1936620" y="1275606"/>
              <a:chExt cx="1296144" cy="1728192"/>
            </a:xfrm>
          </p:grpSpPr>
          <p:grpSp>
            <p:nvGrpSpPr>
              <p:cNvPr id="18495" name="组合 31"/>
              <p:cNvGrpSpPr/>
              <p:nvPr/>
            </p:nvGrpSpPr>
            <p:grpSpPr>
              <a:xfrm>
                <a:off x="1936620" y="1275606"/>
                <a:ext cx="1296142" cy="1728192"/>
                <a:chOff x="1907704" y="1275606"/>
                <a:chExt cx="1296142" cy="1728192"/>
              </a:xfrm>
            </p:grpSpPr>
            <p:sp>
              <p:nvSpPr>
                <p:cNvPr id="34" name="圆角矩形 33"/>
                <p:cNvSpPr/>
                <p:nvPr/>
              </p:nvSpPr>
              <p:spPr>
                <a:xfrm>
                  <a:off x="1907706" y="1272583"/>
                  <a:ext cx="1295719" cy="1731213"/>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sym typeface="+mn-ea"/>
                    </a:rPr>
                    <a:t>2.1</a:t>
                  </a:r>
                  <a:endParaRPr kumimoji="0" lang="zh-CN" altLang="en-US"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sym typeface="+mn-ea"/>
                  </a:endParaRPr>
                </a:p>
              </p:txBody>
            </p:sp>
            <p:sp>
              <p:nvSpPr>
                <p:cNvPr id="35" name="圆角矩形 34"/>
                <p:cNvSpPr/>
                <p:nvPr/>
              </p:nvSpPr>
              <p:spPr>
                <a:xfrm>
                  <a:off x="1961588" y="1350490"/>
                  <a:ext cx="1187954" cy="1575404"/>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33" name="圆角矩形 5"/>
              <p:cNvSpPr/>
              <p:nvPr/>
            </p:nvSpPr>
            <p:spPr>
              <a:xfrm>
                <a:off x="1931061" y="2060188"/>
                <a:ext cx="1290587" cy="934855"/>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18493" name="直接连接符 6"/>
            <p:cNvCxnSpPr/>
            <p:nvPr/>
          </p:nvCxnSpPr>
          <p:spPr>
            <a:xfrm>
              <a:off x="2810117" y="1761277"/>
              <a:ext cx="2942983" cy="0"/>
            </a:xfrm>
            <a:prstGeom prst="line">
              <a:avLst/>
            </a:prstGeom>
            <a:ln w="3175" cap="flat" cmpd="sng">
              <a:solidFill>
                <a:srgbClr val="7F7F7F"/>
              </a:solidFill>
              <a:prstDash val="sysDot"/>
              <a:headEnd type="oval" w="sm" len="sm"/>
              <a:tailEnd type="oval" w="sm" len="sm"/>
            </a:ln>
          </p:spPr>
        </p:cxnSp>
        <p:sp>
          <p:nvSpPr>
            <p:cNvPr id="18494" name="矩形 35"/>
            <p:cNvSpPr/>
            <p:nvPr/>
          </p:nvSpPr>
          <p:spPr>
            <a:xfrm>
              <a:off x="2836058" y="1224031"/>
              <a:ext cx="2356917" cy="575846"/>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en-US" altLang="zh-CN" sz="1400" dirty="0">
                  <a:latin typeface="微软雅黑" panose="020B0503020204020204" pitchFamily="34" charset="-122"/>
                  <a:ea typeface="微软雅黑" panose="020B0503020204020204" pitchFamily="34" charset="-122"/>
                </a:rPr>
                <a:t>Java</a:t>
              </a:r>
              <a:r>
                <a:rPr lang="zh-CN" altLang="en-US" sz="1400" dirty="0">
                  <a:latin typeface="微软雅黑" panose="020B0503020204020204" pitchFamily="34" charset="-122"/>
                  <a:ea typeface="微软雅黑" panose="020B0503020204020204" pitchFamily="34" charset="-122"/>
                </a:rPr>
                <a:t>的基本语法</a:t>
              </a:r>
              <a:endParaRPr lang="en-US" altLang="zh-CN" sz="1400" dirty="0">
                <a:latin typeface="微软雅黑" panose="020B0503020204020204" pitchFamily="34" charset="-122"/>
                <a:ea typeface="微软雅黑" panose="020B0503020204020204" pitchFamily="34" charset="-122"/>
              </a:endParaRPr>
            </a:p>
          </p:txBody>
        </p:sp>
      </p:grpSp>
      <p:sp>
        <p:nvSpPr>
          <p:cNvPr id="18435" name="TextBox 126">
            <a:hlinkClick r:id="" action="ppaction://noaction"/>
          </p:cNvPr>
          <p:cNvSpPr txBox="1"/>
          <p:nvPr/>
        </p:nvSpPr>
        <p:spPr>
          <a:xfrm>
            <a:off x="2635250" y="1487488"/>
            <a:ext cx="2679700" cy="277812"/>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en-US" altLang="zh-CN" sz="1200" u="sng" dirty="0">
                <a:solidFill>
                  <a:srgbClr val="D9D9D9"/>
                </a:solidFill>
                <a:latin typeface="微软雅黑" panose="020B0503020204020204" pitchFamily="34" charset="-122"/>
                <a:ea typeface="微软雅黑" panose="020B0503020204020204" pitchFamily="34" charset="-122"/>
              </a:rPr>
              <a:t>☞</a:t>
            </a:r>
            <a:r>
              <a:rPr lang="zh-CN" altLang="en-US" sz="1200" u="sng" dirty="0">
                <a:solidFill>
                  <a:srgbClr val="D9D9D9"/>
                </a:solidFill>
                <a:latin typeface="微软雅黑" panose="020B0503020204020204" pitchFamily="34" charset="-122"/>
                <a:ea typeface="微软雅黑" panose="020B0503020204020204" pitchFamily="34" charset="-122"/>
              </a:rPr>
              <a:t>点击查看本小节知识架构</a:t>
            </a:r>
            <a:endParaRPr lang="zh-CN" altLang="en-US" sz="1200" u="sng" dirty="0">
              <a:solidFill>
                <a:srgbClr val="D9D9D9"/>
              </a:solidFill>
              <a:latin typeface="微软雅黑" panose="020B0503020204020204" pitchFamily="34" charset="-122"/>
              <a:ea typeface="微软雅黑" panose="020B0503020204020204" pitchFamily="34" charset="-122"/>
            </a:endParaRPr>
          </a:p>
        </p:txBody>
      </p:sp>
      <p:grpSp>
        <p:nvGrpSpPr>
          <p:cNvPr id="18436" name="组合 1"/>
          <p:cNvGrpSpPr/>
          <p:nvPr/>
        </p:nvGrpSpPr>
        <p:grpSpPr>
          <a:xfrm>
            <a:off x="1746250" y="1817688"/>
            <a:ext cx="3665538" cy="338137"/>
            <a:chOff x="1710657" y="1224031"/>
            <a:chExt cx="4042443" cy="632229"/>
          </a:xfrm>
        </p:grpSpPr>
        <p:grpSp>
          <p:nvGrpSpPr>
            <p:cNvPr id="18485" name="组合 29"/>
            <p:cNvGrpSpPr/>
            <p:nvPr/>
          </p:nvGrpSpPr>
          <p:grpSpPr>
            <a:xfrm rot="-12767">
              <a:off x="1710657" y="1263652"/>
              <a:ext cx="884411" cy="592608"/>
              <a:chOff x="1936620" y="1275606"/>
              <a:chExt cx="1296144" cy="1728192"/>
            </a:xfrm>
          </p:grpSpPr>
          <p:grpSp>
            <p:nvGrpSpPr>
              <p:cNvPr id="18488" name="组合 31"/>
              <p:cNvGrpSpPr/>
              <p:nvPr/>
            </p:nvGrpSpPr>
            <p:grpSpPr>
              <a:xfrm>
                <a:off x="1936620" y="1275606"/>
                <a:ext cx="1296142" cy="1728192"/>
                <a:chOff x="1907704" y="1275606"/>
                <a:chExt cx="1296142" cy="1728192"/>
              </a:xfrm>
            </p:grpSpPr>
            <p:sp>
              <p:nvSpPr>
                <p:cNvPr id="134" name="圆角矩形 133"/>
                <p:cNvSpPr/>
                <p:nvPr/>
              </p:nvSpPr>
              <p:spPr>
                <a:xfrm>
                  <a:off x="1907706" y="1272583"/>
                  <a:ext cx="1295719" cy="1731213"/>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sym typeface="+mn-ea"/>
                    </a:rPr>
                    <a:t>2.2</a:t>
                  </a:r>
                  <a:endParaRPr kumimoji="0" lang="zh-CN" altLang="en-US"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sym typeface="+mn-ea"/>
                  </a:endParaRPr>
                </a:p>
              </p:txBody>
            </p:sp>
            <p:sp>
              <p:nvSpPr>
                <p:cNvPr id="135" name="圆角矩形 134"/>
                <p:cNvSpPr/>
                <p:nvPr/>
              </p:nvSpPr>
              <p:spPr>
                <a:xfrm>
                  <a:off x="1961588" y="1350490"/>
                  <a:ext cx="1187954" cy="1575404"/>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133" name="圆角矩形 5"/>
              <p:cNvSpPr/>
              <p:nvPr/>
            </p:nvSpPr>
            <p:spPr>
              <a:xfrm>
                <a:off x="1931061" y="2060188"/>
                <a:ext cx="1290587" cy="934855"/>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18486" name="直接连接符 129"/>
            <p:cNvCxnSpPr/>
            <p:nvPr/>
          </p:nvCxnSpPr>
          <p:spPr>
            <a:xfrm>
              <a:off x="2810117" y="1761277"/>
              <a:ext cx="2942983" cy="0"/>
            </a:xfrm>
            <a:prstGeom prst="line">
              <a:avLst/>
            </a:prstGeom>
            <a:ln w="3175" cap="flat" cmpd="sng">
              <a:solidFill>
                <a:srgbClr val="7F7F7F"/>
              </a:solidFill>
              <a:prstDash val="sysDot"/>
              <a:headEnd type="oval" w="sm" len="sm"/>
              <a:tailEnd type="oval" w="sm" len="sm"/>
            </a:ln>
          </p:spPr>
        </p:cxnSp>
        <p:sp>
          <p:nvSpPr>
            <p:cNvPr id="18487" name="矩形 35"/>
            <p:cNvSpPr/>
            <p:nvPr/>
          </p:nvSpPr>
          <p:spPr>
            <a:xfrm>
              <a:off x="2836058" y="1224031"/>
              <a:ext cx="2356917" cy="575846"/>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en-US" altLang="zh-CN" sz="1400" dirty="0">
                  <a:latin typeface="微软雅黑" panose="020B0503020204020204" pitchFamily="34" charset="-122"/>
                  <a:ea typeface="微软雅黑" panose="020B0503020204020204" pitchFamily="34" charset="-122"/>
                </a:rPr>
                <a:t>Java</a:t>
              </a:r>
              <a:r>
                <a:rPr lang="zh-CN" altLang="en-US" sz="1400" dirty="0">
                  <a:latin typeface="微软雅黑" panose="020B0503020204020204" pitchFamily="34" charset="-122"/>
                  <a:ea typeface="微软雅黑" panose="020B0503020204020204" pitchFamily="34" charset="-122"/>
                </a:rPr>
                <a:t>中的变量</a:t>
              </a:r>
              <a:endParaRPr lang="en-US" altLang="zh-CN" sz="1400" dirty="0">
                <a:latin typeface="微软雅黑" panose="020B0503020204020204" pitchFamily="34" charset="-122"/>
                <a:ea typeface="微软雅黑" panose="020B0503020204020204" pitchFamily="34" charset="-122"/>
              </a:endParaRPr>
            </a:p>
          </p:txBody>
        </p:sp>
      </p:grpSp>
      <p:sp>
        <p:nvSpPr>
          <p:cNvPr id="18437" name="TextBox 126">
            <a:hlinkClick r:id="" action="ppaction://noaction"/>
          </p:cNvPr>
          <p:cNvSpPr txBox="1"/>
          <p:nvPr/>
        </p:nvSpPr>
        <p:spPr>
          <a:xfrm>
            <a:off x="2701925" y="2073275"/>
            <a:ext cx="2679700" cy="277813"/>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en-US" altLang="zh-CN" sz="1200" u="sng" dirty="0">
                <a:solidFill>
                  <a:srgbClr val="D9D9D9"/>
                </a:solidFill>
                <a:latin typeface="微软雅黑" panose="020B0503020204020204" pitchFamily="34" charset="-122"/>
                <a:ea typeface="微软雅黑" panose="020B0503020204020204" pitchFamily="34" charset="-122"/>
              </a:rPr>
              <a:t>☞</a:t>
            </a:r>
            <a:r>
              <a:rPr lang="zh-CN" altLang="en-US" sz="1200" u="sng" dirty="0">
                <a:solidFill>
                  <a:srgbClr val="D9D9D9"/>
                </a:solidFill>
                <a:latin typeface="微软雅黑" panose="020B0503020204020204" pitchFamily="34" charset="-122"/>
                <a:ea typeface="微软雅黑" panose="020B0503020204020204" pitchFamily="34" charset="-122"/>
              </a:rPr>
              <a:t>点击查看本小节知识架构</a:t>
            </a:r>
            <a:endParaRPr lang="zh-CN" altLang="en-US" sz="1200" u="sng" dirty="0">
              <a:solidFill>
                <a:srgbClr val="D9D9D9"/>
              </a:solidFill>
              <a:latin typeface="微软雅黑" panose="020B0503020204020204" pitchFamily="34" charset="-122"/>
              <a:ea typeface="微软雅黑" panose="020B0503020204020204" pitchFamily="34" charset="-122"/>
            </a:endParaRPr>
          </a:p>
        </p:txBody>
      </p:sp>
      <p:grpSp>
        <p:nvGrpSpPr>
          <p:cNvPr id="18438" name="组合 1"/>
          <p:cNvGrpSpPr/>
          <p:nvPr/>
        </p:nvGrpSpPr>
        <p:grpSpPr>
          <a:xfrm>
            <a:off x="1733550" y="2362200"/>
            <a:ext cx="3665538" cy="338138"/>
            <a:chOff x="1710657" y="1224031"/>
            <a:chExt cx="4042443" cy="632229"/>
          </a:xfrm>
        </p:grpSpPr>
        <p:grpSp>
          <p:nvGrpSpPr>
            <p:cNvPr id="18478" name="组合 29"/>
            <p:cNvGrpSpPr/>
            <p:nvPr/>
          </p:nvGrpSpPr>
          <p:grpSpPr>
            <a:xfrm rot="-12767">
              <a:off x="1710657" y="1263652"/>
              <a:ext cx="884411" cy="592608"/>
              <a:chOff x="1936620" y="1275606"/>
              <a:chExt cx="1296144" cy="1728192"/>
            </a:xfrm>
          </p:grpSpPr>
          <p:grpSp>
            <p:nvGrpSpPr>
              <p:cNvPr id="18481" name="组合 31"/>
              <p:cNvGrpSpPr/>
              <p:nvPr/>
            </p:nvGrpSpPr>
            <p:grpSpPr>
              <a:xfrm>
                <a:off x="1936620" y="1275606"/>
                <a:ext cx="1296142" cy="1728192"/>
                <a:chOff x="1907704" y="1275606"/>
                <a:chExt cx="1296142" cy="1728192"/>
              </a:xfrm>
            </p:grpSpPr>
            <p:sp>
              <p:nvSpPr>
                <p:cNvPr id="143" name="圆角矩形 142"/>
                <p:cNvSpPr/>
                <p:nvPr/>
              </p:nvSpPr>
              <p:spPr>
                <a:xfrm>
                  <a:off x="1907706" y="1272588"/>
                  <a:ext cx="1295719" cy="1731207"/>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sym typeface="+mn-ea"/>
                    </a:rPr>
                    <a:t>2.3</a:t>
                  </a:r>
                  <a:endParaRPr kumimoji="0" lang="zh-CN" altLang="en-US"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sym typeface="+mn-ea"/>
                  </a:endParaRPr>
                </a:p>
              </p:txBody>
            </p:sp>
            <p:sp>
              <p:nvSpPr>
                <p:cNvPr id="144" name="圆角矩形 143"/>
                <p:cNvSpPr/>
                <p:nvPr/>
              </p:nvSpPr>
              <p:spPr>
                <a:xfrm>
                  <a:off x="1961588" y="1350490"/>
                  <a:ext cx="1187954" cy="1575399"/>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142" name="圆角矩形 5"/>
              <p:cNvSpPr/>
              <p:nvPr/>
            </p:nvSpPr>
            <p:spPr>
              <a:xfrm>
                <a:off x="1931061" y="2060186"/>
                <a:ext cx="1290587" cy="934852"/>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18479" name="直接连接符 138"/>
            <p:cNvCxnSpPr/>
            <p:nvPr/>
          </p:nvCxnSpPr>
          <p:spPr>
            <a:xfrm>
              <a:off x="2810117" y="1761277"/>
              <a:ext cx="2942983" cy="0"/>
            </a:xfrm>
            <a:prstGeom prst="line">
              <a:avLst/>
            </a:prstGeom>
            <a:ln w="3175" cap="flat" cmpd="sng">
              <a:solidFill>
                <a:srgbClr val="7F7F7F"/>
              </a:solidFill>
              <a:prstDash val="sysDot"/>
              <a:headEnd type="oval" w="sm" len="sm"/>
              <a:tailEnd type="oval" w="sm" len="sm"/>
            </a:ln>
          </p:spPr>
        </p:cxnSp>
        <p:sp>
          <p:nvSpPr>
            <p:cNvPr id="18480" name="矩形 35"/>
            <p:cNvSpPr/>
            <p:nvPr/>
          </p:nvSpPr>
          <p:spPr>
            <a:xfrm>
              <a:off x="2836058" y="1224031"/>
              <a:ext cx="2356917" cy="575846"/>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en-US" altLang="zh-CN" sz="1400" dirty="0">
                  <a:latin typeface="微软雅黑" panose="020B0503020204020204" pitchFamily="34" charset="-122"/>
                  <a:ea typeface="微软雅黑" panose="020B0503020204020204" pitchFamily="34" charset="-122"/>
                </a:rPr>
                <a:t>Java</a:t>
              </a:r>
              <a:r>
                <a:rPr lang="zh-CN" altLang="en-US" sz="1400" dirty="0">
                  <a:latin typeface="微软雅黑" panose="020B0503020204020204" pitchFamily="34" charset="-122"/>
                  <a:ea typeface="微软雅黑" panose="020B0503020204020204" pitchFamily="34" charset="-122"/>
                </a:rPr>
                <a:t>中的运算符</a:t>
              </a:r>
              <a:endParaRPr lang="en-US" altLang="zh-CN" sz="1400" dirty="0">
                <a:latin typeface="微软雅黑" panose="020B0503020204020204" pitchFamily="34" charset="-122"/>
                <a:ea typeface="微软雅黑" panose="020B0503020204020204" pitchFamily="34" charset="-122"/>
              </a:endParaRPr>
            </a:p>
          </p:txBody>
        </p:sp>
      </p:grpSp>
      <p:sp>
        <p:nvSpPr>
          <p:cNvPr id="18439" name="TextBox 126">
            <a:hlinkClick r:id="" action="ppaction://noaction"/>
          </p:cNvPr>
          <p:cNvSpPr txBox="1"/>
          <p:nvPr/>
        </p:nvSpPr>
        <p:spPr>
          <a:xfrm>
            <a:off x="2636838" y="2652713"/>
            <a:ext cx="2678112" cy="27622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en-US" altLang="zh-CN" sz="1200" u="sng" dirty="0">
                <a:solidFill>
                  <a:srgbClr val="D9D9D9"/>
                </a:solidFill>
                <a:latin typeface="微软雅黑" panose="020B0503020204020204" pitchFamily="34" charset="-122"/>
                <a:ea typeface="微软雅黑" panose="020B0503020204020204" pitchFamily="34" charset="-122"/>
              </a:rPr>
              <a:t>☞</a:t>
            </a:r>
            <a:r>
              <a:rPr lang="zh-CN" altLang="en-US" sz="1200" u="sng" dirty="0">
                <a:solidFill>
                  <a:srgbClr val="D9D9D9"/>
                </a:solidFill>
                <a:latin typeface="微软雅黑" panose="020B0503020204020204" pitchFamily="34" charset="-122"/>
                <a:ea typeface="微软雅黑" panose="020B0503020204020204" pitchFamily="34" charset="-122"/>
              </a:rPr>
              <a:t>点击查看本小节知识架构</a:t>
            </a:r>
            <a:endParaRPr lang="zh-CN" altLang="en-US" sz="1200" u="sng" dirty="0">
              <a:solidFill>
                <a:srgbClr val="D9D9D9"/>
              </a:solidFill>
              <a:latin typeface="微软雅黑" panose="020B0503020204020204" pitchFamily="34" charset="-122"/>
              <a:ea typeface="微软雅黑" panose="020B0503020204020204" pitchFamily="34" charset="-122"/>
            </a:endParaRPr>
          </a:p>
        </p:txBody>
      </p:sp>
      <p:grpSp>
        <p:nvGrpSpPr>
          <p:cNvPr id="18440" name="组合 1"/>
          <p:cNvGrpSpPr/>
          <p:nvPr/>
        </p:nvGrpSpPr>
        <p:grpSpPr>
          <a:xfrm>
            <a:off x="1725613" y="2974975"/>
            <a:ext cx="3665537" cy="338138"/>
            <a:chOff x="1710657" y="1224031"/>
            <a:chExt cx="4042443" cy="632229"/>
          </a:xfrm>
        </p:grpSpPr>
        <p:grpSp>
          <p:nvGrpSpPr>
            <p:cNvPr id="18471" name="组合 29"/>
            <p:cNvGrpSpPr/>
            <p:nvPr/>
          </p:nvGrpSpPr>
          <p:grpSpPr>
            <a:xfrm rot="-12767">
              <a:off x="1710657" y="1263652"/>
              <a:ext cx="884411" cy="592608"/>
              <a:chOff x="1936620" y="1275606"/>
              <a:chExt cx="1296144" cy="1728192"/>
            </a:xfrm>
          </p:grpSpPr>
          <p:grpSp>
            <p:nvGrpSpPr>
              <p:cNvPr id="18474" name="组合 31"/>
              <p:cNvGrpSpPr/>
              <p:nvPr/>
            </p:nvGrpSpPr>
            <p:grpSpPr>
              <a:xfrm>
                <a:off x="1936620" y="1275606"/>
                <a:ext cx="1296142" cy="1728192"/>
                <a:chOff x="1907704" y="1275606"/>
                <a:chExt cx="1296142" cy="1728192"/>
              </a:xfrm>
            </p:grpSpPr>
            <p:sp>
              <p:nvSpPr>
                <p:cNvPr id="161" name="圆角矩形 160"/>
                <p:cNvSpPr/>
                <p:nvPr/>
              </p:nvSpPr>
              <p:spPr>
                <a:xfrm>
                  <a:off x="1907706" y="1272588"/>
                  <a:ext cx="1295717" cy="1731207"/>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sym typeface="+mn-ea"/>
                    </a:rPr>
                    <a:t>2.4</a:t>
                  </a:r>
                  <a:endParaRPr kumimoji="0" lang="zh-CN" altLang="en-US"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sym typeface="+mn-ea"/>
                  </a:endParaRPr>
                </a:p>
              </p:txBody>
            </p:sp>
            <p:sp>
              <p:nvSpPr>
                <p:cNvPr id="162" name="圆角矩形 161"/>
                <p:cNvSpPr/>
                <p:nvPr/>
              </p:nvSpPr>
              <p:spPr>
                <a:xfrm>
                  <a:off x="1961586" y="1350490"/>
                  <a:ext cx="1187956" cy="1575399"/>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160" name="圆角矩形 5"/>
              <p:cNvSpPr/>
              <p:nvPr/>
            </p:nvSpPr>
            <p:spPr>
              <a:xfrm>
                <a:off x="1931061" y="2060186"/>
                <a:ext cx="1290586" cy="934852"/>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18472" name="直接连接符 156"/>
            <p:cNvCxnSpPr/>
            <p:nvPr/>
          </p:nvCxnSpPr>
          <p:spPr>
            <a:xfrm>
              <a:off x="2810117" y="1761277"/>
              <a:ext cx="2942983" cy="0"/>
            </a:xfrm>
            <a:prstGeom prst="line">
              <a:avLst/>
            </a:prstGeom>
            <a:ln w="3175" cap="flat" cmpd="sng">
              <a:solidFill>
                <a:srgbClr val="7F7F7F"/>
              </a:solidFill>
              <a:prstDash val="sysDot"/>
              <a:headEnd type="oval" w="sm" len="sm"/>
              <a:tailEnd type="oval" w="sm" len="sm"/>
            </a:ln>
          </p:spPr>
        </p:cxnSp>
        <p:sp>
          <p:nvSpPr>
            <p:cNvPr id="18473" name="矩形 35"/>
            <p:cNvSpPr/>
            <p:nvPr/>
          </p:nvSpPr>
          <p:spPr>
            <a:xfrm>
              <a:off x="2836058" y="1224031"/>
              <a:ext cx="2356917" cy="575846"/>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zh-CN" altLang="en-US" sz="1400" dirty="0">
                  <a:latin typeface="微软雅黑" panose="020B0503020204020204" pitchFamily="34" charset="-122"/>
                  <a:ea typeface="微软雅黑" panose="020B0503020204020204" pitchFamily="34" charset="-122"/>
                </a:rPr>
                <a:t>选择结构语句</a:t>
              </a:r>
              <a:endParaRPr lang="en-US" altLang="zh-CN" sz="1400" dirty="0">
                <a:latin typeface="微软雅黑" panose="020B0503020204020204" pitchFamily="34" charset="-122"/>
                <a:ea typeface="微软雅黑" panose="020B0503020204020204" pitchFamily="34" charset="-122"/>
              </a:endParaRPr>
            </a:p>
          </p:txBody>
        </p:sp>
      </p:grpSp>
      <p:sp>
        <p:nvSpPr>
          <p:cNvPr id="18441" name="TextBox 126">
            <a:hlinkClick r:id="" action="ppaction://noaction"/>
          </p:cNvPr>
          <p:cNvSpPr txBox="1"/>
          <p:nvPr/>
        </p:nvSpPr>
        <p:spPr>
          <a:xfrm>
            <a:off x="2728913" y="3298825"/>
            <a:ext cx="2679700" cy="27622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en-US" altLang="zh-CN" sz="1200" u="sng" dirty="0">
                <a:solidFill>
                  <a:srgbClr val="D9D9D9"/>
                </a:solidFill>
                <a:latin typeface="微软雅黑" panose="020B0503020204020204" pitchFamily="34" charset="-122"/>
                <a:ea typeface="微软雅黑" panose="020B0503020204020204" pitchFamily="34" charset="-122"/>
              </a:rPr>
              <a:t>☞</a:t>
            </a:r>
            <a:r>
              <a:rPr lang="zh-CN" altLang="en-US" sz="1200" u="sng" dirty="0">
                <a:solidFill>
                  <a:srgbClr val="D9D9D9"/>
                </a:solidFill>
                <a:latin typeface="微软雅黑" panose="020B0503020204020204" pitchFamily="34" charset="-122"/>
                <a:ea typeface="微软雅黑" panose="020B0503020204020204" pitchFamily="34" charset="-122"/>
              </a:rPr>
              <a:t>点击查看本小节知识架构</a:t>
            </a:r>
            <a:endParaRPr lang="zh-CN" altLang="en-US" sz="1200" u="sng" dirty="0">
              <a:solidFill>
                <a:srgbClr val="D9D9D9"/>
              </a:solidFill>
              <a:latin typeface="微软雅黑" panose="020B0503020204020204" pitchFamily="34" charset="-122"/>
              <a:ea typeface="微软雅黑" panose="020B0503020204020204" pitchFamily="34" charset="-122"/>
            </a:endParaRPr>
          </a:p>
        </p:txBody>
      </p:sp>
      <p:grpSp>
        <p:nvGrpSpPr>
          <p:cNvPr id="18442" name="组合 1"/>
          <p:cNvGrpSpPr/>
          <p:nvPr/>
        </p:nvGrpSpPr>
        <p:grpSpPr>
          <a:xfrm>
            <a:off x="1719263" y="3656013"/>
            <a:ext cx="3665537" cy="338137"/>
            <a:chOff x="1710657" y="1224031"/>
            <a:chExt cx="4042443" cy="632229"/>
          </a:xfrm>
        </p:grpSpPr>
        <p:grpSp>
          <p:nvGrpSpPr>
            <p:cNvPr id="18464" name="组合 29"/>
            <p:cNvGrpSpPr/>
            <p:nvPr/>
          </p:nvGrpSpPr>
          <p:grpSpPr>
            <a:xfrm rot="-12767">
              <a:off x="1710657" y="1263652"/>
              <a:ext cx="884411" cy="592608"/>
              <a:chOff x="1936620" y="1275606"/>
              <a:chExt cx="1296144" cy="1728192"/>
            </a:xfrm>
          </p:grpSpPr>
          <p:grpSp>
            <p:nvGrpSpPr>
              <p:cNvPr id="18467" name="组合 31"/>
              <p:cNvGrpSpPr/>
              <p:nvPr/>
            </p:nvGrpSpPr>
            <p:grpSpPr>
              <a:xfrm>
                <a:off x="1936620" y="1275606"/>
                <a:ext cx="1296142" cy="1728192"/>
                <a:chOff x="1907704" y="1275606"/>
                <a:chExt cx="1296142" cy="1728192"/>
              </a:xfrm>
            </p:grpSpPr>
            <p:sp>
              <p:nvSpPr>
                <p:cNvPr id="170" name="圆角矩形 169"/>
                <p:cNvSpPr/>
                <p:nvPr/>
              </p:nvSpPr>
              <p:spPr>
                <a:xfrm>
                  <a:off x="1907706" y="1272583"/>
                  <a:ext cx="1295717" cy="1731213"/>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sym typeface="+mn-ea"/>
                    </a:rPr>
                    <a:t>2.5</a:t>
                  </a:r>
                  <a:endParaRPr kumimoji="0" lang="zh-CN" altLang="en-US"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sym typeface="+mn-ea"/>
                  </a:endParaRPr>
                </a:p>
              </p:txBody>
            </p:sp>
            <p:sp>
              <p:nvSpPr>
                <p:cNvPr id="171" name="圆角矩形 170"/>
                <p:cNvSpPr/>
                <p:nvPr/>
              </p:nvSpPr>
              <p:spPr>
                <a:xfrm>
                  <a:off x="1961586" y="1350490"/>
                  <a:ext cx="1187956" cy="1575404"/>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169" name="圆角矩形 5"/>
              <p:cNvSpPr/>
              <p:nvPr/>
            </p:nvSpPr>
            <p:spPr>
              <a:xfrm>
                <a:off x="1931061" y="2060188"/>
                <a:ext cx="1290586" cy="934855"/>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18465" name="直接连接符 165"/>
            <p:cNvCxnSpPr/>
            <p:nvPr/>
          </p:nvCxnSpPr>
          <p:spPr>
            <a:xfrm>
              <a:off x="2810117" y="1761277"/>
              <a:ext cx="2942983" cy="0"/>
            </a:xfrm>
            <a:prstGeom prst="line">
              <a:avLst/>
            </a:prstGeom>
            <a:ln w="3175" cap="flat" cmpd="sng">
              <a:solidFill>
                <a:srgbClr val="7F7F7F"/>
              </a:solidFill>
              <a:prstDash val="sysDot"/>
              <a:headEnd type="oval" w="sm" len="sm"/>
              <a:tailEnd type="oval" w="sm" len="sm"/>
            </a:ln>
          </p:spPr>
        </p:cxnSp>
        <p:sp>
          <p:nvSpPr>
            <p:cNvPr id="18466" name="矩形 35"/>
            <p:cNvSpPr/>
            <p:nvPr/>
          </p:nvSpPr>
          <p:spPr>
            <a:xfrm>
              <a:off x="2836058" y="1224031"/>
              <a:ext cx="2356917" cy="575846"/>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zh-CN" altLang="en-US" sz="1400" dirty="0">
                  <a:latin typeface="微软雅黑" panose="020B0503020204020204" pitchFamily="34" charset="-122"/>
                  <a:ea typeface="微软雅黑" panose="020B0503020204020204" pitchFamily="34" charset="-122"/>
                </a:rPr>
                <a:t>循环结构语句</a:t>
              </a:r>
              <a:endParaRPr lang="en-US" altLang="zh-CN" sz="1400" dirty="0">
                <a:latin typeface="微软雅黑" panose="020B0503020204020204" pitchFamily="34" charset="-122"/>
                <a:ea typeface="微软雅黑" panose="020B0503020204020204" pitchFamily="34" charset="-122"/>
              </a:endParaRPr>
            </a:p>
          </p:txBody>
        </p:sp>
      </p:grpSp>
      <p:sp>
        <p:nvSpPr>
          <p:cNvPr id="18443" name="TextBox 126">
            <a:hlinkClick r:id="" action="ppaction://noaction"/>
          </p:cNvPr>
          <p:cNvSpPr txBox="1"/>
          <p:nvPr/>
        </p:nvSpPr>
        <p:spPr>
          <a:xfrm>
            <a:off x="2774950" y="3949700"/>
            <a:ext cx="2679700" cy="277813"/>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en-US" altLang="zh-CN" sz="1200" u="sng" dirty="0">
                <a:solidFill>
                  <a:srgbClr val="D9D9D9"/>
                </a:solidFill>
                <a:latin typeface="微软雅黑" panose="020B0503020204020204" pitchFamily="34" charset="-122"/>
                <a:ea typeface="微软雅黑" panose="020B0503020204020204" pitchFamily="34" charset="-122"/>
              </a:rPr>
              <a:t>☞</a:t>
            </a:r>
            <a:r>
              <a:rPr lang="zh-CN" altLang="en-US" sz="1200" u="sng" dirty="0">
                <a:solidFill>
                  <a:srgbClr val="D9D9D9"/>
                </a:solidFill>
                <a:latin typeface="微软雅黑" panose="020B0503020204020204" pitchFamily="34" charset="-122"/>
                <a:ea typeface="微软雅黑" panose="020B0503020204020204" pitchFamily="34" charset="-122"/>
              </a:rPr>
              <a:t>点击查看本小节知识架构</a:t>
            </a:r>
            <a:endParaRPr lang="zh-CN" altLang="en-US" sz="1200" u="sng" dirty="0">
              <a:solidFill>
                <a:srgbClr val="D9D9D9"/>
              </a:solidFill>
              <a:latin typeface="微软雅黑" panose="020B0503020204020204" pitchFamily="34" charset="-122"/>
              <a:ea typeface="微软雅黑" panose="020B0503020204020204" pitchFamily="34" charset="-122"/>
            </a:endParaRPr>
          </a:p>
        </p:txBody>
      </p:sp>
      <p:grpSp>
        <p:nvGrpSpPr>
          <p:cNvPr id="18444" name="组合 1"/>
          <p:cNvGrpSpPr/>
          <p:nvPr/>
        </p:nvGrpSpPr>
        <p:grpSpPr>
          <a:xfrm>
            <a:off x="1727200" y="4225925"/>
            <a:ext cx="3665538" cy="338138"/>
            <a:chOff x="1710657" y="1224031"/>
            <a:chExt cx="4042443" cy="632229"/>
          </a:xfrm>
        </p:grpSpPr>
        <p:grpSp>
          <p:nvGrpSpPr>
            <p:cNvPr id="18457" name="组合 29"/>
            <p:cNvGrpSpPr/>
            <p:nvPr/>
          </p:nvGrpSpPr>
          <p:grpSpPr>
            <a:xfrm rot="-12767">
              <a:off x="1710657" y="1263652"/>
              <a:ext cx="884411" cy="592608"/>
              <a:chOff x="1936620" y="1275606"/>
              <a:chExt cx="1296144" cy="1728192"/>
            </a:xfrm>
          </p:grpSpPr>
          <p:grpSp>
            <p:nvGrpSpPr>
              <p:cNvPr id="18460" name="组合 31"/>
              <p:cNvGrpSpPr/>
              <p:nvPr/>
            </p:nvGrpSpPr>
            <p:grpSpPr>
              <a:xfrm>
                <a:off x="1936620" y="1275606"/>
                <a:ext cx="1296142" cy="1728192"/>
                <a:chOff x="1907704" y="1275606"/>
                <a:chExt cx="1296142" cy="1728192"/>
              </a:xfrm>
            </p:grpSpPr>
            <p:sp>
              <p:nvSpPr>
                <p:cNvPr id="188" name="圆角矩形 187"/>
                <p:cNvSpPr/>
                <p:nvPr/>
              </p:nvSpPr>
              <p:spPr>
                <a:xfrm>
                  <a:off x="1907706" y="1272588"/>
                  <a:ext cx="1295719" cy="1731207"/>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sym typeface="+mn-ea"/>
                    </a:rPr>
                    <a:t>2.6</a:t>
                  </a:r>
                  <a:endParaRPr kumimoji="0" lang="zh-CN" altLang="en-US"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sym typeface="+mn-ea"/>
                  </a:endParaRPr>
                </a:p>
              </p:txBody>
            </p:sp>
            <p:sp>
              <p:nvSpPr>
                <p:cNvPr id="189" name="圆角矩形 188"/>
                <p:cNvSpPr/>
                <p:nvPr/>
              </p:nvSpPr>
              <p:spPr>
                <a:xfrm>
                  <a:off x="1961588" y="1350490"/>
                  <a:ext cx="1187954" cy="1575399"/>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187" name="圆角矩形 5"/>
              <p:cNvSpPr/>
              <p:nvPr/>
            </p:nvSpPr>
            <p:spPr>
              <a:xfrm>
                <a:off x="1931061" y="2060186"/>
                <a:ext cx="1290587" cy="934852"/>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18458" name="直接连接符 183"/>
            <p:cNvCxnSpPr/>
            <p:nvPr/>
          </p:nvCxnSpPr>
          <p:spPr>
            <a:xfrm>
              <a:off x="2810118" y="1761277"/>
              <a:ext cx="2942982" cy="0"/>
            </a:xfrm>
            <a:prstGeom prst="line">
              <a:avLst/>
            </a:prstGeom>
            <a:ln w="3175" cap="flat" cmpd="sng">
              <a:solidFill>
                <a:srgbClr val="7F7F7F"/>
              </a:solidFill>
              <a:prstDash val="sysDot"/>
              <a:headEnd type="oval" w="sm" len="sm"/>
              <a:tailEnd type="oval" w="sm" len="sm"/>
            </a:ln>
          </p:spPr>
        </p:cxnSp>
        <p:sp>
          <p:nvSpPr>
            <p:cNvPr id="18459" name="矩形 35"/>
            <p:cNvSpPr/>
            <p:nvPr/>
          </p:nvSpPr>
          <p:spPr>
            <a:xfrm>
              <a:off x="2881968" y="1224031"/>
              <a:ext cx="2356917" cy="57584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zh-CN" altLang="en-US" sz="1400" dirty="0">
                  <a:latin typeface="微软雅黑" panose="020B0503020204020204" pitchFamily="34" charset="-122"/>
                  <a:ea typeface="微软雅黑" panose="020B0503020204020204" pitchFamily="34" charset="-122"/>
                </a:rPr>
                <a:t>方法</a:t>
              </a:r>
              <a:endParaRPr lang="en-US" altLang="zh-CN" sz="1400" dirty="0">
                <a:latin typeface="微软雅黑" panose="020B0503020204020204" pitchFamily="34" charset="-122"/>
                <a:ea typeface="微软雅黑" panose="020B0503020204020204" pitchFamily="34" charset="-122"/>
              </a:endParaRPr>
            </a:p>
          </p:txBody>
        </p:sp>
      </p:grpSp>
      <p:sp>
        <p:nvSpPr>
          <p:cNvPr id="18445" name="TextBox 126">
            <a:hlinkClick r:id="" action="ppaction://noaction"/>
          </p:cNvPr>
          <p:cNvSpPr txBox="1"/>
          <p:nvPr/>
        </p:nvSpPr>
        <p:spPr>
          <a:xfrm>
            <a:off x="2789238" y="4565650"/>
            <a:ext cx="2679700" cy="27622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en-US" altLang="zh-CN" sz="1200" u="sng" dirty="0">
                <a:solidFill>
                  <a:srgbClr val="D9D9D9"/>
                </a:solidFill>
                <a:latin typeface="微软雅黑" panose="020B0503020204020204" pitchFamily="34" charset="-122"/>
                <a:ea typeface="微软雅黑" panose="020B0503020204020204" pitchFamily="34" charset="-122"/>
              </a:rPr>
              <a:t>☞</a:t>
            </a:r>
            <a:r>
              <a:rPr lang="zh-CN" altLang="en-US" sz="1200" u="sng" dirty="0">
                <a:solidFill>
                  <a:srgbClr val="D9D9D9"/>
                </a:solidFill>
                <a:latin typeface="微软雅黑" panose="020B0503020204020204" pitchFamily="34" charset="-122"/>
                <a:ea typeface="微软雅黑" panose="020B0503020204020204" pitchFamily="34" charset="-122"/>
              </a:rPr>
              <a:t>点击查看本小节知识架构</a:t>
            </a:r>
            <a:endParaRPr lang="zh-CN" altLang="en-US" sz="1200" u="sng" dirty="0">
              <a:solidFill>
                <a:srgbClr val="D9D9D9"/>
              </a:solidFill>
              <a:latin typeface="微软雅黑" panose="020B0503020204020204" pitchFamily="34" charset="-122"/>
              <a:ea typeface="微软雅黑" panose="020B0503020204020204" pitchFamily="34" charset="-122"/>
            </a:endParaRPr>
          </a:p>
        </p:txBody>
      </p:sp>
      <p:grpSp>
        <p:nvGrpSpPr>
          <p:cNvPr id="18446" name="组合 1"/>
          <p:cNvGrpSpPr/>
          <p:nvPr/>
        </p:nvGrpSpPr>
        <p:grpSpPr>
          <a:xfrm>
            <a:off x="1722438" y="4868863"/>
            <a:ext cx="3665537" cy="338137"/>
            <a:chOff x="1710657" y="1224031"/>
            <a:chExt cx="4042443" cy="632229"/>
          </a:xfrm>
        </p:grpSpPr>
        <p:grpSp>
          <p:nvGrpSpPr>
            <p:cNvPr id="18450" name="组合 29"/>
            <p:cNvGrpSpPr/>
            <p:nvPr/>
          </p:nvGrpSpPr>
          <p:grpSpPr>
            <a:xfrm rot="-12767">
              <a:off x="1710657" y="1263652"/>
              <a:ext cx="884411" cy="592608"/>
              <a:chOff x="1936620" y="1275606"/>
              <a:chExt cx="1296144" cy="1728192"/>
            </a:xfrm>
          </p:grpSpPr>
          <p:grpSp>
            <p:nvGrpSpPr>
              <p:cNvPr id="18453" name="组合 31"/>
              <p:cNvGrpSpPr/>
              <p:nvPr/>
            </p:nvGrpSpPr>
            <p:grpSpPr>
              <a:xfrm>
                <a:off x="1936620" y="1275606"/>
                <a:ext cx="1296142" cy="1728192"/>
                <a:chOff x="1907704" y="1275606"/>
                <a:chExt cx="1296142" cy="1728192"/>
              </a:xfrm>
            </p:grpSpPr>
            <p:sp>
              <p:nvSpPr>
                <p:cNvPr id="197" name="圆角矩形 196"/>
                <p:cNvSpPr/>
                <p:nvPr/>
              </p:nvSpPr>
              <p:spPr>
                <a:xfrm>
                  <a:off x="1907706" y="1272583"/>
                  <a:ext cx="1295717" cy="1731213"/>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sym typeface="+mn-ea"/>
                    </a:rPr>
                    <a:t>2.7</a:t>
                  </a:r>
                  <a:endParaRPr kumimoji="0" lang="zh-CN" altLang="en-US"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sym typeface="+mn-ea"/>
                  </a:endParaRPr>
                </a:p>
              </p:txBody>
            </p:sp>
            <p:sp>
              <p:nvSpPr>
                <p:cNvPr id="198" name="圆角矩形 197"/>
                <p:cNvSpPr/>
                <p:nvPr/>
              </p:nvSpPr>
              <p:spPr>
                <a:xfrm>
                  <a:off x="1961586" y="1350490"/>
                  <a:ext cx="1187956" cy="1575404"/>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196" name="圆角矩形 5"/>
              <p:cNvSpPr/>
              <p:nvPr/>
            </p:nvSpPr>
            <p:spPr>
              <a:xfrm>
                <a:off x="1931061" y="2060188"/>
                <a:ext cx="1290586" cy="934855"/>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60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18451" name="直接连接符 192"/>
            <p:cNvCxnSpPr/>
            <p:nvPr/>
          </p:nvCxnSpPr>
          <p:spPr>
            <a:xfrm>
              <a:off x="2810117" y="1761277"/>
              <a:ext cx="2942983" cy="0"/>
            </a:xfrm>
            <a:prstGeom prst="line">
              <a:avLst/>
            </a:prstGeom>
            <a:ln w="3175" cap="flat" cmpd="sng">
              <a:solidFill>
                <a:srgbClr val="7F7F7F"/>
              </a:solidFill>
              <a:prstDash val="sysDot"/>
              <a:headEnd type="oval" w="sm" len="sm"/>
              <a:tailEnd type="oval" w="sm" len="sm"/>
            </a:ln>
          </p:spPr>
        </p:cxnSp>
        <p:sp>
          <p:nvSpPr>
            <p:cNvPr id="18452" name="矩形 35"/>
            <p:cNvSpPr/>
            <p:nvPr/>
          </p:nvSpPr>
          <p:spPr>
            <a:xfrm>
              <a:off x="2887622" y="1224031"/>
              <a:ext cx="2356917" cy="57584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zh-CN" altLang="en-US" sz="1400" dirty="0">
                  <a:latin typeface="微软雅黑" panose="020B0503020204020204" pitchFamily="34" charset="-122"/>
                  <a:ea typeface="微软雅黑" panose="020B0503020204020204" pitchFamily="34" charset="-122"/>
                </a:rPr>
                <a:t>数组</a:t>
              </a:r>
              <a:endParaRPr lang="en-US" altLang="zh-CN" sz="1400" dirty="0">
                <a:latin typeface="微软雅黑" panose="020B0503020204020204" pitchFamily="34" charset="-122"/>
                <a:ea typeface="微软雅黑" panose="020B0503020204020204" pitchFamily="34" charset="-122"/>
              </a:endParaRPr>
            </a:p>
          </p:txBody>
        </p:sp>
      </p:grpSp>
      <p:sp>
        <p:nvSpPr>
          <p:cNvPr id="18447" name="TextBox 126">
            <a:hlinkClick r:id="" action="ppaction://noaction"/>
          </p:cNvPr>
          <p:cNvSpPr txBox="1"/>
          <p:nvPr/>
        </p:nvSpPr>
        <p:spPr>
          <a:xfrm>
            <a:off x="2625725" y="5132388"/>
            <a:ext cx="2678113" cy="277812"/>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en-US" altLang="zh-CN" sz="1200" u="sng" dirty="0">
                <a:solidFill>
                  <a:srgbClr val="D9D9D9"/>
                </a:solidFill>
                <a:latin typeface="微软雅黑" panose="020B0503020204020204" pitchFamily="34" charset="-122"/>
                <a:ea typeface="微软雅黑" panose="020B0503020204020204" pitchFamily="34" charset="-122"/>
              </a:rPr>
              <a:t>☞</a:t>
            </a:r>
            <a:r>
              <a:rPr lang="zh-CN" altLang="en-US" sz="1200" u="sng" dirty="0">
                <a:solidFill>
                  <a:srgbClr val="D9D9D9"/>
                </a:solidFill>
                <a:latin typeface="微软雅黑" panose="020B0503020204020204" pitchFamily="34" charset="-122"/>
                <a:ea typeface="微软雅黑" panose="020B0503020204020204" pitchFamily="34" charset="-122"/>
              </a:rPr>
              <a:t>点击查看本小节知识架构</a:t>
            </a:r>
            <a:endParaRPr lang="zh-CN" altLang="en-US" sz="1200" u="sng" dirty="0">
              <a:solidFill>
                <a:srgbClr val="D9D9D9"/>
              </a:solidFill>
              <a:latin typeface="微软雅黑" panose="020B0503020204020204" pitchFamily="34" charset="-122"/>
              <a:ea typeface="微软雅黑" panose="020B0503020204020204" pitchFamily="34" charset="-122"/>
            </a:endParaRPr>
          </a:p>
        </p:txBody>
      </p:sp>
      <p:sp>
        <p:nvSpPr>
          <p:cNvPr id="91" name="标题 1"/>
          <p:cNvSpPr>
            <a:spLocks noChangeArrowheads="1"/>
          </p:cNvSpPr>
          <p:nvPr/>
        </p:nvSpPr>
        <p:spPr bwMode="auto">
          <a:xfrm>
            <a:off x="1743075" y="16192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目录</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18449"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内容占位符 2"/>
          <p:cNvSpPr>
            <a:spLocks noGrp="1"/>
          </p:cNvSpPr>
          <p:nvPr>
            <p:ph idx="1"/>
          </p:nvPr>
        </p:nvSpPr>
        <p:spPr>
          <a:xfrm>
            <a:off x="417513" y="2024063"/>
            <a:ext cx="8229600" cy="2781300"/>
          </a:xfrm>
          <a:ln>
            <a:solidFill>
              <a:srgbClr val="009ED6"/>
            </a:solidFill>
            <a:miter lim="800000"/>
          </a:ln>
        </p:spPr>
        <p:txBody>
          <a:bodyPr vert="horz" wrap="square" lIns="91440" tIns="45720" rIns="91440" bIns="45720" numCol="1" rtlCol="0" anchor="t" anchorCtr="0" compatLnSpc="1">
            <a:normAutofit/>
          </a:bodyPr>
          <a:lstStyle/>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Java</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中的程序代码都必须放在一个类中。类需要使用</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class</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关键字定义，在</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class</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前面可以有一些修饰符，格式如下：</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50000"/>
              </a:lnSpc>
              <a:spcBef>
                <a:spcPts val="500"/>
              </a:spcBef>
              <a:spcAft>
                <a:spcPts val="0"/>
              </a:spcAft>
              <a:buClrTx/>
              <a:buSzTx/>
              <a:buFontTx/>
              <a:buNone/>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剪去对角的矩形 4"/>
          <p:cNvSpPr/>
          <p:nvPr/>
        </p:nvSpPr>
        <p:spPr bwMode="auto">
          <a:xfrm>
            <a:off x="5016500" y="1084263"/>
            <a:ext cx="3454400"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460" name="矩形 7"/>
          <p:cNvSpPr/>
          <p:nvPr/>
        </p:nvSpPr>
        <p:spPr>
          <a:xfrm>
            <a:off x="5230813" y="1071563"/>
            <a:ext cx="2965450" cy="5905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35000"/>
              </a:lnSpc>
              <a:spcBef>
                <a:spcPct val="0"/>
              </a:spcBef>
              <a:buNone/>
            </a:pPr>
            <a:r>
              <a:rPr lang="en-US" altLang="zh-CN" sz="2400" dirty="0">
                <a:solidFill>
                  <a:srgbClr val="00B0F0"/>
                </a:solidFill>
                <a:latin typeface="黑体" panose="02010609060101010101" pitchFamily="49" charset="-122"/>
                <a:ea typeface="黑体" panose="02010609060101010101" pitchFamily="49" charset="-122"/>
              </a:rPr>
              <a:t>Java</a:t>
            </a:r>
            <a:r>
              <a:rPr lang="zh-CN" altLang="en-US" sz="2400" dirty="0">
                <a:solidFill>
                  <a:srgbClr val="00B0F0"/>
                </a:solidFill>
                <a:latin typeface="黑体" panose="02010609060101010101" pitchFamily="49" charset="-122"/>
                <a:ea typeface="黑体" panose="02010609060101010101" pitchFamily="49" charset="-122"/>
              </a:rPr>
              <a:t>代码的基本格式</a:t>
            </a:r>
            <a:endParaRPr lang="zh-CN" altLang="zh-CN" sz="2400" dirty="0">
              <a:solidFill>
                <a:srgbClr val="00B0F0"/>
              </a:solidFill>
              <a:latin typeface="黑体" panose="02010609060101010101" pitchFamily="49" charset="-122"/>
              <a:ea typeface="黑体" panose="02010609060101010101" pitchFamily="49" charset="-122"/>
            </a:endParaRPr>
          </a:p>
        </p:txBody>
      </p:sp>
      <p:pic>
        <p:nvPicPr>
          <p:cNvPr id="19461" name="Picture 7"/>
          <p:cNvPicPr>
            <a:picLocks noChangeAspect="1"/>
          </p:cNvPicPr>
          <p:nvPr/>
        </p:nvPicPr>
        <p:blipFill>
          <a:blip r:embed="rId1"/>
          <a:stretch>
            <a:fillRect/>
          </a:stretch>
        </p:blipFill>
        <p:spPr>
          <a:xfrm>
            <a:off x="1639888" y="3233738"/>
            <a:ext cx="5511800" cy="909637"/>
          </a:xfrm>
          <a:prstGeom prst="rect">
            <a:avLst/>
          </a:prstGeom>
          <a:noFill/>
          <a:ln w="9525">
            <a:noFill/>
          </a:ln>
        </p:spPr>
      </p:pic>
      <p:sp>
        <p:nvSpPr>
          <p:cNvPr id="7"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2.1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的基本语法</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19463"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9" name="内容占位符 2"/>
          <p:cNvSpPr>
            <a:spLocks noGrp="1"/>
          </p:cNvSpPr>
          <p:nvPr>
            <p:ph idx="1"/>
          </p:nvPr>
        </p:nvSpPr>
        <p:spPr>
          <a:xfrm>
            <a:off x="241300" y="1452563"/>
            <a:ext cx="8558213" cy="3689350"/>
          </a:xfrm>
          <a:ln>
            <a:solidFill>
              <a:srgbClr val="009ED6"/>
            </a:solidFill>
          </a:ln>
        </p:spPr>
        <p:txBody>
          <a:bodyPr vert="horz" wrap="square" lIns="91440" tIns="45720" rIns="91440" bIns="45720" numCol="1" rtlCol="0" anchor="t" anchorCtr="0" compatLnSpc="1">
            <a:normAutofit/>
          </a:bodyPr>
          <a:lstStyle/>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在编写</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Java</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代码时，需要特别注意下列几个关键点：</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50000"/>
              </a:lnSpc>
              <a:spcBef>
                <a:spcPts val="500"/>
              </a:spcBef>
              <a:spcAft>
                <a:spcPts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cs"/>
              </a:rPr>
              <a:t>1</a:t>
            </a:r>
            <a:r>
              <a:rPr kumimoji="0" lang="zh-CN" altLang="en-US" sz="18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cs"/>
              </a:rPr>
              <a:t>Java</a:t>
            </a:r>
            <a:r>
              <a:rPr kumimoji="0" lang="zh-CN" altLang="en-US" sz="1800" b="0" i="0" u="none" strike="noStrike" kern="1200" cap="none" spc="0" normalizeH="0" baseline="0" noProof="0" dirty="0">
                <a:ln>
                  <a:noFill/>
                </a:ln>
                <a:solidFill>
                  <a:schemeClr val="tx1"/>
                </a:solidFill>
                <a:effectLst/>
                <a:uLnTx/>
                <a:uFillTx/>
                <a:latin typeface="+mn-lt"/>
                <a:ea typeface="+mn-ea"/>
                <a:cs typeface="+mn-cs"/>
              </a:rPr>
              <a:t>中的程序代码可分为</a:t>
            </a:r>
            <a:r>
              <a:rPr kumimoji="0" lang="zh-CN" altLang="en-US" sz="1800" b="0" i="0" u="none" strike="noStrike" kern="1200" cap="none" spc="0" normalizeH="0" baseline="0" noProof="0" dirty="0">
                <a:ln>
                  <a:noFill/>
                </a:ln>
                <a:solidFill>
                  <a:srgbClr val="009ED6"/>
                </a:solidFill>
                <a:effectLst/>
                <a:uLnTx/>
                <a:uFillTx/>
                <a:latin typeface="+mn-lt"/>
                <a:ea typeface="+mn-ea"/>
                <a:cs typeface="+mn-cs"/>
              </a:rPr>
              <a:t>结构定义语句</a:t>
            </a:r>
            <a:r>
              <a:rPr kumimoji="0" lang="zh-CN" altLang="en-US" sz="1800" b="0" i="0" u="none" strike="noStrike" kern="1200" cap="none" spc="0" normalizeH="0" baseline="0" noProof="0" dirty="0">
                <a:ln>
                  <a:noFill/>
                </a:ln>
                <a:solidFill>
                  <a:schemeClr val="tx1"/>
                </a:solidFill>
                <a:effectLst/>
                <a:uLnTx/>
                <a:uFillTx/>
                <a:latin typeface="+mn-lt"/>
                <a:ea typeface="+mn-ea"/>
                <a:cs typeface="+mn-cs"/>
              </a:rPr>
              <a:t>和</a:t>
            </a:r>
            <a:r>
              <a:rPr kumimoji="0" lang="zh-CN" altLang="en-US" sz="1800" b="0" i="0" u="none" strike="noStrike" kern="1200" cap="none" spc="0" normalizeH="0" baseline="0" noProof="0" dirty="0">
                <a:ln>
                  <a:noFill/>
                </a:ln>
                <a:solidFill>
                  <a:srgbClr val="009ED6"/>
                </a:solidFill>
                <a:effectLst/>
                <a:uLnTx/>
                <a:uFillTx/>
                <a:latin typeface="+mn-lt"/>
                <a:ea typeface="+mn-ea"/>
                <a:cs typeface="+mn-cs"/>
              </a:rPr>
              <a:t>功能执行语句</a:t>
            </a:r>
            <a:r>
              <a:rPr kumimoji="0" lang="zh-CN" altLang="en-US" sz="1800" b="0" i="0" u="none" strike="noStrike" kern="1200" cap="none" spc="0" normalizeH="0" baseline="0" noProof="0" dirty="0">
                <a:ln>
                  <a:noFill/>
                </a:ln>
                <a:solidFill>
                  <a:schemeClr val="tx1"/>
                </a:solidFill>
                <a:effectLst/>
                <a:uLnTx/>
                <a:uFillTx/>
                <a:latin typeface="+mn-lt"/>
                <a:ea typeface="+mn-ea"/>
                <a:cs typeface="+mn-cs"/>
              </a:rPr>
              <a:t>，其中，结构定义语句用于声明一个类或方法，功能执行语句用于实现具体的功能。每条</a:t>
            </a:r>
            <a:r>
              <a:rPr kumimoji="0" lang="zh-CN" altLang="en-US" sz="1800" b="0" i="0" u="none" strike="noStrike" kern="1200" cap="none" spc="0" normalizeH="0" baseline="0" noProof="0" dirty="0">
                <a:ln>
                  <a:noFill/>
                </a:ln>
                <a:solidFill>
                  <a:srgbClr val="009ED6"/>
                </a:solidFill>
                <a:effectLst/>
                <a:uLnTx/>
                <a:uFillTx/>
                <a:latin typeface="+mn-lt"/>
                <a:ea typeface="+mn-ea"/>
                <a:cs typeface="+mn-cs"/>
              </a:rPr>
              <a:t>功能执行语句的最后都必须用分号</a:t>
            </a:r>
            <a:r>
              <a:rPr kumimoji="0" lang="en-US" altLang="zh-CN" sz="1800" b="0" i="0" u="none" strike="noStrike" kern="1200" cap="none" spc="0" normalizeH="0" baseline="0" noProof="0" dirty="0">
                <a:ln>
                  <a:noFill/>
                </a:ln>
                <a:solidFill>
                  <a:srgbClr val="009ED6"/>
                </a:solidFill>
                <a:effectLst/>
                <a:uLnTx/>
                <a:uFillTx/>
                <a:latin typeface="+mn-lt"/>
                <a:ea typeface="+mn-ea"/>
                <a:cs typeface="+mn-cs"/>
              </a:rPr>
              <a:t>(;)</a:t>
            </a:r>
            <a:r>
              <a:rPr kumimoji="0" lang="zh-CN" altLang="en-US" sz="1800" b="0" i="0" u="none" strike="noStrike" kern="1200" cap="none" spc="0" normalizeH="0" baseline="0" noProof="0" dirty="0">
                <a:ln>
                  <a:noFill/>
                </a:ln>
                <a:solidFill>
                  <a:srgbClr val="009ED6"/>
                </a:solidFill>
                <a:effectLst/>
                <a:uLnTx/>
                <a:uFillTx/>
                <a:latin typeface="+mn-lt"/>
                <a:ea typeface="+mn-ea"/>
                <a:cs typeface="+mn-cs"/>
              </a:rPr>
              <a:t>结束</a:t>
            </a:r>
            <a:r>
              <a:rPr kumimoji="0" lang="zh-CN" altLang="en-US" sz="18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1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defRPr/>
            </a:pPr>
            <a:endParaRPr kumimoji="0" lang="en-US" altLang="zh-CN" sz="600" b="0" i="0" u="none" strike="noStrike" kern="1200" cap="none" spc="0" normalizeH="0" baseline="0" noProof="0" dirty="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50000"/>
              </a:lnSpc>
              <a:spcBef>
                <a:spcPts val="500"/>
              </a:spcBef>
              <a:spcAft>
                <a:spcPts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cs"/>
              </a:rPr>
              <a:t>2</a:t>
            </a:r>
            <a:r>
              <a:rPr kumimoji="0" lang="zh-CN" altLang="en-US" sz="18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cs"/>
              </a:rPr>
              <a:t>Java</a:t>
            </a:r>
            <a:r>
              <a:rPr kumimoji="0" lang="zh-CN" altLang="en-US" sz="1800" b="0" i="0" u="none" strike="noStrike" kern="1200" cap="none" spc="0" normalizeH="0" baseline="0" noProof="0" dirty="0">
                <a:ln>
                  <a:noFill/>
                </a:ln>
                <a:solidFill>
                  <a:schemeClr val="tx1"/>
                </a:solidFill>
                <a:effectLst/>
                <a:uLnTx/>
                <a:uFillTx/>
                <a:latin typeface="+mn-lt"/>
                <a:ea typeface="+mn-ea"/>
                <a:cs typeface="+mn-cs"/>
              </a:rPr>
              <a:t>语言</a:t>
            </a:r>
            <a:r>
              <a:rPr kumimoji="0" lang="zh-CN" altLang="en-US" sz="1800" b="0" i="0" u="none" strike="noStrike" kern="1200" cap="none" spc="0" normalizeH="0" baseline="0" noProof="0" dirty="0">
                <a:ln>
                  <a:noFill/>
                </a:ln>
                <a:solidFill>
                  <a:srgbClr val="009ED6"/>
                </a:solidFill>
                <a:effectLst/>
                <a:uLnTx/>
                <a:uFillTx/>
                <a:latin typeface="+mn-lt"/>
                <a:ea typeface="+mn-ea"/>
                <a:cs typeface="+mn-cs"/>
              </a:rPr>
              <a:t>严格区分大小写</a:t>
            </a:r>
            <a:r>
              <a:rPr kumimoji="0" lang="zh-CN" altLang="en-US" sz="1800" b="0" i="0" u="none" strike="noStrike" kern="1200" cap="none" spc="0" normalizeH="0" baseline="0" noProof="0" dirty="0">
                <a:ln>
                  <a:noFill/>
                </a:ln>
                <a:solidFill>
                  <a:schemeClr val="tx1"/>
                </a:solidFill>
                <a:effectLst/>
                <a:uLnTx/>
                <a:uFillTx/>
                <a:latin typeface="+mn-lt"/>
                <a:ea typeface="+mn-ea"/>
                <a:cs typeface="+mn-cs"/>
              </a:rPr>
              <a:t>。例如，定义一个类时，</a:t>
            </a:r>
            <a:r>
              <a:rPr kumimoji="0" lang="en-US" altLang="zh-CN" sz="1800" b="0" i="0" u="none" strike="noStrike" kern="1200" cap="none" spc="0" normalizeH="0" baseline="0" noProof="0" dirty="0">
                <a:ln>
                  <a:noFill/>
                </a:ln>
                <a:solidFill>
                  <a:schemeClr val="tx1"/>
                </a:solidFill>
                <a:effectLst/>
                <a:uLnTx/>
                <a:uFillTx/>
                <a:latin typeface="+mn-lt"/>
                <a:ea typeface="+mn-ea"/>
                <a:cs typeface="+mn-cs"/>
              </a:rPr>
              <a:t>Computer</a:t>
            </a:r>
            <a:r>
              <a:rPr kumimoji="0" lang="zh-CN" altLang="en-US" sz="1800" b="0" i="0" u="none" strike="noStrike" kern="1200" cap="none" spc="0" normalizeH="0" baseline="0" noProof="0" dirty="0">
                <a:ln>
                  <a:noFill/>
                </a:ln>
                <a:solidFill>
                  <a:schemeClr val="tx1"/>
                </a:solidFill>
                <a:effectLst/>
                <a:uLnTx/>
                <a:uFillTx/>
                <a:latin typeface="+mn-lt"/>
                <a:ea typeface="+mn-ea"/>
                <a:cs typeface="+mn-cs"/>
              </a:rPr>
              <a:t>和</a:t>
            </a:r>
            <a:r>
              <a:rPr kumimoji="0" lang="en-US" altLang="zh-CN" sz="1800" b="0" i="0" u="none" strike="noStrike" kern="1200" cap="none" spc="0" normalizeH="0" baseline="0" noProof="0" dirty="0">
                <a:ln>
                  <a:noFill/>
                </a:ln>
                <a:solidFill>
                  <a:schemeClr val="tx1"/>
                </a:solidFill>
                <a:effectLst/>
                <a:uLnTx/>
                <a:uFillTx/>
                <a:latin typeface="+mn-lt"/>
                <a:ea typeface="+mn-ea"/>
                <a:cs typeface="+mn-cs"/>
              </a:rPr>
              <a:t>computer</a:t>
            </a:r>
            <a:r>
              <a:rPr kumimoji="0" lang="zh-CN" altLang="en-US" sz="1800" b="0" i="0" u="none" strike="noStrike" kern="1200" cap="none" spc="0" normalizeH="0" baseline="0" noProof="0" dirty="0">
                <a:ln>
                  <a:noFill/>
                </a:ln>
                <a:solidFill>
                  <a:schemeClr val="tx1"/>
                </a:solidFill>
                <a:effectLst/>
                <a:uLnTx/>
                <a:uFillTx/>
                <a:latin typeface="+mn-lt"/>
                <a:ea typeface="+mn-ea"/>
                <a:cs typeface="+mn-cs"/>
              </a:rPr>
              <a:t>是两个完全不同的符号，在使用时务必注意。</a:t>
            </a:r>
            <a:endParaRPr kumimoji="0" lang="en-US" altLang="zh-CN" sz="18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50000"/>
              </a:lnSpc>
              <a:spcBef>
                <a:spcPts val="1000"/>
              </a:spcBef>
              <a:spcAft>
                <a:spcPts val="0"/>
              </a:spcAft>
              <a:buClrTx/>
              <a:buSzTx/>
              <a:buFontTx/>
              <a:buNone/>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20483" name="Picture 5"/>
          <p:cNvPicPr>
            <a:picLocks noChangeAspect="1"/>
          </p:cNvPicPr>
          <p:nvPr/>
        </p:nvPicPr>
        <p:blipFill>
          <a:blip r:embed="rId1"/>
          <a:stretch>
            <a:fillRect/>
          </a:stretch>
        </p:blipFill>
        <p:spPr>
          <a:xfrm>
            <a:off x="814388" y="3371850"/>
            <a:ext cx="7853362" cy="466725"/>
          </a:xfrm>
          <a:prstGeom prst="rect">
            <a:avLst/>
          </a:prstGeom>
          <a:noFill/>
          <a:ln w="9525">
            <a:noFill/>
          </a:ln>
        </p:spPr>
      </p:pic>
      <p:sp>
        <p:nvSpPr>
          <p:cNvPr id="5"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2.1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的基本语法</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0485"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3" name="内容占位符 2"/>
          <p:cNvSpPr>
            <a:spLocks noGrp="1"/>
          </p:cNvSpPr>
          <p:nvPr>
            <p:ph idx="1"/>
          </p:nvPr>
        </p:nvSpPr>
        <p:spPr>
          <a:xfrm>
            <a:off x="279400" y="1100138"/>
            <a:ext cx="8229600" cy="5059363"/>
          </a:xfrm>
          <a:ln>
            <a:solidFill>
              <a:srgbClr val="009ED6"/>
            </a:solidFill>
            <a:miter lim="800000"/>
          </a:ln>
        </p:spPr>
        <p:txBody>
          <a:bodyPr vert="horz" wrap="square" lIns="91440" tIns="45720" rIns="91440" bIns="45720" numCol="1" rtlCol="0" anchor="t" anchorCtr="0" compatLnSpc="1">
            <a:normAutofit/>
          </a:bodyPr>
          <a:lstStyle/>
          <a:p>
            <a:pPr marL="457200" marR="0" lvl="1" indent="0" algn="l" defTabSz="914400" rtl="0" eaLnBrk="1" fontAlgn="auto" latinLnBrk="0" hangingPunct="1">
              <a:lnSpc>
                <a:spcPct val="150000"/>
              </a:lnSpc>
              <a:spcBef>
                <a:spcPts val="500"/>
              </a:spcBef>
              <a:spcAft>
                <a:spcPts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cs"/>
              </a:rPr>
              <a:t>3</a:t>
            </a:r>
            <a:r>
              <a:rPr kumimoji="0" lang="zh-CN" altLang="en-US" sz="1800" b="0" i="0" u="none" strike="noStrike" kern="1200" cap="none" spc="0" normalizeH="0" baseline="0" noProof="0" dirty="0">
                <a:ln>
                  <a:noFill/>
                </a:ln>
                <a:solidFill>
                  <a:schemeClr val="tx1"/>
                </a:solidFill>
                <a:effectLst/>
                <a:uLnTx/>
                <a:uFillTx/>
                <a:latin typeface="+mn-lt"/>
                <a:ea typeface="+mn-ea"/>
                <a:cs typeface="+mn-cs"/>
              </a:rPr>
              <a:t>）</a:t>
            </a:r>
            <a:r>
              <a:rPr kumimoji="0" lang="zh-CN" altLang="zh-CN" sz="1800" b="0" i="0" u="none" strike="noStrike" kern="1200" cap="none" spc="0" normalizeH="0" baseline="0" noProof="0" dirty="0">
                <a:ln>
                  <a:noFill/>
                </a:ln>
                <a:solidFill>
                  <a:schemeClr val="tx1"/>
                </a:solidFill>
                <a:effectLst/>
                <a:uLnTx/>
                <a:uFillTx/>
                <a:latin typeface="+mn-lt"/>
                <a:ea typeface="+mn-ea"/>
                <a:cs typeface="+mn-cs"/>
              </a:rPr>
              <a:t>虽然</a:t>
            </a:r>
            <a:r>
              <a:rPr kumimoji="0" lang="en-US" altLang="zh-CN" sz="1800" b="0" i="0" u="none" strike="noStrike" kern="1200" cap="none" spc="0" normalizeH="0" baseline="0" noProof="0" dirty="0">
                <a:ln>
                  <a:noFill/>
                </a:ln>
                <a:solidFill>
                  <a:schemeClr val="tx1"/>
                </a:solidFill>
                <a:effectLst/>
                <a:uLnTx/>
                <a:uFillTx/>
                <a:latin typeface="+mn-lt"/>
                <a:ea typeface="+mn-ea"/>
                <a:cs typeface="+mn-cs"/>
              </a:rPr>
              <a:t>Java</a:t>
            </a:r>
            <a:r>
              <a:rPr kumimoji="0" lang="zh-CN" altLang="zh-CN" sz="1800" b="0" i="0" u="none" strike="noStrike" kern="1200" cap="none" spc="0" normalizeH="0" baseline="0" noProof="0" dirty="0">
                <a:ln>
                  <a:noFill/>
                </a:ln>
                <a:solidFill>
                  <a:schemeClr val="tx1"/>
                </a:solidFill>
                <a:effectLst/>
                <a:uLnTx/>
                <a:uFillTx/>
                <a:latin typeface="+mn-lt"/>
                <a:ea typeface="+mn-ea"/>
                <a:cs typeface="+mn-cs"/>
              </a:rPr>
              <a:t>没有严格要求用什么样的格式来编排程序代码，但是，出于可读性的考虑，应该让自己编写的程序代码整齐美观、层次清晰</a:t>
            </a:r>
            <a:r>
              <a:rPr kumimoji="0" lang="zh-CN" altLang="en-US" sz="1800" b="0" i="0" u="none" strike="noStrike" kern="1200" cap="none" spc="0" normalizeH="0" baseline="0" noProof="0" dirty="0">
                <a:ln>
                  <a:noFill/>
                </a:ln>
                <a:solidFill>
                  <a:schemeClr val="tx1"/>
                </a:solidFill>
                <a:effectLst/>
                <a:uLnTx/>
                <a:uFillTx/>
                <a:latin typeface="+mn-lt"/>
                <a:ea typeface="+mn-ea"/>
                <a:cs typeface="+mn-cs"/>
              </a:rPr>
              <a:t>。以下两种方式都可以，但是建议使用后一种。</a:t>
            </a:r>
            <a:endParaRPr kumimoji="0" lang="en-US" altLang="zh-CN" sz="18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cs"/>
              </a:rPr>
              <a:t>方式一</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cs"/>
              </a:rPr>
              <a:t>方式二</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50000"/>
              </a:lnSpc>
              <a:spcBef>
                <a:spcPts val="1000"/>
              </a:spcBef>
              <a:spcAft>
                <a:spcPts val="0"/>
              </a:spcAft>
              <a:buClrTx/>
              <a:buSzTx/>
              <a:buFontTx/>
              <a:buNone/>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21507" name="Picture 6"/>
          <p:cNvPicPr>
            <a:picLocks noChangeAspect="1"/>
          </p:cNvPicPr>
          <p:nvPr/>
        </p:nvPicPr>
        <p:blipFill>
          <a:blip r:embed="rId1"/>
          <a:stretch>
            <a:fillRect/>
          </a:stretch>
        </p:blipFill>
        <p:spPr>
          <a:xfrm>
            <a:off x="1084263" y="3049588"/>
            <a:ext cx="6135687" cy="758825"/>
          </a:xfrm>
          <a:prstGeom prst="rect">
            <a:avLst/>
          </a:prstGeom>
          <a:noFill/>
          <a:ln w="9525">
            <a:noFill/>
          </a:ln>
        </p:spPr>
      </p:pic>
      <p:pic>
        <p:nvPicPr>
          <p:cNvPr id="21508" name="Picture 7"/>
          <p:cNvPicPr>
            <a:picLocks noChangeAspect="1"/>
          </p:cNvPicPr>
          <p:nvPr/>
        </p:nvPicPr>
        <p:blipFill>
          <a:blip r:embed="rId2"/>
          <a:stretch>
            <a:fillRect/>
          </a:stretch>
        </p:blipFill>
        <p:spPr>
          <a:xfrm>
            <a:off x="1084263" y="4518025"/>
            <a:ext cx="6432550" cy="1298575"/>
          </a:xfrm>
          <a:prstGeom prst="rect">
            <a:avLst/>
          </a:prstGeom>
          <a:noFill/>
          <a:ln w="9525">
            <a:noFill/>
          </a:ln>
        </p:spPr>
      </p:pic>
      <p:sp>
        <p:nvSpPr>
          <p:cNvPr id="6"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2.1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的基本语法</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1510"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内容占位符 2"/>
          <p:cNvSpPr>
            <a:spLocks noGrp="1"/>
          </p:cNvSpPr>
          <p:nvPr>
            <p:ph idx="1"/>
          </p:nvPr>
        </p:nvSpPr>
        <p:spPr>
          <a:xfrm>
            <a:off x="457200" y="1411288"/>
            <a:ext cx="8229600" cy="4351338"/>
          </a:xfrm>
          <a:ln>
            <a:solidFill>
              <a:srgbClr val="009ED6"/>
            </a:solidFill>
            <a:miter lim="800000"/>
          </a:ln>
        </p:spPr>
        <p:txBody>
          <a:bodyPr vert="horz" wrap="square" lIns="91440" tIns="45720" rIns="91440" bIns="45720" numCol="1" rtlCol="0" anchor="t" anchorCtr="0" compatLnSpc="1">
            <a:normAutofit/>
          </a:bodyPr>
          <a:lstStyle/>
          <a:p>
            <a:pPr marL="457200" marR="0" lvl="1" indent="0" algn="l" defTabSz="914400" rtl="0" eaLnBrk="1" fontAlgn="auto" latinLnBrk="0" hangingPunct="1">
              <a:lnSpc>
                <a:spcPct val="150000"/>
              </a:lnSpc>
              <a:spcBef>
                <a:spcPts val="500"/>
              </a:spcBef>
              <a:spcAft>
                <a:spcPts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cs"/>
              </a:rPr>
              <a:t>4</a:t>
            </a:r>
            <a:r>
              <a:rPr kumimoji="0" lang="zh-CN" altLang="en-US" sz="18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1800" b="0" i="0" u="none" strike="noStrike" kern="1200" cap="none" spc="0" normalizeH="0" baseline="0" noProof="0" dirty="0">
                <a:ln>
                  <a:noFill/>
                </a:ln>
                <a:solidFill>
                  <a:schemeClr val="tx1"/>
                </a:solidFill>
                <a:effectLst/>
                <a:uLnTx/>
                <a:uFillTx/>
                <a:latin typeface="+mn-lt"/>
                <a:ea typeface="+mn-ea"/>
                <a:cs typeface="+mn-cs"/>
              </a:rPr>
              <a:t>Java</a:t>
            </a:r>
            <a:r>
              <a:rPr kumimoji="0" lang="zh-CN" altLang="zh-CN" sz="1800" b="0" i="0" u="none" strike="noStrike" kern="1200" cap="none" spc="0" normalizeH="0" baseline="0" noProof="0" dirty="0">
                <a:ln>
                  <a:noFill/>
                </a:ln>
                <a:solidFill>
                  <a:schemeClr val="tx1"/>
                </a:solidFill>
                <a:effectLst/>
                <a:uLnTx/>
                <a:uFillTx/>
                <a:latin typeface="+mn-lt"/>
                <a:ea typeface="+mn-ea"/>
                <a:cs typeface="+mn-cs"/>
              </a:rPr>
              <a:t>程序中一句连续的字符串不能分开在两行中书写，例如，下面这条语句在编译时将会出错：</a:t>
            </a:r>
            <a:endParaRPr kumimoji="0" lang="en-US" altLang="zh-CN" sz="1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50000"/>
              </a:lnSpc>
              <a:spcBef>
                <a:spcPts val="1000"/>
              </a:spcBef>
              <a:spcAft>
                <a:spcPts val="0"/>
              </a:spcAft>
              <a:buClrTx/>
              <a:buSzTx/>
              <a:buFontTx/>
              <a:buNone/>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50000"/>
              </a:lnSpc>
              <a:spcBef>
                <a:spcPts val="500"/>
              </a:spcBef>
              <a:spcAft>
                <a:spcPts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cs"/>
              </a:rPr>
              <a:t>如果</a:t>
            </a:r>
            <a:r>
              <a:rPr kumimoji="0" lang="zh-CN" altLang="zh-CN" sz="1800" b="0" i="0" u="none" strike="noStrike" kern="1200" cap="none" spc="0" normalizeH="0" baseline="0" noProof="0" dirty="0">
                <a:ln>
                  <a:noFill/>
                </a:ln>
                <a:solidFill>
                  <a:schemeClr val="tx1"/>
                </a:solidFill>
                <a:effectLst/>
                <a:uLnTx/>
                <a:uFillTx/>
                <a:latin typeface="+mn-lt"/>
                <a:ea typeface="+mn-ea"/>
                <a:cs typeface="+mn-cs"/>
              </a:rPr>
              <a:t>为了便于阅读，想将一个太长的字符串分在两行中书写，可以先将这个字符串分成两个字符串，然后用加号（</a:t>
            </a:r>
            <a:r>
              <a:rPr kumimoji="0" lang="en-US" altLang="zh-CN" sz="1800" b="0" i="0" u="none" strike="noStrike" kern="1200" cap="none" spc="0" normalizeH="0" baseline="0" noProof="0" dirty="0">
                <a:ln>
                  <a:noFill/>
                </a:ln>
                <a:solidFill>
                  <a:schemeClr val="tx1"/>
                </a:solidFill>
                <a:effectLst/>
                <a:uLnTx/>
                <a:uFillTx/>
                <a:latin typeface="+mn-lt"/>
                <a:ea typeface="+mn-ea"/>
                <a:cs typeface="+mn-cs"/>
              </a:rPr>
              <a:t>+</a:t>
            </a:r>
            <a:r>
              <a:rPr kumimoji="0" lang="zh-CN" altLang="zh-CN" sz="1800" b="0" i="0" u="none" strike="noStrike" kern="1200" cap="none" spc="0" normalizeH="0" baseline="0" noProof="0" dirty="0">
                <a:ln>
                  <a:noFill/>
                </a:ln>
                <a:solidFill>
                  <a:schemeClr val="tx1"/>
                </a:solidFill>
                <a:effectLst/>
                <a:uLnTx/>
                <a:uFillTx/>
                <a:latin typeface="+mn-lt"/>
                <a:ea typeface="+mn-ea"/>
                <a:cs typeface="+mn-cs"/>
              </a:rPr>
              <a:t>）将这两个字符串连起来，在加号（</a:t>
            </a:r>
            <a:r>
              <a:rPr kumimoji="0" lang="en-US" altLang="zh-CN" sz="1800" b="0" i="0" u="none" strike="noStrike" kern="1200" cap="none" spc="0" normalizeH="0" baseline="0" noProof="0" dirty="0">
                <a:ln>
                  <a:noFill/>
                </a:ln>
                <a:solidFill>
                  <a:schemeClr val="tx1"/>
                </a:solidFill>
                <a:effectLst/>
                <a:uLnTx/>
                <a:uFillTx/>
                <a:latin typeface="+mn-lt"/>
                <a:ea typeface="+mn-ea"/>
                <a:cs typeface="+mn-cs"/>
              </a:rPr>
              <a:t>+</a:t>
            </a:r>
            <a:r>
              <a:rPr kumimoji="0" lang="zh-CN" altLang="zh-CN" sz="1800" b="0" i="0" u="none" strike="noStrike" kern="1200" cap="none" spc="0" normalizeH="0" baseline="0" noProof="0" dirty="0">
                <a:ln>
                  <a:noFill/>
                </a:ln>
                <a:solidFill>
                  <a:schemeClr val="tx1"/>
                </a:solidFill>
                <a:effectLst/>
                <a:uLnTx/>
                <a:uFillTx/>
                <a:latin typeface="+mn-lt"/>
                <a:ea typeface="+mn-ea"/>
                <a:cs typeface="+mn-cs"/>
              </a:rPr>
              <a:t>）处断行，上面的语句可以修改成如下形式：</a:t>
            </a:r>
            <a:endParaRPr kumimoji="0" lang="zh-CN" altLang="zh-CN" sz="18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p:txBody>
      </p:sp>
      <p:pic>
        <p:nvPicPr>
          <p:cNvPr id="22531" name="Picture 6"/>
          <p:cNvPicPr>
            <a:picLocks noChangeAspect="1"/>
          </p:cNvPicPr>
          <p:nvPr/>
        </p:nvPicPr>
        <p:blipFill>
          <a:blip r:embed="rId1"/>
          <a:stretch>
            <a:fillRect/>
          </a:stretch>
        </p:blipFill>
        <p:spPr>
          <a:xfrm>
            <a:off x="1468438" y="2470150"/>
            <a:ext cx="5580062" cy="574675"/>
          </a:xfrm>
          <a:prstGeom prst="rect">
            <a:avLst/>
          </a:prstGeom>
          <a:noFill/>
          <a:ln w="9525">
            <a:noFill/>
          </a:ln>
        </p:spPr>
      </p:pic>
      <p:pic>
        <p:nvPicPr>
          <p:cNvPr id="22532" name="Picture 7"/>
          <p:cNvPicPr>
            <a:picLocks noChangeAspect="1"/>
          </p:cNvPicPr>
          <p:nvPr/>
        </p:nvPicPr>
        <p:blipFill>
          <a:blip r:embed="rId2"/>
          <a:stretch>
            <a:fillRect/>
          </a:stretch>
        </p:blipFill>
        <p:spPr>
          <a:xfrm>
            <a:off x="1544638" y="4835525"/>
            <a:ext cx="5808662" cy="625475"/>
          </a:xfrm>
          <a:prstGeom prst="rect">
            <a:avLst/>
          </a:prstGeom>
          <a:noFill/>
          <a:ln w="9525">
            <a:noFill/>
          </a:ln>
        </p:spPr>
      </p:pic>
      <p:sp>
        <p:nvSpPr>
          <p:cNvPr id="6"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2.1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的基本语法</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2534"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内容占位符 2"/>
          <p:cNvSpPr>
            <a:spLocks noGrp="1"/>
          </p:cNvSpPr>
          <p:nvPr>
            <p:ph idx="1"/>
          </p:nvPr>
        </p:nvSpPr>
        <p:spPr>
          <a:xfrm>
            <a:off x="457200" y="1976438"/>
            <a:ext cx="8229600" cy="2543175"/>
          </a:xfrm>
          <a:ln>
            <a:solidFill>
              <a:srgbClr val="009ED6">
                <a:alpha val="100000"/>
              </a:srgbClr>
            </a:solidFill>
            <a:miter lim="800000"/>
          </a:ln>
        </p:spPr>
        <p:txBody>
          <a:bodyPr vert="horz" wrap="square" lIns="91440" tIns="45720" rIns="91440" bIns="45720" anchor="t" anchorCtr="0"/>
          <a:p>
            <a:pPr lvl="1" eaLnBrk="1" hangingPunct="1">
              <a:buFont typeface="Wingdings" panose="05000000000000000000" pitchFamily="2" charset="2"/>
              <a:buChar char="Ø"/>
            </a:pPr>
            <a:r>
              <a:rPr lang="zh-CN" altLang="en-US" kern="1200" dirty="0">
                <a:latin typeface="+mn-lt"/>
                <a:ea typeface="+mn-ea"/>
                <a:cs typeface="等线" panose="02010600030101010101" charset="-122"/>
              </a:rPr>
              <a:t>在编写程序时，为了使代码易于阅读，通常会在实现功能的同时为代码加一些注释。</a:t>
            </a:r>
            <a:endParaRPr lang="en-US" altLang="zh-CN" kern="1200" dirty="0">
              <a:latin typeface="+mn-lt"/>
              <a:ea typeface="+mn-ea"/>
              <a:cs typeface="等线" panose="02010600030101010101" charset="-122"/>
            </a:endParaRPr>
          </a:p>
          <a:p>
            <a:pPr lvl="1" eaLnBrk="1" hangingPunct="1">
              <a:buFont typeface="Wingdings" panose="05000000000000000000" pitchFamily="2" charset="2"/>
              <a:buChar char="Ø"/>
            </a:pPr>
            <a:r>
              <a:rPr lang="zh-CN" altLang="en-US" kern="1200" dirty="0">
                <a:latin typeface="+mn-lt"/>
                <a:ea typeface="+mn-ea"/>
                <a:cs typeface="等线" panose="02010600030101010101" charset="-122"/>
              </a:rPr>
              <a:t>注释是对程序的某个功能或者某行代码的解释说明，它只在</a:t>
            </a:r>
            <a:r>
              <a:rPr lang="en-US" altLang="zh-CN" kern="1200" dirty="0">
                <a:latin typeface="+mn-lt"/>
                <a:ea typeface="+mn-ea"/>
                <a:cs typeface="等线" panose="02010600030101010101" charset="-122"/>
              </a:rPr>
              <a:t>Java</a:t>
            </a:r>
            <a:r>
              <a:rPr lang="zh-CN" altLang="en-US" kern="1200" dirty="0">
                <a:latin typeface="+mn-lt"/>
                <a:ea typeface="+mn-ea"/>
                <a:cs typeface="等线" panose="02010600030101010101" charset="-122"/>
              </a:rPr>
              <a:t>源文件中有效，在编译程序时编译器会忽略这些注释信息，不会将其编译到</a:t>
            </a:r>
            <a:r>
              <a:rPr lang="en-US" altLang="zh-CN" kern="1200" dirty="0">
                <a:latin typeface="+mn-lt"/>
                <a:ea typeface="+mn-ea"/>
                <a:cs typeface="等线" panose="02010600030101010101" charset="-122"/>
              </a:rPr>
              <a:t>class</a:t>
            </a:r>
            <a:r>
              <a:rPr lang="zh-CN" altLang="en-US" kern="1200" dirty="0">
                <a:latin typeface="+mn-lt"/>
                <a:ea typeface="+mn-ea"/>
                <a:cs typeface="等线" panose="02010600030101010101" charset="-122"/>
              </a:rPr>
              <a:t>字节码文件中去。</a:t>
            </a:r>
            <a:endParaRPr lang="en-US" altLang="zh-CN" kern="1200" dirty="0">
              <a:latin typeface="+mn-lt"/>
              <a:ea typeface="+mn-ea"/>
              <a:cs typeface="等线" panose="02010600030101010101" charset="-122"/>
            </a:endParaRPr>
          </a:p>
        </p:txBody>
      </p:sp>
      <p:sp>
        <p:nvSpPr>
          <p:cNvPr id="4" name="剪去对角的矩形 3"/>
          <p:cNvSpPr/>
          <p:nvPr/>
        </p:nvSpPr>
        <p:spPr bwMode="auto">
          <a:xfrm>
            <a:off x="5016500" y="1084263"/>
            <a:ext cx="3454400"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3556" name="矩形 7"/>
          <p:cNvSpPr/>
          <p:nvPr/>
        </p:nvSpPr>
        <p:spPr>
          <a:xfrm>
            <a:off x="5710238" y="1071563"/>
            <a:ext cx="2700337" cy="51752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35000"/>
              </a:lnSpc>
              <a:spcBef>
                <a:spcPct val="0"/>
              </a:spcBef>
              <a:buNone/>
            </a:pPr>
            <a:r>
              <a:rPr lang="en-US" altLang="zh-CN" sz="2400" dirty="0">
                <a:solidFill>
                  <a:srgbClr val="00B0F0"/>
                </a:solidFill>
                <a:latin typeface="黑体" panose="02010609060101010101" pitchFamily="49" charset="-122"/>
                <a:ea typeface="黑体" panose="02010609060101010101" pitchFamily="49" charset="-122"/>
              </a:rPr>
              <a:t>Java</a:t>
            </a:r>
            <a:r>
              <a:rPr lang="zh-CN" altLang="en-US" sz="2400" dirty="0">
                <a:solidFill>
                  <a:srgbClr val="00B0F0"/>
                </a:solidFill>
                <a:latin typeface="黑体" panose="02010609060101010101" pitchFamily="49" charset="-122"/>
                <a:ea typeface="黑体" panose="02010609060101010101" pitchFamily="49" charset="-122"/>
              </a:rPr>
              <a:t>中的注释</a:t>
            </a:r>
            <a:endParaRPr lang="zh-CN" altLang="zh-CN" sz="2400" dirty="0">
              <a:solidFill>
                <a:srgbClr val="00B0F0"/>
              </a:solidFill>
              <a:latin typeface="黑体" panose="02010609060101010101" pitchFamily="49" charset="-122"/>
              <a:ea typeface="黑体" panose="02010609060101010101" pitchFamily="49" charset="-122"/>
            </a:endParaRPr>
          </a:p>
        </p:txBody>
      </p:sp>
      <p:sp>
        <p:nvSpPr>
          <p:cNvPr id="6"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2.1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的基本语法</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3558"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内容占位符 2"/>
          <p:cNvSpPr>
            <a:spLocks noGrp="1"/>
          </p:cNvSpPr>
          <p:nvPr>
            <p:ph idx="1"/>
          </p:nvPr>
        </p:nvSpPr>
        <p:spPr>
          <a:xfrm>
            <a:off x="457200" y="1152525"/>
            <a:ext cx="8229600" cy="4573588"/>
          </a:xfrm>
          <a:ln>
            <a:solidFill>
              <a:srgbClr val="009ED6">
                <a:alpha val="100000"/>
              </a:srgbClr>
            </a:solidFill>
            <a:miter lim="800000"/>
          </a:ln>
        </p:spPr>
        <p:txBody>
          <a:bodyPr vert="horz" wrap="square" lIns="91440" tIns="45720" rIns="91440" bIns="45720" anchor="t" anchorCtr="0"/>
          <a:p>
            <a:pPr lvl="1" eaLnBrk="1" hangingPunct="1">
              <a:buFont typeface="Wingdings" panose="05000000000000000000" pitchFamily="2" charset="2"/>
              <a:buChar char="Ø"/>
            </a:pPr>
            <a:r>
              <a:rPr lang="en-US" altLang="zh-CN" kern="1200" dirty="0">
                <a:latin typeface="+mn-lt"/>
                <a:ea typeface="+mn-ea"/>
                <a:cs typeface="等线" panose="02010600030101010101" charset="-122"/>
              </a:rPr>
              <a:t>Java</a:t>
            </a:r>
            <a:r>
              <a:rPr lang="zh-CN" altLang="zh-CN" kern="1200" dirty="0">
                <a:latin typeface="+mn-lt"/>
                <a:ea typeface="+mn-ea"/>
                <a:cs typeface="等线" panose="02010600030101010101" charset="-122"/>
              </a:rPr>
              <a:t>中的注释有三种类型，具体如下：</a:t>
            </a:r>
            <a:endParaRPr lang="en-US" altLang="zh-CN" kern="1200" dirty="0">
              <a:latin typeface="+mn-lt"/>
              <a:ea typeface="+mn-ea"/>
              <a:cs typeface="等线" panose="02010600030101010101" charset="-122"/>
            </a:endParaRPr>
          </a:p>
          <a:p>
            <a:pPr lvl="1" eaLnBrk="1" hangingPunct="1"/>
            <a:r>
              <a:rPr lang="zh-CN" altLang="zh-CN" sz="1800" b="1" kern="1200" dirty="0">
                <a:solidFill>
                  <a:srgbClr val="FF0000"/>
                </a:solidFill>
                <a:latin typeface="+mn-lt"/>
                <a:ea typeface="+mn-ea"/>
                <a:cs typeface="等线" panose="02010600030101010101" charset="-122"/>
              </a:rPr>
              <a:t>单行注释</a:t>
            </a:r>
            <a:r>
              <a:rPr lang="zh-CN" altLang="en-US" sz="1800" kern="1200" dirty="0">
                <a:latin typeface="+mn-lt"/>
                <a:ea typeface="+mn-ea"/>
                <a:cs typeface="等线" panose="02010600030101010101" charset="-122"/>
              </a:rPr>
              <a:t>：通</a:t>
            </a:r>
            <a:r>
              <a:rPr lang="zh-CN" altLang="zh-CN" sz="1800" kern="1200" dirty="0">
                <a:latin typeface="+mn-lt"/>
                <a:ea typeface="+mn-ea"/>
                <a:cs typeface="等线" panose="02010600030101010101" charset="-122"/>
              </a:rPr>
              <a:t>常用于对程序中的某一行代码进行解释，用符号“</a:t>
            </a:r>
            <a:r>
              <a:rPr lang="en-US" altLang="zh-CN" sz="1800" kern="1200" dirty="0">
                <a:latin typeface="+mn-lt"/>
                <a:ea typeface="+mn-ea"/>
                <a:cs typeface="等线" panose="02010600030101010101" charset="-122"/>
              </a:rPr>
              <a:t>//</a:t>
            </a:r>
            <a:r>
              <a:rPr lang="zh-CN" altLang="zh-CN" sz="1800" kern="1200" dirty="0">
                <a:latin typeface="+mn-lt"/>
                <a:ea typeface="+mn-ea"/>
                <a:cs typeface="等线" panose="02010600030101010101" charset="-122"/>
              </a:rPr>
              <a:t>”表示，“</a:t>
            </a:r>
            <a:r>
              <a:rPr lang="en-US" altLang="zh-CN" sz="1800" kern="1200" dirty="0">
                <a:latin typeface="+mn-lt"/>
                <a:ea typeface="+mn-ea"/>
                <a:cs typeface="等线" panose="02010600030101010101" charset="-122"/>
              </a:rPr>
              <a:t>//</a:t>
            </a:r>
            <a:r>
              <a:rPr lang="zh-CN" altLang="zh-CN" sz="1800" kern="1200" dirty="0">
                <a:latin typeface="+mn-lt"/>
                <a:ea typeface="+mn-ea"/>
                <a:cs typeface="等线" panose="02010600030101010101" charset="-122"/>
              </a:rPr>
              <a:t>”后面为被注释的内容，具体示例如下：</a:t>
            </a:r>
            <a:endParaRPr lang="zh-CN" altLang="zh-CN" sz="1800" kern="1200" dirty="0">
              <a:latin typeface="+mn-lt"/>
              <a:ea typeface="+mn-ea"/>
              <a:cs typeface="等线" panose="02010600030101010101" charset="-122"/>
            </a:endParaRPr>
          </a:p>
          <a:p>
            <a:pPr lvl="1" eaLnBrk="1" hangingPunct="1"/>
            <a:endParaRPr lang="en-US" altLang="zh-CN" kern="1200" dirty="0">
              <a:latin typeface="+mn-lt"/>
              <a:ea typeface="+mn-ea"/>
              <a:cs typeface="等线" panose="02010600030101010101" charset="-122"/>
            </a:endParaRPr>
          </a:p>
          <a:p>
            <a:pPr lvl="1" eaLnBrk="1" hangingPunct="1"/>
            <a:r>
              <a:rPr lang="zh-CN" altLang="zh-CN" sz="1800" b="1" kern="1200" dirty="0">
                <a:solidFill>
                  <a:srgbClr val="FF0000"/>
                </a:solidFill>
                <a:latin typeface="+mn-lt"/>
                <a:ea typeface="+mn-ea"/>
                <a:cs typeface="等线" panose="02010600030101010101" charset="-122"/>
              </a:rPr>
              <a:t>多行注释</a:t>
            </a:r>
            <a:r>
              <a:rPr lang="zh-CN" altLang="en-US" sz="1800" kern="1200" dirty="0">
                <a:latin typeface="+mn-lt"/>
                <a:ea typeface="+mn-ea"/>
                <a:cs typeface="等线" panose="02010600030101010101" charset="-122"/>
              </a:rPr>
              <a:t>：</a:t>
            </a:r>
            <a:r>
              <a:rPr lang="zh-CN" altLang="zh-CN" sz="1800" kern="1200" dirty="0">
                <a:latin typeface="+mn-lt"/>
                <a:ea typeface="+mn-ea"/>
                <a:cs typeface="等线" panose="02010600030101010101" charset="-122"/>
              </a:rPr>
              <a:t>顾名思义就是在注释中的内容可以为多行，它以符号“</a:t>
            </a:r>
            <a:r>
              <a:rPr lang="en-US" altLang="zh-CN" sz="1800" kern="1200" dirty="0">
                <a:latin typeface="+mn-lt"/>
                <a:ea typeface="+mn-ea"/>
                <a:cs typeface="等线" panose="02010600030101010101" charset="-122"/>
              </a:rPr>
              <a:t>/*</a:t>
            </a:r>
            <a:r>
              <a:rPr lang="zh-CN" altLang="zh-CN" sz="1800" kern="1200" dirty="0">
                <a:latin typeface="+mn-lt"/>
                <a:ea typeface="+mn-ea"/>
                <a:cs typeface="等线" panose="02010600030101010101" charset="-122"/>
              </a:rPr>
              <a:t>”开头，以符号“</a:t>
            </a:r>
            <a:r>
              <a:rPr lang="en-US" altLang="zh-CN" sz="1800" kern="1200" dirty="0">
                <a:latin typeface="+mn-lt"/>
                <a:ea typeface="+mn-ea"/>
                <a:cs typeface="等线" panose="02010600030101010101" charset="-122"/>
              </a:rPr>
              <a:t>*/</a:t>
            </a:r>
            <a:r>
              <a:rPr lang="zh-CN" altLang="zh-CN" sz="1800" kern="1200" dirty="0">
                <a:latin typeface="+mn-lt"/>
                <a:ea typeface="+mn-ea"/>
                <a:cs typeface="等线" panose="02010600030101010101" charset="-122"/>
              </a:rPr>
              <a:t>”结尾，多行注释具体示例如下：</a:t>
            </a:r>
            <a:endParaRPr lang="en-US" altLang="zh-CN" sz="1800" kern="1200" dirty="0">
              <a:latin typeface="+mn-lt"/>
              <a:ea typeface="+mn-ea"/>
              <a:cs typeface="等线" panose="02010600030101010101" charset="-122"/>
            </a:endParaRPr>
          </a:p>
          <a:p>
            <a:pPr lvl="2" eaLnBrk="1" hangingPunct="1"/>
            <a:endParaRPr lang="en-US" altLang="zh-CN" kern="1200" dirty="0">
              <a:latin typeface="+mn-lt"/>
              <a:ea typeface="+mn-ea"/>
              <a:cs typeface="等线" panose="02010600030101010101" charset="-122"/>
            </a:endParaRPr>
          </a:p>
          <a:p>
            <a:pPr lvl="2" eaLnBrk="1" hangingPunct="1"/>
            <a:endParaRPr lang="en-US" altLang="zh-CN" kern="1200" dirty="0">
              <a:latin typeface="+mn-lt"/>
              <a:ea typeface="+mn-ea"/>
              <a:cs typeface="等线" panose="02010600030101010101" charset="-122"/>
            </a:endParaRPr>
          </a:p>
          <a:p>
            <a:pPr lvl="1" eaLnBrk="1" hangingPunct="1"/>
            <a:r>
              <a:rPr lang="zh-CN" altLang="zh-CN" sz="1800" b="1" kern="1200" dirty="0">
                <a:solidFill>
                  <a:srgbClr val="FF0000"/>
                </a:solidFill>
                <a:latin typeface="+mn-lt"/>
                <a:ea typeface="+mn-ea"/>
                <a:cs typeface="等线" panose="02010600030101010101" charset="-122"/>
              </a:rPr>
              <a:t>文档注释</a:t>
            </a:r>
            <a:r>
              <a:rPr lang="zh-CN" altLang="en-US" sz="1800" kern="1200" dirty="0">
                <a:latin typeface="+mn-lt"/>
                <a:ea typeface="+mn-ea"/>
                <a:cs typeface="等线" panose="02010600030101010101" charset="-122"/>
              </a:rPr>
              <a:t>：</a:t>
            </a:r>
            <a:r>
              <a:rPr lang="zh-CN" altLang="zh-CN" sz="1800" kern="1200" dirty="0">
                <a:latin typeface="+mn-lt"/>
                <a:ea typeface="+mn-ea"/>
                <a:cs typeface="等线" panose="02010600030101010101" charset="-122"/>
              </a:rPr>
              <a:t>以“</a:t>
            </a:r>
            <a:r>
              <a:rPr lang="en-US" altLang="zh-CN" sz="1800" kern="1200" dirty="0">
                <a:latin typeface="+mn-lt"/>
                <a:ea typeface="+mn-ea"/>
                <a:cs typeface="等线" panose="02010600030101010101" charset="-122"/>
              </a:rPr>
              <a:t>/**</a:t>
            </a:r>
            <a:r>
              <a:rPr lang="zh-CN" altLang="zh-CN" sz="1800" kern="1200" dirty="0">
                <a:latin typeface="+mn-lt"/>
                <a:ea typeface="+mn-ea"/>
                <a:cs typeface="等线" panose="02010600030101010101" charset="-122"/>
              </a:rPr>
              <a:t>”开头，并在注释内容末尾以“</a:t>
            </a:r>
            <a:r>
              <a:rPr lang="en-US" altLang="zh-CN" sz="1800" kern="1200" dirty="0">
                <a:latin typeface="+mn-lt"/>
                <a:ea typeface="+mn-ea"/>
                <a:cs typeface="等线" panose="02010600030101010101" charset="-122"/>
              </a:rPr>
              <a:t>*/</a:t>
            </a:r>
            <a:r>
              <a:rPr lang="zh-CN" altLang="zh-CN" sz="1800" kern="1200" dirty="0">
                <a:latin typeface="+mn-lt"/>
                <a:ea typeface="+mn-ea"/>
                <a:cs typeface="等线" panose="02010600030101010101" charset="-122"/>
              </a:rPr>
              <a:t>”结束。</a:t>
            </a:r>
            <a:endParaRPr lang="en-US" altLang="zh-CN" sz="1800" kern="1200" dirty="0">
              <a:latin typeface="+mn-lt"/>
              <a:ea typeface="+mn-ea"/>
              <a:cs typeface="等线" panose="02010600030101010101" charset="-122"/>
            </a:endParaRPr>
          </a:p>
        </p:txBody>
      </p:sp>
      <p:pic>
        <p:nvPicPr>
          <p:cNvPr id="24579" name="Picture 9"/>
          <p:cNvPicPr>
            <a:picLocks noChangeAspect="1"/>
          </p:cNvPicPr>
          <p:nvPr/>
        </p:nvPicPr>
        <p:blipFill>
          <a:blip r:embed="rId1"/>
          <a:stretch>
            <a:fillRect/>
          </a:stretch>
        </p:blipFill>
        <p:spPr>
          <a:xfrm>
            <a:off x="1308100" y="3995738"/>
            <a:ext cx="6913563" cy="920750"/>
          </a:xfrm>
          <a:prstGeom prst="rect">
            <a:avLst/>
          </a:prstGeom>
          <a:noFill/>
          <a:ln w="9525">
            <a:noFill/>
          </a:ln>
        </p:spPr>
      </p:pic>
      <p:pic>
        <p:nvPicPr>
          <p:cNvPr id="24580" name="Picture 6"/>
          <p:cNvPicPr>
            <a:picLocks noChangeAspect="1"/>
          </p:cNvPicPr>
          <p:nvPr/>
        </p:nvPicPr>
        <p:blipFill>
          <a:blip r:embed="rId2"/>
          <a:stretch>
            <a:fillRect/>
          </a:stretch>
        </p:blipFill>
        <p:spPr>
          <a:xfrm>
            <a:off x="1308100" y="2708275"/>
            <a:ext cx="5389563" cy="311150"/>
          </a:xfrm>
          <a:prstGeom prst="rect">
            <a:avLst/>
          </a:prstGeom>
          <a:noFill/>
          <a:ln w="9525">
            <a:noFill/>
          </a:ln>
        </p:spPr>
      </p:pic>
      <p:sp>
        <p:nvSpPr>
          <p:cNvPr id="6"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2.1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的基本语法</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4582"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内容占位符 2"/>
          <p:cNvSpPr>
            <a:spLocks noGrp="1"/>
          </p:cNvSpPr>
          <p:nvPr>
            <p:ph idx="1"/>
          </p:nvPr>
        </p:nvSpPr>
        <p:spPr>
          <a:xfrm>
            <a:off x="457200" y="1851025"/>
            <a:ext cx="8229600" cy="3238500"/>
          </a:xfrm>
          <a:ln>
            <a:solidFill>
              <a:srgbClr val="009ED6">
                <a:alpha val="100000"/>
              </a:srgbClr>
            </a:solidFill>
            <a:miter lim="800000"/>
          </a:ln>
        </p:spPr>
        <p:txBody>
          <a:bodyPr vert="horz" wrap="square" lIns="91440" tIns="45720" rIns="91440" bIns="45720" anchor="t" anchorCtr="0"/>
          <a:p>
            <a:pPr lvl="1" eaLnBrk="1" hangingPunct="1">
              <a:buFont typeface="Wingdings" panose="05000000000000000000" pitchFamily="2" charset="2"/>
              <a:buChar char="Ø"/>
            </a:pPr>
            <a:r>
              <a:rPr lang="zh-CN" altLang="zh-CN" kern="1200" dirty="0">
                <a:latin typeface="+mn-lt"/>
                <a:ea typeface="+mn-ea"/>
                <a:cs typeface="等线" panose="02010600030101010101" charset="-122"/>
              </a:rPr>
              <a:t>在编程过程中，经常需要在程序中定义一些符号来标记一些名称，如，包名、类名、方法名、参数名、变量名等，这些符号被称为标识符。</a:t>
            </a:r>
            <a:endParaRPr lang="en-US" altLang="zh-CN" kern="1200" dirty="0">
              <a:latin typeface="+mn-lt"/>
              <a:ea typeface="+mn-ea"/>
              <a:cs typeface="等线" panose="02010600030101010101" charset="-122"/>
            </a:endParaRPr>
          </a:p>
          <a:p>
            <a:pPr lvl="1" eaLnBrk="1" hangingPunct="1">
              <a:buFont typeface="Wingdings" panose="05000000000000000000" pitchFamily="2" charset="2"/>
              <a:buChar char="Ø"/>
            </a:pPr>
            <a:r>
              <a:rPr lang="zh-CN" altLang="zh-CN" kern="1200" dirty="0">
                <a:latin typeface="+mn-lt"/>
                <a:ea typeface="+mn-ea"/>
                <a:cs typeface="等线" panose="02010600030101010101" charset="-122"/>
              </a:rPr>
              <a:t>标识符可以由任意顺序的大小写字母、数字、下划线（</a:t>
            </a:r>
            <a:r>
              <a:rPr lang="en-US" altLang="zh-CN" kern="1200" dirty="0">
                <a:latin typeface="+mn-lt"/>
                <a:ea typeface="+mn-ea"/>
                <a:cs typeface="等线" panose="02010600030101010101" charset="-122"/>
              </a:rPr>
              <a:t>_</a:t>
            </a:r>
            <a:r>
              <a:rPr lang="zh-CN" altLang="zh-CN" kern="1200" dirty="0">
                <a:latin typeface="+mn-lt"/>
                <a:ea typeface="+mn-ea"/>
                <a:cs typeface="等线" panose="02010600030101010101" charset="-122"/>
              </a:rPr>
              <a:t>）和美元符号（</a:t>
            </a:r>
            <a:r>
              <a:rPr lang="en-US" altLang="zh-CN" kern="1200" dirty="0">
                <a:latin typeface="+mn-lt"/>
                <a:ea typeface="+mn-ea"/>
                <a:cs typeface="等线" panose="02010600030101010101" charset="-122"/>
              </a:rPr>
              <a:t>$</a:t>
            </a:r>
            <a:r>
              <a:rPr lang="zh-CN" altLang="zh-CN" kern="1200" dirty="0">
                <a:latin typeface="+mn-lt"/>
                <a:ea typeface="+mn-ea"/>
                <a:cs typeface="等线" panose="02010600030101010101" charset="-122"/>
              </a:rPr>
              <a:t>）组成，但</a:t>
            </a:r>
            <a:r>
              <a:rPr lang="zh-CN" altLang="zh-CN" kern="1200" dirty="0">
                <a:solidFill>
                  <a:srgbClr val="FF0000"/>
                </a:solidFill>
                <a:latin typeface="+mn-lt"/>
                <a:ea typeface="+mn-ea"/>
                <a:cs typeface="等线" panose="02010600030101010101" charset="-122"/>
              </a:rPr>
              <a:t>不能以数字开头，不能是</a:t>
            </a:r>
            <a:r>
              <a:rPr lang="en-US" altLang="zh-CN" kern="1200" dirty="0">
                <a:solidFill>
                  <a:srgbClr val="FF0000"/>
                </a:solidFill>
                <a:latin typeface="+mn-lt"/>
                <a:ea typeface="+mn-ea"/>
                <a:cs typeface="等线" panose="02010600030101010101" charset="-122"/>
              </a:rPr>
              <a:t>Java</a:t>
            </a:r>
            <a:r>
              <a:rPr lang="zh-CN" altLang="zh-CN" kern="1200" dirty="0">
                <a:solidFill>
                  <a:srgbClr val="FF0000"/>
                </a:solidFill>
                <a:latin typeface="+mn-lt"/>
                <a:ea typeface="+mn-ea"/>
                <a:cs typeface="等线" panose="02010600030101010101" charset="-122"/>
              </a:rPr>
              <a:t>中的关键字。</a:t>
            </a:r>
            <a:endParaRPr lang="en-US" altLang="zh-CN" kern="1200" dirty="0">
              <a:solidFill>
                <a:srgbClr val="FF0000"/>
              </a:solidFill>
              <a:latin typeface="+mn-lt"/>
              <a:ea typeface="+mn-ea"/>
              <a:cs typeface="等线" panose="02010600030101010101" charset="-122"/>
            </a:endParaRPr>
          </a:p>
        </p:txBody>
      </p:sp>
      <p:sp>
        <p:nvSpPr>
          <p:cNvPr id="4" name="剪去对角的矩形 3"/>
          <p:cNvSpPr/>
          <p:nvPr/>
        </p:nvSpPr>
        <p:spPr bwMode="auto">
          <a:xfrm>
            <a:off x="4860925" y="1093788"/>
            <a:ext cx="3454400"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5604" name="矩形 7"/>
          <p:cNvSpPr/>
          <p:nvPr/>
        </p:nvSpPr>
        <p:spPr>
          <a:xfrm>
            <a:off x="5554663" y="1081088"/>
            <a:ext cx="2700337" cy="59213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35000"/>
              </a:lnSpc>
              <a:spcBef>
                <a:spcPct val="0"/>
              </a:spcBef>
              <a:buNone/>
            </a:pPr>
            <a:r>
              <a:rPr lang="en-US" altLang="zh-CN" sz="2400" dirty="0">
                <a:solidFill>
                  <a:srgbClr val="00B0F0"/>
                </a:solidFill>
                <a:latin typeface="黑体" panose="02010609060101010101" pitchFamily="49" charset="-122"/>
                <a:ea typeface="黑体" panose="02010609060101010101" pitchFamily="49" charset="-122"/>
              </a:rPr>
              <a:t>Java</a:t>
            </a:r>
            <a:r>
              <a:rPr lang="zh-CN" altLang="en-US" sz="2400" dirty="0">
                <a:solidFill>
                  <a:srgbClr val="00B0F0"/>
                </a:solidFill>
                <a:latin typeface="黑体" panose="02010609060101010101" pitchFamily="49" charset="-122"/>
                <a:ea typeface="黑体" panose="02010609060101010101" pitchFamily="49" charset="-122"/>
              </a:rPr>
              <a:t>中的标识符</a:t>
            </a:r>
            <a:endParaRPr lang="zh-CN" altLang="zh-CN" sz="2400" dirty="0">
              <a:solidFill>
                <a:srgbClr val="00B0F0"/>
              </a:solidFill>
              <a:latin typeface="黑体" panose="02010609060101010101" pitchFamily="49" charset="-122"/>
              <a:ea typeface="黑体" panose="02010609060101010101" pitchFamily="49" charset="-122"/>
            </a:endParaRPr>
          </a:p>
        </p:txBody>
      </p:sp>
      <p:sp>
        <p:nvSpPr>
          <p:cNvPr id="6"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2.1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的基本语法</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5606"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内容占位符 2"/>
          <p:cNvSpPr>
            <a:spLocks noGrp="1"/>
          </p:cNvSpPr>
          <p:nvPr>
            <p:ph idx="1"/>
          </p:nvPr>
        </p:nvSpPr>
        <p:spPr>
          <a:xfrm>
            <a:off x="358775" y="1154113"/>
            <a:ext cx="8345488" cy="3987800"/>
          </a:xfrm>
          <a:ln>
            <a:solidFill>
              <a:srgbClr val="009ED6">
                <a:alpha val="100000"/>
              </a:srgbClr>
            </a:solidFill>
            <a:miter lim="800000"/>
          </a:ln>
        </p:spPr>
        <p:txBody>
          <a:bodyPr vert="horz" wrap="square" lIns="91440" tIns="45720" rIns="91440" bIns="45720" anchor="t" anchorCtr="0"/>
          <a:p>
            <a:pPr lvl="1" eaLnBrk="1" hangingPunct="1">
              <a:buFont typeface="Wingdings" panose="05000000000000000000" pitchFamily="2" charset="2"/>
              <a:buChar char="Ø"/>
            </a:pPr>
            <a:r>
              <a:rPr lang="zh-CN" altLang="en-US" kern="1200" dirty="0">
                <a:latin typeface="+mn-lt"/>
                <a:ea typeface="+mn-ea"/>
                <a:cs typeface="等线" panose="02010600030101010101" charset="-122"/>
              </a:rPr>
              <a:t>建议初学者在定义标识符时还应该遵循以下规则：</a:t>
            </a:r>
            <a:endParaRPr lang="zh-CN" altLang="en-US" kern="1200" dirty="0">
              <a:latin typeface="+mn-lt"/>
              <a:ea typeface="+mn-ea"/>
              <a:cs typeface="等线" panose="02010600030101010101" charset="-122"/>
            </a:endParaRPr>
          </a:p>
          <a:p>
            <a:pPr marL="914400" lvl="2" indent="0" eaLnBrk="1" hangingPunct="1">
              <a:buFont typeface="Arial" panose="020B0604020202020204" pitchFamily="34" charset="0"/>
              <a:buNone/>
            </a:pPr>
            <a:r>
              <a:rPr lang="en-US" altLang="zh-CN" sz="1600" kern="1200" dirty="0">
                <a:latin typeface="+mn-lt"/>
                <a:ea typeface="+mn-ea"/>
                <a:cs typeface="等线" panose="02010600030101010101" charset="-122"/>
              </a:rPr>
              <a:t>1</a:t>
            </a:r>
            <a:r>
              <a:rPr lang="zh-CN" altLang="en-US" sz="1600" kern="1200" dirty="0">
                <a:latin typeface="+mn-lt"/>
                <a:ea typeface="+mn-ea"/>
                <a:cs typeface="等线" panose="02010600030101010101" charset="-122"/>
              </a:rPr>
              <a:t>、包名所有字母一律小写。例如：</a:t>
            </a:r>
            <a:r>
              <a:rPr lang="en-US" altLang="zh-CN" sz="1600" kern="1200" dirty="0">
                <a:latin typeface="+mn-lt"/>
                <a:ea typeface="+mn-ea"/>
                <a:cs typeface="等线" panose="02010600030101010101" charset="-122"/>
              </a:rPr>
              <a:t>cn.itcast.test</a:t>
            </a:r>
            <a:r>
              <a:rPr lang="zh-CN" altLang="en-US" sz="1600" kern="1200" dirty="0">
                <a:latin typeface="+mn-lt"/>
                <a:ea typeface="+mn-ea"/>
                <a:cs typeface="等线" panose="02010600030101010101" charset="-122"/>
              </a:rPr>
              <a:t>。</a:t>
            </a:r>
            <a:endParaRPr lang="zh-CN" altLang="en-US" sz="1600" kern="1200" dirty="0">
              <a:latin typeface="+mn-lt"/>
              <a:ea typeface="+mn-ea"/>
              <a:cs typeface="等线" panose="02010600030101010101" charset="-122"/>
            </a:endParaRPr>
          </a:p>
          <a:p>
            <a:pPr marL="914400" lvl="2" indent="0" eaLnBrk="1" hangingPunct="1">
              <a:buFont typeface="Arial" panose="020B0604020202020204" pitchFamily="34" charset="0"/>
              <a:buNone/>
            </a:pPr>
            <a:r>
              <a:rPr lang="en-US" altLang="zh-CN" sz="1600" kern="1200" dirty="0">
                <a:latin typeface="+mn-lt"/>
                <a:ea typeface="+mn-ea"/>
                <a:cs typeface="等线" panose="02010600030101010101" charset="-122"/>
              </a:rPr>
              <a:t>2</a:t>
            </a:r>
            <a:r>
              <a:rPr lang="zh-CN" altLang="en-US" sz="1600" kern="1200" dirty="0">
                <a:latin typeface="+mn-lt"/>
                <a:ea typeface="+mn-ea"/>
                <a:cs typeface="等线" panose="02010600030101010101" charset="-122"/>
              </a:rPr>
              <a:t>、类名和接口名每个单词的首字母都要大写。如：</a:t>
            </a:r>
            <a:r>
              <a:rPr lang="en-US" altLang="zh-CN" sz="1600" kern="1200" dirty="0">
                <a:latin typeface="+mn-lt"/>
                <a:ea typeface="+mn-ea"/>
                <a:cs typeface="等线" panose="02010600030101010101" charset="-122"/>
              </a:rPr>
              <a:t>ArrayList</a:t>
            </a:r>
            <a:r>
              <a:rPr lang="zh-CN" altLang="en-US" sz="1600" kern="1200" dirty="0">
                <a:latin typeface="+mn-lt"/>
                <a:ea typeface="+mn-ea"/>
                <a:cs typeface="等线" panose="02010600030101010101" charset="-122"/>
              </a:rPr>
              <a:t>、</a:t>
            </a:r>
            <a:r>
              <a:rPr lang="en-US" altLang="zh-CN" sz="1600" kern="1200" dirty="0">
                <a:latin typeface="+mn-lt"/>
                <a:ea typeface="+mn-ea"/>
                <a:cs typeface="等线" panose="02010600030101010101" charset="-122"/>
              </a:rPr>
              <a:t>Iterator</a:t>
            </a:r>
            <a:r>
              <a:rPr lang="zh-CN" altLang="en-US" sz="1600" kern="1200" dirty="0">
                <a:latin typeface="+mn-lt"/>
                <a:ea typeface="+mn-ea"/>
                <a:cs typeface="等线" panose="02010600030101010101" charset="-122"/>
              </a:rPr>
              <a:t>。</a:t>
            </a:r>
            <a:endParaRPr lang="zh-CN" altLang="en-US" sz="1600" kern="1200" dirty="0">
              <a:latin typeface="+mn-lt"/>
              <a:ea typeface="+mn-ea"/>
              <a:cs typeface="等线" panose="02010600030101010101" charset="-122"/>
            </a:endParaRPr>
          </a:p>
          <a:p>
            <a:pPr marL="914400" lvl="2" indent="0" eaLnBrk="1" hangingPunct="1">
              <a:buFont typeface="Arial" panose="020B0604020202020204" pitchFamily="34" charset="0"/>
              <a:buNone/>
            </a:pPr>
            <a:r>
              <a:rPr lang="en-US" altLang="zh-CN" sz="1600" kern="1200" dirty="0">
                <a:latin typeface="+mn-lt"/>
                <a:ea typeface="+mn-ea"/>
                <a:cs typeface="等线" panose="02010600030101010101" charset="-122"/>
              </a:rPr>
              <a:t>3</a:t>
            </a:r>
            <a:r>
              <a:rPr lang="zh-CN" altLang="en-US" sz="1600" kern="1200" dirty="0">
                <a:latin typeface="+mn-lt"/>
                <a:ea typeface="+mn-ea"/>
                <a:cs typeface="等线" panose="02010600030101010101" charset="-122"/>
              </a:rPr>
              <a:t>、常量名所有字母都大写，单词之间用下划线连接。例如：</a:t>
            </a:r>
            <a:r>
              <a:rPr lang="en-US" altLang="zh-CN" sz="1600" kern="1200" dirty="0">
                <a:latin typeface="+mn-lt"/>
                <a:ea typeface="+mn-ea"/>
                <a:cs typeface="等线" panose="02010600030101010101" charset="-122"/>
              </a:rPr>
              <a:t>DAY_OF_MONTH</a:t>
            </a:r>
            <a:r>
              <a:rPr lang="zh-CN" altLang="en-US" sz="1600" kern="1200" dirty="0">
                <a:latin typeface="+mn-lt"/>
                <a:ea typeface="+mn-ea"/>
                <a:cs typeface="等线" panose="02010600030101010101" charset="-122"/>
              </a:rPr>
              <a:t>。</a:t>
            </a:r>
            <a:endParaRPr lang="zh-CN" altLang="en-US" sz="1600" kern="1200" dirty="0">
              <a:latin typeface="+mn-lt"/>
              <a:ea typeface="+mn-ea"/>
              <a:cs typeface="等线" panose="02010600030101010101" charset="-122"/>
            </a:endParaRPr>
          </a:p>
          <a:p>
            <a:pPr marL="914400" lvl="2" indent="0" eaLnBrk="1" hangingPunct="1">
              <a:buFont typeface="Arial" panose="020B0604020202020204" pitchFamily="34" charset="0"/>
              <a:buNone/>
            </a:pPr>
            <a:r>
              <a:rPr lang="en-US" altLang="zh-CN" sz="1600" kern="1200" dirty="0">
                <a:latin typeface="+mn-lt"/>
                <a:ea typeface="+mn-ea"/>
                <a:cs typeface="等线" panose="02010600030101010101" charset="-122"/>
              </a:rPr>
              <a:t>4</a:t>
            </a:r>
            <a:r>
              <a:rPr lang="zh-CN" altLang="en-US" sz="1600" kern="1200" dirty="0">
                <a:latin typeface="+mn-lt"/>
                <a:ea typeface="+mn-ea"/>
                <a:cs typeface="等线" panose="02010600030101010101" charset="-122"/>
              </a:rPr>
              <a:t>、变量名和方法名的第一个单词首字母小写，从第二个单词开始每个单词首字母大写。例如：</a:t>
            </a:r>
            <a:r>
              <a:rPr lang="en-US" altLang="zh-CN" sz="1600" kern="1200" dirty="0">
                <a:latin typeface="+mn-lt"/>
                <a:ea typeface="+mn-ea"/>
                <a:cs typeface="等线" panose="02010600030101010101" charset="-122"/>
              </a:rPr>
              <a:t>lineNumber</a:t>
            </a:r>
            <a:r>
              <a:rPr lang="zh-CN" altLang="en-US" sz="1600" kern="1200" dirty="0">
                <a:latin typeface="+mn-lt"/>
                <a:ea typeface="+mn-ea"/>
                <a:cs typeface="等线" panose="02010600030101010101" charset="-122"/>
              </a:rPr>
              <a:t>、</a:t>
            </a:r>
            <a:r>
              <a:rPr lang="en-US" altLang="zh-CN" sz="1600" kern="1200" dirty="0">
                <a:latin typeface="+mn-lt"/>
                <a:ea typeface="+mn-ea"/>
                <a:cs typeface="等线" panose="02010600030101010101" charset="-122"/>
              </a:rPr>
              <a:t>getLineNumber</a:t>
            </a:r>
            <a:r>
              <a:rPr lang="zh-CN" altLang="en-US" sz="1600" kern="1200" dirty="0">
                <a:latin typeface="+mn-lt"/>
                <a:ea typeface="+mn-ea"/>
                <a:cs typeface="等线" panose="02010600030101010101" charset="-122"/>
              </a:rPr>
              <a:t>。</a:t>
            </a:r>
            <a:endParaRPr lang="zh-CN" altLang="en-US" sz="1600" kern="1200" dirty="0">
              <a:latin typeface="+mn-lt"/>
              <a:ea typeface="+mn-ea"/>
              <a:cs typeface="等线" panose="02010600030101010101" charset="-122"/>
            </a:endParaRPr>
          </a:p>
          <a:p>
            <a:pPr marL="914400" lvl="2" indent="0" eaLnBrk="1" hangingPunct="1">
              <a:buFont typeface="Arial" panose="020B0604020202020204" pitchFamily="34" charset="0"/>
              <a:buNone/>
            </a:pPr>
            <a:r>
              <a:rPr lang="en-US" altLang="zh-CN" sz="1600" kern="1200" dirty="0">
                <a:latin typeface="+mn-lt"/>
                <a:ea typeface="+mn-ea"/>
                <a:cs typeface="等线" panose="02010600030101010101" charset="-122"/>
              </a:rPr>
              <a:t>5</a:t>
            </a:r>
            <a:r>
              <a:rPr lang="zh-CN" altLang="en-US" sz="1600" kern="1200" dirty="0">
                <a:latin typeface="+mn-lt"/>
                <a:ea typeface="+mn-ea"/>
                <a:cs typeface="等线" panose="02010600030101010101" charset="-122"/>
              </a:rPr>
              <a:t>、在程序中，应该尽量使用有意义的英文单词来定义标识符，使得程序便于阅读。例如使用</a:t>
            </a:r>
            <a:r>
              <a:rPr lang="en-US" altLang="zh-CN" sz="1600" kern="1200" dirty="0">
                <a:latin typeface="+mn-lt"/>
                <a:ea typeface="+mn-ea"/>
                <a:cs typeface="等线" panose="02010600030101010101" charset="-122"/>
              </a:rPr>
              <a:t>userName</a:t>
            </a:r>
            <a:r>
              <a:rPr lang="zh-CN" altLang="en-US" sz="1600" kern="1200" dirty="0">
                <a:latin typeface="+mn-lt"/>
                <a:ea typeface="+mn-ea"/>
                <a:cs typeface="等线" panose="02010600030101010101" charset="-122"/>
              </a:rPr>
              <a:t>表示用户名，</a:t>
            </a:r>
            <a:r>
              <a:rPr lang="en-US" altLang="zh-CN" sz="1600" kern="1200" dirty="0">
                <a:latin typeface="+mn-lt"/>
                <a:ea typeface="+mn-ea"/>
                <a:cs typeface="等线" panose="02010600030101010101" charset="-122"/>
              </a:rPr>
              <a:t>password</a:t>
            </a:r>
            <a:r>
              <a:rPr lang="zh-CN" altLang="en-US" sz="1600" kern="1200" dirty="0">
                <a:latin typeface="+mn-lt"/>
                <a:ea typeface="+mn-ea"/>
                <a:cs typeface="等线" panose="02010600030101010101" charset="-122"/>
              </a:rPr>
              <a:t>表示密码。</a:t>
            </a:r>
            <a:endParaRPr lang="zh-CN" altLang="en-US" sz="1600" kern="1200" dirty="0">
              <a:latin typeface="+mn-lt"/>
              <a:ea typeface="+mn-ea"/>
              <a:cs typeface="等线" panose="02010600030101010101" charset="-122"/>
            </a:endParaRPr>
          </a:p>
        </p:txBody>
      </p:sp>
      <p:sp>
        <p:nvSpPr>
          <p:cNvPr id="4"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2.1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的基本语法</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6628"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内容占位符 2"/>
          <p:cNvSpPr>
            <a:spLocks noGrp="1"/>
          </p:cNvSpPr>
          <p:nvPr>
            <p:ph idx="1"/>
          </p:nvPr>
        </p:nvSpPr>
        <p:spPr>
          <a:xfrm>
            <a:off x="388938" y="1774825"/>
            <a:ext cx="8229600" cy="4464050"/>
          </a:xfrm>
          <a:ln>
            <a:solidFill>
              <a:srgbClr val="009ED6">
                <a:alpha val="100000"/>
              </a:srgbClr>
            </a:solidFill>
            <a:miter lim="800000"/>
          </a:ln>
        </p:spPr>
        <p:txBody>
          <a:bodyPr vert="horz" wrap="square" lIns="91440" tIns="45720" rIns="91440" bIns="45720" anchor="t" anchorCtr="0"/>
          <a:p>
            <a:pPr lvl="1" eaLnBrk="1" hangingPunct="1">
              <a:buFont typeface="Wingdings" panose="05000000000000000000" pitchFamily="2" charset="2"/>
              <a:buChar char="Ø"/>
            </a:pPr>
            <a:r>
              <a:rPr lang="zh-CN" altLang="en-US" kern="1200" dirty="0">
                <a:latin typeface="+mn-lt"/>
                <a:ea typeface="+mn-ea"/>
                <a:cs typeface="等线" panose="02010600030101010101" charset="-122"/>
              </a:rPr>
              <a:t>关键字是编程语言里事先定义好并赋予了特殊含义的单词，也称作保留字。和其它语言一样，</a:t>
            </a:r>
            <a:r>
              <a:rPr lang="en-US" altLang="zh-CN" kern="1200" dirty="0">
                <a:latin typeface="+mn-lt"/>
                <a:ea typeface="+mn-ea"/>
                <a:cs typeface="等线" panose="02010600030101010101" charset="-122"/>
              </a:rPr>
              <a:t>Java</a:t>
            </a:r>
            <a:r>
              <a:rPr lang="zh-CN" altLang="en-US" kern="1200" dirty="0">
                <a:latin typeface="+mn-lt"/>
                <a:ea typeface="+mn-ea"/>
                <a:cs typeface="等线" panose="02010600030101010101" charset="-122"/>
              </a:rPr>
              <a:t>中保留了许多关键字，例如，</a:t>
            </a:r>
            <a:r>
              <a:rPr lang="en-US" altLang="zh-CN" kern="1200" dirty="0">
                <a:latin typeface="+mn-lt"/>
                <a:ea typeface="+mn-ea"/>
                <a:cs typeface="等线" panose="02010600030101010101" charset="-122"/>
              </a:rPr>
              <a:t>class</a:t>
            </a:r>
            <a:r>
              <a:rPr lang="zh-CN" altLang="en-US" kern="1200" dirty="0">
                <a:latin typeface="+mn-lt"/>
                <a:ea typeface="+mn-ea"/>
                <a:cs typeface="等线" panose="02010600030101010101" charset="-122"/>
              </a:rPr>
              <a:t>、</a:t>
            </a:r>
            <a:r>
              <a:rPr lang="en-US" altLang="zh-CN" kern="1200" dirty="0">
                <a:latin typeface="+mn-lt"/>
                <a:ea typeface="+mn-ea"/>
                <a:cs typeface="等线" panose="02010600030101010101" charset="-122"/>
              </a:rPr>
              <a:t>public</a:t>
            </a:r>
            <a:r>
              <a:rPr lang="zh-CN" altLang="en-US" kern="1200" dirty="0">
                <a:latin typeface="+mn-lt"/>
                <a:ea typeface="+mn-ea"/>
                <a:cs typeface="等线" panose="02010600030101010101" charset="-122"/>
              </a:rPr>
              <a:t>等，下面列举的是</a:t>
            </a:r>
            <a:r>
              <a:rPr lang="en-US" altLang="zh-CN" kern="1200" dirty="0">
                <a:latin typeface="+mn-lt"/>
                <a:ea typeface="+mn-ea"/>
                <a:cs typeface="等线" panose="02010600030101010101" charset="-122"/>
              </a:rPr>
              <a:t>Java</a:t>
            </a:r>
            <a:r>
              <a:rPr lang="zh-CN" altLang="en-US" kern="1200" dirty="0">
                <a:latin typeface="+mn-lt"/>
                <a:ea typeface="+mn-ea"/>
                <a:cs typeface="等线" panose="02010600030101010101" charset="-122"/>
              </a:rPr>
              <a:t>中所有的关键字</a:t>
            </a:r>
            <a:r>
              <a:rPr lang="zh-CN" altLang="zh-CN" kern="1200" dirty="0">
                <a:latin typeface="+mn-lt"/>
                <a:ea typeface="+mn-ea"/>
                <a:cs typeface="等线" panose="02010600030101010101" charset="-122"/>
              </a:rPr>
              <a:t>。</a:t>
            </a:r>
            <a:endParaRPr lang="en-US" altLang="zh-CN" kern="1200" dirty="0">
              <a:latin typeface="+mn-lt"/>
              <a:ea typeface="+mn-ea"/>
              <a:cs typeface="等线" panose="02010600030101010101" charset="-122"/>
            </a:endParaRPr>
          </a:p>
        </p:txBody>
      </p:sp>
      <p:pic>
        <p:nvPicPr>
          <p:cNvPr id="27651" name="图片 1" descr="屏幕剪辑"/>
          <p:cNvPicPr>
            <a:picLocks noChangeAspect="1"/>
          </p:cNvPicPr>
          <p:nvPr/>
        </p:nvPicPr>
        <p:blipFill>
          <a:blip r:embed="rId1"/>
          <a:srcRect l="6609" r="1987"/>
          <a:stretch>
            <a:fillRect/>
          </a:stretch>
        </p:blipFill>
        <p:spPr>
          <a:xfrm>
            <a:off x="1411288" y="3314700"/>
            <a:ext cx="6783387" cy="2830513"/>
          </a:xfrm>
          <a:prstGeom prst="rect">
            <a:avLst/>
          </a:prstGeom>
          <a:noFill/>
          <a:ln w="9525">
            <a:noFill/>
          </a:ln>
        </p:spPr>
      </p:pic>
      <p:sp>
        <p:nvSpPr>
          <p:cNvPr id="5" name="剪去对角的矩形 4"/>
          <p:cNvSpPr/>
          <p:nvPr/>
        </p:nvSpPr>
        <p:spPr bwMode="auto">
          <a:xfrm>
            <a:off x="5016500" y="1084263"/>
            <a:ext cx="3454400"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653" name="矩形 7"/>
          <p:cNvSpPr/>
          <p:nvPr/>
        </p:nvSpPr>
        <p:spPr>
          <a:xfrm>
            <a:off x="5649913" y="1071563"/>
            <a:ext cx="2700337" cy="5905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35000"/>
              </a:lnSpc>
              <a:spcBef>
                <a:spcPct val="0"/>
              </a:spcBef>
              <a:buNone/>
            </a:pPr>
            <a:r>
              <a:rPr lang="en-US" altLang="zh-CN" sz="2400" dirty="0">
                <a:solidFill>
                  <a:srgbClr val="00B0F0"/>
                </a:solidFill>
                <a:latin typeface="黑体" panose="02010609060101010101" pitchFamily="49" charset="-122"/>
                <a:ea typeface="黑体" panose="02010609060101010101" pitchFamily="49" charset="-122"/>
              </a:rPr>
              <a:t>Java</a:t>
            </a:r>
            <a:r>
              <a:rPr lang="zh-CN" altLang="en-US" sz="2400" dirty="0">
                <a:solidFill>
                  <a:srgbClr val="00B0F0"/>
                </a:solidFill>
                <a:latin typeface="黑体" panose="02010609060101010101" pitchFamily="49" charset="-122"/>
                <a:ea typeface="黑体" panose="02010609060101010101" pitchFamily="49" charset="-122"/>
              </a:rPr>
              <a:t>中的关键字</a:t>
            </a:r>
            <a:endParaRPr lang="zh-CN" altLang="zh-CN" sz="2400" dirty="0">
              <a:solidFill>
                <a:srgbClr val="00B0F0"/>
              </a:solidFill>
              <a:latin typeface="黑体" panose="02010609060101010101" pitchFamily="49" charset="-122"/>
              <a:ea typeface="黑体" panose="02010609060101010101" pitchFamily="49" charset="-122"/>
            </a:endParaRPr>
          </a:p>
        </p:txBody>
      </p:sp>
      <p:sp>
        <p:nvSpPr>
          <p:cNvPr id="7"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2.1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的基本语法</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7655"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内容占位符 2"/>
          <p:cNvSpPr>
            <a:spLocks noGrp="1"/>
          </p:cNvSpPr>
          <p:nvPr>
            <p:ph idx="1"/>
          </p:nvPr>
        </p:nvSpPr>
        <p:spPr>
          <a:xfrm>
            <a:off x="457200" y="1963738"/>
            <a:ext cx="8229600" cy="1797050"/>
          </a:xfrm>
          <a:ln>
            <a:solidFill>
              <a:srgbClr val="009ED6">
                <a:alpha val="100000"/>
              </a:srgbClr>
            </a:solidFill>
            <a:miter lim="800000"/>
          </a:ln>
        </p:spPr>
        <p:txBody>
          <a:bodyPr vert="horz" wrap="square" lIns="91440" tIns="45720" rIns="91440" bIns="45720" anchor="t" anchorCtr="0"/>
          <a:p>
            <a:pPr lvl="1" eaLnBrk="1" hangingPunct="1">
              <a:buFont typeface="Wingdings" panose="05000000000000000000" pitchFamily="2" charset="2"/>
              <a:buChar char="Ø"/>
            </a:pPr>
            <a:r>
              <a:rPr lang="zh-CN" altLang="en-US" kern="1200" dirty="0">
                <a:latin typeface="+mn-lt"/>
                <a:ea typeface="+mn-ea"/>
                <a:cs typeface="等线" panose="02010600030101010101" charset="-122"/>
              </a:rPr>
              <a:t>常量就是在程序中固定不变的值，是不能改变的数据。</a:t>
            </a:r>
            <a:endParaRPr lang="en-US" altLang="zh-CN" kern="1200" dirty="0">
              <a:latin typeface="+mn-lt"/>
              <a:ea typeface="+mn-ea"/>
              <a:cs typeface="等线" panose="02010600030101010101" charset="-122"/>
            </a:endParaRPr>
          </a:p>
          <a:p>
            <a:pPr lvl="1" eaLnBrk="1" hangingPunct="1">
              <a:buFont typeface="Wingdings" panose="05000000000000000000" pitchFamily="2" charset="2"/>
              <a:buChar char="Ø"/>
            </a:pPr>
            <a:r>
              <a:rPr lang="zh-CN" altLang="zh-CN" kern="1200" dirty="0">
                <a:latin typeface="+mn-lt"/>
                <a:ea typeface="+mn-ea"/>
                <a:cs typeface="等线" panose="02010600030101010101" charset="-122"/>
              </a:rPr>
              <a:t>在</a:t>
            </a:r>
            <a:r>
              <a:rPr lang="en-US" altLang="zh-CN" kern="1200" dirty="0">
                <a:latin typeface="+mn-lt"/>
                <a:ea typeface="+mn-ea"/>
                <a:cs typeface="等线" panose="02010600030101010101" charset="-122"/>
              </a:rPr>
              <a:t>Java</a:t>
            </a:r>
            <a:r>
              <a:rPr lang="zh-CN" altLang="zh-CN" kern="1200" dirty="0">
                <a:latin typeface="+mn-lt"/>
                <a:ea typeface="+mn-ea"/>
                <a:cs typeface="等线" panose="02010600030101010101" charset="-122"/>
              </a:rPr>
              <a:t>中，常量包括整型常量、浮点数常量、布尔常量、字符常量等。</a:t>
            </a:r>
            <a:endParaRPr lang="en-US" altLang="zh-CN" kern="1200" dirty="0">
              <a:latin typeface="+mn-lt"/>
              <a:ea typeface="+mn-ea"/>
              <a:cs typeface="等线" panose="02010600030101010101" charset="-122"/>
            </a:endParaRPr>
          </a:p>
          <a:p>
            <a:pPr lvl="1" eaLnBrk="1" hangingPunct="1"/>
            <a:endParaRPr lang="en-US" altLang="zh-CN" kern="1200" dirty="0">
              <a:latin typeface="+mn-lt"/>
              <a:ea typeface="+mn-ea"/>
              <a:cs typeface="等线" panose="02010600030101010101" charset="-122"/>
            </a:endParaRPr>
          </a:p>
        </p:txBody>
      </p:sp>
      <p:sp>
        <p:nvSpPr>
          <p:cNvPr id="4" name="剪去对角的矩形 3"/>
          <p:cNvSpPr/>
          <p:nvPr/>
        </p:nvSpPr>
        <p:spPr bwMode="auto">
          <a:xfrm>
            <a:off x="5016500" y="1084263"/>
            <a:ext cx="3454400"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8676" name="矩形 7"/>
          <p:cNvSpPr/>
          <p:nvPr/>
        </p:nvSpPr>
        <p:spPr>
          <a:xfrm>
            <a:off x="5710238" y="1071563"/>
            <a:ext cx="2700337" cy="5905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35000"/>
              </a:lnSpc>
              <a:spcBef>
                <a:spcPct val="0"/>
              </a:spcBef>
              <a:buNone/>
            </a:pPr>
            <a:r>
              <a:rPr lang="en-US" altLang="zh-CN" sz="2400" dirty="0">
                <a:solidFill>
                  <a:srgbClr val="00B0F0"/>
                </a:solidFill>
                <a:latin typeface="黑体" panose="02010609060101010101" pitchFamily="49" charset="-122"/>
                <a:ea typeface="黑体" panose="02010609060101010101" pitchFamily="49" charset="-122"/>
              </a:rPr>
              <a:t>Java</a:t>
            </a:r>
            <a:r>
              <a:rPr lang="zh-CN" altLang="en-US" sz="2400" dirty="0">
                <a:solidFill>
                  <a:srgbClr val="00B0F0"/>
                </a:solidFill>
                <a:latin typeface="黑体" panose="02010609060101010101" pitchFamily="49" charset="-122"/>
                <a:ea typeface="黑体" panose="02010609060101010101" pitchFamily="49" charset="-122"/>
              </a:rPr>
              <a:t>中的常量</a:t>
            </a:r>
            <a:endParaRPr lang="zh-CN" altLang="zh-CN" sz="2400" dirty="0">
              <a:solidFill>
                <a:srgbClr val="00B0F0"/>
              </a:solidFill>
              <a:latin typeface="黑体" panose="02010609060101010101" pitchFamily="49" charset="-122"/>
              <a:ea typeface="黑体" panose="02010609060101010101" pitchFamily="49" charset="-122"/>
            </a:endParaRPr>
          </a:p>
        </p:txBody>
      </p:sp>
      <p:sp>
        <p:nvSpPr>
          <p:cNvPr id="6"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2.1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的基本语法</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8678"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内容占位符 2"/>
          <p:cNvSpPr>
            <a:spLocks noGrp="1"/>
          </p:cNvSpPr>
          <p:nvPr>
            <p:ph idx="1"/>
          </p:nvPr>
        </p:nvSpPr>
        <p:spPr>
          <a:xfrm>
            <a:off x="317500" y="1173163"/>
            <a:ext cx="8229600" cy="4330700"/>
          </a:xfrm>
          <a:ln>
            <a:solidFill>
              <a:srgbClr val="009ED6"/>
            </a:solidFill>
            <a:miter lim="800000"/>
          </a:ln>
        </p:spPr>
        <p:txBody>
          <a:bodyPr vert="horz" wrap="square" lIns="91440" tIns="45720" rIns="91440" bIns="45720" numCol="1" rtlCol="0" anchor="t" anchorCtr="0" compatLnSpc="1">
            <a:normAutofit/>
          </a:bodyPr>
          <a:lstStyle/>
          <a:p>
            <a:pPr marL="457200" marR="0" lvl="1" indent="0" algn="l" defTabSz="914400" rtl="0" eaLnBrk="1" fontAlgn="auto" latinLnBrk="0" hangingPunct="1">
              <a:lnSpc>
                <a:spcPct val="150000"/>
              </a:lnSpc>
              <a:spcBef>
                <a:spcPts val="500"/>
              </a:spcBef>
              <a:spcAft>
                <a:spcPts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1</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zh-CN" altLang="zh-CN" sz="2000" b="1" i="0" u="none" strike="noStrike" kern="1200" cap="none" spc="0" normalizeH="0" baseline="0" noProof="0" dirty="0">
                <a:ln>
                  <a:noFill/>
                </a:ln>
                <a:solidFill>
                  <a:schemeClr val="tx1"/>
                </a:solidFill>
                <a:effectLst/>
                <a:uLnTx/>
                <a:uFillTx/>
                <a:latin typeface="+mn-lt"/>
                <a:ea typeface="+mn-ea"/>
                <a:cs typeface="+mn-cs"/>
              </a:rPr>
              <a:t>整型常量</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cs"/>
              </a:rPr>
              <a:t>整型常量</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是整数类型的数据，</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它的表现形式有四种，具体如下：</a:t>
            </a:r>
            <a:endParaRPr kumimoji="0" lang="zh-CN" altLang="zh-CN" sz="2000" b="0" i="0" u="none" strike="noStrike" kern="1200" cap="none" spc="0" normalizeH="0" baseline="0" noProof="0" dirty="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r>
              <a:rPr kumimoji="0" lang="zh-CN" altLang="zh-CN" sz="1600" b="0" i="0" u="none" strike="noStrike" kern="1200" cap="none" spc="0" normalizeH="0" baseline="0" noProof="0" dirty="0">
                <a:ln>
                  <a:noFill/>
                </a:ln>
                <a:solidFill>
                  <a:schemeClr val="tx1"/>
                </a:solidFill>
                <a:effectLst/>
                <a:uLnTx/>
                <a:uFillTx/>
                <a:latin typeface="+mn-lt"/>
                <a:ea typeface="+mn-ea"/>
                <a:cs typeface="+mn-cs"/>
              </a:rPr>
              <a:t>二进制：由数字</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0 </a:t>
            </a:r>
            <a:r>
              <a:rPr kumimoji="0" lang="zh-CN" altLang="zh-CN" sz="1600" b="0" i="0" u="none" strike="noStrike" kern="1200" cap="none" spc="0" normalizeH="0" baseline="0" noProof="0" dirty="0">
                <a:ln>
                  <a:noFill/>
                </a:ln>
                <a:solidFill>
                  <a:schemeClr val="tx1"/>
                </a:solidFill>
                <a:effectLst/>
                <a:uLnTx/>
                <a:uFillTx/>
                <a:latin typeface="+mn-lt"/>
                <a:ea typeface="+mn-ea"/>
                <a:cs typeface="+mn-cs"/>
              </a:rPr>
              <a:t>和</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1 </a:t>
            </a:r>
            <a:r>
              <a:rPr kumimoji="0" lang="zh-CN" altLang="zh-CN" sz="1600" b="0" i="0" u="none" strike="noStrike" kern="1200" cap="none" spc="0" normalizeH="0" baseline="0" noProof="0" dirty="0">
                <a:ln>
                  <a:noFill/>
                </a:ln>
                <a:solidFill>
                  <a:schemeClr val="tx1"/>
                </a:solidFill>
                <a:effectLst/>
                <a:uLnTx/>
                <a:uFillTx/>
                <a:latin typeface="+mn-lt"/>
                <a:ea typeface="+mn-ea"/>
                <a:cs typeface="+mn-cs"/>
              </a:rPr>
              <a:t>组成的数字序列</a:t>
            </a:r>
            <a:r>
              <a:rPr kumimoji="0" lang="zh-CN" altLang="en-US" sz="1600" b="0" i="0" u="none" strike="noStrike" kern="1200" cap="none" spc="0" normalizeH="0" baseline="0" noProof="0" dirty="0">
                <a:ln>
                  <a:noFill/>
                </a:ln>
                <a:solidFill>
                  <a:schemeClr val="tx1"/>
                </a:solidFill>
                <a:effectLst/>
                <a:uLnTx/>
                <a:uFillTx/>
                <a:latin typeface="+mn-lt"/>
                <a:ea typeface="+mn-ea"/>
                <a:cs typeface="+mn-cs"/>
              </a:rPr>
              <a:t>，如：</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00110101</a:t>
            </a:r>
            <a:r>
              <a:rPr kumimoji="0" lang="zh-CN" altLang="zh-CN" sz="1600" b="0" i="0" u="none" strike="noStrike" kern="1200" cap="none" spc="0" normalizeH="0" baseline="0" noProof="0" dirty="0">
                <a:ln>
                  <a:noFill/>
                </a:ln>
                <a:solidFill>
                  <a:schemeClr val="tx1"/>
                </a:solidFill>
                <a:effectLst/>
                <a:uLnTx/>
                <a:uFillTx/>
                <a:latin typeface="+mn-lt"/>
                <a:ea typeface="+mn-ea"/>
                <a:cs typeface="+mn-cs"/>
              </a:rPr>
              <a:t>。</a:t>
            </a:r>
            <a:endParaRPr kumimoji="0" lang="zh-CN" altLang="zh-CN" sz="1600" b="0" i="0" u="none" strike="noStrike" kern="1200" cap="none" spc="0" normalizeH="0" baseline="0" noProof="0" dirty="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r>
              <a:rPr kumimoji="0" lang="zh-CN" altLang="zh-CN" sz="1600" b="0" i="0" u="none" strike="noStrike" kern="1200" cap="none" spc="0" normalizeH="0" baseline="0" noProof="0" dirty="0">
                <a:ln>
                  <a:noFill/>
                </a:ln>
                <a:solidFill>
                  <a:schemeClr val="tx1"/>
                </a:solidFill>
                <a:effectLst/>
                <a:uLnTx/>
                <a:uFillTx/>
                <a:latin typeface="+mn-lt"/>
                <a:ea typeface="+mn-ea"/>
                <a:cs typeface="+mn-cs"/>
              </a:rPr>
              <a:t>八进制：以</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0</a:t>
            </a:r>
            <a:r>
              <a:rPr kumimoji="0" lang="zh-CN" altLang="zh-CN" sz="1600" b="0" i="0" u="none" strike="noStrike" kern="1200" cap="none" spc="0" normalizeH="0" baseline="0" noProof="0" dirty="0">
                <a:ln>
                  <a:noFill/>
                </a:ln>
                <a:solidFill>
                  <a:schemeClr val="tx1"/>
                </a:solidFill>
                <a:effectLst/>
                <a:uLnTx/>
                <a:uFillTx/>
                <a:latin typeface="+mn-lt"/>
                <a:ea typeface="+mn-ea"/>
                <a:cs typeface="+mn-cs"/>
              </a:rPr>
              <a:t>开头并且其后由</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0 ~7</a:t>
            </a:r>
            <a:r>
              <a:rPr kumimoji="0" lang="zh-CN" altLang="zh-CN" sz="1600" b="0" i="0" u="none" strike="noStrike" kern="1200" cap="none" spc="0" normalizeH="0" baseline="0" noProof="0" dirty="0">
                <a:ln>
                  <a:noFill/>
                </a:ln>
                <a:solidFill>
                  <a:schemeClr val="tx1"/>
                </a:solidFill>
                <a:effectLst/>
                <a:uLnTx/>
                <a:uFillTx/>
                <a:latin typeface="+mn-lt"/>
                <a:ea typeface="+mn-ea"/>
                <a:cs typeface="+mn-cs"/>
              </a:rPr>
              <a:t>范围（包括</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0</a:t>
            </a:r>
            <a:r>
              <a:rPr kumimoji="0" lang="zh-CN" altLang="zh-CN" sz="1600" b="0" i="0" u="none" strike="noStrike" kern="1200" cap="none" spc="0" normalizeH="0" baseline="0" noProof="0" dirty="0">
                <a:ln>
                  <a:noFill/>
                </a:ln>
                <a:solidFill>
                  <a:schemeClr val="tx1"/>
                </a:solidFill>
                <a:effectLst/>
                <a:uLnTx/>
                <a:uFillTx/>
                <a:latin typeface="+mn-lt"/>
                <a:ea typeface="+mn-ea"/>
                <a:cs typeface="+mn-cs"/>
              </a:rPr>
              <a:t>和</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7</a:t>
            </a:r>
            <a:r>
              <a:rPr kumimoji="0" lang="zh-CN" altLang="zh-CN" sz="1600" b="0" i="0" u="none" strike="noStrike" kern="1200" cap="none" spc="0" normalizeH="0" baseline="0" noProof="0" dirty="0">
                <a:ln>
                  <a:noFill/>
                </a:ln>
                <a:solidFill>
                  <a:schemeClr val="tx1"/>
                </a:solidFill>
                <a:effectLst/>
                <a:uLnTx/>
                <a:uFillTx/>
                <a:latin typeface="+mn-lt"/>
                <a:ea typeface="+mn-ea"/>
                <a:cs typeface="+mn-cs"/>
              </a:rPr>
              <a:t>）内的整数组成的数字序列，如：</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0342</a:t>
            </a:r>
            <a:r>
              <a:rPr kumimoji="0" lang="zh-CN" altLang="zh-CN" sz="1600" b="0" i="0" u="none" strike="noStrike" kern="1200" cap="none" spc="0" normalizeH="0" baseline="0" noProof="0" dirty="0">
                <a:ln>
                  <a:noFill/>
                </a:ln>
                <a:solidFill>
                  <a:schemeClr val="tx1"/>
                </a:solidFill>
                <a:effectLst/>
                <a:uLnTx/>
                <a:uFillTx/>
                <a:latin typeface="+mn-lt"/>
                <a:ea typeface="+mn-ea"/>
                <a:cs typeface="+mn-cs"/>
              </a:rPr>
              <a:t>。</a:t>
            </a:r>
            <a:endParaRPr kumimoji="0" lang="zh-CN" altLang="zh-CN" sz="1600" b="0" i="0" u="none" strike="noStrike" kern="1200" cap="none" spc="0" normalizeH="0" baseline="0" noProof="0" dirty="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r>
              <a:rPr kumimoji="0" lang="zh-CN" altLang="zh-CN" sz="1600" b="0" i="0" u="none" strike="noStrike" kern="1200" cap="none" spc="0" normalizeH="0" baseline="0" noProof="0" dirty="0">
                <a:ln>
                  <a:noFill/>
                </a:ln>
                <a:solidFill>
                  <a:schemeClr val="tx1"/>
                </a:solidFill>
                <a:effectLst/>
                <a:uLnTx/>
                <a:uFillTx/>
                <a:latin typeface="+mn-lt"/>
                <a:ea typeface="+mn-ea"/>
                <a:cs typeface="+mn-cs"/>
              </a:rPr>
              <a:t>十进制：由数字</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0~9</a:t>
            </a:r>
            <a:r>
              <a:rPr kumimoji="0" lang="zh-CN" altLang="zh-CN" sz="1600" b="0" i="0" u="none" strike="noStrike" kern="1200" cap="none" spc="0" normalizeH="0" baseline="0" noProof="0" dirty="0">
                <a:ln>
                  <a:noFill/>
                </a:ln>
                <a:solidFill>
                  <a:schemeClr val="tx1"/>
                </a:solidFill>
                <a:effectLst/>
                <a:uLnTx/>
                <a:uFillTx/>
                <a:latin typeface="+mn-lt"/>
                <a:ea typeface="+mn-ea"/>
                <a:cs typeface="+mn-cs"/>
              </a:rPr>
              <a:t>范围（包括</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0</a:t>
            </a:r>
            <a:r>
              <a:rPr kumimoji="0" lang="zh-CN" altLang="zh-CN" sz="1600" b="0" i="0" u="none" strike="noStrike" kern="1200" cap="none" spc="0" normalizeH="0" baseline="0" noProof="0" dirty="0">
                <a:ln>
                  <a:noFill/>
                </a:ln>
                <a:solidFill>
                  <a:schemeClr val="tx1"/>
                </a:solidFill>
                <a:effectLst/>
                <a:uLnTx/>
                <a:uFillTx/>
                <a:latin typeface="+mn-lt"/>
                <a:ea typeface="+mn-ea"/>
                <a:cs typeface="+mn-cs"/>
              </a:rPr>
              <a:t>和</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9</a:t>
            </a:r>
            <a:r>
              <a:rPr kumimoji="0" lang="zh-CN" altLang="zh-CN" sz="1600" b="0" i="0" u="none" strike="noStrike" kern="1200" cap="none" spc="0" normalizeH="0" baseline="0" noProof="0" dirty="0">
                <a:ln>
                  <a:noFill/>
                </a:ln>
                <a:solidFill>
                  <a:schemeClr val="tx1"/>
                </a:solidFill>
                <a:effectLst/>
                <a:uLnTx/>
                <a:uFillTx/>
                <a:latin typeface="+mn-lt"/>
                <a:ea typeface="+mn-ea"/>
                <a:cs typeface="+mn-cs"/>
              </a:rPr>
              <a:t>）内的整数组成的数字序列。如：</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198</a:t>
            </a:r>
            <a:r>
              <a:rPr kumimoji="0" lang="zh-CN" altLang="zh-CN" sz="1600" b="0" i="0" u="none" strike="noStrike" kern="1200" cap="none" spc="0" normalizeH="0" baseline="0" noProof="0" dirty="0">
                <a:ln>
                  <a:noFill/>
                </a:ln>
                <a:solidFill>
                  <a:schemeClr val="tx1"/>
                </a:solidFill>
                <a:effectLst/>
                <a:uLnTx/>
                <a:uFillTx/>
                <a:latin typeface="+mn-lt"/>
                <a:ea typeface="+mn-ea"/>
                <a:cs typeface="+mn-cs"/>
              </a:rPr>
              <a:t>。整数以十进制表示时，第一位不能是</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0</a:t>
            </a:r>
            <a:r>
              <a:rPr kumimoji="0" lang="zh-CN" altLang="zh-CN" sz="16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0</a:t>
            </a:r>
            <a:r>
              <a:rPr kumimoji="0" lang="zh-CN" altLang="zh-CN" sz="1600" b="0" i="0" u="none" strike="noStrike" kern="1200" cap="none" spc="0" normalizeH="0" baseline="0" noProof="0" dirty="0">
                <a:ln>
                  <a:noFill/>
                </a:ln>
                <a:solidFill>
                  <a:schemeClr val="tx1"/>
                </a:solidFill>
                <a:effectLst/>
                <a:uLnTx/>
                <a:uFillTx/>
                <a:latin typeface="+mn-lt"/>
                <a:ea typeface="+mn-ea"/>
                <a:cs typeface="+mn-cs"/>
              </a:rPr>
              <a:t>本身除外</a:t>
            </a:r>
            <a:endParaRPr kumimoji="0" lang="zh-CN" altLang="zh-CN" sz="1600" b="0" i="0" u="none" strike="noStrike" kern="1200" cap="none" spc="0" normalizeH="0" baseline="0" noProof="0" dirty="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r>
              <a:rPr kumimoji="0" lang="zh-CN" altLang="zh-CN" sz="1600" b="0" i="0" u="none" strike="noStrike" kern="1200" cap="none" spc="0" normalizeH="0" baseline="0" noProof="0" dirty="0">
                <a:ln>
                  <a:noFill/>
                </a:ln>
                <a:solidFill>
                  <a:schemeClr val="tx1"/>
                </a:solidFill>
                <a:effectLst/>
                <a:uLnTx/>
                <a:uFillTx/>
                <a:latin typeface="+mn-lt"/>
                <a:ea typeface="+mn-ea"/>
                <a:cs typeface="+mn-cs"/>
              </a:rPr>
              <a:t>十六进制：以</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0x</a:t>
            </a:r>
            <a:r>
              <a:rPr kumimoji="0" lang="zh-CN" altLang="zh-CN" sz="1600" b="0" i="0" u="none" strike="noStrike" kern="1200" cap="none" spc="0" normalizeH="0" baseline="0" noProof="0" dirty="0">
                <a:ln>
                  <a:noFill/>
                </a:ln>
                <a:solidFill>
                  <a:schemeClr val="tx1"/>
                </a:solidFill>
                <a:effectLst/>
                <a:uLnTx/>
                <a:uFillTx/>
                <a:latin typeface="+mn-lt"/>
                <a:ea typeface="+mn-ea"/>
                <a:cs typeface="+mn-cs"/>
              </a:rPr>
              <a:t>或者</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0X</a:t>
            </a:r>
            <a:r>
              <a:rPr kumimoji="0" lang="zh-CN" altLang="zh-CN" sz="1600" b="0" i="0" u="none" strike="noStrike" kern="1200" cap="none" spc="0" normalizeH="0" baseline="0" noProof="0" dirty="0">
                <a:ln>
                  <a:noFill/>
                </a:ln>
                <a:solidFill>
                  <a:schemeClr val="tx1"/>
                </a:solidFill>
                <a:effectLst/>
                <a:uLnTx/>
                <a:uFillTx/>
                <a:latin typeface="+mn-lt"/>
                <a:ea typeface="+mn-ea"/>
                <a:cs typeface="+mn-cs"/>
              </a:rPr>
              <a:t>开头并且其后由</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0~9</a:t>
            </a:r>
            <a:r>
              <a:rPr kumimoji="0" lang="zh-CN" altLang="zh-CN" sz="16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A~F(</a:t>
            </a:r>
            <a:r>
              <a:rPr kumimoji="0" lang="zh-CN" altLang="zh-CN" sz="1600" b="0" i="0" u="none" strike="noStrike" kern="1200" cap="none" spc="0" normalizeH="0" baseline="0" noProof="0" dirty="0">
                <a:ln>
                  <a:noFill/>
                </a:ln>
                <a:solidFill>
                  <a:schemeClr val="tx1"/>
                </a:solidFill>
                <a:effectLst/>
                <a:uLnTx/>
                <a:uFillTx/>
                <a:latin typeface="+mn-lt"/>
                <a:ea typeface="+mn-ea"/>
                <a:cs typeface="+mn-cs"/>
              </a:rPr>
              <a:t>包括</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0</a:t>
            </a:r>
            <a:r>
              <a:rPr kumimoji="0" lang="zh-CN" altLang="zh-CN" sz="1600" b="0" i="0" u="none" strike="noStrike" kern="1200" cap="none" spc="0" normalizeH="0" baseline="0" noProof="0" dirty="0">
                <a:ln>
                  <a:noFill/>
                </a:ln>
                <a:solidFill>
                  <a:schemeClr val="tx1"/>
                </a:solidFill>
                <a:effectLst/>
                <a:uLnTx/>
                <a:uFillTx/>
                <a:latin typeface="+mn-lt"/>
                <a:ea typeface="+mn-ea"/>
                <a:cs typeface="+mn-cs"/>
              </a:rPr>
              <a:t>和</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9</a:t>
            </a:r>
            <a:r>
              <a:rPr kumimoji="0" lang="zh-CN" altLang="zh-CN" sz="16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A</a:t>
            </a:r>
            <a:r>
              <a:rPr kumimoji="0" lang="zh-CN" altLang="zh-CN" sz="1600" b="0" i="0" u="none" strike="noStrike" kern="1200" cap="none" spc="0" normalizeH="0" baseline="0" noProof="0" dirty="0">
                <a:ln>
                  <a:noFill/>
                </a:ln>
                <a:solidFill>
                  <a:schemeClr val="tx1"/>
                </a:solidFill>
                <a:effectLst/>
                <a:uLnTx/>
                <a:uFillTx/>
                <a:latin typeface="+mn-lt"/>
                <a:ea typeface="+mn-ea"/>
                <a:cs typeface="+mn-cs"/>
              </a:rPr>
              <a:t>和</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F)</a:t>
            </a:r>
            <a:r>
              <a:rPr kumimoji="0" lang="zh-CN" altLang="zh-CN" sz="1600" b="0" i="0" u="none" strike="noStrike" kern="1200" cap="none" spc="0" normalizeH="0" baseline="0" noProof="0" dirty="0">
                <a:ln>
                  <a:noFill/>
                </a:ln>
                <a:solidFill>
                  <a:schemeClr val="tx1"/>
                </a:solidFill>
                <a:effectLst/>
                <a:uLnTx/>
                <a:uFillTx/>
                <a:latin typeface="+mn-lt"/>
                <a:ea typeface="+mn-ea"/>
                <a:cs typeface="+mn-cs"/>
              </a:rPr>
              <a:t>组成的数字序列，如</a:t>
            </a:r>
            <a:r>
              <a:rPr kumimoji="0" lang="en-US" altLang="zh-CN" sz="1600" b="0" i="0" u="none" strike="noStrike" kern="1200" cap="none" spc="0" normalizeH="0" baseline="0" noProof="0" dirty="0">
                <a:ln>
                  <a:noFill/>
                </a:ln>
                <a:solidFill>
                  <a:schemeClr val="tx1"/>
                </a:solidFill>
                <a:effectLst/>
                <a:uLnTx/>
                <a:uFillTx/>
                <a:latin typeface="+mn-lt"/>
                <a:ea typeface="+mn-ea"/>
                <a:cs typeface="+mn-cs"/>
              </a:rPr>
              <a:t>0x25AF</a:t>
            </a:r>
            <a:r>
              <a:rPr kumimoji="0" lang="zh-CN" altLang="zh-CN" sz="1600" b="0" i="0" u="none" strike="noStrike" kern="1200" cap="none" spc="0" normalizeH="0" baseline="0" noProof="0" dirty="0">
                <a:ln>
                  <a:noFill/>
                </a:ln>
                <a:solidFill>
                  <a:schemeClr val="tx1"/>
                </a:solidFill>
                <a:effectLst/>
                <a:uLnTx/>
                <a:uFillTx/>
                <a:latin typeface="+mn-lt"/>
                <a:ea typeface="+mn-ea"/>
                <a:cs typeface="+mn-cs"/>
              </a:rPr>
              <a:t>。</a:t>
            </a:r>
            <a:endParaRPr kumimoji="0" lang="zh-CN" altLang="zh-CN" sz="16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2.1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的基本语法</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29700"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内容占位符 2"/>
          <p:cNvSpPr>
            <a:spLocks noGrp="1"/>
          </p:cNvSpPr>
          <p:nvPr>
            <p:ph idx="1"/>
          </p:nvPr>
        </p:nvSpPr>
        <p:spPr>
          <a:xfrm>
            <a:off x="317500" y="1392238"/>
            <a:ext cx="8229600" cy="4513263"/>
          </a:xfrm>
          <a:ln>
            <a:solidFill>
              <a:srgbClr val="009ED6"/>
            </a:solidFill>
            <a:miter lim="800000"/>
          </a:ln>
        </p:spPr>
        <p:txBody>
          <a:bodyPr vert="horz" wrap="square" lIns="91440" tIns="45720" rIns="91440" bIns="45720" numCol="1" rtlCol="0" anchor="t" anchorCtr="0" compatLnSpc="1">
            <a:normAutofit lnSpcReduction="10000"/>
          </a:bodyPr>
          <a:lstStyle/>
          <a:p>
            <a:pPr marL="457200" marR="0" lvl="1" indent="0" algn="l" defTabSz="914400" rtl="0" eaLnBrk="1" fontAlgn="auto" latinLnBrk="0" hangingPunct="1">
              <a:lnSpc>
                <a:spcPct val="150000"/>
              </a:lnSpc>
              <a:spcBef>
                <a:spcPts val="500"/>
              </a:spcBef>
              <a:spcAft>
                <a:spcPts val="0"/>
              </a:spcAft>
              <a:buClrTx/>
              <a:buSzTx/>
              <a:buFontTx/>
              <a:buNone/>
              <a:defRPr/>
            </a:pPr>
            <a:r>
              <a:rPr kumimoji="0" lang="en-US" altLang="zh-CN" sz="2000" b="1" i="0" u="none" strike="noStrike" kern="1200" cap="none" spc="0" normalizeH="0" baseline="0" noProof="0">
                <a:ln>
                  <a:noFill/>
                </a:ln>
                <a:solidFill>
                  <a:schemeClr val="tx1"/>
                </a:solidFill>
                <a:effectLst/>
                <a:uLnTx/>
                <a:uFillTx/>
                <a:latin typeface="+mn-lt"/>
                <a:ea typeface="+mn-ea"/>
                <a:cs typeface="+mn-cs"/>
              </a:rPr>
              <a:t>2</a:t>
            </a:r>
            <a:r>
              <a:rPr kumimoji="0" lang="zh-CN" altLang="en-US" sz="2000" b="1" i="0" u="none" strike="noStrike" kern="1200" cap="none" spc="0" normalizeH="0" baseline="0" noProof="0">
                <a:ln>
                  <a:noFill/>
                </a:ln>
                <a:solidFill>
                  <a:schemeClr val="tx1"/>
                </a:solidFill>
                <a:effectLst/>
                <a:uLnTx/>
                <a:uFillTx/>
                <a:latin typeface="+mn-lt"/>
                <a:ea typeface="+mn-ea"/>
                <a:cs typeface="+mn-cs"/>
              </a:rPr>
              <a:t>、浮点数常量</a:t>
            </a:r>
            <a:endParaRPr kumimoji="0" lang="zh-CN" altLang="en-US" sz="2000" b="1" i="0" u="none" strike="noStrike" kern="1200" cap="none" spc="0" normalizeH="0" baseline="0" noProof="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150000"/>
              </a:lnSpc>
              <a:spcBef>
                <a:spcPts val="1000"/>
              </a:spcBef>
              <a:spcAft>
                <a:spcPts val="0"/>
              </a:spcAft>
              <a:buClrTx/>
              <a:buSzTx/>
              <a:buFont typeface="Wingdings" panose="05000000000000000000" pitchFamily="2" charset="2"/>
              <a:buChar char="Ø"/>
              <a:defRPr/>
            </a:pPr>
            <a:r>
              <a:rPr kumimoji="0" lang="zh-CN" altLang="zh-CN" sz="2000" b="0" i="0" u="none" strike="noStrike" kern="1200" cap="none" spc="0" normalizeH="0" baseline="0" noProof="0">
                <a:ln>
                  <a:noFill/>
                </a:ln>
                <a:solidFill>
                  <a:schemeClr val="tx1"/>
                </a:solidFill>
                <a:effectLst/>
                <a:uLnTx/>
                <a:uFillTx/>
                <a:latin typeface="+mn-lt"/>
                <a:ea typeface="+mn-ea"/>
                <a:cs typeface="+mn-cs"/>
              </a:rPr>
              <a:t>浮点数常量就是在数学中用到的小数，分为</a:t>
            </a:r>
            <a:r>
              <a:rPr kumimoji="0" lang="en-US" altLang="zh-CN" sz="2000" b="0" i="0" u="none" strike="noStrike" kern="1200" cap="none" spc="0" normalizeH="0" baseline="0" noProof="0">
                <a:ln>
                  <a:noFill/>
                </a:ln>
                <a:solidFill>
                  <a:schemeClr val="tx1"/>
                </a:solidFill>
                <a:effectLst/>
                <a:uLnTx/>
                <a:uFillTx/>
                <a:latin typeface="+mn-lt"/>
                <a:ea typeface="+mn-ea"/>
                <a:cs typeface="+mn-cs"/>
              </a:rPr>
              <a:t>float</a:t>
            </a:r>
            <a:r>
              <a:rPr kumimoji="0" lang="zh-CN" altLang="zh-CN" sz="2000" b="0" i="0" u="none" strike="noStrike" kern="1200" cap="none" spc="0" normalizeH="0" baseline="0" noProof="0">
                <a:ln>
                  <a:noFill/>
                </a:ln>
                <a:solidFill>
                  <a:schemeClr val="tx1"/>
                </a:solidFill>
                <a:effectLst/>
                <a:uLnTx/>
                <a:uFillTx/>
                <a:latin typeface="+mn-lt"/>
                <a:ea typeface="+mn-ea"/>
                <a:cs typeface="+mn-cs"/>
              </a:rPr>
              <a:t>单精度浮点数和</a:t>
            </a:r>
            <a:r>
              <a:rPr kumimoji="0" lang="en-US" altLang="zh-CN" sz="2000" b="0" i="0" u="none" strike="noStrike" kern="1200" cap="none" spc="0" normalizeH="0" baseline="0" noProof="0">
                <a:ln>
                  <a:noFill/>
                </a:ln>
                <a:solidFill>
                  <a:schemeClr val="tx1"/>
                </a:solidFill>
                <a:effectLst/>
                <a:uLnTx/>
                <a:uFillTx/>
                <a:latin typeface="+mn-lt"/>
                <a:ea typeface="+mn-ea"/>
                <a:cs typeface="+mn-cs"/>
              </a:rPr>
              <a:t>double</a:t>
            </a:r>
            <a:r>
              <a:rPr kumimoji="0" lang="zh-CN" altLang="zh-CN" sz="2000" b="0" i="0" u="none" strike="noStrike" kern="1200" cap="none" spc="0" normalizeH="0" baseline="0" noProof="0">
                <a:ln>
                  <a:noFill/>
                </a:ln>
                <a:solidFill>
                  <a:schemeClr val="tx1"/>
                </a:solidFill>
                <a:effectLst/>
                <a:uLnTx/>
                <a:uFillTx/>
                <a:latin typeface="+mn-lt"/>
                <a:ea typeface="+mn-ea"/>
                <a:cs typeface="+mn-cs"/>
              </a:rPr>
              <a:t>双精度浮点数两种类型。其中，单精度浮点数后面以</a:t>
            </a:r>
            <a:r>
              <a:rPr kumimoji="0" lang="en-US" altLang="zh-CN" sz="2000" b="0" i="0" u="none" strike="noStrike" kern="1200" cap="none" spc="0" normalizeH="0" baseline="0" noProof="0">
                <a:ln>
                  <a:noFill/>
                </a:ln>
                <a:solidFill>
                  <a:schemeClr val="tx1"/>
                </a:solidFill>
                <a:effectLst/>
                <a:uLnTx/>
                <a:uFillTx/>
                <a:latin typeface="+mn-lt"/>
                <a:ea typeface="+mn-ea"/>
                <a:cs typeface="+mn-cs"/>
              </a:rPr>
              <a:t>F</a:t>
            </a:r>
            <a:r>
              <a:rPr kumimoji="0" lang="zh-CN" altLang="zh-CN" sz="2000" b="0" i="0" u="none" strike="noStrike" kern="1200" cap="none" spc="0" normalizeH="0" baseline="0" noProof="0">
                <a:ln>
                  <a:noFill/>
                </a:ln>
                <a:solidFill>
                  <a:schemeClr val="tx1"/>
                </a:solidFill>
                <a:effectLst/>
                <a:uLnTx/>
                <a:uFillTx/>
                <a:latin typeface="+mn-lt"/>
                <a:ea typeface="+mn-ea"/>
                <a:cs typeface="+mn-cs"/>
              </a:rPr>
              <a:t>或</a:t>
            </a:r>
            <a:r>
              <a:rPr kumimoji="0" lang="en-US" altLang="zh-CN" sz="2000" b="0" i="0" u="none" strike="noStrike" kern="1200" cap="none" spc="0" normalizeH="0" baseline="0" noProof="0">
                <a:ln>
                  <a:noFill/>
                </a:ln>
                <a:solidFill>
                  <a:schemeClr val="tx1"/>
                </a:solidFill>
                <a:effectLst/>
                <a:uLnTx/>
                <a:uFillTx/>
                <a:latin typeface="+mn-lt"/>
                <a:ea typeface="+mn-ea"/>
                <a:cs typeface="+mn-cs"/>
              </a:rPr>
              <a:t>f</a:t>
            </a:r>
            <a:r>
              <a:rPr kumimoji="0" lang="zh-CN" altLang="zh-CN" sz="2000" b="0" i="0" u="none" strike="noStrike" kern="1200" cap="none" spc="0" normalizeH="0" baseline="0" noProof="0">
                <a:ln>
                  <a:noFill/>
                </a:ln>
                <a:solidFill>
                  <a:schemeClr val="tx1"/>
                </a:solidFill>
                <a:effectLst/>
                <a:uLnTx/>
                <a:uFillTx/>
                <a:latin typeface="+mn-lt"/>
                <a:ea typeface="+mn-ea"/>
                <a:cs typeface="+mn-cs"/>
              </a:rPr>
              <a:t>结尾，而双精度浮点数则以</a:t>
            </a:r>
            <a:r>
              <a:rPr kumimoji="0" lang="en-US" altLang="zh-CN" sz="2000" b="0" i="0" u="none" strike="noStrike" kern="1200" cap="none" spc="0" normalizeH="0" baseline="0" noProof="0">
                <a:ln>
                  <a:noFill/>
                </a:ln>
                <a:solidFill>
                  <a:schemeClr val="tx1"/>
                </a:solidFill>
                <a:effectLst/>
                <a:uLnTx/>
                <a:uFillTx/>
                <a:latin typeface="+mn-lt"/>
                <a:ea typeface="+mn-ea"/>
                <a:cs typeface="+mn-cs"/>
              </a:rPr>
              <a:t>D</a:t>
            </a:r>
            <a:r>
              <a:rPr kumimoji="0" lang="zh-CN" altLang="zh-CN" sz="2000" b="0" i="0" u="none" strike="noStrike" kern="1200" cap="none" spc="0" normalizeH="0" baseline="0" noProof="0">
                <a:ln>
                  <a:noFill/>
                </a:ln>
                <a:solidFill>
                  <a:schemeClr val="tx1"/>
                </a:solidFill>
                <a:effectLst/>
                <a:uLnTx/>
                <a:uFillTx/>
                <a:latin typeface="+mn-lt"/>
                <a:ea typeface="+mn-ea"/>
                <a:cs typeface="+mn-cs"/>
              </a:rPr>
              <a:t>或</a:t>
            </a:r>
            <a:r>
              <a:rPr kumimoji="0" lang="en-US" altLang="zh-CN" sz="2000" b="0" i="0" u="none" strike="noStrike" kern="1200" cap="none" spc="0" normalizeH="0" baseline="0" noProof="0">
                <a:ln>
                  <a:noFill/>
                </a:ln>
                <a:solidFill>
                  <a:schemeClr val="tx1"/>
                </a:solidFill>
                <a:effectLst/>
                <a:uLnTx/>
                <a:uFillTx/>
                <a:latin typeface="+mn-lt"/>
                <a:ea typeface="+mn-ea"/>
                <a:cs typeface="+mn-cs"/>
              </a:rPr>
              <a:t>d</a:t>
            </a:r>
            <a:r>
              <a:rPr kumimoji="0" lang="zh-CN" altLang="zh-CN" sz="2000" b="0" i="0" u="none" strike="noStrike" kern="1200" cap="none" spc="0" normalizeH="0" baseline="0" noProof="0">
                <a:ln>
                  <a:noFill/>
                </a:ln>
                <a:solidFill>
                  <a:schemeClr val="tx1"/>
                </a:solidFill>
                <a:effectLst/>
                <a:uLnTx/>
                <a:uFillTx/>
                <a:latin typeface="+mn-lt"/>
                <a:ea typeface="+mn-ea"/>
                <a:cs typeface="+mn-cs"/>
              </a:rPr>
              <a:t>结尾。当然，在使用浮点数时也可以在结尾处不加任何的后缀，此时虚拟机会默认为</a:t>
            </a:r>
            <a:r>
              <a:rPr kumimoji="0" lang="en-US" altLang="zh-CN" sz="2000" b="0" i="0" u="none" strike="noStrike" kern="1200" cap="none" spc="0" normalizeH="0" baseline="0" noProof="0">
                <a:ln>
                  <a:noFill/>
                </a:ln>
                <a:solidFill>
                  <a:schemeClr val="tx1"/>
                </a:solidFill>
                <a:effectLst/>
                <a:uLnTx/>
                <a:uFillTx/>
                <a:latin typeface="+mn-lt"/>
                <a:ea typeface="+mn-ea"/>
                <a:cs typeface="+mn-cs"/>
              </a:rPr>
              <a:t>double</a:t>
            </a:r>
            <a:r>
              <a:rPr kumimoji="0" lang="zh-CN" altLang="zh-CN" sz="2000" b="0" i="0" u="none" strike="noStrike" kern="1200" cap="none" spc="0" normalizeH="0" baseline="0" noProof="0">
                <a:ln>
                  <a:noFill/>
                </a:ln>
                <a:solidFill>
                  <a:schemeClr val="tx1"/>
                </a:solidFill>
                <a:effectLst/>
                <a:uLnTx/>
                <a:uFillTx/>
                <a:latin typeface="+mn-lt"/>
                <a:ea typeface="+mn-ea"/>
                <a:cs typeface="+mn-cs"/>
              </a:rPr>
              <a:t>双精度浮点数。浮点数常量还可以通过指数形式来表示。具体示例如下：</a:t>
            </a:r>
            <a:endParaRPr kumimoji="0" lang="en-US" altLang="zh-CN" sz="2000" b="0" i="0" u="none" strike="noStrike" kern="1200" cap="none" spc="0" normalizeH="0" baseline="0" noProof="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150000"/>
              </a:lnSpc>
              <a:spcBef>
                <a:spcPts val="1000"/>
              </a:spcBef>
              <a:spcAft>
                <a:spcPts val="0"/>
              </a:spcAft>
              <a:buClrTx/>
              <a:buSzTx/>
              <a:buFont typeface="Wingdings" panose="05000000000000000000" pitchFamily="2" charset="2"/>
              <a:buChar char="Ø"/>
              <a:defRPr/>
            </a:pPr>
            <a:endParaRPr kumimoji="0" lang="en-US" altLang="zh-CN" sz="2000" b="0" i="0" u="none" strike="noStrike" kern="1200" cap="none" spc="0" normalizeH="0" baseline="0" noProof="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150000"/>
              </a:lnSpc>
              <a:spcBef>
                <a:spcPts val="1000"/>
              </a:spcBef>
              <a:spcAft>
                <a:spcPts val="0"/>
              </a:spcAft>
              <a:buClrTx/>
              <a:buSzTx/>
              <a:buFont typeface="Wingdings" panose="05000000000000000000" pitchFamily="2" charset="2"/>
              <a:buChar char="Ø"/>
              <a:defRPr/>
            </a:pPr>
            <a:r>
              <a:rPr kumimoji="0" lang="zh-CN" altLang="zh-CN" sz="2000" b="0" i="0" u="none" strike="noStrike" kern="1200" cap="none" spc="0" normalizeH="0" baseline="0" noProof="0">
                <a:ln>
                  <a:noFill/>
                </a:ln>
                <a:solidFill>
                  <a:schemeClr val="tx1"/>
                </a:solidFill>
                <a:effectLst/>
                <a:uLnTx/>
                <a:uFillTx/>
                <a:latin typeface="+mn-lt"/>
                <a:ea typeface="+mn-ea"/>
                <a:cs typeface="+mn-cs"/>
              </a:rPr>
              <a:t>上述列出的浮点数常量中用到的</a:t>
            </a:r>
            <a:r>
              <a:rPr kumimoji="0" lang="en-US" altLang="zh-CN" sz="2000" b="0" i="0" u="none" strike="noStrike" kern="1200" cap="none" spc="0" normalizeH="0" baseline="0" noProof="0">
                <a:ln>
                  <a:noFill/>
                </a:ln>
                <a:solidFill>
                  <a:schemeClr val="tx1"/>
                </a:solidFill>
                <a:effectLst/>
                <a:uLnTx/>
                <a:uFillTx/>
                <a:latin typeface="+mn-lt"/>
                <a:ea typeface="+mn-ea"/>
                <a:cs typeface="+mn-cs"/>
              </a:rPr>
              <a:t>e</a:t>
            </a:r>
            <a:r>
              <a:rPr kumimoji="0" lang="zh-CN" altLang="zh-CN" sz="2000" b="0" i="0" u="none" strike="noStrike" kern="1200" cap="none" spc="0" normalizeH="0" baseline="0" noProof="0">
                <a:ln>
                  <a:noFill/>
                </a:ln>
                <a:solidFill>
                  <a:schemeClr val="tx1"/>
                </a:solidFill>
                <a:effectLst/>
                <a:uLnTx/>
                <a:uFillTx/>
                <a:latin typeface="+mn-lt"/>
                <a:ea typeface="+mn-ea"/>
                <a:cs typeface="+mn-cs"/>
              </a:rPr>
              <a:t>和</a:t>
            </a:r>
            <a:r>
              <a:rPr kumimoji="0" lang="en-US" altLang="zh-CN" sz="2000" b="0" i="0" u="none" strike="noStrike" kern="1200" cap="none" spc="0" normalizeH="0" baseline="0" noProof="0">
                <a:ln>
                  <a:noFill/>
                </a:ln>
                <a:solidFill>
                  <a:schemeClr val="tx1"/>
                </a:solidFill>
                <a:effectLst/>
                <a:uLnTx/>
                <a:uFillTx/>
                <a:latin typeface="+mn-lt"/>
                <a:ea typeface="+mn-ea"/>
                <a:cs typeface="+mn-cs"/>
              </a:rPr>
              <a:t>f</a:t>
            </a:r>
            <a:r>
              <a:rPr kumimoji="0" lang="zh-CN" altLang="zh-CN" sz="2000" b="0" i="0" u="none" strike="noStrike" kern="1200" cap="none" spc="0" normalizeH="0" baseline="0" noProof="0">
                <a:ln>
                  <a:noFill/>
                </a:ln>
                <a:solidFill>
                  <a:schemeClr val="tx1"/>
                </a:solidFill>
                <a:effectLst/>
                <a:uLnTx/>
                <a:uFillTx/>
                <a:latin typeface="+mn-lt"/>
                <a:ea typeface="+mn-ea"/>
                <a:cs typeface="+mn-cs"/>
              </a:rPr>
              <a:t>，初学者可能会感到困惑，在后面的</a:t>
            </a:r>
            <a:r>
              <a:rPr kumimoji="0" lang="en-US" altLang="zh-CN" sz="2000" b="0" i="0" u="none" strike="noStrike" kern="1200" cap="none" spc="0" normalizeH="0" baseline="0" noProof="0">
                <a:ln>
                  <a:noFill/>
                </a:ln>
                <a:solidFill>
                  <a:schemeClr val="tx1"/>
                </a:solidFill>
                <a:effectLst/>
                <a:uLnTx/>
                <a:uFillTx/>
                <a:latin typeface="+mn-lt"/>
                <a:ea typeface="+mn-ea"/>
                <a:cs typeface="+mn-cs"/>
              </a:rPr>
              <a:t>2.2.2</a:t>
            </a:r>
            <a:r>
              <a:rPr kumimoji="0" lang="zh-CN" altLang="zh-CN" sz="2000" b="0" i="0" u="none" strike="noStrike" kern="1200" cap="none" spc="0" normalizeH="0" baseline="0" noProof="0">
                <a:ln>
                  <a:noFill/>
                </a:ln>
                <a:solidFill>
                  <a:schemeClr val="tx1"/>
                </a:solidFill>
                <a:effectLst/>
                <a:uLnTx/>
                <a:uFillTx/>
                <a:latin typeface="+mn-lt"/>
                <a:ea typeface="+mn-ea"/>
                <a:cs typeface="+mn-cs"/>
              </a:rPr>
              <a:t>小节中将会详细介绍。</a:t>
            </a:r>
            <a:endParaRPr kumimoji="0" lang="zh-CN" altLang="zh-CN" sz="2000" b="0" i="0" u="none" strike="noStrike" kern="1200" cap="none" spc="0" normalizeH="0" baseline="0" noProof="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150000"/>
              </a:lnSpc>
              <a:spcBef>
                <a:spcPts val="1000"/>
              </a:spcBef>
              <a:spcAft>
                <a:spcPts val="0"/>
              </a:spcAft>
              <a:buClrTx/>
              <a:buSzTx/>
              <a:buFont typeface="Wingdings" panose="05000000000000000000" pitchFamily="2" charset="2"/>
              <a:buChar char="Ø"/>
              <a:defRPr/>
            </a:pPr>
            <a:endParaRPr kumimoji="0" lang="en-US" altLang="zh-CN" sz="2000" b="0" i="0" u="none" strike="noStrike" kern="1200" cap="none" spc="0" normalizeH="0" baseline="0" noProof="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150000"/>
              </a:lnSpc>
              <a:spcBef>
                <a:spcPts val="1000"/>
              </a:spcBef>
              <a:spcAft>
                <a:spcPts val="0"/>
              </a:spcAft>
              <a:buClrTx/>
              <a:buSzTx/>
              <a:buFont typeface="Wingdings" panose="05000000000000000000" pitchFamily="2" charset="2"/>
              <a:buChar char="Ø"/>
              <a:defRPr/>
            </a:pPr>
            <a:endParaRPr kumimoji="0" lang="zh-CN" altLang="zh-CN" sz="2000" b="0" i="0" u="none" strike="noStrike" kern="1200" cap="none" spc="0" normalizeH="0" baseline="0" noProof="0">
              <a:ln>
                <a:noFill/>
              </a:ln>
              <a:solidFill>
                <a:schemeClr val="tx1"/>
              </a:solidFill>
              <a:effectLst/>
              <a:uLnTx/>
              <a:uFillTx/>
              <a:latin typeface="+mn-lt"/>
              <a:ea typeface="+mn-ea"/>
              <a:cs typeface="+mn-cs"/>
            </a:endParaRPr>
          </a:p>
        </p:txBody>
      </p:sp>
      <p:pic>
        <p:nvPicPr>
          <p:cNvPr id="30723" name="Picture 7"/>
          <p:cNvPicPr>
            <a:picLocks noChangeAspect="1"/>
          </p:cNvPicPr>
          <p:nvPr/>
        </p:nvPicPr>
        <p:blipFill>
          <a:blip r:embed="rId1"/>
          <a:stretch>
            <a:fillRect/>
          </a:stretch>
        </p:blipFill>
        <p:spPr>
          <a:xfrm>
            <a:off x="1009650" y="4383088"/>
            <a:ext cx="5741988" cy="314325"/>
          </a:xfrm>
          <a:prstGeom prst="rect">
            <a:avLst/>
          </a:prstGeom>
          <a:noFill/>
          <a:ln w="9525">
            <a:noFill/>
          </a:ln>
        </p:spPr>
      </p:pic>
      <p:sp>
        <p:nvSpPr>
          <p:cNvPr id="5"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2.1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的基本语法</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30725"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内容占位符 2"/>
          <p:cNvSpPr>
            <a:spLocks noGrp="1"/>
          </p:cNvSpPr>
          <p:nvPr>
            <p:ph idx="1"/>
          </p:nvPr>
        </p:nvSpPr>
        <p:spPr>
          <a:xfrm>
            <a:off x="457200" y="1060450"/>
            <a:ext cx="8229600" cy="4624388"/>
          </a:xfrm>
          <a:ln>
            <a:solidFill>
              <a:srgbClr val="009ED6"/>
            </a:solidFill>
            <a:miter lim="800000"/>
          </a:ln>
        </p:spPr>
        <p:txBody>
          <a:bodyPr vert="horz" wrap="square" lIns="91440" tIns="45720" rIns="91440" bIns="45720" numCol="1" rtlCol="0" anchor="t" anchorCtr="0" compatLnSpc="1">
            <a:normAutofit/>
          </a:bodyPr>
          <a:lstStyle/>
          <a:p>
            <a:pPr marL="457200" marR="0" lvl="1" indent="0" algn="l" defTabSz="914400" rtl="0" eaLnBrk="1" fontAlgn="auto" latinLnBrk="0" hangingPunct="1">
              <a:lnSpc>
                <a:spcPct val="150000"/>
              </a:lnSpc>
              <a:spcBef>
                <a:spcPts val="500"/>
              </a:spcBef>
              <a:spcAft>
                <a:spcPts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3</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、字符常量</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字符常量用于表示一个字符，一个字符常量要用一对英文半角格式的单引号（</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）引起来，它可以是英文字母、数字、标点符号、以及由转义序列来表示的特殊字符。具体示例如下：</a:t>
            </a:r>
            <a:endParaRPr kumimoji="0" lang="zh-CN" altLang="en-US"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cs"/>
              </a:rPr>
              <a:t>上面的示例中，</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'\u0000'</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表示一个空白字符，即在单引号之间没有任何字符。之所以能这样表示是因为，</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Java</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采用的是</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Unicode</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字符集，</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Unicode</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字符以</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\u</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开头，空白字符在</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Unicode</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码表中对应的值为</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'\u0000'</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31747" name="Picture 5"/>
          <p:cNvPicPr>
            <a:picLocks noChangeAspect="1"/>
          </p:cNvPicPr>
          <p:nvPr/>
        </p:nvPicPr>
        <p:blipFill>
          <a:blip r:embed="rId1"/>
          <a:stretch>
            <a:fillRect/>
          </a:stretch>
        </p:blipFill>
        <p:spPr>
          <a:xfrm>
            <a:off x="1711325" y="3146425"/>
            <a:ext cx="5800725" cy="374650"/>
          </a:xfrm>
          <a:prstGeom prst="rect">
            <a:avLst/>
          </a:prstGeom>
          <a:noFill/>
          <a:ln w="9525">
            <a:noFill/>
          </a:ln>
        </p:spPr>
      </p:pic>
      <p:sp>
        <p:nvSpPr>
          <p:cNvPr id="5"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2.1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的基本语法</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31749"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内容占位符 2"/>
          <p:cNvSpPr>
            <a:spLocks noGrp="1"/>
          </p:cNvSpPr>
          <p:nvPr>
            <p:ph idx="1"/>
          </p:nvPr>
        </p:nvSpPr>
        <p:spPr>
          <a:xfrm>
            <a:off x="487363" y="1196975"/>
            <a:ext cx="8229600" cy="3168650"/>
          </a:xfrm>
          <a:ln>
            <a:solidFill>
              <a:srgbClr val="009ED6"/>
            </a:solidFill>
            <a:miter lim="800000"/>
          </a:ln>
        </p:spPr>
        <p:txBody>
          <a:bodyPr vert="horz" wrap="square" lIns="91440" tIns="45720" rIns="91440" bIns="45720" numCol="1" rtlCol="0" anchor="t" anchorCtr="0" compatLnSpc="1">
            <a:normAutofit/>
          </a:bodyPr>
          <a:lstStyle/>
          <a:p>
            <a:pPr marL="457200" marR="0" lvl="1" indent="0" algn="l" defTabSz="914400" rtl="0" eaLnBrk="1" fontAlgn="auto" latinLnBrk="0" hangingPunct="1">
              <a:lnSpc>
                <a:spcPct val="150000"/>
              </a:lnSpc>
              <a:spcBef>
                <a:spcPts val="500"/>
              </a:spcBef>
              <a:spcAft>
                <a:spcPts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4</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、字符串常量</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字符串常量用于表示一串连续的字符，一个字符串常量要用一对英文半角格式的双引号（</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 "</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）引起来，具体示例如下：</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50000"/>
              </a:lnSpc>
              <a:spcBef>
                <a:spcPts val="500"/>
              </a:spcBef>
              <a:spcAft>
                <a:spcPts val="0"/>
              </a:spcAft>
              <a:buClrTx/>
              <a:buSzTx/>
              <a:buFontTx/>
              <a:buNone/>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cs"/>
              </a:rPr>
              <a:t>一个字符串可以包含一个字符或多个字符，也可以不包含任何字符，即长度为零。</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32771" name="Picture 5"/>
          <p:cNvPicPr>
            <a:picLocks noChangeAspect="1"/>
          </p:cNvPicPr>
          <p:nvPr/>
        </p:nvPicPr>
        <p:blipFill>
          <a:blip r:embed="rId1"/>
          <a:stretch>
            <a:fillRect/>
          </a:stretch>
        </p:blipFill>
        <p:spPr>
          <a:xfrm>
            <a:off x="1338263" y="2759075"/>
            <a:ext cx="6697662" cy="373063"/>
          </a:xfrm>
          <a:prstGeom prst="rect">
            <a:avLst/>
          </a:prstGeom>
          <a:noFill/>
          <a:ln w="9525">
            <a:noFill/>
          </a:ln>
        </p:spPr>
      </p:pic>
      <p:sp>
        <p:nvSpPr>
          <p:cNvPr id="5"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2.1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的基本语法</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32773"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内容占位符 2"/>
          <p:cNvSpPr>
            <a:spLocks noGrp="1"/>
          </p:cNvSpPr>
          <p:nvPr>
            <p:ph idx="1"/>
          </p:nvPr>
        </p:nvSpPr>
        <p:spPr>
          <a:xfrm>
            <a:off x="457200" y="1673225"/>
            <a:ext cx="8229600" cy="3221038"/>
          </a:xfrm>
          <a:ln>
            <a:solidFill>
              <a:srgbClr val="009ED6"/>
            </a:solidFill>
            <a:miter lim="800000"/>
          </a:ln>
        </p:spPr>
        <p:txBody>
          <a:bodyPr vert="horz" wrap="square" lIns="91440" tIns="45720" rIns="91440" bIns="45720" numCol="1" rtlCol="0" anchor="t" anchorCtr="0" compatLnSpc="1">
            <a:normAutofit/>
          </a:bodyPr>
          <a:lstStyle/>
          <a:p>
            <a:pPr marL="457200" marR="0" lvl="1" indent="0" algn="l" defTabSz="914400" rtl="0" eaLnBrk="1" fontAlgn="auto" latinLnBrk="0" hangingPunct="1">
              <a:lnSpc>
                <a:spcPct val="150000"/>
              </a:lnSpc>
              <a:spcBef>
                <a:spcPts val="500"/>
              </a:spcBef>
              <a:spcAft>
                <a:spcPts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5</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、布尔常量</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布尔常量即布尔型的两个值</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true</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和</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false</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，该常量用于区分一个事物的真与假。</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50000"/>
              </a:lnSpc>
              <a:spcBef>
                <a:spcPts val="500"/>
              </a:spcBef>
              <a:spcAft>
                <a:spcPts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6</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null</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常量</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null</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常量只有一个值</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null</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，表示对象的引用为空。关于</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null</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常量将会在第三章中详细介绍。</a:t>
            </a:r>
            <a:endParaRPr kumimoji="0" lang="zh-CN" altLang="en-US" sz="2000" b="0" i="0" u="none" strike="noStrike" kern="1200" cap="none" spc="0" normalizeH="0" baseline="0" noProof="0" dirty="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50000"/>
              </a:lnSpc>
              <a:spcBef>
                <a:spcPts val="500"/>
              </a:spcBef>
              <a:spcAft>
                <a:spcPts val="0"/>
              </a:spcAft>
              <a:buClrTx/>
              <a:buSzTx/>
              <a:buFontTx/>
              <a:buNone/>
              <a:defRPr/>
            </a:pPr>
            <a:endParaRPr kumimoji="0" lang="zh-CN" altLang="en-US"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2.1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的基本语法</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33796"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内容占位符 2"/>
          <p:cNvSpPr>
            <a:spLocks noGrp="1"/>
          </p:cNvSpPr>
          <p:nvPr>
            <p:ph idx="1"/>
          </p:nvPr>
        </p:nvSpPr>
        <p:spPr>
          <a:xfrm>
            <a:off x="455613" y="1782763"/>
            <a:ext cx="8229600" cy="4878387"/>
          </a:xfrm>
          <a:ln>
            <a:solidFill>
              <a:srgbClr val="009ED6">
                <a:alpha val="100000"/>
              </a:srgbClr>
            </a:solidFill>
            <a:miter lim="800000"/>
          </a:ln>
        </p:spPr>
        <p:txBody>
          <a:bodyPr vert="horz" wrap="square" lIns="91440" tIns="45720" rIns="91440" bIns="45720" anchor="t" anchorCtr="0"/>
          <a:p>
            <a:pPr lvl="1" eaLnBrk="1" hangingPunct="1">
              <a:buFont typeface="Wingdings" panose="05000000000000000000" pitchFamily="2" charset="2"/>
              <a:buChar char="Ø"/>
            </a:pPr>
            <a:r>
              <a:rPr lang="zh-CN" altLang="en-US" kern="1200" dirty="0">
                <a:latin typeface="+mn-lt"/>
                <a:ea typeface="+mn-ea"/>
                <a:cs typeface="等线" panose="02010600030101010101" charset="-122"/>
              </a:rPr>
              <a:t>在程序运行期间，随时可能产生一些临时数据，应用程序会将这些数据保存在一些内存单元中，每个内存单元都用一个标识符来标识。这些内存单元我们称之为变量，定义的标识符就是变量名，内存单元中存储的数据就是变量的值。</a:t>
            </a:r>
            <a:endParaRPr lang="en-US" altLang="zh-CN" kern="1200" dirty="0">
              <a:latin typeface="+mn-lt"/>
              <a:ea typeface="+mn-ea"/>
              <a:cs typeface="等线" panose="02010600030101010101" charset="-122"/>
            </a:endParaRPr>
          </a:p>
        </p:txBody>
      </p:sp>
      <p:pic>
        <p:nvPicPr>
          <p:cNvPr id="34819" name="图片 1" descr="屏幕剪辑"/>
          <p:cNvPicPr>
            <a:picLocks noChangeAspect="1"/>
          </p:cNvPicPr>
          <p:nvPr/>
        </p:nvPicPr>
        <p:blipFill>
          <a:blip r:embed="rId1"/>
          <a:stretch>
            <a:fillRect/>
          </a:stretch>
        </p:blipFill>
        <p:spPr>
          <a:xfrm>
            <a:off x="6080125" y="3659188"/>
            <a:ext cx="2243138" cy="900112"/>
          </a:xfrm>
          <a:prstGeom prst="rect">
            <a:avLst/>
          </a:prstGeom>
          <a:noFill/>
          <a:ln w="9525">
            <a:noFill/>
          </a:ln>
        </p:spPr>
      </p:pic>
      <p:sp>
        <p:nvSpPr>
          <p:cNvPr id="4" name="矩形 3"/>
          <p:cNvSpPr/>
          <p:nvPr/>
        </p:nvSpPr>
        <p:spPr>
          <a:xfrm>
            <a:off x="455613" y="3678238"/>
            <a:ext cx="5284788" cy="2862263"/>
          </a:xfrm>
          <a:prstGeom prst="rect">
            <a:avLst/>
          </a:prstGeom>
        </p:spPr>
        <p:txBody>
          <a:bodyPr>
            <a:spAutoFit/>
          </a:bodyPr>
          <a:lstStyle/>
          <a:p>
            <a:pPr marL="800100" marR="0" lvl="1" indent="-342900" algn="l" defTabSz="914400" rtl="0" eaLnBrk="0" fontAlgn="base" latinLnBrk="0" hangingPunct="0">
              <a:lnSpc>
                <a:spcPct val="150000"/>
              </a:lnSpc>
              <a:spcBef>
                <a:spcPct val="20000"/>
              </a:spcBef>
              <a:spcAft>
                <a:spcPct val="0"/>
              </a:spcAft>
              <a:buClrTx/>
              <a:buSzTx/>
              <a:buFont typeface="Wingdings" panose="05000000000000000000" pitchFamily="2" charset="2"/>
              <a:buChar char="Ø"/>
              <a:defRPr/>
            </a:pPr>
            <a:r>
              <a:rPr kumimoji="0" lang="zh-CN" altLang="en-US"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右边</a:t>
            </a:r>
            <a:r>
              <a:rPr kumimoji="0" lang="zh-CN"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的代码中，第一行代码的作用是定义了两个变量</a:t>
            </a:r>
            <a:r>
              <a:rPr kumimoji="0" lang="en-US"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x</a:t>
            </a:r>
            <a:r>
              <a:rPr kumimoji="0" lang="zh-CN"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和</a:t>
            </a:r>
            <a:r>
              <a:rPr kumimoji="0" lang="en-US"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y</a:t>
            </a:r>
            <a:r>
              <a:rPr kumimoji="0" lang="zh-CN"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，也就相当于分配了两块内存单元，在定义变量的同时为变量</a:t>
            </a:r>
            <a:r>
              <a:rPr kumimoji="0" lang="en-US"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x</a:t>
            </a:r>
            <a:r>
              <a:rPr kumimoji="0" lang="zh-CN"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分配了一个初始值</a:t>
            </a:r>
            <a:r>
              <a:rPr kumimoji="0" lang="en-US"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0</a:t>
            </a:r>
            <a:r>
              <a:rPr kumimoji="0" lang="zh-CN"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，而变量</a:t>
            </a:r>
            <a:r>
              <a:rPr kumimoji="0" lang="en-US"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y</a:t>
            </a:r>
            <a:r>
              <a:rPr kumimoji="0" lang="zh-CN"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没有分配初始值，变量</a:t>
            </a:r>
            <a:r>
              <a:rPr kumimoji="0" lang="en-US"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x</a:t>
            </a:r>
            <a:r>
              <a:rPr kumimoji="0" lang="zh-CN"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和</a:t>
            </a:r>
            <a:r>
              <a:rPr kumimoji="0" lang="en-US"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y</a:t>
            </a:r>
            <a:r>
              <a:rPr kumimoji="0" lang="zh-CN"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在内存中的状态如图所示。</a:t>
            </a:r>
            <a:endParaRPr kumimoji="0" lang="en-US"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endParaRPr>
          </a:p>
        </p:txBody>
      </p:sp>
      <p:pic>
        <p:nvPicPr>
          <p:cNvPr id="34821" name="Picture 2" descr="variant1"/>
          <p:cNvPicPr>
            <a:picLocks noChangeAspect="1"/>
          </p:cNvPicPr>
          <p:nvPr/>
        </p:nvPicPr>
        <p:blipFill>
          <a:blip r:embed="rId2"/>
          <a:stretch>
            <a:fillRect/>
          </a:stretch>
        </p:blipFill>
        <p:spPr>
          <a:xfrm>
            <a:off x="5880100" y="4764088"/>
            <a:ext cx="2760663" cy="1800225"/>
          </a:xfrm>
          <a:prstGeom prst="rect">
            <a:avLst/>
          </a:prstGeom>
          <a:noFill/>
          <a:ln w="9525">
            <a:noFill/>
          </a:ln>
        </p:spPr>
      </p:pic>
      <p:sp>
        <p:nvSpPr>
          <p:cNvPr id="7" name="剪去对角的矩形 6"/>
          <p:cNvSpPr/>
          <p:nvPr/>
        </p:nvSpPr>
        <p:spPr bwMode="auto">
          <a:xfrm>
            <a:off x="5016500" y="1084263"/>
            <a:ext cx="3454400"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4823" name="矩形 7"/>
          <p:cNvSpPr/>
          <p:nvPr/>
        </p:nvSpPr>
        <p:spPr>
          <a:xfrm>
            <a:off x="5870575" y="1093788"/>
            <a:ext cx="2700338" cy="519112"/>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35000"/>
              </a:lnSpc>
              <a:spcBef>
                <a:spcPct val="0"/>
              </a:spcBef>
              <a:buNone/>
            </a:pPr>
            <a:r>
              <a:rPr lang="zh-CN" altLang="en-US" sz="2400" dirty="0">
                <a:solidFill>
                  <a:srgbClr val="00B0F0"/>
                </a:solidFill>
                <a:latin typeface="黑体" panose="02010609060101010101" pitchFamily="49" charset="-122"/>
                <a:ea typeface="黑体" panose="02010609060101010101" pitchFamily="49" charset="-122"/>
              </a:rPr>
              <a:t>变量的定义</a:t>
            </a:r>
            <a:endParaRPr lang="zh-CN" altLang="zh-CN" sz="2400" dirty="0">
              <a:solidFill>
                <a:srgbClr val="00B0F0"/>
              </a:solidFill>
              <a:latin typeface="黑体" panose="02010609060101010101" pitchFamily="49" charset="-122"/>
              <a:ea typeface="黑体" panose="02010609060101010101" pitchFamily="49" charset="-122"/>
            </a:endParaRPr>
          </a:p>
        </p:txBody>
      </p:sp>
      <p:sp>
        <p:nvSpPr>
          <p:cNvPr id="9"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2.2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中的变量</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34825"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9"/>
                                        </p:tgtEl>
                                      </p:cBhvr>
                                    </p:animEffect>
                                    <p:animScale>
                                      <p:cBhvr>
                                        <p:cTn id="7" dur="250" autoRev="1"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内容占位符 2"/>
          <p:cNvSpPr>
            <a:spLocks noGrp="1"/>
          </p:cNvSpPr>
          <p:nvPr>
            <p:ph idx="1"/>
          </p:nvPr>
        </p:nvSpPr>
        <p:spPr>
          <a:xfrm>
            <a:off x="457200" y="1066800"/>
            <a:ext cx="8229600" cy="5187950"/>
          </a:xfrm>
          <a:ln>
            <a:solidFill>
              <a:srgbClr val="009ED6">
                <a:alpha val="100000"/>
              </a:srgbClr>
            </a:solidFill>
            <a:miter lim="800000"/>
          </a:ln>
        </p:spPr>
        <p:txBody>
          <a:bodyPr vert="horz" wrap="square" lIns="91440" tIns="45720" rIns="91440" bIns="45720" anchor="t" anchorCtr="0"/>
          <a:p>
            <a:pPr lvl="1" eaLnBrk="1" hangingPunct="1">
              <a:buFont typeface="Wingdings" panose="05000000000000000000" pitchFamily="2" charset="2"/>
              <a:buChar char="Ø"/>
            </a:pPr>
            <a:r>
              <a:rPr lang="zh-CN" altLang="en-US" kern="1200" dirty="0">
                <a:latin typeface="+mn-lt"/>
                <a:ea typeface="+mn-ea"/>
                <a:cs typeface="等线" panose="02010600030101010101" charset="-122"/>
              </a:rPr>
              <a:t>在程序运行期间，随时可能产生一些临时数据，应用程序会将这些数据保存在一些内存单元中，每个内存单元都用一个标识符来标识。这些内存单元我们称之为变量，定义的标识符就是变量名，内存单元中存储的数据就是变量的值。</a:t>
            </a:r>
            <a:endParaRPr lang="en-US" altLang="zh-CN" kern="1200" dirty="0">
              <a:latin typeface="+mn-lt"/>
              <a:ea typeface="+mn-ea"/>
              <a:cs typeface="等线" panose="02010600030101010101" charset="-122"/>
            </a:endParaRPr>
          </a:p>
        </p:txBody>
      </p:sp>
      <p:pic>
        <p:nvPicPr>
          <p:cNvPr id="35843" name="图片 1" descr="屏幕剪辑"/>
          <p:cNvPicPr>
            <a:picLocks noChangeAspect="1"/>
          </p:cNvPicPr>
          <p:nvPr/>
        </p:nvPicPr>
        <p:blipFill>
          <a:blip r:embed="rId1"/>
          <a:stretch>
            <a:fillRect/>
          </a:stretch>
        </p:blipFill>
        <p:spPr>
          <a:xfrm>
            <a:off x="6092825" y="3263900"/>
            <a:ext cx="2243138" cy="900113"/>
          </a:xfrm>
          <a:prstGeom prst="rect">
            <a:avLst/>
          </a:prstGeom>
          <a:noFill/>
          <a:ln w="9525">
            <a:noFill/>
          </a:ln>
        </p:spPr>
      </p:pic>
      <p:sp>
        <p:nvSpPr>
          <p:cNvPr id="4" name="矩形 3"/>
          <p:cNvSpPr/>
          <p:nvPr/>
        </p:nvSpPr>
        <p:spPr>
          <a:xfrm>
            <a:off x="457200" y="3454400"/>
            <a:ext cx="5284788" cy="2400300"/>
          </a:xfrm>
          <a:prstGeom prst="rect">
            <a:avLst/>
          </a:prstGeom>
        </p:spPr>
        <p:txBody>
          <a:bodyPr>
            <a:spAutoFit/>
          </a:bodyPr>
          <a:lstStyle/>
          <a:p>
            <a:pPr marL="800100" marR="0" lvl="1" indent="-342900" algn="l" defTabSz="914400" rtl="0" eaLnBrk="0" fontAlgn="base" latinLnBrk="0" hangingPunct="0">
              <a:lnSpc>
                <a:spcPct val="150000"/>
              </a:lnSpc>
              <a:spcBef>
                <a:spcPct val="20000"/>
              </a:spcBef>
              <a:spcAft>
                <a:spcPct val="0"/>
              </a:spcAft>
              <a:buClrTx/>
              <a:buSzTx/>
              <a:buFont typeface="Wingdings" panose="05000000000000000000" pitchFamily="2" charset="2"/>
              <a:buChar char="Ø"/>
              <a:defRPr/>
            </a:pPr>
            <a:r>
              <a:rPr kumimoji="0" lang="zh-CN" altLang="en-US"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右边第二行代码的作用是为变量赋值，在执行第二行代码时，程序首先取出变量</a:t>
            </a:r>
            <a:r>
              <a:rPr kumimoji="0" lang="en-US"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x</a:t>
            </a:r>
            <a:r>
              <a:rPr kumimoji="0" lang="zh-CN" altLang="en-US"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的值，与</a:t>
            </a:r>
            <a:r>
              <a:rPr kumimoji="0" lang="en-US"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3</a:t>
            </a:r>
            <a:r>
              <a:rPr kumimoji="0" lang="zh-CN" altLang="en-US"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相加后，将结果赋值给变量</a:t>
            </a:r>
            <a:r>
              <a:rPr kumimoji="0" lang="en-US"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y</a:t>
            </a:r>
            <a:r>
              <a:rPr kumimoji="0" lang="zh-CN" altLang="en-US"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，此时变量</a:t>
            </a:r>
            <a:r>
              <a:rPr kumimoji="0" lang="en-US"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x</a:t>
            </a:r>
            <a:r>
              <a:rPr kumimoji="0" lang="zh-CN" altLang="en-US"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和</a:t>
            </a:r>
            <a:r>
              <a:rPr kumimoji="0" lang="en-US"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y</a:t>
            </a:r>
            <a:r>
              <a:rPr kumimoji="0" lang="zh-CN" altLang="en-US"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在内存中的状态发生了变化，如图所示。</a:t>
            </a:r>
            <a:endParaRPr kumimoji="0" lang="en-US"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endParaRPr>
          </a:p>
        </p:txBody>
      </p:sp>
      <p:pic>
        <p:nvPicPr>
          <p:cNvPr id="35845" name="Picture 2" descr="variant2"/>
          <p:cNvPicPr>
            <a:picLocks noChangeAspect="1"/>
          </p:cNvPicPr>
          <p:nvPr/>
        </p:nvPicPr>
        <p:blipFill>
          <a:blip r:embed="rId2"/>
          <a:stretch>
            <a:fillRect/>
          </a:stretch>
        </p:blipFill>
        <p:spPr>
          <a:xfrm>
            <a:off x="5834063" y="4332288"/>
            <a:ext cx="2760662" cy="1800225"/>
          </a:xfrm>
          <a:prstGeom prst="rect">
            <a:avLst/>
          </a:prstGeom>
          <a:noFill/>
          <a:ln w="9525">
            <a:noFill/>
          </a:ln>
        </p:spPr>
      </p:pic>
      <p:sp>
        <p:nvSpPr>
          <p:cNvPr id="7"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2.2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中的变量</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35847"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内容占位符 2"/>
          <p:cNvSpPr>
            <a:spLocks noGrp="1"/>
          </p:cNvSpPr>
          <p:nvPr>
            <p:ph idx="1"/>
          </p:nvPr>
        </p:nvSpPr>
        <p:spPr>
          <a:xfrm>
            <a:off x="458788" y="1944688"/>
            <a:ext cx="8229600" cy="4594225"/>
          </a:xfrm>
          <a:ln>
            <a:solidFill>
              <a:srgbClr val="009ED6">
                <a:alpha val="100000"/>
              </a:srgbClr>
            </a:solidFill>
            <a:miter lim="800000"/>
          </a:ln>
        </p:spPr>
        <p:txBody>
          <a:bodyPr vert="horz" wrap="square" lIns="91440" tIns="45720" rIns="91440" bIns="45720" anchor="t" anchorCtr="0"/>
          <a:p>
            <a:pPr lvl="1" eaLnBrk="1" hangingPunct="1">
              <a:buFont typeface="Wingdings" panose="05000000000000000000" pitchFamily="2" charset="2"/>
              <a:buChar char="Ø"/>
            </a:pPr>
            <a:r>
              <a:rPr lang="en-US" altLang="zh-CN" kern="1200" dirty="0">
                <a:latin typeface="+mn-lt"/>
                <a:ea typeface="+mn-ea"/>
                <a:cs typeface="等线" panose="02010600030101010101" charset="-122"/>
              </a:rPr>
              <a:t>Java</a:t>
            </a:r>
            <a:r>
              <a:rPr lang="zh-CN" altLang="en-US" kern="1200" dirty="0">
                <a:latin typeface="+mn-lt"/>
                <a:ea typeface="+mn-ea"/>
                <a:cs typeface="等线" panose="02010600030101010101" charset="-122"/>
              </a:rPr>
              <a:t>是一门强类型的编程语言，它对变量的数据类型有严格的限定。在定义变量时必须声明变量的类型，在为变量赋值时必须赋予和变量同一种类型的值，否则程序会报错。</a:t>
            </a:r>
            <a:endParaRPr lang="zh-CN" altLang="en-US" kern="1200" dirty="0">
              <a:latin typeface="+mn-lt"/>
              <a:ea typeface="+mn-ea"/>
              <a:cs typeface="等线" panose="02010600030101010101" charset="-122"/>
            </a:endParaRPr>
          </a:p>
        </p:txBody>
      </p:sp>
      <p:pic>
        <p:nvPicPr>
          <p:cNvPr id="36867" name="图片 2" descr="屏幕剪辑"/>
          <p:cNvPicPr>
            <a:picLocks noChangeAspect="1"/>
          </p:cNvPicPr>
          <p:nvPr/>
        </p:nvPicPr>
        <p:blipFill>
          <a:blip r:embed="rId1"/>
          <a:srcRect t="4169" b="7626"/>
          <a:stretch>
            <a:fillRect/>
          </a:stretch>
        </p:blipFill>
        <p:spPr>
          <a:xfrm>
            <a:off x="2378075" y="3511550"/>
            <a:ext cx="4238625" cy="2662238"/>
          </a:xfrm>
          <a:prstGeom prst="rect">
            <a:avLst/>
          </a:prstGeom>
          <a:noFill/>
          <a:ln w="9525">
            <a:noFill/>
          </a:ln>
        </p:spPr>
      </p:pic>
      <p:sp>
        <p:nvSpPr>
          <p:cNvPr id="5" name="剪去对角的矩形 4"/>
          <p:cNvSpPr/>
          <p:nvPr/>
        </p:nvSpPr>
        <p:spPr bwMode="auto">
          <a:xfrm>
            <a:off x="5016500" y="1084263"/>
            <a:ext cx="3454400"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6869" name="矩形 5"/>
          <p:cNvSpPr/>
          <p:nvPr/>
        </p:nvSpPr>
        <p:spPr>
          <a:xfrm>
            <a:off x="5576888" y="1093788"/>
            <a:ext cx="2700337" cy="519112"/>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35000"/>
              </a:lnSpc>
              <a:spcBef>
                <a:spcPct val="0"/>
              </a:spcBef>
              <a:buNone/>
            </a:pPr>
            <a:r>
              <a:rPr lang="zh-CN" altLang="en-US" sz="2400" dirty="0">
                <a:solidFill>
                  <a:srgbClr val="00B0F0"/>
                </a:solidFill>
                <a:latin typeface="黑体" panose="02010609060101010101" pitchFamily="49" charset="-122"/>
                <a:ea typeface="黑体" panose="02010609060101010101" pitchFamily="49" charset="-122"/>
              </a:rPr>
              <a:t>变量的数据类型</a:t>
            </a:r>
            <a:endParaRPr lang="zh-CN" altLang="zh-CN" sz="2400" dirty="0">
              <a:solidFill>
                <a:srgbClr val="00B0F0"/>
              </a:solidFill>
              <a:latin typeface="黑体" panose="02010609060101010101" pitchFamily="49" charset="-122"/>
              <a:ea typeface="黑体" panose="02010609060101010101" pitchFamily="49" charset="-122"/>
            </a:endParaRPr>
          </a:p>
        </p:txBody>
      </p:sp>
      <p:sp>
        <p:nvSpPr>
          <p:cNvPr id="7"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2.2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中的变量</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36871"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内容占位符 2"/>
          <p:cNvSpPr>
            <a:spLocks noGrp="1"/>
          </p:cNvSpPr>
          <p:nvPr>
            <p:ph idx="1"/>
          </p:nvPr>
        </p:nvSpPr>
        <p:spPr>
          <a:xfrm>
            <a:off x="457200" y="1128713"/>
            <a:ext cx="8229600" cy="5141913"/>
          </a:xfrm>
          <a:ln>
            <a:solidFill>
              <a:srgbClr val="009ED6"/>
            </a:solidFill>
            <a:miter lim="800000"/>
          </a:ln>
        </p:spPr>
        <p:txBody>
          <a:bodyPr vert="horz" wrap="square" lIns="91440" tIns="45720" rIns="91440" bIns="45720" numCol="1" rtlCol="0" anchor="t" anchorCtr="0" compatLnSpc="1">
            <a:normAutofit/>
          </a:bodyPr>
          <a:lstStyle/>
          <a:p>
            <a:pPr marL="0" marR="0" lvl="0" indent="0" algn="l" defTabSz="914400" rtl="0" eaLnBrk="1" fontAlgn="auto" latinLnBrk="0" hangingPunct="1">
              <a:lnSpc>
                <a:spcPct val="150000"/>
              </a:lnSpc>
              <a:spcBef>
                <a:spcPts val="1000"/>
              </a:spcBef>
              <a:spcAft>
                <a:spcPts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1</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 整数类型变量</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zh-CN" altLang="zh-CN" sz="2000" b="0" i="0" u="none" strike="noStrike" kern="1200" cap="none" spc="0" normalizeH="0" baseline="0" noProof="0" dirty="0">
                <a:ln>
                  <a:noFill/>
                </a:ln>
                <a:solidFill>
                  <a:schemeClr val="tx1"/>
                </a:solidFill>
                <a:effectLst/>
                <a:uLnTx/>
                <a:uFillTx/>
                <a:latin typeface="+mn-lt"/>
                <a:ea typeface="+mn-ea"/>
                <a:cs typeface="+mn-cs"/>
              </a:rPr>
              <a:t>用来存储整数数值，即没有小数部分的值。</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zh-CN" altLang="zh-CN" sz="2000" b="0" i="0" u="none" strike="noStrike" kern="1200" cap="none" spc="0" normalizeH="0" baseline="0" noProof="0" dirty="0">
                <a:ln>
                  <a:noFill/>
                </a:ln>
                <a:solidFill>
                  <a:schemeClr val="tx1"/>
                </a:solidFill>
                <a:effectLst/>
                <a:uLnTx/>
                <a:uFillTx/>
                <a:latin typeface="+mn-lt"/>
                <a:ea typeface="+mn-ea"/>
                <a:cs typeface="+mn-cs"/>
              </a:rPr>
              <a:t>整数类型分为</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4</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种不同的类型：字节型（</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byte</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）、短整型（</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short</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）、整型（</a:t>
            </a:r>
            <a:r>
              <a:rPr kumimoji="0" lang="en-US" altLang="zh-CN" sz="2000" b="0" i="0" u="none" strike="noStrike" kern="1200" cap="none" spc="0" normalizeH="0" baseline="0" noProof="0" dirty="0" err="1">
                <a:ln>
                  <a:noFill/>
                </a:ln>
                <a:solidFill>
                  <a:schemeClr val="tx1"/>
                </a:solidFill>
                <a:effectLst/>
                <a:uLnTx/>
                <a:uFillTx/>
                <a:latin typeface="+mn-lt"/>
                <a:ea typeface="+mn-ea"/>
                <a:cs typeface="+mn-cs"/>
              </a:rPr>
              <a:t>int</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）和长整型（</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long</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50000"/>
              </a:lnSpc>
              <a:spcBef>
                <a:spcPts val="500"/>
              </a:spcBef>
              <a:spcAft>
                <a:spcPts val="0"/>
              </a:spcAft>
              <a:buClrTx/>
              <a:buSzTx/>
              <a:buFontTx/>
              <a:buNone/>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zh-CN" altLang="zh-CN" sz="2000" b="0" i="0" u="none" strike="noStrike" kern="1200" cap="none" spc="0" normalizeH="0" baseline="0" noProof="0" dirty="0">
                <a:ln>
                  <a:noFill/>
                </a:ln>
                <a:solidFill>
                  <a:schemeClr val="tx1"/>
                </a:solidFill>
                <a:effectLst/>
                <a:uLnTx/>
                <a:uFillTx/>
                <a:latin typeface="+mn-lt"/>
                <a:ea typeface="+mn-ea"/>
                <a:cs typeface="+mn-cs"/>
              </a:rPr>
              <a:t>占用空间指的是不同类型的变量分别占用的内存大小</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zh-CN" altLang="zh-CN" sz="2000" b="0" i="0" u="none" strike="noStrike" kern="1200" cap="none" spc="0" normalizeH="0" baseline="0" noProof="0" dirty="0">
                <a:ln>
                  <a:noFill/>
                </a:ln>
                <a:solidFill>
                  <a:schemeClr val="tx1"/>
                </a:solidFill>
                <a:effectLst/>
                <a:uLnTx/>
                <a:uFillTx/>
                <a:latin typeface="+mn-lt"/>
                <a:ea typeface="+mn-ea"/>
                <a:cs typeface="+mn-cs"/>
              </a:rPr>
              <a:t>取值范围是变量存储的值不能超出的范围</a:t>
            </a:r>
            <a:endParaRPr kumimoji="0" lang="zh-CN" altLang="en-US"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37891" name="Picture 6"/>
          <p:cNvPicPr>
            <a:picLocks noChangeAspect="1"/>
          </p:cNvPicPr>
          <p:nvPr/>
        </p:nvPicPr>
        <p:blipFill>
          <a:blip r:embed="rId1"/>
          <a:stretch>
            <a:fillRect/>
          </a:stretch>
        </p:blipFill>
        <p:spPr>
          <a:xfrm>
            <a:off x="1481138" y="3287713"/>
            <a:ext cx="5507037" cy="1316037"/>
          </a:xfrm>
          <a:prstGeom prst="rect">
            <a:avLst/>
          </a:prstGeom>
          <a:noFill/>
          <a:ln w="9525">
            <a:noFill/>
          </a:ln>
        </p:spPr>
      </p:pic>
      <p:sp>
        <p:nvSpPr>
          <p:cNvPr id="5"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2.2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中的变量</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37893"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内容占位符 2"/>
          <p:cNvSpPr>
            <a:spLocks noGrp="1"/>
          </p:cNvSpPr>
          <p:nvPr>
            <p:ph idx="1"/>
          </p:nvPr>
        </p:nvSpPr>
        <p:spPr>
          <a:xfrm>
            <a:off x="398463" y="1543050"/>
            <a:ext cx="8229600" cy="3389313"/>
          </a:xfrm>
          <a:ln>
            <a:solidFill>
              <a:srgbClr val="009ED6">
                <a:alpha val="100000"/>
              </a:srgbClr>
            </a:solidFill>
            <a:miter lim="800000"/>
          </a:ln>
        </p:spPr>
        <p:txBody>
          <a:bodyPr vert="horz" wrap="square" lIns="91440" tIns="45720" rIns="91440" bIns="45720" anchor="t" anchorCtr="0"/>
          <a:p>
            <a:pPr lvl="1" eaLnBrk="1" hangingPunct="1">
              <a:buFont typeface="Wingdings" panose="05000000000000000000" pitchFamily="2" charset="2"/>
              <a:buChar char="Ø"/>
            </a:pPr>
            <a:r>
              <a:rPr lang="zh-CN" altLang="zh-CN" kern="1200" dirty="0">
                <a:latin typeface="+mn-lt"/>
                <a:ea typeface="+mn-ea"/>
                <a:cs typeface="等线" panose="02010600030101010101" charset="-122"/>
              </a:rPr>
              <a:t>为一个</a:t>
            </a:r>
            <a:r>
              <a:rPr lang="en-US" altLang="zh-CN" kern="1200" dirty="0">
                <a:latin typeface="+mn-lt"/>
                <a:ea typeface="+mn-ea"/>
                <a:cs typeface="等线" panose="02010600030101010101" charset="-122"/>
              </a:rPr>
              <a:t>long</a:t>
            </a:r>
            <a:r>
              <a:rPr lang="zh-CN" altLang="zh-CN" kern="1200" dirty="0">
                <a:latin typeface="+mn-lt"/>
                <a:ea typeface="+mn-ea"/>
                <a:cs typeface="等线" panose="02010600030101010101" charset="-122"/>
              </a:rPr>
              <a:t>类型的变量赋值时需要注意一点，所赋值的后面要加上一个字母“</a:t>
            </a:r>
            <a:r>
              <a:rPr lang="en-US" altLang="zh-CN" kern="1200" dirty="0">
                <a:latin typeface="+mn-lt"/>
                <a:ea typeface="+mn-ea"/>
                <a:cs typeface="等线" panose="02010600030101010101" charset="-122"/>
              </a:rPr>
              <a:t>L</a:t>
            </a:r>
            <a:r>
              <a:rPr lang="zh-CN" altLang="zh-CN" kern="1200" dirty="0">
                <a:latin typeface="+mn-lt"/>
                <a:ea typeface="+mn-ea"/>
                <a:cs typeface="等线" panose="02010600030101010101" charset="-122"/>
              </a:rPr>
              <a:t>”（或小写“</a:t>
            </a:r>
            <a:r>
              <a:rPr lang="en-US" altLang="zh-CN" kern="1200" dirty="0">
                <a:latin typeface="+mn-lt"/>
                <a:ea typeface="+mn-ea"/>
                <a:cs typeface="等线" panose="02010600030101010101" charset="-122"/>
              </a:rPr>
              <a:t>l</a:t>
            </a:r>
            <a:r>
              <a:rPr lang="zh-CN" altLang="zh-CN" kern="1200" dirty="0">
                <a:latin typeface="+mn-lt"/>
                <a:ea typeface="+mn-ea"/>
                <a:cs typeface="等线" panose="02010600030101010101" charset="-122"/>
              </a:rPr>
              <a:t>”），说明赋值为</a:t>
            </a:r>
            <a:r>
              <a:rPr lang="en-US" altLang="zh-CN" kern="1200" dirty="0">
                <a:latin typeface="+mn-lt"/>
                <a:ea typeface="+mn-ea"/>
                <a:cs typeface="等线" panose="02010600030101010101" charset="-122"/>
              </a:rPr>
              <a:t>long</a:t>
            </a:r>
            <a:r>
              <a:rPr lang="zh-CN" altLang="zh-CN" kern="1200" dirty="0">
                <a:latin typeface="+mn-lt"/>
                <a:ea typeface="+mn-ea"/>
                <a:cs typeface="等线" panose="02010600030101010101" charset="-122"/>
              </a:rPr>
              <a:t>类型。如果赋的值未超出</a:t>
            </a:r>
            <a:r>
              <a:rPr lang="en-US" altLang="zh-CN" kern="1200" dirty="0">
                <a:latin typeface="+mn-lt"/>
                <a:ea typeface="+mn-ea"/>
                <a:cs typeface="等线" panose="02010600030101010101" charset="-122"/>
              </a:rPr>
              <a:t>int</a:t>
            </a:r>
            <a:r>
              <a:rPr lang="zh-CN" altLang="zh-CN" kern="1200" dirty="0">
                <a:latin typeface="+mn-lt"/>
                <a:ea typeface="+mn-ea"/>
                <a:cs typeface="等线" panose="02010600030101010101" charset="-122"/>
              </a:rPr>
              <a:t>型的取值范围，则可以省略字母“</a:t>
            </a:r>
            <a:r>
              <a:rPr lang="en-US" altLang="zh-CN" kern="1200" dirty="0">
                <a:latin typeface="+mn-lt"/>
                <a:ea typeface="+mn-ea"/>
                <a:cs typeface="等线" panose="02010600030101010101" charset="-122"/>
              </a:rPr>
              <a:t>L</a:t>
            </a:r>
            <a:r>
              <a:rPr lang="zh-CN" altLang="zh-CN" kern="1200" dirty="0">
                <a:latin typeface="+mn-lt"/>
                <a:ea typeface="+mn-ea"/>
                <a:cs typeface="等线" panose="02010600030101010101" charset="-122"/>
              </a:rPr>
              <a:t>”（或小写“</a:t>
            </a:r>
            <a:r>
              <a:rPr lang="en-US" altLang="zh-CN" kern="1200" dirty="0">
                <a:latin typeface="+mn-lt"/>
                <a:ea typeface="+mn-ea"/>
                <a:cs typeface="等线" panose="02010600030101010101" charset="-122"/>
              </a:rPr>
              <a:t>l</a:t>
            </a:r>
            <a:r>
              <a:rPr lang="zh-CN" altLang="zh-CN" kern="1200" dirty="0">
                <a:latin typeface="+mn-lt"/>
                <a:ea typeface="+mn-ea"/>
                <a:cs typeface="等线" panose="02010600030101010101" charset="-122"/>
              </a:rPr>
              <a:t>”）。</a:t>
            </a:r>
            <a:endParaRPr lang="zh-CN" altLang="en-US" kern="1200" dirty="0">
              <a:latin typeface="+mn-lt"/>
              <a:ea typeface="+mn-ea"/>
              <a:cs typeface="等线" panose="02010600030101010101" charset="-122"/>
            </a:endParaRPr>
          </a:p>
        </p:txBody>
      </p:sp>
      <p:pic>
        <p:nvPicPr>
          <p:cNvPr id="38915" name="Picture 5"/>
          <p:cNvPicPr>
            <a:picLocks noChangeAspect="1"/>
          </p:cNvPicPr>
          <p:nvPr/>
        </p:nvPicPr>
        <p:blipFill>
          <a:blip r:embed="rId1"/>
          <a:stretch>
            <a:fillRect/>
          </a:stretch>
        </p:blipFill>
        <p:spPr>
          <a:xfrm>
            <a:off x="1200150" y="3602038"/>
            <a:ext cx="6940550" cy="765175"/>
          </a:xfrm>
          <a:prstGeom prst="rect">
            <a:avLst/>
          </a:prstGeom>
          <a:noFill/>
          <a:ln w="9525">
            <a:noFill/>
          </a:ln>
        </p:spPr>
      </p:pic>
      <p:sp>
        <p:nvSpPr>
          <p:cNvPr id="5"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2.2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中的变量</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38917"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内容占位符 2"/>
          <p:cNvSpPr>
            <a:spLocks noGrp="1"/>
          </p:cNvSpPr>
          <p:nvPr>
            <p:ph idx="1"/>
          </p:nvPr>
        </p:nvSpPr>
        <p:spPr>
          <a:xfrm>
            <a:off x="457200" y="1346200"/>
            <a:ext cx="8297863" cy="4727575"/>
          </a:xfrm>
          <a:ln>
            <a:solidFill>
              <a:srgbClr val="009ED6"/>
            </a:solidFill>
            <a:miter lim="800000"/>
          </a:ln>
        </p:spPr>
        <p:txBody>
          <a:bodyPr vert="horz" wrap="square" lIns="91440" tIns="45720" rIns="91440" bIns="45720" numCol="1" rtlCol="0" anchor="t" anchorCtr="0" compatLnSpc="1">
            <a:normAutofit/>
          </a:bodyPr>
          <a:lstStyle/>
          <a:p>
            <a:pPr marL="0" marR="0" lvl="0" indent="0" algn="l" defTabSz="914400" rtl="0" eaLnBrk="1" fontAlgn="auto" latinLnBrk="0" hangingPunct="1">
              <a:lnSpc>
                <a:spcPct val="150000"/>
              </a:lnSpc>
              <a:spcBef>
                <a:spcPts val="1000"/>
              </a:spcBef>
              <a:spcAft>
                <a:spcPts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2</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、浮点数类型变量</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200000"/>
              </a:lnSpc>
              <a:spcBef>
                <a:spcPts val="500"/>
              </a:spcBef>
              <a:spcAft>
                <a:spcPts val="0"/>
              </a:spcAft>
              <a:buClrTx/>
              <a:buSzTx/>
              <a:buFont typeface="Wingdings" panose="05000000000000000000" pitchFamily="2" charset="2"/>
              <a:buChar char="Ø"/>
              <a:defRPr/>
            </a:pPr>
            <a:r>
              <a:rPr kumimoji="0" lang="zh-CN" altLang="zh-CN" sz="2000" b="0" i="0" u="none" strike="noStrike" kern="1200" cap="none" spc="0" normalizeH="0" baseline="0" noProof="0" dirty="0">
                <a:ln>
                  <a:noFill/>
                </a:ln>
                <a:solidFill>
                  <a:schemeClr val="tx1"/>
                </a:solidFill>
                <a:effectLst/>
                <a:uLnTx/>
                <a:uFillTx/>
                <a:latin typeface="+mn-lt"/>
                <a:ea typeface="+mn-ea"/>
                <a:cs typeface="+mn-cs"/>
              </a:rPr>
              <a:t>浮点数类型变量用来存储小数数值。</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200000"/>
              </a:lnSpc>
              <a:spcBef>
                <a:spcPts val="500"/>
              </a:spcBef>
              <a:spcAft>
                <a:spcPts val="0"/>
              </a:spcAft>
              <a:buClrTx/>
              <a:buSzTx/>
              <a:buFont typeface="Wingdings" panose="05000000000000000000" pitchFamily="2" charset="2"/>
              <a:buChar char="Ø"/>
              <a:defRPr/>
            </a:pPr>
            <a:r>
              <a:rPr kumimoji="0" lang="zh-CN" altLang="zh-CN" sz="2000" b="0" i="0" u="none" strike="noStrike" kern="1200" cap="none" spc="0" normalizeH="0" baseline="0" noProof="0" dirty="0">
                <a:ln>
                  <a:noFill/>
                </a:ln>
                <a:solidFill>
                  <a:schemeClr val="tx1"/>
                </a:solidFill>
                <a:effectLst/>
                <a:uLnTx/>
                <a:uFillTx/>
                <a:latin typeface="+mn-lt"/>
                <a:ea typeface="+mn-ea"/>
                <a:cs typeface="+mn-cs"/>
              </a:rPr>
              <a:t>浮点数类型分为两种：单精度浮点数（</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float</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）、双精度浮点数（</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double</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double</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型所表示的浮点数比</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float</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型更精确</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200000"/>
              </a:lnSpc>
              <a:spcBef>
                <a:spcPts val="500"/>
              </a:spcBef>
              <a:spcAft>
                <a:spcPts val="0"/>
              </a:spcAft>
              <a:buClrTx/>
              <a:buSzTx/>
              <a:buFontTx/>
              <a:buNone/>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200000"/>
              </a:lnSpc>
              <a:spcBef>
                <a:spcPts val="500"/>
              </a:spcBef>
              <a:spcAft>
                <a:spcPts val="0"/>
              </a:spcAft>
              <a:buClrTx/>
              <a:buSzTx/>
              <a:buFont typeface="Wingdings" panose="05000000000000000000" pitchFamily="2" charset="2"/>
              <a:buChar char="Ø"/>
              <a:defRPr/>
            </a:pPr>
            <a:r>
              <a:rPr kumimoji="0" lang="zh-CN" altLang="zh-CN" sz="2000" b="0" i="0" u="none" strike="noStrike" kern="1200" cap="none" spc="0" normalizeH="0" baseline="0" noProof="0" dirty="0">
                <a:ln>
                  <a:noFill/>
                </a:ln>
                <a:solidFill>
                  <a:schemeClr val="tx1"/>
                </a:solidFill>
                <a:effectLst/>
                <a:uLnTx/>
                <a:uFillTx/>
                <a:latin typeface="+mn-lt"/>
                <a:ea typeface="+mn-ea"/>
                <a:cs typeface="+mn-cs"/>
              </a:rPr>
              <a:t>在取值范围中，</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E</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表示以</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10</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为底的指数，</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E</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后面的“</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”号和“</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”号代表正指数和负指数，例如</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1.4E-45</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表示</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1.4*10</a:t>
            </a:r>
            <a:r>
              <a:rPr kumimoji="0" lang="en-US" altLang="zh-CN" sz="2000" b="0" i="0" u="none" strike="noStrike" kern="1200" cap="none" spc="0" normalizeH="0" baseline="30000" noProof="0" dirty="0">
                <a:ln>
                  <a:noFill/>
                </a:ln>
                <a:solidFill>
                  <a:schemeClr val="tx1"/>
                </a:solidFill>
                <a:effectLst/>
                <a:uLnTx/>
                <a:uFillTx/>
                <a:latin typeface="+mn-lt"/>
                <a:ea typeface="+mn-ea"/>
                <a:cs typeface="+mn-cs"/>
              </a:rPr>
              <a:t>-45</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39939" name="Picture 5"/>
          <p:cNvPicPr>
            <a:picLocks noChangeAspect="1"/>
          </p:cNvPicPr>
          <p:nvPr/>
        </p:nvPicPr>
        <p:blipFill>
          <a:blip r:embed="rId1"/>
          <a:stretch>
            <a:fillRect/>
          </a:stretch>
        </p:blipFill>
        <p:spPr>
          <a:xfrm>
            <a:off x="1266825" y="3856038"/>
            <a:ext cx="6845300" cy="715962"/>
          </a:xfrm>
          <a:prstGeom prst="rect">
            <a:avLst/>
          </a:prstGeom>
          <a:noFill/>
          <a:ln w="9525">
            <a:noFill/>
          </a:ln>
        </p:spPr>
      </p:pic>
      <p:sp>
        <p:nvSpPr>
          <p:cNvPr id="5"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2.2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中的变量</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39941"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内容占位符 2"/>
          <p:cNvSpPr>
            <a:spLocks noGrp="1"/>
          </p:cNvSpPr>
          <p:nvPr>
            <p:ph idx="1"/>
          </p:nvPr>
        </p:nvSpPr>
        <p:spPr>
          <a:xfrm>
            <a:off x="385763" y="1538288"/>
            <a:ext cx="8229600" cy="3411538"/>
          </a:xfrm>
          <a:ln>
            <a:solidFill>
              <a:srgbClr val="009ED6"/>
            </a:solidFill>
            <a:miter lim="800000"/>
          </a:ln>
        </p:spPr>
        <p:txBody>
          <a:bodyPr vert="horz" wrap="square" lIns="91440" tIns="45720" rIns="91440" bIns="45720" numCol="1" rtlCol="0" anchor="t" anchorCtr="0" compatLnSpc="1">
            <a:normAutofit/>
          </a:bodyPr>
          <a:lstStyle/>
          <a:p>
            <a:pPr marL="685800" marR="0" lvl="1" indent="-228600" algn="l" defTabSz="914400" rtl="0" eaLnBrk="1" fontAlgn="auto" latinLnBrk="0" hangingPunct="1">
              <a:lnSpc>
                <a:spcPct val="200000"/>
              </a:lnSpc>
              <a:spcBef>
                <a:spcPts val="500"/>
              </a:spcBef>
              <a:spcAft>
                <a:spcPts val="0"/>
              </a:spcAft>
              <a:buClrTx/>
              <a:buSzTx/>
              <a:buFont typeface="Wingdings" panose="05000000000000000000" pitchFamily="2" charset="2"/>
              <a:buChar char="Ø"/>
              <a:defRPr/>
            </a:pPr>
            <a:r>
              <a:rPr kumimoji="0" lang="zh-CN" altLang="zh-CN" sz="2000" b="0" i="0" u="none" strike="noStrike" kern="1200" cap="none" spc="0" normalizeH="0" baseline="0" noProof="0" dirty="0">
                <a:ln>
                  <a:noFill/>
                </a:ln>
                <a:solidFill>
                  <a:schemeClr val="tx1"/>
                </a:solidFill>
                <a:effectLst/>
                <a:uLnTx/>
                <a:uFillTx/>
                <a:latin typeface="+mn-lt"/>
                <a:ea typeface="+mn-ea"/>
                <a:cs typeface="+mn-cs"/>
              </a:rPr>
              <a:t>在为一个</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float</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类型的变量赋值时需要注意一点，所赋值的后面一定要加上字母“</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F</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”（或“</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f</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”），而为</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double</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类型的变量赋值时，可以在所赋值的后面加上字符“</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D</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”（或“</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d</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”），也可不加。</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200000"/>
              </a:lnSpc>
              <a:spcBef>
                <a:spcPts val="500"/>
              </a:spcBef>
              <a:spcAft>
                <a:spcPts val="0"/>
              </a:spcAft>
              <a:buClrTx/>
              <a:buSzTx/>
              <a:buFontTx/>
              <a:buNone/>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200000"/>
              </a:lnSpc>
              <a:spcBef>
                <a:spcPts val="500"/>
              </a:spcBef>
              <a:spcAft>
                <a:spcPts val="0"/>
              </a:spcAft>
              <a:buClrTx/>
              <a:buSzTx/>
              <a:buFont typeface="Wingdings" panose="05000000000000000000" pitchFamily="2" charset="2"/>
              <a:buChar char="Ø"/>
              <a:defRPr/>
            </a:pPr>
            <a:r>
              <a:rPr kumimoji="0" lang="zh-CN" altLang="zh-CN" sz="2000" b="0" i="0" u="none" strike="noStrike" kern="1200" cap="none" spc="0" normalizeH="0" baseline="0" noProof="0" dirty="0">
                <a:ln>
                  <a:noFill/>
                </a:ln>
                <a:solidFill>
                  <a:schemeClr val="tx1"/>
                </a:solidFill>
                <a:effectLst/>
                <a:uLnTx/>
                <a:uFillTx/>
                <a:latin typeface="+mn-lt"/>
                <a:ea typeface="+mn-ea"/>
                <a:cs typeface="+mn-cs"/>
              </a:rPr>
              <a:t>在程序中也可以为一个浮点数类型变量赋予一个整数数值</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40963" name="Picture 5"/>
          <p:cNvPicPr>
            <a:picLocks noChangeAspect="1"/>
          </p:cNvPicPr>
          <p:nvPr/>
        </p:nvPicPr>
        <p:blipFill>
          <a:blip r:embed="rId1"/>
          <a:stretch>
            <a:fillRect/>
          </a:stretch>
        </p:blipFill>
        <p:spPr>
          <a:xfrm>
            <a:off x="1395413" y="3465513"/>
            <a:ext cx="6443662" cy="738187"/>
          </a:xfrm>
          <a:prstGeom prst="rect">
            <a:avLst/>
          </a:prstGeom>
          <a:noFill/>
          <a:ln w="9525">
            <a:noFill/>
          </a:ln>
        </p:spPr>
      </p:pic>
      <p:sp>
        <p:nvSpPr>
          <p:cNvPr id="5"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2.2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中的变量</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40965"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内容占位符 2"/>
          <p:cNvSpPr>
            <a:spLocks noGrp="1"/>
          </p:cNvSpPr>
          <p:nvPr>
            <p:ph idx="1"/>
          </p:nvPr>
        </p:nvSpPr>
        <p:spPr>
          <a:xfrm>
            <a:off x="469900" y="1416050"/>
            <a:ext cx="8229600" cy="4087813"/>
          </a:xfrm>
          <a:ln>
            <a:solidFill>
              <a:srgbClr val="009ED6">
                <a:alpha val="100000"/>
              </a:srgbClr>
            </a:solidFill>
            <a:miter lim="800000"/>
          </a:ln>
        </p:spPr>
        <p:txBody>
          <a:bodyPr vert="horz" wrap="square" lIns="91440" tIns="45720" rIns="91440" bIns="45720" anchor="t" anchorCtr="0"/>
          <a:p>
            <a:pPr marL="0" indent="0" eaLnBrk="1" hangingPunct="1">
              <a:buFont typeface="Arial" panose="020B0604020202020204" pitchFamily="34" charset="0"/>
              <a:buNone/>
            </a:pPr>
            <a:r>
              <a:rPr lang="en-US" altLang="zh-CN" sz="2000" b="1" kern="1200" dirty="0">
                <a:latin typeface="+mn-lt"/>
                <a:ea typeface="+mn-ea"/>
                <a:cs typeface="等线" panose="02010600030101010101" charset="-122"/>
              </a:rPr>
              <a:t>3</a:t>
            </a:r>
            <a:r>
              <a:rPr lang="zh-CN" altLang="en-US" sz="2000" b="1" kern="1200" dirty="0">
                <a:latin typeface="+mn-lt"/>
                <a:ea typeface="+mn-ea"/>
                <a:cs typeface="等线" panose="02010600030101010101" charset="-122"/>
              </a:rPr>
              <a:t>、字符类型变量</a:t>
            </a:r>
            <a:endParaRPr lang="en-US" altLang="zh-CN" sz="2000" b="1" kern="1200" dirty="0">
              <a:latin typeface="+mn-lt"/>
              <a:ea typeface="+mn-ea"/>
              <a:cs typeface="等线" panose="02010600030101010101" charset="-122"/>
            </a:endParaRPr>
          </a:p>
          <a:p>
            <a:pPr lvl="1" eaLnBrk="1" hangingPunct="1">
              <a:buFont typeface="Wingdings" panose="05000000000000000000" pitchFamily="2" charset="2"/>
              <a:buChar char="Ø"/>
            </a:pPr>
            <a:r>
              <a:rPr lang="zh-CN" altLang="en-US" kern="1200" dirty="0">
                <a:latin typeface="+mn-lt"/>
                <a:ea typeface="+mn-ea"/>
                <a:cs typeface="等线" panose="02010600030101010101" charset="-122"/>
              </a:rPr>
              <a:t>用于存储一个单一字符，在</a:t>
            </a:r>
            <a:r>
              <a:rPr lang="en-US" altLang="zh-CN" kern="1200" dirty="0">
                <a:latin typeface="+mn-lt"/>
                <a:ea typeface="+mn-ea"/>
                <a:cs typeface="等线" panose="02010600030101010101" charset="-122"/>
              </a:rPr>
              <a:t>Java</a:t>
            </a:r>
            <a:r>
              <a:rPr lang="zh-CN" altLang="en-US" kern="1200" dirty="0">
                <a:latin typeface="+mn-lt"/>
                <a:ea typeface="+mn-ea"/>
                <a:cs typeface="等线" panose="02010600030101010101" charset="-122"/>
              </a:rPr>
              <a:t>中用</a:t>
            </a:r>
            <a:r>
              <a:rPr lang="en-US" altLang="zh-CN" kern="1200" dirty="0">
                <a:latin typeface="+mn-lt"/>
                <a:ea typeface="+mn-ea"/>
                <a:cs typeface="等线" panose="02010600030101010101" charset="-122"/>
              </a:rPr>
              <a:t>char</a:t>
            </a:r>
            <a:r>
              <a:rPr lang="zh-CN" altLang="en-US" kern="1200" dirty="0">
                <a:latin typeface="+mn-lt"/>
                <a:ea typeface="+mn-ea"/>
                <a:cs typeface="等线" panose="02010600030101010101" charset="-122"/>
              </a:rPr>
              <a:t>表示。</a:t>
            </a:r>
            <a:endParaRPr lang="en-US" altLang="zh-CN" kern="1200" dirty="0">
              <a:latin typeface="+mn-lt"/>
              <a:ea typeface="+mn-ea"/>
              <a:cs typeface="等线" panose="02010600030101010101" charset="-122"/>
            </a:endParaRPr>
          </a:p>
          <a:p>
            <a:pPr lvl="1" eaLnBrk="1" hangingPunct="1">
              <a:buFont typeface="Wingdings" panose="05000000000000000000" pitchFamily="2" charset="2"/>
              <a:buChar char="Ø"/>
            </a:pPr>
            <a:r>
              <a:rPr lang="zh-CN" altLang="en-US" kern="1200" dirty="0">
                <a:latin typeface="+mn-lt"/>
                <a:ea typeface="+mn-ea"/>
                <a:cs typeface="等线" panose="02010600030101010101" charset="-122"/>
              </a:rPr>
              <a:t>每个</a:t>
            </a:r>
            <a:r>
              <a:rPr lang="en-US" altLang="zh-CN" kern="1200" dirty="0">
                <a:latin typeface="+mn-lt"/>
                <a:ea typeface="+mn-ea"/>
                <a:cs typeface="等线" panose="02010600030101010101" charset="-122"/>
              </a:rPr>
              <a:t>char</a:t>
            </a:r>
            <a:r>
              <a:rPr lang="zh-CN" altLang="en-US" kern="1200" dirty="0">
                <a:latin typeface="+mn-lt"/>
                <a:ea typeface="+mn-ea"/>
                <a:cs typeface="等线" panose="02010600030101010101" charset="-122"/>
              </a:rPr>
              <a:t>类型的字符变量都会占用</a:t>
            </a:r>
            <a:r>
              <a:rPr lang="en-US" altLang="zh-CN" kern="1200" dirty="0">
                <a:latin typeface="+mn-lt"/>
                <a:ea typeface="+mn-ea"/>
                <a:cs typeface="等线" panose="02010600030101010101" charset="-122"/>
              </a:rPr>
              <a:t>2</a:t>
            </a:r>
            <a:r>
              <a:rPr lang="zh-CN" altLang="en-US" kern="1200" dirty="0">
                <a:latin typeface="+mn-lt"/>
                <a:ea typeface="+mn-ea"/>
                <a:cs typeface="等线" panose="02010600030101010101" charset="-122"/>
              </a:rPr>
              <a:t>个字节。</a:t>
            </a:r>
            <a:endParaRPr lang="en-US" altLang="zh-CN" kern="1200" dirty="0">
              <a:latin typeface="+mn-lt"/>
              <a:ea typeface="+mn-ea"/>
              <a:cs typeface="等线" panose="02010600030101010101" charset="-122"/>
            </a:endParaRPr>
          </a:p>
          <a:p>
            <a:pPr lvl="1" eaLnBrk="1" hangingPunct="1">
              <a:buFont typeface="Wingdings" panose="05000000000000000000" pitchFamily="2" charset="2"/>
              <a:buChar char="Ø"/>
            </a:pPr>
            <a:r>
              <a:rPr lang="zh-CN" altLang="en-US" kern="1200" dirty="0">
                <a:latin typeface="+mn-lt"/>
                <a:ea typeface="+mn-ea"/>
                <a:cs typeface="等线" panose="02010600030101010101" charset="-122"/>
              </a:rPr>
              <a:t>赋值时，要用英文半角格式的单引号（</a:t>
            </a:r>
            <a:r>
              <a:rPr lang="en-US" altLang="zh-CN" kern="1200" dirty="0">
                <a:latin typeface="+mn-lt"/>
                <a:ea typeface="+mn-ea"/>
                <a:cs typeface="等线" panose="02010600030101010101" charset="-122"/>
              </a:rPr>
              <a:t>' '</a:t>
            </a:r>
            <a:r>
              <a:rPr lang="zh-CN" altLang="en-US" kern="1200" dirty="0">
                <a:latin typeface="+mn-lt"/>
                <a:ea typeface="+mn-ea"/>
                <a:cs typeface="等线" panose="02010600030101010101" charset="-122"/>
              </a:rPr>
              <a:t>）把字符括起来，如</a:t>
            </a:r>
            <a:r>
              <a:rPr lang="en-US" altLang="zh-CN" kern="1200" dirty="0">
                <a:latin typeface="+mn-lt"/>
                <a:ea typeface="+mn-ea"/>
                <a:cs typeface="等线" panose="02010600030101010101" charset="-122"/>
              </a:rPr>
              <a:t>'a'</a:t>
            </a:r>
            <a:r>
              <a:rPr lang="zh-CN" altLang="en-US" kern="1200" dirty="0">
                <a:latin typeface="+mn-lt"/>
                <a:ea typeface="+mn-ea"/>
                <a:cs typeface="等线" panose="02010600030101010101" charset="-122"/>
              </a:rPr>
              <a:t>，</a:t>
            </a:r>
            <a:endParaRPr lang="en-US" altLang="zh-CN" kern="1200" dirty="0">
              <a:latin typeface="+mn-lt"/>
              <a:ea typeface="+mn-ea"/>
              <a:cs typeface="等线" panose="02010600030101010101" charset="-122"/>
            </a:endParaRPr>
          </a:p>
          <a:p>
            <a:pPr lvl="1" eaLnBrk="1" hangingPunct="1">
              <a:buFont typeface="Wingdings" panose="05000000000000000000" pitchFamily="2" charset="2"/>
              <a:buChar char="Ø"/>
            </a:pPr>
            <a:r>
              <a:rPr lang="zh-CN" altLang="en-US" kern="1200" dirty="0">
                <a:latin typeface="+mn-lt"/>
                <a:ea typeface="+mn-ea"/>
                <a:cs typeface="等线" panose="02010600030101010101" charset="-122"/>
              </a:rPr>
              <a:t>也可以赋值为</a:t>
            </a:r>
            <a:r>
              <a:rPr lang="en-US" altLang="zh-CN" kern="1200" dirty="0">
                <a:latin typeface="+mn-lt"/>
                <a:ea typeface="+mn-ea"/>
                <a:cs typeface="等线" panose="02010600030101010101" charset="-122"/>
              </a:rPr>
              <a:t>0~65535</a:t>
            </a:r>
            <a:r>
              <a:rPr lang="zh-CN" altLang="en-US" kern="1200" dirty="0">
                <a:latin typeface="+mn-lt"/>
                <a:ea typeface="+mn-ea"/>
                <a:cs typeface="等线" panose="02010600030101010101" charset="-122"/>
              </a:rPr>
              <a:t>范围内的整数，计算机会自动将这些整数转化为所对应的字符，如数值</a:t>
            </a:r>
            <a:r>
              <a:rPr lang="en-US" altLang="zh-CN" kern="1200" dirty="0">
                <a:latin typeface="+mn-lt"/>
                <a:ea typeface="+mn-ea"/>
                <a:cs typeface="等线" panose="02010600030101010101" charset="-122"/>
              </a:rPr>
              <a:t>97</a:t>
            </a:r>
            <a:r>
              <a:rPr lang="zh-CN" altLang="en-US" kern="1200" dirty="0">
                <a:latin typeface="+mn-lt"/>
                <a:ea typeface="+mn-ea"/>
                <a:cs typeface="等线" panose="02010600030101010101" charset="-122"/>
              </a:rPr>
              <a:t>对应的字符为</a:t>
            </a:r>
            <a:r>
              <a:rPr lang="en-US" altLang="zh-CN" kern="1200" dirty="0">
                <a:latin typeface="+mn-lt"/>
                <a:ea typeface="+mn-ea"/>
                <a:cs typeface="等线" panose="02010600030101010101" charset="-122"/>
              </a:rPr>
              <a:t>'a'</a:t>
            </a:r>
            <a:r>
              <a:rPr lang="zh-CN" altLang="en-US" kern="1200" dirty="0">
                <a:latin typeface="+mn-lt"/>
                <a:ea typeface="+mn-ea"/>
                <a:cs typeface="等线" panose="02010600030101010101" charset="-122"/>
              </a:rPr>
              <a:t>。</a:t>
            </a:r>
            <a:endParaRPr lang="zh-CN" altLang="en-US" kern="1200" dirty="0">
              <a:latin typeface="+mn-lt"/>
              <a:ea typeface="+mn-ea"/>
              <a:cs typeface="等线" panose="02010600030101010101" charset="-122"/>
            </a:endParaRPr>
          </a:p>
        </p:txBody>
      </p:sp>
      <p:pic>
        <p:nvPicPr>
          <p:cNvPr id="41987" name="Picture 5"/>
          <p:cNvPicPr>
            <a:picLocks noChangeAspect="1"/>
          </p:cNvPicPr>
          <p:nvPr/>
        </p:nvPicPr>
        <p:blipFill>
          <a:blip r:embed="rId1"/>
          <a:stretch>
            <a:fillRect/>
          </a:stretch>
        </p:blipFill>
        <p:spPr>
          <a:xfrm>
            <a:off x="1360488" y="4518025"/>
            <a:ext cx="7129462" cy="633413"/>
          </a:xfrm>
          <a:prstGeom prst="rect">
            <a:avLst/>
          </a:prstGeom>
          <a:noFill/>
          <a:ln w="9525">
            <a:noFill/>
          </a:ln>
        </p:spPr>
      </p:pic>
      <p:sp>
        <p:nvSpPr>
          <p:cNvPr id="5"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2.2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中的变量</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41989"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内容占位符 2"/>
          <p:cNvSpPr>
            <a:spLocks noGrp="1"/>
          </p:cNvSpPr>
          <p:nvPr>
            <p:ph idx="1"/>
          </p:nvPr>
        </p:nvSpPr>
        <p:spPr>
          <a:xfrm>
            <a:off x="457200" y="1743075"/>
            <a:ext cx="8229600" cy="3005138"/>
          </a:xfrm>
          <a:ln>
            <a:solidFill>
              <a:srgbClr val="009ED6">
                <a:alpha val="100000"/>
              </a:srgbClr>
            </a:solidFill>
            <a:miter lim="800000"/>
          </a:ln>
        </p:spPr>
        <p:txBody>
          <a:bodyPr vert="horz" wrap="square" lIns="91440" tIns="45720" rIns="91440" bIns="45720" anchor="t" anchorCtr="0"/>
          <a:p>
            <a:pPr marL="0" indent="0" eaLnBrk="1" hangingPunct="1">
              <a:buFont typeface="Arial" panose="020B0604020202020204" pitchFamily="34" charset="0"/>
              <a:buNone/>
            </a:pPr>
            <a:r>
              <a:rPr lang="en-US" altLang="zh-CN" sz="2000" b="1" kern="1200" dirty="0">
                <a:latin typeface="+mn-lt"/>
                <a:ea typeface="+mn-ea"/>
                <a:cs typeface="等线" panose="02010600030101010101" charset="-122"/>
              </a:rPr>
              <a:t>4</a:t>
            </a:r>
            <a:r>
              <a:rPr lang="zh-CN" altLang="en-US" sz="2000" b="1" kern="1200" dirty="0">
                <a:latin typeface="+mn-lt"/>
                <a:ea typeface="+mn-ea"/>
                <a:cs typeface="等线" panose="02010600030101010101" charset="-122"/>
              </a:rPr>
              <a:t>、布尔类型变量</a:t>
            </a:r>
            <a:endParaRPr lang="en-US" altLang="zh-CN" sz="2000" b="1" kern="1200" dirty="0">
              <a:latin typeface="+mn-lt"/>
              <a:ea typeface="+mn-ea"/>
              <a:cs typeface="等线" panose="02010600030101010101" charset="-122"/>
            </a:endParaRPr>
          </a:p>
          <a:p>
            <a:pPr lvl="1" eaLnBrk="1" hangingPunct="1">
              <a:lnSpc>
                <a:spcPct val="200000"/>
              </a:lnSpc>
              <a:buFont typeface="Wingdings" panose="05000000000000000000" pitchFamily="2" charset="2"/>
              <a:buChar char="Ø"/>
            </a:pPr>
            <a:r>
              <a:rPr lang="zh-CN" altLang="en-US" kern="1200" dirty="0">
                <a:latin typeface="+mn-lt"/>
                <a:ea typeface="+mn-ea"/>
                <a:cs typeface="等线" panose="02010600030101010101" charset="-122"/>
              </a:rPr>
              <a:t>布尔类型变量用来存储布尔值，在</a:t>
            </a:r>
            <a:r>
              <a:rPr lang="en-US" altLang="zh-CN" kern="1200" dirty="0">
                <a:latin typeface="+mn-lt"/>
                <a:ea typeface="+mn-ea"/>
                <a:cs typeface="等线" panose="02010600030101010101" charset="-122"/>
              </a:rPr>
              <a:t>Java</a:t>
            </a:r>
            <a:r>
              <a:rPr lang="zh-CN" altLang="en-US" kern="1200" dirty="0">
                <a:latin typeface="+mn-lt"/>
                <a:ea typeface="+mn-ea"/>
                <a:cs typeface="等线" panose="02010600030101010101" charset="-122"/>
              </a:rPr>
              <a:t>中用</a:t>
            </a:r>
            <a:r>
              <a:rPr lang="en-US" altLang="zh-CN" kern="1200" dirty="0">
                <a:latin typeface="+mn-lt"/>
                <a:ea typeface="+mn-ea"/>
                <a:cs typeface="等线" panose="02010600030101010101" charset="-122"/>
              </a:rPr>
              <a:t>boolean</a:t>
            </a:r>
            <a:r>
              <a:rPr lang="zh-CN" altLang="en-US" kern="1200" dirty="0">
                <a:latin typeface="+mn-lt"/>
                <a:ea typeface="+mn-ea"/>
                <a:cs typeface="等线" panose="02010600030101010101" charset="-122"/>
              </a:rPr>
              <a:t>表示，该类型的变量只有两个值，即</a:t>
            </a:r>
            <a:r>
              <a:rPr lang="en-US" altLang="zh-CN" kern="1200" dirty="0">
                <a:latin typeface="+mn-lt"/>
                <a:ea typeface="+mn-ea"/>
                <a:cs typeface="等线" panose="02010600030101010101" charset="-122"/>
              </a:rPr>
              <a:t>true</a:t>
            </a:r>
            <a:r>
              <a:rPr lang="zh-CN" altLang="en-US" kern="1200" dirty="0">
                <a:latin typeface="+mn-lt"/>
                <a:ea typeface="+mn-ea"/>
                <a:cs typeface="等线" panose="02010600030101010101" charset="-122"/>
              </a:rPr>
              <a:t>和</a:t>
            </a:r>
            <a:r>
              <a:rPr lang="en-US" altLang="zh-CN" kern="1200" dirty="0">
                <a:latin typeface="+mn-lt"/>
                <a:ea typeface="+mn-ea"/>
                <a:cs typeface="等线" panose="02010600030101010101" charset="-122"/>
              </a:rPr>
              <a:t>false</a:t>
            </a:r>
            <a:r>
              <a:rPr lang="zh-CN" altLang="en-US" kern="1200" dirty="0">
                <a:latin typeface="+mn-lt"/>
                <a:ea typeface="+mn-ea"/>
                <a:cs typeface="等线" panose="02010600030101010101" charset="-122"/>
              </a:rPr>
              <a:t>。具体示例如下：</a:t>
            </a:r>
            <a:endParaRPr lang="zh-CN" altLang="en-US" kern="1200" dirty="0">
              <a:latin typeface="+mn-lt"/>
              <a:ea typeface="+mn-ea"/>
              <a:cs typeface="等线" panose="02010600030101010101" charset="-122"/>
            </a:endParaRPr>
          </a:p>
        </p:txBody>
      </p:sp>
      <p:pic>
        <p:nvPicPr>
          <p:cNvPr id="43011" name="Picture 5"/>
          <p:cNvPicPr>
            <a:picLocks noChangeAspect="1"/>
          </p:cNvPicPr>
          <p:nvPr/>
        </p:nvPicPr>
        <p:blipFill>
          <a:blip r:embed="rId1"/>
          <a:stretch>
            <a:fillRect/>
          </a:stretch>
        </p:blipFill>
        <p:spPr>
          <a:xfrm>
            <a:off x="1420813" y="3735388"/>
            <a:ext cx="6364287" cy="530225"/>
          </a:xfrm>
          <a:prstGeom prst="rect">
            <a:avLst/>
          </a:prstGeom>
          <a:noFill/>
          <a:ln w="9525">
            <a:noFill/>
          </a:ln>
        </p:spPr>
      </p:pic>
      <p:sp>
        <p:nvSpPr>
          <p:cNvPr id="5"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2.2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中的变量</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43013"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内容占位符 2"/>
          <p:cNvSpPr>
            <a:spLocks noGrp="1"/>
          </p:cNvSpPr>
          <p:nvPr>
            <p:ph idx="1"/>
          </p:nvPr>
        </p:nvSpPr>
        <p:spPr>
          <a:xfrm>
            <a:off x="457200" y="1903413"/>
            <a:ext cx="8229600" cy="2065337"/>
          </a:xfrm>
          <a:ln>
            <a:solidFill>
              <a:srgbClr val="009ED6">
                <a:alpha val="100000"/>
              </a:srgbClr>
            </a:solidFill>
            <a:miter lim="800000"/>
          </a:ln>
        </p:spPr>
        <p:txBody>
          <a:bodyPr vert="horz" wrap="square" lIns="91440" tIns="45720" rIns="91440" bIns="45720" anchor="t" anchorCtr="0"/>
          <a:p>
            <a:pPr lvl="1" eaLnBrk="1" hangingPunct="1">
              <a:buFont typeface="Wingdings" panose="05000000000000000000" pitchFamily="2" charset="2"/>
              <a:buChar char="Ø"/>
            </a:pPr>
            <a:r>
              <a:rPr lang="zh-CN" altLang="en-US" kern="1200" dirty="0">
                <a:latin typeface="+mn-lt"/>
                <a:ea typeface="+mn-ea"/>
                <a:cs typeface="等线" panose="02010600030101010101" charset="-122"/>
              </a:rPr>
              <a:t>当把一种数据类型的值赋给另一种数据类型的变量时，需要进行数据类型转换。</a:t>
            </a:r>
            <a:endParaRPr lang="en-US" altLang="zh-CN" kern="1200" dirty="0">
              <a:latin typeface="+mn-lt"/>
              <a:ea typeface="+mn-ea"/>
              <a:cs typeface="等线" panose="02010600030101010101" charset="-122"/>
            </a:endParaRPr>
          </a:p>
          <a:p>
            <a:pPr lvl="1" eaLnBrk="1" hangingPunct="1">
              <a:buFont typeface="Wingdings" panose="05000000000000000000" pitchFamily="2" charset="2"/>
              <a:buChar char="Ø"/>
            </a:pPr>
            <a:r>
              <a:rPr lang="zh-CN" altLang="en-US" kern="1200" dirty="0">
                <a:latin typeface="+mn-lt"/>
                <a:ea typeface="+mn-ea"/>
                <a:cs typeface="等线" panose="02010600030101010101" charset="-122"/>
              </a:rPr>
              <a:t>根据转换方式的不同，数据类型转换可分为两种：</a:t>
            </a:r>
            <a:r>
              <a:rPr lang="zh-CN" altLang="en-US" kern="1200" dirty="0">
                <a:solidFill>
                  <a:srgbClr val="FF0000"/>
                </a:solidFill>
                <a:latin typeface="+mn-lt"/>
                <a:ea typeface="+mn-ea"/>
                <a:cs typeface="等线" panose="02010600030101010101" charset="-122"/>
              </a:rPr>
              <a:t>自动类型转换</a:t>
            </a:r>
            <a:r>
              <a:rPr lang="zh-CN" altLang="en-US" kern="1200" dirty="0">
                <a:latin typeface="+mn-lt"/>
                <a:ea typeface="+mn-ea"/>
                <a:cs typeface="等线" panose="02010600030101010101" charset="-122"/>
              </a:rPr>
              <a:t>和</a:t>
            </a:r>
            <a:r>
              <a:rPr lang="zh-CN" altLang="en-US" kern="1200" dirty="0">
                <a:solidFill>
                  <a:srgbClr val="FF0000"/>
                </a:solidFill>
                <a:latin typeface="+mn-lt"/>
                <a:ea typeface="+mn-ea"/>
                <a:cs typeface="等线" panose="02010600030101010101" charset="-122"/>
              </a:rPr>
              <a:t>强制类型转换</a:t>
            </a:r>
            <a:r>
              <a:rPr lang="zh-CN" altLang="en-US" kern="1200" dirty="0">
                <a:latin typeface="+mn-lt"/>
                <a:ea typeface="+mn-ea"/>
                <a:cs typeface="等线" panose="02010600030101010101" charset="-122"/>
              </a:rPr>
              <a:t>。</a:t>
            </a:r>
            <a:endParaRPr lang="en-US" altLang="zh-CN" kern="1200" dirty="0">
              <a:latin typeface="+mn-lt"/>
              <a:ea typeface="+mn-ea"/>
              <a:cs typeface="等线" panose="02010600030101010101" charset="-122"/>
            </a:endParaRPr>
          </a:p>
        </p:txBody>
      </p:sp>
      <p:sp>
        <p:nvSpPr>
          <p:cNvPr id="4" name="剪去对角的矩形 3"/>
          <p:cNvSpPr/>
          <p:nvPr/>
        </p:nvSpPr>
        <p:spPr bwMode="auto">
          <a:xfrm>
            <a:off x="5016500" y="1084263"/>
            <a:ext cx="3454400"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4036" name="矩形 4"/>
          <p:cNvSpPr/>
          <p:nvPr/>
        </p:nvSpPr>
        <p:spPr>
          <a:xfrm>
            <a:off x="5576888" y="1093788"/>
            <a:ext cx="2700337" cy="519112"/>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35000"/>
              </a:lnSpc>
              <a:spcBef>
                <a:spcPct val="0"/>
              </a:spcBef>
              <a:buNone/>
            </a:pPr>
            <a:r>
              <a:rPr lang="zh-CN" altLang="en-US" sz="2400" dirty="0">
                <a:solidFill>
                  <a:srgbClr val="00B0F0"/>
                </a:solidFill>
                <a:latin typeface="黑体" panose="02010609060101010101" pitchFamily="49" charset="-122"/>
                <a:ea typeface="黑体" panose="02010609060101010101" pitchFamily="49" charset="-122"/>
              </a:rPr>
              <a:t>变量的类型转换</a:t>
            </a:r>
            <a:endParaRPr lang="zh-CN" altLang="zh-CN" sz="2400" dirty="0">
              <a:solidFill>
                <a:srgbClr val="00B0F0"/>
              </a:solidFill>
              <a:latin typeface="黑体" panose="02010609060101010101" pitchFamily="49" charset="-122"/>
              <a:ea typeface="黑体" panose="02010609060101010101" pitchFamily="49" charset="-122"/>
            </a:endParaRPr>
          </a:p>
        </p:txBody>
      </p:sp>
      <p:sp>
        <p:nvSpPr>
          <p:cNvPr id="6"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2.2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中的变量</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44038"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1" name="内容占位符 2"/>
          <p:cNvSpPr>
            <a:spLocks noGrp="1"/>
          </p:cNvSpPr>
          <p:nvPr>
            <p:ph idx="1"/>
          </p:nvPr>
        </p:nvSpPr>
        <p:spPr>
          <a:xfrm>
            <a:off x="457200" y="1474788"/>
            <a:ext cx="8229600" cy="3944938"/>
          </a:xfrm>
          <a:ln>
            <a:solidFill>
              <a:srgbClr val="009ED6"/>
            </a:solidFill>
            <a:miter lim="800000"/>
          </a:ln>
        </p:spPr>
        <p:txBody>
          <a:bodyPr vert="horz" wrap="square" lIns="91440" tIns="45720" rIns="91440" bIns="45720" numCol="1" rtlCol="0" anchor="t" anchorCtr="0" compatLnSpc="1">
            <a:normAutofit/>
          </a:bodyPr>
          <a:lstStyle/>
          <a:p>
            <a:pPr marL="457200" marR="0" lvl="1" indent="0" algn="l" defTabSz="914400" rtl="0" eaLnBrk="1" fontAlgn="auto" latinLnBrk="0" hangingPunct="1">
              <a:lnSpc>
                <a:spcPct val="150000"/>
              </a:lnSpc>
              <a:spcBef>
                <a:spcPts val="500"/>
              </a:spcBef>
              <a:spcAft>
                <a:spcPts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1</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、自动类型转换</a:t>
            </a:r>
            <a:endParaRPr kumimoji="0" lang="zh-CN" altLang="en-US" sz="2000" b="1" i="0" u="none" strike="noStrike" kern="1200" cap="none" spc="0" normalizeH="0" baseline="0" noProof="0" dirty="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cs"/>
              </a:rPr>
              <a:t>也叫隐式类型转换，指的是两种数据类型在转换的过程中不需要显式地进行声明。</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1143000" marR="0" lvl="2"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cs"/>
              </a:rPr>
              <a:t>要实现自动类型转换，必须同时满足两个条件，</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1600200" marR="0" lvl="3"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cs"/>
              </a:rPr>
              <a:t>第一是两种数据类型彼此兼容，</a:t>
            </a:r>
            <a:endParaRPr kumimoji="0" lang="en-US" altLang="zh-CN" sz="1800" b="0" i="0" u="none" strike="noStrike" kern="1200" cap="none" spc="0" normalizeH="0" baseline="0" noProof="0" dirty="0">
              <a:ln>
                <a:noFill/>
              </a:ln>
              <a:solidFill>
                <a:schemeClr val="tx1"/>
              </a:solidFill>
              <a:effectLst/>
              <a:uLnTx/>
              <a:uFillTx/>
              <a:latin typeface="+mn-lt"/>
              <a:ea typeface="+mn-ea"/>
              <a:cs typeface="+mn-cs"/>
            </a:endParaRPr>
          </a:p>
          <a:p>
            <a:pPr marL="1600200" marR="0" lvl="3"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r>
              <a:rPr kumimoji="0" lang="zh-CN" altLang="en-US" sz="1800" b="0" i="0" u="none" strike="noStrike" kern="1200" cap="none" spc="0" normalizeH="0" baseline="0" noProof="0" dirty="0">
                <a:ln>
                  <a:noFill/>
                </a:ln>
                <a:solidFill>
                  <a:schemeClr val="tx1"/>
                </a:solidFill>
                <a:effectLst/>
                <a:uLnTx/>
                <a:uFillTx/>
                <a:latin typeface="+mn-lt"/>
                <a:ea typeface="+mn-ea"/>
                <a:cs typeface="+mn-cs"/>
              </a:rPr>
              <a:t>第二是目标类型的取值范围大于源类型的取值范围。</a:t>
            </a:r>
            <a:endParaRPr kumimoji="0" lang="zh-CN" altLang="en-US" sz="18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endParaRPr kumimoji="0" lang="zh-CN" altLang="en-US"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45059" name="Picture 5"/>
          <p:cNvPicPr>
            <a:picLocks noChangeAspect="1"/>
          </p:cNvPicPr>
          <p:nvPr/>
        </p:nvPicPr>
        <p:blipFill>
          <a:blip r:embed="rId1"/>
          <a:stretch>
            <a:fillRect/>
          </a:stretch>
        </p:blipFill>
        <p:spPr>
          <a:xfrm>
            <a:off x="1604963" y="4522788"/>
            <a:ext cx="5948362" cy="477837"/>
          </a:xfrm>
          <a:prstGeom prst="rect">
            <a:avLst/>
          </a:prstGeom>
          <a:noFill/>
          <a:ln w="9525">
            <a:noFill/>
          </a:ln>
        </p:spPr>
      </p:pic>
      <p:sp>
        <p:nvSpPr>
          <p:cNvPr id="5"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2.2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中的变量</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45061"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内容占位符 2"/>
          <p:cNvSpPr>
            <a:spLocks noGrp="1"/>
          </p:cNvSpPr>
          <p:nvPr>
            <p:ph idx="1"/>
          </p:nvPr>
        </p:nvSpPr>
        <p:spPr>
          <a:xfrm>
            <a:off x="255588" y="1474788"/>
            <a:ext cx="8229600" cy="3763962"/>
          </a:xfrm>
          <a:ln>
            <a:solidFill>
              <a:srgbClr val="009ED6">
                <a:alpha val="100000"/>
              </a:srgbClr>
            </a:solidFill>
            <a:miter lim="800000"/>
          </a:ln>
        </p:spPr>
        <p:txBody>
          <a:bodyPr vert="horz" wrap="square" lIns="91440" tIns="45720" rIns="91440" bIns="45720" anchor="t" anchorCtr="0"/>
          <a:p>
            <a:pPr lvl="1" eaLnBrk="1" hangingPunct="1">
              <a:buFont typeface="Wingdings" panose="05000000000000000000" pitchFamily="2" charset="2"/>
              <a:buChar char="Ø"/>
            </a:pPr>
            <a:r>
              <a:rPr lang="zh-CN" altLang="en-US" kern="1200" dirty="0">
                <a:latin typeface="+mn-lt"/>
                <a:ea typeface="+mn-ea"/>
                <a:cs typeface="等线" panose="02010600030101010101" charset="-122"/>
              </a:rPr>
              <a:t>（</a:t>
            </a:r>
            <a:r>
              <a:rPr lang="en-US" altLang="zh-CN" kern="1200" dirty="0">
                <a:latin typeface="+mn-lt"/>
                <a:ea typeface="+mn-ea"/>
                <a:cs typeface="等线" panose="02010600030101010101" charset="-122"/>
              </a:rPr>
              <a:t>1</a:t>
            </a:r>
            <a:r>
              <a:rPr lang="zh-CN" altLang="en-US" kern="1200" dirty="0">
                <a:latin typeface="+mn-lt"/>
                <a:ea typeface="+mn-ea"/>
                <a:cs typeface="等线" panose="02010600030101010101" charset="-122"/>
              </a:rPr>
              <a:t>）</a:t>
            </a:r>
            <a:r>
              <a:rPr lang="zh-CN" altLang="zh-CN" kern="1200" dirty="0">
                <a:latin typeface="+mn-lt"/>
                <a:ea typeface="+mn-ea"/>
                <a:cs typeface="等线" panose="02010600030101010101" charset="-122"/>
              </a:rPr>
              <a:t>整数类型之间可以实现转换，如</a:t>
            </a:r>
            <a:r>
              <a:rPr lang="en-US" altLang="zh-CN" kern="1200" dirty="0">
                <a:latin typeface="+mn-lt"/>
                <a:ea typeface="+mn-ea"/>
                <a:cs typeface="等线" panose="02010600030101010101" charset="-122"/>
              </a:rPr>
              <a:t>byte</a:t>
            </a:r>
            <a:r>
              <a:rPr lang="zh-CN" altLang="zh-CN" kern="1200" dirty="0">
                <a:latin typeface="+mn-lt"/>
                <a:ea typeface="+mn-ea"/>
                <a:cs typeface="等线" panose="02010600030101010101" charset="-122"/>
              </a:rPr>
              <a:t>类型的数据可以赋值给</a:t>
            </a:r>
            <a:r>
              <a:rPr lang="en-US" altLang="zh-CN" kern="1200" dirty="0">
                <a:latin typeface="+mn-lt"/>
                <a:ea typeface="+mn-ea"/>
                <a:cs typeface="等线" panose="02010600030101010101" charset="-122"/>
              </a:rPr>
              <a:t>short</a:t>
            </a:r>
            <a:r>
              <a:rPr lang="zh-CN" altLang="zh-CN" kern="1200" dirty="0">
                <a:latin typeface="+mn-lt"/>
                <a:ea typeface="+mn-ea"/>
                <a:cs typeface="等线" panose="02010600030101010101" charset="-122"/>
              </a:rPr>
              <a:t>、</a:t>
            </a:r>
            <a:r>
              <a:rPr lang="en-US" altLang="zh-CN" kern="1200" dirty="0">
                <a:latin typeface="+mn-lt"/>
                <a:ea typeface="+mn-ea"/>
                <a:cs typeface="等线" panose="02010600030101010101" charset="-122"/>
              </a:rPr>
              <a:t>int</a:t>
            </a:r>
            <a:r>
              <a:rPr lang="zh-CN" altLang="zh-CN" kern="1200" dirty="0">
                <a:latin typeface="+mn-lt"/>
                <a:ea typeface="+mn-ea"/>
                <a:cs typeface="等线" panose="02010600030101010101" charset="-122"/>
              </a:rPr>
              <a:t>、</a:t>
            </a:r>
            <a:r>
              <a:rPr lang="en-US" altLang="zh-CN" kern="1200" dirty="0">
                <a:latin typeface="+mn-lt"/>
                <a:ea typeface="+mn-ea"/>
                <a:cs typeface="等线" panose="02010600030101010101" charset="-122"/>
              </a:rPr>
              <a:t>long</a:t>
            </a:r>
            <a:r>
              <a:rPr lang="zh-CN" altLang="zh-CN" kern="1200" dirty="0">
                <a:latin typeface="+mn-lt"/>
                <a:ea typeface="+mn-ea"/>
                <a:cs typeface="等线" panose="02010600030101010101" charset="-122"/>
              </a:rPr>
              <a:t>类型的变量，</a:t>
            </a:r>
            <a:r>
              <a:rPr lang="en-US" altLang="zh-CN" kern="1200" dirty="0">
                <a:latin typeface="+mn-lt"/>
                <a:ea typeface="+mn-ea"/>
                <a:cs typeface="等线" panose="02010600030101010101" charset="-122"/>
              </a:rPr>
              <a:t>short</a:t>
            </a:r>
            <a:r>
              <a:rPr lang="zh-CN" altLang="zh-CN" kern="1200" dirty="0">
                <a:latin typeface="+mn-lt"/>
                <a:ea typeface="+mn-ea"/>
                <a:cs typeface="等线" panose="02010600030101010101" charset="-122"/>
              </a:rPr>
              <a:t>、</a:t>
            </a:r>
            <a:r>
              <a:rPr lang="en-US" altLang="zh-CN" kern="1200" dirty="0">
                <a:latin typeface="+mn-lt"/>
                <a:ea typeface="+mn-ea"/>
                <a:cs typeface="等线" panose="02010600030101010101" charset="-122"/>
              </a:rPr>
              <a:t>char</a:t>
            </a:r>
            <a:r>
              <a:rPr lang="zh-CN" altLang="zh-CN" kern="1200" dirty="0">
                <a:latin typeface="+mn-lt"/>
                <a:ea typeface="+mn-ea"/>
                <a:cs typeface="等线" panose="02010600030101010101" charset="-122"/>
              </a:rPr>
              <a:t>类型的数据可以赋值给</a:t>
            </a:r>
            <a:r>
              <a:rPr lang="en-US" altLang="zh-CN" kern="1200" dirty="0">
                <a:latin typeface="+mn-lt"/>
                <a:ea typeface="+mn-ea"/>
                <a:cs typeface="等线" panose="02010600030101010101" charset="-122"/>
              </a:rPr>
              <a:t>int</a:t>
            </a:r>
            <a:r>
              <a:rPr lang="zh-CN" altLang="zh-CN" kern="1200" dirty="0">
                <a:latin typeface="+mn-lt"/>
                <a:ea typeface="+mn-ea"/>
                <a:cs typeface="等线" panose="02010600030101010101" charset="-122"/>
              </a:rPr>
              <a:t>、</a:t>
            </a:r>
            <a:r>
              <a:rPr lang="en-US" altLang="zh-CN" kern="1200" dirty="0">
                <a:latin typeface="+mn-lt"/>
                <a:ea typeface="+mn-ea"/>
                <a:cs typeface="等线" panose="02010600030101010101" charset="-122"/>
              </a:rPr>
              <a:t>long</a:t>
            </a:r>
            <a:r>
              <a:rPr lang="zh-CN" altLang="zh-CN" kern="1200" dirty="0">
                <a:latin typeface="+mn-lt"/>
                <a:ea typeface="+mn-ea"/>
                <a:cs typeface="等线" panose="02010600030101010101" charset="-122"/>
              </a:rPr>
              <a:t>类型的变量，</a:t>
            </a:r>
            <a:r>
              <a:rPr lang="en-US" altLang="zh-CN" kern="1200" dirty="0">
                <a:latin typeface="+mn-lt"/>
                <a:ea typeface="+mn-ea"/>
                <a:cs typeface="等线" panose="02010600030101010101" charset="-122"/>
              </a:rPr>
              <a:t>int</a:t>
            </a:r>
            <a:r>
              <a:rPr lang="zh-CN" altLang="zh-CN" kern="1200" dirty="0">
                <a:latin typeface="+mn-lt"/>
                <a:ea typeface="+mn-ea"/>
                <a:cs typeface="等线" panose="02010600030101010101" charset="-122"/>
              </a:rPr>
              <a:t>类型的数据可以赋值给</a:t>
            </a:r>
            <a:r>
              <a:rPr lang="en-US" altLang="zh-CN" kern="1200" dirty="0">
                <a:latin typeface="+mn-lt"/>
                <a:ea typeface="+mn-ea"/>
                <a:cs typeface="等线" panose="02010600030101010101" charset="-122"/>
              </a:rPr>
              <a:t>long</a:t>
            </a:r>
            <a:r>
              <a:rPr lang="zh-CN" altLang="zh-CN" kern="1200" dirty="0">
                <a:latin typeface="+mn-lt"/>
                <a:ea typeface="+mn-ea"/>
                <a:cs typeface="等线" panose="02010600030101010101" charset="-122"/>
              </a:rPr>
              <a:t>类型的变量</a:t>
            </a:r>
            <a:endParaRPr lang="en-US" altLang="zh-CN" kern="1200" dirty="0">
              <a:latin typeface="+mn-lt"/>
              <a:ea typeface="+mn-ea"/>
              <a:cs typeface="等线" panose="02010600030101010101" charset="-122"/>
            </a:endParaRPr>
          </a:p>
          <a:p>
            <a:pPr lvl="1" eaLnBrk="1" hangingPunct="1">
              <a:buFont typeface="Wingdings" panose="05000000000000000000" pitchFamily="2" charset="2"/>
              <a:buChar char="Ø"/>
            </a:pPr>
            <a:r>
              <a:rPr lang="zh-CN" altLang="en-US" kern="1200" dirty="0">
                <a:latin typeface="+mn-lt"/>
                <a:ea typeface="+mn-ea"/>
                <a:cs typeface="等线" panose="02010600030101010101" charset="-122"/>
              </a:rPr>
              <a:t>（</a:t>
            </a:r>
            <a:r>
              <a:rPr lang="en-US" altLang="zh-CN" kern="1200" dirty="0">
                <a:latin typeface="+mn-lt"/>
                <a:ea typeface="+mn-ea"/>
                <a:cs typeface="等线" panose="02010600030101010101" charset="-122"/>
              </a:rPr>
              <a:t>2</a:t>
            </a:r>
            <a:r>
              <a:rPr lang="zh-CN" altLang="en-US" kern="1200" dirty="0">
                <a:latin typeface="+mn-lt"/>
                <a:ea typeface="+mn-ea"/>
                <a:cs typeface="等线" panose="02010600030101010101" charset="-122"/>
              </a:rPr>
              <a:t>）</a:t>
            </a:r>
            <a:r>
              <a:rPr lang="zh-CN" altLang="zh-CN" kern="1200" dirty="0">
                <a:latin typeface="+mn-lt"/>
                <a:ea typeface="+mn-ea"/>
                <a:cs typeface="等线" panose="02010600030101010101" charset="-122"/>
              </a:rPr>
              <a:t>整数类型转换为</a:t>
            </a:r>
            <a:r>
              <a:rPr lang="en-US" altLang="zh-CN" kern="1200" dirty="0">
                <a:latin typeface="+mn-lt"/>
                <a:ea typeface="+mn-ea"/>
                <a:cs typeface="等线" panose="02010600030101010101" charset="-122"/>
              </a:rPr>
              <a:t>float</a:t>
            </a:r>
            <a:r>
              <a:rPr lang="zh-CN" altLang="zh-CN" kern="1200" dirty="0">
                <a:latin typeface="+mn-lt"/>
                <a:ea typeface="+mn-ea"/>
                <a:cs typeface="等线" panose="02010600030101010101" charset="-122"/>
              </a:rPr>
              <a:t>类型，如</a:t>
            </a:r>
            <a:r>
              <a:rPr lang="en-US" altLang="zh-CN" kern="1200" dirty="0">
                <a:latin typeface="+mn-lt"/>
                <a:ea typeface="+mn-ea"/>
                <a:cs typeface="等线" panose="02010600030101010101" charset="-122"/>
              </a:rPr>
              <a:t>byte</a:t>
            </a:r>
            <a:r>
              <a:rPr lang="zh-CN" altLang="zh-CN" kern="1200" dirty="0">
                <a:latin typeface="+mn-lt"/>
                <a:ea typeface="+mn-ea"/>
                <a:cs typeface="等线" panose="02010600030101010101" charset="-122"/>
              </a:rPr>
              <a:t>、</a:t>
            </a:r>
            <a:r>
              <a:rPr lang="en-US" altLang="zh-CN" kern="1200" dirty="0">
                <a:latin typeface="+mn-lt"/>
                <a:ea typeface="+mn-ea"/>
                <a:cs typeface="等线" panose="02010600030101010101" charset="-122"/>
              </a:rPr>
              <a:t>char</a:t>
            </a:r>
            <a:r>
              <a:rPr lang="zh-CN" altLang="zh-CN" kern="1200" dirty="0">
                <a:latin typeface="+mn-lt"/>
                <a:ea typeface="+mn-ea"/>
                <a:cs typeface="等线" panose="02010600030101010101" charset="-122"/>
              </a:rPr>
              <a:t>、</a:t>
            </a:r>
            <a:r>
              <a:rPr lang="en-US" altLang="zh-CN" kern="1200" dirty="0">
                <a:latin typeface="+mn-lt"/>
                <a:ea typeface="+mn-ea"/>
                <a:cs typeface="等线" panose="02010600030101010101" charset="-122"/>
              </a:rPr>
              <a:t>short</a:t>
            </a:r>
            <a:r>
              <a:rPr lang="zh-CN" altLang="zh-CN" kern="1200" dirty="0">
                <a:latin typeface="+mn-lt"/>
                <a:ea typeface="+mn-ea"/>
                <a:cs typeface="等线" panose="02010600030101010101" charset="-122"/>
              </a:rPr>
              <a:t>、</a:t>
            </a:r>
            <a:r>
              <a:rPr lang="en-US" altLang="zh-CN" kern="1200" dirty="0">
                <a:latin typeface="+mn-lt"/>
                <a:ea typeface="+mn-ea"/>
                <a:cs typeface="等线" panose="02010600030101010101" charset="-122"/>
              </a:rPr>
              <a:t>int</a:t>
            </a:r>
            <a:r>
              <a:rPr lang="zh-CN" altLang="zh-CN" kern="1200" dirty="0">
                <a:latin typeface="+mn-lt"/>
                <a:ea typeface="+mn-ea"/>
                <a:cs typeface="等线" panose="02010600030101010101" charset="-122"/>
              </a:rPr>
              <a:t>类型的数据可以赋值给</a:t>
            </a:r>
            <a:r>
              <a:rPr lang="en-US" altLang="zh-CN" kern="1200" dirty="0">
                <a:latin typeface="+mn-lt"/>
                <a:ea typeface="+mn-ea"/>
                <a:cs typeface="等线" panose="02010600030101010101" charset="-122"/>
              </a:rPr>
              <a:t>float</a:t>
            </a:r>
            <a:r>
              <a:rPr lang="zh-CN" altLang="zh-CN" kern="1200" dirty="0">
                <a:latin typeface="+mn-lt"/>
                <a:ea typeface="+mn-ea"/>
                <a:cs typeface="等线" panose="02010600030101010101" charset="-122"/>
              </a:rPr>
              <a:t>类型的变量。</a:t>
            </a:r>
            <a:endParaRPr lang="en-US" altLang="zh-CN" kern="1200" dirty="0">
              <a:latin typeface="+mn-lt"/>
              <a:ea typeface="+mn-ea"/>
              <a:cs typeface="等线" panose="02010600030101010101" charset="-122"/>
            </a:endParaRPr>
          </a:p>
          <a:p>
            <a:pPr lvl="1" eaLnBrk="1" hangingPunct="1">
              <a:buFont typeface="Wingdings" panose="05000000000000000000" pitchFamily="2" charset="2"/>
              <a:buChar char="Ø"/>
            </a:pPr>
            <a:r>
              <a:rPr lang="zh-CN" altLang="en-US" kern="1200" dirty="0">
                <a:latin typeface="+mn-lt"/>
                <a:ea typeface="+mn-ea"/>
                <a:cs typeface="等线" panose="02010600030101010101" charset="-122"/>
              </a:rPr>
              <a:t>（</a:t>
            </a:r>
            <a:r>
              <a:rPr lang="en-US" altLang="zh-CN" kern="1200" dirty="0">
                <a:latin typeface="+mn-lt"/>
                <a:ea typeface="+mn-ea"/>
                <a:cs typeface="等线" panose="02010600030101010101" charset="-122"/>
              </a:rPr>
              <a:t>3</a:t>
            </a:r>
            <a:r>
              <a:rPr lang="zh-CN" altLang="en-US" kern="1200" dirty="0">
                <a:latin typeface="+mn-lt"/>
                <a:ea typeface="+mn-ea"/>
                <a:cs typeface="等线" panose="02010600030101010101" charset="-122"/>
              </a:rPr>
              <a:t>）</a:t>
            </a:r>
            <a:r>
              <a:rPr lang="zh-CN" altLang="zh-CN" kern="1200" dirty="0">
                <a:latin typeface="+mn-lt"/>
                <a:ea typeface="+mn-ea"/>
                <a:cs typeface="等线" panose="02010600030101010101" charset="-122"/>
              </a:rPr>
              <a:t>其它类型转换为</a:t>
            </a:r>
            <a:r>
              <a:rPr lang="en-US" altLang="zh-CN" kern="1200" dirty="0">
                <a:latin typeface="+mn-lt"/>
                <a:ea typeface="+mn-ea"/>
                <a:cs typeface="等线" panose="02010600030101010101" charset="-122"/>
              </a:rPr>
              <a:t>double</a:t>
            </a:r>
            <a:r>
              <a:rPr lang="zh-CN" altLang="zh-CN" kern="1200" dirty="0">
                <a:latin typeface="+mn-lt"/>
                <a:ea typeface="+mn-ea"/>
                <a:cs typeface="等线" panose="02010600030101010101" charset="-122"/>
              </a:rPr>
              <a:t>类型，如</a:t>
            </a:r>
            <a:r>
              <a:rPr lang="en-US" altLang="zh-CN" kern="1200" dirty="0">
                <a:latin typeface="+mn-lt"/>
                <a:ea typeface="+mn-ea"/>
                <a:cs typeface="等线" panose="02010600030101010101" charset="-122"/>
              </a:rPr>
              <a:t>byte</a:t>
            </a:r>
            <a:r>
              <a:rPr lang="zh-CN" altLang="zh-CN" kern="1200" dirty="0">
                <a:latin typeface="+mn-lt"/>
                <a:ea typeface="+mn-ea"/>
                <a:cs typeface="等线" panose="02010600030101010101" charset="-122"/>
              </a:rPr>
              <a:t>、</a:t>
            </a:r>
            <a:r>
              <a:rPr lang="en-US" altLang="zh-CN" kern="1200" dirty="0">
                <a:latin typeface="+mn-lt"/>
                <a:ea typeface="+mn-ea"/>
                <a:cs typeface="等线" panose="02010600030101010101" charset="-122"/>
              </a:rPr>
              <a:t>char</a:t>
            </a:r>
            <a:r>
              <a:rPr lang="zh-CN" altLang="zh-CN" kern="1200" dirty="0">
                <a:latin typeface="+mn-lt"/>
                <a:ea typeface="+mn-ea"/>
                <a:cs typeface="等线" panose="02010600030101010101" charset="-122"/>
              </a:rPr>
              <a:t>、</a:t>
            </a:r>
            <a:r>
              <a:rPr lang="en-US" altLang="zh-CN" kern="1200" dirty="0">
                <a:latin typeface="+mn-lt"/>
                <a:ea typeface="+mn-ea"/>
                <a:cs typeface="等线" panose="02010600030101010101" charset="-122"/>
              </a:rPr>
              <a:t>short</a:t>
            </a:r>
            <a:r>
              <a:rPr lang="zh-CN" altLang="zh-CN" kern="1200" dirty="0">
                <a:latin typeface="+mn-lt"/>
                <a:ea typeface="+mn-ea"/>
                <a:cs typeface="等线" panose="02010600030101010101" charset="-122"/>
              </a:rPr>
              <a:t>、</a:t>
            </a:r>
            <a:r>
              <a:rPr lang="en-US" altLang="zh-CN" kern="1200" dirty="0">
                <a:latin typeface="+mn-lt"/>
                <a:ea typeface="+mn-ea"/>
                <a:cs typeface="等线" panose="02010600030101010101" charset="-122"/>
              </a:rPr>
              <a:t>int</a:t>
            </a:r>
            <a:r>
              <a:rPr lang="zh-CN" altLang="zh-CN" kern="1200" dirty="0">
                <a:latin typeface="+mn-lt"/>
                <a:ea typeface="+mn-ea"/>
                <a:cs typeface="等线" panose="02010600030101010101" charset="-122"/>
              </a:rPr>
              <a:t>、</a:t>
            </a:r>
            <a:r>
              <a:rPr lang="en-US" altLang="zh-CN" kern="1200" dirty="0">
                <a:latin typeface="+mn-lt"/>
                <a:ea typeface="+mn-ea"/>
                <a:cs typeface="等线" panose="02010600030101010101" charset="-122"/>
              </a:rPr>
              <a:t>long</a:t>
            </a:r>
            <a:r>
              <a:rPr lang="zh-CN" altLang="zh-CN" kern="1200" dirty="0">
                <a:latin typeface="+mn-lt"/>
                <a:ea typeface="+mn-ea"/>
                <a:cs typeface="等线" panose="02010600030101010101" charset="-122"/>
              </a:rPr>
              <a:t>、</a:t>
            </a:r>
            <a:r>
              <a:rPr lang="en-US" altLang="zh-CN" kern="1200" dirty="0">
                <a:latin typeface="+mn-lt"/>
                <a:ea typeface="+mn-ea"/>
                <a:cs typeface="等线" panose="02010600030101010101" charset="-122"/>
              </a:rPr>
              <a:t>float</a:t>
            </a:r>
            <a:r>
              <a:rPr lang="zh-CN" altLang="zh-CN" kern="1200" dirty="0">
                <a:latin typeface="+mn-lt"/>
                <a:ea typeface="+mn-ea"/>
                <a:cs typeface="等线" panose="02010600030101010101" charset="-122"/>
              </a:rPr>
              <a:t>类型的数据可以赋值给</a:t>
            </a:r>
            <a:r>
              <a:rPr lang="en-US" altLang="zh-CN" kern="1200" dirty="0">
                <a:latin typeface="+mn-lt"/>
                <a:ea typeface="+mn-ea"/>
                <a:cs typeface="等线" panose="02010600030101010101" charset="-122"/>
              </a:rPr>
              <a:t>double</a:t>
            </a:r>
            <a:r>
              <a:rPr lang="zh-CN" altLang="zh-CN" kern="1200" dirty="0">
                <a:latin typeface="+mn-lt"/>
                <a:ea typeface="+mn-ea"/>
                <a:cs typeface="等线" panose="02010600030101010101" charset="-122"/>
              </a:rPr>
              <a:t>类型的变量。</a:t>
            </a:r>
            <a:endParaRPr lang="zh-CN" altLang="en-US" kern="1200" dirty="0">
              <a:latin typeface="+mn-lt"/>
              <a:ea typeface="+mn-ea"/>
              <a:cs typeface="等线" panose="02010600030101010101" charset="-122"/>
            </a:endParaRPr>
          </a:p>
        </p:txBody>
      </p:sp>
      <p:sp>
        <p:nvSpPr>
          <p:cNvPr id="4"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2.2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中的变量</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46084"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9" name="内容占位符 2"/>
          <p:cNvSpPr>
            <a:spLocks noGrp="1"/>
          </p:cNvSpPr>
          <p:nvPr>
            <p:ph idx="1"/>
          </p:nvPr>
        </p:nvSpPr>
        <p:spPr>
          <a:xfrm>
            <a:off x="338138" y="1328738"/>
            <a:ext cx="8229600" cy="4079875"/>
          </a:xfrm>
          <a:ln>
            <a:solidFill>
              <a:srgbClr val="009ED6"/>
            </a:solidFill>
            <a:miter lim="800000"/>
          </a:ln>
        </p:spPr>
        <p:txBody>
          <a:bodyPr vert="horz" wrap="square" lIns="91440" tIns="45720" rIns="91440" bIns="45720" numCol="1" rtlCol="0" anchor="t" anchorCtr="0" compatLnSpc="1">
            <a:normAutofit/>
          </a:bodyPr>
          <a:lstStyle/>
          <a:p>
            <a:pPr marL="457200" marR="0" lvl="1" indent="0" algn="l" defTabSz="914400" rtl="0" eaLnBrk="1" fontAlgn="auto" latinLnBrk="0" hangingPunct="1">
              <a:lnSpc>
                <a:spcPct val="150000"/>
              </a:lnSpc>
              <a:spcBef>
                <a:spcPts val="500"/>
              </a:spcBef>
              <a:spcAft>
                <a:spcPts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2</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、强制类型转换</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强制类型转换也叫显式类型转换，指的是两种数据类型之间的转换需要进行显式地声明。</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当两种类型彼此不兼容，或者目标类型取值范围小于源类型时，自动类型转换无法进行，这时就需要进行强制类型转换。</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强制类型转换的格式如下所示：</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47107" name="Picture 12"/>
          <p:cNvPicPr>
            <a:picLocks noChangeAspect="1"/>
          </p:cNvPicPr>
          <p:nvPr/>
        </p:nvPicPr>
        <p:blipFill>
          <a:blip r:embed="rId1"/>
          <a:stretch>
            <a:fillRect/>
          </a:stretch>
        </p:blipFill>
        <p:spPr>
          <a:xfrm>
            <a:off x="1266825" y="4637088"/>
            <a:ext cx="6511925" cy="412750"/>
          </a:xfrm>
          <a:prstGeom prst="rect">
            <a:avLst/>
          </a:prstGeom>
          <a:noFill/>
          <a:ln w="9525">
            <a:noFill/>
          </a:ln>
        </p:spPr>
      </p:pic>
      <p:sp>
        <p:nvSpPr>
          <p:cNvPr id="5"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2.2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中的变量</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47109"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矩形 1"/>
          <p:cNvSpPr/>
          <p:nvPr/>
        </p:nvSpPr>
        <p:spPr>
          <a:xfrm>
            <a:off x="2001838" y="357188"/>
            <a:ext cx="3430587" cy="522287"/>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zh-CN" altLang="en-US" b="1" dirty="0">
                <a:solidFill>
                  <a:srgbClr val="0070C0"/>
                </a:solidFill>
                <a:latin typeface="Arial" panose="020B0604020202020204" pitchFamily="34" charset="0"/>
                <a:ea typeface="宋体" panose="02010600030101010101" pitchFamily="2" charset="-122"/>
                <a:sym typeface="Arial" panose="020B0604020202020204" pitchFamily="34" charset="0"/>
              </a:rPr>
              <a:t>表达式类型自动提升</a:t>
            </a:r>
            <a:endParaRPr lang="zh-CN" altLang="en-US" b="1" dirty="0">
              <a:solidFill>
                <a:srgbClr val="0070C0"/>
              </a:solidFill>
              <a:latin typeface="Arial" panose="020B0604020202020204" pitchFamily="34" charset="0"/>
              <a:ea typeface="宋体" panose="02010600030101010101" pitchFamily="2" charset="-122"/>
              <a:sym typeface="Arial" panose="020B0604020202020204" pitchFamily="34" charset="0"/>
            </a:endParaRPr>
          </a:p>
        </p:txBody>
      </p:sp>
      <p:sp>
        <p:nvSpPr>
          <p:cNvPr id="48131" name="矩形 3"/>
          <p:cNvSpPr/>
          <p:nvPr/>
        </p:nvSpPr>
        <p:spPr>
          <a:xfrm>
            <a:off x="215900" y="1025525"/>
            <a:ext cx="8575675" cy="830263"/>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Blip>
                <a:blip r:embed="rId1"/>
              </a:buBlip>
            </a:pPr>
            <a:r>
              <a:rPr lang="zh-CN" altLang="en-US" sz="1600" dirty="0">
                <a:latin typeface="Arial" panose="020B0604020202020204" pitchFamily="34" charset="0"/>
                <a:ea typeface="宋体" panose="02010600030101010101" pitchFamily="2" charset="-122"/>
              </a:rPr>
              <a:t> 整型、字符型、浮点型在混合运算中相互转换，各数据类型按容量大小（表数范围大小）由  小到大排列为：</a:t>
            </a:r>
            <a:endParaRPr lang="en-US" altLang="zh-CN" sz="1600" dirty="0">
              <a:latin typeface="Arial" panose="020B0604020202020204" pitchFamily="34" charset="0"/>
              <a:ea typeface="宋体" panose="02010600030101010101" pitchFamily="2" charset="-122"/>
            </a:endParaRPr>
          </a:p>
          <a:p>
            <a:pPr marL="0" lvl="0" indent="0">
              <a:lnSpc>
                <a:spcPct val="100000"/>
              </a:lnSpc>
              <a:spcBef>
                <a:spcPct val="0"/>
              </a:spcBef>
              <a:buNone/>
            </a:pPr>
            <a:r>
              <a:rPr lang="en-US" altLang="en-US" sz="1600" dirty="0">
                <a:latin typeface="Arial" panose="020B0604020202020204" pitchFamily="34" charset="0"/>
                <a:ea typeface="宋体" panose="02010600030101010101" pitchFamily="2" charset="-122"/>
              </a:rPr>
              <a:t>        byte, short, char  ——int ——long——float——double</a:t>
            </a:r>
            <a:endParaRPr lang="en-US" altLang="zh-CN" sz="1600" dirty="0">
              <a:latin typeface="Arial" panose="020B0604020202020204" pitchFamily="34" charset="0"/>
              <a:ea typeface="宋体" panose="02010600030101010101" pitchFamily="2" charset="-122"/>
            </a:endParaRPr>
          </a:p>
        </p:txBody>
      </p:sp>
      <p:sp>
        <p:nvSpPr>
          <p:cNvPr id="48132" name="矩形 6"/>
          <p:cNvSpPr/>
          <p:nvPr/>
        </p:nvSpPr>
        <p:spPr>
          <a:xfrm>
            <a:off x="490538" y="5081588"/>
            <a:ext cx="6216650" cy="639762"/>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50000"/>
              </a:lnSpc>
              <a:spcBef>
                <a:spcPct val="0"/>
              </a:spcBef>
              <a:buBlip>
                <a:blip r:embed="rId1"/>
              </a:buBlip>
            </a:pPr>
            <a:r>
              <a:rPr lang="en-US" altLang="zh-CN" sz="2400" dirty="0">
                <a:solidFill>
                  <a:srgbClr val="FF0000"/>
                </a:solidFill>
                <a:latin typeface="Arial" panose="020B0604020202020204" pitchFamily="34" charset="0"/>
                <a:ea typeface="宋体" panose="02010600030101010101" pitchFamily="2" charset="-122"/>
              </a:rPr>
              <a:t> </a:t>
            </a:r>
            <a:r>
              <a:rPr lang="en-US" altLang="zh-CN" sz="2400" b="1" dirty="0">
                <a:solidFill>
                  <a:srgbClr val="FF0000"/>
                </a:solidFill>
                <a:latin typeface="Arial" panose="020B0604020202020204" pitchFamily="34" charset="0"/>
                <a:ea typeface="宋体" panose="02010600030101010101" pitchFamily="2" charset="-122"/>
              </a:rPr>
              <a:t>boolean</a:t>
            </a:r>
            <a:r>
              <a:rPr lang="zh-CN" altLang="en-US" sz="2400" b="1" dirty="0">
                <a:solidFill>
                  <a:srgbClr val="FF0000"/>
                </a:solidFill>
                <a:latin typeface="Arial" panose="020B0604020202020204" pitchFamily="34" charset="0"/>
                <a:ea typeface="宋体" panose="02010600030101010101" pitchFamily="2" charset="-122"/>
              </a:rPr>
              <a:t>类型不能</a:t>
            </a:r>
            <a:r>
              <a:rPr lang="zh-CN" altLang="en-US" sz="2400" dirty="0">
                <a:latin typeface="Arial" panose="020B0604020202020204" pitchFamily="34" charset="0"/>
                <a:ea typeface="宋体" panose="02010600030101010101" pitchFamily="2" charset="-122"/>
              </a:rPr>
              <a:t>与其数据类型进行互转换</a:t>
            </a:r>
            <a:endParaRPr lang="zh-CN" altLang="en-US" sz="2400" dirty="0">
              <a:latin typeface="Arial" panose="020B0604020202020204" pitchFamily="34" charset="0"/>
              <a:ea typeface="宋体" panose="02010600030101010101" pitchFamily="2" charset="-122"/>
            </a:endParaRPr>
          </a:p>
        </p:txBody>
      </p:sp>
      <p:sp>
        <p:nvSpPr>
          <p:cNvPr id="10" name="矩形 9"/>
          <p:cNvSpPr/>
          <p:nvPr/>
        </p:nvSpPr>
        <p:spPr>
          <a:xfrm>
            <a:off x="142875" y="1998663"/>
            <a:ext cx="9001125" cy="1712913"/>
          </a:xfrm>
          <a:prstGeom prst="rect">
            <a:avLst/>
          </a:prstGeom>
        </p:spPr>
        <p:style>
          <a:lnRef idx="3">
            <a:schemeClr val="lt1"/>
          </a:lnRef>
          <a:fillRef idx="1">
            <a:schemeClr val="accent6"/>
          </a:fillRef>
          <a:effectRef idx="1">
            <a:schemeClr val="accent6"/>
          </a:effectRef>
          <a:fontRef idx="minor">
            <a:schemeClr val="lt1"/>
          </a:fontRef>
        </p:style>
        <p:txBody>
          <a:bodyPr>
            <a:spAutoFit/>
          </a:bodyPr>
          <a:lstStyle/>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1800" b="1" i="0" u="none" strike="noStrike" kern="1200" cap="none" spc="0" normalizeH="0" baseline="0" noProof="1">
                <a:ln>
                  <a:noFill/>
                </a:ln>
                <a:solidFill>
                  <a:schemeClr val="lt1"/>
                </a:solidFill>
                <a:effectLst/>
                <a:uLnTx/>
                <a:uFillTx/>
                <a:latin typeface="+mn-lt"/>
                <a:ea typeface="+mn-ea"/>
                <a:cs typeface="+mn-cs"/>
                <a:sym typeface="+mn-ea"/>
              </a:rPr>
              <a:t>转换时遵循的原则：</a:t>
            </a:r>
            <a:endParaRPr kumimoji="0" lang="zh-CN" altLang="en-US" sz="1800" b="1" i="0" u="none" strike="noStrike" kern="1200" cap="none" spc="0" normalizeH="0" baseline="0" noProof="1">
              <a:ln>
                <a:noFill/>
              </a:ln>
              <a:solidFill>
                <a:schemeClr val="lt1"/>
              </a:solidFill>
              <a:effectLst/>
              <a:uLnTx/>
              <a:uFillTx/>
              <a:latin typeface="+mn-lt"/>
              <a:ea typeface="+mn-ea"/>
              <a:cs typeface="+mn-cs"/>
              <a:sym typeface="+mn-ea"/>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1800" b="1" i="0" u="none" strike="noStrike" kern="1200" cap="none" spc="0" normalizeH="0" baseline="0" noProof="1">
                <a:ln>
                  <a:noFill/>
                </a:ln>
                <a:solidFill>
                  <a:schemeClr val="lt1"/>
                </a:solidFill>
                <a:effectLst/>
                <a:uLnTx/>
                <a:uFillTx/>
                <a:latin typeface="+mn-lt"/>
                <a:ea typeface="+mn-ea"/>
                <a:cs typeface="+mn-cs"/>
                <a:sym typeface="+mn-ea"/>
              </a:rPr>
              <a:t>    </a:t>
            </a:r>
            <a:r>
              <a:rPr kumimoji="0" lang="en-US" altLang="zh-CN" sz="1800" b="1" i="0" u="none" strike="noStrike" kern="1200" cap="none" spc="0" normalizeH="0" baseline="0" noProof="1">
                <a:ln>
                  <a:noFill/>
                </a:ln>
                <a:solidFill>
                  <a:schemeClr val="lt1"/>
                </a:solidFill>
                <a:effectLst/>
                <a:uLnTx/>
                <a:uFillTx/>
                <a:latin typeface="+mn-lt"/>
                <a:ea typeface="+mn-ea"/>
                <a:cs typeface="+mn-cs"/>
                <a:sym typeface="+mn-ea"/>
              </a:rPr>
              <a:t>1</a:t>
            </a:r>
            <a:r>
              <a:rPr kumimoji="0" lang="zh-CN" altLang="en-US" sz="1800" b="1" i="0" u="none" strike="noStrike" kern="1200" cap="none" spc="0" normalizeH="0" baseline="0" noProof="1">
                <a:ln>
                  <a:noFill/>
                </a:ln>
                <a:solidFill>
                  <a:schemeClr val="lt1"/>
                </a:solidFill>
                <a:effectLst/>
                <a:uLnTx/>
                <a:uFillTx/>
                <a:latin typeface="+mn-lt"/>
                <a:ea typeface="+mn-ea"/>
                <a:cs typeface="+mn-cs"/>
                <a:sym typeface="+mn-ea"/>
              </a:rPr>
              <a:t>）容量小的类型自动转换为容量大的类型；</a:t>
            </a:r>
            <a:endParaRPr kumimoji="0" lang="zh-CN" altLang="en-US" sz="1800" b="1" i="0" u="none" strike="noStrike" kern="1200" cap="none" spc="0" normalizeH="0" baseline="0" noProof="1">
              <a:ln>
                <a:noFill/>
              </a:ln>
              <a:solidFill>
                <a:schemeClr val="lt1"/>
              </a:solidFill>
              <a:effectLst/>
              <a:uLnTx/>
              <a:uFillTx/>
              <a:latin typeface="+mn-lt"/>
              <a:ea typeface="+mn-ea"/>
              <a:cs typeface="+mn-cs"/>
              <a:sym typeface="+mn-ea"/>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1800" b="1" i="0" u="none" strike="noStrike" kern="1200" cap="none" spc="0" normalizeH="0" baseline="0" noProof="1">
                <a:ln>
                  <a:noFill/>
                </a:ln>
                <a:solidFill>
                  <a:schemeClr val="lt1"/>
                </a:solidFill>
                <a:effectLst/>
                <a:uLnTx/>
                <a:uFillTx/>
                <a:latin typeface="+mn-lt"/>
                <a:ea typeface="+mn-ea"/>
                <a:cs typeface="+mn-cs"/>
                <a:sym typeface="+mn-ea"/>
              </a:rPr>
              <a:t>    </a:t>
            </a:r>
            <a:r>
              <a:rPr kumimoji="0" lang="en-US" altLang="zh-CN" sz="1800" b="1" i="0" u="none" strike="noStrike" kern="1200" cap="none" spc="0" normalizeH="0" baseline="0" noProof="1">
                <a:ln>
                  <a:noFill/>
                </a:ln>
                <a:solidFill>
                  <a:schemeClr val="lt1"/>
                </a:solidFill>
                <a:effectLst/>
                <a:uLnTx/>
                <a:uFillTx/>
                <a:latin typeface="+mn-lt"/>
                <a:ea typeface="+mn-ea"/>
                <a:cs typeface="+mn-cs"/>
                <a:sym typeface="+mn-ea"/>
              </a:rPr>
              <a:t>2</a:t>
            </a:r>
            <a:r>
              <a:rPr kumimoji="0" lang="zh-CN" altLang="en-US" sz="1800" b="1" i="0" u="none" strike="noStrike" kern="1200" cap="none" spc="0" normalizeH="0" baseline="0" noProof="1">
                <a:ln>
                  <a:noFill/>
                </a:ln>
                <a:solidFill>
                  <a:schemeClr val="lt1"/>
                </a:solidFill>
                <a:effectLst/>
                <a:uLnTx/>
                <a:uFillTx/>
                <a:latin typeface="+mn-lt"/>
                <a:ea typeface="+mn-ea"/>
                <a:cs typeface="+mn-cs"/>
                <a:sym typeface="+mn-ea"/>
              </a:rPr>
              <a:t>）</a:t>
            </a:r>
            <a:r>
              <a:rPr kumimoji="0" lang="en-US" altLang="zh-CN" sz="1800" b="1" i="0" u="none" strike="noStrike" kern="1200" cap="none" spc="0" normalizeH="0" baseline="0" noProof="1">
                <a:ln>
                  <a:noFill/>
                </a:ln>
                <a:solidFill>
                  <a:schemeClr val="lt1"/>
                </a:solidFill>
                <a:effectLst/>
                <a:uLnTx/>
                <a:uFillTx/>
                <a:latin typeface="+mn-lt"/>
                <a:ea typeface="+mn-ea"/>
                <a:cs typeface="+mn-cs"/>
                <a:sym typeface="+mn-ea"/>
              </a:rPr>
              <a:t>byte</a:t>
            </a:r>
            <a:r>
              <a:rPr kumimoji="0" lang="zh-CN" altLang="en-US" sz="1800" b="1" i="0" u="none" strike="noStrike" kern="1200" cap="none" spc="0" normalizeH="0" baseline="0" noProof="1">
                <a:ln>
                  <a:noFill/>
                </a:ln>
                <a:solidFill>
                  <a:schemeClr val="lt1"/>
                </a:solidFill>
                <a:effectLst/>
                <a:uLnTx/>
                <a:uFillTx/>
                <a:latin typeface="+mn-lt"/>
                <a:ea typeface="+mn-ea"/>
                <a:cs typeface="+mn-cs"/>
                <a:sym typeface="+mn-ea"/>
              </a:rPr>
              <a:t>，</a:t>
            </a:r>
            <a:r>
              <a:rPr kumimoji="0" lang="en-US" altLang="zh-CN" sz="1800" b="1" i="0" u="none" strike="noStrike" kern="1200" cap="none" spc="0" normalizeH="0" baseline="0" noProof="1">
                <a:ln>
                  <a:noFill/>
                </a:ln>
                <a:solidFill>
                  <a:schemeClr val="lt1"/>
                </a:solidFill>
                <a:effectLst/>
                <a:uLnTx/>
                <a:uFillTx/>
                <a:latin typeface="+mn-lt"/>
                <a:ea typeface="+mn-ea"/>
                <a:cs typeface="+mn-cs"/>
                <a:sym typeface="+mn-ea"/>
              </a:rPr>
              <a:t>short</a:t>
            </a:r>
            <a:r>
              <a:rPr kumimoji="0" lang="zh-CN" altLang="en-US" sz="1800" b="1" i="0" u="none" strike="noStrike" kern="1200" cap="none" spc="0" normalizeH="0" baseline="0" noProof="1">
                <a:ln>
                  <a:noFill/>
                </a:ln>
                <a:solidFill>
                  <a:schemeClr val="lt1"/>
                </a:solidFill>
                <a:effectLst/>
                <a:uLnTx/>
                <a:uFillTx/>
                <a:latin typeface="+mn-lt"/>
                <a:ea typeface="+mn-ea"/>
                <a:cs typeface="+mn-cs"/>
                <a:sym typeface="+mn-ea"/>
              </a:rPr>
              <a:t>，</a:t>
            </a:r>
            <a:r>
              <a:rPr kumimoji="0" lang="en-US" altLang="zh-CN" sz="1800" b="1" i="0" u="none" strike="noStrike" kern="1200" cap="none" spc="0" normalizeH="0" baseline="0" noProof="1">
                <a:ln>
                  <a:noFill/>
                </a:ln>
                <a:solidFill>
                  <a:schemeClr val="lt1"/>
                </a:solidFill>
                <a:effectLst/>
                <a:uLnTx/>
                <a:uFillTx/>
                <a:latin typeface="+mn-lt"/>
                <a:ea typeface="+mn-ea"/>
                <a:cs typeface="+mn-cs"/>
                <a:sym typeface="+mn-ea"/>
              </a:rPr>
              <a:t>char</a:t>
            </a:r>
            <a:r>
              <a:rPr kumimoji="0" lang="zh-CN" altLang="en-US" sz="1800" b="1" i="0" u="none" strike="noStrike" kern="1200" cap="none" spc="0" normalizeH="0" baseline="0" noProof="1">
                <a:ln>
                  <a:noFill/>
                </a:ln>
                <a:solidFill>
                  <a:schemeClr val="lt1"/>
                </a:solidFill>
                <a:effectLst/>
                <a:uLnTx/>
                <a:uFillTx/>
                <a:latin typeface="+mn-lt"/>
                <a:ea typeface="+mn-ea"/>
                <a:cs typeface="+mn-cs"/>
                <a:sym typeface="+mn-ea"/>
              </a:rPr>
              <a:t>在混合运算中不会互相转换，其在运算时首先转换为</a:t>
            </a:r>
            <a:r>
              <a:rPr kumimoji="0" lang="en-US" altLang="zh-CN" sz="1800" b="1" i="0" u="none" strike="noStrike" kern="1200" cap="none" spc="0" normalizeH="0" baseline="0" noProof="1">
                <a:ln>
                  <a:noFill/>
                </a:ln>
                <a:solidFill>
                  <a:schemeClr val="lt1"/>
                </a:solidFill>
                <a:effectLst/>
                <a:uLnTx/>
                <a:uFillTx/>
                <a:latin typeface="+mn-lt"/>
                <a:ea typeface="+mn-ea"/>
                <a:cs typeface="+mn-cs"/>
                <a:sym typeface="+mn-ea"/>
              </a:rPr>
              <a:t>int</a:t>
            </a:r>
            <a:r>
              <a:rPr kumimoji="0" lang="zh-CN" altLang="en-US" sz="1800" b="1" i="0" u="none" strike="noStrike" kern="1200" cap="none" spc="0" normalizeH="0" baseline="0" noProof="1">
                <a:ln>
                  <a:noFill/>
                </a:ln>
                <a:solidFill>
                  <a:schemeClr val="lt1"/>
                </a:solidFill>
                <a:effectLst/>
                <a:uLnTx/>
                <a:uFillTx/>
                <a:latin typeface="+mn-lt"/>
                <a:ea typeface="+mn-ea"/>
                <a:cs typeface="+mn-cs"/>
                <a:sym typeface="+mn-ea"/>
              </a:rPr>
              <a:t>类型；</a:t>
            </a:r>
            <a:endParaRPr kumimoji="0" lang="zh-CN" altLang="en-US" sz="1800" b="1" i="0" u="none" strike="noStrike" kern="1200" cap="none" spc="0" normalizeH="0" baseline="0" noProof="1">
              <a:ln>
                <a:noFill/>
              </a:ln>
              <a:solidFill>
                <a:schemeClr val="lt1"/>
              </a:solidFill>
              <a:effectLst/>
              <a:uLnTx/>
              <a:uFillTx/>
              <a:latin typeface="+mn-lt"/>
              <a:ea typeface="+mn-ea"/>
              <a:cs typeface="+mn-cs"/>
              <a:sym typeface="+mn-ea"/>
            </a:endParaRPr>
          </a:p>
          <a:p>
            <a:pPr marL="0" marR="0" lvl="0" indent="0" algn="l" defTabSz="914400" rtl="0" eaLnBrk="0" fontAlgn="base" latinLnBrk="0" hangingPunct="0">
              <a:lnSpc>
                <a:spcPct val="150000"/>
              </a:lnSpc>
              <a:spcBef>
                <a:spcPct val="0"/>
              </a:spcBef>
              <a:spcAft>
                <a:spcPct val="0"/>
              </a:spcAft>
              <a:buClrTx/>
              <a:buSzTx/>
              <a:buFontTx/>
              <a:buNone/>
              <a:defRPr/>
            </a:pPr>
            <a:r>
              <a:rPr kumimoji="0" lang="zh-CN" altLang="en-US" sz="1800" b="1" i="0" u="none" strike="noStrike" kern="1200" cap="none" spc="0" normalizeH="0" baseline="0" noProof="1">
                <a:ln>
                  <a:noFill/>
                </a:ln>
                <a:solidFill>
                  <a:schemeClr val="lt1"/>
                </a:solidFill>
                <a:effectLst/>
                <a:uLnTx/>
                <a:uFillTx/>
                <a:latin typeface="+mn-lt"/>
                <a:ea typeface="+mn-ea"/>
                <a:cs typeface="+mn-cs"/>
                <a:sym typeface="+mn-ea"/>
              </a:rPr>
              <a:t>    </a:t>
            </a:r>
            <a:r>
              <a:rPr kumimoji="0" lang="en-US" altLang="zh-CN" sz="1800" b="1" i="0" u="none" strike="noStrike" kern="1200" cap="none" spc="0" normalizeH="0" baseline="0" noProof="1">
                <a:ln>
                  <a:noFill/>
                </a:ln>
                <a:solidFill>
                  <a:schemeClr val="lt1"/>
                </a:solidFill>
                <a:effectLst/>
                <a:uLnTx/>
                <a:uFillTx/>
                <a:latin typeface="+mn-lt"/>
                <a:ea typeface="+mn-ea"/>
                <a:cs typeface="+mn-cs"/>
                <a:sym typeface="+mn-ea"/>
              </a:rPr>
              <a:t>3</a:t>
            </a:r>
            <a:r>
              <a:rPr kumimoji="0" lang="zh-CN" altLang="en-US" sz="1800" b="1" i="0" u="none" strike="noStrike" kern="1200" cap="none" spc="0" normalizeH="0" baseline="0" noProof="1">
                <a:ln>
                  <a:noFill/>
                </a:ln>
                <a:solidFill>
                  <a:schemeClr val="lt1"/>
                </a:solidFill>
                <a:effectLst/>
                <a:uLnTx/>
                <a:uFillTx/>
                <a:latin typeface="+mn-lt"/>
                <a:ea typeface="+mn-ea"/>
                <a:cs typeface="+mn-cs"/>
                <a:sym typeface="+mn-ea"/>
              </a:rPr>
              <a:t>）实数常量（如：</a:t>
            </a:r>
            <a:r>
              <a:rPr kumimoji="0" lang="en-US" altLang="zh-CN" sz="1800" b="1" i="0" u="none" strike="noStrike" kern="1200" cap="none" spc="0" normalizeH="0" baseline="0" noProof="1">
                <a:ln>
                  <a:noFill/>
                </a:ln>
                <a:solidFill>
                  <a:schemeClr val="lt1"/>
                </a:solidFill>
                <a:effectLst/>
                <a:uLnTx/>
                <a:uFillTx/>
                <a:latin typeface="+mn-lt"/>
                <a:ea typeface="+mn-ea"/>
                <a:cs typeface="+mn-cs"/>
                <a:sym typeface="+mn-ea"/>
              </a:rPr>
              <a:t>1.2</a:t>
            </a:r>
            <a:r>
              <a:rPr kumimoji="0" lang="zh-CN" altLang="en-US" sz="1800" b="1" i="0" u="none" strike="noStrike" kern="1200" cap="none" spc="0" normalizeH="0" baseline="0" noProof="1">
                <a:ln>
                  <a:noFill/>
                </a:ln>
                <a:solidFill>
                  <a:schemeClr val="lt1"/>
                </a:solidFill>
                <a:effectLst/>
                <a:uLnTx/>
                <a:uFillTx/>
                <a:latin typeface="+mn-lt"/>
                <a:ea typeface="+mn-ea"/>
                <a:cs typeface="+mn-cs"/>
                <a:sym typeface="+mn-ea"/>
              </a:rPr>
              <a:t>）默认为</a:t>
            </a:r>
            <a:r>
              <a:rPr kumimoji="0" lang="en-US" altLang="zh-CN" sz="1800" b="1" i="0" u="none" strike="noStrike" kern="1200" cap="none" spc="0" normalizeH="0" baseline="0" noProof="1">
                <a:ln>
                  <a:noFill/>
                </a:ln>
                <a:solidFill>
                  <a:schemeClr val="lt1"/>
                </a:solidFill>
                <a:effectLst/>
                <a:uLnTx/>
                <a:uFillTx/>
                <a:latin typeface="+mn-lt"/>
                <a:ea typeface="+mn-ea"/>
                <a:cs typeface="+mn-cs"/>
                <a:sym typeface="+mn-ea"/>
              </a:rPr>
              <a:t>double</a:t>
            </a:r>
            <a:r>
              <a:rPr kumimoji="0" lang="zh-CN" altLang="en-US" sz="1800" b="1" i="0" u="none" strike="noStrike" kern="1200" cap="none" spc="0" normalizeH="0" baseline="0" noProof="1">
                <a:ln>
                  <a:noFill/>
                </a:ln>
                <a:solidFill>
                  <a:schemeClr val="lt1"/>
                </a:solidFill>
                <a:effectLst/>
                <a:uLnTx/>
                <a:uFillTx/>
                <a:latin typeface="+mn-lt"/>
                <a:ea typeface="+mn-ea"/>
                <a:cs typeface="+mn-cs"/>
                <a:sym typeface="+mn-ea"/>
              </a:rPr>
              <a:t>类型， 整数常量（如：</a:t>
            </a:r>
            <a:r>
              <a:rPr kumimoji="0" lang="en-US" altLang="zh-CN" sz="1800" b="1" i="0" u="none" strike="noStrike" kern="1200" cap="none" spc="0" normalizeH="0" baseline="0" noProof="1">
                <a:ln>
                  <a:noFill/>
                </a:ln>
                <a:solidFill>
                  <a:schemeClr val="lt1"/>
                </a:solidFill>
                <a:effectLst/>
                <a:uLnTx/>
                <a:uFillTx/>
                <a:latin typeface="+mn-lt"/>
                <a:ea typeface="+mn-ea"/>
                <a:cs typeface="+mn-cs"/>
                <a:sym typeface="+mn-ea"/>
              </a:rPr>
              <a:t>123</a:t>
            </a:r>
            <a:r>
              <a:rPr kumimoji="0" lang="zh-CN" altLang="en-US" sz="1800" b="1" i="0" u="none" strike="noStrike" kern="1200" cap="none" spc="0" normalizeH="0" baseline="0" noProof="1">
                <a:ln>
                  <a:noFill/>
                </a:ln>
                <a:solidFill>
                  <a:schemeClr val="lt1"/>
                </a:solidFill>
                <a:effectLst/>
                <a:uLnTx/>
                <a:uFillTx/>
                <a:latin typeface="+mn-lt"/>
                <a:ea typeface="+mn-ea"/>
                <a:cs typeface="+mn-cs"/>
                <a:sym typeface="+mn-ea"/>
              </a:rPr>
              <a:t>）默认为</a:t>
            </a:r>
            <a:r>
              <a:rPr kumimoji="0" lang="en-US" altLang="zh-CN" sz="1800" b="1" i="0" u="none" strike="noStrike" kern="1200" cap="none" spc="0" normalizeH="0" baseline="0" noProof="1">
                <a:ln>
                  <a:noFill/>
                </a:ln>
                <a:solidFill>
                  <a:schemeClr val="lt1"/>
                </a:solidFill>
                <a:effectLst/>
                <a:uLnTx/>
                <a:uFillTx/>
                <a:latin typeface="+mn-lt"/>
                <a:ea typeface="+mn-ea"/>
                <a:cs typeface="+mn-cs"/>
                <a:sym typeface="+mn-ea"/>
              </a:rPr>
              <a:t>int</a:t>
            </a:r>
            <a:r>
              <a:rPr kumimoji="0" lang="zh-CN" altLang="en-US" sz="1800" b="1" i="0" u="none" strike="noStrike" kern="1200" cap="none" spc="0" normalizeH="0" baseline="0" noProof="1">
                <a:ln>
                  <a:noFill/>
                </a:ln>
                <a:solidFill>
                  <a:schemeClr val="lt1"/>
                </a:solidFill>
                <a:effectLst/>
                <a:uLnTx/>
                <a:uFillTx/>
                <a:latin typeface="+mn-lt"/>
                <a:ea typeface="+mn-ea"/>
                <a:cs typeface="+mn-cs"/>
                <a:sym typeface="+mn-ea"/>
              </a:rPr>
              <a:t>类型；</a:t>
            </a:r>
            <a:endParaRPr kumimoji="0" lang="zh-CN" altLang="en-US" sz="1800" b="1" i="0" u="none" strike="noStrike" kern="1200" cap="none" spc="0" normalizeH="0" baseline="0" noProof="1">
              <a:ln>
                <a:noFill/>
              </a:ln>
              <a:solidFill>
                <a:schemeClr val="lt1"/>
              </a:solidFill>
              <a:effectLst/>
              <a:uLnTx/>
              <a:uFillTx/>
              <a:latin typeface="+mn-lt"/>
              <a:ea typeface="+mn-ea"/>
              <a:cs typeface="+mn-cs"/>
              <a:sym typeface="+mn-ea"/>
            </a:endParaRPr>
          </a:p>
        </p:txBody>
      </p:sp>
      <p:sp>
        <p:nvSpPr>
          <p:cNvPr id="48134" name="矩形 14"/>
          <p:cNvSpPr/>
          <p:nvPr/>
        </p:nvSpPr>
        <p:spPr>
          <a:xfrm>
            <a:off x="404813" y="4079875"/>
            <a:ext cx="8001000" cy="830263"/>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zh-CN" altLang="en-US" sz="2000" dirty="0">
                <a:latin typeface="Arial" panose="020B0604020202020204" pitchFamily="34" charset="0"/>
                <a:ea typeface="宋体" panose="02010600030101010101" pitchFamily="2" charset="-122"/>
              </a:rPr>
              <a:t>字符型 为什么也能和整形、浮点型进行运算呢？ </a:t>
            </a:r>
            <a:endParaRPr lang="zh-CN" altLang="en-US" sz="2000" dirty="0">
              <a:latin typeface="Arial" panose="020B0604020202020204" pitchFamily="34" charset="0"/>
              <a:ea typeface="宋体" panose="02010600030101010101" pitchFamily="2" charset="-122"/>
            </a:endParaRPr>
          </a:p>
          <a:p>
            <a:pPr marL="0" lvl="0" indent="0">
              <a:lnSpc>
                <a:spcPct val="100000"/>
              </a:lnSpc>
              <a:spcBef>
                <a:spcPct val="0"/>
              </a:spcBef>
              <a:buNone/>
            </a:pPr>
            <a:r>
              <a:rPr lang="zh-CN" altLang="en-US" sz="1400" dirty="0">
                <a:latin typeface="Arial" panose="020B0604020202020204" pitchFamily="34" charset="0"/>
                <a:ea typeface="宋体" panose="02010600030101010101" pitchFamily="2" charset="-122"/>
              </a:rPr>
              <a:t>     </a:t>
            </a:r>
            <a:endParaRPr lang="en-US" altLang="zh-CN" sz="1400" dirty="0">
              <a:latin typeface="Arial" panose="020B0604020202020204" pitchFamily="34" charset="0"/>
              <a:ea typeface="宋体" panose="02010600030101010101" pitchFamily="2" charset="-122"/>
            </a:endParaRPr>
          </a:p>
          <a:p>
            <a:pPr marL="0" lvl="0" indent="0">
              <a:lnSpc>
                <a:spcPct val="100000"/>
              </a:lnSpc>
              <a:spcBef>
                <a:spcPct val="0"/>
              </a:spcBef>
              <a:buNone/>
            </a:pPr>
            <a:r>
              <a:rPr lang="zh-CN" altLang="en-US" sz="1400" dirty="0">
                <a:latin typeface="Arial" panose="020B0604020202020204" pitchFamily="34" charset="0"/>
                <a:ea typeface="宋体" panose="02010600030101010101" pitchFamily="2" charset="-122"/>
              </a:rPr>
              <a:t>答：  字符型在机器内部也是数字。进行计算时，先获得字符的</a:t>
            </a:r>
            <a:r>
              <a:rPr lang="en-US" altLang="zh-CN" sz="1400" dirty="0">
                <a:latin typeface="Arial" panose="020B0604020202020204" pitchFamily="34" charset="0"/>
                <a:ea typeface="宋体" panose="02010600030101010101" pitchFamily="2" charset="-122"/>
              </a:rPr>
              <a:t>ASCK</a:t>
            </a:r>
            <a:r>
              <a:rPr lang="zh-CN" altLang="en-US" sz="1400" dirty="0">
                <a:latin typeface="Arial" panose="020B0604020202020204" pitchFamily="34" charset="0"/>
                <a:ea typeface="宋体" panose="02010600030101010101" pitchFamily="2" charset="-122"/>
              </a:rPr>
              <a:t>码，然后再进行计算。</a:t>
            </a:r>
            <a:endParaRPr lang="zh-CN" altLang="en-US" sz="1400" dirty="0">
              <a:latin typeface="Arial" panose="020B0604020202020204" pitchFamily="34" charset="0"/>
              <a:ea typeface="宋体" panose="02010600030101010101" pitchFamily="2" charset="-122"/>
            </a:endParaRPr>
          </a:p>
        </p:txBody>
      </p:sp>
      <p:sp>
        <p:nvSpPr>
          <p:cNvPr id="48135"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dirty="0">
                <a:solidFill>
                  <a:srgbClr val="898989"/>
                </a:solidFill>
                <a:latin typeface="Arial" panose="020B0604020202020204" pitchFamily="34" charset="0"/>
                <a:ea typeface="宋体" panose="02010600030101010101" pitchFamily="2" charset="-122"/>
              </a:rPr>
            </a:fld>
            <a:endParaRPr lang="zh-CN" altLang="en-US" sz="1200" dirty="0">
              <a:solidFill>
                <a:srgbClr val="898989"/>
              </a:solidFill>
              <a:latin typeface="Arial" panose="020B0604020202020204" pitchFamily="34" charset="0"/>
              <a:ea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内容占位符 2"/>
          <p:cNvSpPr>
            <a:spLocks noGrp="1"/>
          </p:cNvSpPr>
          <p:nvPr>
            <p:ph idx="1"/>
          </p:nvPr>
        </p:nvSpPr>
        <p:spPr>
          <a:xfrm>
            <a:off x="457200" y="1768475"/>
            <a:ext cx="8229600" cy="4684713"/>
          </a:xfrm>
          <a:ln>
            <a:solidFill>
              <a:srgbClr val="009ED6">
                <a:alpha val="100000"/>
              </a:srgbClr>
            </a:solidFill>
            <a:miter lim="800000"/>
          </a:ln>
        </p:spPr>
        <p:txBody>
          <a:bodyPr vert="horz" wrap="square" lIns="91440" tIns="45720" rIns="91440" bIns="45720" anchor="t" anchorCtr="0"/>
          <a:p>
            <a:pPr lvl="1" eaLnBrk="1" hangingPunct="1">
              <a:buFont typeface="Wingdings" panose="05000000000000000000" pitchFamily="2" charset="2"/>
              <a:buChar char="Ø"/>
            </a:pPr>
            <a:r>
              <a:rPr lang="zh-CN" altLang="zh-CN" kern="1200" dirty="0">
                <a:latin typeface="+mn-lt"/>
                <a:ea typeface="+mn-ea"/>
                <a:cs typeface="等线" panose="02010600030101010101" charset="-122"/>
              </a:rPr>
              <a:t>变量需要在它的作用范围内才可以被使用，这个作用范围称为变量的作用域。</a:t>
            </a:r>
            <a:endParaRPr lang="en-US" altLang="zh-CN" kern="1200" dirty="0">
              <a:latin typeface="+mn-lt"/>
              <a:ea typeface="+mn-ea"/>
              <a:cs typeface="等线" panose="02010600030101010101" charset="-122"/>
            </a:endParaRPr>
          </a:p>
          <a:p>
            <a:pPr lvl="1" eaLnBrk="1" hangingPunct="1">
              <a:buFont typeface="Wingdings" panose="05000000000000000000" pitchFamily="2" charset="2"/>
              <a:buChar char="Ø"/>
            </a:pPr>
            <a:r>
              <a:rPr lang="zh-CN" altLang="zh-CN" kern="1200" dirty="0">
                <a:latin typeface="+mn-lt"/>
                <a:ea typeface="+mn-ea"/>
                <a:cs typeface="等线" panose="02010600030101010101" charset="-122"/>
              </a:rPr>
              <a:t>在程序中，变量一定会被定义在某一对大括号中，该大括号所包含的代码区域便是这个变量的作用域。</a:t>
            </a:r>
            <a:endParaRPr lang="en-US" altLang="zh-CN" kern="1200" dirty="0">
              <a:latin typeface="+mn-lt"/>
              <a:ea typeface="+mn-ea"/>
              <a:cs typeface="等线" panose="02010600030101010101" charset="-122"/>
            </a:endParaRPr>
          </a:p>
        </p:txBody>
      </p:sp>
      <p:graphicFrame>
        <p:nvGraphicFramePr>
          <p:cNvPr id="50179" name="对象 4"/>
          <p:cNvGraphicFramePr>
            <a:graphicFrameLocks noChangeAspect="1"/>
          </p:cNvGraphicFramePr>
          <p:nvPr/>
        </p:nvGraphicFramePr>
        <p:xfrm>
          <a:off x="2479675" y="3817938"/>
          <a:ext cx="4360863" cy="1258887"/>
        </p:xfrm>
        <a:graphic>
          <a:graphicData uri="http://schemas.openxmlformats.org/presentationml/2006/ole">
            <mc:AlternateContent xmlns:mc="http://schemas.openxmlformats.org/markup-compatibility/2006">
              <mc:Choice xmlns:v="urn:schemas-microsoft-com:vml" Requires="v">
                <p:oleObj spid="_x0000_s3076" name="" r:id="rId1" imgW="6501130" imgH="1889125" progId="Visio.Drawing.11">
                  <p:embed/>
                </p:oleObj>
              </mc:Choice>
              <mc:Fallback>
                <p:oleObj name="" r:id="rId1" imgW="6501130" imgH="1889125" progId="Visio.Drawing.11">
                  <p:embed/>
                  <p:pic>
                    <p:nvPicPr>
                      <p:cNvPr id="0" name="图片 3075"/>
                      <p:cNvPicPr/>
                      <p:nvPr/>
                    </p:nvPicPr>
                    <p:blipFill>
                      <a:blip r:embed="rId2"/>
                      <a:stretch>
                        <a:fillRect/>
                      </a:stretch>
                    </p:blipFill>
                    <p:spPr>
                      <a:xfrm>
                        <a:off x="2479675" y="3817938"/>
                        <a:ext cx="4360863" cy="1258887"/>
                      </a:xfrm>
                      <a:prstGeom prst="rect">
                        <a:avLst/>
                      </a:prstGeom>
                      <a:noFill/>
                      <a:ln w="38100">
                        <a:noFill/>
                        <a:miter/>
                      </a:ln>
                    </p:spPr>
                  </p:pic>
                </p:oleObj>
              </mc:Fallback>
            </mc:AlternateContent>
          </a:graphicData>
        </a:graphic>
      </p:graphicFrame>
      <p:sp>
        <p:nvSpPr>
          <p:cNvPr id="5" name="剪去对角的矩形 4"/>
          <p:cNvSpPr/>
          <p:nvPr/>
        </p:nvSpPr>
        <p:spPr bwMode="auto">
          <a:xfrm>
            <a:off x="5016500" y="1084263"/>
            <a:ext cx="3454400"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0181" name="矩形 5"/>
          <p:cNvSpPr/>
          <p:nvPr/>
        </p:nvSpPr>
        <p:spPr>
          <a:xfrm>
            <a:off x="5657850" y="1093788"/>
            <a:ext cx="2700338" cy="519112"/>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35000"/>
              </a:lnSpc>
              <a:spcBef>
                <a:spcPct val="0"/>
              </a:spcBef>
              <a:buNone/>
            </a:pPr>
            <a:r>
              <a:rPr lang="zh-CN" altLang="en-US" sz="2400" dirty="0">
                <a:solidFill>
                  <a:srgbClr val="00B0F0"/>
                </a:solidFill>
                <a:latin typeface="黑体" panose="02010609060101010101" pitchFamily="49" charset="-122"/>
                <a:ea typeface="黑体" panose="02010609060101010101" pitchFamily="49" charset="-122"/>
              </a:rPr>
              <a:t>变量的作用域</a:t>
            </a:r>
            <a:endParaRPr lang="zh-CN" altLang="zh-CN" sz="2400" dirty="0">
              <a:solidFill>
                <a:srgbClr val="00B0F0"/>
              </a:solidFill>
              <a:latin typeface="黑体" panose="02010609060101010101" pitchFamily="49" charset="-122"/>
              <a:ea typeface="黑体" panose="02010609060101010101" pitchFamily="49" charset="-122"/>
            </a:endParaRPr>
          </a:p>
        </p:txBody>
      </p:sp>
      <p:sp>
        <p:nvSpPr>
          <p:cNvPr id="10"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2.2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中的变量</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0183"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10"/>
                                        </p:tgtEl>
                                      </p:cBhvr>
                                    </p:animEffect>
                                    <p:animScale>
                                      <p:cBhvr>
                                        <p:cTn id="7" dur="250" autoRev="1" fill="hold"/>
                                        <p:tgtEl>
                                          <p:spTgt spid="1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内容占位符 2"/>
          <p:cNvSpPr>
            <a:spLocks noGrp="1"/>
          </p:cNvSpPr>
          <p:nvPr>
            <p:ph idx="1"/>
          </p:nvPr>
        </p:nvSpPr>
        <p:spPr>
          <a:xfrm>
            <a:off x="325438" y="1949450"/>
            <a:ext cx="8229600" cy="4106863"/>
          </a:xfrm>
          <a:ln>
            <a:solidFill>
              <a:srgbClr val="009ED6">
                <a:alpha val="100000"/>
              </a:srgbClr>
            </a:solidFill>
            <a:miter lim="800000"/>
          </a:ln>
        </p:spPr>
        <p:txBody>
          <a:bodyPr vert="horz" wrap="square" lIns="91440" tIns="45720" rIns="91440" bIns="45720" anchor="t" anchorCtr="0"/>
          <a:p>
            <a:pPr lvl="1" eaLnBrk="1" hangingPunct="1">
              <a:buFont typeface="Wingdings" panose="05000000000000000000" pitchFamily="2" charset="2"/>
              <a:buChar char="Ø"/>
            </a:pPr>
            <a:r>
              <a:rPr lang="zh-CN" altLang="zh-CN" kern="1200" dirty="0">
                <a:latin typeface="+mn-lt"/>
                <a:ea typeface="+mn-ea"/>
                <a:cs typeface="等线" panose="02010600030101010101" charset="-122"/>
              </a:rPr>
              <a:t>算术运算符就是用来处理四则运算的符号，这是最简单、最常用的运算符号。</a:t>
            </a:r>
            <a:endParaRPr lang="en-US" altLang="zh-CN" kern="1200" dirty="0">
              <a:latin typeface="+mn-lt"/>
              <a:ea typeface="+mn-ea"/>
              <a:cs typeface="等线" panose="02010600030101010101" charset="-122"/>
            </a:endParaRPr>
          </a:p>
        </p:txBody>
      </p:sp>
      <p:sp>
        <p:nvSpPr>
          <p:cNvPr id="5" name="剪去对角的矩形 4"/>
          <p:cNvSpPr/>
          <p:nvPr/>
        </p:nvSpPr>
        <p:spPr bwMode="auto">
          <a:xfrm>
            <a:off x="5016500" y="1084263"/>
            <a:ext cx="3454400"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04" name="矩形 6"/>
          <p:cNvSpPr/>
          <p:nvPr/>
        </p:nvSpPr>
        <p:spPr>
          <a:xfrm>
            <a:off x="5926138" y="1093788"/>
            <a:ext cx="2208212" cy="5905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35000"/>
              </a:lnSpc>
              <a:spcBef>
                <a:spcPct val="0"/>
              </a:spcBef>
              <a:buNone/>
            </a:pPr>
            <a:r>
              <a:rPr lang="zh-CN" altLang="en-US" sz="2400" dirty="0">
                <a:solidFill>
                  <a:srgbClr val="00B0F0"/>
                </a:solidFill>
                <a:latin typeface="黑体" panose="02010609060101010101" pitchFamily="49" charset="-122"/>
                <a:ea typeface="黑体" panose="02010609060101010101" pitchFamily="49" charset="-122"/>
              </a:rPr>
              <a:t>算术运算符</a:t>
            </a:r>
            <a:endParaRPr lang="zh-CN" altLang="zh-CN" sz="2400" dirty="0">
              <a:solidFill>
                <a:srgbClr val="00B0F0"/>
              </a:solidFill>
              <a:latin typeface="黑体" panose="02010609060101010101" pitchFamily="49" charset="-122"/>
              <a:ea typeface="黑体" panose="02010609060101010101" pitchFamily="49" charset="-122"/>
            </a:endParaRPr>
          </a:p>
        </p:txBody>
      </p:sp>
      <p:pic>
        <p:nvPicPr>
          <p:cNvPr id="51205" name="Picture 11"/>
          <p:cNvPicPr>
            <a:picLocks noChangeAspect="1"/>
          </p:cNvPicPr>
          <p:nvPr/>
        </p:nvPicPr>
        <p:blipFill>
          <a:blip r:embed="rId1"/>
          <a:stretch>
            <a:fillRect/>
          </a:stretch>
        </p:blipFill>
        <p:spPr>
          <a:xfrm>
            <a:off x="2105025" y="3124200"/>
            <a:ext cx="4878388" cy="2513013"/>
          </a:xfrm>
          <a:prstGeom prst="rect">
            <a:avLst/>
          </a:prstGeom>
          <a:noFill/>
          <a:ln w="9525">
            <a:noFill/>
          </a:ln>
        </p:spPr>
      </p:pic>
      <p:sp>
        <p:nvSpPr>
          <p:cNvPr id="7"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2.3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中的运算符</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1207"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内容占位符 2"/>
          <p:cNvSpPr>
            <a:spLocks noGrp="1" noChangeArrowheads="1"/>
          </p:cNvSpPr>
          <p:nvPr>
            <p:ph idx="1"/>
          </p:nvPr>
        </p:nvSpPr>
        <p:spPr>
          <a:xfrm>
            <a:off x="350838" y="1101725"/>
            <a:ext cx="8229600" cy="4884738"/>
          </a:xfrm>
          <a:ln>
            <a:solidFill>
              <a:srgbClr val="009ED6"/>
            </a:solidFill>
            <a:miter lim="800000"/>
          </a:ln>
        </p:spPr>
        <p:txBody>
          <a:bodyPr vert="horz" wrap="square" lIns="91440" tIns="45720" rIns="91440" bIns="45720" numCol="1" anchor="t" anchorCtr="0" compatLnSpc="1"/>
          <a:lstStyle/>
          <a:p>
            <a:pPr marL="685800" marR="0" lvl="1" indent="-228600" algn="l" defTabSz="914400" rtl="0" eaLnBrk="1" fontAlgn="base" latinLnBrk="0" hangingPunct="1">
              <a:lnSpc>
                <a:spcPct val="200000"/>
              </a:lnSpc>
              <a:spcBef>
                <a:spcPts val="500"/>
              </a:spcBef>
              <a:spcAft>
                <a:spcPct val="0"/>
              </a:spcAft>
              <a:buClrTx/>
              <a:buSzTx/>
              <a:buFont typeface="Wingdings" panose="05000000000000000000" pitchFamily="2" charset="2"/>
              <a:buChar char="Ø"/>
              <a:defRPr/>
            </a:pPr>
            <a:r>
              <a:rPr kumimoji="0" lang="zh-CN" altLang="en-US" sz="1800" b="0" i="0" u="none" strike="noStrike" kern="1200" cap="none" spc="0" normalizeH="0" baseline="0" noProof="0" dirty="0">
                <a:ln>
                  <a:noFill/>
                </a:ln>
                <a:solidFill>
                  <a:schemeClr val="tx1"/>
                </a:solidFill>
                <a:effectLst/>
                <a:uLnTx/>
                <a:uFillTx/>
                <a:latin typeface="+mn-lt"/>
                <a:ea typeface="+mn-ea"/>
                <a:cs typeface="等线" panose="02010600030101010101" charset="-122"/>
              </a:rPr>
              <a:t>算术运算符看上去比较简单，也很容易理解，但在实际使用时有很多需要注意的问题，具体如下：</a:t>
            </a:r>
            <a:endPar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endParaRPr>
          </a:p>
          <a:p>
            <a:pPr marL="457200" marR="0" lvl="1" indent="0" algn="l" defTabSz="914400" rtl="0" eaLnBrk="1" fontAlgn="base" latinLnBrk="0" hangingPunct="1">
              <a:lnSpc>
                <a:spcPct val="200000"/>
              </a:lnSpc>
              <a:spcBef>
                <a:spcPts val="500"/>
              </a:spcBef>
              <a:spcAft>
                <a:spcPct val="0"/>
              </a:spcAft>
              <a:buClrTx/>
              <a:buSzTx/>
              <a:buFont typeface="Arial" panose="020B0604020202020204" pitchFamily="34" charset="0"/>
              <a:buNone/>
              <a:defRPr/>
            </a:pPr>
            <a:r>
              <a:rPr kumimoji="0" lang="zh-CN" altLang="en-US" sz="16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en-US" altLang="zh-CN" sz="1600" b="0" i="0" u="none" strike="noStrike" kern="1200" cap="none" spc="0" normalizeH="0" baseline="0" noProof="0" dirty="0">
                <a:ln>
                  <a:noFill/>
                </a:ln>
                <a:solidFill>
                  <a:schemeClr val="tx1"/>
                </a:solidFill>
                <a:effectLst/>
                <a:uLnTx/>
                <a:uFillTx/>
                <a:latin typeface="+mn-lt"/>
                <a:ea typeface="+mn-ea"/>
                <a:cs typeface="等线" panose="02010600030101010101" charset="-122"/>
              </a:rPr>
              <a:t>1</a:t>
            </a:r>
            <a:r>
              <a:rPr kumimoji="0" lang="zh-CN" altLang="en-US" sz="16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zh-CN" altLang="zh-CN" sz="1600" b="0" i="0" u="none" strike="noStrike" kern="1200" cap="none" spc="0" normalizeH="0" baseline="0" noProof="0" dirty="0">
                <a:ln>
                  <a:noFill/>
                </a:ln>
                <a:solidFill>
                  <a:schemeClr val="tx1"/>
                </a:solidFill>
                <a:effectLst/>
                <a:uLnTx/>
                <a:uFillTx/>
                <a:latin typeface="+mn-lt"/>
                <a:ea typeface="+mn-ea"/>
                <a:cs typeface="等线" panose="02010600030101010101" charset="-122"/>
              </a:rPr>
              <a:t>在进行自增（</a:t>
            </a:r>
            <a:r>
              <a:rPr kumimoji="0" lang="en-US" altLang="zh-CN" sz="16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zh-CN" altLang="zh-CN" sz="1600" b="0" i="0" u="none" strike="noStrike" kern="1200" cap="none" spc="0" normalizeH="0" baseline="0" noProof="0" dirty="0">
                <a:ln>
                  <a:noFill/>
                </a:ln>
                <a:solidFill>
                  <a:schemeClr val="tx1"/>
                </a:solidFill>
                <a:effectLst/>
                <a:uLnTx/>
                <a:uFillTx/>
                <a:latin typeface="+mn-lt"/>
                <a:ea typeface="+mn-ea"/>
                <a:cs typeface="等线" panose="02010600030101010101" charset="-122"/>
              </a:rPr>
              <a:t>）和自减（</a:t>
            </a:r>
            <a:r>
              <a:rPr kumimoji="0" lang="en-US" altLang="zh-CN" sz="16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zh-CN" altLang="zh-CN" sz="1600" b="0" i="0" u="none" strike="noStrike" kern="1200" cap="none" spc="0" normalizeH="0" baseline="0" noProof="0" dirty="0">
                <a:ln>
                  <a:noFill/>
                </a:ln>
                <a:solidFill>
                  <a:schemeClr val="tx1"/>
                </a:solidFill>
                <a:effectLst/>
                <a:uLnTx/>
                <a:uFillTx/>
                <a:latin typeface="+mn-lt"/>
                <a:ea typeface="+mn-ea"/>
                <a:cs typeface="等线" panose="02010600030101010101" charset="-122"/>
              </a:rPr>
              <a:t>）的运算时，如果运算符放在操作数的前面则是先进行自增或自减运算，再进行其它运算。反之，如果运算符放在操作数的后面则是先进行其它运算再进行自增或自减运算。</a:t>
            </a:r>
            <a:endParaRPr kumimoji="0" lang="en-US" altLang="zh-CN" sz="1600" b="0" i="0" u="none" strike="noStrike" kern="1200" cap="none" spc="0" normalizeH="0" baseline="0" noProof="0" dirty="0">
              <a:ln>
                <a:noFill/>
              </a:ln>
              <a:solidFill>
                <a:schemeClr val="tx1"/>
              </a:solidFill>
              <a:effectLst/>
              <a:uLnTx/>
              <a:uFillTx/>
              <a:latin typeface="+mn-lt"/>
              <a:ea typeface="+mn-ea"/>
              <a:cs typeface="等线" panose="02010600030101010101" charset="-122"/>
            </a:endParaRPr>
          </a:p>
          <a:p>
            <a:pPr marL="457200" marR="0" lvl="1" indent="0" algn="l" defTabSz="914400" rtl="0" eaLnBrk="1" fontAlgn="base" latinLnBrk="0" hangingPunct="1">
              <a:lnSpc>
                <a:spcPct val="200000"/>
              </a:lnSpc>
              <a:spcBef>
                <a:spcPts val="500"/>
              </a:spcBef>
              <a:spcAft>
                <a:spcPct val="0"/>
              </a:spcAft>
              <a:buClrTx/>
              <a:buSzTx/>
              <a:buFont typeface="Arial" panose="020B0604020202020204" pitchFamily="34" charset="0"/>
              <a:buNone/>
              <a:defRPr/>
            </a:pPr>
            <a:r>
              <a:rPr kumimoji="0" lang="zh-CN" altLang="en-US" sz="16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en-US" altLang="zh-CN" sz="1600" b="0" i="0" u="none" strike="noStrike" kern="1200" cap="none" spc="0" normalizeH="0" baseline="0" noProof="0" dirty="0">
                <a:ln>
                  <a:noFill/>
                </a:ln>
                <a:solidFill>
                  <a:schemeClr val="tx1"/>
                </a:solidFill>
                <a:effectLst/>
                <a:uLnTx/>
                <a:uFillTx/>
                <a:latin typeface="+mn-lt"/>
                <a:ea typeface="+mn-ea"/>
                <a:cs typeface="等线" panose="02010600030101010101" charset="-122"/>
              </a:rPr>
              <a:t>2</a:t>
            </a:r>
            <a:r>
              <a:rPr kumimoji="0" lang="zh-CN" altLang="en-US" sz="16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zh-CN" altLang="zh-CN" sz="1600" b="0" i="0" u="none" strike="noStrike" kern="1200" cap="none" spc="0" normalizeH="0" baseline="0" noProof="0" dirty="0">
                <a:ln>
                  <a:noFill/>
                </a:ln>
                <a:solidFill>
                  <a:schemeClr val="tx1"/>
                </a:solidFill>
                <a:effectLst/>
                <a:uLnTx/>
                <a:uFillTx/>
                <a:latin typeface="+mn-lt"/>
                <a:ea typeface="+mn-ea"/>
                <a:cs typeface="等线" panose="02010600030101010101" charset="-122"/>
              </a:rPr>
              <a:t>在进行除法运算时，当除数和被除数都为整数时，得到的结果也是一个整数。如果除法运算有小数参与，得到的结果会是一个小数。</a:t>
            </a:r>
            <a:endParaRPr kumimoji="0" lang="en-US" altLang="zh-CN" sz="1600" b="0" i="0" u="none" strike="noStrike" kern="1200" cap="none" spc="0" normalizeH="0" baseline="0" noProof="0" dirty="0">
              <a:ln>
                <a:noFill/>
              </a:ln>
              <a:solidFill>
                <a:schemeClr val="tx1"/>
              </a:solidFill>
              <a:effectLst/>
              <a:uLnTx/>
              <a:uFillTx/>
              <a:latin typeface="+mn-lt"/>
              <a:ea typeface="+mn-ea"/>
              <a:cs typeface="等线" panose="02010600030101010101" charset="-122"/>
            </a:endParaRPr>
          </a:p>
          <a:p>
            <a:pPr marL="457200" marR="0" lvl="1" indent="0" algn="l" defTabSz="914400" rtl="0" eaLnBrk="1" fontAlgn="base" latinLnBrk="0" hangingPunct="1">
              <a:lnSpc>
                <a:spcPct val="200000"/>
              </a:lnSpc>
              <a:spcBef>
                <a:spcPts val="500"/>
              </a:spcBef>
              <a:spcAft>
                <a:spcPct val="0"/>
              </a:spcAft>
              <a:buClrTx/>
              <a:buSzTx/>
              <a:buFont typeface="Arial" panose="020B0604020202020204" pitchFamily="34" charset="0"/>
              <a:buNone/>
              <a:defRPr/>
            </a:pPr>
            <a:r>
              <a:rPr kumimoji="0" lang="zh-CN" altLang="en-US" sz="16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en-US" altLang="zh-CN" sz="1600" b="0" i="0" u="none" strike="noStrike" kern="1200" cap="none" spc="0" normalizeH="0" baseline="0" noProof="0" dirty="0">
                <a:ln>
                  <a:noFill/>
                </a:ln>
                <a:solidFill>
                  <a:schemeClr val="tx1"/>
                </a:solidFill>
                <a:effectLst/>
                <a:uLnTx/>
                <a:uFillTx/>
                <a:latin typeface="+mn-lt"/>
                <a:ea typeface="+mn-ea"/>
                <a:cs typeface="等线" panose="02010600030101010101" charset="-122"/>
              </a:rPr>
              <a:t>3</a:t>
            </a:r>
            <a:r>
              <a:rPr kumimoji="0" lang="zh-CN" altLang="en-US" sz="1600" b="0" i="0" u="none" strike="noStrike" kern="1200" cap="none" spc="0" normalizeH="0" baseline="0" noProof="0" dirty="0">
                <a:ln>
                  <a:noFill/>
                </a:ln>
                <a:solidFill>
                  <a:schemeClr val="tx1"/>
                </a:solidFill>
                <a:effectLst/>
                <a:uLnTx/>
                <a:uFillTx/>
                <a:latin typeface="+mn-lt"/>
                <a:ea typeface="+mn-ea"/>
                <a:cs typeface="等线" panose="02010600030101010101" charset="-122"/>
              </a:rPr>
              <a:t>）在进行取模（</a:t>
            </a:r>
            <a:r>
              <a:rPr kumimoji="0" lang="en-US" altLang="zh-CN" sz="16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zh-CN" altLang="en-US" sz="1600" b="0" i="0" u="none" strike="noStrike" kern="1200" cap="none" spc="0" normalizeH="0" baseline="0" noProof="0" dirty="0">
                <a:ln>
                  <a:noFill/>
                </a:ln>
                <a:solidFill>
                  <a:schemeClr val="tx1"/>
                </a:solidFill>
                <a:effectLst/>
                <a:uLnTx/>
                <a:uFillTx/>
                <a:latin typeface="+mn-lt"/>
                <a:ea typeface="+mn-ea"/>
                <a:cs typeface="等线" panose="02010600030101010101" charset="-122"/>
              </a:rPr>
              <a:t>）运算时，运算结果的正负取决于被模数</a:t>
            </a:r>
            <a:r>
              <a:rPr kumimoji="0" lang="en-US" altLang="zh-CN" sz="16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zh-CN" altLang="en-US" sz="1600" b="0" i="0" u="none" strike="noStrike" kern="1200" cap="none" spc="0" normalizeH="0" baseline="0" noProof="0" dirty="0">
                <a:ln>
                  <a:noFill/>
                </a:ln>
                <a:solidFill>
                  <a:schemeClr val="tx1"/>
                </a:solidFill>
                <a:effectLst/>
                <a:uLnTx/>
                <a:uFillTx/>
                <a:latin typeface="+mn-lt"/>
                <a:ea typeface="+mn-ea"/>
                <a:cs typeface="等线" panose="02010600030101010101" charset="-122"/>
              </a:rPr>
              <a:t>左边的数</a:t>
            </a:r>
            <a:r>
              <a:rPr kumimoji="0" lang="en-US" altLang="zh-CN" sz="16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zh-CN" altLang="en-US" sz="1600" b="0" i="0" u="none" strike="noStrike" kern="1200" cap="none" spc="0" normalizeH="0" baseline="0" noProof="0" dirty="0">
                <a:ln>
                  <a:noFill/>
                </a:ln>
                <a:solidFill>
                  <a:schemeClr val="tx1"/>
                </a:solidFill>
                <a:effectLst/>
                <a:uLnTx/>
                <a:uFillTx/>
                <a:latin typeface="+mn-lt"/>
                <a:ea typeface="+mn-ea"/>
                <a:cs typeface="等线" panose="02010600030101010101" charset="-122"/>
              </a:rPr>
              <a:t>的符号，与模数</a:t>
            </a:r>
            <a:r>
              <a:rPr kumimoji="0" lang="en-US" altLang="zh-CN" sz="16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zh-CN" altLang="en-US" sz="1600" b="0" i="0" u="none" strike="noStrike" kern="1200" cap="none" spc="0" normalizeH="0" baseline="0" noProof="0" dirty="0">
                <a:ln>
                  <a:noFill/>
                </a:ln>
                <a:solidFill>
                  <a:schemeClr val="tx1"/>
                </a:solidFill>
                <a:effectLst/>
                <a:uLnTx/>
                <a:uFillTx/>
                <a:latin typeface="+mn-lt"/>
                <a:ea typeface="+mn-ea"/>
                <a:cs typeface="等线" panose="02010600030101010101" charset="-122"/>
              </a:rPr>
              <a:t>右边的数</a:t>
            </a:r>
            <a:r>
              <a:rPr kumimoji="0" lang="en-US" altLang="zh-CN" sz="16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zh-CN" altLang="en-US" sz="1600" b="0" i="0" u="none" strike="noStrike" kern="1200" cap="none" spc="0" normalizeH="0" baseline="0" noProof="0" dirty="0">
                <a:ln>
                  <a:noFill/>
                </a:ln>
                <a:solidFill>
                  <a:schemeClr val="tx1"/>
                </a:solidFill>
                <a:effectLst/>
                <a:uLnTx/>
                <a:uFillTx/>
                <a:latin typeface="+mn-lt"/>
                <a:ea typeface="+mn-ea"/>
                <a:cs typeface="等线" panose="02010600030101010101" charset="-122"/>
              </a:rPr>
              <a:t>的符号无关。</a:t>
            </a:r>
            <a:endParaRPr kumimoji="0" lang="en-US" altLang="zh-CN" sz="1600" b="0" i="0" u="none" strike="noStrike" kern="1200" cap="none" spc="0" normalizeH="0" baseline="0" noProof="0" dirty="0">
              <a:ln>
                <a:noFill/>
              </a:ln>
              <a:solidFill>
                <a:schemeClr val="tx1"/>
              </a:solidFill>
              <a:effectLst/>
              <a:uLnTx/>
              <a:uFillTx/>
              <a:latin typeface="+mn-lt"/>
              <a:ea typeface="+mn-ea"/>
              <a:cs typeface="等线" panose="02010600030101010101" charset="-122"/>
            </a:endParaRPr>
          </a:p>
          <a:p>
            <a:pPr marL="685800" marR="0" lvl="1" indent="-228600" algn="l" defTabSz="914400" rtl="0" eaLnBrk="1" fontAlgn="base" latinLnBrk="0" hangingPunct="1">
              <a:lnSpc>
                <a:spcPct val="200000"/>
              </a:lnSpc>
              <a:spcBef>
                <a:spcPts val="500"/>
              </a:spcBef>
              <a:spcAft>
                <a:spcPct val="0"/>
              </a:spcAft>
              <a:buClrTx/>
              <a:buSzTx/>
              <a:buFont typeface="Arial" panose="020B0604020202020204" pitchFamily="34" charset="0"/>
              <a:buChar char="•"/>
              <a:defRPr/>
            </a:pPr>
            <a:endPar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endParaRPr>
          </a:p>
          <a:p>
            <a:pPr marL="685800" marR="0" lvl="1" indent="-228600" algn="l" defTabSz="914400" rtl="0" eaLnBrk="1" fontAlgn="base" latinLnBrk="0" hangingPunct="1">
              <a:lnSpc>
                <a:spcPct val="200000"/>
              </a:lnSpc>
              <a:spcBef>
                <a:spcPts val="500"/>
              </a:spcBef>
              <a:spcAft>
                <a:spcPct val="0"/>
              </a:spcAft>
              <a:buClrTx/>
              <a:buSzTx/>
              <a:buFont typeface="Arial" panose="020B0604020202020204" pitchFamily="34" charset="0"/>
              <a:buChar char="•"/>
              <a:defRPr/>
            </a:pPr>
            <a:endPar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endParaRPr>
          </a:p>
          <a:p>
            <a:pPr marL="228600" marR="0" lvl="0" indent="-228600" algn="l" defTabSz="914400" rtl="0" eaLnBrk="1" fontAlgn="base" latinLnBrk="0" hangingPunct="1">
              <a:lnSpc>
                <a:spcPct val="150000"/>
              </a:lnSpc>
              <a:spcBef>
                <a:spcPts val="1000"/>
              </a:spcBef>
              <a:spcAft>
                <a:spcPct val="0"/>
              </a:spcAft>
              <a:buClrTx/>
              <a:buSzTx/>
              <a:buFont typeface="Arial" panose="020B0604020202020204" pitchFamily="34" charset="0"/>
              <a:buChar char="•"/>
              <a:defRPr/>
            </a:pPr>
            <a:endParaRPr kumimoji="0" lang="en-US" altLang="zh-CN" sz="2400" b="1" i="0" u="none" strike="noStrike" kern="1200" cap="none" spc="0" normalizeH="0" baseline="0" noProof="0" dirty="0">
              <a:ln>
                <a:noFill/>
              </a:ln>
              <a:solidFill>
                <a:srgbClr val="009ED6"/>
              </a:solidFill>
              <a:effectLst/>
              <a:uLnTx/>
              <a:uFillTx/>
              <a:latin typeface="+mn-lt"/>
              <a:ea typeface="+mn-ea"/>
              <a:cs typeface="等线" panose="02010600030101010101" charset="-122"/>
            </a:endParaRPr>
          </a:p>
          <a:p>
            <a:pPr marL="228600" marR="0" lvl="0" indent="-228600" algn="l" defTabSz="914400" rtl="0" eaLnBrk="1" fontAlgn="base" latinLnBrk="0" hangingPunct="1">
              <a:lnSpc>
                <a:spcPct val="150000"/>
              </a:lnSpc>
              <a:spcBef>
                <a:spcPts val="1000"/>
              </a:spcBef>
              <a:spcAft>
                <a:spcPct val="0"/>
              </a:spcAft>
              <a:buClrTx/>
              <a:buSzTx/>
              <a:buFont typeface="Arial" panose="020B0604020202020204" pitchFamily="34" charset="0"/>
              <a:buChar char="•"/>
              <a:defRPr/>
            </a:pPr>
            <a:endParaRPr kumimoji="0" lang="en-US" altLang="zh-CN" sz="2400" b="1" i="0" u="none" strike="noStrike" kern="1200" cap="none" spc="0" normalizeH="0" baseline="0" noProof="0" dirty="0">
              <a:ln>
                <a:noFill/>
              </a:ln>
              <a:solidFill>
                <a:srgbClr val="009ED6"/>
              </a:solidFill>
              <a:effectLst/>
              <a:uLnTx/>
              <a:uFillTx/>
              <a:latin typeface="+mn-lt"/>
              <a:ea typeface="+mn-ea"/>
              <a:cs typeface="等线" panose="02010600030101010101" charset="-122"/>
            </a:endParaRPr>
          </a:p>
        </p:txBody>
      </p:sp>
      <p:sp>
        <p:nvSpPr>
          <p:cNvPr id="4"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2.3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中的运算符</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2228"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内容占位符 2"/>
          <p:cNvSpPr>
            <a:spLocks noGrp="1"/>
          </p:cNvSpPr>
          <p:nvPr>
            <p:ph idx="1"/>
          </p:nvPr>
        </p:nvSpPr>
        <p:spPr>
          <a:xfrm>
            <a:off x="385763" y="1879600"/>
            <a:ext cx="8229600" cy="3389313"/>
          </a:xfrm>
          <a:ln>
            <a:solidFill>
              <a:srgbClr val="009ED6">
                <a:alpha val="100000"/>
              </a:srgbClr>
            </a:solidFill>
            <a:miter lim="800000"/>
          </a:ln>
        </p:spPr>
        <p:txBody>
          <a:bodyPr vert="horz" wrap="square" lIns="91440" tIns="45720" rIns="91440" bIns="45720" anchor="t" anchorCtr="0"/>
          <a:p>
            <a:pPr lvl="1" eaLnBrk="1" hangingPunct="1">
              <a:buFont typeface="Wingdings" panose="05000000000000000000" pitchFamily="2" charset="2"/>
              <a:buChar char="Ø"/>
            </a:pPr>
            <a:r>
              <a:rPr lang="zh-CN" altLang="zh-CN" kern="1200" dirty="0">
                <a:latin typeface="+mn-lt"/>
                <a:ea typeface="+mn-ea"/>
                <a:cs typeface="等线" panose="02010600030101010101" charset="-122"/>
              </a:rPr>
              <a:t>赋值运算符的作用就是将常量、变量或表达式的值赋给某一个变量</a:t>
            </a:r>
            <a:r>
              <a:rPr lang="zh-CN" altLang="en-US" kern="1200" dirty="0">
                <a:latin typeface="+mn-lt"/>
                <a:ea typeface="+mn-ea"/>
                <a:cs typeface="等线" panose="02010600030101010101" charset="-122"/>
              </a:rPr>
              <a:t>，表中列出了</a:t>
            </a:r>
            <a:r>
              <a:rPr lang="en-US" altLang="zh-CN" kern="1200" dirty="0">
                <a:latin typeface="+mn-lt"/>
                <a:ea typeface="+mn-ea"/>
                <a:cs typeface="等线" panose="02010600030101010101" charset="-122"/>
              </a:rPr>
              <a:t>Java</a:t>
            </a:r>
            <a:r>
              <a:rPr lang="zh-CN" altLang="en-US" kern="1200" dirty="0">
                <a:latin typeface="+mn-lt"/>
                <a:ea typeface="+mn-ea"/>
                <a:cs typeface="等线" panose="02010600030101010101" charset="-122"/>
              </a:rPr>
              <a:t>中的赋值运算符及用法。</a:t>
            </a:r>
            <a:endParaRPr lang="en-US" altLang="zh-CN" b="1" kern="1200" dirty="0">
              <a:solidFill>
                <a:srgbClr val="009ED6"/>
              </a:solidFill>
              <a:latin typeface="+mn-lt"/>
              <a:ea typeface="+mn-ea"/>
              <a:cs typeface="等线" panose="02010600030101010101" charset="-122"/>
            </a:endParaRPr>
          </a:p>
          <a:p>
            <a:pPr eaLnBrk="1" hangingPunct="1"/>
            <a:endParaRPr lang="en-US" altLang="zh-CN" b="1" kern="1200" dirty="0">
              <a:solidFill>
                <a:srgbClr val="009ED6"/>
              </a:solidFill>
              <a:latin typeface="+mn-lt"/>
              <a:ea typeface="+mn-ea"/>
              <a:cs typeface="等线" panose="02010600030101010101" charset="-122"/>
            </a:endParaRPr>
          </a:p>
        </p:txBody>
      </p:sp>
      <p:sp>
        <p:nvSpPr>
          <p:cNvPr id="5" name="剪去对角的矩形 4"/>
          <p:cNvSpPr/>
          <p:nvPr/>
        </p:nvSpPr>
        <p:spPr bwMode="auto">
          <a:xfrm>
            <a:off x="5016500" y="1084263"/>
            <a:ext cx="3454400"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3252" name="矩形 6"/>
          <p:cNvSpPr/>
          <p:nvPr/>
        </p:nvSpPr>
        <p:spPr>
          <a:xfrm>
            <a:off x="5926138" y="1093788"/>
            <a:ext cx="2208212" cy="5905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35000"/>
              </a:lnSpc>
              <a:spcBef>
                <a:spcPct val="0"/>
              </a:spcBef>
              <a:buNone/>
            </a:pPr>
            <a:r>
              <a:rPr lang="zh-CN" altLang="en-US" sz="2400" dirty="0">
                <a:solidFill>
                  <a:srgbClr val="00B0F0"/>
                </a:solidFill>
                <a:latin typeface="黑体" panose="02010609060101010101" pitchFamily="49" charset="-122"/>
                <a:ea typeface="黑体" panose="02010609060101010101" pitchFamily="49" charset="-122"/>
              </a:rPr>
              <a:t>算术运算符</a:t>
            </a:r>
            <a:endParaRPr lang="zh-CN" altLang="zh-CN" sz="2400" dirty="0">
              <a:solidFill>
                <a:srgbClr val="00B0F0"/>
              </a:solidFill>
              <a:latin typeface="黑体" panose="02010609060101010101" pitchFamily="49" charset="-122"/>
              <a:ea typeface="黑体" panose="02010609060101010101" pitchFamily="49" charset="-122"/>
            </a:endParaRPr>
          </a:p>
        </p:txBody>
      </p:sp>
      <p:pic>
        <p:nvPicPr>
          <p:cNvPr id="53253" name="Picture 7"/>
          <p:cNvPicPr>
            <a:picLocks noChangeAspect="1"/>
          </p:cNvPicPr>
          <p:nvPr/>
        </p:nvPicPr>
        <p:blipFill>
          <a:blip r:embed="rId1"/>
          <a:stretch>
            <a:fillRect/>
          </a:stretch>
        </p:blipFill>
        <p:spPr>
          <a:xfrm>
            <a:off x="1706563" y="3235325"/>
            <a:ext cx="5392737" cy="1630363"/>
          </a:xfrm>
          <a:prstGeom prst="rect">
            <a:avLst/>
          </a:prstGeom>
          <a:noFill/>
          <a:ln w="9525">
            <a:noFill/>
          </a:ln>
        </p:spPr>
      </p:pic>
      <p:sp>
        <p:nvSpPr>
          <p:cNvPr id="7"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2.3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中的运算符</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3255"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内容占位符 2"/>
          <p:cNvSpPr>
            <a:spLocks noGrp="1" noChangeArrowheads="1"/>
          </p:cNvSpPr>
          <p:nvPr>
            <p:ph idx="1"/>
          </p:nvPr>
        </p:nvSpPr>
        <p:spPr>
          <a:xfrm>
            <a:off x="361950" y="1974850"/>
            <a:ext cx="8229600" cy="4151313"/>
          </a:xfrm>
          <a:ln>
            <a:solidFill>
              <a:srgbClr val="009ED6"/>
            </a:solidFill>
            <a:miter lim="800000"/>
          </a:ln>
        </p:spPr>
        <p:txBody>
          <a:bodyPr vert="horz" wrap="square" lIns="91440" tIns="45720" rIns="91440" bIns="45720" numCol="1" anchor="t" anchorCtr="0" compatLnSpc="1"/>
          <a:lstStyle/>
          <a:p>
            <a:pPr marL="685800" marR="0" lvl="1" indent="-228600" algn="l" defTabSz="914400" rtl="0" eaLnBrk="1" fontAlgn="base" latinLnBrk="0" hangingPunct="1">
              <a:lnSpc>
                <a:spcPct val="200000"/>
              </a:lnSpc>
              <a:spcBef>
                <a:spcPts val="500"/>
              </a:spcBef>
              <a:spcAft>
                <a:spcPct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solidFill>
                <a:effectLst/>
                <a:uLnTx/>
                <a:uFillTx/>
                <a:latin typeface="+mn-lt"/>
                <a:ea typeface="+mn-ea"/>
                <a:cs typeface="等线" panose="02010600030101010101" charset="-122"/>
              </a:rPr>
              <a:t>在赋值运算符的使用中，需要注意以下几个问题：</a:t>
            </a:r>
            <a:endParaRPr kumimoji="0" lang="zh-CN" altLang="en-US" sz="2000" b="0" i="0" u="none" strike="noStrike" kern="1200" cap="none" spc="0" normalizeH="0" baseline="0" noProof="0" dirty="0">
              <a:ln>
                <a:noFill/>
              </a:ln>
              <a:solidFill>
                <a:schemeClr val="tx1"/>
              </a:solidFill>
              <a:effectLst/>
              <a:uLnTx/>
              <a:uFillTx/>
              <a:latin typeface="+mn-lt"/>
              <a:ea typeface="+mn-ea"/>
              <a:cs typeface="等线" panose="02010600030101010101" charset="-122"/>
            </a:endParaRPr>
          </a:p>
          <a:p>
            <a:pPr marL="457200" marR="0" lvl="1" indent="0" algn="l" defTabSz="914400" rtl="0" eaLnBrk="1" fontAlgn="base" latinLnBrk="0" hangingPunct="1">
              <a:lnSpc>
                <a:spcPct val="200000"/>
              </a:lnSpc>
              <a:spcBef>
                <a:spcPts val="50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1</a:t>
            </a:r>
            <a:r>
              <a:rPr kumimoji="0" lang="zh-CN" altLang="en-US" sz="1800" b="0" i="0" u="none" strike="noStrike" kern="1200" cap="none" spc="0" normalizeH="0" baseline="0" noProof="0" dirty="0">
                <a:ln>
                  <a:noFill/>
                </a:ln>
                <a:solidFill>
                  <a:schemeClr val="tx1"/>
                </a:solidFill>
                <a:effectLst/>
                <a:uLnTx/>
                <a:uFillTx/>
                <a:latin typeface="+mn-lt"/>
                <a:ea typeface="+mn-ea"/>
                <a:cs typeface="等线" panose="02010600030101010101" charset="-122"/>
              </a:rPr>
              <a:t>）在</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Java</a:t>
            </a:r>
            <a:r>
              <a:rPr kumimoji="0" lang="zh-CN" altLang="en-US" sz="1800" b="0" i="0" u="none" strike="noStrike" kern="1200" cap="none" spc="0" normalizeH="0" baseline="0" noProof="0" dirty="0">
                <a:ln>
                  <a:noFill/>
                </a:ln>
                <a:solidFill>
                  <a:schemeClr val="tx1"/>
                </a:solidFill>
                <a:effectLst/>
                <a:uLnTx/>
                <a:uFillTx/>
                <a:latin typeface="+mn-lt"/>
                <a:ea typeface="+mn-ea"/>
                <a:cs typeface="等线" panose="02010600030101010101" charset="-122"/>
              </a:rPr>
              <a:t>中可以通过一条赋值语句对多个变量进行赋值</a:t>
            </a:r>
            <a:endPar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endParaRPr>
          </a:p>
          <a:p>
            <a:pPr marL="685800" marR="0" lvl="1" indent="-228600" algn="l" defTabSz="914400" rtl="0" eaLnBrk="1" fontAlgn="base" latinLnBrk="0" hangingPunct="1">
              <a:lnSpc>
                <a:spcPct val="150000"/>
              </a:lnSpc>
              <a:spcBef>
                <a:spcPts val="500"/>
              </a:spcBef>
              <a:spcAft>
                <a:spcPct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等线" panose="02010600030101010101" charset="-122"/>
            </a:endParaRPr>
          </a:p>
          <a:p>
            <a:pPr marL="685800" marR="0" lvl="1" indent="-228600" algn="l" defTabSz="914400" rtl="0" eaLnBrk="1" fontAlgn="base" latinLnBrk="0" hangingPunct="1">
              <a:lnSpc>
                <a:spcPct val="150000"/>
              </a:lnSpc>
              <a:spcBef>
                <a:spcPts val="500"/>
              </a:spcBef>
              <a:spcAft>
                <a:spcPct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等线" panose="02010600030101010101" charset="-122"/>
            </a:endParaRPr>
          </a:p>
          <a:p>
            <a:pPr marL="457200" marR="0" lvl="1" indent="0" algn="l" defTabSz="914400" rtl="0" eaLnBrk="1" fontAlgn="base" latinLnBrk="0" hangingPunct="1">
              <a:lnSpc>
                <a:spcPct val="200000"/>
              </a:lnSpc>
              <a:spcBef>
                <a:spcPts val="50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2</a:t>
            </a:r>
            <a:r>
              <a:rPr kumimoji="0" lang="zh-CN" altLang="en-US"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zh-CN"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除了“</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zh-CN"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”，其它的都是特殊的赋值运算符，以“</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zh-CN"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”为例，</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x += 3</a:t>
            </a:r>
            <a:r>
              <a:rPr kumimoji="0" lang="zh-CN"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就相当于</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x = x + 3</a:t>
            </a:r>
            <a:r>
              <a:rPr kumimoji="0" lang="zh-CN"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，首先会进行加法运算</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x+3</a:t>
            </a:r>
            <a:r>
              <a:rPr kumimoji="0" lang="zh-CN"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，再将运算结果赋值给变量</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x</a:t>
            </a:r>
            <a:r>
              <a:rPr kumimoji="0" lang="zh-CN"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zh-CN"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zh-CN"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zh-CN"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zh-CN"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赋值运算符都可依此类推。</a:t>
            </a:r>
            <a:endParaRPr kumimoji="0" lang="en-US" altLang="zh-CN" sz="2000" b="0" i="0" u="none" strike="noStrike" kern="1200" cap="none" spc="0" normalizeH="0" baseline="0" noProof="0" dirty="0">
              <a:ln>
                <a:noFill/>
              </a:ln>
              <a:solidFill>
                <a:schemeClr val="tx1"/>
              </a:solidFill>
              <a:effectLst/>
              <a:uLnTx/>
              <a:uFillTx/>
              <a:latin typeface="+mn-lt"/>
              <a:ea typeface="+mn-ea"/>
              <a:cs typeface="等线" panose="02010600030101010101" charset="-122"/>
            </a:endParaRPr>
          </a:p>
          <a:p>
            <a:pPr marL="228600" marR="0" lvl="0" indent="-228600" algn="l" defTabSz="914400" rtl="0" eaLnBrk="1" fontAlgn="base" latinLnBrk="0" hangingPunct="1">
              <a:lnSpc>
                <a:spcPct val="150000"/>
              </a:lnSpc>
              <a:spcBef>
                <a:spcPts val="1000"/>
              </a:spcBef>
              <a:spcAft>
                <a:spcPct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等线" panose="02010600030101010101" charset="-122"/>
            </a:endParaRPr>
          </a:p>
        </p:txBody>
      </p:sp>
      <p:pic>
        <p:nvPicPr>
          <p:cNvPr id="54275" name="Picture 8"/>
          <p:cNvPicPr>
            <a:picLocks noChangeAspect="1"/>
          </p:cNvPicPr>
          <p:nvPr/>
        </p:nvPicPr>
        <p:blipFill>
          <a:blip r:embed="rId1"/>
          <a:stretch>
            <a:fillRect/>
          </a:stretch>
        </p:blipFill>
        <p:spPr>
          <a:xfrm>
            <a:off x="1784350" y="3324225"/>
            <a:ext cx="5643563" cy="917575"/>
          </a:xfrm>
          <a:prstGeom prst="rect">
            <a:avLst/>
          </a:prstGeom>
          <a:noFill/>
          <a:ln w="9525">
            <a:noFill/>
          </a:ln>
        </p:spPr>
      </p:pic>
      <p:sp>
        <p:nvSpPr>
          <p:cNvPr id="5" name="剪去对角的矩形 4"/>
          <p:cNvSpPr/>
          <p:nvPr/>
        </p:nvSpPr>
        <p:spPr bwMode="auto">
          <a:xfrm>
            <a:off x="5016500" y="1084263"/>
            <a:ext cx="3454400"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4277" name="矩形 6"/>
          <p:cNvSpPr/>
          <p:nvPr/>
        </p:nvSpPr>
        <p:spPr>
          <a:xfrm>
            <a:off x="5926138" y="1093788"/>
            <a:ext cx="2208212" cy="519112"/>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35000"/>
              </a:lnSpc>
              <a:spcBef>
                <a:spcPct val="0"/>
              </a:spcBef>
              <a:buNone/>
            </a:pPr>
            <a:r>
              <a:rPr lang="zh-CN" altLang="en-US" sz="2400" dirty="0">
                <a:solidFill>
                  <a:srgbClr val="00B0F0"/>
                </a:solidFill>
                <a:latin typeface="黑体" panose="02010609060101010101" pitchFamily="49" charset="-122"/>
                <a:ea typeface="黑体" panose="02010609060101010101" pitchFamily="49" charset="-122"/>
              </a:rPr>
              <a:t>赋值运算符</a:t>
            </a:r>
            <a:endParaRPr lang="zh-CN" altLang="zh-CN" sz="2400" dirty="0">
              <a:solidFill>
                <a:srgbClr val="00B0F0"/>
              </a:solidFill>
              <a:latin typeface="黑体" panose="02010609060101010101" pitchFamily="49" charset="-122"/>
              <a:ea typeface="黑体" panose="02010609060101010101" pitchFamily="49" charset="-122"/>
            </a:endParaRPr>
          </a:p>
        </p:txBody>
      </p:sp>
      <p:sp>
        <p:nvSpPr>
          <p:cNvPr id="7"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2.3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中的运算符</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4279"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内容占位符 2"/>
          <p:cNvSpPr>
            <a:spLocks noGrp="1"/>
          </p:cNvSpPr>
          <p:nvPr>
            <p:ph idx="1"/>
          </p:nvPr>
        </p:nvSpPr>
        <p:spPr>
          <a:xfrm>
            <a:off x="385763" y="1889125"/>
            <a:ext cx="8229600" cy="4125913"/>
          </a:xfrm>
          <a:ln>
            <a:solidFill>
              <a:srgbClr val="009ED6"/>
            </a:solidFill>
            <a:miter lim="800000"/>
          </a:ln>
        </p:spPr>
        <p:txBody>
          <a:bodyPr vert="horz" wrap="square" lIns="91440" tIns="45720" rIns="91440" bIns="45720" numCol="1" rtlCol="0" anchor="t" anchorCtr="0" compatLnSpc="1">
            <a:normAutofit/>
          </a:bodyPr>
          <a:lstStyle/>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cs"/>
              </a:rPr>
              <a:t>比较运算符用于对两个数值或变量进行比较，其结果是一个布尔值，即</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true</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或</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false</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50000"/>
              </a:lnSpc>
              <a:spcBef>
                <a:spcPts val="500"/>
              </a:spcBef>
              <a:spcAft>
                <a:spcPts val="0"/>
              </a:spcAft>
              <a:buClrTx/>
              <a:buSzTx/>
              <a:buFontTx/>
              <a:buNone/>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zh-CN" altLang="zh-CN" sz="2000" b="0" i="0" u="none" strike="noStrike" kern="1200" cap="none" spc="0" normalizeH="0" baseline="0" noProof="0" dirty="0">
                <a:ln>
                  <a:noFill/>
                </a:ln>
                <a:solidFill>
                  <a:schemeClr val="tx1"/>
                </a:solidFill>
                <a:effectLst/>
                <a:uLnTx/>
                <a:uFillTx/>
                <a:latin typeface="+mn-lt"/>
                <a:ea typeface="+mn-ea"/>
                <a:cs typeface="+mn-cs"/>
              </a:rPr>
              <a:t>比较运算符在使用时需要注意一个问题，不能将比较运算符“</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”误写成赋值运算符“</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剪去对角的矩形 4"/>
          <p:cNvSpPr/>
          <p:nvPr/>
        </p:nvSpPr>
        <p:spPr bwMode="auto">
          <a:xfrm>
            <a:off x="5016500" y="1084263"/>
            <a:ext cx="3454400"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5300" name="矩形 6"/>
          <p:cNvSpPr/>
          <p:nvPr/>
        </p:nvSpPr>
        <p:spPr>
          <a:xfrm>
            <a:off x="5926138" y="1093788"/>
            <a:ext cx="2208212" cy="519112"/>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35000"/>
              </a:lnSpc>
              <a:spcBef>
                <a:spcPct val="0"/>
              </a:spcBef>
              <a:buNone/>
            </a:pPr>
            <a:r>
              <a:rPr lang="zh-CN" altLang="en-US" sz="2400" dirty="0">
                <a:solidFill>
                  <a:srgbClr val="00B0F0"/>
                </a:solidFill>
                <a:latin typeface="黑体" panose="02010609060101010101" pitchFamily="49" charset="-122"/>
                <a:ea typeface="黑体" panose="02010609060101010101" pitchFamily="49" charset="-122"/>
              </a:rPr>
              <a:t>比较运算符</a:t>
            </a:r>
            <a:endParaRPr lang="zh-CN" altLang="zh-CN" sz="2400" dirty="0">
              <a:solidFill>
                <a:srgbClr val="00B0F0"/>
              </a:solidFill>
              <a:latin typeface="黑体" panose="02010609060101010101" pitchFamily="49" charset="-122"/>
              <a:ea typeface="黑体" panose="02010609060101010101" pitchFamily="49" charset="-122"/>
            </a:endParaRPr>
          </a:p>
        </p:txBody>
      </p:sp>
      <p:pic>
        <p:nvPicPr>
          <p:cNvPr id="55301" name="Picture 7"/>
          <p:cNvPicPr>
            <a:picLocks noChangeAspect="1"/>
          </p:cNvPicPr>
          <p:nvPr/>
        </p:nvPicPr>
        <p:blipFill>
          <a:blip r:embed="rId1"/>
          <a:stretch>
            <a:fillRect/>
          </a:stretch>
        </p:blipFill>
        <p:spPr>
          <a:xfrm>
            <a:off x="1666875" y="3049588"/>
            <a:ext cx="5880100" cy="1690687"/>
          </a:xfrm>
          <a:prstGeom prst="rect">
            <a:avLst/>
          </a:prstGeom>
          <a:noFill/>
          <a:ln w="9525">
            <a:noFill/>
          </a:ln>
        </p:spPr>
      </p:pic>
      <p:sp>
        <p:nvSpPr>
          <p:cNvPr id="7"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2.3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中的运算符</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5303"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内容占位符 2"/>
          <p:cNvSpPr>
            <a:spLocks noGrp="1"/>
          </p:cNvSpPr>
          <p:nvPr>
            <p:ph idx="1"/>
          </p:nvPr>
        </p:nvSpPr>
        <p:spPr>
          <a:xfrm>
            <a:off x="284163" y="2092325"/>
            <a:ext cx="3460750" cy="3911600"/>
          </a:xfrm>
        </p:spPr>
        <p:txBody>
          <a:bodyPr vert="horz" wrap="square" lIns="91440" tIns="45720" rIns="91440" bIns="45720" anchor="t" anchorCtr="0"/>
          <a:p>
            <a:pPr lvl="1" eaLnBrk="1" hangingPunct="1">
              <a:buFont typeface="Wingdings" panose="05000000000000000000" pitchFamily="2" charset="2"/>
              <a:buChar char="Ø"/>
            </a:pPr>
            <a:r>
              <a:rPr lang="zh-CN" altLang="zh-CN" kern="1200" dirty="0">
                <a:latin typeface="+mn-lt"/>
                <a:ea typeface="+mn-ea"/>
                <a:cs typeface="等线" panose="02010600030101010101" charset="-122"/>
              </a:rPr>
              <a:t>逻辑运算符用于对布尔型的数据进行操作，其结果仍是一个布尔型</a:t>
            </a:r>
            <a:r>
              <a:rPr lang="zh-CN" altLang="en-US" kern="1200" dirty="0">
                <a:latin typeface="+mn-lt"/>
                <a:ea typeface="+mn-ea"/>
                <a:cs typeface="等线" panose="02010600030101010101" charset="-122"/>
              </a:rPr>
              <a:t>。</a:t>
            </a:r>
            <a:endParaRPr lang="en-US" altLang="zh-CN" kern="1200" dirty="0">
              <a:latin typeface="+mn-lt"/>
              <a:ea typeface="+mn-ea"/>
              <a:cs typeface="等线" panose="02010600030101010101" charset="-122"/>
            </a:endParaRPr>
          </a:p>
          <a:p>
            <a:pPr lvl="1" eaLnBrk="1" hangingPunct="1"/>
            <a:endParaRPr lang="en-US" altLang="zh-CN" kern="1200" dirty="0">
              <a:latin typeface="+mn-lt"/>
              <a:ea typeface="+mn-ea"/>
              <a:cs typeface="等线" panose="02010600030101010101" charset="-122"/>
            </a:endParaRPr>
          </a:p>
          <a:p>
            <a:pPr lvl="1" eaLnBrk="1" hangingPunct="1"/>
            <a:endParaRPr lang="en-US" altLang="zh-CN" kern="1200" dirty="0">
              <a:latin typeface="+mn-lt"/>
              <a:ea typeface="+mn-ea"/>
              <a:cs typeface="等线" panose="02010600030101010101" charset="-122"/>
            </a:endParaRPr>
          </a:p>
          <a:p>
            <a:pPr lvl="1" eaLnBrk="1" hangingPunct="1"/>
            <a:endParaRPr lang="en-US" altLang="zh-CN" kern="1200" dirty="0">
              <a:latin typeface="+mn-lt"/>
              <a:ea typeface="+mn-ea"/>
              <a:cs typeface="等线" panose="02010600030101010101" charset="-122"/>
            </a:endParaRPr>
          </a:p>
          <a:p>
            <a:pPr lvl="1" eaLnBrk="1" hangingPunct="1"/>
            <a:endParaRPr lang="en-US" altLang="zh-CN" kern="1200" dirty="0">
              <a:latin typeface="+mn-lt"/>
              <a:ea typeface="+mn-ea"/>
              <a:cs typeface="等线" panose="02010600030101010101" charset="-122"/>
            </a:endParaRPr>
          </a:p>
          <a:p>
            <a:pPr lvl="1" eaLnBrk="1" hangingPunct="1"/>
            <a:endParaRPr lang="en-US" altLang="zh-CN" kern="1200" dirty="0">
              <a:latin typeface="+mn-lt"/>
              <a:ea typeface="+mn-ea"/>
              <a:cs typeface="等线" panose="02010600030101010101" charset="-122"/>
            </a:endParaRPr>
          </a:p>
        </p:txBody>
      </p:sp>
      <p:sp>
        <p:nvSpPr>
          <p:cNvPr id="5" name="剪去对角的矩形 4"/>
          <p:cNvSpPr/>
          <p:nvPr/>
        </p:nvSpPr>
        <p:spPr bwMode="auto">
          <a:xfrm>
            <a:off x="5016500" y="1084263"/>
            <a:ext cx="3454400"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4" name="矩形 6"/>
          <p:cNvSpPr/>
          <p:nvPr/>
        </p:nvSpPr>
        <p:spPr>
          <a:xfrm>
            <a:off x="5926138" y="1093788"/>
            <a:ext cx="2208212" cy="519112"/>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35000"/>
              </a:lnSpc>
              <a:spcBef>
                <a:spcPct val="0"/>
              </a:spcBef>
              <a:buNone/>
            </a:pPr>
            <a:r>
              <a:rPr lang="zh-CN" altLang="en-US" sz="2400" dirty="0">
                <a:solidFill>
                  <a:srgbClr val="00B0F0"/>
                </a:solidFill>
                <a:latin typeface="黑体" panose="02010609060101010101" pitchFamily="49" charset="-122"/>
                <a:ea typeface="黑体" panose="02010609060101010101" pitchFamily="49" charset="-122"/>
              </a:rPr>
              <a:t>逻辑运算符</a:t>
            </a:r>
            <a:endParaRPr lang="zh-CN" altLang="zh-CN" sz="2400" dirty="0">
              <a:solidFill>
                <a:srgbClr val="00B0F0"/>
              </a:solidFill>
              <a:latin typeface="黑体" panose="02010609060101010101" pitchFamily="49" charset="-122"/>
              <a:ea typeface="黑体" panose="02010609060101010101" pitchFamily="49" charset="-122"/>
            </a:endParaRPr>
          </a:p>
        </p:txBody>
      </p:sp>
      <p:sp>
        <p:nvSpPr>
          <p:cNvPr id="7" name="内容占位符 2"/>
          <p:cNvSpPr txBox="1"/>
          <p:nvPr/>
        </p:nvSpPr>
        <p:spPr bwMode="auto">
          <a:xfrm>
            <a:off x="385763" y="1889125"/>
            <a:ext cx="8229600" cy="4589463"/>
          </a:xfrm>
          <a:prstGeom prst="rect">
            <a:avLst/>
          </a:prstGeom>
          <a:ln w="9525">
            <a:solidFill>
              <a:srgbClr val="009ED6"/>
            </a:solidFill>
            <a:miter lim="800000"/>
          </a:ln>
        </p:spPr>
        <p:txBody>
          <a:bodyPr/>
          <a:lstStyle>
            <a:lvl1pPr marL="342900" indent="-342900" algn="l" rtl="0" eaLnBrk="0" fontAlgn="base" hangingPunct="0">
              <a:lnSpc>
                <a:spcPct val="150000"/>
              </a:lnSpc>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sz="2000">
                <a:solidFill>
                  <a:schemeClr val="tx1"/>
                </a:solidFill>
                <a:latin typeface="+mn-lt"/>
                <a:ea typeface="+mn-ea"/>
              </a:defRPr>
            </a:lvl2pPr>
            <a:lvl3pPr marL="1143000" indent="-228600" algn="l" rtl="0" eaLnBrk="0" fontAlgn="base" hangingPunct="0">
              <a:lnSpc>
                <a:spcPct val="150000"/>
              </a:lnSpc>
              <a:spcBef>
                <a:spcPct val="20000"/>
              </a:spcBef>
              <a:spcAft>
                <a:spcPct val="0"/>
              </a:spcAft>
              <a:buChar char="•"/>
              <a:defRPr sz="1800">
                <a:solidFill>
                  <a:schemeClr val="tx1"/>
                </a:solidFill>
                <a:latin typeface="+mn-lt"/>
                <a:ea typeface="+mn-ea"/>
              </a:defRPr>
            </a:lvl3pPr>
            <a:lvl4pPr marL="1600200" indent="-228600" algn="l" rtl="0" eaLnBrk="0" fontAlgn="base" hangingPunct="0">
              <a:lnSpc>
                <a:spcPct val="150000"/>
              </a:lnSpc>
              <a:spcBef>
                <a:spcPct val="20000"/>
              </a:spcBef>
              <a:spcAft>
                <a:spcPct val="0"/>
              </a:spcAft>
              <a:buChar char="–"/>
              <a:defRPr sz="16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16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sz="2000" b="0" i="0" u="none" strike="noStrike" kern="0" cap="none" spc="0" normalizeH="0" baseline="0" noProof="0" dirty="0">
              <a:ln>
                <a:noFill/>
              </a:ln>
              <a:solidFill>
                <a:schemeClr val="tx1"/>
              </a:solidFill>
              <a:effectLst/>
              <a:uLnTx/>
              <a:uFillTx/>
              <a:latin typeface="+mn-lt"/>
              <a:ea typeface="+mn-ea"/>
              <a:cs typeface="+mn-cs"/>
              <a:sym typeface="+mn-ea"/>
            </a:endParaRPr>
          </a:p>
          <a:p>
            <a:pPr marL="742950" marR="0" lvl="1" indent="-285750" algn="l" defTabSz="914400" rtl="0" eaLnBrk="0" fontAlgn="base" latinLnBrk="0" hangingPunct="0">
              <a:lnSpc>
                <a:spcPct val="150000"/>
              </a:lnSpc>
              <a:spcBef>
                <a:spcPct val="20000"/>
              </a:spcBef>
              <a:spcAft>
                <a:spcPct val="0"/>
              </a:spcAft>
              <a:buClrTx/>
              <a:buSzTx/>
              <a:buFontTx/>
              <a:buChar char="–"/>
              <a:defRPr/>
            </a:pPr>
            <a:endParaRPr kumimoji="0" lang="en-US" altLang="zh-CN" sz="2000" b="0" i="0" u="none" strike="noStrike" kern="0" cap="none" spc="0" normalizeH="0" baseline="0" noProof="0" dirty="0">
              <a:ln>
                <a:noFill/>
              </a:ln>
              <a:solidFill>
                <a:schemeClr val="tx1"/>
              </a:solidFill>
              <a:effectLst/>
              <a:uLnTx/>
              <a:uFillTx/>
              <a:latin typeface="+mn-lt"/>
              <a:ea typeface="+mn-ea"/>
              <a:cs typeface="+mn-cs"/>
              <a:sym typeface="+mn-ea"/>
            </a:endParaRPr>
          </a:p>
          <a:p>
            <a:pPr marL="742950" marR="0" lvl="1" indent="-285750" algn="l" defTabSz="914400" rtl="0" eaLnBrk="0" fontAlgn="base" latinLnBrk="0" hangingPunct="0">
              <a:lnSpc>
                <a:spcPct val="150000"/>
              </a:lnSpc>
              <a:spcBef>
                <a:spcPct val="20000"/>
              </a:spcBef>
              <a:spcAft>
                <a:spcPct val="0"/>
              </a:spcAft>
              <a:buClrTx/>
              <a:buSzTx/>
              <a:buFontTx/>
              <a:buChar char="–"/>
              <a:defRPr/>
            </a:pPr>
            <a:endParaRPr kumimoji="0" lang="en-US" altLang="zh-CN" sz="2000" b="0" i="0" u="none" strike="noStrike" kern="0" cap="none" spc="0" normalizeH="0" baseline="0" noProof="0" dirty="0">
              <a:ln>
                <a:noFill/>
              </a:ln>
              <a:solidFill>
                <a:schemeClr val="tx1"/>
              </a:solidFill>
              <a:effectLst/>
              <a:uLnTx/>
              <a:uFillTx/>
              <a:latin typeface="+mn-lt"/>
              <a:ea typeface="+mn-ea"/>
              <a:cs typeface="+mn-cs"/>
              <a:sym typeface="+mn-ea"/>
            </a:endParaRPr>
          </a:p>
          <a:p>
            <a:pPr marL="742950" marR="0" lvl="1" indent="-285750" algn="l" defTabSz="914400" rtl="0" eaLnBrk="0" fontAlgn="base" latinLnBrk="0" hangingPunct="0">
              <a:lnSpc>
                <a:spcPct val="150000"/>
              </a:lnSpc>
              <a:spcBef>
                <a:spcPct val="20000"/>
              </a:spcBef>
              <a:spcAft>
                <a:spcPct val="0"/>
              </a:spcAft>
              <a:buClrTx/>
              <a:buSzTx/>
              <a:buFontTx/>
              <a:buChar char="–"/>
              <a:defRPr/>
            </a:pPr>
            <a:endParaRPr kumimoji="0" lang="en-US" altLang="zh-CN" sz="2000" b="0" i="0" u="none" strike="noStrike" kern="0" cap="none" spc="0" normalizeH="0" baseline="0" noProof="0" dirty="0">
              <a:ln>
                <a:noFill/>
              </a:ln>
              <a:solidFill>
                <a:schemeClr val="tx1"/>
              </a:solidFill>
              <a:effectLst/>
              <a:uLnTx/>
              <a:uFillTx/>
              <a:latin typeface="+mn-lt"/>
              <a:ea typeface="+mn-ea"/>
              <a:cs typeface="+mn-cs"/>
              <a:sym typeface="+mn-ea"/>
            </a:endParaRPr>
          </a:p>
          <a:p>
            <a:pPr marL="457200" marR="0" lvl="1" indent="0" algn="l" defTabSz="914400" rtl="0" eaLnBrk="0" fontAlgn="base" latinLnBrk="0" hangingPunct="0">
              <a:lnSpc>
                <a:spcPct val="150000"/>
              </a:lnSpc>
              <a:spcBef>
                <a:spcPct val="20000"/>
              </a:spcBef>
              <a:spcAft>
                <a:spcPct val="0"/>
              </a:spcAft>
              <a:buClrTx/>
              <a:buSzTx/>
              <a:buFontTx/>
              <a:buNone/>
              <a:defRPr/>
            </a:pPr>
            <a:endParaRPr kumimoji="0" lang="en-US" altLang="zh-CN" sz="2000" b="0" i="0" u="none" strike="noStrike" kern="0" cap="none" spc="0" normalizeH="0" baseline="0" noProof="0" dirty="0">
              <a:ln>
                <a:noFill/>
              </a:ln>
              <a:solidFill>
                <a:schemeClr val="tx1"/>
              </a:solidFill>
              <a:effectLst/>
              <a:uLnTx/>
              <a:uFillTx/>
              <a:latin typeface="+mn-lt"/>
              <a:ea typeface="+mn-ea"/>
              <a:cs typeface="+mn-cs"/>
              <a:sym typeface="+mn-ea"/>
            </a:endParaRPr>
          </a:p>
        </p:txBody>
      </p:sp>
      <p:pic>
        <p:nvPicPr>
          <p:cNvPr id="56326" name="Picture 8"/>
          <p:cNvPicPr>
            <a:picLocks noChangeAspect="1"/>
          </p:cNvPicPr>
          <p:nvPr/>
        </p:nvPicPr>
        <p:blipFill>
          <a:blip r:embed="rId1"/>
          <a:stretch>
            <a:fillRect/>
          </a:stretch>
        </p:blipFill>
        <p:spPr>
          <a:xfrm>
            <a:off x="4005263" y="1990725"/>
            <a:ext cx="4465637" cy="4386263"/>
          </a:xfrm>
          <a:prstGeom prst="rect">
            <a:avLst/>
          </a:prstGeom>
          <a:noFill/>
          <a:ln w="9525">
            <a:noFill/>
          </a:ln>
        </p:spPr>
      </p:pic>
      <p:sp>
        <p:nvSpPr>
          <p:cNvPr id="8"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2.3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中的运算符</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6328"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内容占位符 2"/>
          <p:cNvSpPr>
            <a:spLocks noGrp="1"/>
          </p:cNvSpPr>
          <p:nvPr>
            <p:ph idx="1"/>
          </p:nvPr>
        </p:nvSpPr>
        <p:spPr>
          <a:xfrm>
            <a:off x="366713" y="1192213"/>
            <a:ext cx="8410575" cy="4257675"/>
          </a:xfrm>
          <a:ln>
            <a:solidFill>
              <a:srgbClr val="009ED6"/>
            </a:solidFill>
            <a:miter lim="800000"/>
          </a:ln>
        </p:spPr>
        <p:txBody>
          <a:bodyPr vert="horz" wrap="square" lIns="91440" tIns="45720" rIns="91440" bIns="45720" numCol="1" rtlCol="0" anchor="t" anchorCtr="0" compatLnSpc="1">
            <a:normAutofit lnSpcReduction="10000"/>
          </a:bodyPr>
          <a:lstStyle/>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zh-CN" altLang="zh-CN" sz="1800" b="0" i="0" u="none" strike="noStrike" kern="1200" cap="none" spc="0" normalizeH="0" baseline="0" noProof="0" dirty="0">
                <a:ln>
                  <a:noFill/>
                </a:ln>
                <a:solidFill>
                  <a:schemeClr val="tx1"/>
                </a:solidFill>
                <a:effectLst/>
                <a:uLnTx/>
                <a:uFillTx/>
                <a:latin typeface="+mn-lt"/>
                <a:ea typeface="+mn-ea"/>
                <a:cs typeface="+mn-cs"/>
              </a:rPr>
              <a:t>在使用逻辑运算符的过程中，需要注意以下几个细节：</a:t>
            </a:r>
            <a:endParaRPr kumimoji="0" lang="en-US" altLang="zh-CN" sz="1800" b="0" i="0" u="none" strike="noStrike" kern="1200" cap="none" spc="0" normalizeH="0" baseline="0" noProof="0" dirty="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50000"/>
              </a:lnSpc>
              <a:spcBef>
                <a:spcPts val="500"/>
              </a:spcBef>
              <a:spcAft>
                <a:spcPts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逻辑运算符可以针对结果为布尔值的表达式进行运算。</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50000"/>
              </a:lnSpc>
              <a:spcBef>
                <a:spcPts val="500"/>
              </a:spcBef>
              <a:spcAft>
                <a:spcPts val="0"/>
              </a:spcAft>
              <a:buClrTx/>
              <a:buSzTx/>
              <a:buFont typeface="Arial" panose="020B0604020202020204" pitchFamily="34" charset="0"/>
              <a:buNone/>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           </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如：</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x &gt; 3 &amp;&amp; y != 0</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50000"/>
              </a:lnSpc>
              <a:spcBef>
                <a:spcPts val="500"/>
              </a:spcBef>
              <a:spcAft>
                <a:spcPts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2</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运算符“</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&amp;</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”和“</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&amp;&amp;</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”都表示与操作，当且仅当运算符两边的操作数都为</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true</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时，其结果才为</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true</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，否则结果为</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false</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。当运算符“</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&amp;</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”和“</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&amp;&amp;</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”的右边为表达式时，两者在使用上还有一定的区别。在使用“</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&amp;</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”进行运算时，不论左边为</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true</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或者</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false</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，右边的表达式都会进行运算。如果使用“</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&amp;&amp;</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”进行运算，当左边为</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false</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时，右边的表达式不会进行运算，因此“</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&amp;&amp;</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”被称作短路与</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50000"/>
              </a:lnSpc>
              <a:spcBef>
                <a:spcPts val="500"/>
              </a:spcBef>
              <a:spcAft>
                <a:spcPts val="0"/>
              </a:spcAft>
              <a:buClrTx/>
              <a:buSzTx/>
              <a:buFontTx/>
              <a:buNone/>
              <a:defRPr/>
            </a:pPr>
            <a:endParaRPr kumimoji="0" lang="en-US" altLang="zh-CN"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7"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2.3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中的运算符</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7348"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内容占位符 2"/>
          <p:cNvSpPr>
            <a:spLocks noGrp="1" noChangeArrowheads="1"/>
          </p:cNvSpPr>
          <p:nvPr>
            <p:ph idx="1"/>
          </p:nvPr>
        </p:nvSpPr>
        <p:spPr>
          <a:xfrm>
            <a:off x="385763" y="1290638"/>
            <a:ext cx="8229600" cy="3117850"/>
          </a:xfrm>
          <a:ln>
            <a:solidFill>
              <a:srgbClr val="009ED6"/>
            </a:solidFill>
            <a:miter lim="800000"/>
          </a:ln>
        </p:spPr>
        <p:txBody>
          <a:bodyPr vert="horz" wrap="square" lIns="91440" tIns="45720" rIns="91440" bIns="45720" numCol="1" anchor="t" anchorCtr="0" compatLnSpc="1"/>
          <a:lstStyle/>
          <a:p>
            <a:pPr marL="457200" marR="0" lvl="1" indent="0" algn="l" defTabSz="914400" rtl="0" eaLnBrk="1" fontAlgn="base" latinLnBrk="0" hangingPunct="1">
              <a:lnSpc>
                <a:spcPct val="150000"/>
              </a:lnSpc>
              <a:spcBef>
                <a:spcPts val="50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等线" panose="02010600030101010101" charset="-122"/>
              </a:rPr>
              <a:t>（</a:t>
            </a:r>
            <a:r>
              <a:rPr kumimoji="0" lang="en-US" altLang="zh-CN" sz="1800" b="0" i="0" u="none" strike="noStrike" kern="1200" cap="none" spc="0" normalizeH="0" baseline="0" noProof="0" dirty="0">
                <a:ln>
                  <a:noFill/>
                </a:ln>
                <a:solidFill>
                  <a:srgbClr val="000000"/>
                </a:solidFill>
                <a:effectLst/>
                <a:uLnTx/>
                <a:uFillTx/>
                <a:latin typeface="+mn-lt"/>
                <a:ea typeface="+mn-ea"/>
                <a:cs typeface="等线" panose="02010600030101010101" charset="-122"/>
              </a:rPr>
              <a:t>3</a:t>
            </a:r>
            <a:r>
              <a:rPr kumimoji="0" lang="zh-CN" altLang="en-US" sz="1800" b="0" i="0" u="none" strike="noStrike" kern="1200" cap="none" spc="0" normalizeH="0" baseline="0" noProof="0" dirty="0">
                <a:ln>
                  <a:noFill/>
                </a:ln>
                <a:solidFill>
                  <a:srgbClr val="000000"/>
                </a:solidFill>
                <a:effectLst/>
                <a:uLnTx/>
                <a:uFillTx/>
                <a:latin typeface="+mn-lt"/>
                <a:ea typeface="+mn-ea"/>
                <a:cs typeface="等线" panose="02010600030101010101" charset="-122"/>
              </a:rPr>
              <a:t>）</a:t>
            </a:r>
            <a:r>
              <a:rPr kumimoji="0" lang="zh-CN"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运算符“</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zh-CN"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”和“</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zh-CN"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”都表示或操作，当运算符两边的操作数任何一边的值为</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true</a:t>
            </a:r>
            <a:r>
              <a:rPr kumimoji="0" lang="zh-CN"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时，其结果为</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true</a:t>
            </a:r>
            <a:r>
              <a:rPr kumimoji="0" lang="zh-CN"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，当两边的值都为</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false</a:t>
            </a:r>
            <a:r>
              <a:rPr kumimoji="0" lang="zh-CN"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时，其结果才为</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false</a:t>
            </a:r>
            <a:r>
              <a:rPr kumimoji="0" lang="zh-CN"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。同与操作类似，“</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zh-CN"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”表示短路或，当运算符“</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zh-CN"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”的左边为</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true</a:t>
            </a:r>
            <a:r>
              <a:rPr kumimoji="0" lang="zh-CN"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时，右边的表达式不会进行运算</a:t>
            </a:r>
            <a:r>
              <a:rPr kumimoji="0" lang="zh-CN" altLang="en-US"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endPar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endParaRPr>
          </a:p>
          <a:p>
            <a:pPr marL="457200" marR="0" lvl="1" indent="0" algn="l" defTabSz="914400" rtl="0" eaLnBrk="1" fontAlgn="base" latinLnBrk="0" hangingPunct="1">
              <a:lnSpc>
                <a:spcPct val="150000"/>
              </a:lnSpc>
              <a:spcBef>
                <a:spcPts val="50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4</a:t>
            </a:r>
            <a:r>
              <a:rPr kumimoji="0" lang="zh-CN" altLang="en-US"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zh-CN" altLang="en-US" sz="1800" b="0" i="0" u="none" strike="noStrike" kern="1200" cap="none" spc="0" normalizeH="0" baseline="0" noProof="0" dirty="0">
                <a:ln>
                  <a:noFill/>
                </a:ln>
                <a:solidFill>
                  <a:srgbClr val="000000"/>
                </a:solidFill>
                <a:effectLst/>
                <a:uLnTx/>
                <a:uFillTx/>
                <a:latin typeface="+mn-lt"/>
                <a:ea typeface="+mn-ea"/>
                <a:cs typeface="等线" panose="02010600030101010101" charset="-122"/>
              </a:rPr>
              <a:t>运算符“</a:t>
            </a:r>
            <a:r>
              <a:rPr kumimoji="0" lang="en-US" altLang="zh-CN" sz="1800" b="0" i="0" u="none" strike="noStrike" kern="1200" cap="none" spc="0" normalizeH="0" baseline="0" noProof="0" dirty="0">
                <a:ln>
                  <a:noFill/>
                </a:ln>
                <a:solidFill>
                  <a:srgbClr val="000000"/>
                </a:solidFill>
                <a:effectLst/>
                <a:uLnTx/>
                <a:uFillTx/>
                <a:latin typeface="+mn-lt"/>
                <a:ea typeface="+mn-ea"/>
                <a:cs typeface="等线" panose="02010600030101010101" charset="-122"/>
              </a:rPr>
              <a:t>^”</a:t>
            </a:r>
            <a:r>
              <a:rPr kumimoji="0" lang="zh-CN" altLang="en-US" sz="1800" b="0" i="0" u="none" strike="noStrike" kern="1200" cap="none" spc="0" normalizeH="0" baseline="0" noProof="0" dirty="0">
                <a:ln>
                  <a:noFill/>
                </a:ln>
                <a:solidFill>
                  <a:srgbClr val="000000"/>
                </a:solidFill>
                <a:effectLst/>
                <a:uLnTx/>
                <a:uFillTx/>
                <a:latin typeface="+mn-lt"/>
                <a:ea typeface="+mn-ea"/>
                <a:cs typeface="等线" panose="02010600030101010101" charset="-122"/>
              </a:rPr>
              <a:t>表示异或操作，当运算符两边的布尔值相同时（都为</a:t>
            </a:r>
            <a:r>
              <a:rPr kumimoji="0" lang="en-US" altLang="zh-CN" sz="1800" b="0" i="0" u="none" strike="noStrike" kern="1200" cap="none" spc="0" normalizeH="0" baseline="0" noProof="0" dirty="0">
                <a:ln>
                  <a:noFill/>
                </a:ln>
                <a:solidFill>
                  <a:srgbClr val="000000"/>
                </a:solidFill>
                <a:effectLst/>
                <a:uLnTx/>
                <a:uFillTx/>
                <a:latin typeface="+mn-lt"/>
                <a:ea typeface="+mn-ea"/>
                <a:cs typeface="等线" panose="02010600030101010101" charset="-122"/>
              </a:rPr>
              <a:t>true</a:t>
            </a:r>
            <a:r>
              <a:rPr kumimoji="0" lang="zh-CN" altLang="en-US" sz="1800" b="0" i="0" u="none" strike="noStrike" kern="1200" cap="none" spc="0" normalizeH="0" baseline="0" noProof="0" dirty="0">
                <a:ln>
                  <a:noFill/>
                </a:ln>
                <a:solidFill>
                  <a:srgbClr val="000000"/>
                </a:solidFill>
                <a:effectLst/>
                <a:uLnTx/>
                <a:uFillTx/>
                <a:latin typeface="+mn-lt"/>
                <a:ea typeface="+mn-ea"/>
                <a:cs typeface="等线" panose="02010600030101010101" charset="-122"/>
              </a:rPr>
              <a:t>或都为</a:t>
            </a:r>
            <a:r>
              <a:rPr kumimoji="0" lang="en-US" altLang="zh-CN" sz="1800" b="0" i="0" u="none" strike="noStrike" kern="1200" cap="none" spc="0" normalizeH="0" baseline="0" noProof="0" dirty="0">
                <a:ln>
                  <a:noFill/>
                </a:ln>
                <a:solidFill>
                  <a:srgbClr val="000000"/>
                </a:solidFill>
                <a:effectLst/>
                <a:uLnTx/>
                <a:uFillTx/>
                <a:latin typeface="+mn-lt"/>
                <a:ea typeface="+mn-ea"/>
                <a:cs typeface="等线" panose="02010600030101010101" charset="-122"/>
              </a:rPr>
              <a:t>false</a:t>
            </a:r>
            <a:r>
              <a:rPr kumimoji="0" lang="zh-CN" altLang="en-US" sz="1800" b="0" i="0" u="none" strike="noStrike" kern="1200" cap="none" spc="0" normalizeH="0" baseline="0" noProof="0" dirty="0">
                <a:ln>
                  <a:noFill/>
                </a:ln>
                <a:solidFill>
                  <a:srgbClr val="000000"/>
                </a:solidFill>
                <a:effectLst/>
                <a:uLnTx/>
                <a:uFillTx/>
                <a:latin typeface="+mn-lt"/>
                <a:ea typeface="+mn-ea"/>
                <a:cs typeface="等线" panose="02010600030101010101" charset="-122"/>
              </a:rPr>
              <a:t>），其结果为</a:t>
            </a:r>
            <a:r>
              <a:rPr kumimoji="0" lang="en-US" altLang="zh-CN" sz="1800" b="0" i="0" u="none" strike="noStrike" kern="1200" cap="none" spc="0" normalizeH="0" baseline="0" noProof="0" dirty="0">
                <a:ln>
                  <a:noFill/>
                </a:ln>
                <a:solidFill>
                  <a:srgbClr val="000000"/>
                </a:solidFill>
                <a:effectLst/>
                <a:uLnTx/>
                <a:uFillTx/>
                <a:latin typeface="+mn-lt"/>
                <a:ea typeface="+mn-ea"/>
                <a:cs typeface="等线" panose="02010600030101010101" charset="-122"/>
              </a:rPr>
              <a:t>false</a:t>
            </a:r>
            <a:r>
              <a:rPr kumimoji="0" lang="zh-CN" altLang="en-US" sz="1800" b="0" i="0" u="none" strike="noStrike" kern="1200" cap="none" spc="0" normalizeH="0" baseline="0" noProof="0" dirty="0">
                <a:ln>
                  <a:noFill/>
                </a:ln>
                <a:solidFill>
                  <a:srgbClr val="000000"/>
                </a:solidFill>
                <a:effectLst/>
                <a:uLnTx/>
                <a:uFillTx/>
                <a:latin typeface="+mn-lt"/>
                <a:ea typeface="+mn-ea"/>
                <a:cs typeface="等线" panose="02010600030101010101" charset="-122"/>
              </a:rPr>
              <a:t>。当两边布尔值不相同时，其结果为</a:t>
            </a:r>
            <a:r>
              <a:rPr kumimoji="0" lang="en-US" altLang="zh-CN" sz="1800" b="0" i="0" u="none" strike="noStrike" kern="1200" cap="none" spc="0" normalizeH="0" baseline="0" noProof="0" dirty="0">
                <a:ln>
                  <a:noFill/>
                </a:ln>
                <a:solidFill>
                  <a:srgbClr val="000000"/>
                </a:solidFill>
                <a:effectLst/>
                <a:uLnTx/>
                <a:uFillTx/>
                <a:latin typeface="+mn-lt"/>
                <a:ea typeface="+mn-ea"/>
                <a:cs typeface="等线" panose="02010600030101010101" charset="-122"/>
              </a:rPr>
              <a:t>true</a:t>
            </a:r>
            <a:r>
              <a:rPr kumimoji="0" lang="zh-CN" altLang="en-US" sz="1800" b="0" i="0" u="none" strike="noStrike" kern="1200" cap="none" spc="0" normalizeH="0" baseline="0" noProof="0" dirty="0">
                <a:ln>
                  <a:noFill/>
                </a:ln>
                <a:solidFill>
                  <a:srgbClr val="000000"/>
                </a:solidFill>
                <a:effectLst/>
                <a:uLnTx/>
                <a:uFillTx/>
                <a:latin typeface="+mn-lt"/>
                <a:ea typeface="+mn-ea"/>
                <a:cs typeface="等线" panose="02010600030101010101" charset="-122"/>
              </a:rPr>
              <a:t>。</a:t>
            </a:r>
            <a:endParaRPr kumimoji="0" lang="zh-CN" altLang="en-US" sz="1800" b="0" i="0" u="none" strike="noStrike" kern="1200" cap="none" spc="0" normalizeH="0" baseline="0" noProof="0" dirty="0">
              <a:ln>
                <a:noFill/>
              </a:ln>
              <a:solidFill>
                <a:srgbClr val="000000"/>
              </a:solidFill>
              <a:effectLst/>
              <a:uLnTx/>
              <a:uFillTx/>
              <a:latin typeface="+mn-lt"/>
              <a:ea typeface="+mn-ea"/>
              <a:cs typeface="等线" panose="02010600030101010101" charset="-122"/>
            </a:endParaRPr>
          </a:p>
          <a:p>
            <a:pPr marL="685800" marR="0" lvl="1" indent="-228600" algn="l" defTabSz="914400" rtl="0" eaLnBrk="1" fontAlgn="base" latinLnBrk="0" hangingPunct="1">
              <a:lnSpc>
                <a:spcPct val="150000"/>
              </a:lnSpc>
              <a:spcBef>
                <a:spcPts val="500"/>
              </a:spcBef>
              <a:spcAft>
                <a:spcPct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等线" panose="02010600030101010101" charset="-122"/>
            </a:endParaRPr>
          </a:p>
        </p:txBody>
      </p:sp>
      <p:sp>
        <p:nvSpPr>
          <p:cNvPr id="4"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2.3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中的运算符</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8372"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内容占位符 2"/>
          <p:cNvSpPr>
            <a:spLocks noGrp="1"/>
          </p:cNvSpPr>
          <p:nvPr>
            <p:ph idx="1"/>
          </p:nvPr>
        </p:nvSpPr>
        <p:spPr>
          <a:xfrm>
            <a:off x="338138" y="1790700"/>
            <a:ext cx="8229600" cy="4451350"/>
          </a:xfrm>
          <a:ln>
            <a:solidFill>
              <a:srgbClr val="009ED6">
                <a:alpha val="100000"/>
              </a:srgbClr>
            </a:solidFill>
            <a:miter lim="800000"/>
          </a:ln>
        </p:spPr>
        <p:txBody>
          <a:bodyPr vert="horz" wrap="square" lIns="91440" tIns="45720" rIns="91440" bIns="45720" anchor="t" anchorCtr="0"/>
          <a:p>
            <a:pPr lvl="1" eaLnBrk="1" hangingPunct="1">
              <a:buFont typeface="Wingdings" panose="05000000000000000000" pitchFamily="2" charset="2"/>
              <a:buChar char="Ø"/>
            </a:pPr>
            <a:r>
              <a:rPr lang="zh-CN" altLang="zh-CN" kern="1200" dirty="0">
                <a:latin typeface="+mn-lt"/>
                <a:ea typeface="+mn-ea"/>
                <a:cs typeface="等线" panose="02010600030101010101" charset="-122"/>
              </a:rPr>
              <a:t>在对一些比较复杂的表达式进行运算时，要明确表达式中所有运算符参与运算的先后顺序，把这种顺序称作运算符的优先级。</a:t>
            </a:r>
            <a:endParaRPr lang="zh-CN" altLang="en-US" kern="1200" dirty="0">
              <a:latin typeface="+mn-lt"/>
              <a:ea typeface="+mn-ea"/>
              <a:cs typeface="等线" panose="02010600030101010101" charset="-122"/>
            </a:endParaRPr>
          </a:p>
        </p:txBody>
      </p:sp>
      <p:sp>
        <p:nvSpPr>
          <p:cNvPr id="5" name="剪去对角的矩形 4"/>
          <p:cNvSpPr/>
          <p:nvPr/>
        </p:nvSpPr>
        <p:spPr bwMode="auto">
          <a:xfrm>
            <a:off x="5016500" y="1084263"/>
            <a:ext cx="3454400"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9396" name="矩形 6"/>
          <p:cNvSpPr/>
          <p:nvPr/>
        </p:nvSpPr>
        <p:spPr>
          <a:xfrm>
            <a:off x="5511800" y="1084263"/>
            <a:ext cx="2820988" cy="5905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35000"/>
              </a:lnSpc>
              <a:spcBef>
                <a:spcPct val="0"/>
              </a:spcBef>
              <a:buNone/>
            </a:pPr>
            <a:r>
              <a:rPr lang="zh-CN" altLang="en-US" sz="2400" dirty="0">
                <a:solidFill>
                  <a:srgbClr val="00B0F0"/>
                </a:solidFill>
                <a:latin typeface="黑体" panose="02010609060101010101" pitchFamily="49" charset="-122"/>
                <a:ea typeface="黑体" panose="02010609060101010101" pitchFamily="49" charset="-122"/>
              </a:rPr>
              <a:t>运算符的优先级</a:t>
            </a:r>
            <a:endParaRPr lang="zh-CN" altLang="zh-CN" sz="2400" dirty="0">
              <a:solidFill>
                <a:srgbClr val="00B0F0"/>
              </a:solidFill>
              <a:latin typeface="黑体" panose="02010609060101010101" pitchFamily="49" charset="-122"/>
              <a:ea typeface="黑体" panose="02010609060101010101" pitchFamily="49" charset="-122"/>
            </a:endParaRPr>
          </a:p>
        </p:txBody>
      </p:sp>
      <p:pic>
        <p:nvPicPr>
          <p:cNvPr id="59397" name="Picture 7"/>
          <p:cNvPicPr>
            <a:picLocks noChangeAspect="1"/>
          </p:cNvPicPr>
          <p:nvPr/>
        </p:nvPicPr>
        <p:blipFill>
          <a:blip r:embed="rId1"/>
          <a:stretch>
            <a:fillRect/>
          </a:stretch>
        </p:blipFill>
        <p:spPr>
          <a:xfrm>
            <a:off x="2119313" y="2986088"/>
            <a:ext cx="4905375" cy="3067050"/>
          </a:xfrm>
          <a:prstGeom prst="rect">
            <a:avLst/>
          </a:prstGeom>
          <a:noFill/>
          <a:ln w="9525">
            <a:noFill/>
          </a:ln>
        </p:spPr>
      </p:pic>
      <p:sp>
        <p:nvSpPr>
          <p:cNvPr id="7"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2.3 Java</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中的运算符</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59399"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TextBox 2"/>
          <p:cNvSpPr txBox="1"/>
          <p:nvPr/>
        </p:nvSpPr>
        <p:spPr>
          <a:xfrm>
            <a:off x="0" y="928688"/>
            <a:ext cx="9144000" cy="531653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50000"/>
              </a:lnSpc>
              <a:spcBef>
                <a:spcPct val="0"/>
              </a:spcBef>
              <a:buBlip>
                <a:blip r:embed="rId1"/>
              </a:buBlip>
            </a:pPr>
            <a:r>
              <a:rPr lang="zh-CN" altLang="en-US" sz="2400" dirty="0">
                <a:ea typeface="宋体" panose="02010600030101010101" pitchFamily="2" charset="-122"/>
              </a:rPr>
              <a:t>  “</a:t>
            </a:r>
            <a:r>
              <a:rPr lang="en-US" altLang="zh-CN" sz="2400" dirty="0">
                <a:ea typeface="宋体" panose="02010600030101010101" pitchFamily="2" charset="-122"/>
              </a:rPr>
              <a:t>+</a:t>
            </a:r>
            <a:r>
              <a:rPr lang="zh-CN" altLang="en-US" sz="2400" dirty="0">
                <a:ea typeface="宋体" panose="02010600030101010101" pitchFamily="2" charset="-122"/>
              </a:rPr>
              <a:t>”除做加法运算符外，还可以做字符串连接符</a:t>
            </a:r>
            <a:endParaRPr lang="en-US" altLang="zh-CN" sz="2400" dirty="0">
              <a:ea typeface="宋体" panose="02010600030101010101" pitchFamily="2" charset="-122"/>
            </a:endParaRPr>
          </a:p>
          <a:p>
            <a:pPr marL="457200" lvl="1" indent="0" eaLnBrk="1" hangingPunct="1">
              <a:lnSpc>
                <a:spcPct val="150000"/>
              </a:lnSpc>
              <a:spcBef>
                <a:spcPct val="0"/>
              </a:spcBef>
              <a:buBlip>
                <a:blip r:embed="rId1"/>
              </a:buBlip>
            </a:pPr>
            <a:r>
              <a:rPr lang="en-US" altLang="zh-CN" dirty="0">
                <a:ea typeface="宋体" panose="02010600030101010101" pitchFamily="2" charset="-122"/>
              </a:rPr>
              <a:t>  </a:t>
            </a:r>
            <a:r>
              <a:rPr lang="zh-CN" altLang="en-US" dirty="0">
                <a:ea typeface="宋体" panose="02010600030101010101" pitchFamily="2" charset="-122"/>
              </a:rPr>
              <a:t>例如：</a:t>
            </a:r>
            <a:endParaRPr lang="en-US" altLang="zh-CN" dirty="0">
              <a:ea typeface="宋体" panose="02010600030101010101" pitchFamily="2" charset="-122"/>
            </a:endParaRPr>
          </a:p>
          <a:p>
            <a:pPr marL="0" lvl="0" indent="0" eaLnBrk="1" hangingPunct="1">
              <a:lnSpc>
                <a:spcPts val="3500"/>
              </a:lnSpc>
              <a:spcBef>
                <a:spcPct val="0"/>
              </a:spcBef>
              <a:buNone/>
            </a:pPr>
            <a:r>
              <a:rPr lang="en-US" altLang="zh-CN" sz="2400" dirty="0">
                <a:ea typeface="宋体" panose="02010600030101010101" pitchFamily="2" charset="-122"/>
              </a:rPr>
              <a:t>                   int i=33+35;</a:t>
            </a:r>
            <a:endParaRPr lang="en-US" altLang="zh-CN" sz="2400" dirty="0">
              <a:ea typeface="宋体" panose="02010600030101010101" pitchFamily="2" charset="-122"/>
            </a:endParaRPr>
          </a:p>
          <a:p>
            <a:pPr marL="0" lvl="0" indent="0" eaLnBrk="1" hangingPunct="1">
              <a:lnSpc>
                <a:spcPts val="3500"/>
              </a:lnSpc>
              <a:spcBef>
                <a:spcPct val="0"/>
              </a:spcBef>
              <a:buNone/>
            </a:pPr>
            <a:r>
              <a:rPr lang="en-US" altLang="zh-CN" sz="2400" dirty="0">
                <a:ea typeface="宋体" panose="02010600030101010101" pitchFamily="2" charset="-122"/>
              </a:rPr>
              <a:t>                   String k=“hello”+”world”</a:t>
            </a:r>
            <a:endParaRPr lang="en-US" altLang="zh-CN" sz="2400" dirty="0">
              <a:ea typeface="宋体" panose="02010600030101010101" pitchFamily="2" charset="-122"/>
            </a:endParaRPr>
          </a:p>
          <a:p>
            <a:pPr marL="0" lvl="0" indent="0" eaLnBrk="1" hangingPunct="1">
              <a:lnSpc>
                <a:spcPts val="3500"/>
              </a:lnSpc>
              <a:spcBef>
                <a:spcPct val="0"/>
              </a:spcBef>
              <a:buNone/>
            </a:pPr>
            <a:r>
              <a:rPr lang="en-US" altLang="zh-CN" sz="2400" dirty="0">
                <a:ea typeface="宋体" panose="02010600030101010101" pitchFamily="2" charset="-122"/>
              </a:rPr>
              <a:t>                   String s=“hello”+3;</a:t>
            </a:r>
            <a:endParaRPr lang="en-US" altLang="zh-CN" sz="2400" dirty="0">
              <a:ea typeface="宋体" panose="02010600030101010101" pitchFamily="2" charset="-122"/>
            </a:endParaRPr>
          </a:p>
          <a:p>
            <a:pPr marL="0" lvl="0" indent="0" eaLnBrk="1" hangingPunct="1">
              <a:lnSpc>
                <a:spcPct val="150000"/>
              </a:lnSpc>
              <a:spcBef>
                <a:spcPct val="0"/>
              </a:spcBef>
              <a:buBlip>
                <a:blip r:embed="rId1"/>
              </a:buBlip>
            </a:pPr>
            <a:r>
              <a:rPr lang="en-US" altLang="zh-CN" sz="2400" dirty="0">
                <a:ea typeface="宋体" panose="02010600030101010101" pitchFamily="2" charset="-122"/>
              </a:rPr>
              <a:t>  “+”</a:t>
            </a:r>
            <a:r>
              <a:rPr lang="zh-CN" altLang="en-US" sz="2400" b="1" dirty="0">
                <a:solidFill>
                  <a:srgbClr val="FF0000"/>
                </a:solidFill>
                <a:ea typeface="宋体" panose="02010600030101010101" pitchFamily="2" charset="-122"/>
              </a:rPr>
              <a:t>两侧的操作数只要有一个是字符串类型</a:t>
            </a:r>
            <a:r>
              <a:rPr lang="zh-CN" altLang="en-US" sz="2400" dirty="0">
                <a:ea typeface="宋体" panose="02010600030101010101" pitchFamily="2" charset="-122"/>
              </a:rPr>
              <a:t>，系统会自动将另</a:t>
            </a:r>
            <a:endParaRPr lang="en-US" altLang="zh-CN" sz="2400" dirty="0">
              <a:ea typeface="宋体" panose="02010600030101010101" pitchFamily="2" charset="-122"/>
            </a:endParaRPr>
          </a:p>
          <a:p>
            <a:pPr marL="0" lvl="0" indent="0" eaLnBrk="1" hangingPunct="1">
              <a:lnSpc>
                <a:spcPct val="150000"/>
              </a:lnSpc>
              <a:spcBef>
                <a:spcPct val="0"/>
              </a:spcBef>
              <a:buNone/>
            </a:pPr>
            <a:r>
              <a:rPr lang="en-US" altLang="zh-CN" sz="2400" dirty="0">
                <a:ea typeface="宋体" panose="02010600030101010101" pitchFamily="2" charset="-122"/>
              </a:rPr>
              <a:t>      </a:t>
            </a:r>
            <a:r>
              <a:rPr lang="zh-CN" altLang="en-US" sz="2400" dirty="0">
                <a:ea typeface="宋体" panose="02010600030101010101" pitchFamily="2" charset="-122"/>
              </a:rPr>
              <a:t>一个操作数转换为字符串然后再进行连接。</a:t>
            </a:r>
            <a:endParaRPr lang="en-US" altLang="zh-CN" sz="2400" dirty="0">
              <a:ea typeface="宋体" panose="02010600030101010101" pitchFamily="2" charset="-122"/>
            </a:endParaRPr>
          </a:p>
          <a:p>
            <a:pPr marL="457200" lvl="1" indent="0" eaLnBrk="1" hangingPunct="1">
              <a:lnSpc>
                <a:spcPct val="150000"/>
              </a:lnSpc>
              <a:spcBef>
                <a:spcPct val="0"/>
              </a:spcBef>
              <a:buBlip>
                <a:blip r:embed="rId1"/>
              </a:buBlip>
            </a:pPr>
            <a:r>
              <a:rPr lang="en-US" altLang="zh-CN" dirty="0">
                <a:ea typeface="宋体" panose="02010600030101010101" pitchFamily="2" charset="-122"/>
              </a:rPr>
              <a:t>  </a:t>
            </a:r>
            <a:r>
              <a:rPr lang="zh-CN" altLang="en-US" dirty="0">
                <a:ea typeface="宋体" panose="02010600030101010101" pitchFamily="2" charset="-122"/>
              </a:rPr>
              <a:t>例：</a:t>
            </a:r>
            <a:endParaRPr lang="en-US" altLang="zh-CN" dirty="0">
              <a:ea typeface="宋体" panose="02010600030101010101" pitchFamily="2" charset="-122"/>
            </a:endParaRPr>
          </a:p>
          <a:p>
            <a:pPr marL="0" lvl="0" indent="0" eaLnBrk="1" hangingPunct="1">
              <a:lnSpc>
                <a:spcPct val="150000"/>
              </a:lnSpc>
              <a:spcBef>
                <a:spcPct val="0"/>
              </a:spcBef>
              <a:buNone/>
            </a:pPr>
            <a:r>
              <a:rPr lang="en-US" altLang="zh-CN" sz="2400" dirty="0">
                <a:ea typeface="宋体" panose="02010600030101010101" pitchFamily="2" charset="-122"/>
              </a:rPr>
              <a:t>                 String s1=“hello”+3+5;</a:t>
            </a:r>
            <a:endParaRPr lang="en-US" altLang="zh-CN" sz="2400" dirty="0">
              <a:ea typeface="宋体" panose="02010600030101010101" pitchFamily="2" charset="-122"/>
            </a:endParaRPr>
          </a:p>
          <a:p>
            <a:pPr marL="0" lvl="0" indent="0" eaLnBrk="1" hangingPunct="1">
              <a:lnSpc>
                <a:spcPct val="150000"/>
              </a:lnSpc>
              <a:spcBef>
                <a:spcPct val="0"/>
              </a:spcBef>
              <a:buNone/>
            </a:pPr>
            <a:r>
              <a:rPr lang="en-US" altLang="zh-CN" sz="2400" dirty="0">
                <a:ea typeface="宋体" panose="02010600030101010101" pitchFamily="2" charset="-122"/>
              </a:rPr>
              <a:t>                 String  s2=3+5+”hello”;</a:t>
            </a:r>
            <a:endParaRPr lang="en-US" altLang="zh-CN" sz="2400" dirty="0">
              <a:ea typeface="宋体" panose="02010600030101010101" pitchFamily="2" charset="-122"/>
            </a:endParaRPr>
          </a:p>
        </p:txBody>
      </p:sp>
      <p:sp>
        <p:nvSpPr>
          <p:cNvPr id="60419" name="矩形 3"/>
          <p:cNvSpPr/>
          <p:nvPr/>
        </p:nvSpPr>
        <p:spPr>
          <a:xfrm>
            <a:off x="1674813" y="142875"/>
            <a:ext cx="3262312" cy="708025"/>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zh-CN" altLang="en-US" sz="4000" b="1" dirty="0">
                <a:solidFill>
                  <a:schemeClr val="accent1"/>
                </a:solidFill>
                <a:ea typeface="宋体" panose="02010600030101010101" pitchFamily="2" charset="-122"/>
              </a:rPr>
              <a:t>字符串连接符</a:t>
            </a:r>
            <a:endParaRPr lang="zh-CN" altLang="en-US" sz="4000" b="1" dirty="0">
              <a:solidFill>
                <a:schemeClr val="accent1"/>
              </a:solidFill>
              <a:ea typeface="宋体" panose="02010600030101010101" pitchFamily="2" charset="-122"/>
            </a:endParaRPr>
          </a:p>
        </p:txBody>
      </p:sp>
      <p:sp>
        <p:nvSpPr>
          <p:cNvPr id="60420"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dirty="0">
                <a:solidFill>
                  <a:srgbClr val="898989"/>
                </a:solidFill>
                <a:latin typeface="Arial" panose="020B0604020202020204" pitchFamily="34" charset="0"/>
                <a:ea typeface="宋体" panose="02010600030101010101" pitchFamily="2" charset="-122"/>
              </a:rPr>
            </a:fld>
            <a:endParaRPr lang="zh-CN" altLang="en-US" sz="1200" dirty="0">
              <a:solidFill>
                <a:srgbClr val="898989"/>
              </a:solidFill>
              <a:latin typeface="Arial" panose="020B0604020202020204" pitchFamily="34" charset="0"/>
              <a:ea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TextBox 3"/>
          <p:cNvSpPr txBox="1"/>
          <p:nvPr/>
        </p:nvSpPr>
        <p:spPr>
          <a:xfrm>
            <a:off x="1770063" y="142875"/>
            <a:ext cx="4530725" cy="646113"/>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00000"/>
              </a:lnSpc>
              <a:spcBef>
                <a:spcPct val="0"/>
              </a:spcBef>
              <a:buNone/>
            </a:pPr>
            <a:r>
              <a:rPr lang="zh-CN" altLang="en-US" sz="3600" b="1" dirty="0">
                <a:solidFill>
                  <a:schemeClr val="accent1"/>
                </a:solidFill>
                <a:ea typeface="宋体" panose="02010600030101010101" pitchFamily="2" charset="-122"/>
              </a:rPr>
              <a:t>格式应该注意的问题</a:t>
            </a:r>
            <a:endParaRPr lang="zh-CN" altLang="en-US" sz="3600" b="1" dirty="0">
              <a:solidFill>
                <a:schemeClr val="accent1"/>
              </a:solidFill>
              <a:ea typeface="宋体" panose="02010600030101010101" pitchFamily="2" charset="-122"/>
            </a:endParaRPr>
          </a:p>
        </p:txBody>
      </p:sp>
      <p:pic>
        <p:nvPicPr>
          <p:cNvPr id="61443" name="Picture 3"/>
          <p:cNvPicPr>
            <a:picLocks noChangeAspect="1"/>
          </p:cNvPicPr>
          <p:nvPr/>
        </p:nvPicPr>
        <p:blipFill>
          <a:blip r:embed="rId1"/>
          <a:stretch>
            <a:fillRect/>
          </a:stretch>
        </p:blipFill>
        <p:spPr>
          <a:xfrm>
            <a:off x="2028825" y="1508125"/>
            <a:ext cx="3795713" cy="2978150"/>
          </a:xfrm>
          <a:prstGeom prst="rect">
            <a:avLst/>
          </a:prstGeom>
          <a:noFill/>
          <a:ln w="9525">
            <a:noFill/>
          </a:ln>
        </p:spPr>
      </p:pic>
      <p:sp>
        <p:nvSpPr>
          <p:cNvPr id="61444"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dirty="0">
                <a:solidFill>
                  <a:srgbClr val="898989"/>
                </a:solidFill>
                <a:latin typeface="Arial" panose="020B0604020202020204" pitchFamily="34" charset="0"/>
                <a:ea typeface="宋体" panose="02010600030101010101" pitchFamily="2" charset="-122"/>
              </a:rPr>
            </a:fld>
            <a:endParaRPr lang="zh-CN" altLang="en-US" sz="1200" dirty="0">
              <a:solidFill>
                <a:srgbClr val="898989"/>
              </a:solidFill>
              <a:latin typeface="Arial" panose="020B0604020202020204" pitchFamily="34" charset="0"/>
              <a:ea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内容占位符 2"/>
          <p:cNvSpPr>
            <a:spLocks noGrp="1" noChangeArrowheads="1"/>
          </p:cNvSpPr>
          <p:nvPr>
            <p:ph idx="1"/>
          </p:nvPr>
        </p:nvSpPr>
        <p:spPr>
          <a:xfrm>
            <a:off x="350838" y="1944688"/>
            <a:ext cx="8229600" cy="3144838"/>
          </a:xfrm>
          <a:ln>
            <a:solidFill>
              <a:srgbClr val="009ED6"/>
            </a:solidFill>
            <a:miter lim="800000"/>
          </a:ln>
        </p:spPr>
        <p:txBody>
          <a:bodyPr vert="horz" wrap="square" lIns="91440" tIns="45720" rIns="91440" bIns="45720" numCol="1" anchor="t" anchorCtr="0" compatLnSpc="1"/>
          <a:lstStyle/>
          <a:p>
            <a:pPr marL="685800" marR="0" lvl="1" indent="-228600" algn="l" defTabSz="914400" rtl="0" eaLnBrk="1" fontAlgn="base" latinLnBrk="0" hangingPunct="1">
              <a:lnSpc>
                <a:spcPct val="150000"/>
              </a:lnSpc>
              <a:spcBef>
                <a:spcPts val="500"/>
              </a:spcBef>
              <a:spcAft>
                <a:spcPct val="0"/>
              </a:spcAft>
              <a:buClrTx/>
              <a:buSzTx/>
              <a:buFont typeface="Wingdings" panose="05000000000000000000" pitchFamily="2" charset="2"/>
              <a:buChar char="Ø"/>
              <a:defRPr/>
            </a:pPr>
            <a:r>
              <a:rPr kumimoji="0" lang="en-US" altLang="zh-CN" sz="2000" b="0" i="0" u="none" strike="noStrike" kern="1200" cap="none" spc="0" normalizeH="0" baseline="0" noProof="0" dirty="0">
                <a:ln>
                  <a:noFill/>
                </a:ln>
                <a:solidFill>
                  <a:schemeClr val="tx1"/>
                </a:solidFill>
                <a:effectLst/>
                <a:uLnTx/>
                <a:uFillTx/>
                <a:latin typeface="+mn-lt"/>
                <a:ea typeface="+mn-ea"/>
                <a:cs typeface="等线" panose="02010600030101010101" charset="-122"/>
              </a:rPr>
              <a:t>if</a:t>
            </a:r>
            <a:r>
              <a:rPr kumimoji="0" lang="zh-CN" altLang="zh-CN" sz="2000" b="0" i="0" u="none" strike="noStrike" kern="1200" cap="none" spc="0" normalizeH="0" baseline="0" noProof="0" dirty="0">
                <a:ln>
                  <a:noFill/>
                </a:ln>
                <a:solidFill>
                  <a:schemeClr val="tx1"/>
                </a:solidFill>
                <a:effectLst/>
                <a:uLnTx/>
                <a:uFillTx/>
                <a:latin typeface="+mn-lt"/>
                <a:ea typeface="+mn-ea"/>
                <a:cs typeface="等线" panose="02010600030101010101" charset="-122"/>
              </a:rPr>
              <a:t>条件语句分为三种语法格式，</a:t>
            </a:r>
            <a:r>
              <a:rPr kumimoji="0" lang="zh-CN" altLang="en-US" sz="2000" b="0" i="0" u="none" strike="noStrike" kern="1200" cap="none" spc="0" normalizeH="0" baseline="0" noProof="0" dirty="0">
                <a:ln>
                  <a:noFill/>
                </a:ln>
                <a:solidFill>
                  <a:schemeClr val="tx1"/>
                </a:solidFill>
                <a:effectLst/>
                <a:uLnTx/>
                <a:uFillTx/>
                <a:latin typeface="+mn-lt"/>
                <a:ea typeface="+mn-ea"/>
                <a:cs typeface="等线" panose="02010600030101010101" charset="-122"/>
              </a:rPr>
              <a:t>具体如下：</a:t>
            </a:r>
            <a:endParaRPr kumimoji="0" lang="en-US" altLang="zh-CN" sz="2000" b="0" i="0" u="none" strike="noStrike" kern="1200" cap="none" spc="0" normalizeH="0" baseline="0" noProof="0" dirty="0">
              <a:ln>
                <a:noFill/>
              </a:ln>
              <a:solidFill>
                <a:schemeClr val="tx1"/>
              </a:solidFill>
              <a:effectLst/>
              <a:uLnTx/>
              <a:uFillTx/>
              <a:latin typeface="+mn-lt"/>
              <a:ea typeface="+mn-ea"/>
              <a:cs typeface="等线" panose="02010600030101010101" charset="-122"/>
            </a:endParaRPr>
          </a:p>
          <a:p>
            <a:pPr marL="457200" marR="0" lvl="1" indent="0" algn="l" defTabSz="914400" rtl="0" eaLnBrk="1" fontAlgn="base" latinLnBrk="0" hangingPunct="1">
              <a:lnSpc>
                <a:spcPct val="150000"/>
              </a:lnSpc>
              <a:spcBef>
                <a:spcPts val="50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1</a:t>
            </a:r>
            <a:r>
              <a:rPr kumimoji="0" lang="zh-CN" altLang="en-US"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if</a:t>
            </a:r>
            <a:r>
              <a:rPr kumimoji="0" lang="zh-CN" altLang="en-US" sz="1800" b="0" i="0" u="none" strike="noStrike" kern="1200" cap="none" spc="0" normalizeH="0" baseline="0" noProof="0" dirty="0">
                <a:ln>
                  <a:noFill/>
                </a:ln>
                <a:solidFill>
                  <a:schemeClr val="tx1"/>
                </a:solidFill>
                <a:effectLst/>
                <a:uLnTx/>
                <a:uFillTx/>
                <a:latin typeface="+mn-lt"/>
                <a:ea typeface="+mn-ea"/>
                <a:cs typeface="等线" panose="02010600030101010101" charset="-122"/>
              </a:rPr>
              <a:t>语句</a:t>
            </a:r>
            <a:endPar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endParaRPr>
          </a:p>
          <a:p>
            <a:pPr marL="457200" marR="0" lvl="1" indent="0" algn="l" defTabSz="914400" rtl="0" eaLnBrk="1" fontAlgn="base" latinLnBrk="0" hangingPunct="1">
              <a:lnSpc>
                <a:spcPct val="150000"/>
              </a:lnSpc>
              <a:spcBef>
                <a:spcPts val="50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2</a:t>
            </a:r>
            <a:r>
              <a:rPr kumimoji="0" lang="zh-CN" altLang="en-US"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if…else</a:t>
            </a:r>
            <a:r>
              <a:rPr kumimoji="0" lang="zh-CN" altLang="en-US" sz="1800" b="0" i="0" u="none" strike="noStrike" kern="1200" cap="none" spc="0" normalizeH="0" baseline="0" noProof="0" dirty="0">
                <a:ln>
                  <a:noFill/>
                </a:ln>
                <a:solidFill>
                  <a:schemeClr val="tx1"/>
                </a:solidFill>
                <a:effectLst/>
                <a:uLnTx/>
                <a:uFillTx/>
                <a:latin typeface="+mn-lt"/>
                <a:ea typeface="+mn-ea"/>
                <a:cs typeface="等线" panose="02010600030101010101" charset="-122"/>
              </a:rPr>
              <a:t>语句</a:t>
            </a:r>
            <a:endPar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endParaRPr>
          </a:p>
          <a:p>
            <a:pPr marL="457200" marR="0" lvl="1" indent="0" algn="l" defTabSz="914400" rtl="0" eaLnBrk="1" fontAlgn="base" latinLnBrk="0" hangingPunct="1">
              <a:lnSpc>
                <a:spcPct val="150000"/>
              </a:lnSpc>
              <a:spcBef>
                <a:spcPts val="50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3</a:t>
            </a:r>
            <a:r>
              <a:rPr kumimoji="0" lang="zh-CN" altLang="en-US"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if…else  if…else</a:t>
            </a:r>
            <a:r>
              <a:rPr kumimoji="0" lang="zh-CN" altLang="en-US" sz="1800" b="0" i="0" u="none" strike="noStrike" kern="1200" cap="none" spc="0" normalizeH="0" baseline="0" noProof="0" dirty="0">
                <a:ln>
                  <a:noFill/>
                </a:ln>
                <a:solidFill>
                  <a:schemeClr val="tx1"/>
                </a:solidFill>
                <a:effectLst/>
                <a:uLnTx/>
                <a:uFillTx/>
                <a:latin typeface="+mn-lt"/>
                <a:ea typeface="+mn-ea"/>
                <a:cs typeface="等线" panose="02010600030101010101" charset="-122"/>
              </a:rPr>
              <a:t>语句</a:t>
            </a:r>
            <a:endPar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endParaRPr>
          </a:p>
          <a:p>
            <a:pPr marL="685800" marR="0" lvl="1" indent="-228600" algn="l" defTabSz="914400" rtl="0" eaLnBrk="1" fontAlgn="base" latinLnBrk="0" hangingPunct="1">
              <a:lnSpc>
                <a:spcPct val="150000"/>
              </a:lnSpc>
              <a:spcBef>
                <a:spcPts val="500"/>
              </a:spcBef>
              <a:spcAft>
                <a:spcPct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solidFill>
                <a:effectLst/>
                <a:uLnTx/>
                <a:uFillTx/>
                <a:latin typeface="+mn-lt"/>
                <a:ea typeface="+mn-ea"/>
                <a:cs typeface="等线" panose="02010600030101010101" charset="-122"/>
              </a:rPr>
              <a:t>由于这三种语法格式都有自身的特点，因此，接下来将针对这三种格式进行详细地讲解。</a:t>
            </a:r>
            <a:endParaRPr kumimoji="0" lang="en-US" altLang="zh-CN" sz="2000" b="0" i="0" u="none" strike="noStrike" kern="1200" cap="none" spc="0" normalizeH="0" baseline="0" noProof="0" dirty="0">
              <a:ln>
                <a:noFill/>
              </a:ln>
              <a:solidFill>
                <a:schemeClr val="tx1"/>
              </a:solidFill>
              <a:effectLst/>
              <a:uLnTx/>
              <a:uFillTx/>
              <a:latin typeface="+mn-lt"/>
              <a:ea typeface="+mn-ea"/>
              <a:cs typeface="等线" panose="02010600030101010101" charset="-122"/>
            </a:endParaRPr>
          </a:p>
        </p:txBody>
      </p:sp>
      <p:sp>
        <p:nvSpPr>
          <p:cNvPr id="4" name="剪去对角的矩形 3"/>
          <p:cNvSpPr/>
          <p:nvPr/>
        </p:nvSpPr>
        <p:spPr bwMode="auto">
          <a:xfrm>
            <a:off x="5016500" y="1084263"/>
            <a:ext cx="3454400"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2468" name="矩形 4"/>
          <p:cNvSpPr/>
          <p:nvPr/>
        </p:nvSpPr>
        <p:spPr>
          <a:xfrm>
            <a:off x="5846763" y="1084263"/>
            <a:ext cx="2065337" cy="5905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35000"/>
              </a:lnSpc>
              <a:spcBef>
                <a:spcPct val="0"/>
              </a:spcBef>
              <a:buNone/>
            </a:pPr>
            <a:r>
              <a:rPr lang="en-US" altLang="zh-CN" sz="2400" dirty="0">
                <a:solidFill>
                  <a:srgbClr val="00B0F0"/>
                </a:solidFill>
                <a:latin typeface="黑体" panose="02010609060101010101" pitchFamily="49" charset="-122"/>
                <a:ea typeface="黑体" panose="02010609060101010101" pitchFamily="49" charset="-122"/>
              </a:rPr>
              <a:t>if</a:t>
            </a:r>
            <a:r>
              <a:rPr lang="zh-CN" altLang="en-US" sz="2400" dirty="0">
                <a:solidFill>
                  <a:srgbClr val="00B0F0"/>
                </a:solidFill>
                <a:latin typeface="黑体" panose="02010609060101010101" pitchFamily="49" charset="-122"/>
                <a:ea typeface="黑体" panose="02010609060101010101" pitchFamily="49" charset="-122"/>
              </a:rPr>
              <a:t>条件语句</a:t>
            </a:r>
            <a:endParaRPr lang="zh-CN" altLang="zh-CN" sz="2400" dirty="0">
              <a:solidFill>
                <a:srgbClr val="00B0F0"/>
              </a:solidFill>
              <a:latin typeface="黑体" panose="02010609060101010101" pitchFamily="49" charset="-122"/>
              <a:ea typeface="黑体" panose="02010609060101010101" pitchFamily="49" charset="-122"/>
            </a:endParaRPr>
          </a:p>
        </p:txBody>
      </p:sp>
      <p:sp>
        <p:nvSpPr>
          <p:cNvPr id="6"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2.4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选择结构语句</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62470"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3" name="内容占位符 2"/>
          <p:cNvSpPr>
            <a:spLocks noGrp="1"/>
          </p:cNvSpPr>
          <p:nvPr>
            <p:ph idx="1"/>
          </p:nvPr>
        </p:nvSpPr>
        <p:spPr>
          <a:xfrm>
            <a:off x="350838" y="1120775"/>
            <a:ext cx="8229600" cy="4383088"/>
          </a:xfrm>
          <a:ln>
            <a:solidFill>
              <a:srgbClr val="009ED6"/>
            </a:solidFill>
            <a:miter lim="800000"/>
          </a:ln>
        </p:spPr>
        <p:txBody>
          <a:bodyPr vert="horz" wrap="square" lIns="91440" tIns="45720" rIns="91440" bIns="45720" numCol="1" rtlCol="0" anchor="t" anchorCtr="0" compatLnSpc="1">
            <a:normAutofit lnSpcReduction="10000"/>
          </a:bodyPr>
          <a:lstStyle/>
          <a:p>
            <a:pPr marL="457200" marR="0" lvl="1" indent="0" algn="l" defTabSz="914400" rtl="0" eaLnBrk="1" fontAlgn="auto" latinLnBrk="0" hangingPunct="1">
              <a:lnSpc>
                <a:spcPct val="200000"/>
              </a:lnSpc>
              <a:spcBef>
                <a:spcPts val="500"/>
              </a:spcBef>
              <a:spcAft>
                <a:spcPts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1</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if</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语句</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200000"/>
              </a:lnSpc>
              <a:spcBef>
                <a:spcPts val="500"/>
              </a:spcBef>
              <a:spcAft>
                <a:spcPts val="0"/>
              </a:spcAft>
              <a:buClrTx/>
              <a:buSzTx/>
              <a:buFont typeface="Wingdings" panose="05000000000000000000" pitchFamily="2" charset="2"/>
              <a:buChar char="Ø"/>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if</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语句是指如果满足某种条件，就进行某种处理，其语法格式如下所示：</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200000"/>
              </a:lnSpc>
              <a:spcBef>
                <a:spcPts val="500"/>
              </a:spcBef>
              <a:spcAft>
                <a:spcPts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200000"/>
              </a:lnSpc>
              <a:spcBef>
                <a:spcPts val="500"/>
              </a:spcBef>
              <a:spcAft>
                <a:spcPts val="0"/>
              </a:spcAft>
              <a:buClrTx/>
              <a:buSzTx/>
              <a:buFont typeface="Arial" panose="020B0604020202020204" pitchFamily="34" charset="0"/>
              <a:buChar char="•"/>
              <a:defRPr/>
            </a:pP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200000"/>
              </a:lnSpc>
              <a:spcBef>
                <a:spcPts val="500"/>
              </a:spcBef>
              <a:spcAft>
                <a:spcPts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cs"/>
              </a:rPr>
              <a:t>上述语法格式中，判断条件是一个布尔值，当值为</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true</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时，才会执行</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中的语句。</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50000"/>
              </a:lnSpc>
              <a:spcBef>
                <a:spcPts val="500"/>
              </a:spcBef>
              <a:spcAft>
                <a:spcPts val="0"/>
              </a:spcAft>
              <a:buClrTx/>
              <a:buSzTx/>
              <a:buFontTx/>
              <a:buNone/>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63491" name="Picture 2"/>
          <p:cNvPicPr>
            <a:picLocks noChangeAspect="1"/>
          </p:cNvPicPr>
          <p:nvPr/>
        </p:nvPicPr>
        <p:blipFill>
          <a:blip r:embed="rId1"/>
          <a:stretch>
            <a:fillRect/>
          </a:stretch>
        </p:blipFill>
        <p:spPr>
          <a:xfrm>
            <a:off x="2030413" y="2989263"/>
            <a:ext cx="5229225" cy="1181100"/>
          </a:xfrm>
          <a:prstGeom prst="rect">
            <a:avLst/>
          </a:prstGeom>
          <a:noFill/>
          <a:ln w="9525">
            <a:noFill/>
          </a:ln>
        </p:spPr>
      </p:pic>
      <p:sp>
        <p:nvSpPr>
          <p:cNvPr id="63492" name="Rectangle 4"/>
          <p:cNvSpPr/>
          <p:nvPr/>
        </p:nvSpPr>
        <p:spPr>
          <a:xfrm>
            <a:off x="0" y="0"/>
            <a:ext cx="9144000" cy="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endParaRPr lang="zh-CN" altLang="en-US" sz="1800" dirty="0">
              <a:latin typeface="Arial" panose="020B0604020202020204" pitchFamily="34" charset="0"/>
              <a:ea typeface="宋体" panose="02010600030101010101" pitchFamily="2" charset="-122"/>
            </a:endParaRPr>
          </a:p>
        </p:txBody>
      </p:sp>
      <p:sp>
        <p:nvSpPr>
          <p:cNvPr id="6"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2.4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选择结构语句</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63494"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1" name="内容占位符 2"/>
          <p:cNvSpPr>
            <a:spLocks noGrp="1"/>
          </p:cNvSpPr>
          <p:nvPr>
            <p:ph idx="1"/>
          </p:nvPr>
        </p:nvSpPr>
        <p:spPr>
          <a:xfrm>
            <a:off x="457200" y="1138238"/>
            <a:ext cx="8229600" cy="4217988"/>
          </a:xfrm>
          <a:ln>
            <a:solidFill>
              <a:srgbClr val="009ED6"/>
            </a:solidFill>
            <a:miter lim="800000"/>
          </a:ln>
        </p:spPr>
        <p:txBody>
          <a:bodyPr vert="horz" wrap="square" lIns="91440" tIns="45720" rIns="91440" bIns="45720" numCol="1" rtlCol="0" anchor="t" anchorCtr="0" compatLnSpc="1">
            <a:normAutofit/>
          </a:bodyPr>
          <a:lstStyle/>
          <a:p>
            <a:pPr marL="457200" marR="0" lvl="1" indent="0" algn="l" defTabSz="914400" rtl="0" eaLnBrk="1" fontAlgn="auto" latinLnBrk="0" hangingPunct="1">
              <a:lnSpc>
                <a:spcPct val="200000"/>
              </a:lnSpc>
              <a:spcBef>
                <a:spcPts val="500"/>
              </a:spcBef>
              <a:spcAft>
                <a:spcPts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2</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if…else</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语句</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200000"/>
              </a:lnSpc>
              <a:spcBef>
                <a:spcPts val="500"/>
              </a:spcBef>
              <a:spcAft>
                <a:spcPts val="0"/>
              </a:spcAft>
              <a:buClrTx/>
              <a:buSzTx/>
              <a:buFont typeface="Wingdings" panose="05000000000000000000" pitchFamily="2" charset="2"/>
              <a:buChar char="Ø"/>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if…else</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语句是</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指如果满足某种条件，就进行某种处理，否则就进行另一种处理</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，其语法格式如下所示：</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64515" name="Picture 5"/>
          <p:cNvPicPr>
            <a:picLocks noChangeAspect="1"/>
          </p:cNvPicPr>
          <p:nvPr/>
        </p:nvPicPr>
        <p:blipFill>
          <a:blip r:embed="rId1"/>
          <a:stretch>
            <a:fillRect/>
          </a:stretch>
        </p:blipFill>
        <p:spPr>
          <a:xfrm>
            <a:off x="1895475" y="3205163"/>
            <a:ext cx="5353050" cy="1935162"/>
          </a:xfrm>
          <a:prstGeom prst="rect">
            <a:avLst/>
          </a:prstGeom>
          <a:noFill/>
          <a:ln w="9525">
            <a:noFill/>
          </a:ln>
        </p:spPr>
      </p:pic>
      <p:sp>
        <p:nvSpPr>
          <p:cNvPr id="64516" name="Rectangle 7"/>
          <p:cNvSpPr/>
          <p:nvPr/>
        </p:nvSpPr>
        <p:spPr>
          <a:xfrm>
            <a:off x="0" y="0"/>
            <a:ext cx="9144000" cy="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endParaRPr lang="zh-CN" altLang="en-US" sz="1800" dirty="0">
              <a:latin typeface="Arial" panose="020B0604020202020204" pitchFamily="34" charset="0"/>
              <a:ea typeface="宋体" panose="02010600030101010101" pitchFamily="2" charset="-122"/>
            </a:endParaRPr>
          </a:p>
        </p:txBody>
      </p:sp>
      <p:sp>
        <p:nvSpPr>
          <p:cNvPr id="6"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2.4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选择结构语句</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64518"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9" name="内容占位符 2"/>
          <p:cNvSpPr>
            <a:spLocks noGrp="1"/>
          </p:cNvSpPr>
          <p:nvPr>
            <p:ph idx="1"/>
          </p:nvPr>
        </p:nvSpPr>
        <p:spPr>
          <a:xfrm>
            <a:off x="457200" y="1066800"/>
            <a:ext cx="8413750" cy="5368925"/>
          </a:xfrm>
          <a:ln>
            <a:solidFill>
              <a:srgbClr val="009ED6"/>
            </a:solidFill>
            <a:miter lim="800000"/>
          </a:ln>
        </p:spPr>
        <p:txBody>
          <a:bodyPr vert="horz" wrap="square" lIns="91440" tIns="45720" rIns="91440" bIns="45720" numCol="1" rtlCol="0" anchor="t" anchorCtr="0" compatLnSpc="1">
            <a:normAutofit/>
          </a:bodyPr>
          <a:lstStyle/>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zh-CN" altLang="zh-CN" sz="2000" b="0" i="0" u="none" strike="noStrike" kern="1200" cap="none" spc="0" normalizeH="0" baseline="0" noProof="0" dirty="0">
                <a:ln>
                  <a:noFill/>
                </a:ln>
                <a:solidFill>
                  <a:schemeClr val="tx1"/>
                </a:solidFill>
                <a:effectLst/>
                <a:uLnTx/>
                <a:uFillTx/>
                <a:latin typeface="+mn-lt"/>
                <a:ea typeface="+mn-ea"/>
                <a:cs typeface="+mn-cs"/>
              </a:rPr>
              <a:t>在</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Java</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中有一种特殊的运算叫做三元运算，它和</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if-else</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语句类似，语法如下：</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zh-CN" altLang="zh-CN" sz="2000" b="0" i="0" u="none" strike="noStrike" kern="1200" cap="none" spc="0" normalizeH="0" baseline="0" noProof="0" dirty="0">
                <a:ln>
                  <a:noFill/>
                </a:ln>
                <a:solidFill>
                  <a:schemeClr val="tx1"/>
                </a:solidFill>
                <a:effectLst/>
                <a:uLnTx/>
                <a:uFillTx/>
                <a:latin typeface="+mn-lt"/>
                <a:ea typeface="+mn-ea"/>
                <a:cs typeface="+mn-cs"/>
              </a:rPr>
              <a:t>三元运算通常用于对某个变量进行赋值，当判断条件成立时，运算结果为表达式</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1</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的值，否则结果为表达式</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2</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的值。</a:t>
            </a:r>
            <a:endParaRPr kumimoji="0" lang="zh-CN" altLang="zh-CN" sz="20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50000"/>
              </a:lnSpc>
              <a:spcBef>
                <a:spcPts val="1000"/>
              </a:spcBef>
              <a:spcAft>
                <a:spcPts val="0"/>
              </a:spcAft>
              <a:buClrTx/>
              <a:buSzTx/>
              <a:buFontTx/>
              <a:buNone/>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50000"/>
              </a:lnSpc>
              <a:spcBef>
                <a:spcPts val="1000"/>
              </a:spcBef>
              <a:spcAft>
                <a:spcPts val="0"/>
              </a:spcAft>
              <a:buClrTx/>
              <a:buSzTx/>
              <a:buFontTx/>
              <a:buNone/>
              <a:defRPr/>
            </a:pP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defRPr/>
            </a:pPr>
            <a:endParaRPr kumimoji="0" lang="zh-CN" altLang="zh-CN"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80902" name="右箭头 9"/>
          <p:cNvSpPr>
            <a:spLocks noChangeArrowheads="1"/>
          </p:cNvSpPr>
          <p:nvPr/>
        </p:nvSpPr>
        <p:spPr bwMode="auto">
          <a:xfrm>
            <a:off x="3551238" y="4672013"/>
            <a:ext cx="1216025" cy="528638"/>
          </a:xfrm>
          <a:prstGeom prst="rightArrow">
            <a:avLst>
              <a:gd name="adj1" fmla="val 50000"/>
              <a:gd name="adj2" fmla="val 49918"/>
            </a:avLst>
          </a:prstGeom>
          <a:solidFill>
            <a:schemeClr val="bg1">
              <a:lumMod val="85000"/>
            </a:schemeClr>
          </a:solidFill>
          <a:ln w="28575" algn="ctr">
            <a:solidFill>
              <a:schemeClr val="bg1">
                <a:lumMod val="85000"/>
              </a:schemeClr>
            </a:solidFill>
            <a:round/>
          </a:ln>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5540" name="TextBox 1"/>
          <p:cNvSpPr txBox="1"/>
          <p:nvPr/>
        </p:nvSpPr>
        <p:spPr>
          <a:xfrm>
            <a:off x="3551238" y="4368800"/>
            <a:ext cx="1022350" cy="4000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zh-CN" altLang="en-US" sz="2000" dirty="0"/>
              <a:t>等价于</a:t>
            </a:r>
            <a:endParaRPr lang="zh-CN" altLang="en-US" sz="2000" dirty="0"/>
          </a:p>
        </p:txBody>
      </p:sp>
      <p:pic>
        <p:nvPicPr>
          <p:cNvPr id="65541" name="Picture 9"/>
          <p:cNvPicPr>
            <a:picLocks noChangeAspect="1"/>
          </p:cNvPicPr>
          <p:nvPr/>
        </p:nvPicPr>
        <p:blipFill>
          <a:blip r:embed="rId1"/>
          <a:stretch>
            <a:fillRect/>
          </a:stretch>
        </p:blipFill>
        <p:spPr>
          <a:xfrm>
            <a:off x="1795463" y="2143125"/>
            <a:ext cx="6361112" cy="373063"/>
          </a:xfrm>
          <a:prstGeom prst="rect">
            <a:avLst/>
          </a:prstGeom>
          <a:noFill/>
          <a:ln w="9525">
            <a:noFill/>
          </a:ln>
        </p:spPr>
      </p:pic>
      <p:pic>
        <p:nvPicPr>
          <p:cNvPr id="65542" name="Picture 10"/>
          <p:cNvPicPr>
            <a:picLocks noChangeAspect="1"/>
          </p:cNvPicPr>
          <p:nvPr/>
        </p:nvPicPr>
        <p:blipFill>
          <a:blip r:embed="rId2"/>
          <a:stretch>
            <a:fillRect/>
          </a:stretch>
        </p:blipFill>
        <p:spPr>
          <a:xfrm>
            <a:off x="5099050" y="4800600"/>
            <a:ext cx="3478213" cy="271463"/>
          </a:xfrm>
          <a:prstGeom prst="rect">
            <a:avLst/>
          </a:prstGeom>
          <a:noFill/>
          <a:ln w="9525">
            <a:noFill/>
          </a:ln>
        </p:spPr>
      </p:pic>
      <p:pic>
        <p:nvPicPr>
          <p:cNvPr id="65543" name="Picture 11"/>
          <p:cNvPicPr>
            <a:picLocks noChangeAspect="1"/>
          </p:cNvPicPr>
          <p:nvPr/>
        </p:nvPicPr>
        <p:blipFill>
          <a:blip r:embed="rId3"/>
          <a:stretch>
            <a:fillRect/>
          </a:stretch>
        </p:blipFill>
        <p:spPr>
          <a:xfrm>
            <a:off x="1336675" y="3990975"/>
            <a:ext cx="1874838" cy="2124075"/>
          </a:xfrm>
          <a:prstGeom prst="rect">
            <a:avLst/>
          </a:prstGeom>
          <a:noFill/>
          <a:ln w="9525">
            <a:noFill/>
          </a:ln>
        </p:spPr>
      </p:pic>
      <p:sp>
        <p:nvSpPr>
          <p:cNvPr id="9"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    多学一招</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10" name="矩形 9"/>
          <p:cNvSpPr/>
          <p:nvPr/>
        </p:nvSpPr>
        <p:spPr>
          <a:xfrm>
            <a:off x="1611313" y="258763"/>
            <a:ext cx="746125" cy="646113"/>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1200" cap="none" spc="0" normalizeH="0" baseline="0" noProof="0">
                <a:ln>
                  <a:noFill/>
                </a:ln>
                <a:solidFill>
                  <a:schemeClr val="accent1">
                    <a:lumMod val="75000"/>
                  </a:schemeClr>
                </a:solidFill>
                <a:effectLst/>
                <a:uLnTx/>
                <a:uFillTx/>
                <a:latin typeface="Arial" panose="020B0604020202020204" pitchFamily="34" charset="0"/>
                <a:ea typeface="宋体" panose="02010600030101010101" pitchFamily="2" charset="-122"/>
                <a:cs typeface="+mn-cs"/>
                <a:sym typeface="Wingdings" panose="05000000000000000000" pitchFamily="2" charset="2"/>
              </a:rPr>
              <a:t></a:t>
            </a:r>
            <a:endParaRPr kumimoji="0" lang="zh-CN" altLang="en-US" sz="3600" b="1" i="0" u="none" strike="noStrike" kern="1200" cap="none" spc="0" normalizeH="0" baseline="0" noProof="0">
              <a:ln>
                <a:noFill/>
              </a:ln>
              <a:solidFill>
                <a:schemeClr val="accent1">
                  <a:lumMod val="75000"/>
                </a:schemeClr>
              </a:solidFill>
              <a:effectLst/>
              <a:uLnTx/>
              <a:uFillTx/>
              <a:latin typeface="Arial" panose="020B0604020202020204" pitchFamily="34" charset="0"/>
              <a:ea typeface="宋体" panose="02010600030101010101" pitchFamily="2" charset="-122"/>
              <a:cs typeface="+mn-cs"/>
              <a:sym typeface="+mn-ea"/>
            </a:endParaRPr>
          </a:p>
        </p:txBody>
      </p:sp>
      <p:sp>
        <p:nvSpPr>
          <p:cNvPr id="65546"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9"/>
                                        </p:tgtEl>
                                      </p:cBhvr>
                                    </p:animEffect>
                                    <p:animScale>
                                      <p:cBhvr>
                                        <p:cTn id="7" dur="250" autoRev="1"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3" name="内容占位符 2"/>
          <p:cNvSpPr>
            <a:spLocks noGrp="1"/>
          </p:cNvSpPr>
          <p:nvPr>
            <p:ph idx="1"/>
          </p:nvPr>
        </p:nvSpPr>
        <p:spPr>
          <a:xfrm>
            <a:off x="374650" y="1031875"/>
            <a:ext cx="8229600" cy="5256213"/>
          </a:xfrm>
          <a:ln>
            <a:solidFill>
              <a:srgbClr val="009ED6"/>
            </a:solidFill>
            <a:miter lim="800000"/>
          </a:ln>
        </p:spPr>
        <p:txBody>
          <a:bodyPr vert="horz" wrap="square" lIns="91440" tIns="45720" rIns="91440" bIns="45720" numCol="1" rtlCol="0" anchor="t" anchorCtr="0" compatLnSpc="1">
            <a:normAutofit/>
          </a:bodyPr>
          <a:lstStyle/>
          <a:p>
            <a:pPr marL="457200" marR="0" lvl="1" indent="0" algn="l" defTabSz="914400" rtl="0" eaLnBrk="1" fontAlgn="auto" latinLnBrk="0" hangingPunct="1">
              <a:lnSpc>
                <a:spcPct val="150000"/>
              </a:lnSpc>
              <a:spcBef>
                <a:spcPts val="500"/>
              </a:spcBef>
              <a:spcAft>
                <a:spcPts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3</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a:t>
            </a:r>
            <a:r>
              <a:rPr kumimoji="0" lang="en-US" altLang="zh-CN" sz="2000" b="1" i="0" u="none" strike="noStrike" kern="1200" cap="none" spc="0" normalizeH="0" baseline="0" noProof="0" dirty="0">
                <a:ln>
                  <a:noFill/>
                </a:ln>
                <a:solidFill>
                  <a:schemeClr val="tx1"/>
                </a:solidFill>
                <a:effectLst/>
                <a:uLnTx/>
                <a:uFillTx/>
                <a:latin typeface="+mn-lt"/>
                <a:ea typeface="+mn-ea"/>
                <a:cs typeface="+mn-cs"/>
              </a:rPr>
              <a:t>if…else if…else</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语句</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if…else if</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 </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…else</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语句用于对多个</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条件进行判断，进行多种不同的处理</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，其语法格式如下所示：</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66563" name="Picture 5"/>
          <p:cNvPicPr>
            <a:picLocks noChangeAspect="1"/>
          </p:cNvPicPr>
          <p:nvPr/>
        </p:nvPicPr>
        <p:blipFill>
          <a:blip r:embed="rId1"/>
          <a:stretch>
            <a:fillRect/>
          </a:stretch>
        </p:blipFill>
        <p:spPr>
          <a:xfrm>
            <a:off x="1760538" y="2735263"/>
            <a:ext cx="5006975" cy="3343275"/>
          </a:xfrm>
          <a:prstGeom prst="rect">
            <a:avLst/>
          </a:prstGeom>
          <a:noFill/>
          <a:ln w="9525">
            <a:noFill/>
          </a:ln>
        </p:spPr>
      </p:pic>
      <p:sp>
        <p:nvSpPr>
          <p:cNvPr id="5"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2.4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选择结构语句</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66565"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内容占位符 2"/>
          <p:cNvSpPr>
            <a:spLocks noGrp="1"/>
          </p:cNvSpPr>
          <p:nvPr>
            <p:ph idx="1"/>
          </p:nvPr>
        </p:nvSpPr>
        <p:spPr>
          <a:xfrm>
            <a:off x="387350" y="1828800"/>
            <a:ext cx="8229600" cy="4721225"/>
          </a:xfrm>
          <a:ln>
            <a:solidFill>
              <a:srgbClr val="009ED6">
                <a:alpha val="100000"/>
              </a:srgbClr>
            </a:solidFill>
            <a:miter lim="800000"/>
          </a:ln>
        </p:spPr>
        <p:txBody>
          <a:bodyPr vert="horz" wrap="square" lIns="91440" tIns="45720" rIns="91440" bIns="45720" anchor="t" anchorCtr="0"/>
          <a:p>
            <a:pPr lvl="1" eaLnBrk="1" hangingPunct="1">
              <a:buFont typeface="Wingdings" panose="05000000000000000000" pitchFamily="2" charset="2"/>
              <a:buChar char="Ø"/>
            </a:pPr>
            <a:r>
              <a:rPr lang="en-US" altLang="zh-CN" kern="1200" dirty="0">
                <a:latin typeface="+mn-lt"/>
                <a:ea typeface="+mn-ea"/>
                <a:cs typeface="等线" panose="02010600030101010101" charset="-122"/>
              </a:rPr>
              <a:t>switch</a:t>
            </a:r>
            <a:r>
              <a:rPr lang="zh-CN" altLang="en-US" kern="1200" dirty="0">
                <a:latin typeface="+mn-lt"/>
                <a:ea typeface="+mn-ea"/>
                <a:cs typeface="等线" panose="02010600030101010101" charset="-122"/>
              </a:rPr>
              <a:t>语句也是一种很常见的选择语句。和</a:t>
            </a:r>
            <a:r>
              <a:rPr lang="en-US" altLang="zh-CN" kern="1200" dirty="0">
                <a:latin typeface="+mn-lt"/>
                <a:ea typeface="+mn-ea"/>
                <a:cs typeface="等线" panose="02010600030101010101" charset="-122"/>
              </a:rPr>
              <a:t>if</a:t>
            </a:r>
            <a:r>
              <a:rPr lang="zh-CN" altLang="en-US" kern="1200" dirty="0">
                <a:latin typeface="+mn-lt"/>
                <a:ea typeface="+mn-ea"/>
                <a:cs typeface="等线" panose="02010600030101010101" charset="-122"/>
              </a:rPr>
              <a:t>条件语句不同，它只能针对某个表达式的值做出判断，从而决定执行哪一段代码。</a:t>
            </a:r>
            <a:endParaRPr lang="en-US" altLang="zh-CN" kern="1200" dirty="0">
              <a:latin typeface="+mn-lt"/>
              <a:ea typeface="+mn-ea"/>
              <a:cs typeface="等线" panose="02010600030101010101" charset="-122"/>
            </a:endParaRPr>
          </a:p>
          <a:p>
            <a:pPr lvl="1" eaLnBrk="1" hangingPunct="1"/>
            <a:endParaRPr lang="en-US" altLang="zh-CN" kern="1200" dirty="0">
              <a:latin typeface="+mn-lt"/>
              <a:ea typeface="+mn-ea"/>
              <a:cs typeface="等线" panose="02010600030101010101" charset="-122"/>
            </a:endParaRPr>
          </a:p>
        </p:txBody>
      </p:sp>
      <p:sp>
        <p:nvSpPr>
          <p:cNvPr id="67587" name="内容占位符 2"/>
          <p:cNvSpPr txBox="1"/>
          <p:nvPr/>
        </p:nvSpPr>
        <p:spPr>
          <a:xfrm>
            <a:off x="387350" y="2870200"/>
            <a:ext cx="4279900" cy="3679825"/>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800100" lvl="1" indent="-342900">
              <a:lnSpc>
                <a:spcPct val="150000"/>
              </a:lnSpc>
              <a:spcBef>
                <a:spcPct val="20000"/>
              </a:spcBef>
              <a:buFont typeface="Wingdings" panose="05000000000000000000" pitchFamily="2" charset="2"/>
              <a:buChar char="Ø"/>
            </a:pPr>
            <a:r>
              <a:rPr lang="zh-CN" altLang="en-US" sz="2000" dirty="0">
                <a:latin typeface="Arial" panose="020B0604020202020204" pitchFamily="34" charset="0"/>
                <a:ea typeface="宋体" panose="02010600030101010101" pitchFamily="2" charset="-122"/>
              </a:rPr>
              <a:t>在</a:t>
            </a:r>
            <a:r>
              <a:rPr lang="en-US" altLang="zh-CN" sz="2000" dirty="0">
                <a:latin typeface="Arial" panose="020B0604020202020204" pitchFamily="34" charset="0"/>
                <a:ea typeface="宋体" panose="02010600030101010101" pitchFamily="2" charset="-122"/>
              </a:rPr>
              <a:t>switch</a:t>
            </a:r>
            <a:r>
              <a:rPr lang="zh-CN" altLang="en-US" sz="2000" dirty="0">
                <a:latin typeface="Arial" panose="020B0604020202020204" pitchFamily="34" charset="0"/>
                <a:ea typeface="宋体" panose="02010600030101010101" pitchFamily="2" charset="-122"/>
              </a:rPr>
              <a:t>语句中，使用</a:t>
            </a:r>
            <a:r>
              <a:rPr lang="en-US" altLang="zh-CN" sz="2000" dirty="0">
                <a:latin typeface="Arial" panose="020B0604020202020204" pitchFamily="34" charset="0"/>
                <a:ea typeface="宋体" panose="02010600030101010101" pitchFamily="2" charset="-122"/>
              </a:rPr>
              <a:t>switch</a:t>
            </a:r>
            <a:r>
              <a:rPr lang="zh-CN" altLang="en-US" sz="2000" dirty="0">
                <a:latin typeface="Arial" panose="020B0604020202020204" pitchFamily="34" charset="0"/>
                <a:ea typeface="宋体" panose="02010600030101010101" pitchFamily="2" charset="-122"/>
              </a:rPr>
              <a:t>关键字来描述一个表达式，使用</a:t>
            </a:r>
            <a:r>
              <a:rPr lang="en-US" altLang="zh-CN" sz="2000" dirty="0">
                <a:latin typeface="Arial" panose="020B0604020202020204" pitchFamily="34" charset="0"/>
                <a:ea typeface="宋体" panose="02010600030101010101" pitchFamily="2" charset="-122"/>
              </a:rPr>
              <a:t>case</a:t>
            </a:r>
            <a:r>
              <a:rPr lang="zh-CN" altLang="en-US" sz="2000" dirty="0">
                <a:latin typeface="Arial" panose="020B0604020202020204" pitchFamily="34" charset="0"/>
                <a:ea typeface="宋体" panose="02010600030101010101" pitchFamily="2" charset="-122"/>
              </a:rPr>
              <a:t>关键字来描述和表达式结果比较的目标值，当表达式的值和某个目标值匹配时，会执行对应</a:t>
            </a:r>
            <a:r>
              <a:rPr lang="en-US" altLang="zh-CN" sz="2000" dirty="0">
                <a:latin typeface="Arial" panose="020B0604020202020204" pitchFamily="34" charset="0"/>
                <a:ea typeface="宋体" panose="02010600030101010101" pitchFamily="2" charset="-122"/>
              </a:rPr>
              <a:t>case</a:t>
            </a:r>
            <a:r>
              <a:rPr lang="zh-CN" altLang="en-US" sz="2000" dirty="0">
                <a:latin typeface="Arial" panose="020B0604020202020204" pitchFamily="34" charset="0"/>
                <a:ea typeface="宋体" panose="02010600030101010101" pitchFamily="2" charset="-122"/>
              </a:rPr>
              <a:t>下的语句，</a:t>
            </a:r>
            <a:r>
              <a:rPr lang="en-US" altLang="zh-CN" sz="2000" dirty="0">
                <a:latin typeface="Arial" panose="020B0604020202020204" pitchFamily="34" charset="0"/>
                <a:ea typeface="宋体" panose="02010600030101010101" pitchFamily="2" charset="-122"/>
              </a:rPr>
              <a:t>switch</a:t>
            </a:r>
            <a:r>
              <a:rPr lang="zh-CN" altLang="en-US" sz="2000" dirty="0">
                <a:latin typeface="Arial" panose="020B0604020202020204" pitchFamily="34" charset="0"/>
                <a:ea typeface="宋体" panose="02010600030101010101" pitchFamily="2" charset="-122"/>
              </a:rPr>
              <a:t>语句的基本语法结果如右图所示。</a:t>
            </a:r>
            <a:endParaRPr lang="en-US" altLang="zh-CN" sz="2000" dirty="0">
              <a:latin typeface="Arial" panose="020B0604020202020204" pitchFamily="34" charset="0"/>
              <a:ea typeface="宋体" panose="02010600030101010101" pitchFamily="2" charset="-122"/>
            </a:endParaRPr>
          </a:p>
        </p:txBody>
      </p:sp>
      <p:pic>
        <p:nvPicPr>
          <p:cNvPr id="67588" name="Picture 15"/>
          <p:cNvPicPr>
            <a:picLocks noChangeAspect="1"/>
          </p:cNvPicPr>
          <p:nvPr/>
        </p:nvPicPr>
        <p:blipFill>
          <a:blip r:embed="rId1"/>
          <a:stretch>
            <a:fillRect/>
          </a:stretch>
        </p:blipFill>
        <p:spPr>
          <a:xfrm>
            <a:off x="5016500" y="3028950"/>
            <a:ext cx="3005138" cy="3360738"/>
          </a:xfrm>
          <a:prstGeom prst="rect">
            <a:avLst/>
          </a:prstGeom>
          <a:noFill/>
          <a:ln w="9525">
            <a:noFill/>
          </a:ln>
        </p:spPr>
      </p:pic>
      <p:sp>
        <p:nvSpPr>
          <p:cNvPr id="6" name="剪去对角的矩形 5"/>
          <p:cNvSpPr/>
          <p:nvPr/>
        </p:nvSpPr>
        <p:spPr bwMode="auto">
          <a:xfrm>
            <a:off x="5016500" y="1084263"/>
            <a:ext cx="3454400"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7590" name="矩形 6"/>
          <p:cNvSpPr/>
          <p:nvPr/>
        </p:nvSpPr>
        <p:spPr>
          <a:xfrm>
            <a:off x="5564188" y="1084263"/>
            <a:ext cx="2719387" cy="5905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35000"/>
              </a:lnSpc>
              <a:spcBef>
                <a:spcPct val="0"/>
              </a:spcBef>
              <a:buNone/>
            </a:pPr>
            <a:r>
              <a:rPr lang="en-US" altLang="zh-CN" sz="2400" dirty="0">
                <a:solidFill>
                  <a:srgbClr val="00B0F0"/>
                </a:solidFill>
                <a:latin typeface="黑体" panose="02010609060101010101" pitchFamily="49" charset="-122"/>
                <a:ea typeface="黑体" panose="02010609060101010101" pitchFamily="49" charset="-122"/>
              </a:rPr>
              <a:t>switch</a:t>
            </a:r>
            <a:r>
              <a:rPr lang="zh-CN" altLang="en-US" sz="2400" dirty="0">
                <a:solidFill>
                  <a:srgbClr val="00B0F0"/>
                </a:solidFill>
                <a:latin typeface="黑体" panose="02010609060101010101" pitchFamily="49" charset="-122"/>
                <a:ea typeface="黑体" panose="02010609060101010101" pitchFamily="49" charset="-122"/>
              </a:rPr>
              <a:t>条件语句</a:t>
            </a:r>
            <a:endParaRPr lang="zh-CN" altLang="zh-CN" sz="2400" dirty="0">
              <a:solidFill>
                <a:srgbClr val="00B0F0"/>
              </a:solidFill>
              <a:latin typeface="黑体" panose="02010609060101010101" pitchFamily="49" charset="-122"/>
              <a:ea typeface="黑体" panose="02010609060101010101" pitchFamily="49" charset="-122"/>
            </a:endParaRPr>
          </a:p>
        </p:txBody>
      </p:sp>
      <p:sp>
        <p:nvSpPr>
          <p:cNvPr id="8"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2.4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选择结构语句</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67592"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内容占位符 2"/>
          <p:cNvSpPr txBox="1"/>
          <p:nvPr/>
        </p:nvSpPr>
        <p:spPr bwMode="auto">
          <a:xfrm>
            <a:off x="387350" y="1173163"/>
            <a:ext cx="8291513" cy="4943475"/>
          </a:xfrm>
          <a:prstGeom prst="rect">
            <a:avLst/>
          </a:prstGeom>
          <a:noFill/>
          <a:ln w="9525">
            <a:solidFill>
              <a:srgbClr val="009ED6"/>
            </a:solidFill>
            <a:miter lim="800000"/>
          </a:ln>
        </p:spPr>
        <p:txBody>
          <a:bodyPr/>
          <a:lstStyle>
            <a:lvl1pPr marL="342900" indent="-342900" algn="l" rtl="0" eaLnBrk="0" fontAlgn="base" hangingPunct="0">
              <a:lnSpc>
                <a:spcPct val="150000"/>
              </a:lnSpc>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sz="2000">
                <a:solidFill>
                  <a:schemeClr val="tx1"/>
                </a:solidFill>
                <a:latin typeface="+mn-lt"/>
                <a:ea typeface="+mn-ea"/>
              </a:defRPr>
            </a:lvl2pPr>
            <a:lvl3pPr marL="1143000" indent="-228600" algn="l" rtl="0" eaLnBrk="0" fontAlgn="base" hangingPunct="0">
              <a:lnSpc>
                <a:spcPct val="150000"/>
              </a:lnSpc>
              <a:spcBef>
                <a:spcPct val="20000"/>
              </a:spcBef>
              <a:spcAft>
                <a:spcPct val="0"/>
              </a:spcAft>
              <a:buChar char="•"/>
              <a:defRPr sz="1800">
                <a:solidFill>
                  <a:schemeClr val="tx1"/>
                </a:solidFill>
                <a:latin typeface="+mn-lt"/>
                <a:ea typeface="+mn-ea"/>
              </a:defRPr>
            </a:lvl3pPr>
            <a:lvl4pPr marL="1600200" indent="-228600" algn="l" rtl="0" eaLnBrk="0" fontAlgn="base" hangingPunct="0">
              <a:lnSpc>
                <a:spcPct val="150000"/>
              </a:lnSpc>
              <a:spcBef>
                <a:spcPct val="20000"/>
              </a:spcBef>
              <a:spcAft>
                <a:spcPct val="0"/>
              </a:spcAft>
              <a:buChar char="–"/>
              <a:defRPr sz="16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16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742950" marR="0" lvl="1" indent="-285750" algn="l" defTabSz="914400" rtl="0" eaLnBrk="0" fontAlgn="base" latinLnBrk="0" hangingPunct="0">
              <a:lnSpc>
                <a:spcPct val="150000"/>
              </a:lnSpc>
              <a:spcBef>
                <a:spcPct val="20000"/>
              </a:spcBef>
              <a:spcAft>
                <a:spcPct val="0"/>
              </a:spcAft>
              <a:buClrTx/>
              <a:buSzTx/>
              <a:buFontTx/>
              <a:buChar char="–"/>
              <a:defRPr/>
            </a:pPr>
            <a:endParaRPr kumimoji="0" lang="en-US" altLang="zh-CN" sz="2000" b="0" i="0" u="none" strike="noStrike" kern="0" cap="none" spc="0" normalizeH="0" baseline="0" noProof="0" dirty="0">
              <a:ln>
                <a:noFill/>
              </a:ln>
              <a:solidFill>
                <a:schemeClr val="tx1"/>
              </a:solidFill>
              <a:effectLst/>
              <a:uLnTx/>
              <a:uFillTx/>
              <a:latin typeface="+mn-lt"/>
              <a:ea typeface="+mn-ea"/>
              <a:cs typeface="+mn-cs"/>
            </a:endParaRPr>
          </a:p>
        </p:txBody>
      </p:sp>
      <p:sp>
        <p:nvSpPr>
          <p:cNvPr id="68611" name="内容占位符 2"/>
          <p:cNvSpPr>
            <a:spLocks noGrp="1"/>
          </p:cNvSpPr>
          <p:nvPr>
            <p:ph idx="1"/>
          </p:nvPr>
        </p:nvSpPr>
        <p:spPr>
          <a:xfrm>
            <a:off x="284163" y="1717675"/>
            <a:ext cx="3995737" cy="3617913"/>
          </a:xfrm>
        </p:spPr>
        <p:txBody>
          <a:bodyPr vert="horz" wrap="square" lIns="91440" tIns="45720" rIns="91440" bIns="45720" anchor="t" anchorCtr="0"/>
          <a:p>
            <a:pPr lvl="1" eaLnBrk="1" hangingPunct="1"/>
            <a:endParaRPr lang="en-US" altLang="zh-CN" sz="300" kern="1200" dirty="0">
              <a:latin typeface="+mn-lt"/>
              <a:ea typeface="+mn-ea"/>
              <a:cs typeface="等线" panose="02010600030101010101" charset="-122"/>
            </a:endParaRPr>
          </a:p>
          <a:p>
            <a:pPr lvl="1" eaLnBrk="1" hangingPunct="1">
              <a:buFont typeface="Wingdings" panose="05000000000000000000" pitchFamily="2" charset="2"/>
              <a:buChar char="Ø"/>
            </a:pPr>
            <a:r>
              <a:rPr lang="zh-CN" altLang="en-US" kern="1200" dirty="0">
                <a:latin typeface="+mn-lt"/>
                <a:ea typeface="+mn-ea"/>
                <a:cs typeface="等线" panose="02010600030101010101" charset="-122"/>
              </a:rPr>
              <a:t>例如，在程序中使用数字</a:t>
            </a:r>
            <a:r>
              <a:rPr lang="en-US" altLang="zh-CN" kern="1200" dirty="0">
                <a:latin typeface="+mn-lt"/>
                <a:ea typeface="+mn-ea"/>
                <a:cs typeface="等线" panose="02010600030101010101" charset="-122"/>
              </a:rPr>
              <a:t>1~7</a:t>
            </a:r>
            <a:r>
              <a:rPr lang="zh-CN" altLang="en-US" kern="1200" dirty="0">
                <a:latin typeface="+mn-lt"/>
                <a:ea typeface="+mn-ea"/>
                <a:cs typeface="等线" panose="02010600030101010101" charset="-122"/>
              </a:rPr>
              <a:t>表示周一到周日，如果想根据某个输入的数字输出中文格式的星期值，可以通过右边所示的代码来实现。</a:t>
            </a:r>
            <a:endParaRPr lang="en-US" altLang="zh-CN" kern="1200" dirty="0">
              <a:latin typeface="+mn-lt"/>
              <a:ea typeface="+mn-ea"/>
              <a:cs typeface="等线" panose="02010600030101010101" charset="-122"/>
            </a:endParaRPr>
          </a:p>
          <a:p>
            <a:pPr lvl="1" eaLnBrk="1" hangingPunct="1">
              <a:lnSpc>
                <a:spcPct val="200000"/>
              </a:lnSpc>
            </a:pPr>
            <a:endParaRPr lang="en-US" altLang="zh-CN" kern="1200" dirty="0">
              <a:latin typeface="+mn-lt"/>
              <a:ea typeface="+mn-ea"/>
              <a:cs typeface="等线" panose="02010600030101010101" charset="-122"/>
            </a:endParaRPr>
          </a:p>
        </p:txBody>
      </p:sp>
      <p:pic>
        <p:nvPicPr>
          <p:cNvPr id="68612" name="Picture 2"/>
          <p:cNvPicPr>
            <a:picLocks noChangeAspect="1"/>
          </p:cNvPicPr>
          <p:nvPr/>
        </p:nvPicPr>
        <p:blipFill>
          <a:blip r:embed="rId1"/>
          <a:stretch>
            <a:fillRect/>
          </a:stretch>
        </p:blipFill>
        <p:spPr>
          <a:xfrm>
            <a:off x="4394200" y="1373188"/>
            <a:ext cx="4222750" cy="4543425"/>
          </a:xfrm>
          <a:prstGeom prst="rect">
            <a:avLst/>
          </a:prstGeom>
          <a:noFill/>
          <a:ln w="9525">
            <a:noFill/>
          </a:ln>
        </p:spPr>
      </p:pic>
      <p:sp>
        <p:nvSpPr>
          <p:cNvPr id="6"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2.4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选择结构语句</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68614"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内容占位符 2"/>
          <p:cNvSpPr txBox="1"/>
          <p:nvPr/>
        </p:nvSpPr>
        <p:spPr bwMode="auto">
          <a:xfrm>
            <a:off x="387350" y="1173163"/>
            <a:ext cx="8291513" cy="2720975"/>
          </a:xfrm>
          <a:prstGeom prst="rect">
            <a:avLst/>
          </a:prstGeom>
          <a:noFill/>
          <a:ln w="9525">
            <a:solidFill>
              <a:srgbClr val="009ED6"/>
            </a:solidFill>
            <a:miter lim="800000"/>
          </a:ln>
        </p:spPr>
        <p:txBody>
          <a:bodyPr/>
          <a:lstStyle>
            <a:lvl1pPr marL="342900" indent="-342900" algn="l" rtl="0" eaLnBrk="0" fontAlgn="base" hangingPunct="0">
              <a:lnSpc>
                <a:spcPct val="150000"/>
              </a:lnSpc>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sz="2000">
                <a:solidFill>
                  <a:schemeClr val="tx1"/>
                </a:solidFill>
                <a:latin typeface="+mn-lt"/>
                <a:ea typeface="+mn-ea"/>
              </a:defRPr>
            </a:lvl2pPr>
            <a:lvl3pPr marL="1143000" indent="-228600" algn="l" rtl="0" eaLnBrk="0" fontAlgn="base" hangingPunct="0">
              <a:lnSpc>
                <a:spcPct val="150000"/>
              </a:lnSpc>
              <a:spcBef>
                <a:spcPct val="20000"/>
              </a:spcBef>
              <a:spcAft>
                <a:spcPct val="0"/>
              </a:spcAft>
              <a:buChar char="•"/>
              <a:defRPr sz="1800">
                <a:solidFill>
                  <a:schemeClr val="tx1"/>
                </a:solidFill>
                <a:latin typeface="+mn-lt"/>
                <a:ea typeface="+mn-ea"/>
              </a:defRPr>
            </a:lvl3pPr>
            <a:lvl4pPr marL="1600200" indent="-228600" algn="l" rtl="0" eaLnBrk="0" fontAlgn="base" hangingPunct="0">
              <a:lnSpc>
                <a:spcPct val="150000"/>
              </a:lnSpc>
              <a:spcBef>
                <a:spcPct val="20000"/>
              </a:spcBef>
              <a:spcAft>
                <a:spcPct val="0"/>
              </a:spcAft>
              <a:buChar char="–"/>
              <a:defRPr sz="16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16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742950" marR="0" lvl="1" indent="-285750" algn="l" defTabSz="914400" rtl="0" eaLnBrk="0" fontAlgn="base" latinLnBrk="0" hangingPunct="0">
              <a:lnSpc>
                <a:spcPct val="150000"/>
              </a:lnSpc>
              <a:spcBef>
                <a:spcPct val="20000"/>
              </a:spcBef>
              <a:spcAft>
                <a:spcPct val="0"/>
              </a:spcAft>
              <a:buClrTx/>
              <a:buSzTx/>
              <a:buFontTx/>
              <a:buChar char="–"/>
              <a:defRPr/>
            </a:pPr>
            <a:endParaRPr kumimoji="0" lang="en-US" altLang="zh-CN" sz="2000" b="0" i="0" u="none" strike="noStrike" kern="0" cap="none" spc="0" normalizeH="0" baseline="0" noProof="0" dirty="0">
              <a:ln>
                <a:noFill/>
              </a:ln>
              <a:solidFill>
                <a:schemeClr val="tx1"/>
              </a:solidFill>
              <a:effectLst/>
              <a:uLnTx/>
              <a:uFillTx/>
              <a:latin typeface="+mn-lt"/>
              <a:ea typeface="+mn-ea"/>
              <a:cs typeface="+mn-cs"/>
            </a:endParaRPr>
          </a:p>
        </p:txBody>
      </p:sp>
      <p:sp>
        <p:nvSpPr>
          <p:cNvPr id="3" name="TextBox 2"/>
          <p:cNvSpPr txBox="1"/>
          <p:nvPr/>
        </p:nvSpPr>
        <p:spPr>
          <a:xfrm>
            <a:off x="414338" y="1270000"/>
            <a:ext cx="8077200" cy="2738438"/>
          </a:xfrm>
          <a:prstGeom prst="rect">
            <a:avLst/>
          </a:prstGeom>
          <a:noFill/>
        </p:spPr>
        <p:txBody>
          <a:bodyPr>
            <a:spAutoFit/>
          </a:bodyPr>
          <a:lstStyle/>
          <a:p>
            <a:pPr marL="800100" marR="0" lvl="1" indent="-342900" algn="l" defTabSz="914400" rtl="0" eaLnBrk="0" fontAlgn="base" latinLnBrk="0" hangingPunct="0">
              <a:lnSpc>
                <a:spcPct val="200000"/>
              </a:lnSpc>
              <a:spcBef>
                <a:spcPct val="20000"/>
              </a:spcBef>
              <a:spcAft>
                <a:spcPct val="0"/>
              </a:spcAft>
              <a:buClrTx/>
              <a:buSzTx/>
              <a:buFont typeface="Wingdings" panose="05000000000000000000" pitchFamily="2" charset="2"/>
              <a:buChar char="Ø"/>
              <a:defRPr/>
            </a:pPr>
            <a:r>
              <a:rPr kumimoji="0" lang="zh-CN" altLang="en-US"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需要注意的是，在</a:t>
            </a:r>
            <a:r>
              <a:rPr kumimoji="0" lang="en-US"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switch</a:t>
            </a:r>
            <a:r>
              <a:rPr kumimoji="0" lang="zh-CN" altLang="en-US"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语句中的表达式只能是：</a:t>
            </a:r>
            <a:endParaRPr kumimoji="0" lang="en-US"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endParaRPr>
          </a:p>
          <a:p>
            <a:pPr marL="457200" marR="0" lvl="1" indent="0" algn="l" defTabSz="914400" rtl="0" eaLnBrk="0" fontAlgn="base" latinLnBrk="0" hangingPunct="0">
              <a:lnSpc>
                <a:spcPct val="20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1</a:t>
            </a:r>
            <a:r>
              <a:rPr kumimoji="0" lang="zh-CN" altLang="en-US"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a:t>
            </a:r>
            <a:r>
              <a:rPr kumimoji="0" lang="en-US"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byte</a:t>
            </a:r>
            <a:r>
              <a:rPr kumimoji="0" lang="zh-CN" altLang="en-US"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a:t>
            </a:r>
            <a:r>
              <a:rPr kumimoji="0" lang="en-US"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short</a:t>
            </a:r>
            <a:r>
              <a:rPr kumimoji="0" lang="zh-CN" altLang="en-US"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a:t>
            </a:r>
            <a:r>
              <a:rPr kumimoji="0" lang="en-US"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char</a:t>
            </a:r>
            <a:r>
              <a:rPr kumimoji="0" lang="zh-CN" altLang="en-US"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a:t>
            </a:r>
            <a:r>
              <a:rPr kumimoji="0" lang="en-US" altLang="zh-CN" sz="2000" b="0" i="0" u="none" strike="noStrike" kern="0" cap="none" spc="0" normalizeH="0" baseline="0" noProof="0" dirty="0" err="1">
                <a:ln>
                  <a:noFill/>
                </a:ln>
                <a:solidFill>
                  <a:srgbClr val="000000"/>
                </a:solidFill>
                <a:effectLst/>
                <a:uLnTx/>
                <a:uFillTx/>
                <a:latin typeface="Arial" panose="020B0604020202020204"/>
                <a:ea typeface="宋体" panose="02010600030101010101" pitchFamily="2" charset="-122"/>
                <a:cs typeface="+mn-cs"/>
                <a:sym typeface="+mn-ea"/>
              </a:rPr>
              <a:t>int</a:t>
            </a:r>
            <a:endParaRPr kumimoji="0" lang="en-US"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endParaRPr>
          </a:p>
          <a:p>
            <a:pPr marL="457200" marR="0" lvl="1" indent="0" algn="l" defTabSz="914400" rtl="0" eaLnBrk="0" fontAlgn="base" latinLnBrk="0" hangingPunct="0">
              <a:lnSpc>
                <a:spcPct val="20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2、String</a:t>
            </a:r>
            <a:r>
              <a:rPr kumimoji="0" lang="zh-CN" altLang="en-US"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类型</a:t>
            </a:r>
            <a:endParaRPr kumimoji="0" lang="en-US"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endParaRPr>
          </a:p>
          <a:p>
            <a:pPr marL="457200" marR="0" lvl="1" indent="0" algn="l" defTabSz="914400" rtl="0" eaLnBrk="0" fontAlgn="base" latinLnBrk="0" hangingPunct="0">
              <a:lnSpc>
                <a:spcPct val="20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3、</a:t>
            </a:r>
            <a:r>
              <a:rPr kumimoji="0" lang="zh-CN" altLang="en-US"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rPr>
              <a:t>枚举</a:t>
            </a:r>
            <a:endParaRPr kumimoji="0" lang="en-US" altLang="zh-CN" sz="2000" b="0" i="0" u="none" strike="noStrike" kern="0" cap="none" spc="0" normalizeH="0" baseline="0" noProof="0" dirty="0">
              <a:ln>
                <a:noFill/>
              </a:ln>
              <a:solidFill>
                <a:srgbClr val="000000"/>
              </a:solidFill>
              <a:effectLst/>
              <a:uLnTx/>
              <a:uFillTx/>
              <a:latin typeface="Arial" panose="020B0604020202020204"/>
              <a:ea typeface="宋体" panose="02010600030101010101" pitchFamily="2" charset="-122"/>
              <a:cs typeface="+mn-cs"/>
              <a:sym typeface="+mn-ea"/>
            </a:endParaRPr>
          </a:p>
        </p:txBody>
      </p:sp>
      <p:sp>
        <p:nvSpPr>
          <p:cNvPr id="8"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2.4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选择结构语句</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69637"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内容占位符 2"/>
          <p:cNvSpPr>
            <a:spLocks noGrp="1"/>
          </p:cNvSpPr>
          <p:nvPr>
            <p:ph idx="1"/>
          </p:nvPr>
        </p:nvSpPr>
        <p:spPr>
          <a:xfrm>
            <a:off x="371475" y="1268413"/>
            <a:ext cx="8158163" cy="4511675"/>
          </a:xfrm>
          <a:ln>
            <a:solidFill>
              <a:srgbClr val="009ED6">
                <a:alpha val="100000"/>
              </a:srgbClr>
            </a:solidFill>
            <a:miter lim="800000"/>
          </a:ln>
        </p:spPr>
        <p:txBody>
          <a:bodyPr vert="horz" wrap="square" lIns="91440" tIns="45720" rIns="91440" bIns="45720" anchor="t" anchorCtr="0"/>
          <a:p>
            <a:pPr lvl="1" eaLnBrk="1" hangingPunct="1">
              <a:buFont typeface="Wingdings" panose="05000000000000000000" pitchFamily="2" charset="2"/>
              <a:buChar char="Ø"/>
            </a:pPr>
            <a:r>
              <a:rPr lang="zh-CN" altLang="zh-CN" kern="1200" dirty="0">
                <a:latin typeface="+mn-lt"/>
                <a:ea typeface="+mn-ea"/>
                <a:cs typeface="等线" panose="02010600030101010101" charset="-122"/>
              </a:rPr>
              <a:t>在使用</a:t>
            </a:r>
            <a:r>
              <a:rPr lang="en-US" altLang="zh-CN" kern="1200" dirty="0">
                <a:latin typeface="+mn-lt"/>
                <a:ea typeface="+mn-ea"/>
                <a:cs typeface="等线" panose="02010600030101010101" charset="-122"/>
              </a:rPr>
              <a:t>switch</a:t>
            </a:r>
            <a:r>
              <a:rPr lang="zh-CN" altLang="zh-CN" kern="1200" dirty="0">
                <a:latin typeface="+mn-lt"/>
                <a:ea typeface="+mn-ea"/>
                <a:cs typeface="等线" panose="02010600030101010101" charset="-122"/>
              </a:rPr>
              <a:t>语句的过程中，如果多个</a:t>
            </a:r>
            <a:r>
              <a:rPr lang="en-US" altLang="zh-CN" kern="1200" dirty="0">
                <a:latin typeface="+mn-lt"/>
                <a:ea typeface="+mn-ea"/>
                <a:cs typeface="等线" panose="02010600030101010101" charset="-122"/>
              </a:rPr>
              <a:t>case</a:t>
            </a:r>
            <a:r>
              <a:rPr lang="zh-CN" altLang="zh-CN" kern="1200" dirty="0">
                <a:latin typeface="+mn-lt"/>
                <a:ea typeface="+mn-ea"/>
                <a:cs typeface="等线" panose="02010600030101010101" charset="-122"/>
              </a:rPr>
              <a:t>条件后面的执行语句是一样的，则该执行语句只需书写一次即可</a:t>
            </a:r>
            <a:r>
              <a:rPr lang="zh-CN" altLang="en-US" kern="1200" dirty="0">
                <a:latin typeface="+mn-lt"/>
                <a:ea typeface="+mn-ea"/>
                <a:cs typeface="等线" panose="02010600030101010101" charset="-122"/>
              </a:rPr>
              <a:t>。</a:t>
            </a:r>
            <a:endParaRPr lang="en-US" altLang="zh-CN" kern="1200" dirty="0">
              <a:latin typeface="+mn-lt"/>
              <a:ea typeface="+mn-ea"/>
              <a:cs typeface="等线" panose="02010600030101010101" charset="-122"/>
            </a:endParaRPr>
          </a:p>
          <a:p>
            <a:pPr lvl="1" eaLnBrk="1" hangingPunct="1">
              <a:buFont typeface="Wingdings" panose="05000000000000000000" pitchFamily="2" charset="2"/>
              <a:buChar char="Ø"/>
            </a:pPr>
            <a:r>
              <a:rPr lang="zh-CN" altLang="en-US" kern="1200" dirty="0">
                <a:latin typeface="+mn-lt"/>
                <a:ea typeface="+mn-ea"/>
                <a:cs typeface="等线" panose="02010600030101010101" charset="-122"/>
              </a:rPr>
              <a:t>例如，</a:t>
            </a:r>
            <a:r>
              <a:rPr lang="zh-CN" altLang="zh-CN" kern="1200" dirty="0">
                <a:latin typeface="+mn-lt"/>
                <a:ea typeface="+mn-ea"/>
                <a:cs typeface="等线" panose="02010600030101010101" charset="-122"/>
              </a:rPr>
              <a:t>要判断一周中的某一天是否为工作日，同样使用数字</a:t>
            </a:r>
            <a:r>
              <a:rPr lang="en-US" altLang="zh-CN" kern="1200" dirty="0">
                <a:latin typeface="+mn-lt"/>
                <a:ea typeface="+mn-ea"/>
                <a:cs typeface="等线" panose="02010600030101010101" charset="-122"/>
              </a:rPr>
              <a:t>1~7</a:t>
            </a:r>
            <a:r>
              <a:rPr lang="zh-CN" altLang="zh-CN" kern="1200" dirty="0">
                <a:latin typeface="+mn-lt"/>
                <a:ea typeface="+mn-ea"/>
                <a:cs typeface="等线" panose="02010600030101010101" charset="-122"/>
              </a:rPr>
              <a:t>来表示星期一到星期天，当输入的数字为</a:t>
            </a:r>
            <a:r>
              <a:rPr lang="en-US" altLang="zh-CN" kern="1200" dirty="0">
                <a:latin typeface="+mn-lt"/>
                <a:ea typeface="+mn-ea"/>
                <a:cs typeface="等线" panose="02010600030101010101" charset="-122"/>
              </a:rPr>
              <a:t>1</a:t>
            </a:r>
            <a:r>
              <a:rPr lang="zh-CN" altLang="zh-CN" kern="1200" dirty="0">
                <a:latin typeface="+mn-lt"/>
                <a:ea typeface="+mn-ea"/>
                <a:cs typeface="等线" panose="02010600030101010101" charset="-122"/>
              </a:rPr>
              <a:t>、</a:t>
            </a:r>
            <a:r>
              <a:rPr lang="en-US" altLang="zh-CN" kern="1200" dirty="0">
                <a:latin typeface="+mn-lt"/>
                <a:ea typeface="+mn-ea"/>
                <a:cs typeface="等线" panose="02010600030101010101" charset="-122"/>
              </a:rPr>
              <a:t>2</a:t>
            </a:r>
            <a:r>
              <a:rPr lang="zh-CN" altLang="zh-CN" kern="1200" dirty="0">
                <a:latin typeface="+mn-lt"/>
                <a:ea typeface="+mn-ea"/>
                <a:cs typeface="等线" panose="02010600030101010101" charset="-122"/>
              </a:rPr>
              <a:t>、</a:t>
            </a:r>
            <a:r>
              <a:rPr lang="en-US" altLang="zh-CN" kern="1200" dirty="0">
                <a:latin typeface="+mn-lt"/>
                <a:ea typeface="+mn-ea"/>
                <a:cs typeface="等线" panose="02010600030101010101" charset="-122"/>
              </a:rPr>
              <a:t>3</a:t>
            </a:r>
            <a:r>
              <a:rPr lang="zh-CN" altLang="zh-CN" kern="1200" dirty="0">
                <a:latin typeface="+mn-lt"/>
                <a:ea typeface="+mn-ea"/>
                <a:cs typeface="等线" panose="02010600030101010101" charset="-122"/>
              </a:rPr>
              <a:t>、</a:t>
            </a:r>
            <a:r>
              <a:rPr lang="en-US" altLang="zh-CN" kern="1200" dirty="0">
                <a:latin typeface="+mn-lt"/>
                <a:ea typeface="+mn-ea"/>
                <a:cs typeface="等线" panose="02010600030101010101" charset="-122"/>
              </a:rPr>
              <a:t>4</a:t>
            </a:r>
            <a:r>
              <a:rPr lang="zh-CN" altLang="zh-CN" kern="1200" dirty="0">
                <a:latin typeface="+mn-lt"/>
                <a:ea typeface="+mn-ea"/>
                <a:cs typeface="等线" panose="02010600030101010101" charset="-122"/>
              </a:rPr>
              <a:t>、</a:t>
            </a:r>
            <a:r>
              <a:rPr lang="en-US" altLang="zh-CN" kern="1200" dirty="0">
                <a:latin typeface="+mn-lt"/>
                <a:ea typeface="+mn-ea"/>
                <a:cs typeface="等线" panose="02010600030101010101" charset="-122"/>
              </a:rPr>
              <a:t>5</a:t>
            </a:r>
            <a:r>
              <a:rPr lang="zh-CN" altLang="zh-CN" kern="1200" dirty="0">
                <a:latin typeface="+mn-lt"/>
                <a:ea typeface="+mn-ea"/>
                <a:cs typeface="等线" panose="02010600030101010101" charset="-122"/>
              </a:rPr>
              <a:t>时就视为工作日，否则就视为休息日。</a:t>
            </a:r>
            <a:endParaRPr lang="en-US" altLang="zh-CN" kern="1200" dirty="0">
              <a:latin typeface="+mn-lt"/>
              <a:ea typeface="+mn-ea"/>
              <a:cs typeface="等线" panose="02010600030101010101" charset="-122"/>
            </a:endParaRPr>
          </a:p>
        </p:txBody>
      </p:sp>
      <p:sp>
        <p:nvSpPr>
          <p:cNvPr id="7"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2.4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选择结构语句</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70660"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内容占位符 2"/>
          <p:cNvSpPr>
            <a:spLocks noGrp="1"/>
          </p:cNvSpPr>
          <p:nvPr>
            <p:ph idx="1"/>
          </p:nvPr>
        </p:nvSpPr>
        <p:spPr>
          <a:xfrm>
            <a:off x="373063" y="1812925"/>
            <a:ext cx="8158162" cy="4346575"/>
          </a:xfrm>
          <a:ln>
            <a:solidFill>
              <a:srgbClr val="009ED6">
                <a:alpha val="100000"/>
              </a:srgbClr>
            </a:solidFill>
            <a:miter lim="800000"/>
          </a:ln>
        </p:spPr>
        <p:txBody>
          <a:bodyPr vert="horz" wrap="square" lIns="91440" tIns="45720" rIns="91440" bIns="45720" anchor="t" anchorCtr="0"/>
          <a:p>
            <a:pPr lvl="1" eaLnBrk="1" hangingPunct="1">
              <a:buFont typeface="Wingdings" panose="05000000000000000000" pitchFamily="2" charset="2"/>
              <a:buChar char="Ø"/>
            </a:pPr>
            <a:r>
              <a:rPr lang="en-US" altLang="zh-CN" kern="1200" dirty="0">
                <a:latin typeface="+mn-lt"/>
                <a:ea typeface="+mn-ea"/>
                <a:cs typeface="等线" panose="02010600030101010101" charset="-122"/>
              </a:rPr>
              <a:t>while</a:t>
            </a:r>
            <a:r>
              <a:rPr lang="zh-CN" altLang="zh-CN" kern="1200" dirty="0">
                <a:latin typeface="+mn-lt"/>
                <a:ea typeface="+mn-ea"/>
                <a:cs typeface="等线" panose="02010600030101010101" charset="-122"/>
              </a:rPr>
              <a:t>语句</a:t>
            </a:r>
            <a:r>
              <a:rPr lang="zh-CN" altLang="en-US" kern="1200" dirty="0">
                <a:latin typeface="+mn-lt"/>
                <a:ea typeface="+mn-ea"/>
                <a:cs typeface="等线" panose="02010600030101010101" charset="-122"/>
              </a:rPr>
              <a:t>和</a:t>
            </a:r>
            <a:r>
              <a:rPr lang="en-US" altLang="zh-CN" kern="1200" dirty="0">
                <a:latin typeface="+mn-lt"/>
                <a:ea typeface="+mn-ea"/>
                <a:cs typeface="等线" panose="02010600030101010101" charset="-122"/>
              </a:rPr>
              <a:t>if</a:t>
            </a:r>
            <a:r>
              <a:rPr lang="zh-CN" altLang="en-US" kern="1200" dirty="0">
                <a:latin typeface="+mn-lt"/>
                <a:ea typeface="+mn-ea"/>
                <a:cs typeface="等线" panose="02010600030101010101" charset="-122"/>
              </a:rPr>
              <a:t>条件语句有点类似，都是根据条件判断来决定是否执行后面的代码，区别在于，</a:t>
            </a:r>
            <a:r>
              <a:rPr lang="en-US" altLang="zh-CN" kern="1200" dirty="0">
                <a:latin typeface="+mn-lt"/>
                <a:ea typeface="+mn-ea"/>
                <a:cs typeface="等线" panose="02010600030101010101" charset="-122"/>
              </a:rPr>
              <a:t>while</a:t>
            </a:r>
            <a:r>
              <a:rPr lang="zh-CN" altLang="en-US" kern="1200" dirty="0">
                <a:latin typeface="+mn-lt"/>
                <a:ea typeface="+mn-ea"/>
                <a:cs typeface="等线" panose="02010600030101010101" charset="-122"/>
              </a:rPr>
              <a:t>循环语句</a:t>
            </a:r>
            <a:r>
              <a:rPr lang="zh-CN" altLang="zh-CN" kern="1200" dirty="0">
                <a:latin typeface="+mn-lt"/>
                <a:ea typeface="+mn-ea"/>
                <a:cs typeface="等线" panose="02010600030101010101" charset="-122"/>
              </a:rPr>
              <a:t>会反复地进行条件判断，只要条件成立，</a:t>
            </a:r>
            <a:r>
              <a:rPr lang="en-US" altLang="zh-CN" kern="1200" dirty="0">
                <a:latin typeface="+mn-lt"/>
                <a:ea typeface="+mn-ea"/>
                <a:cs typeface="等线" panose="02010600030101010101" charset="-122"/>
              </a:rPr>
              <a:t>{}</a:t>
            </a:r>
            <a:r>
              <a:rPr lang="zh-CN" altLang="zh-CN" kern="1200" dirty="0">
                <a:latin typeface="+mn-lt"/>
                <a:ea typeface="+mn-ea"/>
                <a:cs typeface="等线" panose="02010600030101010101" charset="-122"/>
              </a:rPr>
              <a:t>内的执行语句就会执行，直到条件不成立，</a:t>
            </a:r>
            <a:r>
              <a:rPr lang="en-US" altLang="zh-CN" kern="1200" dirty="0">
                <a:latin typeface="+mn-lt"/>
                <a:ea typeface="+mn-ea"/>
                <a:cs typeface="等线" panose="02010600030101010101" charset="-122"/>
              </a:rPr>
              <a:t>while</a:t>
            </a:r>
            <a:r>
              <a:rPr lang="zh-CN" altLang="zh-CN" kern="1200" dirty="0">
                <a:latin typeface="+mn-lt"/>
                <a:ea typeface="+mn-ea"/>
                <a:cs typeface="等线" panose="02010600030101010101" charset="-122"/>
              </a:rPr>
              <a:t>循环结束。</a:t>
            </a:r>
            <a:endParaRPr lang="en-US" altLang="zh-CN" kern="1200" dirty="0">
              <a:latin typeface="+mn-lt"/>
              <a:ea typeface="+mn-ea"/>
              <a:cs typeface="等线" panose="02010600030101010101" charset="-122"/>
            </a:endParaRPr>
          </a:p>
          <a:p>
            <a:pPr lvl="1" eaLnBrk="1" hangingPunct="1">
              <a:buFont typeface="Wingdings" panose="05000000000000000000" pitchFamily="2" charset="2"/>
              <a:buChar char="Ø"/>
            </a:pPr>
            <a:r>
              <a:rPr lang="en-US" altLang="zh-CN" kern="1200" dirty="0">
                <a:latin typeface="+mn-lt"/>
                <a:ea typeface="+mn-ea"/>
                <a:cs typeface="等线" panose="02010600030101010101" charset="-122"/>
              </a:rPr>
              <a:t>while</a:t>
            </a:r>
            <a:r>
              <a:rPr lang="zh-CN" altLang="en-US" kern="1200" dirty="0">
                <a:latin typeface="+mn-lt"/>
                <a:ea typeface="+mn-ea"/>
                <a:cs typeface="等线" panose="02010600030101010101" charset="-122"/>
              </a:rPr>
              <a:t>循环语句的语法结构如下所示：</a:t>
            </a:r>
            <a:endParaRPr lang="en-US" altLang="zh-CN" kern="1200" dirty="0">
              <a:latin typeface="+mn-lt"/>
              <a:ea typeface="+mn-ea"/>
              <a:cs typeface="等线" panose="02010600030101010101" charset="-122"/>
            </a:endParaRPr>
          </a:p>
        </p:txBody>
      </p:sp>
      <p:pic>
        <p:nvPicPr>
          <p:cNvPr id="71683" name="Picture 12"/>
          <p:cNvPicPr>
            <a:picLocks noChangeAspect="1"/>
          </p:cNvPicPr>
          <p:nvPr/>
        </p:nvPicPr>
        <p:blipFill>
          <a:blip r:embed="rId1"/>
          <a:stretch>
            <a:fillRect/>
          </a:stretch>
        </p:blipFill>
        <p:spPr>
          <a:xfrm>
            <a:off x="1857375" y="4356100"/>
            <a:ext cx="5311775" cy="1670050"/>
          </a:xfrm>
          <a:prstGeom prst="rect">
            <a:avLst/>
          </a:prstGeom>
          <a:noFill/>
          <a:ln w="9525">
            <a:noFill/>
          </a:ln>
        </p:spPr>
      </p:pic>
      <p:sp>
        <p:nvSpPr>
          <p:cNvPr id="5" name="剪去对角的矩形 4"/>
          <p:cNvSpPr/>
          <p:nvPr/>
        </p:nvSpPr>
        <p:spPr bwMode="auto">
          <a:xfrm>
            <a:off x="5016500" y="1084263"/>
            <a:ext cx="3454400"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685" name="矩形 5"/>
          <p:cNvSpPr/>
          <p:nvPr/>
        </p:nvSpPr>
        <p:spPr>
          <a:xfrm>
            <a:off x="5564188" y="1084263"/>
            <a:ext cx="2719387" cy="51752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35000"/>
              </a:lnSpc>
              <a:spcBef>
                <a:spcPct val="0"/>
              </a:spcBef>
              <a:buNone/>
            </a:pPr>
            <a:r>
              <a:rPr lang="en-US" altLang="zh-CN" sz="2400" dirty="0">
                <a:solidFill>
                  <a:srgbClr val="00B0F0"/>
                </a:solidFill>
                <a:latin typeface="黑体" panose="02010609060101010101" pitchFamily="49" charset="-122"/>
                <a:ea typeface="黑体" panose="02010609060101010101" pitchFamily="49" charset="-122"/>
              </a:rPr>
              <a:t>while</a:t>
            </a:r>
            <a:r>
              <a:rPr lang="zh-CN" altLang="en-US" sz="2400" dirty="0">
                <a:solidFill>
                  <a:srgbClr val="00B0F0"/>
                </a:solidFill>
                <a:latin typeface="黑体" panose="02010609060101010101" pitchFamily="49" charset="-122"/>
                <a:ea typeface="黑体" panose="02010609060101010101" pitchFamily="49" charset="-122"/>
              </a:rPr>
              <a:t>循环语句</a:t>
            </a:r>
            <a:endParaRPr lang="zh-CN" altLang="zh-CN" sz="2400" dirty="0">
              <a:solidFill>
                <a:srgbClr val="00B0F0"/>
              </a:solidFill>
              <a:latin typeface="黑体" panose="02010609060101010101" pitchFamily="49" charset="-122"/>
              <a:ea typeface="黑体" panose="02010609060101010101" pitchFamily="49" charset="-122"/>
            </a:endParaRPr>
          </a:p>
        </p:txBody>
      </p:sp>
      <p:sp>
        <p:nvSpPr>
          <p:cNvPr id="7"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2.5 </a:t>
            </a:r>
            <a:r>
              <a:rPr kumimoji="0" lang="zh-CN" altLang="en-US" sz="36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循环结构语句</a:t>
            </a:r>
            <a:endParaRPr kumimoji="0" lang="zh-CN" altLang="en-US" sz="3600" b="1" i="0" u="none" strike="noStrike" kern="1200" cap="none" spc="0" normalizeH="0" baseline="0" noProof="0" dirty="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71687"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内容占位符 2"/>
          <p:cNvSpPr>
            <a:spLocks noGrp="1"/>
          </p:cNvSpPr>
          <p:nvPr>
            <p:ph idx="1"/>
          </p:nvPr>
        </p:nvSpPr>
        <p:spPr>
          <a:xfrm>
            <a:off x="287338" y="1892300"/>
            <a:ext cx="8388350" cy="3403600"/>
          </a:xfrm>
          <a:ln>
            <a:solidFill>
              <a:srgbClr val="009ED6">
                <a:alpha val="100000"/>
              </a:srgbClr>
            </a:solidFill>
            <a:miter lim="800000"/>
          </a:ln>
        </p:spPr>
        <p:txBody>
          <a:bodyPr vert="horz" wrap="square" lIns="91440" tIns="45720" rIns="91440" bIns="45720" anchor="t" anchorCtr="0"/>
          <a:p>
            <a:pPr lvl="1" eaLnBrk="1" hangingPunct="1">
              <a:lnSpc>
                <a:spcPct val="200000"/>
              </a:lnSpc>
              <a:buFont typeface="Wingdings" panose="05000000000000000000" pitchFamily="2" charset="2"/>
              <a:buChar char="Ø"/>
            </a:pPr>
            <a:r>
              <a:rPr lang="en-US" altLang="zh-CN" kern="1200" dirty="0">
                <a:latin typeface="+mn-lt"/>
                <a:ea typeface="+mn-ea"/>
                <a:cs typeface="等线" panose="02010600030101010101" charset="-122"/>
              </a:rPr>
              <a:t>do…while</a:t>
            </a:r>
            <a:r>
              <a:rPr lang="zh-CN" altLang="zh-CN" kern="1200" dirty="0">
                <a:latin typeface="+mn-lt"/>
                <a:ea typeface="+mn-ea"/>
                <a:cs typeface="等线" panose="02010600030101010101" charset="-122"/>
              </a:rPr>
              <a:t>循环语句和</a:t>
            </a:r>
            <a:r>
              <a:rPr lang="en-US" altLang="zh-CN" kern="1200" dirty="0">
                <a:latin typeface="+mn-lt"/>
                <a:ea typeface="+mn-ea"/>
                <a:cs typeface="等线" panose="02010600030101010101" charset="-122"/>
              </a:rPr>
              <a:t>while</a:t>
            </a:r>
            <a:r>
              <a:rPr lang="zh-CN" altLang="zh-CN" kern="1200" dirty="0">
                <a:latin typeface="+mn-lt"/>
                <a:ea typeface="+mn-ea"/>
                <a:cs typeface="等线" panose="02010600030101010101" charset="-122"/>
              </a:rPr>
              <a:t>循环语句功能类似</a:t>
            </a:r>
            <a:r>
              <a:rPr lang="zh-CN" altLang="en-US" kern="1200" dirty="0">
                <a:latin typeface="+mn-lt"/>
                <a:ea typeface="+mn-ea"/>
                <a:cs typeface="等线" panose="02010600030101010101" charset="-122"/>
              </a:rPr>
              <a:t>，其语法结构如下所示：</a:t>
            </a:r>
            <a:endParaRPr lang="en-US" altLang="zh-CN" kern="1200" dirty="0">
              <a:latin typeface="+mn-lt"/>
              <a:ea typeface="+mn-ea"/>
              <a:cs typeface="等线" panose="02010600030101010101" charset="-122"/>
            </a:endParaRPr>
          </a:p>
          <a:p>
            <a:pPr lvl="1" eaLnBrk="1" hangingPunct="1"/>
            <a:endParaRPr lang="en-US" altLang="zh-CN" kern="1200" dirty="0">
              <a:latin typeface="+mn-lt"/>
              <a:ea typeface="+mn-ea"/>
              <a:cs typeface="等线" panose="02010600030101010101" charset="-122"/>
            </a:endParaRPr>
          </a:p>
          <a:p>
            <a:pPr lvl="1" eaLnBrk="1" hangingPunct="1"/>
            <a:endParaRPr lang="en-US" altLang="zh-CN" kern="1200" dirty="0">
              <a:latin typeface="+mn-lt"/>
              <a:ea typeface="+mn-ea"/>
              <a:cs typeface="等线" panose="02010600030101010101" charset="-122"/>
            </a:endParaRPr>
          </a:p>
          <a:p>
            <a:pPr lvl="1" eaLnBrk="1" hangingPunct="1"/>
            <a:endParaRPr lang="en-US" altLang="zh-CN" kern="1200" dirty="0">
              <a:latin typeface="+mn-lt"/>
              <a:ea typeface="+mn-ea"/>
              <a:cs typeface="等线" panose="02010600030101010101" charset="-122"/>
            </a:endParaRPr>
          </a:p>
          <a:p>
            <a:pPr lvl="1" eaLnBrk="1" hangingPunct="1"/>
            <a:endParaRPr lang="en-US" altLang="zh-CN" kern="1200" dirty="0">
              <a:latin typeface="+mn-lt"/>
              <a:ea typeface="+mn-ea"/>
              <a:cs typeface="等线" panose="02010600030101010101" charset="-122"/>
            </a:endParaRPr>
          </a:p>
          <a:p>
            <a:pPr lvl="1" eaLnBrk="1" hangingPunct="1"/>
            <a:endParaRPr lang="en-US" altLang="zh-CN" kern="1200" dirty="0">
              <a:latin typeface="+mn-lt"/>
              <a:ea typeface="+mn-ea"/>
              <a:cs typeface="等线" panose="02010600030101010101" charset="-122"/>
            </a:endParaRPr>
          </a:p>
        </p:txBody>
      </p:sp>
      <p:pic>
        <p:nvPicPr>
          <p:cNvPr id="72707" name="Picture 15"/>
          <p:cNvPicPr>
            <a:picLocks noChangeAspect="1"/>
          </p:cNvPicPr>
          <p:nvPr/>
        </p:nvPicPr>
        <p:blipFill>
          <a:blip r:embed="rId1"/>
          <a:stretch>
            <a:fillRect/>
          </a:stretch>
        </p:blipFill>
        <p:spPr>
          <a:xfrm>
            <a:off x="1603375" y="3221038"/>
            <a:ext cx="6340475" cy="1768475"/>
          </a:xfrm>
          <a:prstGeom prst="rect">
            <a:avLst/>
          </a:prstGeom>
          <a:noFill/>
          <a:ln w="9525">
            <a:noFill/>
          </a:ln>
        </p:spPr>
      </p:pic>
      <p:sp>
        <p:nvSpPr>
          <p:cNvPr id="5" name="剪去对角的矩形 4"/>
          <p:cNvSpPr/>
          <p:nvPr/>
        </p:nvSpPr>
        <p:spPr bwMode="auto">
          <a:xfrm>
            <a:off x="5016500" y="1084263"/>
            <a:ext cx="3454400"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2709" name="矩形 5"/>
          <p:cNvSpPr/>
          <p:nvPr/>
        </p:nvSpPr>
        <p:spPr>
          <a:xfrm>
            <a:off x="5313363" y="1084263"/>
            <a:ext cx="3082925" cy="5905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35000"/>
              </a:lnSpc>
              <a:spcBef>
                <a:spcPct val="0"/>
              </a:spcBef>
              <a:buNone/>
            </a:pPr>
            <a:r>
              <a:rPr lang="en-US" altLang="zh-CN" sz="2400" dirty="0">
                <a:solidFill>
                  <a:srgbClr val="00B0F0"/>
                </a:solidFill>
                <a:latin typeface="黑体" panose="02010609060101010101" pitchFamily="49" charset="-122"/>
                <a:ea typeface="黑体" panose="02010609060101010101" pitchFamily="49" charset="-122"/>
              </a:rPr>
              <a:t>do...while</a:t>
            </a:r>
            <a:r>
              <a:rPr lang="zh-CN" altLang="en-US" sz="2400" dirty="0">
                <a:solidFill>
                  <a:srgbClr val="00B0F0"/>
                </a:solidFill>
                <a:latin typeface="黑体" panose="02010609060101010101" pitchFamily="49" charset="-122"/>
                <a:ea typeface="黑体" panose="02010609060101010101" pitchFamily="49" charset="-122"/>
              </a:rPr>
              <a:t>循环语句</a:t>
            </a:r>
            <a:endParaRPr lang="zh-CN" altLang="zh-CN" sz="2400" dirty="0">
              <a:solidFill>
                <a:srgbClr val="00B0F0"/>
              </a:solidFill>
              <a:latin typeface="黑体" panose="02010609060101010101" pitchFamily="49" charset="-122"/>
              <a:ea typeface="黑体" panose="02010609060101010101" pitchFamily="49" charset="-122"/>
            </a:endParaRPr>
          </a:p>
        </p:txBody>
      </p:sp>
      <p:sp>
        <p:nvSpPr>
          <p:cNvPr id="7"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2.5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循环结构语句</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72711"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9" name="内容占位符 2"/>
          <p:cNvSpPr>
            <a:spLocks noGrp="1"/>
          </p:cNvSpPr>
          <p:nvPr>
            <p:ph idx="1"/>
          </p:nvPr>
        </p:nvSpPr>
        <p:spPr>
          <a:xfrm>
            <a:off x="373063" y="1868488"/>
            <a:ext cx="8158163" cy="4143375"/>
          </a:xfrm>
          <a:ln>
            <a:solidFill>
              <a:srgbClr val="009ED6"/>
            </a:solidFill>
            <a:miter lim="800000"/>
          </a:ln>
        </p:spPr>
        <p:txBody>
          <a:bodyPr vert="horz" wrap="square" lIns="91440" tIns="45720" rIns="91440" bIns="45720" numCol="1" rtlCol="0" anchor="t" anchorCtr="0" compatLnSpc="1">
            <a:normAutofit/>
          </a:bodyPr>
          <a:lstStyle/>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for</a:t>
            </a:r>
            <a:r>
              <a:rPr kumimoji="0" lang="zh-CN" altLang="zh-CN" sz="2000" b="0" i="0" u="none" strike="noStrike" kern="1200" cap="none" spc="0" normalizeH="0" baseline="0" noProof="0" dirty="0">
                <a:ln>
                  <a:noFill/>
                </a:ln>
                <a:solidFill>
                  <a:schemeClr val="tx1"/>
                </a:solidFill>
                <a:effectLst/>
                <a:uLnTx/>
                <a:uFillTx/>
                <a:latin typeface="+mn-lt"/>
                <a:ea typeface="+mn-ea"/>
                <a:cs typeface="+mn-cs"/>
              </a:rPr>
              <a:t>循环语句是最常用的循环语句，一般用在循环次数已知的情况下</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，其语法格式如下所示：</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50000"/>
              </a:lnSpc>
              <a:spcBef>
                <a:spcPts val="500"/>
              </a:spcBef>
              <a:spcAft>
                <a:spcPts val="0"/>
              </a:spcAft>
              <a:buClrTx/>
              <a:buSzTx/>
              <a:buFontTx/>
              <a:buNone/>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在上述语法格式中，</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for</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后面的（）中包括三部分内容，初始化表达式、循环条件和操作表达式，它们之间用“</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分隔，</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中的执行语句为循环体</a:t>
            </a:r>
            <a:endParaRPr kumimoji="0" lang="zh-CN" altLang="en-US"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73731" name="Picture 12"/>
          <p:cNvPicPr>
            <a:picLocks noChangeAspect="1"/>
          </p:cNvPicPr>
          <p:nvPr/>
        </p:nvPicPr>
        <p:blipFill>
          <a:blip r:embed="rId1"/>
          <a:stretch>
            <a:fillRect/>
          </a:stretch>
        </p:blipFill>
        <p:spPr>
          <a:xfrm>
            <a:off x="1247775" y="2984500"/>
            <a:ext cx="6892925" cy="1358900"/>
          </a:xfrm>
          <a:prstGeom prst="rect">
            <a:avLst/>
          </a:prstGeom>
          <a:noFill/>
          <a:ln w="9525">
            <a:noFill/>
          </a:ln>
        </p:spPr>
      </p:pic>
      <p:sp>
        <p:nvSpPr>
          <p:cNvPr id="5" name="剪去对角的矩形 4"/>
          <p:cNvSpPr/>
          <p:nvPr/>
        </p:nvSpPr>
        <p:spPr bwMode="auto">
          <a:xfrm>
            <a:off x="5016500" y="1084263"/>
            <a:ext cx="3454400"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3733" name="矩形 5"/>
          <p:cNvSpPr/>
          <p:nvPr/>
        </p:nvSpPr>
        <p:spPr>
          <a:xfrm>
            <a:off x="5891213" y="1077913"/>
            <a:ext cx="2249487" cy="5905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35000"/>
              </a:lnSpc>
              <a:spcBef>
                <a:spcPct val="0"/>
              </a:spcBef>
              <a:buNone/>
            </a:pPr>
            <a:r>
              <a:rPr lang="en-US" altLang="zh-CN" sz="2400" dirty="0">
                <a:solidFill>
                  <a:srgbClr val="00B0F0"/>
                </a:solidFill>
                <a:latin typeface="黑体" panose="02010609060101010101" pitchFamily="49" charset="-122"/>
                <a:ea typeface="黑体" panose="02010609060101010101" pitchFamily="49" charset="-122"/>
              </a:rPr>
              <a:t>for</a:t>
            </a:r>
            <a:r>
              <a:rPr lang="zh-CN" altLang="en-US" sz="2400" dirty="0">
                <a:solidFill>
                  <a:srgbClr val="00B0F0"/>
                </a:solidFill>
                <a:latin typeface="黑体" panose="02010609060101010101" pitchFamily="49" charset="-122"/>
                <a:ea typeface="黑体" panose="02010609060101010101" pitchFamily="49" charset="-122"/>
              </a:rPr>
              <a:t>循环语句</a:t>
            </a:r>
            <a:endParaRPr lang="zh-CN" altLang="zh-CN" sz="2400" dirty="0">
              <a:solidFill>
                <a:srgbClr val="00B0F0"/>
              </a:solidFill>
              <a:latin typeface="黑体" panose="02010609060101010101" pitchFamily="49" charset="-122"/>
              <a:ea typeface="黑体" panose="02010609060101010101" pitchFamily="49" charset="-122"/>
            </a:endParaRPr>
          </a:p>
        </p:txBody>
      </p:sp>
      <p:sp>
        <p:nvSpPr>
          <p:cNvPr id="7"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2.5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循环结构语句</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73735"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内容占位符 2"/>
          <p:cNvSpPr>
            <a:spLocks noGrp="1"/>
          </p:cNvSpPr>
          <p:nvPr>
            <p:ph idx="1"/>
          </p:nvPr>
        </p:nvSpPr>
        <p:spPr>
          <a:xfrm>
            <a:off x="385763" y="1066800"/>
            <a:ext cx="8158162" cy="5316538"/>
          </a:xfrm>
          <a:ln>
            <a:solidFill>
              <a:srgbClr val="009ED6">
                <a:alpha val="100000"/>
              </a:srgbClr>
            </a:solidFill>
            <a:miter lim="800000"/>
          </a:ln>
        </p:spPr>
        <p:txBody>
          <a:bodyPr vert="horz" wrap="square" lIns="91440" tIns="45720" rIns="91440" bIns="45720" anchor="t" anchorCtr="0"/>
          <a:p>
            <a:pPr lvl="1" eaLnBrk="1" hangingPunct="1">
              <a:buFont typeface="Wingdings" panose="05000000000000000000" pitchFamily="2" charset="2"/>
              <a:buChar char="Ø"/>
            </a:pPr>
            <a:r>
              <a:rPr lang="zh-CN" altLang="en-US" kern="1200" dirty="0">
                <a:latin typeface="+mn-lt"/>
                <a:ea typeface="+mn-ea"/>
                <a:cs typeface="等线" panose="02010600030101010101" charset="-122"/>
              </a:rPr>
              <a:t>如果用①表示初始化表达式、②表示循环条件、③表示操作表达式、④表示循环体，则</a:t>
            </a:r>
            <a:r>
              <a:rPr lang="en-US" altLang="zh-CN" kern="1200" dirty="0">
                <a:latin typeface="+mn-lt"/>
                <a:ea typeface="+mn-ea"/>
                <a:cs typeface="等线" panose="02010600030101010101" charset="-122"/>
              </a:rPr>
              <a:t>for</a:t>
            </a:r>
            <a:r>
              <a:rPr lang="zh-CN" altLang="en-US" kern="1200" dirty="0">
                <a:latin typeface="+mn-lt"/>
                <a:ea typeface="+mn-ea"/>
                <a:cs typeface="等线" panose="02010600030101010101" charset="-122"/>
              </a:rPr>
              <a:t>循环的执行流程如下所示：</a:t>
            </a:r>
            <a:endParaRPr lang="en-US" altLang="zh-CN" kern="1200" dirty="0">
              <a:latin typeface="+mn-lt"/>
              <a:ea typeface="+mn-ea"/>
              <a:cs typeface="等线" panose="02010600030101010101" charset="-122"/>
            </a:endParaRPr>
          </a:p>
        </p:txBody>
      </p:sp>
      <p:pic>
        <p:nvPicPr>
          <p:cNvPr id="74755" name="图片 3" descr="屏幕剪辑"/>
          <p:cNvPicPr>
            <a:picLocks noChangeAspect="1"/>
          </p:cNvPicPr>
          <p:nvPr/>
        </p:nvPicPr>
        <p:blipFill>
          <a:blip r:embed="rId1"/>
          <a:stretch>
            <a:fillRect/>
          </a:stretch>
        </p:blipFill>
        <p:spPr>
          <a:xfrm>
            <a:off x="1101725" y="2203450"/>
            <a:ext cx="7332663" cy="2517775"/>
          </a:xfrm>
          <a:prstGeom prst="rect">
            <a:avLst/>
          </a:prstGeom>
          <a:noFill/>
          <a:ln w="9525">
            <a:noFill/>
          </a:ln>
        </p:spPr>
      </p:pic>
      <p:sp>
        <p:nvSpPr>
          <p:cNvPr id="8"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2.5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循环结构语句</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74757"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内容占位符 2"/>
          <p:cNvSpPr>
            <a:spLocks noGrp="1"/>
          </p:cNvSpPr>
          <p:nvPr>
            <p:ph idx="1"/>
          </p:nvPr>
        </p:nvSpPr>
        <p:spPr>
          <a:xfrm>
            <a:off x="361950" y="1725613"/>
            <a:ext cx="8158163" cy="4933950"/>
          </a:xfrm>
          <a:ln>
            <a:solidFill>
              <a:srgbClr val="009ED6">
                <a:alpha val="100000"/>
              </a:srgbClr>
            </a:solidFill>
            <a:miter lim="800000"/>
          </a:ln>
        </p:spPr>
        <p:txBody>
          <a:bodyPr vert="horz" wrap="square" lIns="91440" tIns="45720" rIns="91440" bIns="45720" anchor="t" anchorCtr="0"/>
          <a:p>
            <a:pPr lvl="1" eaLnBrk="1" hangingPunct="1">
              <a:buFont typeface="Wingdings" panose="05000000000000000000" pitchFamily="2" charset="2"/>
              <a:buChar char="Ø"/>
            </a:pPr>
            <a:r>
              <a:rPr lang="zh-CN" altLang="zh-CN" kern="1200" dirty="0">
                <a:latin typeface="+mn-lt"/>
                <a:ea typeface="+mn-ea"/>
                <a:cs typeface="等线" panose="02010600030101010101" charset="-122"/>
              </a:rPr>
              <a:t>嵌套循环是指在一个循环语句的循环体中再定义一个循环语句的语法结构。</a:t>
            </a:r>
            <a:r>
              <a:rPr lang="en-US" altLang="zh-CN" kern="1200" dirty="0">
                <a:latin typeface="+mn-lt"/>
                <a:ea typeface="+mn-ea"/>
                <a:cs typeface="等线" panose="02010600030101010101" charset="-122"/>
              </a:rPr>
              <a:t>while</a:t>
            </a:r>
            <a:r>
              <a:rPr lang="zh-CN" altLang="zh-CN" kern="1200" dirty="0">
                <a:latin typeface="+mn-lt"/>
                <a:ea typeface="+mn-ea"/>
                <a:cs typeface="等线" panose="02010600030101010101" charset="-122"/>
              </a:rPr>
              <a:t>、</a:t>
            </a:r>
            <a:r>
              <a:rPr lang="en-US" altLang="zh-CN" kern="1200" dirty="0">
                <a:latin typeface="+mn-lt"/>
                <a:ea typeface="+mn-ea"/>
                <a:cs typeface="等线" panose="02010600030101010101" charset="-122"/>
              </a:rPr>
              <a:t>do…while</a:t>
            </a:r>
            <a:r>
              <a:rPr lang="zh-CN" altLang="zh-CN" kern="1200" dirty="0">
                <a:latin typeface="+mn-lt"/>
                <a:ea typeface="+mn-ea"/>
                <a:cs typeface="等线" panose="02010600030101010101" charset="-122"/>
              </a:rPr>
              <a:t>、</a:t>
            </a:r>
            <a:r>
              <a:rPr lang="en-US" altLang="zh-CN" kern="1200" dirty="0">
                <a:latin typeface="+mn-lt"/>
                <a:ea typeface="+mn-ea"/>
                <a:cs typeface="等线" panose="02010600030101010101" charset="-122"/>
              </a:rPr>
              <a:t>for</a:t>
            </a:r>
            <a:r>
              <a:rPr lang="zh-CN" altLang="zh-CN" kern="1200" dirty="0">
                <a:latin typeface="+mn-lt"/>
                <a:ea typeface="+mn-ea"/>
                <a:cs typeface="等线" panose="02010600030101010101" charset="-122"/>
              </a:rPr>
              <a:t>循环语句都可以进行嵌套，并且它们之间也可以互相嵌套，如最常见的在</a:t>
            </a:r>
            <a:r>
              <a:rPr lang="en-US" altLang="zh-CN" kern="1200" dirty="0">
                <a:latin typeface="+mn-lt"/>
                <a:ea typeface="+mn-ea"/>
                <a:cs typeface="等线" panose="02010600030101010101" charset="-122"/>
              </a:rPr>
              <a:t>for</a:t>
            </a:r>
            <a:r>
              <a:rPr lang="zh-CN" altLang="zh-CN" kern="1200" dirty="0">
                <a:latin typeface="+mn-lt"/>
                <a:ea typeface="+mn-ea"/>
                <a:cs typeface="等线" panose="02010600030101010101" charset="-122"/>
              </a:rPr>
              <a:t>循环中嵌套</a:t>
            </a:r>
            <a:r>
              <a:rPr lang="en-US" altLang="zh-CN" kern="1200" dirty="0">
                <a:latin typeface="+mn-lt"/>
                <a:ea typeface="+mn-ea"/>
                <a:cs typeface="等线" panose="02010600030101010101" charset="-122"/>
              </a:rPr>
              <a:t>for</a:t>
            </a:r>
            <a:r>
              <a:rPr lang="zh-CN" altLang="zh-CN" kern="1200" dirty="0">
                <a:latin typeface="+mn-lt"/>
                <a:ea typeface="+mn-ea"/>
                <a:cs typeface="等线" panose="02010600030101010101" charset="-122"/>
              </a:rPr>
              <a:t>循环，格式如下</a:t>
            </a:r>
            <a:r>
              <a:rPr lang="zh-CN" altLang="en-US" kern="1200" dirty="0">
                <a:latin typeface="+mn-lt"/>
                <a:ea typeface="+mn-ea"/>
                <a:cs typeface="等线" panose="02010600030101010101" charset="-122"/>
              </a:rPr>
              <a:t>：</a:t>
            </a:r>
            <a:endParaRPr lang="en-US" altLang="zh-CN" b="1" kern="1200" dirty="0">
              <a:solidFill>
                <a:srgbClr val="009ED6"/>
              </a:solidFill>
              <a:latin typeface="+mn-lt"/>
              <a:ea typeface="+mn-ea"/>
              <a:cs typeface="等线" panose="02010600030101010101" charset="-122"/>
            </a:endParaRPr>
          </a:p>
        </p:txBody>
      </p:sp>
      <p:pic>
        <p:nvPicPr>
          <p:cNvPr id="75779" name="Picture 5"/>
          <p:cNvPicPr>
            <a:picLocks noChangeAspect="1"/>
          </p:cNvPicPr>
          <p:nvPr/>
        </p:nvPicPr>
        <p:blipFill>
          <a:blip r:embed="rId1"/>
          <a:stretch>
            <a:fillRect/>
          </a:stretch>
        </p:blipFill>
        <p:spPr>
          <a:xfrm>
            <a:off x="1741488" y="3776663"/>
            <a:ext cx="5854700" cy="1925637"/>
          </a:xfrm>
          <a:prstGeom prst="rect">
            <a:avLst/>
          </a:prstGeom>
          <a:noFill/>
          <a:ln w="9525">
            <a:noFill/>
          </a:ln>
        </p:spPr>
      </p:pic>
      <p:sp>
        <p:nvSpPr>
          <p:cNvPr id="5" name="剪去对角的矩形 4"/>
          <p:cNvSpPr/>
          <p:nvPr/>
        </p:nvSpPr>
        <p:spPr bwMode="auto">
          <a:xfrm>
            <a:off x="5016500" y="1084263"/>
            <a:ext cx="3454400"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5781" name="矩形 5"/>
          <p:cNvSpPr/>
          <p:nvPr/>
        </p:nvSpPr>
        <p:spPr>
          <a:xfrm>
            <a:off x="5986463" y="1085850"/>
            <a:ext cx="2249487" cy="51752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35000"/>
              </a:lnSpc>
              <a:spcBef>
                <a:spcPct val="0"/>
              </a:spcBef>
              <a:buNone/>
            </a:pPr>
            <a:r>
              <a:rPr lang="zh-CN" altLang="en-US" sz="2400" dirty="0">
                <a:solidFill>
                  <a:srgbClr val="00B0F0"/>
                </a:solidFill>
                <a:latin typeface="黑体" panose="02010609060101010101" pitchFamily="49" charset="-122"/>
                <a:ea typeface="黑体" panose="02010609060101010101" pitchFamily="49" charset="-122"/>
              </a:rPr>
              <a:t>循环嵌套</a:t>
            </a:r>
            <a:endParaRPr lang="zh-CN" altLang="zh-CN" sz="2400" dirty="0">
              <a:solidFill>
                <a:srgbClr val="00B0F0"/>
              </a:solidFill>
              <a:latin typeface="黑体" panose="02010609060101010101" pitchFamily="49" charset="-122"/>
              <a:ea typeface="黑体" panose="02010609060101010101" pitchFamily="49" charset="-122"/>
            </a:endParaRPr>
          </a:p>
        </p:txBody>
      </p:sp>
      <p:sp>
        <p:nvSpPr>
          <p:cNvPr id="10"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2.5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循环结构语句</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75783"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10"/>
                                        </p:tgtEl>
                                      </p:cBhvr>
                                    </p:animEffect>
                                    <p:animScale>
                                      <p:cBhvr>
                                        <p:cTn id="7" dur="250" autoRev="1" fill="hold"/>
                                        <p:tgtEl>
                                          <p:spTgt spid="1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内容占位符 2"/>
          <p:cNvSpPr>
            <a:spLocks noGrp="1" noChangeArrowheads="1"/>
          </p:cNvSpPr>
          <p:nvPr>
            <p:ph idx="1"/>
          </p:nvPr>
        </p:nvSpPr>
        <p:spPr>
          <a:xfrm>
            <a:off x="361950" y="1820863"/>
            <a:ext cx="8158163" cy="3743325"/>
          </a:xfrm>
          <a:ln>
            <a:solidFill>
              <a:srgbClr val="009ED6"/>
            </a:solidFill>
            <a:miter lim="800000"/>
          </a:ln>
        </p:spPr>
        <p:txBody>
          <a:bodyPr vert="horz" wrap="square" lIns="91440" tIns="45720" rIns="91440" bIns="45720" numCol="1" anchor="t" anchorCtr="0" compatLnSpc="1"/>
          <a:lstStyle/>
          <a:p>
            <a:pPr marL="685800" marR="0" lvl="1" indent="-228600" algn="l" defTabSz="914400" rtl="0" eaLnBrk="1" fontAlgn="base" latinLnBrk="0" hangingPunct="1">
              <a:lnSpc>
                <a:spcPct val="200000"/>
              </a:lnSpc>
              <a:spcBef>
                <a:spcPts val="500"/>
              </a:spcBef>
              <a:spcAft>
                <a:spcPct val="0"/>
              </a:spcAft>
              <a:buClrTx/>
              <a:buSzTx/>
              <a:buFont typeface="Wingdings" panose="05000000000000000000" pitchFamily="2" charset="2"/>
              <a:buChar char="Ø"/>
              <a:defRPr/>
            </a:pPr>
            <a:r>
              <a:rPr kumimoji="0" lang="zh-CN" altLang="zh-CN" sz="2000" b="0" i="0" u="none" strike="noStrike" kern="1200" cap="none" spc="0" normalizeH="0" baseline="0" noProof="0" dirty="0">
                <a:ln>
                  <a:noFill/>
                </a:ln>
                <a:solidFill>
                  <a:schemeClr val="tx1"/>
                </a:solidFill>
                <a:effectLst/>
                <a:uLnTx/>
                <a:uFillTx/>
                <a:latin typeface="+mn-lt"/>
                <a:ea typeface="+mn-ea"/>
                <a:cs typeface="等线" panose="02010600030101010101" charset="-122"/>
              </a:rPr>
              <a:t>跳转语句用于实现循环执行过程中程序流程的跳转，在</a:t>
            </a:r>
            <a:r>
              <a:rPr kumimoji="0" lang="en-US" altLang="zh-CN" sz="2000" b="0" i="0" u="none" strike="noStrike" kern="1200" cap="none" spc="0" normalizeH="0" baseline="0" noProof="0" dirty="0">
                <a:ln>
                  <a:noFill/>
                </a:ln>
                <a:solidFill>
                  <a:schemeClr val="tx1"/>
                </a:solidFill>
                <a:effectLst/>
                <a:uLnTx/>
                <a:uFillTx/>
                <a:latin typeface="+mn-lt"/>
                <a:ea typeface="+mn-ea"/>
                <a:cs typeface="等线" panose="02010600030101010101" charset="-122"/>
              </a:rPr>
              <a:t>Java</a:t>
            </a:r>
            <a:r>
              <a:rPr kumimoji="0" lang="zh-CN" altLang="zh-CN" sz="2000" b="0" i="0" u="none" strike="noStrike" kern="1200" cap="none" spc="0" normalizeH="0" baseline="0" noProof="0" dirty="0">
                <a:ln>
                  <a:noFill/>
                </a:ln>
                <a:solidFill>
                  <a:schemeClr val="tx1"/>
                </a:solidFill>
                <a:effectLst/>
                <a:uLnTx/>
                <a:uFillTx/>
                <a:latin typeface="+mn-lt"/>
                <a:ea typeface="+mn-ea"/>
                <a:cs typeface="等线" panose="02010600030101010101" charset="-122"/>
              </a:rPr>
              <a:t>中的跳转语句有</a:t>
            </a:r>
            <a:r>
              <a:rPr kumimoji="0" lang="en-US" altLang="zh-CN" sz="2000" b="0" i="0" u="none" strike="noStrike" kern="1200" cap="none" spc="0" normalizeH="0" baseline="0" noProof="0" dirty="0">
                <a:ln>
                  <a:noFill/>
                </a:ln>
                <a:solidFill>
                  <a:schemeClr val="tx1"/>
                </a:solidFill>
                <a:effectLst/>
                <a:uLnTx/>
                <a:uFillTx/>
                <a:latin typeface="+mn-lt"/>
                <a:ea typeface="+mn-ea"/>
                <a:cs typeface="等线" panose="02010600030101010101" charset="-122"/>
              </a:rPr>
              <a:t>break</a:t>
            </a:r>
            <a:r>
              <a:rPr kumimoji="0" lang="zh-CN" altLang="zh-CN" sz="2000" b="0" i="0" u="none" strike="noStrike" kern="1200" cap="none" spc="0" normalizeH="0" baseline="0" noProof="0" dirty="0">
                <a:ln>
                  <a:noFill/>
                </a:ln>
                <a:solidFill>
                  <a:schemeClr val="tx1"/>
                </a:solidFill>
                <a:effectLst/>
                <a:uLnTx/>
                <a:uFillTx/>
                <a:latin typeface="+mn-lt"/>
                <a:ea typeface="+mn-ea"/>
                <a:cs typeface="等线" panose="02010600030101010101" charset="-122"/>
              </a:rPr>
              <a:t>语句和</a:t>
            </a:r>
            <a:r>
              <a:rPr kumimoji="0" lang="en-US" altLang="zh-CN" sz="2000" b="0" i="0" u="none" strike="noStrike" kern="1200" cap="none" spc="0" normalizeH="0" baseline="0" noProof="0" dirty="0">
                <a:ln>
                  <a:noFill/>
                </a:ln>
                <a:solidFill>
                  <a:schemeClr val="tx1"/>
                </a:solidFill>
                <a:effectLst/>
                <a:uLnTx/>
                <a:uFillTx/>
                <a:latin typeface="+mn-lt"/>
                <a:ea typeface="+mn-ea"/>
                <a:cs typeface="等线" panose="02010600030101010101" charset="-122"/>
              </a:rPr>
              <a:t>continue</a:t>
            </a:r>
            <a:r>
              <a:rPr kumimoji="0" lang="zh-CN" altLang="zh-CN" sz="2000" b="0" i="0" u="none" strike="noStrike" kern="1200" cap="none" spc="0" normalizeH="0" baseline="0" noProof="0" dirty="0">
                <a:ln>
                  <a:noFill/>
                </a:ln>
                <a:solidFill>
                  <a:schemeClr val="tx1"/>
                </a:solidFill>
                <a:effectLst/>
                <a:uLnTx/>
                <a:uFillTx/>
                <a:latin typeface="+mn-lt"/>
                <a:ea typeface="+mn-ea"/>
                <a:cs typeface="等线" panose="02010600030101010101" charset="-122"/>
              </a:rPr>
              <a:t>语句</a:t>
            </a:r>
            <a:r>
              <a:rPr kumimoji="0" lang="zh-CN" altLang="en-US" sz="20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endParaRPr kumimoji="0" lang="en-US" altLang="zh-CN" sz="2000" b="0" i="0" u="none" strike="noStrike" kern="1200" cap="none" spc="0" normalizeH="0" baseline="0" noProof="0" dirty="0">
              <a:ln>
                <a:noFill/>
              </a:ln>
              <a:solidFill>
                <a:schemeClr val="tx1"/>
              </a:solidFill>
              <a:effectLst/>
              <a:uLnTx/>
              <a:uFillTx/>
              <a:latin typeface="+mn-lt"/>
              <a:ea typeface="+mn-ea"/>
              <a:cs typeface="等线" panose="02010600030101010101" charset="-122"/>
            </a:endParaRPr>
          </a:p>
          <a:p>
            <a:pPr marL="457200" marR="0" lvl="1" indent="0" algn="l" defTabSz="914400" rtl="0" eaLnBrk="1" fontAlgn="base" latinLnBrk="0" hangingPunct="1">
              <a:lnSpc>
                <a:spcPct val="200000"/>
              </a:lnSpc>
              <a:spcBef>
                <a:spcPts val="50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1</a:t>
            </a:r>
            <a:r>
              <a:rPr kumimoji="0" lang="zh-CN" altLang="en-US"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break</a:t>
            </a:r>
            <a:r>
              <a:rPr kumimoji="0" lang="zh-CN" altLang="en-US" sz="1800" b="0" i="0" u="none" strike="noStrike" kern="1200" cap="none" spc="0" normalizeH="0" baseline="0" noProof="0" dirty="0">
                <a:ln>
                  <a:noFill/>
                </a:ln>
                <a:solidFill>
                  <a:schemeClr val="tx1"/>
                </a:solidFill>
                <a:effectLst/>
                <a:uLnTx/>
                <a:uFillTx/>
                <a:latin typeface="+mn-lt"/>
                <a:ea typeface="+mn-ea"/>
                <a:cs typeface="等线" panose="02010600030101010101" charset="-122"/>
              </a:rPr>
              <a:t>语句：用在</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switch</a:t>
            </a:r>
            <a:r>
              <a:rPr kumimoji="0" lang="zh-CN" altLang="en-US" sz="1800" b="0" i="0" u="none" strike="noStrike" kern="1200" cap="none" spc="0" normalizeH="0" baseline="0" noProof="0" dirty="0">
                <a:ln>
                  <a:noFill/>
                </a:ln>
                <a:solidFill>
                  <a:schemeClr val="tx1"/>
                </a:solidFill>
                <a:effectLst/>
                <a:uLnTx/>
                <a:uFillTx/>
                <a:latin typeface="+mn-lt"/>
                <a:ea typeface="+mn-ea"/>
                <a:cs typeface="等线" panose="02010600030101010101" charset="-122"/>
              </a:rPr>
              <a:t>条件语句或循环语句中，它的作用是终止某个</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case</a:t>
            </a:r>
            <a:r>
              <a:rPr kumimoji="0" lang="zh-CN" altLang="en-US" sz="1800" b="0" i="0" u="none" strike="noStrike" kern="1200" cap="none" spc="0" normalizeH="0" baseline="0" noProof="0" dirty="0">
                <a:ln>
                  <a:noFill/>
                </a:ln>
                <a:solidFill>
                  <a:schemeClr val="tx1"/>
                </a:solidFill>
                <a:effectLst/>
                <a:uLnTx/>
                <a:uFillTx/>
                <a:latin typeface="+mn-lt"/>
                <a:ea typeface="+mn-ea"/>
                <a:cs typeface="等线" panose="02010600030101010101" charset="-122"/>
              </a:rPr>
              <a:t>并跳出</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switch</a:t>
            </a:r>
            <a:r>
              <a:rPr kumimoji="0" lang="zh-CN" altLang="en-US" sz="1800" b="0" i="0" u="none" strike="noStrike" kern="1200" cap="none" spc="0" normalizeH="0" baseline="0" noProof="0" dirty="0">
                <a:ln>
                  <a:noFill/>
                </a:ln>
                <a:solidFill>
                  <a:schemeClr val="tx1"/>
                </a:solidFill>
                <a:effectLst/>
                <a:uLnTx/>
                <a:uFillTx/>
                <a:latin typeface="+mn-lt"/>
                <a:ea typeface="+mn-ea"/>
                <a:cs typeface="等线" panose="02010600030101010101" charset="-122"/>
              </a:rPr>
              <a:t>结构。</a:t>
            </a:r>
            <a:endPar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endParaRPr>
          </a:p>
          <a:p>
            <a:pPr marL="457200" marR="0" lvl="1" indent="0" algn="l" defTabSz="914400" rtl="0" eaLnBrk="1" fontAlgn="base" latinLnBrk="0" hangingPunct="1">
              <a:lnSpc>
                <a:spcPct val="200000"/>
              </a:lnSpc>
              <a:spcBef>
                <a:spcPts val="500"/>
              </a:spcBef>
              <a:spcAft>
                <a:spcPct val="0"/>
              </a:spcAft>
              <a:buClrTx/>
              <a:buSzTx/>
              <a:buFont typeface="Arial" panose="020B0604020202020204" pitchFamily="34" charset="0"/>
              <a:buNone/>
              <a:defRPr/>
            </a:pPr>
            <a:r>
              <a:rPr kumimoji="0" lang="zh-CN" altLang="en-US"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2</a:t>
            </a:r>
            <a:r>
              <a:rPr kumimoji="0" lang="zh-CN" altLang="en-US" sz="1800" b="0" i="0" u="none" strike="noStrike" kern="1200" cap="none" spc="0" normalizeH="0" baseline="0" noProof="0" dirty="0">
                <a:ln>
                  <a:noFill/>
                </a:ln>
                <a:solidFill>
                  <a:schemeClr val="tx1"/>
                </a:solidFill>
                <a:effectLst/>
                <a:uLnTx/>
                <a:uFillTx/>
                <a:latin typeface="+mn-lt"/>
                <a:ea typeface="+mn-ea"/>
                <a:cs typeface="等线" panose="02010600030101010101" charset="-122"/>
              </a:rPr>
              <a:t>）</a:t>
            </a:r>
            <a:r>
              <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rPr>
              <a:t>continue</a:t>
            </a:r>
            <a:r>
              <a:rPr kumimoji="0" lang="zh-CN" altLang="en-US" sz="1800" b="0" i="0" u="none" strike="noStrike" kern="1200" cap="none" spc="0" normalizeH="0" baseline="0" noProof="0" dirty="0">
                <a:ln>
                  <a:noFill/>
                </a:ln>
                <a:solidFill>
                  <a:schemeClr val="tx1"/>
                </a:solidFill>
                <a:effectLst/>
                <a:uLnTx/>
                <a:uFillTx/>
                <a:latin typeface="+mn-lt"/>
                <a:ea typeface="+mn-ea"/>
                <a:cs typeface="等线" panose="02010600030101010101" charset="-122"/>
              </a:rPr>
              <a:t>语句：用在循环语句中，它的作用是终止本次循环，执行下一次循环。</a:t>
            </a:r>
            <a:endParaRPr kumimoji="0" lang="en-US" altLang="zh-CN" sz="1800" b="0" i="0" u="none" strike="noStrike" kern="1200" cap="none" spc="0" normalizeH="0" baseline="0" noProof="0" dirty="0">
              <a:ln>
                <a:noFill/>
              </a:ln>
              <a:solidFill>
                <a:schemeClr val="tx1"/>
              </a:solidFill>
              <a:effectLst/>
              <a:uLnTx/>
              <a:uFillTx/>
              <a:latin typeface="+mn-lt"/>
              <a:ea typeface="+mn-ea"/>
              <a:cs typeface="等线" panose="02010600030101010101" charset="-122"/>
            </a:endParaRPr>
          </a:p>
        </p:txBody>
      </p:sp>
      <p:sp>
        <p:nvSpPr>
          <p:cNvPr id="4" name="剪去对角的矩形 3"/>
          <p:cNvSpPr/>
          <p:nvPr/>
        </p:nvSpPr>
        <p:spPr bwMode="auto">
          <a:xfrm>
            <a:off x="4192588" y="1084263"/>
            <a:ext cx="4278313"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6804" name="矩形 4"/>
          <p:cNvSpPr/>
          <p:nvPr/>
        </p:nvSpPr>
        <p:spPr>
          <a:xfrm>
            <a:off x="4310063" y="1077913"/>
            <a:ext cx="4210050" cy="5905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35000"/>
              </a:lnSpc>
              <a:spcBef>
                <a:spcPct val="0"/>
              </a:spcBef>
              <a:buNone/>
            </a:pPr>
            <a:r>
              <a:rPr lang="zh-CN" altLang="en-US" sz="2400" dirty="0">
                <a:solidFill>
                  <a:srgbClr val="00B0F0"/>
                </a:solidFill>
                <a:latin typeface="黑体" panose="02010609060101010101" pitchFamily="49" charset="-122"/>
                <a:ea typeface="黑体" panose="02010609060101010101" pitchFamily="49" charset="-122"/>
              </a:rPr>
              <a:t>跳转语句（</a:t>
            </a:r>
            <a:r>
              <a:rPr lang="en-US" altLang="zh-CN" sz="2400" dirty="0">
                <a:solidFill>
                  <a:srgbClr val="00B0F0"/>
                </a:solidFill>
                <a:latin typeface="黑体" panose="02010609060101010101" pitchFamily="49" charset="-122"/>
                <a:ea typeface="黑体" panose="02010609060101010101" pitchFamily="49" charset="-122"/>
              </a:rPr>
              <a:t>break</a:t>
            </a:r>
            <a:r>
              <a:rPr lang="zh-CN" altLang="en-US" sz="2400" dirty="0">
                <a:solidFill>
                  <a:srgbClr val="00B0F0"/>
                </a:solidFill>
                <a:latin typeface="黑体" panose="02010609060101010101" pitchFamily="49" charset="-122"/>
                <a:ea typeface="黑体" panose="02010609060101010101" pitchFamily="49" charset="-122"/>
              </a:rPr>
              <a:t>、</a:t>
            </a:r>
            <a:r>
              <a:rPr lang="en-US" altLang="zh-CN" sz="2400" dirty="0">
                <a:solidFill>
                  <a:srgbClr val="00B0F0"/>
                </a:solidFill>
                <a:latin typeface="黑体" panose="02010609060101010101" pitchFamily="49" charset="-122"/>
                <a:ea typeface="黑体" panose="02010609060101010101" pitchFamily="49" charset="-122"/>
              </a:rPr>
              <a:t>continue</a:t>
            </a:r>
            <a:r>
              <a:rPr lang="zh-CN" altLang="en-US" sz="2400" dirty="0">
                <a:solidFill>
                  <a:srgbClr val="00B0F0"/>
                </a:solidFill>
                <a:latin typeface="黑体" panose="02010609060101010101" pitchFamily="49" charset="-122"/>
                <a:ea typeface="黑体" panose="02010609060101010101" pitchFamily="49" charset="-122"/>
              </a:rPr>
              <a:t>）</a:t>
            </a:r>
            <a:endParaRPr lang="zh-CN" altLang="zh-CN" sz="2400" dirty="0">
              <a:solidFill>
                <a:srgbClr val="00B0F0"/>
              </a:solidFill>
              <a:latin typeface="黑体" panose="02010609060101010101" pitchFamily="49" charset="-122"/>
              <a:ea typeface="黑体" panose="02010609060101010101" pitchFamily="49" charset="-122"/>
            </a:endParaRPr>
          </a:p>
        </p:txBody>
      </p:sp>
      <p:sp>
        <p:nvSpPr>
          <p:cNvPr id="6"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2.5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循环结构语句</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76806"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2.6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方法</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76806"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
        <p:nvSpPr>
          <p:cNvPr id="3" name="Content Placeholder 2"/>
          <p:cNvSpPr>
            <a:spLocks noGrp="1"/>
          </p:cNvSpPr>
          <p:nvPr/>
        </p:nvSpPr>
        <p:spPr>
          <a:xfrm>
            <a:off x="542925" y="1379220"/>
            <a:ext cx="8463280" cy="266827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9pPr>
          </a:lstStyle>
          <a:p>
            <a:pPr>
              <a:lnSpc>
                <a:spcPct val="150000"/>
              </a:lnSpc>
            </a:pPr>
            <a:r>
              <a:rPr lang="zh-CN" altLang="en-US" dirty="0"/>
              <a:t>方法（</a:t>
            </a:r>
            <a:r>
              <a:rPr lang="en-US" dirty="0"/>
              <a:t>Method</a:t>
            </a:r>
            <a:r>
              <a:rPr lang="zh-CN" altLang="en-US" dirty="0"/>
              <a:t>）是一种代码封装的方式，利用方法</a:t>
            </a:r>
            <a:r>
              <a:rPr lang="zh-CN" altLang="en-US"/>
              <a:t>可以重复执行一</a:t>
            </a:r>
            <a:r>
              <a:rPr lang="zh-CN" altLang="en-US" dirty="0"/>
              <a:t>段代码，实现代码复用以提升开发效率。</a:t>
            </a:r>
            <a:endParaRPr lang="en-US" altLang="zh-CN" dirty="0"/>
          </a:p>
          <a:p>
            <a:pPr>
              <a:lnSpc>
                <a:spcPct val="150000"/>
              </a:lnSpc>
            </a:pPr>
            <a:r>
              <a:rPr lang="zh-CN" altLang="en-US" dirty="0"/>
              <a:t>从面向对象的设计角度来看，方法是类的重要组成部分，它是对象行为的高度抽象，通过定义方法操作对象属性等数据，实现业务逻辑。</a:t>
            </a:r>
            <a:endParaRPr lang="en-US" altLang="zh-CN" dirty="0"/>
          </a:p>
          <a:p>
            <a:pPr>
              <a:lnSpc>
                <a:spcPct val="150000"/>
              </a:lnSpc>
            </a:pPr>
            <a:r>
              <a:rPr lang="zh-CN" altLang="en-US" dirty="0"/>
              <a:t>方法必须在类体内部定义，不能独立存在。</a:t>
            </a:r>
            <a:endParaRPr lang="en-US" altLang="zh-CN" dirty="0"/>
          </a:p>
          <a:p>
            <a:endParaRPr lang="en-US" dirty="0"/>
          </a:p>
        </p:txBody>
      </p:sp>
      <p:sp>
        <p:nvSpPr>
          <p:cNvPr id="5" name="Rectangle 4"/>
          <p:cNvSpPr/>
          <p:nvPr/>
        </p:nvSpPr>
        <p:spPr>
          <a:xfrm>
            <a:off x="282575" y="4046855"/>
            <a:ext cx="8861425" cy="1476375"/>
          </a:xfrm>
          <a:prstGeom prst="rect">
            <a:avLst/>
          </a:prstGeom>
          <a:ln>
            <a:solidFill>
              <a:schemeClr val="accent1"/>
            </a:solidFill>
          </a:ln>
        </p:spPr>
        <p:txBody>
          <a:bodyPr wrap="square">
            <a:spAutoFit/>
          </a:bodyPr>
          <a:p>
            <a:pPr indent="269875" algn="just">
              <a:spcAft>
                <a:spcPts val="0"/>
              </a:spcAft>
            </a:pPr>
            <a:r>
              <a:rPr lang="en-US" dirty="0">
                <a:highlight>
                  <a:srgbClr val="FFFF00"/>
                </a:highlight>
                <a:latin typeface="Courier New" panose="02070309020205020404" pitchFamily="49" charset="0"/>
                <a:ea typeface="宋体" panose="02010600030101010101" pitchFamily="2" charset="-122"/>
              </a:rPr>
              <a:t>[</a:t>
            </a:r>
            <a:r>
              <a:rPr lang="zh-CN" altLang="en-US" dirty="0">
                <a:highlight>
                  <a:srgbClr val="FFFF00"/>
                </a:highlight>
                <a:latin typeface="Courier New" panose="02070309020205020404" pitchFamily="49" charset="0"/>
                <a:ea typeface="宋体" panose="02010600030101010101" pitchFamily="2" charset="-122"/>
              </a:rPr>
              <a:t>修饰符</a:t>
            </a:r>
            <a:r>
              <a:rPr lang="en-US" dirty="0">
                <a:highlight>
                  <a:srgbClr val="FFFF00"/>
                </a:highlight>
                <a:latin typeface="Courier New" panose="02070309020205020404" pitchFamily="49" charset="0"/>
                <a:ea typeface="宋体" panose="02010600030101010101" pitchFamily="2" charset="-122"/>
              </a:rPr>
              <a:t>] </a:t>
            </a:r>
            <a:r>
              <a:rPr lang="zh-CN" altLang="en-US" dirty="0">
                <a:latin typeface="Courier New" panose="02070309020205020404" pitchFamily="49" charset="0"/>
                <a:ea typeface="宋体" panose="02010600030101010101" pitchFamily="2" charset="-122"/>
              </a:rPr>
              <a:t>返回值类型 方法名</a:t>
            </a:r>
            <a:r>
              <a:rPr lang="en-US" dirty="0">
                <a:latin typeface="Courier New" panose="02070309020205020404" pitchFamily="49" charset="0"/>
                <a:ea typeface="宋体" panose="02010600030101010101" pitchFamily="2" charset="-122"/>
              </a:rPr>
              <a:t>(</a:t>
            </a:r>
            <a:r>
              <a:rPr lang="en-US" dirty="0">
                <a:highlight>
                  <a:srgbClr val="FFFF00"/>
                </a:highlight>
                <a:latin typeface="Courier New" panose="02070309020205020404" pitchFamily="49" charset="0"/>
                <a:ea typeface="宋体" panose="02010600030101010101" pitchFamily="2" charset="-122"/>
              </a:rPr>
              <a:t>[</a:t>
            </a:r>
            <a:r>
              <a:rPr lang="zh-CN" altLang="en-US" dirty="0">
                <a:highlight>
                  <a:srgbClr val="FFFF00"/>
                </a:highlight>
                <a:latin typeface="Courier New" panose="02070309020205020404" pitchFamily="49" charset="0"/>
                <a:ea typeface="宋体" panose="02010600030101010101" pitchFamily="2" charset="-122"/>
              </a:rPr>
              <a:t>参数类型 参数名</a:t>
            </a:r>
            <a:r>
              <a:rPr lang="en-US" dirty="0">
                <a:highlight>
                  <a:srgbClr val="FFFF00"/>
                </a:highlight>
                <a:latin typeface="Courier New" panose="02070309020205020404" pitchFamily="49" charset="0"/>
                <a:ea typeface="宋体" panose="02010600030101010101" pitchFamily="2" charset="-122"/>
              </a:rPr>
              <a:t>1, </a:t>
            </a:r>
            <a:r>
              <a:rPr lang="zh-CN" altLang="en-US" dirty="0">
                <a:highlight>
                  <a:srgbClr val="FFFF00"/>
                </a:highlight>
                <a:latin typeface="Courier New" panose="02070309020205020404" pitchFamily="49" charset="0"/>
                <a:ea typeface="宋体" panose="02010600030101010101" pitchFamily="2" charset="-122"/>
              </a:rPr>
              <a:t>参数类型 参数名</a:t>
            </a:r>
            <a:r>
              <a:rPr lang="en-US" dirty="0">
                <a:highlight>
                  <a:srgbClr val="FFFF00"/>
                </a:highlight>
                <a:latin typeface="Courier New" panose="02070309020205020404" pitchFamily="49" charset="0"/>
                <a:ea typeface="宋体" panose="02010600030101010101" pitchFamily="2" charset="-122"/>
              </a:rPr>
              <a:t>2, … </a:t>
            </a:r>
            <a:r>
              <a:rPr lang="en-US" dirty="0">
                <a:latin typeface="Courier New" panose="02070309020205020404" pitchFamily="49" charset="0"/>
                <a:ea typeface="宋体" panose="02010600030101010101" pitchFamily="2" charset="-122"/>
              </a:rPr>
              <a:t>){</a:t>
            </a:r>
            <a:endParaRPr lang="en-US" dirty="0">
              <a:latin typeface="Courier New" panose="02070309020205020404" pitchFamily="49" charset="0"/>
              <a:ea typeface="宋体" panose="02010600030101010101" pitchFamily="2" charset="-122"/>
            </a:endParaRPr>
          </a:p>
          <a:p>
            <a:pPr marL="269875" indent="269875" algn="just">
              <a:spcAft>
                <a:spcPts val="0"/>
              </a:spcAft>
            </a:pPr>
            <a:r>
              <a:rPr lang="zh-CN" altLang="en-US" dirty="0">
                <a:latin typeface="Courier New" panose="02070309020205020404" pitchFamily="49" charset="0"/>
                <a:ea typeface="宋体" panose="02010600030101010101" pitchFamily="2" charset="-122"/>
              </a:rPr>
              <a:t>执行语句</a:t>
            </a:r>
            <a:endParaRPr lang="en-US" dirty="0">
              <a:latin typeface="Courier New" panose="02070309020205020404" pitchFamily="49" charset="0"/>
              <a:ea typeface="宋体" panose="02010600030101010101" pitchFamily="2" charset="-122"/>
            </a:endParaRPr>
          </a:p>
          <a:p>
            <a:pPr marL="269875" indent="269875" algn="just">
              <a:spcAft>
                <a:spcPts val="0"/>
              </a:spcAft>
            </a:pPr>
            <a:r>
              <a:rPr lang="en-US" dirty="0">
                <a:latin typeface="Courier New" panose="02070309020205020404" pitchFamily="49" charset="0"/>
                <a:ea typeface="宋体" panose="02010600030101010101" pitchFamily="2" charset="-122"/>
              </a:rPr>
              <a:t>……</a:t>
            </a:r>
            <a:endParaRPr lang="en-US" dirty="0">
              <a:latin typeface="Courier New" panose="02070309020205020404" pitchFamily="49" charset="0"/>
              <a:ea typeface="宋体" panose="02010600030101010101" pitchFamily="2" charset="-122"/>
            </a:endParaRPr>
          </a:p>
          <a:p>
            <a:pPr marL="269875" indent="269875" algn="just">
              <a:spcAft>
                <a:spcPts val="0"/>
              </a:spcAft>
            </a:pPr>
            <a:r>
              <a:rPr lang="en-US" b="1" dirty="0">
                <a:latin typeface="Courier New" panose="02070309020205020404" pitchFamily="49" charset="0"/>
                <a:ea typeface="宋体" panose="02010600030101010101" pitchFamily="2" charset="-122"/>
              </a:rPr>
              <a:t>return</a:t>
            </a:r>
            <a:r>
              <a:rPr lang="en-US" dirty="0">
                <a:latin typeface="Courier New" panose="02070309020205020404" pitchFamily="49" charset="0"/>
                <a:ea typeface="宋体" panose="02010600030101010101" pitchFamily="2" charset="-122"/>
              </a:rPr>
              <a:t> [</a:t>
            </a:r>
            <a:r>
              <a:rPr lang="zh-CN" altLang="en-US" dirty="0">
                <a:latin typeface="Courier New" panose="02070309020205020404" pitchFamily="49" charset="0"/>
                <a:ea typeface="宋体" panose="02010600030101010101" pitchFamily="2" charset="-122"/>
              </a:rPr>
              <a:t>返回值</a:t>
            </a:r>
            <a:r>
              <a:rPr lang="en-US" dirty="0">
                <a:latin typeface="Courier New" panose="02070309020205020404" pitchFamily="49" charset="0"/>
                <a:ea typeface="宋体" panose="02010600030101010101" pitchFamily="2" charset="-122"/>
              </a:rPr>
              <a:t>];</a:t>
            </a:r>
            <a:endParaRPr lang="en-US" dirty="0">
              <a:latin typeface="Courier New" panose="02070309020205020404" pitchFamily="49" charset="0"/>
              <a:ea typeface="宋体" panose="02010600030101010101" pitchFamily="2" charset="-122"/>
            </a:endParaRPr>
          </a:p>
          <a:p>
            <a:r>
              <a:rPr lang="en-US" dirty="0">
                <a:latin typeface="Courier New" panose="02070309020205020404" pitchFamily="49" charset="0"/>
                <a:ea typeface="宋体" panose="02010600030101010101" pitchFamily="2" charset="-122"/>
              </a:rPr>
              <a: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2.6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方法</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76806"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
        <p:nvSpPr>
          <p:cNvPr id="2" name="Content Placeholder 2"/>
          <p:cNvSpPr>
            <a:spLocks noGrp="1"/>
          </p:cNvSpPr>
          <p:nvPr>
            <p:ph idx="1"/>
          </p:nvPr>
        </p:nvSpPr>
        <p:spPr>
          <a:xfrm>
            <a:off x="259080" y="1423670"/>
            <a:ext cx="8771255" cy="4571365"/>
          </a:xfrm>
        </p:spPr>
        <p:txBody>
          <a:bodyPr>
            <a:normAutofit fontScale="82500"/>
          </a:bodyPr>
          <a:p>
            <a:pPr lvl="0">
              <a:lnSpc>
                <a:spcPct val="150000"/>
              </a:lnSpc>
            </a:pPr>
            <a:r>
              <a:rPr lang="zh-CN" altLang="en-US" sz="2400" dirty="0"/>
              <a:t>修饰符：方法的修饰符比较多，如</a:t>
            </a:r>
            <a:r>
              <a:rPr lang="en-US" sz="2400" dirty="0"/>
              <a:t>public</a:t>
            </a:r>
            <a:r>
              <a:rPr lang="zh-CN" altLang="en-US" sz="2400" dirty="0"/>
              <a:t>、</a:t>
            </a:r>
            <a:r>
              <a:rPr lang="en-US" sz="2400" dirty="0"/>
              <a:t>static</a:t>
            </a:r>
            <a:r>
              <a:rPr lang="zh-CN" altLang="en-US" sz="2400" dirty="0"/>
              <a:t>、</a:t>
            </a:r>
            <a:r>
              <a:rPr lang="en-US" sz="2400" dirty="0"/>
              <a:t>abstract</a:t>
            </a:r>
            <a:r>
              <a:rPr lang="zh-CN" altLang="en-US" sz="2400" dirty="0"/>
              <a:t>、</a:t>
            </a:r>
            <a:r>
              <a:rPr lang="en-US" sz="2400" dirty="0"/>
              <a:t>final</a:t>
            </a:r>
            <a:r>
              <a:rPr lang="zh-CN" altLang="en-US" sz="2400" dirty="0"/>
              <a:t>等，不同修饰符表明该方法具有相应的特殊含义，注意有些修饰符是不能同时使用，如</a:t>
            </a:r>
            <a:r>
              <a:rPr lang="en-US" sz="2400" dirty="0"/>
              <a:t>abstract</a:t>
            </a:r>
            <a:r>
              <a:rPr lang="zh-CN" altLang="en-US" sz="2400" dirty="0"/>
              <a:t>与</a:t>
            </a:r>
            <a:r>
              <a:rPr lang="en-US" sz="2400" dirty="0"/>
              <a:t>final</a:t>
            </a:r>
            <a:r>
              <a:rPr lang="zh-CN" altLang="en-US" sz="2400" dirty="0"/>
              <a:t>。</a:t>
            </a:r>
            <a:endParaRPr lang="en-US" sz="2400" dirty="0"/>
          </a:p>
          <a:p>
            <a:pPr lvl="0">
              <a:lnSpc>
                <a:spcPct val="150000"/>
              </a:lnSpc>
            </a:pPr>
            <a:r>
              <a:rPr lang="zh-CN" altLang="en-US" sz="2400" dirty="0"/>
              <a:t>返回值类型：用于限定方法返回值的数据类型。</a:t>
            </a:r>
            <a:endParaRPr lang="en-US" sz="2400" dirty="0"/>
          </a:p>
          <a:p>
            <a:pPr lvl="0">
              <a:lnSpc>
                <a:spcPct val="150000"/>
              </a:lnSpc>
            </a:pPr>
            <a:r>
              <a:rPr lang="zh-CN" altLang="en-US" sz="2400" dirty="0"/>
              <a:t>参数类型：用于限定调用方法时传入参数的数据类型。</a:t>
            </a:r>
            <a:endParaRPr lang="en-US" sz="2400" dirty="0"/>
          </a:p>
          <a:p>
            <a:pPr lvl="0">
              <a:lnSpc>
                <a:spcPct val="150000"/>
              </a:lnSpc>
            </a:pPr>
            <a:r>
              <a:rPr lang="zh-CN" altLang="en-US" sz="2400" dirty="0"/>
              <a:t>参数名：是一个变量，用于接收调用方法时传入的数据。</a:t>
            </a:r>
            <a:endParaRPr lang="en-US" sz="2400" dirty="0"/>
          </a:p>
          <a:p>
            <a:pPr lvl="0">
              <a:lnSpc>
                <a:spcPct val="150000"/>
              </a:lnSpc>
            </a:pPr>
            <a:r>
              <a:rPr lang="zh-CN" altLang="en-US" sz="2400" dirty="0"/>
              <a:t>返回值：</a:t>
            </a:r>
            <a:r>
              <a:rPr lang="en-US" sz="2400" dirty="0"/>
              <a:t>return</a:t>
            </a:r>
            <a:r>
              <a:rPr lang="zh-CN" altLang="en-US" sz="2400" dirty="0"/>
              <a:t>将执行结果返回到方法调用处，返回值的数据类型必须与声明的返回值类型一致，如果返回值类型为</a:t>
            </a:r>
            <a:r>
              <a:rPr lang="en-US" sz="2400" dirty="0"/>
              <a:t>void</a:t>
            </a:r>
            <a:r>
              <a:rPr lang="zh-CN" altLang="en-US" sz="2400" dirty="0"/>
              <a:t>类型，可以省略</a:t>
            </a:r>
            <a:r>
              <a:rPr lang="en-US" sz="2400" dirty="0"/>
              <a:t>return</a:t>
            </a:r>
            <a:r>
              <a:rPr lang="zh-CN" altLang="en-US" sz="2400" dirty="0"/>
              <a:t>语句。</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2.6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方法</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76806"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
        <p:nvSpPr>
          <p:cNvPr id="3" name="Content Placeholder 2"/>
          <p:cNvSpPr>
            <a:spLocks noGrp="1"/>
          </p:cNvSpPr>
          <p:nvPr>
            <p:ph idx="1"/>
          </p:nvPr>
        </p:nvSpPr>
        <p:spPr>
          <a:xfrm>
            <a:off x="565785" y="1199515"/>
            <a:ext cx="8578215" cy="819785"/>
          </a:xfrm>
        </p:spPr>
        <p:txBody>
          <a:bodyPr/>
          <a:p>
            <a:r>
              <a:rPr lang="zh-CN" altLang="en-US" dirty="0"/>
              <a:t>输入两个正整数</a:t>
            </a:r>
            <a:r>
              <a:rPr lang="en-US" dirty="0"/>
              <a:t>a</a:t>
            </a:r>
            <a:r>
              <a:rPr lang="zh-CN" altLang="en-US" dirty="0"/>
              <a:t>和</a:t>
            </a:r>
            <a:r>
              <a:rPr lang="en-US" dirty="0"/>
              <a:t>n</a:t>
            </a:r>
            <a:r>
              <a:rPr lang="zh-CN" altLang="en-US" dirty="0"/>
              <a:t>，求</a:t>
            </a:r>
            <a:r>
              <a:rPr lang="en-US" dirty="0" err="1"/>
              <a:t>a+aa+aaa+aa</a:t>
            </a:r>
            <a:r>
              <a:rPr lang="en-US" altLang="zh-CN" dirty="0"/>
              <a:t>…</a:t>
            </a:r>
            <a:r>
              <a:rPr lang="en-US" dirty="0"/>
              <a:t>a(n</a:t>
            </a:r>
            <a:r>
              <a:rPr lang="zh-CN" altLang="en-US" dirty="0"/>
              <a:t>个</a:t>
            </a:r>
            <a:r>
              <a:rPr lang="en-US" dirty="0"/>
              <a:t>a)</a:t>
            </a:r>
            <a:r>
              <a:rPr lang="zh-CN" altLang="en-US" dirty="0"/>
              <a:t>之和。</a:t>
            </a:r>
            <a:endParaRPr lang="en-US" dirty="0"/>
          </a:p>
          <a:p>
            <a:r>
              <a:rPr lang="zh-CN" altLang="en-US" dirty="0"/>
              <a:t>例如，输入</a:t>
            </a:r>
            <a:r>
              <a:rPr lang="en-US" dirty="0"/>
              <a:t>2</a:t>
            </a:r>
            <a:r>
              <a:rPr lang="zh-CN" altLang="en-US" dirty="0"/>
              <a:t>和</a:t>
            </a:r>
            <a:r>
              <a:rPr lang="en-US" dirty="0"/>
              <a:t>3</a:t>
            </a:r>
            <a:r>
              <a:rPr lang="zh-CN" altLang="en-US" dirty="0"/>
              <a:t>，输出</a:t>
            </a:r>
            <a:r>
              <a:rPr lang="en-US" dirty="0"/>
              <a:t>246</a:t>
            </a:r>
            <a:r>
              <a:rPr lang="zh-CN" altLang="en-US" dirty="0"/>
              <a:t>（</a:t>
            </a:r>
            <a:r>
              <a:rPr lang="en-US" dirty="0"/>
              <a:t>2+22+222</a:t>
            </a:r>
            <a:r>
              <a:rPr lang="zh-CN" altLang="en-US" dirty="0"/>
              <a:t>）</a:t>
            </a:r>
            <a:endParaRPr lang="en-US" dirty="0"/>
          </a:p>
          <a:p>
            <a:endParaRPr lang="en-US" dirty="0"/>
          </a:p>
        </p:txBody>
      </p:sp>
      <p:pic>
        <p:nvPicPr>
          <p:cNvPr id="5" name="Picture 4"/>
          <p:cNvPicPr>
            <a:picLocks noChangeAspect="1"/>
          </p:cNvPicPr>
          <p:nvPr/>
        </p:nvPicPr>
        <p:blipFill>
          <a:blip r:embed="rId1"/>
          <a:stretch>
            <a:fillRect/>
          </a:stretch>
        </p:blipFill>
        <p:spPr>
          <a:xfrm>
            <a:off x="712449" y="2616200"/>
            <a:ext cx="3449738" cy="3740150"/>
          </a:xfrm>
          <a:prstGeom prst="rect">
            <a:avLst/>
          </a:prstGeom>
        </p:spPr>
      </p:pic>
      <p:pic>
        <p:nvPicPr>
          <p:cNvPr id="2" name="Picture 5"/>
          <p:cNvPicPr>
            <a:picLocks noChangeAspect="1"/>
          </p:cNvPicPr>
          <p:nvPr/>
        </p:nvPicPr>
        <p:blipFill>
          <a:blip r:embed="rId2"/>
          <a:stretch>
            <a:fillRect/>
          </a:stretch>
        </p:blipFill>
        <p:spPr>
          <a:xfrm>
            <a:off x="4417060" y="2616835"/>
            <a:ext cx="4193540" cy="37325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2.6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方法</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76806"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
        <p:nvSpPr>
          <p:cNvPr id="3" name="Content Placeholder 2"/>
          <p:cNvSpPr>
            <a:spLocks noGrp="1"/>
          </p:cNvSpPr>
          <p:nvPr>
            <p:ph idx="1"/>
          </p:nvPr>
        </p:nvSpPr>
        <p:spPr>
          <a:xfrm>
            <a:off x="463550" y="1334135"/>
            <a:ext cx="8681085" cy="4114800"/>
          </a:xfrm>
        </p:spPr>
        <p:txBody>
          <a:bodyPr>
            <a:normAutofit lnSpcReduction="10000"/>
          </a:bodyPr>
          <a:p>
            <a:pPr>
              <a:lnSpc>
                <a:spcPct val="150000"/>
              </a:lnSpc>
            </a:pPr>
            <a:r>
              <a:rPr lang="zh-CN" altLang="en-US" sz="2400" dirty="0"/>
              <a:t>在同一个类中，定义两个或以上的</a:t>
            </a:r>
            <a:r>
              <a:rPr lang="zh-CN" altLang="en-US" sz="2400" b="1" dirty="0">
                <a:solidFill>
                  <a:srgbClr val="00B050"/>
                </a:solidFill>
              </a:rPr>
              <a:t>方法同名</a:t>
            </a:r>
            <a:r>
              <a:rPr lang="zh-CN" altLang="en-US" sz="2400" dirty="0"/>
              <a:t>，但是这些方法的</a:t>
            </a:r>
            <a:r>
              <a:rPr lang="zh-CN" altLang="en-US" sz="2400" b="1" dirty="0">
                <a:solidFill>
                  <a:srgbClr val="FF0000"/>
                </a:solidFill>
              </a:rPr>
              <a:t>参数列表不相同</a:t>
            </a:r>
            <a:r>
              <a:rPr lang="zh-CN" altLang="en-US" sz="2400" dirty="0"/>
              <a:t>，这种情形称为</a:t>
            </a:r>
            <a:r>
              <a:rPr lang="zh-CN" altLang="en-US" sz="2400" b="1" dirty="0">
                <a:solidFill>
                  <a:schemeClr val="accent1"/>
                </a:solidFill>
              </a:rPr>
              <a:t>方法重载（</a:t>
            </a:r>
            <a:r>
              <a:rPr lang="pt-BR" sz="2400" b="1" dirty="0">
                <a:solidFill>
                  <a:schemeClr val="accent1"/>
                </a:solidFill>
              </a:rPr>
              <a:t>Overloading</a:t>
            </a:r>
            <a:r>
              <a:rPr lang="zh-CN" altLang="en-US" sz="2400" b="1" dirty="0">
                <a:solidFill>
                  <a:schemeClr val="accent1"/>
                </a:solidFill>
              </a:rPr>
              <a:t>）</a:t>
            </a:r>
            <a:endParaRPr lang="en-US" sz="2400" b="1" dirty="0">
              <a:solidFill>
                <a:schemeClr val="accent1"/>
              </a:solidFill>
            </a:endParaRPr>
          </a:p>
          <a:p>
            <a:pPr>
              <a:lnSpc>
                <a:spcPct val="150000"/>
              </a:lnSpc>
            </a:pPr>
            <a:r>
              <a:rPr lang="zh-CN" altLang="en-US" sz="2400" dirty="0"/>
              <a:t>参数列表不同包括以下</a:t>
            </a:r>
            <a:r>
              <a:rPr lang="pt-BR" sz="2400" dirty="0"/>
              <a:t>3</a:t>
            </a:r>
            <a:r>
              <a:rPr lang="zh-CN" altLang="en-US" sz="2400" dirty="0"/>
              <a:t>种情形：</a:t>
            </a:r>
            <a:endParaRPr lang="en-US" sz="2400" dirty="0"/>
          </a:p>
          <a:p>
            <a:pPr lvl="1">
              <a:lnSpc>
                <a:spcPct val="150000"/>
              </a:lnSpc>
            </a:pPr>
            <a:r>
              <a:rPr lang="zh-CN" altLang="en-US" sz="2000" dirty="0"/>
              <a:t>参数的数据类型不同；</a:t>
            </a:r>
            <a:endParaRPr lang="en-US" sz="2000" dirty="0"/>
          </a:p>
          <a:p>
            <a:pPr lvl="1">
              <a:lnSpc>
                <a:spcPct val="150000"/>
              </a:lnSpc>
            </a:pPr>
            <a:r>
              <a:rPr lang="zh-CN" altLang="en-US" sz="2000" dirty="0"/>
              <a:t>参数的数量不同；</a:t>
            </a:r>
            <a:endParaRPr lang="en-US" sz="2000" dirty="0"/>
          </a:p>
          <a:p>
            <a:pPr lvl="1">
              <a:lnSpc>
                <a:spcPct val="150000"/>
              </a:lnSpc>
            </a:pPr>
            <a:r>
              <a:rPr lang="zh-CN" altLang="en-US" sz="2000" dirty="0"/>
              <a:t>不同数据类型参数的顺序不同；</a:t>
            </a:r>
            <a:endParaRPr lang="en-US" sz="2000" dirty="0"/>
          </a:p>
          <a:p>
            <a:pPr lvl="1">
              <a:lnSpc>
                <a:spcPct val="150000"/>
              </a:lnSpc>
            </a:pPr>
            <a:r>
              <a:rPr lang="zh-CN" altLang="en-US" sz="2000" dirty="0"/>
              <a:t>除上述情况之外，如参数名称不同、返回值类型不同，不是方法重载</a:t>
            </a:r>
            <a:endParaRPr lang="en-US" sz="2000" dirty="0"/>
          </a:p>
          <a:p>
            <a:pPr>
              <a:lnSpc>
                <a:spcPct val="150000"/>
              </a:lnSpc>
            </a:pP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2.6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方法</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76806"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pic>
        <p:nvPicPr>
          <p:cNvPr id="4" name="Content Placeholder 3"/>
          <p:cNvPicPr>
            <a:picLocks noGrp="1" noChangeAspect="1"/>
          </p:cNvPicPr>
          <p:nvPr>
            <p:ph idx="1"/>
          </p:nvPr>
        </p:nvPicPr>
        <p:blipFill>
          <a:blip r:embed="rId1"/>
          <a:stretch>
            <a:fillRect/>
          </a:stretch>
        </p:blipFill>
        <p:spPr>
          <a:xfrm>
            <a:off x="267970" y="1805305"/>
            <a:ext cx="4190365" cy="4054475"/>
          </a:xfrm>
          <a:prstGeom prst="rect">
            <a:avLst/>
          </a:prstGeom>
        </p:spPr>
      </p:pic>
      <p:pic>
        <p:nvPicPr>
          <p:cNvPr id="5" name="Picture 4"/>
          <p:cNvPicPr>
            <a:picLocks noChangeAspect="1"/>
          </p:cNvPicPr>
          <p:nvPr/>
        </p:nvPicPr>
        <p:blipFill>
          <a:blip r:embed="rId2"/>
          <a:stretch>
            <a:fillRect/>
          </a:stretch>
        </p:blipFill>
        <p:spPr>
          <a:xfrm>
            <a:off x="4681624" y="1805273"/>
            <a:ext cx="4088700" cy="405453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内容占位符 2"/>
          <p:cNvSpPr>
            <a:spLocks noGrp="1"/>
          </p:cNvSpPr>
          <p:nvPr>
            <p:ph idx="1"/>
          </p:nvPr>
        </p:nvSpPr>
        <p:spPr>
          <a:xfrm>
            <a:off x="374650" y="1860550"/>
            <a:ext cx="8199438" cy="4079875"/>
          </a:xfrm>
          <a:ln>
            <a:solidFill>
              <a:srgbClr val="009ED6">
                <a:alpha val="100000"/>
              </a:srgbClr>
            </a:solidFill>
            <a:miter lim="800000"/>
          </a:ln>
        </p:spPr>
        <p:txBody>
          <a:bodyPr vert="horz" wrap="square" lIns="91440" tIns="45720" rIns="91440" bIns="45720" anchor="t" anchorCtr="0"/>
          <a:p>
            <a:pPr lvl="1" eaLnBrk="1" hangingPunct="1">
              <a:buFont typeface="Wingdings" panose="05000000000000000000" pitchFamily="2" charset="2"/>
              <a:buChar char="Ø"/>
            </a:pPr>
            <a:r>
              <a:rPr lang="zh-CN" altLang="en-US" kern="1200" dirty="0">
                <a:latin typeface="+mn-lt"/>
                <a:ea typeface="+mn-ea"/>
                <a:cs typeface="等线" panose="02010600030101010101" charset="-122"/>
              </a:rPr>
              <a:t>数组是指一组数据的集合，数组中的每个元素被称为元素，在数组中可以存放任意类型的元素，但同一个数组中存放的元素类型必须一致。</a:t>
            </a:r>
            <a:endParaRPr lang="en-US" altLang="zh-CN" kern="1200" dirty="0">
              <a:latin typeface="+mn-lt"/>
              <a:ea typeface="+mn-ea"/>
              <a:cs typeface="等线" panose="02010600030101010101" charset="-122"/>
            </a:endParaRPr>
          </a:p>
          <a:p>
            <a:pPr lvl="1" eaLnBrk="1" hangingPunct="1">
              <a:buFont typeface="Wingdings" panose="05000000000000000000" pitchFamily="2" charset="2"/>
              <a:buChar char="Ø"/>
            </a:pPr>
            <a:r>
              <a:rPr lang="zh-CN" altLang="en-US" kern="1200" dirty="0">
                <a:latin typeface="+mn-lt"/>
                <a:ea typeface="+mn-ea"/>
                <a:cs typeface="等线" panose="02010600030101010101" charset="-122"/>
              </a:rPr>
              <a:t>在</a:t>
            </a:r>
            <a:r>
              <a:rPr lang="en-US" altLang="zh-CN" kern="1200" dirty="0">
                <a:latin typeface="+mn-lt"/>
                <a:ea typeface="+mn-ea"/>
                <a:cs typeface="等线" panose="02010600030101010101" charset="-122"/>
              </a:rPr>
              <a:t>Java</a:t>
            </a:r>
            <a:r>
              <a:rPr lang="zh-CN" altLang="en-US" kern="1200" dirty="0">
                <a:latin typeface="+mn-lt"/>
                <a:ea typeface="+mn-ea"/>
                <a:cs typeface="等线" panose="02010600030101010101" charset="-122"/>
              </a:rPr>
              <a:t>中，可以使用下列格式定义一个数组，具体示例如下：</a:t>
            </a:r>
            <a:endParaRPr lang="en-US" altLang="zh-CN" kern="1200" dirty="0">
              <a:latin typeface="+mn-lt"/>
              <a:ea typeface="+mn-ea"/>
              <a:cs typeface="等线" panose="02010600030101010101" charset="-122"/>
            </a:endParaRPr>
          </a:p>
          <a:p>
            <a:pPr lvl="1" eaLnBrk="1" hangingPunct="1"/>
            <a:endParaRPr lang="en-US" altLang="zh-CN" kern="1200" dirty="0">
              <a:latin typeface="+mn-lt"/>
              <a:ea typeface="+mn-ea"/>
              <a:cs typeface="等线" panose="02010600030101010101" charset="-122"/>
            </a:endParaRPr>
          </a:p>
          <a:p>
            <a:pPr lvl="1" eaLnBrk="1" hangingPunct="1">
              <a:buFont typeface="Wingdings" panose="05000000000000000000" pitchFamily="2" charset="2"/>
              <a:buChar char="Ø"/>
            </a:pPr>
            <a:r>
              <a:rPr lang="zh-CN" altLang="en-US" kern="1200" dirty="0">
                <a:latin typeface="+mn-lt"/>
                <a:ea typeface="+mn-ea"/>
                <a:cs typeface="等线" panose="02010600030101010101" charset="-122"/>
              </a:rPr>
              <a:t>上述语句就相当于在内存中定义了</a:t>
            </a:r>
            <a:r>
              <a:rPr lang="en-US" altLang="zh-CN" kern="1200" dirty="0">
                <a:latin typeface="+mn-lt"/>
                <a:ea typeface="+mn-ea"/>
                <a:cs typeface="等线" panose="02010600030101010101" charset="-122"/>
              </a:rPr>
              <a:t>100</a:t>
            </a:r>
            <a:r>
              <a:rPr lang="zh-CN" altLang="en-US" kern="1200" dirty="0">
                <a:latin typeface="+mn-lt"/>
                <a:ea typeface="+mn-ea"/>
                <a:cs typeface="等线" panose="02010600030101010101" charset="-122"/>
              </a:rPr>
              <a:t>个</a:t>
            </a:r>
            <a:r>
              <a:rPr lang="en-US" altLang="zh-CN" kern="1200" dirty="0">
                <a:latin typeface="+mn-lt"/>
                <a:ea typeface="+mn-ea"/>
                <a:cs typeface="等线" panose="02010600030101010101" charset="-122"/>
              </a:rPr>
              <a:t>int</a:t>
            </a:r>
            <a:r>
              <a:rPr lang="zh-CN" altLang="en-US" kern="1200" dirty="0">
                <a:latin typeface="+mn-lt"/>
                <a:ea typeface="+mn-ea"/>
                <a:cs typeface="等线" panose="02010600030101010101" charset="-122"/>
              </a:rPr>
              <a:t>类型的变量，第一个变量的名称为</a:t>
            </a:r>
            <a:r>
              <a:rPr lang="en-US" altLang="zh-CN" kern="1200" dirty="0">
                <a:latin typeface="+mn-lt"/>
                <a:ea typeface="+mn-ea"/>
                <a:cs typeface="等线" panose="02010600030101010101" charset="-122"/>
              </a:rPr>
              <a:t>x[0]</a:t>
            </a:r>
            <a:r>
              <a:rPr lang="zh-CN" altLang="en-US" kern="1200" dirty="0">
                <a:latin typeface="+mn-lt"/>
                <a:ea typeface="+mn-ea"/>
                <a:cs typeface="等线" panose="02010600030101010101" charset="-122"/>
              </a:rPr>
              <a:t>，第二个变量的名称为</a:t>
            </a:r>
            <a:r>
              <a:rPr lang="en-US" altLang="zh-CN" kern="1200" dirty="0">
                <a:latin typeface="+mn-lt"/>
                <a:ea typeface="+mn-ea"/>
                <a:cs typeface="等线" panose="02010600030101010101" charset="-122"/>
              </a:rPr>
              <a:t>x[1]</a:t>
            </a:r>
            <a:r>
              <a:rPr lang="zh-CN" altLang="en-US" kern="1200" dirty="0">
                <a:latin typeface="+mn-lt"/>
                <a:ea typeface="+mn-ea"/>
                <a:cs typeface="等线" panose="02010600030101010101" charset="-122"/>
              </a:rPr>
              <a:t>，以此类推，第</a:t>
            </a:r>
            <a:r>
              <a:rPr lang="en-US" altLang="zh-CN" kern="1200" dirty="0">
                <a:latin typeface="+mn-lt"/>
                <a:ea typeface="+mn-ea"/>
                <a:cs typeface="等线" panose="02010600030101010101" charset="-122"/>
              </a:rPr>
              <a:t>100</a:t>
            </a:r>
            <a:r>
              <a:rPr lang="zh-CN" altLang="en-US" kern="1200" dirty="0">
                <a:latin typeface="+mn-lt"/>
                <a:ea typeface="+mn-ea"/>
                <a:cs typeface="等线" panose="02010600030101010101" charset="-122"/>
              </a:rPr>
              <a:t>个变量的名称为</a:t>
            </a:r>
            <a:r>
              <a:rPr lang="en-US" altLang="zh-CN" kern="1200" dirty="0">
                <a:latin typeface="+mn-lt"/>
                <a:ea typeface="+mn-ea"/>
                <a:cs typeface="等线" panose="02010600030101010101" charset="-122"/>
              </a:rPr>
              <a:t>x[99]</a:t>
            </a:r>
            <a:r>
              <a:rPr lang="zh-CN" altLang="en-US" kern="1200" dirty="0">
                <a:latin typeface="+mn-lt"/>
                <a:ea typeface="+mn-ea"/>
                <a:cs typeface="等线" panose="02010600030101010101" charset="-122"/>
              </a:rPr>
              <a:t>，这些变量的初始值都是</a:t>
            </a:r>
            <a:r>
              <a:rPr lang="en-US" altLang="zh-CN" kern="1200" dirty="0">
                <a:latin typeface="+mn-lt"/>
                <a:ea typeface="+mn-ea"/>
                <a:cs typeface="等线" panose="02010600030101010101" charset="-122"/>
              </a:rPr>
              <a:t>0</a:t>
            </a:r>
            <a:r>
              <a:rPr lang="zh-CN" altLang="en-US" kern="1200" dirty="0">
                <a:latin typeface="+mn-lt"/>
                <a:ea typeface="+mn-ea"/>
                <a:cs typeface="等线" panose="02010600030101010101" charset="-122"/>
              </a:rPr>
              <a:t>。</a:t>
            </a:r>
            <a:endParaRPr lang="zh-CN" altLang="en-US" kern="1200" dirty="0">
              <a:latin typeface="+mn-lt"/>
              <a:ea typeface="+mn-ea"/>
              <a:cs typeface="等线" panose="02010600030101010101" charset="-122"/>
            </a:endParaRPr>
          </a:p>
        </p:txBody>
      </p:sp>
      <p:sp>
        <p:nvSpPr>
          <p:cNvPr id="7" name="剪去对角的矩形 6"/>
          <p:cNvSpPr/>
          <p:nvPr/>
        </p:nvSpPr>
        <p:spPr bwMode="auto">
          <a:xfrm>
            <a:off x="5434013" y="1084263"/>
            <a:ext cx="2863850"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3972" name="矩形 5"/>
          <p:cNvSpPr/>
          <p:nvPr/>
        </p:nvSpPr>
        <p:spPr>
          <a:xfrm>
            <a:off x="5951538" y="1085850"/>
            <a:ext cx="1754187" cy="51752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35000"/>
              </a:lnSpc>
              <a:spcBef>
                <a:spcPct val="0"/>
              </a:spcBef>
              <a:buNone/>
            </a:pPr>
            <a:r>
              <a:rPr lang="zh-CN" altLang="en-US" sz="2400" dirty="0">
                <a:solidFill>
                  <a:srgbClr val="00B0F0"/>
                </a:solidFill>
                <a:latin typeface="黑体" panose="02010609060101010101" pitchFamily="49" charset="-122"/>
                <a:ea typeface="黑体" panose="02010609060101010101" pitchFamily="49" charset="-122"/>
              </a:rPr>
              <a:t>数组的定义</a:t>
            </a:r>
            <a:endParaRPr lang="zh-CN" altLang="zh-CN" sz="2400" dirty="0">
              <a:solidFill>
                <a:srgbClr val="00B0F0"/>
              </a:solidFill>
              <a:latin typeface="黑体" panose="02010609060101010101" pitchFamily="49" charset="-122"/>
              <a:ea typeface="黑体" panose="02010609060101010101" pitchFamily="49" charset="-122"/>
            </a:endParaRPr>
          </a:p>
        </p:txBody>
      </p:sp>
      <p:pic>
        <p:nvPicPr>
          <p:cNvPr id="83973" name="Picture 7"/>
          <p:cNvPicPr>
            <a:picLocks noChangeAspect="1"/>
          </p:cNvPicPr>
          <p:nvPr/>
        </p:nvPicPr>
        <p:blipFill>
          <a:blip r:embed="rId1"/>
          <a:stretch>
            <a:fillRect/>
          </a:stretch>
        </p:blipFill>
        <p:spPr>
          <a:xfrm>
            <a:off x="1763713" y="3971925"/>
            <a:ext cx="4016375" cy="280988"/>
          </a:xfrm>
          <a:prstGeom prst="rect">
            <a:avLst/>
          </a:prstGeom>
          <a:noFill/>
          <a:ln w="9525">
            <a:noFill/>
          </a:ln>
        </p:spPr>
      </p:pic>
      <p:sp>
        <p:nvSpPr>
          <p:cNvPr id="8"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2.7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数组</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83975"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内容占位符 2"/>
          <p:cNvSpPr>
            <a:spLocks noGrp="1"/>
          </p:cNvSpPr>
          <p:nvPr>
            <p:ph idx="1"/>
          </p:nvPr>
        </p:nvSpPr>
        <p:spPr>
          <a:xfrm>
            <a:off x="374650" y="1174750"/>
            <a:ext cx="8199438" cy="5041900"/>
          </a:xfrm>
          <a:ln>
            <a:solidFill>
              <a:srgbClr val="009ED6">
                <a:alpha val="100000"/>
              </a:srgbClr>
            </a:solidFill>
            <a:miter lim="800000"/>
          </a:ln>
        </p:spPr>
        <p:txBody>
          <a:bodyPr vert="horz" wrap="square" lIns="91440" tIns="45720" rIns="91440" bIns="45720" anchor="t" anchorCtr="0"/>
          <a:p>
            <a:pPr lvl="1" eaLnBrk="1" hangingPunct="1">
              <a:buFont typeface="Wingdings" panose="05000000000000000000" pitchFamily="2" charset="2"/>
              <a:buChar char="Ø"/>
            </a:pPr>
            <a:r>
              <a:rPr lang="zh-CN" altLang="en-US" kern="1200" dirty="0">
                <a:latin typeface="+mn-lt"/>
                <a:ea typeface="+mn-ea"/>
                <a:cs typeface="等线" panose="02010600030101010101" charset="-122"/>
              </a:rPr>
              <a:t>为了更好地理解数组的定义方式，可以把上述代码定义为两行来写，具体如下：</a:t>
            </a:r>
            <a:endParaRPr lang="en-US" altLang="zh-CN" kern="1200" dirty="0">
              <a:latin typeface="+mn-lt"/>
              <a:ea typeface="+mn-ea"/>
              <a:cs typeface="等线" panose="02010600030101010101" charset="-122"/>
            </a:endParaRPr>
          </a:p>
          <a:p>
            <a:pPr lvl="1" eaLnBrk="1" hangingPunct="1"/>
            <a:endParaRPr lang="en-US" altLang="zh-CN" kern="1200" dirty="0">
              <a:latin typeface="+mn-lt"/>
              <a:ea typeface="+mn-ea"/>
              <a:cs typeface="等线" panose="02010600030101010101" charset="-122"/>
            </a:endParaRPr>
          </a:p>
          <a:p>
            <a:pPr lvl="1" eaLnBrk="1" hangingPunct="1"/>
            <a:endParaRPr lang="en-US" altLang="zh-CN" sz="600" kern="1200" dirty="0">
              <a:latin typeface="+mn-lt"/>
              <a:ea typeface="+mn-ea"/>
              <a:cs typeface="等线" panose="02010600030101010101" charset="-122"/>
            </a:endParaRPr>
          </a:p>
          <a:p>
            <a:pPr lvl="1" eaLnBrk="1" hangingPunct="1">
              <a:buFont typeface="Wingdings" panose="05000000000000000000" pitchFamily="2" charset="2"/>
              <a:buChar char="Ø"/>
            </a:pPr>
            <a:r>
              <a:rPr lang="zh-CN" altLang="en-US" kern="1200" dirty="0">
                <a:latin typeface="+mn-lt"/>
                <a:ea typeface="+mn-ea"/>
                <a:cs typeface="等线" panose="02010600030101010101" charset="-122"/>
              </a:rPr>
              <a:t>接下来，通过两张内存图来说明数组在创建过程中的内存分配情况，具体如下所示：</a:t>
            </a:r>
            <a:endParaRPr lang="en-US" altLang="zh-CN" kern="1200" dirty="0">
              <a:latin typeface="+mn-lt"/>
              <a:ea typeface="+mn-ea"/>
              <a:cs typeface="等线" panose="02010600030101010101" charset="-122"/>
            </a:endParaRPr>
          </a:p>
        </p:txBody>
      </p:sp>
      <p:pic>
        <p:nvPicPr>
          <p:cNvPr id="84995" name="Picture 3" descr="数组声明"/>
          <p:cNvPicPr>
            <a:picLocks noChangeAspect="1"/>
          </p:cNvPicPr>
          <p:nvPr/>
        </p:nvPicPr>
        <p:blipFill>
          <a:blip r:embed="rId1"/>
          <a:stretch>
            <a:fillRect/>
          </a:stretch>
        </p:blipFill>
        <p:spPr>
          <a:xfrm>
            <a:off x="1514475" y="4167188"/>
            <a:ext cx="2476500" cy="1562100"/>
          </a:xfrm>
          <a:prstGeom prst="rect">
            <a:avLst/>
          </a:prstGeom>
          <a:noFill/>
          <a:ln w="9525">
            <a:noFill/>
          </a:ln>
        </p:spPr>
      </p:pic>
      <p:sp>
        <p:nvSpPr>
          <p:cNvPr id="84996" name="Rectangle 5"/>
          <p:cNvSpPr/>
          <p:nvPr/>
        </p:nvSpPr>
        <p:spPr>
          <a:xfrm>
            <a:off x="0" y="0"/>
            <a:ext cx="9144000" cy="0"/>
          </a:xfrm>
          <a:prstGeom prst="rect">
            <a:avLst/>
          </a:prstGeom>
          <a:noFill/>
          <a:ln w="9525">
            <a:noFill/>
          </a:ln>
        </p:spPr>
        <p:txBody>
          <a:bodyPr wrap="none"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endParaRPr lang="zh-CN" altLang="en-US" sz="1800" dirty="0">
              <a:latin typeface="Arial" panose="020B0604020202020204" pitchFamily="34" charset="0"/>
              <a:ea typeface="宋体" panose="02010600030101010101" pitchFamily="2" charset="-122"/>
            </a:endParaRPr>
          </a:p>
        </p:txBody>
      </p:sp>
      <p:graphicFrame>
        <p:nvGraphicFramePr>
          <p:cNvPr id="84997" name="对象 3"/>
          <p:cNvGraphicFramePr>
            <a:graphicFrameLocks noChangeAspect="1"/>
          </p:cNvGraphicFramePr>
          <p:nvPr/>
        </p:nvGraphicFramePr>
        <p:xfrm>
          <a:off x="5027613" y="4224338"/>
          <a:ext cx="2616200" cy="1446212"/>
        </p:xfrm>
        <a:graphic>
          <a:graphicData uri="http://schemas.openxmlformats.org/presentationml/2006/ole">
            <mc:AlternateContent xmlns:mc="http://schemas.openxmlformats.org/markup-compatibility/2006">
              <mc:Choice xmlns:v="urn:schemas-microsoft-com:vml" Requires="v">
                <p:oleObj spid="_x0000_s3077" name="" r:id="rId2" imgW="6654165" imgH="3690620" progId="Visio.Drawing.11">
                  <p:embed/>
                </p:oleObj>
              </mc:Choice>
              <mc:Fallback>
                <p:oleObj name="" r:id="rId2" imgW="6654165" imgH="3690620" progId="Visio.Drawing.11">
                  <p:embed/>
                  <p:pic>
                    <p:nvPicPr>
                      <p:cNvPr id="0" name="图片 3076"/>
                      <p:cNvPicPr/>
                      <p:nvPr/>
                    </p:nvPicPr>
                    <p:blipFill>
                      <a:blip r:embed="rId3"/>
                      <a:stretch>
                        <a:fillRect/>
                      </a:stretch>
                    </p:blipFill>
                    <p:spPr>
                      <a:xfrm>
                        <a:off x="5027613" y="4224338"/>
                        <a:ext cx="2616200" cy="1446212"/>
                      </a:xfrm>
                      <a:prstGeom prst="rect">
                        <a:avLst/>
                      </a:prstGeom>
                      <a:noFill/>
                      <a:ln w="38100">
                        <a:noFill/>
                        <a:miter/>
                      </a:ln>
                    </p:spPr>
                  </p:pic>
                </p:oleObj>
              </mc:Fallback>
            </mc:AlternateContent>
          </a:graphicData>
        </a:graphic>
      </p:graphicFrame>
      <p:pic>
        <p:nvPicPr>
          <p:cNvPr id="84998" name="Picture 11"/>
          <p:cNvPicPr>
            <a:picLocks noChangeAspect="1"/>
          </p:cNvPicPr>
          <p:nvPr/>
        </p:nvPicPr>
        <p:blipFill>
          <a:blip r:embed="rId4"/>
          <a:stretch>
            <a:fillRect/>
          </a:stretch>
        </p:blipFill>
        <p:spPr>
          <a:xfrm>
            <a:off x="1514475" y="2224088"/>
            <a:ext cx="4562475" cy="477837"/>
          </a:xfrm>
          <a:prstGeom prst="rect">
            <a:avLst/>
          </a:prstGeom>
          <a:noFill/>
          <a:ln w="9525">
            <a:noFill/>
          </a:ln>
        </p:spPr>
      </p:pic>
      <p:sp>
        <p:nvSpPr>
          <p:cNvPr id="8"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2.7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数组</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85000"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内容占位符 2"/>
          <p:cNvSpPr>
            <a:spLocks noGrp="1"/>
          </p:cNvSpPr>
          <p:nvPr>
            <p:ph idx="1"/>
          </p:nvPr>
        </p:nvSpPr>
        <p:spPr>
          <a:xfrm>
            <a:off x="457200" y="1198563"/>
            <a:ext cx="8223250" cy="5124450"/>
          </a:xfrm>
          <a:ln>
            <a:solidFill>
              <a:srgbClr val="009ED6">
                <a:alpha val="100000"/>
              </a:srgbClr>
            </a:solidFill>
            <a:miter lim="800000"/>
          </a:ln>
        </p:spPr>
        <p:txBody>
          <a:bodyPr vert="horz" wrap="square" lIns="91440" tIns="45720" rIns="91440" bIns="45720" anchor="t" anchorCtr="0"/>
          <a:p>
            <a:pPr lvl="1" eaLnBrk="1" hangingPunct="1">
              <a:lnSpc>
                <a:spcPct val="200000"/>
              </a:lnSpc>
              <a:buFont typeface="Wingdings" panose="05000000000000000000" pitchFamily="2" charset="2"/>
              <a:buChar char="Ø"/>
            </a:pPr>
            <a:r>
              <a:rPr lang="zh-CN" altLang="zh-CN" kern="1200" dirty="0">
                <a:latin typeface="+mn-lt"/>
                <a:ea typeface="+mn-ea"/>
                <a:cs typeface="等线" panose="02010600030101010101" charset="-122"/>
              </a:rPr>
              <a:t>在</a:t>
            </a:r>
            <a:r>
              <a:rPr lang="en-US" altLang="zh-CN" kern="1200" dirty="0">
                <a:latin typeface="+mn-lt"/>
                <a:ea typeface="+mn-ea"/>
                <a:cs typeface="等线" panose="02010600030101010101" charset="-122"/>
              </a:rPr>
              <a:t>Java</a:t>
            </a:r>
            <a:r>
              <a:rPr lang="zh-CN" altLang="zh-CN" kern="1200" dirty="0">
                <a:latin typeface="+mn-lt"/>
                <a:ea typeface="+mn-ea"/>
                <a:cs typeface="等线" panose="02010600030101010101" charset="-122"/>
              </a:rPr>
              <a:t>中，为了方便我们获得数组的长度，提供了一个</a:t>
            </a:r>
            <a:r>
              <a:rPr lang="en-US" altLang="zh-CN" kern="1200" dirty="0">
                <a:latin typeface="+mn-lt"/>
                <a:ea typeface="+mn-ea"/>
                <a:cs typeface="等线" panose="02010600030101010101" charset="-122"/>
              </a:rPr>
              <a:t>length</a:t>
            </a:r>
            <a:r>
              <a:rPr lang="zh-CN" altLang="zh-CN" kern="1200" dirty="0">
                <a:latin typeface="+mn-lt"/>
                <a:ea typeface="+mn-ea"/>
                <a:cs typeface="等线" panose="02010600030101010101" charset="-122"/>
              </a:rPr>
              <a:t>属性，在程序中可以通过“数组名</a:t>
            </a:r>
            <a:r>
              <a:rPr lang="en-US" altLang="zh-CN" kern="1200" dirty="0">
                <a:latin typeface="+mn-lt"/>
                <a:ea typeface="+mn-ea"/>
                <a:cs typeface="等线" panose="02010600030101010101" charset="-122"/>
              </a:rPr>
              <a:t>.length</a:t>
            </a:r>
            <a:r>
              <a:rPr lang="zh-CN" altLang="zh-CN" kern="1200" dirty="0">
                <a:latin typeface="+mn-lt"/>
                <a:ea typeface="+mn-ea"/>
                <a:cs typeface="等线" panose="02010600030101010101" charset="-122"/>
              </a:rPr>
              <a:t>”的方式来获得数组的长度，即元素的个数。</a:t>
            </a:r>
            <a:endParaRPr lang="en-US" altLang="zh-CN" kern="1200" dirty="0">
              <a:latin typeface="+mn-lt"/>
              <a:ea typeface="+mn-ea"/>
              <a:cs typeface="等线" panose="02010600030101010101" charset="-122"/>
            </a:endParaRPr>
          </a:p>
        </p:txBody>
      </p:sp>
      <p:sp>
        <p:nvSpPr>
          <p:cNvPr id="7"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2.7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数组</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86020"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内容占位符 2"/>
          <p:cNvSpPr>
            <a:spLocks noGrp="1"/>
          </p:cNvSpPr>
          <p:nvPr>
            <p:ph idx="1"/>
          </p:nvPr>
        </p:nvSpPr>
        <p:spPr>
          <a:xfrm>
            <a:off x="457200" y="1562100"/>
            <a:ext cx="8339138" cy="3152775"/>
          </a:xfrm>
          <a:ln>
            <a:solidFill>
              <a:srgbClr val="009ED6">
                <a:alpha val="100000"/>
              </a:srgbClr>
            </a:solidFill>
            <a:miter lim="800000"/>
          </a:ln>
        </p:spPr>
        <p:txBody>
          <a:bodyPr vert="horz" wrap="square" lIns="91440" tIns="45720" rIns="91440" bIns="45720" anchor="t" anchorCtr="0"/>
          <a:p>
            <a:pPr lvl="1" eaLnBrk="1" hangingPunct="1">
              <a:buFont typeface="Wingdings" panose="05000000000000000000" pitchFamily="2" charset="2"/>
              <a:buChar char="Ø"/>
            </a:pPr>
            <a:r>
              <a:rPr lang="zh-CN" altLang="zh-CN" kern="1200" dirty="0">
                <a:latin typeface="+mn-lt"/>
                <a:ea typeface="+mn-ea"/>
                <a:cs typeface="等线" panose="02010600030101010101" charset="-122"/>
              </a:rPr>
              <a:t>当数组被成功创建后，数组中元素会被自动赋予一个默认值，根据元素类型的不同，默认初始化的值也是不一样的。</a:t>
            </a:r>
            <a:endParaRPr lang="en-US" altLang="zh-CN" kern="1200" dirty="0">
              <a:latin typeface="+mn-lt"/>
              <a:ea typeface="+mn-ea"/>
              <a:cs typeface="等线" panose="02010600030101010101" charset="-122"/>
            </a:endParaRPr>
          </a:p>
        </p:txBody>
      </p:sp>
      <p:pic>
        <p:nvPicPr>
          <p:cNvPr id="87043" name="Picture 6"/>
          <p:cNvPicPr>
            <a:picLocks noChangeAspect="1"/>
          </p:cNvPicPr>
          <p:nvPr/>
        </p:nvPicPr>
        <p:blipFill>
          <a:blip r:embed="rId1"/>
          <a:stretch>
            <a:fillRect/>
          </a:stretch>
        </p:blipFill>
        <p:spPr>
          <a:xfrm>
            <a:off x="1993900" y="2754313"/>
            <a:ext cx="5387975" cy="1574800"/>
          </a:xfrm>
          <a:prstGeom prst="rect">
            <a:avLst/>
          </a:prstGeom>
          <a:noFill/>
          <a:ln w="9525">
            <a:noFill/>
          </a:ln>
        </p:spPr>
      </p:pic>
      <p:sp>
        <p:nvSpPr>
          <p:cNvPr id="5"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2.7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数组</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87045"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内容占位符 2"/>
          <p:cNvSpPr>
            <a:spLocks noGrp="1"/>
          </p:cNvSpPr>
          <p:nvPr>
            <p:ph idx="1"/>
          </p:nvPr>
        </p:nvSpPr>
        <p:spPr>
          <a:xfrm>
            <a:off x="374650" y="1190625"/>
            <a:ext cx="8339138" cy="4986338"/>
          </a:xfrm>
          <a:ln>
            <a:solidFill>
              <a:srgbClr val="009ED6">
                <a:alpha val="100000"/>
              </a:srgbClr>
            </a:solidFill>
            <a:miter lim="800000"/>
          </a:ln>
        </p:spPr>
        <p:txBody>
          <a:bodyPr vert="horz" wrap="square" lIns="91440" tIns="45720" rIns="91440" bIns="45720" anchor="t" anchorCtr="0"/>
          <a:p>
            <a:pPr lvl="1" eaLnBrk="1" hangingPunct="1">
              <a:lnSpc>
                <a:spcPct val="200000"/>
              </a:lnSpc>
              <a:buFont typeface="Wingdings" panose="05000000000000000000" pitchFamily="2" charset="2"/>
              <a:buChar char="Ø"/>
            </a:pPr>
            <a:r>
              <a:rPr lang="zh-CN" altLang="zh-CN" kern="1200" dirty="0">
                <a:latin typeface="+mn-lt"/>
                <a:ea typeface="+mn-ea"/>
                <a:cs typeface="等线" panose="02010600030101010101" charset="-122"/>
              </a:rPr>
              <a:t>在初始化数组时还有一种方式叫做静态初始化，就是在定义数组的同时就为数组的每个元素赋值。数组的静态初始化有两种方式</a:t>
            </a:r>
            <a:r>
              <a:rPr lang="zh-CN" altLang="en-US" kern="1200" dirty="0">
                <a:latin typeface="+mn-lt"/>
                <a:ea typeface="+mn-ea"/>
                <a:cs typeface="等线" panose="02010600030101010101" charset="-122"/>
              </a:rPr>
              <a:t>：</a:t>
            </a:r>
            <a:endParaRPr lang="en-US" altLang="zh-CN" kern="1200" dirty="0">
              <a:latin typeface="+mn-lt"/>
              <a:ea typeface="+mn-ea"/>
              <a:cs typeface="等线" panose="02010600030101010101" charset="-122"/>
            </a:endParaRPr>
          </a:p>
          <a:p>
            <a:pPr lvl="1" eaLnBrk="1" hangingPunct="1">
              <a:lnSpc>
                <a:spcPct val="200000"/>
              </a:lnSpc>
            </a:pPr>
            <a:endParaRPr lang="en-US" altLang="zh-CN" kern="1200" dirty="0">
              <a:latin typeface="+mn-lt"/>
              <a:ea typeface="+mn-ea"/>
              <a:cs typeface="等线" panose="02010600030101010101" charset="-122"/>
            </a:endParaRPr>
          </a:p>
          <a:p>
            <a:pPr lvl="1" eaLnBrk="1" hangingPunct="1">
              <a:lnSpc>
                <a:spcPct val="200000"/>
              </a:lnSpc>
            </a:pPr>
            <a:endParaRPr lang="en-US" altLang="zh-CN" sz="500" kern="1200" dirty="0">
              <a:latin typeface="+mn-lt"/>
              <a:ea typeface="+mn-ea"/>
              <a:cs typeface="等线" panose="02010600030101010101" charset="-122"/>
            </a:endParaRPr>
          </a:p>
        </p:txBody>
      </p:sp>
      <p:pic>
        <p:nvPicPr>
          <p:cNvPr id="88067" name="Picture 9"/>
          <p:cNvPicPr>
            <a:picLocks noChangeAspect="1"/>
          </p:cNvPicPr>
          <p:nvPr/>
        </p:nvPicPr>
        <p:blipFill>
          <a:blip r:embed="rId1"/>
          <a:stretch>
            <a:fillRect/>
          </a:stretch>
        </p:blipFill>
        <p:spPr>
          <a:xfrm>
            <a:off x="1316038" y="2722563"/>
            <a:ext cx="6323012" cy="682625"/>
          </a:xfrm>
          <a:prstGeom prst="rect">
            <a:avLst/>
          </a:prstGeom>
          <a:noFill/>
          <a:ln w="9525">
            <a:noFill/>
          </a:ln>
        </p:spPr>
      </p:pic>
      <p:sp>
        <p:nvSpPr>
          <p:cNvPr id="8"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2.7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数组</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88069"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9" name="内容占位符 2"/>
          <p:cNvSpPr>
            <a:spLocks noGrp="1"/>
          </p:cNvSpPr>
          <p:nvPr>
            <p:ph idx="1"/>
          </p:nvPr>
        </p:nvSpPr>
        <p:spPr>
          <a:xfrm>
            <a:off x="350838" y="1881188"/>
            <a:ext cx="8370888" cy="3890963"/>
          </a:xfrm>
          <a:ln>
            <a:solidFill>
              <a:srgbClr val="009ED6"/>
            </a:solidFill>
            <a:miter lim="800000"/>
          </a:ln>
        </p:spPr>
        <p:txBody>
          <a:bodyPr vert="horz" wrap="square" lIns="91440" tIns="45720" rIns="91440" bIns="45720" numCol="1" rtlCol="0" anchor="t" anchorCtr="0" compatLnSpc="1">
            <a:normAutofit/>
          </a:bodyPr>
          <a:lstStyle/>
          <a:p>
            <a:pPr marL="457200" marR="0" lvl="1" indent="0" algn="l" defTabSz="914400" rtl="0" eaLnBrk="1" fontAlgn="auto" latinLnBrk="0" hangingPunct="1">
              <a:lnSpc>
                <a:spcPct val="200000"/>
              </a:lnSpc>
              <a:spcBef>
                <a:spcPts val="500"/>
              </a:spcBef>
              <a:spcAft>
                <a:spcPts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1</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、数组遍历</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200000"/>
              </a:lnSpc>
              <a:spcBef>
                <a:spcPts val="500"/>
              </a:spcBef>
              <a:spcAft>
                <a:spcPts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在操作数组时，经常需要依次访问数组中的每个元素，这种操作叫做数组的遍历。</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200000"/>
              </a:lnSpc>
              <a:spcBef>
                <a:spcPts val="500"/>
              </a:spcBef>
              <a:spcAft>
                <a:spcPts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2</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、数组最值</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200000"/>
              </a:lnSpc>
              <a:spcBef>
                <a:spcPts val="500"/>
              </a:spcBef>
              <a:spcAft>
                <a:spcPts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在操作数组时，经常需要获取数组中元素的最值。</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200000"/>
              </a:lnSpc>
              <a:spcBef>
                <a:spcPts val="500"/>
              </a:spcBef>
              <a:spcAft>
                <a:spcPts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12" name="剪去对角的矩形 11"/>
          <p:cNvSpPr/>
          <p:nvPr/>
        </p:nvSpPr>
        <p:spPr bwMode="auto">
          <a:xfrm>
            <a:off x="5434013" y="1084263"/>
            <a:ext cx="2863850"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9092" name="矩形 5"/>
          <p:cNvSpPr/>
          <p:nvPr/>
        </p:nvSpPr>
        <p:spPr>
          <a:xfrm>
            <a:off x="5735638" y="1085850"/>
            <a:ext cx="2562225" cy="5905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35000"/>
              </a:lnSpc>
              <a:spcBef>
                <a:spcPct val="0"/>
              </a:spcBef>
              <a:buNone/>
            </a:pPr>
            <a:r>
              <a:rPr lang="zh-CN" altLang="en-US" sz="2400" dirty="0">
                <a:solidFill>
                  <a:srgbClr val="00B0F0"/>
                </a:solidFill>
                <a:latin typeface="黑体" panose="02010609060101010101" pitchFamily="49" charset="-122"/>
                <a:ea typeface="黑体" panose="02010609060101010101" pitchFamily="49" charset="-122"/>
              </a:rPr>
              <a:t>数组的常见操作</a:t>
            </a:r>
            <a:endParaRPr lang="zh-CN" altLang="zh-CN" sz="2400" dirty="0">
              <a:solidFill>
                <a:srgbClr val="00B0F0"/>
              </a:solidFill>
              <a:latin typeface="黑体" panose="02010609060101010101" pitchFamily="49" charset="-122"/>
              <a:ea typeface="黑体" panose="02010609060101010101" pitchFamily="49" charset="-122"/>
            </a:endParaRPr>
          </a:p>
        </p:txBody>
      </p:sp>
      <p:sp>
        <p:nvSpPr>
          <p:cNvPr id="9"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2.7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数组</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89094"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9"/>
                                        </p:tgtEl>
                                      </p:cBhvr>
                                    </p:animEffect>
                                    <p:animScale>
                                      <p:cBhvr>
                                        <p:cTn id="7" dur="250" autoRev="1"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7" name="内容占位符 2"/>
          <p:cNvSpPr>
            <a:spLocks noGrp="1"/>
          </p:cNvSpPr>
          <p:nvPr>
            <p:ph idx="1"/>
          </p:nvPr>
        </p:nvSpPr>
        <p:spPr>
          <a:xfrm>
            <a:off x="350838" y="1300163"/>
            <a:ext cx="8431213" cy="3478213"/>
          </a:xfrm>
          <a:ln>
            <a:solidFill>
              <a:srgbClr val="009ED6"/>
            </a:solidFill>
            <a:miter lim="800000"/>
          </a:ln>
        </p:spPr>
        <p:txBody>
          <a:bodyPr vert="horz" wrap="square" lIns="91440" tIns="45720" rIns="91440" bIns="45720" numCol="1" rtlCol="0" anchor="t" anchorCtr="0" compatLnSpc="1">
            <a:normAutofit/>
          </a:bodyPr>
          <a:lstStyle/>
          <a:p>
            <a:pPr marL="457200" marR="0" lvl="1" indent="0" algn="l" defTabSz="914400" rtl="0" eaLnBrk="1" fontAlgn="auto" latinLnBrk="0" hangingPunct="1">
              <a:lnSpc>
                <a:spcPct val="150000"/>
              </a:lnSpc>
              <a:spcBef>
                <a:spcPts val="500"/>
              </a:spcBef>
              <a:spcAft>
                <a:spcPts val="0"/>
              </a:spcAft>
              <a:buClrTx/>
              <a:buSzTx/>
              <a:buFontTx/>
              <a:buNone/>
              <a:defRPr/>
            </a:pPr>
            <a:r>
              <a:rPr kumimoji="0" lang="en-US" altLang="zh-CN" sz="2000" b="1" i="0" u="none" strike="noStrike" kern="1200" cap="none" spc="0" normalizeH="0" baseline="0" noProof="0" dirty="0">
                <a:ln>
                  <a:noFill/>
                </a:ln>
                <a:solidFill>
                  <a:schemeClr val="tx1"/>
                </a:solidFill>
                <a:effectLst/>
                <a:uLnTx/>
                <a:uFillTx/>
                <a:latin typeface="+mn-lt"/>
                <a:ea typeface="+mn-ea"/>
                <a:cs typeface="+mn-cs"/>
              </a:rPr>
              <a:t>3</a:t>
            </a:r>
            <a:r>
              <a:rPr kumimoji="0" lang="zh-CN" altLang="en-US" sz="2000" b="1" i="0" u="none" strike="noStrike" kern="1200" cap="none" spc="0" normalizeH="0" baseline="0" noProof="0" dirty="0">
                <a:ln>
                  <a:noFill/>
                </a:ln>
                <a:solidFill>
                  <a:schemeClr val="tx1"/>
                </a:solidFill>
                <a:effectLst/>
                <a:uLnTx/>
                <a:uFillTx/>
                <a:latin typeface="+mn-lt"/>
                <a:ea typeface="+mn-ea"/>
                <a:cs typeface="+mn-cs"/>
              </a:rPr>
              <a:t>、数组排序</a:t>
            </a:r>
            <a:endParaRPr kumimoji="0"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200000"/>
              </a:lnSpc>
              <a:spcBef>
                <a:spcPts val="500"/>
              </a:spcBef>
              <a:spcAft>
                <a:spcPts val="0"/>
              </a:spcAft>
              <a:buClrTx/>
              <a:buSzTx/>
              <a:buFont typeface="Wingdings" panose="05000000000000000000" pitchFamily="2" charset="2"/>
              <a:buChar char="Ø"/>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在操作数组时，经常需要对数组中的元素进行排序，其中冒泡排序是比较常见的一种算法。冒泡过程中，不断比较数组中相邻的两个元素，较小者向上浮，较大者往下沉，整个过程和水中气泡上升的原理相似。</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200000"/>
              </a:lnSpc>
              <a:spcBef>
                <a:spcPts val="500"/>
              </a:spcBef>
              <a:spcAft>
                <a:spcPts val="0"/>
              </a:spcAft>
              <a:buClrTx/>
              <a:buSzTx/>
              <a:buFontTx/>
              <a:buNone/>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2.7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数组</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90116"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5" name="内容占位符 2"/>
          <p:cNvSpPr>
            <a:spLocks noGrp="1"/>
          </p:cNvSpPr>
          <p:nvPr>
            <p:ph idx="1"/>
          </p:nvPr>
        </p:nvSpPr>
        <p:spPr>
          <a:xfrm>
            <a:off x="457200" y="1836738"/>
            <a:ext cx="8493125" cy="4451350"/>
          </a:xfrm>
          <a:ln>
            <a:solidFill>
              <a:srgbClr val="009ED6"/>
            </a:solidFill>
            <a:miter lim="800000"/>
          </a:ln>
        </p:spPr>
        <p:txBody>
          <a:bodyPr vert="horz" wrap="square" lIns="91440" tIns="45720" rIns="91440" bIns="45720" numCol="1" rtlCol="0" anchor="t" anchorCtr="0" compatLnSpc="1">
            <a:normAutofit/>
          </a:bodyPr>
          <a:lstStyle/>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zh-CN" altLang="zh-CN" sz="2000" b="0" i="0" u="none" strike="noStrike" kern="1200" cap="none" spc="0" normalizeH="0" baseline="0" noProof="0" dirty="0">
                <a:ln>
                  <a:noFill/>
                </a:ln>
                <a:solidFill>
                  <a:schemeClr val="tx1"/>
                </a:solidFill>
                <a:effectLst/>
                <a:uLnTx/>
                <a:uFillTx/>
                <a:latin typeface="+mn-lt"/>
                <a:ea typeface="+mn-ea"/>
                <a:cs typeface="+mn-cs"/>
              </a:rPr>
              <a:t>多维数组可以简单地理解为在数组中嵌套数组。在程序中比较常见的就是二维数组</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defRPr/>
            </a:pPr>
            <a:r>
              <a:rPr kumimoji="0" lang="zh-CN" altLang="zh-CN" sz="2000" b="0" i="0" u="none" strike="noStrike" kern="1200" cap="none" spc="0" normalizeH="0" baseline="0" noProof="0" dirty="0">
                <a:ln>
                  <a:noFill/>
                </a:ln>
                <a:solidFill>
                  <a:schemeClr val="tx1"/>
                </a:solidFill>
                <a:effectLst/>
                <a:uLnTx/>
                <a:uFillTx/>
                <a:latin typeface="+mn-lt"/>
                <a:ea typeface="+mn-ea"/>
                <a:cs typeface="+mn-cs"/>
              </a:rPr>
              <a:t>二维数组的定义有很多方式</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，具体如下：</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cs"/>
              </a:rPr>
              <a:t>方式一：</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cs"/>
              </a:rPr>
              <a:t>上面的代码定义了一个</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3</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行</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4</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列的二维数组，它的结构如下图所示。</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50000"/>
              </a:lnSpc>
              <a:spcBef>
                <a:spcPts val="500"/>
              </a:spcBef>
              <a:spcAft>
                <a:spcPts val="0"/>
              </a:spcAft>
              <a:buClrTx/>
              <a:buSzTx/>
              <a:buFontTx/>
              <a:buNone/>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685800" marR="0" lvl="1" indent="-228600" algn="l" defTabSz="914400" rtl="0" eaLnBrk="1" fontAlgn="auto" latinLnBrk="0" hangingPunct="1">
              <a:lnSpc>
                <a:spcPct val="150000"/>
              </a:lnSpc>
              <a:spcBef>
                <a:spcPts val="500"/>
              </a:spcBef>
              <a:spcAft>
                <a:spcPts val="0"/>
              </a:spcAft>
              <a:buClrTx/>
              <a:buSzTx/>
              <a:buFont typeface="Arial" panose="020B0604020202020204" pitchFamily="34" charset="0"/>
              <a:buChar char="•"/>
              <a:defRPr/>
            </a:pP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91139" name="Picture 2" descr="数组"/>
          <p:cNvPicPr>
            <a:picLocks noChangeAspect="1"/>
          </p:cNvPicPr>
          <p:nvPr/>
        </p:nvPicPr>
        <p:blipFill>
          <a:blip r:embed="rId1"/>
          <a:stretch>
            <a:fillRect/>
          </a:stretch>
        </p:blipFill>
        <p:spPr>
          <a:xfrm>
            <a:off x="935038" y="5040313"/>
            <a:ext cx="7681912" cy="1079500"/>
          </a:xfrm>
          <a:prstGeom prst="rect">
            <a:avLst/>
          </a:prstGeom>
          <a:noFill/>
          <a:ln w="9525">
            <a:noFill/>
          </a:ln>
        </p:spPr>
      </p:pic>
      <p:sp>
        <p:nvSpPr>
          <p:cNvPr id="6" name="剪去对角的矩形 5"/>
          <p:cNvSpPr/>
          <p:nvPr/>
        </p:nvSpPr>
        <p:spPr bwMode="auto">
          <a:xfrm>
            <a:off x="5434013" y="1084263"/>
            <a:ext cx="2863850" cy="577850"/>
          </a:xfrm>
          <a:prstGeom prst="snip2DiagRect">
            <a:avLst/>
          </a:prstGeom>
          <a:solidFill>
            <a:srgbClr val="E7F4FF"/>
          </a:solidFill>
          <a:ln w="28575" cap="flat" cmpd="sng" algn="ctr">
            <a:solidFill>
              <a:srgbClr val="00ACE6"/>
            </a:solidFill>
            <a:prstDash val="sysDot"/>
            <a:round/>
            <a:headEnd type="none" w="med" len="med"/>
            <a:tailEnd type="none" w="med" len="med"/>
          </a:ln>
          <a:effec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1141" name="矩形 5"/>
          <p:cNvSpPr/>
          <p:nvPr/>
        </p:nvSpPr>
        <p:spPr>
          <a:xfrm>
            <a:off x="6132513" y="1077913"/>
            <a:ext cx="1604962" cy="59055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35000"/>
              </a:lnSpc>
              <a:spcBef>
                <a:spcPct val="0"/>
              </a:spcBef>
              <a:buNone/>
            </a:pPr>
            <a:r>
              <a:rPr lang="zh-CN" altLang="en-US" sz="2400" dirty="0">
                <a:solidFill>
                  <a:srgbClr val="00B0F0"/>
                </a:solidFill>
                <a:latin typeface="黑体" panose="02010609060101010101" pitchFamily="49" charset="-122"/>
                <a:ea typeface="黑体" panose="02010609060101010101" pitchFamily="49" charset="-122"/>
              </a:rPr>
              <a:t>多维数组</a:t>
            </a:r>
            <a:endParaRPr lang="zh-CN" altLang="zh-CN" sz="2400" dirty="0">
              <a:solidFill>
                <a:srgbClr val="00B0F0"/>
              </a:solidFill>
              <a:latin typeface="黑体" panose="02010609060101010101" pitchFamily="49" charset="-122"/>
              <a:ea typeface="黑体" panose="02010609060101010101" pitchFamily="49" charset="-122"/>
            </a:endParaRPr>
          </a:p>
        </p:txBody>
      </p:sp>
      <p:pic>
        <p:nvPicPr>
          <p:cNvPr id="91142" name="Picture 8"/>
          <p:cNvPicPr>
            <a:picLocks noChangeAspect="1"/>
          </p:cNvPicPr>
          <p:nvPr/>
        </p:nvPicPr>
        <p:blipFill>
          <a:blip r:embed="rId2"/>
          <a:stretch>
            <a:fillRect/>
          </a:stretch>
        </p:blipFill>
        <p:spPr>
          <a:xfrm>
            <a:off x="1638300" y="3873500"/>
            <a:ext cx="5122863" cy="349250"/>
          </a:xfrm>
          <a:prstGeom prst="rect">
            <a:avLst/>
          </a:prstGeom>
          <a:noFill/>
          <a:ln w="9525">
            <a:noFill/>
          </a:ln>
        </p:spPr>
      </p:pic>
      <p:sp>
        <p:nvSpPr>
          <p:cNvPr id="8"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2.7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数组</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91144"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内容占位符 2"/>
          <p:cNvSpPr>
            <a:spLocks noGrp="1"/>
          </p:cNvSpPr>
          <p:nvPr>
            <p:ph idx="1"/>
          </p:nvPr>
        </p:nvSpPr>
        <p:spPr>
          <a:xfrm>
            <a:off x="465138" y="1393825"/>
            <a:ext cx="8493125" cy="4465638"/>
          </a:xfrm>
          <a:ln>
            <a:solidFill>
              <a:srgbClr val="009ED6">
                <a:alpha val="100000"/>
              </a:srgbClr>
            </a:solidFill>
            <a:miter lim="800000"/>
          </a:ln>
        </p:spPr>
        <p:txBody>
          <a:bodyPr vert="horz" wrap="square" lIns="91440" tIns="45720" rIns="91440" bIns="45720" anchor="t" anchorCtr="0"/>
          <a:p>
            <a:pPr lvl="1" eaLnBrk="1" hangingPunct="1">
              <a:lnSpc>
                <a:spcPct val="200000"/>
              </a:lnSpc>
            </a:pPr>
            <a:r>
              <a:rPr lang="zh-CN" altLang="en-US" kern="1200" dirty="0">
                <a:latin typeface="+mn-lt"/>
                <a:ea typeface="+mn-ea"/>
                <a:cs typeface="等线" panose="02010600030101010101" charset="-122"/>
              </a:rPr>
              <a:t>方式二：</a:t>
            </a:r>
            <a:endParaRPr lang="en-US" altLang="zh-CN" kern="1200" dirty="0">
              <a:latin typeface="+mn-lt"/>
              <a:ea typeface="+mn-ea"/>
              <a:cs typeface="等线" panose="02010600030101010101" charset="-122"/>
            </a:endParaRPr>
          </a:p>
          <a:p>
            <a:pPr lvl="1" eaLnBrk="1" hangingPunct="1">
              <a:lnSpc>
                <a:spcPct val="200000"/>
              </a:lnSpc>
            </a:pPr>
            <a:endParaRPr lang="en-US" altLang="zh-CN" kern="1200" dirty="0">
              <a:latin typeface="+mn-lt"/>
              <a:ea typeface="+mn-ea"/>
              <a:cs typeface="等线" panose="02010600030101010101" charset="-122"/>
            </a:endParaRPr>
          </a:p>
          <a:p>
            <a:pPr lvl="1" eaLnBrk="1" hangingPunct="1">
              <a:buFont typeface="Wingdings" panose="05000000000000000000" pitchFamily="2" charset="2"/>
              <a:buChar char="Ø"/>
            </a:pPr>
            <a:r>
              <a:rPr lang="zh-CN" altLang="en-US" kern="1200" dirty="0">
                <a:latin typeface="+mn-lt"/>
                <a:ea typeface="+mn-ea"/>
                <a:cs typeface="等线" panose="02010600030101010101" charset="-122"/>
              </a:rPr>
              <a:t>上述方式与第一种方式类似，只是数组中每个元素的长度不确定，采用第二种方式常见的数组结构如下图所示。</a:t>
            </a:r>
            <a:endParaRPr lang="en-US" altLang="zh-CN" kern="1200" dirty="0">
              <a:latin typeface="+mn-lt"/>
              <a:ea typeface="+mn-ea"/>
              <a:cs typeface="等线" panose="02010600030101010101" charset="-122"/>
            </a:endParaRPr>
          </a:p>
          <a:p>
            <a:pPr lvl="1" eaLnBrk="1" hangingPunct="1"/>
            <a:endParaRPr lang="en-US" altLang="zh-CN" kern="1200" dirty="0">
              <a:latin typeface="+mn-lt"/>
              <a:ea typeface="+mn-ea"/>
              <a:cs typeface="等线" panose="02010600030101010101" charset="-122"/>
            </a:endParaRPr>
          </a:p>
        </p:txBody>
      </p:sp>
      <p:pic>
        <p:nvPicPr>
          <p:cNvPr id="92163" name="Picture 2" descr="数组"/>
          <p:cNvPicPr>
            <a:picLocks noChangeAspect="1"/>
          </p:cNvPicPr>
          <p:nvPr/>
        </p:nvPicPr>
        <p:blipFill>
          <a:blip r:embed="rId1"/>
          <a:stretch>
            <a:fillRect/>
          </a:stretch>
        </p:blipFill>
        <p:spPr>
          <a:xfrm>
            <a:off x="1249363" y="4011613"/>
            <a:ext cx="6881812" cy="1263650"/>
          </a:xfrm>
          <a:prstGeom prst="rect">
            <a:avLst/>
          </a:prstGeom>
          <a:noFill/>
          <a:ln w="9525">
            <a:noFill/>
          </a:ln>
        </p:spPr>
      </p:pic>
      <p:pic>
        <p:nvPicPr>
          <p:cNvPr id="92164" name="Picture 6"/>
          <p:cNvPicPr>
            <a:picLocks noChangeAspect="1"/>
          </p:cNvPicPr>
          <p:nvPr/>
        </p:nvPicPr>
        <p:blipFill>
          <a:blip r:embed="rId2"/>
          <a:stretch>
            <a:fillRect/>
          </a:stretch>
        </p:blipFill>
        <p:spPr>
          <a:xfrm>
            <a:off x="1481138" y="2200275"/>
            <a:ext cx="5424487" cy="374650"/>
          </a:xfrm>
          <a:prstGeom prst="rect">
            <a:avLst/>
          </a:prstGeom>
          <a:noFill/>
          <a:ln w="9525">
            <a:noFill/>
          </a:ln>
        </p:spPr>
      </p:pic>
      <p:sp>
        <p:nvSpPr>
          <p:cNvPr id="6"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2.7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数组</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92166"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内容占位符 2"/>
          <p:cNvSpPr>
            <a:spLocks noGrp="1"/>
          </p:cNvSpPr>
          <p:nvPr>
            <p:ph idx="1"/>
          </p:nvPr>
        </p:nvSpPr>
        <p:spPr>
          <a:xfrm>
            <a:off x="457200" y="1209675"/>
            <a:ext cx="8247063" cy="4035425"/>
          </a:xfrm>
          <a:ln>
            <a:solidFill>
              <a:srgbClr val="009ED6">
                <a:alpha val="100000"/>
              </a:srgbClr>
            </a:solidFill>
            <a:miter lim="800000"/>
          </a:ln>
        </p:spPr>
        <p:txBody>
          <a:bodyPr vert="horz" wrap="square" lIns="91440" tIns="45720" rIns="91440" bIns="45720" anchor="t" anchorCtr="0"/>
          <a:p>
            <a:pPr lvl="1" eaLnBrk="1" hangingPunct="1"/>
            <a:r>
              <a:rPr lang="zh-CN" altLang="en-US" kern="1200" dirty="0">
                <a:latin typeface="+mn-lt"/>
                <a:ea typeface="+mn-ea"/>
                <a:cs typeface="等线" panose="02010600030101010101" charset="-122"/>
              </a:rPr>
              <a:t>方式三：</a:t>
            </a:r>
            <a:endParaRPr lang="en-US" altLang="zh-CN" kern="1200" dirty="0">
              <a:latin typeface="+mn-lt"/>
              <a:ea typeface="+mn-ea"/>
              <a:cs typeface="等线" panose="02010600030101010101" charset="-122"/>
            </a:endParaRPr>
          </a:p>
          <a:p>
            <a:pPr lvl="1" eaLnBrk="1" hangingPunct="1"/>
            <a:endParaRPr lang="en-US" altLang="zh-CN" kern="1200" dirty="0">
              <a:latin typeface="+mn-lt"/>
              <a:ea typeface="+mn-ea"/>
              <a:cs typeface="等线" panose="02010600030101010101" charset="-122"/>
            </a:endParaRPr>
          </a:p>
          <a:p>
            <a:pPr lvl="1" eaLnBrk="1" hangingPunct="1">
              <a:buFont typeface="Wingdings" panose="05000000000000000000" pitchFamily="2" charset="2"/>
              <a:buChar char="Ø"/>
            </a:pPr>
            <a:r>
              <a:rPr lang="zh-CN" altLang="en-US" kern="1200" dirty="0">
                <a:latin typeface="+mn-lt"/>
                <a:ea typeface="+mn-ea"/>
                <a:cs typeface="等线" panose="02010600030101010101" charset="-122"/>
              </a:rPr>
              <a:t>采用上述方式定义的二维数组有三个元素，这三个元素都是数组，分别是</a:t>
            </a:r>
            <a:r>
              <a:rPr lang="en-US" altLang="zh-CN" kern="1200" dirty="0">
                <a:latin typeface="+mn-lt"/>
                <a:ea typeface="+mn-ea"/>
                <a:cs typeface="等线" panose="02010600030101010101" charset="-122"/>
              </a:rPr>
              <a:t>{1,2}</a:t>
            </a:r>
            <a:r>
              <a:rPr lang="zh-CN" altLang="en-US" kern="1200" dirty="0">
                <a:latin typeface="+mn-lt"/>
                <a:ea typeface="+mn-ea"/>
                <a:cs typeface="等线" panose="02010600030101010101" charset="-122"/>
              </a:rPr>
              <a:t>、</a:t>
            </a:r>
            <a:r>
              <a:rPr lang="en-US" altLang="zh-CN" kern="1200" dirty="0">
                <a:latin typeface="+mn-lt"/>
                <a:ea typeface="+mn-ea"/>
                <a:cs typeface="等线" panose="02010600030101010101" charset="-122"/>
              </a:rPr>
              <a:t>{3,4,5,6}</a:t>
            </a:r>
            <a:r>
              <a:rPr lang="zh-CN" altLang="en-US" kern="1200" dirty="0">
                <a:latin typeface="+mn-lt"/>
                <a:ea typeface="+mn-ea"/>
                <a:cs typeface="等线" panose="02010600030101010101" charset="-122"/>
              </a:rPr>
              <a:t>、</a:t>
            </a:r>
            <a:r>
              <a:rPr lang="en-US" altLang="zh-CN" kern="1200" dirty="0">
                <a:latin typeface="+mn-lt"/>
                <a:ea typeface="+mn-ea"/>
                <a:cs typeface="等线" panose="02010600030101010101" charset="-122"/>
              </a:rPr>
              <a:t>{7,8,9}</a:t>
            </a:r>
            <a:r>
              <a:rPr lang="zh-CN" altLang="en-US" kern="1200" dirty="0">
                <a:latin typeface="+mn-lt"/>
                <a:ea typeface="+mn-ea"/>
                <a:cs typeface="等线" panose="02010600030101010101" charset="-122"/>
              </a:rPr>
              <a:t>。</a:t>
            </a:r>
            <a:endParaRPr lang="en-US" altLang="zh-CN" kern="1200" dirty="0">
              <a:latin typeface="+mn-lt"/>
              <a:ea typeface="+mn-ea"/>
              <a:cs typeface="等线" panose="02010600030101010101" charset="-122"/>
            </a:endParaRPr>
          </a:p>
          <a:p>
            <a:pPr lvl="1" eaLnBrk="1" hangingPunct="1">
              <a:buFont typeface="Wingdings" panose="05000000000000000000" pitchFamily="2" charset="2"/>
              <a:buChar char="Ø"/>
            </a:pPr>
            <a:r>
              <a:rPr lang="zh-CN" altLang="en-US" kern="1200" dirty="0">
                <a:latin typeface="+mn-lt"/>
                <a:ea typeface="+mn-ea"/>
                <a:cs typeface="等线" panose="02010600030101010101" charset="-122"/>
              </a:rPr>
              <a:t>接下来，通过一张图来描述方式三定义的数组结构</a:t>
            </a:r>
            <a:endParaRPr lang="en-US" altLang="zh-CN" kern="1200" dirty="0">
              <a:latin typeface="+mn-lt"/>
              <a:ea typeface="+mn-ea"/>
              <a:cs typeface="等线" panose="02010600030101010101" charset="-122"/>
            </a:endParaRPr>
          </a:p>
        </p:txBody>
      </p:sp>
      <p:pic>
        <p:nvPicPr>
          <p:cNvPr id="93187" name="Picture 2" descr="数组"/>
          <p:cNvPicPr>
            <a:picLocks noChangeAspect="1"/>
          </p:cNvPicPr>
          <p:nvPr/>
        </p:nvPicPr>
        <p:blipFill>
          <a:blip r:embed="rId1"/>
          <a:stretch>
            <a:fillRect/>
          </a:stretch>
        </p:blipFill>
        <p:spPr>
          <a:xfrm>
            <a:off x="1042988" y="3924300"/>
            <a:ext cx="6831012" cy="955675"/>
          </a:xfrm>
          <a:prstGeom prst="rect">
            <a:avLst/>
          </a:prstGeom>
          <a:noFill/>
          <a:ln w="9525">
            <a:noFill/>
          </a:ln>
        </p:spPr>
      </p:pic>
      <p:pic>
        <p:nvPicPr>
          <p:cNvPr id="93188" name="Picture 6"/>
          <p:cNvPicPr>
            <a:picLocks noChangeAspect="1"/>
          </p:cNvPicPr>
          <p:nvPr/>
        </p:nvPicPr>
        <p:blipFill>
          <a:blip r:embed="rId2"/>
          <a:stretch>
            <a:fillRect/>
          </a:stretch>
        </p:blipFill>
        <p:spPr>
          <a:xfrm>
            <a:off x="1127125" y="1884363"/>
            <a:ext cx="6338888" cy="341312"/>
          </a:xfrm>
          <a:prstGeom prst="rect">
            <a:avLst/>
          </a:prstGeom>
          <a:noFill/>
          <a:ln w="9525">
            <a:noFill/>
          </a:ln>
        </p:spPr>
      </p:pic>
      <p:sp>
        <p:nvSpPr>
          <p:cNvPr id="6"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2.7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数组</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93190"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内容占位符 2"/>
          <p:cNvSpPr>
            <a:spLocks noGrp="1"/>
          </p:cNvSpPr>
          <p:nvPr>
            <p:ph idx="1"/>
          </p:nvPr>
        </p:nvSpPr>
        <p:spPr>
          <a:xfrm>
            <a:off x="398463" y="1069975"/>
            <a:ext cx="8493125" cy="5430838"/>
          </a:xfrm>
          <a:ln>
            <a:solidFill>
              <a:srgbClr val="009ED6">
                <a:alpha val="100000"/>
              </a:srgbClr>
            </a:solidFill>
            <a:miter lim="800000"/>
          </a:ln>
        </p:spPr>
        <p:txBody>
          <a:bodyPr vert="horz" wrap="square" lIns="91440" tIns="45720" rIns="91440" bIns="45720" anchor="t" anchorCtr="0"/>
          <a:p>
            <a:pPr lvl="1" eaLnBrk="1" hangingPunct="1">
              <a:buFont typeface="Wingdings" panose="05000000000000000000" pitchFamily="2" charset="2"/>
              <a:buChar char="Ø"/>
            </a:pPr>
            <a:r>
              <a:rPr lang="zh-CN" altLang="en-US" kern="1200" dirty="0">
                <a:latin typeface="+mn-lt"/>
                <a:ea typeface="+mn-ea"/>
                <a:cs typeface="等线" panose="02010600030101010101" charset="-122"/>
              </a:rPr>
              <a:t>多维数组对</a:t>
            </a:r>
            <a:r>
              <a:rPr lang="zh-CN" altLang="zh-CN" kern="1200" dirty="0">
                <a:latin typeface="+mn-lt"/>
                <a:ea typeface="+mn-ea"/>
                <a:cs typeface="等线" panose="02010600030101010101" charset="-122"/>
              </a:rPr>
              <a:t>元素的访问也是通过角标的方式</a:t>
            </a:r>
            <a:r>
              <a:rPr lang="zh-CN" altLang="en-US" kern="1200" dirty="0">
                <a:latin typeface="+mn-lt"/>
                <a:ea typeface="+mn-ea"/>
                <a:cs typeface="等线" panose="02010600030101010101" charset="-122"/>
              </a:rPr>
              <a:t>，例如，访问二维数组中第一个元素数组的第二个元素的方式如下所示：</a:t>
            </a:r>
            <a:endParaRPr lang="en-US" altLang="zh-CN" kern="1200" dirty="0">
              <a:latin typeface="+mn-lt"/>
              <a:ea typeface="+mn-ea"/>
              <a:cs typeface="等线" panose="02010600030101010101" charset="-122"/>
            </a:endParaRPr>
          </a:p>
          <a:p>
            <a:pPr lvl="1" eaLnBrk="1" hangingPunct="1"/>
            <a:endParaRPr lang="zh-CN" altLang="zh-CN" kern="1200" dirty="0">
              <a:latin typeface="+mn-lt"/>
              <a:ea typeface="+mn-ea"/>
              <a:cs typeface="等线" panose="02010600030101010101" charset="-122"/>
            </a:endParaRPr>
          </a:p>
          <a:p>
            <a:pPr lvl="1" eaLnBrk="1" hangingPunct="1"/>
            <a:endParaRPr lang="en-US" altLang="zh-CN" sz="500" kern="1200" dirty="0">
              <a:latin typeface="+mn-lt"/>
              <a:ea typeface="+mn-ea"/>
              <a:cs typeface="等线" panose="02010600030101010101" charset="-122"/>
            </a:endParaRPr>
          </a:p>
          <a:p>
            <a:pPr lvl="1" eaLnBrk="1" hangingPunct="1">
              <a:buFont typeface="Wingdings" panose="05000000000000000000" pitchFamily="2" charset="2"/>
              <a:buChar char="Ø"/>
            </a:pPr>
            <a:r>
              <a:rPr lang="zh-CN" altLang="zh-CN" kern="1200" dirty="0">
                <a:latin typeface="+mn-lt"/>
                <a:ea typeface="+mn-ea"/>
                <a:cs typeface="等线" panose="02010600030101010101" charset="-122"/>
              </a:rPr>
              <a:t>通过一个案例来熟悉二维数组的使用，例如要统计一个公司三个销售小组中每个小组的总销售额以及整个公司的销售额</a:t>
            </a:r>
            <a:r>
              <a:rPr lang="zh-CN" altLang="en-US" kern="1200" dirty="0">
                <a:latin typeface="+mn-lt"/>
                <a:ea typeface="+mn-ea"/>
                <a:cs typeface="等线" panose="02010600030101010101" charset="-122"/>
              </a:rPr>
              <a:t>。</a:t>
            </a:r>
            <a:endParaRPr lang="en-US" altLang="zh-CN" kern="1200" dirty="0">
              <a:latin typeface="+mn-lt"/>
              <a:ea typeface="+mn-ea"/>
              <a:cs typeface="等线" panose="02010600030101010101" charset="-122"/>
            </a:endParaRPr>
          </a:p>
        </p:txBody>
      </p:sp>
      <p:pic>
        <p:nvPicPr>
          <p:cNvPr id="94211" name="Picture 8"/>
          <p:cNvPicPr>
            <a:picLocks noChangeAspect="1"/>
          </p:cNvPicPr>
          <p:nvPr/>
        </p:nvPicPr>
        <p:blipFill>
          <a:blip r:embed="rId1"/>
          <a:stretch>
            <a:fillRect/>
          </a:stretch>
        </p:blipFill>
        <p:spPr>
          <a:xfrm>
            <a:off x="1431925" y="2136775"/>
            <a:ext cx="4964113" cy="365125"/>
          </a:xfrm>
          <a:prstGeom prst="rect">
            <a:avLst/>
          </a:prstGeom>
          <a:noFill/>
          <a:ln w="9525">
            <a:noFill/>
          </a:ln>
        </p:spPr>
      </p:pic>
      <p:sp>
        <p:nvSpPr>
          <p:cNvPr id="8"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2.7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数组</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94213"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标题 1"/>
          <p:cNvSpPr>
            <a:spLocks noGrp="1"/>
          </p:cNvSpPr>
          <p:nvPr>
            <p:ph type="title"/>
          </p:nvPr>
        </p:nvSpPr>
        <p:spPr>
          <a:xfrm>
            <a:off x="1819275" y="153988"/>
            <a:ext cx="4716463" cy="776287"/>
          </a:xfrm>
        </p:spPr>
        <p:txBody>
          <a:bodyPr vert="horz" wrap="square" lIns="91440" tIns="45720" rIns="91440" bIns="45720" anchor="ctr" anchorCtr="0"/>
          <a:p>
            <a:pPr eaLnBrk="1" hangingPunct="1"/>
            <a:r>
              <a:rPr lang="zh-CN" altLang="en-US" sz="3600" kern="1200" dirty="0">
                <a:solidFill>
                  <a:srgbClr val="FF0000"/>
                </a:solidFill>
                <a:latin typeface="微软雅黑" panose="020B0503020204020204" pitchFamily="34" charset="-122"/>
                <a:ea typeface="微软雅黑" panose="020B0503020204020204" pitchFamily="34" charset="-122"/>
                <a:cs typeface="等线 Light" panose="02010600030101010101" charset="-122"/>
              </a:rPr>
              <a:t>简单的人机交互</a:t>
            </a:r>
            <a:endParaRPr lang="zh-CN" altLang="en-US" sz="3600" kern="1200" dirty="0">
              <a:solidFill>
                <a:srgbClr val="FF0000"/>
              </a:solidFill>
              <a:latin typeface="微软雅黑" panose="020B0503020204020204" pitchFamily="34" charset="-122"/>
              <a:ea typeface="微软雅黑" panose="020B0503020204020204" pitchFamily="34" charset="-122"/>
              <a:cs typeface="等线 Light" panose="02010600030101010101" charset="-122"/>
            </a:endParaRPr>
          </a:p>
        </p:txBody>
      </p:sp>
      <p:sp>
        <p:nvSpPr>
          <p:cNvPr id="3" name="内容占位符 2"/>
          <p:cNvSpPr>
            <a:spLocks noGrp="1"/>
          </p:cNvSpPr>
          <p:nvPr>
            <p:ph idx="1"/>
          </p:nvPr>
        </p:nvSpPr>
        <p:spPr>
          <a:xfrm>
            <a:off x="434975" y="1577975"/>
            <a:ext cx="7999413" cy="4351338"/>
          </a:xfrm>
        </p:spPr>
        <p:txBody>
          <a:bodyPr vert="horz" wrap="square" lIns="91440" tIns="45720" rIns="91440" bIns="45720" numCol="1" anchor="t" anchorCtr="0" compatLnSpc="1">
            <a:normAutofit fontScale="97500"/>
          </a:bodyPr>
          <a:lstStyle/>
          <a:p>
            <a:pPr marL="342900" marR="0" lvl="0" indent="-342900" algn="l" defTabSz="914400" rtl="0" eaLnBrk="1" fontAlgn="auto" latinLnBrk="0" hangingPunct="1">
              <a:lnSpc>
                <a:spcPct val="150000"/>
              </a:lnSpc>
              <a:spcBef>
                <a:spcPct val="20000"/>
              </a:spcBef>
              <a:spcAft>
                <a:spcPts val="0"/>
              </a:spcAft>
              <a:buClrTx/>
              <a:buSzTx/>
              <a:buFont typeface="Arial" panose="020B0604020202020204" pitchFamily="34" charset="0"/>
              <a:buNone/>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cs"/>
              </a:rPr>
              <a:t>    前面介绍了使用</a:t>
            </a:r>
            <a:r>
              <a:rPr kumimoji="0" lang="en-US" altLang="zh-CN" sz="2800" b="0" i="0" u="none" strike="noStrike" kern="1200" cap="none" spc="0" normalizeH="0" baseline="0" noProof="0" dirty="0" err="1">
                <a:ln>
                  <a:noFill/>
                </a:ln>
                <a:solidFill>
                  <a:schemeClr val="tx1"/>
                </a:solidFill>
                <a:effectLst/>
                <a:uLnTx/>
                <a:uFillTx/>
                <a:latin typeface="+mn-lt"/>
                <a:ea typeface="+mn-ea"/>
                <a:cs typeface="+mn-cs"/>
              </a:rPr>
              <a:t>System.out.println</a:t>
            </a:r>
            <a:r>
              <a:rPr kumimoji="0" lang="en-US" altLang="zh-CN" sz="2800" b="0" i="0" u="none" strike="noStrike" kern="1200" cap="none" spc="0" normalizeH="0" baseline="0" noProof="0" dirty="0">
                <a:ln>
                  <a:noFill/>
                </a:ln>
                <a:solidFill>
                  <a:schemeClr val="tx1"/>
                </a:solidFill>
                <a:effectLst/>
                <a:uLnTx/>
                <a:uFillTx/>
                <a:latin typeface="+mn-lt"/>
                <a:ea typeface="+mn-ea"/>
                <a:cs typeface="+mn-cs"/>
              </a:rPr>
              <a:t>()</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方法输出各种类型的数据，若需要向程序中输入数据，本章先介绍常用的方法：</a:t>
            </a:r>
            <a:endParaRPr kumimoji="0" lang="en-US" altLang="zh-CN" sz="28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50000"/>
              </a:lnSpc>
              <a:spcBef>
                <a:spcPct val="20000"/>
              </a:spcBef>
              <a:spcAft>
                <a:spcPts val="0"/>
              </a:spcAft>
              <a:buClrTx/>
              <a:buSzTx/>
              <a:buFont typeface="Arial" panose="020B0604020202020204" pitchFamily="34" charset="0"/>
              <a:buBlip>
                <a:blip r:embed="rId1"/>
              </a:buBlip>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cs"/>
              </a:rPr>
              <a:t>使用</a:t>
            </a:r>
            <a:r>
              <a:rPr kumimoji="0" lang="en-US" sz="2800" b="0" i="0" u="none" strike="noStrike" kern="1200" cap="none" spc="0" normalizeH="0" baseline="0" noProof="0" dirty="0">
                <a:ln>
                  <a:noFill/>
                </a:ln>
                <a:solidFill>
                  <a:schemeClr val="tx1"/>
                </a:solidFill>
                <a:effectLst/>
                <a:uLnTx/>
                <a:uFillTx/>
                <a:latin typeface="+mn-lt"/>
                <a:ea typeface="+mn-ea"/>
                <a:cs typeface="+mn-cs"/>
              </a:rPr>
              <a:t>Scanner</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类（导入</a:t>
            </a:r>
            <a:r>
              <a:rPr kumimoji="0" lang="en-US" altLang="zh-CN" sz="2800" b="0" i="0" u="none" strike="noStrike" kern="1200" cap="none" spc="0" normalizeH="0" baseline="0" noProof="0" dirty="0" err="1">
                <a:ln>
                  <a:noFill/>
                </a:ln>
                <a:solidFill>
                  <a:schemeClr val="tx1"/>
                </a:solidFill>
                <a:effectLst/>
                <a:uLnTx/>
                <a:uFillTx/>
                <a:latin typeface="+mn-lt"/>
                <a:ea typeface="+mn-ea"/>
                <a:cs typeface="+mn-cs"/>
              </a:rPr>
              <a:t>java.util.Scanner</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8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50000"/>
              </a:lnSpc>
              <a:spcBef>
                <a:spcPct val="20000"/>
              </a:spcBef>
              <a:spcAft>
                <a:spcPts val="0"/>
              </a:spcAft>
              <a:buClrTx/>
              <a:buSzTx/>
              <a:buFont typeface="Arial" panose="020B0604020202020204" pitchFamily="34" charset="0"/>
              <a:buBlip>
                <a:blip r:embed="rId1"/>
              </a:buBlip>
              <a:defRPr/>
            </a:pPr>
            <a:r>
              <a:rPr kumimoji="0" lang="zh-CN" altLang="en-US" sz="2800" b="0" i="0" u="none" strike="noStrike" kern="1200" cap="none" spc="0" normalizeH="0" baseline="0" noProof="0" dirty="0">
                <a:ln>
                  <a:noFill/>
                </a:ln>
                <a:solidFill>
                  <a:schemeClr val="tx1"/>
                </a:solidFill>
                <a:effectLst/>
                <a:uLnTx/>
                <a:uFillTx/>
                <a:latin typeface="+mn-lt"/>
                <a:ea typeface="+mn-ea"/>
                <a:cs typeface="+mn-cs"/>
              </a:rPr>
              <a:t>使用</a:t>
            </a:r>
            <a:r>
              <a:rPr kumimoji="0" lang="en-US" sz="2800" b="0" i="0" u="none" strike="noStrike" kern="1200" cap="none" spc="0" normalizeH="0" baseline="0" noProof="0" dirty="0" err="1">
                <a:ln>
                  <a:noFill/>
                </a:ln>
                <a:solidFill>
                  <a:schemeClr val="tx1"/>
                </a:solidFill>
                <a:effectLst/>
                <a:uLnTx/>
                <a:uFillTx/>
                <a:latin typeface="+mn-lt"/>
                <a:ea typeface="+mn-ea"/>
                <a:cs typeface="+mn-cs"/>
              </a:rPr>
              <a:t>BufferedReader</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类（导入</a:t>
            </a:r>
            <a:r>
              <a:rPr kumimoji="0" lang="en-US" altLang="zh-CN" sz="2800" b="0" i="0" u="none" strike="noStrike" kern="1200" cap="none" spc="0" normalizeH="0" baseline="0" noProof="0" dirty="0" err="1">
                <a:ln>
                  <a:noFill/>
                </a:ln>
                <a:solidFill>
                  <a:schemeClr val="tx1"/>
                </a:solidFill>
                <a:effectLst/>
                <a:uLnTx/>
                <a:uFillTx/>
                <a:latin typeface="+mn-lt"/>
                <a:ea typeface="+mn-ea"/>
                <a:cs typeface="+mn-cs"/>
              </a:rPr>
              <a:t>java.io.BufferedReader</a:t>
            </a:r>
            <a:r>
              <a:rPr kumimoji="0" lang="zh-CN" altLang="en-US" sz="2800" b="0" i="0" u="none" strike="noStrike" kern="1200" cap="none" spc="0" normalizeH="0" baseline="0" noProof="0" dirty="0">
                <a:ln>
                  <a:noFill/>
                </a:ln>
                <a:solidFill>
                  <a:schemeClr val="tx1"/>
                </a:solidFill>
                <a:effectLst/>
                <a:uLnTx/>
                <a:uFillTx/>
                <a:latin typeface="+mn-lt"/>
                <a:ea typeface="+mn-ea"/>
                <a:cs typeface="+mn-cs"/>
              </a:rPr>
              <a:t>）</a:t>
            </a:r>
            <a:endParaRPr kumimoji="0" lang="en-US" altLang="zh-CN"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77828"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标题 1"/>
          <p:cNvSpPr>
            <a:spLocks noGrp="1"/>
          </p:cNvSpPr>
          <p:nvPr>
            <p:ph type="title"/>
          </p:nvPr>
        </p:nvSpPr>
        <p:spPr>
          <a:xfrm>
            <a:off x="1657350" y="153988"/>
            <a:ext cx="4716463" cy="776287"/>
          </a:xfrm>
        </p:spPr>
        <p:txBody>
          <a:bodyPr vert="horz" wrap="square" lIns="91440" tIns="45720" rIns="91440" bIns="45720" anchor="ctr" anchorCtr="0"/>
          <a:p>
            <a:pPr eaLnBrk="1" hangingPunct="1"/>
            <a:r>
              <a:rPr lang="en-US" altLang="zh-CN" b="1" kern="1200" dirty="0">
                <a:solidFill>
                  <a:srgbClr val="FF0000"/>
                </a:solidFill>
                <a:latin typeface="微软雅黑" panose="020B0503020204020204" pitchFamily="34" charset="-122"/>
                <a:ea typeface="+mj-ea"/>
                <a:cs typeface="等线 Light" panose="02010600030101010101" charset="-122"/>
              </a:rPr>
              <a:t> </a:t>
            </a:r>
            <a:r>
              <a:rPr lang="zh-CN" altLang="en-US" sz="3600" b="1" kern="1200" dirty="0">
                <a:solidFill>
                  <a:srgbClr val="FF0000"/>
                </a:solidFill>
                <a:latin typeface="微软雅黑" panose="020B0503020204020204" pitchFamily="34" charset="-122"/>
                <a:ea typeface="微软雅黑" panose="020B0503020204020204" pitchFamily="34" charset="-122"/>
                <a:cs typeface="等线 Light" panose="02010600030101010101" charset="-122"/>
              </a:rPr>
              <a:t>简单的人机交互</a:t>
            </a:r>
            <a:endParaRPr lang="zh-CN" altLang="en-US" sz="3600" b="1" kern="1200" dirty="0">
              <a:solidFill>
                <a:srgbClr val="FF0000"/>
              </a:solidFill>
              <a:latin typeface="微软雅黑" panose="020B0503020204020204" pitchFamily="34" charset="-122"/>
              <a:ea typeface="微软雅黑" panose="020B0503020204020204" pitchFamily="34" charset="-122"/>
              <a:cs typeface="等线 Light" panose="02010600030101010101" charset="-122"/>
            </a:endParaRPr>
          </a:p>
        </p:txBody>
      </p:sp>
      <p:graphicFrame>
        <p:nvGraphicFramePr>
          <p:cNvPr id="4" name="内容占位符 3"/>
          <p:cNvGraphicFramePr>
            <a:graphicFrameLocks noGrp="1"/>
          </p:cNvGraphicFramePr>
          <p:nvPr>
            <p:ph idx="4294967295"/>
          </p:nvPr>
        </p:nvGraphicFramePr>
        <p:xfrm>
          <a:off x="628650" y="1825625"/>
          <a:ext cx="7886700" cy="2643188"/>
        </p:xfrm>
        <a:graphic>
          <a:graphicData uri="http://schemas.openxmlformats.org/drawingml/2006/table">
            <a:tbl>
              <a:tblPr firstRow="1" bandRow="1">
                <a:tableStyleId>{5C22544A-7EE6-4342-B048-85BDC9FD1C3A}</a:tableStyleId>
              </a:tblPr>
              <a:tblGrid>
                <a:gridCol w="2011045"/>
                <a:gridCol w="5875655"/>
              </a:tblGrid>
              <a:tr h="499878">
                <a:tc>
                  <a:txBody>
                    <a:bodyPr/>
                    <a:lstStyle/>
                    <a:p>
                      <a:pPr algn="ctr">
                        <a:spcAft>
                          <a:spcPts val="0"/>
                        </a:spcAft>
                      </a:pPr>
                      <a:r>
                        <a:rPr lang="zh-CN" sz="2000" b="1" kern="100" dirty="0">
                          <a:latin typeface="Times New Roman" panose="02020603050405020304"/>
                          <a:ea typeface="宋体" panose="02010600030101010101" pitchFamily="2" charset="-122"/>
                          <a:cs typeface="Times New Roman" panose="02020603050405020304"/>
                        </a:rPr>
                        <a:t>方法名</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ctr">
                        <a:spcAft>
                          <a:spcPts val="0"/>
                        </a:spcAft>
                      </a:pPr>
                      <a:r>
                        <a:rPr lang="zh-CN" sz="2000" b="1" kern="100">
                          <a:latin typeface="Times New Roman" panose="02020603050405020304"/>
                          <a:ea typeface="宋体" panose="02010600030101010101" pitchFamily="2" charset="-122"/>
                          <a:cs typeface="Times New Roman" panose="02020603050405020304"/>
                        </a:rPr>
                        <a:t>作用</a:t>
                      </a:r>
                      <a:endParaRPr lang="zh-CN" sz="2000" kern="100">
                        <a:latin typeface="Times New Roman" panose="02020603050405020304"/>
                        <a:ea typeface="宋体" panose="02010600030101010101" pitchFamily="2" charset="-122"/>
                        <a:cs typeface="Times New Roman" panose="02020603050405020304"/>
                      </a:endParaRPr>
                    </a:p>
                  </a:txBody>
                  <a:tcPr marL="68580" marR="68580" marT="0" marB="0"/>
                </a:tc>
              </a:tr>
              <a:tr h="821716">
                <a:tc>
                  <a:txBody>
                    <a:bodyPr/>
                    <a:lstStyle/>
                    <a:p>
                      <a:pPr algn="just">
                        <a:spcAft>
                          <a:spcPts val="0"/>
                        </a:spcAft>
                      </a:pPr>
                      <a:r>
                        <a:rPr lang="en-US" sz="2000" kern="100" dirty="0" err="1">
                          <a:latin typeface="Times New Roman" panose="02020603050405020304"/>
                          <a:ea typeface="宋体" panose="02010600030101010101" pitchFamily="2" charset="-122"/>
                          <a:cs typeface="Times New Roman" panose="02020603050405020304"/>
                        </a:rPr>
                        <a:t>hasNext</a:t>
                      </a:r>
                      <a:r>
                        <a:rPr lang="en-US" sz="2000" kern="100" dirty="0">
                          <a:latin typeface="Times New Roman" panose="02020603050405020304"/>
                          <a:ea typeface="宋体" panose="02010600030101010101" pitchFamily="2" charset="-122"/>
                          <a:cs typeface="Times New Roman" panose="02020603050405020304"/>
                        </a:rPr>
                        <a:t>()</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2000" kern="100" dirty="0">
                          <a:latin typeface="Times New Roman" panose="02020603050405020304"/>
                          <a:ea typeface="宋体" panose="02010600030101010101" pitchFamily="2" charset="-122"/>
                          <a:cs typeface="Times New Roman" panose="02020603050405020304"/>
                        </a:rPr>
                        <a:t>如果</a:t>
                      </a:r>
                      <a:r>
                        <a:rPr lang="en-US" sz="2000" kern="100" dirty="0">
                          <a:latin typeface="Times New Roman" panose="02020603050405020304"/>
                          <a:ea typeface="宋体" panose="02010600030101010101" pitchFamily="2" charset="-122"/>
                          <a:cs typeface="Times New Roman" panose="02020603050405020304"/>
                        </a:rPr>
                        <a:t>Scanner</a:t>
                      </a:r>
                      <a:r>
                        <a:rPr lang="zh-CN" sz="2000" kern="100" dirty="0">
                          <a:latin typeface="Times New Roman" panose="02020603050405020304"/>
                          <a:ea typeface="宋体" panose="02010600030101010101" pitchFamily="2" charset="-122"/>
                          <a:cs typeface="Times New Roman" panose="02020603050405020304"/>
                        </a:rPr>
                        <a:t>类的输入中是否还有另一个标记，返回值为</a:t>
                      </a:r>
                      <a:r>
                        <a:rPr lang="en-US" sz="2000" kern="100" dirty="0" err="1">
                          <a:latin typeface="Times New Roman" panose="02020603050405020304"/>
                          <a:ea typeface="宋体" panose="02010600030101010101" pitchFamily="2" charset="-122"/>
                          <a:cs typeface="Times New Roman" panose="02020603050405020304"/>
                        </a:rPr>
                        <a:t>boolean</a:t>
                      </a:r>
                      <a:r>
                        <a:rPr lang="zh-CN" sz="2000" kern="100" dirty="0">
                          <a:latin typeface="Times New Roman" panose="02020603050405020304"/>
                          <a:ea typeface="宋体" panose="02010600030101010101" pitchFamily="2" charset="-122"/>
                          <a:cs typeface="Times New Roman" panose="02020603050405020304"/>
                        </a:rPr>
                        <a:t>型</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nchor="ctr"/>
                </a:tc>
              </a:tr>
              <a:tr h="821716">
                <a:tc>
                  <a:txBody>
                    <a:bodyPr/>
                    <a:lstStyle/>
                    <a:p>
                      <a:pPr algn="just">
                        <a:spcAft>
                          <a:spcPts val="0"/>
                        </a:spcAft>
                      </a:pPr>
                      <a:r>
                        <a:rPr lang="en-US" sz="2000" kern="100">
                          <a:latin typeface="Times New Roman" panose="02020603050405020304"/>
                          <a:ea typeface="宋体" panose="02010600030101010101" pitchFamily="2" charset="-122"/>
                          <a:cs typeface="Times New Roman" panose="02020603050405020304"/>
                        </a:rPr>
                        <a:t>hasNextXXX()</a:t>
                      </a:r>
                      <a:endParaRPr lang="zh-CN" sz="2000" kern="100">
                        <a:latin typeface="Times New Roman" panose="020206030504050203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2000" kern="100">
                          <a:latin typeface="Times New Roman" panose="02020603050405020304"/>
                          <a:ea typeface="宋体" panose="02010600030101010101" pitchFamily="2" charset="-122"/>
                          <a:cs typeface="Times New Roman" panose="02020603050405020304"/>
                        </a:rPr>
                        <a:t>获取</a:t>
                      </a:r>
                      <a:r>
                        <a:rPr lang="en-US" sz="2000" kern="100">
                          <a:latin typeface="Times New Roman" panose="02020603050405020304"/>
                          <a:ea typeface="宋体" panose="02010600030101010101" pitchFamily="2" charset="-122"/>
                          <a:cs typeface="Times New Roman" panose="02020603050405020304"/>
                        </a:rPr>
                        <a:t>Scanner</a:t>
                      </a:r>
                      <a:r>
                        <a:rPr lang="zh-CN" sz="2000" kern="100">
                          <a:latin typeface="Times New Roman" panose="02020603050405020304"/>
                          <a:ea typeface="宋体" panose="02010600030101010101" pitchFamily="2" charset="-122"/>
                          <a:cs typeface="Times New Roman" panose="02020603050405020304"/>
                        </a:rPr>
                        <a:t>类输入信息中下一个标记可以解释为指定数据类型的数值，返回值为</a:t>
                      </a:r>
                      <a:r>
                        <a:rPr lang="en-US" sz="2000" kern="100">
                          <a:latin typeface="Times New Roman" panose="02020603050405020304"/>
                          <a:ea typeface="宋体" panose="02010600030101010101" pitchFamily="2" charset="-122"/>
                          <a:cs typeface="Times New Roman" panose="02020603050405020304"/>
                        </a:rPr>
                        <a:t>boolean</a:t>
                      </a:r>
                      <a:r>
                        <a:rPr lang="zh-CN" sz="2000" kern="100">
                          <a:latin typeface="Times New Roman" panose="02020603050405020304"/>
                          <a:ea typeface="宋体" panose="02010600030101010101" pitchFamily="2" charset="-122"/>
                          <a:cs typeface="Times New Roman" panose="02020603050405020304"/>
                        </a:rPr>
                        <a:t>型</a:t>
                      </a:r>
                      <a:endParaRPr lang="zh-CN" sz="2000" kern="100">
                        <a:latin typeface="Times New Roman" panose="02020603050405020304"/>
                        <a:ea typeface="宋体" panose="02010600030101010101" pitchFamily="2" charset="-122"/>
                        <a:cs typeface="Times New Roman" panose="02020603050405020304"/>
                      </a:endParaRPr>
                    </a:p>
                  </a:txBody>
                  <a:tcPr marL="68580" marR="68580" marT="0" marB="0" anchor="ctr"/>
                </a:tc>
              </a:tr>
              <a:tr h="499878">
                <a:tc>
                  <a:txBody>
                    <a:bodyPr/>
                    <a:lstStyle/>
                    <a:p>
                      <a:pPr algn="just">
                        <a:spcAft>
                          <a:spcPts val="0"/>
                        </a:spcAft>
                      </a:pPr>
                      <a:r>
                        <a:rPr lang="en-US" sz="2000" u="none" strike="noStrike" kern="100" dirty="0" err="1">
                          <a:solidFill>
                            <a:srgbClr val="0000FF"/>
                          </a:solidFill>
                          <a:latin typeface="Times New Roman" panose="02020603050405020304"/>
                          <a:ea typeface="宋体" panose="02010600030101010101" pitchFamily="2" charset="-122"/>
                          <a:cs typeface="Times New Roman" panose="02020603050405020304"/>
                        </a:rPr>
                        <a:t>useDelimiter</a:t>
                      </a:r>
                      <a:r>
                        <a:rPr lang="en-US" sz="2000" kern="100" dirty="0">
                          <a:latin typeface="Times New Roman" panose="02020603050405020304"/>
                          <a:ea typeface="宋体" panose="02010600030101010101" pitchFamily="2" charset="-122"/>
                          <a:cs typeface="Times New Roman" panose="02020603050405020304"/>
                        </a:rPr>
                        <a:t>()</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2000" kern="100" dirty="0">
                          <a:latin typeface="Times New Roman" panose="02020603050405020304"/>
                          <a:ea typeface="宋体" panose="02010600030101010101" pitchFamily="2" charset="-122"/>
                          <a:cs typeface="Times New Roman" panose="02020603050405020304"/>
                        </a:rPr>
                        <a:t>将</a:t>
                      </a:r>
                      <a:r>
                        <a:rPr lang="en-US" sz="2000" kern="100" dirty="0">
                          <a:latin typeface="Times New Roman" panose="02020603050405020304"/>
                          <a:ea typeface="宋体" panose="02010600030101010101" pitchFamily="2" charset="-122"/>
                          <a:cs typeface="Times New Roman" panose="02020603050405020304"/>
                        </a:rPr>
                        <a:t>Scanner</a:t>
                      </a:r>
                      <a:r>
                        <a:rPr lang="zh-CN" sz="2000" kern="100" dirty="0">
                          <a:latin typeface="Times New Roman" panose="02020603050405020304"/>
                          <a:ea typeface="宋体" panose="02010600030101010101" pitchFamily="2" charset="-122"/>
                          <a:cs typeface="Times New Roman" panose="02020603050405020304"/>
                        </a:rPr>
                        <a:t>类的分隔模式设置为指定模式。</a:t>
                      </a:r>
                      <a:endParaRPr lang="zh-CN" sz="2000" kern="100" dirty="0">
                        <a:latin typeface="Times New Roman" panose="02020603050405020304"/>
                        <a:ea typeface="宋体" panose="02010600030101010101" pitchFamily="2" charset="-122"/>
                        <a:cs typeface="Times New Roman" panose="02020603050405020304"/>
                      </a:endParaRPr>
                    </a:p>
                  </a:txBody>
                  <a:tcPr marL="68580" marR="68580" marT="0" marB="0" anchor="ctr"/>
                </a:tc>
              </a:tr>
            </a:tbl>
          </a:graphicData>
        </a:graphic>
      </p:graphicFrame>
      <p:sp>
        <p:nvSpPr>
          <p:cNvPr id="78868" name="Rectangle 1"/>
          <p:cNvSpPr/>
          <p:nvPr/>
        </p:nvSpPr>
        <p:spPr>
          <a:xfrm>
            <a:off x="500063" y="4929188"/>
            <a:ext cx="7632700" cy="400050"/>
          </a:xfrm>
          <a:prstGeom prst="rect">
            <a:avLst/>
          </a:prstGeom>
          <a:noFill/>
          <a:ln w="9525">
            <a:noFill/>
          </a:ln>
        </p:spPr>
        <p:txBody>
          <a:bodyPr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zh-CN" altLang="en-US" sz="2000" dirty="0">
                <a:latin typeface="Times New Roman" panose="02020603050405020304" pitchFamily="18" charset="0"/>
                <a:ea typeface="宋体" panose="02010600030101010101" pitchFamily="2" charset="-122"/>
              </a:rPr>
              <a:t>注：其中</a:t>
            </a:r>
            <a:r>
              <a:rPr lang="en-US" altLang="zh-CN" sz="2000" dirty="0">
                <a:latin typeface="Times New Roman" panose="02020603050405020304" pitchFamily="18" charset="0"/>
                <a:ea typeface="宋体" panose="02010600030101010101" pitchFamily="2" charset="-122"/>
              </a:rPr>
              <a:t>XXX</a:t>
            </a:r>
            <a:r>
              <a:rPr lang="zh-CN" altLang="en-US" sz="2000" dirty="0">
                <a:latin typeface="Times New Roman" panose="02020603050405020304" pitchFamily="18" charset="0"/>
                <a:ea typeface="宋体" panose="02010600030101010101" pitchFamily="2" charset="-122"/>
              </a:rPr>
              <a:t>代表某一种指定数据类型，如</a:t>
            </a:r>
            <a:r>
              <a:rPr lang="en-US" altLang="zh-CN" sz="2000" dirty="0">
                <a:latin typeface="Times New Roman" panose="02020603050405020304" pitchFamily="18" charset="0"/>
                <a:ea typeface="宋体" panose="02010600030101010101" pitchFamily="2" charset="-122"/>
              </a:rPr>
              <a:t>Int</a:t>
            </a:r>
            <a:r>
              <a:rPr lang="zh-CN" altLang="en-US"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Float</a:t>
            </a:r>
            <a:r>
              <a:rPr lang="zh-CN" altLang="en-US" sz="2000" dirty="0">
                <a:latin typeface="Times New Roman" panose="02020603050405020304" pitchFamily="18" charset="0"/>
                <a:ea typeface="宋体" panose="02010600030101010101" pitchFamily="2" charset="-122"/>
              </a:rPr>
              <a:t>等。</a:t>
            </a:r>
            <a:endParaRPr lang="zh-CN" altLang="en-US" sz="2000" dirty="0">
              <a:latin typeface="Arial" panose="020B0604020202020204" pitchFamily="34" charset="0"/>
              <a:ea typeface="宋体" panose="02010600030101010101" pitchFamily="2" charset="-122"/>
            </a:endParaRPr>
          </a:p>
        </p:txBody>
      </p:sp>
      <p:sp>
        <p:nvSpPr>
          <p:cNvPr id="8" name="TextBox 7"/>
          <p:cNvSpPr txBox="1"/>
          <p:nvPr/>
        </p:nvSpPr>
        <p:spPr>
          <a:xfrm>
            <a:off x="2627313" y="1125538"/>
            <a:ext cx="4321175" cy="584200"/>
          </a:xfrm>
          <a:prstGeom prst="rect">
            <a:avLst/>
          </a:prstGeom>
          <a:noFill/>
        </p:spPr>
        <p:txBody>
          <a:bodyPr>
            <a:spAutoFit/>
          </a:bodyPr>
          <a:lstStyle/>
          <a:p>
            <a:pPr marR="0" algn="r" defTabSz="914400" fontAlgn="auto">
              <a:spcBef>
                <a:spcPts val="0"/>
              </a:spcBef>
              <a:spcAft>
                <a:spcPts val="0"/>
              </a:spcAft>
              <a:buClrTx/>
              <a:buSzTx/>
              <a:buFontTx/>
              <a:buNone/>
              <a:defRPr/>
            </a:pPr>
            <a:r>
              <a:rPr kumimoji="0" lang="en-US" altLang="zh-CN" sz="3200" kern="1200" cap="none" spc="0" normalizeH="0" baseline="0" noProof="0" dirty="0">
                <a:solidFill>
                  <a:schemeClr val="accent6">
                    <a:lumMod val="50000"/>
                  </a:schemeClr>
                </a:solidFill>
                <a:latin typeface="+mn-lt"/>
                <a:ea typeface="+mn-ea"/>
                <a:cs typeface="+mn-cs"/>
                <a:sym typeface="+mn-ea"/>
              </a:rPr>
              <a:t>——Scanner</a:t>
            </a:r>
            <a:r>
              <a:rPr kumimoji="0" lang="zh-CN" altLang="en-US" sz="3200" kern="1200" cap="none" spc="0" normalizeH="0" baseline="0" noProof="0" dirty="0">
                <a:solidFill>
                  <a:schemeClr val="accent6">
                    <a:lumMod val="50000"/>
                  </a:schemeClr>
                </a:solidFill>
                <a:latin typeface="+mn-lt"/>
                <a:ea typeface="+mn-ea"/>
                <a:cs typeface="+mn-cs"/>
                <a:sym typeface="+mn-ea"/>
              </a:rPr>
              <a:t>类</a:t>
            </a:r>
            <a:endParaRPr kumimoji="0" lang="zh-CN" altLang="en-US" sz="3200" kern="1200" cap="none" spc="0" normalizeH="0" baseline="0" noProof="0" dirty="0">
              <a:solidFill>
                <a:schemeClr val="accent6">
                  <a:lumMod val="50000"/>
                </a:schemeClr>
              </a:solidFill>
              <a:latin typeface="+mn-lt"/>
              <a:ea typeface="+mn-ea"/>
              <a:cs typeface="+mn-cs"/>
              <a:sym typeface="+mn-ea"/>
            </a:endParaRPr>
          </a:p>
        </p:txBody>
      </p:sp>
      <p:sp>
        <p:nvSpPr>
          <p:cNvPr id="78870"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2"/>
          <p:cNvSpPr/>
          <p:nvPr/>
        </p:nvSpPr>
        <p:spPr>
          <a:xfrm>
            <a:off x="501650" y="1103313"/>
            <a:ext cx="8415338" cy="5508625"/>
          </a:xfrm>
          <a:prstGeom prst="rect">
            <a:avLst/>
          </a:prstGeom>
          <a:solidFill>
            <a:schemeClr val="bg1"/>
          </a:solid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en-US" altLang="zh-CN" sz="1600" dirty="0">
                <a:ea typeface="宋体" panose="02010600030101010101" pitchFamily="2" charset="-122"/>
              </a:rPr>
              <a:t>//</a:t>
            </a:r>
            <a:r>
              <a:rPr lang="zh-CN" altLang="en-US" sz="1600" dirty="0">
                <a:ea typeface="宋体" panose="02010600030101010101" pitchFamily="2" charset="-122"/>
              </a:rPr>
              <a:t>利用</a:t>
            </a:r>
            <a:r>
              <a:rPr lang="en-US" altLang="zh-CN" sz="1600" dirty="0">
                <a:ea typeface="宋体" panose="02010600030101010101" pitchFamily="2" charset="-122"/>
              </a:rPr>
              <a:t>Scanner</a:t>
            </a:r>
            <a:r>
              <a:rPr lang="zh-CN" altLang="en-US" sz="1600" dirty="0">
                <a:ea typeface="宋体" panose="02010600030101010101" pitchFamily="2" charset="-122"/>
              </a:rPr>
              <a:t>类，从键盘上接收两个整形数字，求矩形的面积</a:t>
            </a:r>
            <a:endParaRPr lang="zh-CN" altLang="en-US" sz="1600" dirty="0">
              <a:ea typeface="宋体" panose="02010600030101010101" pitchFamily="2" charset="-122"/>
            </a:endParaRPr>
          </a:p>
          <a:p>
            <a:pPr marL="0" lvl="0" indent="0">
              <a:lnSpc>
                <a:spcPct val="100000"/>
              </a:lnSpc>
              <a:spcBef>
                <a:spcPct val="0"/>
              </a:spcBef>
              <a:buNone/>
            </a:pPr>
            <a:r>
              <a:rPr lang="en-US" altLang="zh-CN" sz="1600" b="1" dirty="0">
                <a:ea typeface="宋体" panose="02010600030101010101" pitchFamily="2" charset="-122"/>
              </a:rPr>
              <a:t>import</a:t>
            </a:r>
            <a:r>
              <a:rPr lang="en-US" altLang="zh-CN" sz="1600" dirty="0">
                <a:ea typeface="宋体" panose="02010600030101010101" pitchFamily="2" charset="-122"/>
              </a:rPr>
              <a:t> java.util.Scanner;</a:t>
            </a:r>
            <a:endParaRPr lang="zh-CN" altLang="en-US" sz="1600" dirty="0">
              <a:ea typeface="宋体" panose="02010600030101010101" pitchFamily="2" charset="-122"/>
            </a:endParaRPr>
          </a:p>
          <a:p>
            <a:pPr marL="0" lvl="0" indent="0">
              <a:lnSpc>
                <a:spcPct val="100000"/>
              </a:lnSpc>
              <a:spcBef>
                <a:spcPct val="0"/>
              </a:spcBef>
              <a:buNone/>
            </a:pPr>
            <a:r>
              <a:rPr lang="en-US" altLang="zh-CN" sz="1600" b="1" dirty="0">
                <a:ea typeface="宋体" panose="02010600030101010101" pitchFamily="2" charset="-122"/>
              </a:rPr>
              <a:t>public</a:t>
            </a:r>
            <a:r>
              <a:rPr lang="en-US" altLang="zh-CN" sz="1600" dirty="0">
                <a:ea typeface="宋体" panose="02010600030101010101" pitchFamily="2" charset="-122"/>
              </a:rPr>
              <a:t> </a:t>
            </a:r>
            <a:r>
              <a:rPr lang="en-US" altLang="zh-CN" sz="1600" b="1" dirty="0">
                <a:ea typeface="宋体" panose="02010600030101010101" pitchFamily="2" charset="-122"/>
              </a:rPr>
              <a:t>class</a:t>
            </a:r>
            <a:r>
              <a:rPr lang="en-US" altLang="zh-CN" sz="1600" dirty="0">
                <a:ea typeface="宋体" panose="02010600030101010101" pitchFamily="2" charset="-122"/>
              </a:rPr>
              <a:t> ScannerDemo {</a:t>
            </a:r>
            <a:endParaRPr lang="zh-CN" altLang="en-US" sz="1600" dirty="0">
              <a:ea typeface="宋体" panose="02010600030101010101" pitchFamily="2" charset="-122"/>
            </a:endParaRPr>
          </a:p>
          <a:p>
            <a:pPr marL="0" lvl="0" indent="0">
              <a:lnSpc>
                <a:spcPct val="100000"/>
              </a:lnSpc>
              <a:spcBef>
                <a:spcPct val="0"/>
              </a:spcBef>
              <a:buNone/>
            </a:pPr>
            <a:r>
              <a:rPr lang="en-US" altLang="zh-CN" sz="1600" b="1" dirty="0">
                <a:ea typeface="宋体" panose="02010600030101010101" pitchFamily="2" charset="-122"/>
              </a:rPr>
              <a:t>	public</a:t>
            </a:r>
            <a:r>
              <a:rPr lang="en-US" altLang="zh-CN" sz="1600" dirty="0">
                <a:ea typeface="宋体" panose="02010600030101010101" pitchFamily="2" charset="-122"/>
              </a:rPr>
              <a:t> </a:t>
            </a:r>
            <a:r>
              <a:rPr lang="en-US" altLang="zh-CN" sz="1600" b="1" dirty="0">
                <a:ea typeface="宋体" panose="02010600030101010101" pitchFamily="2" charset="-122"/>
              </a:rPr>
              <a:t>static</a:t>
            </a:r>
            <a:r>
              <a:rPr lang="en-US" altLang="zh-CN" sz="1600" dirty="0">
                <a:ea typeface="宋体" panose="02010600030101010101" pitchFamily="2" charset="-122"/>
              </a:rPr>
              <a:t> </a:t>
            </a:r>
            <a:r>
              <a:rPr lang="en-US" altLang="zh-CN" sz="1600" b="1" dirty="0">
                <a:ea typeface="宋体" panose="02010600030101010101" pitchFamily="2" charset="-122"/>
              </a:rPr>
              <a:t>void</a:t>
            </a:r>
            <a:r>
              <a:rPr lang="en-US" altLang="zh-CN" sz="1600" dirty="0">
                <a:ea typeface="宋体" panose="02010600030101010101" pitchFamily="2" charset="-122"/>
              </a:rPr>
              <a:t> main(String[] args) {</a:t>
            </a:r>
            <a:endParaRPr lang="zh-CN" altLang="en-US" sz="1600" dirty="0">
              <a:ea typeface="宋体" panose="02010600030101010101" pitchFamily="2" charset="-122"/>
            </a:endParaRPr>
          </a:p>
          <a:p>
            <a:pPr marL="0" lvl="0" indent="0">
              <a:lnSpc>
                <a:spcPct val="100000"/>
              </a:lnSpc>
              <a:spcBef>
                <a:spcPct val="0"/>
              </a:spcBef>
              <a:buNone/>
            </a:pPr>
            <a:r>
              <a:rPr lang="en-US" altLang="zh-CN" sz="1600" dirty="0">
                <a:ea typeface="宋体" panose="02010600030101010101" pitchFamily="2" charset="-122"/>
              </a:rPr>
              <a:t>		</a:t>
            </a:r>
            <a:r>
              <a:rPr lang="en-US" altLang="zh-CN" sz="1600" b="1" dirty="0">
                <a:ea typeface="宋体" panose="02010600030101010101" pitchFamily="2" charset="-122"/>
              </a:rPr>
              <a:t>int</a:t>
            </a:r>
            <a:r>
              <a:rPr lang="en-US" altLang="zh-CN" sz="1600" dirty="0">
                <a:ea typeface="宋体" panose="02010600030101010101" pitchFamily="2" charset="-122"/>
              </a:rPr>
              <a:t> width,length,area;</a:t>
            </a:r>
            <a:endParaRPr lang="zh-CN" altLang="en-US" sz="1600" dirty="0">
              <a:ea typeface="宋体" panose="02010600030101010101" pitchFamily="2" charset="-122"/>
            </a:endParaRPr>
          </a:p>
          <a:p>
            <a:pPr marL="0" lvl="0" indent="0">
              <a:lnSpc>
                <a:spcPct val="100000"/>
              </a:lnSpc>
              <a:spcBef>
                <a:spcPct val="0"/>
              </a:spcBef>
              <a:buNone/>
            </a:pPr>
            <a:r>
              <a:rPr lang="en-US" altLang="zh-CN" sz="1600" dirty="0">
                <a:ea typeface="宋体" panose="02010600030101010101" pitchFamily="2" charset="-122"/>
              </a:rPr>
              <a:t>                                       //</a:t>
            </a:r>
            <a:r>
              <a:rPr lang="zh-CN" altLang="en-US" sz="1600" dirty="0">
                <a:ea typeface="宋体" panose="02010600030101010101" pitchFamily="2" charset="-122"/>
              </a:rPr>
              <a:t>实例化一个</a:t>
            </a:r>
            <a:r>
              <a:rPr lang="en-US" altLang="zh-CN" sz="1600" dirty="0">
                <a:ea typeface="宋体" panose="02010600030101010101" pitchFamily="2" charset="-122"/>
              </a:rPr>
              <a:t>Scanner</a:t>
            </a:r>
            <a:r>
              <a:rPr lang="zh-CN" altLang="en-US" sz="1600" dirty="0">
                <a:ea typeface="宋体" panose="02010600030101010101" pitchFamily="2" charset="-122"/>
              </a:rPr>
              <a:t>对象实例</a:t>
            </a:r>
            <a:r>
              <a:rPr lang="en-US" altLang="zh-CN" sz="1600" dirty="0">
                <a:ea typeface="宋体" panose="02010600030101010101" pitchFamily="2" charset="-122"/>
              </a:rPr>
              <a:t>scan</a:t>
            </a:r>
            <a:endParaRPr lang="zh-CN" altLang="en-US" sz="1600" dirty="0">
              <a:ea typeface="宋体" panose="02010600030101010101" pitchFamily="2" charset="-122"/>
            </a:endParaRPr>
          </a:p>
          <a:p>
            <a:pPr marL="0" lvl="0" indent="0">
              <a:lnSpc>
                <a:spcPct val="100000"/>
              </a:lnSpc>
              <a:spcBef>
                <a:spcPct val="0"/>
              </a:spcBef>
              <a:buNone/>
            </a:pPr>
            <a:r>
              <a:rPr lang="en-US" altLang="zh-CN" sz="1600" dirty="0">
                <a:ea typeface="宋体" panose="02010600030101010101" pitchFamily="2" charset="-122"/>
              </a:rPr>
              <a:t>		Scanner scan = </a:t>
            </a:r>
            <a:r>
              <a:rPr lang="en-US" altLang="zh-CN" sz="1600" b="1" dirty="0">
                <a:ea typeface="宋体" panose="02010600030101010101" pitchFamily="2" charset="-122"/>
              </a:rPr>
              <a:t>new</a:t>
            </a:r>
            <a:r>
              <a:rPr lang="en-US" altLang="zh-CN" sz="1600" dirty="0">
                <a:ea typeface="宋体" panose="02010600030101010101" pitchFamily="2" charset="-122"/>
              </a:rPr>
              <a:t> Scanner(System.</a:t>
            </a:r>
            <a:r>
              <a:rPr lang="en-US" altLang="zh-CN" sz="1600" i="1" dirty="0">
                <a:ea typeface="宋体" panose="02010600030101010101" pitchFamily="2" charset="-122"/>
              </a:rPr>
              <a:t>in</a:t>
            </a:r>
            <a:r>
              <a:rPr lang="en-US" altLang="zh-CN" sz="1600" dirty="0">
                <a:ea typeface="宋体" panose="02010600030101010101" pitchFamily="2" charset="-122"/>
              </a:rPr>
              <a:t>);</a:t>
            </a:r>
            <a:endParaRPr lang="zh-CN" altLang="en-US" sz="1600" dirty="0">
              <a:ea typeface="宋体" panose="02010600030101010101" pitchFamily="2" charset="-122"/>
            </a:endParaRPr>
          </a:p>
          <a:p>
            <a:pPr marL="0" lvl="0" indent="0">
              <a:lnSpc>
                <a:spcPct val="100000"/>
              </a:lnSpc>
              <a:spcBef>
                <a:spcPct val="0"/>
              </a:spcBef>
              <a:buNone/>
            </a:pPr>
            <a:r>
              <a:rPr lang="en-US" altLang="zh-CN" sz="1600" dirty="0">
                <a:ea typeface="宋体" panose="02010600030101010101" pitchFamily="2" charset="-122"/>
              </a:rPr>
              <a:t>		System.</a:t>
            </a:r>
            <a:r>
              <a:rPr lang="en-US" altLang="zh-CN" sz="1600" i="1" dirty="0">
                <a:ea typeface="宋体" panose="02010600030101010101" pitchFamily="2" charset="-122"/>
              </a:rPr>
              <a:t>out</a:t>
            </a:r>
            <a:r>
              <a:rPr lang="en-US" altLang="zh-CN" sz="1600" dirty="0">
                <a:ea typeface="宋体" panose="02010600030101010101" pitchFamily="2" charset="-122"/>
              </a:rPr>
              <a:t>.print("</a:t>
            </a:r>
            <a:r>
              <a:rPr lang="zh-CN" altLang="en-US" sz="1600" dirty="0">
                <a:ea typeface="宋体" panose="02010600030101010101" pitchFamily="2" charset="-122"/>
              </a:rPr>
              <a:t>请输入宽：</a:t>
            </a:r>
            <a:r>
              <a:rPr lang="en-US" altLang="zh-CN" sz="1600" dirty="0">
                <a:ea typeface="宋体" panose="02010600030101010101" pitchFamily="2" charset="-122"/>
              </a:rPr>
              <a:t>");</a:t>
            </a:r>
            <a:endParaRPr lang="zh-CN" altLang="en-US" sz="1600" dirty="0">
              <a:ea typeface="宋体" panose="02010600030101010101" pitchFamily="2" charset="-122"/>
            </a:endParaRPr>
          </a:p>
          <a:p>
            <a:pPr marL="0" lvl="0" indent="0">
              <a:lnSpc>
                <a:spcPct val="100000"/>
              </a:lnSpc>
              <a:spcBef>
                <a:spcPct val="0"/>
              </a:spcBef>
              <a:buNone/>
            </a:pPr>
            <a:r>
              <a:rPr lang="en-US" altLang="zh-CN" sz="1600" dirty="0">
                <a:ea typeface="宋体" panose="02010600030101010101" pitchFamily="2" charset="-122"/>
              </a:rPr>
              <a:t>                                       //</a:t>
            </a:r>
            <a:r>
              <a:rPr lang="zh-CN" altLang="en-US" sz="1600" dirty="0">
                <a:ea typeface="宋体" panose="02010600030101010101" pitchFamily="2" charset="-122"/>
              </a:rPr>
              <a:t>利用</a:t>
            </a:r>
            <a:r>
              <a:rPr lang="en-US" altLang="zh-CN" sz="1600" dirty="0">
                <a:ea typeface="宋体" panose="02010600030101010101" pitchFamily="2" charset="-122"/>
              </a:rPr>
              <a:t>nextInt()</a:t>
            </a:r>
            <a:r>
              <a:rPr lang="zh-CN" altLang="en-US" sz="1600" dirty="0">
                <a:ea typeface="宋体" panose="02010600030101010101" pitchFamily="2" charset="-122"/>
              </a:rPr>
              <a:t>方法获取从键盘输入的下一个</a:t>
            </a:r>
            <a:r>
              <a:rPr lang="en-US" altLang="zh-CN" sz="1600" dirty="0">
                <a:ea typeface="宋体" panose="02010600030101010101" pitchFamily="2" charset="-122"/>
              </a:rPr>
              <a:t>int</a:t>
            </a:r>
            <a:r>
              <a:rPr lang="zh-CN" altLang="en-US" sz="1600" dirty="0">
                <a:ea typeface="宋体" panose="02010600030101010101" pitchFamily="2" charset="-122"/>
              </a:rPr>
              <a:t>类型数值</a:t>
            </a:r>
            <a:endParaRPr lang="zh-CN" altLang="en-US" sz="1600" dirty="0">
              <a:ea typeface="宋体" panose="02010600030101010101" pitchFamily="2" charset="-122"/>
            </a:endParaRPr>
          </a:p>
          <a:p>
            <a:pPr marL="0" lvl="0" indent="0">
              <a:lnSpc>
                <a:spcPct val="100000"/>
              </a:lnSpc>
              <a:spcBef>
                <a:spcPct val="0"/>
              </a:spcBef>
              <a:buNone/>
            </a:pPr>
            <a:r>
              <a:rPr lang="en-US" altLang="zh-CN" sz="1600" dirty="0">
                <a:ea typeface="宋体" panose="02010600030101010101" pitchFamily="2" charset="-122"/>
              </a:rPr>
              <a:t>		width = scan.nextInt();</a:t>
            </a:r>
            <a:endParaRPr lang="zh-CN" altLang="en-US" sz="1600" dirty="0">
              <a:ea typeface="宋体" panose="02010600030101010101" pitchFamily="2" charset="-122"/>
            </a:endParaRPr>
          </a:p>
          <a:p>
            <a:pPr marL="0" lvl="0" indent="0">
              <a:lnSpc>
                <a:spcPct val="100000"/>
              </a:lnSpc>
              <a:spcBef>
                <a:spcPct val="0"/>
              </a:spcBef>
              <a:buNone/>
            </a:pPr>
            <a:r>
              <a:rPr lang="en-US" altLang="zh-CN" sz="1600" dirty="0">
                <a:ea typeface="宋体" panose="02010600030101010101" pitchFamily="2" charset="-122"/>
              </a:rPr>
              <a:t>		System.</a:t>
            </a:r>
            <a:r>
              <a:rPr lang="en-US" altLang="zh-CN" sz="1600" i="1" dirty="0">
                <a:ea typeface="宋体" panose="02010600030101010101" pitchFamily="2" charset="-122"/>
              </a:rPr>
              <a:t>out</a:t>
            </a:r>
            <a:r>
              <a:rPr lang="en-US" altLang="zh-CN" sz="1600" dirty="0">
                <a:ea typeface="宋体" panose="02010600030101010101" pitchFamily="2" charset="-122"/>
              </a:rPr>
              <a:t>.print("</a:t>
            </a:r>
            <a:r>
              <a:rPr lang="zh-CN" altLang="en-US" sz="1600" dirty="0">
                <a:ea typeface="宋体" panose="02010600030101010101" pitchFamily="2" charset="-122"/>
              </a:rPr>
              <a:t>请输入长：</a:t>
            </a:r>
            <a:r>
              <a:rPr lang="en-US" altLang="zh-CN" sz="1600" dirty="0">
                <a:ea typeface="宋体" panose="02010600030101010101" pitchFamily="2" charset="-122"/>
              </a:rPr>
              <a:t>");</a:t>
            </a:r>
            <a:endParaRPr lang="zh-CN" altLang="en-US" sz="1600" dirty="0">
              <a:ea typeface="宋体" panose="02010600030101010101" pitchFamily="2" charset="-122"/>
            </a:endParaRPr>
          </a:p>
          <a:p>
            <a:pPr marL="0" lvl="0" indent="0">
              <a:lnSpc>
                <a:spcPct val="100000"/>
              </a:lnSpc>
              <a:spcBef>
                <a:spcPct val="0"/>
              </a:spcBef>
              <a:buNone/>
            </a:pPr>
            <a:r>
              <a:rPr lang="en-US" altLang="zh-CN" sz="1600" dirty="0">
                <a:ea typeface="宋体" panose="02010600030101010101" pitchFamily="2" charset="-122"/>
              </a:rPr>
              <a:t>		length = scan.nextInt();</a:t>
            </a:r>
            <a:endParaRPr lang="zh-CN" altLang="en-US" sz="1600" dirty="0">
              <a:ea typeface="宋体" panose="02010600030101010101" pitchFamily="2" charset="-122"/>
            </a:endParaRPr>
          </a:p>
          <a:p>
            <a:pPr marL="0" lvl="0" indent="0">
              <a:lnSpc>
                <a:spcPct val="100000"/>
              </a:lnSpc>
              <a:spcBef>
                <a:spcPct val="0"/>
              </a:spcBef>
              <a:buNone/>
            </a:pPr>
            <a:r>
              <a:rPr lang="en-US" altLang="zh-CN" sz="1600" dirty="0">
                <a:ea typeface="宋体" panose="02010600030101010101" pitchFamily="2" charset="-122"/>
              </a:rPr>
              <a:t>                                         //</a:t>
            </a:r>
            <a:r>
              <a:rPr lang="zh-CN" altLang="en-US" sz="1600" dirty="0">
                <a:ea typeface="宋体" panose="02010600030101010101" pitchFamily="2" charset="-122"/>
              </a:rPr>
              <a:t>调用类方法</a:t>
            </a:r>
            <a:r>
              <a:rPr lang="en-US" altLang="zh-CN" sz="1600" dirty="0">
                <a:ea typeface="宋体" panose="02010600030101010101" pitchFamily="2" charset="-122"/>
              </a:rPr>
              <a:t>getArea()</a:t>
            </a:r>
            <a:r>
              <a:rPr lang="zh-CN" altLang="en-US" sz="1600" dirty="0">
                <a:ea typeface="宋体" panose="02010600030101010101" pitchFamily="2" charset="-122"/>
              </a:rPr>
              <a:t>，并将返回值赋给</a:t>
            </a:r>
            <a:r>
              <a:rPr lang="en-US" altLang="zh-CN" sz="1600" dirty="0">
                <a:ea typeface="宋体" panose="02010600030101010101" pitchFamily="2" charset="-122"/>
              </a:rPr>
              <a:t>area</a:t>
            </a:r>
            <a:endParaRPr lang="zh-CN" altLang="en-US" sz="1600" dirty="0">
              <a:ea typeface="宋体" panose="02010600030101010101" pitchFamily="2" charset="-122"/>
            </a:endParaRPr>
          </a:p>
          <a:p>
            <a:pPr marL="0" lvl="0" indent="0">
              <a:lnSpc>
                <a:spcPct val="100000"/>
              </a:lnSpc>
              <a:spcBef>
                <a:spcPct val="0"/>
              </a:spcBef>
              <a:buNone/>
            </a:pPr>
            <a:r>
              <a:rPr lang="en-US" altLang="zh-CN" sz="1600" dirty="0">
                <a:ea typeface="宋体" panose="02010600030101010101" pitchFamily="2" charset="-122"/>
              </a:rPr>
              <a:t>		area = </a:t>
            </a:r>
            <a:r>
              <a:rPr lang="en-US" altLang="zh-CN" sz="1600" i="1" dirty="0">
                <a:ea typeface="宋体" panose="02010600030101010101" pitchFamily="2" charset="-122"/>
              </a:rPr>
              <a:t>getArea</a:t>
            </a:r>
            <a:r>
              <a:rPr lang="en-US" altLang="zh-CN" sz="1600" dirty="0">
                <a:ea typeface="宋体" panose="02010600030101010101" pitchFamily="2" charset="-122"/>
              </a:rPr>
              <a:t>(width,length);</a:t>
            </a:r>
            <a:endParaRPr lang="zh-CN" altLang="en-US" sz="1600" dirty="0">
              <a:ea typeface="宋体" panose="02010600030101010101" pitchFamily="2" charset="-122"/>
            </a:endParaRPr>
          </a:p>
          <a:p>
            <a:pPr marL="0" lvl="0" indent="0">
              <a:lnSpc>
                <a:spcPct val="100000"/>
              </a:lnSpc>
              <a:spcBef>
                <a:spcPct val="0"/>
              </a:spcBef>
              <a:buNone/>
            </a:pPr>
            <a:r>
              <a:rPr lang="en-US" altLang="zh-CN" sz="1600" dirty="0">
                <a:ea typeface="宋体" panose="02010600030101010101" pitchFamily="2" charset="-122"/>
              </a:rPr>
              <a:t>		System.</a:t>
            </a:r>
            <a:r>
              <a:rPr lang="en-US" altLang="zh-CN" sz="1600" i="1" dirty="0">
                <a:ea typeface="宋体" panose="02010600030101010101" pitchFamily="2" charset="-122"/>
              </a:rPr>
              <a:t>out</a:t>
            </a:r>
            <a:r>
              <a:rPr lang="en-US" altLang="zh-CN" sz="1600" dirty="0">
                <a:ea typeface="宋体" panose="02010600030101010101" pitchFamily="2" charset="-122"/>
              </a:rPr>
              <a:t>.println("</a:t>
            </a:r>
            <a:r>
              <a:rPr lang="zh-CN" altLang="en-US" sz="1600" dirty="0">
                <a:ea typeface="宋体" panose="02010600030101010101" pitchFamily="2" charset="-122"/>
              </a:rPr>
              <a:t>矩形的长为：</a:t>
            </a:r>
            <a:r>
              <a:rPr lang="en-US" altLang="zh-CN" sz="1600" dirty="0">
                <a:ea typeface="宋体" panose="02010600030101010101" pitchFamily="2" charset="-122"/>
              </a:rPr>
              <a:t>" + length +</a:t>
            </a:r>
            <a:endParaRPr lang="zh-CN" altLang="en-US" sz="1600" dirty="0">
              <a:ea typeface="宋体" panose="02010600030101010101" pitchFamily="2" charset="-122"/>
            </a:endParaRPr>
          </a:p>
          <a:p>
            <a:pPr marL="0" lvl="0" indent="0">
              <a:lnSpc>
                <a:spcPct val="100000"/>
              </a:lnSpc>
              <a:spcBef>
                <a:spcPct val="0"/>
              </a:spcBef>
              <a:buNone/>
            </a:pPr>
            <a:r>
              <a:rPr lang="en-US" altLang="zh-CN" sz="1600" dirty="0">
                <a:ea typeface="宋体" panose="02010600030101010101" pitchFamily="2" charset="-122"/>
              </a:rPr>
              <a:t>				"</a:t>
            </a:r>
            <a:r>
              <a:rPr lang="zh-CN" altLang="en-US" sz="1600" dirty="0">
                <a:ea typeface="宋体" panose="02010600030101010101" pitchFamily="2" charset="-122"/>
              </a:rPr>
              <a:t>，宽为：</a:t>
            </a:r>
            <a:r>
              <a:rPr lang="en-US" altLang="zh-CN" sz="1600" dirty="0">
                <a:ea typeface="宋体" panose="02010600030101010101" pitchFamily="2" charset="-122"/>
              </a:rPr>
              <a:t>" + width + "</a:t>
            </a:r>
            <a:r>
              <a:rPr lang="zh-CN" altLang="en-US" sz="1600" dirty="0">
                <a:ea typeface="宋体" panose="02010600030101010101" pitchFamily="2" charset="-122"/>
              </a:rPr>
              <a:t>，面积为：</a:t>
            </a:r>
            <a:r>
              <a:rPr lang="en-US" altLang="zh-CN" sz="1600" dirty="0">
                <a:ea typeface="宋体" panose="02010600030101010101" pitchFamily="2" charset="-122"/>
              </a:rPr>
              <a:t>" + area);</a:t>
            </a:r>
            <a:endParaRPr lang="zh-CN" altLang="en-US" sz="1600" dirty="0">
              <a:ea typeface="宋体" panose="02010600030101010101" pitchFamily="2" charset="-122"/>
            </a:endParaRPr>
          </a:p>
          <a:p>
            <a:pPr marL="0" lvl="0" indent="0">
              <a:lnSpc>
                <a:spcPct val="100000"/>
              </a:lnSpc>
              <a:spcBef>
                <a:spcPct val="0"/>
              </a:spcBef>
              <a:buNone/>
            </a:pPr>
            <a:r>
              <a:rPr lang="en-US" altLang="zh-CN" sz="1600" dirty="0">
                <a:ea typeface="宋体" panose="02010600030101010101" pitchFamily="2" charset="-122"/>
              </a:rPr>
              <a:t>	}</a:t>
            </a:r>
            <a:endParaRPr lang="zh-CN" altLang="en-US" sz="1600" dirty="0">
              <a:ea typeface="宋体" panose="02010600030101010101" pitchFamily="2" charset="-122"/>
            </a:endParaRPr>
          </a:p>
          <a:p>
            <a:pPr marL="0" lvl="0" indent="0">
              <a:lnSpc>
                <a:spcPct val="100000"/>
              </a:lnSpc>
              <a:spcBef>
                <a:spcPct val="0"/>
              </a:spcBef>
              <a:buNone/>
            </a:pPr>
            <a:r>
              <a:rPr lang="en-US" altLang="zh-CN" sz="1600" dirty="0">
                <a:ea typeface="宋体" panose="02010600030101010101" pitchFamily="2" charset="-122"/>
              </a:rPr>
              <a:t>	</a:t>
            </a:r>
            <a:r>
              <a:rPr lang="en-US" altLang="zh-CN" sz="1600" b="1" dirty="0">
                <a:ea typeface="宋体" panose="02010600030101010101" pitchFamily="2" charset="-122"/>
              </a:rPr>
              <a:t>static</a:t>
            </a:r>
            <a:r>
              <a:rPr lang="en-US" altLang="zh-CN" sz="1600" dirty="0">
                <a:ea typeface="宋体" panose="02010600030101010101" pitchFamily="2" charset="-122"/>
              </a:rPr>
              <a:t> </a:t>
            </a:r>
            <a:r>
              <a:rPr lang="en-US" altLang="zh-CN" sz="1600" b="1" dirty="0">
                <a:ea typeface="宋体" panose="02010600030101010101" pitchFamily="2" charset="-122"/>
              </a:rPr>
              <a:t>int</a:t>
            </a:r>
            <a:r>
              <a:rPr lang="en-US" altLang="zh-CN" sz="1600" dirty="0">
                <a:ea typeface="宋体" panose="02010600030101010101" pitchFamily="2" charset="-122"/>
              </a:rPr>
              <a:t> getArea(</a:t>
            </a:r>
            <a:r>
              <a:rPr lang="en-US" altLang="zh-CN" sz="1600" b="1" dirty="0">
                <a:ea typeface="宋体" panose="02010600030101010101" pitchFamily="2" charset="-122"/>
              </a:rPr>
              <a:t>int</a:t>
            </a:r>
            <a:r>
              <a:rPr lang="en-US" altLang="zh-CN" sz="1600" dirty="0">
                <a:ea typeface="宋体" panose="02010600030101010101" pitchFamily="2" charset="-122"/>
              </a:rPr>
              <a:t> x,</a:t>
            </a:r>
            <a:r>
              <a:rPr lang="en-US" altLang="zh-CN" sz="1600" b="1" dirty="0">
                <a:ea typeface="宋体" panose="02010600030101010101" pitchFamily="2" charset="-122"/>
              </a:rPr>
              <a:t>int</a:t>
            </a:r>
            <a:r>
              <a:rPr lang="en-US" altLang="zh-CN" sz="1600" dirty="0">
                <a:ea typeface="宋体" panose="02010600030101010101" pitchFamily="2" charset="-122"/>
              </a:rPr>
              <a:t> y)</a:t>
            </a:r>
            <a:endParaRPr lang="zh-CN" altLang="en-US" sz="1600" dirty="0">
              <a:ea typeface="宋体" panose="02010600030101010101" pitchFamily="2" charset="-122"/>
            </a:endParaRPr>
          </a:p>
          <a:p>
            <a:pPr marL="0" lvl="0" indent="0">
              <a:lnSpc>
                <a:spcPct val="100000"/>
              </a:lnSpc>
              <a:spcBef>
                <a:spcPct val="0"/>
              </a:spcBef>
              <a:buNone/>
            </a:pPr>
            <a:r>
              <a:rPr lang="en-US" altLang="zh-CN" sz="1600" dirty="0">
                <a:ea typeface="宋体" panose="02010600030101010101" pitchFamily="2" charset="-122"/>
              </a:rPr>
              <a:t>	{</a:t>
            </a:r>
            <a:endParaRPr lang="zh-CN" altLang="en-US" sz="1600" dirty="0">
              <a:ea typeface="宋体" panose="02010600030101010101" pitchFamily="2" charset="-122"/>
            </a:endParaRPr>
          </a:p>
          <a:p>
            <a:pPr marL="0" lvl="0" indent="0">
              <a:lnSpc>
                <a:spcPct val="100000"/>
              </a:lnSpc>
              <a:spcBef>
                <a:spcPct val="0"/>
              </a:spcBef>
              <a:buNone/>
            </a:pPr>
            <a:r>
              <a:rPr lang="en-US" altLang="zh-CN" sz="1600" dirty="0">
                <a:ea typeface="宋体" panose="02010600030101010101" pitchFamily="2" charset="-122"/>
              </a:rPr>
              <a:t>		</a:t>
            </a:r>
            <a:r>
              <a:rPr lang="en-US" altLang="zh-CN" sz="1600" b="1" dirty="0">
                <a:ea typeface="宋体" panose="02010600030101010101" pitchFamily="2" charset="-122"/>
              </a:rPr>
              <a:t>return</a:t>
            </a:r>
            <a:r>
              <a:rPr lang="en-US" altLang="zh-CN" sz="1600" dirty="0">
                <a:ea typeface="宋体" panose="02010600030101010101" pitchFamily="2" charset="-122"/>
              </a:rPr>
              <a:t> x * y;</a:t>
            </a:r>
            <a:endParaRPr lang="zh-CN" altLang="en-US" sz="1600" dirty="0">
              <a:ea typeface="宋体" panose="02010600030101010101" pitchFamily="2" charset="-122"/>
            </a:endParaRPr>
          </a:p>
          <a:p>
            <a:pPr marL="0" lvl="0" indent="0">
              <a:lnSpc>
                <a:spcPct val="100000"/>
              </a:lnSpc>
              <a:spcBef>
                <a:spcPct val="0"/>
              </a:spcBef>
              <a:buNone/>
            </a:pPr>
            <a:r>
              <a:rPr lang="en-US" altLang="zh-CN" sz="1600" dirty="0">
                <a:ea typeface="宋体" panose="02010600030101010101" pitchFamily="2" charset="-122"/>
              </a:rPr>
              <a:t>	}</a:t>
            </a:r>
            <a:endParaRPr lang="zh-CN" altLang="en-US" sz="1600" dirty="0">
              <a:ea typeface="宋体" panose="02010600030101010101" pitchFamily="2" charset="-122"/>
            </a:endParaRPr>
          </a:p>
          <a:p>
            <a:pPr marL="0" lvl="0" indent="0">
              <a:lnSpc>
                <a:spcPct val="100000"/>
              </a:lnSpc>
              <a:spcBef>
                <a:spcPct val="0"/>
              </a:spcBef>
              <a:buNone/>
            </a:pPr>
            <a:r>
              <a:rPr lang="en-US" altLang="zh-CN" sz="1600" dirty="0">
                <a:ea typeface="宋体" panose="02010600030101010101" pitchFamily="2" charset="-122"/>
              </a:rPr>
              <a:t>}</a:t>
            </a:r>
            <a:endParaRPr lang="zh-CN" altLang="en-US" sz="1600" b="1" dirty="0">
              <a:latin typeface="Times New Roman" panose="02020603050405020304" pitchFamily="18" charset="0"/>
              <a:ea typeface="宋体" panose="02010600030101010101" pitchFamily="2" charset="-122"/>
            </a:endParaRPr>
          </a:p>
        </p:txBody>
      </p:sp>
      <p:sp>
        <p:nvSpPr>
          <p:cNvPr id="79875" name="标题 1"/>
          <p:cNvSpPr txBox="1"/>
          <p:nvPr/>
        </p:nvSpPr>
        <p:spPr>
          <a:xfrm>
            <a:off x="1825625" y="153988"/>
            <a:ext cx="6858000" cy="1143000"/>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zh-CN" altLang="en-US" sz="3600" b="1" dirty="0">
                <a:solidFill>
                  <a:srgbClr val="FF0000"/>
                </a:solidFill>
                <a:latin typeface="Calibri Light" panose="020F0302020204030204" pitchFamily="34" charset="0"/>
                <a:ea typeface="等线 Light" panose="02010600030101010101" charset="-122"/>
              </a:rPr>
              <a:t>简单的人机交互</a:t>
            </a:r>
            <a:endParaRPr lang="zh-CN" altLang="en-US" sz="3600" b="1" dirty="0">
              <a:solidFill>
                <a:srgbClr val="FF0000"/>
              </a:solidFill>
              <a:latin typeface="Calibri Light" panose="020F0302020204030204" pitchFamily="34" charset="0"/>
              <a:ea typeface="等线 Light" panose="02010600030101010101" charset="-122"/>
            </a:endParaRPr>
          </a:p>
        </p:txBody>
      </p:sp>
      <p:sp>
        <p:nvSpPr>
          <p:cNvPr id="79876"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内容占位符 2"/>
          <p:cNvSpPr>
            <a:spLocks noGrp="1"/>
          </p:cNvSpPr>
          <p:nvPr>
            <p:ph idx="1"/>
          </p:nvPr>
        </p:nvSpPr>
        <p:spPr/>
        <p:txBody>
          <a:bodyPr vert="horz" wrap="square" lIns="91440" tIns="45720" rIns="91440" bIns="45720" anchor="t" anchorCtr="0"/>
          <a:p>
            <a:pPr eaLnBrk="1" hangingPunct="1">
              <a:lnSpc>
                <a:spcPct val="150000"/>
              </a:lnSpc>
              <a:buBlip>
                <a:blip r:embed="rId1"/>
              </a:buBlip>
            </a:pPr>
            <a:r>
              <a:rPr lang="en-US" altLang="zh-CN" dirty="0"/>
              <a:t>BufferedReader</a:t>
            </a:r>
            <a:r>
              <a:rPr lang="zh-CN" altLang="en-US" dirty="0"/>
              <a:t>类是</a:t>
            </a:r>
            <a:r>
              <a:rPr lang="en-US" altLang="zh-CN" dirty="0"/>
              <a:t>Java IO</a:t>
            </a:r>
            <a:r>
              <a:rPr lang="zh-CN" altLang="en-US" dirty="0"/>
              <a:t>流中提供的一个字符流，它需要建立在另一个字符流的基础上。实例化一个</a:t>
            </a:r>
            <a:r>
              <a:rPr lang="en-US" altLang="zh-CN" dirty="0"/>
              <a:t>BufferedReader</a:t>
            </a:r>
            <a:r>
              <a:rPr lang="zh-CN" altLang="en-US" dirty="0"/>
              <a:t>对象采用如下的代码：</a:t>
            </a:r>
            <a:endParaRPr lang="en-US" altLang="zh-CN" dirty="0"/>
          </a:p>
          <a:p>
            <a:pPr eaLnBrk="1" hangingPunct="1">
              <a:lnSpc>
                <a:spcPct val="150000"/>
              </a:lnSpc>
              <a:buBlip>
                <a:blip r:embed="rId1"/>
              </a:buBlip>
            </a:pPr>
            <a:r>
              <a:rPr lang="en-US" altLang="zh-CN" dirty="0"/>
              <a:t>BufferedReader br = </a:t>
            </a:r>
            <a:r>
              <a:rPr lang="en-US" altLang="zh-CN" b="1" dirty="0"/>
              <a:t>new</a:t>
            </a:r>
            <a:r>
              <a:rPr lang="en-US" altLang="zh-CN" dirty="0"/>
              <a:t> BufferedReader(</a:t>
            </a:r>
            <a:r>
              <a:rPr lang="en-US" altLang="zh-CN" b="1" dirty="0"/>
              <a:t>new</a:t>
            </a:r>
            <a:r>
              <a:rPr lang="en-US" altLang="zh-CN" dirty="0"/>
              <a:t> InputStreamReader(System.</a:t>
            </a:r>
            <a:r>
              <a:rPr lang="en-US" altLang="zh-CN" i="1" dirty="0"/>
              <a:t>in</a:t>
            </a:r>
            <a:r>
              <a:rPr lang="en-US" altLang="zh-CN" dirty="0"/>
              <a:t>));</a:t>
            </a:r>
            <a:endParaRPr lang="en-US" altLang="zh-CN" dirty="0"/>
          </a:p>
          <a:p>
            <a:pPr eaLnBrk="1" hangingPunct="1">
              <a:lnSpc>
                <a:spcPct val="150000"/>
              </a:lnSpc>
              <a:buBlip>
                <a:blip r:embed="rId1"/>
              </a:buBlip>
            </a:pPr>
            <a:r>
              <a:rPr lang="en-US" altLang="zh-CN" dirty="0"/>
              <a:t>readLine()</a:t>
            </a:r>
            <a:r>
              <a:rPr lang="zh-CN" altLang="en-US" dirty="0"/>
              <a:t>：读取一行内容</a:t>
            </a:r>
            <a:endParaRPr lang="zh-CN" altLang="en-US" dirty="0"/>
          </a:p>
          <a:p>
            <a:pPr eaLnBrk="1" hangingPunct="1">
              <a:lnSpc>
                <a:spcPct val="150000"/>
              </a:lnSpc>
              <a:buBlip>
                <a:blip r:embed="rId1"/>
              </a:buBlip>
            </a:pPr>
            <a:endParaRPr lang="zh-CN" altLang="en-US" dirty="0"/>
          </a:p>
        </p:txBody>
      </p:sp>
      <p:sp>
        <p:nvSpPr>
          <p:cNvPr id="4" name="TextBox 3"/>
          <p:cNvSpPr txBox="1"/>
          <p:nvPr/>
        </p:nvSpPr>
        <p:spPr>
          <a:xfrm>
            <a:off x="2714625" y="1000125"/>
            <a:ext cx="4321175" cy="584200"/>
          </a:xfrm>
          <a:prstGeom prst="rect">
            <a:avLst/>
          </a:prstGeom>
          <a:noFill/>
        </p:spPr>
        <p:txBody>
          <a:bodyPr>
            <a:spAutoFit/>
          </a:bodyPr>
          <a:lstStyle/>
          <a:p>
            <a:pPr marR="0" algn="r" defTabSz="914400" fontAlgn="auto">
              <a:spcBef>
                <a:spcPts val="0"/>
              </a:spcBef>
              <a:spcAft>
                <a:spcPts val="0"/>
              </a:spcAft>
              <a:buClrTx/>
              <a:buSzTx/>
              <a:buFontTx/>
              <a:buNone/>
              <a:defRPr/>
            </a:pPr>
            <a:r>
              <a:rPr kumimoji="0" lang="en-US" altLang="zh-CN" sz="3200" kern="1200" cap="none" spc="0" normalizeH="0" baseline="0" noProof="0" dirty="0">
                <a:solidFill>
                  <a:schemeClr val="accent6">
                    <a:lumMod val="50000"/>
                  </a:schemeClr>
                </a:solidFill>
                <a:latin typeface="+mn-lt"/>
                <a:ea typeface="+mn-ea"/>
                <a:cs typeface="+mn-cs"/>
                <a:sym typeface="+mn-ea"/>
              </a:rPr>
              <a:t>——</a:t>
            </a:r>
            <a:r>
              <a:rPr kumimoji="0" lang="en-US" altLang="zh-CN" sz="3200" kern="1200" cap="none" spc="0" normalizeH="0" baseline="0" noProof="0" dirty="0" err="1">
                <a:solidFill>
                  <a:schemeClr val="accent6">
                    <a:lumMod val="50000"/>
                  </a:schemeClr>
                </a:solidFill>
                <a:latin typeface="+mn-lt"/>
                <a:ea typeface="+mn-ea"/>
                <a:cs typeface="+mn-cs"/>
                <a:sym typeface="+mn-ea"/>
              </a:rPr>
              <a:t>BufferedReader</a:t>
            </a:r>
            <a:r>
              <a:rPr kumimoji="0" lang="zh-CN" altLang="en-US" sz="3200" kern="1200" cap="none" spc="0" normalizeH="0" baseline="0" noProof="0" dirty="0">
                <a:solidFill>
                  <a:schemeClr val="accent6">
                    <a:lumMod val="50000"/>
                  </a:schemeClr>
                </a:solidFill>
                <a:latin typeface="+mn-lt"/>
                <a:ea typeface="+mn-ea"/>
                <a:cs typeface="+mn-cs"/>
                <a:sym typeface="+mn-ea"/>
              </a:rPr>
              <a:t>类</a:t>
            </a:r>
            <a:endParaRPr kumimoji="0" lang="zh-CN" altLang="en-US" sz="3200" kern="1200" cap="none" spc="0" normalizeH="0" baseline="0" noProof="0" dirty="0">
              <a:solidFill>
                <a:schemeClr val="accent6">
                  <a:lumMod val="50000"/>
                </a:schemeClr>
              </a:solidFill>
              <a:latin typeface="+mn-lt"/>
              <a:ea typeface="+mn-ea"/>
              <a:cs typeface="+mn-cs"/>
              <a:sym typeface="+mn-ea"/>
            </a:endParaRPr>
          </a:p>
        </p:txBody>
      </p:sp>
      <p:sp>
        <p:nvSpPr>
          <p:cNvPr id="80900" name="标题 1"/>
          <p:cNvSpPr txBox="1"/>
          <p:nvPr/>
        </p:nvSpPr>
        <p:spPr>
          <a:xfrm>
            <a:off x="1733550" y="142875"/>
            <a:ext cx="4565650" cy="787400"/>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zh-CN" altLang="en-US" sz="3600" b="1" dirty="0">
                <a:solidFill>
                  <a:srgbClr val="FF0000"/>
                </a:solidFill>
                <a:latin typeface="Calibri Light" panose="020F0302020204030204" pitchFamily="34" charset="0"/>
                <a:ea typeface="等线 Light" panose="02010600030101010101" charset="-122"/>
              </a:rPr>
              <a:t>简单的人机交互</a:t>
            </a:r>
            <a:endParaRPr lang="zh-CN" altLang="en-US" sz="3600" b="1" dirty="0">
              <a:solidFill>
                <a:srgbClr val="FF0000"/>
              </a:solidFill>
              <a:latin typeface="Calibri Light" panose="020F0302020204030204" pitchFamily="34" charset="0"/>
              <a:ea typeface="等线 Light" panose="02010600030101010101" charset="-122"/>
            </a:endParaRPr>
          </a:p>
        </p:txBody>
      </p:sp>
      <p:sp>
        <p:nvSpPr>
          <p:cNvPr id="80901"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2"/>
          <p:cNvSpPr/>
          <p:nvPr/>
        </p:nvSpPr>
        <p:spPr>
          <a:xfrm>
            <a:off x="571500" y="1206500"/>
            <a:ext cx="7943850" cy="5322888"/>
          </a:xfrm>
          <a:prstGeom prst="rect">
            <a:avLst/>
          </a:prstGeom>
          <a:solidFill>
            <a:schemeClr val="bg1"/>
          </a:solid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en-US" altLang="zh-CN" sz="2000" dirty="0">
                <a:ea typeface="宋体" panose="02010600030101010101" pitchFamily="2" charset="-122"/>
              </a:rPr>
              <a:t>//</a:t>
            </a:r>
            <a:r>
              <a:rPr lang="zh-CN" altLang="en-US" sz="2000" dirty="0">
                <a:ea typeface="宋体" panose="02010600030101010101" pitchFamily="2" charset="-122"/>
              </a:rPr>
              <a:t>利用</a:t>
            </a:r>
            <a:r>
              <a:rPr lang="en-US" altLang="zh-CN" sz="2000" dirty="0">
                <a:ea typeface="宋体" panose="02010600030101010101" pitchFamily="2" charset="-122"/>
              </a:rPr>
              <a:t>BufferedReader</a:t>
            </a:r>
            <a:r>
              <a:rPr lang="zh-CN" altLang="en-US" sz="2000" dirty="0">
                <a:ea typeface="宋体" panose="02010600030101010101" pitchFamily="2" charset="-122"/>
              </a:rPr>
              <a:t>类从键盘上接收两个字符串，求矩形的面积</a:t>
            </a:r>
            <a:endParaRPr lang="zh-CN" altLang="en-US" sz="2000" dirty="0">
              <a:ea typeface="宋体" panose="02010600030101010101" pitchFamily="2" charset="-122"/>
            </a:endParaRPr>
          </a:p>
          <a:p>
            <a:pPr marL="0" lvl="0" indent="0">
              <a:lnSpc>
                <a:spcPct val="100000"/>
              </a:lnSpc>
              <a:spcBef>
                <a:spcPct val="0"/>
              </a:spcBef>
              <a:buNone/>
            </a:pPr>
            <a:r>
              <a:rPr lang="en-US" altLang="zh-CN" sz="2000" dirty="0">
                <a:ea typeface="宋体" panose="02010600030101010101" pitchFamily="2" charset="-122"/>
              </a:rPr>
              <a:t>//</a:t>
            </a:r>
            <a:r>
              <a:rPr lang="zh-CN" altLang="en-US" sz="2000" dirty="0">
                <a:ea typeface="宋体" panose="02010600030101010101" pitchFamily="2" charset="-122"/>
              </a:rPr>
              <a:t>导入</a:t>
            </a:r>
            <a:r>
              <a:rPr lang="en-US" altLang="zh-CN" sz="2000" dirty="0">
                <a:ea typeface="宋体" panose="02010600030101010101" pitchFamily="2" charset="-122"/>
              </a:rPr>
              <a:t>java.io</a:t>
            </a:r>
            <a:r>
              <a:rPr lang="zh-CN" altLang="en-US" sz="2000" dirty="0">
                <a:ea typeface="宋体" panose="02010600030101010101" pitchFamily="2" charset="-122"/>
              </a:rPr>
              <a:t>包</a:t>
            </a:r>
            <a:endParaRPr lang="zh-CN" altLang="en-US" sz="2000" dirty="0">
              <a:ea typeface="宋体" panose="02010600030101010101" pitchFamily="2" charset="-122"/>
            </a:endParaRPr>
          </a:p>
          <a:p>
            <a:pPr marL="0" lvl="0" indent="0">
              <a:lnSpc>
                <a:spcPct val="100000"/>
              </a:lnSpc>
              <a:spcBef>
                <a:spcPct val="0"/>
              </a:spcBef>
              <a:buNone/>
            </a:pPr>
            <a:r>
              <a:rPr lang="en-US" altLang="zh-CN" sz="2000" b="1" dirty="0">
                <a:ea typeface="宋体" panose="02010600030101010101" pitchFamily="2" charset="-122"/>
              </a:rPr>
              <a:t>import</a:t>
            </a:r>
            <a:r>
              <a:rPr lang="en-US" altLang="zh-CN" sz="2000" dirty="0">
                <a:ea typeface="宋体" panose="02010600030101010101" pitchFamily="2" charset="-122"/>
              </a:rPr>
              <a:t> java.io.*;</a:t>
            </a:r>
            <a:endParaRPr lang="zh-CN" altLang="en-US" sz="2000" dirty="0">
              <a:ea typeface="宋体" panose="02010600030101010101" pitchFamily="2" charset="-122"/>
            </a:endParaRPr>
          </a:p>
          <a:p>
            <a:pPr marL="0" lvl="0" indent="0">
              <a:lnSpc>
                <a:spcPct val="100000"/>
              </a:lnSpc>
              <a:spcBef>
                <a:spcPct val="0"/>
              </a:spcBef>
              <a:buNone/>
            </a:pPr>
            <a:r>
              <a:rPr lang="en-US" altLang="zh-CN" sz="2000" b="1" dirty="0">
                <a:ea typeface="宋体" panose="02010600030101010101" pitchFamily="2" charset="-122"/>
              </a:rPr>
              <a:t>public</a:t>
            </a:r>
            <a:r>
              <a:rPr lang="en-US" altLang="zh-CN" sz="2000" dirty="0">
                <a:ea typeface="宋体" panose="02010600030101010101" pitchFamily="2" charset="-122"/>
              </a:rPr>
              <a:t> </a:t>
            </a:r>
            <a:r>
              <a:rPr lang="en-US" altLang="zh-CN" sz="2000" b="1" dirty="0">
                <a:ea typeface="宋体" panose="02010600030101010101" pitchFamily="2" charset="-122"/>
              </a:rPr>
              <a:t>class</a:t>
            </a:r>
            <a:r>
              <a:rPr lang="en-US" altLang="zh-CN" sz="2000" dirty="0">
                <a:ea typeface="宋体" panose="02010600030101010101" pitchFamily="2" charset="-122"/>
              </a:rPr>
              <a:t> BufferedReaderDemo {</a:t>
            </a:r>
            <a:endParaRPr lang="zh-CN" altLang="en-US" sz="2000" dirty="0">
              <a:ea typeface="宋体" panose="02010600030101010101" pitchFamily="2" charset="-122"/>
            </a:endParaRPr>
          </a:p>
          <a:p>
            <a:pPr marL="0" lvl="0" indent="0">
              <a:lnSpc>
                <a:spcPct val="100000"/>
              </a:lnSpc>
              <a:spcBef>
                <a:spcPct val="0"/>
              </a:spcBef>
              <a:buNone/>
            </a:pPr>
            <a:r>
              <a:rPr lang="en-US" altLang="zh-CN" sz="2000" dirty="0">
                <a:ea typeface="宋体" panose="02010600030101010101" pitchFamily="2" charset="-122"/>
              </a:rPr>
              <a:t>	</a:t>
            </a:r>
            <a:r>
              <a:rPr lang="en-US" altLang="zh-CN" sz="2000" b="1" dirty="0">
                <a:ea typeface="宋体" panose="02010600030101010101" pitchFamily="2" charset="-122"/>
              </a:rPr>
              <a:t>public</a:t>
            </a:r>
            <a:r>
              <a:rPr lang="en-US" altLang="zh-CN" sz="2000" dirty="0">
                <a:ea typeface="宋体" panose="02010600030101010101" pitchFamily="2" charset="-122"/>
              </a:rPr>
              <a:t> </a:t>
            </a:r>
            <a:r>
              <a:rPr lang="en-US" altLang="zh-CN" sz="2000" b="1" dirty="0">
                <a:ea typeface="宋体" panose="02010600030101010101" pitchFamily="2" charset="-122"/>
              </a:rPr>
              <a:t>static</a:t>
            </a:r>
            <a:r>
              <a:rPr lang="en-US" altLang="zh-CN" sz="2000" dirty="0">
                <a:ea typeface="宋体" panose="02010600030101010101" pitchFamily="2" charset="-122"/>
              </a:rPr>
              <a:t> </a:t>
            </a:r>
            <a:r>
              <a:rPr lang="en-US" altLang="zh-CN" sz="2000" b="1" dirty="0">
                <a:ea typeface="宋体" panose="02010600030101010101" pitchFamily="2" charset="-122"/>
              </a:rPr>
              <a:t>void</a:t>
            </a:r>
            <a:r>
              <a:rPr lang="en-US" altLang="zh-CN" sz="2000" dirty="0">
                <a:ea typeface="宋体" panose="02010600030101010101" pitchFamily="2" charset="-122"/>
              </a:rPr>
              <a:t> main(String[] args) {</a:t>
            </a:r>
            <a:endParaRPr lang="zh-CN" altLang="en-US" sz="2000" dirty="0">
              <a:ea typeface="宋体" panose="02010600030101010101" pitchFamily="2" charset="-122"/>
            </a:endParaRPr>
          </a:p>
          <a:p>
            <a:pPr marL="0" lvl="0" indent="0">
              <a:lnSpc>
                <a:spcPct val="100000"/>
              </a:lnSpc>
              <a:spcBef>
                <a:spcPct val="0"/>
              </a:spcBef>
              <a:buNone/>
            </a:pPr>
            <a:r>
              <a:rPr lang="en-US" altLang="zh-CN" sz="2000" dirty="0">
                <a:ea typeface="宋体" panose="02010600030101010101" pitchFamily="2" charset="-122"/>
              </a:rPr>
              <a:t>		String x = </a:t>
            </a:r>
            <a:r>
              <a:rPr lang="en-US" altLang="zh-CN" sz="2000" b="1" dirty="0">
                <a:ea typeface="宋体" panose="02010600030101010101" pitchFamily="2" charset="-122"/>
              </a:rPr>
              <a:t>null</a:t>
            </a:r>
            <a:r>
              <a:rPr lang="en-US" altLang="zh-CN" sz="2000" dirty="0">
                <a:ea typeface="宋体" panose="02010600030101010101" pitchFamily="2" charset="-122"/>
              </a:rPr>
              <a:t>,y = </a:t>
            </a:r>
            <a:r>
              <a:rPr lang="en-US" altLang="zh-CN" sz="2000" b="1" dirty="0">
                <a:ea typeface="宋体" panose="02010600030101010101" pitchFamily="2" charset="-122"/>
              </a:rPr>
              <a:t>null</a:t>
            </a:r>
            <a:r>
              <a:rPr lang="en-US" altLang="zh-CN" sz="2000" dirty="0">
                <a:ea typeface="宋体" panose="02010600030101010101" pitchFamily="2" charset="-122"/>
              </a:rPr>
              <a:t>;</a:t>
            </a:r>
            <a:endParaRPr lang="zh-CN" altLang="en-US" sz="2000" dirty="0">
              <a:ea typeface="宋体" panose="02010600030101010101" pitchFamily="2" charset="-122"/>
            </a:endParaRPr>
          </a:p>
          <a:p>
            <a:pPr marL="0" lvl="0" indent="0">
              <a:lnSpc>
                <a:spcPct val="100000"/>
              </a:lnSpc>
              <a:spcBef>
                <a:spcPct val="0"/>
              </a:spcBef>
              <a:buNone/>
            </a:pPr>
            <a:r>
              <a:rPr lang="en-US" altLang="zh-CN" sz="2000" dirty="0">
                <a:ea typeface="宋体" panose="02010600030101010101" pitchFamily="2" charset="-122"/>
              </a:rPr>
              <a:t>		</a:t>
            </a:r>
            <a:r>
              <a:rPr lang="en-US" altLang="zh-CN" sz="2000" b="1" dirty="0">
                <a:ea typeface="宋体" panose="02010600030101010101" pitchFamily="2" charset="-122"/>
              </a:rPr>
              <a:t>int</a:t>
            </a:r>
            <a:r>
              <a:rPr lang="en-US" altLang="zh-CN" sz="2000" dirty="0">
                <a:ea typeface="宋体" panose="02010600030101010101" pitchFamily="2" charset="-122"/>
              </a:rPr>
              <a:t> width,length,area;</a:t>
            </a:r>
            <a:endParaRPr lang="zh-CN" altLang="en-US" sz="2000" dirty="0">
              <a:ea typeface="宋体" panose="02010600030101010101" pitchFamily="2" charset="-122"/>
            </a:endParaRPr>
          </a:p>
          <a:p>
            <a:pPr marL="0" lvl="0" indent="0">
              <a:lnSpc>
                <a:spcPct val="100000"/>
              </a:lnSpc>
              <a:spcBef>
                <a:spcPct val="0"/>
              </a:spcBef>
              <a:buNone/>
            </a:pPr>
            <a:r>
              <a:rPr lang="en-US" altLang="zh-CN" sz="2000" dirty="0">
                <a:ea typeface="宋体" panose="02010600030101010101" pitchFamily="2" charset="-122"/>
              </a:rPr>
              <a:t>		//</a:t>
            </a:r>
            <a:r>
              <a:rPr lang="zh-CN" altLang="en-US" sz="2000" dirty="0">
                <a:ea typeface="宋体" panose="02010600030101010101" pitchFamily="2" charset="-122"/>
              </a:rPr>
              <a:t>使用</a:t>
            </a:r>
            <a:r>
              <a:rPr lang="en-US" altLang="zh-CN" sz="2000" dirty="0">
                <a:ea typeface="宋体" panose="02010600030101010101" pitchFamily="2" charset="-122"/>
              </a:rPr>
              <a:t>try/catch</a:t>
            </a:r>
            <a:r>
              <a:rPr lang="zh-CN" altLang="en-US" sz="2000" dirty="0">
                <a:ea typeface="宋体" panose="02010600030101010101" pitchFamily="2" charset="-122"/>
              </a:rPr>
              <a:t>语句捕获异常</a:t>
            </a:r>
            <a:endParaRPr lang="zh-CN" altLang="en-US" sz="2000" dirty="0">
              <a:ea typeface="宋体" panose="02010600030101010101" pitchFamily="2" charset="-122"/>
            </a:endParaRPr>
          </a:p>
          <a:p>
            <a:pPr marL="0" lvl="0" indent="0">
              <a:lnSpc>
                <a:spcPct val="100000"/>
              </a:lnSpc>
              <a:spcBef>
                <a:spcPct val="0"/>
              </a:spcBef>
              <a:buNone/>
            </a:pPr>
            <a:r>
              <a:rPr lang="en-US" altLang="zh-CN" sz="2000" dirty="0">
                <a:ea typeface="宋体" panose="02010600030101010101" pitchFamily="2" charset="-122"/>
              </a:rPr>
              <a:t>		</a:t>
            </a:r>
            <a:r>
              <a:rPr lang="en-US" altLang="zh-CN" sz="2000" b="1" dirty="0">
                <a:ea typeface="宋体" panose="02010600030101010101" pitchFamily="2" charset="-122"/>
              </a:rPr>
              <a:t>try</a:t>
            </a:r>
            <a:r>
              <a:rPr lang="en-US" altLang="zh-CN" sz="2000" dirty="0">
                <a:ea typeface="宋体" panose="02010600030101010101" pitchFamily="2" charset="-122"/>
              </a:rPr>
              <a:t>{</a:t>
            </a:r>
            <a:endParaRPr lang="zh-CN" altLang="en-US" sz="2000" dirty="0">
              <a:ea typeface="宋体" panose="02010600030101010101" pitchFamily="2" charset="-122"/>
            </a:endParaRPr>
          </a:p>
          <a:p>
            <a:pPr marL="0" lvl="0" indent="0">
              <a:lnSpc>
                <a:spcPct val="100000"/>
              </a:lnSpc>
              <a:spcBef>
                <a:spcPct val="0"/>
              </a:spcBef>
              <a:buNone/>
            </a:pPr>
            <a:r>
              <a:rPr lang="en-US" altLang="zh-CN" sz="2000" dirty="0">
                <a:ea typeface="宋体" panose="02010600030101010101" pitchFamily="2" charset="-122"/>
              </a:rPr>
              <a:t>			//</a:t>
            </a:r>
            <a:r>
              <a:rPr lang="zh-CN" altLang="en-US" sz="2000" dirty="0">
                <a:ea typeface="宋体" panose="02010600030101010101" pitchFamily="2" charset="-122"/>
              </a:rPr>
              <a:t>实例化</a:t>
            </a:r>
            <a:r>
              <a:rPr lang="en-US" altLang="zh-CN" sz="2000" dirty="0">
                <a:ea typeface="宋体" panose="02010600030101010101" pitchFamily="2" charset="-122"/>
              </a:rPr>
              <a:t>BufferedReader</a:t>
            </a:r>
            <a:r>
              <a:rPr lang="zh-CN" altLang="en-US" sz="2000" dirty="0">
                <a:ea typeface="宋体" panose="02010600030101010101" pitchFamily="2" charset="-122"/>
              </a:rPr>
              <a:t>类</a:t>
            </a:r>
            <a:endParaRPr lang="zh-CN" altLang="en-US" sz="2000" dirty="0">
              <a:ea typeface="宋体" panose="02010600030101010101" pitchFamily="2" charset="-122"/>
            </a:endParaRPr>
          </a:p>
          <a:p>
            <a:pPr marL="0" lvl="0" indent="0">
              <a:lnSpc>
                <a:spcPct val="100000"/>
              </a:lnSpc>
              <a:spcBef>
                <a:spcPct val="0"/>
              </a:spcBef>
              <a:buNone/>
            </a:pPr>
            <a:r>
              <a:rPr lang="en-US" altLang="zh-CN" sz="2000" dirty="0">
                <a:ea typeface="宋体" panose="02010600030101010101" pitchFamily="2" charset="-122"/>
              </a:rPr>
              <a:t>			BufferedReader br = </a:t>
            </a:r>
            <a:r>
              <a:rPr lang="en-US" altLang="zh-CN" sz="2000" b="1" dirty="0">
                <a:ea typeface="宋体" panose="02010600030101010101" pitchFamily="2" charset="-122"/>
              </a:rPr>
              <a:t>new</a:t>
            </a:r>
            <a:r>
              <a:rPr lang="en-US" altLang="zh-CN" sz="2000" dirty="0">
                <a:ea typeface="宋体" panose="02010600030101010101" pitchFamily="2" charset="-122"/>
              </a:rPr>
              <a:t> BufferedReader(</a:t>
            </a:r>
            <a:r>
              <a:rPr lang="en-US" altLang="zh-CN" sz="2000" b="1" dirty="0">
                <a:ea typeface="宋体" panose="02010600030101010101" pitchFamily="2" charset="-122"/>
              </a:rPr>
              <a:t>new</a:t>
            </a:r>
            <a:r>
              <a:rPr lang="en-US" altLang="zh-CN" sz="2000" dirty="0">
                <a:ea typeface="宋体" panose="02010600030101010101" pitchFamily="2" charset="-122"/>
              </a:rPr>
              <a:t> InputStreamReader(System.</a:t>
            </a:r>
            <a:r>
              <a:rPr lang="en-US" altLang="zh-CN" sz="2000" i="1" dirty="0">
                <a:ea typeface="宋体" panose="02010600030101010101" pitchFamily="2" charset="-122"/>
              </a:rPr>
              <a:t>in</a:t>
            </a:r>
            <a:r>
              <a:rPr lang="en-US" altLang="zh-CN" sz="2000" dirty="0">
                <a:ea typeface="宋体" panose="02010600030101010101" pitchFamily="2" charset="-122"/>
              </a:rPr>
              <a:t>));</a:t>
            </a:r>
            <a:endParaRPr lang="zh-CN" altLang="en-US" sz="2000" dirty="0">
              <a:ea typeface="宋体" panose="02010600030101010101" pitchFamily="2" charset="-122"/>
            </a:endParaRPr>
          </a:p>
          <a:p>
            <a:pPr marL="0" lvl="0" indent="0">
              <a:lnSpc>
                <a:spcPct val="100000"/>
              </a:lnSpc>
              <a:spcBef>
                <a:spcPct val="0"/>
              </a:spcBef>
              <a:buNone/>
            </a:pPr>
            <a:r>
              <a:rPr lang="en-US" altLang="zh-CN" sz="2000" dirty="0">
                <a:ea typeface="宋体" panose="02010600030101010101" pitchFamily="2" charset="-122"/>
              </a:rPr>
              <a:t>			//</a:t>
            </a:r>
            <a:r>
              <a:rPr lang="zh-CN" altLang="en-US" sz="2000" dirty="0">
                <a:ea typeface="宋体" panose="02010600030101010101" pitchFamily="2" charset="-122"/>
              </a:rPr>
              <a:t>从键盘上读取一行字符串，赋给</a:t>
            </a:r>
            <a:r>
              <a:rPr lang="en-US" altLang="zh-CN" sz="2000" dirty="0">
                <a:ea typeface="宋体" panose="02010600030101010101" pitchFamily="2" charset="-122"/>
              </a:rPr>
              <a:t>x</a:t>
            </a:r>
            <a:endParaRPr lang="zh-CN" altLang="en-US" sz="2000" dirty="0">
              <a:ea typeface="宋体" panose="02010600030101010101" pitchFamily="2" charset="-122"/>
            </a:endParaRPr>
          </a:p>
          <a:p>
            <a:pPr marL="0" lvl="0" indent="0">
              <a:lnSpc>
                <a:spcPct val="100000"/>
              </a:lnSpc>
              <a:spcBef>
                <a:spcPct val="0"/>
              </a:spcBef>
              <a:buNone/>
            </a:pPr>
            <a:r>
              <a:rPr lang="en-US" altLang="zh-CN" sz="2000" dirty="0">
                <a:ea typeface="宋体" panose="02010600030101010101" pitchFamily="2" charset="-122"/>
              </a:rPr>
              <a:t>			x = br.readLine();</a:t>
            </a:r>
            <a:endParaRPr lang="zh-CN" altLang="en-US" sz="2000" dirty="0">
              <a:ea typeface="宋体" panose="02010600030101010101" pitchFamily="2" charset="-122"/>
            </a:endParaRPr>
          </a:p>
          <a:p>
            <a:pPr marL="0" lvl="0" indent="0">
              <a:lnSpc>
                <a:spcPct val="100000"/>
              </a:lnSpc>
              <a:spcBef>
                <a:spcPct val="0"/>
              </a:spcBef>
              <a:buNone/>
            </a:pPr>
            <a:r>
              <a:rPr lang="en-US" altLang="zh-CN" sz="2000" dirty="0">
                <a:ea typeface="宋体" panose="02010600030101010101" pitchFamily="2" charset="-122"/>
              </a:rPr>
              <a:t>			//</a:t>
            </a:r>
            <a:r>
              <a:rPr lang="zh-CN" altLang="en-US" sz="2000" dirty="0">
                <a:ea typeface="宋体" panose="02010600030101010101" pitchFamily="2" charset="-122"/>
              </a:rPr>
              <a:t>从键盘上读取一行字符串，赋给</a:t>
            </a:r>
            <a:r>
              <a:rPr lang="en-US" altLang="zh-CN" sz="2000" dirty="0">
                <a:ea typeface="宋体" panose="02010600030101010101" pitchFamily="2" charset="-122"/>
              </a:rPr>
              <a:t>y</a:t>
            </a:r>
            <a:endParaRPr lang="zh-CN" altLang="en-US" sz="2000" dirty="0">
              <a:ea typeface="宋体" panose="02010600030101010101" pitchFamily="2" charset="-122"/>
            </a:endParaRPr>
          </a:p>
          <a:p>
            <a:pPr marL="0" lvl="0" indent="0">
              <a:lnSpc>
                <a:spcPct val="100000"/>
              </a:lnSpc>
              <a:spcBef>
                <a:spcPct val="0"/>
              </a:spcBef>
              <a:buNone/>
            </a:pPr>
            <a:r>
              <a:rPr lang="en-US" altLang="zh-CN" sz="2000" dirty="0">
                <a:ea typeface="宋体" panose="02010600030101010101" pitchFamily="2" charset="-122"/>
              </a:rPr>
              <a:t>			y = br.readLine();</a:t>
            </a:r>
            <a:endParaRPr lang="zh-CN" altLang="en-US" sz="2000" dirty="0">
              <a:ea typeface="宋体" panose="02010600030101010101" pitchFamily="2" charset="-122"/>
            </a:endParaRPr>
          </a:p>
          <a:p>
            <a:pPr marL="0" lvl="0" indent="0">
              <a:lnSpc>
                <a:spcPct val="100000"/>
              </a:lnSpc>
              <a:spcBef>
                <a:spcPct val="0"/>
              </a:spcBef>
              <a:buNone/>
            </a:pPr>
            <a:r>
              <a:rPr lang="en-US" altLang="zh-CN" sz="2000" dirty="0">
                <a:ea typeface="宋体" panose="02010600030101010101" pitchFamily="2" charset="-122"/>
              </a:rPr>
              <a:t>		}</a:t>
            </a:r>
            <a:endParaRPr lang="zh-CN" altLang="en-US" sz="2000" b="1" dirty="0">
              <a:latin typeface="Times New Roman" panose="02020603050405020304" pitchFamily="18" charset="0"/>
              <a:ea typeface="宋体" panose="02010600030101010101" pitchFamily="2" charset="-122"/>
            </a:endParaRPr>
          </a:p>
        </p:txBody>
      </p:sp>
      <p:sp>
        <p:nvSpPr>
          <p:cNvPr id="81923" name="标题 1"/>
          <p:cNvSpPr txBox="1"/>
          <p:nvPr/>
        </p:nvSpPr>
        <p:spPr>
          <a:xfrm>
            <a:off x="1571625" y="82550"/>
            <a:ext cx="6858000" cy="1143000"/>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en-US" altLang="zh-CN" sz="4400" b="1" dirty="0">
                <a:solidFill>
                  <a:srgbClr val="2E75B6"/>
                </a:solidFill>
                <a:latin typeface="Calibri Light" panose="020F0302020204030204" pitchFamily="34" charset="0"/>
                <a:ea typeface="等线 Light" panose="02010600030101010101" charset="-122"/>
              </a:rPr>
              <a:t> </a:t>
            </a:r>
            <a:r>
              <a:rPr lang="zh-CN" altLang="en-US" sz="3600" b="1" dirty="0">
                <a:solidFill>
                  <a:srgbClr val="FF0000"/>
                </a:solidFill>
                <a:latin typeface="Calibri Light" panose="020F0302020204030204" pitchFamily="34" charset="0"/>
                <a:ea typeface="等线 Light" panose="02010600030101010101" charset="-122"/>
              </a:rPr>
              <a:t>简单的人机交互</a:t>
            </a:r>
            <a:endParaRPr lang="zh-CN" altLang="en-US" sz="3600" b="1" dirty="0">
              <a:solidFill>
                <a:srgbClr val="FF0000"/>
              </a:solidFill>
              <a:latin typeface="Calibri Light" panose="020F0302020204030204" pitchFamily="34" charset="0"/>
              <a:ea typeface="等线 Light" panose="02010600030101010101" charset="-122"/>
            </a:endParaRPr>
          </a:p>
        </p:txBody>
      </p:sp>
      <p:sp>
        <p:nvSpPr>
          <p:cNvPr id="81924"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内容占位符 3"/>
          <p:cNvGraphicFramePr>
            <a:graphicFrameLocks noGrp="1"/>
          </p:cNvGraphicFramePr>
          <p:nvPr>
            <p:ph idx="4294967295"/>
          </p:nvPr>
        </p:nvGraphicFramePr>
        <p:xfrm>
          <a:off x="896938" y="1128713"/>
          <a:ext cx="7685088" cy="4968875"/>
        </p:xfrm>
        <a:graphic>
          <a:graphicData uri="http://schemas.openxmlformats.org/drawingml/2006/table">
            <a:tbl>
              <a:tblPr firstRow="1" bandRow="1">
                <a:tableStyleId>{5C22544A-7EE6-4342-B048-85BDC9FD1C3A}</a:tableStyleId>
              </a:tblPr>
              <a:tblGrid>
                <a:gridCol w="7685087"/>
              </a:tblGrid>
              <a:tr h="4968875">
                <a:tc>
                  <a:txBody>
                    <a:bodyPr/>
                    <a:lstStyle/>
                    <a:p>
                      <a:r>
                        <a:rPr lang="en-US" sz="2000" dirty="0"/>
                        <a:t>}</a:t>
                      </a:r>
                      <a:r>
                        <a:rPr lang="en-US" sz="2000" b="0" dirty="0">
                          <a:solidFill>
                            <a:schemeClr val="tx1"/>
                          </a:solidFill>
                        </a:rPr>
                        <a:t>catch(</a:t>
                      </a:r>
                      <a:r>
                        <a:rPr lang="en-US" sz="2000" b="0" dirty="0" err="1">
                          <a:solidFill>
                            <a:schemeClr val="tx1"/>
                          </a:solidFill>
                        </a:rPr>
                        <a:t>IOException</a:t>
                      </a:r>
                      <a:r>
                        <a:rPr lang="en-US" sz="2000" b="0" dirty="0">
                          <a:solidFill>
                            <a:schemeClr val="tx1"/>
                          </a:solidFill>
                        </a:rPr>
                        <a:t> </a:t>
                      </a:r>
                      <a:r>
                        <a:rPr lang="en-US" sz="2000" b="0" dirty="0" err="1">
                          <a:solidFill>
                            <a:schemeClr val="tx1"/>
                          </a:solidFill>
                        </a:rPr>
                        <a:t>ioe</a:t>
                      </a:r>
                      <a:r>
                        <a:rPr lang="en-US" sz="2000" b="0" dirty="0">
                          <a:solidFill>
                            <a:schemeClr val="tx1"/>
                          </a:solidFill>
                        </a:rPr>
                        <a:t>){ }</a:t>
                      </a:r>
                      <a:endParaRPr lang="zh-CN" altLang="en-US" sz="2000" b="0" dirty="0">
                        <a:solidFill>
                          <a:schemeClr val="tx1"/>
                        </a:solidFill>
                      </a:endParaRPr>
                    </a:p>
                    <a:p>
                      <a:r>
                        <a:rPr lang="en-US" sz="2000" b="0" dirty="0">
                          <a:solidFill>
                            <a:schemeClr val="tx1"/>
                          </a:solidFill>
                        </a:rPr>
                        <a:t>	//</a:t>
                      </a:r>
                      <a:r>
                        <a:rPr lang="zh-CN" altLang="en-US" sz="2000" b="0" dirty="0">
                          <a:solidFill>
                            <a:schemeClr val="tx1"/>
                          </a:solidFill>
                        </a:rPr>
                        <a:t>将字符串</a:t>
                      </a:r>
                      <a:r>
                        <a:rPr lang="en-US" sz="2000" b="0" dirty="0" err="1">
                          <a:solidFill>
                            <a:schemeClr val="tx1"/>
                          </a:solidFill>
                        </a:rPr>
                        <a:t>x,y</a:t>
                      </a:r>
                      <a:r>
                        <a:rPr lang="zh-CN" altLang="en-US" sz="2000" b="0" dirty="0">
                          <a:solidFill>
                            <a:schemeClr val="tx1"/>
                          </a:solidFill>
                        </a:rPr>
                        <a:t>分别赋给</a:t>
                      </a:r>
                      <a:r>
                        <a:rPr lang="en-US" sz="2000" b="0" dirty="0" err="1">
                          <a:solidFill>
                            <a:schemeClr val="tx1"/>
                          </a:solidFill>
                        </a:rPr>
                        <a:t>width,length</a:t>
                      </a:r>
                      <a:endParaRPr lang="zh-CN" altLang="en-US" sz="2000" b="0" dirty="0">
                        <a:solidFill>
                          <a:schemeClr val="tx1"/>
                        </a:solidFill>
                      </a:endParaRPr>
                    </a:p>
                    <a:p>
                      <a:r>
                        <a:rPr lang="en-US" sz="2000" b="0" dirty="0">
                          <a:solidFill>
                            <a:schemeClr val="tx1"/>
                          </a:solidFill>
                        </a:rPr>
                        <a:t>	width = </a:t>
                      </a:r>
                      <a:r>
                        <a:rPr lang="en-US" sz="2000" b="0" dirty="0" err="1">
                          <a:solidFill>
                            <a:schemeClr val="tx1"/>
                          </a:solidFill>
                        </a:rPr>
                        <a:t>Integer.</a:t>
                      </a:r>
                      <a:r>
                        <a:rPr lang="en-US" sz="2000" b="0" i="1" dirty="0" err="1">
                          <a:solidFill>
                            <a:schemeClr val="tx1"/>
                          </a:solidFill>
                        </a:rPr>
                        <a:t>parseInt</a:t>
                      </a:r>
                      <a:r>
                        <a:rPr lang="en-US" sz="2000" b="0" dirty="0">
                          <a:solidFill>
                            <a:schemeClr val="tx1"/>
                          </a:solidFill>
                        </a:rPr>
                        <a:t>(x);</a:t>
                      </a:r>
                      <a:endParaRPr lang="zh-CN" altLang="en-US" sz="2000" b="0" dirty="0">
                        <a:solidFill>
                          <a:schemeClr val="tx1"/>
                        </a:solidFill>
                      </a:endParaRPr>
                    </a:p>
                    <a:p>
                      <a:r>
                        <a:rPr lang="en-US" sz="2000" b="0" dirty="0">
                          <a:solidFill>
                            <a:schemeClr val="tx1"/>
                          </a:solidFill>
                        </a:rPr>
                        <a:t>	length = </a:t>
                      </a:r>
                      <a:r>
                        <a:rPr lang="en-US" sz="2000" b="0" dirty="0" err="1">
                          <a:solidFill>
                            <a:schemeClr val="tx1"/>
                          </a:solidFill>
                        </a:rPr>
                        <a:t>Integer.</a:t>
                      </a:r>
                      <a:r>
                        <a:rPr lang="en-US" sz="2000" b="0" i="1" dirty="0" err="1">
                          <a:solidFill>
                            <a:schemeClr val="tx1"/>
                          </a:solidFill>
                        </a:rPr>
                        <a:t>parseInt</a:t>
                      </a:r>
                      <a:r>
                        <a:rPr lang="en-US" sz="2000" b="0" dirty="0">
                          <a:solidFill>
                            <a:schemeClr val="tx1"/>
                          </a:solidFill>
                        </a:rPr>
                        <a:t>(y);</a:t>
                      </a:r>
                      <a:endParaRPr lang="zh-CN" altLang="en-US" sz="2000" b="0" dirty="0">
                        <a:solidFill>
                          <a:schemeClr val="tx1"/>
                        </a:solidFill>
                      </a:endParaRPr>
                    </a:p>
                    <a:p>
                      <a:r>
                        <a:rPr lang="en-US" sz="2000" b="0" dirty="0">
                          <a:solidFill>
                            <a:schemeClr val="tx1"/>
                          </a:solidFill>
                        </a:rPr>
                        <a:t>	area = </a:t>
                      </a:r>
                      <a:r>
                        <a:rPr lang="en-US" sz="2000" b="0" i="1" dirty="0" err="1">
                          <a:solidFill>
                            <a:schemeClr val="tx1"/>
                          </a:solidFill>
                        </a:rPr>
                        <a:t>getArea</a:t>
                      </a:r>
                      <a:r>
                        <a:rPr lang="en-US" sz="2000" b="0" dirty="0">
                          <a:solidFill>
                            <a:schemeClr val="tx1"/>
                          </a:solidFill>
                        </a:rPr>
                        <a:t>(</a:t>
                      </a:r>
                      <a:r>
                        <a:rPr lang="en-US" sz="2000" b="0" dirty="0" err="1">
                          <a:solidFill>
                            <a:schemeClr val="tx1"/>
                          </a:solidFill>
                        </a:rPr>
                        <a:t>width,length</a:t>
                      </a:r>
                      <a:r>
                        <a:rPr lang="en-US" sz="2000" b="0" dirty="0">
                          <a:solidFill>
                            <a:schemeClr val="tx1"/>
                          </a:solidFill>
                        </a:rPr>
                        <a:t>);</a:t>
                      </a:r>
                      <a:endParaRPr lang="zh-CN" altLang="en-US" sz="2000" b="0" dirty="0">
                        <a:solidFill>
                          <a:schemeClr val="tx1"/>
                        </a:solidFill>
                      </a:endParaRPr>
                    </a:p>
                    <a:p>
                      <a:r>
                        <a:rPr lang="en-US" sz="2000" b="0" dirty="0">
                          <a:solidFill>
                            <a:schemeClr val="tx1"/>
                          </a:solidFill>
                        </a:rPr>
                        <a:t>	</a:t>
                      </a:r>
                      <a:r>
                        <a:rPr lang="en-US" sz="2000" b="0" dirty="0" err="1">
                          <a:solidFill>
                            <a:schemeClr val="tx1"/>
                          </a:solidFill>
                        </a:rPr>
                        <a:t>System.</a:t>
                      </a:r>
                      <a:r>
                        <a:rPr lang="en-US" sz="2000" b="0" i="1" dirty="0" err="1">
                          <a:solidFill>
                            <a:schemeClr val="tx1"/>
                          </a:solidFill>
                        </a:rPr>
                        <a:t>out</a:t>
                      </a:r>
                      <a:r>
                        <a:rPr lang="en-US" sz="2000" b="0" dirty="0" err="1">
                          <a:solidFill>
                            <a:schemeClr val="tx1"/>
                          </a:solidFill>
                        </a:rPr>
                        <a:t>.println</a:t>
                      </a:r>
                      <a:r>
                        <a:rPr lang="en-US" sz="2000" b="0" dirty="0">
                          <a:solidFill>
                            <a:schemeClr val="tx1"/>
                          </a:solidFill>
                        </a:rPr>
                        <a:t>("</a:t>
                      </a:r>
                      <a:r>
                        <a:rPr lang="zh-CN" altLang="en-US" sz="2000" b="0" dirty="0">
                          <a:solidFill>
                            <a:schemeClr val="tx1"/>
                          </a:solidFill>
                        </a:rPr>
                        <a:t>矩形的长为：</a:t>
                      </a:r>
                      <a:r>
                        <a:rPr lang="en-US" sz="2000" b="0" dirty="0">
                          <a:solidFill>
                            <a:schemeClr val="tx1"/>
                          </a:solidFill>
                        </a:rPr>
                        <a:t>" + length + "</a:t>
                      </a:r>
                      <a:r>
                        <a:rPr lang="zh-CN" altLang="en-US" sz="2000" b="0" dirty="0">
                          <a:solidFill>
                            <a:schemeClr val="tx1"/>
                          </a:solidFill>
                        </a:rPr>
                        <a:t>，宽为：</a:t>
                      </a:r>
                      <a:r>
                        <a:rPr lang="en-US" sz="2000" b="0" dirty="0">
                          <a:solidFill>
                            <a:schemeClr val="tx1"/>
                          </a:solidFill>
                        </a:rPr>
                        <a:t>" + width + "</a:t>
                      </a:r>
                      <a:r>
                        <a:rPr lang="zh-CN" altLang="en-US" sz="2000" b="0" dirty="0">
                          <a:solidFill>
                            <a:schemeClr val="tx1"/>
                          </a:solidFill>
                        </a:rPr>
                        <a:t>，面积为：</a:t>
                      </a:r>
                      <a:r>
                        <a:rPr lang="en-US" sz="2000" b="0" dirty="0">
                          <a:solidFill>
                            <a:schemeClr val="tx1"/>
                          </a:solidFill>
                        </a:rPr>
                        <a:t>" + area);</a:t>
                      </a:r>
                      <a:endParaRPr lang="zh-CN" altLang="en-US" sz="2000" b="0" dirty="0">
                        <a:solidFill>
                          <a:schemeClr val="tx1"/>
                        </a:solidFill>
                      </a:endParaRPr>
                    </a:p>
                    <a:p>
                      <a:r>
                        <a:rPr lang="en-US" sz="2000" b="0" dirty="0">
                          <a:solidFill>
                            <a:schemeClr val="tx1"/>
                          </a:solidFill>
                        </a:rPr>
                        <a:t>	}</a:t>
                      </a:r>
                      <a:endParaRPr lang="zh-CN" altLang="en-US" sz="2000" b="0" dirty="0">
                        <a:solidFill>
                          <a:schemeClr val="tx1"/>
                        </a:solidFill>
                      </a:endParaRPr>
                    </a:p>
                    <a:p>
                      <a:r>
                        <a:rPr lang="en-US" sz="2000" b="0" dirty="0">
                          <a:solidFill>
                            <a:schemeClr val="tx1"/>
                          </a:solidFill>
                        </a:rPr>
                        <a:t>	//</a:t>
                      </a:r>
                      <a:r>
                        <a:rPr lang="zh-CN" altLang="en-US" sz="2000" b="0" dirty="0">
                          <a:solidFill>
                            <a:schemeClr val="tx1"/>
                          </a:solidFill>
                        </a:rPr>
                        <a:t>定义类方法，求矩形的面积</a:t>
                      </a:r>
                      <a:endParaRPr lang="zh-CN" altLang="en-US" sz="2000" b="0" dirty="0">
                        <a:solidFill>
                          <a:schemeClr val="tx1"/>
                        </a:solidFill>
                      </a:endParaRPr>
                    </a:p>
                    <a:p>
                      <a:r>
                        <a:rPr lang="en-US" sz="2000" b="0" dirty="0">
                          <a:solidFill>
                            <a:schemeClr val="tx1"/>
                          </a:solidFill>
                        </a:rPr>
                        <a:t>	static </a:t>
                      </a:r>
                      <a:r>
                        <a:rPr lang="en-US" sz="2000" b="0" dirty="0" err="1">
                          <a:solidFill>
                            <a:schemeClr val="tx1"/>
                          </a:solidFill>
                        </a:rPr>
                        <a:t>int</a:t>
                      </a:r>
                      <a:r>
                        <a:rPr lang="en-US" sz="2000" b="0" dirty="0">
                          <a:solidFill>
                            <a:schemeClr val="tx1"/>
                          </a:solidFill>
                        </a:rPr>
                        <a:t> </a:t>
                      </a:r>
                      <a:r>
                        <a:rPr lang="en-US" sz="2000" b="0" dirty="0" err="1">
                          <a:solidFill>
                            <a:schemeClr val="tx1"/>
                          </a:solidFill>
                        </a:rPr>
                        <a:t>getArea</a:t>
                      </a:r>
                      <a:r>
                        <a:rPr lang="en-US" sz="2000" b="0" dirty="0">
                          <a:solidFill>
                            <a:schemeClr val="tx1"/>
                          </a:solidFill>
                        </a:rPr>
                        <a:t>(</a:t>
                      </a:r>
                      <a:r>
                        <a:rPr lang="en-US" sz="2000" b="0" dirty="0" err="1">
                          <a:solidFill>
                            <a:schemeClr val="tx1"/>
                          </a:solidFill>
                        </a:rPr>
                        <a:t>int</a:t>
                      </a:r>
                      <a:r>
                        <a:rPr lang="en-US" sz="2000" b="0" dirty="0">
                          <a:solidFill>
                            <a:schemeClr val="tx1"/>
                          </a:solidFill>
                        </a:rPr>
                        <a:t> </a:t>
                      </a:r>
                      <a:r>
                        <a:rPr lang="en-US" sz="2000" b="0" dirty="0" err="1">
                          <a:solidFill>
                            <a:schemeClr val="tx1"/>
                          </a:solidFill>
                        </a:rPr>
                        <a:t>x,int</a:t>
                      </a:r>
                      <a:r>
                        <a:rPr lang="en-US" sz="2000" b="0" dirty="0">
                          <a:solidFill>
                            <a:schemeClr val="tx1"/>
                          </a:solidFill>
                        </a:rPr>
                        <a:t> y)</a:t>
                      </a:r>
                      <a:endParaRPr lang="zh-CN" altLang="en-US" sz="2000" b="0" dirty="0">
                        <a:solidFill>
                          <a:schemeClr val="tx1"/>
                        </a:solidFill>
                      </a:endParaRPr>
                    </a:p>
                    <a:p>
                      <a:r>
                        <a:rPr lang="en-US" sz="2000" b="0" dirty="0">
                          <a:solidFill>
                            <a:schemeClr val="tx1"/>
                          </a:solidFill>
                        </a:rPr>
                        <a:t>	{</a:t>
                      </a:r>
                      <a:endParaRPr lang="zh-CN" altLang="en-US" sz="2000" b="0" dirty="0">
                        <a:solidFill>
                          <a:schemeClr val="tx1"/>
                        </a:solidFill>
                      </a:endParaRPr>
                    </a:p>
                    <a:p>
                      <a:r>
                        <a:rPr lang="en-US" sz="2000" b="0" dirty="0">
                          <a:solidFill>
                            <a:schemeClr val="tx1"/>
                          </a:solidFill>
                        </a:rPr>
                        <a:t>		return x * y;</a:t>
                      </a:r>
                      <a:endParaRPr lang="zh-CN" altLang="en-US" sz="2000" b="0" dirty="0">
                        <a:solidFill>
                          <a:schemeClr val="tx1"/>
                        </a:solidFill>
                      </a:endParaRPr>
                    </a:p>
                    <a:p>
                      <a:r>
                        <a:rPr lang="en-US" sz="2000" b="0" dirty="0">
                          <a:solidFill>
                            <a:schemeClr val="tx1"/>
                          </a:solidFill>
                        </a:rPr>
                        <a:t>	}</a:t>
                      </a:r>
                      <a:endParaRPr lang="zh-CN" altLang="en-US" sz="2000" b="0" dirty="0">
                        <a:solidFill>
                          <a:schemeClr val="tx1"/>
                        </a:solidFill>
                      </a:endParaRPr>
                    </a:p>
                    <a:p>
                      <a:r>
                        <a:rPr lang="en-US" sz="2000" b="0" dirty="0">
                          <a:solidFill>
                            <a:schemeClr val="tx1"/>
                          </a:solidFill>
                        </a:rPr>
                        <a:t>}</a:t>
                      </a:r>
                      <a:endParaRPr kumimoji="1" lang="zh-CN" altLang="en-US" sz="2000" b="0" dirty="0">
                        <a:solidFill>
                          <a:schemeClr val="tx1"/>
                        </a:solidFill>
                        <a:latin typeface="Times New Roman" panose="02020603050405020304" pitchFamily="18" charset="0"/>
                      </a:endParaRPr>
                    </a:p>
                    <a:p>
                      <a:endParaRPr lang="zh-CN" altLang="en-US" sz="2000" dirty="0"/>
                    </a:p>
                  </a:txBody>
                  <a:tcPr marL="91443" marR="91443" marT="45726" marB="45726">
                    <a:solidFill>
                      <a:schemeClr val="bg1"/>
                    </a:solidFill>
                  </a:tcPr>
                </a:tc>
              </a:tr>
            </a:tbl>
          </a:graphicData>
        </a:graphic>
      </p:graphicFrame>
      <p:sp>
        <p:nvSpPr>
          <p:cNvPr id="82952" name="标题 1"/>
          <p:cNvSpPr txBox="1"/>
          <p:nvPr/>
        </p:nvSpPr>
        <p:spPr>
          <a:xfrm>
            <a:off x="1798638" y="149225"/>
            <a:ext cx="6858000" cy="1143000"/>
          </a:xfrm>
          <a:prstGeom prst="rect">
            <a:avLst/>
          </a:prstGeom>
          <a:noFill/>
          <a:ln w="9525">
            <a:noFill/>
          </a:ln>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nSpc>
                <a:spcPct val="100000"/>
              </a:lnSpc>
              <a:spcBef>
                <a:spcPct val="0"/>
              </a:spcBef>
              <a:buNone/>
            </a:pPr>
            <a:r>
              <a:rPr lang="en-US" altLang="zh-CN" sz="4400" b="1" dirty="0">
                <a:solidFill>
                  <a:srgbClr val="2E75B6"/>
                </a:solidFill>
                <a:latin typeface="Calibri Light" panose="020F0302020204030204" pitchFamily="34" charset="0"/>
                <a:ea typeface="等线 Light" panose="02010600030101010101" charset="-122"/>
              </a:rPr>
              <a:t> </a:t>
            </a:r>
            <a:r>
              <a:rPr lang="zh-CN" altLang="en-US" sz="4000" b="1" dirty="0">
                <a:solidFill>
                  <a:srgbClr val="FF0000"/>
                </a:solidFill>
                <a:latin typeface="Calibri Light" panose="020F0302020204030204" pitchFamily="34" charset="0"/>
                <a:ea typeface="等线 Light" panose="02010600030101010101" charset="-122"/>
              </a:rPr>
              <a:t>简单的人机交互</a:t>
            </a:r>
            <a:endParaRPr lang="zh-CN" altLang="en-US" sz="4000" b="1" dirty="0">
              <a:solidFill>
                <a:srgbClr val="FF0000"/>
              </a:solidFill>
              <a:latin typeface="Calibri Light" panose="020F0302020204030204" pitchFamily="34" charset="0"/>
              <a:ea typeface="等线 Light" panose="02010600030101010101" charset="-122"/>
            </a:endParaRPr>
          </a:p>
        </p:txBody>
      </p:sp>
      <p:sp>
        <p:nvSpPr>
          <p:cNvPr id="82953"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b="1" dirty="0">
                <a:solidFill>
                  <a:srgbClr val="FF0000"/>
                </a:solidFill>
                <a:latin typeface="Arial" panose="020B0604020202020204" pitchFamily="34" charset="0"/>
                <a:ea typeface="宋体" panose="02010600030101010101" pitchFamily="2" charset="-122"/>
              </a:rPr>
            </a:fld>
            <a:endParaRPr lang="zh-CN" altLang="en-US" sz="1200" b="1" dirty="0">
              <a:solidFill>
                <a:srgbClr val="FF0000"/>
              </a:solidFill>
              <a:latin typeface="Arial" panose="020B0604020202020204" pitchFamily="34" charset="0"/>
              <a:ea typeface="宋体" panose="02010600030101010101" pitchFamily="2"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内容占位符 1"/>
          <p:cNvSpPr>
            <a:spLocks noGrp="1"/>
          </p:cNvSpPr>
          <p:nvPr>
            <p:ph idx="1"/>
          </p:nvPr>
        </p:nvSpPr>
        <p:spPr>
          <a:xfrm>
            <a:off x="2551113" y="1257300"/>
            <a:ext cx="5959475" cy="4125913"/>
          </a:xfrm>
        </p:spPr>
        <p:txBody>
          <a:bodyPr vert="horz" wrap="square" lIns="91440" tIns="45720" rIns="91440" bIns="45720" numCol="1" rtlCol="0" anchor="t" anchorCtr="0" compatLnSpc="1">
            <a:normAutofit/>
          </a:bodyPr>
          <a:lstStyle/>
          <a:p>
            <a:pPr marL="0" marR="0" lvl="0" indent="0" algn="l" defTabSz="914400" rtl="0" eaLnBrk="1" fontAlgn="auto" latinLnBrk="0" hangingPunct="1">
              <a:lnSpc>
                <a:spcPct val="150000"/>
              </a:lnSpc>
              <a:spcBef>
                <a:spcPts val="1000"/>
              </a:spcBef>
              <a:spcAft>
                <a:spcPts val="0"/>
              </a:spcAft>
              <a:buClrTx/>
              <a:buSzTx/>
              <a:buFontTx/>
              <a:buNone/>
              <a:defRPr/>
            </a:pPr>
            <a:r>
              <a:rPr kumimoji="0" lang="zh-CN" altLang="en-US" sz="2000" b="0" i="0" u="none" strike="noStrike" kern="1200" cap="none" spc="0" normalizeH="0" baseline="0" noProof="0">
                <a:ln>
                  <a:noFill/>
                </a:ln>
                <a:solidFill>
                  <a:schemeClr val="tx1"/>
                </a:solidFill>
                <a:effectLst/>
                <a:uLnTx/>
                <a:uFillTx/>
                <a:latin typeface="+mn-lt"/>
                <a:ea typeface="+mn-ea"/>
                <a:cs typeface="+mn-cs"/>
              </a:rPr>
              <a:t>    </a:t>
            </a:r>
            <a:r>
              <a:rPr kumimoji="0" lang="zh-CN" altLang="en-US" sz="1900" b="0" i="0" u="none" strike="noStrike" kern="1200" cap="none" spc="0" normalizeH="0" baseline="0" noProof="0">
                <a:ln>
                  <a:noFill/>
                </a:ln>
                <a:solidFill>
                  <a:schemeClr val="tx1"/>
                </a:solidFill>
                <a:effectLst/>
                <a:uLnTx/>
                <a:uFillTx/>
                <a:latin typeface="+mn-lt"/>
                <a:ea typeface="+mn-ea"/>
                <a:cs typeface="+mn-cs"/>
              </a:rPr>
              <a:t>  本章主要介绍了学习</a:t>
            </a:r>
            <a:r>
              <a:rPr kumimoji="0" lang="en-US" altLang="zh-CN" sz="1900" b="0" i="0" u="none" strike="noStrike" kern="1200" cap="none" spc="0" normalizeH="0" baseline="0" noProof="0">
                <a:ln>
                  <a:noFill/>
                </a:ln>
                <a:solidFill>
                  <a:schemeClr val="tx1"/>
                </a:solidFill>
                <a:effectLst/>
                <a:uLnTx/>
                <a:uFillTx/>
                <a:latin typeface="+mn-lt"/>
                <a:ea typeface="+mn-ea"/>
                <a:cs typeface="+mn-cs"/>
              </a:rPr>
              <a:t>Java</a:t>
            </a:r>
            <a:r>
              <a:rPr kumimoji="0" lang="zh-CN" altLang="en-US" sz="1900" b="0" i="0" u="none" strike="noStrike" kern="1200" cap="none" spc="0" normalizeH="0" baseline="0" noProof="0">
                <a:ln>
                  <a:noFill/>
                </a:ln>
                <a:solidFill>
                  <a:schemeClr val="tx1"/>
                </a:solidFill>
                <a:effectLst/>
                <a:uLnTx/>
                <a:uFillTx/>
                <a:latin typeface="+mn-lt"/>
                <a:ea typeface="+mn-ea"/>
                <a:cs typeface="+mn-cs"/>
              </a:rPr>
              <a:t>所需的基础知识。首先介绍了</a:t>
            </a:r>
            <a:r>
              <a:rPr kumimoji="0" lang="en-US" altLang="zh-CN" sz="1900" b="0" i="0" u="none" strike="noStrike" kern="1200" cap="none" spc="0" normalizeH="0" baseline="0" noProof="0">
                <a:ln>
                  <a:noFill/>
                </a:ln>
                <a:solidFill>
                  <a:srgbClr val="00B0F0"/>
                </a:solidFill>
                <a:effectLst/>
                <a:uLnTx/>
                <a:uFillTx/>
                <a:latin typeface="+mn-lt"/>
                <a:ea typeface="+mn-ea"/>
                <a:cs typeface="+mn-cs"/>
              </a:rPr>
              <a:t>Java</a:t>
            </a:r>
            <a:r>
              <a:rPr kumimoji="0" lang="zh-CN" altLang="en-US" sz="1900" b="0" i="0" u="none" strike="noStrike" kern="1200" cap="none" spc="0" normalizeH="0" baseline="0" noProof="0">
                <a:ln>
                  <a:noFill/>
                </a:ln>
                <a:solidFill>
                  <a:srgbClr val="00B0F0"/>
                </a:solidFill>
                <a:effectLst/>
                <a:uLnTx/>
                <a:uFillTx/>
                <a:latin typeface="+mn-lt"/>
                <a:ea typeface="+mn-ea"/>
                <a:cs typeface="+mn-cs"/>
              </a:rPr>
              <a:t>语言的基本语法、常量、变量的定义</a:t>
            </a:r>
            <a:r>
              <a:rPr kumimoji="0" lang="zh-CN" altLang="en-US" sz="1900" b="0" i="0" u="none" strike="noStrike" kern="1200" cap="none" spc="0" normalizeH="0" baseline="0" noProof="0">
                <a:ln>
                  <a:noFill/>
                </a:ln>
                <a:solidFill>
                  <a:schemeClr val="tx1"/>
                </a:solidFill>
                <a:effectLst/>
                <a:uLnTx/>
                <a:uFillTx/>
                <a:latin typeface="+mn-lt"/>
                <a:ea typeface="+mn-ea"/>
                <a:cs typeface="+mn-cs"/>
              </a:rPr>
              <a:t>以及一些</a:t>
            </a:r>
            <a:r>
              <a:rPr kumimoji="0" lang="zh-CN" altLang="en-US" sz="1900" b="0" i="0" u="none" strike="noStrike" kern="1200" cap="none" spc="0" normalizeH="0" baseline="0" noProof="0">
                <a:ln>
                  <a:noFill/>
                </a:ln>
                <a:solidFill>
                  <a:srgbClr val="00B0F0"/>
                </a:solidFill>
                <a:effectLst/>
                <a:uLnTx/>
                <a:uFillTx/>
                <a:latin typeface="+mn-lt"/>
                <a:ea typeface="+mn-ea"/>
                <a:cs typeface="+mn-cs"/>
              </a:rPr>
              <a:t>常见运算符</a:t>
            </a:r>
            <a:r>
              <a:rPr kumimoji="0" lang="zh-CN" altLang="en-US" sz="1900" b="0" i="0" u="none" strike="noStrike" kern="1200" cap="none" spc="0" normalizeH="0" baseline="0" noProof="0">
                <a:ln>
                  <a:noFill/>
                </a:ln>
                <a:solidFill>
                  <a:schemeClr val="tx1"/>
                </a:solidFill>
                <a:effectLst/>
                <a:uLnTx/>
                <a:uFillTx/>
                <a:latin typeface="+mn-lt"/>
                <a:ea typeface="+mn-ea"/>
                <a:cs typeface="+mn-cs"/>
              </a:rPr>
              <a:t>的使用，然后介绍了</a:t>
            </a:r>
            <a:r>
              <a:rPr kumimoji="0" lang="zh-CN" altLang="en-US" sz="1900" b="0" i="0" u="none" strike="noStrike" kern="1200" cap="none" spc="0" normalizeH="0" baseline="0" noProof="0">
                <a:ln>
                  <a:noFill/>
                </a:ln>
                <a:solidFill>
                  <a:srgbClr val="00B0F0"/>
                </a:solidFill>
                <a:effectLst/>
                <a:uLnTx/>
                <a:uFillTx/>
                <a:latin typeface="+mn-lt"/>
                <a:ea typeface="+mn-ea"/>
                <a:cs typeface="+mn-cs"/>
              </a:rPr>
              <a:t>条件选择结构语句</a:t>
            </a:r>
            <a:r>
              <a:rPr kumimoji="0" lang="zh-CN" altLang="en-US" sz="1900" b="0" i="0" u="none" strike="noStrike" kern="1200" cap="none" spc="0" normalizeH="0" baseline="0" noProof="0">
                <a:ln>
                  <a:noFill/>
                </a:ln>
                <a:solidFill>
                  <a:schemeClr val="tx1"/>
                </a:solidFill>
                <a:effectLst/>
                <a:uLnTx/>
                <a:uFillTx/>
                <a:latin typeface="+mn-lt"/>
                <a:ea typeface="+mn-ea"/>
                <a:cs typeface="+mn-cs"/>
              </a:rPr>
              <a:t>和</a:t>
            </a:r>
            <a:r>
              <a:rPr kumimoji="0" lang="zh-CN" altLang="en-US" sz="1900" b="0" i="0" u="none" strike="noStrike" kern="1200" cap="none" spc="0" normalizeH="0" baseline="0" noProof="0">
                <a:ln>
                  <a:noFill/>
                </a:ln>
                <a:solidFill>
                  <a:srgbClr val="00B0F0"/>
                </a:solidFill>
                <a:effectLst/>
                <a:uLnTx/>
                <a:uFillTx/>
                <a:latin typeface="+mn-lt"/>
                <a:ea typeface="+mn-ea"/>
                <a:cs typeface="+mn-cs"/>
              </a:rPr>
              <a:t>循环结构语句</a:t>
            </a:r>
            <a:r>
              <a:rPr kumimoji="0" lang="zh-CN" altLang="en-US" sz="1900" b="0" i="0" u="none" strike="noStrike" kern="1200" cap="none" spc="0" normalizeH="0" baseline="0" noProof="0">
                <a:ln>
                  <a:noFill/>
                </a:ln>
                <a:solidFill>
                  <a:schemeClr val="tx1"/>
                </a:solidFill>
                <a:effectLst/>
                <a:uLnTx/>
                <a:uFillTx/>
                <a:latin typeface="+mn-lt"/>
                <a:ea typeface="+mn-ea"/>
                <a:cs typeface="+mn-cs"/>
              </a:rPr>
              <a:t>的概念和使用，最后介绍了</a:t>
            </a:r>
            <a:r>
              <a:rPr kumimoji="0" lang="zh-CN" altLang="en-US" sz="1900" b="0" i="0" u="none" strike="noStrike" kern="1200" cap="none" spc="0" normalizeH="0" baseline="0" noProof="0">
                <a:ln>
                  <a:noFill/>
                </a:ln>
                <a:solidFill>
                  <a:srgbClr val="00B0F0"/>
                </a:solidFill>
                <a:effectLst/>
                <a:uLnTx/>
                <a:uFillTx/>
                <a:latin typeface="+mn-lt"/>
                <a:ea typeface="+mn-ea"/>
                <a:cs typeface="+mn-cs"/>
              </a:rPr>
              <a:t>方法</a:t>
            </a:r>
            <a:r>
              <a:rPr kumimoji="0" lang="zh-CN" altLang="en-US" sz="1900" b="0" i="0" u="none" strike="noStrike" kern="1200" cap="none" spc="0" normalizeH="0" baseline="0" noProof="0">
                <a:ln>
                  <a:noFill/>
                </a:ln>
                <a:solidFill>
                  <a:schemeClr val="tx1"/>
                </a:solidFill>
                <a:effectLst/>
                <a:uLnTx/>
                <a:uFillTx/>
                <a:latin typeface="+mn-lt"/>
                <a:ea typeface="+mn-ea"/>
                <a:cs typeface="+mn-cs"/>
              </a:rPr>
              <a:t>的一些知识以及</a:t>
            </a:r>
            <a:r>
              <a:rPr kumimoji="0" lang="zh-CN" altLang="en-US" sz="1900" b="0" i="0" u="none" strike="noStrike" kern="1200" cap="none" spc="0" normalizeH="0" baseline="0" noProof="0">
                <a:ln>
                  <a:noFill/>
                </a:ln>
                <a:solidFill>
                  <a:srgbClr val="00B0F0"/>
                </a:solidFill>
                <a:effectLst/>
                <a:uLnTx/>
                <a:uFillTx/>
                <a:latin typeface="+mn-lt"/>
                <a:ea typeface="+mn-ea"/>
                <a:cs typeface="+mn-cs"/>
              </a:rPr>
              <a:t>数组</a:t>
            </a:r>
            <a:r>
              <a:rPr kumimoji="0" lang="zh-CN" altLang="en-US" sz="1900" b="0" i="0" u="none" strike="noStrike" kern="1200" cap="none" spc="0" normalizeH="0" baseline="0" noProof="0">
                <a:ln>
                  <a:noFill/>
                </a:ln>
                <a:solidFill>
                  <a:schemeClr val="tx1"/>
                </a:solidFill>
                <a:effectLst/>
                <a:uLnTx/>
                <a:uFillTx/>
                <a:latin typeface="+mn-lt"/>
                <a:ea typeface="+mn-ea"/>
                <a:cs typeface="+mn-cs"/>
              </a:rPr>
              <a:t>的相关操作。</a:t>
            </a:r>
            <a:endParaRPr kumimoji="0" lang="zh-CN" altLang="en-US" sz="1900" b="0" i="0" u="none" strike="noStrike" kern="1200" cap="none" spc="0" normalizeH="0" baseline="0" noProof="0">
              <a:ln>
                <a:noFill/>
              </a:ln>
              <a:solidFill>
                <a:schemeClr val="tx1"/>
              </a:solidFill>
              <a:effectLst/>
              <a:uLnTx/>
              <a:uFillTx/>
              <a:latin typeface="+mn-lt"/>
              <a:ea typeface="+mn-ea"/>
              <a:cs typeface="+mn-cs"/>
            </a:endParaRPr>
          </a:p>
          <a:p>
            <a:pPr marL="0" marR="0" lvl="0" indent="0" algn="l" defTabSz="914400" rtl="0" eaLnBrk="1" fontAlgn="auto" latinLnBrk="0" hangingPunct="1">
              <a:lnSpc>
                <a:spcPct val="150000"/>
              </a:lnSpc>
              <a:spcBef>
                <a:spcPts val="1000"/>
              </a:spcBef>
              <a:spcAft>
                <a:spcPts val="0"/>
              </a:spcAft>
              <a:buClrTx/>
              <a:buSzTx/>
              <a:buFontTx/>
              <a:buNone/>
              <a:defRPr/>
            </a:pPr>
            <a:r>
              <a:rPr kumimoji="0" lang="zh-CN" altLang="en-US" sz="1900" b="0" i="0" u="none" strike="noStrike" kern="1200" cap="none" spc="0" normalizeH="0" baseline="0" noProof="0">
                <a:ln>
                  <a:noFill/>
                </a:ln>
                <a:solidFill>
                  <a:schemeClr val="tx1"/>
                </a:solidFill>
                <a:effectLst/>
                <a:uLnTx/>
                <a:uFillTx/>
                <a:latin typeface="+mn-lt"/>
                <a:ea typeface="+mn-ea"/>
                <a:cs typeface="+mn-cs"/>
              </a:rPr>
              <a:t>       通过本章的学习，能够</a:t>
            </a:r>
            <a:r>
              <a:rPr kumimoji="0" lang="zh-CN" altLang="en-US" sz="1900" b="0" i="0" u="sng" strike="noStrike" kern="1200" cap="none" spc="0" normalizeH="0" baseline="0" noProof="0">
                <a:ln>
                  <a:noFill/>
                </a:ln>
                <a:solidFill>
                  <a:srgbClr val="00B0F0"/>
                </a:solidFill>
                <a:effectLst/>
                <a:uLnTx/>
                <a:uFillTx/>
                <a:latin typeface="+mn-lt"/>
                <a:ea typeface="+mn-ea"/>
                <a:cs typeface="+mn-cs"/>
              </a:rPr>
              <a:t>掌握</a:t>
            </a:r>
            <a:r>
              <a:rPr kumimoji="0" lang="en-US" altLang="zh-CN" sz="1900" b="0" i="0" u="sng" strike="noStrike" kern="1200" cap="none" spc="0" normalizeH="0" baseline="0" noProof="0">
                <a:ln>
                  <a:noFill/>
                </a:ln>
                <a:solidFill>
                  <a:srgbClr val="00B0F0"/>
                </a:solidFill>
                <a:effectLst/>
                <a:uLnTx/>
                <a:uFillTx/>
                <a:latin typeface="+mn-lt"/>
                <a:ea typeface="+mn-ea"/>
                <a:cs typeface="+mn-cs"/>
              </a:rPr>
              <a:t>Java</a:t>
            </a:r>
            <a:r>
              <a:rPr kumimoji="0" lang="zh-CN" altLang="en-US" sz="1900" b="0" i="0" u="sng" strike="noStrike" kern="1200" cap="none" spc="0" normalizeH="0" baseline="0" noProof="0">
                <a:ln>
                  <a:noFill/>
                </a:ln>
                <a:solidFill>
                  <a:srgbClr val="00B0F0"/>
                </a:solidFill>
                <a:effectLst/>
                <a:uLnTx/>
                <a:uFillTx/>
                <a:latin typeface="+mn-lt"/>
                <a:ea typeface="+mn-ea"/>
                <a:cs typeface="+mn-cs"/>
              </a:rPr>
              <a:t>程序的基本语法、格式，以及变量和运算符的使用</a:t>
            </a:r>
            <a:r>
              <a:rPr kumimoji="0" lang="zh-CN" altLang="en-US" sz="1900" b="0" i="0" u="none" strike="noStrike" kern="1200" cap="none" spc="0" normalizeH="0" baseline="0" noProof="0">
                <a:ln>
                  <a:noFill/>
                </a:ln>
                <a:solidFill>
                  <a:schemeClr val="tx1"/>
                </a:solidFill>
                <a:effectLst/>
                <a:uLnTx/>
                <a:uFillTx/>
                <a:latin typeface="+mn-lt"/>
                <a:ea typeface="+mn-ea"/>
                <a:cs typeface="+mn-cs"/>
              </a:rPr>
              <a:t>，能够</a:t>
            </a:r>
            <a:r>
              <a:rPr kumimoji="0" lang="zh-CN" altLang="en-US" sz="1900" b="0" i="0" u="sng" strike="noStrike" kern="1200" cap="none" spc="0" normalizeH="0" baseline="0" noProof="0">
                <a:ln>
                  <a:noFill/>
                </a:ln>
                <a:solidFill>
                  <a:srgbClr val="00B0F0"/>
                </a:solidFill>
                <a:effectLst/>
                <a:uLnTx/>
                <a:uFillTx/>
                <a:latin typeface="+mn-lt"/>
                <a:ea typeface="+mn-ea"/>
                <a:cs typeface="+mn-cs"/>
              </a:rPr>
              <a:t>掌握几种流程控制语句的使用</a:t>
            </a:r>
            <a:r>
              <a:rPr kumimoji="0" lang="zh-CN" altLang="en-US" sz="1900" b="0" i="0" u="none" strike="noStrike" kern="1200" cap="none" spc="0" normalizeH="0" baseline="0" noProof="0">
                <a:ln>
                  <a:noFill/>
                </a:ln>
                <a:solidFill>
                  <a:schemeClr val="tx1"/>
                </a:solidFill>
                <a:effectLst/>
                <a:uLnTx/>
                <a:uFillTx/>
                <a:latin typeface="+mn-lt"/>
                <a:ea typeface="+mn-ea"/>
                <a:cs typeface="+mn-cs"/>
              </a:rPr>
              <a:t>，以及</a:t>
            </a:r>
            <a:r>
              <a:rPr kumimoji="0" lang="zh-CN" altLang="en-US" sz="1900" b="0" i="0" u="sng" strike="noStrike" kern="1200" cap="none" spc="0" normalizeH="0" baseline="0" noProof="0">
                <a:ln>
                  <a:noFill/>
                </a:ln>
                <a:solidFill>
                  <a:srgbClr val="00B0F0"/>
                </a:solidFill>
                <a:effectLst/>
                <a:uLnTx/>
                <a:uFillTx/>
                <a:latin typeface="+mn-lt"/>
                <a:ea typeface="+mn-ea"/>
                <a:cs typeface="+mn-cs"/>
              </a:rPr>
              <a:t>方法的定义、方法调用过程中参数的传递</a:t>
            </a:r>
            <a:r>
              <a:rPr kumimoji="0" lang="zh-CN" altLang="en-US" sz="1900" b="0" i="0" u="none" strike="noStrike" kern="1200" cap="none" spc="0" normalizeH="0" baseline="0" noProof="0">
                <a:ln>
                  <a:noFill/>
                </a:ln>
                <a:solidFill>
                  <a:srgbClr val="00B0F0"/>
                </a:solidFill>
                <a:effectLst/>
                <a:uLnTx/>
                <a:uFillTx/>
                <a:latin typeface="+mn-lt"/>
                <a:ea typeface="+mn-ea"/>
                <a:cs typeface="+mn-cs"/>
              </a:rPr>
              <a:t>，</a:t>
            </a:r>
            <a:r>
              <a:rPr kumimoji="0" lang="zh-CN" altLang="en-US" sz="1900" b="0" i="0" u="sng" strike="noStrike" kern="1200" cap="none" spc="0" normalizeH="0" baseline="0" noProof="0">
                <a:ln>
                  <a:noFill/>
                </a:ln>
                <a:solidFill>
                  <a:srgbClr val="00B0F0"/>
                </a:solidFill>
                <a:effectLst/>
                <a:uLnTx/>
                <a:uFillTx/>
                <a:latin typeface="+mn-lt"/>
                <a:ea typeface="+mn-ea"/>
                <a:cs typeface="+mn-cs"/>
              </a:rPr>
              <a:t>数组声明、初始化以及数组的使用</a:t>
            </a:r>
            <a:r>
              <a:rPr kumimoji="0" lang="zh-CN" altLang="en-US" sz="1900" b="0" i="0" u="none" strike="noStrike" kern="1200" cap="none" spc="0" normalizeH="0" baseline="0" noProof="0">
                <a:ln>
                  <a:noFill/>
                </a:ln>
                <a:solidFill>
                  <a:schemeClr val="tx1"/>
                </a:solidFill>
                <a:effectLst/>
                <a:uLnTx/>
                <a:uFillTx/>
                <a:latin typeface="+mn-lt"/>
                <a:ea typeface="+mn-ea"/>
                <a:cs typeface="+mn-cs"/>
              </a:rPr>
              <a:t>等</a:t>
            </a:r>
            <a:endParaRPr kumimoji="0" lang="zh-CN" altLang="en-US" sz="1900" b="0" i="0" u="none" strike="noStrike" kern="1200" cap="none" spc="0" normalizeH="0" baseline="0" noProof="0">
              <a:ln>
                <a:noFill/>
              </a:ln>
              <a:solidFill>
                <a:schemeClr val="tx1"/>
              </a:solidFill>
              <a:effectLst/>
              <a:uLnTx/>
              <a:uFillTx/>
              <a:latin typeface="+mn-lt"/>
              <a:ea typeface="+mn-ea"/>
              <a:cs typeface="+mn-cs"/>
            </a:endParaRPr>
          </a:p>
        </p:txBody>
      </p:sp>
      <p:sp>
        <p:nvSpPr>
          <p:cNvPr id="95235" name="圆角矩形 1"/>
          <p:cNvSpPr/>
          <p:nvPr/>
        </p:nvSpPr>
        <p:spPr>
          <a:xfrm>
            <a:off x="2374900" y="1187450"/>
            <a:ext cx="6311900" cy="4457700"/>
          </a:xfrm>
          <a:prstGeom prst="roundRect">
            <a:avLst>
              <a:gd name="adj" fmla="val 16667"/>
            </a:avLst>
          </a:prstGeom>
          <a:noFill/>
          <a:ln w="31750" cap="flat" cmpd="sng">
            <a:solidFill>
              <a:srgbClr val="00ACE6"/>
            </a:solidFill>
            <a:prstDash val="dash"/>
            <a:headEnd type="none" w="med" len="med"/>
            <a:tailEnd type="none" w="med" len="med"/>
          </a:ln>
        </p:spPr>
        <p:txBody>
          <a:bodyPr anchor="ctr" anchorCtr="0">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algn="ctr">
              <a:lnSpc>
                <a:spcPct val="100000"/>
              </a:lnSpc>
              <a:spcBef>
                <a:spcPct val="0"/>
              </a:spcBef>
              <a:buNone/>
            </a:pPr>
            <a:endParaRPr lang="zh-CN" altLang="en-US" sz="1800" dirty="0">
              <a:latin typeface="Arial" panose="020B0604020202020204" pitchFamily="34" charset="0"/>
              <a:ea typeface="宋体" panose="02010600030101010101" pitchFamily="2" charset="-122"/>
            </a:endParaRPr>
          </a:p>
        </p:txBody>
      </p:sp>
      <p:pic>
        <p:nvPicPr>
          <p:cNvPr id="95236" name="图片 3"/>
          <p:cNvPicPr>
            <a:picLocks noChangeAspect="1"/>
          </p:cNvPicPr>
          <p:nvPr/>
        </p:nvPicPr>
        <p:blipFill>
          <a:blip r:embed="rId1"/>
          <a:stretch>
            <a:fillRect/>
          </a:stretch>
        </p:blipFill>
        <p:spPr>
          <a:xfrm>
            <a:off x="354013" y="3089275"/>
            <a:ext cx="2447925" cy="3457575"/>
          </a:xfrm>
          <a:prstGeom prst="rect">
            <a:avLst/>
          </a:prstGeom>
          <a:noFill/>
          <a:ln w="9525">
            <a:noFill/>
          </a:ln>
        </p:spPr>
      </p:pic>
      <p:sp>
        <p:nvSpPr>
          <p:cNvPr id="5" name="标题 1"/>
          <p:cNvSpPr>
            <a:spLocks noChangeArrowheads="1"/>
          </p:cNvSpPr>
          <p:nvPr/>
        </p:nvSpPr>
        <p:spPr bwMode="auto">
          <a:xfrm>
            <a:off x="1741488" y="155575"/>
            <a:ext cx="5148263" cy="765175"/>
          </a:xfrm>
          <a:prstGeom prst="rect">
            <a:avLst/>
          </a:prstGeom>
          <a:noFill/>
          <a:ln>
            <a:noFill/>
          </a:ln>
          <a:effectLst/>
        </p:spPr>
        <p:txBody>
          <a:bodyPr anchor="ct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 </a:t>
            </a:r>
            <a:r>
              <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本章小结</a:t>
            </a:r>
            <a:endParaRPr kumimoji="0" lang="zh-CN" altLang="en-US" sz="3600" b="1" i="0" u="none" strike="noStrike" kern="1200" cap="none" spc="0" normalizeH="0" baseline="0" noProof="0">
              <a:ln>
                <a:noFill/>
              </a:ln>
              <a:solidFill>
                <a:schemeClr val="accent1">
                  <a:lumMod val="75000"/>
                </a:schemeClr>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endParaRPr>
          </a:p>
        </p:txBody>
      </p:sp>
      <p:sp>
        <p:nvSpPr>
          <p:cNvPr id="95238" name="矩形 1"/>
          <p:cNvSpPr/>
          <p:nvPr/>
        </p:nvSpPr>
        <p:spPr>
          <a:xfrm>
            <a:off x="690563" y="220663"/>
            <a:ext cx="785812" cy="646112"/>
          </a:xfrm>
          <a:prstGeom prst="rect">
            <a:avLst/>
          </a:prstGeom>
          <a:noFill/>
          <a:ln w="9525">
            <a:noFill/>
          </a:ln>
        </p:spPr>
        <p:txBody>
          <a:bodyPr wrap="non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等线" panose="02010600030101010101" charset="-122"/>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等线" panose="02010600030101010101"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等线" panose="02010600030101010101" charset="-122"/>
              </a:defRPr>
            </a:lvl5pPr>
          </a:lstStyle>
          <a:p>
            <a:pPr marL="0" lvl="0" indent="0" eaLnBrk="1" hangingPunct="1">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latin typeface="Arial" panose="020B0604020202020204" pitchFamily="34" charset="0"/>
              <a:ea typeface="宋体" panose="02010600030101010101" pitchFamily="2" charset="-122"/>
            </a:endParaRPr>
          </a:p>
        </p:txBody>
      </p:sp>
      <p:sp>
        <p:nvSpPr>
          <p:cNvPr id="95239" name="灯片编号占位符 1"/>
          <p:cNvSpPr txBox="1">
            <a:spLocks noGrp="1"/>
          </p:cNvSpPr>
          <p:nvPr>
            <p:ph type="sldNum" sz="quarter" idx="4"/>
          </p:nvPr>
        </p:nvSpPr>
        <p:spPr>
          <a:noFill/>
          <a:ln>
            <a:noFill/>
          </a:ln>
        </p:spPr>
        <p:txBody>
          <a:bodyPr anchor="ctr" anchorCtr="0"/>
          <a:p>
            <a:pPr marL="0" indent="0" algn="r">
              <a:lnSpc>
                <a:spcPct val="100000"/>
              </a:lnSpc>
              <a:spcBef>
                <a:spcPct val="0"/>
              </a:spcBef>
              <a:buNone/>
            </a:pPr>
            <a:fld id="{9A0DB2DC-4C9A-4742-B13C-FB6460FD3503}" type="slidenum">
              <a:rPr lang="zh-CN" altLang="en-US" sz="1200" dirty="0">
                <a:solidFill>
                  <a:srgbClr val="898989"/>
                </a:solidFill>
                <a:latin typeface="Arial" panose="020B0604020202020204" pitchFamily="34" charset="0"/>
                <a:ea typeface="宋体" panose="02010600030101010101" pitchFamily="2" charset="-122"/>
              </a:rPr>
            </a:fld>
            <a:endParaRPr lang="zh-CN" altLang="en-US" sz="1200" dirty="0">
              <a:solidFill>
                <a:srgbClr val="898989"/>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ags/tag1.xml><?xml version="1.0" encoding="utf-8"?>
<p:tagLst xmlns:p="http://schemas.openxmlformats.org/presentationml/2006/main">
  <p:tag name="commondata" val="eyJoZGlkIjoiMGIzZjFlYzg3YjAwNDJiMWRkYjFiN2UwYmVlZDU5Y2EifQ=="/>
</p:tagLst>
</file>

<file path=ppt/theme/theme1.xml><?xml version="1.0" encoding="utf-8"?>
<a:theme xmlns:a="http://schemas.openxmlformats.org/drawingml/2006/main" name="教学PPT 4-3模板">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教学PPT 4-3模板">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11993</Words>
  <Application>WPS 演示</Application>
  <PresentationFormat>全屏显示(4:3)</PresentationFormat>
  <Paragraphs>918</Paragraphs>
  <Slides>82</Slides>
  <Notes>1</Notes>
  <HiddenSlides>0</HiddenSlides>
  <MMClips>0</MMClips>
  <ScaleCrop>false</ScaleCrop>
  <HeadingPairs>
    <vt:vector size="10" baseType="variant">
      <vt:variant>
        <vt:lpstr>已用的字体</vt:lpstr>
      </vt:variant>
      <vt:variant>
        <vt:i4>17</vt:i4>
      </vt:variant>
      <vt:variant>
        <vt:lpstr>主题</vt:lpstr>
      </vt:variant>
      <vt:variant>
        <vt:i4>2</vt:i4>
      </vt:variant>
      <vt:variant>
        <vt:lpstr>嵌入 OLE 服务器</vt:lpstr>
      </vt:variant>
      <vt:variant>
        <vt:i4>3</vt:i4>
      </vt:variant>
      <vt:variant>
        <vt:lpstr>幻灯片标题</vt:lpstr>
      </vt:variant>
      <vt:variant>
        <vt:i4>82</vt:i4>
      </vt:variant>
      <vt:variant>
        <vt:lpstr>自定义放映</vt:lpstr>
      </vt:variant>
      <vt:variant>
        <vt:i4>1</vt:i4>
      </vt:variant>
    </vt:vector>
  </HeadingPairs>
  <TitlesOfParts>
    <vt:vector size="105" baseType="lpstr">
      <vt:lpstr>Arial</vt:lpstr>
      <vt:lpstr>宋体</vt:lpstr>
      <vt:lpstr>Wingdings</vt:lpstr>
      <vt:lpstr>等线 Light</vt:lpstr>
      <vt:lpstr>Calibri Light</vt:lpstr>
      <vt:lpstr>等线</vt:lpstr>
      <vt:lpstr>微软雅黑</vt:lpstr>
      <vt:lpstr>Calibri</vt:lpstr>
      <vt:lpstr>Times New Roman</vt:lpstr>
      <vt:lpstr>Cambria Math</vt:lpstr>
      <vt:lpstr>汉仪综艺体简</vt:lpstr>
      <vt:lpstr>黑体</vt:lpstr>
      <vt:lpstr>Arial Unicode MS</vt:lpstr>
      <vt:lpstr>Arial</vt:lpstr>
      <vt:lpstr>Wingdings 3</vt:lpstr>
      <vt:lpstr>Courier New</vt:lpstr>
      <vt:lpstr>Times New Roman</vt:lpstr>
      <vt:lpstr>教学PPT 4-3模板</vt:lpstr>
      <vt:lpstr>1_教学PPT 4-3模板</vt:lpstr>
      <vt:lpstr>Excel.Chart.8</vt:lpstr>
      <vt:lpstr>Visio.Drawing.11</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简单的人机交互</vt:lpstr>
      <vt:lpstr> 简单的人机交互</vt:lpstr>
      <vt:lpstr>PowerPoint 演示文稿</vt:lpstr>
      <vt:lpstr>PowerPoint 演示文稿</vt:lpstr>
      <vt:lpstr>PowerPoint 演示文稿</vt:lpstr>
      <vt:lpstr>PowerPoint 演示文稿</vt:lpstr>
      <vt:lpstr>PowerPoint 演示文稿</vt:lpstr>
      <vt:lpstr>自定义放映 1</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王哲</dc:creator>
  <cp:lastModifiedBy>admin</cp:lastModifiedBy>
  <cp:revision>393</cp:revision>
  <dcterms:created xsi:type="dcterms:W3CDTF">2013-01-25T01:44:00Z</dcterms:created>
  <dcterms:modified xsi:type="dcterms:W3CDTF">2024-09-10T03:41:05Z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2052-12.1.0.17827</vt:lpwstr>
  </property>
  <property fmtid="{D5CDD505-2E9C-101B-9397-08002B2CF9AE}" pid="3" name="ICV">
    <vt:lpwstr>824A675681B046D4801C27B396709EEF_12</vt:lpwstr>
  </property>
</Properties>
</file>