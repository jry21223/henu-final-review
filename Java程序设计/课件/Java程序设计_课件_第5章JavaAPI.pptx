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tags/tag68.xml" ContentType="application/vnd.openxmlformats-officedocument.presentationml.tags+xml"/>
  <Override PartName="/ppt/notesSlides/notesSlide67.xml" ContentType="application/vnd.openxmlformats-officedocument.presentationml.notesSlide+xml"/>
  <Override PartName="/ppt/tags/tag69.xml" ContentType="application/vnd.openxmlformats-officedocument.presentationml.tags+xml"/>
  <Override PartName="/ppt/notesSlides/notesSlide68.xml" ContentType="application/vnd.openxmlformats-officedocument.presentationml.notesSlide+xml"/>
  <Override PartName="/ppt/tags/tag70.xml" ContentType="application/vnd.openxmlformats-officedocument.presentationml.tags+xml"/>
  <Override PartName="/ppt/notesSlides/notesSlide69.xml" ContentType="application/vnd.openxmlformats-officedocument.presentationml.notesSlide+xml"/>
  <Override PartName="/ppt/tags/tag71.xml" ContentType="application/vnd.openxmlformats-officedocument.presentationml.tags+xml"/>
  <Override PartName="/ppt/notesSlides/notesSlide70.xml" ContentType="application/vnd.openxmlformats-officedocument.presentationml.notesSlide+xml"/>
  <Override PartName="/ppt/tags/tag72.xml" ContentType="application/vnd.openxmlformats-officedocument.presentationml.tags+xml"/>
  <Override PartName="/ppt/notesSlides/notesSlide71.xml" ContentType="application/vnd.openxmlformats-officedocument.presentationml.notesSlide+xml"/>
  <Override PartName="/ppt/tags/tag73.xml" ContentType="application/vnd.openxmlformats-officedocument.presentationml.tags+xml"/>
  <Override PartName="/ppt/notesSlides/notesSlide72.xml" ContentType="application/vnd.openxmlformats-officedocument.presentationml.notesSlide+xml"/>
  <Override PartName="/ppt/tags/tag74.xml" ContentType="application/vnd.openxmlformats-officedocument.presentationml.tags+xml"/>
  <Override PartName="/ppt/notesSlides/notesSlide73.xml" ContentType="application/vnd.openxmlformats-officedocument.presentationml.notesSlide+xml"/>
  <Override PartName="/ppt/tags/tag75.xml" ContentType="application/vnd.openxmlformats-officedocument.presentationml.tags+xml"/>
  <Override PartName="/ppt/notesSlides/notesSlide74.xml" ContentType="application/vnd.openxmlformats-officedocument.presentationml.notesSlide+xml"/>
  <Override PartName="/ppt/tags/tag76.xml" ContentType="application/vnd.openxmlformats-officedocument.presentationml.tags+xml"/>
  <Override PartName="/ppt/notesSlides/notesSlide75.xml" ContentType="application/vnd.openxmlformats-officedocument.presentationml.notesSlide+xml"/>
  <Override PartName="/ppt/tags/tag77.xml" ContentType="application/vnd.openxmlformats-officedocument.presentationml.tags+xml"/>
  <Override PartName="/ppt/notesSlides/notesSlide76.xml" ContentType="application/vnd.openxmlformats-officedocument.presentationml.notesSlide+xml"/>
  <Override PartName="/ppt/tags/tag78.xml" ContentType="application/vnd.openxmlformats-officedocument.presentationml.tags+xml"/>
  <Override PartName="/ppt/notesSlides/notesSlide77.xml" ContentType="application/vnd.openxmlformats-officedocument.presentationml.notesSlide+xml"/>
  <Override PartName="/ppt/tags/tag79.xml" ContentType="application/vnd.openxmlformats-officedocument.presentationml.tags+xml"/>
  <Override PartName="/ppt/notesSlides/notesSlide78.xml" ContentType="application/vnd.openxmlformats-officedocument.presentationml.notesSlide+xml"/>
  <Override PartName="/ppt/tags/tag80.xml" ContentType="application/vnd.openxmlformats-officedocument.presentationml.tags+xml"/>
  <Override PartName="/ppt/notesSlides/notesSlide79.xml" ContentType="application/vnd.openxmlformats-officedocument.presentationml.notesSlide+xml"/>
  <Override PartName="/ppt/tags/tag81.xml" ContentType="application/vnd.openxmlformats-officedocument.presentationml.tags+xml"/>
  <Override PartName="/ppt/notesSlides/notesSlide80.xml" ContentType="application/vnd.openxmlformats-officedocument.presentationml.notesSlide+xml"/>
  <Override PartName="/ppt/tags/tag82.xml" ContentType="application/vnd.openxmlformats-officedocument.presentationml.tags+xml"/>
  <Override PartName="/ppt/notesSlides/notesSlide81.xml" ContentType="application/vnd.openxmlformats-officedocument.presentationml.notesSlide+xml"/>
  <Override PartName="/ppt/tags/tag83.xml" ContentType="application/vnd.openxmlformats-officedocument.presentationml.tags+xml"/>
  <Override PartName="/ppt/notesSlides/notesSlide82.xml" ContentType="application/vnd.openxmlformats-officedocument.presentationml.notesSlide+xml"/>
  <Override PartName="/ppt/tags/tag84.xml" ContentType="application/vnd.openxmlformats-officedocument.presentationml.tags+xml"/>
  <Override PartName="/ppt/notesSlides/notesSlide83.xml" ContentType="application/vnd.openxmlformats-officedocument.presentationml.notesSlide+xml"/>
  <Override PartName="/ppt/tags/tag85.xml" ContentType="application/vnd.openxmlformats-officedocument.presentationml.tags+xml"/>
  <Override PartName="/ppt/notesSlides/notesSlide84.xml" ContentType="application/vnd.openxmlformats-officedocument.presentationml.notesSlide+xml"/>
  <Override PartName="/ppt/tags/tag86.xml" ContentType="application/vnd.openxmlformats-officedocument.presentationml.tags+xml"/>
  <Override PartName="/ppt/notesSlides/notesSlide85.xml" ContentType="application/vnd.openxmlformats-officedocument.presentationml.notesSlide+xml"/>
  <Override PartName="/ppt/tags/tag87.xml" ContentType="application/vnd.openxmlformats-officedocument.presentationml.tags+xml"/>
  <Override PartName="/ppt/notesSlides/notesSlide86.xml" ContentType="application/vnd.openxmlformats-officedocument.presentationml.notesSlide+xml"/>
  <Override PartName="/ppt/tags/tag88.xml" ContentType="application/vnd.openxmlformats-officedocument.presentationml.tags+xml"/>
  <Override PartName="/ppt/notesSlides/notesSlide87.xml" ContentType="application/vnd.openxmlformats-officedocument.presentationml.notesSlide+xml"/>
  <Override PartName="/ppt/tags/tag89.xml" ContentType="application/vnd.openxmlformats-officedocument.presentationml.tags+xml"/>
  <Override PartName="/ppt/notesSlides/notesSlide88.xml" ContentType="application/vnd.openxmlformats-officedocument.presentationml.notesSlide+xml"/>
  <Override PartName="/ppt/tags/tag90.xml" ContentType="application/vnd.openxmlformats-officedocument.presentationml.tags+xml"/>
  <Override PartName="/ppt/notesSlides/notesSlide89.xml" ContentType="application/vnd.openxmlformats-officedocument.presentationml.notesSlide+xml"/>
  <Override PartName="/ppt/tags/tag91.xml" ContentType="application/vnd.openxmlformats-officedocument.presentationml.tags+xml"/>
  <Override PartName="/ppt/notesSlides/notesSlide90.xml" ContentType="application/vnd.openxmlformats-officedocument.presentationml.notesSlide+xml"/>
  <Override PartName="/ppt/tags/tag92.xml" ContentType="application/vnd.openxmlformats-officedocument.presentationml.tags+xml"/>
  <Override PartName="/ppt/notesSlides/notesSlide91.xml" ContentType="application/vnd.openxmlformats-officedocument.presentationml.notesSlide+xml"/>
  <Override PartName="/ppt/tags/tag93.xml" ContentType="application/vnd.openxmlformats-officedocument.presentationml.tags+xml"/>
  <Override PartName="/ppt/notesSlides/notesSlide92.xml" ContentType="application/vnd.openxmlformats-officedocument.presentationml.notesSlide+xml"/>
  <Override PartName="/ppt/tags/tag94.xml" ContentType="application/vnd.openxmlformats-officedocument.presentationml.tags+xml"/>
  <Override PartName="/ppt/notesSlides/notesSlide93.xml" ContentType="application/vnd.openxmlformats-officedocument.presentationml.notesSlide+xml"/>
  <Override PartName="/ppt/tags/tag95.xml" ContentType="application/vnd.openxmlformats-officedocument.presentationml.tags+xml"/>
  <Override PartName="/ppt/notesSlides/notesSlide94.xml" ContentType="application/vnd.openxmlformats-officedocument.presentationml.notesSlide+xml"/>
  <Override PartName="/ppt/tags/tag96.xml" ContentType="application/vnd.openxmlformats-officedocument.presentationml.tags+xml"/>
  <Override PartName="/ppt/notesSlides/notesSlide95.xml" ContentType="application/vnd.openxmlformats-officedocument.presentationml.notesSlide+xml"/>
  <Override PartName="/ppt/tags/tag97.xml" ContentType="application/vnd.openxmlformats-officedocument.presentationml.tags+xml"/>
  <Override PartName="/ppt/notesSlides/notesSlide96.xml" ContentType="application/vnd.openxmlformats-officedocument.presentationml.notesSlide+xml"/>
  <Override PartName="/ppt/tags/tag98.xml" ContentType="application/vnd.openxmlformats-officedocument.presentationml.tags+xml"/>
  <Override PartName="/ppt/notesSlides/notesSlide97.xml" ContentType="application/vnd.openxmlformats-officedocument.presentationml.notesSlide+xml"/>
  <Override PartName="/ppt/tags/tag99.xml" ContentType="application/vnd.openxmlformats-officedocument.presentationml.tags+xml"/>
  <Override PartName="/ppt/notesSlides/notesSlide98.xml" ContentType="application/vnd.openxmlformats-officedocument.presentationml.notesSlide+xml"/>
  <Override PartName="/ppt/tags/tag100.xml" ContentType="application/vnd.openxmlformats-officedocument.presentationml.tags+xml"/>
  <Override PartName="/ppt/notesSlides/notesSlide99.xml" ContentType="application/vnd.openxmlformats-officedocument.presentationml.notesSlide+xml"/>
  <Override PartName="/ppt/tags/tag101.xml" ContentType="application/vnd.openxmlformats-officedocument.presentationml.tags+xml"/>
  <Override PartName="/ppt/notesSlides/notesSlide100.xml" ContentType="application/vnd.openxmlformats-officedocument.presentationml.notesSlide+xml"/>
  <Override PartName="/ppt/tags/tag102.xml" ContentType="application/vnd.openxmlformats-officedocument.presentationml.tags+xml"/>
  <Override PartName="/ppt/notesSlides/notesSlide101.xml" ContentType="application/vnd.openxmlformats-officedocument.presentationml.notesSlide+xml"/>
  <Override PartName="/ppt/tags/tag103.xml" ContentType="application/vnd.openxmlformats-officedocument.presentationml.tags+xml"/>
  <Override PartName="/ppt/notesSlides/notesSlide102.xml" ContentType="application/vnd.openxmlformats-officedocument.presentationml.notesSlide+xml"/>
  <Override PartName="/ppt/tags/tag104.xml" ContentType="application/vnd.openxmlformats-officedocument.presentationml.tags+xml"/>
  <Override PartName="/ppt/notesSlides/notesSlide103.xml" ContentType="application/vnd.openxmlformats-officedocument.presentationml.notesSlide+xml"/>
  <Override PartName="/ppt/tags/tag105.xml" ContentType="application/vnd.openxmlformats-officedocument.presentationml.tags+xml"/>
  <Override PartName="/ppt/notesSlides/notesSlide104.xml" ContentType="application/vnd.openxmlformats-officedocument.presentationml.notesSlide+xml"/>
  <Override PartName="/ppt/tags/tag106.xml" ContentType="application/vnd.openxmlformats-officedocument.presentationml.tags+xml"/>
  <Override PartName="/ppt/notesSlides/notesSlide105.xml" ContentType="application/vnd.openxmlformats-officedocument.presentationml.notesSlide+xml"/>
  <Override PartName="/ppt/tags/tag107.xml" ContentType="application/vnd.openxmlformats-officedocument.presentationml.tags+xml"/>
  <Override PartName="/ppt/notesSlides/notesSlide106.xml" ContentType="application/vnd.openxmlformats-officedocument.presentationml.notesSlide+xml"/>
  <Override PartName="/ppt/tags/tag108.xml" ContentType="application/vnd.openxmlformats-officedocument.presentationml.tags+xml"/>
  <Override PartName="/ppt/notesSlides/notesSlide107.xml" ContentType="application/vnd.openxmlformats-officedocument.presentationml.notesSlide+xml"/>
  <Override PartName="/ppt/tags/tag109.xml" ContentType="application/vnd.openxmlformats-officedocument.presentationml.tags+xml"/>
  <Override PartName="/ppt/notesSlides/notesSlide108.xml" ContentType="application/vnd.openxmlformats-officedocument.presentationml.notesSlide+xml"/>
  <Override PartName="/ppt/tags/tag110.xml" ContentType="application/vnd.openxmlformats-officedocument.presentationml.tags+xml"/>
  <Override PartName="/ppt/notesSlides/notesSlide109.xml" ContentType="application/vnd.openxmlformats-officedocument.presentationml.notesSlide+xml"/>
  <Override PartName="/ppt/tags/tag111.xml" ContentType="application/vnd.openxmlformats-officedocument.presentationml.tags+xml"/>
  <Override PartName="/ppt/notesSlides/notesSlide110.xml" ContentType="application/vnd.openxmlformats-officedocument.presentationml.notesSlide+xml"/>
  <Override PartName="/ppt/tags/tag112.xml" ContentType="application/vnd.openxmlformats-officedocument.presentationml.tags+xml"/>
  <Override PartName="/ppt/notesSlides/notesSlide111.xml" ContentType="application/vnd.openxmlformats-officedocument.presentationml.notesSlide+xml"/>
  <Override PartName="/ppt/tags/tag113.xml" ContentType="application/vnd.openxmlformats-officedocument.presentationml.tags+xml"/>
  <Override PartName="/ppt/notesSlides/notesSlide112.xml" ContentType="application/vnd.openxmlformats-officedocument.presentationml.notesSlide+xml"/>
  <Override PartName="/ppt/tags/tag114.xml" ContentType="application/vnd.openxmlformats-officedocument.presentationml.tags+xml"/>
  <Override PartName="/ppt/notesSlides/notesSlide113.xml" ContentType="application/vnd.openxmlformats-officedocument.presentationml.notesSlide+xml"/>
  <Override PartName="/ppt/tags/tag115.xml" ContentType="application/vnd.openxmlformats-officedocument.presentationml.tags+xml"/>
  <Override PartName="/ppt/notesSlides/notesSlide114.xml" ContentType="application/vnd.openxmlformats-officedocument.presentationml.notesSlide+xml"/>
  <Override PartName="/ppt/tags/tag116.xml" ContentType="application/vnd.openxmlformats-officedocument.presentationml.tags+xml"/>
  <Override PartName="/ppt/notesSlides/notesSlide115.xml" ContentType="application/vnd.openxmlformats-officedocument.presentationml.notesSlide+xml"/>
  <Override PartName="/ppt/tags/tag117.xml" ContentType="application/vnd.openxmlformats-officedocument.presentationml.tags+xml"/>
  <Override PartName="/ppt/notesSlides/notesSlide116.xml" ContentType="application/vnd.openxmlformats-officedocument.presentationml.notesSlide+xml"/>
  <Override PartName="/ppt/tags/tag118.xml" ContentType="application/vnd.openxmlformats-officedocument.presentationml.tags+xml"/>
  <Override PartName="/ppt/notesSlides/notesSlide117.xml" ContentType="application/vnd.openxmlformats-officedocument.presentationml.notesSlide+xml"/>
  <Override PartName="/ppt/tags/tag119.xml" ContentType="application/vnd.openxmlformats-officedocument.presentationml.tags+xml"/>
  <Override PartName="/ppt/notesSlides/notesSlide118.xml" ContentType="application/vnd.openxmlformats-officedocument.presentationml.notesSlide+xml"/>
  <Override PartName="/ppt/tags/tag120.xml" ContentType="application/vnd.openxmlformats-officedocument.presentationml.tags+xml"/>
  <Override PartName="/ppt/notesSlides/notesSlide119.xml" ContentType="application/vnd.openxmlformats-officedocument.presentationml.notesSlide+xml"/>
  <Override PartName="/ppt/tags/tag121.xml" ContentType="application/vnd.openxmlformats-officedocument.presentationml.tags+xml"/>
  <Override PartName="/ppt/notesSlides/notesSlide120.xml" ContentType="application/vnd.openxmlformats-officedocument.presentationml.notesSlide+xml"/>
  <Override PartName="/ppt/tags/tag122.xml" ContentType="application/vnd.openxmlformats-officedocument.presentationml.tags+xml"/>
  <Override PartName="/ppt/notesSlides/notesSlide121.xml" ContentType="application/vnd.openxmlformats-officedocument.presentationml.notesSlide+xml"/>
  <Override PartName="/ppt/tags/tag123.xml" ContentType="application/vnd.openxmlformats-officedocument.presentationml.tags+xml"/>
  <Override PartName="/ppt/notesSlides/notesSlide122.xml" ContentType="application/vnd.openxmlformats-officedocument.presentationml.notesSlide+xml"/>
  <Override PartName="/ppt/tags/tag124.xml" ContentType="application/vnd.openxmlformats-officedocument.presentationml.tags+xml"/>
  <Override PartName="/ppt/notesSlides/notesSlide123.xml" ContentType="application/vnd.openxmlformats-officedocument.presentationml.notesSlide+xml"/>
  <Override PartName="/ppt/tags/tag125.xml" ContentType="application/vnd.openxmlformats-officedocument.presentationml.tags+xml"/>
  <Override PartName="/ppt/notesSlides/notesSlide124.xml" ContentType="application/vnd.openxmlformats-officedocument.presentationml.notesSlide+xml"/>
  <Override PartName="/ppt/tags/tag126.xml" ContentType="application/vnd.openxmlformats-officedocument.presentationml.tags+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7"/>
  </p:notesMasterIdLst>
  <p:handoutMasterIdLst>
    <p:handoutMasterId r:id="rId138"/>
  </p:handoutMasterIdLst>
  <p:sldIdLst>
    <p:sldId id="256" r:id="rId2"/>
    <p:sldId id="1401" r:id="rId3"/>
    <p:sldId id="1402" r:id="rId4"/>
    <p:sldId id="1403" r:id="rId5"/>
    <p:sldId id="1404" r:id="rId6"/>
    <p:sldId id="1405" r:id="rId7"/>
    <p:sldId id="1408" r:id="rId8"/>
    <p:sldId id="1409" r:id="rId9"/>
    <p:sldId id="1410" r:id="rId10"/>
    <p:sldId id="1411" r:id="rId11"/>
    <p:sldId id="1414" r:id="rId12"/>
    <p:sldId id="1415" r:id="rId13"/>
    <p:sldId id="1416" r:id="rId14"/>
    <p:sldId id="1419" r:id="rId15"/>
    <p:sldId id="1420" r:id="rId16"/>
    <p:sldId id="1423" r:id="rId17"/>
    <p:sldId id="1424" r:id="rId18"/>
    <p:sldId id="1425" r:id="rId19"/>
    <p:sldId id="1427" r:id="rId20"/>
    <p:sldId id="1428" r:id="rId21"/>
    <p:sldId id="1429" r:id="rId22"/>
    <p:sldId id="1430" r:id="rId23"/>
    <p:sldId id="1431" r:id="rId24"/>
    <p:sldId id="1434" r:id="rId25"/>
    <p:sldId id="1435" r:id="rId26"/>
    <p:sldId id="1438" r:id="rId27"/>
    <p:sldId id="1439" r:id="rId28"/>
    <p:sldId id="1440" r:id="rId29"/>
    <p:sldId id="1441" r:id="rId30"/>
    <p:sldId id="1442" r:id="rId31"/>
    <p:sldId id="1586" r:id="rId32"/>
    <p:sldId id="1447" r:id="rId33"/>
    <p:sldId id="1448" r:id="rId34"/>
    <p:sldId id="1449" r:id="rId35"/>
    <p:sldId id="1450" r:id="rId36"/>
    <p:sldId id="1451" r:id="rId37"/>
    <p:sldId id="1453" r:id="rId38"/>
    <p:sldId id="1454" r:id="rId39"/>
    <p:sldId id="1455" r:id="rId40"/>
    <p:sldId id="1456" r:id="rId41"/>
    <p:sldId id="1457" r:id="rId42"/>
    <p:sldId id="1462" r:id="rId43"/>
    <p:sldId id="1463" r:id="rId44"/>
    <p:sldId id="1464" r:id="rId45"/>
    <p:sldId id="1467" r:id="rId46"/>
    <p:sldId id="1470" r:id="rId47"/>
    <p:sldId id="1472" r:id="rId48"/>
    <p:sldId id="1474" r:id="rId49"/>
    <p:sldId id="1475" r:id="rId50"/>
    <p:sldId id="1476" r:id="rId51"/>
    <p:sldId id="1479" r:id="rId52"/>
    <p:sldId id="1481" r:id="rId53"/>
    <p:sldId id="1482" r:id="rId54"/>
    <p:sldId id="1486" r:id="rId55"/>
    <p:sldId id="1487" r:id="rId56"/>
    <p:sldId id="1488" r:id="rId57"/>
    <p:sldId id="1490" r:id="rId58"/>
    <p:sldId id="1492" r:id="rId59"/>
    <p:sldId id="1493" r:id="rId60"/>
    <p:sldId id="1496" r:id="rId61"/>
    <p:sldId id="1498" r:id="rId62"/>
    <p:sldId id="1499" r:id="rId63"/>
    <p:sldId id="1502" r:id="rId64"/>
    <p:sldId id="1503" r:id="rId65"/>
    <p:sldId id="1504" r:id="rId66"/>
    <p:sldId id="1511" r:id="rId67"/>
    <p:sldId id="1512" r:id="rId68"/>
    <p:sldId id="1513" r:id="rId69"/>
    <p:sldId id="1588" r:id="rId70"/>
    <p:sldId id="1589" r:id="rId71"/>
    <p:sldId id="1590" r:id="rId72"/>
    <p:sldId id="1591" r:id="rId73"/>
    <p:sldId id="1592" r:id="rId74"/>
    <p:sldId id="1593" r:id="rId75"/>
    <p:sldId id="1594" r:id="rId76"/>
    <p:sldId id="1595" r:id="rId77"/>
    <p:sldId id="1596" r:id="rId78"/>
    <p:sldId id="1516" r:id="rId79"/>
    <p:sldId id="1517" r:id="rId80"/>
    <p:sldId id="1518" r:id="rId81"/>
    <p:sldId id="1519" r:id="rId82"/>
    <p:sldId id="1520" r:id="rId83"/>
    <p:sldId id="1521" r:id="rId84"/>
    <p:sldId id="1523" r:id="rId85"/>
    <p:sldId id="1524" r:id="rId86"/>
    <p:sldId id="1525" r:id="rId87"/>
    <p:sldId id="1526" r:id="rId88"/>
    <p:sldId id="1527" r:id="rId89"/>
    <p:sldId id="1528" r:id="rId90"/>
    <p:sldId id="1533" r:id="rId91"/>
    <p:sldId id="1534" r:id="rId92"/>
    <p:sldId id="1535" r:id="rId93"/>
    <p:sldId id="1536" r:id="rId94"/>
    <p:sldId id="1537" r:id="rId95"/>
    <p:sldId id="1538" r:id="rId96"/>
    <p:sldId id="1539" r:id="rId97"/>
    <p:sldId id="1540" r:id="rId98"/>
    <p:sldId id="1542" r:id="rId99"/>
    <p:sldId id="1543" r:id="rId100"/>
    <p:sldId id="1544" r:id="rId101"/>
    <p:sldId id="1546" r:id="rId102"/>
    <p:sldId id="1547" r:id="rId103"/>
    <p:sldId id="1548" r:id="rId104"/>
    <p:sldId id="1551" r:id="rId105"/>
    <p:sldId id="1552" r:id="rId106"/>
    <p:sldId id="1553" r:id="rId107"/>
    <p:sldId id="1554" r:id="rId108"/>
    <p:sldId id="1556" r:id="rId109"/>
    <p:sldId id="1557" r:id="rId110"/>
    <p:sldId id="1559" r:id="rId111"/>
    <p:sldId id="1560" r:id="rId112"/>
    <p:sldId id="1561" r:id="rId113"/>
    <p:sldId id="1562" r:id="rId114"/>
    <p:sldId id="1563" r:id="rId115"/>
    <p:sldId id="1564" r:id="rId116"/>
    <p:sldId id="1565" r:id="rId117"/>
    <p:sldId id="1566" r:id="rId118"/>
    <p:sldId id="1567" r:id="rId119"/>
    <p:sldId id="1568" r:id="rId120"/>
    <p:sldId id="1569" r:id="rId121"/>
    <p:sldId id="1570" r:id="rId122"/>
    <p:sldId id="1571" r:id="rId123"/>
    <p:sldId id="1572" r:id="rId124"/>
    <p:sldId id="1574" r:id="rId125"/>
    <p:sldId id="1575" r:id="rId126"/>
    <p:sldId id="1576" r:id="rId127"/>
    <p:sldId id="1577" r:id="rId128"/>
    <p:sldId id="1578" r:id="rId129"/>
    <p:sldId id="1579" r:id="rId130"/>
    <p:sldId id="1581" r:id="rId131"/>
    <p:sldId id="1582" r:id="rId132"/>
    <p:sldId id="1583" r:id="rId133"/>
    <p:sldId id="1584" r:id="rId134"/>
    <p:sldId id="1585" r:id="rId135"/>
    <p:sldId id="283" r:id="rId136"/>
  </p:sldIdLst>
  <p:sldSz cx="12192000" cy="6858000"/>
  <p:notesSz cx="6858000" cy="9144000"/>
  <p:custDataLst>
    <p:tags r:id="rId1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晓娟" initials="wang" lastIdx="2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53A2"/>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6" autoAdjust="0"/>
    <p:restoredTop sz="96871" autoAdjust="0"/>
  </p:normalViewPr>
  <p:slideViewPr>
    <p:cSldViewPr snapToGrid="0">
      <p:cViewPr varScale="1">
        <p:scale>
          <a:sx n="86" d="100"/>
          <a:sy n="86" d="100"/>
        </p:scale>
        <p:origin x="77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591AB7-F5A4-4C0D-8EFD-8068E49AF65B}" type="datetimeFigureOut">
              <a:rPr lang="zh-CN" altLang="en-US" smtClean="0"/>
              <a:t>2024/10/24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F506D94-0700-400A-A759-B2484DAA3090}" type="slidenum">
              <a:rPr lang="zh-CN" altLang="en-US" smtClean="0"/>
              <a:t>‹#›</a:t>
            </a:fld>
            <a:endParaRPr lang="zh-CN" altLang="en-US"/>
          </a:p>
        </p:txBody>
      </p:sp>
    </p:spTree>
    <p:extLst>
      <p:ext uri="{BB962C8B-B14F-4D97-AF65-F5344CB8AC3E}">
        <p14:creationId xmlns:p14="http://schemas.microsoft.com/office/powerpoint/2010/main" val="4161292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B00CE-9247-49D0-8AE5-6DFFAEFF8CEF}" type="datetimeFigureOut">
              <a:rPr lang="zh-CN" altLang="en-US" smtClean="0"/>
              <a:t>2024/10/24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D86BB-FDB9-4079-8E00-8F1F7A4AA6F0}" type="slidenum">
              <a:rPr lang="zh-CN" altLang="en-US" smtClean="0"/>
              <a:t>‹#›</a:t>
            </a:fld>
            <a:endParaRPr lang="zh-CN" altLang="en-US"/>
          </a:p>
        </p:txBody>
      </p:sp>
    </p:spTree>
    <p:extLst>
      <p:ext uri="{BB962C8B-B14F-4D97-AF65-F5344CB8AC3E}">
        <p14:creationId xmlns:p14="http://schemas.microsoft.com/office/powerpoint/2010/main" val="24960730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a:t>
            </a:fld>
            <a:endParaRPr lang="zh-CN" altLang="en-US"/>
          </a:p>
        </p:txBody>
      </p:sp>
    </p:spTree>
    <p:extLst>
      <p:ext uri="{BB962C8B-B14F-4D97-AF65-F5344CB8AC3E}">
        <p14:creationId xmlns:p14="http://schemas.microsoft.com/office/powerpoint/2010/main" val="365053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a:t>
            </a:fld>
            <a:endParaRPr lang="zh-CN" altLang="en-US"/>
          </a:p>
        </p:txBody>
      </p:sp>
    </p:spTree>
    <p:extLst>
      <p:ext uri="{BB962C8B-B14F-4D97-AF65-F5344CB8AC3E}">
        <p14:creationId xmlns:p14="http://schemas.microsoft.com/office/powerpoint/2010/main" val="3068423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a:t>
            </a:fld>
            <a:endParaRPr lang="zh-CN" altLang="en-US"/>
          </a:p>
        </p:txBody>
      </p:sp>
    </p:spTree>
    <p:extLst>
      <p:ext uri="{BB962C8B-B14F-4D97-AF65-F5344CB8AC3E}">
        <p14:creationId xmlns:p14="http://schemas.microsoft.com/office/powerpoint/2010/main" val="2862848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a:t>
            </a:fld>
            <a:endParaRPr lang="zh-CN" altLang="en-US"/>
          </a:p>
        </p:txBody>
      </p:sp>
    </p:spTree>
    <p:extLst>
      <p:ext uri="{BB962C8B-B14F-4D97-AF65-F5344CB8AC3E}">
        <p14:creationId xmlns:p14="http://schemas.microsoft.com/office/powerpoint/2010/main" val="1455970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a:t>
            </a:fld>
            <a:endParaRPr lang="zh-CN" altLang="en-US"/>
          </a:p>
        </p:txBody>
      </p:sp>
    </p:spTree>
    <p:extLst>
      <p:ext uri="{BB962C8B-B14F-4D97-AF65-F5344CB8AC3E}">
        <p14:creationId xmlns:p14="http://schemas.microsoft.com/office/powerpoint/2010/main" val="1813591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a:t>
            </a:fld>
            <a:endParaRPr lang="zh-CN" altLang="en-US"/>
          </a:p>
        </p:txBody>
      </p:sp>
    </p:spTree>
    <p:extLst>
      <p:ext uri="{BB962C8B-B14F-4D97-AF65-F5344CB8AC3E}">
        <p14:creationId xmlns:p14="http://schemas.microsoft.com/office/powerpoint/2010/main" val="1986264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a:t>
            </a:fld>
            <a:endParaRPr lang="zh-CN" altLang="en-US"/>
          </a:p>
        </p:txBody>
      </p:sp>
    </p:spTree>
    <p:extLst>
      <p:ext uri="{BB962C8B-B14F-4D97-AF65-F5344CB8AC3E}">
        <p14:creationId xmlns:p14="http://schemas.microsoft.com/office/powerpoint/2010/main" val="1462512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a:t>
            </a:fld>
            <a:endParaRPr lang="zh-CN" altLang="en-US"/>
          </a:p>
        </p:txBody>
      </p:sp>
    </p:spTree>
    <p:extLst>
      <p:ext uri="{BB962C8B-B14F-4D97-AF65-F5344CB8AC3E}">
        <p14:creationId xmlns:p14="http://schemas.microsoft.com/office/powerpoint/2010/main" val="3235851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a:t>
            </a:fld>
            <a:endParaRPr lang="zh-CN" altLang="en-US"/>
          </a:p>
        </p:txBody>
      </p:sp>
    </p:spTree>
    <p:extLst>
      <p:ext uri="{BB962C8B-B14F-4D97-AF65-F5344CB8AC3E}">
        <p14:creationId xmlns:p14="http://schemas.microsoft.com/office/powerpoint/2010/main" val="133500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a:t>
            </a:fld>
            <a:endParaRPr lang="zh-CN" altLang="en-US"/>
          </a:p>
        </p:txBody>
      </p:sp>
    </p:spTree>
    <p:extLst>
      <p:ext uri="{BB962C8B-B14F-4D97-AF65-F5344CB8AC3E}">
        <p14:creationId xmlns:p14="http://schemas.microsoft.com/office/powerpoint/2010/main" val="2992207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a:t>
            </a:fld>
            <a:endParaRPr lang="zh-CN" altLang="en-US"/>
          </a:p>
        </p:txBody>
      </p:sp>
    </p:spTree>
    <p:extLst>
      <p:ext uri="{BB962C8B-B14F-4D97-AF65-F5344CB8AC3E}">
        <p14:creationId xmlns:p14="http://schemas.microsoft.com/office/powerpoint/2010/main" val="3784749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a:t>
            </a:fld>
            <a:endParaRPr lang="zh-CN" altLang="en-US"/>
          </a:p>
        </p:txBody>
      </p:sp>
    </p:spTree>
    <p:extLst>
      <p:ext uri="{BB962C8B-B14F-4D97-AF65-F5344CB8AC3E}">
        <p14:creationId xmlns:p14="http://schemas.microsoft.com/office/powerpoint/2010/main" val="1816057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a:t>
            </a:fld>
            <a:endParaRPr lang="zh-CN" altLang="en-US"/>
          </a:p>
        </p:txBody>
      </p:sp>
    </p:spTree>
    <p:extLst>
      <p:ext uri="{BB962C8B-B14F-4D97-AF65-F5344CB8AC3E}">
        <p14:creationId xmlns:p14="http://schemas.microsoft.com/office/powerpoint/2010/main" val="4257071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14</a:t>
            </a:fld>
            <a:endParaRPr lang="zh-CN" altLang="en-US"/>
          </a:p>
        </p:txBody>
      </p:sp>
    </p:spTree>
    <p:extLst>
      <p:ext uri="{BB962C8B-B14F-4D97-AF65-F5344CB8AC3E}">
        <p14:creationId xmlns:p14="http://schemas.microsoft.com/office/powerpoint/2010/main" val="21069476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15</a:t>
            </a:fld>
            <a:endParaRPr lang="zh-CN" altLang="en-US"/>
          </a:p>
        </p:txBody>
      </p:sp>
    </p:spTree>
    <p:extLst>
      <p:ext uri="{BB962C8B-B14F-4D97-AF65-F5344CB8AC3E}">
        <p14:creationId xmlns:p14="http://schemas.microsoft.com/office/powerpoint/2010/main" val="2147557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16</a:t>
            </a:fld>
            <a:endParaRPr lang="zh-CN" altLang="en-US"/>
          </a:p>
        </p:txBody>
      </p:sp>
    </p:spTree>
    <p:extLst>
      <p:ext uri="{BB962C8B-B14F-4D97-AF65-F5344CB8AC3E}">
        <p14:creationId xmlns:p14="http://schemas.microsoft.com/office/powerpoint/2010/main" val="2180204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17</a:t>
            </a:fld>
            <a:endParaRPr lang="zh-CN" altLang="en-US"/>
          </a:p>
        </p:txBody>
      </p:sp>
    </p:spTree>
    <p:extLst>
      <p:ext uri="{BB962C8B-B14F-4D97-AF65-F5344CB8AC3E}">
        <p14:creationId xmlns:p14="http://schemas.microsoft.com/office/powerpoint/2010/main" val="1921450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18</a:t>
            </a:fld>
            <a:endParaRPr lang="zh-CN" altLang="en-US"/>
          </a:p>
        </p:txBody>
      </p:sp>
    </p:spTree>
    <p:extLst>
      <p:ext uri="{BB962C8B-B14F-4D97-AF65-F5344CB8AC3E}">
        <p14:creationId xmlns:p14="http://schemas.microsoft.com/office/powerpoint/2010/main" val="3292698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19</a:t>
            </a:fld>
            <a:endParaRPr lang="zh-CN" altLang="en-US"/>
          </a:p>
        </p:txBody>
      </p:sp>
    </p:spTree>
    <p:extLst>
      <p:ext uri="{BB962C8B-B14F-4D97-AF65-F5344CB8AC3E}">
        <p14:creationId xmlns:p14="http://schemas.microsoft.com/office/powerpoint/2010/main" val="325558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20</a:t>
            </a:fld>
            <a:endParaRPr lang="zh-CN" altLang="en-US"/>
          </a:p>
        </p:txBody>
      </p:sp>
    </p:spTree>
    <p:extLst>
      <p:ext uri="{BB962C8B-B14F-4D97-AF65-F5344CB8AC3E}">
        <p14:creationId xmlns:p14="http://schemas.microsoft.com/office/powerpoint/2010/main" val="951530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21</a:t>
            </a:fld>
            <a:endParaRPr lang="zh-CN" altLang="en-US"/>
          </a:p>
        </p:txBody>
      </p:sp>
    </p:spTree>
    <p:extLst>
      <p:ext uri="{BB962C8B-B14F-4D97-AF65-F5344CB8AC3E}">
        <p14:creationId xmlns:p14="http://schemas.microsoft.com/office/powerpoint/2010/main" val="2028974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22</a:t>
            </a:fld>
            <a:endParaRPr lang="zh-CN" altLang="en-US"/>
          </a:p>
        </p:txBody>
      </p:sp>
    </p:spTree>
    <p:extLst>
      <p:ext uri="{BB962C8B-B14F-4D97-AF65-F5344CB8AC3E}">
        <p14:creationId xmlns:p14="http://schemas.microsoft.com/office/powerpoint/2010/main" val="4128164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23</a:t>
            </a:fld>
            <a:endParaRPr lang="zh-CN" altLang="en-US"/>
          </a:p>
        </p:txBody>
      </p:sp>
    </p:spTree>
    <p:extLst>
      <p:ext uri="{BB962C8B-B14F-4D97-AF65-F5344CB8AC3E}">
        <p14:creationId xmlns:p14="http://schemas.microsoft.com/office/powerpoint/2010/main" val="22983983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24</a:t>
            </a:fld>
            <a:endParaRPr lang="zh-CN" altLang="en-US"/>
          </a:p>
        </p:txBody>
      </p:sp>
    </p:spTree>
    <p:extLst>
      <p:ext uri="{BB962C8B-B14F-4D97-AF65-F5344CB8AC3E}">
        <p14:creationId xmlns:p14="http://schemas.microsoft.com/office/powerpoint/2010/main" val="20493557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25</a:t>
            </a:fld>
            <a:endParaRPr lang="zh-CN" altLang="en-US"/>
          </a:p>
        </p:txBody>
      </p:sp>
    </p:spTree>
    <p:extLst>
      <p:ext uri="{BB962C8B-B14F-4D97-AF65-F5344CB8AC3E}">
        <p14:creationId xmlns:p14="http://schemas.microsoft.com/office/powerpoint/2010/main" val="2134234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26</a:t>
            </a:fld>
            <a:endParaRPr lang="zh-CN" altLang="en-US"/>
          </a:p>
        </p:txBody>
      </p:sp>
    </p:spTree>
    <p:extLst>
      <p:ext uri="{BB962C8B-B14F-4D97-AF65-F5344CB8AC3E}">
        <p14:creationId xmlns:p14="http://schemas.microsoft.com/office/powerpoint/2010/main" val="854892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27</a:t>
            </a:fld>
            <a:endParaRPr lang="zh-CN" altLang="en-US"/>
          </a:p>
        </p:txBody>
      </p:sp>
    </p:spTree>
    <p:extLst>
      <p:ext uri="{BB962C8B-B14F-4D97-AF65-F5344CB8AC3E}">
        <p14:creationId xmlns:p14="http://schemas.microsoft.com/office/powerpoint/2010/main" val="2034355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28</a:t>
            </a:fld>
            <a:endParaRPr lang="zh-CN" altLang="en-US"/>
          </a:p>
        </p:txBody>
      </p:sp>
    </p:spTree>
    <p:extLst>
      <p:ext uri="{BB962C8B-B14F-4D97-AF65-F5344CB8AC3E}">
        <p14:creationId xmlns:p14="http://schemas.microsoft.com/office/powerpoint/2010/main" val="6322780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29</a:t>
            </a:fld>
            <a:endParaRPr lang="zh-CN" altLang="en-US"/>
          </a:p>
        </p:txBody>
      </p:sp>
    </p:spTree>
    <p:extLst>
      <p:ext uri="{BB962C8B-B14F-4D97-AF65-F5344CB8AC3E}">
        <p14:creationId xmlns:p14="http://schemas.microsoft.com/office/powerpoint/2010/main" val="36944925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30</a:t>
            </a:fld>
            <a:endParaRPr lang="zh-CN" altLang="en-US"/>
          </a:p>
        </p:txBody>
      </p:sp>
    </p:spTree>
    <p:extLst>
      <p:ext uri="{BB962C8B-B14F-4D97-AF65-F5344CB8AC3E}">
        <p14:creationId xmlns:p14="http://schemas.microsoft.com/office/powerpoint/2010/main" val="716148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32</a:t>
            </a:fld>
            <a:endParaRPr lang="zh-CN" altLang="en-US"/>
          </a:p>
        </p:txBody>
      </p:sp>
    </p:spTree>
    <p:extLst>
      <p:ext uri="{BB962C8B-B14F-4D97-AF65-F5344CB8AC3E}">
        <p14:creationId xmlns:p14="http://schemas.microsoft.com/office/powerpoint/2010/main" val="2093986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33</a:t>
            </a:fld>
            <a:endParaRPr lang="zh-CN" altLang="en-US"/>
          </a:p>
        </p:txBody>
      </p:sp>
    </p:spTree>
    <p:extLst>
      <p:ext uri="{BB962C8B-B14F-4D97-AF65-F5344CB8AC3E}">
        <p14:creationId xmlns:p14="http://schemas.microsoft.com/office/powerpoint/2010/main" val="2899607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34</a:t>
            </a:fld>
            <a:endParaRPr lang="zh-CN" altLang="en-US"/>
          </a:p>
        </p:txBody>
      </p:sp>
    </p:spTree>
    <p:extLst>
      <p:ext uri="{BB962C8B-B14F-4D97-AF65-F5344CB8AC3E}">
        <p14:creationId xmlns:p14="http://schemas.microsoft.com/office/powerpoint/2010/main" val="24320126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35</a:t>
            </a:fld>
            <a:endParaRPr lang="zh-CN" altLang="en-US"/>
          </a:p>
        </p:txBody>
      </p:sp>
    </p:spTree>
    <p:extLst>
      <p:ext uri="{BB962C8B-B14F-4D97-AF65-F5344CB8AC3E}">
        <p14:creationId xmlns:p14="http://schemas.microsoft.com/office/powerpoint/2010/main" val="672160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36</a:t>
            </a:fld>
            <a:endParaRPr lang="zh-CN" altLang="en-US"/>
          </a:p>
        </p:txBody>
      </p:sp>
    </p:spTree>
    <p:extLst>
      <p:ext uri="{BB962C8B-B14F-4D97-AF65-F5344CB8AC3E}">
        <p14:creationId xmlns:p14="http://schemas.microsoft.com/office/powerpoint/2010/main" val="42096513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37</a:t>
            </a:fld>
            <a:endParaRPr lang="zh-CN" altLang="en-US"/>
          </a:p>
        </p:txBody>
      </p:sp>
    </p:spTree>
    <p:extLst>
      <p:ext uri="{BB962C8B-B14F-4D97-AF65-F5344CB8AC3E}">
        <p14:creationId xmlns:p14="http://schemas.microsoft.com/office/powerpoint/2010/main" val="3843454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38</a:t>
            </a:fld>
            <a:endParaRPr lang="zh-CN" altLang="en-US"/>
          </a:p>
        </p:txBody>
      </p:sp>
    </p:spTree>
    <p:extLst>
      <p:ext uri="{BB962C8B-B14F-4D97-AF65-F5344CB8AC3E}">
        <p14:creationId xmlns:p14="http://schemas.microsoft.com/office/powerpoint/2010/main" val="373350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39</a:t>
            </a:fld>
            <a:endParaRPr lang="zh-CN" altLang="en-US"/>
          </a:p>
        </p:txBody>
      </p:sp>
    </p:spTree>
    <p:extLst>
      <p:ext uri="{BB962C8B-B14F-4D97-AF65-F5344CB8AC3E}">
        <p14:creationId xmlns:p14="http://schemas.microsoft.com/office/powerpoint/2010/main" val="11908587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40</a:t>
            </a:fld>
            <a:endParaRPr lang="zh-CN" altLang="en-US"/>
          </a:p>
        </p:txBody>
      </p:sp>
    </p:spTree>
    <p:extLst>
      <p:ext uri="{BB962C8B-B14F-4D97-AF65-F5344CB8AC3E}">
        <p14:creationId xmlns:p14="http://schemas.microsoft.com/office/powerpoint/2010/main" val="787820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41</a:t>
            </a:fld>
            <a:endParaRPr lang="zh-CN" altLang="en-US"/>
          </a:p>
        </p:txBody>
      </p:sp>
    </p:spTree>
    <p:extLst>
      <p:ext uri="{BB962C8B-B14F-4D97-AF65-F5344CB8AC3E}">
        <p14:creationId xmlns:p14="http://schemas.microsoft.com/office/powerpoint/2010/main" val="20815755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42</a:t>
            </a:fld>
            <a:endParaRPr lang="zh-CN" altLang="en-US"/>
          </a:p>
        </p:txBody>
      </p:sp>
    </p:spTree>
    <p:extLst>
      <p:ext uri="{BB962C8B-B14F-4D97-AF65-F5344CB8AC3E}">
        <p14:creationId xmlns:p14="http://schemas.microsoft.com/office/powerpoint/2010/main" val="12877720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43</a:t>
            </a:fld>
            <a:endParaRPr lang="zh-CN" altLang="en-US"/>
          </a:p>
        </p:txBody>
      </p:sp>
    </p:spTree>
    <p:extLst>
      <p:ext uri="{BB962C8B-B14F-4D97-AF65-F5344CB8AC3E}">
        <p14:creationId xmlns:p14="http://schemas.microsoft.com/office/powerpoint/2010/main" val="30832003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44</a:t>
            </a:fld>
            <a:endParaRPr lang="zh-CN" altLang="en-US"/>
          </a:p>
        </p:txBody>
      </p:sp>
    </p:spTree>
    <p:extLst>
      <p:ext uri="{BB962C8B-B14F-4D97-AF65-F5344CB8AC3E}">
        <p14:creationId xmlns:p14="http://schemas.microsoft.com/office/powerpoint/2010/main" val="10199070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45</a:t>
            </a:fld>
            <a:endParaRPr lang="zh-CN" altLang="en-US"/>
          </a:p>
        </p:txBody>
      </p:sp>
    </p:spTree>
    <p:extLst>
      <p:ext uri="{BB962C8B-B14F-4D97-AF65-F5344CB8AC3E}">
        <p14:creationId xmlns:p14="http://schemas.microsoft.com/office/powerpoint/2010/main" val="19282821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46</a:t>
            </a:fld>
            <a:endParaRPr lang="zh-CN" altLang="en-US"/>
          </a:p>
        </p:txBody>
      </p:sp>
    </p:spTree>
    <p:extLst>
      <p:ext uri="{BB962C8B-B14F-4D97-AF65-F5344CB8AC3E}">
        <p14:creationId xmlns:p14="http://schemas.microsoft.com/office/powerpoint/2010/main" val="41412437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47</a:t>
            </a:fld>
            <a:endParaRPr lang="zh-CN" altLang="en-US"/>
          </a:p>
        </p:txBody>
      </p:sp>
    </p:spTree>
    <p:extLst>
      <p:ext uri="{BB962C8B-B14F-4D97-AF65-F5344CB8AC3E}">
        <p14:creationId xmlns:p14="http://schemas.microsoft.com/office/powerpoint/2010/main" val="32819876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48</a:t>
            </a:fld>
            <a:endParaRPr lang="zh-CN" altLang="en-US"/>
          </a:p>
        </p:txBody>
      </p:sp>
    </p:spTree>
    <p:extLst>
      <p:ext uri="{BB962C8B-B14F-4D97-AF65-F5344CB8AC3E}">
        <p14:creationId xmlns:p14="http://schemas.microsoft.com/office/powerpoint/2010/main" val="24016462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49</a:t>
            </a:fld>
            <a:endParaRPr lang="zh-CN" altLang="en-US"/>
          </a:p>
        </p:txBody>
      </p:sp>
    </p:spTree>
    <p:extLst>
      <p:ext uri="{BB962C8B-B14F-4D97-AF65-F5344CB8AC3E}">
        <p14:creationId xmlns:p14="http://schemas.microsoft.com/office/powerpoint/2010/main" val="29043991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50</a:t>
            </a:fld>
            <a:endParaRPr lang="zh-CN" altLang="en-US"/>
          </a:p>
        </p:txBody>
      </p:sp>
    </p:spTree>
    <p:extLst>
      <p:ext uri="{BB962C8B-B14F-4D97-AF65-F5344CB8AC3E}">
        <p14:creationId xmlns:p14="http://schemas.microsoft.com/office/powerpoint/2010/main" val="42660520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51</a:t>
            </a:fld>
            <a:endParaRPr lang="zh-CN" altLang="en-US"/>
          </a:p>
        </p:txBody>
      </p:sp>
    </p:spTree>
    <p:extLst>
      <p:ext uri="{BB962C8B-B14F-4D97-AF65-F5344CB8AC3E}">
        <p14:creationId xmlns:p14="http://schemas.microsoft.com/office/powerpoint/2010/main" val="7494739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52</a:t>
            </a:fld>
            <a:endParaRPr lang="zh-CN" altLang="en-US"/>
          </a:p>
        </p:txBody>
      </p:sp>
    </p:spTree>
    <p:extLst>
      <p:ext uri="{BB962C8B-B14F-4D97-AF65-F5344CB8AC3E}">
        <p14:creationId xmlns:p14="http://schemas.microsoft.com/office/powerpoint/2010/main" val="22674488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53</a:t>
            </a:fld>
            <a:endParaRPr lang="zh-CN" altLang="en-US"/>
          </a:p>
        </p:txBody>
      </p:sp>
    </p:spTree>
    <p:extLst>
      <p:ext uri="{BB962C8B-B14F-4D97-AF65-F5344CB8AC3E}">
        <p14:creationId xmlns:p14="http://schemas.microsoft.com/office/powerpoint/2010/main" val="467351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54</a:t>
            </a:fld>
            <a:endParaRPr lang="zh-CN" altLang="en-US"/>
          </a:p>
        </p:txBody>
      </p:sp>
    </p:spTree>
    <p:extLst>
      <p:ext uri="{BB962C8B-B14F-4D97-AF65-F5344CB8AC3E}">
        <p14:creationId xmlns:p14="http://schemas.microsoft.com/office/powerpoint/2010/main" val="14360738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55</a:t>
            </a:fld>
            <a:endParaRPr lang="zh-CN" altLang="en-US"/>
          </a:p>
        </p:txBody>
      </p:sp>
    </p:spTree>
    <p:extLst>
      <p:ext uri="{BB962C8B-B14F-4D97-AF65-F5344CB8AC3E}">
        <p14:creationId xmlns:p14="http://schemas.microsoft.com/office/powerpoint/2010/main" val="32909696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56</a:t>
            </a:fld>
            <a:endParaRPr lang="zh-CN" altLang="en-US"/>
          </a:p>
        </p:txBody>
      </p:sp>
    </p:spTree>
    <p:extLst>
      <p:ext uri="{BB962C8B-B14F-4D97-AF65-F5344CB8AC3E}">
        <p14:creationId xmlns:p14="http://schemas.microsoft.com/office/powerpoint/2010/main" val="40982501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57</a:t>
            </a:fld>
            <a:endParaRPr lang="zh-CN" altLang="en-US"/>
          </a:p>
        </p:txBody>
      </p:sp>
    </p:spTree>
    <p:extLst>
      <p:ext uri="{BB962C8B-B14F-4D97-AF65-F5344CB8AC3E}">
        <p14:creationId xmlns:p14="http://schemas.microsoft.com/office/powerpoint/2010/main" val="1004952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58</a:t>
            </a:fld>
            <a:endParaRPr lang="zh-CN" altLang="en-US"/>
          </a:p>
        </p:txBody>
      </p:sp>
    </p:spTree>
    <p:extLst>
      <p:ext uri="{BB962C8B-B14F-4D97-AF65-F5344CB8AC3E}">
        <p14:creationId xmlns:p14="http://schemas.microsoft.com/office/powerpoint/2010/main" val="28295502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59</a:t>
            </a:fld>
            <a:endParaRPr lang="zh-CN" altLang="en-US"/>
          </a:p>
        </p:txBody>
      </p:sp>
    </p:spTree>
    <p:extLst>
      <p:ext uri="{BB962C8B-B14F-4D97-AF65-F5344CB8AC3E}">
        <p14:creationId xmlns:p14="http://schemas.microsoft.com/office/powerpoint/2010/main" val="15843831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60</a:t>
            </a:fld>
            <a:endParaRPr lang="zh-CN" altLang="en-US"/>
          </a:p>
        </p:txBody>
      </p:sp>
    </p:spTree>
    <p:extLst>
      <p:ext uri="{BB962C8B-B14F-4D97-AF65-F5344CB8AC3E}">
        <p14:creationId xmlns:p14="http://schemas.microsoft.com/office/powerpoint/2010/main" val="16951746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61</a:t>
            </a:fld>
            <a:endParaRPr lang="zh-CN" altLang="en-US"/>
          </a:p>
        </p:txBody>
      </p:sp>
    </p:spTree>
    <p:extLst>
      <p:ext uri="{BB962C8B-B14F-4D97-AF65-F5344CB8AC3E}">
        <p14:creationId xmlns:p14="http://schemas.microsoft.com/office/powerpoint/2010/main" val="206781715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62</a:t>
            </a:fld>
            <a:endParaRPr lang="zh-CN" altLang="en-US"/>
          </a:p>
        </p:txBody>
      </p:sp>
    </p:spTree>
    <p:extLst>
      <p:ext uri="{BB962C8B-B14F-4D97-AF65-F5344CB8AC3E}">
        <p14:creationId xmlns:p14="http://schemas.microsoft.com/office/powerpoint/2010/main" val="21387183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63</a:t>
            </a:fld>
            <a:endParaRPr lang="zh-CN" altLang="en-US"/>
          </a:p>
        </p:txBody>
      </p:sp>
    </p:spTree>
    <p:extLst>
      <p:ext uri="{BB962C8B-B14F-4D97-AF65-F5344CB8AC3E}">
        <p14:creationId xmlns:p14="http://schemas.microsoft.com/office/powerpoint/2010/main" val="24886952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64</a:t>
            </a:fld>
            <a:endParaRPr lang="zh-CN" altLang="en-US"/>
          </a:p>
        </p:txBody>
      </p:sp>
    </p:spTree>
    <p:extLst>
      <p:ext uri="{BB962C8B-B14F-4D97-AF65-F5344CB8AC3E}">
        <p14:creationId xmlns:p14="http://schemas.microsoft.com/office/powerpoint/2010/main" val="833448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65</a:t>
            </a:fld>
            <a:endParaRPr lang="zh-CN" altLang="en-US"/>
          </a:p>
        </p:txBody>
      </p:sp>
    </p:spTree>
    <p:extLst>
      <p:ext uri="{BB962C8B-B14F-4D97-AF65-F5344CB8AC3E}">
        <p14:creationId xmlns:p14="http://schemas.microsoft.com/office/powerpoint/2010/main" val="16447518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66</a:t>
            </a:fld>
            <a:endParaRPr lang="zh-CN" altLang="en-US"/>
          </a:p>
        </p:txBody>
      </p:sp>
    </p:spTree>
    <p:extLst>
      <p:ext uri="{BB962C8B-B14F-4D97-AF65-F5344CB8AC3E}">
        <p14:creationId xmlns:p14="http://schemas.microsoft.com/office/powerpoint/2010/main" val="35951594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67</a:t>
            </a:fld>
            <a:endParaRPr lang="zh-CN" altLang="en-US"/>
          </a:p>
        </p:txBody>
      </p:sp>
    </p:spTree>
    <p:extLst>
      <p:ext uri="{BB962C8B-B14F-4D97-AF65-F5344CB8AC3E}">
        <p14:creationId xmlns:p14="http://schemas.microsoft.com/office/powerpoint/2010/main" val="33175440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68</a:t>
            </a:fld>
            <a:endParaRPr lang="zh-CN" altLang="en-US"/>
          </a:p>
        </p:txBody>
      </p:sp>
    </p:spTree>
    <p:extLst>
      <p:ext uri="{BB962C8B-B14F-4D97-AF65-F5344CB8AC3E}">
        <p14:creationId xmlns:p14="http://schemas.microsoft.com/office/powerpoint/2010/main" val="727897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78</a:t>
            </a:fld>
            <a:endParaRPr lang="zh-CN" altLang="en-US"/>
          </a:p>
        </p:txBody>
      </p:sp>
    </p:spTree>
    <p:extLst>
      <p:ext uri="{BB962C8B-B14F-4D97-AF65-F5344CB8AC3E}">
        <p14:creationId xmlns:p14="http://schemas.microsoft.com/office/powerpoint/2010/main" val="5624836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79</a:t>
            </a:fld>
            <a:endParaRPr lang="zh-CN" altLang="en-US"/>
          </a:p>
        </p:txBody>
      </p:sp>
    </p:spTree>
    <p:extLst>
      <p:ext uri="{BB962C8B-B14F-4D97-AF65-F5344CB8AC3E}">
        <p14:creationId xmlns:p14="http://schemas.microsoft.com/office/powerpoint/2010/main" val="27461304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80</a:t>
            </a:fld>
            <a:endParaRPr lang="zh-CN" altLang="en-US"/>
          </a:p>
        </p:txBody>
      </p:sp>
    </p:spTree>
    <p:extLst>
      <p:ext uri="{BB962C8B-B14F-4D97-AF65-F5344CB8AC3E}">
        <p14:creationId xmlns:p14="http://schemas.microsoft.com/office/powerpoint/2010/main" val="20295501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81</a:t>
            </a:fld>
            <a:endParaRPr lang="zh-CN" altLang="en-US"/>
          </a:p>
        </p:txBody>
      </p:sp>
    </p:spTree>
    <p:extLst>
      <p:ext uri="{BB962C8B-B14F-4D97-AF65-F5344CB8AC3E}">
        <p14:creationId xmlns:p14="http://schemas.microsoft.com/office/powerpoint/2010/main" val="10266898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82</a:t>
            </a:fld>
            <a:endParaRPr lang="zh-CN" altLang="en-US"/>
          </a:p>
        </p:txBody>
      </p:sp>
    </p:spTree>
    <p:extLst>
      <p:ext uri="{BB962C8B-B14F-4D97-AF65-F5344CB8AC3E}">
        <p14:creationId xmlns:p14="http://schemas.microsoft.com/office/powerpoint/2010/main" val="141682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83</a:t>
            </a:fld>
            <a:endParaRPr lang="zh-CN" altLang="en-US"/>
          </a:p>
        </p:txBody>
      </p:sp>
    </p:spTree>
    <p:extLst>
      <p:ext uri="{BB962C8B-B14F-4D97-AF65-F5344CB8AC3E}">
        <p14:creationId xmlns:p14="http://schemas.microsoft.com/office/powerpoint/2010/main" val="4978255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84</a:t>
            </a:fld>
            <a:endParaRPr lang="zh-CN" altLang="en-US"/>
          </a:p>
        </p:txBody>
      </p:sp>
    </p:spTree>
    <p:extLst>
      <p:ext uri="{BB962C8B-B14F-4D97-AF65-F5344CB8AC3E}">
        <p14:creationId xmlns:p14="http://schemas.microsoft.com/office/powerpoint/2010/main" val="25544465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85</a:t>
            </a:fld>
            <a:endParaRPr lang="zh-CN" altLang="en-US"/>
          </a:p>
        </p:txBody>
      </p:sp>
    </p:spTree>
    <p:extLst>
      <p:ext uri="{BB962C8B-B14F-4D97-AF65-F5344CB8AC3E}">
        <p14:creationId xmlns:p14="http://schemas.microsoft.com/office/powerpoint/2010/main" val="16433084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86</a:t>
            </a:fld>
            <a:endParaRPr lang="zh-CN" altLang="en-US"/>
          </a:p>
        </p:txBody>
      </p:sp>
    </p:spTree>
    <p:extLst>
      <p:ext uri="{BB962C8B-B14F-4D97-AF65-F5344CB8AC3E}">
        <p14:creationId xmlns:p14="http://schemas.microsoft.com/office/powerpoint/2010/main" val="8250595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87</a:t>
            </a:fld>
            <a:endParaRPr lang="zh-CN" altLang="en-US"/>
          </a:p>
        </p:txBody>
      </p:sp>
    </p:spTree>
    <p:extLst>
      <p:ext uri="{BB962C8B-B14F-4D97-AF65-F5344CB8AC3E}">
        <p14:creationId xmlns:p14="http://schemas.microsoft.com/office/powerpoint/2010/main" val="25471254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88</a:t>
            </a:fld>
            <a:endParaRPr lang="zh-CN" altLang="en-US"/>
          </a:p>
        </p:txBody>
      </p:sp>
    </p:spTree>
    <p:extLst>
      <p:ext uri="{BB962C8B-B14F-4D97-AF65-F5344CB8AC3E}">
        <p14:creationId xmlns:p14="http://schemas.microsoft.com/office/powerpoint/2010/main" val="14289782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89</a:t>
            </a:fld>
            <a:endParaRPr lang="zh-CN" altLang="en-US"/>
          </a:p>
        </p:txBody>
      </p:sp>
    </p:spTree>
    <p:extLst>
      <p:ext uri="{BB962C8B-B14F-4D97-AF65-F5344CB8AC3E}">
        <p14:creationId xmlns:p14="http://schemas.microsoft.com/office/powerpoint/2010/main" val="16631325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90</a:t>
            </a:fld>
            <a:endParaRPr lang="zh-CN" altLang="en-US"/>
          </a:p>
        </p:txBody>
      </p:sp>
    </p:spTree>
    <p:extLst>
      <p:ext uri="{BB962C8B-B14F-4D97-AF65-F5344CB8AC3E}">
        <p14:creationId xmlns:p14="http://schemas.microsoft.com/office/powerpoint/2010/main" val="5005494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91</a:t>
            </a:fld>
            <a:endParaRPr lang="zh-CN" altLang="en-US"/>
          </a:p>
        </p:txBody>
      </p:sp>
    </p:spTree>
    <p:extLst>
      <p:ext uri="{BB962C8B-B14F-4D97-AF65-F5344CB8AC3E}">
        <p14:creationId xmlns:p14="http://schemas.microsoft.com/office/powerpoint/2010/main" val="203024176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92</a:t>
            </a:fld>
            <a:endParaRPr lang="zh-CN" altLang="en-US"/>
          </a:p>
        </p:txBody>
      </p:sp>
    </p:spTree>
    <p:extLst>
      <p:ext uri="{BB962C8B-B14F-4D97-AF65-F5344CB8AC3E}">
        <p14:creationId xmlns:p14="http://schemas.microsoft.com/office/powerpoint/2010/main" val="134097978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93</a:t>
            </a:fld>
            <a:endParaRPr lang="zh-CN" altLang="en-US"/>
          </a:p>
        </p:txBody>
      </p:sp>
    </p:spTree>
    <p:extLst>
      <p:ext uri="{BB962C8B-B14F-4D97-AF65-F5344CB8AC3E}">
        <p14:creationId xmlns:p14="http://schemas.microsoft.com/office/powerpoint/2010/main" val="262667774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94</a:t>
            </a:fld>
            <a:endParaRPr lang="zh-CN" altLang="en-US"/>
          </a:p>
        </p:txBody>
      </p:sp>
    </p:spTree>
    <p:extLst>
      <p:ext uri="{BB962C8B-B14F-4D97-AF65-F5344CB8AC3E}">
        <p14:creationId xmlns:p14="http://schemas.microsoft.com/office/powerpoint/2010/main" val="17030085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95</a:t>
            </a:fld>
            <a:endParaRPr lang="zh-CN" altLang="en-US"/>
          </a:p>
        </p:txBody>
      </p:sp>
    </p:spTree>
    <p:extLst>
      <p:ext uri="{BB962C8B-B14F-4D97-AF65-F5344CB8AC3E}">
        <p14:creationId xmlns:p14="http://schemas.microsoft.com/office/powerpoint/2010/main" val="161092676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96</a:t>
            </a:fld>
            <a:endParaRPr lang="zh-CN" altLang="en-US"/>
          </a:p>
        </p:txBody>
      </p:sp>
    </p:spTree>
    <p:extLst>
      <p:ext uri="{BB962C8B-B14F-4D97-AF65-F5344CB8AC3E}">
        <p14:creationId xmlns:p14="http://schemas.microsoft.com/office/powerpoint/2010/main" val="5297754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97</a:t>
            </a:fld>
            <a:endParaRPr lang="zh-CN" altLang="en-US"/>
          </a:p>
        </p:txBody>
      </p:sp>
    </p:spTree>
    <p:extLst>
      <p:ext uri="{BB962C8B-B14F-4D97-AF65-F5344CB8AC3E}">
        <p14:creationId xmlns:p14="http://schemas.microsoft.com/office/powerpoint/2010/main" val="30736260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98</a:t>
            </a:fld>
            <a:endParaRPr lang="zh-CN" altLang="en-US"/>
          </a:p>
        </p:txBody>
      </p:sp>
    </p:spTree>
    <p:extLst>
      <p:ext uri="{BB962C8B-B14F-4D97-AF65-F5344CB8AC3E}">
        <p14:creationId xmlns:p14="http://schemas.microsoft.com/office/powerpoint/2010/main" val="71070822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99</a:t>
            </a:fld>
            <a:endParaRPr lang="zh-CN" altLang="en-US"/>
          </a:p>
        </p:txBody>
      </p:sp>
    </p:spTree>
    <p:extLst>
      <p:ext uri="{BB962C8B-B14F-4D97-AF65-F5344CB8AC3E}">
        <p14:creationId xmlns:p14="http://schemas.microsoft.com/office/powerpoint/2010/main" val="27225481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100</a:t>
            </a:fld>
            <a:endParaRPr lang="zh-CN" altLang="en-US"/>
          </a:p>
        </p:txBody>
      </p:sp>
    </p:spTree>
    <p:extLst>
      <p:ext uri="{BB962C8B-B14F-4D97-AF65-F5344CB8AC3E}">
        <p14:creationId xmlns:p14="http://schemas.microsoft.com/office/powerpoint/2010/main" val="383457421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101</a:t>
            </a:fld>
            <a:endParaRPr lang="zh-CN" altLang="en-US"/>
          </a:p>
        </p:txBody>
      </p:sp>
    </p:spTree>
    <p:extLst>
      <p:ext uri="{BB962C8B-B14F-4D97-AF65-F5344CB8AC3E}">
        <p14:creationId xmlns:p14="http://schemas.microsoft.com/office/powerpoint/2010/main" val="33922747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102</a:t>
            </a:fld>
            <a:endParaRPr lang="zh-CN" altLang="en-US"/>
          </a:p>
        </p:txBody>
      </p:sp>
    </p:spTree>
    <p:extLst>
      <p:ext uri="{BB962C8B-B14F-4D97-AF65-F5344CB8AC3E}">
        <p14:creationId xmlns:p14="http://schemas.microsoft.com/office/powerpoint/2010/main" val="5190615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103</a:t>
            </a:fld>
            <a:endParaRPr lang="zh-CN" altLang="en-US"/>
          </a:p>
        </p:txBody>
      </p:sp>
    </p:spTree>
    <p:extLst>
      <p:ext uri="{BB962C8B-B14F-4D97-AF65-F5344CB8AC3E}">
        <p14:creationId xmlns:p14="http://schemas.microsoft.com/office/powerpoint/2010/main" val="176564175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104</a:t>
            </a:fld>
            <a:endParaRPr lang="zh-CN" altLang="en-US"/>
          </a:p>
        </p:txBody>
      </p:sp>
    </p:spTree>
    <p:extLst>
      <p:ext uri="{BB962C8B-B14F-4D97-AF65-F5344CB8AC3E}">
        <p14:creationId xmlns:p14="http://schemas.microsoft.com/office/powerpoint/2010/main" val="306891801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105</a:t>
            </a:fld>
            <a:endParaRPr lang="zh-CN" altLang="en-US"/>
          </a:p>
        </p:txBody>
      </p:sp>
    </p:spTree>
    <p:extLst>
      <p:ext uri="{BB962C8B-B14F-4D97-AF65-F5344CB8AC3E}">
        <p14:creationId xmlns:p14="http://schemas.microsoft.com/office/powerpoint/2010/main" val="90397966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106</a:t>
            </a:fld>
            <a:endParaRPr lang="zh-CN" altLang="en-US"/>
          </a:p>
        </p:txBody>
      </p:sp>
    </p:spTree>
    <p:extLst>
      <p:ext uri="{BB962C8B-B14F-4D97-AF65-F5344CB8AC3E}">
        <p14:creationId xmlns:p14="http://schemas.microsoft.com/office/powerpoint/2010/main" val="238968497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107</a:t>
            </a:fld>
            <a:endParaRPr lang="zh-CN" altLang="en-US"/>
          </a:p>
        </p:txBody>
      </p:sp>
    </p:spTree>
    <p:extLst>
      <p:ext uri="{BB962C8B-B14F-4D97-AF65-F5344CB8AC3E}">
        <p14:creationId xmlns:p14="http://schemas.microsoft.com/office/powerpoint/2010/main" val="370449671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108</a:t>
            </a:fld>
            <a:endParaRPr lang="zh-CN" altLang="en-US"/>
          </a:p>
        </p:txBody>
      </p:sp>
    </p:spTree>
    <p:extLst>
      <p:ext uri="{BB962C8B-B14F-4D97-AF65-F5344CB8AC3E}">
        <p14:creationId xmlns:p14="http://schemas.microsoft.com/office/powerpoint/2010/main" val="20005384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109</a:t>
            </a:fld>
            <a:endParaRPr lang="zh-CN" altLang="en-US"/>
          </a:p>
        </p:txBody>
      </p:sp>
    </p:spTree>
    <p:extLst>
      <p:ext uri="{BB962C8B-B14F-4D97-AF65-F5344CB8AC3E}">
        <p14:creationId xmlns:p14="http://schemas.microsoft.com/office/powerpoint/2010/main" val="298603268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110</a:t>
            </a:fld>
            <a:endParaRPr lang="zh-CN" altLang="en-US"/>
          </a:p>
        </p:txBody>
      </p:sp>
    </p:spTree>
    <p:extLst>
      <p:ext uri="{BB962C8B-B14F-4D97-AF65-F5344CB8AC3E}">
        <p14:creationId xmlns:p14="http://schemas.microsoft.com/office/powerpoint/2010/main" val="382458355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111</a:t>
            </a:fld>
            <a:endParaRPr lang="zh-CN" altLang="en-US"/>
          </a:p>
        </p:txBody>
      </p:sp>
    </p:spTree>
    <p:extLst>
      <p:ext uri="{BB962C8B-B14F-4D97-AF65-F5344CB8AC3E}">
        <p14:creationId xmlns:p14="http://schemas.microsoft.com/office/powerpoint/2010/main" val="387749017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112</a:t>
            </a:fld>
            <a:endParaRPr lang="zh-CN" altLang="en-US"/>
          </a:p>
        </p:txBody>
      </p:sp>
    </p:spTree>
    <p:extLst>
      <p:ext uri="{BB962C8B-B14F-4D97-AF65-F5344CB8AC3E}">
        <p14:creationId xmlns:p14="http://schemas.microsoft.com/office/powerpoint/2010/main" val="313762890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113</a:t>
            </a:fld>
            <a:endParaRPr lang="zh-CN" altLang="en-US"/>
          </a:p>
        </p:txBody>
      </p:sp>
    </p:spTree>
    <p:extLst>
      <p:ext uri="{BB962C8B-B14F-4D97-AF65-F5344CB8AC3E}">
        <p14:creationId xmlns:p14="http://schemas.microsoft.com/office/powerpoint/2010/main" val="5234068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114</a:t>
            </a:fld>
            <a:endParaRPr lang="zh-CN" altLang="en-US"/>
          </a:p>
        </p:txBody>
      </p:sp>
    </p:spTree>
    <p:extLst>
      <p:ext uri="{BB962C8B-B14F-4D97-AF65-F5344CB8AC3E}">
        <p14:creationId xmlns:p14="http://schemas.microsoft.com/office/powerpoint/2010/main" val="258868931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115</a:t>
            </a:fld>
            <a:endParaRPr lang="zh-CN" altLang="en-US"/>
          </a:p>
        </p:txBody>
      </p:sp>
    </p:spTree>
    <p:extLst>
      <p:ext uri="{BB962C8B-B14F-4D97-AF65-F5344CB8AC3E}">
        <p14:creationId xmlns:p14="http://schemas.microsoft.com/office/powerpoint/2010/main" val="222219191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116</a:t>
            </a:fld>
            <a:endParaRPr lang="zh-CN" altLang="en-US"/>
          </a:p>
        </p:txBody>
      </p:sp>
    </p:spTree>
    <p:extLst>
      <p:ext uri="{BB962C8B-B14F-4D97-AF65-F5344CB8AC3E}">
        <p14:creationId xmlns:p14="http://schemas.microsoft.com/office/powerpoint/2010/main" val="275044363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117</a:t>
            </a:fld>
            <a:endParaRPr lang="zh-CN" altLang="en-US"/>
          </a:p>
        </p:txBody>
      </p:sp>
    </p:spTree>
    <p:extLst>
      <p:ext uri="{BB962C8B-B14F-4D97-AF65-F5344CB8AC3E}">
        <p14:creationId xmlns:p14="http://schemas.microsoft.com/office/powerpoint/2010/main" val="304843990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118</a:t>
            </a:fld>
            <a:endParaRPr lang="zh-CN" altLang="en-US"/>
          </a:p>
        </p:txBody>
      </p:sp>
    </p:spTree>
    <p:extLst>
      <p:ext uri="{BB962C8B-B14F-4D97-AF65-F5344CB8AC3E}">
        <p14:creationId xmlns:p14="http://schemas.microsoft.com/office/powerpoint/2010/main" val="304137685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119</a:t>
            </a:fld>
            <a:endParaRPr lang="zh-CN" altLang="en-US"/>
          </a:p>
        </p:txBody>
      </p:sp>
    </p:spTree>
    <p:extLst>
      <p:ext uri="{BB962C8B-B14F-4D97-AF65-F5344CB8AC3E}">
        <p14:creationId xmlns:p14="http://schemas.microsoft.com/office/powerpoint/2010/main" val="346134386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120</a:t>
            </a:fld>
            <a:endParaRPr lang="zh-CN" altLang="en-US"/>
          </a:p>
        </p:txBody>
      </p:sp>
    </p:spTree>
    <p:extLst>
      <p:ext uri="{BB962C8B-B14F-4D97-AF65-F5344CB8AC3E}">
        <p14:creationId xmlns:p14="http://schemas.microsoft.com/office/powerpoint/2010/main" val="27465458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121</a:t>
            </a:fld>
            <a:endParaRPr lang="zh-CN" altLang="en-US"/>
          </a:p>
        </p:txBody>
      </p:sp>
    </p:spTree>
    <p:extLst>
      <p:ext uri="{BB962C8B-B14F-4D97-AF65-F5344CB8AC3E}">
        <p14:creationId xmlns:p14="http://schemas.microsoft.com/office/powerpoint/2010/main" val="279303158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122</a:t>
            </a:fld>
            <a:endParaRPr lang="zh-CN" altLang="en-US"/>
          </a:p>
        </p:txBody>
      </p:sp>
    </p:spTree>
    <p:extLst>
      <p:ext uri="{BB962C8B-B14F-4D97-AF65-F5344CB8AC3E}">
        <p14:creationId xmlns:p14="http://schemas.microsoft.com/office/powerpoint/2010/main" val="133050887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123</a:t>
            </a:fld>
            <a:endParaRPr lang="zh-CN" altLang="en-US"/>
          </a:p>
        </p:txBody>
      </p:sp>
    </p:spTree>
    <p:extLst>
      <p:ext uri="{BB962C8B-B14F-4D97-AF65-F5344CB8AC3E}">
        <p14:creationId xmlns:p14="http://schemas.microsoft.com/office/powerpoint/2010/main" val="405987351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124</a:t>
            </a:fld>
            <a:endParaRPr lang="zh-CN" altLang="en-US"/>
          </a:p>
        </p:txBody>
      </p:sp>
    </p:spTree>
    <p:extLst>
      <p:ext uri="{BB962C8B-B14F-4D97-AF65-F5344CB8AC3E}">
        <p14:creationId xmlns:p14="http://schemas.microsoft.com/office/powerpoint/2010/main" val="97631713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125</a:t>
            </a:fld>
            <a:endParaRPr lang="zh-CN" altLang="en-US"/>
          </a:p>
        </p:txBody>
      </p:sp>
    </p:spTree>
    <p:extLst>
      <p:ext uri="{BB962C8B-B14F-4D97-AF65-F5344CB8AC3E}">
        <p14:creationId xmlns:p14="http://schemas.microsoft.com/office/powerpoint/2010/main" val="327576304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126</a:t>
            </a:fld>
            <a:endParaRPr lang="zh-CN" altLang="en-US"/>
          </a:p>
        </p:txBody>
      </p:sp>
    </p:spTree>
    <p:extLst>
      <p:ext uri="{BB962C8B-B14F-4D97-AF65-F5344CB8AC3E}">
        <p14:creationId xmlns:p14="http://schemas.microsoft.com/office/powerpoint/2010/main" val="412462296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127</a:t>
            </a:fld>
            <a:endParaRPr lang="zh-CN" altLang="en-US"/>
          </a:p>
        </p:txBody>
      </p:sp>
    </p:spTree>
    <p:extLst>
      <p:ext uri="{BB962C8B-B14F-4D97-AF65-F5344CB8AC3E}">
        <p14:creationId xmlns:p14="http://schemas.microsoft.com/office/powerpoint/2010/main" val="348260214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128</a:t>
            </a:fld>
            <a:endParaRPr lang="zh-CN" altLang="en-US"/>
          </a:p>
        </p:txBody>
      </p:sp>
    </p:spTree>
    <p:extLst>
      <p:ext uri="{BB962C8B-B14F-4D97-AF65-F5344CB8AC3E}">
        <p14:creationId xmlns:p14="http://schemas.microsoft.com/office/powerpoint/2010/main" val="177727351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129</a:t>
            </a:fld>
            <a:endParaRPr lang="zh-CN" altLang="en-US"/>
          </a:p>
        </p:txBody>
      </p:sp>
    </p:spTree>
    <p:extLst>
      <p:ext uri="{BB962C8B-B14F-4D97-AF65-F5344CB8AC3E}">
        <p14:creationId xmlns:p14="http://schemas.microsoft.com/office/powerpoint/2010/main" val="47474227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130</a:t>
            </a:fld>
            <a:endParaRPr lang="zh-CN" altLang="en-US"/>
          </a:p>
        </p:txBody>
      </p:sp>
    </p:spTree>
    <p:extLst>
      <p:ext uri="{BB962C8B-B14F-4D97-AF65-F5344CB8AC3E}">
        <p14:creationId xmlns:p14="http://schemas.microsoft.com/office/powerpoint/2010/main" val="419733685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131</a:t>
            </a:fld>
            <a:endParaRPr lang="zh-CN" altLang="en-US"/>
          </a:p>
        </p:txBody>
      </p:sp>
    </p:spTree>
    <p:extLst>
      <p:ext uri="{BB962C8B-B14F-4D97-AF65-F5344CB8AC3E}">
        <p14:creationId xmlns:p14="http://schemas.microsoft.com/office/powerpoint/2010/main" val="17046229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132</a:t>
            </a:fld>
            <a:endParaRPr lang="zh-CN" altLang="en-US"/>
          </a:p>
        </p:txBody>
      </p:sp>
    </p:spTree>
    <p:extLst>
      <p:ext uri="{BB962C8B-B14F-4D97-AF65-F5344CB8AC3E}">
        <p14:creationId xmlns:p14="http://schemas.microsoft.com/office/powerpoint/2010/main" val="156492580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133</a:t>
            </a:fld>
            <a:endParaRPr lang="zh-CN" altLang="en-US"/>
          </a:p>
        </p:txBody>
      </p:sp>
    </p:spTree>
    <p:extLst>
      <p:ext uri="{BB962C8B-B14F-4D97-AF65-F5344CB8AC3E}">
        <p14:creationId xmlns:p14="http://schemas.microsoft.com/office/powerpoint/2010/main" val="402486354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134</a:t>
            </a:fld>
            <a:endParaRPr lang="zh-CN" altLang="en-US"/>
          </a:p>
        </p:txBody>
      </p:sp>
    </p:spTree>
    <p:extLst>
      <p:ext uri="{BB962C8B-B14F-4D97-AF65-F5344CB8AC3E}">
        <p14:creationId xmlns:p14="http://schemas.microsoft.com/office/powerpoint/2010/main" val="115140903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135</a:t>
            </a:fld>
            <a:endParaRPr lang="zh-CN" altLang="en-US"/>
          </a:p>
        </p:txBody>
      </p:sp>
    </p:spTree>
    <p:extLst>
      <p:ext uri="{BB962C8B-B14F-4D97-AF65-F5344CB8AC3E}">
        <p14:creationId xmlns:p14="http://schemas.microsoft.com/office/powerpoint/2010/main" val="2250442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b="1">
                <a:solidFill>
                  <a:srgbClr val="FF0000"/>
                </a:solidFill>
              </a:defRPr>
            </a:lvl1pPr>
          </a:lstStyle>
          <a:p>
            <a:fld id="{C11893D6-510C-4F6F-9867-0DA6859ED432}" type="slidenum">
              <a:rPr lang="zh-CN" altLang="en-US" smtClean="0"/>
              <a:pPr/>
              <a:t>‹#›</a:t>
            </a:fld>
            <a:endParaRPr lang="zh-CN" altLang="en-US" dirty="0"/>
          </a:p>
        </p:txBody>
      </p:sp>
      <p:sp>
        <p:nvSpPr>
          <p:cNvPr id="8" name="圆角矩形 12">
            <a:extLst>
              <a:ext uri="{FF2B5EF4-FFF2-40B4-BE49-F238E27FC236}">
                <a16:creationId xmlns:a16="http://schemas.microsoft.com/office/drawing/2014/main" id="{F66A5689-815C-4A86-86F9-99F279F8FE04}"/>
              </a:ext>
            </a:extLst>
          </p:cNvPr>
          <p:cNvSpPr/>
          <p:nvPr userDrawn="1"/>
        </p:nvSpPr>
        <p:spPr>
          <a:xfrm>
            <a:off x="4063999" y="810988"/>
            <a:ext cx="4117976" cy="693916"/>
          </a:xfrm>
          <a:prstGeom prst="roundRect">
            <a:avLst/>
          </a:prstGeom>
          <a:solidFill>
            <a:schemeClr val="bg1"/>
          </a:solidFill>
          <a:ln w="19050">
            <a:solidFill>
              <a:srgbClr val="1353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descr="C:\Users\wz\Desktop\黑马程序员横板logo.png">
            <a:extLst>
              <a:ext uri="{FF2B5EF4-FFF2-40B4-BE49-F238E27FC236}">
                <a16:creationId xmlns:a16="http://schemas.microsoft.com/office/drawing/2014/main" id="{F169713A-E595-43C4-9D10-5C95C4F305D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28544" y="603199"/>
            <a:ext cx="2448556" cy="108038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82771" y="603199"/>
            <a:ext cx="4540102" cy="143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0539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t>‹#›</a:t>
            </a:fld>
            <a:endParaRPr lang="zh-CN" altLang="en-US"/>
          </a:p>
        </p:txBody>
      </p:sp>
      <p:pic>
        <p:nvPicPr>
          <p:cNvPr id="26829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3"/>
          <a:stretch>
            <a:fillRect/>
          </a:stretch>
        </p:blipFill>
        <p:spPr>
          <a:xfrm>
            <a:off x="8610600" y="313611"/>
            <a:ext cx="2990476" cy="761905"/>
          </a:xfrm>
          <a:prstGeom prst="rect">
            <a:avLst/>
          </a:prstGeom>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7108E81B-792D-4CDE-9428-3EDE9AD095B9}"/>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269188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t>‹#›</a:t>
            </a:fld>
            <a:endParaRPr lang="zh-CN" altLang="en-US"/>
          </a:p>
        </p:txBody>
      </p:sp>
      <p:pic>
        <p:nvPicPr>
          <p:cNvPr id="269314"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48" y="0"/>
            <a:ext cx="1220189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91DE098E-A511-4CB1-8EC8-48599AECD5A6}"/>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55882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t>‹#›</a:t>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p>
        </p:txBody>
      </p:sp>
      <p:pic>
        <p:nvPicPr>
          <p:cNvPr id="270338"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70D05660-2EFD-4DCA-B79A-58E67CC53002}"/>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383773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t>‹#›</a:t>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p>
        </p:txBody>
      </p:sp>
      <p:pic>
        <p:nvPicPr>
          <p:cNvPr id="271362"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37D300D7-A83F-4031-BFD0-7AF1137A6974}"/>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3665202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t>‹#›</a:t>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p>
        </p:txBody>
      </p:sp>
      <p:pic>
        <p:nvPicPr>
          <p:cNvPr id="272386"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2AD3BB14-272B-4163-A212-BC5FA8B01F9A}"/>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3772689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t>‹#›</a:t>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914409"/>
          </a:xfrm>
          <a:prstGeom prst="rect">
            <a:avLst/>
          </a:prstGeom>
        </p:spPr>
      </p:pic>
      <p:pic>
        <p:nvPicPr>
          <p:cNvPr id="6"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58806" y="776178"/>
            <a:ext cx="5074388" cy="153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9238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601262" y="279447"/>
            <a:ext cx="2990476" cy="761905"/>
          </a:xfrm>
          <a:prstGeom prst="rect">
            <a:avLst/>
          </a:prstGeom>
        </p:spPr>
      </p:pic>
      <p:pic>
        <p:nvPicPr>
          <p:cNvPr id="4"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占位符 5"/>
          <p:cNvSpPr>
            <a:spLocks noGrp="1"/>
          </p:cNvSpPr>
          <p:nvPr>
            <p:ph type="body" sz="quarter" idx="10" hasCustomPrompt="1"/>
          </p:nvPr>
        </p:nvSpPr>
        <p:spPr>
          <a:xfrm>
            <a:off x="11206163" y="6527800"/>
            <a:ext cx="479018" cy="255772"/>
          </a:xfrm>
        </p:spPr>
        <p:txBody>
          <a:bodyPr>
            <a:noAutofit/>
          </a:bodyPr>
          <a:lstStyle>
            <a:lvl1pPr marL="0" indent="0" algn="ctr">
              <a:buNone/>
              <a:defRPr sz="1400" b="1">
                <a:solidFill>
                  <a:srgbClr val="FF0000"/>
                </a:solidFill>
              </a:defRPr>
            </a:lvl1pPr>
            <a:lvl2pPr>
              <a:defRPr b="1">
                <a:solidFill>
                  <a:srgbClr val="FF0000"/>
                </a:solidFill>
              </a:defRPr>
            </a:lvl2pPr>
            <a:lvl3pPr>
              <a:defRPr b="1">
                <a:solidFill>
                  <a:srgbClr val="FF0000"/>
                </a:solidFill>
              </a:defRPr>
            </a:lvl3pPr>
            <a:lvl4pPr>
              <a:defRPr b="1">
                <a:solidFill>
                  <a:srgbClr val="FF0000"/>
                </a:solidFill>
              </a:defRPr>
            </a:lvl4pPr>
            <a:lvl5pPr>
              <a:defRPr b="1">
                <a:solidFill>
                  <a:srgbClr val="FF0000"/>
                </a:solidFill>
              </a:defRPr>
            </a:lvl5pPr>
          </a:lstStyle>
          <a:p>
            <a:pPr lvl="0"/>
            <a:fld id="{73FEE35F-1510-4CD3-A5F4-79EF5F7854AC}" type="slidenum">
              <a:rPr lang="zh-CN" altLang="en-US" smtClean="0"/>
              <a:t>‹#›</a:t>
            </a:fld>
            <a:endParaRPr lang="zh-CN" altLang="en-US" dirty="0"/>
          </a:p>
        </p:txBody>
      </p:sp>
      <p:sp>
        <p:nvSpPr>
          <p:cNvPr id="7" name="矩形 6">
            <a:extLst>
              <a:ext uri="{FF2B5EF4-FFF2-40B4-BE49-F238E27FC236}">
                <a16:creationId xmlns:a16="http://schemas.microsoft.com/office/drawing/2014/main" id="{DDCF699E-3616-40FF-8869-2794646D2241}"/>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10C9655-6EF9-4FD8-A4DF-46796A10F843}"/>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2901164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601262" y="279447"/>
            <a:ext cx="2990476" cy="761905"/>
          </a:xfrm>
          <a:prstGeom prst="rect">
            <a:avLst/>
          </a:prstGeom>
        </p:spPr>
      </p:pic>
      <p:sp>
        <p:nvSpPr>
          <p:cNvPr id="4" name="矩形 3">
            <a:extLst>
              <a:ext uri="{FF2B5EF4-FFF2-40B4-BE49-F238E27FC236}">
                <a16:creationId xmlns:a16="http://schemas.microsoft.com/office/drawing/2014/main" id="{BA629A25-DD76-4874-9632-5AE27195E649}"/>
              </a:ext>
            </a:extLst>
          </p:cNvPr>
          <p:cNvSpPr/>
          <p:nvPr userDrawn="1"/>
        </p:nvSpPr>
        <p:spPr>
          <a:xfrm>
            <a:off x="34954" y="6484690"/>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2984641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2" name="标题 1"/>
          <p:cNvSpPr>
            <a:spLocks noGrp="1"/>
          </p:cNvSpPr>
          <p:nvPr>
            <p:ph type="title"/>
          </p:nvPr>
        </p:nvSpPr>
        <p:spPr>
          <a:xfrm>
            <a:off x="143934" y="114300"/>
            <a:ext cx="10354733" cy="723900"/>
          </a:xfrm>
          <a:prstGeom prst="rect">
            <a:avLst/>
          </a:prstGeom>
        </p:spPr>
        <p:txBody>
          <a:bodyPr/>
          <a:lstStyle>
            <a:lvl1pPr algn="l">
              <a:defRPr sz="3600" b="1" spc="300">
                <a:solidFill>
                  <a:srgbClr val="FFFF00"/>
                </a:solidFill>
                <a:latin typeface="微软雅黑" pitchFamily="34" charset="-122"/>
                <a:ea typeface="微软雅黑" pitchFamily="34" charset="-122"/>
              </a:defRPr>
            </a:lvl1pPr>
          </a:lstStyle>
          <a:p>
            <a:r>
              <a:rPr lang="zh-CN" altLang="en-US" noProof="1"/>
              <a:t>单击此处编辑母版标题样式</a:t>
            </a:r>
          </a:p>
        </p:txBody>
      </p:sp>
      <p:sp>
        <p:nvSpPr>
          <p:cNvPr id="3" name="内容占位符 2"/>
          <p:cNvSpPr>
            <a:spLocks noGrp="1"/>
          </p:cNvSpPr>
          <p:nvPr>
            <p:ph idx="1"/>
          </p:nvPr>
        </p:nvSpPr>
        <p:spPr>
          <a:xfrm>
            <a:off x="609600" y="1066801"/>
            <a:ext cx="1097280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矩形 3">
            <a:extLst>
              <a:ext uri="{FF2B5EF4-FFF2-40B4-BE49-F238E27FC236}">
                <a16:creationId xmlns:a16="http://schemas.microsoft.com/office/drawing/2014/main" id="{0A980240-5F16-48CC-A457-BC194288BDA1}"/>
              </a:ext>
            </a:extLst>
          </p:cNvPr>
          <p:cNvSpPr/>
          <p:nvPr userDrawn="1"/>
        </p:nvSpPr>
        <p:spPr>
          <a:xfrm>
            <a:off x="34954" y="6484690"/>
            <a:ext cx="2121017"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extLst>
      <p:ext uri="{BB962C8B-B14F-4D97-AF65-F5344CB8AC3E}">
        <p14:creationId xmlns:p14="http://schemas.microsoft.com/office/powerpoint/2010/main" val="1012888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t>‹#›</a:t>
            </a:fld>
            <a:endParaRPr lang="zh-CN" altLang="en-US"/>
          </a:p>
        </p:txBody>
      </p:sp>
      <p:pic>
        <p:nvPicPr>
          <p:cNvPr id="7" name="图片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pic>
        <p:nvPicPr>
          <p:cNvPr id="9" name="图片 13"/>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4962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9" r:id="rId9"/>
    <p:sldLayoutId id="2147483660" r:id="rId10"/>
    <p:sldLayoutId id="214748366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9.xml"/><Relationship Id="rId4" Type="http://schemas.openxmlformats.org/officeDocument/2006/relationships/hyperlink" Target="mk:@MSITStore:C:\Documents%20and%20Settings\Administrator\&#26700;&#38754;\&#26032;&#24314;&#25991;&#20214;&#22841;\J2SE6.0_CN.chm::/java/lang/String.html"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16.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tags" Target="../tags/tag1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18.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19.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20.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2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2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tags" Target="../tags/tag23.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24.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25.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tags" Target="../tags/tag26.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29.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30.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31.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3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34.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35.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8.xml"/><Relationship Id="rId1" Type="http://schemas.openxmlformats.org/officeDocument/2006/relationships/tags" Target="../tags/tag36.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37.xm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40.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41.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tags" Target="../tags/tag42.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4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45.xml"/><Relationship Id="rId4" Type="http://schemas.openxmlformats.org/officeDocument/2006/relationships/image" Target="../media/image3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46.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8.xml"/><Relationship Id="rId1" Type="http://schemas.openxmlformats.org/officeDocument/2006/relationships/tags" Target="../tags/tag47.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8.xml"/><Relationship Id="rId1" Type="http://schemas.openxmlformats.org/officeDocument/2006/relationships/tags" Target="../tags/tag4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tags" Target="../tags/tag49.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tags" Target="../tags/tag50.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8.xml"/><Relationship Id="rId1" Type="http://schemas.openxmlformats.org/officeDocument/2006/relationships/tags" Target="../tags/tag51.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8.xml"/><Relationship Id="rId1" Type="http://schemas.openxmlformats.org/officeDocument/2006/relationships/tags" Target="../tags/tag52.xml"/><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53.xml"/><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tags" Target="../tags/tag5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8.xml"/><Relationship Id="rId1" Type="http://schemas.openxmlformats.org/officeDocument/2006/relationships/tags" Target="../tags/tag5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56.xml"/><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8.xml"/><Relationship Id="rId1" Type="http://schemas.openxmlformats.org/officeDocument/2006/relationships/tags" Target="../tags/tag57.xml"/><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18.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8.xml"/><Relationship Id="rId1" Type="http://schemas.openxmlformats.org/officeDocument/2006/relationships/tags" Target="../tags/tag59.xml"/><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8.xml"/><Relationship Id="rId1" Type="http://schemas.openxmlformats.org/officeDocument/2006/relationships/tags" Target="../tags/tag6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8.xml"/><Relationship Id="rId1" Type="http://schemas.openxmlformats.org/officeDocument/2006/relationships/tags" Target="../tags/tag6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8.xml"/><Relationship Id="rId1" Type="http://schemas.openxmlformats.org/officeDocument/2006/relationships/tags" Target="../tags/tag62.xml"/><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8.xml"/><Relationship Id="rId1" Type="http://schemas.openxmlformats.org/officeDocument/2006/relationships/tags" Target="../tags/tag63.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8.xml"/><Relationship Id="rId1" Type="http://schemas.openxmlformats.org/officeDocument/2006/relationships/tags" Target="../tags/tag64.xml"/><Relationship Id="rId4"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8.xml"/><Relationship Id="rId1" Type="http://schemas.openxmlformats.org/officeDocument/2006/relationships/tags" Target="../tags/tag65.xml"/><Relationship Id="rId5" Type="http://schemas.openxmlformats.org/officeDocument/2006/relationships/image" Target="../media/image47.png"/><Relationship Id="rId4" Type="http://schemas.openxmlformats.org/officeDocument/2006/relationships/image" Target="../media/image46.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8.xml"/><Relationship Id="rId1" Type="http://schemas.openxmlformats.org/officeDocument/2006/relationships/tags" Target="../tags/tag66.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8.xml"/><Relationship Id="rId1" Type="http://schemas.openxmlformats.org/officeDocument/2006/relationships/tags" Target="../tags/tag67.xml"/><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8.xml"/><Relationship Id="rId1" Type="http://schemas.openxmlformats.org/officeDocument/2006/relationships/tags" Target="../tags/tag68.xml"/><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8.xml"/><Relationship Id="rId1" Type="http://schemas.openxmlformats.org/officeDocument/2006/relationships/tags" Target="../tags/tag69.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8.xml"/><Relationship Id="rId1" Type="http://schemas.openxmlformats.org/officeDocument/2006/relationships/tags" Target="../tags/tag70.xml"/><Relationship Id="rId4" Type="http://schemas.openxmlformats.org/officeDocument/2006/relationships/image" Target="../media/image63.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8.xml"/><Relationship Id="rId1" Type="http://schemas.openxmlformats.org/officeDocument/2006/relationships/tags" Target="../tags/tag71.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8.xml"/><Relationship Id="rId1" Type="http://schemas.openxmlformats.org/officeDocument/2006/relationships/tags" Target="../tags/tag72.xml"/><Relationship Id="rId4" Type="http://schemas.openxmlformats.org/officeDocument/2006/relationships/image" Target="../media/image64.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8.xml"/><Relationship Id="rId1" Type="http://schemas.openxmlformats.org/officeDocument/2006/relationships/tags" Target="../tags/tag73.xml"/><Relationship Id="rId4" Type="http://schemas.openxmlformats.org/officeDocument/2006/relationships/image" Target="../media/image64.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8.xml"/><Relationship Id="rId1" Type="http://schemas.openxmlformats.org/officeDocument/2006/relationships/tags" Target="../tags/tag74.xml"/><Relationship Id="rId4" Type="http://schemas.openxmlformats.org/officeDocument/2006/relationships/image" Target="../media/image65.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8.xml"/><Relationship Id="rId1" Type="http://schemas.openxmlformats.org/officeDocument/2006/relationships/tags" Target="../tags/tag75.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8.xml"/><Relationship Id="rId1" Type="http://schemas.openxmlformats.org/officeDocument/2006/relationships/tags" Target="../tags/tag76.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8.xml"/><Relationship Id="rId1" Type="http://schemas.openxmlformats.org/officeDocument/2006/relationships/tags" Target="../tags/tag77.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8.xml"/><Relationship Id="rId1" Type="http://schemas.openxmlformats.org/officeDocument/2006/relationships/tags" Target="../tags/tag78.xml"/><Relationship Id="rId4" Type="http://schemas.openxmlformats.org/officeDocument/2006/relationships/image" Target="../media/image66.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8.xml"/><Relationship Id="rId1" Type="http://schemas.openxmlformats.org/officeDocument/2006/relationships/tags" Target="../tags/tag79.xml"/><Relationship Id="rId4" Type="http://schemas.openxmlformats.org/officeDocument/2006/relationships/image" Target="../media/image66.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8.xml"/><Relationship Id="rId1" Type="http://schemas.openxmlformats.org/officeDocument/2006/relationships/tags" Target="../tags/tag80.xml"/><Relationship Id="rId4" Type="http://schemas.openxmlformats.org/officeDocument/2006/relationships/image" Target="../media/image66.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8.xml"/><Relationship Id="rId1" Type="http://schemas.openxmlformats.org/officeDocument/2006/relationships/tags" Target="../tags/tag81.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8.xml"/><Relationship Id="rId1" Type="http://schemas.openxmlformats.org/officeDocument/2006/relationships/tags" Target="../tags/tag82.xml"/><Relationship Id="rId4" Type="http://schemas.openxmlformats.org/officeDocument/2006/relationships/image" Target="../media/image67.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8.xml"/><Relationship Id="rId1" Type="http://schemas.openxmlformats.org/officeDocument/2006/relationships/tags" Target="../tags/tag83.xml"/><Relationship Id="rId4" Type="http://schemas.openxmlformats.org/officeDocument/2006/relationships/image" Target="../media/image67.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8.xml"/><Relationship Id="rId1" Type="http://schemas.openxmlformats.org/officeDocument/2006/relationships/tags" Target="../tags/tag84.xml"/><Relationship Id="rId4" Type="http://schemas.openxmlformats.org/officeDocument/2006/relationships/image" Target="../media/image68.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8.xml"/><Relationship Id="rId1" Type="http://schemas.openxmlformats.org/officeDocument/2006/relationships/tags" Target="../tags/tag85.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8.xml"/><Relationship Id="rId1" Type="http://schemas.openxmlformats.org/officeDocument/2006/relationships/tags" Target="../tags/tag86.xml"/><Relationship Id="rId4" Type="http://schemas.openxmlformats.org/officeDocument/2006/relationships/image" Target="../media/image69.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8.xml"/><Relationship Id="rId1" Type="http://schemas.openxmlformats.org/officeDocument/2006/relationships/tags" Target="../tags/tag87.xml"/><Relationship Id="rId4" Type="http://schemas.openxmlformats.org/officeDocument/2006/relationships/image" Target="../media/image69.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8.xml"/><Relationship Id="rId1" Type="http://schemas.openxmlformats.org/officeDocument/2006/relationships/tags" Target="../tags/tag88.xml"/><Relationship Id="rId4" Type="http://schemas.openxmlformats.org/officeDocument/2006/relationships/image" Target="../media/image70.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8.xml"/><Relationship Id="rId1" Type="http://schemas.openxmlformats.org/officeDocument/2006/relationships/tags" Target="../tags/tag89.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8.xml"/><Relationship Id="rId1" Type="http://schemas.openxmlformats.org/officeDocument/2006/relationships/tags" Target="../tags/tag90.xml"/><Relationship Id="rId4" Type="http://schemas.openxmlformats.org/officeDocument/2006/relationships/image" Target="../media/image71.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8.xml"/><Relationship Id="rId1" Type="http://schemas.openxmlformats.org/officeDocument/2006/relationships/tags" Target="../tags/tag91.xml"/><Relationship Id="rId4" Type="http://schemas.openxmlformats.org/officeDocument/2006/relationships/image" Target="../media/image72.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8.xml"/><Relationship Id="rId1" Type="http://schemas.openxmlformats.org/officeDocument/2006/relationships/tags" Target="../tags/tag92.xml"/><Relationship Id="rId4" Type="http://schemas.openxmlformats.org/officeDocument/2006/relationships/image" Target="../media/image73.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8.xml"/><Relationship Id="rId1" Type="http://schemas.openxmlformats.org/officeDocument/2006/relationships/tags" Target="../tags/tag93.xml"/><Relationship Id="rId4" Type="http://schemas.openxmlformats.org/officeDocument/2006/relationships/image" Target="../media/image74.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8.xml"/><Relationship Id="rId1" Type="http://schemas.openxmlformats.org/officeDocument/2006/relationships/tags" Target="../tags/tag94.xml"/><Relationship Id="rId4" Type="http://schemas.openxmlformats.org/officeDocument/2006/relationships/image" Target="../media/image75.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8.xml"/><Relationship Id="rId1" Type="http://schemas.openxmlformats.org/officeDocument/2006/relationships/tags" Target="../tags/tag95.xml"/><Relationship Id="rId4" Type="http://schemas.openxmlformats.org/officeDocument/2006/relationships/image" Target="../media/image76.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8.xml"/><Relationship Id="rId1" Type="http://schemas.openxmlformats.org/officeDocument/2006/relationships/tags" Target="../tags/tag96.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8.xml"/><Relationship Id="rId1" Type="http://schemas.openxmlformats.org/officeDocument/2006/relationships/tags" Target="../tags/tag97.xml"/><Relationship Id="rId4" Type="http://schemas.openxmlformats.org/officeDocument/2006/relationships/image" Target="../media/image77.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8.xml"/><Relationship Id="rId1" Type="http://schemas.openxmlformats.org/officeDocument/2006/relationships/tags" Target="../tags/tag98.xml"/><Relationship Id="rId4" Type="http://schemas.openxmlformats.org/officeDocument/2006/relationships/image" Target="../media/image78.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8.xml"/><Relationship Id="rId1" Type="http://schemas.openxmlformats.org/officeDocument/2006/relationships/tags" Target="../tags/tag99.xml"/><Relationship Id="rId4" Type="http://schemas.openxmlformats.org/officeDocument/2006/relationships/image" Target="../media/image79.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8.xml"/><Relationship Id="rId1" Type="http://schemas.openxmlformats.org/officeDocument/2006/relationships/tags" Target="../tags/tag100.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8.xml"/><Relationship Id="rId1" Type="http://schemas.openxmlformats.org/officeDocument/2006/relationships/tags" Target="../tags/tag101.xml"/><Relationship Id="rId4" Type="http://schemas.openxmlformats.org/officeDocument/2006/relationships/image" Target="../media/image78.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8.xml"/><Relationship Id="rId1" Type="http://schemas.openxmlformats.org/officeDocument/2006/relationships/tags" Target="../tags/tag102.xml"/><Relationship Id="rId4" Type="http://schemas.openxmlformats.org/officeDocument/2006/relationships/image" Target="../media/image80.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8.xml"/><Relationship Id="rId1" Type="http://schemas.openxmlformats.org/officeDocument/2006/relationships/tags" Target="../tags/tag103.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8.xml"/><Relationship Id="rId1" Type="http://schemas.openxmlformats.org/officeDocument/2006/relationships/tags" Target="../tags/tag104.xml"/><Relationship Id="rId4" Type="http://schemas.openxmlformats.org/officeDocument/2006/relationships/image" Target="../media/image81.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8.xml"/><Relationship Id="rId1" Type="http://schemas.openxmlformats.org/officeDocument/2006/relationships/tags" Target="../tags/tag105.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8.xml"/><Relationship Id="rId1" Type="http://schemas.openxmlformats.org/officeDocument/2006/relationships/tags" Target="../tags/tag106.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8.xml"/><Relationship Id="rId1" Type="http://schemas.openxmlformats.org/officeDocument/2006/relationships/tags" Target="../tags/tag107.xml"/><Relationship Id="rId4" Type="http://schemas.openxmlformats.org/officeDocument/2006/relationships/image" Target="../media/image82.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8.xml"/><Relationship Id="rId1" Type="http://schemas.openxmlformats.org/officeDocument/2006/relationships/tags" Target="../tags/tag108.xml"/><Relationship Id="rId4" Type="http://schemas.openxmlformats.org/officeDocument/2006/relationships/image" Target="../media/image83.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8.xml"/><Relationship Id="rId1" Type="http://schemas.openxmlformats.org/officeDocument/2006/relationships/tags" Target="../tags/tag109.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8.xml"/><Relationship Id="rId1" Type="http://schemas.openxmlformats.org/officeDocument/2006/relationships/tags" Target="../tags/tag110.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8.xml"/><Relationship Id="rId1" Type="http://schemas.openxmlformats.org/officeDocument/2006/relationships/tags" Target="../tags/tag111.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8.xml"/><Relationship Id="rId1" Type="http://schemas.openxmlformats.org/officeDocument/2006/relationships/tags" Target="../tags/tag112.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8.xml"/><Relationship Id="rId1" Type="http://schemas.openxmlformats.org/officeDocument/2006/relationships/tags" Target="../tags/tag113.xml"/><Relationship Id="rId4" Type="http://schemas.openxmlformats.org/officeDocument/2006/relationships/image" Target="../media/image84.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8.xml"/><Relationship Id="rId1" Type="http://schemas.openxmlformats.org/officeDocument/2006/relationships/tags" Target="../tags/tag114.xml"/><Relationship Id="rId4" Type="http://schemas.openxmlformats.org/officeDocument/2006/relationships/image" Target="../media/image84.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8.xml"/><Relationship Id="rId1" Type="http://schemas.openxmlformats.org/officeDocument/2006/relationships/tags" Target="../tags/tag115.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8.xml"/><Relationship Id="rId1" Type="http://schemas.openxmlformats.org/officeDocument/2006/relationships/tags" Target="../tags/tag116.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8.xml"/><Relationship Id="rId1" Type="http://schemas.openxmlformats.org/officeDocument/2006/relationships/tags" Target="../tags/tag117.xml"/><Relationship Id="rId4" Type="http://schemas.openxmlformats.org/officeDocument/2006/relationships/image" Target="../media/image85.png"/></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8.xml"/><Relationship Id="rId1" Type="http://schemas.openxmlformats.org/officeDocument/2006/relationships/tags" Target="../tags/tag118.xml"/><Relationship Id="rId4" Type="http://schemas.openxmlformats.org/officeDocument/2006/relationships/image" Target="../media/image85.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8.xml"/><Relationship Id="rId1" Type="http://schemas.openxmlformats.org/officeDocument/2006/relationships/tags" Target="../tags/tag119.xml"/><Relationship Id="rId4" Type="http://schemas.openxmlformats.org/officeDocument/2006/relationships/image" Target="../media/image85.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8.xml"/><Relationship Id="rId1" Type="http://schemas.openxmlformats.org/officeDocument/2006/relationships/tags" Target="../tags/tag120.xml"/><Relationship Id="rId4" Type="http://schemas.openxmlformats.org/officeDocument/2006/relationships/image" Target="../media/image86.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8.xml"/><Relationship Id="rId1" Type="http://schemas.openxmlformats.org/officeDocument/2006/relationships/tags" Target="../tags/tag121.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8.xml"/><Relationship Id="rId1" Type="http://schemas.openxmlformats.org/officeDocument/2006/relationships/tags" Target="../tags/tag122.xml"/><Relationship Id="rId4" Type="http://schemas.openxmlformats.org/officeDocument/2006/relationships/image" Target="../media/image87.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8.xml"/><Relationship Id="rId1" Type="http://schemas.openxmlformats.org/officeDocument/2006/relationships/tags" Target="../tags/tag123.xml"/><Relationship Id="rId4" Type="http://schemas.openxmlformats.org/officeDocument/2006/relationships/image" Target="../media/image88.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8.xml"/><Relationship Id="rId1" Type="http://schemas.openxmlformats.org/officeDocument/2006/relationships/tags" Target="../tags/tag124.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9.xml"/><Relationship Id="rId1" Type="http://schemas.openxmlformats.org/officeDocument/2006/relationships/tags" Target="../tags/tag125.xml"/><Relationship Id="rId4" Type="http://schemas.openxmlformats.org/officeDocument/2006/relationships/image" Target="../media/image89.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7.xml"/><Relationship Id="rId1" Type="http://schemas.openxmlformats.org/officeDocument/2006/relationships/tags" Target="../tags/tag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a:latin typeface="方正细倩简体"/>
                <a:ea typeface="方正细倩简体"/>
                <a:cs typeface="方正细倩简体"/>
              </a:rPr>
              <a:t>第</a:t>
            </a:r>
            <a:r>
              <a:rPr lang="en-US" altLang="zh-CN" b="1" dirty="0">
                <a:latin typeface="方正细倩简体"/>
                <a:ea typeface="方正细倩简体"/>
                <a:cs typeface="方正细倩简体"/>
              </a:rPr>
              <a:t>5</a:t>
            </a:r>
            <a:r>
              <a:rPr lang="zh-CN" altLang="en-US" b="1" dirty="0">
                <a:latin typeface="方正细倩简体"/>
                <a:ea typeface="方正细倩简体"/>
                <a:cs typeface="方正细倩简体"/>
              </a:rPr>
              <a:t>章 </a:t>
            </a:r>
            <a:r>
              <a:rPr lang="en-US" altLang="zh-CN" b="1" dirty="0">
                <a:latin typeface="方正细倩简体"/>
                <a:ea typeface="方正细倩简体"/>
                <a:cs typeface="方正细倩简体"/>
              </a:rPr>
              <a:t>Java API</a:t>
            </a:r>
            <a:endParaRPr lang="zh-CN" altLang="zh-CN" b="1" dirty="0">
              <a:solidFill>
                <a:srgbClr val="000000"/>
              </a:solidFill>
            </a:endParaRPr>
          </a:p>
        </p:txBody>
      </p:sp>
      <p:pic>
        <p:nvPicPr>
          <p:cNvPr id="268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4980313"/>
            <a:ext cx="2429827" cy="1456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4284793" y="4980313"/>
            <a:ext cx="2997201" cy="1338828"/>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字符串类</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System</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类和</a:t>
            </a: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Runtime</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类</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Math</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类与</a:t>
            </a: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Random</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类</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a:xfrm>
            <a:off x="7645245" y="4980313"/>
            <a:ext cx="1953229" cy="1338828"/>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日期时间类</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包装类</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正则表达式</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649455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534422" y="388333"/>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5.1 </a:t>
            </a:r>
            <a:r>
              <a:rPr lang="zh-CN" altLang="en-US" sz="3200" b="1" dirty="0">
                <a:solidFill>
                  <a:srgbClr val="1353A2"/>
                </a:solidFill>
                <a:latin typeface="微软雅黑" panose="020B0503020204020204" pitchFamily="34" charset="-122"/>
                <a:ea typeface="微软雅黑" panose="020B0503020204020204" pitchFamily="34" charset="-122"/>
              </a:rPr>
              <a:t>字符串类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4216400" y="1361440"/>
            <a:ext cx="7386320" cy="4653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开发中经常会用到字符串，所谓字符串就是指一连串的字符，它是由许多单个字符连接而成的，如多个英文字母所组成的一个英文单词。字符串中可以包含任意字符，这些字符必须包含在一对双引号“”之内，例如“</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中定义了三个封装字符串的类，分别是</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，它们位于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java.lang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包中，并提供了一系列操作字符串的方法，这些方法不需要导包就可以直接使用。</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7646" y="1784032"/>
            <a:ext cx="2424113" cy="378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18F80AB7-A09B-4048-AD9F-273AA45F2B1D}" type="slidenum">
              <a:rPr lang="zh-CN" altLang="en-US" smtClean="0"/>
              <a:t>2</a:t>
            </a:fld>
            <a:endParaRPr lang="zh-CN" altLang="en-US" dirty="0"/>
          </a:p>
        </p:txBody>
      </p:sp>
    </p:spTree>
    <p:custDataLst>
      <p:tags r:id="rId1"/>
    </p:custDataLst>
    <p:extLst>
      <p:ext uri="{BB962C8B-B14F-4D97-AF65-F5344CB8AC3E}">
        <p14:creationId xmlns:p14="http://schemas.microsoft.com/office/powerpoint/2010/main" val="76209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15363"/>
                                        </p:tgtEl>
                                        <p:attrNameLst>
                                          <p:attrName>style.visibility</p:attrName>
                                        </p:attrNameLst>
                                      </p:cBhvr>
                                      <p:to>
                                        <p:strVal val="visible"/>
                                      </p:to>
                                    </p:set>
                                    <p:animEffect transition="in" filter="fade">
                                      <p:cBhvr>
                                        <p:cTn id="10" dur="1000"/>
                                        <p:tgtEl>
                                          <p:spTgt spid="15363"/>
                                        </p:tgtEl>
                                      </p:cBhvr>
                                    </p:animEffect>
                                    <p:anim calcmode="lin" valueType="num">
                                      <p:cBhvr>
                                        <p:cTn id="11" dur="1000" fill="hold"/>
                                        <p:tgtEl>
                                          <p:spTgt spid="15363"/>
                                        </p:tgtEl>
                                        <p:attrNameLst>
                                          <p:attrName>ppt_x</p:attrName>
                                        </p:attrNameLst>
                                      </p:cBhvr>
                                      <p:tavLst>
                                        <p:tav tm="0">
                                          <p:val>
                                            <p:strVal val="#ppt_x"/>
                                          </p:val>
                                        </p:tav>
                                        <p:tav tm="100000">
                                          <p:val>
                                            <p:strVal val="#ppt_x"/>
                                          </p:val>
                                        </p:tav>
                                      </p:tavLst>
                                    </p:anim>
                                    <p:anim calcmode="lin" valueType="num">
                                      <p:cBhvr>
                                        <p:cTn id="12" dur="1000" fill="hold"/>
                                        <p:tgtEl>
                                          <p:spTgt spid="153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29152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5.1.1 String</a:t>
            </a:r>
            <a:r>
              <a:rPr lang="zh-CN" altLang="zh-CN" sz="3200" b="1" dirty="0">
                <a:solidFill>
                  <a:srgbClr val="1353A2"/>
                </a:solidFill>
                <a:latin typeface="微软雅黑" panose="020B0503020204020204" pitchFamily="34" charset="-122"/>
                <a:ea typeface="微软雅黑" panose="020B0503020204020204" pitchFamily="34" charset="-122"/>
              </a:rPr>
              <a:t>类的初始化</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026918" y="1595120"/>
            <a:ext cx="5389882" cy="4104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使用字符串常量直接初始化一个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对象，具体代码如下：</a:t>
            </a:r>
          </a:p>
          <a:p>
            <a:pPr marL="0" indent="0" eaLnBrk="1" hangingPunct="1">
              <a:lnSpc>
                <a:spcPct val="150000"/>
              </a:lnSpc>
              <a:spcBef>
                <a:spcPct val="0"/>
              </a:spcBef>
              <a:buNone/>
              <a:defRPr/>
            </a:pPr>
            <a:r>
              <a:rPr lang="en-US"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String str1 = "</a:t>
            </a:r>
            <a:r>
              <a:rPr lang="en-US" altLang="zh-CN" sz="2400" dirty="0" err="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类比较常用，所以提供了这种简化的语法，用于创建并初始化</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对象，其中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”表示一个字符串常量。</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4177" y="1752600"/>
            <a:ext cx="2827337"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C83C2453-378F-4510-9D38-1AEF67D9819B}" type="slidenum">
              <a:rPr lang="zh-CN" altLang="en-US" smtClean="0"/>
              <a:t>3</a:t>
            </a:fld>
            <a:endParaRPr lang="zh-CN" altLang="en-US" dirty="0"/>
          </a:p>
        </p:txBody>
      </p:sp>
    </p:spTree>
    <p:custDataLst>
      <p:tags r:id="rId1"/>
    </p:custDataLst>
    <p:extLst>
      <p:ext uri="{BB962C8B-B14F-4D97-AF65-F5344CB8AC3E}">
        <p14:creationId xmlns:p14="http://schemas.microsoft.com/office/powerpoint/2010/main" val="356419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386"/>
                                        </p:tgtEl>
                                        <p:attrNameLst>
                                          <p:attrName>style.visibility</p:attrName>
                                        </p:attrNameLst>
                                      </p:cBhvr>
                                      <p:to>
                                        <p:strVal val="visible"/>
                                      </p:to>
                                    </p:set>
                                    <p:animEffect transition="in" filter="fade">
                                      <p:cBhvr>
                                        <p:cTn id="11"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62933"/>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5.1.1 String</a:t>
            </a:r>
            <a:r>
              <a:rPr lang="zh-CN" altLang="zh-CN" sz="3200" b="1" dirty="0">
                <a:solidFill>
                  <a:srgbClr val="1353A2"/>
                </a:solidFill>
                <a:latin typeface="微软雅黑" panose="020B0503020204020204" pitchFamily="34" charset="-122"/>
                <a:ea typeface="微软雅黑" panose="020B0503020204020204" pitchFamily="34" charset="-122"/>
              </a:rPr>
              <a:t>类的初始化</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44320" y="1310640"/>
            <a:ext cx="9580880" cy="1402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类的构造方法初始化字符串对象，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类的常见构造方法如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2123440" y="2722880"/>
          <a:ext cx="8812530" cy="3027679"/>
        </p:xfrm>
        <a:graphic>
          <a:graphicData uri="http://schemas.openxmlformats.org/drawingml/2006/table">
            <a:tbl>
              <a:tblPr firstRow="1" firstCol="1" bandRow="1">
                <a:tableStyleId>{5C22544A-7EE6-4342-B048-85BDC9FD1C3A}</a:tableStyleId>
              </a:tblPr>
              <a:tblGrid>
                <a:gridCol w="3422476">
                  <a:extLst>
                    <a:ext uri="{9D8B030D-6E8A-4147-A177-3AD203B41FA5}">
                      <a16:colId xmlns:a16="http://schemas.microsoft.com/office/drawing/2014/main" val="20000"/>
                    </a:ext>
                  </a:extLst>
                </a:gridCol>
                <a:gridCol w="5390054">
                  <a:extLst>
                    <a:ext uri="{9D8B030D-6E8A-4147-A177-3AD203B41FA5}">
                      <a16:colId xmlns:a16="http://schemas.microsoft.com/office/drawing/2014/main" val="20001"/>
                    </a:ext>
                  </a:extLst>
                </a:gridCol>
              </a:tblGrid>
              <a:tr h="544639">
                <a:tc>
                  <a:txBody>
                    <a:bodyPr/>
                    <a:lstStyle/>
                    <a:p>
                      <a:pPr algn="ctr">
                        <a:spcAft>
                          <a:spcPts val="0"/>
                        </a:spcAft>
                      </a:pPr>
                      <a:r>
                        <a:rPr lang="zh-CN" sz="1800" dirty="0">
                          <a:effectLst/>
                        </a:rPr>
                        <a:t>方法声明</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98245">
                <a:tc>
                  <a:txBody>
                    <a:bodyPr/>
                    <a:lstStyle/>
                    <a:p>
                      <a:pPr indent="66675">
                        <a:spcAft>
                          <a:spcPts val="0"/>
                        </a:spcAft>
                      </a:pPr>
                      <a:r>
                        <a:rPr lang="en-US" sz="1800" dirty="0">
                          <a:effectLst/>
                        </a:rPr>
                        <a:t>String()</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创建一个内容为空的字符串</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46784">
                <a:tc>
                  <a:txBody>
                    <a:bodyPr/>
                    <a:lstStyle/>
                    <a:p>
                      <a:pPr indent="66675">
                        <a:spcAft>
                          <a:spcPts val="0"/>
                        </a:spcAft>
                      </a:pPr>
                      <a:r>
                        <a:rPr lang="en-US" sz="1800">
                          <a:effectLst/>
                        </a:rPr>
                        <a:t>String(String value)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根据指定的字符串内容创建对象</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739766">
                <a:tc>
                  <a:txBody>
                    <a:bodyPr/>
                    <a:lstStyle/>
                    <a:p>
                      <a:pPr indent="66675">
                        <a:spcAft>
                          <a:spcPts val="0"/>
                        </a:spcAft>
                      </a:pPr>
                      <a:r>
                        <a:rPr lang="en-US" sz="1800">
                          <a:effectLst/>
                        </a:rPr>
                        <a:t>String(char[] value)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根据指定的字符数组创建对象</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98245">
                <a:tc>
                  <a:txBody>
                    <a:bodyPr/>
                    <a:lstStyle/>
                    <a:p>
                      <a:pPr indent="66675">
                        <a:spcAft>
                          <a:spcPts val="0"/>
                        </a:spcAft>
                      </a:pPr>
                      <a:r>
                        <a:rPr lang="en-US" sz="1800">
                          <a:effectLst/>
                        </a:rPr>
                        <a:t>String(byte[] bytes)</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dirty="0">
                          <a:effectLst/>
                        </a:rPr>
                        <a:t>根据指定的字节数组创建对象</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文本占位符 3"/>
          <p:cNvSpPr>
            <a:spLocks noGrp="1"/>
          </p:cNvSpPr>
          <p:nvPr>
            <p:ph type="body" sz="quarter" idx="10"/>
          </p:nvPr>
        </p:nvSpPr>
        <p:spPr/>
        <p:txBody>
          <a:bodyPr/>
          <a:lstStyle/>
          <a:p>
            <a:fld id="{8140FD42-69EF-4867-A2B6-1C89FDF6E046}" type="slidenum">
              <a:rPr lang="zh-CN" altLang="en-US" smtClean="0"/>
              <a:t>4</a:t>
            </a:fld>
            <a:endParaRPr lang="zh-CN" altLang="en-US" dirty="0"/>
          </a:p>
        </p:txBody>
      </p:sp>
    </p:spTree>
    <p:custDataLst>
      <p:tags r:id="rId1"/>
    </p:custDataLst>
    <p:extLst>
      <p:ext uri="{BB962C8B-B14F-4D97-AF65-F5344CB8AC3E}">
        <p14:creationId xmlns:p14="http://schemas.microsoft.com/office/powerpoint/2010/main" val="123610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56003" y="372458"/>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5.1.1 String</a:t>
            </a:r>
            <a:r>
              <a:rPr lang="zh-CN" altLang="zh-CN" sz="3200" b="1" dirty="0">
                <a:solidFill>
                  <a:srgbClr val="1353A2"/>
                </a:solidFill>
                <a:latin typeface="微软雅黑" panose="020B0503020204020204" pitchFamily="34" charset="-122"/>
                <a:ea typeface="微软雅黑" panose="020B0503020204020204" pitchFamily="34" charset="-122"/>
              </a:rPr>
              <a:t>类的初始化</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544320" y="1329690"/>
            <a:ext cx="9580880" cy="701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2529840" y="2122170"/>
            <a:ext cx="8097519" cy="3779519"/>
            <a:chOff x="2164080" y="2113280"/>
            <a:chExt cx="8097519" cy="3779519"/>
          </a:xfrm>
        </p:grpSpPr>
        <p:pic>
          <p:nvPicPr>
            <p:cNvPr id="194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4080" y="2113280"/>
              <a:ext cx="8097519" cy="3779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794000" y="2189480"/>
              <a:ext cx="6604000" cy="3500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public class Example01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public static void main(String[] args) throws Exception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创建一个空的字符串</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String str1 = new String();</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创建一个内容为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的字符串</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String str2 = new String("abcd");</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创建一个内容为字符数组的字符串</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char[] charArray = new char[] { 'D', 'E', 'F'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String str3 = new String(charArray);</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A197D905-3B76-41FC-B0CF-17B60D78BD8E}" type="slidenum">
              <a:rPr lang="zh-CN" altLang="en-US" smtClean="0"/>
              <a:t>5</a:t>
            </a:fld>
            <a:endParaRPr lang="zh-CN" altLang="en-US" dirty="0"/>
          </a:p>
        </p:txBody>
      </p:sp>
    </p:spTree>
    <p:custDataLst>
      <p:tags r:id="rId1"/>
    </p:custDataLst>
    <p:extLst>
      <p:ext uri="{BB962C8B-B14F-4D97-AF65-F5344CB8AC3E}">
        <p14:creationId xmlns:p14="http://schemas.microsoft.com/office/powerpoint/2010/main" val="155095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5.1.1 String</a:t>
            </a:r>
            <a:r>
              <a:rPr lang="zh-CN" altLang="zh-CN" sz="3200" b="1" dirty="0">
                <a:solidFill>
                  <a:srgbClr val="1353A2"/>
                </a:solidFill>
                <a:latin typeface="微软雅黑" panose="020B0503020204020204" pitchFamily="34" charset="-122"/>
                <a:ea typeface="微软雅黑" panose="020B0503020204020204" pitchFamily="34" charset="-122"/>
              </a:rPr>
              <a:t>类的初始化</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616200" y="1645285"/>
            <a:ext cx="8087360" cy="3698239"/>
            <a:chOff x="2479040" y="1645285"/>
            <a:chExt cx="8087360" cy="3698239"/>
          </a:xfrm>
        </p:grpSpPr>
        <p:pic>
          <p:nvPicPr>
            <p:cNvPr id="204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9040" y="1645285"/>
              <a:ext cx="8087360" cy="3698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535680" y="1833880"/>
              <a:ext cx="6248400" cy="3418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创建一个内容为字节数组的字符串</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byte[] arr = {97,98,99};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String str4 = new String(arr);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System.out.println("a" + str1 + "b");</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System.out.println(str2);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System.out.println(str3);</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System.out.println(str4);</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066929B-2034-4AA8-9CCC-A64A76CB1BCE}" type="slidenum">
              <a:rPr lang="zh-CN" altLang="en-US" smtClean="0"/>
              <a:t>6</a:t>
            </a:fld>
            <a:endParaRPr lang="zh-CN" altLang="en-US" dirty="0"/>
          </a:p>
        </p:txBody>
      </p:sp>
    </p:spTree>
    <p:custDataLst>
      <p:tags r:id="rId1"/>
    </p:custDataLst>
    <p:extLst>
      <p:ext uri="{BB962C8B-B14F-4D97-AF65-F5344CB8AC3E}">
        <p14:creationId xmlns:p14="http://schemas.microsoft.com/office/powerpoint/2010/main" val="2394262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73093"/>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44320" y="1203960"/>
            <a:ext cx="9804400" cy="685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custDataLst>
              <p:tags r:id="rId2"/>
            </p:custDataLst>
          </p:nvPr>
        </p:nvGraphicFramePr>
        <p:xfrm>
          <a:off x="2453638" y="1869440"/>
          <a:ext cx="8726805" cy="4338319"/>
        </p:xfrm>
        <a:graphic>
          <a:graphicData uri="http://schemas.openxmlformats.org/drawingml/2006/table">
            <a:tbl>
              <a:tblPr firstRow="1" firstCol="1" bandRow="1">
                <a:tableStyleId>{5C22544A-7EE6-4342-B048-85BDC9FD1C3A}</a:tableStyleId>
              </a:tblPr>
              <a:tblGrid>
                <a:gridCol w="3688080">
                  <a:extLst>
                    <a:ext uri="{9D8B030D-6E8A-4147-A177-3AD203B41FA5}">
                      <a16:colId xmlns:a16="http://schemas.microsoft.com/office/drawing/2014/main" val="20000"/>
                    </a:ext>
                  </a:extLst>
                </a:gridCol>
                <a:gridCol w="5038725">
                  <a:extLst>
                    <a:ext uri="{9D8B030D-6E8A-4147-A177-3AD203B41FA5}">
                      <a16:colId xmlns:a16="http://schemas.microsoft.com/office/drawing/2014/main" val="20001"/>
                    </a:ext>
                  </a:extLst>
                </a:gridCol>
              </a:tblGrid>
              <a:tr h="364446">
                <a:tc>
                  <a:txBody>
                    <a:bodyPr/>
                    <a:lstStyle/>
                    <a:p>
                      <a:pPr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0"/>
                  </a:ext>
                </a:extLst>
              </a:tr>
              <a:tr h="586653">
                <a:tc>
                  <a:txBody>
                    <a:bodyPr/>
                    <a:lstStyle/>
                    <a:p>
                      <a:pPr>
                        <a:spcAft>
                          <a:spcPts val="0"/>
                        </a:spcAft>
                      </a:pPr>
                      <a:r>
                        <a:rPr lang="en-US" sz="1600" dirty="0" err="1">
                          <a:effectLst/>
                        </a:rPr>
                        <a:t>int</a:t>
                      </a:r>
                      <a:r>
                        <a:rPr lang="en-US" sz="1600" dirty="0">
                          <a:effectLst/>
                        </a:rPr>
                        <a:t> </a:t>
                      </a:r>
                      <a:r>
                        <a:rPr lang="en-US" sz="1600" dirty="0" err="1">
                          <a:effectLst/>
                        </a:rPr>
                        <a:t>indexOf</a:t>
                      </a:r>
                      <a:r>
                        <a:rPr lang="en-US" sz="1600" dirty="0">
                          <a:effectLst/>
                        </a:rPr>
                        <a:t>(</a:t>
                      </a:r>
                      <a:r>
                        <a:rPr lang="en-US" sz="1600" dirty="0" err="1">
                          <a:effectLst/>
                        </a:rPr>
                        <a:t>int</a:t>
                      </a:r>
                      <a:r>
                        <a:rPr lang="en-US" sz="1600" dirty="0">
                          <a:effectLst/>
                        </a:rPr>
                        <a:t> </a:t>
                      </a:r>
                      <a:r>
                        <a:rPr lang="en-US" sz="1600" dirty="0" err="1">
                          <a:effectLst/>
                        </a:rPr>
                        <a:t>ch</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返回指定字符</a:t>
                      </a:r>
                      <a:r>
                        <a:rPr lang="en-US" sz="1600">
                          <a:effectLst/>
                        </a:rPr>
                        <a:t>ch</a:t>
                      </a:r>
                      <a:r>
                        <a:rPr lang="zh-CN" sz="1600">
                          <a:effectLst/>
                        </a:rPr>
                        <a:t>在字符串中第一次出现位置的索引 </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1"/>
                  </a:ext>
                </a:extLst>
              </a:tr>
              <a:tr h="586653">
                <a:tc>
                  <a:txBody>
                    <a:bodyPr/>
                    <a:lstStyle/>
                    <a:p>
                      <a:pPr>
                        <a:spcAft>
                          <a:spcPts val="0"/>
                        </a:spcAft>
                      </a:pPr>
                      <a:r>
                        <a:rPr lang="en-US" sz="1600">
                          <a:effectLst/>
                        </a:rPr>
                        <a:t>int lastIndexOf(int ch)</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返回指定字符</a:t>
                      </a:r>
                      <a:r>
                        <a:rPr lang="en-US" sz="1600">
                          <a:effectLst/>
                        </a:rPr>
                        <a:t>ch</a:t>
                      </a:r>
                      <a:r>
                        <a:rPr lang="zh-CN" sz="1600">
                          <a:effectLst/>
                        </a:rPr>
                        <a:t>在字符串中最后一次出现位置的索引</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2"/>
                  </a:ext>
                </a:extLst>
              </a:tr>
              <a:tr h="586653">
                <a:tc>
                  <a:txBody>
                    <a:bodyPr/>
                    <a:lstStyle/>
                    <a:p>
                      <a:pPr>
                        <a:spcAft>
                          <a:spcPts val="0"/>
                        </a:spcAft>
                      </a:pPr>
                      <a:r>
                        <a:rPr lang="en-US" sz="1600">
                          <a:effectLst/>
                        </a:rPr>
                        <a:t>int indexOf(String str)</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返回指定子字符串</a:t>
                      </a:r>
                      <a:r>
                        <a:rPr lang="en-US" sz="1600">
                          <a:effectLst/>
                        </a:rPr>
                        <a:t>str</a:t>
                      </a:r>
                      <a:r>
                        <a:rPr lang="zh-CN" sz="1600">
                          <a:effectLst/>
                        </a:rPr>
                        <a:t>在字符串第一次出现位置的索引</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3"/>
                  </a:ext>
                </a:extLst>
              </a:tr>
              <a:tr h="586653">
                <a:tc>
                  <a:txBody>
                    <a:bodyPr/>
                    <a:lstStyle/>
                    <a:p>
                      <a:pPr>
                        <a:spcAft>
                          <a:spcPts val="0"/>
                        </a:spcAft>
                      </a:pPr>
                      <a:r>
                        <a:rPr lang="en-US" sz="1600">
                          <a:effectLst/>
                        </a:rPr>
                        <a:t>int lastIndexOf(String str)</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返回指定子字符串</a:t>
                      </a:r>
                      <a:r>
                        <a:rPr lang="en-US" sz="1600">
                          <a:effectLst/>
                        </a:rPr>
                        <a:t>str</a:t>
                      </a:r>
                      <a:r>
                        <a:rPr lang="zh-CN" sz="1600">
                          <a:effectLst/>
                        </a:rPr>
                        <a:t>在此字符串中最后一次出现位置的索引</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4"/>
                  </a:ext>
                </a:extLst>
              </a:tr>
              <a:tr h="586653">
                <a:tc>
                  <a:txBody>
                    <a:bodyPr/>
                    <a:lstStyle/>
                    <a:p>
                      <a:pPr>
                        <a:spcAft>
                          <a:spcPts val="0"/>
                        </a:spcAft>
                      </a:pPr>
                      <a:r>
                        <a:rPr lang="en-US" sz="1600">
                          <a:effectLst/>
                        </a:rPr>
                        <a:t>char charAt(int index) </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返回字符串中</a:t>
                      </a:r>
                      <a:r>
                        <a:rPr lang="en-US" sz="1600">
                          <a:effectLst/>
                        </a:rPr>
                        <a:t>index</a:t>
                      </a:r>
                      <a:r>
                        <a:rPr lang="zh-CN" sz="1600">
                          <a:effectLst/>
                        </a:rPr>
                        <a:t>位置上的字符，其中</a:t>
                      </a:r>
                      <a:r>
                        <a:rPr lang="en-US" sz="1600">
                          <a:effectLst/>
                        </a:rPr>
                        <a:t>index</a:t>
                      </a:r>
                      <a:r>
                        <a:rPr lang="zh-CN" sz="1600">
                          <a:effectLst/>
                        </a:rPr>
                        <a:t>的取值范围是</a:t>
                      </a:r>
                      <a:r>
                        <a:rPr lang="en-US" sz="1600">
                          <a:effectLst/>
                        </a:rPr>
                        <a:t>0~(</a:t>
                      </a:r>
                      <a:r>
                        <a:rPr lang="zh-CN" sz="1600">
                          <a:effectLst/>
                        </a:rPr>
                        <a:t>字符串长度是</a:t>
                      </a:r>
                      <a:r>
                        <a:rPr lang="en-US" sz="1600">
                          <a:effectLst/>
                        </a:rPr>
                        <a:t>-1)</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5"/>
                  </a:ext>
                </a:extLst>
              </a:tr>
              <a:tr h="453956">
                <a:tc>
                  <a:txBody>
                    <a:bodyPr/>
                    <a:lstStyle/>
                    <a:p>
                      <a:pPr>
                        <a:spcAft>
                          <a:spcPts val="0"/>
                        </a:spcAft>
                      </a:pPr>
                      <a:r>
                        <a:rPr lang="en-US" sz="1600">
                          <a:effectLst/>
                        </a:rPr>
                        <a:t>Boolean endsWith(String suffix)</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判断此字符串是否以指定的字符串结尾</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6"/>
                  </a:ext>
                </a:extLst>
              </a:tr>
              <a:tr h="293326">
                <a:tc>
                  <a:txBody>
                    <a:bodyPr/>
                    <a:lstStyle/>
                    <a:p>
                      <a:pPr>
                        <a:spcAft>
                          <a:spcPts val="0"/>
                        </a:spcAft>
                      </a:pPr>
                      <a:r>
                        <a:rPr lang="en-US" sz="1600">
                          <a:effectLst/>
                        </a:rPr>
                        <a:t>int length()</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返回此字符串的长度</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7"/>
                  </a:ext>
                </a:extLst>
              </a:tr>
              <a:tr h="293326">
                <a:tc>
                  <a:txBody>
                    <a:bodyPr/>
                    <a:lstStyle/>
                    <a:p>
                      <a:pPr>
                        <a:spcAft>
                          <a:spcPts val="0"/>
                        </a:spcAft>
                      </a:pPr>
                      <a:r>
                        <a:rPr lang="en-US" sz="1600">
                          <a:effectLst/>
                        </a:rPr>
                        <a:t>boolean equals(Object anObject)</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dirty="0">
                          <a:effectLst/>
                        </a:rPr>
                        <a:t>将此字符串与指定的字符串比较</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8"/>
                  </a:ext>
                </a:extLst>
              </a:tr>
            </a:tbl>
          </a:graphicData>
        </a:graphic>
      </p:graphicFrame>
      <p:sp>
        <p:nvSpPr>
          <p:cNvPr id="4" name="文本占位符 3"/>
          <p:cNvSpPr>
            <a:spLocks noGrp="1"/>
          </p:cNvSpPr>
          <p:nvPr>
            <p:ph type="body" sz="quarter" idx="10"/>
          </p:nvPr>
        </p:nvSpPr>
        <p:spPr/>
        <p:txBody>
          <a:bodyPr/>
          <a:lstStyle/>
          <a:p>
            <a:fld id="{93A140C0-EB7F-4DEE-B598-A889B948FE8B}" type="slidenum">
              <a:rPr lang="zh-CN" altLang="en-US" smtClean="0"/>
              <a:t>7</a:t>
            </a:fld>
            <a:endParaRPr lang="zh-CN" altLang="en-US" dirty="0"/>
          </a:p>
        </p:txBody>
      </p:sp>
    </p:spTree>
    <p:custDataLst>
      <p:tags r:id="rId1"/>
    </p:custDataLst>
    <p:extLst>
      <p:ext uri="{BB962C8B-B14F-4D97-AF65-F5344CB8AC3E}">
        <p14:creationId xmlns:p14="http://schemas.microsoft.com/office/powerpoint/2010/main" val="42849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275840" y="312129"/>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2275840" y="1378586"/>
          <a:ext cx="9052560" cy="4825445"/>
        </p:xfrm>
        <a:graphic>
          <a:graphicData uri="http://schemas.openxmlformats.org/drawingml/2006/table">
            <a:tbl>
              <a:tblPr firstRow="1" firstCol="1" bandRow="1">
                <a:tableStyleId>{5C22544A-7EE6-4342-B048-85BDC9FD1C3A}</a:tableStyleId>
              </a:tblPr>
              <a:tblGrid>
                <a:gridCol w="4051449">
                  <a:extLst>
                    <a:ext uri="{9D8B030D-6E8A-4147-A177-3AD203B41FA5}">
                      <a16:colId xmlns:a16="http://schemas.microsoft.com/office/drawing/2014/main" val="20000"/>
                    </a:ext>
                  </a:extLst>
                </a:gridCol>
                <a:gridCol w="5001111">
                  <a:extLst>
                    <a:ext uri="{9D8B030D-6E8A-4147-A177-3AD203B41FA5}">
                      <a16:colId xmlns:a16="http://schemas.microsoft.com/office/drawing/2014/main" val="20001"/>
                    </a:ext>
                  </a:extLst>
                </a:gridCol>
              </a:tblGrid>
              <a:tr h="435962">
                <a:tc>
                  <a:txBody>
                    <a:bodyPr/>
                    <a:lstStyle/>
                    <a:p>
                      <a:pPr>
                        <a:spcAft>
                          <a:spcPts val="0"/>
                        </a:spcAft>
                      </a:pPr>
                      <a:r>
                        <a:rPr lang="en-US" sz="1600" dirty="0" err="1">
                          <a:effectLst/>
                        </a:rPr>
                        <a:t>boolean</a:t>
                      </a:r>
                      <a:r>
                        <a:rPr lang="en-US" sz="1600" dirty="0">
                          <a:effectLst/>
                        </a:rPr>
                        <a:t> </a:t>
                      </a:r>
                      <a:r>
                        <a:rPr lang="en-US" sz="1600" dirty="0" err="1">
                          <a:effectLst/>
                        </a:rPr>
                        <a:t>isEmpty</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判断字符串长度是否为</a:t>
                      </a:r>
                      <a:r>
                        <a:rPr lang="en-US" sz="1600">
                          <a:effectLst/>
                        </a:rPr>
                        <a:t>0</a:t>
                      </a:r>
                      <a:r>
                        <a:rPr lang="zh-CN" sz="1600">
                          <a:effectLst/>
                        </a:rPr>
                        <a:t>，如果为</a:t>
                      </a:r>
                      <a:r>
                        <a:rPr lang="en-US" sz="1600">
                          <a:effectLst/>
                        </a:rPr>
                        <a:t>0</a:t>
                      </a:r>
                      <a:r>
                        <a:rPr lang="zh-CN" sz="1600">
                          <a:effectLst/>
                        </a:rPr>
                        <a:t>则返回</a:t>
                      </a:r>
                      <a:r>
                        <a:rPr lang="en-US" sz="1600">
                          <a:effectLst/>
                        </a:rPr>
                        <a:t>true</a:t>
                      </a:r>
                      <a:r>
                        <a:rPr lang="zh-CN" sz="1600">
                          <a:effectLst/>
                        </a:rPr>
                        <a:t>，反之则返回</a:t>
                      </a:r>
                      <a:r>
                        <a:rPr lang="en-US" sz="1600">
                          <a:effectLst/>
                        </a:rPr>
                        <a:t>flase</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0"/>
                  </a:ext>
                </a:extLst>
              </a:tr>
              <a:tr h="217980">
                <a:tc>
                  <a:txBody>
                    <a:bodyPr/>
                    <a:lstStyle/>
                    <a:p>
                      <a:pPr>
                        <a:spcAft>
                          <a:spcPts val="0"/>
                        </a:spcAft>
                      </a:pPr>
                      <a:r>
                        <a:rPr lang="en-US" sz="1600">
                          <a:effectLst/>
                        </a:rPr>
                        <a:t>boolean startsWith(String prefix)</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判断此字符串是否以指定的字符串开始</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1"/>
                  </a:ext>
                </a:extLst>
              </a:tr>
              <a:tr h="217980">
                <a:tc>
                  <a:txBody>
                    <a:bodyPr/>
                    <a:lstStyle/>
                    <a:p>
                      <a:pPr>
                        <a:spcAft>
                          <a:spcPts val="0"/>
                        </a:spcAft>
                      </a:pPr>
                      <a:r>
                        <a:rPr lang="en-US" sz="1600">
                          <a:effectLst/>
                        </a:rPr>
                        <a:t>boolean contains(CharSequence cs)</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判断此字符串中是否包含指定的字符序列</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2"/>
                  </a:ext>
                </a:extLst>
              </a:tr>
              <a:tr h="435962">
                <a:tc>
                  <a:txBody>
                    <a:bodyPr/>
                    <a:lstStyle/>
                    <a:p>
                      <a:pPr>
                        <a:spcAft>
                          <a:spcPts val="0"/>
                        </a:spcAft>
                      </a:pPr>
                      <a:r>
                        <a:rPr lang="en-US" sz="1600">
                          <a:effectLst/>
                        </a:rPr>
                        <a:t>String toLowerCase()</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使用默认语言环境的规则将</a:t>
                      </a:r>
                      <a:r>
                        <a:rPr lang="en-US" sz="1600">
                          <a:effectLst/>
                        </a:rPr>
                        <a:t>String</a:t>
                      </a:r>
                      <a:r>
                        <a:rPr lang="zh-CN" sz="1600">
                          <a:effectLst/>
                        </a:rPr>
                        <a:t>中的所有字符都转换为小写</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3"/>
                  </a:ext>
                </a:extLst>
              </a:tr>
              <a:tr h="435962">
                <a:tc>
                  <a:txBody>
                    <a:bodyPr/>
                    <a:lstStyle/>
                    <a:p>
                      <a:pPr>
                        <a:spcAft>
                          <a:spcPts val="0"/>
                        </a:spcAft>
                      </a:pPr>
                      <a:r>
                        <a:rPr lang="en-US" sz="1600" dirty="0">
                          <a:effectLst/>
                        </a:rPr>
                        <a:t>String </a:t>
                      </a:r>
                      <a:r>
                        <a:rPr lang="en-US" sz="1600" dirty="0" err="1">
                          <a:effectLst/>
                        </a:rPr>
                        <a:t>toUpperCase</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使用默认语言环境的规则将</a:t>
                      </a:r>
                      <a:r>
                        <a:rPr lang="en-US" sz="1600">
                          <a:effectLst/>
                        </a:rPr>
                        <a:t>String</a:t>
                      </a:r>
                      <a:r>
                        <a:rPr lang="zh-CN" sz="1600">
                          <a:effectLst/>
                        </a:rPr>
                        <a:t>中的所有字符都转换为大写</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4"/>
                  </a:ext>
                </a:extLst>
              </a:tr>
              <a:tr h="217980">
                <a:tc>
                  <a:txBody>
                    <a:bodyPr/>
                    <a:lstStyle/>
                    <a:p>
                      <a:pPr marL="0" algn="l" defTabSz="914400" rtl="0" eaLnBrk="1" latinLnBrk="0" hangingPunct="1">
                        <a:spcAft>
                          <a:spcPts val="0"/>
                        </a:spcAft>
                      </a:pPr>
                      <a:r>
                        <a:rPr lang="en-US" sz="1600" dirty="0">
                          <a:effectLst/>
                        </a:rPr>
                        <a:t>stati</a:t>
                      </a:r>
                      <a:r>
                        <a:rPr lang="en-US" sz="1600" b="1" kern="1200" dirty="0">
                          <a:solidFill>
                            <a:schemeClr val="lt1"/>
                          </a:solidFill>
                          <a:effectLst/>
                          <a:latin typeface="+mn-lt"/>
                          <a:ea typeface="+mn-ea"/>
                          <a:cs typeface="+mn-cs"/>
                        </a:rPr>
                        <a:t>c </a:t>
                      </a:r>
                      <a:r>
                        <a:rPr lang="en-US" sz="1600" b="1" kern="1200" dirty="0">
                          <a:solidFill>
                            <a:schemeClr val="lt1"/>
                          </a:solidFill>
                          <a:effectLst/>
                          <a:latin typeface="+mn-lt"/>
                          <a:ea typeface="+mn-ea"/>
                          <a:cs typeface="+mn-cs"/>
                          <a:hlinkClick r:id="rId4" action="ppaction://hlinkfile" tooltip="java.lang 中的类"/>
                        </a:rPr>
                        <a:t>String</a:t>
                      </a:r>
                      <a:r>
                        <a:rPr lang="en-US" sz="1600" b="1" kern="1200" dirty="0">
                          <a:solidFill>
                            <a:schemeClr val="lt1"/>
                          </a:solidFill>
                          <a:effectLst/>
                          <a:latin typeface="+mn-lt"/>
                          <a:ea typeface="+mn-ea"/>
                          <a:cs typeface="+mn-cs"/>
                        </a:rPr>
                        <a:t> </a:t>
                      </a:r>
                      <a:r>
                        <a:rPr lang="en-US" sz="1600" b="1" kern="1200" dirty="0" err="1">
                          <a:solidFill>
                            <a:schemeClr val="lt1"/>
                          </a:solidFill>
                          <a:effectLst/>
                          <a:latin typeface="+mn-lt"/>
                          <a:ea typeface="+mn-ea"/>
                          <a:cs typeface="+mn-cs"/>
                        </a:rPr>
                        <a:t>valueOf</a:t>
                      </a:r>
                      <a:r>
                        <a:rPr lang="en-US" sz="1600" b="1" kern="1200" dirty="0">
                          <a:solidFill>
                            <a:schemeClr val="lt1"/>
                          </a:solidFill>
                          <a:effectLst/>
                          <a:latin typeface="+mn-lt"/>
                          <a:ea typeface="+mn-ea"/>
                          <a:cs typeface="+mn-cs"/>
                        </a:rPr>
                        <a:t>(</a:t>
                      </a:r>
                      <a:r>
                        <a:rPr lang="en-US" sz="1600" b="1" kern="1200" dirty="0" err="1">
                          <a:solidFill>
                            <a:schemeClr val="lt1"/>
                          </a:solidFill>
                          <a:effectLst/>
                          <a:latin typeface="+mn-lt"/>
                          <a:ea typeface="+mn-ea"/>
                          <a:cs typeface="+mn-cs"/>
                        </a:rPr>
                        <a:t>int</a:t>
                      </a:r>
                      <a:r>
                        <a:rPr lang="en-US" sz="1600" b="1" kern="1200" dirty="0">
                          <a:solidFill>
                            <a:schemeClr val="lt1"/>
                          </a:solidFill>
                          <a:effectLst/>
                          <a:latin typeface="+mn-lt"/>
                          <a:ea typeface="+mn-ea"/>
                          <a:cs typeface="+mn-cs"/>
                        </a:rPr>
                        <a:t> </a:t>
                      </a:r>
                      <a:r>
                        <a:rPr lang="en-US" sz="1600" b="1" kern="1200" dirty="0" err="1">
                          <a:solidFill>
                            <a:schemeClr val="lt1"/>
                          </a:solidFill>
                          <a:effectLst/>
                          <a:latin typeface="+mn-lt"/>
                          <a:ea typeface="+mn-ea"/>
                          <a:cs typeface="+mn-cs"/>
                        </a:rPr>
                        <a:t>i</a:t>
                      </a:r>
                      <a:r>
                        <a:rPr lang="en-US" sz="1600" b="1" kern="1200" dirty="0">
                          <a:solidFill>
                            <a:schemeClr val="lt1"/>
                          </a:solidFill>
                          <a:effectLst/>
                          <a:latin typeface="+mn-lt"/>
                          <a:ea typeface="+mn-ea"/>
                          <a:cs typeface="+mn-cs"/>
                        </a:rPr>
                        <a:t>)</a:t>
                      </a:r>
                      <a:endParaRPr lang="zh-CN" sz="1600" b="1" kern="1200" dirty="0">
                        <a:solidFill>
                          <a:schemeClr val="lt1"/>
                        </a:solidFill>
                        <a:effectLst/>
                        <a:latin typeface="+mn-lt"/>
                        <a:ea typeface="+mn-ea"/>
                        <a:cs typeface="+mn-cs"/>
                      </a:endParaRPr>
                    </a:p>
                  </a:txBody>
                  <a:tcPr marL="53245" marR="53245" marT="0" marB="0" anchor="ctr"/>
                </a:tc>
                <a:tc>
                  <a:txBody>
                    <a:bodyPr/>
                    <a:lstStyle/>
                    <a:p>
                      <a:pPr>
                        <a:spcAft>
                          <a:spcPts val="0"/>
                        </a:spcAft>
                      </a:pPr>
                      <a:r>
                        <a:rPr lang="zh-CN" sz="1600">
                          <a:effectLst/>
                        </a:rPr>
                        <a:t>将</a:t>
                      </a:r>
                      <a:r>
                        <a:rPr lang="en-US" sz="1600">
                          <a:effectLst/>
                        </a:rPr>
                        <a:t>int</a:t>
                      </a:r>
                      <a:r>
                        <a:rPr lang="zh-CN" sz="1600">
                          <a:effectLst/>
                        </a:rPr>
                        <a:t>变量</a:t>
                      </a:r>
                      <a:r>
                        <a:rPr lang="en-US" sz="1600">
                          <a:effectLst/>
                        </a:rPr>
                        <a:t>i</a:t>
                      </a:r>
                      <a:r>
                        <a:rPr lang="zh-CN" sz="1600">
                          <a:effectLst/>
                        </a:rPr>
                        <a:t>转换成字符串</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5"/>
                  </a:ext>
                </a:extLst>
              </a:tr>
              <a:tr h="217980">
                <a:tc>
                  <a:txBody>
                    <a:bodyPr/>
                    <a:lstStyle/>
                    <a:p>
                      <a:pPr>
                        <a:spcAft>
                          <a:spcPts val="0"/>
                        </a:spcAft>
                      </a:pPr>
                      <a:r>
                        <a:rPr lang="en-US" sz="1600" dirty="0">
                          <a:effectLst/>
                        </a:rPr>
                        <a:t>char[] </a:t>
                      </a:r>
                      <a:r>
                        <a:rPr lang="en-US" sz="1600" dirty="0" err="1">
                          <a:effectLst/>
                        </a:rPr>
                        <a:t>toCharArray</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将此字符串转换为一个字符数组</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6"/>
                  </a:ext>
                </a:extLst>
              </a:tr>
              <a:tr h="539761">
                <a:tc>
                  <a:txBody>
                    <a:bodyPr/>
                    <a:lstStyle/>
                    <a:p>
                      <a:pPr>
                        <a:spcAft>
                          <a:spcPts val="0"/>
                        </a:spcAft>
                      </a:pPr>
                      <a:r>
                        <a:rPr lang="en-US" sz="1600">
                          <a:effectLst/>
                        </a:rPr>
                        <a:t>String replace(CharSequence oldstr, CharSequence newstr)</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返回一个新的字符串，它是通过用</a:t>
                      </a:r>
                      <a:r>
                        <a:rPr lang="en-US" sz="1600">
                          <a:effectLst/>
                        </a:rPr>
                        <a:t> newstr</a:t>
                      </a:r>
                      <a:r>
                        <a:rPr lang="zh-CN" sz="1600">
                          <a:effectLst/>
                        </a:rPr>
                        <a:t>替换此字符串中出现的所有</a:t>
                      </a:r>
                      <a:r>
                        <a:rPr lang="en-US" sz="1600">
                          <a:effectLst/>
                        </a:rPr>
                        <a:t> oldstr</a:t>
                      </a:r>
                      <a:r>
                        <a:rPr lang="zh-CN" sz="1600">
                          <a:effectLst/>
                        </a:rPr>
                        <a:t>得到的</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7"/>
                  </a:ext>
                </a:extLst>
              </a:tr>
              <a:tr h="435962">
                <a:tc>
                  <a:txBody>
                    <a:bodyPr/>
                    <a:lstStyle/>
                    <a:p>
                      <a:pPr>
                        <a:spcAft>
                          <a:spcPts val="0"/>
                        </a:spcAft>
                      </a:pPr>
                      <a:r>
                        <a:rPr lang="en-US" sz="1600">
                          <a:effectLst/>
                        </a:rPr>
                        <a:t>String[] split(String regex)</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根据参数</a:t>
                      </a:r>
                      <a:r>
                        <a:rPr lang="en-US" sz="1600">
                          <a:effectLst/>
                        </a:rPr>
                        <a:t>regex</a:t>
                      </a:r>
                      <a:r>
                        <a:rPr lang="zh-CN" sz="1600">
                          <a:effectLst/>
                        </a:rPr>
                        <a:t>将原来的字符串分割为若干个子字符串</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8"/>
                  </a:ext>
                </a:extLst>
              </a:tr>
              <a:tr h="435962">
                <a:tc>
                  <a:txBody>
                    <a:bodyPr/>
                    <a:lstStyle/>
                    <a:p>
                      <a:pPr>
                        <a:spcAft>
                          <a:spcPts val="0"/>
                        </a:spcAft>
                      </a:pPr>
                      <a:r>
                        <a:rPr lang="en-US" sz="1600">
                          <a:effectLst/>
                        </a:rPr>
                        <a:t>String substring(int beginIndex)</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返回一个新字符串，它包含从指定的</a:t>
                      </a:r>
                      <a:r>
                        <a:rPr lang="en-US" sz="1600">
                          <a:effectLst/>
                        </a:rPr>
                        <a:t>beginIndex</a:t>
                      </a:r>
                      <a:r>
                        <a:rPr lang="zh-CN" sz="1600">
                          <a:effectLst/>
                        </a:rPr>
                        <a:t>处开始，直到此字符串末尾的所有字符</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09"/>
                  </a:ext>
                </a:extLst>
              </a:tr>
              <a:tr h="435962">
                <a:tc>
                  <a:txBody>
                    <a:bodyPr/>
                    <a:lstStyle/>
                    <a:p>
                      <a:pPr>
                        <a:spcAft>
                          <a:spcPts val="0"/>
                        </a:spcAft>
                      </a:pPr>
                      <a:r>
                        <a:rPr lang="en-US" sz="1600">
                          <a:effectLst/>
                        </a:rPr>
                        <a:t>String substring(int beginIndex, int endIndex) </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a:effectLst/>
                        </a:rPr>
                        <a:t>返回一个新字符串，它包含从指定的</a:t>
                      </a:r>
                      <a:r>
                        <a:rPr lang="en-US" sz="1600">
                          <a:effectLst/>
                        </a:rPr>
                        <a:t>beginIndex</a:t>
                      </a:r>
                      <a:r>
                        <a:rPr lang="zh-CN" sz="1600">
                          <a:effectLst/>
                        </a:rPr>
                        <a:t>处开始，直到索引</a:t>
                      </a:r>
                      <a:r>
                        <a:rPr lang="en-US" sz="1600">
                          <a:effectLst/>
                        </a:rPr>
                        <a:t>endIndex-1</a:t>
                      </a:r>
                      <a:r>
                        <a:rPr lang="zh-CN" sz="1600">
                          <a:effectLst/>
                        </a:rPr>
                        <a:t>处的所有字符</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10"/>
                  </a:ext>
                </a:extLst>
              </a:tr>
              <a:tr h="435962">
                <a:tc>
                  <a:txBody>
                    <a:bodyPr/>
                    <a:lstStyle/>
                    <a:p>
                      <a:pPr>
                        <a:spcAft>
                          <a:spcPts val="0"/>
                        </a:spcAft>
                      </a:pPr>
                      <a:r>
                        <a:rPr lang="en-US" sz="1600">
                          <a:effectLst/>
                        </a:rPr>
                        <a:t>String trim() </a:t>
                      </a:r>
                      <a:endParaRPr lang="zh-CN" sz="1600">
                        <a:effectLst/>
                        <a:latin typeface="宋体" panose="02010600030101010101" pitchFamily="2" charset="-122"/>
                        <a:ea typeface="等线"/>
                        <a:cs typeface="宋体" panose="02010600030101010101" pitchFamily="2" charset="-122"/>
                      </a:endParaRPr>
                    </a:p>
                  </a:txBody>
                  <a:tcPr marL="53245" marR="53245" marT="0" marB="0" anchor="ctr"/>
                </a:tc>
                <a:tc>
                  <a:txBody>
                    <a:bodyPr/>
                    <a:lstStyle/>
                    <a:p>
                      <a:pPr>
                        <a:spcAft>
                          <a:spcPts val="0"/>
                        </a:spcAft>
                      </a:pPr>
                      <a:r>
                        <a:rPr lang="zh-CN" sz="1600" dirty="0">
                          <a:effectLst/>
                        </a:rPr>
                        <a:t>返回一个新字符串，它去除了原字符串首尾的空格</a:t>
                      </a:r>
                      <a:endParaRPr lang="zh-CN" sz="1600" dirty="0">
                        <a:effectLst/>
                        <a:latin typeface="宋体" panose="02010600030101010101" pitchFamily="2" charset="-122"/>
                        <a:ea typeface="等线"/>
                        <a:cs typeface="宋体" panose="02010600030101010101" pitchFamily="2" charset="-122"/>
                      </a:endParaRPr>
                    </a:p>
                  </a:txBody>
                  <a:tcPr marL="53245" marR="53245" marT="0" marB="0" anchor="ctr"/>
                </a:tc>
                <a:extLst>
                  <a:ext uri="{0D108BD9-81ED-4DB2-BD59-A6C34878D82A}">
                    <a16:rowId xmlns:a16="http://schemas.microsoft.com/office/drawing/2014/main" val="10011"/>
                  </a:ext>
                </a:extLst>
              </a:tr>
            </a:tbl>
          </a:graphicData>
        </a:graphic>
      </p:graphicFrame>
      <p:sp>
        <p:nvSpPr>
          <p:cNvPr id="4" name="文本占位符 3"/>
          <p:cNvSpPr>
            <a:spLocks noGrp="1"/>
          </p:cNvSpPr>
          <p:nvPr>
            <p:ph type="body" sz="quarter" idx="10"/>
          </p:nvPr>
        </p:nvSpPr>
        <p:spPr/>
        <p:txBody>
          <a:bodyPr/>
          <a:lstStyle/>
          <a:p>
            <a:fld id="{AD80CB3B-4D00-4C2A-939C-872C3B1E0371}" type="slidenum">
              <a:rPr lang="zh-CN" altLang="en-US" smtClean="0"/>
              <a:t>8</a:t>
            </a:fld>
            <a:endParaRPr lang="zh-CN" altLang="en-US" dirty="0"/>
          </a:p>
        </p:txBody>
      </p:sp>
    </p:spTree>
    <p:custDataLst>
      <p:tags r:id="rId1"/>
    </p:custDataLst>
    <p:extLst>
      <p:ext uri="{BB962C8B-B14F-4D97-AF65-F5344CB8AC3E}">
        <p14:creationId xmlns:p14="http://schemas.microsoft.com/office/powerpoint/2010/main" val="243269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2011680" y="2123440"/>
            <a:ext cx="4582160" cy="2448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．字符串的获取功能</a:t>
            </a: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程序中，需要对字符串进行一些获取的操作，如获得字符串长度、获得指定位置的字符等。</a:t>
            </a:r>
          </a:p>
        </p:txBody>
      </p:sp>
      <p:pic>
        <p:nvPicPr>
          <p:cNvPr id="245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5680" y="1801813"/>
            <a:ext cx="3657654" cy="324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864DD022-DD23-435C-8E62-5B3D03A2AF6A}" type="slidenum">
              <a:rPr lang="zh-CN" altLang="en-US" smtClean="0"/>
              <a:t>9</a:t>
            </a:fld>
            <a:endParaRPr lang="zh-CN" altLang="en-US" dirty="0"/>
          </a:p>
        </p:txBody>
      </p:sp>
    </p:spTree>
    <p:custDataLst>
      <p:tags r:id="rId1"/>
    </p:custDataLst>
    <p:extLst>
      <p:ext uri="{BB962C8B-B14F-4D97-AF65-F5344CB8AC3E}">
        <p14:creationId xmlns:p14="http://schemas.microsoft.com/office/powerpoint/2010/main" val="264014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24578"/>
                                        </p:tgtEl>
                                        <p:attrNameLst>
                                          <p:attrName>style.visibility</p:attrName>
                                        </p:attrNameLst>
                                      </p:cBhvr>
                                      <p:to>
                                        <p:strVal val="visible"/>
                                      </p:to>
                                    </p:set>
                                    <p:animEffect transition="in" filter="barn(outVertical)">
                                      <p:cBhvr>
                                        <p:cTn id="11" dur="5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400300" y="1386839"/>
            <a:ext cx="8506458" cy="4581909"/>
            <a:chOff x="2192022" y="1351280"/>
            <a:chExt cx="8506458" cy="4581909"/>
          </a:xfrm>
        </p:grpSpPr>
        <p:pic>
          <p:nvPicPr>
            <p:cNvPr id="25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2022" y="1351280"/>
              <a:ext cx="8506458" cy="4581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508250" y="1547495"/>
              <a:ext cx="7894320" cy="426529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s = "ababcdedcba";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定义字符串</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获取字符串长度，即字符个数</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字符串的长度为：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s.length</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字符串中第一个字符</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s.charAt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第一次出现的位置</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s.indexOf</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最后一次出现的位置</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s.lastIndexOf</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子字符串</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第一次出现的位置：</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s.indexOf("ab"));</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子字符串</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字符串最后一次出现的位置：</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s.lastIndexOf("ab"));</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FDDA9846-2C1C-426F-8165-53DE046F4D67}" type="slidenum">
              <a:rPr lang="zh-CN" altLang="en-US" smtClean="0"/>
              <a:t>10</a:t>
            </a:fld>
            <a:endParaRPr lang="zh-CN" altLang="en-US" dirty="0"/>
          </a:p>
        </p:txBody>
      </p:sp>
    </p:spTree>
    <p:custDataLst>
      <p:tags r:id="rId1"/>
    </p:custDataLst>
    <p:extLst>
      <p:ext uri="{BB962C8B-B14F-4D97-AF65-F5344CB8AC3E}">
        <p14:creationId xmlns:p14="http://schemas.microsoft.com/office/powerpoint/2010/main" val="286534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685790" y="1950720"/>
            <a:ext cx="5313680" cy="308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．字符串的转换操作</a:t>
            </a: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程序开发中，经常需要</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对字符串进行转换操作</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。例如，将字符串转换成数组的形式，将字符串中的字符进行大小写转换等。</a:t>
            </a:r>
          </a:p>
        </p:txBody>
      </p:sp>
      <p:pic>
        <p:nvPicPr>
          <p:cNvPr id="266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795" y="1788160"/>
            <a:ext cx="2849563"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6CC48BCC-A4FC-4B5A-8207-F9B0F728F881}" type="slidenum">
              <a:rPr lang="zh-CN" altLang="en-US" smtClean="0"/>
              <a:t>11</a:t>
            </a:fld>
            <a:endParaRPr lang="zh-CN" altLang="en-US" dirty="0"/>
          </a:p>
        </p:txBody>
      </p:sp>
    </p:spTree>
    <p:custDataLst>
      <p:tags r:id="rId1"/>
    </p:custDataLst>
    <p:extLst>
      <p:ext uri="{BB962C8B-B14F-4D97-AF65-F5344CB8AC3E}">
        <p14:creationId xmlns:p14="http://schemas.microsoft.com/office/powerpoint/2010/main" val="47397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6626"/>
                                        </p:tgtEl>
                                        <p:attrNameLst>
                                          <p:attrName>style.visibility</p:attrName>
                                        </p:attrNameLst>
                                      </p:cBhvr>
                                      <p:to>
                                        <p:strVal val="visible"/>
                                      </p:to>
                                    </p:set>
                                    <p:animEffect transition="in" filter="fade">
                                      <p:cBhvr>
                                        <p:cTn id="10"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33600" y="1361440"/>
            <a:ext cx="9001760" cy="4826000"/>
            <a:chOff x="2133600" y="1361440"/>
            <a:chExt cx="9001760" cy="4826000"/>
          </a:xfrm>
        </p:grpSpPr>
        <p:pic>
          <p:nvPicPr>
            <p:cNvPr id="276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361440"/>
              <a:ext cx="9001760" cy="482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407920" y="1361440"/>
              <a:ext cx="8544560" cy="4826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将字符串转为字符数组后的结果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char[]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charArray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str.toCharArray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字符串转换为字符数组</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charArray.length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charArray.length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如果不是数组的最后一个元素</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在元素后面加逗号</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charArray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else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数组的最后一个元素后面不加逗号</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charArray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E8005CA-3988-48CF-97ED-3A91842D06F9}" type="slidenum">
              <a:rPr lang="zh-CN" altLang="en-US" smtClean="0"/>
              <a:t>12</a:t>
            </a:fld>
            <a:endParaRPr lang="zh-CN" altLang="en-US" dirty="0"/>
          </a:p>
        </p:txBody>
      </p:sp>
    </p:spTree>
    <p:custDataLst>
      <p:tags r:id="rId1"/>
    </p:custDataLst>
    <p:extLst>
      <p:ext uri="{BB962C8B-B14F-4D97-AF65-F5344CB8AC3E}">
        <p14:creationId xmlns:p14="http://schemas.microsoft.com/office/powerpoint/2010/main" val="380541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311398" y="1869440"/>
            <a:ext cx="8590282" cy="3566160"/>
            <a:chOff x="2311398" y="1869440"/>
            <a:chExt cx="8590282" cy="3566160"/>
          </a:xfrm>
        </p:grpSpPr>
        <p:pic>
          <p:nvPicPr>
            <p:cNvPr id="286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869440"/>
              <a:ext cx="8590282"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834640" y="1971040"/>
              <a:ext cx="7813040" cy="3403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值转换为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类型之后的结果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String.valueOf(12));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将字符串转换成大写之后的结果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str.toUpperCase());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将字符串转换成小写之后的结果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str.toLowerCase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BBBB43B2-437B-427B-BEC9-7433C9618C55}" type="slidenum">
              <a:rPr lang="zh-CN" altLang="en-US" smtClean="0"/>
              <a:t>13</a:t>
            </a:fld>
            <a:endParaRPr lang="zh-CN" altLang="en-US" dirty="0"/>
          </a:p>
        </p:txBody>
      </p:sp>
    </p:spTree>
    <p:custDataLst>
      <p:tags r:id="rId1"/>
    </p:custDataLst>
    <p:extLst>
      <p:ext uri="{BB962C8B-B14F-4D97-AF65-F5344CB8AC3E}">
        <p14:creationId xmlns:p14="http://schemas.microsoft.com/office/powerpoint/2010/main" val="418502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6518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40560" y="1899920"/>
            <a:ext cx="5364480" cy="2956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．字符串的替换和去除空格操作</a:t>
            </a: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程序开发中，用户输入数据时经常会有一些错误和空格，这时可以使用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replace()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trim()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方法，进行字符串的替换和去除空格操作。</a:t>
            </a:r>
          </a:p>
        </p:txBody>
      </p:sp>
      <p:pic>
        <p:nvPicPr>
          <p:cNvPr id="296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2923" y="1509712"/>
            <a:ext cx="2530475" cy="394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7FFA446-1E5D-4BEC-AE1C-6326B5DABB92}" type="slidenum">
              <a:rPr lang="zh-CN" altLang="en-US" smtClean="0"/>
              <a:t>14</a:t>
            </a:fld>
            <a:endParaRPr lang="zh-CN" altLang="en-US" dirty="0"/>
          </a:p>
        </p:txBody>
      </p:sp>
    </p:spTree>
    <p:custDataLst>
      <p:tags r:id="rId1"/>
    </p:custDataLst>
    <p:extLst>
      <p:ext uri="{BB962C8B-B14F-4D97-AF65-F5344CB8AC3E}">
        <p14:creationId xmlns:p14="http://schemas.microsoft.com/office/powerpoint/2010/main" val="352825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698"/>
                                        </p:tgtEl>
                                        <p:attrNameLst>
                                          <p:attrName>style.visibility</p:attrName>
                                        </p:attrNameLst>
                                      </p:cBhvr>
                                      <p:to>
                                        <p:strVal val="visible"/>
                                      </p:to>
                                    </p:set>
                                    <p:animEffect transition="in" filter="fade">
                                      <p:cBhvr>
                                        <p:cTn id="11"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367280" y="1554480"/>
            <a:ext cx="8615680" cy="4267200"/>
            <a:chOff x="2092960" y="1554480"/>
            <a:chExt cx="8615680" cy="4267200"/>
          </a:xfrm>
        </p:grpSpPr>
        <p:pic>
          <p:nvPicPr>
            <p:cNvPr id="307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960" y="1554480"/>
              <a:ext cx="861568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641600" y="1554480"/>
              <a:ext cx="774192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s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itcast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字符串替换操作</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替换成</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cn.it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s.replace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"cn.it"));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字符串去除空格操作</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s1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 c a s 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去除字符串两端空格后的结果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s1.trim());</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去除字符串中所有空格后的结果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s1.replace("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9D2D2852-6E8D-4DDE-A3DF-5861588329F5}" type="slidenum">
              <a:rPr lang="zh-CN" altLang="en-US" smtClean="0"/>
              <a:t>15</a:t>
            </a:fld>
            <a:endParaRPr lang="zh-CN" altLang="en-US" dirty="0"/>
          </a:p>
        </p:txBody>
      </p:sp>
    </p:spTree>
    <p:custDataLst>
      <p:tags r:id="rId1"/>
    </p:custDataLst>
    <p:extLst>
      <p:ext uri="{BB962C8B-B14F-4D97-AF65-F5344CB8AC3E}">
        <p14:creationId xmlns:p14="http://schemas.microsoft.com/office/powerpoint/2010/main" val="204488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6339840" y="2052320"/>
            <a:ext cx="4673600" cy="2560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trim()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只能去除两端的空格</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，不能去除中间的空格。若想去除字符串中间的空格，需要调用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replace()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p>
        </p:txBody>
      </p:sp>
      <p:grpSp>
        <p:nvGrpSpPr>
          <p:cNvPr id="5" name="组合 4"/>
          <p:cNvGrpSpPr/>
          <p:nvPr/>
        </p:nvGrpSpPr>
        <p:grpSpPr>
          <a:xfrm>
            <a:off x="2588259" y="1717634"/>
            <a:ext cx="2834640" cy="3676730"/>
            <a:chOff x="2311398" y="1676344"/>
            <a:chExt cx="2834640" cy="3676730"/>
          </a:xfrm>
        </p:grpSpPr>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2A15986B-0E15-4A84-80B9-63867ABAA046}" type="slidenum">
              <a:rPr lang="zh-CN" altLang="en-US" smtClean="0"/>
              <a:t>16</a:t>
            </a:fld>
            <a:endParaRPr lang="zh-CN" altLang="en-US" dirty="0"/>
          </a:p>
        </p:txBody>
      </p:sp>
    </p:spTree>
    <p:custDataLst>
      <p:tags r:id="rId1"/>
    </p:custDataLst>
    <p:extLst>
      <p:ext uri="{BB962C8B-B14F-4D97-AF65-F5344CB8AC3E}">
        <p14:creationId xmlns:p14="http://schemas.microsoft.com/office/powerpoint/2010/main" val="41314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336796" y="1737359"/>
            <a:ext cx="4277360" cy="3484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．字符串的判断操作</a:t>
            </a: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操作字符串时，经常需要对字符串进行一些判断，如判断字符串是否以指定的字符串开始、结束，是否包含指定的字符串，字符串是否为空等</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17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8534" y="1604962"/>
            <a:ext cx="3344863"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99B1CB32-C2B3-40CD-AFA8-53850AA08080}" type="slidenum">
              <a:rPr lang="zh-CN" altLang="en-US" smtClean="0"/>
              <a:t>17</a:t>
            </a:fld>
            <a:endParaRPr lang="zh-CN" altLang="en-US" dirty="0"/>
          </a:p>
        </p:txBody>
      </p:sp>
    </p:spTree>
    <p:custDataLst>
      <p:tags r:id="rId1"/>
    </p:custDataLst>
    <p:extLst>
      <p:ext uri="{BB962C8B-B14F-4D97-AF65-F5344CB8AC3E}">
        <p14:creationId xmlns:p14="http://schemas.microsoft.com/office/powerpoint/2010/main" val="308995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31746"/>
                                        </p:tgtEl>
                                        <p:attrNameLst>
                                          <p:attrName>style.visibility</p:attrName>
                                        </p:attrNameLst>
                                      </p:cBhvr>
                                      <p:to>
                                        <p:strVal val="visible"/>
                                      </p:to>
                                    </p:set>
                                    <p:animEffect transition="in" filter="fade">
                                      <p:cBhvr>
                                        <p:cTn id="10" dur="1000"/>
                                        <p:tgtEl>
                                          <p:spTgt spid="31746"/>
                                        </p:tgtEl>
                                      </p:cBhvr>
                                    </p:animEffect>
                                    <p:anim calcmode="lin" valueType="num">
                                      <p:cBhvr>
                                        <p:cTn id="11" dur="1000" fill="hold"/>
                                        <p:tgtEl>
                                          <p:spTgt spid="31746"/>
                                        </p:tgtEl>
                                        <p:attrNameLst>
                                          <p:attrName>ppt_x</p:attrName>
                                        </p:attrNameLst>
                                      </p:cBhvr>
                                      <p:tavLst>
                                        <p:tav tm="0">
                                          <p:val>
                                            <p:strVal val="#ppt_x"/>
                                          </p:val>
                                        </p:tav>
                                        <p:tav tm="100000">
                                          <p:val>
                                            <p:strVal val="#ppt_x"/>
                                          </p:val>
                                        </p:tav>
                                      </p:tavLst>
                                    </p:anim>
                                    <p:anim calcmode="lin" valueType="num">
                                      <p:cBhvr>
                                        <p:cTn id="12" dur="1000" fill="hold"/>
                                        <p:tgtEl>
                                          <p:spTgt spid="317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899920" y="1341120"/>
            <a:ext cx="9479279" cy="4673600"/>
            <a:chOff x="1696720" y="1330960"/>
            <a:chExt cx="9479279" cy="4673600"/>
          </a:xfrm>
        </p:grpSpPr>
        <p:pic>
          <p:nvPicPr>
            <p:cNvPr id="327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6720" y="1330960"/>
              <a:ext cx="9479279" cy="467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336800" y="1483360"/>
              <a:ext cx="8605520" cy="4439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s1 = "String";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声明一个字符串</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s2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判断是否以字符串</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s1.startsWith("Str"));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判断是否以字符串</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结尾</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s1.endsWith("ng"));</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判断是否包含字符串</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tri:" + s1.contains("tri"));</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判断字符串是否为空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s1.isEmpty());</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判断两个字符串是否相等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s1.equals(s2));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47F657FE-B4C7-4989-BE42-A2885B2C8AF0}" type="slidenum">
              <a:rPr lang="zh-CN" altLang="en-US" smtClean="0"/>
              <a:t>18</a:t>
            </a:fld>
            <a:endParaRPr lang="zh-CN" altLang="en-US" dirty="0"/>
          </a:p>
        </p:txBody>
      </p:sp>
    </p:spTree>
    <p:custDataLst>
      <p:tags r:id="rId1"/>
    </p:custDataLst>
    <p:extLst>
      <p:ext uri="{BB962C8B-B14F-4D97-AF65-F5344CB8AC3E}">
        <p14:creationId xmlns:p14="http://schemas.microsoft.com/office/powerpoint/2010/main" val="294458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5252720" y="1452878"/>
            <a:ext cx="6004560" cy="453136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在程序中可以通过“</a:t>
            </a:r>
            <a:r>
              <a:rPr lang="en-US"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两种方式对字符串进行比较，但这两种方式有明显的区别。</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方法用于比较两个字符串中的字符是否相等，</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方法用于比较两个字符串对象的地址是否相同</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。也就是说，对于两个内容完全一样的字符串对象，使用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判断的结果是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判断的结果是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337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765" y="1813241"/>
            <a:ext cx="2963826" cy="3810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D0F8C81A-B51E-4F0A-827C-F02EFF22D2E0}" type="slidenum">
              <a:rPr lang="zh-CN" altLang="en-US" smtClean="0"/>
              <a:t>19</a:t>
            </a:fld>
            <a:endParaRPr lang="zh-CN" altLang="en-US" dirty="0"/>
          </a:p>
        </p:txBody>
      </p:sp>
    </p:spTree>
    <p:custDataLst>
      <p:tags r:id="rId1"/>
    </p:custDataLst>
    <p:extLst>
      <p:ext uri="{BB962C8B-B14F-4D97-AF65-F5344CB8AC3E}">
        <p14:creationId xmlns:p14="http://schemas.microsoft.com/office/powerpoint/2010/main" val="258688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33795"/>
                                        </p:tgtEl>
                                        <p:attrNameLst>
                                          <p:attrName>style.visibility</p:attrName>
                                        </p:attrNameLst>
                                      </p:cBhvr>
                                      <p:to>
                                        <p:strVal val="visible"/>
                                      </p:to>
                                    </p:set>
                                    <p:animEffect transition="in" filter="wipe(down)">
                                      <p:cBhvr>
                                        <p:cTn id="10"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637790" y="1950721"/>
            <a:ext cx="7833360" cy="3474720"/>
            <a:chOff x="1896110" y="1615441"/>
            <a:chExt cx="7833360" cy="3474720"/>
          </a:xfrm>
        </p:grpSpPr>
        <p:pic>
          <p:nvPicPr>
            <p:cNvPr id="348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6110" y="1615441"/>
              <a:ext cx="7833360" cy="347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753995" y="1869439"/>
              <a:ext cx="5506720" cy="301752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str1 = new String("</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str2 = new String("</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结果为</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，因为</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str1</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str2</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是两个对象</a:t>
              </a:r>
            </a:p>
            <a:p>
              <a:pPr marL="0" indent="0" eaLnBrk="1" hangingPunct="1">
                <a:lnSpc>
                  <a:spcPct val="150000"/>
                </a:lnSpc>
                <a:spcBef>
                  <a:spcPct val="0"/>
                </a:spcBef>
                <a:buNone/>
                <a:defRPr/>
              </a:pP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(str1 == str2);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结果为</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，因为</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str1</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str2</a:t>
              </a:r>
              <a:r>
                <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字符内容相同</a:t>
              </a:r>
            </a:p>
            <a:p>
              <a:pPr marL="0" indent="0" eaLnBrk="1" hangingPunct="1">
                <a:lnSpc>
                  <a:spcPct val="150000"/>
                </a:lnSpc>
                <a:spcBef>
                  <a:spcPct val="0"/>
                </a:spcBef>
                <a:buNone/>
                <a:defRPr/>
              </a:pP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(str1.equals(str2));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68698D1F-6E53-452E-9993-B4BB4D1E6AF9}" type="slidenum">
              <a:rPr lang="zh-CN" altLang="en-US" smtClean="0"/>
              <a:t>20</a:t>
            </a:fld>
            <a:endParaRPr lang="zh-CN" altLang="en-US" dirty="0"/>
          </a:p>
        </p:txBody>
      </p:sp>
    </p:spTree>
    <p:custDataLst>
      <p:tags r:id="rId1"/>
    </p:custDataLst>
    <p:extLst>
      <p:ext uri="{BB962C8B-B14F-4D97-AF65-F5344CB8AC3E}">
        <p14:creationId xmlns:p14="http://schemas.microsoft.com/office/powerpoint/2010/main" val="148920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608320" y="2123439"/>
            <a:ext cx="5384800" cy="251968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．字符串的截取和分割</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substring()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方法用于截取字符串的一部分，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split()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方法用于将字符串按照某个字符进行分割。</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58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2715" y="1811338"/>
            <a:ext cx="2354263" cy="343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1F600828-85FF-4AFA-A5EF-C580F0D7F76D}" type="slidenum">
              <a:rPr lang="zh-CN" altLang="en-US" smtClean="0"/>
              <a:t>21</a:t>
            </a:fld>
            <a:endParaRPr lang="zh-CN" altLang="en-US" dirty="0"/>
          </a:p>
        </p:txBody>
      </p:sp>
    </p:spTree>
    <p:custDataLst>
      <p:tags r:id="rId1"/>
    </p:custDataLst>
    <p:extLst>
      <p:ext uri="{BB962C8B-B14F-4D97-AF65-F5344CB8AC3E}">
        <p14:creationId xmlns:p14="http://schemas.microsoft.com/office/powerpoint/2010/main" val="267219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35842"/>
                                        </p:tgtEl>
                                        <p:attrNameLst>
                                          <p:attrName>style.visibility</p:attrName>
                                        </p:attrNameLst>
                                      </p:cBhvr>
                                      <p:to>
                                        <p:strVal val="visible"/>
                                      </p:to>
                                    </p:set>
                                    <p:animEffect transition="in" filter="fade">
                                      <p:cBhvr>
                                        <p:cTn id="10" dur="5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362198" y="1656080"/>
            <a:ext cx="8580121" cy="4084320"/>
            <a:chOff x="2311398" y="1656080"/>
            <a:chExt cx="8580121" cy="4084320"/>
          </a:xfrm>
        </p:grpSpPr>
        <p:pic>
          <p:nvPicPr>
            <p:cNvPr id="368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56080"/>
              <a:ext cx="8580121" cy="408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727958" y="1717040"/>
              <a:ext cx="7823200" cy="3891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石家庄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武汉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哈尔滨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下面是字符串截取操作</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个字符截取到末尾的结果：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str.substring(4));</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个字符截取到第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个字符的结果：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str.substring(4, 6));</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下面是字符串分割操作</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分割后的字符串数组中的元素依次为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BE32265A-B2A8-48DC-BCFA-726E9A808665}" type="slidenum">
              <a:rPr lang="zh-CN" altLang="en-US" smtClean="0"/>
              <a:t>22</a:t>
            </a:fld>
            <a:endParaRPr lang="zh-CN" altLang="en-US" dirty="0"/>
          </a:p>
        </p:txBody>
      </p:sp>
    </p:spTree>
    <p:custDataLst>
      <p:tags r:id="rId1"/>
    </p:custDataLst>
    <p:extLst>
      <p:ext uri="{BB962C8B-B14F-4D97-AF65-F5344CB8AC3E}">
        <p14:creationId xmlns:p14="http://schemas.microsoft.com/office/powerpoint/2010/main" val="120041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5.1.2 String</a:t>
            </a:r>
            <a:r>
              <a:rPr lang="zh-CN" altLang="zh-CN" sz="3200" b="1" dirty="0">
                <a:solidFill>
                  <a:srgbClr val="1353A2"/>
                </a:solidFill>
                <a:latin typeface="微软雅黑" panose="020B0503020204020204" pitchFamily="34" charset="-122"/>
                <a:ea typeface="微软雅黑" panose="020B0503020204020204" pitchFamily="34" charset="-122"/>
              </a:rPr>
              <a:t>类的</a:t>
            </a:r>
            <a:r>
              <a:rPr lang="zh-CN" altLang="en-US" sz="3200" b="1" dirty="0">
                <a:solidFill>
                  <a:srgbClr val="1353A2"/>
                </a:solidFill>
                <a:latin typeface="微软雅黑" panose="020B0503020204020204" pitchFamily="34" charset="-122"/>
                <a:ea typeface="微软雅黑" panose="020B0503020204020204" pitchFamily="34" charset="-122"/>
              </a:rPr>
              <a:t>常见操作</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204720" y="1513840"/>
            <a:ext cx="9032240" cy="4480560"/>
            <a:chOff x="1849120" y="1432560"/>
            <a:chExt cx="9032240" cy="4480560"/>
          </a:xfrm>
        </p:grpSpPr>
        <p:pic>
          <p:nvPicPr>
            <p:cNvPr id="378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9120" y="1432560"/>
              <a:ext cx="9032240" cy="448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052320" y="1432560"/>
              <a:ext cx="8595360" cy="4480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str.split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将字符串转换为字符串数组</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strArray.length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strArray.length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如果不是数组的最后一个元素</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在元素后面加逗号</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else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数组的最后一个元素后面不加逗号</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0A76CE50-FA6C-4AE3-BADD-CA122A7B7A00}" type="slidenum">
              <a:rPr lang="zh-CN" altLang="en-US" smtClean="0"/>
              <a:t>23</a:t>
            </a:fld>
            <a:endParaRPr lang="zh-CN" altLang="en-US" dirty="0"/>
          </a:p>
        </p:txBody>
      </p:sp>
    </p:spTree>
    <p:custDataLst>
      <p:tags r:id="rId1"/>
    </p:custDataLst>
    <p:extLst>
      <p:ext uri="{BB962C8B-B14F-4D97-AF65-F5344CB8AC3E}">
        <p14:creationId xmlns:p14="http://schemas.microsoft.com/office/powerpoint/2010/main" val="302995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37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脚下留心：字符串角标越界异常</a:t>
            </a:r>
            <a:endParaRPr lang="zh-CN" altLang="en-US"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5750560" y="1930399"/>
            <a:ext cx="5435600" cy="293624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String</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字符串在获取某个字符时，会用到字符的索引，当访问字符串中的字符时，如果字符的索引不存在，则会发生</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StringIndexOutOfBoundsException</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（字符串角标越界异常）。</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7160" y="1534953"/>
            <a:ext cx="3784600" cy="388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A39DC336-E221-4EB2-A865-F51C66C6F047}" type="slidenum">
              <a:rPr lang="zh-CN" altLang="en-US" smtClean="0"/>
              <a:t>24</a:t>
            </a:fld>
            <a:endParaRPr lang="zh-CN" altLang="en-US" dirty="0"/>
          </a:p>
        </p:txBody>
      </p:sp>
    </p:spTree>
    <p:custDataLst>
      <p:tags r:id="rId1"/>
    </p:custDataLst>
    <p:extLst>
      <p:ext uri="{BB962C8B-B14F-4D97-AF65-F5344CB8AC3E}">
        <p14:creationId xmlns:p14="http://schemas.microsoft.com/office/powerpoint/2010/main" val="1953455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37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脚下留心：字符串角标越界异常</a:t>
            </a:r>
            <a:endParaRPr lang="zh-CN" altLang="en-US"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672080" y="2021839"/>
            <a:ext cx="7609840" cy="3027680"/>
            <a:chOff x="2489200" y="1971040"/>
            <a:chExt cx="7609840" cy="3027680"/>
          </a:xfrm>
        </p:grpSpPr>
        <p:pic>
          <p:nvPicPr>
            <p:cNvPr id="389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9200" y="1971040"/>
              <a:ext cx="7609840" cy="3027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61638" y="2072639"/>
              <a:ext cx="6680202" cy="292608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Example07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s = "</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itcast</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s.charAt</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67EBA85-23F2-4A5B-B3E4-F04364D39D5B}" type="slidenum">
              <a:rPr lang="zh-CN" altLang="en-US" smtClean="0"/>
              <a:t>25</a:t>
            </a:fld>
            <a:endParaRPr lang="zh-CN" altLang="en-US" dirty="0"/>
          </a:p>
        </p:txBody>
      </p:sp>
    </p:spTree>
    <p:custDataLst>
      <p:tags r:id="rId1"/>
    </p:custDataLst>
    <p:extLst>
      <p:ext uri="{BB962C8B-B14F-4D97-AF65-F5344CB8AC3E}">
        <p14:creationId xmlns:p14="http://schemas.microsoft.com/office/powerpoint/2010/main" val="345319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14674"/>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5.1.3 </a:t>
            </a:r>
            <a:r>
              <a:rPr lang="en-US" altLang="zh-CN" sz="3200" b="1" dirty="0" err="1">
                <a:solidFill>
                  <a:srgbClr val="1353A2"/>
                </a:solidFill>
                <a:latin typeface="微软雅黑" panose="020B0503020204020204" pitchFamily="34" charset="-122"/>
                <a:ea typeface="微软雅黑" panose="020B0503020204020204" pitchFamily="34" charset="-122"/>
              </a:rPr>
              <a:t>StringBuffer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684017" y="1686558"/>
            <a:ext cx="9735821" cy="362712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由于字符串是常量，因此一旦创建，其内容和长度是不可改变的。如果需要对一个字符串进行修改，则只能创建新的字符串。为了对字符串进行修改，</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提供了一个</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类（也称字符串缓冲区）。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类最大的区别在于它的内容和长度都是可以改变的。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类似一个字符容器，当在其中添加或删除字符时，并不会产生新的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F6873C2F-8B8B-4E15-89AE-DB7DE34028F9}" type="slidenum">
              <a:rPr lang="zh-CN" altLang="en-US" smtClean="0"/>
              <a:t>26</a:t>
            </a:fld>
            <a:endParaRPr lang="zh-CN" altLang="en-US" dirty="0"/>
          </a:p>
        </p:txBody>
      </p:sp>
    </p:spTree>
    <p:custDataLst>
      <p:tags r:id="rId1"/>
    </p:custDataLst>
    <p:extLst>
      <p:ext uri="{BB962C8B-B14F-4D97-AF65-F5344CB8AC3E}">
        <p14:creationId xmlns:p14="http://schemas.microsoft.com/office/powerpoint/2010/main" val="265997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47692"/>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5.1.3 </a:t>
            </a:r>
            <a:r>
              <a:rPr lang="en-US" altLang="zh-CN" sz="3200" b="1" dirty="0" err="1">
                <a:solidFill>
                  <a:srgbClr val="1353A2"/>
                </a:solidFill>
                <a:latin typeface="微软雅黑" panose="020B0503020204020204" pitchFamily="34" charset="-122"/>
                <a:ea typeface="微软雅黑" panose="020B0503020204020204" pitchFamily="34" charset="-122"/>
              </a:rPr>
              <a:t>StringBuffer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31617" y="1280159"/>
            <a:ext cx="9735821" cy="81280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的常见操作如下表。</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2598244927"/>
              </p:ext>
            </p:extLst>
          </p:nvPr>
        </p:nvGraphicFramePr>
        <p:xfrm>
          <a:off x="1837426" y="1971038"/>
          <a:ext cx="9206494" cy="4081540"/>
        </p:xfrm>
        <a:graphic>
          <a:graphicData uri="http://schemas.openxmlformats.org/drawingml/2006/table">
            <a:tbl>
              <a:tblPr firstRow="1" firstCol="1" bandRow="1">
                <a:tableStyleId>{5C22544A-7EE6-4342-B048-85BDC9FD1C3A}</a:tableStyleId>
              </a:tblPr>
              <a:tblGrid>
                <a:gridCol w="4931294">
                  <a:extLst>
                    <a:ext uri="{9D8B030D-6E8A-4147-A177-3AD203B41FA5}">
                      <a16:colId xmlns:a16="http://schemas.microsoft.com/office/drawing/2014/main" val="20000"/>
                    </a:ext>
                  </a:extLst>
                </a:gridCol>
                <a:gridCol w="4275200">
                  <a:extLst>
                    <a:ext uri="{9D8B030D-6E8A-4147-A177-3AD203B41FA5}">
                      <a16:colId xmlns:a16="http://schemas.microsoft.com/office/drawing/2014/main" val="20001"/>
                    </a:ext>
                  </a:extLst>
                </a:gridCol>
              </a:tblGrid>
              <a:tr h="375922">
                <a:tc>
                  <a:txBody>
                    <a:bodyPr/>
                    <a:lstStyle/>
                    <a:p>
                      <a:pPr algn="ctr">
                        <a:spcAft>
                          <a:spcPts val="0"/>
                        </a:spcAft>
                      </a:pPr>
                      <a:r>
                        <a:rPr lang="zh-CN" sz="1800" dirty="0">
                          <a:effectLst/>
                        </a:rPr>
                        <a:t>方法声明</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07581">
                <a:tc>
                  <a:txBody>
                    <a:bodyPr/>
                    <a:lstStyle/>
                    <a:p>
                      <a:pPr>
                        <a:spcAft>
                          <a:spcPts val="0"/>
                        </a:spcAft>
                      </a:pPr>
                      <a:r>
                        <a:rPr lang="en-US" sz="1800">
                          <a:effectLst/>
                        </a:rPr>
                        <a:t>StringBuffer append(char c)</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添加参数到</a:t>
                      </a:r>
                      <a:r>
                        <a:rPr lang="en-US" sz="1800">
                          <a:effectLst/>
                        </a:rPr>
                        <a:t>StringBuffer</a:t>
                      </a:r>
                      <a:r>
                        <a:rPr lang="zh-CN" sz="1800">
                          <a:effectLst/>
                        </a:rPr>
                        <a:t>对象中</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615161">
                <a:tc>
                  <a:txBody>
                    <a:bodyPr/>
                    <a:lstStyle/>
                    <a:p>
                      <a:pPr>
                        <a:spcAft>
                          <a:spcPts val="0"/>
                        </a:spcAft>
                      </a:pPr>
                      <a:r>
                        <a:rPr lang="en-US" sz="1800" dirty="0" err="1">
                          <a:effectLst/>
                        </a:rPr>
                        <a:t>StringBuffer</a:t>
                      </a:r>
                      <a:r>
                        <a:rPr lang="en-US" sz="1800" dirty="0">
                          <a:effectLst/>
                        </a:rPr>
                        <a:t> insert(</a:t>
                      </a:r>
                      <a:r>
                        <a:rPr lang="en-US" sz="1800" dirty="0" err="1">
                          <a:effectLst/>
                        </a:rPr>
                        <a:t>int</a:t>
                      </a:r>
                      <a:r>
                        <a:rPr lang="en-US" sz="1800" dirty="0">
                          <a:effectLst/>
                        </a:rPr>
                        <a:t> </a:t>
                      </a:r>
                      <a:r>
                        <a:rPr lang="en-US" sz="1800" dirty="0" err="1">
                          <a:effectLst/>
                        </a:rPr>
                        <a:t>offset,String</a:t>
                      </a:r>
                      <a:r>
                        <a:rPr lang="en-US" sz="1800" dirty="0">
                          <a:effectLst/>
                        </a:rPr>
                        <a:t> </a:t>
                      </a:r>
                      <a:r>
                        <a:rPr lang="en-US" sz="1800" dirty="0" err="1">
                          <a:effectLst/>
                        </a:rPr>
                        <a:t>str</a:t>
                      </a:r>
                      <a:r>
                        <a:rPr lang="en-US" sz="1800" dirty="0">
                          <a:effectLst/>
                        </a:rPr>
                        <a: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将字符串中的</a:t>
                      </a:r>
                      <a:r>
                        <a:rPr lang="en-US" sz="1800">
                          <a:effectLst/>
                        </a:rPr>
                        <a:t>offset</a:t>
                      </a:r>
                      <a:r>
                        <a:rPr lang="zh-CN" sz="1800">
                          <a:effectLst/>
                        </a:rPr>
                        <a:t>位置插入字符串</a:t>
                      </a:r>
                      <a:r>
                        <a:rPr lang="en-US" sz="1800">
                          <a:effectLst/>
                        </a:rPr>
                        <a:t>str</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07581">
                <a:tc>
                  <a:txBody>
                    <a:bodyPr/>
                    <a:lstStyle/>
                    <a:p>
                      <a:pPr>
                        <a:spcAft>
                          <a:spcPts val="0"/>
                        </a:spcAft>
                      </a:pPr>
                      <a:r>
                        <a:rPr lang="en-US" sz="1800">
                          <a:effectLst/>
                        </a:rPr>
                        <a:t>StringBuffer deleteCharAt(int index)</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移除此序列指定位置的字符</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615161">
                <a:tc>
                  <a:txBody>
                    <a:bodyPr/>
                    <a:lstStyle/>
                    <a:p>
                      <a:pPr>
                        <a:spcAft>
                          <a:spcPts val="0"/>
                        </a:spcAft>
                      </a:pPr>
                      <a:r>
                        <a:rPr lang="en-US" sz="1800" dirty="0" err="1">
                          <a:effectLst/>
                        </a:rPr>
                        <a:t>StringBuffer</a:t>
                      </a:r>
                      <a:r>
                        <a:rPr lang="en-US" sz="1800" dirty="0">
                          <a:effectLst/>
                        </a:rPr>
                        <a:t> delete(</a:t>
                      </a:r>
                      <a:r>
                        <a:rPr lang="en-US" sz="1800" dirty="0" err="1">
                          <a:effectLst/>
                        </a:rPr>
                        <a:t>int</a:t>
                      </a:r>
                      <a:r>
                        <a:rPr lang="en-US" sz="1800" dirty="0">
                          <a:effectLst/>
                        </a:rPr>
                        <a:t> </a:t>
                      </a:r>
                      <a:r>
                        <a:rPr lang="en-US" sz="1800" dirty="0" err="1">
                          <a:effectLst/>
                        </a:rPr>
                        <a:t>start,int</a:t>
                      </a:r>
                      <a:r>
                        <a:rPr lang="en-US" sz="1800" dirty="0">
                          <a:effectLst/>
                        </a:rPr>
                        <a:t> end)</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删除</a:t>
                      </a:r>
                      <a:r>
                        <a:rPr lang="en-US" sz="1800">
                          <a:effectLst/>
                        </a:rPr>
                        <a:t>StringBuffer</a:t>
                      </a:r>
                      <a:r>
                        <a:rPr lang="zh-CN" sz="1800">
                          <a:effectLst/>
                        </a:rPr>
                        <a:t>对象中指定范围的字符或字符串序列</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15161">
                <a:tc>
                  <a:txBody>
                    <a:bodyPr/>
                    <a:lstStyle/>
                    <a:p>
                      <a:pPr>
                        <a:spcAft>
                          <a:spcPts val="0"/>
                        </a:spcAft>
                      </a:pPr>
                      <a:r>
                        <a:rPr lang="en-US" sz="1800">
                          <a:effectLst/>
                        </a:rPr>
                        <a:t>StringBuffer replace(int start,int end,String s)</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在</a:t>
                      </a:r>
                      <a:r>
                        <a:rPr lang="en-US" sz="1800">
                          <a:effectLst/>
                        </a:rPr>
                        <a:t>StringBuffer</a:t>
                      </a:r>
                      <a:r>
                        <a:rPr lang="zh-CN" sz="1800">
                          <a:effectLst/>
                        </a:rPr>
                        <a:t>对象中替换指定的字符或字符串序列</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414991">
                <a:tc>
                  <a:txBody>
                    <a:bodyPr/>
                    <a:lstStyle/>
                    <a:p>
                      <a:pPr>
                        <a:spcAft>
                          <a:spcPts val="0"/>
                        </a:spcAft>
                      </a:pPr>
                      <a:r>
                        <a:rPr lang="en-US" sz="1800">
                          <a:effectLst/>
                        </a:rPr>
                        <a:t>void setCharAt(int index, char ch)</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修改指定位置</a:t>
                      </a:r>
                      <a:r>
                        <a:rPr lang="en-US" sz="1800">
                          <a:effectLst/>
                        </a:rPr>
                        <a:t>index</a:t>
                      </a:r>
                      <a:r>
                        <a:rPr lang="zh-CN" sz="1800">
                          <a:effectLst/>
                        </a:rPr>
                        <a:t>处的字符序列</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414991">
                <a:tc>
                  <a:txBody>
                    <a:bodyPr/>
                    <a:lstStyle/>
                    <a:p>
                      <a:pPr>
                        <a:spcAft>
                          <a:spcPts val="0"/>
                        </a:spcAft>
                      </a:pPr>
                      <a:r>
                        <a:rPr lang="en-US" sz="1800">
                          <a:effectLst/>
                        </a:rPr>
                        <a:t>String toString()</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返回</a:t>
                      </a:r>
                      <a:r>
                        <a:rPr lang="en-US" sz="1800">
                          <a:effectLst/>
                        </a:rPr>
                        <a:t>StringBuffer</a:t>
                      </a:r>
                      <a:r>
                        <a:rPr lang="zh-CN" sz="1800">
                          <a:effectLst/>
                        </a:rPr>
                        <a:t>缓冲区中的字符串</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414991">
                <a:tc>
                  <a:txBody>
                    <a:bodyPr/>
                    <a:lstStyle/>
                    <a:p>
                      <a:pPr>
                        <a:spcAft>
                          <a:spcPts val="0"/>
                        </a:spcAft>
                      </a:pPr>
                      <a:r>
                        <a:rPr lang="en-US" sz="1800">
                          <a:effectLst/>
                        </a:rPr>
                        <a:t>StringBuffer reverse()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dirty="0">
                          <a:effectLst/>
                        </a:rPr>
                        <a:t>将此字符序列用其反转形式取代</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bl>
          </a:graphicData>
        </a:graphic>
      </p:graphicFrame>
      <p:sp>
        <p:nvSpPr>
          <p:cNvPr id="4" name="文本占位符 3"/>
          <p:cNvSpPr>
            <a:spLocks noGrp="1"/>
          </p:cNvSpPr>
          <p:nvPr>
            <p:ph type="body" sz="quarter" idx="10"/>
          </p:nvPr>
        </p:nvSpPr>
        <p:spPr/>
        <p:txBody>
          <a:bodyPr/>
          <a:lstStyle/>
          <a:p>
            <a:fld id="{024A904D-03A1-41F2-B438-A2FBE30FCE64}" type="slidenum">
              <a:rPr lang="zh-CN" altLang="en-US" smtClean="0"/>
              <a:t>27</a:t>
            </a:fld>
            <a:endParaRPr lang="zh-CN" altLang="en-US" dirty="0"/>
          </a:p>
        </p:txBody>
      </p:sp>
    </p:spTree>
    <p:custDataLst>
      <p:tags r:id="rId1"/>
    </p:custDataLst>
    <p:extLst>
      <p:ext uri="{BB962C8B-B14F-4D97-AF65-F5344CB8AC3E}">
        <p14:creationId xmlns:p14="http://schemas.microsoft.com/office/powerpoint/2010/main" val="288506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47692"/>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5.1.3 </a:t>
            </a:r>
            <a:r>
              <a:rPr lang="en-US" altLang="zh-CN" sz="3200" b="1" dirty="0" err="1">
                <a:solidFill>
                  <a:srgbClr val="1353A2"/>
                </a:solidFill>
                <a:latin typeface="微软雅黑" panose="020B0503020204020204" pitchFamily="34" charset="-122"/>
                <a:ea typeface="微软雅黑" panose="020B0503020204020204" pitchFamily="34" charset="-122"/>
              </a:rPr>
              <a:t>StringBuffer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31617" y="1280159"/>
            <a:ext cx="9735821" cy="81280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的常用方法。</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412998" y="2092962"/>
            <a:ext cx="8376921" cy="3657598"/>
            <a:chOff x="2311398" y="2092962"/>
            <a:chExt cx="8376921" cy="3657598"/>
          </a:xfrm>
        </p:grpSpPr>
        <p:pic>
          <p:nvPicPr>
            <p:cNvPr id="563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2092962"/>
              <a:ext cx="8376921" cy="3657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842255" y="2225040"/>
              <a:ext cx="7114543" cy="3403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class Example08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、添加</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add();</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、删除</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remove();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alter();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55F799BD-2D07-4AA5-8D9F-48CED3945E63}" type="slidenum">
              <a:rPr lang="zh-CN" altLang="en-US" smtClean="0"/>
              <a:t>28</a:t>
            </a:fld>
            <a:endParaRPr lang="zh-CN" altLang="en-US" dirty="0"/>
          </a:p>
        </p:txBody>
      </p:sp>
    </p:spTree>
    <p:custDataLst>
      <p:tags r:id="rId1"/>
    </p:custDataLst>
    <p:extLst>
      <p:ext uri="{BB962C8B-B14F-4D97-AF65-F5344CB8AC3E}">
        <p14:creationId xmlns:p14="http://schemas.microsoft.com/office/powerpoint/2010/main" val="889280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22293"/>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5.1.3 </a:t>
            </a:r>
            <a:r>
              <a:rPr lang="en-US" altLang="zh-CN" sz="3200" b="1" dirty="0" err="1">
                <a:solidFill>
                  <a:srgbClr val="1353A2"/>
                </a:solidFill>
                <a:latin typeface="微软雅黑" panose="020B0503020204020204" pitchFamily="34" charset="-122"/>
                <a:ea typeface="微软雅黑" panose="020B0503020204020204" pitchFamily="34" charset="-122"/>
              </a:rPr>
              <a:t>StringBuffer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004817" y="1229360"/>
            <a:ext cx="7622542" cy="5161280"/>
            <a:chOff x="3004817" y="1229360"/>
            <a:chExt cx="7622542" cy="5161280"/>
          </a:xfrm>
        </p:grpSpPr>
        <p:pic>
          <p:nvPicPr>
            <p:cNvPr id="573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2640" y="1229360"/>
              <a:ext cx="7284719" cy="516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004817" y="1229360"/>
              <a:ext cx="7226303" cy="5161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add()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StringBuffer sb = new StringBuffer();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定义一个字符串缓冲区</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sb.append("abcdefg");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在末尾添加字符串</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System.out.println("append</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添加结果：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sb.insert(2, "123");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在指定位置插入字符串</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System.out.println("insert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添加结果：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remove()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StringBuffer sb = new StringBuffer("abcdefg");</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sb.delete(1, 5);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指定范围删除</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删除指定位置结果：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sb.deleteCharAt(2);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指定位置删除</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删除指定位置结果：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sb.delete(0, sb.length());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清空缓冲区</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清空缓冲区结果：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6C2C4AB4-DDA6-4F99-93CE-F456EC375B9C}" type="slidenum">
              <a:rPr lang="zh-CN" altLang="en-US" smtClean="0"/>
              <a:t>29</a:t>
            </a:fld>
            <a:endParaRPr lang="zh-CN" altLang="en-US" dirty="0"/>
          </a:p>
        </p:txBody>
      </p:sp>
    </p:spTree>
    <p:custDataLst>
      <p:tags r:id="rId1"/>
    </p:custDataLst>
    <p:extLst>
      <p:ext uri="{BB962C8B-B14F-4D97-AF65-F5344CB8AC3E}">
        <p14:creationId xmlns:p14="http://schemas.microsoft.com/office/powerpoint/2010/main" val="61459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44852" y="36518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5.1.3 </a:t>
            </a:r>
            <a:r>
              <a:rPr lang="en-US" altLang="zh-CN" sz="3200" b="1" dirty="0" err="1">
                <a:solidFill>
                  <a:srgbClr val="1353A2"/>
                </a:solidFill>
                <a:latin typeface="微软雅黑" panose="020B0503020204020204" pitchFamily="34" charset="-122"/>
                <a:ea typeface="微软雅黑" panose="020B0503020204020204" pitchFamily="34" charset="-122"/>
              </a:rPr>
              <a:t>StringBuffer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661920" y="1808480"/>
            <a:ext cx="7884160" cy="3515360"/>
            <a:chOff x="2550160" y="1818640"/>
            <a:chExt cx="7884160" cy="3515360"/>
          </a:xfrm>
        </p:grpSpPr>
        <p:pic>
          <p:nvPicPr>
            <p:cNvPr id="583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0160" y="1818640"/>
              <a:ext cx="7884159" cy="351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730497" y="1910080"/>
              <a:ext cx="7703823" cy="341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alter()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abcdef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sb.setCharAt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'p');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修改指定位置字符</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修改指定位置字符结果：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sb.replace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qq</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替换指定位置字符串或字符</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替换指定位置字符（串）结果：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字符串翻转结果：</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sb.reverse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BD9BB051-BA62-4A8D-BB74-FABEE06AAF65}" type="slidenum">
              <a:rPr lang="zh-CN" altLang="en-US" smtClean="0"/>
              <a:t>30</a:t>
            </a:fld>
            <a:endParaRPr lang="zh-CN" altLang="en-US" dirty="0"/>
          </a:p>
        </p:txBody>
      </p:sp>
    </p:spTree>
    <p:custDataLst>
      <p:tags r:id="rId1"/>
    </p:custDataLst>
    <p:extLst>
      <p:ext uri="{BB962C8B-B14F-4D97-AF65-F5344CB8AC3E}">
        <p14:creationId xmlns:p14="http://schemas.microsoft.com/office/powerpoint/2010/main" val="128661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内容占位符 2"/>
          <p:cNvSpPr txBox="1">
            <a:spLocks noChangeArrowheads="1"/>
          </p:cNvSpPr>
          <p:nvPr/>
        </p:nvSpPr>
        <p:spPr bwMode="auto">
          <a:xfrm>
            <a:off x="1449236" y="1394605"/>
            <a:ext cx="9837889" cy="427277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b="1" dirty="0" err="1">
                <a:solidFill>
                  <a:srgbClr val="009ED6"/>
                </a:solidFill>
              </a:rPr>
              <a:t>StringBuffer类</a:t>
            </a:r>
            <a:r>
              <a:rPr lang="zh-CN" altLang="en-US" b="1" dirty="0">
                <a:solidFill>
                  <a:srgbClr val="009ED6"/>
                </a:solidFill>
              </a:rPr>
              <a:t>和</a:t>
            </a:r>
            <a:r>
              <a:rPr lang="en-US" altLang="zh-CN" b="1" dirty="0">
                <a:solidFill>
                  <a:srgbClr val="009ED6"/>
                </a:solidFill>
              </a:rPr>
              <a:t>String</a:t>
            </a:r>
            <a:r>
              <a:rPr lang="zh-CN" altLang="en-US" b="1" dirty="0">
                <a:solidFill>
                  <a:srgbClr val="009ED6"/>
                </a:solidFill>
              </a:rPr>
              <a:t>类比较：</a:t>
            </a:r>
            <a:endParaRPr lang="en-US" altLang="zh-CN" b="1" dirty="0">
              <a:solidFill>
                <a:srgbClr val="009ED6"/>
              </a:solidFill>
            </a:endParaRPr>
          </a:p>
          <a:p>
            <a:pPr>
              <a:lnSpc>
                <a:spcPct val="120000"/>
              </a:lnSpc>
              <a:buFont typeface="Wingdings" panose="05000000000000000000" pitchFamily="2" charset="2"/>
              <a:buChar char="l"/>
            </a:pPr>
            <a:r>
              <a:rPr lang="en-US" altLang="zh-CN" sz="2400" dirty="0"/>
              <a:t>String</a:t>
            </a:r>
            <a:r>
              <a:rPr lang="zh-CN" altLang="en-US" sz="2400" dirty="0"/>
              <a:t>类表示的字符串是常量，一旦创建后，内容和长度都是无法改变的。</a:t>
            </a:r>
            <a:r>
              <a:rPr lang="en-US" altLang="zh-CN" sz="2400" dirty="0" err="1"/>
              <a:t>StringBuffer</a:t>
            </a:r>
            <a:r>
              <a:rPr lang="zh-CN" altLang="en-US" sz="2400" dirty="0"/>
              <a:t>表示字符容器，其内容和长度都可以随时修改。在操作字符串时，如果该字符串仅用于表示数据类型，则使用</a:t>
            </a:r>
            <a:r>
              <a:rPr lang="en-US" altLang="zh-CN" sz="2400" dirty="0"/>
              <a:t>String</a:t>
            </a:r>
            <a:r>
              <a:rPr lang="zh-CN" altLang="en-US" sz="2400" dirty="0"/>
              <a:t>类即可，但是如果需要对字符串中的字符进行增删操作，则使用</a:t>
            </a:r>
            <a:r>
              <a:rPr lang="en-US" altLang="zh-CN" sz="2400" dirty="0" err="1"/>
              <a:t>StringBuffer</a:t>
            </a:r>
            <a:r>
              <a:rPr lang="zh-CN" altLang="en-US" sz="2400" dirty="0"/>
              <a:t>类。</a:t>
            </a:r>
          </a:p>
          <a:p>
            <a:pPr>
              <a:lnSpc>
                <a:spcPct val="120000"/>
              </a:lnSpc>
              <a:buFont typeface="Wingdings" panose="05000000000000000000" pitchFamily="2" charset="2"/>
              <a:buChar char="l"/>
            </a:pPr>
            <a:r>
              <a:rPr lang="en-US" altLang="zh-CN" sz="2400" dirty="0"/>
              <a:t>String</a:t>
            </a:r>
            <a:r>
              <a:rPr lang="zh-CN" altLang="en-US" sz="2400" dirty="0"/>
              <a:t>类覆盖了</a:t>
            </a:r>
            <a:r>
              <a:rPr lang="en-US" altLang="zh-CN" sz="2400" dirty="0"/>
              <a:t>Object</a:t>
            </a:r>
            <a:r>
              <a:rPr lang="zh-CN" altLang="en-US" sz="2400" dirty="0"/>
              <a:t>类的</a:t>
            </a:r>
            <a:r>
              <a:rPr lang="en-US" altLang="zh-CN" sz="2400" dirty="0"/>
              <a:t>equals()</a:t>
            </a:r>
            <a:r>
              <a:rPr lang="zh-CN" altLang="en-US" sz="2400" dirty="0"/>
              <a:t>方法，而</a:t>
            </a:r>
            <a:r>
              <a:rPr lang="en-US" altLang="zh-CN" sz="2400" dirty="0" err="1"/>
              <a:t>StringBuffer</a:t>
            </a:r>
            <a:r>
              <a:rPr lang="zh-CN" altLang="en-US" sz="2400" dirty="0"/>
              <a:t>类没有覆盖</a:t>
            </a:r>
            <a:r>
              <a:rPr lang="en-US" altLang="zh-CN" sz="2400" dirty="0"/>
              <a:t>Object</a:t>
            </a:r>
            <a:r>
              <a:rPr lang="zh-CN" altLang="en-US" sz="2400" dirty="0"/>
              <a:t>类的</a:t>
            </a:r>
            <a:r>
              <a:rPr lang="en-US" altLang="zh-CN" sz="2400" dirty="0"/>
              <a:t>equals()</a:t>
            </a:r>
            <a:r>
              <a:rPr lang="zh-CN" altLang="en-US" sz="2400" dirty="0"/>
              <a:t>方法。</a:t>
            </a:r>
            <a:endParaRPr lang="en-US" altLang="zh-CN" sz="2400" dirty="0"/>
          </a:p>
          <a:p>
            <a:pPr>
              <a:lnSpc>
                <a:spcPct val="120000"/>
              </a:lnSpc>
              <a:buFont typeface="Wingdings" panose="05000000000000000000" pitchFamily="2" charset="2"/>
              <a:buChar char="l"/>
            </a:pPr>
            <a:r>
              <a:rPr lang="en-US" altLang="zh-CN" sz="2400" dirty="0"/>
              <a:t>String</a:t>
            </a:r>
            <a:r>
              <a:rPr lang="zh-CN" altLang="en-US" sz="2400" dirty="0"/>
              <a:t>类对象可以用操作符“</a:t>
            </a:r>
            <a:r>
              <a:rPr lang="en-US" altLang="zh-CN" sz="2400" dirty="0"/>
              <a:t>+</a:t>
            </a:r>
            <a:r>
              <a:rPr lang="zh-CN" altLang="en-US" sz="2400" dirty="0"/>
              <a:t>”进行连接，而</a:t>
            </a:r>
            <a:r>
              <a:rPr lang="en-US" altLang="zh-CN" sz="2400" dirty="0" err="1"/>
              <a:t>StringBuffer</a:t>
            </a:r>
            <a:r>
              <a:rPr lang="zh-CN" altLang="en-US" sz="2400" dirty="0"/>
              <a:t>类对象之间不能。</a:t>
            </a:r>
          </a:p>
          <a:p>
            <a:pPr lvl="1"/>
            <a:endParaRPr lang="zh-CN" altLang="en-US" sz="1800" dirty="0"/>
          </a:p>
        </p:txBody>
      </p:sp>
      <p:sp>
        <p:nvSpPr>
          <p:cNvPr id="5" name="TextBox 1"/>
          <p:cNvSpPr txBox="1"/>
          <p:nvPr/>
        </p:nvSpPr>
        <p:spPr>
          <a:xfrm>
            <a:off x="2344852" y="36518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5.1.3 </a:t>
            </a:r>
            <a:r>
              <a:rPr lang="en-US" altLang="zh-CN" sz="3200" b="1" dirty="0" err="1">
                <a:solidFill>
                  <a:srgbClr val="1353A2"/>
                </a:solidFill>
                <a:latin typeface="微软雅黑" panose="020B0503020204020204" pitchFamily="34" charset="-122"/>
                <a:ea typeface="微软雅黑" panose="020B0503020204020204" pitchFamily="34" charset="-122"/>
              </a:rPr>
              <a:t>StringBuffer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6321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22549" y="35502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65296" y="1879601"/>
            <a:ext cx="9268463"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也可以对字符串进行修改，</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类的对象都可以被多次修改，并不产生新的未使用对象，</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JDK5</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中新加的类，它与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之间最大不同在于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的方法是</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非</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线程安全的，也就是说</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不能被</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同步访问，而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a:t>
            </a:r>
          </a:p>
        </p:txBody>
      </p:sp>
      <p:sp>
        <p:nvSpPr>
          <p:cNvPr id="3" name="文本占位符 2"/>
          <p:cNvSpPr>
            <a:spLocks noGrp="1"/>
          </p:cNvSpPr>
          <p:nvPr>
            <p:ph type="body" sz="quarter" idx="10"/>
          </p:nvPr>
        </p:nvSpPr>
        <p:spPr/>
        <p:txBody>
          <a:bodyPr/>
          <a:lstStyle/>
          <a:p>
            <a:fld id="{94F96379-A5AF-4B17-A4E9-9771BC81C33A}" type="slidenum">
              <a:rPr lang="zh-CN" altLang="en-US" smtClean="0"/>
              <a:t>32</a:t>
            </a:fld>
            <a:endParaRPr lang="zh-CN" altLang="en-US" dirty="0"/>
          </a:p>
        </p:txBody>
      </p:sp>
    </p:spTree>
    <p:custDataLst>
      <p:tags r:id="rId1"/>
    </p:custDataLst>
    <p:extLst>
      <p:ext uri="{BB962C8B-B14F-4D97-AF65-F5344CB8AC3E}">
        <p14:creationId xmlns:p14="http://schemas.microsoft.com/office/powerpoint/2010/main" val="10054313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00247" y="356554"/>
            <a:ext cx="532718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1768" y="1259841"/>
            <a:ext cx="9268463" cy="77215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下面通过一个案例对比</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的运行效率</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1297623" y="2388553"/>
            <a:ext cx="4595177" cy="2955607"/>
            <a:chOff x="1256983" y="2388553"/>
            <a:chExt cx="4595177" cy="2955607"/>
          </a:xfrm>
        </p:grpSpPr>
        <p:pic>
          <p:nvPicPr>
            <p:cNvPr id="593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6983" y="2388553"/>
              <a:ext cx="4595177" cy="2955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1461769" y="2499360"/>
              <a:ext cx="4248151" cy="2692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public class Example09{</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private static final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TIMES = 100000;</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Example09.testString();</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Example09.testStringBuffer();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Example09.testStringBuilder();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 name="组合 3"/>
          <p:cNvGrpSpPr/>
          <p:nvPr/>
        </p:nvGrpSpPr>
        <p:grpSpPr>
          <a:xfrm>
            <a:off x="6245542" y="1991360"/>
            <a:ext cx="5265738" cy="4104640"/>
            <a:chOff x="6113462" y="1991360"/>
            <a:chExt cx="5265738" cy="4104640"/>
          </a:xfrm>
        </p:grpSpPr>
        <p:pic>
          <p:nvPicPr>
            <p:cNvPr id="593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3462" y="1991360"/>
              <a:ext cx="5265738" cy="410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6155689" y="1991360"/>
              <a:ext cx="5223511" cy="4033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//String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时间效率测试</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static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testString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long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TIMES;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"test";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long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test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usedtime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 name="文本占位符 7"/>
          <p:cNvSpPr>
            <a:spLocks noGrp="1"/>
          </p:cNvSpPr>
          <p:nvPr>
            <p:ph type="body" sz="quarter" idx="10"/>
          </p:nvPr>
        </p:nvSpPr>
        <p:spPr/>
        <p:txBody>
          <a:bodyPr/>
          <a:lstStyle/>
          <a:p>
            <a:fld id="{94FE647A-0E31-477E-85FE-E21C4729235B}" type="slidenum">
              <a:rPr lang="zh-CN" altLang="en-US" smtClean="0"/>
              <a:t>33</a:t>
            </a:fld>
            <a:endParaRPr lang="zh-CN" altLang="en-US" dirty="0"/>
          </a:p>
        </p:txBody>
      </p:sp>
    </p:spTree>
    <p:custDataLst>
      <p:tags r:id="rId1"/>
    </p:custDataLst>
    <p:extLst>
      <p:ext uri="{BB962C8B-B14F-4D97-AF65-F5344CB8AC3E}">
        <p14:creationId xmlns:p14="http://schemas.microsoft.com/office/powerpoint/2010/main" val="18880676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379036"/>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33040" y="1574800"/>
            <a:ext cx="7802880" cy="4409439"/>
            <a:chOff x="2641600" y="1574800"/>
            <a:chExt cx="7802880" cy="4409439"/>
          </a:xfrm>
        </p:grpSpPr>
        <p:pic>
          <p:nvPicPr>
            <p:cNvPr id="604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1600" y="1574800"/>
              <a:ext cx="7802880" cy="440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098800" y="1696720"/>
              <a:ext cx="7030721" cy="4033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时间效率测试（线程安全）</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public static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testStringBuffer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long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TIMES;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str.append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("test");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long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test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usedtime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ED6F7DE-24F3-48DA-9820-0E153C435A59}" type="slidenum">
              <a:rPr lang="zh-CN" altLang="en-US" smtClean="0"/>
              <a:t>34</a:t>
            </a:fld>
            <a:endParaRPr lang="zh-CN" altLang="en-US" dirty="0"/>
          </a:p>
        </p:txBody>
      </p:sp>
    </p:spTree>
    <p:custDataLst>
      <p:tags r:id="rId1"/>
    </p:custDataLst>
    <p:extLst>
      <p:ext uri="{BB962C8B-B14F-4D97-AF65-F5344CB8AC3E}">
        <p14:creationId xmlns:p14="http://schemas.microsoft.com/office/powerpoint/2010/main" val="24534228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22550" y="356734"/>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17798" y="1483360"/>
            <a:ext cx="8011161" cy="4511039"/>
            <a:chOff x="2311398" y="1473200"/>
            <a:chExt cx="8011161" cy="4511039"/>
          </a:xfrm>
        </p:grpSpPr>
        <p:pic>
          <p:nvPicPr>
            <p:cNvPr id="614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473200"/>
              <a:ext cx="8011161" cy="4511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844800" y="1503680"/>
              <a:ext cx="7172961" cy="4439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时间效率测试（非线程安全）</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public static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testStringBuilder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long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34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TIMES;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35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str.append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("test");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37        long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test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usedtime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39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65DD9AF-B46F-4AA6-A8CE-F96783F19766}" type="slidenum">
              <a:rPr lang="zh-CN" altLang="en-US" smtClean="0"/>
              <a:t>35</a:t>
            </a:fld>
            <a:endParaRPr lang="zh-CN" altLang="en-US" dirty="0"/>
          </a:p>
        </p:txBody>
      </p:sp>
    </p:spTree>
    <p:custDataLst>
      <p:tags r:id="rId1"/>
    </p:custDataLst>
    <p:extLst>
      <p:ext uri="{BB962C8B-B14F-4D97-AF65-F5344CB8AC3E}">
        <p14:creationId xmlns:p14="http://schemas.microsoft.com/office/powerpoint/2010/main" val="27457776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27867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1767" y="1513841"/>
            <a:ext cx="9268463" cy="77215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322320" y="2425064"/>
            <a:ext cx="6697027" cy="2675255"/>
          </a:xfrm>
          <a:prstGeom prst="rect">
            <a:avLst/>
          </a:prstGeom>
        </p:spPr>
      </p:pic>
      <p:sp>
        <p:nvSpPr>
          <p:cNvPr id="3" name="文本占位符 2"/>
          <p:cNvSpPr>
            <a:spLocks noGrp="1"/>
          </p:cNvSpPr>
          <p:nvPr>
            <p:ph type="body" sz="quarter" idx="10"/>
          </p:nvPr>
        </p:nvSpPr>
        <p:spPr/>
        <p:txBody>
          <a:bodyPr/>
          <a:lstStyle/>
          <a:p>
            <a:fld id="{62A96A07-AA22-4406-B34A-8B03786D80BB}" type="slidenum">
              <a:rPr lang="zh-CN" altLang="en-US" smtClean="0"/>
              <a:t>36</a:t>
            </a:fld>
            <a:endParaRPr lang="zh-CN" altLang="en-US" dirty="0"/>
          </a:p>
        </p:txBody>
      </p:sp>
    </p:spTree>
    <p:custDataLst>
      <p:tags r:id="rId1"/>
    </p:custDataLst>
    <p:extLst>
      <p:ext uri="{BB962C8B-B14F-4D97-AF65-F5344CB8AC3E}">
        <p14:creationId xmlns:p14="http://schemas.microsoft.com/office/powerpoint/2010/main" val="18192711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382965"/>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6004560" y="2174241"/>
            <a:ext cx="5375910" cy="241807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类有很多相似之处，初学者在使用时很容易混淆。接下来针对这三个类进行对比，简单归纳一下三者的</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不同。</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24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655" y="2174241"/>
            <a:ext cx="4012301" cy="2583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AE106BA7-9785-42CC-BA84-96AAD85AF91D}" type="slidenum">
              <a:rPr lang="zh-CN" altLang="en-US" smtClean="0"/>
              <a:t>37</a:t>
            </a:fld>
            <a:endParaRPr lang="zh-CN" altLang="en-US" dirty="0"/>
          </a:p>
        </p:txBody>
      </p:sp>
    </p:spTree>
    <p:custDataLst>
      <p:tags r:id="rId1"/>
    </p:custDataLst>
    <p:extLst>
      <p:ext uri="{BB962C8B-B14F-4D97-AF65-F5344CB8AC3E}">
        <p14:creationId xmlns:p14="http://schemas.microsoft.com/office/powerpoint/2010/main" val="42803469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1" presetClass="entr" presetSubtype="1" fill="hold" nodeType="withEffect">
                                  <p:stCondLst>
                                    <p:cond delay="0"/>
                                  </p:stCondLst>
                                  <p:childTnLst>
                                    <p:set>
                                      <p:cBhvr>
                                        <p:cTn id="9" dur="1" fill="hold">
                                          <p:stCondLst>
                                            <p:cond delay="0"/>
                                          </p:stCondLst>
                                        </p:cTn>
                                        <p:tgtEl>
                                          <p:spTgt spid="62466"/>
                                        </p:tgtEl>
                                        <p:attrNameLst>
                                          <p:attrName>style.visibility</p:attrName>
                                        </p:attrNameLst>
                                      </p:cBhvr>
                                      <p:to>
                                        <p:strVal val="visible"/>
                                      </p:to>
                                    </p:set>
                                    <p:animEffect transition="in" filter="wheel(1)">
                                      <p:cBhvr>
                                        <p:cTn id="10" dur="2000"/>
                                        <p:tgtEl>
                                          <p:spTgt spid="62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33701" y="294064"/>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13840" y="1584960"/>
            <a:ext cx="9866630" cy="42367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类表示的字符串是常量，一旦创建后，内容和长度都是无法改变的。而</a:t>
            </a:r>
            <a:r>
              <a:rPr lang="en-US" altLang="zh-CN" sz="2400" dirty="0" err="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表示字符容器</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，其内容和长度可以随时修改。在操作字符串时，如果该字符串仅用于表示数据类型，则使用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类即可，但是如果需要对字符串中的字符进行增删操作，则使用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类。如果有大量字符串拼接操作，不要求线程安全的情况下，采用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更高效。相反如果需要线程安全则需要使用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文本占位符 2"/>
          <p:cNvSpPr>
            <a:spLocks noGrp="1"/>
          </p:cNvSpPr>
          <p:nvPr>
            <p:ph type="body" sz="quarter" idx="10"/>
          </p:nvPr>
        </p:nvSpPr>
        <p:spPr/>
        <p:txBody>
          <a:bodyPr/>
          <a:lstStyle/>
          <a:p>
            <a:fld id="{296DFD1E-AE2D-4ABC-95CF-2AC996AEA18A}" type="slidenum">
              <a:rPr lang="zh-CN" altLang="en-US" smtClean="0"/>
              <a:t>38</a:t>
            </a:fld>
            <a:endParaRPr lang="zh-CN" altLang="en-US" dirty="0"/>
          </a:p>
        </p:txBody>
      </p:sp>
    </p:spTree>
    <p:custDataLst>
      <p:tags r:id="rId1"/>
    </p:custDataLst>
    <p:extLst>
      <p:ext uri="{BB962C8B-B14F-4D97-AF65-F5344CB8AC3E}">
        <p14:creationId xmlns:p14="http://schemas.microsoft.com/office/powerpoint/2010/main" val="17452699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362198" y="1950721"/>
            <a:ext cx="8077200" cy="2773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euals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方法的使用我们已经有所了解，但是在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类中并没有被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方法覆盖，也就是说，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方法对于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类来言并不起作用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FCEAE9C5-74DA-46D3-8799-3598CEC40B7F}" type="slidenum">
              <a:rPr lang="zh-CN" altLang="en-US" smtClean="0"/>
              <a:t>39</a:t>
            </a:fld>
            <a:endParaRPr lang="zh-CN" altLang="en-US" dirty="0"/>
          </a:p>
        </p:txBody>
      </p:sp>
    </p:spTree>
    <p:custDataLst>
      <p:tags r:id="rId1"/>
    </p:custDataLst>
    <p:extLst>
      <p:ext uri="{BB962C8B-B14F-4D97-AF65-F5344CB8AC3E}">
        <p14:creationId xmlns:p14="http://schemas.microsoft.com/office/powerpoint/2010/main" val="23435193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618739" y="1666240"/>
            <a:ext cx="7909562" cy="4104639"/>
            <a:chOff x="2311398" y="1574800"/>
            <a:chExt cx="7909562" cy="4104639"/>
          </a:xfrm>
        </p:grpSpPr>
        <p:pic>
          <p:nvPicPr>
            <p:cNvPr id="634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574800"/>
              <a:ext cx="7909562" cy="4104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3271520" y="1666240"/>
              <a:ext cx="6258560" cy="3901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s1 = new String("</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s2 = new String("</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(s1.equals(s2));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打印结果为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sb1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sb2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(sb1.equals(sb2));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打印结果为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sbr1=new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sbr2=new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StringBuilder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abc</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(sbr1.equals(sbr2));</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B0EB73FB-60CF-43BA-95A8-163BE98DEF70}" type="slidenum">
              <a:rPr lang="zh-CN" altLang="en-US" smtClean="0"/>
              <a:t>40</a:t>
            </a:fld>
            <a:endParaRPr lang="zh-CN" altLang="en-US" dirty="0"/>
          </a:p>
        </p:txBody>
      </p:sp>
    </p:spTree>
    <p:custDataLst>
      <p:tags r:id="rId1"/>
    </p:custDataLst>
    <p:extLst>
      <p:ext uri="{BB962C8B-B14F-4D97-AF65-F5344CB8AC3E}">
        <p14:creationId xmlns:p14="http://schemas.microsoft.com/office/powerpoint/2010/main" val="36771210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plus(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5.1.4 </a:t>
            </a:r>
            <a:r>
              <a:rPr lang="en-US" altLang="zh-CN" sz="3200" b="1" dirty="0" err="1">
                <a:solidFill>
                  <a:srgbClr val="1353A2"/>
                </a:solidFill>
                <a:latin typeface="微软雅黑" panose="020B0503020204020204" pitchFamily="34" charset="-122"/>
                <a:ea typeface="微软雅黑" panose="020B0503020204020204" pitchFamily="34" charset="-122"/>
              </a:rPr>
              <a:t>StringBiulder</a:t>
            </a:r>
            <a:r>
              <a:rPr lang="zh-CN" altLang="zh-CN" sz="3200" b="1" dirty="0">
                <a:solidFill>
                  <a:srgbClr val="1353A2"/>
                </a:solidFill>
                <a:latin typeface="微软雅黑" panose="020B0503020204020204" pitchFamily="34" charset="-122"/>
                <a:ea typeface="微软雅黑" panose="020B0503020204020204" pitchFamily="34" charset="-122"/>
              </a:rPr>
              <a:t>类</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24000" y="1371601"/>
            <a:ext cx="9956800" cy="1371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类对象可以用操作符</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进行连接，而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类对象之间不能</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3027680" y="2656523"/>
            <a:ext cx="7660640" cy="3154997"/>
            <a:chOff x="2611120" y="2697163"/>
            <a:chExt cx="7660640" cy="3154997"/>
          </a:xfrm>
        </p:grpSpPr>
        <p:pic>
          <p:nvPicPr>
            <p:cNvPr id="645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1120" y="2697163"/>
              <a:ext cx="7660640" cy="3154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596640" y="2702561"/>
              <a:ext cx="5892800" cy="300735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s1 = "a";</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s2 = "b";</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s3 = s1+s2;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合法</a:t>
              </a: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(s3);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打印输出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ab</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sb1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sb2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StringBuffer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sb3 = sb1 + sb2;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编译出错</a:t>
              </a:r>
              <a:endPar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2614C6E5-15A0-438E-A19E-60582FCA9397}" type="slidenum">
              <a:rPr lang="zh-CN" altLang="en-US" smtClean="0"/>
              <a:t>41</a:t>
            </a:fld>
            <a:endParaRPr lang="zh-CN" altLang="en-US" dirty="0"/>
          </a:p>
        </p:txBody>
      </p:sp>
    </p:spTree>
    <p:custDataLst>
      <p:tags r:id="rId1"/>
    </p:custDataLst>
    <p:extLst>
      <p:ext uri="{BB962C8B-B14F-4D97-AF65-F5344CB8AC3E}">
        <p14:creationId xmlns:p14="http://schemas.microsoft.com/office/powerpoint/2010/main" val="36140889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4007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214880" y="1422400"/>
            <a:ext cx="5720080" cy="4541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类对读者来说并不陌生，因为在之前所学知识中，需要打印结果时，使用的都是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语句，这句代码中就使用了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类定义了一些与系统相关的属性和方法，它所提供的属性和方法都是静态的，因此，想要引用这些属性和方法，直接使用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类调用即可。</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8698" y="1681480"/>
            <a:ext cx="2674937"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5C46344D-ECDF-44EB-A58A-F3D39A1B865F}" type="slidenum">
              <a:rPr lang="zh-CN" altLang="en-US" smtClean="0"/>
              <a:t>42</a:t>
            </a:fld>
            <a:endParaRPr lang="zh-CN" altLang="en-US" dirty="0"/>
          </a:p>
        </p:txBody>
      </p:sp>
    </p:spTree>
    <p:custDataLst>
      <p:tags r:id="rId1"/>
    </p:custDataLst>
    <p:extLst>
      <p:ext uri="{BB962C8B-B14F-4D97-AF65-F5344CB8AC3E}">
        <p14:creationId xmlns:p14="http://schemas.microsoft.com/office/powerpoint/2010/main" val="26964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5277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788160" y="1290320"/>
            <a:ext cx="5720080" cy="74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类的常用方法如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214880" y="2032000"/>
          <a:ext cx="8961120" cy="3939528"/>
        </p:xfrm>
        <a:graphic>
          <a:graphicData uri="http://schemas.openxmlformats.org/drawingml/2006/table">
            <a:tbl>
              <a:tblPr firstRow="1" firstCol="1" bandRow="1">
                <a:tableStyleId>{5C22544A-7EE6-4342-B048-85BDC9FD1C3A}</a:tableStyleId>
              </a:tblPr>
              <a:tblGrid>
                <a:gridCol w="4211492">
                  <a:extLst>
                    <a:ext uri="{9D8B030D-6E8A-4147-A177-3AD203B41FA5}">
                      <a16:colId xmlns:a16="http://schemas.microsoft.com/office/drawing/2014/main" val="20000"/>
                    </a:ext>
                  </a:extLst>
                </a:gridCol>
                <a:gridCol w="4749628">
                  <a:extLst>
                    <a:ext uri="{9D8B030D-6E8A-4147-A177-3AD203B41FA5}">
                      <a16:colId xmlns:a16="http://schemas.microsoft.com/office/drawing/2014/main" val="20001"/>
                    </a:ext>
                  </a:extLst>
                </a:gridCol>
              </a:tblGrid>
              <a:tr h="436882">
                <a:tc>
                  <a:txBody>
                    <a:bodyPr/>
                    <a:lstStyle/>
                    <a:p>
                      <a:pPr algn="ctr">
                        <a:spcAft>
                          <a:spcPts val="0"/>
                        </a:spcAft>
                      </a:pPr>
                      <a:r>
                        <a:rPr lang="zh-CN" sz="1600">
                          <a:effectLst/>
                        </a:rPr>
                        <a:t>方法名称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891583">
                <a:tc>
                  <a:txBody>
                    <a:bodyPr/>
                    <a:lstStyle/>
                    <a:p>
                      <a:pPr>
                        <a:spcAft>
                          <a:spcPts val="0"/>
                        </a:spcAft>
                      </a:pPr>
                      <a:r>
                        <a:rPr lang="en-US" sz="1600">
                          <a:effectLst/>
                        </a:rPr>
                        <a:t>static void exit(int status)</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该方法用于终止当前正在运行的</a:t>
                      </a:r>
                      <a:r>
                        <a:rPr lang="en-US" sz="1600">
                          <a:effectLst/>
                        </a:rPr>
                        <a:t>Java</a:t>
                      </a:r>
                      <a:r>
                        <a:rPr lang="zh-CN" sz="1600">
                          <a:effectLst/>
                        </a:rPr>
                        <a:t>虚拟机，其中参数</a:t>
                      </a:r>
                      <a:r>
                        <a:rPr lang="en-US" sz="1600">
                          <a:effectLst/>
                        </a:rPr>
                        <a:t>status</a:t>
                      </a:r>
                      <a:r>
                        <a:rPr lang="zh-CN" sz="1600">
                          <a:effectLst/>
                        </a:rPr>
                        <a:t>表示状态码，若状态码非</a:t>
                      </a:r>
                      <a:r>
                        <a:rPr lang="en-US" sz="1600">
                          <a:effectLst/>
                        </a:rPr>
                        <a:t>0 </a:t>
                      </a:r>
                      <a:r>
                        <a:rPr lang="zh-CN" sz="1600">
                          <a:effectLst/>
                        </a:rPr>
                        <a:t>，则表示异常终止</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70313">
                <a:tc>
                  <a:txBody>
                    <a:bodyPr/>
                    <a:lstStyle/>
                    <a:p>
                      <a:pPr>
                        <a:spcAft>
                          <a:spcPts val="0"/>
                        </a:spcAft>
                      </a:pPr>
                      <a:r>
                        <a:rPr lang="en-US" sz="1600" dirty="0">
                          <a:effectLst/>
                        </a:rPr>
                        <a:t>static void gc()</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运行垃圾回收器，并对垃圾进行回收</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70313">
                <a:tc>
                  <a:txBody>
                    <a:bodyPr/>
                    <a:lstStyle/>
                    <a:p>
                      <a:pPr>
                        <a:spcAft>
                          <a:spcPts val="0"/>
                        </a:spcAft>
                      </a:pPr>
                      <a:r>
                        <a:rPr lang="en-US" sz="1600">
                          <a:effectLst/>
                        </a:rPr>
                        <a:t>static void currentTimeMillis()</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返回以毫秒为单位的当前时间</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891583">
                <a:tc>
                  <a:txBody>
                    <a:bodyPr/>
                    <a:lstStyle/>
                    <a:p>
                      <a:pPr>
                        <a:spcAft>
                          <a:spcPts val="0"/>
                        </a:spcAft>
                      </a:pPr>
                      <a:r>
                        <a:rPr lang="en-US" sz="1600">
                          <a:effectLst/>
                        </a:rPr>
                        <a:t>static void arraycopy(Object src,int srcPos,Object dest,int destPos,int length)</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从</a:t>
                      </a:r>
                      <a:r>
                        <a:rPr lang="en-US" sz="1600">
                          <a:effectLst/>
                        </a:rPr>
                        <a:t>src</a:t>
                      </a:r>
                      <a:r>
                        <a:rPr lang="zh-CN" sz="1600">
                          <a:effectLst/>
                        </a:rPr>
                        <a:t>引用的指定源数组复制到</a:t>
                      </a:r>
                      <a:r>
                        <a:rPr lang="en-US" sz="1600">
                          <a:effectLst/>
                        </a:rPr>
                        <a:t>dest</a:t>
                      </a:r>
                      <a:r>
                        <a:rPr lang="zh-CN" sz="1600">
                          <a:effectLst/>
                        </a:rPr>
                        <a:t>引用的数组，复制从指定的位置开始，到目标数组的指定位置结束</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384466">
                <a:tc>
                  <a:txBody>
                    <a:bodyPr/>
                    <a:lstStyle/>
                    <a:p>
                      <a:pPr>
                        <a:spcAft>
                          <a:spcPts val="0"/>
                        </a:spcAft>
                      </a:pPr>
                      <a:r>
                        <a:rPr lang="en-US" sz="1600">
                          <a:effectLst/>
                        </a:rPr>
                        <a:t>static Properties getProperties()</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取得当前的系统属性</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594388">
                <a:tc>
                  <a:txBody>
                    <a:bodyPr/>
                    <a:lstStyle/>
                    <a:p>
                      <a:pPr>
                        <a:spcAft>
                          <a:spcPts val="0"/>
                        </a:spcAft>
                      </a:pPr>
                      <a:r>
                        <a:rPr lang="en-US" sz="1600">
                          <a:effectLst/>
                        </a:rPr>
                        <a:t>static String getProperty(String key)</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dirty="0">
                          <a:effectLst/>
                        </a:rPr>
                        <a:t>获取指定键描述的系统属性</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文本占位符 3"/>
          <p:cNvSpPr>
            <a:spLocks noGrp="1"/>
          </p:cNvSpPr>
          <p:nvPr>
            <p:ph type="body" sz="quarter" idx="10"/>
          </p:nvPr>
        </p:nvSpPr>
        <p:spPr/>
        <p:txBody>
          <a:bodyPr/>
          <a:lstStyle/>
          <a:p>
            <a:fld id="{ABE54478-2346-44F4-AAE9-14A9673F917F}" type="slidenum">
              <a:rPr lang="zh-CN" altLang="en-US" smtClean="0"/>
              <a:t>43</a:t>
            </a:fld>
            <a:endParaRPr lang="zh-CN" altLang="en-US" dirty="0"/>
          </a:p>
        </p:txBody>
      </p:sp>
    </p:spTree>
    <p:custDataLst>
      <p:tags r:id="rId1"/>
    </p:custDataLst>
    <p:extLst>
      <p:ext uri="{BB962C8B-B14F-4D97-AF65-F5344CB8AC3E}">
        <p14:creationId xmlns:p14="http://schemas.microsoft.com/office/powerpoint/2010/main" val="194615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78305" y="289826"/>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790574" y="1438275"/>
            <a:ext cx="11134725" cy="4876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arraycopy</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a:t>
            </a: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用于将数组从源数组复制到目标数组，声明格式如下：</a:t>
            </a:r>
          </a:p>
          <a:p>
            <a:pPr marL="0" indent="0" eaLnBrk="1" hangingPunct="1">
              <a:lnSpc>
                <a:spcPct val="150000"/>
              </a:lnSpc>
              <a:spcBef>
                <a:spcPct val="0"/>
              </a:spcBef>
              <a:buNone/>
              <a:defRPr/>
            </a:pP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static void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arraycopy</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(Object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src</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srcPos</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Object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dest</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destPos</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length)</a:t>
            </a:r>
            <a:endParaRPr lang="zh-CN"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8457C2C1-7E44-4040-B841-E6BEB41F9F8C}" type="slidenum">
              <a:rPr lang="zh-CN" altLang="en-US" smtClean="0"/>
              <a:t>44</a:t>
            </a:fld>
            <a:endParaRPr lang="zh-CN" altLang="en-US" dirty="0"/>
          </a:p>
        </p:txBody>
      </p:sp>
      <p:sp>
        <p:nvSpPr>
          <p:cNvPr id="6" name="内容占位符 2"/>
          <p:cNvSpPr txBox="1"/>
          <p:nvPr/>
        </p:nvSpPr>
        <p:spPr>
          <a:xfrm>
            <a:off x="2482446" y="3144771"/>
            <a:ext cx="6624320" cy="294170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src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：表示源数组。</a:t>
            </a:r>
          </a:p>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dest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：表示目标数组。</a:t>
            </a:r>
          </a:p>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srcPos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：表示源数组中拷贝元素的起始位置。</a:t>
            </a:r>
          </a:p>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destPos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：表示拷贝到目标数组的起始位置。</a:t>
            </a:r>
          </a:p>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length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：表示拷贝元素的个数。</a:t>
            </a:r>
          </a:p>
        </p:txBody>
      </p:sp>
    </p:spTree>
    <p:custDataLst>
      <p:tags r:id="rId1"/>
    </p:custDataLst>
    <p:extLst>
      <p:ext uri="{BB962C8B-B14F-4D97-AF65-F5344CB8AC3E}">
        <p14:creationId xmlns:p14="http://schemas.microsoft.com/office/powerpoint/2010/main" val="328119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44851" y="283866"/>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493520" y="1152506"/>
            <a:ext cx="8727440" cy="6096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案例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数组元素的拷贝</a:t>
            </a:r>
          </a:p>
        </p:txBody>
      </p:sp>
      <p:grpSp>
        <p:nvGrpSpPr>
          <p:cNvPr id="3" name="组合 2"/>
          <p:cNvGrpSpPr/>
          <p:nvPr/>
        </p:nvGrpSpPr>
        <p:grpSpPr>
          <a:xfrm>
            <a:off x="2155089" y="1676400"/>
            <a:ext cx="8921748" cy="4457698"/>
            <a:chOff x="2153920" y="1790701"/>
            <a:chExt cx="8921748" cy="4457698"/>
          </a:xfrm>
        </p:grpSpPr>
        <p:pic>
          <p:nvPicPr>
            <p:cNvPr id="808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3920" y="1838960"/>
              <a:ext cx="8779510" cy="4409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p:nvPr/>
          </p:nvSpPr>
          <p:spPr>
            <a:xfrm>
              <a:off x="2153920" y="1790701"/>
              <a:ext cx="8921748" cy="4409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Example10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fromArray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10, 11, 12, 13, 14, 15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源数组</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20, 21, 22, 23, 24, 25, 26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目标数组</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System.arraycopy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fromArray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3, 4);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拷贝数组元素</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打印拷贝后数组的元素</a:t>
              </a: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拷贝后的数组元素为：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toArray.length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toArray</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B8470995-75F8-4831-83BA-1E2F231E1E95}" type="slidenum">
              <a:rPr lang="zh-CN" altLang="en-US" smtClean="0"/>
              <a:t>45</a:t>
            </a:fld>
            <a:endParaRPr lang="zh-CN" altLang="en-US" dirty="0"/>
          </a:p>
        </p:txBody>
      </p:sp>
      <p:sp>
        <p:nvSpPr>
          <p:cNvPr id="9" name="内容占位符 2"/>
          <p:cNvSpPr txBox="1"/>
          <p:nvPr/>
        </p:nvSpPr>
        <p:spPr>
          <a:xfrm>
            <a:off x="2155089" y="6038215"/>
            <a:ext cx="9982099" cy="50988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1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注意：</a:t>
            </a:r>
            <a:r>
              <a:rPr lang="zh-CN" altLang="zh-CN" sz="1800" dirty="0">
                <a:latin typeface="微软雅黑" panose="020B0503020204020204" pitchFamily="34" charset="-122"/>
                <a:ea typeface="微软雅黑" panose="020B0503020204020204" pitchFamily="34" charset="-122"/>
                <a:cs typeface="Times New Roman" panose="02020603050405020304" pitchFamily="18" charset="0"/>
              </a:rPr>
              <a:t>目标数组必须有足够的空间来存放拷贝的元素，否则会发生角标越界异常。</a:t>
            </a:r>
          </a:p>
        </p:txBody>
      </p:sp>
    </p:spTree>
    <p:custDataLst>
      <p:tags r:id="rId1"/>
    </p:custDataLst>
    <p:extLst>
      <p:ext uri="{BB962C8B-B14F-4D97-AF65-F5344CB8AC3E}">
        <p14:creationId xmlns:p14="http://schemas.microsoft.com/office/powerpoint/2010/main" val="15222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289328" y="339726"/>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381001" y="1415395"/>
            <a:ext cx="4243904" cy="440437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currentTimeMillis</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a:t>
            </a:r>
          </a:p>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currentTimeMillis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方法用于获取当前系统的时间，返回值是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类型的值，该值表示当前时间与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1970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日</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点</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秒之间的时间差，单位是毫秒，通常也将该值称作时间戳。</a:t>
            </a:r>
          </a:p>
        </p:txBody>
      </p:sp>
      <p:sp>
        <p:nvSpPr>
          <p:cNvPr id="3" name="文本占位符 2"/>
          <p:cNvSpPr>
            <a:spLocks noGrp="1"/>
          </p:cNvSpPr>
          <p:nvPr>
            <p:ph type="body" sz="quarter" idx="10"/>
          </p:nvPr>
        </p:nvSpPr>
        <p:spPr/>
        <p:txBody>
          <a:bodyPr/>
          <a:lstStyle/>
          <a:p>
            <a:fld id="{0AB94B5B-E4DF-42E3-A4CB-E6993B9389FB}" type="slidenum">
              <a:rPr lang="zh-CN" altLang="en-US" smtClean="0"/>
              <a:t>46</a:t>
            </a:fld>
            <a:endParaRPr lang="zh-CN" altLang="en-US" dirty="0"/>
          </a:p>
        </p:txBody>
      </p:sp>
      <p:grpSp>
        <p:nvGrpSpPr>
          <p:cNvPr id="7" name="组合 6"/>
          <p:cNvGrpSpPr/>
          <p:nvPr/>
        </p:nvGrpSpPr>
        <p:grpSpPr>
          <a:xfrm>
            <a:off x="4529808" y="1552260"/>
            <a:ext cx="7662191" cy="3953189"/>
            <a:chOff x="1901668" y="1949198"/>
            <a:chExt cx="9355474" cy="4188962"/>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0880" y="2072640"/>
              <a:ext cx="8930640" cy="3942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p:nvPr/>
          </p:nvSpPr>
          <p:spPr>
            <a:xfrm>
              <a:off x="1901668" y="1949198"/>
              <a:ext cx="9355474" cy="4188962"/>
            </a:xfrm>
            <a:prstGeom prst="rect">
              <a:avLst/>
            </a:prstGeom>
            <a:ln w="15875">
              <a:solidFill>
                <a:schemeClr val="accent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Example11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long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循环开始时的当前时间</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sum = 0;</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1000000000;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sum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long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System.currentTimeMillis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循环结束后的当前时间</a:t>
              </a: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程序运行时间：</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endTime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毫秒</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ustDataLst>
      <p:tags r:id="rId1"/>
    </p:custDataLst>
    <p:extLst>
      <p:ext uri="{BB962C8B-B14F-4D97-AF65-F5344CB8AC3E}">
        <p14:creationId xmlns:p14="http://schemas.microsoft.com/office/powerpoint/2010/main" val="300912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outVertic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33700" y="285474"/>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03680" y="1315066"/>
            <a:ext cx="9804400" cy="74741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2696843" y="2284233"/>
            <a:ext cx="7225347" cy="2186623"/>
          </a:xfrm>
          <a:prstGeom prst="rect">
            <a:avLst/>
          </a:prstGeom>
        </p:spPr>
      </p:pic>
      <p:sp>
        <p:nvSpPr>
          <p:cNvPr id="3" name="文本占位符 2"/>
          <p:cNvSpPr>
            <a:spLocks noGrp="1"/>
          </p:cNvSpPr>
          <p:nvPr>
            <p:ph type="body" sz="quarter" idx="10"/>
          </p:nvPr>
        </p:nvSpPr>
        <p:spPr/>
        <p:txBody>
          <a:bodyPr/>
          <a:lstStyle/>
          <a:p>
            <a:fld id="{2D2FE1C1-1F73-4859-936C-CEC006110A01}" type="slidenum">
              <a:rPr lang="zh-CN" altLang="en-US" smtClean="0"/>
              <a:t>47</a:t>
            </a:fld>
            <a:endParaRPr lang="zh-CN" altLang="en-US" dirty="0"/>
          </a:p>
        </p:txBody>
      </p:sp>
    </p:spTree>
    <p:custDataLst>
      <p:tags r:id="rId1"/>
    </p:custDataLst>
    <p:extLst>
      <p:ext uri="{BB962C8B-B14F-4D97-AF65-F5344CB8AC3E}">
        <p14:creationId xmlns:p14="http://schemas.microsoft.com/office/powerpoint/2010/main" val="375609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258505"/>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95120" y="1686561"/>
            <a:ext cx="9906000" cy="333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getProperties</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getProperty</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getProperties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方法用于获取当前系统的全部属性，该方法会返回一个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对象，其中封装了系统的所有属性，这些属性是以键值对形式存在的。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getProperty</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方法用于根据系统的属性名获取对应的属性值。</a:t>
            </a:r>
          </a:p>
        </p:txBody>
      </p:sp>
      <p:sp>
        <p:nvSpPr>
          <p:cNvPr id="3" name="文本占位符 2"/>
          <p:cNvSpPr>
            <a:spLocks noGrp="1"/>
          </p:cNvSpPr>
          <p:nvPr>
            <p:ph type="body" sz="quarter" idx="10"/>
          </p:nvPr>
        </p:nvSpPr>
        <p:spPr/>
        <p:txBody>
          <a:bodyPr/>
          <a:lstStyle/>
          <a:p>
            <a:fld id="{FE75D097-717B-4BA4-94F5-D95F13A6C940}" type="slidenum">
              <a:rPr lang="zh-CN" altLang="en-US" smtClean="0"/>
              <a:t>48</a:t>
            </a:fld>
            <a:endParaRPr lang="zh-CN" altLang="en-US" dirty="0"/>
          </a:p>
        </p:txBody>
      </p:sp>
    </p:spTree>
    <p:custDataLst>
      <p:tags r:id="rId1"/>
    </p:custDataLst>
    <p:extLst>
      <p:ext uri="{BB962C8B-B14F-4D97-AF65-F5344CB8AC3E}">
        <p14:creationId xmlns:p14="http://schemas.microsoft.com/office/powerpoint/2010/main" val="423557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2229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570479" y="1158238"/>
            <a:ext cx="8681720" cy="5222242"/>
            <a:chOff x="2011679" y="1229358"/>
            <a:chExt cx="8681720" cy="5222242"/>
          </a:xfrm>
        </p:grpSpPr>
        <p:pic>
          <p:nvPicPr>
            <p:cNvPr id="839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1679" y="1300480"/>
              <a:ext cx="8681719" cy="5151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550159" y="1229358"/>
              <a:ext cx="8143240" cy="522224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import java.util.*;</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Example12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获取当前系统属性</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Properties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System.getProperties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获得所有系统属性的</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Enumeration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Enumeration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propertyNames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properties.propertyNames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propertyNames.hasMoreElements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获取系统属性的键</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key =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propertyNames.nextElement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获得当前键</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对应的值</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value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System.getProperty</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"---&gt;" + value);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A9B499BB-1208-45CD-9BFE-93A71236D92F}" type="slidenum">
              <a:rPr lang="zh-CN" altLang="en-US" smtClean="0"/>
              <a:t>49</a:t>
            </a:fld>
            <a:endParaRPr lang="zh-CN" altLang="en-US" dirty="0"/>
          </a:p>
        </p:txBody>
      </p:sp>
    </p:spTree>
    <p:custDataLst>
      <p:tags r:id="rId1"/>
    </p:custDataLst>
    <p:extLst>
      <p:ext uri="{BB962C8B-B14F-4D97-AF65-F5344CB8AC3E}">
        <p14:creationId xmlns:p14="http://schemas.microsoft.com/office/powerpoint/2010/main" val="229624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834765" y="1239520"/>
            <a:ext cx="7452995" cy="5161279"/>
          </a:xfrm>
          <a:prstGeom prst="rect">
            <a:avLst/>
          </a:prstGeom>
        </p:spPr>
      </p:pic>
      <p:sp>
        <p:nvSpPr>
          <p:cNvPr id="66" name="TextBox 1"/>
          <p:cNvSpPr txBox="1"/>
          <p:nvPr/>
        </p:nvSpPr>
        <p:spPr>
          <a:xfrm>
            <a:off x="2322549" y="29181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29360" y="1310641"/>
            <a:ext cx="9906000" cy="82295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文本占位符 2"/>
          <p:cNvSpPr>
            <a:spLocks noGrp="1"/>
          </p:cNvSpPr>
          <p:nvPr>
            <p:ph type="body" sz="quarter" idx="10"/>
          </p:nvPr>
        </p:nvSpPr>
        <p:spPr/>
        <p:txBody>
          <a:bodyPr/>
          <a:lstStyle/>
          <a:p>
            <a:fld id="{64F7CDAB-B932-46F8-9EF6-D34A78362BCE}" type="slidenum">
              <a:rPr lang="zh-CN" altLang="en-US" smtClean="0"/>
              <a:t>50</a:t>
            </a:fld>
            <a:endParaRPr lang="zh-CN" altLang="en-US" dirty="0"/>
          </a:p>
        </p:txBody>
      </p:sp>
    </p:spTree>
    <p:custDataLst>
      <p:tags r:id="rId1"/>
    </p:custDataLst>
    <p:extLst>
      <p:ext uri="{BB962C8B-B14F-4D97-AF65-F5344CB8AC3E}">
        <p14:creationId xmlns:p14="http://schemas.microsoft.com/office/powerpoint/2010/main" val="220072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44852" y="319118"/>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876300" y="1292860"/>
            <a:ext cx="7515225" cy="422211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gc()</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a:t>
            </a:r>
          </a:p>
          <a:p>
            <a:pPr marL="0" indent="0" eaLnBrk="1" hangingPunct="1">
              <a:lnSpc>
                <a:spcPct val="150000"/>
              </a:lnSpc>
              <a:spcBef>
                <a:spcPct val="0"/>
              </a:spcBef>
              <a:buNone/>
              <a:defRPr/>
            </a:pP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中，当一个对象成为垃圾后仍会占用内存空间，时间一长，就会导致内存空间的不足。</a:t>
            </a:r>
            <a:r>
              <a:rPr lang="zh-CN" altLang="en-US"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由此</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中引入了垃圾回收机制</a:t>
            </a:r>
            <a:r>
              <a:rPr lang="zh-CN" altLang="en-US"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虚拟机会自动回收垃圾对象所占用的内存空间。</a:t>
            </a:r>
            <a:r>
              <a:rPr lang="zh-CN" altLang="en-US"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垃圾堆积到一定程度时，</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虚拟机就会启动垃圾回收器将这些垃圾对象从内存中释放，从而使程序获得更多可用的内存空间。除了等待</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虚拟机进行自动垃圾回收外，还可以通过调用</a:t>
            </a:r>
            <a:r>
              <a:rPr lang="en-US" altLang="zh-CN" sz="18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System.gc</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方法通知</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虚拟机立即进行垃圾回收。当一个对象在内存中被释放时，它的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finalize()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方法会被自动调用，因此可以在类中通过定义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finalize()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方法观察对象何时被释放。</a:t>
            </a: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49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9000" y="1743710"/>
            <a:ext cx="2697163"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0B52D3D3-2810-4A3E-8F30-C87CF21020A7}" type="slidenum">
              <a:rPr lang="zh-CN" altLang="en-US" smtClean="0"/>
              <a:t>51</a:t>
            </a:fld>
            <a:endParaRPr lang="zh-CN" altLang="en-US" dirty="0"/>
          </a:p>
        </p:txBody>
      </p:sp>
    </p:spTree>
    <p:custDataLst>
      <p:tags r:id="rId1"/>
    </p:custDataLst>
    <p:extLst>
      <p:ext uri="{BB962C8B-B14F-4D97-AF65-F5344CB8AC3E}">
        <p14:creationId xmlns:p14="http://schemas.microsoft.com/office/powerpoint/2010/main" val="116982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84994"/>
                                        </p:tgtEl>
                                        <p:attrNameLst>
                                          <p:attrName>style.visibility</p:attrName>
                                        </p:attrNameLst>
                                      </p:cBhvr>
                                      <p:to>
                                        <p:strVal val="visible"/>
                                      </p:to>
                                    </p:set>
                                    <p:animEffect transition="in" filter="fade">
                                      <p:cBhvr>
                                        <p:cTn id="10" dur="1000"/>
                                        <p:tgtEl>
                                          <p:spTgt spid="84994"/>
                                        </p:tgtEl>
                                      </p:cBhvr>
                                    </p:animEffect>
                                    <p:anim calcmode="lin" valueType="num">
                                      <p:cBhvr>
                                        <p:cTn id="11" dur="1000" fill="hold"/>
                                        <p:tgtEl>
                                          <p:spTgt spid="84994"/>
                                        </p:tgtEl>
                                        <p:attrNameLst>
                                          <p:attrName>ppt_x</p:attrName>
                                        </p:attrNameLst>
                                      </p:cBhvr>
                                      <p:tavLst>
                                        <p:tav tm="0">
                                          <p:val>
                                            <p:strVal val="#ppt_x"/>
                                          </p:val>
                                        </p:tav>
                                        <p:tav tm="100000">
                                          <p:val>
                                            <p:strVal val="#ppt_x"/>
                                          </p:val>
                                        </p:tav>
                                      </p:tavLst>
                                    </p:anim>
                                    <p:anim calcmode="lin" valueType="num">
                                      <p:cBhvr>
                                        <p:cTn id="12" dur="1000" fill="hold"/>
                                        <p:tgtEl>
                                          <p:spTgt spid="849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74800" y="1209040"/>
            <a:ext cx="9631680" cy="79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虚拟机进行垃圾回收的过程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854960" y="1920240"/>
            <a:ext cx="7691119" cy="4196080"/>
            <a:chOff x="2428240" y="2001520"/>
            <a:chExt cx="7691119" cy="4196080"/>
          </a:xfrm>
        </p:grpSpPr>
        <p:pic>
          <p:nvPicPr>
            <p:cNvPr id="860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240" y="2001520"/>
              <a:ext cx="7691119" cy="4196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590800" y="2050415"/>
              <a:ext cx="6746240" cy="4104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class Person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下面定义的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finalize</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方法会在垃圾回收前被调用</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finalize()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对象将被作为垃圾回收</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Example13{</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下面是创建了两个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Person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Person p1 = new Person();</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Person p2 = new Person();</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DA281A14-2AC3-43E5-80C9-CB5492F69569}" type="slidenum">
              <a:rPr lang="zh-CN" altLang="en-US" smtClean="0"/>
              <a:t>52</a:t>
            </a:fld>
            <a:endParaRPr lang="zh-CN" altLang="en-US" dirty="0"/>
          </a:p>
        </p:txBody>
      </p:sp>
    </p:spTree>
    <p:custDataLst>
      <p:tags r:id="rId1"/>
    </p:custDataLst>
    <p:extLst>
      <p:ext uri="{BB962C8B-B14F-4D97-AF65-F5344CB8AC3E}">
        <p14:creationId xmlns:p14="http://schemas.microsoft.com/office/powerpoint/2010/main" val="252480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5.2.1 System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824480" y="1625600"/>
            <a:ext cx="7670800" cy="3982720"/>
            <a:chOff x="2824480" y="1625600"/>
            <a:chExt cx="7670800" cy="3982720"/>
          </a:xfrm>
        </p:grpSpPr>
        <p:pic>
          <p:nvPicPr>
            <p:cNvPr id="870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4480" y="1625600"/>
              <a:ext cx="7670800" cy="398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525520" y="1737360"/>
              <a:ext cx="6289040" cy="3820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下面将变量置为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null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，让对象成为垃圾</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p1 = null;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p2 = null;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调用方法进行垃圾回收</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System.gc</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 (int i = 0; i &lt; 1000000; i++)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为了延长程序运行的时间</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E8A636FF-5230-4166-8BA8-43B7663BA3AC}" type="slidenum">
              <a:rPr lang="zh-CN" altLang="en-US" smtClean="0"/>
              <a:t>53</a:t>
            </a:fld>
            <a:endParaRPr lang="zh-CN" altLang="en-US" dirty="0"/>
          </a:p>
        </p:txBody>
      </p:sp>
    </p:spTree>
    <p:custDataLst>
      <p:tags r:id="rId1"/>
    </p:custDataLst>
    <p:extLst>
      <p:ext uri="{BB962C8B-B14F-4D97-AF65-F5344CB8AC3E}">
        <p14:creationId xmlns:p14="http://schemas.microsoft.com/office/powerpoint/2010/main" val="63433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33701" y="304225"/>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96720" y="1341120"/>
            <a:ext cx="9631680" cy="4734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类用于表示虚拟机运行时的状态，它用于封装</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JVM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虚拟机进程。每次使用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命令启动虚拟机都对应一个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实例，并且只有一个实例，因此在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类定义的时候，它的构造方法已经被私有化了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单例设计模式的应用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，对象不可以直接实例化。若想在程序中获得一个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实例，只能通过以下方式：</a:t>
            </a: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Runtime run = </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Runtime.getRuntime</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类封装了虚拟机进程，因此，在程序中通常会通过该类的实例对象来获取当前虚拟机的相关信息。</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F0E84E43-0608-46A2-8CCA-43BC7082BF86}" type="slidenum">
              <a:rPr lang="zh-CN" altLang="en-US" smtClean="0"/>
              <a:t>54</a:t>
            </a:fld>
            <a:endParaRPr lang="zh-CN" altLang="en-US" dirty="0"/>
          </a:p>
        </p:txBody>
      </p:sp>
    </p:spTree>
    <p:custDataLst>
      <p:tags r:id="rId1"/>
    </p:custDataLst>
    <p:extLst>
      <p:ext uri="{BB962C8B-B14F-4D97-AF65-F5344CB8AC3E}">
        <p14:creationId xmlns:p14="http://schemas.microsoft.com/office/powerpoint/2010/main" val="2261338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4261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84019" y="1270000"/>
            <a:ext cx="9631680" cy="802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类常用方法如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423158" y="2092960"/>
          <a:ext cx="8387082" cy="3799839"/>
        </p:xfrm>
        <a:graphic>
          <a:graphicData uri="http://schemas.openxmlformats.org/drawingml/2006/table">
            <a:tbl>
              <a:tblPr firstRow="1" firstCol="1" bandRow="1">
                <a:tableStyleId>{5C22544A-7EE6-4342-B048-85BDC9FD1C3A}</a:tableStyleId>
              </a:tblPr>
              <a:tblGrid>
                <a:gridCol w="3021338">
                  <a:extLst>
                    <a:ext uri="{9D8B030D-6E8A-4147-A177-3AD203B41FA5}">
                      <a16:colId xmlns:a16="http://schemas.microsoft.com/office/drawing/2014/main" val="20000"/>
                    </a:ext>
                  </a:extLst>
                </a:gridCol>
                <a:gridCol w="5365744">
                  <a:extLst>
                    <a:ext uri="{9D8B030D-6E8A-4147-A177-3AD203B41FA5}">
                      <a16:colId xmlns:a16="http://schemas.microsoft.com/office/drawing/2014/main" val="20001"/>
                    </a:ext>
                  </a:extLst>
                </a:gridCol>
              </a:tblGrid>
              <a:tr h="621477">
                <a:tc>
                  <a:txBody>
                    <a:bodyPr/>
                    <a:lstStyle/>
                    <a:p>
                      <a:pPr algn="ctr">
                        <a:spcAft>
                          <a:spcPts val="0"/>
                        </a:spcAft>
                      </a:pPr>
                      <a:r>
                        <a:rPr lang="zh-CN" sz="1800" dirty="0">
                          <a:effectLst/>
                        </a:rPr>
                        <a:t>方法声明</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482986">
                <a:tc>
                  <a:txBody>
                    <a:bodyPr/>
                    <a:lstStyle/>
                    <a:p>
                      <a:pPr indent="266700">
                        <a:spcAft>
                          <a:spcPts val="0"/>
                        </a:spcAft>
                      </a:pPr>
                      <a:r>
                        <a:rPr lang="en-US" sz="1800">
                          <a:effectLst/>
                        </a:rPr>
                        <a:t>getRuntime()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该方法用于返回当前应用程序的运行环境对象。</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436246">
                <a:tc>
                  <a:txBody>
                    <a:bodyPr/>
                    <a:lstStyle/>
                    <a:p>
                      <a:pPr indent="266700">
                        <a:spcAft>
                          <a:spcPts val="0"/>
                        </a:spcAft>
                      </a:pPr>
                      <a:r>
                        <a:rPr lang="en-US" sz="1800">
                          <a:effectLst/>
                        </a:rPr>
                        <a:t>exec(String command)</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该方法用于根据指定的路径执行对应的可执行文件</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872492">
                <a:tc>
                  <a:txBody>
                    <a:bodyPr/>
                    <a:lstStyle/>
                    <a:p>
                      <a:pPr indent="266700">
                        <a:spcAft>
                          <a:spcPts val="0"/>
                        </a:spcAft>
                      </a:pPr>
                      <a:r>
                        <a:rPr lang="en-US" sz="1800" dirty="0" err="1">
                          <a:effectLst/>
                        </a:rPr>
                        <a:t>freeMemory</a:t>
                      </a:r>
                      <a:r>
                        <a:rPr lang="en-US" sz="1800" dirty="0">
                          <a:effectLst/>
                        </a:rPr>
                        <a: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该方法用于返回</a:t>
                      </a:r>
                      <a:r>
                        <a:rPr lang="en-US" sz="1800">
                          <a:effectLst/>
                        </a:rPr>
                        <a:t>Java</a:t>
                      </a:r>
                      <a:r>
                        <a:rPr lang="zh-CN" sz="1800">
                          <a:effectLst/>
                        </a:rPr>
                        <a:t>虚拟机中的空闲内存量，以字节为单位。</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436246">
                <a:tc>
                  <a:txBody>
                    <a:bodyPr/>
                    <a:lstStyle/>
                    <a:p>
                      <a:pPr indent="266700">
                        <a:spcAft>
                          <a:spcPts val="0"/>
                        </a:spcAft>
                      </a:pPr>
                      <a:r>
                        <a:rPr lang="en-US" sz="1800">
                          <a:effectLst/>
                        </a:rPr>
                        <a:t>maxMemory()</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该方法用于返回</a:t>
                      </a:r>
                      <a:r>
                        <a:rPr lang="en-US" sz="1800">
                          <a:effectLst/>
                        </a:rPr>
                        <a:t>Java</a:t>
                      </a:r>
                      <a:r>
                        <a:rPr lang="zh-CN" sz="1800">
                          <a:effectLst/>
                        </a:rPr>
                        <a:t>虚拟机的最大可用内存量。</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514146">
                <a:tc>
                  <a:txBody>
                    <a:bodyPr/>
                    <a:lstStyle/>
                    <a:p>
                      <a:pPr indent="266700">
                        <a:spcAft>
                          <a:spcPts val="0"/>
                        </a:spcAft>
                      </a:pPr>
                      <a:r>
                        <a:rPr lang="en-US" sz="1800">
                          <a:effectLst/>
                        </a:rPr>
                        <a:t>availableProcessors()</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该方法用于返回当前虚拟机的处理器个数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436246">
                <a:tc>
                  <a:txBody>
                    <a:bodyPr/>
                    <a:lstStyle/>
                    <a:p>
                      <a:pPr indent="266700">
                        <a:spcAft>
                          <a:spcPts val="0"/>
                        </a:spcAft>
                      </a:pPr>
                      <a:r>
                        <a:rPr lang="en-US" sz="1800">
                          <a:effectLst/>
                        </a:rPr>
                        <a:t>totalMemory()</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dirty="0">
                          <a:effectLst/>
                        </a:rPr>
                        <a:t>该方法用于返回</a:t>
                      </a:r>
                      <a:r>
                        <a:rPr lang="en-US" sz="1800" dirty="0">
                          <a:effectLst/>
                        </a:rPr>
                        <a:t>Java</a:t>
                      </a:r>
                      <a:r>
                        <a:rPr lang="zh-CN" sz="1800" dirty="0">
                          <a:effectLst/>
                        </a:rPr>
                        <a:t>虚拟机中的内存总量</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文本占位符 3"/>
          <p:cNvSpPr>
            <a:spLocks noGrp="1"/>
          </p:cNvSpPr>
          <p:nvPr>
            <p:ph type="body" sz="quarter" idx="10"/>
          </p:nvPr>
        </p:nvSpPr>
        <p:spPr/>
        <p:txBody>
          <a:bodyPr/>
          <a:lstStyle/>
          <a:p>
            <a:fld id="{BE9B0093-21EC-498C-89F1-8A869C5F0B76}" type="slidenum">
              <a:rPr lang="zh-CN" altLang="en-US" smtClean="0"/>
              <a:t>55</a:t>
            </a:fld>
            <a:endParaRPr lang="zh-CN" altLang="en-US" dirty="0"/>
          </a:p>
        </p:txBody>
      </p:sp>
    </p:spTree>
    <p:custDataLst>
      <p:tags r:id="rId1"/>
    </p:custDataLst>
    <p:extLst>
      <p:ext uri="{BB962C8B-B14F-4D97-AF65-F5344CB8AC3E}">
        <p14:creationId xmlns:p14="http://schemas.microsoft.com/office/powerpoint/2010/main" val="162452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155697" y="1282700"/>
            <a:ext cx="10050465" cy="17176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获取当前虚拟机信息</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类可以获取当前</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虚拟机的处理器的个数、空闲内存量、最大可用内存量和内存总量的信息</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F381F374-C7D4-4ED2-A9EB-6AC464572AD1}" type="slidenum">
              <a:rPr lang="zh-CN" altLang="en-US" smtClean="0"/>
              <a:t>56</a:t>
            </a:fld>
            <a:endParaRPr lang="zh-CN" altLang="en-US" dirty="0"/>
          </a:p>
        </p:txBody>
      </p:sp>
      <p:grpSp>
        <p:nvGrpSpPr>
          <p:cNvPr id="8" name="组合 7"/>
          <p:cNvGrpSpPr/>
          <p:nvPr/>
        </p:nvGrpSpPr>
        <p:grpSpPr>
          <a:xfrm>
            <a:off x="1155697" y="2962794"/>
            <a:ext cx="9311268" cy="3237982"/>
            <a:chOff x="2092960" y="1442720"/>
            <a:chExt cx="8884605" cy="4389120"/>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960" y="1442720"/>
              <a:ext cx="8656319" cy="4328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p:nvPr/>
          </p:nvSpPr>
          <p:spPr>
            <a:xfrm>
              <a:off x="2092960" y="1513840"/>
              <a:ext cx="8884605" cy="4318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Runtime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Runtime.getRuntime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处理器的个数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rt.availableProcessors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空闲内存数量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rt.freeMemory</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1024 / 1024 + "M");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最大可用内存数量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rt.maxMemory</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1024 / 1024 + "M");</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虚拟机中内存总量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rt.totalMemory</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1024 / 1024 + "M");</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ustDataLst>
      <p:tags r:id="rId1"/>
    </p:custDataLst>
    <p:extLst>
      <p:ext uri="{BB962C8B-B14F-4D97-AF65-F5344CB8AC3E}">
        <p14:creationId xmlns:p14="http://schemas.microsoft.com/office/powerpoint/2010/main" val="224009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17318" y="1402080"/>
            <a:ext cx="4572001" cy="711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220719" y="2463164"/>
            <a:ext cx="6940867" cy="2454275"/>
          </a:xfrm>
          <a:prstGeom prst="rect">
            <a:avLst/>
          </a:prstGeom>
        </p:spPr>
      </p:pic>
      <p:sp>
        <p:nvSpPr>
          <p:cNvPr id="3" name="文本占位符 2"/>
          <p:cNvSpPr>
            <a:spLocks noGrp="1"/>
          </p:cNvSpPr>
          <p:nvPr>
            <p:ph type="body" sz="quarter" idx="10"/>
          </p:nvPr>
        </p:nvSpPr>
        <p:spPr/>
        <p:txBody>
          <a:bodyPr/>
          <a:lstStyle/>
          <a:p>
            <a:fld id="{AAFD1E89-E52D-4C11-826C-7DE08B78872E}" type="slidenum">
              <a:rPr lang="zh-CN" altLang="en-US" smtClean="0"/>
              <a:t>57</a:t>
            </a:fld>
            <a:endParaRPr lang="zh-CN" altLang="en-US" dirty="0"/>
          </a:p>
        </p:txBody>
      </p:sp>
    </p:spTree>
    <p:custDataLst>
      <p:tags r:id="rId1"/>
    </p:custDataLst>
    <p:extLst>
      <p:ext uri="{BB962C8B-B14F-4D97-AF65-F5344CB8AC3E}">
        <p14:creationId xmlns:p14="http://schemas.microsoft.com/office/powerpoint/2010/main" val="33444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727699" y="1991359"/>
            <a:ext cx="5206998" cy="3129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由于每个人的机器配置不同，该文件的打印结果可能不同，另外空闲内存数、可用最大内存数和内存总量都是以字节为单位计算的，</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上述运行</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结果已经将字节换算成了兆（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2405379" y="1717634"/>
            <a:ext cx="2834640" cy="3676730"/>
            <a:chOff x="2311398" y="1676344"/>
            <a:chExt cx="2834640" cy="3676730"/>
          </a:xfrm>
        </p:grpSpPr>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FB9B30B3-F50C-463A-A6D3-34190128CFBD}" type="slidenum">
              <a:rPr lang="zh-CN" altLang="en-US" smtClean="0"/>
              <a:t>58</a:t>
            </a:fld>
            <a:endParaRPr lang="zh-CN" altLang="en-US" dirty="0"/>
          </a:p>
        </p:txBody>
      </p:sp>
    </p:spTree>
    <p:custDataLst>
      <p:tags r:id="rId1"/>
    </p:custDataLst>
    <p:extLst>
      <p:ext uri="{BB962C8B-B14F-4D97-AF65-F5344CB8AC3E}">
        <p14:creationId xmlns:p14="http://schemas.microsoft.com/office/powerpoint/2010/main" val="371315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44851" y="307052"/>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16661" y="1198879"/>
            <a:ext cx="9758678" cy="243840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操作系统进程</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类中提供了一个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exec()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方法，该方法用于执行一个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命令，从而实现和在命令行窗口中输入</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命令同样的效果。例如，通过运行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“notepad.exe”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命令打开一个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Windows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自带的记事本程序</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1676398" y="3545838"/>
            <a:ext cx="8503920" cy="2580640"/>
            <a:chOff x="1991360" y="3616960"/>
            <a:chExt cx="8503920" cy="2580640"/>
          </a:xfrm>
        </p:grpSpPr>
        <p:pic>
          <p:nvPicPr>
            <p:cNvPr id="1075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360" y="3616960"/>
              <a:ext cx="8503920" cy="258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330450" y="3616960"/>
              <a:ext cx="7957819" cy="2580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import java.io.IOException;</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Example15{</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throws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IOException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Runtime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Runtime.getRuntime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实例对象</a:t>
              </a: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rt.exec</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("notepad.exe");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exec()</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F7B685D8-5405-4807-96B3-395BD1AED073}" type="slidenum">
              <a:rPr lang="zh-CN" altLang="en-US" smtClean="0"/>
              <a:t>59</a:t>
            </a:fld>
            <a:endParaRPr lang="zh-CN" altLang="en-US" dirty="0"/>
          </a:p>
        </p:txBody>
      </p:sp>
    </p:spTree>
    <p:custDataLst>
      <p:tags r:id="rId1"/>
    </p:custDataLst>
    <p:extLst>
      <p:ext uri="{BB962C8B-B14F-4D97-AF65-F5344CB8AC3E}">
        <p14:creationId xmlns:p14="http://schemas.microsoft.com/office/powerpoint/2010/main" val="325341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289827"/>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5.2.2 Runtime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08762" y="1336038"/>
            <a:ext cx="10022838" cy="174243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查阅</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API</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文档会发现，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exec()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方法返回一个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Process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对象，该对象就是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exec()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所生成的新进程，通过该对象可以对产生的新进程进行管理，如关闭此进程只需调用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destroy()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方法即可。具有代码如下所示：</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内容占位符 2"/>
          <p:cNvSpPr txBox="1"/>
          <p:nvPr/>
        </p:nvSpPr>
        <p:spPr>
          <a:xfrm>
            <a:off x="2230757" y="3078477"/>
            <a:ext cx="8295638" cy="301752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public class Example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throws Exception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Runtime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rt</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Runtime.getRuntime</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创建一个</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Runtime</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实例对象</a:t>
            </a: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Process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process</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rt.exec</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("notepad.exe");//</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得到表示进程的</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Process</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对象</a:t>
            </a: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Thread.sleep</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(3000); // </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程序休眠</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秒</a:t>
            </a: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process.destroy</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杀掉进程</a:t>
            </a: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835CF017-019D-4F00-BCDF-F5B305ABD601}" type="slidenum">
              <a:rPr lang="zh-CN" altLang="en-US" smtClean="0"/>
              <a:t>60</a:t>
            </a:fld>
            <a:endParaRPr lang="zh-CN" altLang="en-US" dirty="0"/>
          </a:p>
        </p:txBody>
      </p:sp>
    </p:spTree>
    <p:custDataLst>
      <p:tags r:id="rId1"/>
    </p:custDataLst>
    <p:extLst>
      <p:ext uri="{BB962C8B-B14F-4D97-AF65-F5344CB8AC3E}">
        <p14:creationId xmlns:p14="http://schemas.microsoft.com/office/powerpoint/2010/main" val="344249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1721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5.3.1 Math</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54480" y="1219200"/>
            <a:ext cx="9885681" cy="12903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类提供了大量的静态方法来便于我们实现数学计算，如求绝对值、取最大或最小值等。</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1832537725"/>
              </p:ext>
            </p:extLst>
          </p:nvPr>
        </p:nvGraphicFramePr>
        <p:xfrm>
          <a:off x="2570797" y="2489196"/>
          <a:ext cx="8239125" cy="3373140"/>
        </p:xfrm>
        <a:graphic>
          <a:graphicData uri="http://schemas.openxmlformats.org/drawingml/2006/table">
            <a:tbl>
              <a:tblPr firstRow="1" firstCol="1" bandRow="1">
                <a:tableStyleId>{5C22544A-7EE6-4342-B048-85BDC9FD1C3A}</a:tableStyleId>
              </a:tblPr>
              <a:tblGrid>
                <a:gridCol w="2525681">
                  <a:extLst>
                    <a:ext uri="{9D8B030D-6E8A-4147-A177-3AD203B41FA5}">
                      <a16:colId xmlns:a16="http://schemas.microsoft.com/office/drawing/2014/main" val="20000"/>
                    </a:ext>
                  </a:extLst>
                </a:gridCol>
                <a:gridCol w="5713444">
                  <a:extLst>
                    <a:ext uri="{9D8B030D-6E8A-4147-A177-3AD203B41FA5}">
                      <a16:colId xmlns:a16="http://schemas.microsoft.com/office/drawing/2014/main" val="20001"/>
                    </a:ext>
                  </a:extLst>
                </a:gridCol>
              </a:tblGrid>
              <a:tr h="448669">
                <a:tc>
                  <a:txBody>
                    <a:bodyPr/>
                    <a:lstStyle/>
                    <a:p>
                      <a:pPr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zh-CN" sz="1600" dirty="0">
                          <a:effectLst/>
                        </a:rPr>
                        <a:t>功能描述</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48687">
                <a:tc>
                  <a:txBody>
                    <a:bodyPr/>
                    <a:lstStyle/>
                    <a:p>
                      <a:pPr algn="ctr">
                        <a:spcAft>
                          <a:spcPts val="0"/>
                        </a:spcAft>
                      </a:pPr>
                      <a:r>
                        <a:rPr lang="en-US" sz="1600">
                          <a:effectLst/>
                        </a:rPr>
                        <a:t>abs()</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该方法用于计算绝对值</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14943">
                <a:tc>
                  <a:txBody>
                    <a:bodyPr/>
                    <a:lstStyle/>
                    <a:p>
                      <a:pPr algn="ctr">
                        <a:spcAft>
                          <a:spcPts val="0"/>
                        </a:spcAft>
                      </a:pPr>
                      <a:r>
                        <a:rPr lang="en-US" sz="1600">
                          <a:effectLst/>
                        </a:rPr>
                        <a:t>sqrt()</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该方法用于计算方根</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14943">
                <a:tc>
                  <a:txBody>
                    <a:bodyPr/>
                    <a:lstStyle/>
                    <a:p>
                      <a:pPr algn="ctr">
                        <a:spcAft>
                          <a:spcPts val="0"/>
                        </a:spcAft>
                      </a:pPr>
                      <a:r>
                        <a:rPr lang="en-US" sz="1600">
                          <a:effectLst/>
                        </a:rPr>
                        <a:t>ceil(a,b)</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该方法用于计算大于参数的最小整数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371183">
                <a:tc>
                  <a:txBody>
                    <a:bodyPr/>
                    <a:lstStyle/>
                    <a:p>
                      <a:pPr algn="ctr">
                        <a:spcAft>
                          <a:spcPts val="0"/>
                        </a:spcAft>
                      </a:pPr>
                      <a:r>
                        <a:rPr lang="en-US" sz="1600" dirty="0">
                          <a:effectLst/>
                        </a:rPr>
                        <a:t>floor()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dirty="0">
                          <a:effectLst/>
                        </a:rPr>
                        <a:t>该方法用于计算小于参数的最</a:t>
                      </a:r>
                      <a:r>
                        <a:rPr lang="zh-CN" altLang="en-US" sz="1600" dirty="0">
                          <a:effectLst/>
                        </a:rPr>
                        <a:t>大</a:t>
                      </a:r>
                      <a:r>
                        <a:rPr lang="zh-CN" sz="1600" dirty="0">
                          <a:effectLst/>
                        </a:rPr>
                        <a:t>整数</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314943">
                <a:tc>
                  <a:txBody>
                    <a:bodyPr/>
                    <a:lstStyle/>
                    <a:p>
                      <a:pPr algn="ctr">
                        <a:spcAft>
                          <a:spcPts val="0"/>
                        </a:spcAft>
                      </a:pPr>
                      <a:r>
                        <a:rPr lang="en-US" sz="1600">
                          <a:effectLst/>
                        </a:rPr>
                        <a:t>round()</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该方法用于计算小数进行四舍五入后的结果</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14943">
                <a:tc>
                  <a:txBody>
                    <a:bodyPr/>
                    <a:lstStyle/>
                    <a:p>
                      <a:pPr algn="ctr">
                        <a:spcAft>
                          <a:spcPts val="0"/>
                        </a:spcAft>
                      </a:pPr>
                      <a:r>
                        <a:rPr lang="en-US" sz="1600">
                          <a:effectLst/>
                        </a:rPr>
                        <a:t>max()</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该方法用于计算两个数的较大值</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314943">
                <a:tc>
                  <a:txBody>
                    <a:bodyPr/>
                    <a:lstStyle/>
                    <a:p>
                      <a:pPr algn="ctr">
                        <a:spcAft>
                          <a:spcPts val="0"/>
                        </a:spcAft>
                      </a:pPr>
                      <a:r>
                        <a:rPr lang="en-US" sz="1600">
                          <a:effectLst/>
                        </a:rPr>
                        <a:t>min()</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该方法用于计算两个数的较小值</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314943">
                <a:tc>
                  <a:txBody>
                    <a:bodyPr/>
                    <a:lstStyle/>
                    <a:p>
                      <a:pPr algn="ctr">
                        <a:spcAft>
                          <a:spcPts val="0"/>
                        </a:spcAft>
                      </a:pPr>
                      <a:r>
                        <a:rPr lang="en-US" sz="1600">
                          <a:effectLst/>
                        </a:rPr>
                        <a:t>random()</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该方法用于生成一个大于</a:t>
                      </a:r>
                      <a:r>
                        <a:rPr lang="en-US" sz="1600">
                          <a:effectLst/>
                        </a:rPr>
                        <a:t>0.0</a:t>
                      </a:r>
                      <a:r>
                        <a:rPr lang="zh-CN" sz="1600">
                          <a:effectLst/>
                        </a:rPr>
                        <a:t>小于</a:t>
                      </a:r>
                      <a:r>
                        <a:rPr lang="en-US" sz="1600">
                          <a:effectLst/>
                        </a:rPr>
                        <a:t>1.0</a:t>
                      </a:r>
                      <a:r>
                        <a:rPr lang="zh-CN" sz="1600">
                          <a:effectLst/>
                        </a:rPr>
                        <a:t>的随机值</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r h="314943">
                <a:tc>
                  <a:txBody>
                    <a:bodyPr/>
                    <a:lstStyle/>
                    <a:p>
                      <a:pPr algn="ctr">
                        <a:spcAft>
                          <a:spcPts val="0"/>
                        </a:spcAft>
                      </a:pPr>
                      <a:r>
                        <a:rPr lang="en-US" sz="1600" dirty="0">
                          <a:effectLst/>
                        </a:rPr>
                        <a:t>pow()</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dirty="0">
                          <a:effectLst/>
                        </a:rPr>
                        <a:t>该方法用于计算指数函数的值</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9"/>
                  </a:ext>
                </a:extLst>
              </a:tr>
            </a:tbl>
          </a:graphicData>
        </a:graphic>
      </p:graphicFrame>
      <p:sp>
        <p:nvSpPr>
          <p:cNvPr id="4" name="文本占位符 3"/>
          <p:cNvSpPr>
            <a:spLocks noGrp="1"/>
          </p:cNvSpPr>
          <p:nvPr>
            <p:ph type="body" sz="quarter" idx="10"/>
          </p:nvPr>
        </p:nvSpPr>
        <p:spPr/>
        <p:txBody>
          <a:bodyPr/>
          <a:lstStyle/>
          <a:p>
            <a:fld id="{C3652C84-0137-49E6-BD84-1F92F2D8E323}" type="slidenum">
              <a:rPr lang="zh-CN" altLang="en-US" smtClean="0"/>
              <a:t>61</a:t>
            </a:fld>
            <a:endParaRPr lang="zh-CN" altLang="en-US" dirty="0"/>
          </a:p>
        </p:txBody>
      </p:sp>
    </p:spTree>
    <p:custDataLst>
      <p:tags r:id="rId1"/>
    </p:custDataLst>
    <p:extLst>
      <p:ext uri="{BB962C8B-B14F-4D97-AF65-F5344CB8AC3E}">
        <p14:creationId xmlns:p14="http://schemas.microsoft.com/office/powerpoint/2010/main" val="149370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22549" y="312129"/>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5.3.1 Math</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2666998" y="1432560"/>
            <a:ext cx="7747002" cy="4612640"/>
            <a:chOff x="2311398" y="1402080"/>
            <a:chExt cx="7747002" cy="4612640"/>
          </a:xfrm>
        </p:grpSpPr>
        <p:pic>
          <p:nvPicPr>
            <p:cNvPr id="1167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402080"/>
              <a:ext cx="7747002" cy="46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895601" y="1402080"/>
              <a:ext cx="6990080" cy="4612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Example16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计算绝对值的结果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Math.abs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求大于参数的最小整数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Math.ceil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(5.6));</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求小于参数的最大整数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Math.floor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(-4.2));</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对小数进行四舍五入后的结果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Math.round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(-4.6));</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求两个数的较大值</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Math.max</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-2.1));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求两个数的较小值</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Math.min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-2.1));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生成一个大于等于</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0.0</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小于</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随机值</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Math.random</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开平方的结果</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Math.sqrt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指数函数的值</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Math.pow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3));</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9DE33FAA-AB65-420B-9537-04DE9BAFC400}" type="slidenum">
              <a:rPr lang="zh-CN" altLang="en-US" smtClean="0"/>
              <a:t>62</a:t>
            </a:fld>
            <a:endParaRPr lang="zh-CN" altLang="en-US" dirty="0"/>
          </a:p>
        </p:txBody>
      </p:sp>
    </p:spTree>
    <p:custDataLst>
      <p:tags r:id="rId1"/>
    </p:custDataLst>
    <p:extLst>
      <p:ext uri="{BB962C8B-B14F-4D97-AF65-F5344CB8AC3E}">
        <p14:creationId xmlns:p14="http://schemas.microsoft.com/office/powerpoint/2010/main" val="4045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247177"/>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5.3.2 Random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452880" y="1483360"/>
            <a:ext cx="9885681" cy="143255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包中有一个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类，它可以在指定的取值范围内随机产生数字。</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类中提供了两个构造方法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如下表。</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035760260"/>
              </p:ext>
            </p:extLst>
          </p:nvPr>
        </p:nvGraphicFramePr>
        <p:xfrm>
          <a:off x="2311398" y="3058954"/>
          <a:ext cx="7546738" cy="1662905"/>
        </p:xfrm>
        <a:graphic>
          <a:graphicData uri="http://schemas.openxmlformats.org/drawingml/2006/table">
            <a:tbl>
              <a:tblPr firstRow="1" firstCol="1" bandRow="1">
                <a:tableStyleId>{5C22544A-7EE6-4342-B048-85BDC9FD1C3A}</a:tableStyleId>
              </a:tblPr>
              <a:tblGrid>
                <a:gridCol w="2623324">
                  <a:extLst>
                    <a:ext uri="{9D8B030D-6E8A-4147-A177-3AD203B41FA5}">
                      <a16:colId xmlns:a16="http://schemas.microsoft.com/office/drawing/2014/main" val="20000"/>
                    </a:ext>
                  </a:extLst>
                </a:gridCol>
                <a:gridCol w="4923414">
                  <a:extLst>
                    <a:ext uri="{9D8B030D-6E8A-4147-A177-3AD203B41FA5}">
                      <a16:colId xmlns:a16="http://schemas.microsoft.com/office/drawing/2014/main" val="20001"/>
                    </a:ext>
                  </a:extLst>
                </a:gridCol>
              </a:tblGrid>
              <a:tr h="415726">
                <a:tc>
                  <a:txBody>
                    <a:bodyPr/>
                    <a:lstStyle/>
                    <a:p>
                      <a:pPr indent="266700" algn="ctr">
                        <a:spcAft>
                          <a:spcPts val="0"/>
                        </a:spcAft>
                      </a:pPr>
                      <a:r>
                        <a:rPr lang="zh-CN" sz="1800" dirty="0">
                          <a:effectLst/>
                        </a:rPr>
                        <a:t>方法声明</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415726">
                <a:tc>
                  <a:txBody>
                    <a:bodyPr/>
                    <a:lstStyle/>
                    <a:p>
                      <a:pPr indent="266700">
                        <a:spcAft>
                          <a:spcPts val="0"/>
                        </a:spcAft>
                      </a:pPr>
                      <a:r>
                        <a:rPr lang="en-US" sz="1800" dirty="0">
                          <a:effectLst/>
                        </a:rPr>
                        <a:t>Random()</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dirty="0">
                          <a:effectLst/>
                        </a:rPr>
                        <a:t>构造方法，用于创建一个伪随机数生成器</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831453">
                <a:tc>
                  <a:txBody>
                    <a:bodyPr/>
                    <a:lstStyle/>
                    <a:p>
                      <a:pPr indent="266700">
                        <a:spcAft>
                          <a:spcPts val="0"/>
                        </a:spcAft>
                      </a:pPr>
                      <a:r>
                        <a:rPr lang="en-US" sz="1800" dirty="0">
                          <a:effectLst/>
                        </a:rPr>
                        <a:t>Random(long seed)</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dirty="0">
                          <a:effectLst/>
                        </a:rPr>
                        <a:t>构造方法，使用一个</a:t>
                      </a:r>
                      <a:r>
                        <a:rPr lang="en-US" sz="1800" dirty="0">
                          <a:effectLst/>
                        </a:rPr>
                        <a:t>long</a:t>
                      </a:r>
                      <a:r>
                        <a:rPr lang="zh-CN" sz="1800" dirty="0">
                          <a:effectLst/>
                        </a:rPr>
                        <a:t>型的</a:t>
                      </a:r>
                      <a:r>
                        <a:rPr lang="en-US" sz="1800" dirty="0">
                          <a:effectLst/>
                        </a:rPr>
                        <a:t>seed</a:t>
                      </a:r>
                      <a:r>
                        <a:rPr lang="zh-CN" sz="1800" dirty="0">
                          <a:effectLst/>
                        </a:rPr>
                        <a:t>种子创建伪随机数生成器</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bl>
          </a:graphicData>
        </a:graphic>
      </p:graphicFrame>
      <p:sp>
        <p:nvSpPr>
          <p:cNvPr id="4" name="文本占位符 3"/>
          <p:cNvSpPr>
            <a:spLocks noGrp="1"/>
          </p:cNvSpPr>
          <p:nvPr>
            <p:ph type="body" sz="quarter" idx="10"/>
          </p:nvPr>
        </p:nvSpPr>
        <p:spPr/>
        <p:txBody>
          <a:bodyPr/>
          <a:lstStyle/>
          <a:p>
            <a:fld id="{2ED476A2-A3BD-4D75-BED2-21D9271BE20E}" type="slidenum">
              <a:rPr lang="zh-CN" altLang="en-US" smtClean="0"/>
              <a:t>63</a:t>
            </a:fld>
            <a:endParaRPr lang="zh-CN" altLang="en-US" dirty="0"/>
          </a:p>
        </p:txBody>
      </p:sp>
    </p:spTree>
    <p:custDataLst>
      <p:tags r:id="rId1"/>
    </p:custDataLst>
    <p:extLst>
      <p:ext uri="{BB962C8B-B14F-4D97-AF65-F5344CB8AC3E}">
        <p14:creationId xmlns:p14="http://schemas.microsoft.com/office/powerpoint/2010/main" val="38868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71188"/>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5.3.2 Random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635761" y="1574800"/>
            <a:ext cx="6258559" cy="4013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类的两个构造方法，其中第一个构造方法是无参的，通过它创建的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实例对象每次使用的种子是随机的，因此每个对象所产生的随机数不同。如果希望创建的多个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实例对象产生相同的随机数，则可以在创建对象时调用第二个构造方法，传入相同的参数即可。</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08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3567" y="1822450"/>
            <a:ext cx="3017837"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0B9CA7C-49FA-43C0-B097-44B2CEDA3499}" type="slidenum">
              <a:rPr lang="zh-CN" altLang="en-US" smtClean="0"/>
              <a:t>64</a:t>
            </a:fld>
            <a:endParaRPr lang="zh-CN" altLang="en-US" dirty="0"/>
          </a:p>
        </p:txBody>
      </p:sp>
    </p:spTree>
    <p:custDataLst>
      <p:tags r:id="rId1"/>
    </p:custDataLst>
    <p:extLst>
      <p:ext uri="{BB962C8B-B14F-4D97-AF65-F5344CB8AC3E}">
        <p14:creationId xmlns:p14="http://schemas.microsoft.com/office/powerpoint/2010/main" val="161788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0834"/>
                                        </p:tgtEl>
                                        <p:attrNameLst>
                                          <p:attrName>style.visibility</p:attrName>
                                        </p:attrNameLst>
                                      </p:cBhvr>
                                      <p:to>
                                        <p:strVal val="visible"/>
                                      </p:to>
                                    </p:set>
                                    <p:animEffect transition="in" filter="fade">
                                      <p:cBhvr>
                                        <p:cTn id="11" dur="1000"/>
                                        <p:tgtEl>
                                          <p:spTgt spid="120834"/>
                                        </p:tgtEl>
                                      </p:cBhvr>
                                    </p:animEffect>
                                    <p:anim calcmode="lin" valueType="num">
                                      <p:cBhvr>
                                        <p:cTn id="12" dur="1000" fill="hold"/>
                                        <p:tgtEl>
                                          <p:spTgt spid="120834"/>
                                        </p:tgtEl>
                                        <p:attrNameLst>
                                          <p:attrName>ppt_x</p:attrName>
                                        </p:attrNameLst>
                                      </p:cBhvr>
                                      <p:tavLst>
                                        <p:tav tm="0">
                                          <p:val>
                                            <p:strVal val="#ppt_x"/>
                                          </p:val>
                                        </p:tav>
                                        <p:tav tm="100000">
                                          <p:val>
                                            <p:strVal val="#ppt_x"/>
                                          </p:val>
                                        </p:tav>
                                      </p:tavLst>
                                    </p:anim>
                                    <p:anim calcmode="lin" valueType="num">
                                      <p:cBhvr>
                                        <p:cTn id="13" dur="1000" fill="hold"/>
                                        <p:tgtEl>
                                          <p:spTgt spid="1208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5.3.2 Random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82879" y="1357034"/>
            <a:ext cx="5913121" cy="3942080"/>
            <a:chOff x="2479039" y="2123440"/>
            <a:chExt cx="7701281" cy="3942080"/>
          </a:xfrm>
        </p:grpSpPr>
        <p:pic>
          <p:nvPicPr>
            <p:cNvPr id="1218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9040" y="2123440"/>
              <a:ext cx="7701280" cy="3942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479039" y="2230120"/>
              <a:ext cx="7701280" cy="3728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java.util.Random</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Random r = new Random();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不传入种子</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随机产生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[0,100)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之间的整数</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x = 0; x &lt; 10; x++)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r.nextInt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DAED44B-C76A-4903-A6C1-E0E9DE8044B8}" type="slidenum">
              <a:rPr lang="zh-CN" altLang="en-US" smtClean="0"/>
              <a:t>65</a:t>
            </a:fld>
            <a:endParaRPr lang="zh-CN" altLang="en-US" dirty="0"/>
          </a:p>
        </p:txBody>
      </p:sp>
      <p:grpSp>
        <p:nvGrpSpPr>
          <p:cNvPr id="9" name="组合 8"/>
          <p:cNvGrpSpPr/>
          <p:nvPr/>
        </p:nvGrpSpPr>
        <p:grpSpPr>
          <a:xfrm>
            <a:off x="5727699" y="2329220"/>
            <a:ext cx="6296025" cy="3759199"/>
            <a:chOff x="2225040" y="2164080"/>
            <a:chExt cx="8178799" cy="3759199"/>
          </a:xfrm>
        </p:grpSpPr>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5040" y="2164080"/>
              <a:ext cx="8178799" cy="3759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299335" y="2184399"/>
              <a:ext cx="8104504" cy="3738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java.util.Random</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Random r = new Random(13);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创建对象时传入种子</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随机产生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[0,100)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之间的整数</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x = 0; x &lt; 10; x++)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r.nextInt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ustDataLst>
      <p:tags r:id="rId1"/>
    </p:custDataLst>
    <p:extLst>
      <p:ext uri="{BB962C8B-B14F-4D97-AF65-F5344CB8AC3E}">
        <p14:creationId xmlns:p14="http://schemas.microsoft.com/office/powerpoint/2010/main" val="247155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13733"/>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5.3.2 Random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5121" y="1412240"/>
            <a:ext cx="9509758" cy="1778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相对于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方法而言，</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类提供了更多的方法来生成各种伪随机数，不仅可以生成整数类型的随机数，还可以生成浮点类型的随机数</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类常用的方法如下表。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3027680" y="3322319"/>
          <a:ext cx="7437120" cy="2722880"/>
        </p:xfrm>
        <a:graphic>
          <a:graphicData uri="http://schemas.openxmlformats.org/drawingml/2006/table">
            <a:tbl>
              <a:tblPr firstRow="1" firstCol="1" bandRow="1">
                <a:tableStyleId>{5C22544A-7EE6-4342-B048-85BDC9FD1C3A}</a:tableStyleId>
              </a:tblPr>
              <a:tblGrid>
                <a:gridCol w="2939645">
                  <a:extLst>
                    <a:ext uri="{9D8B030D-6E8A-4147-A177-3AD203B41FA5}">
                      <a16:colId xmlns:a16="http://schemas.microsoft.com/office/drawing/2014/main" val="20000"/>
                    </a:ext>
                  </a:extLst>
                </a:gridCol>
                <a:gridCol w="4497475">
                  <a:extLst>
                    <a:ext uri="{9D8B030D-6E8A-4147-A177-3AD203B41FA5}">
                      <a16:colId xmlns:a16="http://schemas.microsoft.com/office/drawing/2014/main" val="20001"/>
                    </a:ext>
                  </a:extLst>
                </a:gridCol>
              </a:tblGrid>
              <a:tr h="544576">
                <a:tc>
                  <a:txBody>
                    <a:bodyPr/>
                    <a:lstStyle/>
                    <a:p>
                      <a:pPr indent="266700" algn="ctr">
                        <a:spcAft>
                          <a:spcPts val="0"/>
                        </a:spcAft>
                      </a:pPr>
                      <a:r>
                        <a:rPr lang="zh-CN" sz="1800">
                          <a:effectLst/>
                        </a:rPr>
                        <a:t>方法声明</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44576">
                <a:tc>
                  <a:txBody>
                    <a:bodyPr/>
                    <a:lstStyle/>
                    <a:p>
                      <a:pPr indent="266700">
                        <a:spcAft>
                          <a:spcPts val="0"/>
                        </a:spcAft>
                      </a:pPr>
                      <a:r>
                        <a:rPr lang="en-US" sz="1800">
                          <a:effectLst/>
                        </a:rPr>
                        <a:t>double nextDouble()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随机生成</a:t>
                      </a:r>
                      <a:r>
                        <a:rPr lang="en-US" sz="1800">
                          <a:effectLst/>
                        </a:rPr>
                        <a:t>double</a:t>
                      </a:r>
                      <a:r>
                        <a:rPr lang="zh-CN" sz="1800">
                          <a:effectLst/>
                        </a:rPr>
                        <a:t>类型的随机数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44576">
                <a:tc>
                  <a:txBody>
                    <a:bodyPr/>
                    <a:lstStyle/>
                    <a:p>
                      <a:pPr indent="266700">
                        <a:spcAft>
                          <a:spcPts val="0"/>
                        </a:spcAft>
                      </a:pPr>
                      <a:r>
                        <a:rPr lang="en-US" sz="1800">
                          <a:effectLst/>
                        </a:rPr>
                        <a:t>float nextFloat()</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随机生成</a:t>
                      </a:r>
                      <a:r>
                        <a:rPr lang="en-US" sz="1800">
                          <a:effectLst/>
                        </a:rPr>
                        <a:t>float</a:t>
                      </a:r>
                      <a:r>
                        <a:rPr lang="zh-CN" sz="1800">
                          <a:effectLst/>
                        </a:rPr>
                        <a:t>类型的随机数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44576">
                <a:tc>
                  <a:txBody>
                    <a:bodyPr/>
                    <a:lstStyle/>
                    <a:p>
                      <a:pPr indent="266700">
                        <a:spcAft>
                          <a:spcPts val="0"/>
                        </a:spcAft>
                      </a:pPr>
                      <a:r>
                        <a:rPr lang="en-US" sz="1800">
                          <a:effectLst/>
                        </a:rPr>
                        <a:t>int nextInt()</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随机生成</a:t>
                      </a:r>
                      <a:r>
                        <a:rPr lang="en-US" sz="1800">
                          <a:effectLst/>
                        </a:rPr>
                        <a:t>int</a:t>
                      </a:r>
                      <a:r>
                        <a:rPr lang="zh-CN" sz="1800">
                          <a:effectLst/>
                        </a:rPr>
                        <a:t>类型的随机数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44576">
                <a:tc>
                  <a:txBody>
                    <a:bodyPr/>
                    <a:lstStyle/>
                    <a:p>
                      <a:pPr indent="266700">
                        <a:spcAft>
                          <a:spcPts val="0"/>
                        </a:spcAft>
                      </a:pPr>
                      <a:r>
                        <a:rPr lang="en-US" sz="1800">
                          <a:effectLst/>
                        </a:rPr>
                        <a:t>int nextInt(int n)</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dirty="0">
                          <a:effectLst/>
                        </a:rPr>
                        <a:t>随机生成</a:t>
                      </a:r>
                      <a:r>
                        <a:rPr lang="en-US" sz="1800" dirty="0">
                          <a:effectLst/>
                        </a:rPr>
                        <a:t>0~n</a:t>
                      </a:r>
                      <a:r>
                        <a:rPr lang="zh-CN" sz="1800" dirty="0">
                          <a:effectLst/>
                        </a:rPr>
                        <a:t>之间</a:t>
                      </a:r>
                      <a:r>
                        <a:rPr lang="en-US" sz="1800" dirty="0" err="1">
                          <a:effectLst/>
                        </a:rPr>
                        <a:t>int</a:t>
                      </a:r>
                      <a:r>
                        <a:rPr lang="zh-CN" sz="1800" dirty="0">
                          <a:effectLst/>
                        </a:rPr>
                        <a:t>类型的随机数</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文本占位符 3"/>
          <p:cNvSpPr>
            <a:spLocks noGrp="1"/>
          </p:cNvSpPr>
          <p:nvPr>
            <p:ph type="body" sz="quarter" idx="10"/>
          </p:nvPr>
        </p:nvSpPr>
        <p:spPr/>
        <p:txBody>
          <a:bodyPr/>
          <a:lstStyle/>
          <a:p>
            <a:fld id="{B974657D-9C6B-44F0-B849-37862576DEFC}" type="slidenum">
              <a:rPr lang="zh-CN" altLang="en-US" smtClean="0"/>
              <a:t>66</a:t>
            </a:fld>
            <a:endParaRPr lang="zh-CN" altLang="en-US" dirty="0"/>
          </a:p>
        </p:txBody>
      </p:sp>
    </p:spTree>
    <p:custDataLst>
      <p:tags r:id="rId1"/>
    </p:custDataLst>
    <p:extLst>
      <p:ext uri="{BB962C8B-B14F-4D97-AF65-F5344CB8AC3E}">
        <p14:creationId xmlns:p14="http://schemas.microsoft.com/office/powerpoint/2010/main" val="235532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5.3.2 Random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4754881" y="1892300"/>
            <a:ext cx="5659119" cy="3048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nextDouble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方法返回的是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double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类型的值，</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nextFloat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方法返回的是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float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类型的值，</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nextInt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返回的是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（包括）和指定值</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（不包括）之间的值。</a:t>
            </a:r>
          </a:p>
        </p:txBody>
      </p:sp>
      <p:pic>
        <p:nvPicPr>
          <p:cNvPr id="130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475422"/>
            <a:ext cx="2225675" cy="474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04BBD5A1-A129-431A-9012-081AF9453ECB}" type="slidenum">
              <a:rPr lang="zh-CN" altLang="en-US" smtClean="0"/>
              <a:t>67</a:t>
            </a:fld>
            <a:endParaRPr lang="zh-CN" altLang="en-US" dirty="0"/>
          </a:p>
        </p:txBody>
      </p:sp>
    </p:spTree>
    <p:custDataLst>
      <p:tags r:id="rId1"/>
    </p:custDataLst>
    <p:extLst>
      <p:ext uri="{BB962C8B-B14F-4D97-AF65-F5344CB8AC3E}">
        <p14:creationId xmlns:p14="http://schemas.microsoft.com/office/powerpoint/2010/main" val="377950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500"/>
                                        <p:tgtEl>
                                          <p:spTgt spid="13005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5.3.2 Random</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5121" y="1239520"/>
            <a:ext cx="9509758" cy="75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接下来通过一个案例学习这些方法的使用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057399" y="1920240"/>
            <a:ext cx="8991600" cy="4124960"/>
            <a:chOff x="1808480" y="2011680"/>
            <a:chExt cx="8991600" cy="4124960"/>
          </a:xfrm>
        </p:grpSpPr>
        <p:pic>
          <p:nvPicPr>
            <p:cNvPr id="131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8480" y="2011680"/>
              <a:ext cx="8991600" cy="4124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225041" y="2011680"/>
              <a:ext cx="8575039" cy="4124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java.util.Random</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Random r1 = new Random();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实例对象</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float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类型随机数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r1.nextFloat());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double</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类型的随机数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r1.nextDouble());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类型的随机数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r1.nextInt());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0~100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之间</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类型的随机数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r1.nextInt(100));</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F164EB36-A524-4754-BDA6-99C85FB53526}" type="slidenum">
              <a:rPr lang="zh-CN" altLang="en-US" smtClean="0"/>
              <a:t>68</a:t>
            </a:fld>
            <a:endParaRPr lang="zh-CN" altLang="en-US" dirty="0"/>
          </a:p>
        </p:txBody>
      </p:sp>
    </p:spTree>
    <p:custDataLst>
      <p:tags r:id="rId1"/>
    </p:custDataLst>
    <p:extLst>
      <p:ext uri="{BB962C8B-B14F-4D97-AF65-F5344CB8AC3E}">
        <p14:creationId xmlns:p14="http://schemas.microsoft.com/office/powerpoint/2010/main" val="86449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noChangeArrowheads="1"/>
          </p:cNvSpPr>
          <p:nvPr>
            <p:ph idx="1"/>
          </p:nvPr>
        </p:nvSpPr>
        <p:spPr bwMode="auto">
          <a:xfrm>
            <a:off x="1714500" y="1200152"/>
            <a:ext cx="8486775" cy="43529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2500"/>
          </a:bodyPr>
          <a:lstStyle/>
          <a:p>
            <a:pPr marL="0" indent="0">
              <a:buNone/>
            </a:pPr>
            <a:r>
              <a:rPr lang="en-US" altLang="zh-CN" b="1" dirty="0">
                <a:solidFill>
                  <a:srgbClr val="009ED6"/>
                </a:solidFill>
              </a:rPr>
              <a:t>Date</a:t>
            </a:r>
            <a:r>
              <a:rPr lang="zh-CN" altLang="en-US" b="1" dirty="0">
                <a:solidFill>
                  <a:srgbClr val="009ED6"/>
                </a:solidFill>
              </a:rPr>
              <a:t>类</a:t>
            </a:r>
            <a:endParaRPr lang="en-US" altLang="zh-CN" b="1" dirty="0">
              <a:solidFill>
                <a:srgbClr val="009ED6"/>
              </a:solidFill>
            </a:endParaRPr>
          </a:p>
          <a:p>
            <a:pPr lvl="1"/>
            <a:r>
              <a:rPr lang="zh-CN" altLang="en-US" sz="2400" dirty="0"/>
              <a:t>在</a:t>
            </a:r>
            <a:r>
              <a:rPr lang="en-US" altLang="zh-CN" sz="2400" dirty="0"/>
              <a:t>JDK</a:t>
            </a:r>
            <a:r>
              <a:rPr lang="zh-CN" altLang="en-US" sz="2400" dirty="0"/>
              <a:t>的</a:t>
            </a:r>
            <a:r>
              <a:rPr lang="en-US" altLang="zh-CN" sz="2400" dirty="0" err="1"/>
              <a:t>java.util</a:t>
            </a:r>
            <a:r>
              <a:rPr lang="zh-CN" altLang="en-US" sz="2400" dirty="0"/>
              <a:t>包中提供了一个</a:t>
            </a:r>
            <a:r>
              <a:rPr lang="en-US" altLang="zh-CN" sz="2400" dirty="0"/>
              <a:t>Date</a:t>
            </a:r>
            <a:r>
              <a:rPr lang="zh-CN" altLang="en-US" sz="2400" dirty="0"/>
              <a:t>类用于表示日期和时间。</a:t>
            </a:r>
            <a:endParaRPr lang="en-US" altLang="zh-CN" sz="2400" dirty="0"/>
          </a:p>
          <a:p>
            <a:pPr lvl="1"/>
            <a:r>
              <a:rPr lang="en-US" altLang="zh-CN" sz="2400" dirty="0"/>
              <a:t>Date</a:t>
            </a:r>
            <a:r>
              <a:rPr lang="zh-CN" altLang="en-US" sz="2400" dirty="0"/>
              <a:t>类中大部分构造方法都被声明为已过时，只有两个构造方法是建议使用的，一个是无参的构造方法</a:t>
            </a:r>
            <a:r>
              <a:rPr lang="en-US" altLang="zh-CN" sz="2400" dirty="0"/>
              <a:t>Date()</a:t>
            </a:r>
            <a:r>
              <a:rPr lang="zh-CN" altLang="en-US" sz="2400" dirty="0"/>
              <a:t>，用来创建当前日期时间的</a:t>
            </a:r>
            <a:r>
              <a:rPr lang="en-US" altLang="zh-CN" sz="2400" dirty="0"/>
              <a:t>Date</a:t>
            </a:r>
            <a:r>
              <a:rPr lang="zh-CN" altLang="en-US" sz="2400" dirty="0"/>
              <a:t>对象。另一个是接收一个</a:t>
            </a:r>
            <a:r>
              <a:rPr lang="en-US" altLang="zh-CN" sz="2400" dirty="0"/>
              <a:t>long</a:t>
            </a:r>
            <a:r>
              <a:rPr lang="zh-CN" altLang="en-US" sz="2400" dirty="0"/>
              <a:t>型参数</a:t>
            </a:r>
            <a:r>
              <a:rPr lang="en-US" altLang="zh-CN" sz="2400" dirty="0"/>
              <a:t>date</a:t>
            </a:r>
            <a:r>
              <a:rPr lang="zh-CN" altLang="en-US" sz="2400" dirty="0"/>
              <a:t>的构造方法</a:t>
            </a:r>
            <a:r>
              <a:rPr lang="en-US" altLang="zh-CN" sz="2400" dirty="0"/>
              <a:t>Date(long date)</a:t>
            </a:r>
            <a:r>
              <a:rPr lang="zh-CN" altLang="en-US" sz="2400" dirty="0"/>
              <a:t>，用于创建指定时间的</a:t>
            </a:r>
            <a:r>
              <a:rPr lang="en-US" altLang="zh-CN" sz="2400" dirty="0"/>
              <a:t>Date</a:t>
            </a:r>
            <a:r>
              <a:rPr lang="zh-CN" altLang="en-US" sz="2400" dirty="0"/>
              <a:t>对象，其中</a:t>
            </a:r>
            <a:r>
              <a:rPr lang="en-US" altLang="zh-CN" sz="2400" dirty="0"/>
              <a:t>date</a:t>
            </a:r>
            <a:r>
              <a:rPr lang="zh-CN" altLang="en-US" sz="2400" dirty="0"/>
              <a:t>参数表示</a:t>
            </a:r>
            <a:r>
              <a:rPr lang="en-US" altLang="zh-CN" sz="2400" dirty="0"/>
              <a:t>1970</a:t>
            </a:r>
            <a:r>
              <a:rPr lang="zh-CN" altLang="en-US" sz="2400" dirty="0"/>
              <a:t>年</a:t>
            </a:r>
            <a:r>
              <a:rPr lang="en-US" altLang="zh-CN" sz="2400" dirty="0"/>
              <a:t>1</a:t>
            </a:r>
            <a:r>
              <a:rPr lang="zh-CN" altLang="en-US" sz="2400" dirty="0"/>
              <a:t>月</a:t>
            </a:r>
            <a:r>
              <a:rPr lang="en-US" altLang="zh-CN" sz="2400" dirty="0"/>
              <a:t>1</a:t>
            </a:r>
            <a:r>
              <a:rPr lang="zh-CN" altLang="en-US" sz="2400" dirty="0"/>
              <a:t>日</a:t>
            </a:r>
            <a:r>
              <a:rPr lang="en-US" altLang="zh-CN" sz="2400" dirty="0"/>
              <a:t>0</a:t>
            </a:r>
            <a:r>
              <a:rPr lang="zh-CN" altLang="en-US" sz="2400" dirty="0"/>
              <a:t>时</a:t>
            </a:r>
            <a:r>
              <a:rPr lang="en-US" altLang="zh-CN" sz="2400" dirty="0"/>
              <a:t>0</a:t>
            </a:r>
            <a:r>
              <a:rPr lang="zh-CN" altLang="en-US" sz="2400" dirty="0"/>
              <a:t>分</a:t>
            </a:r>
            <a:r>
              <a:rPr lang="en-US" altLang="zh-CN" sz="2400" dirty="0"/>
              <a:t>0(</a:t>
            </a:r>
            <a:r>
              <a:rPr lang="zh-CN" altLang="en-US" sz="2400" dirty="0"/>
              <a:t>称为历元</a:t>
            </a:r>
            <a:r>
              <a:rPr lang="en-US" altLang="zh-CN" sz="2400" dirty="0"/>
              <a:t>)</a:t>
            </a:r>
            <a:r>
              <a:rPr lang="zh-CN" altLang="en-US" sz="2400" dirty="0"/>
              <a:t>以来的毫秒数，即时间戳。</a:t>
            </a:r>
            <a:endParaRPr lang="en-US" altLang="zh-CN" sz="2400" dirty="0"/>
          </a:p>
          <a:p>
            <a:pPr lvl="1"/>
            <a:endParaRPr lang="zh-CN" altLang="en-US" dirty="0"/>
          </a:p>
        </p:txBody>
      </p:sp>
      <p:sp>
        <p:nvSpPr>
          <p:cNvPr id="5"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45142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noChangeArrowheads="1"/>
          </p:cNvSpPr>
          <p:nvPr>
            <p:ph idx="1"/>
          </p:nvPr>
        </p:nvSpPr>
        <p:spPr bwMode="auto">
          <a:xfrm>
            <a:off x="1981200" y="1066801"/>
            <a:ext cx="7964488" cy="5059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a:solidFill>
                  <a:srgbClr val="009ED6"/>
                </a:solidFill>
              </a:rPr>
              <a:t>Date</a:t>
            </a:r>
            <a:r>
              <a:rPr lang="zh-CN" altLang="en-US" b="1" dirty="0">
                <a:solidFill>
                  <a:srgbClr val="009ED6"/>
                </a:solidFill>
              </a:rPr>
              <a:t>类</a:t>
            </a:r>
            <a:endParaRPr lang="en-US" altLang="zh-CN" b="1" dirty="0">
              <a:solidFill>
                <a:srgbClr val="009ED6"/>
              </a:solidFill>
            </a:endParaRPr>
          </a:p>
        </p:txBody>
      </p:sp>
      <p:sp>
        <p:nvSpPr>
          <p:cNvPr id="7" name="圆角矩形标注 6"/>
          <p:cNvSpPr/>
          <p:nvPr/>
        </p:nvSpPr>
        <p:spPr bwMode="auto">
          <a:xfrm>
            <a:off x="2465389" y="4414196"/>
            <a:ext cx="8080375" cy="1495425"/>
          </a:xfrm>
          <a:prstGeom prst="wedgeRoundRectCallout">
            <a:avLst>
              <a:gd name="adj1" fmla="val -23963"/>
              <a:gd name="adj2" fmla="val -49165"/>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p>
            <a:pPr>
              <a:lnSpc>
                <a:spcPct val="150000"/>
              </a:lnSpc>
              <a:defRPr/>
            </a:pPr>
            <a:r>
              <a:rPr lang="zh-CN" altLang="en-US" b="1" dirty="0">
                <a:latin typeface="Arial" charset="0"/>
              </a:rPr>
              <a:t>例程中，打印</a:t>
            </a:r>
            <a:r>
              <a:rPr lang="en-US" b="1" dirty="0">
                <a:latin typeface="Arial" charset="0"/>
              </a:rPr>
              <a:t>date1</a:t>
            </a:r>
            <a:r>
              <a:rPr lang="zh-CN" altLang="en-US" b="1" dirty="0">
                <a:latin typeface="Arial" charset="0"/>
              </a:rPr>
              <a:t>得到的是当前计算机的日期和时间，打印</a:t>
            </a:r>
            <a:r>
              <a:rPr lang="en-US" b="1" dirty="0">
                <a:latin typeface="Arial" charset="0"/>
              </a:rPr>
              <a:t>date2</a:t>
            </a:r>
            <a:r>
              <a:rPr lang="zh-CN" altLang="en-US" b="1" dirty="0">
                <a:latin typeface="Arial" charset="0"/>
              </a:rPr>
              <a:t>则是自</a:t>
            </a:r>
            <a:r>
              <a:rPr lang="en-US" b="1" dirty="0">
                <a:latin typeface="Arial" charset="0"/>
              </a:rPr>
              <a:t>1970</a:t>
            </a:r>
            <a:r>
              <a:rPr lang="zh-CN" altLang="en-US" b="1" dirty="0">
                <a:latin typeface="Arial" charset="0"/>
              </a:rPr>
              <a:t>年</a:t>
            </a:r>
            <a:r>
              <a:rPr lang="en-US" b="1" dirty="0">
                <a:latin typeface="Arial" charset="0"/>
              </a:rPr>
              <a:t>1</a:t>
            </a:r>
            <a:r>
              <a:rPr lang="zh-CN" altLang="en-US" b="1" dirty="0">
                <a:latin typeface="Arial" charset="0"/>
              </a:rPr>
              <a:t>月</a:t>
            </a:r>
            <a:r>
              <a:rPr lang="en-US" b="1" dirty="0">
                <a:latin typeface="Arial" charset="0"/>
              </a:rPr>
              <a:t>1</a:t>
            </a:r>
            <a:r>
              <a:rPr lang="zh-CN" altLang="en-US" b="1" dirty="0">
                <a:latin typeface="Arial" charset="0"/>
              </a:rPr>
              <a:t>日</a:t>
            </a:r>
            <a:r>
              <a:rPr lang="en-US" b="1" dirty="0">
                <a:latin typeface="Arial" charset="0"/>
              </a:rPr>
              <a:t>00:00:00</a:t>
            </a:r>
            <a:r>
              <a:rPr lang="zh-CN" altLang="en-US" b="1" dirty="0">
                <a:latin typeface="Arial" charset="0"/>
              </a:rPr>
              <a:t>以来</a:t>
            </a:r>
            <a:r>
              <a:rPr lang="en-US" b="1" dirty="0">
                <a:latin typeface="Arial" charset="0"/>
              </a:rPr>
              <a:t>966666666666l</a:t>
            </a:r>
            <a:r>
              <a:rPr lang="zh-CN" altLang="en-US" b="1" dirty="0">
                <a:latin typeface="Arial" charset="0"/>
              </a:rPr>
              <a:t>毫秒后的日期和时间。因此，大家可以根据需求选择不同的方式创建</a:t>
            </a:r>
            <a:r>
              <a:rPr lang="en-US" b="1" dirty="0">
                <a:latin typeface="Arial" charset="0"/>
              </a:rPr>
              <a:t>Date</a:t>
            </a:r>
            <a:r>
              <a:rPr lang="zh-CN" altLang="en-US" b="1" dirty="0">
                <a:latin typeface="Arial" charset="0"/>
              </a:rPr>
              <a:t>对象。</a:t>
            </a:r>
          </a:p>
        </p:txBody>
      </p:sp>
      <p:pic>
        <p:nvPicPr>
          <p:cNvPr id="1331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8173"/>
          <a:stretch/>
        </p:blipFill>
        <p:spPr bwMode="auto">
          <a:xfrm>
            <a:off x="2681288" y="1695450"/>
            <a:ext cx="7389704"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4052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noChangeArrowheads="1"/>
          </p:cNvSpPr>
          <p:nvPr>
            <p:ph idx="1"/>
          </p:nvPr>
        </p:nvSpPr>
        <p:spPr bwMode="auto">
          <a:xfrm>
            <a:off x="1981200" y="1190625"/>
            <a:ext cx="7964488" cy="5124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Calender</a:t>
            </a:r>
            <a:r>
              <a:rPr lang="zh-CN" altLang="en-US" b="1" dirty="0">
                <a:solidFill>
                  <a:srgbClr val="009ED6"/>
                </a:solidFill>
              </a:rPr>
              <a:t>类</a:t>
            </a:r>
            <a:endParaRPr lang="en-US" altLang="zh-CN" b="1" dirty="0">
              <a:solidFill>
                <a:srgbClr val="009ED6"/>
              </a:solidFill>
            </a:endParaRPr>
          </a:p>
          <a:p>
            <a:pPr lvl="1"/>
            <a:r>
              <a:rPr lang="en-US" altLang="zh-CN" dirty="0"/>
              <a:t>Calendar</a:t>
            </a:r>
            <a:r>
              <a:rPr lang="zh-CN" altLang="en-US" dirty="0"/>
              <a:t>类用于完成日期和时间字段的操作，它可以通过特定的方法设置和读取日期的特定部分，比如年、月、日、时、分和秒等。</a:t>
            </a:r>
            <a:r>
              <a:rPr lang="en-US" altLang="zh-CN" dirty="0"/>
              <a:t>Calendar</a:t>
            </a:r>
            <a:r>
              <a:rPr lang="zh-CN" altLang="en-US" dirty="0"/>
              <a:t>类是一个抽象类，不可以被实例化，在程序中需要调用其静态方法</a:t>
            </a:r>
            <a:r>
              <a:rPr lang="en-US" altLang="zh-CN" dirty="0" err="1"/>
              <a:t>getInstance</a:t>
            </a:r>
            <a:r>
              <a:rPr lang="en-US" altLang="zh-CN" dirty="0"/>
              <a:t>()</a:t>
            </a:r>
            <a:r>
              <a:rPr lang="zh-CN" altLang="en-US" dirty="0"/>
              <a:t>来得到一个</a:t>
            </a:r>
            <a:r>
              <a:rPr lang="en-US" altLang="zh-CN" dirty="0"/>
              <a:t>Calendar</a:t>
            </a:r>
            <a:r>
              <a:rPr lang="zh-CN" altLang="en-US" dirty="0"/>
              <a:t>对象，然后调用其相应的方法，具体示例如下：</a:t>
            </a:r>
          </a:p>
          <a:p>
            <a:pPr lvl="1"/>
            <a:endParaRPr lang="zh-CN" altLang="en-US" dirty="0"/>
          </a:p>
        </p:txBody>
      </p:sp>
      <p:pic>
        <p:nvPicPr>
          <p:cNvPr id="143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763" y="4185444"/>
            <a:ext cx="556736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143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794" y="4588669"/>
            <a:ext cx="613410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7"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26620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noChangeArrowheads="1"/>
          </p:cNvSpPr>
          <p:nvPr>
            <p:ph idx="1"/>
          </p:nvPr>
        </p:nvSpPr>
        <p:spPr bwMode="auto">
          <a:xfrm>
            <a:off x="1981200" y="1181100"/>
            <a:ext cx="7964488" cy="49355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Calender</a:t>
            </a:r>
            <a:r>
              <a:rPr lang="zh-CN" altLang="en-US" b="1" dirty="0">
                <a:solidFill>
                  <a:srgbClr val="009ED6"/>
                </a:solidFill>
              </a:rPr>
              <a:t>类</a:t>
            </a:r>
            <a:endParaRPr lang="en-US" altLang="zh-CN" b="1" dirty="0">
              <a:solidFill>
                <a:srgbClr val="009ED6"/>
              </a:solidFill>
            </a:endParaRPr>
          </a:p>
        </p:txBody>
      </p:sp>
      <p:pic>
        <p:nvPicPr>
          <p:cNvPr id="870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914"/>
          <a:stretch/>
        </p:blipFill>
        <p:spPr bwMode="auto">
          <a:xfrm>
            <a:off x="2890839" y="1865313"/>
            <a:ext cx="6405034" cy="288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7" name="圆角矩形标注 6"/>
          <p:cNvSpPr/>
          <p:nvPr/>
        </p:nvSpPr>
        <p:spPr bwMode="auto">
          <a:xfrm>
            <a:off x="2368288" y="4936993"/>
            <a:ext cx="7450136" cy="671073"/>
          </a:xfrm>
          <a:prstGeom prst="wedgeRoundRectCallout">
            <a:avLst>
              <a:gd name="adj1" fmla="val -23963"/>
              <a:gd name="adj2" fmla="val -49165"/>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p>
            <a:pPr>
              <a:defRPr/>
            </a:pPr>
            <a:r>
              <a:rPr lang="zh-CN" altLang="en-US" b="1" dirty="0">
                <a:solidFill>
                  <a:srgbClr val="FF0000"/>
                </a:solidFill>
                <a:latin typeface="Arial" charset="0"/>
              </a:rPr>
              <a:t>注意</a:t>
            </a:r>
            <a:r>
              <a:rPr lang="zh-CN" altLang="en-US" b="1" dirty="0">
                <a:latin typeface="Arial" charset="0"/>
              </a:rPr>
              <a:t>：获取的</a:t>
            </a:r>
            <a:r>
              <a:rPr lang="en-US" b="1" dirty="0" err="1">
                <a:latin typeface="Arial" charset="0"/>
              </a:rPr>
              <a:t>Calendar.MONTH</a:t>
            </a:r>
            <a:r>
              <a:rPr lang="zh-CN" altLang="en-US" b="1" dirty="0">
                <a:latin typeface="Arial" charset="0"/>
              </a:rPr>
              <a:t>字段值需要加</a:t>
            </a:r>
            <a:r>
              <a:rPr lang="en-US" b="1" dirty="0">
                <a:latin typeface="Arial" charset="0"/>
              </a:rPr>
              <a:t>1</a:t>
            </a:r>
            <a:r>
              <a:rPr lang="zh-CN" altLang="en-US" b="1" dirty="0">
                <a:latin typeface="Arial" charset="0"/>
              </a:rPr>
              <a:t>才表示当前时间的月份。</a:t>
            </a:r>
          </a:p>
        </p:txBody>
      </p:sp>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88877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2"/>
          <p:cNvSpPr>
            <a:spLocks noGrp="1" noChangeArrowheads="1"/>
          </p:cNvSpPr>
          <p:nvPr>
            <p:ph idx="1"/>
          </p:nvPr>
        </p:nvSpPr>
        <p:spPr bwMode="auto">
          <a:xfrm>
            <a:off x="1981200" y="1066801"/>
            <a:ext cx="7964488" cy="5059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Calender</a:t>
            </a:r>
            <a:r>
              <a:rPr lang="zh-CN" altLang="en-US" b="1" dirty="0">
                <a:solidFill>
                  <a:srgbClr val="009ED6"/>
                </a:solidFill>
              </a:rPr>
              <a:t>类</a:t>
            </a:r>
            <a:endParaRPr lang="en-US" altLang="zh-CN" b="1" dirty="0">
              <a:solidFill>
                <a:srgbClr val="009ED6"/>
              </a:solidFill>
            </a:endParaRPr>
          </a:p>
          <a:p>
            <a:pPr lvl="1"/>
            <a:r>
              <a:rPr lang="zh-CN" altLang="en-US" dirty="0"/>
              <a:t>调用</a:t>
            </a:r>
            <a:r>
              <a:rPr lang="en-US" altLang="zh-CN" dirty="0"/>
              <a:t>Calendar</a:t>
            </a:r>
            <a:r>
              <a:rPr lang="zh-CN" altLang="en-US" dirty="0"/>
              <a:t>类的</a:t>
            </a:r>
            <a:r>
              <a:rPr lang="en-US" altLang="zh-CN" dirty="0"/>
              <a:t>set()</a:t>
            </a:r>
            <a:r>
              <a:rPr lang="zh-CN" altLang="en-US" dirty="0"/>
              <a:t>和</a:t>
            </a:r>
            <a:r>
              <a:rPr lang="en-US" altLang="zh-CN" dirty="0"/>
              <a:t>add()</a:t>
            </a:r>
            <a:r>
              <a:rPr lang="zh-CN" altLang="en-US" dirty="0"/>
              <a:t>方法。</a:t>
            </a:r>
          </a:p>
        </p:txBody>
      </p:sp>
      <p:pic>
        <p:nvPicPr>
          <p:cNvPr id="880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6420"/>
          <a:stretch/>
        </p:blipFill>
        <p:spPr bwMode="auto">
          <a:xfrm>
            <a:off x="3333750" y="2286000"/>
            <a:ext cx="6134100"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88067"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338" y="4896001"/>
            <a:ext cx="5726556" cy="1015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3501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0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2"/>
          <p:cNvSpPr>
            <a:spLocks noGrp="1" noChangeArrowheads="1"/>
          </p:cNvSpPr>
          <p:nvPr>
            <p:ph idx="1"/>
          </p:nvPr>
        </p:nvSpPr>
        <p:spPr bwMode="auto">
          <a:xfrm>
            <a:off x="1962150" y="1162050"/>
            <a:ext cx="7964488" cy="4048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DateFormat</a:t>
            </a:r>
            <a:r>
              <a:rPr lang="zh-CN" altLang="en-US" b="1" dirty="0">
                <a:solidFill>
                  <a:srgbClr val="009ED6"/>
                </a:solidFill>
              </a:rPr>
              <a:t>类</a:t>
            </a:r>
            <a:endParaRPr lang="en-US" altLang="zh-CN" b="1" dirty="0">
              <a:solidFill>
                <a:srgbClr val="009ED6"/>
              </a:solidFill>
            </a:endParaRPr>
          </a:p>
          <a:p>
            <a:pPr lvl="1">
              <a:lnSpc>
                <a:spcPct val="100000"/>
              </a:lnSpc>
            </a:pPr>
            <a:r>
              <a:rPr lang="zh-CN" altLang="en-US" sz="1800" dirty="0"/>
              <a:t>如果要将</a:t>
            </a:r>
            <a:r>
              <a:rPr lang="en-US" altLang="zh-CN" sz="1800" dirty="0"/>
              <a:t>Date</a:t>
            </a:r>
            <a:r>
              <a:rPr lang="zh-CN" altLang="en-US" sz="1800" dirty="0"/>
              <a:t>对象表示的日期以指定的格式输出，就需要用到</a:t>
            </a:r>
            <a:r>
              <a:rPr lang="en-US" altLang="zh-CN" sz="1800" dirty="0" err="1"/>
              <a:t>DateFormat</a:t>
            </a:r>
            <a:r>
              <a:rPr lang="zh-CN" altLang="en-US" sz="1800" dirty="0"/>
              <a:t>类。</a:t>
            </a:r>
            <a:r>
              <a:rPr lang="en-US" altLang="zh-CN" sz="1800" dirty="0" err="1"/>
              <a:t>DateFormat</a:t>
            </a:r>
            <a:r>
              <a:rPr lang="zh-CN" altLang="en-US" sz="1800" dirty="0"/>
              <a:t>类专门用于将日期格式化为字符串或者将用特定格式显示的日期字符串转换成一个</a:t>
            </a:r>
            <a:r>
              <a:rPr lang="en-US" altLang="zh-CN" sz="1800" dirty="0"/>
              <a:t>Date</a:t>
            </a:r>
            <a:r>
              <a:rPr lang="zh-CN" altLang="en-US" sz="1800" dirty="0"/>
              <a:t>对象。</a:t>
            </a:r>
            <a:r>
              <a:rPr lang="en-US" altLang="zh-CN" sz="1800" dirty="0" err="1"/>
              <a:t>DateFormat</a:t>
            </a:r>
            <a:r>
              <a:rPr lang="zh-CN" altLang="en-US" sz="1800" dirty="0"/>
              <a:t>是抽象类，不能被直接实例化，但它提供了静态方法，通过这些方法可以获取</a:t>
            </a:r>
            <a:r>
              <a:rPr lang="en-US" altLang="zh-CN" sz="1800" dirty="0" err="1"/>
              <a:t>DateFormat</a:t>
            </a:r>
            <a:r>
              <a:rPr lang="zh-CN" altLang="en-US" sz="1800" dirty="0"/>
              <a:t>类的实例对象，并调用其它相应的方法进行操作。</a:t>
            </a:r>
          </a:p>
        </p:txBody>
      </p:sp>
      <p:sp>
        <p:nvSpPr>
          <p:cNvPr id="7" name="圆角矩形标注 6"/>
          <p:cNvSpPr/>
          <p:nvPr/>
        </p:nvSpPr>
        <p:spPr bwMode="auto">
          <a:xfrm>
            <a:off x="1879601" y="4978250"/>
            <a:ext cx="8655050" cy="1795463"/>
          </a:xfrm>
          <a:prstGeom prst="wedgeRoundRectCallout">
            <a:avLst>
              <a:gd name="adj1" fmla="val -23963"/>
              <a:gd name="adj2" fmla="val -49165"/>
              <a:gd name="adj3" fmla="val 16667"/>
            </a:avLst>
          </a:prstGeom>
          <a:solidFill>
            <a:srgbClr val="A3D3FF"/>
          </a:solidFill>
          <a:ln w="28575" cap="flat" cmpd="sng" algn="ctr">
            <a:noFill/>
            <a:prstDash val="solid"/>
            <a:round/>
            <a:headEnd type="none" w="med" len="med"/>
            <a:tailEnd type="none" w="med" len="med"/>
          </a:ln>
          <a:effectLst>
            <a:outerShdw blurRad="50800" dist="38100" dir="5400000" algn="t" rotWithShape="0">
              <a:prstClr val="black">
                <a:alpha val="40000"/>
              </a:prstClr>
            </a:outerShdw>
          </a:effectLst>
        </p:spPr>
        <p:txBody>
          <a:bodyPr anchor="ctr"/>
          <a:lstStyle/>
          <a:p>
            <a:pPr>
              <a:defRPr/>
            </a:pPr>
            <a:r>
              <a:rPr lang="zh-CN" altLang="en-US" dirty="0">
                <a:latin typeface="Arial" charset="0"/>
              </a:rPr>
              <a:t>表中列出了</a:t>
            </a:r>
            <a:r>
              <a:rPr lang="en-US" dirty="0" err="1">
                <a:latin typeface="Arial" charset="0"/>
              </a:rPr>
              <a:t>DateFormat</a:t>
            </a:r>
            <a:r>
              <a:rPr lang="zh-CN" altLang="en-US" dirty="0">
                <a:latin typeface="Arial" charset="0"/>
              </a:rPr>
              <a:t>类的四个静态方法，这四个方法都是用于获得</a:t>
            </a:r>
            <a:r>
              <a:rPr lang="en-US" dirty="0" err="1">
                <a:latin typeface="Arial" charset="0"/>
              </a:rPr>
              <a:t>DateFormat</a:t>
            </a:r>
            <a:r>
              <a:rPr lang="zh-CN" altLang="en-US" dirty="0">
                <a:latin typeface="Arial" charset="0"/>
              </a:rPr>
              <a:t>类的实例对象，每种方法返回的对象都具有不同的作用，它们可以分别对日期或者时间部分进行格式化。在</a:t>
            </a:r>
            <a:r>
              <a:rPr lang="en-US" dirty="0" err="1">
                <a:latin typeface="Arial" charset="0"/>
              </a:rPr>
              <a:t>DateFormat</a:t>
            </a:r>
            <a:r>
              <a:rPr lang="zh-CN" altLang="en-US" dirty="0">
                <a:latin typeface="Arial" charset="0"/>
              </a:rPr>
              <a:t>类中定义了四个常量值用于作为参数传递给这些方法，其中包括</a:t>
            </a:r>
            <a:r>
              <a:rPr lang="en-US" dirty="0">
                <a:latin typeface="Arial" charset="0"/>
              </a:rPr>
              <a:t>FULL</a:t>
            </a:r>
            <a:r>
              <a:rPr lang="zh-CN" altLang="en-US" dirty="0">
                <a:latin typeface="Arial" charset="0"/>
              </a:rPr>
              <a:t>、</a:t>
            </a:r>
            <a:r>
              <a:rPr lang="en-US" dirty="0">
                <a:latin typeface="Arial" charset="0"/>
              </a:rPr>
              <a:t>LONG</a:t>
            </a:r>
            <a:r>
              <a:rPr lang="zh-CN" altLang="en-US" dirty="0">
                <a:latin typeface="Arial" charset="0"/>
              </a:rPr>
              <a:t>、</a:t>
            </a:r>
            <a:r>
              <a:rPr lang="en-US" dirty="0">
                <a:latin typeface="Arial" charset="0"/>
              </a:rPr>
              <a:t>MEDIUM</a:t>
            </a:r>
            <a:r>
              <a:rPr lang="zh-CN" altLang="en-US" dirty="0">
                <a:latin typeface="Arial" charset="0"/>
              </a:rPr>
              <a:t>和</a:t>
            </a:r>
            <a:r>
              <a:rPr lang="en-US" dirty="0">
                <a:latin typeface="Arial" charset="0"/>
              </a:rPr>
              <a:t>SHORT</a:t>
            </a:r>
            <a:r>
              <a:rPr lang="zh-CN" altLang="en-US" dirty="0">
                <a:latin typeface="Arial" charset="0"/>
              </a:rPr>
              <a:t>。</a:t>
            </a:r>
            <a:r>
              <a:rPr lang="en-US" dirty="0">
                <a:latin typeface="Arial" charset="0"/>
              </a:rPr>
              <a:t>FULL</a:t>
            </a:r>
            <a:r>
              <a:rPr lang="zh-CN" altLang="en-US" dirty="0">
                <a:latin typeface="Arial" charset="0"/>
              </a:rPr>
              <a:t>常量用于表示完整格式，</a:t>
            </a:r>
            <a:r>
              <a:rPr lang="en-US" dirty="0">
                <a:latin typeface="Arial" charset="0"/>
              </a:rPr>
              <a:t>LONG</a:t>
            </a:r>
            <a:r>
              <a:rPr lang="zh-CN" altLang="en-US" dirty="0">
                <a:latin typeface="Arial" charset="0"/>
              </a:rPr>
              <a:t>常量用于表示长格式，</a:t>
            </a:r>
            <a:r>
              <a:rPr lang="en-US" dirty="0">
                <a:latin typeface="Arial" charset="0"/>
              </a:rPr>
              <a:t>MEDIUM</a:t>
            </a:r>
            <a:r>
              <a:rPr lang="zh-CN" altLang="en-US" dirty="0">
                <a:latin typeface="Arial" charset="0"/>
              </a:rPr>
              <a:t>常量用于表示普通格式，</a:t>
            </a:r>
            <a:r>
              <a:rPr lang="en-US" dirty="0">
                <a:latin typeface="Arial" charset="0"/>
              </a:rPr>
              <a:t>SHORT</a:t>
            </a:r>
            <a:r>
              <a:rPr lang="zh-CN" altLang="en-US" dirty="0">
                <a:latin typeface="Arial" charset="0"/>
              </a:rPr>
              <a:t>常量用于表示短格式。</a:t>
            </a:r>
            <a:endParaRPr lang="zh-CN" altLang="en-US" b="1" dirty="0">
              <a:latin typeface="Arial" charset="0"/>
            </a:endParaRPr>
          </a:p>
        </p:txBody>
      </p:sp>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3056" y="3235175"/>
            <a:ext cx="61626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95565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90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noChangeArrowheads="1"/>
          </p:cNvSpPr>
          <p:nvPr>
            <p:ph idx="1"/>
          </p:nvPr>
        </p:nvSpPr>
        <p:spPr bwMode="auto">
          <a:xfrm>
            <a:off x="1981200" y="1066801"/>
            <a:ext cx="7964488" cy="5059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DateFormat</a:t>
            </a:r>
            <a:r>
              <a:rPr lang="zh-CN" altLang="en-US" b="1" dirty="0">
                <a:solidFill>
                  <a:srgbClr val="009ED6"/>
                </a:solidFill>
              </a:rPr>
              <a:t>类</a:t>
            </a:r>
            <a:endParaRPr lang="en-US" altLang="zh-CN" b="1" dirty="0">
              <a:solidFill>
                <a:srgbClr val="009ED6"/>
              </a:solidFill>
            </a:endParaRPr>
          </a:p>
        </p:txBody>
      </p:sp>
      <p:pic>
        <p:nvPicPr>
          <p:cNvPr id="901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564"/>
          <a:stretch/>
        </p:blipFill>
        <p:spPr bwMode="auto">
          <a:xfrm>
            <a:off x="2739230" y="1620837"/>
            <a:ext cx="6448425" cy="457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90115"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732" y="3278188"/>
            <a:ext cx="6718773" cy="183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2056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01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0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noChangeArrowheads="1"/>
          </p:cNvSpPr>
          <p:nvPr>
            <p:ph idx="1"/>
          </p:nvPr>
        </p:nvSpPr>
        <p:spPr bwMode="auto">
          <a:xfrm>
            <a:off x="1981200" y="1066801"/>
            <a:ext cx="7964488" cy="5059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DateFormat</a:t>
            </a:r>
            <a:r>
              <a:rPr lang="zh-CN" altLang="en-US" b="1" dirty="0">
                <a:solidFill>
                  <a:srgbClr val="009ED6"/>
                </a:solidFill>
              </a:rPr>
              <a:t>类</a:t>
            </a:r>
            <a:endParaRPr lang="en-US" altLang="zh-CN" b="1" dirty="0">
              <a:solidFill>
                <a:srgbClr val="009ED6"/>
              </a:solidFill>
            </a:endParaRPr>
          </a:p>
          <a:p>
            <a:pPr lvl="1">
              <a:lnSpc>
                <a:spcPct val="120000"/>
              </a:lnSpc>
            </a:pPr>
            <a:r>
              <a:rPr lang="en-US" altLang="zh-CN" sz="1800" dirty="0" err="1"/>
              <a:t>DateFormat</a:t>
            </a:r>
            <a:r>
              <a:rPr lang="zh-CN" altLang="en-US" sz="1800" dirty="0"/>
              <a:t>中还提供了一个</a:t>
            </a:r>
            <a:r>
              <a:rPr lang="en-US" altLang="zh-CN" sz="1800" dirty="0"/>
              <a:t>parse(String source)</a:t>
            </a:r>
            <a:r>
              <a:rPr lang="zh-CN" altLang="en-US" sz="1800" dirty="0"/>
              <a:t>方法，能够将一个字符串解析成</a:t>
            </a:r>
            <a:r>
              <a:rPr lang="en-US" altLang="zh-CN" sz="1800" dirty="0"/>
              <a:t>Date</a:t>
            </a:r>
            <a:r>
              <a:rPr lang="zh-CN" altLang="en-US" sz="1800" dirty="0"/>
              <a:t>对象，但是它要求字符串必须符合日期</a:t>
            </a:r>
            <a:r>
              <a:rPr lang="en-US" altLang="zh-CN" sz="1800" dirty="0"/>
              <a:t>/</a:t>
            </a:r>
            <a:r>
              <a:rPr lang="zh-CN" altLang="en-US" sz="1800" dirty="0"/>
              <a:t>时间的格式要求，否则会抛出异常。</a:t>
            </a:r>
          </a:p>
        </p:txBody>
      </p:sp>
      <p:pic>
        <p:nvPicPr>
          <p:cNvPr id="911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9012"/>
          <a:stretch/>
        </p:blipFill>
        <p:spPr bwMode="auto">
          <a:xfrm>
            <a:off x="2522539" y="2705743"/>
            <a:ext cx="7423149" cy="2185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91139"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4573" y="5038725"/>
            <a:ext cx="5437741" cy="108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38172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11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1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2"/>
          <p:cNvSpPr>
            <a:spLocks noGrp="1" noChangeArrowheads="1"/>
          </p:cNvSpPr>
          <p:nvPr>
            <p:ph idx="1"/>
          </p:nvPr>
        </p:nvSpPr>
        <p:spPr bwMode="auto">
          <a:xfrm>
            <a:off x="1981200" y="1066802"/>
            <a:ext cx="7964488" cy="42791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buNone/>
            </a:pPr>
            <a:r>
              <a:rPr lang="en-US" altLang="zh-CN" b="1" dirty="0" err="1">
                <a:solidFill>
                  <a:srgbClr val="009ED6"/>
                </a:solidFill>
              </a:rPr>
              <a:t>SimpleDateFormat</a:t>
            </a:r>
            <a:endParaRPr lang="en-US" altLang="zh-CN" b="1" dirty="0">
              <a:solidFill>
                <a:srgbClr val="009ED6"/>
              </a:solidFill>
            </a:endParaRPr>
          </a:p>
          <a:p>
            <a:pPr lvl="1">
              <a:lnSpc>
                <a:spcPct val="120000"/>
              </a:lnSpc>
            </a:pPr>
            <a:r>
              <a:rPr lang="en-US" altLang="zh-CN" sz="1800" dirty="0" err="1"/>
              <a:t>SimpleDateFormat</a:t>
            </a:r>
            <a:r>
              <a:rPr lang="zh-CN" altLang="en-US" sz="1800" dirty="0"/>
              <a:t>类，该类是</a:t>
            </a:r>
            <a:r>
              <a:rPr lang="en-US" altLang="zh-CN" sz="1800" dirty="0" err="1"/>
              <a:t>DateFormat</a:t>
            </a:r>
            <a:r>
              <a:rPr lang="zh-CN" altLang="en-US" sz="1800" dirty="0"/>
              <a:t>类的子类。</a:t>
            </a:r>
            <a:r>
              <a:rPr lang="en-US" altLang="zh-CN" sz="1800" dirty="0" err="1"/>
              <a:t>SimpleDateFormat</a:t>
            </a:r>
            <a:r>
              <a:rPr lang="zh-CN" altLang="en-US" sz="1800" dirty="0"/>
              <a:t>类可以使用</a:t>
            </a:r>
            <a:r>
              <a:rPr lang="en-US" altLang="zh-CN" sz="1800" dirty="0"/>
              <a:t>new</a:t>
            </a:r>
            <a:r>
              <a:rPr lang="zh-CN" altLang="en-US" sz="1800" dirty="0"/>
              <a:t>关键字创建实例对象，它的构造方法接收一个格式字符串参数，表示日期格式模板。</a:t>
            </a:r>
            <a:endParaRPr lang="en-US" altLang="zh-CN" sz="1800" dirty="0"/>
          </a:p>
          <a:p>
            <a:pPr lvl="1"/>
            <a:endParaRPr lang="zh-CN" altLang="en-US" sz="1800" dirty="0"/>
          </a:p>
        </p:txBody>
      </p:sp>
      <p:pic>
        <p:nvPicPr>
          <p:cNvPr id="921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9267"/>
          <a:stretch/>
        </p:blipFill>
        <p:spPr bwMode="auto">
          <a:xfrm>
            <a:off x="2688431" y="2762647"/>
            <a:ext cx="7175825" cy="2515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9216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019" y="5345907"/>
            <a:ext cx="5494260" cy="1121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
          <p:cNvSpPr txBox="1"/>
          <p:nvPr/>
        </p:nvSpPr>
        <p:spPr>
          <a:xfrm>
            <a:off x="2322549" y="278675"/>
            <a:ext cx="6116601"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162507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22549" y="278675"/>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 </a:t>
            </a:r>
            <a:r>
              <a:rPr lang="zh-CN" altLang="en-US" sz="3200" b="1" dirty="0">
                <a:solidFill>
                  <a:srgbClr val="1353A2"/>
                </a:solidFill>
                <a:latin typeface="微软雅黑" panose="020B0503020204020204" pitchFamily="34" charset="-122"/>
                <a:ea typeface="微软雅黑" panose="020B0503020204020204" pitchFamily="34" charset="-122"/>
              </a:rPr>
              <a:t>日期时间类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480819" y="1300480"/>
            <a:ext cx="10129520" cy="1869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在开发中经常需要处理日期和时间，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提供了一套专门用于处理日期时间的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API</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，在日期时间类中了包含</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类以及</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Period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类等，这些类都包含在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包中。</a:t>
            </a:r>
          </a:p>
        </p:txBody>
      </p:sp>
      <p:graphicFrame>
        <p:nvGraphicFramePr>
          <p:cNvPr id="3" name="表格 2"/>
          <p:cNvGraphicFramePr>
            <a:graphicFrameLocks noGrp="1"/>
          </p:cNvGraphicFramePr>
          <p:nvPr/>
        </p:nvGraphicFramePr>
        <p:xfrm>
          <a:off x="2621280" y="3180080"/>
          <a:ext cx="7631747" cy="2946400"/>
        </p:xfrm>
        <a:graphic>
          <a:graphicData uri="http://schemas.openxmlformats.org/drawingml/2006/table">
            <a:tbl>
              <a:tblPr firstRow="1" firstCol="1" bandRow="1">
                <a:tableStyleId>{5C22544A-7EE6-4342-B048-85BDC9FD1C3A}</a:tableStyleId>
              </a:tblPr>
              <a:tblGrid>
                <a:gridCol w="2242879">
                  <a:extLst>
                    <a:ext uri="{9D8B030D-6E8A-4147-A177-3AD203B41FA5}">
                      <a16:colId xmlns:a16="http://schemas.microsoft.com/office/drawing/2014/main" val="20000"/>
                    </a:ext>
                  </a:extLst>
                </a:gridCol>
                <a:gridCol w="5388868">
                  <a:extLst>
                    <a:ext uri="{9D8B030D-6E8A-4147-A177-3AD203B41FA5}">
                      <a16:colId xmlns:a16="http://schemas.microsoft.com/office/drawing/2014/main" val="20001"/>
                    </a:ext>
                  </a:extLst>
                </a:gridCol>
              </a:tblGrid>
              <a:tr h="368300">
                <a:tc>
                  <a:txBody>
                    <a:bodyPr/>
                    <a:lstStyle/>
                    <a:p>
                      <a:pPr indent="266700" algn="ctr">
                        <a:spcAft>
                          <a:spcPts val="0"/>
                        </a:spcAft>
                      </a:pPr>
                      <a:r>
                        <a:rPr lang="zh-CN" sz="1800">
                          <a:effectLst/>
                        </a:rPr>
                        <a:t>类的名称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68300">
                <a:tc>
                  <a:txBody>
                    <a:bodyPr/>
                    <a:lstStyle/>
                    <a:p>
                      <a:pPr indent="266700">
                        <a:spcAft>
                          <a:spcPts val="0"/>
                        </a:spcAft>
                      </a:pPr>
                      <a:r>
                        <a:rPr lang="en-US" sz="1800">
                          <a:effectLst/>
                        </a:rPr>
                        <a:t>Instant</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表示时刻，代表的是时间戳</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68300">
                <a:tc>
                  <a:txBody>
                    <a:bodyPr/>
                    <a:lstStyle/>
                    <a:p>
                      <a:pPr indent="266700">
                        <a:spcAft>
                          <a:spcPts val="0"/>
                        </a:spcAft>
                      </a:pPr>
                      <a:r>
                        <a:rPr lang="en-US" sz="1800">
                          <a:effectLst/>
                        </a:rPr>
                        <a:t>LocalDate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不包含具体时间的日期</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68300">
                <a:tc>
                  <a:txBody>
                    <a:bodyPr/>
                    <a:lstStyle/>
                    <a:p>
                      <a:pPr indent="266700">
                        <a:spcAft>
                          <a:spcPts val="0"/>
                        </a:spcAft>
                      </a:pPr>
                      <a:r>
                        <a:rPr lang="en-US" sz="1800">
                          <a:effectLst/>
                        </a:rPr>
                        <a:t>LocalTime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不含日期的时间</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368300">
                <a:tc>
                  <a:txBody>
                    <a:bodyPr/>
                    <a:lstStyle/>
                    <a:p>
                      <a:pPr indent="266700">
                        <a:spcAft>
                          <a:spcPts val="0"/>
                        </a:spcAft>
                      </a:pPr>
                      <a:r>
                        <a:rPr lang="en-US" sz="1800">
                          <a:effectLst/>
                        </a:rPr>
                        <a:t>LocalDateTime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包含了日期及时间</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368300">
                <a:tc>
                  <a:txBody>
                    <a:bodyPr/>
                    <a:lstStyle/>
                    <a:p>
                      <a:pPr indent="266700">
                        <a:spcAft>
                          <a:spcPts val="0"/>
                        </a:spcAft>
                      </a:pPr>
                      <a:r>
                        <a:rPr lang="en-US" sz="1800">
                          <a:effectLst/>
                        </a:rPr>
                        <a:t>Duration</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基于时间的值测量时间量</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68300">
                <a:tc>
                  <a:txBody>
                    <a:bodyPr/>
                    <a:lstStyle/>
                    <a:p>
                      <a:pPr indent="266700">
                        <a:spcAft>
                          <a:spcPts val="0"/>
                        </a:spcAft>
                      </a:pPr>
                      <a:r>
                        <a:rPr lang="en-US" sz="1800">
                          <a:effectLst/>
                        </a:rPr>
                        <a:t>Period</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计算日期时间差异，只能精确到年月日</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368300">
                <a:tc>
                  <a:txBody>
                    <a:bodyPr/>
                    <a:lstStyle/>
                    <a:p>
                      <a:pPr indent="266700">
                        <a:spcAft>
                          <a:spcPts val="0"/>
                        </a:spcAft>
                      </a:pPr>
                      <a:r>
                        <a:rPr lang="en-US" sz="1800">
                          <a:effectLst/>
                        </a:rPr>
                        <a:t>Clock</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dirty="0">
                          <a:effectLst/>
                        </a:rPr>
                        <a:t>时钟系统，用于查找当前时刻</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bl>
          </a:graphicData>
        </a:graphic>
      </p:graphicFrame>
      <p:sp>
        <p:nvSpPr>
          <p:cNvPr id="4" name="文本占位符 3"/>
          <p:cNvSpPr>
            <a:spLocks noGrp="1"/>
          </p:cNvSpPr>
          <p:nvPr>
            <p:ph type="body" sz="quarter" idx="10"/>
          </p:nvPr>
        </p:nvSpPr>
        <p:spPr/>
        <p:txBody>
          <a:bodyPr/>
          <a:lstStyle/>
          <a:p>
            <a:fld id="{EA91B0E9-0DFF-45A8-B6C1-44DE449D5F31}" type="slidenum">
              <a:rPr lang="zh-CN" altLang="en-US" smtClean="0"/>
              <a:t>78</a:t>
            </a:fld>
            <a:endParaRPr lang="zh-CN" altLang="en-US" dirty="0"/>
          </a:p>
        </p:txBody>
      </p:sp>
    </p:spTree>
    <p:custDataLst>
      <p:tags r:id="rId1"/>
    </p:custDataLst>
    <p:extLst>
      <p:ext uri="{BB962C8B-B14F-4D97-AF65-F5344CB8AC3E}">
        <p14:creationId xmlns:p14="http://schemas.microsoft.com/office/powerpoint/2010/main" val="37041600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22549" y="349945"/>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5.4.1 Instant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988819" y="1869440"/>
            <a:ext cx="5549901" cy="3048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类代表的是某个时间。其内部是由两个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字段组成，第一部分保存的是标准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计算时代（就是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1970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日开始）到现在的秒数，第二部分保存的是纳秒数。</a:t>
            </a:r>
          </a:p>
        </p:txBody>
      </p:sp>
      <p:pic>
        <p:nvPicPr>
          <p:cNvPr id="135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305" y="1869440"/>
            <a:ext cx="3001963" cy="341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7705DC56-6BD3-4E2A-92E8-8217AE26444E}" type="slidenum">
              <a:rPr lang="zh-CN" altLang="en-US" smtClean="0"/>
              <a:t>79</a:t>
            </a:fld>
            <a:endParaRPr lang="zh-CN" altLang="en-US" dirty="0"/>
          </a:p>
        </p:txBody>
      </p:sp>
    </p:spTree>
    <p:custDataLst>
      <p:tags r:id="rId1"/>
    </p:custDataLst>
    <p:extLst>
      <p:ext uri="{BB962C8B-B14F-4D97-AF65-F5344CB8AC3E}">
        <p14:creationId xmlns:p14="http://schemas.microsoft.com/office/powerpoint/2010/main" val="25897986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35170"/>
                                        </p:tgtEl>
                                        <p:attrNameLst>
                                          <p:attrName>style.visibility</p:attrName>
                                        </p:attrNameLst>
                                      </p:cBhvr>
                                      <p:to>
                                        <p:strVal val="visible"/>
                                      </p:to>
                                    </p:set>
                                    <p:animEffect transition="in" filter="fade">
                                      <p:cBhvr>
                                        <p:cTn id="11" dur="1000"/>
                                        <p:tgtEl>
                                          <p:spTgt spid="135170"/>
                                        </p:tgtEl>
                                      </p:cBhvr>
                                    </p:animEffect>
                                    <p:anim calcmode="lin" valueType="num">
                                      <p:cBhvr>
                                        <p:cTn id="12" dur="1000" fill="hold"/>
                                        <p:tgtEl>
                                          <p:spTgt spid="135170"/>
                                        </p:tgtEl>
                                        <p:attrNameLst>
                                          <p:attrName>ppt_x</p:attrName>
                                        </p:attrNameLst>
                                      </p:cBhvr>
                                      <p:tavLst>
                                        <p:tav tm="0">
                                          <p:val>
                                            <p:strVal val="#ppt_x"/>
                                          </p:val>
                                        </p:tav>
                                        <p:tav tm="100000">
                                          <p:val>
                                            <p:strVal val="#ppt_x"/>
                                          </p:val>
                                        </p:tav>
                                      </p:tavLst>
                                    </p:anim>
                                    <p:anim calcmode="lin" valueType="num">
                                      <p:cBhvr>
                                        <p:cTn id="13" dur="1000" fill="hold"/>
                                        <p:tgtEl>
                                          <p:spTgt spid="135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22550" y="334432"/>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5.4.1 Instant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extLst>
              <p:ext uri="{D42A27DB-BD31-4B8C-83A1-F6EECF244321}">
                <p14:modId xmlns:p14="http://schemas.microsoft.com/office/powerpoint/2010/main" val="2467941334"/>
              </p:ext>
            </p:extLst>
          </p:nvPr>
        </p:nvGraphicFramePr>
        <p:xfrm>
          <a:off x="2448556" y="1554480"/>
          <a:ext cx="8473440" cy="4470401"/>
        </p:xfrm>
        <a:graphic>
          <a:graphicData uri="http://schemas.openxmlformats.org/drawingml/2006/table">
            <a:tbl>
              <a:tblPr firstRow="1" firstCol="1" bandRow="1">
                <a:tableStyleId>{5C22544A-7EE6-4342-B048-85BDC9FD1C3A}</a:tableStyleId>
              </a:tblPr>
              <a:tblGrid>
                <a:gridCol w="3844422">
                  <a:extLst>
                    <a:ext uri="{9D8B030D-6E8A-4147-A177-3AD203B41FA5}">
                      <a16:colId xmlns:a16="http://schemas.microsoft.com/office/drawing/2014/main" val="20000"/>
                    </a:ext>
                  </a:extLst>
                </a:gridCol>
                <a:gridCol w="4629018">
                  <a:extLst>
                    <a:ext uri="{9D8B030D-6E8A-4147-A177-3AD203B41FA5}">
                      <a16:colId xmlns:a16="http://schemas.microsoft.com/office/drawing/2014/main" val="20001"/>
                    </a:ext>
                  </a:extLst>
                </a:gridCol>
              </a:tblGrid>
              <a:tr h="319314">
                <a:tc>
                  <a:txBody>
                    <a:bodyPr/>
                    <a:lstStyle/>
                    <a:p>
                      <a:pPr indent="266700"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19314">
                <a:tc>
                  <a:txBody>
                    <a:bodyPr/>
                    <a:lstStyle/>
                    <a:p>
                      <a:pPr indent="266700">
                        <a:spcAft>
                          <a:spcPts val="0"/>
                        </a:spcAft>
                      </a:pPr>
                      <a:r>
                        <a:rPr lang="en-US" sz="1600">
                          <a:effectLst/>
                        </a:rPr>
                        <a:t>now()</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从系统时钟获取当前瞬时</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19314">
                <a:tc>
                  <a:txBody>
                    <a:bodyPr/>
                    <a:lstStyle/>
                    <a:p>
                      <a:pPr indent="266700">
                        <a:spcAft>
                          <a:spcPts val="0"/>
                        </a:spcAft>
                      </a:pPr>
                      <a:r>
                        <a:rPr lang="en-US" sz="1600">
                          <a:effectLst/>
                        </a:rPr>
                        <a:t>now(Clock clock)</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从指定时钟获取当前瞬时</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638629">
                <a:tc>
                  <a:txBody>
                    <a:bodyPr/>
                    <a:lstStyle/>
                    <a:p>
                      <a:pPr indent="266700">
                        <a:spcAft>
                          <a:spcPts val="0"/>
                        </a:spcAft>
                      </a:pPr>
                      <a:r>
                        <a:rPr lang="en-US" sz="1600" dirty="0" err="1">
                          <a:effectLst/>
                        </a:rPr>
                        <a:t>ofEpochSecond</a:t>
                      </a:r>
                      <a:r>
                        <a:rPr lang="en-US" sz="1600" dirty="0">
                          <a:effectLst/>
                        </a:rPr>
                        <a:t>(long </a:t>
                      </a:r>
                      <a:r>
                        <a:rPr lang="en-US" sz="1600" dirty="0" err="1">
                          <a:effectLst/>
                        </a:rPr>
                        <a:t>epochSecond</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使用从自标准</a:t>
                      </a:r>
                      <a:r>
                        <a:rPr lang="en-US" sz="1600">
                          <a:effectLst/>
                        </a:rPr>
                        <a:t>Java</a:t>
                      </a:r>
                      <a:r>
                        <a:rPr lang="zh-CN" sz="1600">
                          <a:effectLst/>
                        </a:rPr>
                        <a:t>计算时代开始的秒数获得一个</a:t>
                      </a:r>
                      <a:r>
                        <a:rPr lang="en-US" sz="1600">
                          <a:effectLst/>
                        </a:rPr>
                        <a:t>Instant</a:t>
                      </a:r>
                      <a:r>
                        <a:rPr lang="zh-CN" sz="1600">
                          <a:effectLst/>
                        </a:rPr>
                        <a:t>的实例。</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638629">
                <a:tc>
                  <a:txBody>
                    <a:bodyPr/>
                    <a:lstStyle/>
                    <a:p>
                      <a:pPr indent="266700">
                        <a:spcAft>
                          <a:spcPts val="0"/>
                        </a:spcAft>
                      </a:pPr>
                      <a:r>
                        <a:rPr lang="en-US" sz="1600" dirty="0" err="1">
                          <a:effectLst/>
                        </a:rPr>
                        <a:t>ofEpochMilli</a:t>
                      </a:r>
                      <a:r>
                        <a:rPr lang="en-US" sz="1600" dirty="0">
                          <a:effectLst/>
                        </a:rPr>
                        <a:t>(long </a:t>
                      </a:r>
                      <a:r>
                        <a:rPr lang="en-US" sz="1600" dirty="0" err="1">
                          <a:effectLst/>
                        </a:rPr>
                        <a:t>epochMilli</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使用从自标准</a:t>
                      </a:r>
                      <a:r>
                        <a:rPr lang="en-US" sz="1600" dirty="0">
                          <a:effectLst/>
                        </a:rPr>
                        <a:t>Java</a:t>
                      </a:r>
                      <a:r>
                        <a:rPr lang="zh-CN" sz="1600" dirty="0">
                          <a:effectLst/>
                        </a:rPr>
                        <a:t>计算时代开始的秒数获得一个</a:t>
                      </a:r>
                      <a:r>
                        <a:rPr lang="en-US" sz="1600" dirty="0">
                          <a:effectLst/>
                        </a:rPr>
                        <a:t>Instant</a:t>
                      </a:r>
                      <a:r>
                        <a:rPr lang="zh-CN" sz="1600" dirty="0">
                          <a:effectLst/>
                        </a:rPr>
                        <a:t>的实例。</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38629">
                <a:tc>
                  <a:txBody>
                    <a:bodyPr/>
                    <a:lstStyle/>
                    <a:p>
                      <a:pPr indent="266700">
                        <a:spcAft>
                          <a:spcPts val="0"/>
                        </a:spcAft>
                      </a:pPr>
                      <a:r>
                        <a:rPr lang="en-US" sz="1600" dirty="0" err="1">
                          <a:effectLst/>
                        </a:rPr>
                        <a:t>getEpochSecond</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从</a:t>
                      </a:r>
                      <a:r>
                        <a:rPr lang="en-US" sz="1600">
                          <a:effectLst/>
                        </a:rPr>
                        <a:t>1970-01-01T00</a:t>
                      </a:r>
                      <a:r>
                        <a:rPr lang="zh-CN" sz="1600">
                          <a:effectLst/>
                        </a:rPr>
                        <a:t>：</a:t>
                      </a:r>
                      <a:r>
                        <a:rPr lang="en-US" sz="1600">
                          <a:effectLst/>
                        </a:rPr>
                        <a:t>00</a:t>
                      </a:r>
                      <a:r>
                        <a:rPr lang="zh-CN" sz="1600">
                          <a:effectLst/>
                        </a:rPr>
                        <a:t>：</a:t>
                      </a:r>
                      <a:r>
                        <a:rPr lang="en-US" sz="1600">
                          <a:effectLst/>
                        </a:rPr>
                        <a:t>00Z</a:t>
                      </a:r>
                      <a:r>
                        <a:rPr lang="zh-CN" sz="1600">
                          <a:effectLst/>
                        </a:rPr>
                        <a:t>的</a:t>
                      </a:r>
                      <a:r>
                        <a:rPr lang="en-US" sz="1600">
                          <a:effectLst/>
                        </a:rPr>
                        <a:t>Java</a:t>
                      </a:r>
                      <a:r>
                        <a:rPr lang="zh-CN" sz="1600">
                          <a:effectLst/>
                        </a:rPr>
                        <a:t>时代获取秒数。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19314">
                <a:tc>
                  <a:txBody>
                    <a:bodyPr/>
                    <a:lstStyle/>
                    <a:p>
                      <a:pPr indent="266700">
                        <a:spcAft>
                          <a:spcPts val="0"/>
                        </a:spcAft>
                      </a:pPr>
                      <a:r>
                        <a:rPr lang="en-US" sz="1600" dirty="0" err="1">
                          <a:effectLst/>
                        </a:rPr>
                        <a:t>getNano</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从第二个开始就从时间线获得纳秒的数量。</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638629">
                <a:tc>
                  <a:txBody>
                    <a:bodyPr/>
                    <a:lstStyle/>
                    <a:p>
                      <a:pPr indent="266700">
                        <a:spcAft>
                          <a:spcPts val="0"/>
                        </a:spcAft>
                      </a:pPr>
                      <a:r>
                        <a:rPr lang="en-US" sz="1600">
                          <a:effectLst/>
                        </a:rPr>
                        <a:t>parse(CharSequence text)</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从一个文本字符串（如</a:t>
                      </a:r>
                      <a:r>
                        <a:rPr lang="en-US" sz="1600">
                          <a:effectLst/>
                        </a:rPr>
                        <a:t>2007-12-03T10:15:30.00Z</a:t>
                      </a:r>
                      <a:r>
                        <a:rPr lang="zh-CN" sz="1600">
                          <a:effectLst/>
                        </a:rPr>
                        <a:t>获取一个</a:t>
                      </a:r>
                      <a:r>
                        <a:rPr lang="en-US" sz="1600">
                          <a:effectLst/>
                        </a:rPr>
                        <a:t>Instant</a:t>
                      </a:r>
                      <a:r>
                        <a:rPr lang="zh-CN" sz="1600">
                          <a:effectLst/>
                        </a:rPr>
                        <a:t>的实例。</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638629">
                <a:tc>
                  <a:txBody>
                    <a:bodyPr/>
                    <a:lstStyle/>
                    <a:p>
                      <a:pPr indent="266700">
                        <a:spcAft>
                          <a:spcPts val="0"/>
                        </a:spcAft>
                      </a:pPr>
                      <a:r>
                        <a:rPr lang="en-US" sz="1600">
                          <a:effectLst/>
                        </a:rPr>
                        <a:t>from(TemporalAccessor tenporal)</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从时间对象获取一个</a:t>
                      </a:r>
                      <a:r>
                        <a:rPr lang="en-US" sz="1600" dirty="0">
                          <a:effectLst/>
                        </a:rPr>
                        <a:t>Instant</a:t>
                      </a:r>
                      <a:r>
                        <a:rPr lang="zh-CN" sz="1600" dirty="0">
                          <a:effectLst/>
                        </a:rPr>
                        <a:t>的实例。</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bl>
          </a:graphicData>
        </a:graphic>
      </p:graphicFrame>
      <p:sp>
        <p:nvSpPr>
          <p:cNvPr id="4" name="文本占位符 3"/>
          <p:cNvSpPr>
            <a:spLocks noGrp="1"/>
          </p:cNvSpPr>
          <p:nvPr>
            <p:ph type="body" sz="quarter" idx="10"/>
          </p:nvPr>
        </p:nvSpPr>
        <p:spPr/>
        <p:txBody>
          <a:bodyPr/>
          <a:lstStyle/>
          <a:p>
            <a:fld id="{9EB74E41-396A-4009-9B61-5517187D52B0}" type="slidenum">
              <a:rPr lang="zh-CN" altLang="en-US" smtClean="0"/>
              <a:t>80</a:t>
            </a:fld>
            <a:endParaRPr lang="zh-CN" altLang="en-US" dirty="0"/>
          </a:p>
        </p:txBody>
      </p:sp>
    </p:spTree>
    <p:custDataLst>
      <p:tags r:id="rId1"/>
    </p:custDataLst>
    <p:extLst>
      <p:ext uri="{BB962C8B-B14F-4D97-AF65-F5344CB8AC3E}">
        <p14:creationId xmlns:p14="http://schemas.microsoft.com/office/powerpoint/2010/main" val="30132668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33700" y="369978"/>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5.4.1 Instant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84961" y="1300480"/>
            <a:ext cx="9824720" cy="65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类的使用。</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138680" y="2057400"/>
            <a:ext cx="8971280" cy="3759200"/>
            <a:chOff x="1940560" y="2143760"/>
            <a:chExt cx="8971280" cy="3759200"/>
          </a:xfrm>
        </p:grpSpPr>
        <p:pic>
          <p:nvPicPr>
            <p:cNvPr id="137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0560" y="2143760"/>
              <a:ext cx="8971280" cy="375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519681" y="2143760"/>
              <a:ext cx="8209279" cy="3586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java.time.Instant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Example20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Instant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时间戳类从</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1970 -01 - 01 00:00:00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截止到当前时间的毫秒值</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Instant now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Instant.now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从系统获取的当前时刻为：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Instant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Instant.ofEpochMilli</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(1000 * 60 * 60 * 24);</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计算机元年增加毫秒数后为：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D67D9D21-E4ED-4601-A9BA-51B834DF5603}" type="slidenum">
              <a:rPr lang="zh-CN" altLang="en-US" smtClean="0"/>
              <a:t>81</a:t>
            </a:fld>
            <a:endParaRPr lang="zh-CN" altLang="en-US" dirty="0"/>
          </a:p>
        </p:txBody>
      </p:sp>
    </p:spTree>
    <p:custDataLst>
      <p:tags r:id="rId1"/>
    </p:custDataLst>
    <p:extLst>
      <p:ext uri="{BB962C8B-B14F-4D97-AF65-F5344CB8AC3E}">
        <p14:creationId xmlns:p14="http://schemas.microsoft.com/office/powerpoint/2010/main" val="5540274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300978"/>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5.4.1 Instant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311398" y="1544320"/>
            <a:ext cx="8600442" cy="4348480"/>
            <a:chOff x="2311398" y="1544320"/>
            <a:chExt cx="8204202" cy="4348480"/>
          </a:xfrm>
        </p:grpSpPr>
        <p:pic>
          <p:nvPicPr>
            <p:cNvPr id="138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544320"/>
              <a:ext cx="8204202" cy="4348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824481" y="1625600"/>
              <a:ext cx="7305040" cy="4196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Instant instant1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Instant.ofEpochSecond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(60 * 60 * 24);</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计算机元年增加秒数后为：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"+instant1);</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获取的秒值为：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Instant.parse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("2021-11-08T10:15:30.44Z").</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getEpochSecond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获取的纳秒值为：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Instant.parse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(“2021-11-08T10:15:30.44Z").</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getNano</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从时间对象获取的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Instant.from</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6EA727C3-5F67-4BF9-ADE2-9E154AD07AF6}" type="slidenum">
              <a:rPr lang="zh-CN" altLang="en-US" smtClean="0"/>
              <a:t>82</a:t>
            </a:fld>
            <a:endParaRPr lang="zh-CN" altLang="en-US" dirty="0"/>
          </a:p>
        </p:txBody>
      </p:sp>
    </p:spTree>
    <p:custDataLst>
      <p:tags r:id="rId1"/>
    </p:custDataLst>
    <p:extLst>
      <p:ext uri="{BB962C8B-B14F-4D97-AF65-F5344CB8AC3E}">
        <p14:creationId xmlns:p14="http://schemas.microsoft.com/office/powerpoint/2010/main" val="39435880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5.4.1 Instant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84961" y="1513840"/>
            <a:ext cx="9824720" cy="65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056574" y="2366326"/>
            <a:ext cx="6310946" cy="2866073"/>
          </a:xfrm>
          <a:prstGeom prst="rect">
            <a:avLst/>
          </a:prstGeom>
        </p:spPr>
      </p:pic>
      <p:sp>
        <p:nvSpPr>
          <p:cNvPr id="3" name="文本占位符 2"/>
          <p:cNvSpPr>
            <a:spLocks noGrp="1"/>
          </p:cNvSpPr>
          <p:nvPr>
            <p:ph type="body" sz="quarter" idx="10"/>
          </p:nvPr>
        </p:nvSpPr>
        <p:spPr/>
        <p:txBody>
          <a:bodyPr/>
          <a:lstStyle/>
          <a:p>
            <a:fld id="{BF9C3BC0-720D-4575-B366-A34F3C66E1E6}" type="slidenum">
              <a:rPr lang="zh-CN" altLang="en-US" smtClean="0"/>
              <a:t>83</a:t>
            </a:fld>
            <a:endParaRPr lang="zh-CN" altLang="en-US" dirty="0"/>
          </a:p>
        </p:txBody>
      </p:sp>
    </p:spTree>
    <p:custDataLst>
      <p:tags r:id="rId1"/>
    </p:custDataLst>
    <p:extLst>
      <p:ext uri="{BB962C8B-B14F-4D97-AF65-F5344CB8AC3E}">
        <p14:creationId xmlns:p14="http://schemas.microsoft.com/office/powerpoint/2010/main" val="871878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5.4.2 </a:t>
            </a:r>
            <a:r>
              <a:rPr lang="en-US" altLang="zh-CN" sz="3200" b="1" dirty="0" err="1">
                <a:solidFill>
                  <a:srgbClr val="1353A2"/>
                </a:solidFill>
                <a:latin typeface="微软雅黑" panose="020B0503020204020204" pitchFamily="34" charset="-122"/>
                <a:ea typeface="微软雅黑" panose="020B0503020204020204" pitchFamily="34" charset="-122"/>
              </a:rPr>
              <a:t>LocalDate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13840" y="1422400"/>
            <a:ext cx="10017759" cy="4338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类仅用来表示日期。通常表示的是年份和月份，该类不能代表时间线上的即时信息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只是日期的描述。在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类中提供了两个获取日期对象的方法</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year,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month,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dayOfMonth</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具体代码如下所示：</a:t>
            </a: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从一年，一个月和一天获得一个</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的实例</a:t>
            </a: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date =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20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of</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(2020, 12, 12);</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从默认时区的系统时钟获取当前日期</a:t>
            </a:r>
          </a:p>
          <a:p>
            <a:pPr marL="0" indent="0" eaLnBrk="1" hangingPunct="1">
              <a:lnSpc>
                <a:spcPct val="150000"/>
              </a:lnSpc>
              <a:spcBef>
                <a:spcPct val="0"/>
              </a:spcBef>
              <a:buNone/>
              <a:defRPr/>
            </a:pP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now1 =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20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now</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141EC0C9-7AD2-403C-AF44-73EC72246C45}" type="slidenum">
              <a:rPr lang="zh-CN" altLang="en-US" smtClean="0"/>
              <a:t>84</a:t>
            </a:fld>
            <a:endParaRPr lang="zh-CN" altLang="en-US" dirty="0"/>
          </a:p>
        </p:txBody>
      </p:sp>
    </p:spTree>
    <p:custDataLst>
      <p:tags r:id="rId1"/>
    </p:custDataLst>
    <p:extLst>
      <p:ext uri="{BB962C8B-B14F-4D97-AF65-F5344CB8AC3E}">
        <p14:creationId xmlns:p14="http://schemas.microsoft.com/office/powerpoint/2010/main" val="18139170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5.4.2 </a:t>
            </a:r>
            <a:r>
              <a:rPr lang="en-US" altLang="zh-CN" sz="3200" b="1" dirty="0" err="1">
                <a:solidFill>
                  <a:srgbClr val="1353A2"/>
                </a:solidFill>
                <a:latin typeface="微软雅黑" panose="020B0503020204020204" pitchFamily="34" charset="-122"/>
                <a:ea typeface="微软雅黑" panose="020B0503020204020204" pitchFamily="34" charset="-122"/>
              </a:rPr>
              <a:t>LocalDate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13840" y="1361440"/>
            <a:ext cx="10017759" cy="822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还提供了日期格式化、增减年月日等一系列的常用方法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600960" y="2204720"/>
          <a:ext cx="8117840" cy="3840480"/>
        </p:xfrm>
        <a:graphic>
          <a:graphicData uri="http://schemas.openxmlformats.org/drawingml/2006/table">
            <a:tbl>
              <a:tblPr firstRow="1" firstCol="1" bandRow="1">
                <a:tableStyleId>{5C22544A-7EE6-4342-B048-85BDC9FD1C3A}</a:tableStyleId>
              </a:tblPr>
              <a:tblGrid>
                <a:gridCol w="4282577">
                  <a:extLst>
                    <a:ext uri="{9D8B030D-6E8A-4147-A177-3AD203B41FA5}">
                      <a16:colId xmlns:a16="http://schemas.microsoft.com/office/drawing/2014/main" val="20000"/>
                    </a:ext>
                  </a:extLst>
                </a:gridCol>
                <a:gridCol w="3835263">
                  <a:extLst>
                    <a:ext uri="{9D8B030D-6E8A-4147-A177-3AD203B41FA5}">
                      <a16:colId xmlns:a16="http://schemas.microsoft.com/office/drawing/2014/main" val="20001"/>
                    </a:ext>
                  </a:extLst>
                </a:gridCol>
              </a:tblGrid>
              <a:tr h="320040">
                <a:tc>
                  <a:txBody>
                    <a:bodyPr/>
                    <a:lstStyle/>
                    <a:p>
                      <a:pPr indent="266700"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20040">
                <a:tc>
                  <a:txBody>
                    <a:bodyPr/>
                    <a:lstStyle/>
                    <a:p>
                      <a:pPr marL="0" indent="266700" algn="l" defTabSz="914400" rtl="0" eaLnBrk="1" latinLnBrk="0" hangingPunct="1">
                        <a:spcAft>
                          <a:spcPts val="0"/>
                        </a:spcAft>
                      </a:pPr>
                      <a:r>
                        <a:rPr lang="en-US" sz="1600" b="1" kern="1200" dirty="0" err="1">
                          <a:solidFill>
                            <a:schemeClr val="lt1"/>
                          </a:solidFill>
                          <a:effectLst/>
                          <a:latin typeface="+mn-lt"/>
                          <a:ea typeface="+mn-ea"/>
                          <a:cs typeface="+mn-cs"/>
                        </a:rPr>
                        <a:t>getYear</a:t>
                      </a:r>
                      <a:r>
                        <a:rPr lang="en-US" sz="1600" b="1" kern="1200" dirty="0">
                          <a:solidFill>
                            <a:schemeClr val="lt1"/>
                          </a:solidFill>
                          <a:effectLst/>
                          <a:latin typeface="+mn-lt"/>
                          <a:ea typeface="+mn-ea"/>
                          <a:cs typeface="+mn-cs"/>
                        </a:rPr>
                        <a:t>()</a:t>
                      </a:r>
                      <a:endParaRPr lang="zh-CN" sz="1600" b="1" kern="1200" dirty="0">
                        <a:solidFill>
                          <a:schemeClr val="lt1"/>
                        </a:solidFill>
                        <a:effectLst/>
                        <a:latin typeface="+mn-lt"/>
                        <a:ea typeface="+mn-ea"/>
                        <a:cs typeface="+mn-cs"/>
                      </a:endParaRPr>
                    </a:p>
                  </a:txBody>
                  <a:tcPr marL="68580" marR="68580" marT="0" marB="0" anchor="ctr"/>
                </a:tc>
                <a:tc>
                  <a:txBody>
                    <a:bodyPr/>
                    <a:lstStyle/>
                    <a:p>
                      <a:pPr indent="266700">
                        <a:spcAft>
                          <a:spcPts val="0"/>
                        </a:spcAft>
                      </a:pPr>
                      <a:r>
                        <a:rPr lang="zh-CN" sz="1600" dirty="0">
                          <a:effectLst/>
                        </a:rPr>
                        <a:t>获取年份字段</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20040">
                <a:tc>
                  <a:txBody>
                    <a:bodyPr/>
                    <a:lstStyle/>
                    <a:p>
                      <a:pPr indent="266700">
                        <a:spcAft>
                          <a:spcPts val="0"/>
                        </a:spcAft>
                      </a:pPr>
                      <a:r>
                        <a:rPr lang="en-US" sz="1600" u="none" strike="noStrike" dirty="0" err="1">
                          <a:effectLst/>
                        </a:rPr>
                        <a:t>getMonth</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使用</a:t>
                      </a:r>
                      <a:r>
                        <a:rPr lang="en-US" sz="1600">
                          <a:effectLst/>
                        </a:rPr>
                        <a:t>Month</a:t>
                      </a:r>
                      <a:r>
                        <a:rPr lang="zh-CN" sz="1600">
                          <a:effectLst/>
                        </a:rPr>
                        <a:t>枚举获取月份字段</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20040">
                <a:tc>
                  <a:txBody>
                    <a:bodyPr/>
                    <a:lstStyle/>
                    <a:p>
                      <a:pPr indent="266700">
                        <a:spcAft>
                          <a:spcPts val="0"/>
                        </a:spcAft>
                      </a:pPr>
                      <a:r>
                        <a:rPr lang="en-US" sz="1600" u="none" strike="noStrike" dirty="0" err="1">
                          <a:effectLst/>
                        </a:rPr>
                        <a:t>getMonthValue</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将月份字段从</a:t>
                      </a:r>
                      <a:r>
                        <a:rPr lang="en-US" sz="1600">
                          <a:effectLst/>
                        </a:rPr>
                        <a:t>1</a:t>
                      </a:r>
                      <a:r>
                        <a:rPr lang="zh-CN" sz="1600">
                          <a:effectLst/>
                        </a:rPr>
                        <a:t>到</a:t>
                      </a:r>
                      <a:r>
                        <a:rPr lang="en-US" sz="1600">
                          <a:effectLst/>
                        </a:rPr>
                        <a:t>12</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320040">
                <a:tc>
                  <a:txBody>
                    <a:bodyPr/>
                    <a:lstStyle/>
                    <a:p>
                      <a:pPr indent="266700">
                        <a:spcAft>
                          <a:spcPts val="0"/>
                        </a:spcAft>
                      </a:pPr>
                      <a:r>
                        <a:rPr lang="en-US" sz="1600" u="none" strike="noStrike" dirty="0" err="1">
                          <a:effectLst/>
                        </a:rPr>
                        <a:t>getDayOfMonth</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获取当月第几天字段</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40080">
                <a:tc>
                  <a:txBody>
                    <a:bodyPr/>
                    <a:lstStyle/>
                    <a:p>
                      <a:pPr indent="266700">
                        <a:spcAft>
                          <a:spcPts val="0"/>
                        </a:spcAft>
                      </a:pPr>
                      <a:r>
                        <a:rPr lang="en-US" sz="1600" u="none" strike="noStrike" dirty="0">
                          <a:effectLst/>
                        </a:rPr>
                        <a:t>format</a:t>
                      </a:r>
                      <a:r>
                        <a:rPr lang="en-US" sz="1600" dirty="0">
                          <a:effectLst/>
                        </a:rPr>
                        <a:t>(</a:t>
                      </a:r>
                      <a:r>
                        <a:rPr lang="en-US" sz="1600" u="none" strike="noStrike" dirty="0" err="1">
                          <a:effectLst/>
                        </a:rPr>
                        <a:t>DateTimeFormatter</a:t>
                      </a:r>
                      <a:r>
                        <a:rPr lang="en-US" sz="1600" dirty="0">
                          <a:effectLst/>
                        </a:rPr>
                        <a:t> formatter)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使用指定的格式化程序格式化此日期。</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20040">
                <a:tc>
                  <a:txBody>
                    <a:bodyPr/>
                    <a:lstStyle/>
                    <a:p>
                      <a:pPr indent="266700">
                        <a:spcAft>
                          <a:spcPts val="0"/>
                        </a:spcAft>
                      </a:pPr>
                      <a:r>
                        <a:rPr lang="en-US" sz="1600" u="none" strike="noStrike" dirty="0" err="1">
                          <a:effectLst/>
                        </a:rPr>
                        <a:t>isBefore</a:t>
                      </a:r>
                      <a:r>
                        <a:rPr lang="en-US" sz="1600" dirty="0">
                          <a:effectLst/>
                        </a:rPr>
                        <a:t>(</a:t>
                      </a:r>
                      <a:r>
                        <a:rPr lang="en-US" sz="1600" u="none" strike="noStrike" dirty="0" err="1">
                          <a:effectLst/>
                        </a:rPr>
                        <a:t>ChronoLocalDate</a:t>
                      </a:r>
                      <a:r>
                        <a:rPr lang="en-US" sz="1600" dirty="0">
                          <a:effectLst/>
                        </a:rPr>
                        <a:t> other)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检查此日期是否在指定日期之前。</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320040">
                <a:tc>
                  <a:txBody>
                    <a:bodyPr/>
                    <a:lstStyle/>
                    <a:p>
                      <a:pPr indent="266700">
                        <a:spcAft>
                          <a:spcPts val="0"/>
                        </a:spcAft>
                      </a:pPr>
                      <a:r>
                        <a:rPr lang="en-US" sz="1600" u="none" strike="noStrike" dirty="0" err="1">
                          <a:effectLst/>
                        </a:rPr>
                        <a:t>isAfter</a:t>
                      </a:r>
                      <a:r>
                        <a:rPr lang="en-US" sz="1600" dirty="0">
                          <a:effectLst/>
                        </a:rPr>
                        <a:t>(</a:t>
                      </a:r>
                      <a:r>
                        <a:rPr lang="en-US" sz="1600" u="none" strike="noStrike" dirty="0" err="1">
                          <a:effectLst/>
                        </a:rPr>
                        <a:t>ChronoLocalDate</a:t>
                      </a:r>
                      <a:r>
                        <a:rPr lang="en-US" sz="1600" dirty="0">
                          <a:effectLst/>
                        </a:rPr>
                        <a:t> other)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检查此日期是否在指定日期之后。</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320040">
                <a:tc>
                  <a:txBody>
                    <a:bodyPr/>
                    <a:lstStyle/>
                    <a:p>
                      <a:pPr indent="266700">
                        <a:spcAft>
                          <a:spcPts val="0"/>
                        </a:spcAft>
                      </a:pPr>
                      <a:r>
                        <a:rPr lang="en-US" sz="1600" u="none" strike="noStrike" dirty="0" err="1">
                          <a:effectLst/>
                        </a:rPr>
                        <a:t>isEqual</a:t>
                      </a:r>
                      <a:r>
                        <a:rPr lang="en-US" sz="1600" dirty="0">
                          <a:effectLst/>
                        </a:rPr>
                        <a:t>(</a:t>
                      </a:r>
                      <a:r>
                        <a:rPr lang="en-US" sz="1600" u="none" strike="noStrike" dirty="0" err="1">
                          <a:effectLst/>
                        </a:rPr>
                        <a:t>ChronoLocalDate</a:t>
                      </a:r>
                      <a:r>
                        <a:rPr lang="en-US" sz="1600" dirty="0">
                          <a:effectLst/>
                        </a:rPr>
                        <a:t> other)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a:effectLst/>
                        </a:rPr>
                        <a:t>检查此日期是否等于指定的日期。</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r h="640080">
                <a:tc>
                  <a:txBody>
                    <a:bodyPr/>
                    <a:lstStyle/>
                    <a:p>
                      <a:pPr indent="266700">
                        <a:spcAft>
                          <a:spcPts val="0"/>
                        </a:spcAft>
                      </a:pPr>
                      <a:r>
                        <a:rPr lang="en-US" sz="1600" u="none" strike="noStrike" dirty="0" err="1">
                          <a:effectLst/>
                        </a:rPr>
                        <a:t>isLeapYear</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根据</a:t>
                      </a:r>
                      <a:r>
                        <a:rPr lang="en-US" sz="1600" dirty="0">
                          <a:effectLst/>
                        </a:rPr>
                        <a:t>ISO</a:t>
                      </a:r>
                      <a:r>
                        <a:rPr lang="zh-CN" sz="1600" dirty="0">
                          <a:effectLst/>
                        </a:rPr>
                        <a:t>培训日历系统规则，检查年份是否是闰年。</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9"/>
                  </a:ext>
                </a:extLst>
              </a:tr>
            </a:tbl>
          </a:graphicData>
        </a:graphic>
      </p:graphicFrame>
      <p:sp>
        <p:nvSpPr>
          <p:cNvPr id="4" name="文本占位符 3"/>
          <p:cNvSpPr>
            <a:spLocks noGrp="1"/>
          </p:cNvSpPr>
          <p:nvPr>
            <p:ph type="body" sz="quarter" idx="10"/>
          </p:nvPr>
        </p:nvSpPr>
        <p:spPr/>
        <p:txBody>
          <a:bodyPr/>
          <a:lstStyle/>
          <a:p>
            <a:fld id="{42FF0722-D181-4563-86C4-F16713E3503C}" type="slidenum">
              <a:rPr lang="zh-CN" altLang="en-US" smtClean="0"/>
              <a:t>85</a:t>
            </a:fld>
            <a:endParaRPr lang="zh-CN" altLang="en-US" dirty="0"/>
          </a:p>
        </p:txBody>
      </p:sp>
    </p:spTree>
    <p:custDataLst>
      <p:tags r:id="rId1"/>
    </p:custDataLst>
    <p:extLst>
      <p:ext uri="{BB962C8B-B14F-4D97-AF65-F5344CB8AC3E}">
        <p14:creationId xmlns:p14="http://schemas.microsoft.com/office/powerpoint/2010/main" val="32508675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5.4.2 </a:t>
            </a:r>
            <a:r>
              <a:rPr lang="en-US" altLang="zh-CN" sz="3200" b="1" dirty="0" err="1">
                <a:solidFill>
                  <a:srgbClr val="1353A2"/>
                </a:solidFill>
                <a:latin typeface="微软雅黑" panose="020B0503020204020204" pitchFamily="34" charset="-122"/>
                <a:ea typeface="微软雅黑" panose="020B0503020204020204" pitchFamily="34" charset="-122"/>
              </a:rPr>
              <a:t>LocalDate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2479040" y="1654334"/>
          <a:ext cx="8515667" cy="4187667"/>
        </p:xfrm>
        <a:graphic>
          <a:graphicData uri="http://schemas.openxmlformats.org/drawingml/2006/table">
            <a:tbl>
              <a:tblPr firstRow="1" firstCol="1" bandRow="1">
                <a:tableStyleId>{5C22544A-7EE6-4342-B048-85BDC9FD1C3A}</a:tableStyleId>
              </a:tblPr>
              <a:tblGrid>
                <a:gridCol w="4305103">
                  <a:extLst>
                    <a:ext uri="{9D8B030D-6E8A-4147-A177-3AD203B41FA5}">
                      <a16:colId xmlns:a16="http://schemas.microsoft.com/office/drawing/2014/main" val="20000"/>
                    </a:ext>
                  </a:extLst>
                </a:gridCol>
                <a:gridCol w="4210564">
                  <a:extLst>
                    <a:ext uri="{9D8B030D-6E8A-4147-A177-3AD203B41FA5}">
                      <a16:colId xmlns:a16="http://schemas.microsoft.com/office/drawing/2014/main" val="20001"/>
                    </a:ext>
                  </a:extLst>
                </a:gridCol>
              </a:tblGrid>
              <a:tr h="279178">
                <a:tc>
                  <a:txBody>
                    <a:bodyPr/>
                    <a:lstStyle/>
                    <a:p>
                      <a:pPr indent="266700"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58355">
                <a:tc>
                  <a:txBody>
                    <a:bodyPr/>
                    <a:lstStyle/>
                    <a:p>
                      <a:pPr indent="266700">
                        <a:spcAft>
                          <a:spcPts val="0"/>
                        </a:spcAft>
                      </a:pPr>
                      <a:r>
                        <a:rPr lang="en-US" altLang="zh-CN" sz="1600" dirty="0">
                          <a:effectLst/>
                        </a:rPr>
                        <a:t>parse</a:t>
                      </a:r>
                      <a:r>
                        <a:rPr lang="en-US" sz="1600" dirty="0">
                          <a:effectLst/>
                        </a:rPr>
                        <a:t>(</a:t>
                      </a:r>
                      <a:r>
                        <a:rPr lang="en-US" altLang="zh-CN" sz="1600" u="none" strike="noStrike" dirty="0" err="1">
                          <a:effectLst/>
                        </a:rPr>
                        <a:t>CharSequence</a:t>
                      </a:r>
                      <a:r>
                        <a:rPr lang="en-US" sz="1600" dirty="0">
                          <a:effectLst/>
                        </a:rPr>
                        <a:t> text)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从一个文本字获取一个</a:t>
                      </a:r>
                      <a:r>
                        <a:rPr lang="en-US" sz="1600" dirty="0">
                          <a:effectLst/>
                        </a:rPr>
                        <a:t> </a:t>
                      </a:r>
                      <a:r>
                        <a:rPr lang="en-US" sz="1600" dirty="0" err="1">
                          <a:effectLst/>
                        </a:rPr>
                        <a:t>LocalDate</a:t>
                      </a:r>
                      <a:r>
                        <a:rPr lang="zh-CN" sz="1600" dirty="0">
                          <a:effectLst/>
                        </a:rPr>
                        <a:t>的实例。</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58355">
                <a:tc>
                  <a:txBody>
                    <a:bodyPr/>
                    <a:lstStyle/>
                    <a:p>
                      <a:pPr indent="266700">
                        <a:spcAft>
                          <a:spcPts val="0"/>
                        </a:spcAft>
                      </a:pPr>
                      <a:r>
                        <a:rPr lang="en-US" sz="1600" u="none" strike="noStrike" dirty="0">
                          <a:effectLst/>
                        </a:rPr>
                        <a:t>parse</a:t>
                      </a:r>
                      <a:r>
                        <a:rPr lang="en-US" sz="1600" dirty="0">
                          <a:effectLst/>
                        </a:rPr>
                        <a:t>(</a:t>
                      </a:r>
                      <a:r>
                        <a:rPr lang="en-US" sz="1600" u="none" strike="noStrike" dirty="0" err="1">
                          <a:effectLst/>
                        </a:rPr>
                        <a:t>CharSequence</a:t>
                      </a:r>
                      <a:r>
                        <a:rPr lang="en-US" sz="1600" dirty="0">
                          <a:effectLst/>
                        </a:rPr>
                        <a:t> text, </a:t>
                      </a:r>
                      <a:r>
                        <a:rPr lang="en-US" sz="1600" u="none" strike="noStrike" dirty="0" err="1">
                          <a:effectLst/>
                        </a:rPr>
                        <a:t>DateTimeFormatter</a:t>
                      </a:r>
                      <a:r>
                        <a:rPr lang="en-US" sz="1600" dirty="0">
                          <a:effectLst/>
                        </a:rPr>
                        <a:t> formatter)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使用特定格式化</a:t>
                      </a:r>
                      <a:r>
                        <a:rPr lang="en-US" sz="1600" dirty="0">
                          <a:effectLst/>
                        </a:rPr>
                        <a:t> </a:t>
                      </a:r>
                      <a:r>
                        <a:rPr lang="en-US" sz="1600" dirty="0" err="1">
                          <a:effectLst/>
                        </a:rPr>
                        <a:t>LocalDate</a:t>
                      </a:r>
                      <a:r>
                        <a:rPr lang="zh-CN" sz="1600" dirty="0">
                          <a:effectLst/>
                        </a:rPr>
                        <a:t>从文本字符串获取</a:t>
                      </a:r>
                      <a:r>
                        <a:rPr lang="en-US" sz="1600" dirty="0">
                          <a:effectLst/>
                        </a:rPr>
                        <a:t> </a:t>
                      </a:r>
                      <a:r>
                        <a:rPr lang="en-US" sz="1600" dirty="0" err="1">
                          <a:effectLst/>
                        </a:rPr>
                        <a:t>LocalDate</a:t>
                      </a:r>
                      <a:r>
                        <a:rPr lang="zh-CN" sz="1600" dirty="0">
                          <a:effectLst/>
                        </a:rPr>
                        <a:t>的实例。</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279178">
                <a:tc>
                  <a:txBody>
                    <a:bodyPr/>
                    <a:lstStyle/>
                    <a:p>
                      <a:pPr indent="266700">
                        <a:spcAft>
                          <a:spcPts val="0"/>
                        </a:spcAft>
                      </a:pPr>
                      <a:r>
                        <a:rPr lang="en-US" sz="1600" u="none" strike="noStrike" dirty="0" err="1">
                          <a:effectLst/>
                        </a:rPr>
                        <a:t>plusYears</a:t>
                      </a:r>
                      <a:r>
                        <a:rPr lang="en-US" sz="1600" dirty="0">
                          <a:effectLst/>
                        </a:rPr>
                        <a:t>(long </a:t>
                      </a:r>
                      <a:r>
                        <a:rPr lang="en-US" sz="1600" dirty="0" err="1">
                          <a:effectLst/>
                        </a:rPr>
                        <a:t>yearsToAdd</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增加指定年份</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279178">
                <a:tc>
                  <a:txBody>
                    <a:bodyPr/>
                    <a:lstStyle/>
                    <a:p>
                      <a:pPr indent="266700">
                        <a:spcAft>
                          <a:spcPts val="0"/>
                        </a:spcAft>
                      </a:pPr>
                      <a:r>
                        <a:rPr lang="en-US" sz="1600" u="none" strike="noStrike" dirty="0" err="1">
                          <a:effectLst/>
                        </a:rPr>
                        <a:t>plusMonths</a:t>
                      </a:r>
                      <a:r>
                        <a:rPr lang="en-US" sz="1600" dirty="0">
                          <a:effectLst/>
                        </a:rPr>
                        <a:t>(long </a:t>
                      </a:r>
                      <a:r>
                        <a:rPr lang="en-US" sz="1600" dirty="0" err="1">
                          <a:effectLst/>
                        </a:rPr>
                        <a:t>monthsToAdd</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增加指定月份</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279178">
                <a:tc>
                  <a:txBody>
                    <a:bodyPr/>
                    <a:lstStyle/>
                    <a:p>
                      <a:pPr indent="266700">
                        <a:spcAft>
                          <a:spcPts val="0"/>
                        </a:spcAft>
                      </a:pPr>
                      <a:r>
                        <a:rPr lang="en-US" sz="1600" u="none" strike="noStrike" dirty="0" err="1">
                          <a:effectLst/>
                        </a:rPr>
                        <a:t>plusDays</a:t>
                      </a:r>
                      <a:r>
                        <a:rPr lang="en-US" sz="1600" dirty="0">
                          <a:effectLst/>
                        </a:rPr>
                        <a:t>(long </a:t>
                      </a:r>
                      <a:r>
                        <a:rPr lang="en-US" sz="1600" dirty="0" err="1">
                          <a:effectLst/>
                        </a:rPr>
                        <a:t>daysToAdd</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增加指定日数</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279178">
                <a:tc>
                  <a:txBody>
                    <a:bodyPr/>
                    <a:lstStyle/>
                    <a:p>
                      <a:pPr indent="266700">
                        <a:spcAft>
                          <a:spcPts val="0"/>
                        </a:spcAft>
                      </a:pPr>
                      <a:r>
                        <a:rPr lang="en-US" sz="1600" u="none" strike="noStrike" dirty="0" err="1">
                          <a:effectLst/>
                        </a:rPr>
                        <a:t>minusYears</a:t>
                      </a:r>
                      <a:r>
                        <a:rPr lang="en-US" sz="1600" dirty="0">
                          <a:effectLst/>
                        </a:rPr>
                        <a:t>(long </a:t>
                      </a:r>
                      <a:r>
                        <a:rPr lang="en-US" sz="1600" dirty="0" err="1">
                          <a:effectLst/>
                        </a:rPr>
                        <a:t>yearsToSubtract</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减少指定年份</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558355">
                <a:tc>
                  <a:txBody>
                    <a:bodyPr/>
                    <a:lstStyle/>
                    <a:p>
                      <a:pPr indent="266700">
                        <a:spcAft>
                          <a:spcPts val="0"/>
                        </a:spcAft>
                      </a:pPr>
                      <a:r>
                        <a:rPr lang="en-US" sz="1600" u="none" strike="noStrike" dirty="0" err="1">
                          <a:effectLst/>
                        </a:rPr>
                        <a:t>minusMonths</a:t>
                      </a:r>
                      <a:r>
                        <a:rPr lang="en-US" sz="1600" dirty="0">
                          <a:effectLst/>
                        </a:rPr>
                        <a:t>(long </a:t>
                      </a:r>
                      <a:r>
                        <a:rPr lang="en-US" sz="1600" dirty="0" err="1">
                          <a:effectLst/>
                        </a:rPr>
                        <a:t>monthsToSubtract</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减少指定月份</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279178">
                <a:tc>
                  <a:txBody>
                    <a:bodyPr/>
                    <a:lstStyle/>
                    <a:p>
                      <a:pPr indent="266700">
                        <a:spcAft>
                          <a:spcPts val="0"/>
                        </a:spcAft>
                      </a:pPr>
                      <a:r>
                        <a:rPr lang="en-US" sz="1600" u="none" strike="noStrike" dirty="0" err="1">
                          <a:effectLst/>
                        </a:rPr>
                        <a:t>minusDays</a:t>
                      </a:r>
                      <a:r>
                        <a:rPr lang="en-US" sz="1600" dirty="0">
                          <a:effectLst/>
                        </a:rPr>
                        <a:t>(long </a:t>
                      </a:r>
                      <a:r>
                        <a:rPr lang="en-US" sz="1600" dirty="0" err="1">
                          <a:effectLst/>
                        </a:rPr>
                        <a:t>daysToSubtract</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减少指定日数</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r h="279178">
                <a:tc>
                  <a:txBody>
                    <a:bodyPr/>
                    <a:lstStyle/>
                    <a:p>
                      <a:pPr indent="266700">
                        <a:spcAft>
                          <a:spcPts val="0"/>
                        </a:spcAft>
                      </a:pPr>
                      <a:r>
                        <a:rPr lang="en-US" sz="1600" u="none" strike="noStrike" dirty="0" err="1">
                          <a:effectLst/>
                        </a:rPr>
                        <a:t>withYear</a:t>
                      </a:r>
                      <a:r>
                        <a:rPr lang="en-US" sz="1600" dirty="0">
                          <a:effectLst/>
                        </a:rPr>
                        <a:t>(</a:t>
                      </a:r>
                      <a:r>
                        <a:rPr lang="en-US" sz="1600" dirty="0" err="1">
                          <a:effectLst/>
                        </a:rPr>
                        <a:t>int</a:t>
                      </a:r>
                      <a:r>
                        <a:rPr lang="en-US" sz="1600" dirty="0">
                          <a:effectLst/>
                        </a:rPr>
                        <a:t> year)</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指定年</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9"/>
                  </a:ext>
                </a:extLst>
              </a:tr>
              <a:tr h="279178">
                <a:tc>
                  <a:txBody>
                    <a:bodyPr/>
                    <a:lstStyle/>
                    <a:p>
                      <a:pPr indent="266700">
                        <a:spcAft>
                          <a:spcPts val="0"/>
                        </a:spcAft>
                      </a:pPr>
                      <a:r>
                        <a:rPr lang="en-US" sz="1600" u="none" strike="noStrike" dirty="0" err="1">
                          <a:effectLst/>
                        </a:rPr>
                        <a:t>withMonth</a:t>
                      </a:r>
                      <a:r>
                        <a:rPr lang="en-US" sz="1600" dirty="0">
                          <a:effectLst/>
                        </a:rPr>
                        <a:t>(</a:t>
                      </a:r>
                      <a:r>
                        <a:rPr lang="en-US" sz="1600" dirty="0" err="1">
                          <a:effectLst/>
                        </a:rPr>
                        <a:t>int</a:t>
                      </a:r>
                      <a:r>
                        <a:rPr lang="en-US" sz="1600" dirty="0">
                          <a:effectLst/>
                        </a:rPr>
                        <a:t> month)</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指定月</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10"/>
                  </a:ext>
                </a:extLst>
              </a:tr>
              <a:tr h="279178">
                <a:tc>
                  <a:txBody>
                    <a:bodyPr/>
                    <a:lstStyle/>
                    <a:p>
                      <a:pPr indent="266700">
                        <a:spcAft>
                          <a:spcPts val="0"/>
                        </a:spcAft>
                      </a:pPr>
                      <a:r>
                        <a:rPr lang="en-US" sz="1600">
                          <a:effectLst/>
                        </a:rPr>
                        <a:t>withDayOfYear(int dayOfYear)</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600" dirty="0">
                          <a:effectLst/>
                        </a:rPr>
                        <a:t>指定日</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11"/>
                  </a:ext>
                </a:extLst>
              </a:tr>
            </a:tbl>
          </a:graphicData>
        </a:graphic>
      </p:graphicFrame>
      <p:sp>
        <p:nvSpPr>
          <p:cNvPr id="4" name="文本占位符 3"/>
          <p:cNvSpPr>
            <a:spLocks noGrp="1"/>
          </p:cNvSpPr>
          <p:nvPr>
            <p:ph type="body" sz="quarter" idx="10"/>
          </p:nvPr>
        </p:nvSpPr>
        <p:spPr/>
        <p:txBody>
          <a:bodyPr/>
          <a:lstStyle/>
          <a:p>
            <a:fld id="{ABFE690F-4BB0-455A-B5B2-AFA848AC2C98}" type="slidenum">
              <a:rPr lang="zh-CN" altLang="en-US" smtClean="0"/>
              <a:t>86</a:t>
            </a:fld>
            <a:endParaRPr lang="zh-CN" altLang="en-US" dirty="0"/>
          </a:p>
        </p:txBody>
      </p:sp>
    </p:spTree>
    <p:custDataLst>
      <p:tags r:id="rId1"/>
    </p:custDataLst>
    <p:extLst>
      <p:ext uri="{BB962C8B-B14F-4D97-AF65-F5344CB8AC3E}">
        <p14:creationId xmlns:p14="http://schemas.microsoft.com/office/powerpoint/2010/main" val="185703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5.4.2 </a:t>
            </a:r>
            <a:r>
              <a:rPr lang="en-US" altLang="zh-CN" sz="3200" b="1" dirty="0" err="1">
                <a:solidFill>
                  <a:srgbClr val="1353A2"/>
                </a:solidFill>
                <a:latin typeface="微软雅黑" panose="020B0503020204020204" pitchFamily="34" charset="-122"/>
                <a:ea typeface="微软雅黑" panose="020B0503020204020204" pitchFamily="34" charset="-122"/>
              </a:rPr>
              <a:t>LocalDate</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13840" y="1198880"/>
            <a:ext cx="10017759" cy="822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接下来通过一个案例来学习这些方法的使用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560320" y="1874520"/>
            <a:ext cx="8097520" cy="4312920"/>
            <a:chOff x="2225040" y="1915160"/>
            <a:chExt cx="8097520" cy="4312920"/>
          </a:xfrm>
        </p:grpSpPr>
        <p:pic>
          <p:nvPicPr>
            <p:cNvPr id="143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040" y="1915160"/>
              <a:ext cx="8097519" cy="431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987039" y="1915160"/>
              <a:ext cx="7335521" cy="4160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java.time.LocalDate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java.time.format.DateTimeFormatter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获取日期时分秒</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now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LocalDate.now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of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(2020, 12, 12);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的获取及格式化的相关方法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实例获取的年份为：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now.getYear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实例获取的月份：</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now.getMonthValue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9030DE3E-8118-4F42-9997-63342E3686D3}" type="slidenum">
              <a:rPr lang="zh-CN" altLang="en-US" smtClean="0"/>
              <a:t>87</a:t>
            </a:fld>
            <a:endParaRPr lang="zh-CN" altLang="en-US" dirty="0"/>
          </a:p>
        </p:txBody>
      </p:sp>
    </p:spTree>
    <p:custDataLst>
      <p:tags r:id="rId1"/>
    </p:custDataLst>
    <p:extLst>
      <p:ext uri="{BB962C8B-B14F-4D97-AF65-F5344CB8AC3E}">
        <p14:creationId xmlns:p14="http://schemas.microsoft.com/office/powerpoint/2010/main" val="9437380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5.4.2 </a:t>
            </a:r>
            <a:r>
              <a:rPr lang="en-US" altLang="zh-CN" sz="3200" b="1" dirty="0" err="1">
                <a:solidFill>
                  <a:srgbClr val="1353A2"/>
                </a:solidFill>
                <a:latin typeface="微软雅黑" panose="020B0503020204020204" pitchFamily="34" charset="-122"/>
                <a:ea typeface="微软雅黑" panose="020B0503020204020204" pitchFamily="34" charset="-122"/>
              </a:rPr>
              <a:t>LocalData</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33600" y="1656080"/>
            <a:ext cx="8280399" cy="3992880"/>
            <a:chOff x="2133600" y="1656080"/>
            <a:chExt cx="8280399" cy="3992880"/>
          </a:xfrm>
        </p:grpSpPr>
        <p:pic>
          <p:nvPicPr>
            <p:cNvPr id="144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656080"/>
              <a:ext cx="8280399" cy="399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753359" y="1813560"/>
              <a:ext cx="7396481" cy="3571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实例获取当天在本月的第几天：</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now.getDayOfMonth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将获取到的</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Loacaldata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实例格式化为：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now.format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DateTimeFormatter.ofPattern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yyyy</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MM</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日</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判断的相关方法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判断日期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是否在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之前：</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of.isBefore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判断日期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是否在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之后：</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of.isAfter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判断日期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是否相等：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now.equals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判断日期</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是否时闰年：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of.isLeapYear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8E0CCD8B-8F1C-4934-B5F0-CB88E93D09E3}" type="slidenum">
              <a:rPr lang="zh-CN" altLang="en-US" smtClean="0"/>
              <a:t>88</a:t>
            </a:fld>
            <a:endParaRPr lang="zh-CN" altLang="en-US" dirty="0"/>
          </a:p>
        </p:txBody>
      </p:sp>
    </p:spTree>
    <p:custDataLst>
      <p:tags r:id="rId1"/>
    </p:custDataLst>
    <p:extLst>
      <p:ext uri="{BB962C8B-B14F-4D97-AF65-F5344CB8AC3E}">
        <p14:creationId xmlns:p14="http://schemas.microsoft.com/office/powerpoint/2010/main" val="11453590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68326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5.4.2 </a:t>
            </a:r>
            <a:r>
              <a:rPr lang="en-US" altLang="zh-CN" sz="3200" b="1" dirty="0" err="1">
                <a:solidFill>
                  <a:srgbClr val="1353A2"/>
                </a:solidFill>
                <a:latin typeface="微软雅黑" panose="020B0503020204020204" pitchFamily="34" charset="-122"/>
                <a:ea typeface="微软雅黑" panose="020B0503020204020204" pitchFamily="34" charset="-122"/>
              </a:rPr>
              <a:t>LocalData</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092960" y="1518920"/>
            <a:ext cx="8636000" cy="4465320"/>
            <a:chOff x="2092960" y="1518920"/>
            <a:chExt cx="8636000" cy="4465320"/>
          </a:xfrm>
        </p:grpSpPr>
        <p:pic>
          <p:nvPicPr>
            <p:cNvPr id="145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960" y="1518920"/>
              <a:ext cx="8636000" cy="446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661919" y="1518920"/>
              <a:ext cx="7701281" cy="4465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给出一个符合默认格式要求的日期字符串</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解析以及加减操作的相关方法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="2020-02-01";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把日期字符串解析成日期对象后为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LocalDate.parse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实例年份加</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now.plusYears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实例天数减</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now.minusDays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LocalData</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实例指定年份为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2022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now.withYear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(2022));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C08219B-421E-4C73-A4AD-BDB2E133181D}" type="slidenum">
              <a:rPr lang="zh-CN" altLang="en-US" smtClean="0"/>
              <a:t>89</a:t>
            </a:fld>
            <a:endParaRPr lang="zh-CN" altLang="en-US" dirty="0"/>
          </a:p>
        </p:txBody>
      </p:sp>
    </p:spTree>
    <p:custDataLst>
      <p:tags r:id="rId1"/>
    </p:custDataLst>
    <p:extLst>
      <p:ext uri="{BB962C8B-B14F-4D97-AF65-F5344CB8AC3E}">
        <p14:creationId xmlns:p14="http://schemas.microsoft.com/office/powerpoint/2010/main" val="18209150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LocalDateTime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696718" y="1747520"/>
            <a:ext cx="9489441" cy="3058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类用来表示时间，通常表示的是小时分钟秒。与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类一样，该类不能代表时间线上的即时信息，只是时间的描述。在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类中提供了获取时间对象的方法，与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用法类似</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同时</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类也提供了与日期类相对应的时间格式化、增减时分秒等常用方法，这些方法与日期类相对应，这里我们不再详细列举。</a:t>
            </a:r>
          </a:p>
        </p:txBody>
      </p:sp>
      <p:sp>
        <p:nvSpPr>
          <p:cNvPr id="3" name="文本占位符 2"/>
          <p:cNvSpPr>
            <a:spLocks noGrp="1"/>
          </p:cNvSpPr>
          <p:nvPr>
            <p:ph type="body" sz="quarter" idx="10"/>
          </p:nvPr>
        </p:nvSpPr>
        <p:spPr/>
        <p:txBody>
          <a:bodyPr/>
          <a:lstStyle/>
          <a:p>
            <a:fld id="{5FAC350B-6E3B-472E-97D8-B964C4854E8D}" type="slidenum">
              <a:rPr lang="zh-CN" altLang="en-US" smtClean="0"/>
              <a:t>90</a:t>
            </a:fld>
            <a:endParaRPr lang="zh-CN" altLang="en-US" dirty="0"/>
          </a:p>
        </p:txBody>
      </p:sp>
    </p:spTree>
    <p:custDataLst>
      <p:tags r:id="rId1"/>
    </p:custDataLst>
    <p:extLst>
      <p:ext uri="{BB962C8B-B14F-4D97-AF65-F5344CB8AC3E}">
        <p14:creationId xmlns:p14="http://schemas.microsoft.com/office/powerpoint/2010/main" val="16517803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LocalDateTime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8" y="1432560"/>
            <a:ext cx="9489441" cy="79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接下来我们通过一个案例来学习一下</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145030" y="2235200"/>
            <a:ext cx="8575039" cy="3677920"/>
            <a:chOff x="2052320" y="2225040"/>
            <a:chExt cx="8575039" cy="3677920"/>
          </a:xfrm>
        </p:grpSpPr>
        <p:pic>
          <p:nvPicPr>
            <p:cNvPr id="1464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320" y="2225040"/>
              <a:ext cx="8575039" cy="3677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453639" y="2235200"/>
              <a:ext cx="7957822" cy="3566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java.time.LocalTime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java.time.format.DateTimeFormatter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Example22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获取当前时间，包含毫秒数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time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LocalTime.now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of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LocalTime.of</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(9,23,23);</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获取的小时为：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time.getHour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175A14E-1D3E-48F1-8038-74A39F3C97FD}" type="slidenum">
              <a:rPr lang="zh-CN" altLang="en-US" smtClean="0"/>
              <a:t>91</a:t>
            </a:fld>
            <a:endParaRPr lang="zh-CN" altLang="en-US" dirty="0"/>
          </a:p>
        </p:txBody>
      </p:sp>
    </p:spTree>
    <p:custDataLst>
      <p:tags r:id="rId1"/>
    </p:custDataLst>
    <p:extLst>
      <p:ext uri="{BB962C8B-B14F-4D97-AF65-F5344CB8AC3E}">
        <p14:creationId xmlns:p14="http://schemas.microsoft.com/office/powerpoint/2010/main" val="20917524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LocalDataTime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082800" y="1640840"/>
            <a:ext cx="8920479" cy="4043680"/>
            <a:chOff x="1971040" y="1717040"/>
            <a:chExt cx="8920479" cy="4043680"/>
          </a:xfrm>
        </p:grpSpPr>
        <p:pic>
          <p:nvPicPr>
            <p:cNvPr id="1474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1040" y="1717040"/>
              <a:ext cx="8920479" cy="4043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87600" y="1833880"/>
              <a:ext cx="8371840" cy="3810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将获取到的</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LoacalTime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实例格式化为：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time.format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DateTimeFormatter.ofPattern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HH:mm:ss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判断时间</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是否在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of.isBefore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(time));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将时间字符串解析为时间对象后为：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LocalTime.parse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("12:15:30"));</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获取当前时间，不包含毫秒数：</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time.withNano</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D6696AE-F6FC-4870-A0B5-4BFEC5680B1B}" type="slidenum">
              <a:rPr lang="zh-CN" altLang="en-US" smtClean="0"/>
              <a:t>92</a:t>
            </a:fld>
            <a:endParaRPr lang="zh-CN" altLang="en-US" dirty="0"/>
          </a:p>
        </p:txBody>
      </p:sp>
    </p:spTree>
    <p:custDataLst>
      <p:tags r:id="rId1"/>
    </p:custDataLst>
    <p:extLst>
      <p:ext uri="{BB962C8B-B14F-4D97-AF65-F5344CB8AC3E}">
        <p14:creationId xmlns:p14="http://schemas.microsoft.com/office/powerpoint/2010/main" val="30299061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LocalDateTime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8" y="1432560"/>
            <a:ext cx="9489441" cy="79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151343" y="2523172"/>
            <a:ext cx="6676707" cy="2790508"/>
          </a:xfrm>
          <a:prstGeom prst="rect">
            <a:avLst/>
          </a:prstGeom>
        </p:spPr>
      </p:pic>
      <p:sp>
        <p:nvSpPr>
          <p:cNvPr id="3" name="文本占位符 2"/>
          <p:cNvSpPr>
            <a:spLocks noGrp="1"/>
          </p:cNvSpPr>
          <p:nvPr>
            <p:ph type="body" sz="quarter" idx="10"/>
          </p:nvPr>
        </p:nvSpPr>
        <p:spPr/>
        <p:txBody>
          <a:bodyPr/>
          <a:lstStyle/>
          <a:p>
            <a:fld id="{2AF5739C-3F34-417B-867A-92C35E10C173}" type="slidenum">
              <a:rPr lang="zh-CN" altLang="en-US" smtClean="0"/>
              <a:t>93</a:t>
            </a:fld>
            <a:endParaRPr lang="zh-CN" altLang="en-US" dirty="0"/>
          </a:p>
        </p:txBody>
      </p:sp>
    </p:spTree>
    <p:custDataLst>
      <p:tags r:id="rId1"/>
    </p:custDataLst>
    <p:extLst>
      <p:ext uri="{BB962C8B-B14F-4D97-AF65-F5344CB8AC3E}">
        <p14:creationId xmlns:p14="http://schemas.microsoft.com/office/powerpoint/2010/main" val="18254450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LocalDateTime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8" y="1432560"/>
            <a:ext cx="9489441"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类的综合，它即包含日期也包含时间，通过查看</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API</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可以知道，</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类中的方法包含了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类的方法。</a:t>
            </a: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需要注意的是，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默认的格式是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2020-02-29T21:23:26.774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，这可能与我们经常使用的格式不太符合，所以它经常和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DateTimeFormatter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一起使用指定格式，除了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类中的方法，额外提供了转换的方法。</a:t>
            </a:r>
          </a:p>
        </p:txBody>
      </p:sp>
      <p:sp>
        <p:nvSpPr>
          <p:cNvPr id="3" name="文本占位符 2"/>
          <p:cNvSpPr>
            <a:spLocks noGrp="1"/>
          </p:cNvSpPr>
          <p:nvPr>
            <p:ph type="body" sz="quarter" idx="10"/>
          </p:nvPr>
        </p:nvSpPr>
        <p:spPr/>
        <p:txBody>
          <a:bodyPr/>
          <a:lstStyle/>
          <a:p>
            <a:fld id="{E6E659FA-FB28-4AB4-88E8-A741EACC55CE}" type="slidenum">
              <a:rPr lang="zh-CN" altLang="en-US" smtClean="0"/>
              <a:t>94</a:t>
            </a:fld>
            <a:endParaRPr lang="zh-CN" altLang="en-US" dirty="0"/>
          </a:p>
        </p:txBody>
      </p:sp>
    </p:spTree>
    <p:custDataLst>
      <p:tags r:id="rId1"/>
    </p:custDataLst>
    <p:extLst>
      <p:ext uri="{BB962C8B-B14F-4D97-AF65-F5344CB8AC3E}">
        <p14:creationId xmlns:p14="http://schemas.microsoft.com/office/powerpoint/2010/main" val="9348898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LocalDateTime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8" y="1290320"/>
            <a:ext cx="9489441" cy="731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下面我们通过一个案例来学习</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类中特有的方法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011680" y="2021840"/>
            <a:ext cx="9316720" cy="4043680"/>
            <a:chOff x="2011680" y="2021840"/>
            <a:chExt cx="9316720" cy="4043680"/>
          </a:xfrm>
        </p:grpSpPr>
        <p:pic>
          <p:nvPicPr>
            <p:cNvPr id="1484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1680" y="2021840"/>
              <a:ext cx="9316720" cy="4043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52039" y="2092960"/>
              <a:ext cx="8732522" cy="3789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java.time.LocalDateTime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java.time.format.DateTimeFormatter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Example23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获取当前年月日，时分秒</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now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LocalDateTime.now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获取的当前日期时间为：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将目标</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转换为相应的</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now.toLocalDate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F2F2083-7109-42BE-A5B8-6DBAB73D91EE}" type="slidenum">
              <a:rPr lang="zh-CN" altLang="en-US" smtClean="0"/>
              <a:t>95</a:t>
            </a:fld>
            <a:endParaRPr lang="zh-CN" altLang="en-US" dirty="0"/>
          </a:p>
        </p:txBody>
      </p:sp>
    </p:spTree>
    <p:custDataLst>
      <p:tags r:id="rId1"/>
    </p:custDataLst>
    <p:extLst>
      <p:ext uri="{BB962C8B-B14F-4D97-AF65-F5344CB8AC3E}">
        <p14:creationId xmlns:p14="http://schemas.microsoft.com/office/powerpoint/2010/main" val="23433021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LocalDataTime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889760" y="1981200"/>
            <a:ext cx="9001761" cy="3505200"/>
            <a:chOff x="1838960" y="1838960"/>
            <a:chExt cx="9001761" cy="3505200"/>
          </a:xfrm>
        </p:grpSpPr>
        <p:pic>
          <p:nvPicPr>
            <p:cNvPr id="149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960" y="1838960"/>
              <a:ext cx="890016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240277" y="1920240"/>
              <a:ext cx="8600444" cy="3423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将目标</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LocalDateTime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转换为相应的</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now.toLocalTime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指定格式</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DateTimeFormatter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ofPattern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DateTimeFormatter.ofPattern</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yyyy</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MM</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dd</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日</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HH</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mm</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分</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ss</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秒</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格式化后的日期时间为：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now.format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ofPattern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F07E5CA-4553-4FBE-A5C5-AB45F352E46A}" type="slidenum">
              <a:rPr lang="zh-CN" altLang="en-US" smtClean="0"/>
              <a:t>96</a:t>
            </a:fld>
            <a:endParaRPr lang="zh-CN" altLang="en-US" dirty="0"/>
          </a:p>
        </p:txBody>
      </p:sp>
    </p:spTree>
    <p:custDataLst>
      <p:tags r:id="rId1"/>
    </p:custDataLst>
    <p:extLst>
      <p:ext uri="{BB962C8B-B14F-4D97-AF65-F5344CB8AC3E}">
        <p14:creationId xmlns:p14="http://schemas.microsoft.com/office/powerpoint/2010/main" val="14155752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5.4.3 </a:t>
            </a:r>
            <a:r>
              <a:rPr lang="en-US" altLang="zh-CN" sz="3200" b="1" dirty="0" err="1">
                <a:solidFill>
                  <a:srgbClr val="1353A2"/>
                </a:solidFill>
                <a:latin typeface="微软雅黑" panose="020B0503020204020204" pitchFamily="34" charset="-122"/>
                <a:ea typeface="微软雅黑" panose="020B0503020204020204" pitchFamily="34" charset="-122"/>
              </a:rPr>
              <a:t>LocalTime</a:t>
            </a:r>
            <a:r>
              <a:rPr lang="zh-CN" altLang="zh-CN" sz="3200" b="1" dirty="0">
                <a:solidFill>
                  <a:srgbClr val="1353A2"/>
                </a:solidFill>
                <a:latin typeface="微软雅黑" panose="020B0503020204020204" pitchFamily="34" charset="-122"/>
                <a:ea typeface="微软雅黑" panose="020B0503020204020204" pitchFamily="34" charset="-122"/>
              </a:rPr>
              <a:t>类与</a:t>
            </a:r>
            <a:r>
              <a:rPr lang="en-US" altLang="zh-CN" sz="3200" b="1" dirty="0" err="1">
                <a:solidFill>
                  <a:srgbClr val="1353A2"/>
                </a:solidFill>
                <a:latin typeface="微软雅黑" panose="020B0503020204020204" pitchFamily="34" charset="-122"/>
                <a:ea typeface="微软雅黑" panose="020B0503020204020204" pitchFamily="34" charset="-122"/>
              </a:rPr>
              <a:t>LocalDataTime</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7" y="1422400"/>
            <a:ext cx="9489441" cy="731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2897345" y="2499994"/>
            <a:ext cx="6879907" cy="2569845"/>
          </a:xfrm>
          <a:prstGeom prst="rect">
            <a:avLst/>
          </a:prstGeom>
        </p:spPr>
      </p:pic>
      <p:sp>
        <p:nvSpPr>
          <p:cNvPr id="3" name="文本占位符 2"/>
          <p:cNvSpPr>
            <a:spLocks noGrp="1"/>
          </p:cNvSpPr>
          <p:nvPr>
            <p:ph type="body" sz="quarter" idx="10"/>
          </p:nvPr>
        </p:nvSpPr>
        <p:spPr/>
        <p:txBody>
          <a:bodyPr/>
          <a:lstStyle/>
          <a:p>
            <a:fld id="{7562FC02-EB7E-4F52-968D-346D6028767D}" type="slidenum">
              <a:rPr lang="zh-CN" altLang="en-US" smtClean="0"/>
              <a:t>97</a:t>
            </a:fld>
            <a:endParaRPr lang="zh-CN" altLang="en-US" dirty="0"/>
          </a:p>
        </p:txBody>
      </p:sp>
    </p:spTree>
    <p:custDataLst>
      <p:tags r:id="rId1"/>
    </p:custDataLst>
    <p:extLst>
      <p:ext uri="{BB962C8B-B14F-4D97-AF65-F5344CB8AC3E}">
        <p14:creationId xmlns:p14="http://schemas.microsoft.com/office/powerpoint/2010/main" val="19822092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5.4.4 Period</a:t>
            </a:r>
            <a:r>
              <a:rPr lang="zh-CN" altLang="en-US"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Duration</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663696" y="1158240"/>
            <a:ext cx="9489441" cy="2052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Duration</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类基于时间值，其作用范围是天、时、分、秒、毫秒和纳秒，</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类的常用方法如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下表。</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2105231683"/>
              </p:ext>
            </p:extLst>
          </p:nvPr>
        </p:nvGraphicFramePr>
        <p:xfrm>
          <a:off x="2387600" y="3006246"/>
          <a:ext cx="8475027" cy="3181196"/>
        </p:xfrm>
        <a:graphic>
          <a:graphicData uri="http://schemas.openxmlformats.org/drawingml/2006/table">
            <a:tbl>
              <a:tblPr firstRow="1" firstCol="1" bandRow="1">
                <a:tableStyleId>{5C22544A-7EE6-4342-B048-85BDC9FD1C3A}</a:tableStyleId>
              </a:tblPr>
              <a:tblGrid>
                <a:gridCol w="4284556">
                  <a:extLst>
                    <a:ext uri="{9D8B030D-6E8A-4147-A177-3AD203B41FA5}">
                      <a16:colId xmlns:a16="http://schemas.microsoft.com/office/drawing/2014/main" val="20000"/>
                    </a:ext>
                  </a:extLst>
                </a:gridCol>
                <a:gridCol w="4190471">
                  <a:extLst>
                    <a:ext uri="{9D8B030D-6E8A-4147-A177-3AD203B41FA5}">
                      <a16:colId xmlns:a16="http://schemas.microsoft.com/office/drawing/2014/main" val="20001"/>
                    </a:ext>
                  </a:extLst>
                </a:gridCol>
              </a:tblGrid>
              <a:tr h="391819">
                <a:tc>
                  <a:txBody>
                    <a:bodyPr/>
                    <a:lstStyle/>
                    <a:p>
                      <a:pPr indent="266700" algn="ctr">
                        <a:spcAft>
                          <a:spcPts val="0"/>
                        </a:spcAft>
                      </a:pPr>
                      <a:r>
                        <a:rPr lang="zh-CN" sz="1800" dirty="0">
                          <a:effectLst/>
                        </a:rPr>
                        <a:t>方法声明</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783637">
                <a:tc>
                  <a:txBody>
                    <a:bodyPr/>
                    <a:lstStyle/>
                    <a:p>
                      <a:pPr indent="266700">
                        <a:spcAft>
                          <a:spcPts val="0"/>
                        </a:spcAft>
                      </a:pPr>
                      <a:r>
                        <a:rPr lang="en-US" sz="1800" u="none" strike="noStrike" dirty="0">
                          <a:effectLst/>
                        </a:rPr>
                        <a:t>between</a:t>
                      </a:r>
                      <a:r>
                        <a:rPr lang="en-US" sz="1800" dirty="0">
                          <a:effectLst/>
                        </a:rPr>
                        <a:t>(</a:t>
                      </a:r>
                      <a:r>
                        <a:rPr lang="en-US" sz="1800" u="none" strike="noStrike" dirty="0">
                          <a:effectLst/>
                        </a:rPr>
                        <a:t>Temporal</a:t>
                      </a:r>
                      <a:r>
                        <a:rPr lang="en-US" sz="1800" dirty="0">
                          <a:effectLst/>
                        </a:rPr>
                        <a:t> </a:t>
                      </a:r>
                      <a:r>
                        <a:rPr lang="en-US" sz="1800" dirty="0" err="1">
                          <a:effectLst/>
                        </a:rPr>
                        <a:t>startInclusive</a:t>
                      </a:r>
                      <a:r>
                        <a:rPr lang="en-US" sz="1800" dirty="0">
                          <a:effectLst/>
                        </a:rPr>
                        <a:t>, </a:t>
                      </a:r>
                      <a:r>
                        <a:rPr lang="en-US" sz="1800" u="none" strike="noStrike" dirty="0">
                          <a:effectLst/>
                        </a:rPr>
                        <a:t>Temporal</a:t>
                      </a:r>
                      <a:r>
                        <a:rPr lang="en-US" sz="1800" dirty="0">
                          <a:effectLst/>
                        </a:rPr>
                        <a:t> </a:t>
                      </a:r>
                      <a:r>
                        <a:rPr lang="en-US" sz="1800" dirty="0" err="1">
                          <a:effectLst/>
                        </a:rPr>
                        <a:t>endExclusive</a:t>
                      </a:r>
                      <a:r>
                        <a:rPr lang="en-US" sz="1800" dirty="0">
                          <a:effectLst/>
                        </a:rPr>
                        <a: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获取一个</a:t>
                      </a:r>
                      <a:r>
                        <a:rPr lang="en-US" sz="1800">
                          <a:effectLst/>
                        </a:rPr>
                        <a:t>Duration</a:t>
                      </a:r>
                      <a:r>
                        <a:rPr lang="zh-CN" sz="1800">
                          <a:effectLst/>
                        </a:rPr>
                        <a:t>表示两个时间对象之间的持续时间。</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438464">
                <a:tc>
                  <a:txBody>
                    <a:bodyPr/>
                    <a:lstStyle/>
                    <a:p>
                      <a:pPr indent="266700">
                        <a:spcAft>
                          <a:spcPts val="0"/>
                        </a:spcAft>
                      </a:pPr>
                      <a:r>
                        <a:rPr lang="en-US" sz="1800" dirty="0" err="1">
                          <a:effectLst/>
                        </a:rPr>
                        <a:t>toDays</a:t>
                      </a:r>
                      <a:r>
                        <a:rPr lang="en-US" sz="1800" dirty="0">
                          <a:effectLst/>
                        </a:rPr>
                        <a:t>() </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将时间转换为以天为单位的</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91819">
                <a:tc>
                  <a:txBody>
                    <a:bodyPr/>
                    <a:lstStyle/>
                    <a:p>
                      <a:pPr indent="266700">
                        <a:spcAft>
                          <a:spcPts val="0"/>
                        </a:spcAft>
                      </a:pPr>
                      <a:r>
                        <a:rPr lang="en-US" sz="1800" dirty="0" err="1">
                          <a:effectLst/>
                        </a:rPr>
                        <a:t>toHours</a:t>
                      </a:r>
                      <a:r>
                        <a:rPr lang="en-US" sz="1800" dirty="0">
                          <a:effectLst/>
                        </a:rPr>
                        <a:t>() </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将时间转换为以时为单位的</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391819">
                <a:tc>
                  <a:txBody>
                    <a:bodyPr/>
                    <a:lstStyle/>
                    <a:p>
                      <a:pPr indent="266700">
                        <a:spcAft>
                          <a:spcPts val="0"/>
                        </a:spcAft>
                      </a:pPr>
                      <a:r>
                        <a:rPr lang="en-US" sz="1800" dirty="0" err="1">
                          <a:effectLst/>
                        </a:rPr>
                        <a:t>toMinutes</a:t>
                      </a:r>
                      <a:r>
                        <a:rPr lang="en-US" sz="1800" dirty="0">
                          <a:effectLst/>
                        </a:rPr>
                        <a:t>() </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将时间转换为以分钟为单位的</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391819">
                <a:tc>
                  <a:txBody>
                    <a:bodyPr/>
                    <a:lstStyle/>
                    <a:p>
                      <a:pPr indent="266700">
                        <a:spcAft>
                          <a:spcPts val="0"/>
                        </a:spcAft>
                      </a:pPr>
                      <a:r>
                        <a:rPr lang="en-US" sz="1800" dirty="0" err="1">
                          <a:effectLst/>
                        </a:rPr>
                        <a:t>toMillis</a:t>
                      </a:r>
                      <a:r>
                        <a:rPr lang="en-US" sz="1800" dirty="0">
                          <a:effectLst/>
                        </a:rPr>
                        <a:t>() </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a:effectLst/>
                        </a:rPr>
                        <a:t>将时间转换为以毫秒为单位的</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91819">
                <a:tc>
                  <a:txBody>
                    <a:bodyPr/>
                    <a:lstStyle/>
                    <a:p>
                      <a:pPr indent="266700">
                        <a:spcAft>
                          <a:spcPts val="0"/>
                        </a:spcAft>
                      </a:pPr>
                      <a:r>
                        <a:rPr lang="en-US" sz="1800" dirty="0" err="1">
                          <a:effectLst/>
                        </a:rPr>
                        <a:t>toNanos</a:t>
                      </a:r>
                      <a:r>
                        <a:rPr lang="en-US" sz="1800" dirty="0">
                          <a:effectLst/>
                        </a:rPr>
                        <a:t>() </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spcAft>
                          <a:spcPts val="0"/>
                        </a:spcAft>
                      </a:pPr>
                      <a:r>
                        <a:rPr lang="zh-CN" sz="1800" dirty="0">
                          <a:effectLst/>
                        </a:rPr>
                        <a:t>将时间转换为以纳秒为单位的</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文本占位符 3"/>
          <p:cNvSpPr>
            <a:spLocks noGrp="1"/>
          </p:cNvSpPr>
          <p:nvPr>
            <p:ph type="body" sz="quarter" idx="10"/>
          </p:nvPr>
        </p:nvSpPr>
        <p:spPr/>
        <p:txBody>
          <a:bodyPr/>
          <a:lstStyle/>
          <a:p>
            <a:fld id="{8B4C1247-3B30-47F6-AAC1-29DD27F6F9EB}" type="slidenum">
              <a:rPr lang="zh-CN" altLang="en-US" smtClean="0"/>
              <a:t>98</a:t>
            </a:fld>
            <a:endParaRPr lang="zh-CN" altLang="en-US" dirty="0"/>
          </a:p>
        </p:txBody>
      </p:sp>
    </p:spTree>
    <p:custDataLst>
      <p:tags r:id="rId1"/>
    </p:custDataLst>
    <p:extLst>
      <p:ext uri="{BB962C8B-B14F-4D97-AF65-F5344CB8AC3E}">
        <p14:creationId xmlns:p14="http://schemas.microsoft.com/office/powerpoint/2010/main" val="3684690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5.4.4 Period</a:t>
            </a:r>
            <a:r>
              <a:rPr lang="zh-CN" altLang="en-US"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Duration</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7" y="1209040"/>
            <a:ext cx="9489441"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接下来通过一个案例讲解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类中常用方法的使用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682240" y="1940560"/>
            <a:ext cx="7152639" cy="4287520"/>
            <a:chOff x="2682240" y="1940560"/>
            <a:chExt cx="7152639" cy="4287520"/>
          </a:xfrm>
        </p:grpSpPr>
        <p:pic>
          <p:nvPicPr>
            <p:cNvPr id="1617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240" y="1940560"/>
              <a:ext cx="7152639" cy="4287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119120" y="1940560"/>
              <a:ext cx="6593841" cy="4287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java.time.Duration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java.time.LocalTime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Example24{</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start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LocalTime.now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end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LocalTime.of</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(20,13,23);</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Duration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Duration.between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(start, end);</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间隔的时间</a:t>
              </a: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时间间隔为：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duration.toNanos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纳秒</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时间间隔为：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duration.toMillis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毫秒</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时间间隔为：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duration.toHours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小时</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C6B53D23-301C-4FEC-B478-3B646998FDF1}" type="slidenum">
              <a:rPr lang="zh-CN" altLang="en-US" smtClean="0"/>
              <a:t>99</a:t>
            </a:fld>
            <a:endParaRPr lang="zh-CN" altLang="en-US" dirty="0"/>
          </a:p>
        </p:txBody>
      </p:sp>
    </p:spTree>
    <p:custDataLst>
      <p:tags r:id="rId1"/>
    </p:custDataLst>
    <p:extLst>
      <p:ext uri="{BB962C8B-B14F-4D97-AF65-F5344CB8AC3E}">
        <p14:creationId xmlns:p14="http://schemas.microsoft.com/office/powerpoint/2010/main" val="4127280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out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5.4.4 Period</a:t>
            </a:r>
            <a:r>
              <a:rPr lang="zh-CN" altLang="en-US"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Duration</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1592577" y="1402080"/>
            <a:ext cx="9489441" cy="802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456145" y="2622232"/>
            <a:ext cx="6412547" cy="2386648"/>
          </a:xfrm>
          <a:prstGeom prst="rect">
            <a:avLst/>
          </a:prstGeom>
        </p:spPr>
      </p:pic>
      <p:sp>
        <p:nvSpPr>
          <p:cNvPr id="3" name="文本占位符 2"/>
          <p:cNvSpPr>
            <a:spLocks noGrp="1"/>
          </p:cNvSpPr>
          <p:nvPr>
            <p:ph type="body" sz="quarter" idx="10"/>
          </p:nvPr>
        </p:nvSpPr>
        <p:spPr/>
        <p:txBody>
          <a:bodyPr/>
          <a:lstStyle/>
          <a:p>
            <a:fld id="{195F533F-B676-400E-B7AF-63569F5DDE73}" type="slidenum">
              <a:rPr lang="zh-CN" altLang="en-US" smtClean="0"/>
              <a:t>100</a:t>
            </a:fld>
            <a:endParaRPr lang="zh-CN" altLang="en-US" dirty="0"/>
          </a:p>
        </p:txBody>
      </p:sp>
    </p:spTree>
    <p:custDataLst>
      <p:tags r:id="rId1"/>
    </p:custDataLst>
    <p:extLst>
      <p:ext uri="{BB962C8B-B14F-4D97-AF65-F5344CB8AC3E}">
        <p14:creationId xmlns:p14="http://schemas.microsoft.com/office/powerpoint/2010/main" val="41759669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5.4.4 Period</a:t>
            </a:r>
            <a:r>
              <a:rPr lang="zh-CN" altLang="en-US"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Duration</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内容占位符 2"/>
          <p:cNvSpPr txBox="1"/>
          <p:nvPr/>
        </p:nvSpPr>
        <p:spPr>
          <a:xfrm>
            <a:off x="5140958" y="1588174"/>
            <a:ext cx="5354320" cy="3657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 Period</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Period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主要用于计算两个日期的间隔，与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Duration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相同，也是通过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between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计算日期间隔，并提供了获取年月日的三个常用方法，分别是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getYears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getMonths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getDays</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628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9158" y="1544319"/>
            <a:ext cx="297180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8E6DC069-16DF-411A-88AA-605793A7C696}" type="slidenum">
              <a:rPr lang="zh-CN" altLang="en-US" smtClean="0"/>
              <a:t>101</a:t>
            </a:fld>
            <a:endParaRPr lang="zh-CN" altLang="en-US" dirty="0"/>
          </a:p>
        </p:txBody>
      </p:sp>
    </p:spTree>
    <p:custDataLst>
      <p:tags r:id="rId1"/>
    </p:custDataLst>
    <p:extLst>
      <p:ext uri="{BB962C8B-B14F-4D97-AF65-F5344CB8AC3E}">
        <p14:creationId xmlns:p14="http://schemas.microsoft.com/office/powerpoint/2010/main" val="5435405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2819"/>
                                        </p:tgtEl>
                                        <p:attrNameLst>
                                          <p:attrName>style.visibility</p:attrName>
                                        </p:attrNameLst>
                                      </p:cBhvr>
                                      <p:to>
                                        <p:strVal val="visible"/>
                                      </p:to>
                                    </p:set>
                                    <p:animEffect transition="in" filter="fade">
                                      <p:cBhvr>
                                        <p:cTn id="7" dur="500"/>
                                        <p:tgtEl>
                                          <p:spTgt spid="16281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5.4.4 Period</a:t>
            </a:r>
            <a:r>
              <a:rPr lang="zh-CN" altLang="en-US"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Duration</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590800" y="1341120"/>
            <a:ext cx="8229600" cy="4907280"/>
            <a:chOff x="2296160" y="1310640"/>
            <a:chExt cx="8229600" cy="4907280"/>
          </a:xfrm>
        </p:grpSpPr>
        <p:pic>
          <p:nvPicPr>
            <p:cNvPr id="1638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6160" y="1310640"/>
              <a:ext cx="8229600" cy="490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824480" y="1381760"/>
              <a:ext cx="7142481" cy="4836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java.time.LocalDate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java.time.Period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birthday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(2018, 12, 12);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now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LocalDate.now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计算两个日期的间隔</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Period between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Period.between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(birthday, now);</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时间间隔为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between.getYears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时间间隔为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between.getMonths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时间间隔为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between.getDays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天</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6C81058-D2A9-4BBC-AC52-84A1C62BDD16}" type="slidenum">
              <a:rPr lang="zh-CN" altLang="en-US" smtClean="0"/>
              <a:t>102</a:t>
            </a:fld>
            <a:endParaRPr lang="zh-CN" altLang="en-US" dirty="0"/>
          </a:p>
        </p:txBody>
      </p:sp>
    </p:spTree>
    <p:custDataLst>
      <p:tags r:id="rId1"/>
    </p:custDataLst>
    <p:extLst>
      <p:ext uri="{BB962C8B-B14F-4D97-AF65-F5344CB8AC3E}">
        <p14:creationId xmlns:p14="http://schemas.microsoft.com/office/powerpoint/2010/main" val="17794011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80518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5.4.4 Period</a:t>
            </a:r>
            <a:r>
              <a:rPr lang="zh-CN" altLang="en-US"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Duration</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52880" y="1402080"/>
            <a:ext cx="9509761" cy="822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098800" y="2473960"/>
            <a:ext cx="6839267" cy="2240280"/>
          </a:xfrm>
          <a:prstGeom prst="rect">
            <a:avLst/>
          </a:prstGeom>
        </p:spPr>
      </p:pic>
      <p:sp>
        <p:nvSpPr>
          <p:cNvPr id="3" name="文本占位符 2"/>
          <p:cNvSpPr>
            <a:spLocks noGrp="1"/>
          </p:cNvSpPr>
          <p:nvPr>
            <p:ph type="body" sz="quarter" idx="10"/>
          </p:nvPr>
        </p:nvSpPr>
        <p:spPr/>
        <p:txBody>
          <a:bodyPr/>
          <a:lstStyle/>
          <a:p>
            <a:fld id="{F190078A-B0F9-45E8-BCFF-EB3991EC1EC6}" type="slidenum">
              <a:rPr lang="zh-CN" altLang="en-US" smtClean="0"/>
              <a:t>103</a:t>
            </a:fld>
            <a:endParaRPr lang="zh-CN" altLang="en-US" dirty="0"/>
          </a:p>
        </p:txBody>
      </p:sp>
    </p:spTree>
    <p:custDataLst>
      <p:tags r:id="rId1"/>
    </p:custDataLst>
    <p:extLst>
      <p:ext uri="{BB962C8B-B14F-4D97-AF65-F5344CB8AC3E}">
        <p14:creationId xmlns:p14="http://schemas.microsoft.com/office/powerpoint/2010/main" val="31968254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653280" y="1412240"/>
            <a:ext cx="6502400" cy="4500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是一种面向对象的语言，</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中的类可以把方法与数据连接在一起，但是</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语言中却不能把基本的数据类型作为对象来处理</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。而某些场合下可能需要把基本数据类型的数据作为对象来使用，为了解决这样的问题，</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中提供了一系列的包装类，可以把基本数据类型的值包装为引用数据类型的对象，在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中，每种基本类型都有对应的包装类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648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5236" y="1601628"/>
            <a:ext cx="3116263" cy="387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71E7E281-A59C-4805-81A4-E3D5B7271F00}" type="slidenum">
              <a:rPr lang="zh-CN" altLang="en-US" smtClean="0"/>
              <a:t>104</a:t>
            </a:fld>
            <a:endParaRPr lang="zh-CN" altLang="en-US" dirty="0"/>
          </a:p>
        </p:txBody>
      </p:sp>
    </p:spTree>
    <p:custDataLst>
      <p:tags r:id="rId1"/>
    </p:custDataLst>
    <p:extLst>
      <p:ext uri="{BB962C8B-B14F-4D97-AF65-F5344CB8AC3E}">
        <p14:creationId xmlns:p14="http://schemas.microsoft.com/office/powerpoint/2010/main" val="2637193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4866"/>
                                        </p:tgtEl>
                                        <p:attrNameLst>
                                          <p:attrName>style.visibility</p:attrName>
                                        </p:attrNameLst>
                                      </p:cBhvr>
                                      <p:to>
                                        <p:strVal val="visible"/>
                                      </p:to>
                                    </p:set>
                                    <p:animEffect transition="in" filter="fade">
                                      <p:cBhvr>
                                        <p:cTn id="7" dur="500"/>
                                        <p:tgtEl>
                                          <p:spTgt spid="16486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2255516" y="2173764"/>
          <a:ext cx="8205789" cy="3048480"/>
        </p:xfrm>
        <a:graphic>
          <a:graphicData uri="http://schemas.openxmlformats.org/drawingml/2006/table">
            <a:tbl>
              <a:tblPr firstRow="1" firstCol="1" bandRow="1">
                <a:tableStyleId>{5C22544A-7EE6-4342-B048-85BDC9FD1C3A}</a:tableStyleId>
              </a:tblPr>
              <a:tblGrid>
                <a:gridCol w="3861022">
                  <a:extLst>
                    <a:ext uri="{9D8B030D-6E8A-4147-A177-3AD203B41FA5}">
                      <a16:colId xmlns:a16="http://schemas.microsoft.com/office/drawing/2014/main" val="20000"/>
                    </a:ext>
                  </a:extLst>
                </a:gridCol>
                <a:gridCol w="4344767">
                  <a:extLst>
                    <a:ext uri="{9D8B030D-6E8A-4147-A177-3AD203B41FA5}">
                      <a16:colId xmlns:a16="http://schemas.microsoft.com/office/drawing/2014/main" val="20001"/>
                    </a:ext>
                  </a:extLst>
                </a:gridCol>
              </a:tblGrid>
              <a:tr h="338720">
                <a:tc>
                  <a:txBody>
                    <a:bodyPr/>
                    <a:lstStyle/>
                    <a:p>
                      <a:pPr algn="ctr">
                        <a:spcAft>
                          <a:spcPts val="0"/>
                        </a:spcAft>
                      </a:pPr>
                      <a:r>
                        <a:rPr lang="zh-CN" sz="1800" dirty="0">
                          <a:effectLst/>
                        </a:rPr>
                        <a:t>基本数据类型</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zh-CN" sz="1800">
                          <a:effectLst/>
                        </a:rPr>
                        <a:t>对应的包装类</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38720">
                <a:tc>
                  <a:txBody>
                    <a:bodyPr/>
                    <a:lstStyle/>
                    <a:p>
                      <a:pPr algn="ctr">
                        <a:spcAft>
                          <a:spcPts val="0"/>
                        </a:spcAft>
                      </a:pPr>
                      <a:r>
                        <a:rPr lang="en-US" sz="1800">
                          <a:effectLst/>
                        </a:rPr>
                        <a:t>byte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a:effectLst/>
                        </a:rPr>
                        <a:t>Byte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38720">
                <a:tc>
                  <a:txBody>
                    <a:bodyPr/>
                    <a:lstStyle/>
                    <a:p>
                      <a:pPr algn="ctr">
                        <a:spcAft>
                          <a:spcPts val="0"/>
                        </a:spcAft>
                      </a:pPr>
                      <a:r>
                        <a:rPr lang="en-US" sz="1800">
                          <a:effectLst/>
                        </a:rPr>
                        <a:t>char</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a:effectLst/>
                        </a:rPr>
                        <a:t>Character</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38720">
                <a:tc>
                  <a:txBody>
                    <a:bodyPr/>
                    <a:lstStyle/>
                    <a:p>
                      <a:pPr algn="ctr">
                        <a:spcAft>
                          <a:spcPts val="0"/>
                        </a:spcAft>
                      </a:pPr>
                      <a:r>
                        <a:rPr lang="en-US" sz="1800">
                          <a:effectLst/>
                        </a:rPr>
                        <a:t>int</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a:effectLst/>
                        </a:rPr>
                        <a:t>Integer</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338720">
                <a:tc>
                  <a:txBody>
                    <a:bodyPr/>
                    <a:lstStyle/>
                    <a:p>
                      <a:pPr algn="ctr">
                        <a:spcAft>
                          <a:spcPts val="0"/>
                        </a:spcAft>
                      </a:pPr>
                      <a:r>
                        <a:rPr lang="en-US" sz="1800" dirty="0">
                          <a:effectLst/>
                        </a:rPr>
                        <a:t>short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dirty="0">
                          <a:effectLst/>
                        </a:rPr>
                        <a:t>Short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338720">
                <a:tc>
                  <a:txBody>
                    <a:bodyPr/>
                    <a:lstStyle/>
                    <a:p>
                      <a:pPr algn="ctr">
                        <a:spcAft>
                          <a:spcPts val="0"/>
                        </a:spcAft>
                      </a:pPr>
                      <a:r>
                        <a:rPr lang="en-US" sz="1800" dirty="0">
                          <a:effectLst/>
                        </a:rPr>
                        <a:t>long</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a:effectLst/>
                        </a:rPr>
                        <a:t>Long</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38720">
                <a:tc>
                  <a:txBody>
                    <a:bodyPr/>
                    <a:lstStyle/>
                    <a:p>
                      <a:pPr algn="ctr">
                        <a:spcAft>
                          <a:spcPts val="0"/>
                        </a:spcAft>
                      </a:pPr>
                      <a:r>
                        <a:rPr lang="en-US" sz="1800">
                          <a:effectLst/>
                        </a:rPr>
                        <a:t>float</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a:effectLst/>
                        </a:rPr>
                        <a:t>Float</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338720">
                <a:tc>
                  <a:txBody>
                    <a:bodyPr/>
                    <a:lstStyle/>
                    <a:p>
                      <a:pPr algn="ctr">
                        <a:spcAft>
                          <a:spcPts val="0"/>
                        </a:spcAft>
                      </a:pPr>
                      <a:r>
                        <a:rPr lang="en-US" sz="1800">
                          <a:effectLst/>
                        </a:rPr>
                        <a:t>double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a:effectLst/>
                        </a:rPr>
                        <a:t>Double</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338720">
                <a:tc>
                  <a:txBody>
                    <a:bodyPr/>
                    <a:lstStyle/>
                    <a:p>
                      <a:pPr algn="ctr">
                        <a:spcAft>
                          <a:spcPts val="0"/>
                        </a:spcAft>
                      </a:pPr>
                      <a:r>
                        <a:rPr lang="en-US" sz="1800" dirty="0" err="1">
                          <a:effectLst/>
                        </a:rPr>
                        <a:t>boolean</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lgn="ctr">
                        <a:spcAft>
                          <a:spcPts val="0"/>
                        </a:spcAft>
                      </a:pPr>
                      <a:r>
                        <a:rPr lang="en-US" sz="1800" dirty="0">
                          <a:effectLst/>
                        </a:rPr>
                        <a:t>Boolean</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bl>
          </a:graphicData>
        </a:graphic>
      </p:graphicFrame>
      <p:sp>
        <p:nvSpPr>
          <p:cNvPr id="8" name="内容占位符 2"/>
          <p:cNvSpPr txBox="1"/>
          <p:nvPr/>
        </p:nvSpPr>
        <p:spPr>
          <a:xfrm>
            <a:off x="2311398" y="1290320"/>
            <a:ext cx="6502400" cy="721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各</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种基本类型都有对应的包装类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占位符 3"/>
          <p:cNvSpPr>
            <a:spLocks noGrp="1"/>
          </p:cNvSpPr>
          <p:nvPr>
            <p:ph type="body" sz="quarter" idx="10"/>
          </p:nvPr>
        </p:nvSpPr>
        <p:spPr/>
        <p:txBody>
          <a:bodyPr/>
          <a:lstStyle/>
          <a:p>
            <a:fld id="{C47D166E-2A65-43E6-85D2-D5A97DEC663B}" type="slidenum">
              <a:rPr lang="zh-CN" altLang="en-US" smtClean="0"/>
              <a:t>105</a:t>
            </a:fld>
            <a:endParaRPr lang="zh-CN" altLang="en-US" dirty="0"/>
          </a:p>
        </p:txBody>
      </p:sp>
    </p:spTree>
    <p:custDataLst>
      <p:tags r:id="rId1"/>
    </p:custDataLst>
    <p:extLst>
      <p:ext uri="{BB962C8B-B14F-4D97-AF65-F5344CB8AC3E}">
        <p14:creationId xmlns:p14="http://schemas.microsoft.com/office/powerpoint/2010/main" val="68747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443478" y="2093404"/>
            <a:ext cx="5095242" cy="3058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包装类和基本数据类型在进行转换时，引入了</a:t>
            </a:r>
            <a:r>
              <a:rPr lang="zh-CN" altLang="zh-CN" sz="2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装箱和拆箱</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的概念，其中装箱是指将基本数据类型的值转为引用数据类型，反之，拆箱是指将引用数据类型的对象转为基本数据类型。</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720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8641" y="1742946"/>
            <a:ext cx="2813368" cy="3443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3F54C060-6AC8-4783-9023-E31F7CE70266}" type="slidenum">
              <a:rPr lang="zh-CN" altLang="en-US" smtClean="0"/>
              <a:t>106</a:t>
            </a:fld>
            <a:endParaRPr lang="zh-CN" altLang="en-US" dirty="0"/>
          </a:p>
        </p:txBody>
      </p:sp>
    </p:spTree>
    <p:custDataLst>
      <p:tags r:id="rId1"/>
    </p:custDataLst>
    <p:extLst>
      <p:ext uri="{BB962C8B-B14F-4D97-AF65-F5344CB8AC3E}">
        <p14:creationId xmlns:p14="http://schemas.microsoft.com/office/powerpoint/2010/main" val="80264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2034"/>
                                        </p:tgtEl>
                                        <p:attrNameLst>
                                          <p:attrName>style.visibility</p:attrName>
                                        </p:attrNameLst>
                                      </p:cBhvr>
                                      <p:to>
                                        <p:strVal val="visible"/>
                                      </p:to>
                                    </p:set>
                                    <p:animEffect transition="in" filter="fade">
                                      <p:cBhvr>
                                        <p:cTn id="11" dur="500"/>
                                        <p:tgtEl>
                                          <p:spTgt spid="172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788160" y="1290986"/>
            <a:ext cx="9204960" cy="130003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接下来以</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类型的包装类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为例，通过一个案例演示装箱与拆箱的过程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3302000" y="2449226"/>
            <a:ext cx="6360160" cy="3778854"/>
            <a:chOff x="3088640" y="2418746"/>
            <a:chExt cx="6360160" cy="3778854"/>
          </a:xfrm>
        </p:grpSpPr>
        <p:pic>
          <p:nvPicPr>
            <p:cNvPr id="1730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8640" y="2418746"/>
              <a:ext cx="6360160" cy="3778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698240" y="2418746"/>
              <a:ext cx="5151120" cy="37788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Example26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 a = 20;</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 in = 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自动装箱</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System.out.println(in);</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 l =in;//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自动拆箱</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System.out.println(l);</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1386FF59-B730-450E-A944-B9D93BB97DE3}" type="slidenum">
              <a:rPr lang="zh-CN" altLang="en-US" smtClean="0"/>
              <a:t>107</a:t>
            </a:fld>
            <a:endParaRPr lang="zh-CN" altLang="en-US" dirty="0"/>
          </a:p>
        </p:txBody>
      </p:sp>
    </p:spTree>
    <p:custDataLst>
      <p:tags r:id="rId1"/>
    </p:custDataLst>
    <p:extLst>
      <p:ext uri="{BB962C8B-B14F-4D97-AF65-F5344CB8AC3E}">
        <p14:creationId xmlns:p14="http://schemas.microsoft.com/office/powerpoint/2010/main" val="190180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6" presetClass="entr" presetSubtype="2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5130800" y="1588174"/>
            <a:ext cx="5476240" cy="358581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上述案例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演示了包装类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的装箱过程和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的拆箱过程，在创建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对象时，将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类型的变量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作为参数传入，从而转为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类型。在创建基本数据类型</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时，将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类型的值</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直接赋值给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从而转为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9478" y="1498600"/>
            <a:ext cx="27241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748CA68-2ACF-4596-8F5C-D685F64D7AB1}" type="slidenum">
              <a:rPr lang="zh-CN" altLang="en-US" smtClean="0"/>
              <a:t>108</a:t>
            </a:fld>
            <a:endParaRPr lang="zh-CN" altLang="en-US" dirty="0"/>
          </a:p>
        </p:txBody>
      </p:sp>
    </p:spTree>
    <p:custDataLst>
      <p:tags r:id="rId1"/>
    </p:custDataLst>
    <p:extLst>
      <p:ext uri="{BB962C8B-B14F-4D97-AF65-F5344CB8AC3E}">
        <p14:creationId xmlns:p14="http://schemas.microsoft.com/office/powerpoint/2010/main" val="160223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42"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13840" y="1529413"/>
            <a:ext cx="9367520" cy="76674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类除了具有</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类的所有方法外，还有一些特有的方法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100263" y="2509521"/>
          <a:ext cx="8740457" cy="2949363"/>
        </p:xfrm>
        <a:graphic>
          <a:graphicData uri="http://schemas.openxmlformats.org/drawingml/2006/table">
            <a:tbl>
              <a:tblPr firstRow="1" firstCol="1" bandRow="1">
                <a:tableStyleId>{5C22544A-7EE6-4342-B048-85BDC9FD1C3A}</a:tableStyleId>
              </a:tblPr>
              <a:tblGrid>
                <a:gridCol w="3044323">
                  <a:extLst>
                    <a:ext uri="{9D8B030D-6E8A-4147-A177-3AD203B41FA5}">
                      <a16:colId xmlns:a16="http://schemas.microsoft.com/office/drawing/2014/main" val="20000"/>
                    </a:ext>
                  </a:extLst>
                </a:gridCol>
                <a:gridCol w="5696134">
                  <a:extLst>
                    <a:ext uri="{9D8B030D-6E8A-4147-A177-3AD203B41FA5}">
                      <a16:colId xmlns:a16="http://schemas.microsoft.com/office/drawing/2014/main" val="20001"/>
                    </a:ext>
                  </a:extLst>
                </a:gridCol>
              </a:tblGrid>
              <a:tr h="592249">
                <a:tc>
                  <a:txBody>
                    <a:bodyPr/>
                    <a:lstStyle/>
                    <a:p>
                      <a:pPr indent="266700" algn="ctr">
                        <a:spcAft>
                          <a:spcPts val="0"/>
                        </a:spcAft>
                      </a:pPr>
                      <a:r>
                        <a:rPr lang="zh-CN" sz="1800" dirty="0">
                          <a:effectLst/>
                        </a:rPr>
                        <a:t>方法声明</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800">
                          <a:effectLst/>
                        </a:rPr>
                        <a:t>功能描述</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98192">
                <a:tc>
                  <a:txBody>
                    <a:bodyPr/>
                    <a:lstStyle/>
                    <a:p>
                      <a:pPr>
                        <a:spcAft>
                          <a:spcPts val="0"/>
                        </a:spcAft>
                      </a:pPr>
                      <a:r>
                        <a:rPr lang="en-US" sz="1800" dirty="0">
                          <a:effectLst/>
                        </a:rPr>
                        <a:t>Integer </a:t>
                      </a:r>
                      <a:r>
                        <a:rPr lang="en-US" sz="1800" u="none" strike="noStrike" dirty="0" err="1">
                          <a:effectLst/>
                        </a:rPr>
                        <a:t>valueOf</a:t>
                      </a:r>
                      <a:r>
                        <a:rPr lang="en-US" sz="1800" dirty="0">
                          <a:effectLst/>
                        </a:rPr>
                        <a:t>(</a:t>
                      </a:r>
                      <a:r>
                        <a:rPr lang="en-US" sz="1800" dirty="0" err="1">
                          <a:effectLst/>
                        </a:rPr>
                        <a:t>int</a:t>
                      </a:r>
                      <a:r>
                        <a:rPr lang="en-US" sz="1800" dirty="0">
                          <a:effectLst/>
                        </a:rPr>
                        <a:t> </a:t>
                      </a:r>
                      <a:r>
                        <a:rPr lang="en-US" sz="1800" dirty="0" err="1">
                          <a:effectLst/>
                        </a:rPr>
                        <a:t>i</a:t>
                      </a:r>
                      <a:r>
                        <a:rPr lang="en-US" sz="1800" dirty="0">
                          <a:effectLst/>
                        </a:rPr>
                        <a: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返回一个表示指定的</a:t>
                      </a:r>
                      <a:r>
                        <a:rPr lang="en-US" sz="1800">
                          <a:effectLst/>
                        </a:rPr>
                        <a:t>int</a:t>
                      </a:r>
                      <a:r>
                        <a:rPr lang="zh-CN" sz="1800">
                          <a:effectLst/>
                        </a:rPr>
                        <a:t>值的</a:t>
                      </a:r>
                      <a:r>
                        <a:rPr lang="en-US" sz="1800">
                          <a:effectLst/>
                        </a:rPr>
                        <a:t> Integer </a:t>
                      </a:r>
                      <a:r>
                        <a:rPr lang="zh-CN" sz="1800">
                          <a:effectLst/>
                        </a:rPr>
                        <a:t>实例</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98192">
                <a:tc>
                  <a:txBody>
                    <a:bodyPr/>
                    <a:lstStyle/>
                    <a:p>
                      <a:pPr>
                        <a:spcAft>
                          <a:spcPts val="0"/>
                        </a:spcAft>
                      </a:pPr>
                      <a:r>
                        <a:rPr lang="en-US" sz="1800" dirty="0">
                          <a:effectLst/>
                        </a:rPr>
                        <a:t>Integer </a:t>
                      </a:r>
                      <a:r>
                        <a:rPr lang="en-US" sz="1800" u="none" strike="noStrike" dirty="0" err="1">
                          <a:effectLst/>
                        </a:rPr>
                        <a:t>valueOf</a:t>
                      </a:r>
                      <a:r>
                        <a:rPr lang="en-US" sz="1800" dirty="0">
                          <a:effectLst/>
                        </a:rPr>
                        <a:t>(</a:t>
                      </a:r>
                      <a:r>
                        <a:rPr lang="en-US" sz="1800" u="none" strike="noStrike" dirty="0">
                          <a:effectLst/>
                        </a:rPr>
                        <a:t>String</a:t>
                      </a:r>
                      <a:r>
                        <a:rPr lang="en-US" sz="1800" dirty="0">
                          <a:effectLst/>
                        </a:rPr>
                        <a:t> s)</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返回保存指定的</a:t>
                      </a:r>
                      <a:r>
                        <a:rPr lang="en-US" sz="1800">
                          <a:effectLst/>
                        </a:rPr>
                        <a:t>String</a:t>
                      </a:r>
                      <a:r>
                        <a:rPr lang="zh-CN" sz="1800">
                          <a:effectLst/>
                        </a:rPr>
                        <a:t>的值的</a:t>
                      </a:r>
                      <a:r>
                        <a:rPr lang="en-US" sz="1800">
                          <a:effectLst/>
                        </a:rPr>
                        <a:t> Integer </a:t>
                      </a:r>
                      <a:r>
                        <a:rPr lang="zh-CN" sz="1800">
                          <a:effectLst/>
                        </a:rPr>
                        <a:t>对象</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98192">
                <a:tc>
                  <a:txBody>
                    <a:bodyPr/>
                    <a:lstStyle/>
                    <a:p>
                      <a:pPr>
                        <a:spcAft>
                          <a:spcPts val="0"/>
                        </a:spcAft>
                      </a:pPr>
                      <a:r>
                        <a:rPr lang="en-US" sz="1800" dirty="0" err="1">
                          <a:effectLst/>
                        </a:rPr>
                        <a:t>int</a:t>
                      </a:r>
                      <a:r>
                        <a:rPr lang="en-US" sz="1800" dirty="0">
                          <a:effectLst/>
                        </a:rPr>
                        <a:t> </a:t>
                      </a:r>
                      <a:r>
                        <a:rPr lang="en-US" sz="1800" u="none" strike="noStrike" dirty="0" err="1">
                          <a:effectLst/>
                        </a:rPr>
                        <a:t>parseInt</a:t>
                      </a:r>
                      <a:r>
                        <a:rPr lang="en-US" sz="1800" dirty="0">
                          <a:effectLst/>
                        </a:rPr>
                        <a:t>(</a:t>
                      </a:r>
                      <a:r>
                        <a:rPr lang="en-US" sz="1800" u="none" strike="noStrike" dirty="0">
                          <a:effectLst/>
                        </a:rPr>
                        <a:t>String</a:t>
                      </a:r>
                      <a:r>
                        <a:rPr lang="en-US" sz="1800" dirty="0">
                          <a:effectLst/>
                        </a:rPr>
                        <a:t> s)</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a:effectLst/>
                        </a:rPr>
                        <a:t>将字符串参数作为有符号的十进制整数进行解析</a:t>
                      </a:r>
                      <a:endParaRPr lang="zh-CN" sz="18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62538">
                <a:tc>
                  <a:txBody>
                    <a:bodyPr/>
                    <a:lstStyle/>
                    <a:p>
                      <a:pPr>
                        <a:spcAft>
                          <a:spcPts val="0"/>
                        </a:spcAft>
                      </a:pPr>
                      <a:r>
                        <a:rPr lang="en-US" sz="1800" u="none" strike="noStrike" dirty="0" err="1">
                          <a:effectLst/>
                        </a:rPr>
                        <a:t>intValue</a:t>
                      </a:r>
                      <a:r>
                        <a:rPr lang="en-US" sz="1800" dirty="0">
                          <a:effectLst/>
                        </a:rPr>
                        <a:t>()</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800" dirty="0">
                          <a:effectLst/>
                        </a:rPr>
                        <a:t>将</a:t>
                      </a:r>
                      <a:r>
                        <a:rPr lang="en-US" sz="1800" dirty="0">
                          <a:effectLst/>
                        </a:rPr>
                        <a:t> Integer </a:t>
                      </a:r>
                      <a:r>
                        <a:rPr lang="zh-CN" sz="1800" dirty="0">
                          <a:effectLst/>
                        </a:rPr>
                        <a:t>类型的值以</a:t>
                      </a:r>
                      <a:r>
                        <a:rPr lang="en-US" sz="1800" dirty="0" err="1">
                          <a:effectLst/>
                        </a:rPr>
                        <a:t>int</a:t>
                      </a:r>
                      <a:r>
                        <a:rPr lang="zh-CN" sz="1800" dirty="0">
                          <a:effectLst/>
                        </a:rPr>
                        <a:t>类型返回</a:t>
                      </a:r>
                      <a:endParaRPr lang="zh-CN" sz="18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文本占位符 3"/>
          <p:cNvSpPr>
            <a:spLocks noGrp="1"/>
          </p:cNvSpPr>
          <p:nvPr>
            <p:ph type="body" sz="quarter" idx="10"/>
          </p:nvPr>
        </p:nvSpPr>
        <p:spPr/>
        <p:txBody>
          <a:bodyPr/>
          <a:lstStyle/>
          <a:p>
            <a:fld id="{10D96994-2444-411B-8BD7-80B023C9EEF3}" type="slidenum">
              <a:rPr lang="zh-CN" altLang="en-US" smtClean="0"/>
              <a:t>109</a:t>
            </a:fld>
            <a:endParaRPr lang="zh-CN" altLang="en-US" dirty="0"/>
          </a:p>
        </p:txBody>
      </p:sp>
    </p:spTree>
    <p:custDataLst>
      <p:tags r:id="rId1"/>
    </p:custDataLst>
    <p:extLst>
      <p:ext uri="{BB962C8B-B14F-4D97-AF65-F5344CB8AC3E}">
        <p14:creationId xmlns:p14="http://schemas.microsoft.com/office/powerpoint/2010/main" val="145128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0325" y="2047875"/>
            <a:ext cx="8296275"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50720" y="1305727"/>
            <a:ext cx="6238240" cy="7872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接下来通过一个案例演示这些方法的使用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2962910" y="2110106"/>
            <a:ext cx="7670800" cy="408431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Integer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num</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Integer(20);//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手动装箱</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sum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num.intValue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+ 10;//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手动拆箱</a:t>
            </a: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类值转化为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类型后与</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求和为：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sum);</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返回表示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Integer.valueOf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Integer.parseInt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("20")+32;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将字符串转化为整数位：</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w);</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4C440E4D-C544-4077-9C2E-F432D49E6878}" type="slidenum">
              <a:rPr lang="zh-CN" altLang="en-US" smtClean="0"/>
              <a:t>110</a:t>
            </a:fld>
            <a:endParaRPr lang="zh-CN" altLang="en-US" dirty="0"/>
          </a:p>
        </p:txBody>
      </p:sp>
    </p:spTree>
    <p:custDataLst>
      <p:tags r:id="rId1"/>
    </p:custDataLst>
    <p:extLst>
      <p:ext uri="{BB962C8B-B14F-4D97-AF65-F5344CB8AC3E}">
        <p14:creationId xmlns:p14="http://schemas.microsoft.com/office/powerpoint/2010/main" val="84683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50720" y="1437807"/>
            <a:ext cx="6238240" cy="7872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103085" y="2473483"/>
            <a:ext cx="7225347" cy="2834958"/>
          </a:xfrm>
          <a:prstGeom prst="rect">
            <a:avLst/>
          </a:prstGeom>
        </p:spPr>
      </p:pic>
      <p:sp>
        <p:nvSpPr>
          <p:cNvPr id="3" name="文本占位符 2"/>
          <p:cNvSpPr>
            <a:spLocks noGrp="1"/>
          </p:cNvSpPr>
          <p:nvPr>
            <p:ph type="body" sz="quarter" idx="10"/>
          </p:nvPr>
        </p:nvSpPr>
        <p:spPr/>
        <p:txBody>
          <a:bodyPr/>
          <a:lstStyle/>
          <a:p>
            <a:fld id="{A6FEB58E-CFD3-4695-A5D5-BDF9F4FC590F}" type="slidenum">
              <a:rPr lang="zh-CN" altLang="en-US" smtClean="0"/>
              <a:t>111</a:t>
            </a:fld>
            <a:endParaRPr lang="zh-CN" altLang="en-US" dirty="0"/>
          </a:p>
        </p:txBody>
      </p:sp>
    </p:spTree>
    <p:custDataLst>
      <p:tags r:id="rId1"/>
    </p:custDataLst>
    <p:extLst>
      <p:ext uri="{BB962C8B-B14F-4D97-AF65-F5344CB8AC3E}">
        <p14:creationId xmlns:p14="http://schemas.microsoft.com/office/powerpoint/2010/main" val="17284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28800" y="1681646"/>
            <a:ext cx="9448800" cy="36320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演示了手动拆箱的过程，</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对象通过调用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intValue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对象转为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类型，从而可以与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类型的变量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进行加法运算，最终将运算结果正确打印。</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valueOf</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类型的值转为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的实例。</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对象通过调用包装类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parseInt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方法将字符串转为整数，将字符串转为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类型，从而可以与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类型的常量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进行加法运算。</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AC47163E-D007-46A0-8C6A-C9EB0CB92EFE}" type="slidenum">
              <a:rPr lang="zh-CN" altLang="en-US" smtClean="0"/>
              <a:t>112</a:t>
            </a:fld>
            <a:endParaRPr lang="zh-CN" altLang="en-US" dirty="0"/>
          </a:p>
        </p:txBody>
      </p:sp>
    </p:spTree>
    <p:custDataLst>
      <p:tags r:id="rId1"/>
    </p:custDataLst>
    <p:extLst>
      <p:ext uri="{BB962C8B-B14F-4D97-AF65-F5344CB8AC3E}">
        <p14:creationId xmlns:p14="http://schemas.microsoft.com/office/powerpoint/2010/main" val="2967293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5471284" y="1874603"/>
            <a:ext cx="5181600" cy="277859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使用包装类时，需要注意以下几点：</a:t>
            </a: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）包装类都重写了</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Object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类中的</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toString</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方法，以字符串的形式返回被包装的基本数据类型的值。</a:t>
            </a:r>
          </a:p>
          <a:p>
            <a:pPr marL="0" indent="0" eaLnBrk="1" hangingPunct="1">
              <a:lnSpc>
                <a:spcPct val="150000"/>
              </a:lnSpc>
              <a:spcBef>
                <a:spcPct val="0"/>
              </a:spcBef>
              <a:buNone/>
              <a:defRPr/>
            </a:pPr>
            <a:endPar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139" y="1452324"/>
            <a:ext cx="2489200" cy="3983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A51DC478-F4C8-4EA5-AE62-5B1EF358E076}" type="slidenum">
              <a:rPr lang="zh-CN" altLang="en-US" smtClean="0"/>
              <a:t>113</a:t>
            </a:fld>
            <a:endParaRPr lang="zh-CN" altLang="en-US" dirty="0"/>
          </a:p>
        </p:txBody>
      </p:sp>
    </p:spTree>
    <p:custDataLst>
      <p:tags r:id="rId1"/>
    </p:custDataLst>
    <p:extLst>
      <p:ext uri="{BB962C8B-B14F-4D97-AF65-F5344CB8AC3E}">
        <p14:creationId xmlns:p14="http://schemas.microsoft.com/office/powerpoint/2010/main" val="28777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42"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96440" y="1752766"/>
            <a:ext cx="9011920" cy="34796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2</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）除了</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Character</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外，包装类都有</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valueOf</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(String s)</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方法，可以根据</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String</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类型的参数创建包装类对象，但参数字符串</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不能为</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null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，而且字符串必须是可以解析为相应基本类型的数据，否则虽然编译通过，但运行时会报错。具体示例如下：</a:t>
            </a:r>
          </a:p>
          <a:p>
            <a:pPr marL="0" indent="0" eaLnBrk="1" hangingPunct="1">
              <a:lnSpc>
                <a:spcPct val="150000"/>
              </a:lnSpc>
              <a:spcBef>
                <a:spcPct val="0"/>
              </a:spcBef>
              <a:buNone/>
              <a:defRPr/>
            </a:pPr>
            <a:r>
              <a:rPr lang="en-US"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Integer </a:t>
            </a:r>
            <a:r>
              <a:rPr lang="en-US" altLang="zh-CN" sz="18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a:t>
            </a:r>
            <a:r>
              <a:rPr lang="en-US"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 </a:t>
            </a:r>
            <a:r>
              <a:rPr lang="en-US" altLang="zh-CN" sz="18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Integer.valueOf</a:t>
            </a:r>
            <a:r>
              <a:rPr lang="en-US"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("123");       // </a:t>
            </a:r>
            <a:r>
              <a:rPr lang="zh-CN"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合法</a:t>
            </a:r>
          </a:p>
          <a:p>
            <a:pPr marL="0" indent="0" eaLnBrk="1" hangingPunct="1">
              <a:lnSpc>
                <a:spcPct val="150000"/>
              </a:lnSpc>
              <a:spcBef>
                <a:spcPct val="0"/>
              </a:spcBef>
              <a:buNone/>
              <a:defRPr/>
            </a:pPr>
            <a:r>
              <a:rPr lang="en-US"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Integer </a:t>
            </a:r>
            <a:r>
              <a:rPr lang="en-US" altLang="zh-CN" sz="18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a:t>
            </a:r>
            <a:r>
              <a:rPr lang="en-US"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 </a:t>
            </a:r>
            <a:r>
              <a:rPr lang="en-US" altLang="zh-CN" sz="18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Integer.valueOf</a:t>
            </a:r>
            <a:r>
              <a:rPr lang="en-US"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("12a");      // </a:t>
            </a:r>
            <a:r>
              <a:rPr lang="zh-CN" altLang="zh-CN" sz="18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不合法</a:t>
            </a:r>
          </a:p>
          <a:p>
            <a:pPr marL="0" indent="0" eaLnBrk="1" hangingPunct="1">
              <a:lnSpc>
                <a:spcPct val="150000"/>
              </a:lnSpc>
              <a:spcBef>
                <a:spcPct val="0"/>
              </a:spcBef>
              <a:buNone/>
              <a:defRPr/>
            </a:pPr>
            <a:endPar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FCAF8599-2763-4C10-B9D6-C7EB8B97A320}" type="slidenum">
              <a:rPr lang="zh-CN" altLang="en-US" smtClean="0"/>
              <a:t>114</a:t>
            </a:fld>
            <a:endParaRPr lang="zh-CN" altLang="en-US" dirty="0"/>
          </a:p>
        </p:txBody>
      </p:sp>
    </p:spTree>
    <p:custDataLst>
      <p:tags r:id="rId1"/>
    </p:custDataLst>
    <p:extLst>
      <p:ext uri="{BB962C8B-B14F-4D97-AF65-F5344CB8AC3E}">
        <p14:creationId xmlns:p14="http://schemas.microsoft.com/office/powerpoint/2010/main" val="236664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5.5 </a:t>
            </a:r>
            <a:r>
              <a:rPr lang="zh-CN" altLang="en-US" sz="3200" b="1" dirty="0">
                <a:solidFill>
                  <a:srgbClr val="1353A2"/>
                </a:solidFill>
                <a:latin typeface="微软雅黑" panose="020B0503020204020204" pitchFamily="34" charset="-122"/>
                <a:ea typeface="微软雅黑" panose="020B0503020204020204" pitchFamily="34" charset="-122"/>
              </a:rPr>
              <a:t>包装类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94840" y="1671486"/>
            <a:ext cx="9011920" cy="34796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3</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）除了</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Character</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外，包装类都有</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parseXxx</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(String s)</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的静态方法，将字符串转换为对应的基本类型的数据。参数</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不能为</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null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，而且同样字符串必须可以解析为相应基本类型的数据，否则虽然编译通过，但运行时会报错。具体示例如下：</a:t>
            </a:r>
          </a:p>
          <a:p>
            <a:pPr marL="0" indent="0" eaLnBrk="1" hangingPunct="1">
              <a:lnSpc>
                <a:spcPct val="150000"/>
              </a:lnSpc>
              <a:spcBef>
                <a:spcPct val="0"/>
              </a:spcBef>
              <a:buNone/>
              <a:defRPr/>
            </a:pP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int</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 </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Integer.parseInt</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("123");         	// </a:t>
            </a:r>
            <a:r>
              <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合法</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Integer in = </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Integer.parseInt</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itcast</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 </a:t>
            </a:r>
            <a:r>
              <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不合法 </a:t>
            </a:r>
          </a:p>
        </p:txBody>
      </p:sp>
      <p:sp>
        <p:nvSpPr>
          <p:cNvPr id="3" name="文本占位符 2"/>
          <p:cNvSpPr>
            <a:spLocks noGrp="1"/>
          </p:cNvSpPr>
          <p:nvPr>
            <p:ph type="body" sz="quarter" idx="10"/>
          </p:nvPr>
        </p:nvSpPr>
        <p:spPr/>
        <p:txBody>
          <a:bodyPr/>
          <a:lstStyle/>
          <a:p>
            <a:fld id="{5CC30F79-9E38-4251-9700-8BFF45009554}" type="slidenum">
              <a:rPr lang="zh-CN" altLang="en-US" smtClean="0"/>
              <a:t>115</a:t>
            </a:fld>
            <a:endParaRPr lang="zh-CN" altLang="en-US" dirty="0"/>
          </a:p>
        </p:txBody>
      </p:sp>
    </p:spTree>
    <p:custDataLst>
      <p:tags r:id="rId1"/>
    </p:custDataLst>
    <p:extLst>
      <p:ext uri="{BB962C8B-B14F-4D97-AF65-F5344CB8AC3E}">
        <p14:creationId xmlns:p14="http://schemas.microsoft.com/office/powerpoint/2010/main" val="391544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 </a:t>
            </a:r>
            <a:r>
              <a:rPr lang="zh-CN" altLang="en-US" sz="3200" b="1" dirty="0">
                <a:solidFill>
                  <a:srgbClr val="1353A2"/>
                </a:solidFill>
                <a:latin typeface="微软雅黑" panose="020B0503020204020204" pitchFamily="34" charset="-122"/>
                <a:ea typeface="微软雅黑" panose="020B0503020204020204" pitchFamily="34" charset="-122"/>
              </a:rPr>
              <a:t>正则表达式</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291078" y="1498766"/>
            <a:ext cx="5527040" cy="443467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开发过程中，我们会对一些字符串做各种限制，比如我们常见的注册邮箱、手机号等操作，一般都会做限制长度、格式等。而这些做限制的操作就是用正则表达式做到的。所谓的正则表达式就是指一个用来描述或者匹配一系列符合某个语法规则的字符串的单个字符串。其实就是一种规则。</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5760" y="1662747"/>
            <a:ext cx="3268663" cy="383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1E3AC45-C295-4D32-980F-BDCB7B3B3946}" type="slidenum">
              <a:rPr lang="zh-CN" altLang="en-US" smtClean="0"/>
              <a:t>116</a:t>
            </a:fld>
            <a:endParaRPr lang="zh-CN" altLang="en-US" dirty="0"/>
          </a:p>
        </p:txBody>
      </p:sp>
    </p:spTree>
    <p:custDataLst>
      <p:tags r:id="rId1"/>
    </p:custDataLst>
    <p:extLst>
      <p:ext uri="{BB962C8B-B14F-4D97-AF65-F5344CB8AC3E}">
        <p14:creationId xmlns:p14="http://schemas.microsoft.com/office/powerpoint/2010/main" val="416270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42"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元字符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5567680" y="1813726"/>
            <a:ext cx="5527040" cy="364219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正则表达式由普通字符（例如字符</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a-z</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）和特殊字符（元字符）组成的文字模式，所谓元字符就是指那些在正则表达式中具有特殊意义的专用字符，可以用来规定其前导字符（即位于元字符前面的字符）在目标对象中的出现模式。</a:t>
            </a: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799" y="1991359"/>
            <a:ext cx="3325495" cy="3089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7B87AE7E-C1D8-4618-8FBD-E08E78A5F661}" type="slidenum">
              <a:rPr lang="zh-CN" altLang="en-US" smtClean="0"/>
              <a:t>117</a:t>
            </a:fld>
            <a:endParaRPr lang="zh-CN" altLang="en-US" dirty="0"/>
          </a:p>
        </p:txBody>
      </p:sp>
    </p:spTree>
    <p:custDataLst>
      <p:tags r:id="rId1"/>
    </p:custDataLst>
    <p:extLst>
      <p:ext uri="{BB962C8B-B14F-4D97-AF65-F5344CB8AC3E}">
        <p14:creationId xmlns:p14="http://schemas.microsoft.com/office/powerpoint/2010/main" val="217935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元字符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488440" y="1379469"/>
            <a:ext cx="9215120" cy="7872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正则表达式常见的元字符如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3423920" y="2146383"/>
          <a:ext cx="7008959" cy="3852634"/>
        </p:xfrm>
        <a:graphic>
          <a:graphicData uri="http://schemas.openxmlformats.org/drawingml/2006/table">
            <a:tbl>
              <a:tblPr firstRow="1" firstCol="1" bandRow="1">
                <a:tableStyleId>{5C22544A-7EE6-4342-B048-85BDC9FD1C3A}</a:tableStyleId>
              </a:tblPr>
              <a:tblGrid>
                <a:gridCol w="1956526">
                  <a:extLst>
                    <a:ext uri="{9D8B030D-6E8A-4147-A177-3AD203B41FA5}">
                      <a16:colId xmlns:a16="http://schemas.microsoft.com/office/drawing/2014/main" val="20000"/>
                    </a:ext>
                  </a:extLst>
                </a:gridCol>
                <a:gridCol w="5052433">
                  <a:extLst>
                    <a:ext uri="{9D8B030D-6E8A-4147-A177-3AD203B41FA5}">
                      <a16:colId xmlns:a16="http://schemas.microsoft.com/office/drawing/2014/main" val="20001"/>
                    </a:ext>
                  </a:extLst>
                </a:gridCol>
              </a:tblGrid>
              <a:tr h="278675">
                <a:tc>
                  <a:txBody>
                    <a:bodyPr/>
                    <a:lstStyle/>
                    <a:p>
                      <a:pPr indent="266700" algn="ctr">
                        <a:spcAft>
                          <a:spcPts val="0"/>
                        </a:spcAft>
                      </a:pPr>
                      <a:r>
                        <a:rPr lang="zh-CN" sz="1600" dirty="0">
                          <a:effectLst/>
                        </a:rPr>
                        <a:t>元字符</a:t>
                      </a:r>
                      <a:endParaRPr lang="zh-CN" sz="1600" dirty="0">
                        <a:effectLst/>
                        <a:latin typeface="宋体" panose="02010600030101010101" pitchFamily="2" charset="-122"/>
                        <a:ea typeface="等线"/>
                        <a:cs typeface="宋体" panose="02010600030101010101" pitchFamily="2" charset="-122"/>
                      </a:endParaRPr>
                    </a:p>
                  </a:txBody>
                  <a:tcPr marL="54588" marR="54588" marT="0" marB="0"/>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54588" marR="54588" marT="0" marB="0"/>
                </a:tc>
                <a:extLst>
                  <a:ext uri="{0D108BD9-81ED-4DB2-BD59-A6C34878D82A}">
                    <a16:rowId xmlns:a16="http://schemas.microsoft.com/office/drawing/2014/main" val="10000"/>
                  </a:ext>
                </a:extLst>
              </a:tr>
              <a:tr h="278675">
                <a:tc>
                  <a:txBody>
                    <a:bodyPr/>
                    <a:lstStyle/>
                    <a:p>
                      <a:pPr>
                        <a:spcAft>
                          <a:spcPts val="0"/>
                        </a:spcAft>
                      </a:pPr>
                      <a:r>
                        <a:rPr lang="en-US" sz="1600">
                          <a:effectLst/>
                        </a:rPr>
                        <a:t>\</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转义字符，例如</a:t>
                      </a:r>
                      <a:r>
                        <a:rPr lang="en-US" sz="1600">
                          <a:effectLst/>
                        </a:rPr>
                        <a:t>"\n"</a:t>
                      </a:r>
                      <a:r>
                        <a:rPr lang="zh-CN" sz="1600">
                          <a:effectLst/>
                        </a:rPr>
                        <a:t>匹配</a:t>
                      </a:r>
                      <a:r>
                        <a:rPr lang="en-US" sz="1600">
                          <a:effectLst/>
                        </a:rPr>
                        <a:t>"\n"</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1"/>
                  </a:ext>
                </a:extLst>
              </a:tr>
              <a:tr h="264694">
                <a:tc>
                  <a:txBody>
                    <a:bodyPr/>
                    <a:lstStyle/>
                    <a:p>
                      <a:pPr>
                        <a:spcAft>
                          <a:spcPts val="0"/>
                        </a:spcAft>
                      </a:pPr>
                      <a:r>
                        <a:rPr lang="en-US" sz="1600">
                          <a:effectLst/>
                        </a:rPr>
                        <a:t>^</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正则表达式的开头标志</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2"/>
                  </a:ext>
                </a:extLst>
              </a:tr>
              <a:tr h="278675">
                <a:tc>
                  <a:txBody>
                    <a:bodyPr/>
                    <a:lstStyle/>
                    <a:p>
                      <a:pPr>
                        <a:spcAft>
                          <a:spcPts val="0"/>
                        </a:spcAft>
                      </a:pP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正则表达式的结尾标志</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3"/>
                  </a:ext>
                </a:extLst>
              </a:tr>
              <a:tr h="278675">
                <a:tc>
                  <a:txBody>
                    <a:bodyPr/>
                    <a:lstStyle/>
                    <a:p>
                      <a:pPr>
                        <a:spcAft>
                          <a:spcPts val="0"/>
                        </a:spcAft>
                      </a:pPr>
                      <a:r>
                        <a:rPr lang="en-US" sz="1600">
                          <a:effectLst/>
                        </a:rPr>
                        <a:t>*</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匹配零次或多次</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4"/>
                  </a:ext>
                </a:extLst>
              </a:tr>
              <a:tr h="278675">
                <a:tc>
                  <a:txBody>
                    <a:bodyPr/>
                    <a:lstStyle/>
                    <a:p>
                      <a:pPr>
                        <a:spcAft>
                          <a:spcPts val="0"/>
                        </a:spcAft>
                      </a:pP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匹配一次或多次</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5"/>
                  </a:ext>
                </a:extLst>
              </a:tr>
              <a:tr h="278675">
                <a:tc>
                  <a:txBody>
                    <a:bodyPr/>
                    <a:lstStyle/>
                    <a:p>
                      <a:pPr>
                        <a:spcAft>
                          <a:spcPts val="0"/>
                        </a:spcAft>
                      </a:pPr>
                      <a:r>
                        <a:rPr lang="en-US" sz="1600">
                          <a:effectLst/>
                        </a:rPr>
                        <a:t>?</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匹配一次或零次</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6"/>
                  </a:ext>
                </a:extLst>
              </a:tr>
              <a:tr h="278675">
                <a:tc>
                  <a:txBody>
                    <a:bodyPr/>
                    <a:lstStyle/>
                    <a:p>
                      <a:pPr>
                        <a:spcAft>
                          <a:spcPts val="0"/>
                        </a:spcAft>
                      </a:pPr>
                      <a:r>
                        <a:rPr lang="en-US" sz="1600">
                          <a:effectLst/>
                        </a:rPr>
                        <a:t>.</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匹配任意字符</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7"/>
                  </a:ext>
                </a:extLst>
              </a:tr>
              <a:tr h="234869">
                <a:tc>
                  <a:txBody>
                    <a:bodyPr/>
                    <a:lstStyle/>
                    <a:p>
                      <a:pPr>
                        <a:spcAft>
                          <a:spcPts val="0"/>
                        </a:spcAft>
                      </a:pPr>
                      <a:r>
                        <a:rPr lang="en-US" sz="1600">
                          <a:effectLst/>
                        </a:rPr>
                        <a:t>{n}</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a:t>
                      </a:r>
                      <a:r>
                        <a:rPr lang="en-US" sz="1600">
                          <a:effectLst/>
                        </a:rPr>
                        <a:t>n</a:t>
                      </a:r>
                      <a:r>
                        <a:rPr lang="zh-CN" sz="1600">
                          <a:effectLst/>
                        </a:rPr>
                        <a:t>次</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8"/>
                  </a:ext>
                </a:extLst>
              </a:tr>
              <a:tr h="278675">
                <a:tc>
                  <a:txBody>
                    <a:bodyPr/>
                    <a:lstStyle/>
                    <a:p>
                      <a:pPr>
                        <a:spcAft>
                          <a:spcPts val="0"/>
                        </a:spcAft>
                      </a:pPr>
                      <a:r>
                        <a:rPr lang="en-US" sz="1600">
                          <a:effectLst/>
                        </a:rPr>
                        <a:t>{n,}</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至少匹配</a:t>
                      </a:r>
                      <a:r>
                        <a:rPr lang="en-US" sz="1600">
                          <a:effectLst/>
                        </a:rPr>
                        <a:t>n</a:t>
                      </a:r>
                      <a:r>
                        <a:rPr lang="zh-CN" sz="1600">
                          <a:effectLst/>
                        </a:rPr>
                        <a:t>次</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9"/>
                  </a:ext>
                </a:extLst>
              </a:tr>
              <a:tr h="278675">
                <a:tc>
                  <a:txBody>
                    <a:bodyPr/>
                    <a:lstStyle/>
                    <a:p>
                      <a:pPr>
                        <a:spcAft>
                          <a:spcPts val="0"/>
                        </a:spcAft>
                      </a:pPr>
                      <a:r>
                        <a:rPr lang="en-US" sz="1600">
                          <a:effectLst/>
                        </a:rPr>
                        <a:t>{n,m}</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en-US" sz="1600" dirty="0">
                          <a:effectLst/>
                        </a:rPr>
                        <a:t>n&lt;=m,</a:t>
                      </a:r>
                      <a:r>
                        <a:rPr lang="zh-CN" sz="1600" dirty="0">
                          <a:effectLst/>
                        </a:rPr>
                        <a:t>最少匹配</a:t>
                      </a:r>
                      <a:r>
                        <a:rPr lang="en-US" sz="1600" dirty="0">
                          <a:effectLst/>
                        </a:rPr>
                        <a:t>n</a:t>
                      </a:r>
                      <a:r>
                        <a:rPr lang="zh-CN" sz="1600" dirty="0">
                          <a:effectLst/>
                        </a:rPr>
                        <a:t>次，最多匹配</a:t>
                      </a:r>
                      <a:r>
                        <a:rPr lang="en-US" sz="1600" dirty="0">
                          <a:effectLst/>
                        </a:rPr>
                        <a:t>m</a:t>
                      </a:r>
                      <a:r>
                        <a:rPr lang="zh-CN" sz="1600" dirty="0">
                          <a:effectLst/>
                        </a:rPr>
                        <a:t>次</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0"/>
                  </a:ext>
                </a:extLst>
              </a:tr>
              <a:tr h="278675">
                <a:tc>
                  <a:txBody>
                    <a:bodyPr/>
                    <a:lstStyle/>
                    <a:p>
                      <a:pPr>
                        <a:spcAft>
                          <a:spcPts val="0"/>
                        </a:spcAft>
                      </a:pPr>
                      <a:r>
                        <a:rPr lang="en-US" sz="1600">
                          <a:effectLst/>
                        </a:rPr>
                        <a:t>x|y|</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a:t>
                      </a:r>
                      <a:r>
                        <a:rPr lang="en-US" sz="1600">
                          <a:effectLst/>
                        </a:rPr>
                        <a:t>x</a:t>
                      </a:r>
                      <a:r>
                        <a:rPr lang="zh-CN" sz="1600">
                          <a:effectLst/>
                        </a:rPr>
                        <a:t>或</a:t>
                      </a:r>
                      <a:r>
                        <a:rPr lang="en-US" sz="1600">
                          <a:effectLst/>
                        </a:rPr>
                        <a:t>y</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1"/>
                  </a:ext>
                </a:extLst>
              </a:tr>
              <a:tr h="278675">
                <a:tc>
                  <a:txBody>
                    <a:bodyPr/>
                    <a:lstStyle/>
                    <a:p>
                      <a:pPr>
                        <a:spcAft>
                          <a:spcPts val="0"/>
                        </a:spcAft>
                      </a:pPr>
                      <a:r>
                        <a:rPr lang="en-US" sz="1600">
                          <a:effectLst/>
                        </a:rPr>
                        <a:t>[xyz]</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字符集合。匹配所包含的任意一个字符</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2"/>
                  </a:ext>
                </a:extLst>
              </a:tr>
              <a:tr h="278675">
                <a:tc>
                  <a:txBody>
                    <a:bodyPr/>
                    <a:lstStyle/>
                    <a:p>
                      <a:pPr>
                        <a:spcAft>
                          <a:spcPts val="0"/>
                        </a:spcAft>
                      </a:pPr>
                      <a:r>
                        <a:rPr lang="en-US" sz="1600">
                          <a:effectLst/>
                        </a:rPr>
                        <a:t>[a-z]</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dirty="0">
                          <a:effectLst/>
                        </a:rPr>
                        <a:t>字符范围。匹配指定范围内的任意字符</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3"/>
                  </a:ext>
                </a:extLst>
              </a:tr>
            </a:tbl>
          </a:graphicData>
        </a:graphic>
      </p:graphicFrame>
      <p:sp>
        <p:nvSpPr>
          <p:cNvPr id="4" name="文本占位符 3"/>
          <p:cNvSpPr>
            <a:spLocks noGrp="1"/>
          </p:cNvSpPr>
          <p:nvPr>
            <p:ph type="body" sz="quarter" idx="10"/>
          </p:nvPr>
        </p:nvSpPr>
        <p:spPr/>
        <p:txBody>
          <a:bodyPr/>
          <a:lstStyle/>
          <a:p>
            <a:fld id="{67F79DB4-3848-4F35-A430-26ADD94F84C5}" type="slidenum">
              <a:rPr lang="zh-CN" altLang="en-US" smtClean="0"/>
              <a:t>118</a:t>
            </a:fld>
            <a:endParaRPr lang="zh-CN" altLang="en-US" dirty="0"/>
          </a:p>
        </p:txBody>
      </p:sp>
    </p:spTree>
    <p:custDataLst>
      <p:tags r:id="rId1"/>
    </p:custDataLst>
    <p:extLst>
      <p:ext uri="{BB962C8B-B14F-4D97-AF65-F5344CB8AC3E}">
        <p14:creationId xmlns:p14="http://schemas.microsoft.com/office/powerpoint/2010/main" val="166608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404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元字符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3383280" y="1764662"/>
          <a:ext cx="6907359" cy="3823335"/>
        </p:xfrm>
        <a:graphic>
          <a:graphicData uri="http://schemas.openxmlformats.org/drawingml/2006/table">
            <a:tbl>
              <a:tblPr firstRow="1" firstCol="1" bandRow="1">
                <a:tableStyleId>{5C22544A-7EE6-4342-B048-85BDC9FD1C3A}</a:tableStyleId>
              </a:tblPr>
              <a:tblGrid>
                <a:gridCol w="1928165">
                  <a:extLst>
                    <a:ext uri="{9D8B030D-6E8A-4147-A177-3AD203B41FA5}">
                      <a16:colId xmlns:a16="http://schemas.microsoft.com/office/drawing/2014/main" val="20000"/>
                    </a:ext>
                  </a:extLst>
                </a:gridCol>
                <a:gridCol w="4979194">
                  <a:extLst>
                    <a:ext uri="{9D8B030D-6E8A-4147-A177-3AD203B41FA5}">
                      <a16:colId xmlns:a16="http://schemas.microsoft.com/office/drawing/2014/main" val="20001"/>
                    </a:ext>
                  </a:extLst>
                </a:gridCol>
              </a:tblGrid>
              <a:tr h="254889">
                <a:tc>
                  <a:txBody>
                    <a:bodyPr/>
                    <a:lstStyle/>
                    <a:p>
                      <a:pPr indent="266700" algn="ctr">
                        <a:spcAft>
                          <a:spcPts val="0"/>
                        </a:spcAft>
                      </a:pPr>
                      <a:r>
                        <a:rPr lang="zh-CN" sz="1600" dirty="0">
                          <a:effectLst/>
                        </a:rPr>
                        <a:t>元字符</a:t>
                      </a:r>
                      <a:endParaRPr lang="zh-CN" sz="1600" dirty="0">
                        <a:effectLst/>
                        <a:latin typeface="宋体" panose="02010600030101010101" pitchFamily="2" charset="-122"/>
                        <a:ea typeface="等线"/>
                        <a:cs typeface="宋体" panose="02010600030101010101" pitchFamily="2" charset="-122"/>
                      </a:endParaRPr>
                    </a:p>
                  </a:txBody>
                  <a:tcPr marL="54588" marR="54588" marT="0" marB="0"/>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54588" marR="54588" marT="0" marB="0"/>
                </a:tc>
                <a:extLst>
                  <a:ext uri="{0D108BD9-81ED-4DB2-BD59-A6C34878D82A}">
                    <a16:rowId xmlns:a16="http://schemas.microsoft.com/office/drawing/2014/main" val="10000"/>
                  </a:ext>
                </a:extLst>
              </a:tr>
              <a:tr h="254889">
                <a:tc>
                  <a:txBody>
                    <a:bodyPr/>
                    <a:lstStyle/>
                    <a:p>
                      <a:pPr>
                        <a:spcAft>
                          <a:spcPts val="0"/>
                        </a:spcAft>
                      </a:pPr>
                      <a:r>
                        <a:rPr lang="en-US" sz="1600" dirty="0">
                          <a:effectLst/>
                        </a:rPr>
                        <a:t>[a-</a:t>
                      </a:r>
                      <a:r>
                        <a:rPr lang="en-US" sz="1600" dirty="0" err="1">
                          <a:effectLst/>
                        </a:rPr>
                        <a:t>zA</a:t>
                      </a:r>
                      <a:r>
                        <a:rPr lang="en-US" sz="1600" dirty="0">
                          <a:effectLst/>
                        </a:rPr>
                        <a:t>-Z]</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匹配</a:t>
                      </a:r>
                      <a:r>
                        <a:rPr lang="en-US" sz="1600">
                          <a:effectLst/>
                        </a:rPr>
                        <a:t>a</a:t>
                      </a:r>
                      <a:r>
                        <a:rPr lang="zh-CN" sz="1600">
                          <a:effectLst/>
                        </a:rPr>
                        <a:t>到</a:t>
                      </a:r>
                      <a:r>
                        <a:rPr lang="en-US" sz="1600">
                          <a:effectLst/>
                        </a:rPr>
                        <a:t>z</a:t>
                      </a:r>
                      <a:r>
                        <a:rPr lang="zh-CN" sz="1600">
                          <a:effectLst/>
                        </a:rPr>
                        <a:t>或</a:t>
                      </a:r>
                      <a:r>
                        <a:rPr lang="en-US" sz="1600">
                          <a:effectLst/>
                        </a:rPr>
                        <a:t>Z</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1"/>
                  </a:ext>
                </a:extLst>
              </a:tr>
              <a:tr h="254889">
                <a:tc>
                  <a:txBody>
                    <a:bodyPr/>
                    <a:lstStyle/>
                    <a:p>
                      <a:pPr>
                        <a:spcAft>
                          <a:spcPts val="0"/>
                        </a:spcAft>
                      </a:pPr>
                      <a:r>
                        <a:rPr lang="en-US" sz="1600" dirty="0">
                          <a:effectLst/>
                        </a:rPr>
                        <a:t>[a-z]</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字符范围。匹配指定范围内的任意字符</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2"/>
                  </a:ext>
                </a:extLst>
              </a:tr>
              <a:tr h="254889">
                <a:tc>
                  <a:txBody>
                    <a:bodyPr/>
                    <a:lstStyle/>
                    <a:p>
                      <a:pPr>
                        <a:spcAft>
                          <a:spcPts val="0"/>
                        </a:spcAft>
                      </a:pPr>
                      <a:r>
                        <a:rPr lang="en-US" sz="1600">
                          <a:effectLst/>
                        </a:rPr>
                        <a:t>\d</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数字：</a:t>
                      </a:r>
                      <a:r>
                        <a:rPr lang="en-US" sz="1600">
                          <a:effectLst/>
                        </a:rPr>
                        <a:t>[0-9]</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3"/>
                  </a:ext>
                </a:extLst>
              </a:tr>
              <a:tr h="254889">
                <a:tc>
                  <a:txBody>
                    <a:bodyPr/>
                    <a:lstStyle/>
                    <a:p>
                      <a:pPr>
                        <a:spcAft>
                          <a:spcPts val="0"/>
                        </a:spcAft>
                      </a:pPr>
                      <a:r>
                        <a:rPr lang="en-US" sz="1600">
                          <a:effectLst/>
                        </a:rPr>
                        <a:t>\D</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非数字：</a:t>
                      </a:r>
                      <a:r>
                        <a:rPr lang="en-US" sz="1600">
                          <a:effectLst/>
                        </a:rPr>
                        <a:t> [^0-9]</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4"/>
                  </a:ext>
                </a:extLst>
              </a:tr>
              <a:tr h="254889">
                <a:tc>
                  <a:txBody>
                    <a:bodyPr/>
                    <a:lstStyle/>
                    <a:p>
                      <a:pPr>
                        <a:spcAft>
                          <a:spcPts val="0"/>
                        </a:spcAft>
                      </a:pPr>
                      <a:r>
                        <a:rPr lang="en-US" sz="1600">
                          <a:effectLst/>
                        </a:rPr>
                        <a:t>\s</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空白字符：</a:t>
                      </a:r>
                      <a:r>
                        <a:rPr lang="en-US" sz="1600">
                          <a:effectLst/>
                        </a:rPr>
                        <a:t>[ \t\n\x0B\f\r]</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5"/>
                  </a:ext>
                </a:extLst>
              </a:tr>
              <a:tr h="254889">
                <a:tc>
                  <a:txBody>
                    <a:bodyPr/>
                    <a:lstStyle/>
                    <a:p>
                      <a:pPr>
                        <a:spcAft>
                          <a:spcPts val="0"/>
                        </a:spcAft>
                      </a:pPr>
                      <a:r>
                        <a:rPr lang="en-US" sz="1600">
                          <a:effectLst/>
                        </a:rPr>
                        <a:t>\S</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非空白字符：</a:t>
                      </a:r>
                      <a:r>
                        <a:rPr lang="en-US" sz="1600">
                          <a:effectLst/>
                        </a:rPr>
                        <a:t>[^\s]</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6"/>
                  </a:ext>
                </a:extLst>
              </a:tr>
              <a:tr h="254889">
                <a:tc>
                  <a:txBody>
                    <a:bodyPr/>
                    <a:lstStyle/>
                    <a:p>
                      <a:pPr>
                        <a:spcAft>
                          <a:spcPts val="0"/>
                        </a:spcAft>
                      </a:pPr>
                      <a:r>
                        <a:rPr lang="en-US" sz="1600">
                          <a:effectLst/>
                        </a:rPr>
                        <a:t>\w</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单词字符：</a:t>
                      </a:r>
                      <a:r>
                        <a:rPr lang="en-US" sz="1600">
                          <a:effectLst/>
                        </a:rPr>
                        <a:t>[a-zA-Z_0-9]</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7"/>
                  </a:ext>
                </a:extLst>
              </a:tr>
              <a:tr h="254889">
                <a:tc>
                  <a:txBody>
                    <a:bodyPr/>
                    <a:lstStyle/>
                    <a:p>
                      <a:pPr>
                        <a:spcAft>
                          <a:spcPts val="0"/>
                        </a:spcAft>
                      </a:pPr>
                      <a:r>
                        <a:rPr lang="en-US" sz="1600">
                          <a:effectLst/>
                        </a:rPr>
                        <a:t>\b</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单词边界</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8"/>
                  </a:ext>
                </a:extLst>
              </a:tr>
              <a:tr h="254889">
                <a:tc>
                  <a:txBody>
                    <a:bodyPr/>
                    <a:lstStyle/>
                    <a:p>
                      <a:pPr>
                        <a:spcAft>
                          <a:spcPts val="0"/>
                        </a:spcAft>
                      </a:pPr>
                      <a:r>
                        <a:rPr lang="en-US" sz="1600">
                          <a:effectLst/>
                        </a:rPr>
                        <a:t>\B</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非单词边界</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09"/>
                  </a:ext>
                </a:extLst>
              </a:tr>
              <a:tr h="254889">
                <a:tc>
                  <a:txBody>
                    <a:bodyPr/>
                    <a:lstStyle/>
                    <a:p>
                      <a:pPr>
                        <a:spcAft>
                          <a:spcPts val="0"/>
                        </a:spcAft>
                      </a:pPr>
                      <a:r>
                        <a:rPr lang="en-US" sz="1600">
                          <a:effectLst/>
                        </a:rPr>
                        <a:t>\A</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输入的开头</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0"/>
                  </a:ext>
                </a:extLst>
              </a:tr>
              <a:tr h="254889">
                <a:tc>
                  <a:txBody>
                    <a:bodyPr/>
                    <a:lstStyle/>
                    <a:p>
                      <a:pPr>
                        <a:spcAft>
                          <a:spcPts val="0"/>
                        </a:spcAft>
                      </a:pPr>
                      <a:r>
                        <a:rPr lang="en-US" sz="1600">
                          <a:effectLst/>
                        </a:rPr>
                        <a:t>\G</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上一个匹配的结尾</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1"/>
                  </a:ext>
                </a:extLst>
              </a:tr>
              <a:tr h="254889">
                <a:tc>
                  <a:txBody>
                    <a:bodyPr/>
                    <a:lstStyle/>
                    <a:p>
                      <a:pPr>
                        <a:spcAft>
                          <a:spcPts val="0"/>
                        </a:spcAft>
                      </a:pPr>
                      <a:r>
                        <a:rPr lang="en-US" sz="1600">
                          <a:effectLst/>
                        </a:rPr>
                        <a:t>\Z</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输入的结尾，仅用于最后的结束符（如果有的话）</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2"/>
                  </a:ext>
                </a:extLst>
              </a:tr>
              <a:tr h="254889">
                <a:tc>
                  <a:txBody>
                    <a:bodyPr/>
                    <a:lstStyle/>
                    <a:p>
                      <a:pPr>
                        <a:spcAft>
                          <a:spcPts val="0"/>
                        </a:spcAft>
                      </a:pPr>
                      <a:r>
                        <a:rPr lang="en-US" sz="1600">
                          <a:effectLst/>
                        </a:rPr>
                        <a:t>\z</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a:effectLst/>
                        </a:rPr>
                        <a:t>输入的结尾</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3"/>
                  </a:ext>
                </a:extLst>
              </a:tr>
              <a:tr h="254889">
                <a:tc>
                  <a:txBody>
                    <a:bodyPr/>
                    <a:lstStyle/>
                    <a:p>
                      <a:pPr>
                        <a:spcAft>
                          <a:spcPts val="0"/>
                        </a:spcAft>
                      </a:pPr>
                      <a:r>
                        <a:rPr lang="en-US" sz="1600">
                          <a:effectLst/>
                        </a:rPr>
                        <a:t>\b</a:t>
                      </a:r>
                      <a:endParaRPr lang="zh-CN" sz="1600">
                        <a:effectLst/>
                        <a:latin typeface="宋体" panose="02010600030101010101" pitchFamily="2" charset="-122"/>
                        <a:ea typeface="等线"/>
                        <a:cs typeface="宋体" panose="02010600030101010101" pitchFamily="2" charset="-122"/>
                      </a:endParaRPr>
                    </a:p>
                  </a:txBody>
                  <a:tcPr marL="54588" marR="54588" marT="0" marB="0" anchor="ctr"/>
                </a:tc>
                <a:tc>
                  <a:txBody>
                    <a:bodyPr/>
                    <a:lstStyle/>
                    <a:p>
                      <a:pPr>
                        <a:spcAft>
                          <a:spcPts val="0"/>
                        </a:spcAft>
                      </a:pPr>
                      <a:r>
                        <a:rPr lang="zh-CN" sz="1600" dirty="0">
                          <a:effectLst/>
                        </a:rPr>
                        <a:t>单词边界</a:t>
                      </a:r>
                      <a:endParaRPr lang="zh-CN" sz="1600" dirty="0">
                        <a:effectLst/>
                        <a:latin typeface="宋体" panose="02010600030101010101" pitchFamily="2" charset="-122"/>
                        <a:ea typeface="等线"/>
                        <a:cs typeface="宋体" panose="02010600030101010101" pitchFamily="2" charset="-122"/>
                      </a:endParaRPr>
                    </a:p>
                  </a:txBody>
                  <a:tcPr marL="54588" marR="54588" marT="0" marB="0" anchor="ctr"/>
                </a:tc>
                <a:extLst>
                  <a:ext uri="{0D108BD9-81ED-4DB2-BD59-A6C34878D82A}">
                    <a16:rowId xmlns:a16="http://schemas.microsoft.com/office/drawing/2014/main" val="10014"/>
                  </a:ext>
                </a:extLst>
              </a:tr>
            </a:tbl>
          </a:graphicData>
        </a:graphic>
      </p:graphicFrame>
      <p:sp>
        <p:nvSpPr>
          <p:cNvPr id="4" name="文本占位符 3"/>
          <p:cNvSpPr>
            <a:spLocks noGrp="1"/>
          </p:cNvSpPr>
          <p:nvPr>
            <p:ph type="body" sz="quarter" idx="10"/>
          </p:nvPr>
        </p:nvSpPr>
        <p:spPr/>
        <p:txBody>
          <a:bodyPr/>
          <a:lstStyle/>
          <a:p>
            <a:fld id="{D33E79F6-E9FE-41FC-B7EF-285BE1FDAD41}" type="slidenum">
              <a:rPr lang="zh-CN" altLang="en-US" smtClean="0"/>
              <a:t>119</a:t>
            </a:fld>
            <a:endParaRPr lang="zh-CN" altLang="en-US" dirty="0"/>
          </a:p>
        </p:txBody>
      </p:sp>
    </p:spTree>
    <p:custDataLst>
      <p:tags r:id="rId1"/>
    </p:custDataLst>
    <p:extLst>
      <p:ext uri="{BB962C8B-B14F-4D97-AF65-F5344CB8AC3E}">
        <p14:creationId xmlns:p14="http://schemas.microsoft.com/office/powerpoint/2010/main" val="419854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996440" y="1694428"/>
            <a:ext cx="9215120" cy="358877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Pattern</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类用于创建一个正则表达式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也可以说创建一个匹配模式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它的构造方法是私有的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不可以直接创建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但可以通过</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Pattern.complie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regex)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简单工厂方法创建一个正则表达式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具体代码如下所示：</a:t>
            </a: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Pattern p=</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Pattern.compile</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("\\w+");</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D9AFA5DA-48B7-45A8-87B6-B7278192E251}" type="slidenum">
              <a:rPr lang="zh-CN" altLang="en-US" smtClean="0"/>
              <a:t>120</a:t>
            </a:fld>
            <a:endParaRPr lang="zh-CN" altLang="en-US" dirty="0"/>
          </a:p>
        </p:txBody>
      </p:sp>
    </p:spTree>
    <p:custDataLst>
      <p:tags r:id="rId1"/>
    </p:custDataLst>
    <p:extLst>
      <p:ext uri="{BB962C8B-B14F-4D97-AF65-F5344CB8AC3E}">
        <p14:creationId xmlns:p14="http://schemas.microsoft.com/office/powerpoint/2010/main" val="123348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23720" y="1379469"/>
            <a:ext cx="9215120" cy="81509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113280" y="2468879"/>
          <a:ext cx="8925560" cy="2854960"/>
        </p:xfrm>
        <a:graphic>
          <a:graphicData uri="http://schemas.openxmlformats.org/drawingml/2006/table">
            <a:tbl>
              <a:tblPr firstRow="1" firstCol="1" bandRow="1">
                <a:tableStyleId>{5C22544A-7EE6-4342-B048-85BDC9FD1C3A}</a:tableStyleId>
              </a:tblPr>
              <a:tblGrid>
                <a:gridCol w="4015113">
                  <a:extLst>
                    <a:ext uri="{9D8B030D-6E8A-4147-A177-3AD203B41FA5}">
                      <a16:colId xmlns:a16="http://schemas.microsoft.com/office/drawing/2014/main" val="20000"/>
                    </a:ext>
                  </a:extLst>
                </a:gridCol>
                <a:gridCol w="4910447">
                  <a:extLst>
                    <a:ext uri="{9D8B030D-6E8A-4147-A177-3AD203B41FA5}">
                      <a16:colId xmlns:a16="http://schemas.microsoft.com/office/drawing/2014/main" val="20001"/>
                    </a:ext>
                  </a:extLst>
                </a:gridCol>
              </a:tblGrid>
              <a:tr h="528420">
                <a:tc>
                  <a:txBody>
                    <a:bodyPr/>
                    <a:lstStyle/>
                    <a:p>
                      <a:pPr indent="266700"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28420">
                <a:tc>
                  <a:txBody>
                    <a:bodyPr/>
                    <a:lstStyle/>
                    <a:p>
                      <a:pPr>
                        <a:spcAft>
                          <a:spcPts val="0"/>
                        </a:spcAft>
                      </a:pPr>
                      <a:r>
                        <a:rPr lang="en-US" sz="1600" u="none" strike="noStrike" dirty="0">
                          <a:effectLst/>
                        </a:rPr>
                        <a:t>split</a:t>
                      </a:r>
                      <a:r>
                        <a:rPr lang="en-US" sz="1600" dirty="0">
                          <a:effectLst/>
                        </a:rPr>
                        <a:t>(</a:t>
                      </a:r>
                      <a:r>
                        <a:rPr lang="en-US" sz="1600" u="none" strike="noStrike" dirty="0" err="1">
                          <a:effectLst/>
                        </a:rPr>
                        <a:t>CharSequence</a:t>
                      </a:r>
                      <a:r>
                        <a:rPr lang="en-US" sz="1600" dirty="0">
                          <a:effectLst/>
                        </a:rPr>
                        <a:t> input)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将给定的输入序列分成这个模式的匹配</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890714">
                <a:tc>
                  <a:txBody>
                    <a:bodyPr/>
                    <a:lstStyle/>
                    <a:p>
                      <a:pPr>
                        <a:spcAft>
                          <a:spcPts val="0"/>
                        </a:spcAft>
                      </a:pPr>
                      <a:r>
                        <a:rPr lang="en-US" sz="1600" dirty="0">
                          <a:effectLst/>
                        </a:rPr>
                        <a:t>Matcher </a:t>
                      </a:r>
                      <a:r>
                        <a:rPr lang="en-US" sz="1600" u="none" strike="noStrike" dirty="0" err="1">
                          <a:effectLst/>
                        </a:rPr>
                        <a:t>matcher</a:t>
                      </a:r>
                      <a:endParaRPr lang="zh-CN" sz="1600" dirty="0">
                        <a:effectLst/>
                      </a:endParaRPr>
                    </a:p>
                    <a:p>
                      <a:pPr>
                        <a:spcAft>
                          <a:spcPts val="0"/>
                        </a:spcAft>
                      </a:pPr>
                      <a:r>
                        <a:rPr lang="en-US" sz="1600" dirty="0">
                          <a:effectLst/>
                        </a:rPr>
                        <a:t>(</a:t>
                      </a:r>
                      <a:r>
                        <a:rPr lang="en-US" sz="1600" u="none" strike="noStrike" dirty="0" err="1">
                          <a:effectLst/>
                        </a:rPr>
                        <a:t>CharSequence</a:t>
                      </a:r>
                      <a:r>
                        <a:rPr lang="en-US" sz="1600" dirty="0">
                          <a:effectLst/>
                        </a:rPr>
                        <a:t> input)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创建一个匹配器，匹配给定的输入与此模式</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907406">
                <a:tc>
                  <a:txBody>
                    <a:bodyPr/>
                    <a:lstStyle/>
                    <a:p>
                      <a:pPr>
                        <a:spcAft>
                          <a:spcPts val="0"/>
                        </a:spcAft>
                      </a:pPr>
                      <a:r>
                        <a:rPr lang="en-US" sz="1600" dirty="0">
                          <a:effectLst/>
                        </a:rPr>
                        <a:t>Static </a:t>
                      </a:r>
                      <a:r>
                        <a:rPr lang="en-US" sz="1600" dirty="0" err="1">
                          <a:effectLst/>
                        </a:rPr>
                        <a:t>boolean</a:t>
                      </a:r>
                      <a:r>
                        <a:rPr lang="en-US" sz="1600" dirty="0">
                          <a:effectLst/>
                        </a:rPr>
                        <a:t> </a:t>
                      </a:r>
                      <a:r>
                        <a:rPr lang="en-US" sz="1600" u="none" strike="noStrike" dirty="0">
                          <a:effectLst/>
                        </a:rPr>
                        <a:t>matches</a:t>
                      </a:r>
                      <a:endParaRPr lang="zh-CN" sz="1600" dirty="0">
                        <a:effectLst/>
                      </a:endParaRPr>
                    </a:p>
                    <a:p>
                      <a:pPr>
                        <a:spcAft>
                          <a:spcPts val="0"/>
                        </a:spcAft>
                      </a:pPr>
                      <a:r>
                        <a:rPr lang="en-US" sz="1600" dirty="0">
                          <a:effectLst/>
                        </a:rPr>
                        <a:t>(</a:t>
                      </a:r>
                      <a:r>
                        <a:rPr lang="en-US" sz="1600" u="none" strike="noStrike" dirty="0">
                          <a:effectLst/>
                        </a:rPr>
                        <a:t>String</a:t>
                      </a:r>
                      <a:r>
                        <a:rPr lang="en-US" sz="1600" dirty="0">
                          <a:effectLst/>
                        </a:rPr>
                        <a:t> regex, </a:t>
                      </a:r>
                      <a:r>
                        <a:rPr lang="en-US" sz="1600" u="none" strike="noStrike" dirty="0" err="1">
                          <a:effectLst/>
                        </a:rPr>
                        <a:t>CharSequence</a:t>
                      </a:r>
                      <a:r>
                        <a:rPr lang="en-US" sz="1600" dirty="0">
                          <a:effectLst/>
                        </a:rPr>
                        <a:t> input)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dirty="0">
                          <a:effectLst/>
                        </a:rPr>
                        <a:t>编译给定的正则表达式，并尝试匹配给定的输入</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4" name="文本占位符 3"/>
          <p:cNvSpPr>
            <a:spLocks noGrp="1"/>
          </p:cNvSpPr>
          <p:nvPr>
            <p:ph type="body" sz="quarter" idx="10"/>
          </p:nvPr>
        </p:nvSpPr>
        <p:spPr/>
        <p:txBody>
          <a:bodyPr/>
          <a:lstStyle/>
          <a:p>
            <a:fld id="{397B7483-6D0E-4430-A9F8-59E170F69351}" type="slidenum">
              <a:rPr lang="zh-CN" altLang="en-US" smtClean="0"/>
              <a:t>121</a:t>
            </a:fld>
            <a:endParaRPr lang="zh-CN" altLang="en-US" dirty="0"/>
          </a:p>
        </p:txBody>
      </p:sp>
    </p:spTree>
    <p:custDataLst>
      <p:tags r:id="rId1"/>
    </p:custDataLst>
    <p:extLst>
      <p:ext uri="{BB962C8B-B14F-4D97-AF65-F5344CB8AC3E}">
        <p14:creationId xmlns:p14="http://schemas.microsoft.com/office/powerpoint/2010/main" val="159181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23720" y="1379469"/>
            <a:ext cx="9215120" cy="73381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接下来我们通过一个案例来学习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113280" y="2133601"/>
            <a:ext cx="8686800" cy="3881119"/>
            <a:chOff x="2001520" y="2133601"/>
            <a:chExt cx="8686800" cy="3881119"/>
          </a:xfrm>
        </p:grpSpPr>
        <p:pic>
          <p:nvPicPr>
            <p:cNvPr id="1904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1520" y="2133602"/>
              <a:ext cx="8686799" cy="3881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583177" y="2133601"/>
              <a:ext cx="8105143" cy="37908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import java.util.regex.Matcher;</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import java.util.regex.Pattern;</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Example28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 p=Pattern.compile("\\d+");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str=p.split("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我的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QQ</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:456456</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我的电话是</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:0532214</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我的邮箱</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:aaa@aaa.com");</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是否匹配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的输入模式</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F8F7DD1D-F877-4C9D-BD5C-8144D52DB7ED}" type="slidenum">
              <a:rPr lang="zh-CN" altLang="en-US" smtClean="0"/>
              <a:t>122</a:t>
            </a:fld>
            <a:endParaRPr lang="zh-CN" altLang="en-US" dirty="0"/>
          </a:p>
        </p:txBody>
      </p:sp>
    </p:spTree>
    <p:custDataLst>
      <p:tags r:id="rId1"/>
    </p:custDataLst>
    <p:extLst>
      <p:ext uri="{BB962C8B-B14F-4D97-AF65-F5344CB8AC3E}">
        <p14:creationId xmlns:p14="http://schemas.microsoft.com/office/powerpoint/2010/main" val="295605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out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032000" y="1634614"/>
            <a:ext cx="9265919" cy="4288666"/>
            <a:chOff x="1727200" y="1563494"/>
            <a:chExt cx="9265919" cy="4288666"/>
          </a:xfrm>
        </p:grpSpPr>
        <p:pic>
          <p:nvPicPr>
            <p:cNvPr id="1914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7200" y="1563494"/>
              <a:ext cx="9265919" cy="4288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06320" y="1563494"/>
              <a:ext cx="8605520" cy="413626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Pattern.matches("\\d+","2223aa"));</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 m=p.matcher("22bb23");</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返回该</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对象是由哪个</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对象创建的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即</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m.pattern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将给定的字符串分割成</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模式匹配为：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 (int i=0;i&lt;str.length;i++)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System.out.print(str[i]+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56C16DD-C483-488D-91A2-A7A37A7DCE71}" type="slidenum">
              <a:rPr lang="zh-CN" altLang="en-US" smtClean="0"/>
              <a:t>123</a:t>
            </a:fld>
            <a:endParaRPr lang="zh-CN" altLang="en-US" dirty="0"/>
          </a:p>
        </p:txBody>
      </p:sp>
    </p:spTree>
    <p:custDataLst>
      <p:tags r:id="rId1"/>
    </p:custDataLst>
    <p:extLst>
      <p:ext uri="{BB962C8B-B14F-4D97-AF65-F5344CB8AC3E}">
        <p14:creationId xmlns:p14="http://schemas.microsoft.com/office/powerpoint/2010/main" val="11315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2169160" y="1796029"/>
            <a:ext cx="8783320" cy="319253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 Matcher</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a:t>
            </a: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类用于在给定的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实例的模式控制下进行字符串的匹配工作，同理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的构造方法也是私有的，不能直接创建，只能通过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 matcher(</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CharSequence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input)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方法得到该类的实例。</a:t>
            </a:r>
          </a:p>
        </p:txBody>
      </p:sp>
      <p:sp>
        <p:nvSpPr>
          <p:cNvPr id="3" name="文本占位符 2"/>
          <p:cNvSpPr>
            <a:spLocks noGrp="1"/>
          </p:cNvSpPr>
          <p:nvPr>
            <p:ph type="body" sz="quarter" idx="10"/>
          </p:nvPr>
        </p:nvSpPr>
        <p:spPr/>
        <p:txBody>
          <a:bodyPr/>
          <a:lstStyle/>
          <a:p>
            <a:fld id="{AC4F7C1C-11DE-4389-AB2C-27E31657CE50}" type="slidenum">
              <a:rPr lang="zh-CN" altLang="en-US" smtClean="0"/>
              <a:t>124</a:t>
            </a:fld>
            <a:endParaRPr lang="zh-CN" altLang="en-US" dirty="0"/>
          </a:p>
        </p:txBody>
      </p:sp>
    </p:spTree>
    <p:custDataLst>
      <p:tags r:id="rId1"/>
    </p:custDataLst>
    <p:extLst>
      <p:ext uri="{BB962C8B-B14F-4D97-AF65-F5344CB8AC3E}">
        <p14:creationId xmlns:p14="http://schemas.microsoft.com/office/powerpoint/2010/main" val="172435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54200" y="1531869"/>
            <a:ext cx="8783320" cy="75413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类的常用方法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265680" y="2387757"/>
          <a:ext cx="8544561" cy="3301842"/>
        </p:xfrm>
        <a:graphic>
          <a:graphicData uri="http://schemas.openxmlformats.org/drawingml/2006/table">
            <a:tbl>
              <a:tblPr firstRow="1" firstCol="1" bandRow="1">
                <a:tableStyleId>{5C22544A-7EE6-4342-B048-85BDC9FD1C3A}</a:tableStyleId>
              </a:tblPr>
              <a:tblGrid>
                <a:gridCol w="2479218">
                  <a:extLst>
                    <a:ext uri="{9D8B030D-6E8A-4147-A177-3AD203B41FA5}">
                      <a16:colId xmlns:a16="http://schemas.microsoft.com/office/drawing/2014/main" val="20000"/>
                    </a:ext>
                  </a:extLst>
                </a:gridCol>
                <a:gridCol w="6065343">
                  <a:extLst>
                    <a:ext uri="{9D8B030D-6E8A-4147-A177-3AD203B41FA5}">
                      <a16:colId xmlns:a16="http://schemas.microsoft.com/office/drawing/2014/main" val="20001"/>
                    </a:ext>
                  </a:extLst>
                </a:gridCol>
              </a:tblGrid>
              <a:tr h="429613">
                <a:tc>
                  <a:txBody>
                    <a:bodyPr/>
                    <a:lstStyle/>
                    <a:p>
                      <a:pPr indent="266700" algn="ctr">
                        <a:spcAft>
                          <a:spcPts val="0"/>
                        </a:spcAft>
                      </a:pPr>
                      <a:r>
                        <a:rPr lang="zh-CN" sz="1600">
                          <a:effectLst/>
                        </a:rPr>
                        <a:t>方法声明</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429613">
                <a:tc>
                  <a:txBody>
                    <a:bodyPr/>
                    <a:lstStyle/>
                    <a:p>
                      <a:pPr>
                        <a:spcAft>
                          <a:spcPts val="0"/>
                        </a:spcAft>
                      </a:pPr>
                      <a:r>
                        <a:rPr lang="en-US" sz="1600">
                          <a:effectLst/>
                        </a:rPr>
                        <a:t>boolean matches()</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对整个字符串进行匹配</a:t>
                      </a:r>
                      <a:r>
                        <a:rPr lang="en-US" sz="1600">
                          <a:effectLst/>
                        </a:rPr>
                        <a:t>,</a:t>
                      </a:r>
                      <a:r>
                        <a:rPr lang="zh-CN" sz="1600">
                          <a:effectLst/>
                        </a:rPr>
                        <a:t>只有整个字符串都匹配了才返回</a:t>
                      </a:r>
                      <a:r>
                        <a:rPr lang="en-US" sz="1600">
                          <a:effectLst/>
                        </a:rPr>
                        <a:t>true</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724164">
                <a:tc>
                  <a:txBody>
                    <a:bodyPr/>
                    <a:lstStyle/>
                    <a:p>
                      <a:pPr>
                        <a:spcAft>
                          <a:spcPts val="0"/>
                        </a:spcAft>
                      </a:pPr>
                      <a:r>
                        <a:rPr lang="en-US" sz="1600">
                          <a:effectLst/>
                        </a:rPr>
                        <a:t>boolean lookingAt()</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对前面的字符串进行匹配</a:t>
                      </a:r>
                      <a:r>
                        <a:rPr lang="en-US" sz="1600">
                          <a:effectLst/>
                        </a:rPr>
                        <a:t>,</a:t>
                      </a:r>
                      <a:r>
                        <a:rPr lang="zh-CN" sz="1600">
                          <a:effectLst/>
                        </a:rPr>
                        <a:t>只有匹配到的字符串在最前面才返回</a:t>
                      </a:r>
                      <a:r>
                        <a:rPr lang="en-US" sz="1600">
                          <a:effectLst/>
                        </a:rPr>
                        <a:t>true</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429613">
                <a:tc>
                  <a:txBody>
                    <a:bodyPr/>
                    <a:lstStyle/>
                    <a:p>
                      <a:pPr>
                        <a:spcAft>
                          <a:spcPts val="0"/>
                        </a:spcAft>
                      </a:pPr>
                      <a:r>
                        <a:rPr lang="en-US" sz="1600">
                          <a:effectLst/>
                        </a:rPr>
                        <a:t>boolean find()</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对字符串进行匹配</a:t>
                      </a:r>
                      <a:r>
                        <a:rPr lang="en-US" sz="1600">
                          <a:effectLst/>
                        </a:rPr>
                        <a:t>,</a:t>
                      </a:r>
                      <a:r>
                        <a:rPr lang="zh-CN" sz="1600">
                          <a:effectLst/>
                        </a:rPr>
                        <a:t>匹配到的字符串可以在任何位置</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429613">
                <a:tc>
                  <a:txBody>
                    <a:bodyPr/>
                    <a:lstStyle/>
                    <a:p>
                      <a:pPr>
                        <a:spcAft>
                          <a:spcPts val="0"/>
                        </a:spcAft>
                      </a:pPr>
                      <a:r>
                        <a:rPr lang="en-US" sz="1600" dirty="0" err="1">
                          <a:effectLst/>
                        </a:rPr>
                        <a:t>int</a:t>
                      </a:r>
                      <a:r>
                        <a:rPr lang="en-US" sz="1600" dirty="0">
                          <a:effectLst/>
                        </a:rPr>
                        <a:t> </a:t>
                      </a:r>
                      <a:r>
                        <a:rPr lang="en-US" sz="1600" u="none" strike="noStrike" dirty="0">
                          <a:effectLst/>
                        </a:rPr>
                        <a:t>end</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返回最后一个字符匹配后的偏移量</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429613">
                <a:tc>
                  <a:txBody>
                    <a:bodyPr/>
                    <a:lstStyle/>
                    <a:p>
                      <a:pPr>
                        <a:spcAft>
                          <a:spcPts val="0"/>
                        </a:spcAft>
                      </a:pPr>
                      <a:r>
                        <a:rPr lang="en-US" sz="1600" dirty="0">
                          <a:effectLst/>
                        </a:rPr>
                        <a:t>string </a:t>
                      </a:r>
                      <a:r>
                        <a:rPr lang="en-US" sz="1600" u="none" strike="noStrike" dirty="0">
                          <a:effectLst/>
                        </a:rPr>
                        <a:t>group</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返回匹配到的子字符串</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429613">
                <a:tc>
                  <a:txBody>
                    <a:bodyPr/>
                    <a:lstStyle/>
                    <a:p>
                      <a:pPr>
                        <a:spcAft>
                          <a:spcPts val="0"/>
                        </a:spcAft>
                      </a:pPr>
                      <a:r>
                        <a:rPr lang="en-US" sz="1600" dirty="0" err="1">
                          <a:effectLst/>
                        </a:rPr>
                        <a:t>int</a:t>
                      </a:r>
                      <a:r>
                        <a:rPr lang="en-US" sz="1600" dirty="0">
                          <a:effectLst/>
                        </a:rPr>
                        <a:t> </a:t>
                      </a:r>
                      <a:r>
                        <a:rPr lang="en-US" sz="1600" u="none" strike="noStrike" dirty="0">
                          <a:effectLst/>
                        </a:rPr>
                        <a:t>start</a:t>
                      </a:r>
                      <a:r>
                        <a:rPr lang="en-US" sz="1600" dirty="0">
                          <a:effectLst/>
                        </a:rPr>
                        <a: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dirty="0">
                          <a:effectLst/>
                        </a:rPr>
                        <a:t>返回匹配到的子字符串在字符串中的索引位置</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文本占位符 3"/>
          <p:cNvSpPr>
            <a:spLocks noGrp="1"/>
          </p:cNvSpPr>
          <p:nvPr>
            <p:ph type="body" sz="quarter" idx="10"/>
          </p:nvPr>
        </p:nvSpPr>
        <p:spPr/>
        <p:txBody>
          <a:bodyPr/>
          <a:lstStyle/>
          <a:p>
            <a:fld id="{1058AA56-7DEB-4241-BDB8-331B6AD8C5F5}" type="slidenum">
              <a:rPr lang="zh-CN" altLang="en-US" smtClean="0"/>
              <a:t>125</a:t>
            </a:fld>
            <a:endParaRPr lang="zh-CN" altLang="en-US" dirty="0"/>
          </a:p>
        </p:txBody>
      </p:sp>
    </p:spTree>
    <p:custDataLst>
      <p:tags r:id="rId1"/>
    </p:custDataLst>
    <p:extLst>
      <p:ext uri="{BB962C8B-B14F-4D97-AF65-F5344CB8AC3E}">
        <p14:creationId xmlns:p14="http://schemas.microsoft.com/office/powerpoint/2010/main" val="81051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54200" y="1369309"/>
            <a:ext cx="8783320" cy="80493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接下来通过一个案例来学习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555238" y="2184400"/>
            <a:ext cx="8265162" cy="3830320"/>
            <a:chOff x="2311398" y="2184400"/>
            <a:chExt cx="7716522" cy="3830320"/>
          </a:xfrm>
        </p:grpSpPr>
        <p:pic>
          <p:nvPicPr>
            <p:cNvPr id="1955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2184400"/>
              <a:ext cx="7716522" cy="383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877820" y="2184400"/>
              <a:ext cx="6652260" cy="351306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import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java.util.regex.Matcher;</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import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java.util.regex.Pattern;</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Example29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 p=Pattern.compile("\\d+");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 m=p.matcher("22bb23");</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字符串是否匹配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m.matches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 m2=p.matcher("2223");</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77B696F6-0A97-4037-999C-B38ACE6DD0E1}" type="slidenum">
              <a:rPr lang="zh-CN" altLang="en-US" smtClean="0"/>
              <a:t>126</a:t>
            </a:fld>
            <a:endParaRPr lang="zh-CN" altLang="en-US" dirty="0"/>
          </a:p>
        </p:txBody>
      </p:sp>
    </p:spTree>
    <p:custDataLst>
      <p:tags r:id="rId1"/>
    </p:custDataLst>
    <p:extLst>
      <p:ext uri="{BB962C8B-B14F-4D97-AF65-F5344CB8AC3E}">
        <p14:creationId xmlns:p14="http://schemas.microsoft.com/office/powerpoint/2010/main" val="417597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64080" y="1544321"/>
            <a:ext cx="8615680" cy="3952240"/>
            <a:chOff x="2164080" y="1544321"/>
            <a:chExt cx="8615680" cy="3952240"/>
          </a:xfrm>
        </p:grpSpPr>
        <p:pic>
          <p:nvPicPr>
            <p:cNvPr id="1966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4080" y="1544321"/>
              <a:ext cx="8615680" cy="395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494280" y="1770131"/>
              <a:ext cx="8122920" cy="351306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字符串是否匹配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m2.matches());</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对前面的字符串匹配结果为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m.lookingAt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 m3=p.matcher("aa2223");</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对前面的字符串匹配结果为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:"+m3.lookingAt());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m.find();//</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字符串任何位置是否匹配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m.find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m3.find();//</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字符串任何位置是否匹配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m3.find());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6F08DEB5-CDAE-4B51-B854-FDAA4CAF6C3C}" type="slidenum">
              <a:rPr lang="zh-CN" altLang="en-US" smtClean="0"/>
              <a:t>127</a:t>
            </a:fld>
            <a:endParaRPr lang="zh-CN" altLang="en-US" dirty="0"/>
          </a:p>
        </p:txBody>
      </p:sp>
    </p:spTree>
    <p:custDataLst>
      <p:tags r:id="rId1"/>
    </p:custDataLst>
    <p:extLst>
      <p:ext uri="{BB962C8B-B14F-4D97-AF65-F5344CB8AC3E}">
        <p14:creationId xmlns:p14="http://schemas.microsoft.com/office/powerpoint/2010/main" val="403275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64080" y="1605281"/>
            <a:ext cx="8534400" cy="4023359"/>
            <a:chOff x="2164080" y="1605281"/>
            <a:chExt cx="8534400" cy="4023359"/>
          </a:xfrm>
        </p:grpSpPr>
        <p:pic>
          <p:nvPicPr>
            <p:cNvPr id="1976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4080" y="1605281"/>
              <a:ext cx="8341360" cy="401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727960" y="1820931"/>
              <a:ext cx="7970520" cy="380770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 m4=p.matcher("aabb");</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字符串任何位置是否匹配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m4.find());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 m1=p.matcher("aaa2223bb");</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m1.find();//</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2223</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上一个匹配的起始索引</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m1.start());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最后一个字符匹配后的偏移量</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m1.end());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匹配到的子字符串</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m1.group());</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141905FF-B02D-46EC-9BA2-E2CC6C575687}" type="slidenum">
              <a:rPr lang="zh-CN" altLang="en-US" smtClean="0"/>
              <a:t>128</a:t>
            </a:fld>
            <a:endParaRPr lang="zh-CN" altLang="en-US" dirty="0"/>
          </a:p>
        </p:txBody>
      </p:sp>
    </p:spTree>
    <p:custDataLst>
      <p:tags r:id="rId1"/>
    </p:custDataLst>
    <p:extLst>
      <p:ext uri="{BB962C8B-B14F-4D97-AF65-F5344CB8AC3E}">
        <p14:creationId xmlns:p14="http://schemas.microsoft.com/office/powerpoint/2010/main" val="233489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223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5.6.2 Pattern</a:t>
            </a:r>
            <a:r>
              <a:rPr lang="zh-CN" altLang="zh-CN" sz="3200" b="1" dirty="0">
                <a:solidFill>
                  <a:srgbClr val="1353A2"/>
                </a:solidFill>
                <a:latin typeface="微软雅黑" panose="020B0503020204020204" pitchFamily="34" charset="-122"/>
                <a:ea typeface="微软雅黑" panose="020B0503020204020204" pitchFamily="34" charset="-122"/>
              </a:rPr>
              <a:t>类和</a:t>
            </a:r>
            <a:r>
              <a:rPr lang="en-US" altLang="zh-CN" sz="3200" b="1" dirty="0">
                <a:solidFill>
                  <a:srgbClr val="1353A2"/>
                </a:solidFill>
                <a:latin typeface="微软雅黑" panose="020B0503020204020204" pitchFamily="34" charset="-122"/>
                <a:ea typeface="微软雅黑" panose="020B0503020204020204" pitchFamily="34" charset="-122"/>
              </a:rPr>
              <a:t>Matcher</a:t>
            </a:r>
            <a:r>
              <a:rPr lang="zh-CN" altLang="zh-CN" sz="3200" b="1" dirty="0">
                <a:solidFill>
                  <a:srgbClr val="1353A2"/>
                </a:solidFill>
                <a:latin typeface="微软雅黑" panose="020B0503020204020204" pitchFamily="34" charset="-122"/>
                <a:ea typeface="微软雅黑" panose="020B0503020204020204" pitchFamily="34" charset="-122"/>
              </a:rPr>
              <a:t>类</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54200" y="1369309"/>
            <a:ext cx="8783320" cy="80493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3977638" y="2055176"/>
            <a:ext cx="5584509" cy="3949383"/>
          </a:xfrm>
          <a:prstGeom prst="rect">
            <a:avLst/>
          </a:prstGeom>
        </p:spPr>
      </p:pic>
      <p:sp>
        <p:nvSpPr>
          <p:cNvPr id="3" name="文本占位符 2"/>
          <p:cNvSpPr>
            <a:spLocks noGrp="1"/>
          </p:cNvSpPr>
          <p:nvPr>
            <p:ph type="body" sz="quarter" idx="10"/>
          </p:nvPr>
        </p:nvSpPr>
        <p:spPr/>
        <p:txBody>
          <a:bodyPr/>
          <a:lstStyle/>
          <a:p>
            <a:fld id="{29CA23FB-E226-454E-A1DC-F53EB2A836EA}" type="slidenum">
              <a:rPr lang="zh-CN" altLang="en-US" smtClean="0"/>
              <a:t>129</a:t>
            </a:fld>
            <a:endParaRPr lang="zh-CN" altLang="en-US" dirty="0"/>
          </a:p>
        </p:txBody>
      </p:sp>
    </p:spTree>
    <p:custDataLst>
      <p:tags r:id="rId1"/>
    </p:custDataLst>
    <p:extLst>
      <p:ext uri="{BB962C8B-B14F-4D97-AF65-F5344CB8AC3E}">
        <p14:creationId xmlns:p14="http://schemas.microsoft.com/office/powerpoint/2010/main" val="117710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598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5.6.3 String</a:t>
            </a:r>
            <a:r>
              <a:rPr lang="zh-CN" altLang="zh-CN" sz="3200" b="1" dirty="0">
                <a:solidFill>
                  <a:srgbClr val="1353A2"/>
                </a:solidFill>
                <a:latin typeface="微软雅黑" panose="020B0503020204020204" pitchFamily="34" charset="-122"/>
                <a:ea typeface="微软雅黑" panose="020B0503020204020204" pitchFamily="34" charset="-122"/>
              </a:rPr>
              <a:t>类对正则表达式的支持</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854200" y="1887469"/>
            <a:ext cx="9077960" cy="86589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类提供了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个方法支持正则操作</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407920" y="2753360"/>
          <a:ext cx="7945437" cy="2164081"/>
        </p:xfrm>
        <a:graphic>
          <a:graphicData uri="http://schemas.openxmlformats.org/drawingml/2006/table">
            <a:tbl>
              <a:tblPr firstRow="1" firstCol="1" bandRow="1">
                <a:tableStyleId>{5C22544A-7EE6-4342-B048-85BDC9FD1C3A}</a:tableStyleId>
              </a:tblPr>
              <a:tblGrid>
                <a:gridCol w="5695538">
                  <a:extLst>
                    <a:ext uri="{9D8B030D-6E8A-4147-A177-3AD203B41FA5}">
                      <a16:colId xmlns:a16="http://schemas.microsoft.com/office/drawing/2014/main" val="20000"/>
                    </a:ext>
                  </a:extLst>
                </a:gridCol>
                <a:gridCol w="2249899">
                  <a:extLst>
                    <a:ext uri="{9D8B030D-6E8A-4147-A177-3AD203B41FA5}">
                      <a16:colId xmlns:a16="http://schemas.microsoft.com/office/drawing/2014/main" val="20001"/>
                    </a:ext>
                  </a:extLst>
                </a:gridCol>
              </a:tblGrid>
              <a:tr h="547892">
                <a:tc>
                  <a:txBody>
                    <a:bodyPr/>
                    <a:lstStyle/>
                    <a:p>
                      <a:pPr indent="266700" algn="ctr">
                        <a:spcAft>
                          <a:spcPts val="0"/>
                        </a:spcAft>
                      </a:pPr>
                      <a:r>
                        <a:rPr lang="zh-CN" sz="1600" dirty="0">
                          <a:effectLst/>
                        </a:rPr>
                        <a:t>方法声明</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indent="266700" algn="ctr">
                        <a:spcAft>
                          <a:spcPts val="0"/>
                        </a:spcAft>
                      </a:pPr>
                      <a:r>
                        <a:rPr lang="zh-CN" sz="1600">
                          <a:effectLst/>
                        </a:rPr>
                        <a:t>功能描述</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47892">
                <a:tc>
                  <a:txBody>
                    <a:bodyPr/>
                    <a:lstStyle/>
                    <a:p>
                      <a:pPr>
                        <a:spcAft>
                          <a:spcPts val="0"/>
                        </a:spcAft>
                      </a:pPr>
                      <a:r>
                        <a:rPr lang="en-US" sz="1600" dirty="0" err="1">
                          <a:effectLst/>
                        </a:rPr>
                        <a:t>boolean</a:t>
                      </a:r>
                      <a:r>
                        <a:rPr lang="en-US" sz="1600" dirty="0">
                          <a:effectLst/>
                        </a:rPr>
                        <a:t> matches(String regex)</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匹配字符串</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20405">
                <a:tc>
                  <a:txBody>
                    <a:bodyPr/>
                    <a:lstStyle/>
                    <a:p>
                      <a:pPr>
                        <a:spcAft>
                          <a:spcPts val="0"/>
                        </a:spcAft>
                      </a:pPr>
                      <a:r>
                        <a:rPr lang="en-US" sz="1600" dirty="0">
                          <a:effectLst/>
                        </a:rPr>
                        <a:t>String </a:t>
                      </a:r>
                      <a:r>
                        <a:rPr lang="en-US" sz="1600" u="none" strike="noStrike" dirty="0" err="1">
                          <a:effectLst/>
                        </a:rPr>
                        <a:t>replaceAll</a:t>
                      </a:r>
                      <a:r>
                        <a:rPr lang="en-US" sz="1600" dirty="0">
                          <a:effectLst/>
                        </a:rPr>
                        <a:t>(</a:t>
                      </a:r>
                      <a:r>
                        <a:rPr lang="en-US" sz="1600" u="none" strike="noStrike" dirty="0">
                          <a:effectLst/>
                        </a:rPr>
                        <a:t>String</a:t>
                      </a:r>
                      <a:r>
                        <a:rPr lang="en-US" sz="1600" dirty="0">
                          <a:effectLst/>
                        </a:rPr>
                        <a:t> regex, </a:t>
                      </a:r>
                      <a:r>
                        <a:rPr lang="en-US" sz="1600" u="none" strike="noStrike" dirty="0">
                          <a:effectLst/>
                        </a:rPr>
                        <a:t>String</a:t>
                      </a:r>
                      <a:r>
                        <a:rPr lang="en-US" sz="1600" dirty="0">
                          <a:effectLst/>
                        </a:rPr>
                        <a:t> replacement)</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a:effectLst/>
                        </a:rPr>
                        <a:t>字符串替换</a:t>
                      </a:r>
                      <a:endParaRPr lang="zh-CN" sz="160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47892">
                <a:tc>
                  <a:txBody>
                    <a:bodyPr/>
                    <a:lstStyle/>
                    <a:p>
                      <a:pPr>
                        <a:spcAft>
                          <a:spcPts val="0"/>
                        </a:spcAft>
                      </a:pPr>
                      <a:r>
                        <a:rPr lang="en-US" sz="1600" dirty="0">
                          <a:effectLst/>
                        </a:rPr>
                        <a:t>String[] </a:t>
                      </a:r>
                      <a:r>
                        <a:rPr lang="en-US" sz="1600" u="none" strike="noStrike" dirty="0">
                          <a:effectLst/>
                        </a:rPr>
                        <a:t>split</a:t>
                      </a:r>
                      <a:r>
                        <a:rPr lang="en-US" sz="1600" dirty="0">
                          <a:effectLst/>
                        </a:rPr>
                        <a:t>(</a:t>
                      </a:r>
                      <a:r>
                        <a:rPr lang="en-US" sz="1600" u="none" strike="noStrike" dirty="0">
                          <a:effectLst/>
                        </a:rPr>
                        <a:t>String</a:t>
                      </a:r>
                      <a:r>
                        <a:rPr lang="en-US" sz="1600" dirty="0">
                          <a:effectLst/>
                        </a:rPr>
                        <a:t> regex)</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tc>
                  <a:txBody>
                    <a:bodyPr/>
                    <a:lstStyle/>
                    <a:p>
                      <a:pPr>
                        <a:spcAft>
                          <a:spcPts val="0"/>
                        </a:spcAft>
                      </a:pPr>
                      <a:r>
                        <a:rPr lang="zh-CN" sz="1600" dirty="0">
                          <a:effectLst/>
                        </a:rPr>
                        <a:t>字符串拆分</a:t>
                      </a:r>
                      <a:endParaRPr lang="zh-CN" sz="1600" dirty="0">
                        <a:effectLst/>
                        <a:latin typeface="宋体" panose="02010600030101010101" pitchFamily="2" charset="-122"/>
                        <a:ea typeface="等线"/>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4" name="文本占位符 3"/>
          <p:cNvSpPr>
            <a:spLocks noGrp="1"/>
          </p:cNvSpPr>
          <p:nvPr>
            <p:ph type="body" sz="quarter" idx="10"/>
          </p:nvPr>
        </p:nvSpPr>
        <p:spPr/>
        <p:txBody>
          <a:bodyPr/>
          <a:lstStyle/>
          <a:p>
            <a:fld id="{3D3BC425-3778-4F5F-9AF9-BDAC852B428D}" type="slidenum">
              <a:rPr lang="zh-CN" altLang="en-US" smtClean="0"/>
              <a:t>130</a:t>
            </a:fld>
            <a:endParaRPr lang="zh-CN" altLang="en-US" dirty="0"/>
          </a:p>
        </p:txBody>
      </p:sp>
    </p:spTree>
    <p:custDataLst>
      <p:tags r:id="rId1"/>
    </p:custDataLst>
    <p:extLst>
      <p:ext uri="{BB962C8B-B14F-4D97-AF65-F5344CB8AC3E}">
        <p14:creationId xmlns:p14="http://schemas.microsoft.com/office/powerpoint/2010/main" val="63212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598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5.6.3 String</a:t>
            </a:r>
            <a:r>
              <a:rPr lang="zh-CN" altLang="zh-CN" sz="3200" b="1" dirty="0">
                <a:solidFill>
                  <a:srgbClr val="1353A2"/>
                </a:solidFill>
                <a:latin typeface="微软雅黑" panose="020B0503020204020204" pitchFamily="34" charset="-122"/>
                <a:ea typeface="微软雅黑" panose="020B0503020204020204" pitchFamily="34" charset="-122"/>
              </a:rPr>
              <a:t>类对正则表达式的支持</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59560" y="1157591"/>
            <a:ext cx="9077960" cy="86589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接下来通过一个案例学习这些方法的使用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692400" y="1901562"/>
            <a:ext cx="6888480" cy="4245238"/>
            <a:chOff x="2692400" y="1942202"/>
            <a:chExt cx="6888480" cy="4245238"/>
          </a:xfrm>
        </p:grpSpPr>
        <p:pic>
          <p:nvPicPr>
            <p:cNvPr id="2017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2400" y="1942202"/>
              <a:ext cx="6888480" cy="424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413760" y="1942202"/>
              <a:ext cx="5648960" cy="424523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Example30{</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void main(String[] args)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str = "A1B22DDS34DSJ9D".replaceAll("\\d+","_");</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字符替换后为：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boolean te = "321123as1".matches("\\d+");</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字符串是否匹配：</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s [] ="SDS45d4DD4dDS88D".split("\\d+");</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字符串拆分后为：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for(int i=0;i&lt;s.length;i++){</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System.out.print(s[i]+"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56431BEC-9F84-4BDF-8589-3FE18B827A1F}" type="slidenum">
              <a:rPr lang="zh-CN" altLang="en-US" smtClean="0"/>
              <a:t>131</a:t>
            </a:fld>
            <a:endParaRPr lang="zh-CN" altLang="en-US" dirty="0"/>
          </a:p>
        </p:txBody>
      </p:sp>
    </p:spTree>
    <p:custDataLst>
      <p:tags r:id="rId1"/>
    </p:custDataLst>
    <p:extLst>
      <p:ext uri="{BB962C8B-B14F-4D97-AF65-F5344CB8AC3E}">
        <p14:creationId xmlns:p14="http://schemas.microsoft.com/office/powerpoint/2010/main" val="59436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598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5.6.3 String</a:t>
            </a:r>
            <a:r>
              <a:rPr lang="zh-CN" altLang="zh-CN" sz="3200" b="1" dirty="0">
                <a:solidFill>
                  <a:srgbClr val="1353A2"/>
                </a:solidFill>
                <a:latin typeface="微软雅黑" panose="020B0503020204020204" pitchFamily="34" charset="-122"/>
                <a:ea typeface="微软雅黑" panose="020B0503020204020204" pitchFamily="34" charset="-122"/>
              </a:rPr>
              <a:t>类对正则表达式的支持</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557020" y="1381111"/>
            <a:ext cx="9077960" cy="86589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descr="手机屏幕截图&#10;&#10;描述已自动生成"/>
          <p:cNvPicPr/>
          <p:nvPr/>
        </p:nvPicPr>
        <p:blipFill>
          <a:blip r:embed="rId4">
            <a:extLst>
              <a:ext uri="{28A0092B-C50C-407E-A947-70E740481C1C}">
                <a14:useLocalDpi xmlns:a14="http://schemas.microsoft.com/office/drawing/2010/main" val="0"/>
              </a:ext>
            </a:extLst>
          </a:blip>
          <a:stretch>
            <a:fillRect/>
          </a:stretch>
        </p:blipFill>
        <p:spPr>
          <a:xfrm>
            <a:off x="2809238" y="2519044"/>
            <a:ext cx="6951027" cy="2449195"/>
          </a:xfrm>
          <a:prstGeom prst="rect">
            <a:avLst/>
          </a:prstGeom>
        </p:spPr>
      </p:pic>
      <p:sp>
        <p:nvSpPr>
          <p:cNvPr id="3" name="文本占位符 2"/>
          <p:cNvSpPr>
            <a:spLocks noGrp="1"/>
          </p:cNvSpPr>
          <p:nvPr>
            <p:ph type="body" sz="quarter" idx="10"/>
          </p:nvPr>
        </p:nvSpPr>
        <p:spPr/>
        <p:txBody>
          <a:bodyPr/>
          <a:lstStyle/>
          <a:p>
            <a:fld id="{D420FADF-23BD-4E0A-B314-9F6DE4E5158A}" type="slidenum">
              <a:rPr lang="zh-CN" altLang="en-US" smtClean="0"/>
              <a:t>132</a:t>
            </a:fld>
            <a:endParaRPr lang="zh-CN" altLang="en-US" dirty="0"/>
          </a:p>
        </p:txBody>
      </p:sp>
    </p:spTree>
    <p:custDataLst>
      <p:tags r:id="rId1"/>
    </p:custDataLst>
    <p:extLst>
      <p:ext uri="{BB962C8B-B14F-4D97-AF65-F5344CB8AC3E}">
        <p14:creationId xmlns:p14="http://schemas.microsoft.com/office/powerpoint/2010/main" val="347718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598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5.6.3 String</a:t>
            </a:r>
            <a:r>
              <a:rPr lang="zh-CN" altLang="zh-CN" sz="3200" b="1" dirty="0">
                <a:solidFill>
                  <a:srgbClr val="1353A2"/>
                </a:solidFill>
                <a:latin typeface="微软雅黑" panose="020B0503020204020204" pitchFamily="34" charset="-122"/>
                <a:ea typeface="微软雅黑" panose="020B0503020204020204" pitchFamily="34" charset="-122"/>
              </a:rPr>
              <a:t>类对正则表达式的支持</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770380" y="2021191"/>
            <a:ext cx="9077960" cy="258128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运行结果</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可以看出，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类提供的方法可以很方便对字符串进行操作。需要注意的是，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matches(String regex)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方法的使用同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Pattern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Matcher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类中该方法使用一样，必须匹配所有的字符串才返回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，否则返回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文本占位符 2"/>
          <p:cNvSpPr>
            <a:spLocks noGrp="1"/>
          </p:cNvSpPr>
          <p:nvPr>
            <p:ph type="body" sz="quarter" idx="10"/>
          </p:nvPr>
        </p:nvSpPr>
        <p:spPr/>
        <p:txBody>
          <a:bodyPr/>
          <a:lstStyle/>
          <a:p>
            <a:fld id="{58025855-0327-49F3-A94D-7D821832B8B9}" type="slidenum">
              <a:rPr lang="zh-CN" altLang="en-US" smtClean="0"/>
              <a:t>133</a:t>
            </a:fld>
            <a:endParaRPr lang="zh-CN" altLang="en-US" dirty="0"/>
          </a:p>
        </p:txBody>
      </p:sp>
    </p:spTree>
    <p:custDataLst>
      <p:tags r:id="rId1"/>
    </p:custDataLst>
    <p:extLst>
      <p:ext uri="{BB962C8B-B14F-4D97-AF65-F5344CB8AC3E}">
        <p14:creationId xmlns:p14="http://schemas.microsoft.com/office/powerpoint/2010/main" val="218162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9338" y="500143"/>
            <a:ext cx="5903119" cy="584776"/>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5.7 </a:t>
            </a:r>
            <a:r>
              <a:rPr lang="zh-CN" altLang="en-US" sz="3200" b="1" dirty="0">
                <a:solidFill>
                  <a:srgbClr val="1353A2"/>
                </a:solidFill>
                <a:latin typeface="微软雅黑" panose="020B0503020204020204" pitchFamily="34" charset="-122"/>
                <a:ea typeface="微软雅黑" panose="020B0503020204020204" pitchFamily="34" charset="-122"/>
              </a:rPr>
              <a:t>本章小结</a:t>
            </a:r>
          </a:p>
        </p:txBody>
      </p:sp>
      <p:sp>
        <p:nvSpPr>
          <p:cNvPr id="67" name="矩形 66"/>
          <p:cNvSpPr/>
          <p:nvPr/>
        </p:nvSpPr>
        <p:spPr>
          <a:xfrm>
            <a:off x="5171441" y="1392269"/>
            <a:ext cx="6566267" cy="470898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zh-CN" sz="2000" dirty="0">
                <a:solidFill>
                  <a:srgbClr val="1353A2"/>
                </a:solidFill>
                <a:latin typeface="微软雅黑" panose="020B0503020204020204" pitchFamily="34" charset="-122"/>
                <a:ea typeface="微软雅黑" panose="020B0503020204020204" pitchFamily="34" charset="-122"/>
              </a:rPr>
              <a:t>本章详细介绍了</a:t>
            </a:r>
            <a:r>
              <a:rPr lang="en-US" altLang="zh-CN" sz="2000" dirty="0">
                <a:solidFill>
                  <a:srgbClr val="1353A2"/>
                </a:solidFill>
                <a:latin typeface="微软雅黑" panose="020B0503020204020204" pitchFamily="34" charset="-122"/>
                <a:ea typeface="微软雅黑" panose="020B0503020204020204" pitchFamily="34" charset="-122"/>
              </a:rPr>
              <a:t>Java API</a:t>
            </a:r>
            <a:r>
              <a:rPr lang="zh-CN" altLang="zh-CN" sz="2000" dirty="0">
                <a:solidFill>
                  <a:srgbClr val="1353A2"/>
                </a:solidFill>
                <a:latin typeface="微软雅黑" panose="020B0503020204020204" pitchFamily="34" charset="-122"/>
                <a:ea typeface="微软雅黑" panose="020B0503020204020204" pitchFamily="34" charset="-122"/>
              </a:rPr>
              <a:t>的基础知识。首先从</a:t>
            </a:r>
            <a:r>
              <a:rPr lang="en-US" altLang="zh-CN" sz="2000" dirty="0">
                <a:solidFill>
                  <a:srgbClr val="1353A2"/>
                </a:solidFill>
                <a:latin typeface="微软雅黑" panose="020B0503020204020204" pitchFamily="34" charset="-122"/>
                <a:ea typeface="微软雅黑" panose="020B0503020204020204" pitchFamily="34" charset="-122"/>
              </a:rPr>
              <a:t>String</a:t>
            </a:r>
            <a:r>
              <a:rPr lang="zh-CN" altLang="zh-CN" sz="2000" dirty="0">
                <a:solidFill>
                  <a:srgbClr val="1353A2"/>
                </a:solidFill>
                <a:latin typeface="微软雅黑" panose="020B0503020204020204" pitchFamily="34" charset="-122"/>
                <a:ea typeface="微软雅黑" panose="020B0503020204020204" pitchFamily="34" charset="-122"/>
              </a:rPr>
              <a:t>类、</a:t>
            </a:r>
            <a:r>
              <a:rPr lang="en-US" altLang="zh-CN" sz="2000" dirty="0" err="1">
                <a:solidFill>
                  <a:srgbClr val="1353A2"/>
                </a:solidFill>
                <a:latin typeface="微软雅黑" panose="020B0503020204020204" pitchFamily="34" charset="-122"/>
                <a:ea typeface="微软雅黑" panose="020B0503020204020204" pitchFamily="34" charset="-122"/>
              </a:rPr>
              <a:t>StringBuffer</a:t>
            </a:r>
            <a:r>
              <a:rPr lang="zh-CN" altLang="zh-CN" sz="2000" dirty="0">
                <a:solidFill>
                  <a:srgbClr val="1353A2"/>
                </a:solidFill>
                <a:latin typeface="微软雅黑" panose="020B0503020204020204" pitchFamily="34" charset="-122"/>
                <a:ea typeface="微软雅黑" panose="020B0503020204020204" pitchFamily="34" charset="-122"/>
              </a:rPr>
              <a:t>类和</a:t>
            </a:r>
            <a:r>
              <a:rPr lang="en-US" altLang="zh-CN" sz="2000" dirty="0" err="1">
                <a:solidFill>
                  <a:srgbClr val="1353A2"/>
                </a:solidFill>
                <a:latin typeface="微软雅黑" panose="020B0503020204020204" pitchFamily="34" charset="-122"/>
                <a:ea typeface="微软雅黑" panose="020B0503020204020204" pitchFamily="34" charset="-122"/>
              </a:rPr>
              <a:t>StringBuilder</a:t>
            </a:r>
            <a:r>
              <a:rPr lang="zh-CN" altLang="zh-CN" sz="2000" dirty="0">
                <a:solidFill>
                  <a:srgbClr val="1353A2"/>
                </a:solidFill>
                <a:latin typeface="微软雅黑" panose="020B0503020204020204" pitchFamily="34" charset="-122"/>
                <a:ea typeface="微软雅黑" panose="020B0503020204020204" pitchFamily="34" charset="-122"/>
              </a:rPr>
              <a:t>类三个类的使用上介绍了字符串类；其次介绍了</a:t>
            </a:r>
            <a:r>
              <a:rPr lang="en-US" altLang="zh-CN" sz="2000" dirty="0">
                <a:solidFill>
                  <a:srgbClr val="1353A2"/>
                </a:solidFill>
                <a:latin typeface="微软雅黑" panose="020B0503020204020204" pitchFamily="34" charset="-122"/>
                <a:ea typeface="微软雅黑" panose="020B0503020204020204" pitchFamily="34" charset="-122"/>
              </a:rPr>
              <a:t>System</a:t>
            </a:r>
            <a:r>
              <a:rPr lang="zh-CN" altLang="zh-CN" sz="2000" dirty="0">
                <a:solidFill>
                  <a:srgbClr val="1353A2"/>
                </a:solidFill>
                <a:latin typeface="微软雅黑" panose="020B0503020204020204" pitchFamily="34" charset="-122"/>
                <a:ea typeface="微软雅黑" panose="020B0503020204020204" pitchFamily="34" charset="-122"/>
              </a:rPr>
              <a:t>类和</a:t>
            </a:r>
            <a:r>
              <a:rPr lang="en-US" altLang="zh-CN" sz="2000" dirty="0">
                <a:solidFill>
                  <a:srgbClr val="1353A2"/>
                </a:solidFill>
                <a:latin typeface="微软雅黑" panose="020B0503020204020204" pitchFamily="34" charset="-122"/>
                <a:ea typeface="微软雅黑" panose="020B0503020204020204" pitchFamily="34" charset="-122"/>
              </a:rPr>
              <a:t>Runtime</a:t>
            </a:r>
            <a:r>
              <a:rPr lang="zh-CN" altLang="zh-CN" sz="2000" dirty="0">
                <a:solidFill>
                  <a:srgbClr val="1353A2"/>
                </a:solidFill>
                <a:latin typeface="微软雅黑" panose="020B0503020204020204" pitchFamily="34" charset="-122"/>
                <a:ea typeface="微软雅黑" panose="020B0503020204020204" pitchFamily="34" charset="-122"/>
              </a:rPr>
              <a:t>类的使用；接着介绍了</a:t>
            </a:r>
            <a:r>
              <a:rPr lang="en-US" altLang="zh-CN" sz="2000" dirty="0">
                <a:solidFill>
                  <a:srgbClr val="1353A2"/>
                </a:solidFill>
                <a:latin typeface="微软雅黑" panose="020B0503020204020204" pitchFamily="34" charset="-122"/>
                <a:ea typeface="微软雅黑" panose="020B0503020204020204" pitchFamily="34" charset="-122"/>
              </a:rPr>
              <a:t>Math</a:t>
            </a:r>
            <a:r>
              <a:rPr lang="zh-CN" altLang="zh-CN" sz="2000" dirty="0">
                <a:solidFill>
                  <a:srgbClr val="1353A2"/>
                </a:solidFill>
                <a:latin typeface="微软雅黑" panose="020B0503020204020204" pitchFamily="34" charset="-122"/>
                <a:ea typeface="微软雅黑" panose="020B0503020204020204" pitchFamily="34" charset="-122"/>
              </a:rPr>
              <a:t>类与</a:t>
            </a:r>
            <a:r>
              <a:rPr lang="en-US" altLang="zh-CN" sz="2000" dirty="0">
                <a:solidFill>
                  <a:srgbClr val="1353A2"/>
                </a:solidFill>
                <a:latin typeface="微软雅黑" panose="020B0503020204020204" pitchFamily="34" charset="-122"/>
                <a:ea typeface="微软雅黑" panose="020B0503020204020204" pitchFamily="34" charset="-122"/>
              </a:rPr>
              <a:t>Random</a:t>
            </a:r>
            <a:r>
              <a:rPr lang="zh-CN" altLang="zh-CN" sz="2000" dirty="0">
                <a:solidFill>
                  <a:srgbClr val="1353A2"/>
                </a:solidFill>
                <a:latin typeface="微软雅黑" panose="020B0503020204020204" pitchFamily="34" charset="-122"/>
                <a:ea typeface="微软雅黑" panose="020B0503020204020204" pitchFamily="34" charset="-122"/>
              </a:rPr>
              <a:t>类的使用；然后详细介绍了日期时间类中的</a:t>
            </a:r>
            <a:r>
              <a:rPr lang="en-US" altLang="zh-CN" sz="2000" dirty="0">
                <a:solidFill>
                  <a:srgbClr val="1353A2"/>
                </a:solidFill>
                <a:latin typeface="微软雅黑" panose="020B0503020204020204" pitchFamily="34" charset="-122"/>
                <a:ea typeface="微软雅黑" panose="020B0503020204020204" pitchFamily="34" charset="-122"/>
              </a:rPr>
              <a:t>Instant</a:t>
            </a:r>
            <a:r>
              <a:rPr lang="zh-CN" altLang="zh-CN" sz="2000" dirty="0">
                <a:solidFill>
                  <a:srgbClr val="1353A2"/>
                </a:solidFill>
                <a:latin typeface="微软雅黑" panose="020B0503020204020204" pitchFamily="34" charset="-122"/>
                <a:ea typeface="微软雅黑" panose="020B0503020204020204" pitchFamily="34" charset="-122"/>
              </a:rPr>
              <a:t>类、</a:t>
            </a:r>
            <a:r>
              <a:rPr lang="en-US" altLang="zh-CN" sz="2000" dirty="0" err="1">
                <a:solidFill>
                  <a:srgbClr val="1353A2"/>
                </a:solidFill>
                <a:latin typeface="微软雅黑" panose="020B0503020204020204" pitchFamily="34" charset="-122"/>
                <a:ea typeface="微软雅黑" panose="020B0503020204020204" pitchFamily="34" charset="-122"/>
              </a:rPr>
              <a:t>LocalData</a:t>
            </a:r>
            <a:r>
              <a:rPr lang="zh-CN" altLang="zh-CN" sz="2000" dirty="0">
                <a:solidFill>
                  <a:srgbClr val="1353A2"/>
                </a:solidFill>
                <a:latin typeface="微软雅黑" panose="020B0503020204020204" pitchFamily="34" charset="-122"/>
                <a:ea typeface="微软雅黑" panose="020B0503020204020204" pitchFamily="34" charset="-122"/>
              </a:rPr>
              <a:t>类、</a:t>
            </a:r>
            <a:r>
              <a:rPr lang="en-US" altLang="zh-CN" sz="2000" dirty="0" err="1">
                <a:solidFill>
                  <a:srgbClr val="1353A2"/>
                </a:solidFill>
                <a:latin typeface="微软雅黑" panose="020B0503020204020204" pitchFamily="34" charset="-122"/>
                <a:ea typeface="微软雅黑" panose="020B0503020204020204" pitchFamily="34" charset="-122"/>
              </a:rPr>
              <a:t>LocalTime</a:t>
            </a:r>
            <a:r>
              <a:rPr lang="zh-CN" altLang="zh-CN" sz="2000" dirty="0">
                <a:solidFill>
                  <a:srgbClr val="1353A2"/>
                </a:solidFill>
                <a:latin typeface="微软雅黑" panose="020B0503020204020204" pitchFamily="34" charset="-122"/>
                <a:ea typeface="微软雅黑" panose="020B0503020204020204" pitchFamily="34" charset="-122"/>
              </a:rPr>
              <a:t>类、</a:t>
            </a:r>
            <a:r>
              <a:rPr lang="en-US" altLang="zh-CN" sz="2000" dirty="0">
                <a:solidFill>
                  <a:srgbClr val="1353A2"/>
                </a:solidFill>
                <a:latin typeface="微软雅黑" panose="020B0503020204020204" pitchFamily="34" charset="-122"/>
                <a:ea typeface="微软雅黑" panose="020B0503020204020204" pitchFamily="34" charset="-122"/>
              </a:rPr>
              <a:t>Period</a:t>
            </a:r>
            <a:r>
              <a:rPr lang="zh-CN" altLang="zh-CN" sz="2000" dirty="0">
                <a:solidFill>
                  <a:srgbClr val="1353A2"/>
                </a:solidFill>
                <a:latin typeface="微软雅黑" panose="020B0503020204020204" pitchFamily="34" charset="-122"/>
                <a:ea typeface="微软雅黑" panose="020B0503020204020204" pitchFamily="34" charset="-122"/>
              </a:rPr>
              <a:t>类和</a:t>
            </a:r>
            <a:r>
              <a:rPr lang="en-US" altLang="zh-CN" sz="2000" dirty="0" err="1">
                <a:solidFill>
                  <a:srgbClr val="1353A2"/>
                </a:solidFill>
                <a:latin typeface="微软雅黑" panose="020B0503020204020204" pitchFamily="34" charset="-122"/>
                <a:ea typeface="微软雅黑" panose="020B0503020204020204" pitchFamily="34" charset="-122"/>
              </a:rPr>
              <a:t>Dueation</a:t>
            </a:r>
            <a:r>
              <a:rPr lang="zh-CN" altLang="zh-CN" sz="2000" dirty="0">
                <a:solidFill>
                  <a:srgbClr val="1353A2"/>
                </a:solidFill>
                <a:latin typeface="微软雅黑" panose="020B0503020204020204" pitchFamily="34" charset="-122"/>
                <a:ea typeface="微软雅黑" panose="020B0503020204020204" pitchFamily="34" charset="-122"/>
              </a:rPr>
              <a:t>类；又介绍了基本类型所对应的包装类；最后从元字符、</a:t>
            </a:r>
            <a:r>
              <a:rPr lang="en-US" altLang="zh-CN" sz="2000" dirty="0">
                <a:solidFill>
                  <a:srgbClr val="1353A2"/>
                </a:solidFill>
                <a:latin typeface="微软雅黑" panose="020B0503020204020204" pitchFamily="34" charset="-122"/>
                <a:ea typeface="微软雅黑" panose="020B0503020204020204" pitchFamily="34" charset="-122"/>
              </a:rPr>
              <a:t>Pattern</a:t>
            </a:r>
            <a:r>
              <a:rPr lang="zh-CN" altLang="zh-CN" sz="2000" dirty="0">
                <a:solidFill>
                  <a:srgbClr val="1353A2"/>
                </a:solidFill>
                <a:latin typeface="微软雅黑" panose="020B0503020204020204" pitchFamily="34" charset="-122"/>
                <a:ea typeface="微软雅黑" panose="020B0503020204020204" pitchFamily="34" charset="-122"/>
              </a:rPr>
              <a:t>类、</a:t>
            </a:r>
            <a:r>
              <a:rPr lang="en-US" altLang="zh-CN" sz="2000" dirty="0">
                <a:solidFill>
                  <a:srgbClr val="1353A2"/>
                </a:solidFill>
                <a:latin typeface="微软雅黑" panose="020B0503020204020204" pitchFamily="34" charset="-122"/>
                <a:ea typeface="微软雅黑" panose="020B0503020204020204" pitchFamily="34" charset="-122"/>
              </a:rPr>
              <a:t>Matcher</a:t>
            </a:r>
            <a:r>
              <a:rPr lang="zh-CN" altLang="zh-CN" sz="2000" dirty="0">
                <a:solidFill>
                  <a:srgbClr val="1353A2"/>
                </a:solidFill>
                <a:latin typeface="微软雅黑" panose="020B0503020204020204" pitchFamily="34" charset="-122"/>
                <a:ea typeface="微软雅黑" panose="020B0503020204020204" pitchFamily="34" charset="-122"/>
              </a:rPr>
              <a:t>类和</a:t>
            </a:r>
            <a:r>
              <a:rPr lang="en-US" altLang="zh-CN" sz="2000" dirty="0">
                <a:solidFill>
                  <a:srgbClr val="1353A2"/>
                </a:solidFill>
                <a:latin typeface="微软雅黑" panose="020B0503020204020204" pitchFamily="34" charset="-122"/>
                <a:ea typeface="微软雅黑" panose="020B0503020204020204" pitchFamily="34" charset="-122"/>
              </a:rPr>
              <a:t>String</a:t>
            </a:r>
            <a:r>
              <a:rPr lang="zh-CN" altLang="zh-CN" sz="2000" dirty="0">
                <a:solidFill>
                  <a:srgbClr val="1353A2"/>
                </a:solidFill>
                <a:latin typeface="微软雅黑" panose="020B0503020204020204" pitchFamily="34" charset="-122"/>
                <a:ea typeface="微软雅黑" panose="020B0503020204020204" pitchFamily="34" charset="-122"/>
              </a:rPr>
              <a:t>类对正则表达式的支持详解介绍了正则表达式的使用。深入理解</a:t>
            </a:r>
            <a:r>
              <a:rPr lang="en-US" altLang="zh-CN" sz="2000" dirty="0">
                <a:solidFill>
                  <a:srgbClr val="1353A2"/>
                </a:solidFill>
                <a:latin typeface="微软雅黑" panose="020B0503020204020204" pitchFamily="34" charset="-122"/>
                <a:ea typeface="微软雅黑" panose="020B0503020204020204" pitchFamily="34" charset="-122"/>
              </a:rPr>
              <a:t>Java API</a:t>
            </a:r>
            <a:r>
              <a:rPr lang="zh-CN" altLang="zh-CN" sz="2000" dirty="0">
                <a:solidFill>
                  <a:srgbClr val="1353A2"/>
                </a:solidFill>
                <a:latin typeface="微软雅黑" panose="020B0503020204020204" pitchFamily="34" charset="-122"/>
                <a:ea typeface="微软雅黑" panose="020B0503020204020204" pitchFamily="34" charset="-122"/>
              </a:rPr>
              <a:t>，对以后的实际开发也是大有裨益的。</a:t>
            </a:r>
            <a:endParaRPr lang="zh-CN" altLang="en-US" sz="2000" dirty="0">
              <a:solidFill>
                <a:srgbClr val="1353A2"/>
              </a:solidFill>
              <a:latin typeface="微软雅黑" panose="020B0503020204020204" pitchFamily="34" charset="-122"/>
              <a:ea typeface="微软雅黑" panose="020B0503020204020204" pitchFamily="34" charset="-122"/>
            </a:endParaRPr>
          </a:p>
        </p:txBody>
      </p:sp>
      <p:cxnSp>
        <p:nvCxnSpPr>
          <p:cNvPr id="94" name="直接连接符 71"/>
          <p:cNvCxnSpPr/>
          <p:nvPr/>
        </p:nvCxnSpPr>
        <p:spPr>
          <a:xfrm flipH="1">
            <a:off x="9202549" y="7121749"/>
            <a:ext cx="1474501" cy="1463953"/>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11069007" y="5941656"/>
            <a:ext cx="658541" cy="62690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pic>
        <p:nvPicPr>
          <p:cNvPr id="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641" y="1634705"/>
            <a:ext cx="4730773" cy="387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0521628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074740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8D62E317-9EB8-4EE3-A0B2-DEA7D8D8667A}"/>
  <p:tag name="ISPRING_RESOURCE_FOLDER" val="F:\7、计算机组装与维护\5、资源\2.PPT\ppt\第1章 认识计算机 教学PPT_薛蒙蒙_0827_1\"/>
  <p:tag name="ISPRING_RESOURCE_FOLDER_STATIC" val="F:\7、计算机组装与维护\5、资源\2.PPT\ppt\第1章 认识计算机 教学PPT_薛蒙蒙_0827_1\"/>
  <p:tag name="ISPRING_PRESENTATION_PATH" val="F:\7、计算机组装与维护\5、资源\2.PPT\ppt\第1章 认识计算机 教学PPT_薛蒙蒙_0827.pptx"/>
  <p:tag name="ISPRING_PROJECT_FOLDER_UPDATED" val="1"/>
  <p:tag name="ISPRING_PLAYERS_CUSTOMIZATION" val="UEsDBBQAAgAIAO9xSE3/6EwIKgQAAHYOAAAdAAAAdW5pdmVyc2FsL2NvbW1vbl9tZXNzYWdlcy5sbmetV1uP00YUfkfiP4wsUbUPXaASCKnZoEk8m1g4drAne+lF1mw8BAvHs7WdwPYJVS1i+wIStKItLVppu1upNK2QWlFW5ddsnOVf9NhOIAm0tnd5sJSx8n3n9p3jM6WLN7ou6nM/cIS3KJ1dOCMh7rWF7XidRalFl96/IKEgZJ7NXOHxRckTErpYPnmi5DKv02MdDr9PnkCo1OVBAMegHJ9enZFjL0rNilXVG02srVmqXtOtilKTylXR3WDeJlJFR3ziv/vB+Qs3zp47/17p9BiZh8hsYFWdpUIJ07kzOYg0auiqBWxEtTSySqXyO53ww/mnGI/eoqqiEak83NkbPXtyuHdr+MPzYhRNgyyDKy6Yn3syeVqGQTRqmaoiE0sxLU2nScJUQokslaMHvw/v7o7290b7vx08/frg6c3o8Xb0553DvduHgz+G/3yTZUA28Iqi1Syq66ppEU2evJHKo/170Y+PRvf3R4/vF6QxsEkM8O7e7ovvdo6AtRIRpPBo62b0cKsYSV2p1VV4aOzFi18fHDwbFCNoEg0SkB13g5gmrhGroq9CaUAjd3eLQPRLYGV7cDjYKYJaI2ZS+SyMhpeVGqaKrsXKMYhJDaWayGZN9FCbeUh47iZi7Tbg0IbP+47oBfCm7/Dr3EaB69g8KGbFJJdbIFgFq6mVq6zPUSgSyjEhcjwUXuWo4/Q5uODb3M+yAQ1UJXJcnsst5SNrCSsqkS2ol6yvWDRp9NgY8znyRIiY64o4ALDL7D7z2hyt8zbrBRxtwt9sx07+tsEg7NiTz3rO54iFqX/o1LjZNJmsnlo4nmsKVWFyrDDfg/FbkGqm1V8PttsLINIw5N2NMCuKqUwsvBUvjhtXE5vmfwaVpy7HjGjOftFwTJA4MeCrBy1fcUR+BGmAPqQy6TLHzY9StCUw1PR5wL2Q+0jxrhSwqeljAk2go3IsQ+ZnXFiGihTAr5CKqdA4x3w9cEKehUwKldb7zRppw4Lg8pC/0sk6vyKg/13O+lBEeO8EqXAWjmCskCAmkzUegdNzesyigUMdFsI6hsAl1+lC/HYOzlaDTDKYjteZTLzxyz/6/ssiH///M5L6bvCg1+UT2SRBZJGaBBvVulXFWpWA1Id3vo3+up0TBFKNfVKpaam4EsOjJ9vw9Y+++CV69HO09RwCHN76ajj4Oydhun/JZAkD6ThzOaHzjqT2YSf66WEhBmi+eOSQl0wfayLkwadZJBRXZnHJIQ9qvLFOcEX21qTs46xhSnG13gBlmIkQRM9vZ68D0wwNbFyC5k9WKqncYP41mBxUCLcQSxJ3PL3CYtaPtLhPExxvAMdRU6VpYVlOrjZwqXGd9rX0w2Ujloyw+I7jwh0nL1m1jjWYLnN83HbCgoTJQJ80O7Rdep4oLd7XXpvvL09BckMsnZ66MP4LUEsDBBQAAgAIAO9xSE2LtzoSDwQAANwPAAAnAAAAdW5pdmVyc2FsL2ZsYXNoX3B1Ymxpc2hpbmdfc2V0dGluZ3MueG1s5VdRaxtHEH7Xr1iupG/RyYldO+5JwdgSEZVl17rShFLM6m6s23pv93q7J0V5CiEJTV8aKIWShhZDavehdUugkNY0P6ZEkn9G53S2LFlyenJISSjiEDf7zbczs7Pf3lpXb/qcNCFUTIq8MZPNGQSEI10mGnnjI7t0ccEgSlPhUi4F5A0hDXK1kLGCqM6Z8mqgNUIVQRqhFgOdNzytg0XTbLVaWaaCMB6VPNLIr7KO9M0gBAVCQ2gGnLbxT7cDUEYhkyHESkyr0o04EOZiCILF0VFe4lR5hpnA6tTZboQyEu6y5DIkYaOeN95ZWIp/x5iEaoX5IOLkVAGNsVkvUtdlcTyU19gtIB6whoeBz88apMVc7eWNy7lLMQ3CzXGaPnmSBI1pliVmI/QRvw+aulTT5DWZUMNNrY4NicltC+ozx8YREhcgb6zYm7VKeaW4WV2zi7XNa/ZqJYlhCie7eN2ewsku25XiNPi09NdurBc3KuXqB5v22lrFLq+feGFFRwpimaMVs7CyMgodGBTM0l7k1wVlHLvtVBkVaOxXTsMG2LLEcBW3KFdgkM8CaHwYUc50G9s6h229DRAsqQAcvREvW97QYQTGCV1CiIHhWg56Yu7KoCfmF0ZSN5PZT9KaGKVFtaaOh82Dtn5oljlsOoZtSTGSWvxO6pK7g4TAr4NbpT4M7YnaNhMlRM4YZAsXgWOqSyGj3CBMY+rOwFlFdaWZ7u/C0jCSIBfudiCrtbFSOB4N1UjFB1WPG98pfFKVGtSnSSkS01nQ7re/dh7u9g72ege/vHj25Ytnt7s/7/Qe3e3+/tXh3heH+791/vomDc8NGRE/UpqgkgQcNBDtAfk8YrdIHbZkCIQDbaLmoJ0pojhzITsVcUCVOiGlOuEgF5IdUK6uFK9fIFoS6japcKYkx6UHP9Cvg59i7kLiFJzLFrhDFFgZh0YKSBthLnP7sDRpZs+9sudZVocKIgVvE+rg5lcEJbbJZKTQ0mQQp9QPUaXl82gT4irEzkeuhIl+zg3cPzhZ6EKYhi03c+ny7Nx78wtXFrPm37d3L77U6UgQ1zmNZ0sUcflMxU3ndUp3/8XpJeo75luSoR93pTs26eQT5Uj5xrXBMmPNmixhfaV9ExWs+8OP3QfPewdfd79/nKrZn+50Hz/o3vnpyPHR3c79e539P9L4dp7s9f58erh3v/Pd8zT4fv3TAN/l+v3TTyq/BmJPPSl3fKp8H+6mgfV29g/3n6RBboCKfCDrQ59eadw+pqHAA+GtgFbx7Gr0MyN4enHmM9yZb4VEnaUWr65u/4lCvdJHViJvr0ehzrWwb7yo/18qlrwNbjojVxvLnHiJjEd8JpiPdYw/WgY3z8LcbA4vSxOHMhlkG72RFzL/AFBLAwQUAAIACADvcUhNBOcD0bYCAABTCgAAIQAAAHVuaXZlcnNhbC9mbGFzaF9za2luX3NldHRpbmdzLnhtbJVWbU/bMBD+vl9Rdd8Jey2TTCUonYTEBhqI705yTaw6dmQ7Zf338yux26TNekKq757Hd763guSWsOWH2QwVnHLxDEoRVkmjCboZKa/neacUZxcFZwqYumBcNJjOlx9/2g/KLPIci+9ATOVscAG9m4X9TKF4H98WRsYIBW9azPYPvOIXOS62leAdK8+GVu9bEJSwrUZe/lis1qMOKJHqXkGTxLS+MjKN0gqQEkxI39dGzrIozoEGT5f2M5HTuzr9+gPajkiiLO3mk5ExWosrSJN8dWNkHM/07WlVFkZOExT8VRr65bORUSjFexDp5XdfjYwyeNu1/9MjreCVSWjKOV3Edw7luNTjZ6K6NHKWYB5kHJ2tgk+PfetdBPJf47lHZlwFp08mrwcLwRQ9p7BUogOUhZOzyZq/PXZKzwcsN5hKDYhVPehJB/2EOxmuSXU97g+8EVZGIK/oEa+cdg2sXLyx09TQE1arW7srYuy7LopQwM4roxB7ZY/8rfN6hIyUPfKZkhIeGd0fwQ8tjhNqfIt9NU+nX1uBYX0MCQunYDWeHszkysi1VwRMw0tYShPOC2nAlA1lVudCyo5iQgzvSIUV4eyXweV7+xiJsgODb7XhxkKKKApD/WZj1Fs6rpc9p+3orWk/ul+F/nHuPFN6iV/PsVK4qBv9qyTnM8/TU6ITM8+GGWZNajiIe7bhEcf6HiM1WGxBvHBOp7phXIGcej13szUGR1mUA5QNZxn5S4bSz7omB7HWVSMQ2ibVOVxNqprqP/VK4A3KlDBidExV6+sYJu9dGSl8CwAWRR161h2cpemoIhR2QL01UtgHj70MSd2jY+12ox5go+KG85pJHekXRd8pMS41DBBedVzDDGc5v4QVzqV9WTL3YQf3g59s5bDLTOvF3p3Ct1Jys7Yfp1ArzT+T/wBQSwMEFAACAAgA73FITaPtv2riAwAA7Q4AACYAAAB1bml2ZXJzYWwvaHRtbF9wdWJsaXNoaW5nX3NldHRpbmdzLnhtbN1X328bRRB+91+xOlTe6kv6g6Th7CpKHMXCdUJyiFYIReu7sW/p3u71ds+u+1ShUlFeqISQUKlAkUrCAwRUCakQ0T8G1Xb+DGZ9jhPHSTgHaNXKOlk7N/PtfLOz3946V2+HnDQhVkyKgjWdn7IICE/6TDQK1gfu0vlZiyhNhU+5FFCwhLTI1WLOiZIaZypYB63RVRGEEWou0gUr0Dqas+1Wq5VnKorNW8kTjfgq78nQjmJQIDTEdsRpG/90OwJlFXM5QpzUdE36CQfCfExBMJMd5cs65JadetWod7MRy0T4C5LLmMSNWsF6a3be/PZ9UqRFFoIw3FQRjcas56jvM5MO5evsDpAAWCPAvGcuWaTFfB0UrItTFwwMutvjMH3wlAM1MAsSyQg9wA9BU59qmg7TCTXc1mrfkJr8tqAh81x8Qwz/grXobqxXyouljeqKW1rfWHavVdIcJghyS9fdCYLcslspTeKfFX75xmpprVKuvrfhrqxU3PLqQRRWdKQgjj1aMQcrK5PYg2HBHB0kYU1QxrHZjpRRgcZ25TRugCuXGK5inXIFFvkkgsb7CeVMt7Grp7CrbwJE8yoCT6+ZZStYOk7AOoBLATExXMthT1y+MuyJmdkR6nY6+wGtY7N0qNbUC7B50NZPzbEPm/bd6lKMUDNjUpPcHxKqY5U5cpmPGeUWYRq5ecO32lRALzGO9Tex0/m60GPkvIDGaqSGwzqaVvaKH1WlBvVxSi41neTa/eaXzsOt3u52b/fnF8++ePHsbvenzd6je93fvtzb/nxv59fOn19nwbkhExImShOUhoiDBqIDILcSdofUoC5jIBxoE0UE7UwRxZkP+YmAI6rUASjVKQY5l/Z0ubpYun6OaEmo36TCmxAcFxPCSP8f+BS5C4lTcC5b4B+CwMp4NFFA2ujmM7/vloVm/swre5Zl9aggUvA2oR5uZ0VQNJtMJgotTQaGUj9FlRUvoE0wVTDBg1DCRJ9zAw8JnCz2Ic6CNjV94eKly+/MzF6Zy9t/3d06f2rQQOJWOTWzpRq3cKKGZos6oqT/EHSKno7FLsk4NF3pj016/Bkx0LJxbXBsoyTHi1JfO1+OJnW//6H74Hlv96vud48zte/Tze7jB91PfxwEPrrXuf9ZZ+f3LLGdJ9u9P57ubd/vfPs8i3+/olkc3+b63aNPprgG+h55Mu7hTHwfbmVx623u7O08yeK5BioJgawe+jzKEvYhjQVK/GvhWsXTqNFnRvA84ixkuNdeC9E5af//e716KZpz+odQqkj/keacaalevfC+sTVIR8Mbw8gVwbGPvYzl0D56RS3m/gZQSwMEFAACAAgA73FITQ/kWSCZAQAAHQYAAB8AAAB1bml2ZXJzYWwvaHRtbF9za2luX3NldHRpbmdzLmpzjZRNb8IwDIbv/AqUXSfEPrvthgaTJnGYNG7TDmkxpSJNoiR0MMR/Xx2+mtYdxJfm7dPXsStn0+mWiyWs+9Ld+Ge//wj3XgPUnFnCdaiLFj1HnVmRTWGS5SAyCayGFIdPj/L2RFDGTHrTeP2JtrbixxS+mXFhq7gmLAyhWUIrCO2HSrKixN+gtH1Zu5IqfY6XzinZS5R0IF1PKpNzz7CrN7+qFdZgVYA5g854AoFp5FcbeXJ8iDCqXKJyzeV6rFLVi3mySI1aymlb/vlagyn/+GIH9J+j11FgJzLr3h3k9cSjJ4x2UhuwFvZ5H0cYJCx4DKLi2/frHzQwbhZUo4vMZu5AD24wqrTmKTS69DTACDFZejW6GWE0OQcrtyPubjECQvA1mIbV8B4jAJVe6gt+oDYqxY400GbPj6hQfJrJdJ+6j0FyeFi0beveqVB//CELRkjVRmhOjGnednNcMPaOHFxbyzqmZl5QoqRERSTWFFiQp3H1awT3X13GnePJPC9vh/JqLNvAzQLMRClRHv/73EGLo7jL1dn+AVBLAwQUAAIACADvcUhNGtrqO6oAAAAfAQAAGgAAAHVuaXZlcnNhbC9pMThuX3ByZXNldHMueG1snY8xD8IgEIV3fgW5XbBb0wDdTNwcdDYVUUno0XDU+vOF1Bhnh0vuXd73Xk71rzHwp0vkI2poxBa4QxuvHu8aTsfdpgVOecDrECI6DRiB94Yp37R4SI5cJl4ikDQ8cp46KZdlEZ6mVBIohjmXYBI2jrLMGFFWUk4rCivb+b/ozw0MY5yry+xD3qMpe1GrhVOyGipzdig83iLIalDy667KzpRLRRFK/jxm2BtQSwMEFAACAAgA73FITZQTsyJpAAAAbgAAABwAAAB1bml2ZXJzYWwvbG9jYWxfc2V0dGluZ3MueG1sDcwxDoMwDEDRnVNY3int1oHAxlaW0gNYxEWRHBuRgOD2ZPvD02/7MwocvKVg6vD1eCKwzuaDLg5/01C/EVIm9SSm7FANoe+qVmwm+XLOBSZYhS7eJo4lMo8Uixx2EajhU17/wB6brroBUEsDBBQAAgAIAKBhr0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O9xSE0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73FITe7Vv9acGQAA8D4AABcAAAB1bml2ZXJzYWwvdW5pdmVyc2FsLnBuZ+17f1jSV/83u9ty3/XDWpmYP7idrZqWjlxaqdBWd9ZaulrmSoWSlJoikYkoArU2TUSpNXOulO3b7myZUlhCIlArwCSlckWEQvFJzQDxYwrIzwdsV652X89zPc9138/1XNfjHwrnfT6f9+v1fp/zfp/30XNKP0+In/HO/HcgEMiMDevXboFA3hRBIH8zvz3VLcmq6z/v/ngjd0v8J5DGzoABd+NN7MebPoZALjKn2Xe95W7/177123MhkJnXPT9vSPFnd0MgiG83rP14Kwll6MGVNfRvd4GtC9EHI1YPlX49Dyx9Ur2+6JdroermS2+93/y2eA/8k/X/WHp59pJrX72J33Lx8xnid3E/euFwDVc+Vt1YuO2+i/aZ2Y+durJvBbZReTwgt1Hui9DfPH85s+OWOjeTjb7/WdAKXKHhsiIB7XiWnIh2DldFFD2ehnZTgxy8Lznhw9+mT1GpA0ROg8a5VAD3yLvfv5hbHi5hV6GpKwXvjUv+cTE/jYFmi5yFhR6rIDxZurnw70LfZfxZnuYg54EgiDR4pf/utDfczUfhZT26Q/q/ebq+PARO82Bl+InGmyf+J809vRvR1rsDvVVoBMWm0iA2bDn1FmHhDeXRGr9ISYT7gYeWfpqzv0vHFlGNwewFDjQh6obfsZpAH8DX3Yuze3oFJVe+GzFpGW2dFXSP8oNRC/ZuIxK3Mjw2Xwre0MRpOp1ud3P7acaGHytfvrv+7nm9/ix0nMaa7zIzsPFii9vU1f7ffRQWExP6Av7oL9uVys1wqtvI28ULOtonIf7jEKeflUerVwiG28Pq3PNxbMTochqvpmuzYoQSIEsQ+hLxrJXpsjC76tnCwkLHqMIoWHf3U7GCWFQuVRQmvYTc7COffuwStYk9OgHQbnm/Jn5cyYmkDPt3nSHjJGTnllE39B8bZ52R5Cf65Xmbx8yrnHMM9N2C3R7SO7cnSSJ+pWnGOvMT5AibfiDRNZKoGfn9i8SaWvLgFbLiB+zEY/muUbQrr1B/UZrARFj3PPOwNaY1db5UukWj9UPDc8Rto1fklEEtKx5OFzeJtJw6FtWqzoqQ/+nB9KFzkgbDCtNlNsWgzno+btqSercdo4bSRbU8ywmpIVJoEj/Nq8TSxgPry22V4MZnKYwd4HUDNq23cMJaa6aH4sGws25rKf5Ieb21WeqLIj3WrqKZ82n5xuUFf3qWWAMjubRlEWoyrnbCMepyQpiwgWCbfgHK13pppRnBjclxa25N8DWm3y589mudOuBK6D1I5kuXDOTMRarCah3Lb3A/QZi7c+ukQWT9p1N+mNDMTyuyAURIWVUTy5Ux8d5g9NQLsmL2vx6Pgdhlnll34XwoUHUgaML6VcwJN/3L4S4c661KZAutzwS07y6lg8uD0Lqkl3N43T1/fCvB2hctKgDPz9q56bXu/+ejCHM/iy0gWstElrIuo3PQWEt1KGiOkWmioWlXA33RMnB5IFoFLkdMYJ8tBMW+id5I+9DAzyVBf5vngwbAy6gJ7VvjnBZg4HDGzqWvigvu+54qsexgT5A9x/G6efXHcy9Jlp/Tv7HswplzExEYSj4YQH1aQj0izhAZzzf8Kajbg/5eAo1HFQ68P2/0yfHEM3/t9gIUDxno/l8npZPSSem/W5qzjOqJc1+OzOTsRTt7cbVU60B0hApN6wuBja23WmU3KJSna2AtpDGOjd8pjYy1D13HC3sMBtpYFW3sN+do2taJ3JaknPJkp32H6g6om8Oy3BCzTiJtTciNEZqy9AsP55++k1dyflYGW/TZdBRADeeLLF82WsHpKlW2F9vgCCzgc/9F6Fcw0O5F13XA2p4s3A/qkuJrnskfEGPp2PWOTqO9U7zvo9qk5ZLTln4eKnVR+2BM45wqaQZIlOjMmN9JlG5sK5WMBDiktNQodRVoDc7xx+e3Ghp80UXgiFJONWlX2bh8gdpkEBx/NYHt/5DaYGizLK+9eBmWF3qHOPJfmM/pWgUpjbEueOo/oRUoyui9MtsRfAqjCsgjuDan0siw4Kl18Hbxaq7jfjvBsZhaboOFJB2RSOfIs8tsZSomdzliMDgHmcMPvKLt5VFby3mdboYL1VyeHGwhrfS/n5Pyp0KmMm71TAn7cs8TLBUXX1O9J3bjV1DMlrkiyQqfcvhiyWlomUTVNrVJAD0vUQWu2d56qhwNCvG0ecmMLwGgdPNXtO1QV2w20ktVxTVHo2DGxLmiCpXR2F+z5U/JPMP76GEwC2d8YqkUIBiy9CX0O3taqbFNoVMbSA7igvlcZRk+j4FNK8ceKP/5A39RM3uairkoyybM4CqFrRQVMArKtwNRxl9eS/YMdJYulooTZ8C/Kn8ju7tvGbxQHClNf7OM1ilhQ6XNSN9sG8jQ3crGN1HGOKCOwzTWbPsrL3OunX5tr02eco91kaCkBtAJoVPZoBxcehS+Ryy7A60qBnHfYm7T8QUMbLlYprQsFzbsj41ZUswBnUyWf5SwY5maCT6/3qxdBfhlgsM8SjfaFCnSOvyM6NR5OC9e/qf/wuO77XTsLpzIBy45I6tVbo0D9qbO42pmfgafKX76EV1XDg+V/GpAeoNORvqe+UZ0a49B7pqvYCqYOsmR5Y0wfPQg5vsZ6ODiehIZfgCHhMGJYh0wbNABFCisy+Qg1yX9NWI2SSIGG//qxEhqTd2kdFI6Kf2/IE23p6chraeRPzqFTc1/6nv2uASWAFswJauUPfpnMSiFJcIW/0Us9kWP6CO+TH1tZwrXhaHH2gfGV9Wf/Hiq8R0u9j+xLwgYYDufsb88dWnpS4UrtjBCIgQj75YVDt9cZHQkbNRMgK34zp1pJREG2UuUit32HSfBjbaJBTHET3Q/035X+NJMYL07U/qJLkVMqvn/SE2gn0gIluNPIZ5Xy0/VkrSl0+RIl12wMdxYja1dKTBSjDGObrmj+9t4GGVE/b4RBVLR/Y4HKCRVoAcqmMbwqolJetNyuTkEUBz2RpDg1DibvskXUCRJakuCCp+mf0hXfUNaKbmQ30RCNkZuxbFh1xVc4WhDWZXZ8cjb+UhQNZj5MkAkx9zhzB+0+Ey5HcKM3W9kCRXZ+lIsXZynVeBUjz8o/gXOMLA2+3D5eg5oNagqPs7pzmyNfahO5GXb6TY/ebZ/iMJkhTtxmkESmdBj6MfYhHi25sqrtveMYKnitw9UYhPF7gqiEDQwbW6e2OPiXngUjuUTFV52bWk4WU5WP+876BPBVEjzEKO/JqZ1L5TU8UQkSmsNL3uueTa31HZEhTWSGVsJShJa2wtPL9dJ3SXN5lR8N7pbARWlry6rktqgXD8jpv/V4SAeB8MkNVCySS5pp1/7irEW/rbYICHNnfKQ+BP95w8a54gkOO3wZgaWQIMvxqGRkguLc/zN0fMxW1MX5US3ZPPKDn1lW1pN4MN5GUCySRhPQNtsKhQ361VPxqyilgf3h15P3hZ7OnTdf0OPpj+iV5klDz5adwan1AFRKnQ8wAKov+1pdVDgB8R7ltf6Ra1rNoxKHVg8phvdikCpdaiXSYqw4EUND59ajn+r9VOCQ1+iYuJ9uplbVJK2j+hVgEGs42o+8Tt8z1SNVkmQ0siW9AP+GdfvCXkJrSwCS6VjmsMQXoSxZgLNZnY0fv/qBNJVoAGVNX09fRcWWpURch96RhJ59r+hjZKDzS7TTUMGkDIL6F089Z88pkMHVO/APGjJts83R+bM4colbFKK6uOwxmiE2mHxEdtWFfMsUC5GZaIwzHjk93lLXo0XRaAo/XbpY2wEnbC3tTVi6k9Qajr0Hfg7OFHG/ukogtKp+gDDmM9VIXKzbFYSGegvMmhKDEjpCh88rbXBoPIXq5RCNsFGSmtNBKygjgQDFGCU+fCO6Xk2bpfgtbn2xEud1fFvCGrVJvfkosV25yt190R/ieVmV/R1GarCxf/59XCKWUZNi8rGofH2Fv7EEhW/zL0nagEUp5mIQnh2Obag/JiOo4hnWX+vC0fB1GaheexEW99rz5+R238U2O3P5ejW2KlsS7+5tT/ON6Ie+1r8GkBd6aLaFXGWR4d9RTNV8M8c7a9aEgOnirkxOVL2UDm+CNDuH31tBePGUSl9kayVccNtIb4R8RrrfS4D3fGaO+6AYbZrJqUOoy98+nNJOPU2hYEijBGnfyF6LdbcewDYDhiyKay4wSAfbNGPbrbDYBj3xuDrX/P/4qq9hslFZVLNf17NFgb6vA7mfAwbfLWCm/yX0iTEJMQkxCTEJMQkxCTEJMQkxCTEJMQkxCTEJMQkxCTEJMQkxP8uhMXEFVGMjxsWCAQrQib+UBdBGdhYZ6Sa+eagvk/vunywa07NfkmlPVcel+85jT8Y1135S5e4ehZ2DTHzFvR/fTT+/7AZN6RxOTSLxmXH/g36AueLUAW9lV11SMdAVzzSeqfLCzF0qOu6N7I7oRUNOsU2PyPeRPC8I8BFH9GDrrS5sI2WJ4uQBQ0d7zX6c/24crXJLZPhBqMVQSKhc5TNog5UUT+gYPl0c7TaqAc8NwgKCx9/6/sQMdBHLe14D9GpBzR0XffluL4WrdkayirTtZgsoyCTFkvx4peZY2yknGeeA2Xf6jkClmuMhaSMydBUlc5lwrtMIymi0RTfILL+Ijet01BgUmI19m7k6O9f4K9k22zvKlSoZh8RFijU2PuiNfuVJEcSDR1hi9yPHMQQBd7UocO90oIvVK4duUhnb96IsiZN7e0e53mJ6VdgNKxoGtVopkY4ArLFeRxV40Kq3Gie80NjHLXnXiXcY8yVUuhsodEmNKZ/3hauIQ9d89KYWqCd2lH4pW9glkMwniWPFpcTXzSIGaHLxzwHyEUrD4qvfkSN+I1pb2OmrkqVGLQKHi4VnzqPFp7+OV0mkalUmRxkiBlAnNOJpfPxSOcSaa9K1RPBdTDukFTJKwP4rTD3bF3qvD4cwoz9zikgJyn7d4XxO85pzU4q4sqjh0CyKaHHRynN3cp4C/7JDTZ84W6Fkv54gf9CbTVCdS1YfT9JHRTtyzIbjs6VF9KvhaHU3mvhByTGpNaAw72WOH9AyUPZC6DyNxnwvbYlDZ5D+Ylelx67acUbQxDF4P48geUHKatfNV+kLsUyUL0v/abZfsxBIWe8INSula82Faz4zZJ322K6UF+RBK/N9mLISH2KmEXURJMoH/6umG3bvAwVJG+nH/qKkQh/r1z3DdgfXPxPRxNPy6rXqGRORoCASVrpPNXZGL3ugkE3yFUVNd+bZT7WY95WZZ4CgfBS7bfq9MaH9TKEb4oSt20es2FQIXcto/bchr7HkTVrq5ersOrd6fv85OFaU4YoH2N/6P0xOExd/Q5gvU46qRzFAnczaOtyCmHJArXewS/V68Co3WZBZU+f+2MGBHJLzG2pkcnHHsoQMA+Cr8b5AyW8UWbJW4M50hauesj0ToGTbvQWs/O3mcjmnAq0UuUtYdfLBsluJ2Q4HsOcuwod9W2D/hDIDzFVsGe1N8cVdV5bhBy7OfKcEChh+89fs5aonKVpJyrz0i101uXvHecX5SQX6bTEfd3OW2ySw3JfcsFRjU4hOEDc4V322EZSDyllzWik6BwyJFrArEcZe4JEVJeZ5hr5NqLo8Yj9uRwWVMuxqdtzjucdfxw2bsrvtQV91SNGRf97tlPZGdyVviyXvb9LfjNJkAUohPUo4hz3rPki2U+U/mA+MiQ7YmoleFhS4lh8zXBEnstYDZgXUiMkV32ALXbhjRUrp7bDi8VszIKH6oXqTuJW+rW95JMOyOXl7vB6gtDKe/PUVflZdmuHxt7RpRCaLpPRBo1O7rLLu3Sd4w7O1Nxx8/P4hdeNc7GUxq/1zzluv6feYJWftLNGy9HRc9f8BvUJb3KdaNpVxAfUegPBdaN/lbDhQ8bFrNR5h7t4S2pxy1EixyEzBuqvUDnV5T+HomCibdfdFLFsb/d8VfdBf28cFm6d0r0pA80MnnnBc9FEnWwd0Pbqq9GJiLEn4gzQ+gx9REnBZ3CV5odZ7LTp+5V57FA+HgJ5tB9squGIUljHX1A71f2kn+YnOphSRYkrhrasuxfZqFUFcymDuayNXuf0Qq5J4X2adPI09GrOMLqGY5sKgewHI90akjVr7VKHfnRN3timHH9mSAXiRBsi2jMNOu6M33/ISTONQuXa+eKh79OwvPOOnSd6zPdNLWs+qt3bTGFpU+B4HXoHBHLVXASWoT9zJVB+d6c/vGgM1myuEmuM0vzK3S5Q0II7Ip0Grgh2hjidHOgNbTMIuwsY9BEiuv55U2XPmXdhmNhjjzhmbFEQRxrXpJJkgGDmmp3dCxGJAOG+Yx4tkyNPdK+H3S16HSH2ZNjM7q9202HfiJY6M971IhDbMs2CyyLqA1gbyODwmCeLbBiixk1K1cN28TGxOQ+o2A2MCIBD0s9iBmuNls32FkrA5z1RN/IAguwp22Vla1qzGajTPDUurqIt54tSM7noFkgVD3Epeh9Y/2JEseH2cj6uaOY6GyxtDsxlKRKrjugymZoKOjJS2V+X/sJPKx46y0KaHL4bLrl872wjatxuXEb4Eubw3TYeZSS+3tilmH24g7inVOqtEsnwsEQGNqR8NpaoghY1T7ltQv4mZauuLXECVMYeoDl+N4vVoI+KBC9KpLHFjSChQgYA5bQgGDYVz9jZpKrYTCiaCSgsp8plUtcd2twIDXv2EpvdXWh8S3MoaHFx1qenfUUrU8AW3hL+jCGiUgEsninTDweHM9dEUgMzFNPG59aVc7qAu0qKO2nhqxwU6yoJ8A0UxQH3zj3dYareuIuogueILU202FlTNs89fFsP70jKGOeV7AMjezziJgULue8EqnuiENGYv5fJlc5hEhmTqkLw9QvHh63yyK4w6vOgwqc/d5UgRty/kPbHXJLLpqFZb7LsN8t00Gs7w22FAR21Y8uzWdtOpgWNJ4hcH0D0jZ41g6hsuj4+ZdWDU2CW1db8Z/V0aS/45S5GGKCMxzylY8NxrJ99aFzYlFv6ZoLA8LTJYRLyElLzp68Do7Q4sYohY7YhkO7hyMwZhm/lzoge61avtVffRCB9AEXnxgjBAWs1a6y67FDYCbmsSI+B8d1vR+ccFyx9ROawpYT1kuAf0oTRzo2f2H/8g1zknBLz4pmDcJKYDcptuhK98A3IQS7ZOlDXJfoCncwIhUsY0hl3TMMOrhnH6vmIj5u+kuBwLy2YakPvxdnZIgF++mpFJYXazFFt1VIqtJgKJsUFM8aDBKlUFHgmk9uDqC3T5cSLDJizNtDwExnELhwf3BjwVqNZaBbg/VpCCT28Tabmg8abwiBgXyDOJT5eyr682a74Wr8qmG/0DNJFChoYYtKCXHdvNbJ6oiGQo7an8cgfnQLrWZDxTz0HzK6zxFCIBXmqWVy+HpSRmruoi1vO6XPHw9KYNZpdb1kR4f8sk1suv5bBum6x4K1LeLIbrEp9bqR70SK5a5sIYQ0Bua/DbmG6LAOJzieJCS7317bA5/G0kXhfjbq9V/uoXYhqDLEVTgdEp9ZWOaYtEEokt+eKUERLsTs7cVSpSQH67cq8pvHMxG4d/nTMbM89Rslxe+fUcUvku7RtHHkHA8wKoR6l2BlsB8/Hu93Vh3f2fdLaKrIrqAZFgmg4TPRdRdhI1QxEa5JpdH+gUoE5sgs3PWVzbE+UUFJs+KLktKVQpu486l6kiSd1R8x70UTB+LjJKOPJK4eSwJHL3H25w2NyGsLRmirmR1EF/hwmVldHfVYXXjvMDWzW7qXaLi5AcQUJsYZBKVUvVRPjBouz9Y8bOOwqXZswqIQUqjeRdU3pf+frB3gpfwSZ4/Po9saTnhH43DZSh6xxOqypu1nH3WPUrwVgLpJ15ZVQQCE57I2wnNgcthuz4QHaWEKzlHTp7qCjTEPblApZ3m40MwUcuQet5Gqm+omR6H6yuOlFpFTNQG8mOsaNuRIfVLDAEWNa2fZiPf/YrglkUvnATvvDD6k1dX8iil8znqNy1owny26FyDna5BhDK/sx7gphJcldDd+VS/OgoigOnsxggU2wjdo8lc7SLOUv9SeT6vW63lXqUlqBmOJeNu/1OtwldLgvUvWBjW96xpGL3X68F/f8VuRAv7aFgfaHOYdKumAkVxVtrAo/831w2DlsOWQ2UoxkzbKz+/J3Y7zxlRRBanwRjWhaXoBM6yVffVFSGmosfHL0H7XbYD+mPouJzh8dKEkuiJJgkTZlmZfVRsjqW0TVLkqgDXnRjs4MGzG5Cw4z3r+QVM9yKFmbRKhGoJnVEoCPGQxxh0W40QsC+dBXk1HpEJD/AeY2cOTXtqUu4hvoWjPCFhCQZwB1jY3s5LTpNNCXBo44zSJk4JVlfwSba46mjuLvGqZzC2qMbxiHqW67L+dax9DJyiWdvcp9XPCXrz0UQW9NHoLguQEdQTUpPMdfz2AUQxeZFL121QtVnt0NoEV+yEYcTMtrWlEC/xAhVJG2XLssZe9LkZ/izYivLZ+N2Wa3sy1EtiUPWeSQ4O0SMfewOKPYsx3kxeXvPcxr1OXMQ/hKA+aLOsVdiUiK9ZEXklToKfrfQ/lWZXA9W5ufvMc3mRDZ+D1FyIUlfzQLH8VoxhIK3xi/b51xkRw3JPHH/+LruUR9NW0eXzHFZRO5TqLe9vTnb9ejvE85abUOz23sq5+mG+nhEvZTmrOfdjfsxRvvxiiedoBh1sF8EdlzIbbL36N5NfZillg4SqtJcHl35wtO2jaJajwKN/wjYW3jJzu//h9QSwMEFAACAAgA73FITXA/OElKAAAAagAAABsAAAB1bml2ZXJzYWwvdW5pdmVyc2FsLnBuZy54bWyzsa/IzVEoSy0qzszPs1Uy1DNQsrfj5bIpKEoty0wtV6gAihnpGUCAkkIlKrc8M6Ukw1bJ0tAYIZaRmpmeUWKrZGZhChfUBxoJAFBLAQIAABQAAgAIAO9xSE3/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WnBkAAPA+AAAXAAAAAAAAAAAAAAAAAPwXAAB1bml2ZXJzYWwvdW5pdmVyc2FsLnBuZ1BLAQIAABQAAgAIAO9xSE1wPzhJSgAAAGoAAAAbAAAAAAAAAAEAAAAAAM0xAAB1bml2ZXJzYWwvdW5pdmVyc2FsLnBuZy54bWxQSwUGAAAAAAsACwBJAwAAUDIAAAAA"/>
  <p:tag name="ISPRING_ULTRA_SCORM_COURSE_ID" val="29CDFE28-0755-48D7-B396-2DB4679C4ED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RESENTATION_TITLE" val="第1章 认识计算机 教学PPT_薛蒙蒙_0827"/>
  <p:tag name="ISPRING_RESOURCE_PATHS_HASH_PRESENTER" val="6f21232e94b46569fb407c359ca3a72a58481855"/>
</p:tagLst>
</file>

<file path=ppt/tags/tag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e82333f6-9867-4566-8a80-b06e6fb8b9e3}"/>
  <p:tag name="TABLE_ENDDRAG_ORIGIN_RECT" val="687*341"/>
  <p:tag name="TABLE_ENDDRAG_RECT" val="193*147*687*341"/>
</p:tagLst>
</file>

<file path=ppt/tags/tag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2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3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4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5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6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7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8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9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0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1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1 性能测试概述"/>
</p:tagLst>
</file>

<file path=ppt/tags/tag12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4.7 本章小结"/>
</p:tagLst>
</file>

<file path=ppt/tags/tag12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传智播客.黑马程序员"/>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10296</TotalTime>
  <Words>12558</Words>
  <Application>Microsoft Office PowerPoint</Application>
  <PresentationFormat>宽屏</PresentationFormat>
  <Paragraphs>1415</Paragraphs>
  <Slides>135</Slides>
  <Notes>125</Notes>
  <HiddenSlides>36</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135</vt:i4>
      </vt:variant>
    </vt:vector>
  </HeadingPairs>
  <TitlesOfParts>
    <vt:vector size="147" baseType="lpstr">
      <vt:lpstr>等线</vt:lpstr>
      <vt:lpstr>等线 Light</vt:lpstr>
      <vt:lpstr>方正细倩简体</vt:lpstr>
      <vt:lpstr>楷体</vt:lpstr>
      <vt:lpstr>宋体</vt:lpstr>
      <vt:lpstr>微软雅黑</vt:lpstr>
      <vt:lpstr>Arial</vt:lpstr>
      <vt:lpstr>Calibri</vt:lpstr>
      <vt:lpstr>Lucida Sans Unicode</vt:lpstr>
      <vt:lpstr>Times New Roman</vt:lpstr>
      <vt:lpstr>Wingdings</vt:lpstr>
      <vt:lpstr>Office 主题​​</vt:lpstr>
      <vt:lpstr>第5章 Java API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认识计算机 教学PPT_薛蒙蒙_0827</dc:title>
  <dc:creator>lucius</dc:creator>
  <cp:lastModifiedBy>zcj</cp:lastModifiedBy>
  <cp:revision>1105</cp:revision>
  <dcterms:created xsi:type="dcterms:W3CDTF">2016-08-25T05:35:30Z</dcterms:created>
  <dcterms:modified xsi:type="dcterms:W3CDTF">2024-10-24T00:51:28Z</dcterms:modified>
</cp:coreProperties>
</file>