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27"/>
  </p:handoutMasterIdLst>
  <p:sldIdLst>
    <p:sldId id="256" r:id="rId3"/>
    <p:sldId id="1402" r:id="rId5"/>
    <p:sldId id="1403" r:id="rId6"/>
    <p:sldId id="1404" r:id="rId7"/>
    <p:sldId id="1405" r:id="rId8"/>
    <p:sldId id="1406" r:id="rId9"/>
    <p:sldId id="1407" r:id="rId10"/>
    <p:sldId id="1408" r:id="rId11"/>
    <p:sldId id="1409" r:id="rId12"/>
    <p:sldId id="1410" r:id="rId13"/>
    <p:sldId id="1411" r:id="rId14"/>
    <p:sldId id="1412" r:id="rId15"/>
    <p:sldId id="1415" r:id="rId16"/>
    <p:sldId id="1416" r:id="rId17"/>
    <p:sldId id="1417" r:id="rId18"/>
    <p:sldId id="1418" r:id="rId19"/>
    <p:sldId id="1419" r:id="rId20"/>
    <p:sldId id="1420" r:id="rId21"/>
    <p:sldId id="1421" r:id="rId22"/>
    <p:sldId id="1422" r:id="rId23"/>
    <p:sldId id="1423" r:id="rId24"/>
    <p:sldId id="1426" r:id="rId25"/>
    <p:sldId id="1427" r:id="rId26"/>
    <p:sldId id="1428" r:id="rId27"/>
    <p:sldId id="1431" r:id="rId28"/>
    <p:sldId id="1432" r:id="rId29"/>
    <p:sldId id="1433" r:id="rId30"/>
    <p:sldId id="1434" r:id="rId31"/>
    <p:sldId id="1435" r:id="rId32"/>
    <p:sldId id="1436" r:id="rId33"/>
    <p:sldId id="1437" r:id="rId34"/>
    <p:sldId id="1438" r:id="rId35"/>
    <p:sldId id="1439" r:id="rId36"/>
    <p:sldId id="1440" r:id="rId37"/>
    <p:sldId id="1441" r:id="rId38"/>
    <p:sldId id="1442" r:id="rId39"/>
    <p:sldId id="1444" r:id="rId40"/>
    <p:sldId id="1447" r:id="rId41"/>
    <p:sldId id="1448" r:id="rId42"/>
    <p:sldId id="1457" r:id="rId43"/>
    <p:sldId id="1458" r:id="rId44"/>
    <p:sldId id="1459" r:id="rId45"/>
    <p:sldId id="1462" r:id="rId46"/>
    <p:sldId id="1464" r:id="rId47"/>
    <p:sldId id="1465" r:id="rId48"/>
    <p:sldId id="1468" r:id="rId49"/>
    <p:sldId id="1469" r:id="rId50"/>
    <p:sldId id="1470" r:id="rId51"/>
    <p:sldId id="1471" r:id="rId52"/>
    <p:sldId id="1473" r:id="rId53"/>
    <p:sldId id="1474" r:id="rId54"/>
    <p:sldId id="1475" r:id="rId55"/>
    <p:sldId id="1477" r:id="rId56"/>
    <p:sldId id="1478" r:id="rId57"/>
    <p:sldId id="1481" r:id="rId58"/>
    <p:sldId id="1482" r:id="rId59"/>
    <p:sldId id="1483" r:id="rId60"/>
    <p:sldId id="1486" r:id="rId61"/>
    <p:sldId id="1487" r:id="rId62"/>
    <p:sldId id="1488" r:id="rId63"/>
    <p:sldId id="1489" r:id="rId64"/>
    <p:sldId id="1494" r:id="rId65"/>
    <p:sldId id="1495" r:id="rId66"/>
    <p:sldId id="1496" r:id="rId67"/>
    <p:sldId id="1499" r:id="rId68"/>
    <p:sldId id="1500" r:id="rId69"/>
    <p:sldId id="1501" r:id="rId70"/>
    <p:sldId id="1502" r:id="rId71"/>
    <p:sldId id="1505" r:id="rId72"/>
    <p:sldId id="1506" r:id="rId73"/>
    <p:sldId id="1509" r:id="rId74"/>
    <p:sldId id="1510" r:id="rId75"/>
    <p:sldId id="1511" r:id="rId76"/>
    <p:sldId id="1514" r:id="rId77"/>
    <p:sldId id="1515" r:id="rId78"/>
    <p:sldId id="1516" r:id="rId79"/>
    <p:sldId id="1519" r:id="rId80"/>
    <p:sldId id="1520" r:id="rId81"/>
    <p:sldId id="1521" r:id="rId82"/>
    <p:sldId id="1524" r:id="rId83"/>
    <p:sldId id="1525" r:id="rId84"/>
    <p:sldId id="1526" r:id="rId85"/>
    <p:sldId id="1529" r:id="rId86"/>
    <p:sldId id="1530" r:id="rId87"/>
    <p:sldId id="1531" r:id="rId88"/>
    <p:sldId id="1532" r:id="rId89"/>
    <p:sldId id="1537" r:id="rId90"/>
    <p:sldId id="1538" r:id="rId91"/>
    <p:sldId id="1539" r:id="rId92"/>
    <p:sldId id="1540" r:id="rId93"/>
    <p:sldId id="1541" r:id="rId94"/>
    <p:sldId id="1542" r:id="rId95"/>
    <p:sldId id="1543" r:id="rId96"/>
    <p:sldId id="1544" r:id="rId97"/>
    <p:sldId id="1545" r:id="rId98"/>
    <p:sldId id="1546" r:id="rId99"/>
    <p:sldId id="1547" r:id="rId100"/>
    <p:sldId id="1548" r:id="rId101"/>
    <p:sldId id="1549" r:id="rId102"/>
    <p:sldId id="1550" r:id="rId103"/>
    <p:sldId id="1552" r:id="rId104"/>
    <p:sldId id="1553" r:id="rId105"/>
    <p:sldId id="1554" r:id="rId106"/>
    <p:sldId id="1555" r:id="rId107"/>
    <p:sldId id="1558" r:id="rId108"/>
    <p:sldId id="1559" r:id="rId109"/>
    <p:sldId id="1560" r:id="rId110"/>
    <p:sldId id="1561" r:id="rId111"/>
    <p:sldId id="1565" r:id="rId112"/>
    <p:sldId id="1566" r:id="rId113"/>
    <p:sldId id="1567" r:id="rId114"/>
    <p:sldId id="1569" r:id="rId115"/>
    <p:sldId id="1570" r:id="rId116"/>
    <p:sldId id="1572" r:id="rId117"/>
    <p:sldId id="1573" r:id="rId118"/>
    <p:sldId id="1574" r:id="rId119"/>
    <p:sldId id="1575" r:id="rId120"/>
    <p:sldId id="1576" r:id="rId121"/>
    <p:sldId id="1577" r:id="rId122"/>
    <p:sldId id="1578" r:id="rId123"/>
    <p:sldId id="1579" r:id="rId124"/>
    <p:sldId id="1581" r:id="rId125"/>
    <p:sldId id="283" r:id="rId126"/>
  </p:sldIdLst>
  <p:sldSz cx="12192000" cy="6858000"/>
  <p:notesSz cx="6858000" cy="9144000"/>
  <p:custDataLst>
    <p:tags r:id="rId1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王晓娟" initials="wang" lastIdx="28"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1353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56" autoAdjust="0"/>
    <p:restoredTop sz="96871" autoAdjust="0"/>
  </p:normalViewPr>
  <p:slideViewPr>
    <p:cSldViewPr snapToGrid="0">
      <p:cViewPr varScale="1">
        <p:scale>
          <a:sx n="114" d="100"/>
          <a:sy n="114" d="100"/>
        </p:scale>
        <p:origin x="522" y="11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30756"/>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2" Type="http://schemas.openxmlformats.org/officeDocument/2006/relationships/tags" Target="tags/tag123.xml"/><Relationship Id="rId131" Type="http://schemas.openxmlformats.org/officeDocument/2006/relationships/commentAuthors" Target="commentAuthors.xml"/><Relationship Id="rId130" Type="http://schemas.openxmlformats.org/officeDocument/2006/relationships/tableStyles" Target="tableStyles.xml"/><Relationship Id="rId13" Type="http://schemas.openxmlformats.org/officeDocument/2006/relationships/slide" Target="slides/slide10.xml"/><Relationship Id="rId129" Type="http://schemas.openxmlformats.org/officeDocument/2006/relationships/viewProps" Target="viewProps.xml"/><Relationship Id="rId128" Type="http://schemas.openxmlformats.org/officeDocument/2006/relationships/presProps" Target="presProps.xml"/><Relationship Id="rId127" Type="http://schemas.openxmlformats.org/officeDocument/2006/relationships/handoutMaster" Target="handoutMasters/handoutMaster1.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E591AB7-F5A4-4C0D-8EFD-8068E49AF65B}"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F506D94-0700-400A-A759-B2484DAA3090}"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0B00CE-9247-49D0-8AE5-6DFFAEFF8CE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7D86BB-FDB9-4079-8E00-8F1F7A4AA6F0}"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858001"/>
          </a:xfrm>
          <a:prstGeom prst="rect">
            <a:avLst/>
          </a:prstGeom>
        </p:spPr>
      </p:pic>
      <p:sp>
        <p:nvSpPr>
          <p:cNvPr id="2" name="标题 1"/>
          <p:cNvSpPr>
            <a:spLocks noGrp="1"/>
          </p:cNvSpPr>
          <p:nvPr>
            <p:ph type="ctrTitle"/>
          </p:nvPr>
        </p:nvSpPr>
        <p:spPr>
          <a:xfrm>
            <a:off x="1524000" y="1596979"/>
            <a:ext cx="9144000" cy="1912983"/>
          </a:xfrm>
        </p:spPr>
        <p:txBody>
          <a:bodyPr anchor="b">
            <a:normAutofit/>
          </a:bodyPr>
          <a:lstStyle>
            <a:lvl1pPr algn="ctr">
              <a:defRPr sz="4800">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solidFill>
                  <a:schemeClr val="bg1"/>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lvl1pPr>
              <a:defRPr b="1">
                <a:solidFill>
                  <a:srgbClr val="FF0000"/>
                </a:solidFill>
              </a:defRPr>
            </a:lvl1pPr>
          </a:lstStyle>
          <a:p>
            <a:fld id="{C11893D6-510C-4F6F-9867-0DA6859ED432}" type="slidenum">
              <a:rPr lang="zh-CN" altLang="en-US" smtClean="0"/>
            </a:fld>
            <a:endParaRPr lang="zh-CN" altLang="en-US" dirty="0"/>
          </a:p>
        </p:txBody>
      </p:sp>
      <p:sp>
        <p:nvSpPr>
          <p:cNvPr id="8" name="圆角矩形 12"/>
          <p:cNvSpPr/>
          <p:nvPr userDrawn="1"/>
        </p:nvSpPr>
        <p:spPr>
          <a:xfrm>
            <a:off x="4063999" y="810988"/>
            <a:ext cx="4117976" cy="693916"/>
          </a:xfrm>
          <a:prstGeom prst="roundRect">
            <a:avLst/>
          </a:prstGeom>
          <a:solidFill>
            <a:schemeClr val="bg1"/>
          </a:solidFill>
          <a:ln w="19050">
            <a:solidFill>
              <a:srgbClr val="1353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Picture 4" descr="C:\Users\wz\Desktop\黑马程序员横板logo.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828544" y="603199"/>
            <a:ext cx="2448556" cy="1080389"/>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1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782771" y="603199"/>
            <a:ext cx="4540102" cy="143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100329" y="313611"/>
            <a:ext cx="6510271" cy="652306"/>
          </a:xfrm>
        </p:spPr>
        <p:txBody>
          <a:bodyPr>
            <a:normAutofit/>
          </a:bodyPr>
          <a:lstStyle>
            <a:lvl1pPr>
              <a:defRPr sz="3200">
                <a:solidFill>
                  <a:srgbClr val="1353A2"/>
                </a:solidFill>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1893D6-510C-4F6F-9867-0DA6859ED432}" type="slidenum">
              <a:rPr lang="zh-CN" altLang="en-US" smtClean="0"/>
            </a:fld>
            <a:endParaRPr lang="zh-CN" altLang="en-US"/>
          </a:p>
        </p:txBody>
      </p:sp>
      <p:pic>
        <p:nvPicPr>
          <p:cNvPr id="268290"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781"/>
            <a:ext cx="12192000" cy="6852438"/>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a:picLocks noChangeAspect="1"/>
          </p:cNvPicPr>
          <p:nvPr userDrawn="1"/>
        </p:nvPicPr>
        <p:blipFill>
          <a:blip r:embed="rId3"/>
          <a:stretch>
            <a:fillRect/>
          </a:stretch>
        </p:blipFill>
        <p:spPr>
          <a:xfrm>
            <a:off x="8610600" y="313611"/>
            <a:ext cx="2990476" cy="761905"/>
          </a:xfrm>
          <a:prstGeom prst="rect">
            <a:avLst/>
          </a:prstGeom>
        </p:spPr>
      </p:pic>
      <p:pic>
        <p:nvPicPr>
          <p:cNvPr id="10" name="图片 1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p:cNvSpPr/>
          <p:nvPr userDrawn="1"/>
        </p:nvSpPr>
        <p:spPr>
          <a:xfrm>
            <a:off x="0" y="6488884"/>
            <a:ext cx="1768679" cy="369116"/>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b="1" dirty="0"/>
              <a:t>www.henu.edu.cn</a:t>
            </a:r>
            <a:endParaRPr lang="zh-CN" altLang="en-US" sz="1400" b="1"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1893D6-510C-4F6F-9867-0DA6859ED432}" type="slidenum">
              <a:rPr lang="zh-CN" altLang="en-US" smtClean="0"/>
            </a:fld>
            <a:endParaRPr lang="zh-CN" altLang="en-US"/>
          </a:p>
        </p:txBody>
      </p:sp>
      <p:pic>
        <p:nvPicPr>
          <p:cNvPr id="269314"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48" y="0"/>
            <a:ext cx="12201896" cy="6858000"/>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userDrawn="1"/>
        </p:nvSpPr>
        <p:spPr>
          <a:xfrm>
            <a:off x="0" y="6488884"/>
            <a:ext cx="1768679" cy="369116"/>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b="1" dirty="0"/>
              <a:t>www.henu.edu.cn</a:t>
            </a:r>
            <a:endParaRPr lang="zh-CN" altLang="en-US" sz="1400" b="1"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11893D6-510C-4F6F-9867-0DA6859ED432}" type="slidenum">
              <a:rPr lang="zh-CN" altLang="en-US" smtClean="0"/>
            </a:fld>
            <a:endParaRPr lang="zh-CN" altLang="en-US"/>
          </a:p>
        </p:txBody>
      </p:sp>
      <p:sp>
        <p:nvSpPr>
          <p:cNvPr id="8" name="标题 1"/>
          <p:cNvSpPr>
            <a:spLocks noGrp="1"/>
          </p:cNvSpPr>
          <p:nvPr>
            <p:ph type="title"/>
          </p:nvPr>
        </p:nvSpPr>
        <p:spPr>
          <a:xfrm>
            <a:off x="2100329" y="313611"/>
            <a:ext cx="6510271" cy="652306"/>
          </a:xfrm>
        </p:spPr>
        <p:txBody>
          <a:bodyPr>
            <a:normAutofit/>
          </a:bodyPr>
          <a:lstStyle>
            <a:lvl1pPr>
              <a:defRPr sz="3200">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a:p>
        </p:txBody>
      </p:sp>
      <p:pic>
        <p:nvPicPr>
          <p:cNvPr id="270338"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781"/>
            <a:ext cx="12192000" cy="6852438"/>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userDrawn="1"/>
        </p:nvSpPr>
        <p:spPr>
          <a:xfrm>
            <a:off x="0" y="6488884"/>
            <a:ext cx="1768679" cy="369116"/>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b="1" dirty="0"/>
              <a:t>www.henu.edu.cn</a:t>
            </a:r>
            <a:endParaRPr lang="zh-CN" altLang="en-US" sz="1400" b="1"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11893D6-510C-4F6F-9867-0DA6859ED432}" type="slidenum">
              <a:rPr lang="zh-CN" altLang="en-US" smtClean="0"/>
            </a:fld>
            <a:endParaRPr lang="zh-CN" altLang="en-US"/>
          </a:p>
        </p:txBody>
      </p:sp>
      <p:sp>
        <p:nvSpPr>
          <p:cNvPr id="10" name="标题 1"/>
          <p:cNvSpPr>
            <a:spLocks noGrp="1"/>
          </p:cNvSpPr>
          <p:nvPr>
            <p:ph type="title"/>
          </p:nvPr>
        </p:nvSpPr>
        <p:spPr>
          <a:xfrm>
            <a:off x="2100329" y="313611"/>
            <a:ext cx="6510271" cy="652306"/>
          </a:xfrm>
        </p:spPr>
        <p:txBody>
          <a:bodyPr>
            <a:normAutofit/>
          </a:bodyPr>
          <a:lstStyle>
            <a:lvl1pPr>
              <a:defRPr sz="3200">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a:p>
        </p:txBody>
      </p:sp>
      <p:pic>
        <p:nvPicPr>
          <p:cNvPr id="271362"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781"/>
            <a:ext cx="12192000" cy="6852438"/>
          </a:xfrm>
          <a:prstGeom prst="rect">
            <a:avLst/>
          </a:prstGeom>
          <a:noFill/>
          <a:extLst>
            <a:ext uri="{909E8E84-426E-40DD-AFC4-6F175D3DCCD1}">
              <a14:hiddenFill xmlns:a14="http://schemas.microsoft.com/office/drawing/2010/main">
                <a:solidFill>
                  <a:srgbClr val="FFFFFF"/>
                </a:solidFill>
              </a14:hiddenFill>
            </a:ext>
          </a:extLst>
        </p:spPr>
      </p:pic>
      <p:pic>
        <p:nvPicPr>
          <p:cNvPr id="11" name="图片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p:cNvSpPr/>
          <p:nvPr userDrawn="1"/>
        </p:nvSpPr>
        <p:spPr>
          <a:xfrm>
            <a:off x="0" y="6488884"/>
            <a:ext cx="1768679" cy="369116"/>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b="1" dirty="0"/>
              <a:t>www.henu.edu.cn</a:t>
            </a:r>
            <a:endParaRPr lang="zh-CN" altLang="en-US" sz="1400" b="1"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11893D6-510C-4F6F-9867-0DA6859ED432}" type="slidenum">
              <a:rPr lang="zh-CN" altLang="en-US" smtClean="0"/>
            </a:fld>
            <a:endParaRPr lang="zh-CN" altLang="en-US"/>
          </a:p>
        </p:txBody>
      </p:sp>
      <p:sp>
        <p:nvSpPr>
          <p:cNvPr id="6" name="标题 1"/>
          <p:cNvSpPr>
            <a:spLocks noGrp="1"/>
          </p:cNvSpPr>
          <p:nvPr>
            <p:ph type="title"/>
          </p:nvPr>
        </p:nvSpPr>
        <p:spPr>
          <a:xfrm>
            <a:off x="2100329" y="313611"/>
            <a:ext cx="6510271" cy="652306"/>
          </a:xfrm>
        </p:spPr>
        <p:txBody>
          <a:bodyPr>
            <a:normAutofit/>
          </a:bodyPr>
          <a:lstStyle>
            <a:lvl1pPr>
              <a:defRPr sz="3200">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a:p>
        </p:txBody>
      </p:sp>
      <p:pic>
        <p:nvPicPr>
          <p:cNvPr id="272386"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781"/>
            <a:ext cx="12192000" cy="6852438"/>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userDrawn="1"/>
        </p:nvSpPr>
        <p:spPr>
          <a:xfrm>
            <a:off x="0" y="6488884"/>
            <a:ext cx="1768679" cy="369116"/>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b="1" dirty="0"/>
              <a:t>www.henu.edu.cn</a:t>
            </a:r>
            <a:endParaRPr lang="zh-CN" altLang="en-US" sz="1400" b="1"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11893D6-510C-4F6F-9867-0DA6859ED432}" type="slidenum">
              <a:rPr lang="zh-CN" altLang="en-US" smtClean="0"/>
            </a:fld>
            <a:endParaRPr lang="zh-CN" altLang="en-US"/>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914409"/>
          </a:xfrm>
          <a:prstGeom prst="rect">
            <a:avLst/>
          </a:prstGeom>
        </p:spPr>
      </p:pic>
      <p:pic>
        <p:nvPicPr>
          <p:cNvPr id="6" name="图片 1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558806" y="776178"/>
            <a:ext cx="5074388" cy="1536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273410"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781"/>
            <a:ext cx="12196948" cy="6855219"/>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p:cNvPicPr>
            <a:picLocks noChangeAspect="1"/>
          </p:cNvPicPr>
          <p:nvPr userDrawn="1"/>
        </p:nvPicPr>
        <p:blipFill>
          <a:blip r:embed="rId3"/>
          <a:stretch>
            <a:fillRect/>
          </a:stretch>
        </p:blipFill>
        <p:spPr>
          <a:xfrm>
            <a:off x="8601262" y="279447"/>
            <a:ext cx="2990476" cy="761905"/>
          </a:xfrm>
          <a:prstGeom prst="rect">
            <a:avLst/>
          </a:prstGeom>
        </p:spPr>
      </p:pic>
      <p:pic>
        <p:nvPicPr>
          <p:cNvPr id="4" name="图片 1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占位符 5"/>
          <p:cNvSpPr>
            <a:spLocks noGrp="1"/>
          </p:cNvSpPr>
          <p:nvPr>
            <p:ph type="body" sz="quarter" idx="10" hasCustomPrompt="1"/>
          </p:nvPr>
        </p:nvSpPr>
        <p:spPr>
          <a:xfrm>
            <a:off x="11206163" y="6527800"/>
            <a:ext cx="479018" cy="255772"/>
          </a:xfrm>
        </p:spPr>
        <p:txBody>
          <a:bodyPr>
            <a:noAutofit/>
          </a:bodyPr>
          <a:lstStyle>
            <a:lvl1pPr marL="0" indent="0" algn="ctr">
              <a:buNone/>
              <a:defRPr sz="1400" b="1">
                <a:solidFill>
                  <a:srgbClr val="FF0000"/>
                </a:solidFill>
              </a:defRPr>
            </a:lvl1pPr>
            <a:lvl2pPr>
              <a:defRPr b="1">
                <a:solidFill>
                  <a:srgbClr val="FF0000"/>
                </a:solidFill>
              </a:defRPr>
            </a:lvl2pPr>
            <a:lvl3pPr>
              <a:defRPr b="1">
                <a:solidFill>
                  <a:srgbClr val="FF0000"/>
                </a:solidFill>
              </a:defRPr>
            </a:lvl3pPr>
            <a:lvl4pPr>
              <a:defRPr b="1">
                <a:solidFill>
                  <a:srgbClr val="FF0000"/>
                </a:solidFill>
              </a:defRPr>
            </a:lvl4pPr>
            <a:lvl5pPr>
              <a:defRPr b="1">
                <a:solidFill>
                  <a:srgbClr val="FF0000"/>
                </a:solidFill>
              </a:defRPr>
            </a:lvl5pPr>
          </a:lstStyle>
          <a:p>
            <a:pPr lvl="0"/>
            <a:fld id="{73FEE35F-1510-4CD3-A5F4-79EF5F7854AC}" type="slidenum">
              <a:rPr lang="zh-CN" altLang="en-US" smtClean="0"/>
            </a:fld>
            <a:endParaRPr lang="zh-CN" altLang="en-US" dirty="0"/>
          </a:p>
        </p:txBody>
      </p:sp>
      <p:sp>
        <p:nvSpPr>
          <p:cNvPr id="7" name="矩形 6"/>
          <p:cNvSpPr/>
          <p:nvPr userDrawn="1"/>
        </p:nvSpPr>
        <p:spPr>
          <a:xfrm>
            <a:off x="0" y="6488884"/>
            <a:ext cx="1768679" cy="369116"/>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b="1" dirty="0"/>
              <a:t>www.henu.edu.cn</a:t>
            </a:r>
            <a:endParaRPr lang="zh-CN" altLang="en-US" sz="1400" b="1"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pic>
        <p:nvPicPr>
          <p:cNvPr id="273410" name="Picture 2" descr="C:\Users\admin\Desktop\图片1(1).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781"/>
            <a:ext cx="12196948" cy="6855219"/>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p:cNvPicPr>
            <a:picLocks noChangeAspect="1"/>
          </p:cNvPicPr>
          <p:nvPr userDrawn="1"/>
        </p:nvPicPr>
        <p:blipFill>
          <a:blip r:embed="rId3"/>
          <a:stretch>
            <a:fillRect/>
          </a:stretch>
        </p:blipFill>
        <p:spPr>
          <a:xfrm>
            <a:off x="8601262" y="279447"/>
            <a:ext cx="2990476" cy="76190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image" Target="../media/image3.png"/><Relationship Id="rId10" Type="http://schemas.openxmlformats.org/officeDocument/2006/relationships/image" Target="../media/image7.jpe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1893D6-510C-4F6F-9867-0DA6859ED432}" type="slidenum">
              <a:rPr lang="zh-CN" altLang="en-US" smtClean="0"/>
            </a:fld>
            <a:endParaRPr lang="zh-CN" altLang="en-US"/>
          </a:p>
        </p:txBody>
      </p:sp>
      <p:pic>
        <p:nvPicPr>
          <p:cNvPr id="7" name="图片 6"/>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0" y="0"/>
            <a:ext cx="12192000" cy="6851904"/>
          </a:xfrm>
          <a:prstGeom prst="rect">
            <a:avLst/>
          </a:prstGeom>
        </p:spPr>
      </p:pic>
      <p:sp>
        <p:nvSpPr>
          <p:cNvPr id="8" name="矩形 1"/>
          <p:cNvSpPr>
            <a:spLocks noChangeArrowheads="1"/>
          </p:cNvSpPr>
          <p:nvPr userDrawn="1"/>
        </p:nvSpPr>
        <p:spPr bwMode="auto">
          <a:xfrm>
            <a:off x="871382" y="363024"/>
            <a:ext cx="8930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pic>
        <p:nvPicPr>
          <p:cNvPr id="9" name="图片 13"/>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8676168" y="72711"/>
            <a:ext cx="3189768" cy="996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8.xml"/><Relationship Id="rId2" Type="http://schemas.openxmlformats.org/officeDocument/2006/relationships/tags" Target="../tags/tag1.xml"/><Relationship Id="rId1"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8.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vmlDrawing" Target="../drawings/vmlDrawing1.vml"/><Relationship Id="rId4" Type="http://schemas.openxmlformats.org/officeDocument/2006/relationships/slideLayout" Target="../slideLayouts/slideLayout8.xml"/><Relationship Id="rId3" Type="http://schemas.openxmlformats.org/officeDocument/2006/relationships/tags" Target="../tags/tag4.xml"/><Relationship Id="rId2" Type="http://schemas.openxmlformats.org/officeDocument/2006/relationships/image" Target="../media/image10.e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8.xml"/><Relationship Id="rId2" Type="http://schemas.openxmlformats.org/officeDocument/2006/relationships/tags" Target="../tags/tag5.xml"/><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8.xml"/><Relationship Id="rId2" Type="http://schemas.openxmlformats.org/officeDocument/2006/relationships/tags" Target="../tags/tag7.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8.xml"/><Relationship Id="rId2" Type="http://schemas.openxmlformats.org/officeDocument/2006/relationships/tags" Target="../tags/tag8.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8.xml"/><Relationship Id="rId2" Type="http://schemas.openxmlformats.org/officeDocument/2006/relationships/tags" Target="../tags/tag10.xml"/><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8.xml"/><Relationship Id="rId2" Type="http://schemas.openxmlformats.org/officeDocument/2006/relationships/tags" Target="../tags/tag11.xml"/><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8.xml"/><Relationship Id="rId2" Type="http://schemas.openxmlformats.org/officeDocument/2006/relationships/tags" Target="../tags/tag12.xml"/><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8.xml"/><Relationship Id="rId3" Type="http://schemas.openxmlformats.org/officeDocument/2006/relationships/tags" Target="../tags/tag13.xml"/><Relationship Id="rId2" Type="http://schemas.openxmlformats.org/officeDocument/2006/relationships/image" Target="../media/image17.png"/><Relationship Id="rId1" Type="http://schemas.openxmlformats.org/officeDocument/2006/relationships/slide" Target="slide17.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8.xml"/><Relationship Id="rId2" Type="http://schemas.openxmlformats.org/officeDocument/2006/relationships/tags" Target="../tags/tag14.xml"/><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8.xml"/><Relationship Id="rId2" Type="http://schemas.openxmlformats.org/officeDocument/2006/relationships/tags" Target="../tags/tag15.xml"/><Relationship Id="rId1"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8.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vmlDrawing" Target="../drawings/vmlDrawing2.vml"/><Relationship Id="rId4" Type="http://schemas.openxmlformats.org/officeDocument/2006/relationships/slideLayout" Target="../slideLayouts/slideLayout8.xml"/><Relationship Id="rId3" Type="http://schemas.openxmlformats.org/officeDocument/2006/relationships/tags" Target="../tags/tag17.xml"/><Relationship Id="rId2" Type="http://schemas.openxmlformats.org/officeDocument/2006/relationships/image" Target="../media/image20.emf"/><Relationship Id="rId1"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8.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8.xml"/><Relationship Id="rId2" Type="http://schemas.openxmlformats.org/officeDocument/2006/relationships/tags" Target="../tags/tag19.xml"/><Relationship Id="rId1" Type="http://schemas.openxmlformats.org/officeDocument/2006/relationships/image" Target="../media/image21.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8.xml"/><Relationship Id="rId2" Type="http://schemas.openxmlformats.org/officeDocument/2006/relationships/tags" Target="../tags/tag20.xml"/><Relationship Id="rId1" Type="http://schemas.openxmlformats.org/officeDocument/2006/relationships/image" Target="../media/image21.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8.xml"/><Relationship Id="rId2" Type="http://schemas.openxmlformats.org/officeDocument/2006/relationships/tags" Target="../tags/tag21.xml"/><Relationship Id="rId1" Type="http://schemas.openxmlformats.org/officeDocument/2006/relationships/image" Target="../media/image22.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8.xml"/><Relationship Id="rId2" Type="http://schemas.openxmlformats.org/officeDocument/2006/relationships/tags" Target="../tags/tag22.xml"/><Relationship Id="rId1" Type="http://schemas.openxmlformats.org/officeDocument/2006/relationships/image" Target="../media/image23.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8.xml"/><Relationship Id="rId2" Type="http://schemas.openxmlformats.org/officeDocument/2006/relationships/tags" Target="../tags/tag23.xml"/><Relationship Id="rId1" Type="http://schemas.openxmlformats.org/officeDocument/2006/relationships/image" Target="../media/image23.png"/></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vmlDrawing" Target="../drawings/vmlDrawing3.vml"/><Relationship Id="rId4" Type="http://schemas.openxmlformats.org/officeDocument/2006/relationships/slideLayout" Target="../slideLayouts/slideLayout8.xml"/><Relationship Id="rId3" Type="http://schemas.openxmlformats.org/officeDocument/2006/relationships/tags" Target="../tags/tag24.xml"/><Relationship Id="rId2" Type="http://schemas.openxmlformats.org/officeDocument/2006/relationships/image" Target="../media/image24.emf"/><Relationship Id="rId1" Type="http://schemas.openxmlformats.org/officeDocument/2006/relationships/oleObject" Target="../embeddings/oleObject3.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8.xml"/><Relationship Id="rId1" Type="http://schemas.openxmlformats.org/officeDocument/2006/relationships/tags" Target="../tags/tag25.xml"/></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8.xml"/><Relationship Id="rId2" Type="http://schemas.openxmlformats.org/officeDocument/2006/relationships/tags" Target="../tags/tag26.xml"/><Relationship Id="rId1" Type="http://schemas.openxmlformats.org/officeDocument/2006/relationships/image" Target="../media/image25.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8.xml"/><Relationship Id="rId2" Type="http://schemas.openxmlformats.org/officeDocument/2006/relationships/tags" Target="../tags/tag27.xml"/><Relationship Id="rId1" Type="http://schemas.openxmlformats.org/officeDocument/2006/relationships/image" Target="../media/image26.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8.xml"/><Relationship Id="rId2" Type="http://schemas.openxmlformats.org/officeDocument/2006/relationships/tags" Target="../tags/tag28.xml"/><Relationship Id="rId1" Type="http://schemas.openxmlformats.org/officeDocument/2006/relationships/image" Target="../media/image27.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8.xml"/><Relationship Id="rId2" Type="http://schemas.openxmlformats.org/officeDocument/2006/relationships/tags" Target="../tags/tag29.xml"/><Relationship Id="rId1" Type="http://schemas.openxmlformats.org/officeDocument/2006/relationships/image" Target="../media/image27.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8.xml"/><Relationship Id="rId2" Type="http://schemas.openxmlformats.org/officeDocument/2006/relationships/tags" Target="../tags/tag30.xml"/><Relationship Id="rId1" Type="http://schemas.openxmlformats.org/officeDocument/2006/relationships/image" Target="../media/image28.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8.xml"/><Relationship Id="rId2" Type="http://schemas.openxmlformats.org/officeDocument/2006/relationships/tags" Target="../tags/tag31.xml"/><Relationship Id="rId1" Type="http://schemas.openxmlformats.org/officeDocument/2006/relationships/image" Target="../media/image29.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8.xml"/><Relationship Id="rId1" Type="http://schemas.openxmlformats.org/officeDocument/2006/relationships/tags" Target="../tags/tag3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8.xml"/><Relationship Id="rId1" Type="http://schemas.openxmlformats.org/officeDocument/2006/relationships/tags" Target="../tags/tag33.xml"/></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8.xml"/><Relationship Id="rId2" Type="http://schemas.openxmlformats.org/officeDocument/2006/relationships/tags" Target="../tags/tag34.xml"/><Relationship Id="rId1" Type="http://schemas.openxmlformats.org/officeDocument/2006/relationships/image" Target="../media/image30.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8.xml"/><Relationship Id="rId1" Type="http://schemas.openxmlformats.org/officeDocument/2006/relationships/tags" Target="../tags/tag35.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8.xml"/><Relationship Id="rId2" Type="http://schemas.openxmlformats.org/officeDocument/2006/relationships/tags" Target="../tags/tag36.xml"/><Relationship Id="rId1" Type="http://schemas.openxmlformats.org/officeDocument/2006/relationships/image" Target="../media/image31.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8.xml"/><Relationship Id="rId1" Type="http://schemas.openxmlformats.org/officeDocument/2006/relationships/tags" Target="../tags/tag37.xml"/></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8.xml"/><Relationship Id="rId2" Type="http://schemas.openxmlformats.org/officeDocument/2006/relationships/tags" Target="../tags/tag38.xml"/><Relationship Id="rId1" Type="http://schemas.openxmlformats.org/officeDocument/2006/relationships/image" Target="../media/image32.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8.xml"/><Relationship Id="rId1" Type="http://schemas.openxmlformats.org/officeDocument/2006/relationships/tags" Target="../tags/tag39.xml"/></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8.xml"/><Relationship Id="rId2" Type="http://schemas.openxmlformats.org/officeDocument/2006/relationships/tags" Target="../tags/tag40.xml"/><Relationship Id="rId1" Type="http://schemas.openxmlformats.org/officeDocument/2006/relationships/image" Target="../media/image33.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8.xml"/><Relationship Id="rId2" Type="http://schemas.openxmlformats.org/officeDocument/2006/relationships/tags" Target="../tags/tag41.xml"/><Relationship Id="rId1" Type="http://schemas.openxmlformats.org/officeDocument/2006/relationships/image" Target="../media/image33.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8.xml"/><Relationship Id="rId1" Type="http://schemas.openxmlformats.org/officeDocument/2006/relationships/tags" Target="../tags/tag42.xml"/></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8.xml"/><Relationship Id="rId2" Type="http://schemas.openxmlformats.org/officeDocument/2006/relationships/tags" Target="../tags/tag43.xml"/><Relationship Id="rId1" Type="http://schemas.openxmlformats.org/officeDocument/2006/relationships/image" Target="../media/image34.pn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8.xml"/><Relationship Id="rId2" Type="http://schemas.openxmlformats.org/officeDocument/2006/relationships/tags" Target="../tags/tag44.xml"/><Relationship Id="rId1" Type="http://schemas.openxmlformats.org/officeDocument/2006/relationships/image" Target="../media/image34.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8.xml"/><Relationship Id="rId2" Type="http://schemas.openxmlformats.org/officeDocument/2006/relationships/tags" Target="../tags/tag45.xml"/><Relationship Id="rId1" Type="http://schemas.openxmlformats.org/officeDocument/2006/relationships/image" Target="../media/image35.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8.xml"/><Relationship Id="rId2" Type="http://schemas.openxmlformats.org/officeDocument/2006/relationships/tags" Target="../tags/tag46.xml"/><Relationship Id="rId1" Type="http://schemas.openxmlformats.org/officeDocument/2006/relationships/image" Target="../media/image35.png"/></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8.xml"/><Relationship Id="rId2" Type="http://schemas.openxmlformats.org/officeDocument/2006/relationships/tags" Target="../tags/tag47.xml"/><Relationship Id="rId1" Type="http://schemas.openxmlformats.org/officeDocument/2006/relationships/image" Target="../media/image35.png"/></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8.xml"/><Relationship Id="rId2" Type="http://schemas.openxmlformats.org/officeDocument/2006/relationships/tags" Target="../tags/tag48.xml"/><Relationship Id="rId1" Type="http://schemas.openxmlformats.org/officeDocument/2006/relationships/image" Target="../media/image35.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8.xml"/><Relationship Id="rId1" Type="http://schemas.openxmlformats.org/officeDocument/2006/relationships/tags" Target="../tags/tag49.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8.xml"/><Relationship Id="rId1" Type="http://schemas.openxmlformats.org/officeDocument/2006/relationships/tags" Target="../tags/tag50.xml"/></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8.xml"/><Relationship Id="rId2" Type="http://schemas.openxmlformats.org/officeDocument/2006/relationships/tags" Target="../tags/tag51.xml"/><Relationship Id="rId1" Type="http://schemas.openxmlformats.org/officeDocument/2006/relationships/image" Target="../media/image36.png"/></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8.xml"/><Relationship Id="rId2" Type="http://schemas.openxmlformats.org/officeDocument/2006/relationships/tags" Target="../tags/tag52.xml"/><Relationship Id="rId1" Type="http://schemas.openxmlformats.org/officeDocument/2006/relationships/image" Target="../media/image37.pn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8.xml"/><Relationship Id="rId2" Type="http://schemas.openxmlformats.org/officeDocument/2006/relationships/tags" Target="../tags/tag53.xml"/><Relationship Id="rId1" Type="http://schemas.openxmlformats.org/officeDocument/2006/relationships/image" Target="../media/image38.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8.xml"/><Relationship Id="rId1" Type="http://schemas.openxmlformats.org/officeDocument/2006/relationships/tags" Target="../tags/tag54.xml"/></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8.xml"/><Relationship Id="rId2" Type="http://schemas.openxmlformats.org/officeDocument/2006/relationships/tags" Target="../tags/tag55.xml"/><Relationship Id="rId1" Type="http://schemas.openxmlformats.org/officeDocument/2006/relationships/image" Target="../media/image39.pn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7.xml"/><Relationship Id="rId3" Type="http://schemas.openxmlformats.org/officeDocument/2006/relationships/slideLayout" Target="../slideLayouts/slideLayout8.xml"/><Relationship Id="rId2" Type="http://schemas.openxmlformats.org/officeDocument/2006/relationships/tags" Target="../tags/tag56.xml"/><Relationship Id="rId1" Type="http://schemas.openxmlformats.org/officeDocument/2006/relationships/image" Target="../media/image39.png"/></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58.xml"/><Relationship Id="rId3" Type="http://schemas.openxmlformats.org/officeDocument/2006/relationships/slideLayout" Target="../slideLayouts/slideLayout8.xml"/><Relationship Id="rId2" Type="http://schemas.openxmlformats.org/officeDocument/2006/relationships/tags" Target="../tags/tag57.xml"/><Relationship Id="rId1" Type="http://schemas.openxmlformats.org/officeDocument/2006/relationships/image" Target="../media/image40.png"/></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8.xml"/><Relationship Id="rId2" Type="http://schemas.openxmlformats.org/officeDocument/2006/relationships/tags" Target="../tags/tag58.xml"/><Relationship Id="rId1" Type="http://schemas.openxmlformats.org/officeDocument/2006/relationships/image" Target="../media/image41.png"/></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60.xml"/><Relationship Id="rId3" Type="http://schemas.openxmlformats.org/officeDocument/2006/relationships/slideLayout" Target="../slideLayouts/slideLayout8.xml"/><Relationship Id="rId2" Type="http://schemas.openxmlformats.org/officeDocument/2006/relationships/tags" Target="../tags/tag59.xml"/><Relationship Id="rId1" Type="http://schemas.openxmlformats.org/officeDocument/2006/relationships/image" Target="../media/image41.png"/></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8.xml"/><Relationship Id="rId2" Type="http://schemas.openxmlformats.org/officeDocument/2006/relationships/tags" Target="../tags/tag60.xml"/><Relationship Id="rId1" Type="http://schemas.openxmlformats.org/officeDocument/2006/relationships/image" Target="../media/image41.png"/></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62.xml"/><Relationship Id="rId3" Type="http://schemas.openxmlformats.org/officeDocument/2006/relationships/slideLayout" Target="../slideLayouts/slideLayout8.xml"/><Relationship Id="rId2" Type="http://schemas.openxmlformats.org/officeDocument/2006/relationships/tags" Target="../tags/tag61.xml"/><Relationship Id="rId1" Type="http://schemas.openxmlformats.org/officeDocument/2006/relationships/image" Target="../media/image42.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8.xml"/><Relationship Id="rId1" Type="http://schemas.openxmlformats.org/officeDocument/2006/relationships/tags" Target="../tags/tag62.xml"/></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8.xml"/><Relationship Id="rId2" Type="http://schemas.openxmlformats.org/officeDocument/2006/relationships/tags" Target="../tags/tag63.xml"/><Relationship Id="rId1" Type="http://schemas.openxmlformats.org/officeDocument/2006/relationships/image" Target="../media/image43.png"/></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65.xml"/><Relationship Id="rId3" Type="http://schemas.openxmlformats.org/officeDocument/2006/relationships/slideLayout" Target="../slideLayouts/slideLayout8.xml"/><Relationship Id="rId2" Type="http://schemas.openxmlformats.org/officeDocument/2006/relationships/tags" Target="../tags/tag64.xml"/><Relationship Id="rId1" Type="http://schemas.openxmlformats.org/officeDocument/2006/relationships/image" Target="../media/image44.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8.xml"/><Relationship Id="rId1" Type="http://schemas.openxmlformats.org/officeDocument/2006/relationships/tags" Target="../tags/tag65.xml"/></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67.xml"/><Relationship Id="rId3" Type="http://schemas.openxmlformats.org/officeDocument/2006/relationships/slideLayout" Target="../slideLayouts/slideLayout8.xml"/><Relationship Id="rId2" Type="http://schemas.openxmlformats.org/officeDocument/2006/relationships/tags" Target="../tags/tag66.xml"/><Relationship Id="rId1" Type="http://schemas.openxmlformats.org/officeDocument/2006/relationships/image" Target="../media/image45.png"/></Relationships>
</file>

<file path=ppt/slides/_rels/slide68.xml.rels><?xml version="1.0" encoding="UTF-8" standalone="yes"?>
<Relationships xmlns="http://schemas.openxmlformats.org/package/2006/relationships"><Relationship Id="rId4" Type="http://schemas.openxmlformats.org/officeDocument/2006/relationships/notesSlide" Target="../notesSlides/notesSlide68.xml"/><Relationship Id="rId3" Type="http://schemas.openxmlformats.org/officeDocument/2006/relationships/slideLayout" Target="../slideLayouts/slideLayout8.xml"/><Relationship Id="rId2" Type="http://schemas.openxmlformats.org/officeDocument/2006/relationships/tags" Target="../tags/tag67.xml"/><Relationship Id="rId1" Type="http://schemas.openxmlformats.org/officeDocument/2006/relationships/image" Target="../media/image45.png"/></Relationships>
</file>

<file path=ppt/slides/_rels/slide69.xml.rels><?xml version="1.0" encoding="UTF-8" standalone="yes"?>
<Relationships xmlns="http://schemas.openxmlformats.org/package/2006/relationships"><Relationship Id="rId4" Type="http://schemas.openxmlformats.org/officeDocument/2006/relationships/notesSlide" Target="../notesSlides/notesSlide69.xml"/><Relationship Id="rId3" Type="http://schemas.openxmlformats.org/officeDocument/2006/relationships/slideLayout" Target="../slideLayouts/slideLayout8.xml"/><Relationship Id="rId2" Type="http://schemas.openxmlformats.org/officeDocument/2006/relationships/tags" Target="../tags/tag68.xml"/><Relationship Id="rId1" Type="http://schemas.openxmlformats.org/officeDocument/2006/relationships/image" Target="../media/image46.png"/></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70.xml"/><Relationship Id="rId3" Type="http://schemas.openxmlformats.org/officeDocument/2006/relationships/slideLayout" Target="../slideLayouts/slideLayout8.xml"/><Relationship Id="rId2" Type="http://schemas.openxmlformats.org/officeDocument/2006/relationships/tags" Target="../tags/tag69.xml"/><Relationship Id="rId1" Type="http://schemas.openxmlformats.org/officeDocument/2006/relationships/image" Target="../media/image46.png"/></Relationships>
</file>

<file path=ppt/slides/_rels/slide71.xml.rels><?xml version="1.0" encoding="UTF-8" standalone="yes"?>
<Relationships xmlns="http://schemas.openxmlformats.org/package/2006/relationships"><Relationship Id="rId4" Type="http://schemas.openxmlformats.org/officeDocument/2006/relationships/notesSlide" Target="../notesSlides/notesSlide71.xml"/><Relationship Id="rId3" Type="http://schemas.openxmlformats.org/officeDocument/2006/relationships/slideLayout" Target="../slideLayouts/slideLayout8.xml"/><Relationship Id="rId2" Type="http://schemas.openxmlformats.org/officeDocument/2006/relationships/tags" Target="../tags/tag70.xml"/><Relationship Id="rId1" Type="http://schemas.openxmlformats.org/officeDocument/2006/relationships/image" Target="../media/image47.png"/></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72.xml"/><Relationship Id="rId3" Type="http://schemas.openxmlformats.org/officeDocument/2006/relationships/slideLayout" Target="../slideLayouts/slideLayout8.xml"/><Relationship Id="rId2" Type="http://schemas.openxmlformats.org/officeDocument/2006/relationships/tags" Target="../tags/tag71.xml"/><Relationship Id="rId1" Type="http://schemas.openxmlformats.org/officeDocument/2006/relationships/image" Target="../media/image48.png"/></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73.xml"/><Relationship Id="rId3" Type="http://schemas.openxmlformats.org/officeDocument/2006/relationships/slideLayout" Target="../slideLayouts/slideLayout8.xml"/><Relationship Id="rId2" Type="http://schemas.openxmlformats.org/officeDocument/2006/relationships/tags" Target="../tags/tag72.xml"/><Relationship Id="rId1" Type="http://schemas.openxmlformats.org/officeDocument/2006/relationships/image" Target="../media/image48.png"/></Relationships>
</file>

<file path=ppt/slides/_rels/slide74.xml.rels><?xml version="1.0" encoding="UTF-8" standalone="yes"?>
<Relationships xmlns="http://schemas.openxmlformats.org/package/2006/relationships"><Relationship Id="rId4" Type="http://schemas.openxmlformats.org/officeDocument/2006/relationships/notesSlide" Target="../notesSlides/notesSlide74.xml"/><Relationship Id="rId3" Type="http://schemas.openxmlformats.org/officeDocument/2006/relationships/slideLayout" Target="../slideLayouts/slideLayout8.xml"/><Relationship Id="rId2" Type="http://schemas.openxmlformats.org/officeDocument/2006/relationships/tags" Target="../tags/tag73.xml"/><Relationship Id="rId1" Type="http://schemas.openxmlformats.org/officeDocument/2006/relationships/image" Target="../media/image49.png"/></Relationships>
</file>

<file path=ppt/slides/_rels/slide75.xml.rels><?xml version="1.0" encoding="UTF-8" standalone="yes"?>
<Relationships xmlns="http://schemas.openxmlformats.org/package/2006/relationships"><Relationship Id="rId4" Type="http://schemas.openxmlformats.org/officeDocument/2006/relationships/notesSlide" Target="../notesSlides/notesSlide75.xml"/><Relationship Id="rId3" Type="http://schemas.openxmlformats.org/officeDocument/2006/relationships/slideLayout" Target="../slideLayouts/slideLayout8.xml"/><Relationship Id="rId2" Type="http://schemas.openxmlformats.org/officeDocument/2006/relationships/tags" Target="../tags/tag74.xml"/><Relationship Id="rId1" Type="http://schemas.openxmlformats.org/officeDocument/2006/relationships/image" Target="../media/image50.png"/></Relationships>
</file>

<file path=ppt/slides/_rels/slide76.xml.rels><?xml version="1.0" encoding="UTF-8" standalone="yes"?>
<Relationships xmlns="http://schemas.openxmlformats.org/package/2006/relationships"><Relationship Id="rId4" Type="http://schemas.openxmlformats.org/officeDocument/2006/relationships/notesSlide" Target="../notesSlides/notesSlide76.xml"/><Relationship Id="rId3" Type="http://schemas.openxmlformats.org/officeDocument/2006/relationships/slideLayout" Target="../slideLayouts/slideLayout8.xml"/><Relationship Id="rId2" Type="http://schemas.openxmlformats.org/officeDocument/2006/relationships/tags" Target="../tags/tag75.xml"/><Relationship Id="rId1" Type="http://schemas.openxmlformats.org/officeDocument/2006/relationships/image" Target="../media/image50.png"/></Relationships>
</file>

<file path=ppt/slides/_rels/slide77.xml.rels><?xml version="1.0" encoding="UTF-8" standalone="yes"?>
<Relationships xmlns="http://schemas.openxmlformats.org/package/2006/relationships"><Relationship Id="rId4" Type="http://schemas.openxmlformats.org/officeDocument/2006/relationships/notesSlide" Target="../notesSlides/notesSlide77.xml"/><Relationship Id="rId3" Type="http://schemas.openxmlformats.org/officeDocument/2006/relationships/slideLayout" Target="../slideLayouts/slideLayout8.xml"/><Relationship Id="rId2" Type="http://schemas.openxmlformats.org/officeDocument/2006/relationships/tags" Target="../tags/tag76.xml"/><Relationship Id="rId1" Type="http://schemas.openxmlformats.org/officeDocument/2006/relationships/image" Target="../media/image51.png"/></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78.xml"/><Relationship Id="rId3" Type="http://schemas.openxmlformats.org/officeDocument/2006/relationships/slideLayout" Target="../slideLayouts/slideLayout8.xml"/><Relationship Id="rId2" Type="http://schemas.openxmlformats.org/officeDocument/2006/relationships/tags" Target="../tags/tag77.xml"/><Relationship Id="rId1" Type="http://schemas.openxmlformats.org/officeDocument/2006/relationships/image" Target="../media/image52.png"/></Relationships>
</file>

<file path=ppt/slides/_rels/slide79.xml.rels><?xml version="1.0" encoding="UTF-8" standalone="yes"?>
<Relationships xmlns="http://schemas.openxmlformats.org/package/2006/relationships"><Relationship Id="rId4" Type="http://schemas.openxmlformats.org/officeDocument/2006/relationships/notesSlide" Target="../notesSlides/notesSlide79.xml"/><Relationship Id="rId3" Type="http://schemas.openxmlformats.org/officeDocument/2006/relationships/slideLayout" Target="../slideLayouts/slideLayout8.xml"/><Relationship Id="rId2" Type="http://schemas.openxmlformats.org/officeDocument/2006/relationships/tags" Target="../tags/tag78.xml"/><Relationship Id="rId1" Type="http://schemas.openxmlformats.org/officeDocument/2006/relationships/image" Target="../media/image52.png"/></Relationships>
</file>

<file path=ppt/slides/_rels/slide80.xml.rels><?xml version="1.0" encoding="UTF-8" standalone="yes"?>
<Relationships xmlns="http://schemas.openxmlformats.org/package/2006/relationships"><Relationship Id="rId4" Type="http://schemas.openxmlformats.org/officeDocument/2006/relationships/notesSlide" Target="../notesSlides/notesSlide80.xml"/><Relationship Id="rId3" Type="http://schemas.openxmlformats.org/officeDocument/2006/relationships/slideLayout" Target="../slideLayouts/slideLayout8.xml"/><Relationship Id="rId2" Type="http://schemas.openxmlformats.org/officeDocument/2006/relationships/tags" Target="../tags/tag79.xml"/><Relationship Id="rId1" Type="http://schemas.openxmlformats.org/officeDocument/2006/relationships/image" Target="../media/image53.png"/></Relationships>
</file>

<file path=ppt/slides/_rels/slide81.xml.rels><?xml version="1.0" encoding="UTF-8" standalone="yes"?>
<Relationships xmlns="http://schemas.openxmlformats.org/package/2006/relationships"><Relationship Id="rId4" Type="http://schemas.openxmlformats.org/officeDocument/2006/relationships/notesSlide" Target="../notesSlides/notesSlide81.xml"/><Relationship Id="rId3" Type="http://schemas.openxmlformats.org/officeDocument/2006/relationships/slideLayout" Target="../slideLayouts/slideLayout8.xml"/><Relationship Id="rId2" Type="http://schemas.openxmlformats.org/officeDocument/2006/relationships/tags" Target="../tags/tag80.xml"/><Relationship Id="rId1" Type="http://schemas.openxmlformats.org/officeDocument/2006/relationships/image" Target="../media/image53.png"/></Relationships>
</file>

<file path=ppt/slides/_rels/slide82.xml.rels><?xml version="1.0" encoding="UTF-8" standalone="yes"?>
<Relationships xmlns="http://schemas.openxmlformats.org/package/2006/relationships"><Relationship Id="rId4" Type="http://schemas.openxmlformats.org/officeDocument/2006/relationships/notesSlide" Target="../notesSlides/notesSlide82.xml"/><Relationship Id="rId3" Type="http://schemas.openxmlformats.org/officeDocument/2006/relationships/slideLayout" Target="../slideLayouts/slideLayout8.xml"/><Relationship Id="rId2" Type="http://schemas.openxmlformats.org/officeDocument/2006/relationships/tags" Target="../tags/tag81.xml"/><Relationship Id="rId1" Type="http://schemas.openxmlformats.org/officeDocument/2006/relationships/image" Target="../media/image53.png"/></Relationships>
</file>

<file path=ppt/slides/_rels/slide83.xml.rels><?xml version="1.0" encoding="UTF-8" standalone="yes"?>
<Relationships xmlns="http://schemas.openxmlformats.org/package/2006/relationships"><Relationship Id="rId4" Type="http://schemas.openxmlformats.org/officeDocument/2006/relationships/notesSlide" Target="../notesSlides/notesSlide83.xml"/><Relationship Id="rId3" Type="http://schemas.openxmlformats.org/officeDocument/2006/relationships/slideLayout" Target="../slideLayouts/slideLayout8.xml"/><Relationship Id="rId2" Type="http://schemas.openxmlformats.org/officeDocument/2006/relationships/tags" Target="../tags/tag82.xml"/><Relationship Id="rId1" Type="http://schemas.openxmlformats.org/officeDocument/2006/relationships/image" Target="../media/image54.png"/></Relationships>
</file>

<file path=ppt/slides/_rels/slide84.xml.rels><?xml version="1.0" encoding="UTF-8" standalone="yes"?>
<Relationships xmlns="http://schemas.openxmlformats.org/package/2006/relationships"><Relationship Id="rId4" Type="http://schemas.openxmlformats.org/officeDocument/2006/relationships/notesSlide" Target="../notesSlides/notesSlide84.xml"/><Relationship Id="rId3" Type="http://schemas.openxmlformats.org/officeDocument/2006/relationships/slideLayout" Target="../slideLayouts/slideLayout8.xml"/><Relationship Id="rId2" Type="http://schemas.openxmlformats.org/officeDocument/2006/relationships/tags" Target="../tags/tag83.xml"/><Relationship Id="rId1" Type="http://schemas.openxmlformats.org/officeDocument/2006/relationships/image" Target="../media/image55.png"/></Relationships>
</file>

<file path=ppt/slides/_rels/slide85.xml.rels><?xml version="1.0" encoding="UTF-8" standalone="yes"?>
<Relationships xmlns="http://schemas.openxmlformats.org/package/2006/relationships"><Relationship Id="rId4" Type="http://schemas.openxmlformats.org/officeDocument/2006/relationships/notesSlide" Target="../notesSlides/notesSlide85.xml"/><Relationship Id="rId3" Type="http://schemas.openxmlformats.org/officeDocument/2006/relationships/slideLayout" Target="../slideLayouts/slideLayout8.xml"/><Relationship Id="rId2" Type="http://schemas.openxmlformats.org/officeDocument/2006/relationships/tags" Target="../tags/tag84.xml"/><Relationship Id="rId1" Type="http://schemas.openxmlformats.org/officeDocument/2006/relationships/image" Target="../media/image53.png"/></Relationships>
</file>

<file path=ppt/slides/_rels/slide86.xml.rels><?xml version="1.0" encoding="UTF-8" standalone="yes"?>
<Relationships xmlns="http://schemas.openxmlformats.org/package/2006/relationships"><Relationship Id="rId4" Type="http://schemas.openxmlformats.org/officeDocument/2006/relationships/notesSlide" Target="../notesSlides/notesSlide86.xml"/><Relationship Id="rId3" Type="http://schemas.openxmlformats.org/officeDocument/2006/relationships/slideLayout" Target="../slideLayouts/slideLayout8.xml"/><Relationship Id="rId2" Type="http://schemas.openxmlformats.org/officeDocument/2006/relationships/tags" Target="../tags/tag85.xml"/><Relationship Id="rId1" Type="http://schemas.openxmlformats.org/officeDocument/2006/relationships/image" Target="../media/image53.png"/></Relationships>
</file>

<file path=ppt/slides/_rels/slide87.xml.rels><?xml version="1.0" encoding="UTF-8" standalone="yes"?>
<Relationships xmlns="http://schemas.openxmlformats.org/package/2006/relationships"><Relationship Id="rId4" Type="http://schemas.openxmlformats.org/officeDocument/2006/relationships/notesSlide" Target="../notesSlides/notesSlide87.xml"/><Relationship Id="rId3" Type="http://schemas.openxmlformats.org/officeDocument/2006/relationships/slideLayout" Target="../slideLayouts/slideLayout8.xml"/><Relationship Id="rId2" Type="http://schemas.openxmlformats.org/officeDocument/2006/relationships/tags" Target="../tags/tag86.xml"/><Relationship Id="rId1" Type="http://schemas.openxmlformats.org/officeDocument/2006/relationships/image" Target="../media/image56.png"/></Relationships>
</file>

<file path=ppt/slides/_rels/slide88.xml.rels><?xml version="1.0" encoding="UTF-8" standalone="yes"?>
<Relationships xmlns="http://schemas.openxmlformats.org/package/2006/relationships"><Relationship Id="rId4" Type="http://schemas.openxmlformats.org/officeDocument/2006/relationships/notesSlide" Target="../notesSlides/notesSlide88.xml"/><Relationship Id="rId3" Type="http://schemas.openxmlformats.org/officeDocument/2006/relationships/slideLayout" Target="../slideLayouts/slideLayout8.xml"/><Relationship Id="rId2" Type="http://schemas.openxmlformats.org/officeDocument/2006/relationships/tags" Target="../tags/tag87.xml"/><Relationship Id="rId1" Type="http://schemas.openxmlformats.org/officeDocument/2006/relationships/image" Target="../media/image57.png"/></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8.xml"/><Relationship Id="rId1" Type="http://schemas.openxmlformats.org/officeDocument/2006/relationships/tags" Target="../tags/tag88.xml"/></Relationships>
</file>

<file path=ppt/slides/_rels/slide90.xml.rels><?xml version="1.0" encoding="UTF-8" standalone="yes"?>
<Relationships xmlns="http://schemas.openxmlformats.org/package/2006/relationships"><Relationship Id="rId5" Type="http://schemas.openxmlformats.org/officeDocument/2006/relationships/notesSlide" Target="../notesSlides/notesSlide90.xml"/><Relationship Id="rId4" Type="http://schemas.openxmlformats.org/officeDocument/2006/relationships/slideLayout" Target="../slideLayouts/slideLayout8.xml"/><Relationship Id="rId3" Type="http://schemas.openxmlformats.org/officeDocument/2006/relationships/tags" Target="../tags/tag89.xml"/><Relationship Id="rId2" Type="http://schemas.openxmlformats.org/officeDocument/2006/relationships/image" Target="../media/image59.png"/><Relationship Id="rId1" Type="http://schemas.openxmlformats.org/officeDocument/2006/relationships/image" Target="../media/image58.png"/></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8.xml"/><Relationship Id="rId1" Type="http://schemas.openxmlformats.org/officeDocument/2006/relationships/tags" Target="../tags/tag90.xml"/></Relationships>
</file>

<file path=ppt/slides/_rels/slide92.xml.rels><?xml version="1.0" encoding="UTF-8" standalone="yes"?>
<Relationships xmlns="http://schemas.openxmlformats.org/package/2006/relationships"><Relationship Id="rId4" Type="http://schemas.openxmlformats.org/officeDocument/2006/relationships/notesSlide" Target="../notesSlides/notesSlide92.xml"/><Relationship Id="rId3" Type="http://schemas.openxmlformats.org/officeDocument/2006/relationships/slideLayout" Target="../slideLayouts/slideLayout8.xml"/><Relationship Id="rId2" Type="http://schemas.openxmlformats.org/officeDocument/2006/relationships/tags" Target="../tags/tag91.xml"/><Relationship Id="rId1" Type="http://schemas.openxmlformats.org/officeDocument/2006/relationships/image" Target="../media/image60.png"/></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8.xml"/><Relationship Id="rId1" Type="http://schemas.openxmlformats.org/officeDocument/2006/relationships/tags" Target="../tags/tag92.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8.xml"/><Relationship Id="rId1" Type="http://schemas.openxmlformats.org/officeDocument/2006/relationships/tags" Target="../tags/tag93.xml"/></Relationships>
</file>

<file path=ppt/slides/_rels/slide95.xml.rels><?xml version="1.0" encoding="UTF-8" standalone="yes"?>
<Relationships xmlns="http://schemas.openxmlformats.org/package/2006/relationships"><Relationship Id="rId4" Type="http://schemas.openxmlformats.org/officeDocument/2006/relationships/notesSlide" Target="../notesSlides/notesSlide95.xml"/><Relationship Id="rId3" Type="http://schemas.openxmlformats.org/officeDocument/2006/relationships/slideLayout" Target="../slideLayouts/slideLayout8.xml"/><Relationship Id="rId2" Type="http://schemas.openxmlformats.org/officeDocument/2006/relationships/tags" Target="../tags/tag94.xml"/><Relationship Id="rId1" Type="http://schemas.openxmlformats.org/officeDocument/2006/relationships/image" Target="../media/image61.png"/></Relationships>
</file>

<file path=ppt/slides/_rels/slide96.xml.rels><?xml version="1.0" encoding="UTF-8" standalone="yes"?>
<Relationships xmlns="http://schemas.openxmlformats.org/package/2006/relationships"><Relationship Id="rId4" Type="http://schemas.openxmlformats.org/officeDocument/2006/relationships/notesSlide" Target="../notesSlides/notesSlide96.xml"/><Relationship Id="rId3" Type="http://schemas.openxmlformats.org/officeDocument/2006/relationships/slideLayout" Target="../slideLayouts/slideLayout8.xml"/><Relationship Id="rId2" Type="http://schemas.openxmlformats.org/officeDocument/2006/relationships/tags" Target="../tags/tag95.xml"/><Relationship Id="rId1" Type="http://schemas.openxmlformats.org/officeDocument/2006/relationships/image" Target="../media/image62.png"/></Relationships>
</file>

<file path=ppt/slides/_rels/slide97.xml.rels><?xml version="1.0" encoding="UTF-8" standalone="yes"?>
<Relationships xmlns="http://schemas.openxmlformats.org/package/2006/relationships"><Relationship Id="rId4" Type="http://schemas.openxmlformats.org/officeDocument/2006/relationships/notesSlide" Target="../notesSlides/notesSlide97.xml"/><Relationship Id="rId3" Type="http://schemas.openxmlformats.org/officeDocument/2006/relationships/slideLayout" Target="../slideLayouts/slideLayout8.xml"/><Relationship Id="rId2" Type="http://schemas.openxmlformats.org/officeDocument/2006/relationships/tags" Target="../tags/tag96.xml"/><Relationship Id="rId1" Type="http://schemas.openxmlformats.org/officeDocument/2006/relationships/image" Target="../media/image63.png"/></Relationships>
</file>

<file path=ppt/slides/_rels/slide98.xml.rels><?xml version="1.0" encoding="UTF-8" standalone="yes"?>
<Relationships xmlns="http://schemas.openxmlformats.org/package/2006/relationships"><Relationship Id="rId4" Type="http://schemas.openxmlformats.org/officeDocument/2006/relationships/notesSlide" Target="../notesSlides/notesSlide98.xml"/><Relationship Id="rId3" Type="http://schemas.openxmlformats.org/officeDocument/2006/relationships/slideLayout" Target="../slideLayouts/slideLayout8.xml"/><Relationship Id="rId2" Type="http://schemas.openxmlformats.org/officeDocument/2006/relationships/tags" Target="../tags/tag97.xml"/><Relationship Id="rId1" Type="http://schemas.openxmlformats.org/officeDocument/2006/relationships/image" Target="../media/image64.png"/></Relationships>
</file>

<file path=ppt/slides/_rels/slide99.xml.rels><?xml version="1.0" encoding="UTF-8" standalone="yes"?>
<Relationships xmlns="http://schemas.openxmlformats.org/package/2006/relationships"><Relationship Id="rId4" Type="http://schemas.openxmlformats.org/officeDocument/2006/relationships/notesSlide" Target="../notesSlides/notesSlide99.xml"/><Relationship Id="rId3" Type="http://schemas.openxmlformats.org/officeDocument/2006/relationships/slideLayout" Target="../slideLayouts/slideLayout8.xml"/><Relationship Id="rId2" Type="http://schemas.openxmlformats.org/officeDocument/2006/relationships/tags" Target="../tags/tag98.xml"/><Relationship Id="rId1" Type="http://schemas.openxmlformats.org/officeDocument/2006/relationships/image" Target="../media/image57.png"/></Relationships>
</file>

<file path=ppt/slides/_rels/slide100.xml.rels><?xml version="1.0" encoding="UTF-8" standalone="yes"?>
<Relationships xmlns="http://schemas.openxmlformats.org/package/2006/relationships"><Relationship Id="rId4" Type="http://schemas.openxmlformats.org/officeDocument/2006/relationships/notesSlide" Target="../notesSlides/notesSlide100.xml"/><Relationship Id="rId3" Type="http://schemas.openxmlformats.org/officeDocument/2006/relationships/slideLayout" Target="../slideLayouts/slideLayout8.xml"/><Relationship Id="rId2" Type="http://schemas.openxmlformats.org/officeDocument/2006/relationships/tags" Target="../tags/tag99.xml"/><Relationship Id="rId1" Type="http://schemas.openxmlformats.org/officeDocument/2006/relationships/image" Target="../media/image65.png"/></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8.xml"/><Relationship Id="rId1" Type="http://schemas.openxmlformats.org/officeDocument/2006/relationships/tags" Target="../tags/tag100.xml"/></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102.xml"/><Relationship Id="rId2" Type="http://schemas.openxmlformats.org/officeDocument/2006/relationships/slideLayout" Target="../slideLayouts/slideLayout8.xml"/><Relationship Id="rId1" Type="http://schemas.openxmlformats.org/officeDocument/2006/relationships/tags" Target="../tags/tag101.xml"/></Relationships>
</file>

<file path=ppt/slides/_rels/slide103.xml.rels><?xml version="1.0" encoding="UTF-8" standalone="yes"?>
<Relationships xmlns="http://schemas.openxmlformats.org/package/2006/relationships"><Relationship Id="rId4" Type="http://schemas.openxmlformats.org/officeDocument/2006/relationships/notesSlide" Target="../notesSlides/notesSlide103.xml"/><Relationship Id="rId3" Type="http://schemas.openxmlformats.org/officeDocument/2006/relationships/slideLayout" Target="../slideLayouts/slideLayout8.xml"/><Relationship Id="rId2" Type="http://schemas.openxmlformats.org/officeDocument/2006/relationships/tags" Target="../tags/tag102.xml"/><Relationship Id="rId1" Type="http://schemas.openxmlformats.org/officeDocument/2006/relationships/image" Target="../media/image66.png"/></Relationships>
</file>

<file path=ppt/slides/_rels/slide104.xml.rels><?xml version="1.0" encoding="UTF-8" standalone="yes"?>
<Relationships xmlns="http://schemas.openxmlformats.org/package/2006/relationships"><Relationship Id="rId4" Type="http://schemas.openxmlformats.org/officeDocument/2006/relationships/notesSlide" Target="../notesSlides/notesSlide104.xml"/><Relationship Id="rId3" Type="http://schemas.openxmlformats.org/officeDocument/2006/relationships/slideLayout" Target="../slideLayouts/slideLayout8.xml"/><Relationship Id="rId2" Type="http://schemas.openxmlformats.org/officeDocument/2006/relationships/tags" Target="../tags/tag103.xml"/><Relationship Id="rId1" Type="http://schemas.openxmlformats.org/officeDocument/2006/relationships/image" Target="../media/image66.png"/></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8.xml"/><Relationship Id="rId1" Type="http://schemas.openxmlformats.org/officeDocument/2006/relationships/tags" Target="../tags/tag104.xml"/></Relationships>
</file>

<file path=ppt/slides/_rels/slide106.xml.rels><?xml version="1.0" encoding="UTF-8" standalone="yes"?>
<Relationships xmlns="http://schemas.openxmlformats.org/package/2006/relationships"><Relationship Id="rId4" Type="http://schemas.openxmlformats.org/officeDocument/2006/relationships/notesSlide" Target="../notesSlides/notesSlide106.xml"/><Relationship Id="rId3" Type="http://schemas.openxmlformats.org/officeDocument/2006/relationships/slideLayout" Target="../slideLayouts/slideLayout8.xml"/><Relationship Id="rId2" Type="http://schemas.openxmlformats.org/officeDocument/2006/relationships/tags" Target="../tags/tag105.xml"/><Relationship Id="rId1" Type="http://schemas.openxmlformats.org/officeDocument/2006/relationships/image" Target="../media/image67.png"/></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107.xml"/><Relationship Id="rId2" Type="http://schemas.openxmlformats.org/officeDocument/2006/relationships/slideLayout" Target="../slideLayouts/slideLayout8.xml"/><Relationship Id="rId1" Type="http://schemas.openxmlformats.org/officeDocument/2006/relationships/tags" Target="../tags/tag106.xml"/></Relationships>
</file>

<file path=ppt/slides/_rels/slide108.xml.rels><?xml version="1.0" encoding="UTF-8" standalone="yes"?>
<Relationships xmlns="http://schemas.openxmlformats.org/package/2006/relationships"><Relationship Id="rId4" Type="http://schemas.openxmlformats.org/officeDocument/2006/relationships/notesSlide" Target="../notesSlides/notesSlide108.xml"/><Relationship Id="rId3" Type="http://schemas.openxmlformats.org/officeDocument/2006/relationships/slideLayout" Target="../slideLayouts/slideLayout8.xml"/><Relationship Id="rId2" Type="http://schemas.openxmlformats.org/officeDocument/2006/relationships/tags" Target="../tags/tag107.xml"/><Relationship Id="rId1" Type="http://schemas.openxmlformats.org/officeDocument/2006/relationships/image" Target="../media/image68.png"/></Relationships>
</file>

<file path=ppt/slides/_rels/slide109.xml.rels><?xml version="1.0" encoding="UTF-8" standalone="yes"?>
<Relationships xmlns="http://schemas.openxmlformats.org/package/2006/relationships"><Relationship Id="rId4" Type="http://schemas.openxmlformats.org/officeDocument/2006/relationships/notesSlide" Target="../notesSlides/notesSlide109.xml"/><Relationship Id="rId3" Type="http://schemas.openxmlformats.org/officeDocument/2006/relationships/slideLayout" Target="../slideLayouts/slideLayout8.xml"/><Relationship Id="rId2" Type="http://schemas.openxmlformats.org/officeDocument/2006/relationships/tags" Target="../tags/tag108.xml"/><Relationship Id="rId1" Type="http://schemas.openxmlformats.org/officeDocument/2006/relationships/image" Target="../media/image69.png"/></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8.xml"/><Relationship Id="rId1" Type="http://schemas.openxmlformats.org/officeDocument/2006/relationships/tags" Target="../tags/tag109.xml"/></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8.xml"/><Relationship Id="rId1" Type="http://schemas.openxmlformats.org/officeDocument/2006/relationships/tags" Target="../tags/tag110.xml"/></Relationships>
</file>

<file path=ppt/slides/_rels/slide112.xml.rels><?xml version="1.0" encoding="UTF-8" standalone="yes"?>
<Relationships xmlns="http://schemas.openxmlformats.org/package/2006/relationships"><Relationship Id="rId4" Type="http://schemas.openxmlformats.org/officeDocument/2006/relationships/notesSlide" Target="../notesSlides/notesSlide112.xml"/><Relationship Id="rId3" Type="http://schemas.openxmlformats.org/officeDocument/2006/relationships/slideLayout" Target="../slideLayouts/slideLayout8.xml"/><Relationship Id="rId2" Type="http://schemas.openxmlformats.org/officeDocument/2006/relationships/tags" Target="../tags/tag111.xml"/><Relationship Id="rId1" Type="http://schemas.openxmlformats.org/officeDocument/2006/relationships/image" Target="../media/image70.png"/></Relationships>
</file>

<file path=ppt/slides/_rels/slide113.xml.rels><?xml version="1.0" encoding="UTF-8" standalone="yes"?>
<Relationships xmlns="http://schemas.openxmlformats.org/package/2006/relationships"><Relationship Id="rId4" Type="http://schemas.openxmlformats.org/officeDocument/2006/relationships/notesSlide" Target="../notesSlides/notesSlide113.xml"/><Relationship Id="rId3" Type="http://schemas.openxmlformats.org/officeDocument/2006/relationships/slideLayout" Target="../slideLayouts/slideLayout8.xml"/><Relationship Id="rId2" Type="http://schemas.openxmlformats.org/officeDocument/2006/relationships/tags" Target="../tags/tag112.xml"/><Relationship Id="rId1" Type="http://schemas.openxmlformats.org/officeDocument/2006/relationships/image" Target="../media/image71.png"/></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114.xml"/><Relationship Id="rId2" Type="http://schemas.openxmlformats.org/officeDocument/2006/relationships/slideLayout" Target="../slideLayouts/slideLayout8.xml"/><Relationship Id="rId1" Type="http://schemas.openxmlformats.org/officeDocument/2006/relationships/tags" Target="../tags/tag113.xml"/></Relationships>
</file>

<file path=ppt/slides/_rels/slide115.xml.rels><?xml version="1.0" encoding="UTF-8" standalone="yes"?>
<Relationships xmlns="http://schemas.openxmlformats.org/package/2006/relationships"><Relationship Id="rId4" Type="http://schemas.openxmlformats.org/officeDocument/2006/relationships/notesSlide" Target="../notesSlides/notesSlide115.xml"/><Relationship Id="rId3" Type="http://schemas.openxmlformats.org/officeDocument/2006/relationships/slideLayout" Target="../slideLayouts/slideLayout8.xml"/><Relationship Id="rId2" Type="http://schemas.openxmlformats.org/officeDocument/2006/relationships/tags" Target="../tags/tag114.xml"/><Relationship Id="rId1" Type="http://schemas.openxmlformats.org/officeDocument/2006/relationships/image" Target="../media/image72.png"/></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116.xml"/><Relationship Id="rId2" Type="http://schemas.openxmlformats.org/officeDocument/2006/relationships/slideLayout" Target="../slideLayouts/slideLayout8.xml"/><Relationship Id="rId1" Type="http://schemas.openxmlformats.org/officeDocument/2006/relationships/tags" Target="../tags/tag115.xml"/></Relationships>
</file>

<file path=ppt/slides/_rels/slide117.xml.rels><?xml version="1.0" encoding="UTF-8" standalone="yes"?>
<Relationships xmlns="http://schemas.openxmlformats.org/package/2006/relationships"><Relationship Id="rId4" Type="http://schemas.openxmlformats.org/officeDocument/2006/relationships/notesSlide" Target="../notesSlides/notesSlide117.xml"/><Relationship Id="rId3" Type="http://schemas.openxmlformats.org/officeDocument/2006/relationships/slideLayout" Target="../slideLayouts/slideLayout8.xml"/><Relationship Id="rId2" Type="http://schemas.openxmlformats.org/officeDocument/2006/relationships/tags" Target="../tags/tag116.xml"/><Relationship Id="rId1" Type="http://schemas.openxmlformats.org/officeDocument/2006/relationships/image" Target="../media/image73.png"/></Relationships>
</file>

<file path=ppt/slides/_rels/slide118.xml.rels><?xml version="1.0" encoding="UTF-8" standalone="yes"?>
<Relationships xmlns="http://schemas.openxmlformats.org/package/2006/relationships"><Relationship Id="rId4" Type="http://schemas.openxmlformats.org/officeDocument/2006/relationships/notesSlide" Target="../notesSlides/notesSlide118.xml"/><Relationship Id="rId3" Type="http://schemas.openxmlformats.org/officeDocument/2006/relationships/slideLayout" Target="../slideLayouts/slideLayout8.xml"/><Relationship Id="rId2" Type="http://schemas.openxmlformats.org/officeDocument/2006/relationships/tags" Target="../tags/tag117.xml"/><Relationship Id="rId1" Type="http://schemas.openxmlformats.org/officeDocument/2006/relationships/image" Target="../media/image70.png"/></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119.xml"/><Relationship Id="rId2" Type="http://schemas.openxmlformats.org/officeDocument/2006/relationships/slideLayout" Target="../slideLayouts/slideLayout8.xml"/><Relationship Id="rId1" Type="http://schemas.openxmlformats.org/officeDocument/2006/relationships/tags" Target="../tags/tag118.xml"/></Relationships>
</file>

<file path=ppt/slides/_rels/slide120.xml.rels><?xml version="1.0" encoding="UTF-8" standalone="yes"?>
<Relationships xmlns="http://schemas.openxmlformats.org/package/2006/relationships"><Relationship Id="rId4" Type="http://schemas.openxmlformats.org/officeDocument/2006/relationships/notesSlide" Target="../notesSlides/notesSlide120.xml"/><Relationship Id="rId3" Type="http://schemas.openxmlformats.org/officeDocument/2006/relationships/slideLayout" Target="../slideLayouts/slideLayout8.xml"/><Relationship Id="rId2" Type="http://schemas.openxmlformats.org/officeDocument/2006/relationships/tags" Target="../tags/tag119.xml"/><Relationship Id="rId1" Type="http://schemas.openxmlformats.org/officeDocument/2006/relationships/image" Target="../media/image74.png"/></Relationships>
</file>

<file path=ppt/slides/_rels/slide121.xml.rels><?xml version="1.0" encoding="UTF-8" standalone="yes"?>
<Relationships xmlns="http://schemas.openxmlformats.org/package/2006/relationships"><Relationship Id="rId4" Type="http://schemas.openxmlformats.org/officeDocument/2006/relationships/notesSlide" Target="../notesSlides/notesSlide121.xml"/><Relationship Id="rId3" Type="http://schemas.openxmlformats.org/officeDocument/2006/relationships/slideLayout" Target="../slideLayouts/slideLayout8.xml"/><Relationship Id="rId2" Type="http://schemas.openxmlformats.org/officeDocument/2006/relationships/tags" Target="../tags/tag120.xml"/><Relationship Id="rId1" Type="http://schemas.openxmlformats.org/officeDocument/2006/relationships/image" Target="../media/image74.png"/></Relationships>
</file>

<file path=ppt/slides/_rels/slide122.xml.rels><?xml version="1.0" encoding="UTF-8" standalone="yes"?>
<Relationships xmlns="http://schemas.openxmlformats.org/package/2006/relationships"><Relationship Id="rId4" Type="http://schemas.openxmlformats.org/officeDocument/2006/relationships/notesSlide" Target="../notesSlides/notesSlide122.xml"/><Relationship Id="rId3" Type="http://schemas.openxmlformats.org/officeDocument/2006/relationships/slideLayout" Target="../slideLayouts/slideLayout9.xml"/><Relationship Id="rId2" Type="http://schemas.openxmlformats.org/officeDocument/2006/relationships/tags" Target="../tags/tag121.xml"/><Relationship Id="rId1" Type="http://schemas.openxmlformats.org/officeDocument/2006/relationships/image" Target="../media/image75.png"/></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123.xml"/><Relationship Id="rId2" Type="http://schemas.openxmlformats.org/officeDocument/2006/relationships/slideLayout" Target="../slideLayouts/slideLayout7.xml"/><Relationship Id="rId1" Type="http://schemas.openxmlformats.org/officeDocument/2006/relationships/tags" Target="../tags/tag1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ctrTitle"/>
          </p:nvPr>
        </p:nvSpPr>
        <p:spPr>
          <a:xfrm>
            <a:off x="1524000" y="1596979"/>
            <a:ext cx="9473852" cy="1912983"/>
          </a:xfrm>
        </p:spPr>
        <p:txBody>
          <a:bodyPr/>
          <a:lstStyle/>
          <a:p>
            <a:r>
              <a:rPr lang="zh-CN" altLang="en-US" b="1" dirty="0">
                <a:latin typeface="方正细倩简体"/>
                <a:ea typeface="方正细倩简体"/>
                <a:cs typeface="方正细倩简体"/>
              </a:rPr>
              <a:t>第</a:t>
            </a:r>
            <a:r>
              <a:rPr lang="en-US" altLang="zh-CN" b="1" dirty="0">
                <a:latin typeface="方正细倩简体"/>
                <a:ea typeface="方正细倩简体"/>
                <a:cs typeface="方正细倩简体"/>
              </a:rPr>
              <a:t>5</a:t>
            </a:r>
            <a:r>
              <a:rPr lang="zh-CN" altLang="en-US" b="1" dirty="0">
                <a:latin typeface="方正细倩简体"/>
                <a:ea typeface="方正细倩简体"/>
                <a:cs typeface="方正细倩简体"/>
              </a:rPr>
              <a:t>章  集合</a:t>
            </a:r>
            <a:endParaRPr lang="zh-CN" altLang="zh-CN" b="1" dirty="0">
              <a:solidFill>
                <a:srgbClr val="000000"/>
              </a:solidFill>
            </a:endParaRPr>
          </a:p>
        </p:txBody>
      </p:sp>
      <p:pic>
        <p:nvPicPr>
          <p:cNvPr id="26829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19213" y="4980313"/>
            <a:ext cx="2429827" cy="1456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6"/>
          <p:cNvSpPr/>
          <p:nvPr/>
        </p:nvSpPr>
        <p:spPr>
          <a:xfrm>
            <a:off x="5019039" y="5010793"/>
            <a:ext cx="2316481" cy="1338828"/>
          </a:xfrm>
          <a:prstGeom prst="rect">
            <a:avLst/>
          </a:prstGeom>
        </p:spPr>
        <p:txBody>
          <a:bodyPr wrap="square">
            <a:spAutoFit/>
          </a:bodyPr>
          <a:lstStyle/>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Collection</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接口</a:t>
            </a:r>
            <a:endPar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List</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接口</a:t>
            </a:r>
            <a:endPar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Set</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接口</a:t>
            </a:r>
            <a:endPar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矩形 7"/>
          <p:cNvSpPr/>
          <p:nvPr/>
        </p:nvSpPr>
        <p:spPr>
          <a:xfrm>
            <a:off x="7861331" y="5010793"/>
            <a:ext cx="2217389" cy="1337945"/>
          </a:xfrm>
          <a:prstGeom prst="rect">
            <a:avLst/>
          </a:prstGeom>
        </p:spPr>
        <p:txBody>
          <a:bodyPr wrap="square">
            <a:spAutoFit/>
          </a:bodyPr>
          <a:lstStyle/>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Map</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接口</a:t>
            </a:r>
            <a:endPar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泛型</a:t>
            </a:r>
            <a:endPar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pPr>
              <a:lnSpc>
                <a:spcPct val="150000"/>
              </a:lnSpc>
              <a:buFont typeface="Arial" panose="020B0604020202020204" pitchFamily="34" charset="0"/>
              <a:buNone/>
              <a:defRPr/>
            </a:pPr>
            <a:r>
              <a:rPr lang="en-US" altLang="zh-CN"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b="1" dirty="0">
                <a:solidFill>
                  <a:schemeClr val="accent1">
                    <a:lumMod val="75000"/>
                  </a:schemeClr>
                </a:solidFill>
                <a:latin typeface="微软雅黑" panose="020B0503020204020204" pitchFamily="34" charset="-122"/>
                <a:ea typeface="微软雅黑" panose="020B0503020204020204" pitchFamily="34" charset="-122"/>
                <a:sym typeface="微软雅黑" panose="020B0503020204020204" pitchFamily="34" charset="-122"/>
              </a:rPr>
              <a:t>Lambda表达式</a:t>
            </a:r>
            <a:endParaRPr lang="en-US" altLang="zh-CN" b="1" dirty="0">
              <a:solidFill>
                <a:srgbClr val="7030A0"/>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356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5.6.1 </a:t>
            </a:r>
            <a:r>
              <a:rPr lang="zh-CN" altLang="en-US" sz="3200" b="1" dirty="0">
                <a:solidFill>
                  <a:srgbClr val="1353A2"/>
                </a:solidFill>
                <a:latin typeface="微软雅黑" panose="020B0503020204020204" pitchFamily="34" charset="-122"/>
                <a:ea typeface="微软雅黑" panose="020B0503020204020204" pitchFamily="34" charset="-122"/>
              </a:rPr>
              <a:t>集合概述</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6096000" y="1814512"/>
            <a:ext cx="5090160" cy="34036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为了在程序中可以保存数目不确定的对象，</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提供了一系列特殊的类，这些类可以存储任意类型的对象，并且长度可变，这些类被统称为</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集合</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。集合类都位于</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包中，使用时必须导包。</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3" name="组合 2"/>
          <p:cNvGrpSpPr/>
          <p:nvPr/>
        </p:nvGrpSpPr>
        <p:grpSpPr>
          <a:xfrm>
            <a:off x="2153336" y="1706562"/>
            <a:ext cx="3140075" cy="3619500"/>
            <a:chOff x="2006283" y="1619250"/>
            <a:chExt cx="3140075" cy="3619500"/>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06283" y="1619250"/>
              <a:ext cx="3140075" cy="361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内容占位符 2"/>
            <p:cNvSpPr txBox="1"/>
            <p:nvPr/>
          </p:nvSpPr>
          <p:spPr>
            <a:xfrm rot="21179645">
              <a:off x="2681838" y="1887059"/>
              <a:ext cx="1001668" cy="58477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集</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合</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文本占位符 3"/>
          <p:cNvSpPr>
            <a:spLocks noGrp="1"/>
          </p:cNvSpPr>
          <p:nvPr>
            <p:ph type="body" sz="quarter" idx="10"/>
          </p:nvPr>
        </p:nvSpPr>
        <p:spPr/>
        <p:txBody>
          <a:bodyPr/>
          <a:lstStyle/>
          <a:p>
            <a:fld id="{FD701F93-B03D-4DC8-80B4-C4A3A3A4BE50}"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356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5.6.1 </a:t>
            </a:r>
            <a:r>
              <a:rPr lang="zh-CN" altLang="en-US" sz="3200" b="1" dirty="0">
                <a:solidFill>
                  <a:srgbClr val="1353A2"/>
                </a:solidFill>
                <a:latin typeface="微软雅黑" panose="020B0503020204020204" pitchFamily="34" charset="-122"/>
                <a:ea typeface="微软雅黑" panose="020B0503020204020204" pitchFamily="34" charset="-122"/>
              </a:rPr>
              <a:t>集合概述</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615440" y="1554480"/>
            <a:ext cx="9926320" cy="392779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集合按照其存储结构可以分为两大类，单列集合</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Collection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和双列集合</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，这两种集合的特点具体如下：</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Collection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：单列集合类的根接口，用于存储一系列符合某种规则的元素，它有两个重要的子接口，分别是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。其中，</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的特点是元素有序、元素可重复。</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的特点是元素无序，而且不可重复。</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接口的主要实现类有</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LinkedList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接口的主要实现类有</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TreeSet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文本占位符 2"/>
          <p:cNvSpPr>
            <a:spLocks noGrp="1"/>
          </p:cNvSpPr>
          <p:nvPr>
            <p:ph type="body" sz="quarter" idx="10"/>
          </p:nvPr>
        </p:nvSpPr>
        <p:spPr/>
        <p:txBody>
          <a:bodyPr/>
          <a:lstStyle/>
          <a:p>
            <a:fld id="{BF1462F2-3D1F-4C7A-809D-A0410A9270BC}"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356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5.6.1 </a:t>
            </a:r>
            <a:r>
              <a:rPr lang="zh-CN" altLang="en-US" sz="3200" b="1" dirty="0">
                <a:solidFill>
                  <a:srgbClr val="1353A2"/>
                </a:solidFill>
                <a:latin typeface="微软雅黑" panose="020B0503020204020204" pitchFamily="34" charset="-122"/>
                <a:ea typeface="微软雅黑" panose="020B0503020204020204" pitchFamily="34" charset="-122"/>
              </a:rPr>
              <a:t>集合概述</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452880" y="1838960"/>
            <a:ext cx="9926320" cy="31191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2400" dirty="0">
                <a:solidFill>
                  <a:schemeClr val="bg1">
                    <a:lumMod val="50000"/>
                  </a:schemeClr>
                </a:solidFill>
                <a:latin typeface="Lucida Sans Unicode" panose="020B0602030504020204"/>
                <a:ea typeface="微软雅黑" panose="020B0503020204020204" pitchFamily="34" charset="-122"/>
                <a:cs typeface="Lucida Sans Unicode" panose="020B0602030504020204"/>
              </a:rPr>
              <a:t>●  </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：双列集合类的根接口，用于存储具有键</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、值</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(Value)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映射关系的元素，每个元素都包含一对键值，其中键值不可重复并且每个键最多只能映射到一个值，在使用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集合时可以通过指定的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找到对应的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Value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。例如，根据一个学生的学号就可以找到对应的学生。</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接口的主要实现类有</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TreeMap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文本占位符 2"/>
          <p:cNvSpPr>
            <a:spLocks noGrp="1"/>
          </p:cNvSpPr>
          <p:nvPr>
            <p:ph type="body" sz="quarter" idx="10"/>
          </p:nvPr>
        </p:nvSpPr>
        <p:spPr/>
        <p:txBody>
          <a:bodyPr/>
          <a:lstStyle/>
          <a:p>
            <a:fld id="{F9F1BD9E-F2CC-4DD3-B7CE-AE7379962C8C}"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356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5.6.1 </a:t>
            </a:r>
            <a:r>
              <a:rPr lang="zh-CN" altLang="en-US" sz="3200" b="1" dirty="0">
                <a:solidFill>
                  <a:srgbClr val="1353A2"/>
                </a:solidFill>
                <a:latin typeface="微软雅黑" panose="020B0503020204020204" pitchFamily="34" charset="-122"/>
                <a:ea typeface="微软雅黑" panose="020B0503020204020204" pitchFamily="34" charset="-122"/>
              </a:rPr>
              <a:t>集合概述</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1362183" y="1295077"/>
            <a:ext cx="9926320" cy="762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整个集合类的继承体系</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如下图。</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4" name="对象 3"/>
          <p:cNvGraphicFramePr>
            <a:graphicFrameLocks noChangeAspect="1"/>
          </p:cNvGraphicFramePr>
          <p:nvPr/>
        </p:nvGraphicFramePr>
        <p:xfrm>
          <a:off x="1667830" y="2265680"/>
          <a:ext cx="9528490" cy="3373120"/>
        </p:xfrm>
        <a:graphic>
          <a:graphicData uri="http://schemas.openxmlformats.org/presentationml/2006/ole">
            <mc:AlternateContent xmlns:mc="http://schemas.openxmlformats.org/markup-compatibility/2006">
              <mc:Choice xmlns:v="urn:schemas-microsoft-com:vml" Requires="v">
                <p:oleObj spid="_x0000_s1038" name="Visio" r:id="rId1" imgW="10947400" imgH="3886200" progId="Visio.Drawing.11">
                  <p:embed/>
                </p:oleObj>
              </mc:Choice>
              <mc:Fallback>
                <p:oleObj name="Visio" r:id="rId1" imgW="10947400" imgH="3886200" progId="Visio.Drawing.11">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7830" y="2265680"/>
                        <a:ext cx="9528490" cy="3373120"/>
                      </a:xfrm>
                      <a:prstGeom prst="rect">
                        <a:avLst/>
                      </a:prstGeom>
                      <a:noFill/>
                    </p:spPr>
                  </p:pic>
                </p:oleObj>
              </mc:Fallback>
            </mc:AlternateContent>
          </a:graphicData>
        </a:graphic>
      </p:graphicFrame>
      <p:sp>
        <p:nvSpPr>
          <p:cNvPr id="5" name="文本占位符 4"/>
          <p:cNvSpPr>
            <a:spLocks noGrp="1"/>
          </p:cNvSpPr>
          <p:nvPr>
            <p:ph type="body" sz="quarter" idx="10"/>
          </p:nvPr>
        </p:nvSpPr>
        <p:spPr/>
        <p:txBody>
          <a:bodyPr/>
          <a:lstStyle/>
          <a:p>
            <a:fld id="{36A4590B-7A4B-48AB-B602-BEA59B8D0737}" type="slidenum">
              <a:rPr lang="zh-CN" altLang="en-US" smtClean="0"/>
            </a:fld>
            <a:endParaRPr lang="zh-CN" altLang="en-US" dirty="0"/>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356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5.6.2 Collection</a:t>
            </a:r>
            <a:r>
              <a:rPr lang="zh-CN" altLang="en-US" sz="3200" b="1" dirty="0">
                <a:solidFill>
                  <a:srgbClr val="1353A2"/>
                </a:solidFill>
                <a:latin typeface="微软雅黑" panose="020B0503020204020204" pitchFamily="34" charset="-122"/>
                <a:ea typeface="微软雅黑" panose="020B0503020204020204" pitchFamily="34" charset="-122"/>
              </a:rPr>
              <a:t>接口</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6024880" y="2064703"/>
            <a:ext cx="4765040" cy="31699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Collection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是所有单列集合的父接口，它定义了单列集合</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通用的一些方法，这些方法可用于操作所有的单列集合。</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Collection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接口的常用如</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5121"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28240" y="1676400"/>
            <a:ext cx="2435859" cy="4193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占位符 3"/>
          <p:cNvSpPr>
            <a:spLocks noGrp="1"/>
          </p:cNvSpPr>
          <p:nvPr>
            <p:ph type="body" sz="quarter" idx="10"/>
          </p:nvPr>
        </p:nvSpPr>
        <p:spPr/>
        <p:txBody>
          <a:bodyPr/>
          <a:lstStyle/>
          <a:p>
            <a:fld id="{D58A1081-4310-4E9A-B9B3-74A63E640646}"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121"/>
                                        </p:tgtEl>
                                        <p:attrNameLst>
                                          <p:attrName>style.visibility</p:attrName>
                                        </p:attrNameLst>
                                      </p:cBhvr>
                                      <p:to>
                                        <p:strVal val="visible"/>
                                      </p:to>
                                    </p:set>
                                    <p:animEffect transition="in" filter="fade">
                                      <p:cBhvr>
                                        <p:cTn id="7" dur="500"/>
                                        <p:tgtEl>
                                          <p:spTgt spid="5121"/>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up)">
                                      <p:cBhvr>
                                        <p:cTn id="1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356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5.6.2 Collection</a:t>
            </a:r>
            <a:r>
              <a:rPr lang="zh-CN" altLang="en-US" sz="3200" b="1" dirty="0">
                <a:solidFill>
                  <a:srgbClr val="1353A2"/>
                </a:solidFill>
                <a:latin typeface="微软雅黑" panose="020B0503020204020204" pitchFamily="34" charset="-122"/>
                <a:ea typeface="微软雅黑" panose="020B0503020204020204" pitchFamily="34" charset="-122"/>
              </a:rPr>
              <a:t>接口</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5" name="表格 4"/>
          <p:cNvGraphicFramePr>
            <a:graphicFrameLocks noGrp="1"/>
          </p:cNvGraphicFramePr>
          <p:nvPr/>
        </p:nvGraphicFramePr>
        <p:xfrm>
          <a:off x="1524000" y="1402081"/>
          <a:ext cx="9824720" cy="5051432"/>
        </p:xfrm>
        <a:graphic>
          <a:graphicData uri="http://schemas.openxmlformats.org/drawingml/2006/table">
            <a:tbl>
              <a:tblPr firstRow="1" firstCol="1" bandRow="1">
                <a:tableStyleId>{5C22544A-7EE6-4342-B048-85BDC9FD1C3A}</a:tableStyleId>
              </a:tblPr>
              <a:tblGrid>
                <a:gridCol w="4003040"/>
                <a:gridCol w="5821680"/>
              </a:tblGrid>
              <a:tr h="268251">
                <a:tc>
                  <a:txBody>
                    <a:bodyPr/>
                    <a:lstStyle/>
                    <a:p>
                      <a:pPr algn="ctr">
                        <a:spcAft>
                          <a:spcPts val="0"/>
                        </a:spcAft>
                      </a:pPr>
                      <a:r>
                        <a:rPr lang="zh-CN" sz="1800" kern="100" dirty="0">
                          <a:effectLst/>
                        </a:rPr>
                        <a:t>方法声明</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ctr">
                        <a:spcAft>
                          <a:spcPts val="0"/>
                        </a:spcAft>
                      </a:pPr>
                      <a:r>
                        <a:rPr lang="zh-CN" sz="1800" kern="100">
                          <a:effectLst/>
                        </a:rPr>
                        <a:t>功能描述</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r>
              <a:tr h="469580">
                <a:tc>
                  <a:txBody>
                    <a:bodyPr/>
                    <a:lstStyle/>
                    <a:p>
                      <a:pPr algn="l">
                        <a:spcAft>
                          <a:spcPts val="0"/>
                        </a:spcAft>
                      </a:pPr>
                      <a:r>
                        <a:rPr lang="en-US" sz="1800" kern="100" dirty="0" err="1">
                          <a:effectLst/>
                        </a:rPr>
                        <a:t>boolean</a:t>
                      </a:r>
                      <a:r>
                        <a:rPr lang="en-US" sz="1800" kern="100" dirty="0">
                          <a:effectLst/>
                        </a:rPr>
                        <a:t> add(Object o)</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800" kern="100" dirty="0">
                          <a:effectLst/>
                        </a:rPr>
                        <a:t>向集合中添加一个元素</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r h="472392">
                <a:tc>
                  <a:txBody>
                    <a:bodyPr/>
                    <a:lstStyle/>
                    <a:p>
                      <a:pPr algn="l">
                        <a:spcAft>
                          <a:spcPts val="0"/>
                        </a:spcAft>
                      </a:pPr>
                      <a:r>
                        <a:rPr lang="en-US" sz="1800" kern="100">
                          <a:effectLst/>
                        </a:rPr>
                        <a:t>boolean addAll(Collection c)</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800" kern="100" dirty="0">
                          <a:effectLst/>
                        </a:rPr>
                        <a:t>将指定</a:t>
                      </a:r>
                      <a:r>
                        <a:rPr lang="en-US" sz="1800" kern="100" dirty="0">
                          <a:effectLst/>
                        </a:rPr>
                        <a:t>Collection</a:t>
                      </a:r>
                      <a:r>
                        <a:rPr lang="zh-CN" sz="1800" kern="100" dirty="0">
                          <a:effectLst/>
                        </a:rPr>
                        <a:t>中的所有元素添加到该集合中</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r h="455521">
                <a:tc>
                  <a:txBody>
                    <a:bodyPr/>
                    <a:lstStyle/>
                    <a:p>
                      <a:pPr algn="l">
                        <a:spcAft>
                          <a:spcPts val="0"/>
                        </a:spcAft>
                      </a:pPr>
                      <a:r>
                        <a:rPr lang="en-US" sz="1800" kern="100">
                          <a:effectLst/>
                        </a:rPr>
                        <a:t>void clear()</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800" kern="100" dirty="0">
                          <a:effectLst/>
                        </a:rPr>
                        <a:t>删除该集合中的所有元素</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r h="438650">
                <a:tc>
                  <a:txBody>
                    <a:bodyPr/>
                    <a:lstStyle/>
                    <a:p>
                      <a:pPr algn="l">
                        <a:spcAft>
                          <a:spcPts val="0"/>
                        </a:spcAft>
                      </a:pPr>
                      <a:r>
                        <a:rPr lang="en-US" sz="1800" kern="100" dirty="0" err="1">
                          <a:effectLst/>
                        </a:rPr>
                        <a:t>boolean</a:t>
                      </a:r>
                      <a:r>
                        <a:rPr lang="en-US" sz="1800" kern="100" dirty="0">
                          <a:effectLst/>
                        </a:rPr>
                        <a:t> remove(Object o)</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800" kern="100" dirty="0">
                          <a:effectLst/>
                        </a:rPr>
                        <a:t>删除该集合中指定的元素</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r h="472392">
                <a:tc>
                  <a:txBody>
                    <a:bodyPr/>
                    <a:lstStyle/>
                    <a:p>
                      <a:pPr algn="l">
                        <a:spcAft>
                          <a:spcPts val="0"/>
                        </a:spcAft>
                      </a:pPr>
                      <a:r>
                        <a:rPr lang="en-US" sz="1800" kern="100">
                          <a:effectLst/>
                        </a:rPr>
                        <a:t>boolean removeAll(Collection c)</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800" kern="100" dirty="0">
                          <a:effectLst/>
                        </a:rPr>
                        <a:t>删除指定集合中的所有元素</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r h="472393">
                <a:tc>
                  <a:txBody>
                    <a:bodyPr/>
                    <a:lstStyle/>
                    <a:p>
                      <a:pPr algn="l">
                        <a:spcAft>
                          <a:spcPts val="0"/>
                        </a:spcAft>
                      </a:pPr>
                      <a:r>
                        <a:rPr lang="en-US" sz="1800" kern="100" dirty="0" err="1">
                          <a:effectLst/>
                        </a:rPr>
                        <a:t>boolean</a:t>
                      </a:r>
                      <a:r>
                        <a:rPr lang="en-US" sz="1800" kern="100" dirty="0">
                          <a:effectLst/>
                        </a:rPr>
                        <a:t> </a:t>
                      </a:r>
                      <a:r>
                        <a:rPr lang="en-US" sz="1800" kern="100" dirty="0" err="1">
                          <a:effectLst/>
                        </a:rPr>
                        <a:t>isEmpty</a:t>
                      </a:r>
                      <a:r>
                        <a:rPr lang="en-US" sz="1800" kern="100" dirty="0">
                          <a:effectLst/>
                        </a:rPr>
                        <a:t>()</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800" kern="100" dirty="0">
                          <a:effectLst/>
                        </a:rPr>
                        <a:t>判断该集合是否为空</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r h="447085">
                <a:tc>
                  <a:txBody>
                    <a:bodyPr/>
                    <a:lstStyle/>
                    <a:p>
                      <a:pPr algn="l">
                        <a:spcAft>
                          <a:spcPts val="0"/>
                        </a:spcAft>
                      </a:pPr>
                      <a:r>
                        <a:rPr lang="en-US" sz="1800" kern="100">
                          <a:effectLst/>
                        </a:rPr>
                        <a:t>boolean contains(Object o)</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800" kern="100" dirty="0">
                          <a:effectLst/>
                        </a:rPr>
                        <a:t>判断该集合中是否包含某个元素</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r h="463956">
                <a:tc>
                  <a:txBody>
                    <a:bodyPr/>
                    <a:lstStyle/>
                    <a:p>
                      <a:pPr algn="l">
                        <a:spcAft>
                          <a:spcPts val="0"/>
                        </a:spcAft>
                      </a:pPr>
                      <a:r>
                        <a:rPr lang="en-US" sz="1800" kern="100" dirty="0" err="1">
                          <a:effectLst/>
                        </a:rPr>
                        <a:t>boolean</a:t>
                      </a:r>
                      <a:r>
                        <a:rPr lang="en-US" sz="1800" kern="100" dirty="0">
                          <a:effectLst/>
                        </a:rPr>
                        <a:t> </a:t>
                      </a:r>
                      <a:r>
                        <a:rPr lang="en-US" sz="1800" kern="100" dirty="0" err="1">
                          <a:effectLst/>
                        </a:rPr>
                        <a:t>containsAll</a:t>
                      </a:r>
                      <a:r>
                        <a:rPr lang="en-US" sz="1800" kern="100" dirty="0">
                          <a:effectLst/>
                        </a:rPr>
                        <a:t>(Collection c)</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800" kern="100" dirty="0">
                          <a:effectLst/>
                        </a:rPr>
                        <a:t>判断该集合中是否包含指定集合中的所有元素</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r h="536503">
                <a:tc>
                  <a:txBody>
                    <a:bodyPr/>
                    <a:lstStyle/>
                    <a:p>
                      <a:pPr algn="l">
                        <a:spcAft>
                          <a:spcPts val="0"/>
                        </a:spcAft>
                      </a:pPr>
                      <a:r>
                        <a:rPr lang="en-US" sz="1800" kern="100">
                          <a:effectLst/>
                        </a:rPr>
                        <a:t>Iterator iterator()</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l">
                        <a:spcAft>
                          <a:spcPts val="0"/>
                        </a:spcAft>
                      </a:pPr>
                      <a:r>
                        <a:rPr lang="zh-CN" sz="1800" kern="100" dirty="0">
                          <a:effectLst/>
                        </a:rPr>
                        <a:t>返回在该集合的元素上进行迭代的迭代器</a:t>
                      </a:r>
                      <a:r>
                        <a:rPr lang="en-US" sz="1800" kern="100" dirty="0">
                          <a:effectLst/>
                        </a:rPr>
                        <a:t>(Iterator)</a:t>
                      </a:r>
                      <a:r>
                        <a:rPr lang="zh-CN" sz="1800" kern="100" dirty="0">
                          <a:effectLst/>
                        </a:rPr>
                        <a:t>，用于遍历该集合所有元素</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r h="536503">
                <a:tc>
                  <a:txBody>
                    <a:bodyPr/>
                    <a:lstStyle/>
                    <a:p>
                      <a:pPr algn="l">
                        <a:spcAft>
                          <a:spcPts val="0"/>
                        </a:spcAft>
                      </a:pPr>
                      <a:r>
                        <a:rPr lang="en-US" sz="1800" kern="100">
                          <a:effectLst/>
                        </a:rPr>
                        <a:t>int size()</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800" kern="100" dirty="0">
                          <a:effectLst/>
                        </a:rPr>
                        <a:t>获取该集合元素个数</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bl>
          </a:graphicData>
        </a:graphic>
      </p:graphicFrame>
      <p:sp>
        <p:nvSpPr>
          <p:cNvPr id="4" name="文本占位符 3"/>
          <p:cNvSpPr>
            <a:spLocks noGrp="1"/>
          </p:cNvSpPr>
          <p:nvPr>
            <p:ph type="body" sz="quarter" idx="10"/>
          </p:nvPr>
        </p:nvSpPr>
        <p:spPr/>
        <p:txBody>
          <a:bodyPr/>
          <a:lstStyle/>
          <a:p>
            <a:fld id="{14C587D3-C45F-497C-8E15-2A4B5CA1BE37}"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356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rPr>
              <a:t>5.6.3 List</a:t>
            </a:r>
            <a:r>
              <a:rPr lang="zh-CN" altLang="en-US" sz="3200" b="1" dirty="0">
                <a:solidFill>
                  <a:srgbClr val="1353A2"/>
                </a:solidFill>
                <a:latin typeface="微软雅黑" panose="020B0503020204020204" pitchFamily="34" charset="-122"/>
                <a:ea typeface="微软雅黑" panose="020B0503020204020204" pitchFamily="34" charset="-122"/>
              </a:rPr>
              <a:t>接口简介</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2082800" y="1483360"/>
            <a:ext cx="5394960" cy="4114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接口继承自</a:t>
            </a:r>
            <a:r>
              <a:rPr lang="en-US" altLang="zh-CN" sz="2400" dirty="0">
                <a:solidFill>
                  <a:srgbClr val="1353A2"/>
                </a:solidFill>
                <a:latin typeface="微软雅黑" panose="020B0503020204020204" pitchFamily="34" charset="-122"/>
                <a:ea typeface="微软雅黑" panose="020B0503020204020204" pitchFamily="34" charset="-122"/>
                <a:cs typeface="Times New Roman" panose="02020603050405020304" pitchFamily="18" charset="0"/>
              </a:rPr>
              <a:t>Collection</a:t>
            </a:r>
            <a:r>
              <a:rPr lang="zh-CN" altLang="zh-CN" sz="2400" dirty="0">
                <a:solidFill>
                  <a:srgbClr val="1353A2"/>
                </a:solidFill>
                <a:latin typeface="微软雅黑" panose="020B0503020204020204" pitchFamily="34" charset="-122"/>
                <a:ea typeface="微软雅黑" panose="020B0503020204020204" pitchFamily="34" charset="-122"/>
                <a:cs typeface="Times New Roman" panose="02020603050405020304" pitchFamily="18" charset="0"/>
              </a:rPr>
              <a:t>接口</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，是单列集合的一个重要分支。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集合允许出现</a:t>
            </a:r>
            <a:r>
              <a:rPr lang="zh-CN" altLang="zh-CN" sz="2400" dirty="0">
                <a:solidFill>
                  <a:srgbClr val="1353A2"/>
                </a:solidFill>
                <a:latin typeface="微软雅黑" panose="020B0503020204020204" pitchFamily="34" charset="-122"/>
                <a:ea typeface="微软雅黑" panose="020B0503020204020204" pitchFamily="34" charset="-122"/>
                <a:cs typeface="Times New Roman" panose="02020603050405020304" pitchFamily="18" charset="0"/>
              </a:rPr>
              <a:t>重复的元素</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，所有的元素是以一种线性方式进行存储的，在程序中可以通过索引访问</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集合中的指定元素。另外，</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集合还有一个特点就是元素有序，即元素的</a:t>
            </a:r>
            <a:r>
              <a:rPr lang="zh-CN" altLang="zh-CN" sz="2400" dirty="0">
                <a:solidFill>
                  <a:srgbClr val="1353A2"/>
                </a:solidFill>
                <a:latin typeface="微软雅黑" panose="020B0503020204020204" pitchFamily="34" charset="-122"/>
                <a:ea typeface="微软雅黑" panose="020B0503020204020204" pitchFamily="34" charset="-122"/>
                <a:cs typeface="Times New Roman" panose="02020603050405020304" pitchFamily="18" charset="0"/>
              </a:rPr>
              <a:t>存入顺序和取出顺序</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一致。</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89265" y="1643380"/>
            <a:ext cx="3001963"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占位符 3"/>
          <p:cNvSpPr>
            <a:spLocks noGrp="1"/>
          </p:cNvSpPr>
          <p:nvPr>
            <p:ph type="body" sz="quarter" idx="10"/>
          </p:nvPr>
        </p:nvSpPr>
        <p:spPr/>
        <p:txBody>
          <a:bodyPr/>
          <a:lstStyle/>
          <a:p>
            <a:fld id="{F21D430B-22B3-4D74-9BD8-671B4212986A}"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par>
                                <p:cTn id="8" presetID="42" presetClass="entr" presetSubtype="0" fill="hold" nodeType="withEffect">
                                  <p:stCondLst>
                                    <p:cond delay="0"/>
                                  </p:stCondLst>
                                  <p:childTnLst>
                                    <p:set>
                                      <p:cBhvr>
                                        <p:cTn id="9" dur="1" fill="hold">
                                          <p:stCondLst>
                                            <p:cond delay="0"/>
                                          </p:stCondLst>
                                        </p:cTn>
                                        <p:tgtEl>
                                          <p:spTgt spid="6146"/>
                                        </p:tgtEl>
                                        <p:attrNameLst>
                                          <p:attrName>style.visibility</p:attrName>
                                        </p:attrNameLst>
                                      </p:cBhvr>
                                      <p:to>
                                        <p:strVal val="visible"/>
                                      </p:to>
                                    </p:set>
                                    <p:animEffect transition="in" filter="fade">
                                      <p:cBhvr>
                                        <p:cTn id="10" dur="1000"/>
                                        <p:tgtEl>
                                          <p:spTgt spid="6146"/>
                                        </p:tgtEl>
                                      </p:cBhvr>
                                    </p:animEffect>
                                    <p:anim calcmode="lin" valueType="num">
                                      <p:cBhvr>
                                        <p:cTn id="11" dur="1000" fill="hold"/>
                                        <p:tgtEl>
                                          <p:spTgt spid="6146"/>
                                        </p:tgtEl>
                                        <p:attrNameLst>
                                          <p:attrName>ppt_x</p:attrName>
                                        </p:attrNameLst>
                                      </p:cBhvr>
                                      <p:tavLst>
                                        <p:tav tm="0">
                                          <p:val>
                                            <p:strVal val="#ppt_x"/>
                                          </p:val>
                                        </p:tav>
                                        <p:tav tm="100000">
                                          <p:val>
                                            <p:strVal val="#ppt_x"/>
                                          </p:val>
                                        </p:tav>
                                      </p:tavLst>
                                    </p:anim>
                                    <p:anim calcmode="lin" valueType="num">
                                      <p:cBhvr>
                                        <p:cTn id="12" dur="1000" fill="hold"/>
                                        <p:tgtEl>
                                          <p:spTgt spid="61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356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sym typeface="+mn-ea"/>
              </a:rPr>
              <a:t>5.6.3</a:t>
            </a:r>
            <a:r>
              <a:rPr lang="en-US" altLang="zh-CN" sz="3200" b="1" dirty="0">
                <a:solidFill>
                  <a:srgbClr val="1353A2"/>
                </a:solidFill>
                <a:latin typeface="微软雅黑" panose="020B0503020204020204" pitchFamily="34" charset="-122"/>
                <a:ea typeface="微软雅黑" panose="020B0503020204020204" pitchFamily="34" charset="-122"/>
              </a:rPr>
              <a:t> List</a:t>
            </a:r>
            <a:r>
              <a:rPr lang="zh-CN" altLang="en-US" sz="3200" b="1" dirty="0">
                <a:solidFill>
                  <a:srgbClr val="1353A2"/>
                </a:solidFill>
                <a:latin typeface="微软雅黑" panose="020B0503020204020204" pitchFamily="34" charset="-122"/>
                <a:ea typeface="微软雅黑" panose="020B0503020204020204" pitchFamily="34" charset="-122"/>
              </a:rPr>
              <a:t>接口简介</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5" name="内容占位符 2"/>
          <p:cNvSpPr txBox="1"/>
          <p:nvPr/>
        </p:nvSpPr>
        <p:spPr>
          <a:xfrm>
            <a:off x="5740396" y="2002010"/>
            <a:ext cx="5105402" cy="31292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作为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Collection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集合的子接口，不但继承了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Collection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接口中的全部方法，而且还增加了一些根据元素索引操作集合的特有方法</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List</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接口常用方法如下表。</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7169"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62480" y="1762442"/>
            <a:ext cx="2633978" cy="3608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占位符 3"/>
          <p:cNvSpPr>
            <a:spLocks noGrp="1"/>
          </p:cNvSpPr>
          <p:nvPr>
            <p:ph type="body" sz="quarter" idx="10"/>
          </p:nvPr>
        </p:nvSpPr>
        <p:spPr/>
        <p:txBody>
          <a:bodyPr/>
          <a:lstStyle/>
          <a:p>
            <a:fld id="{44F58667-7B0A-482D-9518-AE9BC5A36446}"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par>
                                <p:cTn id="8" presetID="42" presetClass="entr" presetSubtype="0" fill="hold" nodeType="withEffect">
                                  <p:stCondLst>
                                    <p:cond delay="0"/>
                                  </p:stCondLst>
                                  <p:childTnLst>
                                    <p:set>
                                      <p:cBhvr>
                                        <p:cTn id="9" dur="1" fill="hold">
                                          <p:stCondLst>
                                            <p:cond delay="0"/>
                                          </p:stCondLst>
                                        </p:cTn>
                                        <p:tgtEl>
                                          <p:spTgt spid="7169"/>
                                        </p:tgtEl>
                                        <p:attrNameLst>
                                          <p:attrName>style.visibility</p:attrName>
                                        </p:attrNameLst>
                                      </p:cBhvr>
                                      <p:to>
                                        <p:strVal val="visible"/>
                                      </p:to>
                                    </p:set>
                                    <p:animEffect transition="in" filter="fade">
                                      <p:cBhvr>
                                        <p:cTn id="10" dur="1000"/>
                                        <p:tgtEl>
                                          <p:spTgt spid="7169"/>
                                        </p:tgtEl>
                                      </p:cBhvr>
                                    </p:animEffect>
                                    <p:anim calcmode="lin" valueType="num">
                                      <p:cBhvr>
                                        <p:cTn id="11" dur="1000" fill="hold"/>
                                        <p:tgtEl>
                                          <p:spTgt spid="7169"/>
                                        </p:tgtEl>
                                        <p:attrNameLst>
                                          <p:attrName>ppt_x</p:attrName>
                                        </p:attrNameLst>
                                      </p:cBhvr>
                                      <p:tavLst>
                                        <p:tav tm="0">
                                          <p:val>
                                            <p:strVal val="#ppt_x"/>
                                          </p:val>
                                        </p:tav>
                                        <p:tav tm="100000">
                                          <p:val>
                                            <p:strVal val="#ppt_x"/>
                                          </p:val>
                                        </p:tav>
                                      </p:tavLst>
                                    </p:anim>
                                    <p:anim calcmode="lin" valueType="num">
                                      <p:cBhvr>
                                        <p:cTn id="12" dur="1000" fill="hold"/>
                                        <p:tgtEl>
                                          <p:spTgt spid="716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356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sym typeface="+mn-ea"/>
              </a:rPr>
              <a:t>5.6.3</a:t>
            </a:r>
            <a:r>
              <a:rPr lang="en-US" altLang="zh-CN" sz="3200" b="1" dirty="0">
                <a:solidFill>
                  <a:srgbClr val="1353A2"/>
                </a:solidFill>
                <a:latin typeface="微软雅黑" panose="020B0503020204020204" pitchFamily="34" charset="-122"/>
                <a:ea typeface="微软雅黑" panose="020B0503020204020204" pitchFamily="34" charset="-122"/>
              </a:rPr>
              <a:t> List</a:t>
            </a:r>
            <a:r>
              <a:rPr lang="zh-CN" altLang="en-US" sz="3200" b="1" dirty="0">
                <a:solidFill>
                  <a:srgbClr val="1353A2"/>
                </a:solidFill>
                <a:latin typeface="微软雅黑" panose="020B0503020204020204" pitchFamily="34" charset="-122"/>
                <a:ea typeface="微软雅黑" panose="020B0503020204020204" pitchFamily="34" charset="-122"/>
              </a:rPr>
              <a:t>接口简介</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4" name="表格 3"/>
          <p:cNvGraphicFramePr>
            <a:graphicFrameLocks noGrp="1"/>
          </p:cNvGraphicFramePr>
          <p:nvPr/>
        </p:nvGraphicFramePr>
        <p:xfrm>
          <a:off x="1501954" y="1426616"/>
          <a:ext cx="8961888" cy="4224444"/>
        </p:xfrm>
        <a:graphic>
          <a:graphicData uri="http://schemas.openxmlformats.org/drawingml/2006/table">
            <a:tbl>
              <a:tblPr firstRow="1" firstCol="1" bandRow="1">
                <a:tableStyleId>{5C22544A-7EE6-4342-B048-85BDC9FD1C3A}</a:tableStyleId>
              </a:tblPr>
              <a:tblGrid>
                <a:gridCol w="4079337"/>
                <a:gridCol w="4882551"/>
              </a:tblGrid>
              <a:tr h="323004">
                <a:tc>
                  <a:txBody>
                    <a:bodyPr/>
                    <a:lstStyle/>
                    <a:p>
                      <a:pPr algn="ctr">
                        <a:spcAft>
                          <a:spcPts val="0"/>
                        </a:spcAft>
                      </a:pPr>
                      <a:r>
                        <a:rPr lang="zh-CN" sz="1600" kern="100" dirty="0">
                          <a:effectLst/>
                        </a:rPr>
                        <a:t>方法声明</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ctr">
                        <a:spcAft>
                          <a:spcPts val="0"/>
                        </a:spcAft>
                      </a:pPr>
                      <a:r>
                        <a:rPr lang="zh-CN" sz="1600" kern="100">
                          <a:effectLst/>
                        </a:rPr>
                        <a:t>功能描述</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ctr"/>
                </a:tc>
              </a:tr>
              <a:tr h="487680">
                <a:tc>
                  <a:txBody>
                    <a:bodyPr/>
                    <a:lstStyle/>
                    <a:p>
                      <a:pPr algn="just">
                        <a:spcAft>
                          <a:spcPts val="0"/>
                        </a:spcAft>
                      </a:pPr>
                      <a:r>
                        <a:rPr lang="en-US" sz="1600" kern="100">
                          <a:effectLst/>
                        </a:rPr>
                        <a:t>void add(int index,Object element)</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600" kern="100" dirty="0">
                          <a:effectLst/>
                        </a:rPr>
                        <a:t>将元素</a:t>
                      </a:r>
                      <a:r>
                        <a:rPr lang="en-US" sz="1600" kern="100" dirty="0">
                          <a:effectLst/>
                        </a:rPr>
                        <a:t>element</a:t>
                      </a:r>
                      <a:r>
                        <a:rPr lang="zh-CN" sz="1600" kern="100" dirty="0">
                          <a:effectLst/>
                        </a:rPr>
                        <a:t>插入在</a:t>
                      </a:r>
                      <a:r>
                        <a:rPr lang="en-US" sz="1600" kern="100" dirty="0">
                          <a:effectLst/>
                        </a:rPr>
                        <a:t>List</a:t>
                      </a:r>
                      <a:r>
                        <a:rPr lang="zh-CN" sz="1600" kern="100" dirty="0">
                          <a:effectLst/>
                        </a:rPr>
                        <a:t>集合的</a:t>
                      </a:r>
                      <a:r>
                        <a:rPr lang="en-US" sz="1600" kern="100" dirty="0">
                          <a:effectLst/>
                        </a:rPr>
                        <a:t>index</a:t>
                      </a:r>
                      <a:r>
                        <a:rPr lang="zh-CN" sz="1600" kern="100" dirty="0">
                          <a:effectLst/>
                        </a:rPr>
                        <a:t>处</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r h="487680">
                <a:tc>
                  <a:txBody>
                    <a:bodyPr/>
                    <a:lstStyle/>
                    <a:p>
                      <a:pPr algn="just">
                        <a:spcAft>
                          <a:spcPts val="0"/>
                        </a:spcAft>
                      </a:pPr>
                      <a:r>
                        <a:rPr lang="en-US" sz="1600" kern="100" dirty="0" err="1">
                          <a:effectLst/>
                        </a:rPr>
                        <a:t>boolean</a:t>
                      </a:r>
                      <a:r>
                        <a:rPr lang="en-US" sz="1600" kern="100" dirty="0">
                          <a:effectLst/>
                        </a:rPr>
                        <a:t> </a:t>
                      </a:r>
                      <a:r>
                        <a:rPr lang="en-US" sz="1600" kern="100" dirty="0" err="1">
                          <a:effectLst/>
                        </a:rPr>
                        <a:t>addAll</a:t>
                      </a:r>
                      <a:r>
                        <a:rPr lang="en-US" sz="1600" kern="100" dirty="0">
                          <a:effectLst/>
                        </a:rPr>
                        <a:t>(</a:t>
                      </a:r>
                      <a:r>
                        <a:rPr lang="en-US" sz="1600" kern="100" dirty="0" err="1">
                          <a:effectLst/>
                        </a:rPr>
                        <a:t>int</a:t>
                      </a:r>
                      <a:r>
                        <a:rPr lang="en-US" sz="1600" kern="100" dirty="0">
                          <a:effectLst/>
                        </a:rPr>
                        <a:t> </a:t>
                      </a:r>
                      <a:r>
                        <a:rPr lang="en-US" sz="1600" kern="100" dirty="0" err="1">
                          <a:effectLst/>
                        </a:rPr>
                        <a:t>index,Collection</a:t>
                      </a:r>
                      <a:r>
                        <a:rPr lang="en-US" sz="1600" kern="100" dirty="0">
                          <a:effectLst/>
                        </a:rPr>
                        <a:t> c)</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600" kern="100" dirty="0">
                          <a:effectLst/>
                        </a:rPr>
                        <a:t>将集合</a:t>
                      </a:r>
                      <a:r>
                        <a:rPr lang="en-US" sz="1600" kern="100" dirty="0">
                          <a:effectLst/>
                        </a:rPr>
                        <a:t>c</a:t>
                      </a:r>
                      <a:r>
                        <a:rPr lang="zh-CN" sz="1600" kern="100" dirty="0">
                          <a:effectLst/>
                        </a:rPr>
                        <a:t>所包含的所有元素插入到</a:t>
                      </a:r>
                      <a:r>
                        <a:rPr lang="en-US" sz="1600" kern="100" dirty="0">
                          <a:effectLst/>
                        </a:rPr>
                        <a:t>List</a:t>
                      </a:r>
                      <a:r>
                        <a:rPr lang="zh-CN" sz="1600" kern="100" dirty="0">
                          <a:effectLst/>
                        </a:rPr>
                        <a:t>集合的</a:t>
                      </a:r>
                      <a:r>
                        <a:rPr lang="en-US" sz="1600" kern="100" dirty="0">
                          <a:effectLst/>
                        </a:rPr>
                        <a:t>index</a:t>
                      </a:r>
                      <a:r>
                        <a:rPr lang="zh-CN" sz="1600" kern="100" dirty="0">
                          <a:effectLst/>
                        </a:rPr>
                        <a:t>处</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r h="487680">
                <a:tc>
                  <a:txBody>
                    <a:bodyPr/>
                    <a:lstStyle/>
                    <a:p>
                      <a:pPr algn="just">
                        <a:spcAft>
                          <a:spcPts val="0"/>
                        </a:spcAft>
                      </a:pPr>
                      <a:r>
                        <a:rPr lang="en-US" sz="1600" kern="100">
                          <a:effectLst/>
                        </a:rPr>
                        <a:t>Object get(int index)</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600" kern="100" dirty="0">
                          <a:effectLst/>
                        </a:rPr>
                        <a:t>返回集合索引</a:t>
                      </a:r>
                      <a:r>
                        <a:rPr lang="en-US" sz="1600" kern="100" dirty="0">
                          <a:effectLst/>
                        </a:rPr>
                        <a:t>index</a:t>
                      </a:r>
                      <a:r>
                        <a:rPr lang="zh-CN" sz="1600" kern="100" dirty="0">
                          <a:effectLst/>
                        </a:rPr>
                        <a:t>处的元素</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r h="487680">
                <a:tc>
                  <a:txBody>
                    <a:bodyPr/>
                    <a:lstStyle/>
                    <a:p>
                      <a:pPr algn="just">
                        <a:spcAft>
                          <a:spcPts val="0"/>
                        </a:spcAft>
                      </a:pPr>
                      <a:r>
                        <a:rPr lang="en-US" sz="1600" kern="100">
                          <a:effectLst/>
                        </a:rPr>
                        <a:t>Object remove(int index)</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600" kern="100" dirty="0">
                          <a:effectLst/>
                        </a:rPr>
                        <a:t>删除</a:t>
                      </a:r>
                      <a:r>
                        <a:rPr lang="en-US" sz="1600" kern="100" dirty="0">
                          <a:effectLst/>
                        </a:rPr>
                        <a:t>index</a:t>
                      </a:r>
                      <a:r>
                        <a:rPr lang="zh-CN" sz="1600" kern="100" dirty="0">
                          <a:effectLst/>
                        </a:rPr>
                        <a:t>索引处的元素</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r h="487680">
                <a:tc>
                  <a:txBody>
                    <a:bodyPr/>
                    <a:lstStyle/>
                    <a:p>
                      <a:pPr algn="just">
                        <a:spcAft>
                          <a:spcPts val="0"/>
                        </a:spcAft>
                      </a:pPr>
                      <a:r>
                        <a:rPr lang="en-US" sz="1600" kern="100">
                          <a:effectLst/>
                        </a:rPr>
                        <a:t>Object set(int index, Object element)</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600" kern="100" dirty="0">
                          <a:effectLst/>
                        </a:rPr>
                        <a:t>将索引</a:t>
                      </a:r>
                      <a:r>
                        <a:rPr lang="en-US" sz="1600" kern="100" dirty="0">
                          <a:effectLst/>
                        </a:rPr>
                        <a:t>index</a:t>
                      </a:r>
                      <a:r>
                        <a:rPr lang="zh-CN" sz="1600" kern="100" dirty="0">
                          <a:effectLst/>
                        </a:rPr>
                        <a:t>处元素替换成</a:t>
                      </a:r>
                      <a:r>
                        <a:rPr lang="en-US" sz="1600" kern="100" dirty="0">
                          <a:effectLst/>
                        </a:rPr>
                        <a:t>element</a:t>
                      </a:r>
                      <a:r>
                        <a:rPr lang="zh-CN" sz="1600" kern="100" dirty="0">
                          <a:effectLst/>
                        </a:rPr>
                        <a:t>对象，并将替换后的元素返回</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r h="487680">
                <a:tc>
                  <a:txBody>
                    <a:bodyPr/>
                    <a:lstStyle/>
                    <a:p>
                      <a:pPr algn="just">
                        <a:spcAft>
                          <a:spcPts val="0"/>
                        </a:spcAft>
                      </a:pPr>
                      <a:r>
                        <a:rPr lang="en-US" sz="1600" kern="100" dirty="0" err="1">
                          <a:effectLst/>
                        </a:rPr>
                        <a:t>int</a:t>
                      </a:r>
                      <a:r>
                        <a:rPr lang="en-US" sz="1600" kern="100" dirty="0">
                          <a:effectLst/>
                        </a:rPr>
                        <a:t> </a:t>
                      </a:r>
                      <a:r>
                        <a:rPr lang="en-US" sz="1600" kern="100" dirty="0" err="1">
                          <a:effectLst/>
                        </a:rPr>
                        <a:t>indexOf</a:t>
                      </a:r>
                      <a:r>
                        <a:rPr lang="en-US" sz="1600" kern="100" dirty="0">
                          <a:effectLst/>
                        </a:rPr>
                        <a:t>(Object o)</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600" kern="100" dirty="0">
                          <a:effectLst/>
                        </a:rPr>
                        <a:t>返回对象</a:t>
                      </a:r>
                      <a:r>
                        <a:rPr lang="en-US" sz="1600" kern="100" dirty="0">
                          <a:effectLst/>
                        </a:rPr>
                        <a:t>o</a:t>
                      </a:r>
                      <a:r>
                        <a:rPr lang="zh-CN" sz="1600" kern="100" dirty="0">
                          <a:effectLst/>
                        </a:rPr>
                        <a:t>在</a:t>
                      </a:r>
                      <a:r>
                        <a:rPr lang="en-US" sz="1600" kern="100" dirty="0">
                          <a:effectLst/>
                        </a:rPr>
                        <a:t>List</a:t>
                      </a:r>
                      <a:r>
                        <a:rPr lang="zh-CN" sz="1600" kern="100" dirty="0">
                          <a:effectLst/>
                        </a:rPr>
                        <a:t>集合中出现的位置索引</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r h="487680">
                <a:tc>
                  <a:txBody>
                    <a:bodyPr/>
                    <a:lstStyle/>
                    <a:p>
                      <a:pPr algn="just">
                        <a:spcAft>
                          <a:spcPts val="0"/>
                        </a:spcAft>
                      </a:pPr>
                      <a:r>
                        <a:rPr lang="en-US" sz="1600" kern="100">
                          <a:effectLst/>
                        </a:rPr>
                        <a:t>int lastIndexOf(Object o)</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600" kern="100" dirty="0">
                          <a:effectLst/>
                        </a:rPr>
                        <a:t>返回对象</a:t>
                      </a:r>
                      <a:r>
                        <a:rPr lang="en-US" sz="1600" kern="100" dirty="0">
                          <a:effectLst/>
                        </a:rPr>
                        <a:t>o</a:t>
                      </a:r>
                      <a:r>
                        <a:rPr lang="zh-CN" sz="1600" kern="100" dirty="0">
                          <a:effectLst/>
                        </a:rPr>
                        <a:t>在</a:t>
                      </a:r>
                      <a:r>
                        <a:rPr lang="en-US" sz="1600" kern="100" dirty="0">
                          <a:effectLst/>
                        </a:rPr>
                        <a:t>List</a:t>
                      </a:r>
                      <a:r>
                        <a:rPr lang="zh-CN" sz="1600" kern="100" dirty="0">
                          <a:effectLst/>
                        </a:rPr>
                        <a:t>集合中最后一次出现的位置索引</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r h="487680">
                <a:tc>
                  <a:txBody>
                    <a:bodyPr/>
                    <a:lstStyle/>
                    <a:p>
                      <a:pPr algn="just">
                        <a:spcAft>
                          <a:spcPts val="0"/>
                        </a:spcAft>
                      </a:pPr>
                      <a:r>
                        <a:rPr lang="en-US" sz="1600" kern="100" dirty="0">
                          <a:effectLst/>
                        </a:rPr>
                        <a:t>List </a:t>
                      </a:r>
                      <a:r>
                        <a:rPr lang="en-US" sz="1600" kern="100" dirty="0" err="1">
                          <a:effectLst/>
                        </a:rPr>
                        <a:t>subList</a:t>
                      </a:r>
                      <a:r>
                        <a:rPr lang="en-US" sz="1600" kern="100" baseline="0" dirty="0">
                          <a:effectLst/>
                        </a:rPr>
                        <a:t> </a:t>
                      </a:r>
                      <a:r>
                        <a:rPr lang="en-US" sz="1600" kern="100" dirty="0">
                          <a:effectLst/>
                        </a:rPr>
                        <a:t>(</a:t>
                      </a:r>
                      <a:r>
                        <a:rPr lang="en-US" sz="1600" kern="100" dirty="0" err="1">
                          <a:effectLst/>
                        </a:rPr>
                        <a:t>int</a:t>
                      </a:r>
                      <a:r>
                        <a:rPr lang="en-US" sz="1600" kern="100" dirty="0">
                          <a:effectLst/>
                        </a:rPr>
                        <a:t> </a:t>
                      </a:r>
                      <a:r>
                        <a:rPr lang="en-US" sz="1600" kern="100" dirty="0" err="1">
                          <a:effectLst/>
                        </a:rPr>
                        <a:t>fromIndex</a:t>
                      </a:r>
                      <a:r>
                        <a:rPr lang="en-US" sz="1600" kern="100" dirty="0">
                          <a:effectLst/>
                        </a:rPr>
                        <a:t>, </a:t>
                      </a:r>
                      <a:r>
                        <a:rPr lang="en-US" sz="1600" kern="100" dirty="0" err="1">
                          <a:effectLst/>
                        </a:rPr>
                        <a:t>int</a:t>
                      </a:r>
                      <a:r>
                        <a:rPr lang="en-US" sz="1600" kern="100" dirty="0">
                          <a:effectLst/>
                        </a:rPr>
                        <a:t> </a:t>
                      </a:r>
                      <a:r>
                        <a:rPr lang="en-US" sz="1600" kern="100" dirty="0" err="1">
                          <a:effectLst/>
                        </a:rPr>
                        <a:t>toIndex</a:t>
                      </a:r>
                      <a:r>
                        <a:rPr lang="en-US" sz="1600" kern="100" dirty="0">
                          <a:effectLst/>
                        </a:rPr>
                        <a:t>)</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600" kern="100" dirty="0">
                          <a:effectLst/>
                        </a:rPr>
                        <a:t>返回从索引</a:t>
                      </a:r>
                      <a:r>
                        <a:rPr lang="en-US" sz="1600" kern="100" dirty="0" err="1">
                          <a:effectLst/>
                        </a:rPr>
                        <a:t>fromIndex</a:t>
                      </a:r>
                      <a:r>
                        <a:rPr lang="zh-CN" sz="1600" kern="100" dirty="0">
                          <a:effectLst/>
                        </a:rPr>
                        <a:t>（包括）到</a:t>
                      </a:r>
                      <a:r>
                        <a:rPr lang="en-US" sz="1600" kern="100" dirty="0">
                          <a:effectLst/>
                        </a:rPr>
                        <a:t> </a:t>
                      </a:r>
                      <a:r>
                        <a:rPr lang="en-US" sz="1600" kern="100" dirty="0" err="1">
                          <a:effectLst/>
                        </a:rPr>
                        <a:t>toIndex</a:t>
                      </a:r>
                      <a:r>
                        <a:rPr lang="zh-CN" sz="1600" kern="100" dirty="0">
                          <a:effectLst/>
                        </a:rPr>
                        <a:t>（不包括）处所有元素集合组成的子集合</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bl>
          </a:graphicData>
        </a:graphic>
      </p:graphicFrame>
      <p:sp>
        <p:nvSpPr>
          <p:cNvPr id="5" name="文本占位符 4"/>
          <p:cNvSpPr>
            <a:spLocks noGrp="1"/>
          </p:cNvSpPr>
          <p:nvPr>
            <p:ph type="body" sz="quarter" idx="10"/>
          </p:nvPr>
        </p:nvSpPr>
        <p:spPr/>
        <p:txBody>
          <a:bodyPr/>
          <a:lstStyle/>
          <a:p>
            <a:fld id="{E0E1C95C-783A-41CC-85CC-153DD51F2D8A}"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356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sym typeface="+mn-ea"/>
              </a:rPr>
              <a:t>5.6.3</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ArrayList</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内容占位符 2"/>
          <p:cNvSpPr txBox="1"/>
          <p:nvPr/>
        </p:nvSpPr>
        <p:spPr>
          <a:xfrm>
            <a:off x="1625600" y="1727200"/>
            <a:ext cx="6055360" cy="3525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接口的一个实现类，它是程序中最常见的一种集合。在</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内部封装了一个长度可变的数组对象，当存入的元素超过数组长度时，</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会在内存中分配一个更大的数组来存储这些元素，因此可以将</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集合看作一个长度可变的数组。</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86736" y="1899920"/>
            <a:ext cx="2827337"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占位符 3"/>
          <p:cNvSpPr>
            <a:spLocks noGrp="1"/>
          </p:cNvSpPr>
          <p:nvPr>
            <p:ph type="body" sz="quarter" idx="10"/>
          </p:nvPr>
        </p:nvSpPr>
        <p:spPr/>
        <p:txBody>
          <a:bodyPr/>
          <a:lstStyle/>
          <a:p>
            <a:fld id="{EFEF7AB8-B5B8-446A-96C7-3DF7ADBEDCD4}"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356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sym typeface="+mn-ea"/>
              </a:rPr>
              <a:t>5.6.3</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ArrayList</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内容占位符 2"/>
          <p:cNvSpPr txBox="1"/>
          <p:nvPr/>
        </p:nvSpPr>
        <p:spPr>
          <a:xfrm>
            <a:off x="1130252" y="1252538"/>
            <a:ext cx="4470400" cy="444720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集合中大部分方法都是从父类</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Collection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继承过来的，其中</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add()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方法和</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get()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方法分别用于实现元素的存入和取出。接下来通过一个案例学习</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集合的元素存取</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注意</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越界异常</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问题</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IndexOutOfBoundsException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4" name="组合 3"/>
          <p:cNvGrpSpPr/>
          <p:nvPr/>
        </p:nvGrpSpPr>
        <p:grpSpPr>
          <a:xfrm>
            <a:off x="5852160" y="1178560"/>
            <a:ext cx="5750560" cy="5222240"/>
            <a:chOff x="5852160" y="1219200"/>
            <a:chExt cx="5750560" cy="5222240"/>
          </a:xfrm>
        </p:grpSpPr>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52160" y="1293178"/>
              <a:ext cx="5750560" cy="5148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5933440" y="1219200"/>
              <a:ext cx="5628640" cy="51511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Example01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list = new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list.add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张三</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向集合中添加元素</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list.add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李四</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list.add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王五</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list.add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赵六</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获取集合中元素的个数</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集合的长度：</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list.size</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取出并打印指定位置的元素</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第</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个元素是：</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list.get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5" name="文本占位符 4"/>
          <p:cNvSpPr>
            <a:spLocks noGrp="1"/>
          </p:cNvSpPr>
          <p:nvPr>
            <p:ph type="body" sz="quarter" idx="10"/>
          </p:nvPr>
        </p:nvSpPr>
        <p:spPr/>
        <p:txBody>
          <a:bodyPr/>
          <a:lstStyle/>
          <a:p>
            <a:fld id="{39B67E3B-98F0-45EE-A905-103D80BC165B}"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356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sym typeface="+mn-ea"/>
              </a:rPr>
              <a:t>5.6.3</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ArrayList</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内容占位符 2"/>
          <p:cNvSpPr txBox="1"/>
          <p:nvPr/>
        </p:nvSpPr>
        <p:spPr>
          <a:xfrm>
            <a:off x="5313680" y="1559560"/>
            <a:ext cx="5577840" cy="4160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由于</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集合的底层是使用一个数组来保存元素，在增加或删除指定位置的元素时，会导致创建新的数组，效率比较低，因此不适合做大量的增删操作。因为这种数组的结构允许程序通过索引的方式来访问元素，所以使用</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集合查找元素很便捷。</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02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79318" y="1870073"/>
            <a:ext cx="2552701" cy="3612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占位符 3"/>
          <p:cNvSpPr>
            <a:spLocks noGrp="1"/>
          </p:cNvSpPr>
          <p:nvPr>
            <p:ph type="body" sz="quarter" idx="10"/>
          </p:nvPr>
        </p:nvSpPr>
        <p:spPr/>
        <p:txBody>
          <a:bodyPr/>
          <a:lstStyle/>
          <a:p>
            <a:fld id="{4540D043-D20F-40F4-B283-44A703366514}"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10242"/>
                                        </p:tgtEl>
                                        <p:attrNameLst>
                                          <p:attrName>style.visibility</p:attrName>
                                        </p:attrNameLst>
                                      </p:cBhvr>
                                      <p:to>
                                        <p:strVal val="visible"/>
                                      </p:to>
                                    </p:set>
                                    <p:animEffect transition="in" filter="fade">
                                      <p:cBhvr>
                                        <p:cTn id="10" dur="500"/>
                                        <p:tgtEl>
                                          <p:spTgt spid="10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95884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楷体" panose="02010609060101010101" pitchFamily="49" charset="-122"/>
                <a:ea typeface="楷体" panose="02010609060101010101" pitchFamily="49" charset="-122"/>
                <a:sym typeface="Wingdings" panose="05000000000000000000"/>
                <a:hlinkClick r:id="rId1" action="ppaction://hlinksldjump"/>
              </a:rPr>
              <a:t></a:t>
            </a:r>
            <a:r>
              <a:rPr lang="zh-CN" altLang="zh-CN" sz="3200" b="1" dirty="0">
                <a:solidFill>
                  <a:srgbClr val="1353A2"/>
                </a:solidFill>
                <a:latin typeface="楷体" panose="02010609060101010101" pitchFamily="49" charset="-122"/>
                <a:ea typeface="楷体" panose="02010609060101010101" pitchFamily="49" charset="-122"/>
              </a:rPr>
              <a:t>脚下留心：泛型安全机制问题</a:t>
            </a:r>
            <a:endParaRPr lang="zh-CN" altLang="zh-CN" sz="3200" b="1" dirty="0">
              <a:solidFill>
                <a:srgbClr val="1353A2"/>
              </a:solidFill>
              <a:latin typeface="楷体" panose="02010609060101010101" pitchFamily="49" charset="-122"/>
              <a:ea typeface="楷体" panose="02010609060101010101" pitchFamily="49"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内容占位符 2"/>
          <p:cNvSpPr txBox="1"/>
          <p:nvPr/>
        </p:nvSpPr>
        <p:spPr>
          <a:xfrm>
            <a:off x="1300480" y="1376680"/>
            <a:ext cx="10353040" cy="1955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在</a:t>
            </a:r>
            <a:r>
              <a:rPr lang="en-US" altLang="zh-CN" sz="24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IntelliJ</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IDEA</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中编译</a:t>
            </a:r>
            <a:r>
              <a:rPr lang="zh-CN" altLang="en-US"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上述程序</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时，会得到警告信息，</a:t>
            </a:r>
            <a:r>
              <a:rPr lang="zh-CN" altLang="en-US"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提示</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在使用</a:t>
            </a:r>
            <a:r>
              <a:rPr lang="en-US" altLang="zh-CN" sz="24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ArrayList</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集合时并没有明确指定集合中存储什么类型的元素，会产生安全隐患，这涉及到泛型安全机制的问题。</a:t>
            </a:r>
            <a:r>
              <a:rPr lang="zh-CN" altLang="en-US"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警告信息如下图。</a:t>
            </a:r>
            <a:endPar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p:txBody>
      </p:sp>
      <p:pic>
        <p:nvPicPr>
          <p:cNvPr id="7" name="图片 6"/>
          <p:cNvPicPr/>
          <p:nvPr/>
        </p:nvPicPr>
        <p:blipFill>
          <a:blip r:embed="rId2"/>
          <a:stretch>
            <a:fillRect/>
          </a:stretch>
        </p:blipFill>
        <p:spPr>
          <a:xfrm>
            <a:off x="3028315" y="3332480"/>
            <a:ext cx="7059930" cy="2692400"/>
          </a:xfrm>
          <a:prstGeom prst="rect">
            <a:avLst/>
          </a:prstGeom>
        </p:spPr>
      </p:pic>
      <p:sp>
        <p:nvSpPr>
          <p:cNvPr id="4" name="文本占位符 3"/>
          <p:cNvSpPr>
            <a:spLocks noGrp="1"/>
          </p:cNvSpPr>
          <p:nvPr>
            <p:ph type="body" sz="quarter" idx="10"/>
          </p:nvPr>
        </p:nvSpPr>
        <p:spPr/>
        <p:txBody>
          <a:bodyPr/>
          <a:lstStyle/>
          <a:p>
            <a:fld id="{393A2401-692F-4224-A317-3B64408E87FC}" type="slidenum">
              <a:rPr lang="zh-CN" altLang="en-US" smtClean="0"/>
            </a:fld>
            <a:endParaRPr lang="zh-CN" altLang="en-US" dirty="0"/>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000"/>
                                        <p:tgtEl>
                                          <p:spTgt spid="7"/>
                                        </p:tgtEl>
                                      </p:cBhvr>
                                    </p:animEffect>
                                    <p:anim calcmode="lin" valueType="num">
                                      <p:cBhvr>
                                        <p:cTn id="12" dur="1000" fill="hold"/>
                                        <p:tgtEl>
                                          <p:spTgt spid="7"/>
                                        </p:tgtEl>
                                        <p:attrNameLst>
                                          <p:attrName>ppt_x</p:attrName>
                                        </p:attrNameLst>
                                      </p:cBhvr>
                                      <p:tavLst>
                                        <p:tav tm="0">
                                          <p:val>
                                            <p:strVal val="#ppt_x"/>
                                          </p:val>
                                        </p:tav>
                                        <p:tav tm="100000">
                                          <p:val>
                                            <p:strVal val="#ppt_x"/>
                                          </p:val>
                                        </p:tav>
                                      </p:tavLst>
                                    </p:anim>
                                    <p:anim calcmode="lin" valueType="num">
                                      <p:cBhvr>
                                        <p:cTn id="1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95884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楷体" panose="02010609060101010101" pitchFamily="49" charset="-122"/>
                <a:ea typeface="楷体" panose="02010609060101010101" pitchFamily="49" charset="-122"/>
                <a:sym typeface="Wingdings" panose="05000000000000000000"/>
              </a:rPr>
              <a:t></a:t>
            </a:r>
            <a:r>
              <a:rPr lang="zh-CN" altLang="zh-CN" sz="3200" b="1" dirty="0">
                <a:solidFill>
                  <a:srgbClr val="1353A2"/>
                </a:solidFill>
                <a:latin typeface="楷体" panose="02010609060101010101" pitchFamily="49" charset="-122"/>
                <a:ea typeface="楷体" panose="02010609060101010101" pitchFamily="49" charset="-122"/>
              </a:rPr>
              <a:t>脚下留心：泛型安全机制问题</a:t>
            </a:r>
            <a:endParaRPr lang="zh-CN" altLang="zh-CN" sz="3200" b="1" dirty="0">
              <a:solidFill>
                <a:srgbClr val="1353A2"/>
              </a:solidFill>
              <a:latin typeface="楷体" panose="02010609060101010101" pitchFamily="49" charset="-122"/>
              <a:ea typeface="楷体" panose="02010609060101010101" pitchFamily="49"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内容占位符 2"/>
          <p:cNvSpPr txBox="1"/>
          <p:nvPr/>
        </p:nvSpPr>
        <p:spPr>
          <a:xfrm>
            <a:off x="1300480" y="1254760"/>
            <a:ext cx="10353040" cy="1955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在编写程序时，不要忘记使用“</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import </a:t>
            </a:r>
            <a:r>
              <a:rPr lang="en-US" altLang="zh-CN" sz="24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java.util.ArrayList</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”语句导包，否则</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IDEA</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会提示类型不能解决的错误信息，将鼠标移动到报出错误的</a:t>
            </a:r>
            <a:r>
              <a:rPr lang="en-US" altLang="zh-CN" sz="24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ArrayList</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上，错误显示如</a:t>
            </a:r>
            <a:r>
              <a:rPr lang="zh-CN" altLang="en-US"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下图。</a:t>
            </a:r>
            <a:endPar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p:txBody>
      </p:sp>
      <p:pic>
        <p:nvPicPr>
          <p:cNvPr id="8" name="图片 7"/>
          <p:cNvPicPr/>
          <p:nvPr/>
        </p:nvPicPr>
        <p:blipFill>
          <a:blip r:embed="rId1"/>
          <a:stretch>
            <a:fillRect/>
          </a:stretch>
        </p:blipFill>
        <p:spPr>
          <a:xfrm>
            <a:off x="3545840" y="3037840"/>
            <a:ext cx="6268086" cy="3271520"/>
          </a:xfrm>
          <a:prstGeom prst="rect">
            <a:avLst/>
          </a:prstGeom>
        </p:spPr>
      </p:pic>
      <p:sp>
        <p:nvSpPr>
          <p:cNvPr id="4" name="文本占位符 3"/>
          <p:cNvSpPr>
            <a:spLocks noGrp="1"/>
          </p:cNvSpPr>
          <p:nvPr>
            <p:ph type="body" sz="quarter" idx="10"/>
          </p:nvPr>
        </p:nvSpPr>
        <p:spPr/>
        <p:txBody>
          <a:bodyPr/>
          <a:lstStyle/>
          <a:p>
            <a:fld id="{B8C8A361-2286-4CA7-AB36-214BF1CF29A0}"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arn(outVertical)">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95884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楷体" panose="02010609060101010101" pitchFamily="49" charset="-122"/>
                <a:ea typeface="楷体" panose="02010609060101010101" pitchFamily="49" charset="-122"/>
                <a:sym typeface="Wingdings" panose="05000000000000000000"/>
              </a:rPr>
              <a:t></a:t>
            </a:r>
            <a:r>
              <a:rPr lang="zh-CN" altLang="zh-CN" sz="3200" b="1" dirty="0">
                <a:solidFill>
                  <a:srgbClr val="1353A2"/>
                </a:solidFill>
                <a:latin typeface="楷体" panose="02010609060101010101" pitchFamily="49" charset="-122"/>
                <a:ea typeface="楷体" panose="02010609060101010101" pitchFamily="49" charset="-122"/>
              </a:rPr>
              <a:t>脚下留心：泛型安全机制问题</a:t>
            </a:r>
            <a:endParaRPr lang="zh-CN" altLang="zh-CN" sz="3200" b="1" dirty="0">
              <a:solidFill>
                <a:srgbClr val="1353A2"/>
              </a:solidFill>
              <a:latin typeface="楷体" panose="02010609060101010101" pitchFamily="49" charset="-122"/>
              <a:ea typeface="楷体" panose="02010609060101010101" pitchFamily="49"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内容占位符 2"/>
          <p:cNvSpPr txBox="1"/>
          <p:nvPr/>
        </p:nvSpPr>
        <p:spPr>
          <a:xfrm>
            <a:off x="4907280" y="1590040"/>
            <a:ext cx="6289040" cy="40589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要解决此问题，只需单击图</a:t>
            </a:r>
            <a:r>
              <a:rPr lang="zh-CN" altLang="en-US"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中</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错误显示小窗口中</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Import class</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的链接，这样</a:t>
            </a:r>
            <a:r>
              <a:rPr lang="en-US" altLang="zh-CN" sz="24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IntelliJ</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IDEA</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就会自动导入</a:t>
            </a:r>
            <a:r>
              <a:rPr lang="en-US" altLang="zh-CN" sz="24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ArrayList</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的包。在后面的案例中会大量地用到集合类，为了方便，程序中可以使用</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import </a:t>
            </a:r>
            <a:r>
              <a:rPr lang="en-US" altLang="zh-CN" sz="24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java.util</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来进行导包，其中</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为通配符，整个语句的意思是将</a:t>
            </a:r>
            <a:r>
              <a:rPr lang="en-US" altLang="zh-CN" sz="24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java.util</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包中的内容都导入进来。</a:t>
            </a:r>
            <a:endPar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p:txBody>
      </p:sp>
      <p:pic>
        <p:nvPicPr>
          <p:cNvPr id="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2318" y="1627584"/>
            <a:ext cx="2489200" cy="3983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占位符 3"/>
          <p:cNvSpPr>
            <a:spLocks noGrp="1"/>
          </p:cNvSpPr>
          <p:nvPr>
            <p:ph type="body" sz="quarter" idx="10"/>
          </p:nvPr>
        </p:nvSpPr>
        <p:spPr/>
        <p:txBody>
          <a:bodyPr/>
          <a:lstStyle/>
          <a:p>
            <a:fld id="{9B634100-D577-4670-A808-24B56240857D}"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par>
                                <p:cTn id="8" presetID="42"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1000"/>
                                        <p:tgtEl>
                                          <p:spTgt spid="7"/>
                                        </p:tgtEl>
                                      </p:cBhvr>
                                    </p:animEffect>
                                    <p:anim calcmode="lin" valueType="num">
                                      <p:cBhvr>
                                        <p:cTn id="11" dur="1000" fill="hold"/>
                                        <p:tgtEl>
                                          <p:spTgt spid="7"/>
                                        </p:tgtEl>
                                        <p:attrNameLst>
                                          <p:attrName>ppt_x</p:attrName>
                                        </p:attrNameLst>
                                      </p:cBhvr>
                                      <p:tavLst>
                                        <p:tav tm="0">
                                          <p:val>
                                            <p:strVal val="#ppt_x"/>
                                          </p:val>
                                        </p:tav>
                                        <p:tav tm="100000">
                                          <p:val>
                                            <p:strVal val="#ppt_x"/>
                                          </p:val>
                                        </p:tav>
                                      </p:tavLst>
                                    </p:anim>
                                    <p:anim calcmode="lin" valueType="num">
                                      <p:cBhvr>
                                        <p:cTn id="1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356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sym typeface="+mn-ea"/>
              </a:rPr>
              <a:t>5.6.3</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LinkedList</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内容占位符 2"/>
          <p:cNvSpPr txBox="1"/>
          <p:nvPr/>
        </p:nvSpPr>
        <p:spPr>
          <a:xfrm>
            <a:off x="1717040" y="1488440"/>
            <a:ext cx="9509760" cy="40690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集合在查询元素时速度很快，但在增删元素时效率较低。为了克服这种局限性，可以使用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接口的另一个实现类</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LinkedList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LinkedList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内部维护了一个双向循环链表，链表中的每一个元素都使用引用的方式来记住它的前一个元素和后一个元素，从而可以将所有的元素彼此连接起来。当插入一个新元素时，只需要修改元素之间的这种引用关系即可，删除一个节点也是如此。正因为这样的存储结构，所以</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LinkedList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集合对于元素的增删操作具有很高的效率</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文本占位符 3"/>
          <p:cNvSpPr>
            <a:spLocks noGrp="1"/>
          </p:cNvSpPr>
          <p:nvPr>
            <p:ph type="body" sz="quarter" idx="10"/>
          </p:nvPr>
        </p:nvSpPr>
        <p:spPr/>
        <p:txBody>
          <a:bodyPr/>
          <a:lstStyle/>
          <a:p>
            <a:fld id="{9D4BFA58-B09B-4459-B847-E0385A1E9A43}"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356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sym typeface="+mn-ea"/>
              </a:rPr>
              <a:t>5.6.3</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LinkedList</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内容占位符 2"/>
          <p:cNvSpPr txBox="1"/>
          <p:nvPr/>
        </p:nvSpPr>
        <p:spPr>
          <a:xfrm>
            <a:off x="1717040" y="1468120"/>
            <a:ext cx="9509760" cy="8280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LinkedList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集合添加元素和删除元素的过程如</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图</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5" name="对象 4"/>
          <p:cNvGraphicFramePr>
            <a:graphicFrameLocks noChangeAspect="1"/>
          </p:cNvGraphicFramePr>
          <p:nvPr/>
        </p:nvGraphicFramePr>
        <p:xfrm>
          <a:off x="2758014" y="2672080"/>
          <a:ext cx="7656622" cy="2164080"/>
        </p:xfrm>
        <a:graphic>
          <a:graphicData uri="http://schemas.openxmlformats.org/presentationml/2006/ole">
            <mc:AlternateContent xmlns:mc="http://schemas.openxmlformats.org/markup-compatibility/2006">
              <mc:Choice xmlns:v="urn:schemas-microsoft-com:vml" Requires="v">
                <p:oleObj spid="_x0000_s2062" name="Visio" r:id="rId1" imgW="6048375" imgH="1740535" progId="Visio.Drawing.11">
                  <p:embed/>
                </p:oleObj>
              </mc:Choice>
              <mc:Fallback>
                <p:oleObj name="Visio" r:id="rId1" imgW="6048375" imgH="1740535" progId="Visio.Drawing.11">
                  <p:embed/>
                  <p:pic>
                    <p:nvPicPr>
                      <p:cNvPr id="0" name="对象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8014" y="2672080"/>
                        <a:ext cx="7656622" cy="2164080"/>
                      </a:xfrm>
                      <a:prstGeom prst="rect">
                        <a:avLst/>
                      </a:prstGeom>
                      <a:noFill/>
                    </p:spPr>
                  </p:pic>
                </p:oleObj>
              </mc:Fallback>
            </mc:AlternateContent>
          </a:graphicData>
        </a:graphic>
      </p:graphicFrame>
      <p:sp>
        <p:nvSpPr>
          <p:cNvPr id="7" name="文本占位符 6"/>
          <p:cNvSpPr>
            <a:spLocks noGrp="1"/>
          </p:cNvSpPr>
          <p:nvPr>
            <p:ph type="body" sz="quarter" idx="10"/>
          </p:nvPr>
        </p:nvSpPr>
        <p:spPr/>
        <p:txBody>
          <a:bodyPr/>
          <a:lstStyle/>
          <a:p>
            <a:fld id="{4A7F5D96-6C1B-4D76-917A-4228CCEF256C}" type="slidenum">
              <a:rPr lang="zh-CN" altLang="en-US" smtClean="0"/>
            </a:fld>
            <a:endParaRPr lang="zh-CN" altLang="en-US" dirty="0"/>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ppt_x</p:attrName>
                                        </p:attrNameLst>
                                      </p:cBhvr>
                                      <p:tavLst>
                                        <p:tav tm="0">
                                          <p:val>
                                            <p:strVal val="#ppt_x"/>
                                          </p:val>
                                        </p:tav>
                                        <p:tav tm="100000">
                                          <p:val>
                                            <p:strVal val="#ppt_x"/>
                                          </p:val>
                                        </p:tav>
                                      </p:tavLst>
                                    </p:anim>
                                    <p:anim calcmode="lin" valueType="num">
                                      <p:cBhvr>
                                        <p:cTn id="1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356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sym typeface="+mn-ea"/>
              </a:rPr>
              <a:t>5.6.3</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LinkedList</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内容占位符 2"/>
          <p:cNvSpPr txBox="1"/>
          <p:nvPr/>
        </p:nvSpPr>
        <p:spPr>
          <a:xfrm>
            <a:off x="1717040" y="1275080"/>
            <a:ext cx="9509760" cy="685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LinkedList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集合定义了一些特有的方法</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如下表。</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7" name="表格 6"/>
          <p:cNvGraphicFramePr>
            <a:graphicFrameLocks noGrp="1"/>
          </p:cNvGraphicFramePr>
          <p:nvPr/>
        </p:nvGraphicFramePr>
        <p:xfrm>
          <a:off x="1931511" y="2159156"/>
          <a:ext cx="9080817" cy="3514309"/>
        </p:xfrm>
        <a:graphic>
          <a:graphicData uri="http://schemas.openxmlformats.org/drawingml/2006/table">
            <a:tbl>
              <a:tblPr firstRow="1" firstCol="1" bandRow="1">
                <a:tableStyleId>{5C22544A-7EE6-4342-B048-85BDC9FD1C3A}</a:tableStyleId>
              </a:tblPr>
              <a:tblGrid>
                <a:gridCol w="3707289"/>
                <a:gridCol w="5373528"/>
              </a:tblGrid>
              <a:tr h="409394">
                <a:tc>
                  <a:txBody>
                    <a:bodyPr/>
                    <a:lstStyle/>
                    <a:p>
                      <a:pPr algn="ctr">
                        <a:spcAft>
                          <a:spcPts val="0"/>
                        </a:spcAft>
                      </a:pPr>
                      <a:r>
                        <a:rPr lang="zh-CN" sz="1800" kern="100" dirty="0">
                          <a:effectLst/>
                        </a:rPr>
                        <a:t>方法声明</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ctr">
                        <a:spcAft>
                          <a:spcPts val="0"/>
                        </a:spcAft>
                      </a:pPr>
                      <a:r>
                        <a:rPr lang="zh-CN" sz="1800" kern="100">
                          <a:effectLst/>
                        </a:rPr>
                        <a:t>功能描述</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r>
              <a:tr h="528333">
                <a:tc>
                  <a:txBody>
                    <a:bodyPr/>
                    <a:lstStyle/>
                    <a:p>
                      <a:pPr algn="l">
                        <a:spcAft>
                          <a:spcPts val="0"/>
                        </a:spcAft>
                      </a:pPr>
                      <a:r>
                        <a:rPr lang="en-US" sz="1800" kern="100">
                          <a:effectLst/>
                        </a:rPr>
                        <a:t>void add(int index, E element) </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800" kern="100">
                          <a:effectLst/>
                        </a:rPr>
                        <a:t>在此列表中指定的位置插入指定的元素</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r>
              <a:tr h="409394">
                <a:tc>
                  <a:txBody>
                    <a:bodyPr/>
                    <a:lstStyle/>
                    <a:p>
                      <a:pPr algn="l">
                        <a:spcAft>
                          <a:spcPts val="0"/>
                        </a:spcAft>
                      </a:pPr>
                      <a:r>
                        <a:rPr lang="en-US" sz="1800" kern="100" dirty="0">
                          <a:effectLst/>
                        </a:rPr>
                        <a:t>void </a:t>
                      </a:r>
                      <a:r>
                        <a:rPr lang="en-US" sz="1800" kern="100" dirty="0" err="1">
                          <a:effectLst/>
                        </a:rPr>
                        <a:t>addFirst</a:t>
                      </a:r>
                      <a:r>
                        <a:rPr lang="en-US" sz="1800" kern="100" dirty="0">
                          <a:effectLst/>
                        </a:rPr>
                        <a:t>(Object o)</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800" kern="100">
                          <a:effectLst/>
                        </a:rPr>
                        <a:t>将指定元素插入此列表的开头</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r>
              <a:tr h="417517">
                <a:tc>
                  <a:txBody>
                    <a:bodyPr/>
                    <a:lstStyle/>
                    <a:p>
                      <a:pPr algn="l">
                        <a:spcAft>
                          <a:spcPts val="0"/>
                        </a:spcAft>
                      </a:pPr>
                      <a:r>
                        <a:rPr lang="en-US" sz="1800" kern="100" dirty="0">
                          <a:effectLst/>
                        </a:rPr>
                        <a:t>void </a:t>
                      </a:r>
                      <a:r>
                        <a:rPr lang="en-US" sz="1800" kern="100" dirty="0" err="1">
                          <a:effectLst/>
                        </a:rPr>
                        <a:t>addLast</a:t>
                      </a:r>
                      <a:r>
                        <a:rPr lang="en-US" sz="1800" kern="100" dirty="0">
                          <a:effectLst/>
                        </a:rPr>
                        <a:t>(Object o)</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800" kern="100">
                          <a:effectLst/>
                        </a:rPr>
                        <a:t>将指定元素添加到此列表的结尾</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r>
              <a:tr h="417517">
                <a:tc>
                  <a:txBody>
                    <a:bodyPr/>
                    <a:lstStyle/>
                    <a:p>
                      <a:pPr algn="l">
                        <a:spcAft>
                          <a:spcPts val="0"/>
                        </a:spcAft>
                      </a:pPr>
                      <a:r>
                        <a:rPr lang="en-US" sz="1800" kern="100">
                          <a:effectLst/>
                        </a:rPr>
                        <a:t>Object getFirst()</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800" kern="100">
                          <a:effectLst/>
                        </a:rPr>
                        <a:t>返回此列表的第一个元素</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r>
              <a:tr h="417517">
                <a:tc>
                  <a:txBody>
                    <a:bodyPr/>
                    <a:lstStyle/>
                    <a:p>
                      <a:pPr algn="l">
                        <a:spcAft>
                          <a:spcPts val="0"/>
                        </a:spcAft>
                      </a:pPr>
                      <a:r>
                        <a:rPr lang="en-US" sz="1800" kern="100">
                          <a:effectLst/>
                        </a:rPr>
                        <a:t>Object getLast()</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800" kern="100">
                          <a:effectLst/>
                        </a:rPr>
                        <a:t>返回此列表的最后一个元素</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r>
              <a:tr h="438636">
                <a:tc>
                  <a:txBody>
                    <a:bodyPr/>
                    <a:lstStyle/>
                    <a:p>
                      <a:pPr algn="l">
                        <a:spcAft>
                          <a:spcPts val="0"/>
                        </a:spcAft>
                      </a:pPr>
                      <a:r>
                        <a:rPr lang="en-US" sz="1800" kern="100">
                          <a:effectLst/>
                        </a:rPr>
                        <a:t>Object removeFirst()</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800" kern="100">
                          <a:effectLst/>
                        </a:rPr>
                        <a:t>移除并返回此列表的第一个元素</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r>
              <a:tr h="476001">
                <a:tc>
                  <a:txBody>
                    <a:bodyPr/>
                    <a:lstStyle/>
                    <a:p>
                      <a:pPr algn="l">
                        <a:spcAft>
                          <a:spcPts val="0"/>
                        </a:spcAft>
                      </a:pPr>
                      <a:r>
                        <a:rPr lang="en-US" sz="1800" kern="100">
                          <a:effectLst/>
                        </a:rPr>
                        <a:t>Object removeLast()</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800" kern="100" dirty="0">
                          <a:effectLst/>
                        </a:rPr>
                        <a:t>移除并返回此列表的最后一个元素</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bl>
          </a:graphicData>
        </a:graphic>
      </p:graphicFrame>
      <p:sp>
        <p:nvSpPr>
          <p:cNvPr id="5" name="文本占位符 4"/>
          <p:cNvSpPr>
            <a:spLocks noGrp="1"/>
          </p:cNvSpPr>
          <p:nvPr>
            <p:ph type="body" sz="quarter" idx="10"/>
          </p:nvPr>
        </p:nvSpPr>
        <p:spPr/>
        <p:txBody>
          <a:bodyPr/>
          <a:lstStyle/>
          <a:p>
            <a:fld id="{8CD42D1E-1DA2-4F5F-AE27-C77A172D9B53}"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356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sym typeface="+mn-ea"/>
              </a:rPr>
              <a:t>5.6.3</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LinkedList</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内容占位符 2"/>
          <p:cNvSpPr txBox="1"/>
          <p:nvPr/>
        </p:nvSpPr>
        <p:spPr>
          <a:xfrm>
            <a:off x="1574800" y="1259840"/>
            <a:ext cx="9509760" cy="685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接下来通过一个案例学习</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LinkedList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方法的使用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5" name="组合 4"/>
          <p:cNvGrpSpPr/>
          <p:nvPr/>
        </p:nvGrpSpPr>
        <p:grpSpPr>
          <a:xfrm>
            <a:off x="2443479" y="2120900"/>
            <a:ext cx="8041642" cy="3738879"/>
            <a:chOff x="2311398" y="2123440"/>
            <a:chExt cx="8041642" cy="3738879"/>
          </a:xfrm>
        </p:grpSpPr>
        <p:pic>
          <p:nvPicPr>
            <p:cNvPr id="2150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8" y="2123440"/>
              <a:ext cx="8041642" cy="3738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854960" y="2219960"/>
              <a:ext cx="7218680" cy="35407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Example02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LinkedList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link = new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LinkedList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LinkedList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link.add</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张三</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link.add</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李四</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link.add</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王五</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link.add</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赵六</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E11221B0-2B95-4D8E-A7A4-5FC9D608B63A}"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arn(outVertical)">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356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a:solidFill>
                  <a:srgbClr val="1353A2"/>
                </a:solidFill>
                <a:latin typeface="微软雅黑" panose="020B0503020204020204" pitchFamily="34" charset="-122"/>
                <a:ea typeface="微软雅黑" panose="020B0503020204020204" pitchFamily="34" charset="-122"/>
                <a:sym typeface="+mn-ea"/>
              </a:rPr>
              <a:t>5.6.3</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LinkedList</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en-US" sz="3200" b="1" kern="1200"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5" name="组合 4"/>
          <p:cNvGrpSpPr/>
          <p:nvPr/>
        </p:nvGrpSpPr>
        <p:grpSpPr>
          <a:xfrm>
            <a:off x="2311398" y="1483360"/>
            <a:ext cx="8575039" cy="4368800"/>
            <a:chOff x="2021840" y="1605280"/>
            <a:chExt cx="8575039" cy="4368800"/>
          </a:xfrm>
        </p:grpSpPr>
        <p:pic>
          <p:nvPicPr>
            <p:cNvPr id="2253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21840" y="1605280"/>
              <a:ext cx="8575039" cy="436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473962" y="1722120"/>
              <a:ext cx="7863840" cy="42519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link.toString</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取出并打印该集合中的元素</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link.add</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"Student");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向该集合中指定位置插入元素</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link.addFirst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("First");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向该集合第一个位置插入元素</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link.getFirst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取出该集合中第一个元素</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link.remove</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移除该集合中指定位置的元素</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link.removeFirst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移除该集合中第一个元素</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6" name="文本占位符 5"/>
          <p:cNvSpPr>
            <a:spLocks noGrp="1"/>
          </p:cNvSpPr>
          <p:nvPr>
            <p:ph type="body" sz="quarter" idx="10"/>
          </p:nvPr>
        </p:nvSpPr>
        <p:spPr/>
        <p:txBody>
          <a:bodyPr/>
          <a:lstStyle/>
          <a:p>
            <a:fld id="{2846B6C8-A65A-4641-9F92-9007AF3F8FB6}"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5.6.4</a:t>
            </a:r>
            <a:r>
              <a:rPr lang="en-US" altLang="zh-CN" sz="3200" b="1" dirty="0">
                <a:solidFill>
                  <a:srgbClr val="1353A2"/>
                </a:solidFill>
                <a:latin typeface="微软雅黑" panose="020B0503020204020204" pitchFamily="34" charset="-122"/>
                <a:ea typeface="微软雅黑" panose="020B0503020204020204" pitchFamily="34" charset="-122"/>
              </a:rPr>
              <a:t> Iterator</a:t>
            </a:r>
            <a:r>
              <a:rPr lang="zh-CN" altLang="zh-CN" sz="3200" b="1" dirty="0">
                <a:solidFill>
                  <a:srgbClr val="1353A2"/>
                </a:solidFill>
                <a:latin typeface="微软雅黑" panose="020B0503020204020204" pitchFamily="34" charset="-122"/>
                <a:ea typeface="微软雅黑" panose="020B0503020204020204" pitchFamily="34" charset="-122"/>
              </a:rPr>
              <a:t>接口</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内容占位符 2"/>
          <p:cNvSpPr txBox="1"/>
          <p:nvPr/>
        </p:nvSpPr>
        <p:spPr>
          <a:xfrm>
            <a:off x="1536699" y="1544320"/>
            <a:ext cx="6654800" cy="41351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在程序开发中，经常需要遍历集合中的所有元素。针对这种需求，</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专门提供了一个接口</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Iterator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Iterator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接口也是集合中的一员，但它与</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Collection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接口有所不同。</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Collection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接口与</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接口主要用于存储元素，而</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Iterator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主要用于迭代访问（即遍历）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Collection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中的元素，因此</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Iterator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对象也被称为迭代器。</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355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625839" y="1985328"/>
            <a:ext cx="2732405" cy="3101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占位符 4"/>
          <p:cNvSpPr>
            <a:spLocks noGrp="1"/>
          </p:cNvSpPr>
          <p:nvPr>
            <p:ph type="body" sz="quarter" idx="10"/>
          </p:nvPr>
        </p:nvSpPr>
        <p:spPr/>
        <p:txBody>
          <a:bodyPr/>
          <a:lstStyle/>
          <a:p>
            <a:fld id="{71712EA2-762C-4094-91E1-A5C3AF9CD955}"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3554"/>
                                        </p:tgtEl>
                                        <p:attrNameLst>
                                          <p:attrName>style.visibility</p:attrName>
                                        </p:attrNameLst>
                                      </p:cBhvr>
                                      <p:to>
                                        <p:strVal val="visible"/>
                                      </p:to>
                                    </p:set>
                                    <p:animEffect transition="in" filter="fade">
                                      <p:cBhvr>
                                        <p:cTn id="11" dur="500"/>
                                        <p:tgtEl>
                                          <p:spTgt spid="235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5.6.4</a:t>
            </a:r>
            <a:r>
              <a:rPr lang="en-US" altLang="zh-CN" sz="3200" b="1" dirty="0">
                <a:solidFill>
                  <a:srgbClr val="1353A2"/>
                </a:solidFill>
                <a:latin typeface="微软雅黑" panose="020B0503020204020204" pitchFamily="34" charset="-122"/>
                <a:ea typeface="微软雅黑" panose="020B0503020204020204" pitchFamily="34" charset="-122"/>
              </a:rPr>
              <a:t> Iterator</a:t>
            </a:r>
            <a:r>
              <a:rPr lang="zh-CN" altLang="zh-CN" sz="3200" b="1" dirty="0">
                <a:solidFill>
                  <a:srgbClr val="1353A2"/>
                </a:solidFill>
                <a:latin typeface="微软雅黑" panose="020B0503020204020204" pitchFamily="34" charset="-122"/>
                <a:ea typeface="微软雅黑" panose="020B0503020204020204" pitchFamily="34" charset="-122"/>
              </a:rPr>
              <a:t>接口</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内容占位符 2"/>
          <p:cNvSpPr txBox="1"/>
          <p:nvPr/>
        </p:nvSpPr>
        <p:spPr>
          <a:xfrm>
            <a:off x="1445259" y="1229360"/>
            <a:ext cx="9852662" cy="8636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接下来通过一个案例学习如何使用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Iterator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迭代集合中的元素</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 name="组合 4"/>
          <p:cNvGrpSpPr/>
          <p:nvPr/>
        </p:nvGrpSpPr>
        <p:grpSpPr>
          <a:xfrm>
            <a:off x="2487929" y="2105660"/>
            <a:ext cx="7909561" cy="3657600"/>
            <a:chOff x="2311398" y="2092960"/>
            <a:chExt cx="7909561" cy="3657600"/>
          </a:xfrm>
        </p:grpSpPr>
        <p:pic>
          <p:nvPicPr>
            <p:cNvPr id="2457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8" y="2092960"/>
              <a:ext cx="7909561"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3068321" y="2209800"/>
              <a:ext cx="6858000" cy="3429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Example03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list = new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list.add</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张三</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向该集合中添加字符串</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list.add</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李四</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list.add</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王五</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list.add</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赵六</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6" name="文本占位符 5"/>
          <p:cNvSpPr>
            <a:spLocks noGrp="1"/>
          </p:cNvSpPr>
          <p:nvPr>
            <p:ph type="body" sz="quarter" idx="10"/>
          </p:nvPr>
        </p:nvSpPr>
        <p:spPr/>
        <p:txBody>
          <a:bodyPr/>
          <a:lstStyle/>
          <a:p>
            <a:fld id="{E9C8D3BB-8361-4E18-90BA-E6118CAA85F2}"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ppt_x</p:attrName>
                                        </p:attrNameLst>
                                      </p:cBhvr>
                                      <p:tavLst>
                                        <p:tav tm="0">
                                          <p:val>
                                            <p:strVal val="#ppt_x"/>
                                          </p:val>
                                        </p:tav>
                                        <p:tav tm="100000">
                                          <p:val>
                                            <p:strVal val="#ppt_x"/>
                                          </p:val>
                                        </p:tav>
                                      </p:tavLst>
                                    </p:anim>
                                    <p:anim calcmode="lin" valueType="num">
                                      <p:cBhvr>
                                        <p:cTn id="1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5.6.4</a:t>
            </a:r>
            <a:r>
              <a:rPr lang="en-US" altLang="zh-CN" sz="3200" b="1" dirty="0">
                <a:solidFill>
                  <a:srgbClr val="1353A2"/>
                </a:solidFill>
                <a:latin typeface="微软雅黑" panose="020B0503020204020204" pitchFamily="34" charset="-122"/>
                <a:ea typeface="微软雅黑" panose="020B0503020204020204" pitchFamily="34" charset="-122"/>
              </a:rPr>
              <a:t> Iterator</a:t>
            </a:r>
            <a:r>
              <a:rPr lang="zh-CN" altLang="zh-CN" sz="3200" b="1" dirty="0">
                <a:solidFill>
                  <a:srgbClr val="1353A2"/>
                </a:solidFill>
                <a:latin typeface="微软雅黑" panose="020B0503020204020204" pitchFamily="34" charset="-122"/>
                <a:ea typeface="微软雅黑" panose="020B0503020204020204" pitchFamily="34" charset="-122"/>
              </a:rPr>
              <a:t>接口</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5" name="组合 4"/>
          <p:cNvGrpSpPr/>
          <p:nvPr/>
        </p:nvGrpSpPr>
        <p:grpSpPr>
          <a:xfrm>
            <a:off x="2108197" y="2174240"/>
            <a:ext cx="8900159" cy="3058160"/>
            <a:chOff x="1981200" y="2113280"/>
            <a:chExt cx="8900159" cy="3058160"/>
          </a:xfrm>
        </p:grpSpPr>
        <p:pic>
          <p:nvPicPr>
            <p:cNvPr id="2560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81200" y="2113280"/>
              <a:ext cx="8900159" cy="305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311398" y="2219960"/>
              <a:ext cx="8473439" cy="29514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Iterator it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list.iterator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Iterator</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while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it.hasNext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判断</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集合中是否存在下一个元素</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Object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it.next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取出</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集合中的元素</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6" name="文本占位符 5"/>
          <p:cNvSpPr>
            <a:spLocks noGrp="1"/>
          </p:cNvSpPr>
          <p:nvPr>
            <p:ph type="body" sz="quarter" idx="10"/>
          </p:nvPr>
        </p:nvSpPr>
        <p:spPr/>
        <p:txBody>
          <a:bodyPr/>
          <a:lstStyle/>
          <a:p>
            <a:fld id="{610BB9D4-A523-4669-9AEF-8EA92019F9F7}"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5.6.4</a:t>
            </a:r>
            <a:r>
              <a:rPr lang="en-US" altLang="zh-CN" sz="3200" b="1" dirty="0">
                <a:solidFill>
                  <a:srgbClr val="1353A2"/>
                </a:solidFill>
                <a:latin typeface="微软雅黑" panose="020B0503020204020204" pitchFamily="34" charset="-122"/>
                <a:ea typeface="微软雅黑" panose="020B0503020204020204" pitchFamily="34" charset="-122"/>
              </a:rPr>
              <a:t> Iterator</a:t>
            </a:r>
            <a:r>
              <a:rPr lang="zh-CN" altLang="zh-CN" sz="3200" b="1" dirty="0">
                <a:solidFill>
                  <a:srgbClr val="1353A2"/>
                </a:solidFill>
                <a:latin typeface="微软雅黑" panose="020B0503020204020204" pitchFamily="34" charset="-122"/>
                <a:ea typeface="微软雅黑" panose="020B0503020204020204" pitchFamily="34" charset="-122"/>
              </a:rPr>
              <a:t>接口</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内容占位符 2"/>
          <p:cNvSpPr txBox="1"/>
          <p:nvPr/>
        </p:nvSpPr>
        <p:spPr>
          <a:xfrm>
            <a:off x="1445259" y="1330960"/>
            <a:ext cx="9852662" cy="18796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Iterator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迭代器对象在遍历集合时，内部采用指针的方式来跟踪集合中的元素，为了让初学者能更好地理解迭代器的工作原理，接下来通过一个图例演示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Iterator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对象迭代元素的过程</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6" name="对象 5"/>
          <p:cNvGraphicFramePr>
            <a:graphicFrameLocks noChangeAspect="1"/>
          </p:cNvGraphicFramePr>
          <p:nvPr/>
        </p:nvGraphicFramePr>
        <p:xfrm>
          <a:off x="3409992" y="3261360"/>
          <a:ext cx="6614075" cy="2753360"/>
        </p:xfrm>
        <a:graphic>
          <a:graphicData uri="http://schemas.openxmlformats.org/presentationml/2006/ole">
            <mc:AlternateContent xmlns:mc="http://schemas.openxmlformats.org/markup-compatibility/2006">
              <mc:Choice xmlns:v="urn:schemas-microsoft-com:vml" Requires="v">
                <p:oleObj spid="_x0000_s3086" name="Visio" r:id="rId1" imgW="5600700" imgH="2324100" progId="Visio.Drawing.11">
                  <p:embed/>
                </p:oleObj>
              </mc:Choice>
              <mc:Fallback>
                <p:oleObj name="Visio" r:id="rId1" imgW="5600700" imgH="2324100" progId="Visio.Drawing.11">
                  <p:embed/>
                  <p:pic>
                    <p:nvPicPr>
                      <p:cNvPr id="0" name="对象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9992" y="3261360"/>
                        <a:ext cx="6614075" cy="2753360"/>
                      </a:xfrm>
                      <a:prstGeom prst="rect">
                        <a:avLst/>
                      </a:prstGeom>
                      <a:noFill/>
                    </p:spPr>
                  </p:pic>
                </p:oleObj>
              </mc:Fallback>
            </mc:AlternateContent>
          </a:graphicData>
        </a:graphic>
      </p:graphicFrame>
      <p:sp>
        <p:nvSpPr>
          <p:cNvPr id="7" name="文本占位符 6"/>
          <p:cNvSpPr>
            <a:spLocks noGrp="1"/>
          </p:cNvSpPr>
          <p:nvPr>
            <p:ph type="body" sz="quarter" idx="10"/>
          </p:nvPr>
        </p:nvSpPr>
        <p:spPr/>
        <p:txBody>
          <a:bodyPr/>
          <a:lstStyle/>
          <a:p>
            <a:fld id="{61901F8F-AC88-4D59-AE9E-317432734AF8}" type="slidenum">
              <a:rPr lang="zh-CN" altLang="en-US" smtClean="0"/>
            </a:fld>
            <a:endParaRPr lang="zh-CN" altLang="en-US" dirty="0"/>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5.6.4</a:t>
            </a:r>
            <a:r>
              <a:rPr lang="en-US" altLang="zh-CN" sz="3200" b="1" dirty="0">
                <a:solidFill>
                  <a:srgbClr val="1353A2"/>
                </a:solidFill>
                <a:latin typeface="微软雅黑" panose="020B0503020204020204" pitchFamily="34" charset="-122"/>
                <a:ea typeface="微软雅黑" panose="020B0503020204020204" pitchFamily="34" charset="-122"/>
              </a:rPr>
              <a:t> Iterator</a:t>
            </a:r>
            <a:r>
              <a:rPr lang="zh-CN" altLang="zh-CN" sz="3200" b="1" dirty="0">
                <a:solidFill>
                  <a:srgbClr val="1353A2"/>
                </a:solidFill>
                <a:latin typeface="微软雅黑" panose="020B0503020204020204" pitchFamily="34" charset="-122"/>
                <a:ea typeface="微软雅黑" panose="020B0503020204020204" pitchFamily="34" charset="-122"/>
              </a:rPr>
              <a:t>接口</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内容占位符 2"/>
          <p:cNvSpPr txBox="1"/>
          <p:nvPr/>
        </p:nvSpPr>
        <p:spPr>
          <a:xfrm>
            <a:off x="1912619" y="1747520"/>
            <a:ext cx="8978901" cy="36474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上图中，</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在调用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Iterator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next()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方法之前，迭代器的索引位于第一个元素之前，不指向任何元素，当第一次调用迭代器的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next()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方法后，迭代器的索引会向后移动一位，指向第一个元素并将该元素返回，当再次调用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next()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方法时，迭代器的索引会指向第二个元素并将该元素返回，以此类推，直到</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hasNext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方法返回</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false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，表示到达了集合的末尾，终止对元素的遍历。</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文本占位符 5"/>
          <p:cNvSpPr>
            <a:spLocks noGrp="1"/>
          </p:cNvSpPr>
          <p:nvPr>
            <p:ph type="body" sz="quarter" idx="10"/>
          </p:nvPr>
        </p:nvSpPr>
        <p:spPr/>
        <p:txBody>
          <a:bodyPr/>
          <a:lstStyle/>
          <a:p>
            <a:fld id="{E5133382-72A8-442C-B5E1-DF727D94773C}"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5.6.4</a:t>
            </a:r>
            <a:r>
              <a:rPr lang="en-US" altLang="zh-CN" sz="3200" b="1" dirty="0">
                <a:solidFill>
                  <a:srgbClr val="1353A2"/>
                </a:solidFill>
                <a:latin typeface="微软雅黑" panose="020B0503020204020204" pitchFamily="34" charset="-122"/>
                <a:ea typeface="微软雅黑" panose="020B0503020204020204" pitchFamily="34" charset="-122"/>
              </a:rPr>
              <a:t> Iterator</a:t>
            </a:r>
            <a:r>
              <a:rPr lang="zh-CN" altLang="zh-CN" sz="3200" b="1" dirty="0">
                <a:solidFill>
                  <a:srgbClr val="1353A2"/>
                </a:solidFill>
                <a:latin typeface="微软雅黑" panose="020B0503020204020204" pitchFamily="34" charset="-122"/>
                <a:ea typeface="微软雅黑" panose="020B0503020204020204" pitchFamily="34" charset="-122"/>
              </a:rPr>
              <a:t>接口</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内容占位符 2"/>
          <p:cNvSpPr txBox="1"/>
          <p:nvPr/>
        </p:nvSpPr>
        <p:spPr>
          <a:xfrm>
            <a:off x="5694678" y="2040853"/>
            <a:ext cx="5242560" cy="24993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通过迭代器获取</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集合中的元素时，这些元素的类型都是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Object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类型，如果想获取到特定类型的元素，则需要进行对数据类型强制转换。</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8" name="组合 7"/>
          <p:cNvGrpSpPr/>
          <p:nvPr/>
        </p:nvGrpSpPr>
        <p:grpSpPr>
          <a:xfrm>
            <a:off x="2230118" y="1584901"/>
            <a:ext cx="2834640" cy="3676730"/>
            <a:chOff x="2311398" y="1676344"/>
            <a:chExt cx="2834640" cy="3676730"/>
          </a:xfrm>
        </p:grpSpPr>
        <p:pic>
          <p:nvPicPr>
            <p:cNvPr id="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8" y="1676344"/>
              <a:ext cx="2834640" cy="367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内容占位符 2"/>
            <p:cNvSpPr txBox="1"/>
            <p:nvPr/>
          </p:nvSpPr>
          <p:spPr>
            <a:xfrm>
              <a:off x="2941318" y="2734203"/>
              <a:ext cx="1762762" cy="64777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注      意</a:t>
              </a:r>
              <a:endParaRPr lang="en-US" altLang="zh-CN" sz="28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6" name="文本占位符 5"/>
          <p:cNvSpPr>
            <a:spLocks noGrp="1"/>
          </p:cNvSpPr>
          <p:nvPr>
            <p:ph type="body" sz="quarter" idx="10"/>
          </p:nvPr>
        </p:nvSpPr>
        <p:spPr/>
        <p:txBody>
          <a:bodyPr/>
          <a:lstStyle/>
          <a:p>
            <a:fld id="{50A723FA-070E-4C9B-AD87-6050AF107683}"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14" presetClass="entr" presetSubtype="1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203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楷体" panose="02010609060101010101" pitchFamily="49" charset="-122"/>
                <a:ea typeface="楷体" panose="02010609060101010101" pitchFamily="49" charset="-122"/>
                <a:sym typeface="Wingdings" panose="05000000000000000000"/>
              </a:rPr>
              <a:t></a:t>
            </a:r>
            <a:r>
              <a:rPr lang="zh-CN" altLang="zh-CN" sz="3200" b="1" dirty="0">
                <a:solidFill>
                  <a:srgbClr val="1353A2"/>
                </a:solidFill>
                <a:latin typeface="楷体" panose="02010609060101010101" pitchFamily="49" charset="-122"/>
                <a:ea typeface="楷体" panose="02010609060101010101" pitchFamily="49" charset="-122"/>
              </a:rPr>
              <a:t>脚下留心：并发修改异常</a:t>
            </a:r>
            <a:endParaRPr lang="zh-CN" altLang="zh-CN" sz="3200" b="1" dirty="0">
              <a:solidFill>
                <a:srgbClr val="1353A2"/>
              </a:solidFill>
              <a:latin typeface="楷体" panose="02010609060101010101" pitchFamily="49" charset="-122"/>
              <a:ea typeface="楷体" panose="02010609060101010101" pitchFamily="49"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内容占位符 2"/>
          <p:cNvSpPr txBox="1"/>
          <p:nvPr/>
        </p:nvSpPr>
        <p:spPr>
          <a:xfrm>
            <a:off x="1673859" y="1452880"/>
            <a:ext cx="6057901" cy="44094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在使用</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Iterator</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迭代器对集合中的元素进行迭代时，如果调用了集合对象的</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remove()</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方法去删除元素之后，继续使用迭代器遍历元素，会出现异常。接下来通过一个案例演示这种异常。假设在一个集合中存储了学校所有学生的姓名，由于一个名为</a:t>
            </a:r>
            <a:r>
              <a:rPr lang="zh-CN" altLang="en-US"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“张三”</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的学生中途转学，这时就需要在迭代集合时找出该元素并将其删除</a:t>
            </a:r>
            <a:r>
              <a:rPr lang="zh-CN" altLang="en-US"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，具体代码如下。</a:t>
            </a:r>
            <a:endPar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317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84161" y="2389504"/>
            <a:ext cx="3661728" cy="2302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占位符 5"/>
          <p:cNvSpPr>
            <a:spLocks noGrp="1"/>
          </p:cNvSpPr>
          <p:nvPr>
            <p:ph type="body" sz="quarter" idx="10"/>
          </p:nvPr>
        </p:nvSpPr>
        <p:spPr/>
        <p:txBody>
          <a:bodyPr/>
          <a:lstStyle/>
          <a:p>
            <a:fld id="{C58B799A-2CB6-4EE8-8E27-C2924F5B02EC}"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6" presetClass="entr" presetSubtype="37" fill="hold" nodeType="afterEffect">
                                  <p:stCondLst>
                                    <p:cond delay="0"/>
                                  </p:stCondLst>
                                  <p:childTnLst>
                                    <p:set>
                                      <p:cBhvr>
                                        <p:cTn id="12" dur="1" fill="hold">
                                          <p:stCondLst>
                                            <p:cond delay="0"/>
                                          </p:stCondLst>
                                        </p:cTn>
                                        <p:tgtEl>
                                          <p:spTgt spid="31746"/>
                                        </p:tgtEl>
                                        <p:attrNameLst>
                                          <p:attrName>style.visibility</p:attrName>
                                        </p:attrNameLst>
                                      </p:cBhvr>
                                      <p:to>
                                        <p:strVal val="visible"/>
                                      </p:to>
                                    </p:set>
                                    <p:animEffect transition="in" filter="barn(outVertical)">
                                      <p:cBhvr>
                                        <p:cTn id="13" dur="500"/>
                                        <p:tgtEl>
                                          <p:spTgt spid="317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203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楷体" panose="02010609060101010101" pitchFamily="49" charset="-122"/>
                <a:ea typeface="楷体" panose="02010609060101010101" pitchFamily="49" charset="-122"/>
                <a:sym typeface="Wingdings" panose="05000000000000000000"/>
              </a:rPr>
              <a:t></a:t>
            </a:r>
            <a:r>
              <a:rPr lang="zh-CN" altLang="zh-CN" sz="3200" b="1" dirty="0">
                <a:solidFill>
                  <a:srgbClr val="1353A2"/>
                </a:solidFill>
                <a:latin typeface="楷体" panose="02010609060101010101" pitchFamily="49" charset="-122"/>
                <a:ea typeface="楷体" panose="02010609060101010101" pitchFamily="49" charset="-122"/>
              </a:rPr>
              <a:t>脚下留心：并发修改异常</a:t>
            </a:r>
            <a:endParaRPr lang="zh-CN" altLang="zh-CN" sz="3200" b="1" dirty="0">
              <a:solidFill>
                <a:srgbClr val="1353A2"/>
              </a:solidFill>
              <a:latin typeface="楷体" panose="02010609060101010101" pitchFamily="49" charset="-122"/>
              <a:ea typeface="楷体" panose="02010609060101010101" pitchFamily="49"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6" name="组合 5"/>
          <p:cNvGrpSpPr/>
          <p:nvPr/>
        </p:nvGrpSpPr>
        <p:grpSpPr>
          <a:xfrm>
            <a:off x="2462525" y="1772920"/>
            <a:ext cx="8381999" cy="3789680"/>
            <a:chOff x="2164080" y="1757680"/>
            <a:chExt cx="8381999" cy="3789680"/>
          </a:xfrm>
        </p:grpSpPr>
        <p:pic>
          <p:nvPicPr>
            <p:cNvPr id="327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64080" y="1757680"/>
              <a:ext cx="8381999" cy="3789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2618739" y="1828800"/>
              <a:ext cx="7642861" cy="35356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import </a:t>
              </a:r>
              <a:r>
                <a:rPr lang="en-US" altLang="zh-CN" sz="18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java.util</a:t>
              </a: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public class Example04 {</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public static void main(String[] </a:t>
              </a:r>
              <a:r>
                <a:rPr lang="en-US" altLang="zh-CN" sz="18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args</a:t>
              </a: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r>
                <a:rPr lang="en-US" altLang="zh-CN" sz="18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ArrayList</a:t>
              </a: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list = new </a:t>
              </a:r>
              <a:r>
                <a:rPr lang="en-US" altLang="zh-CN" sz="18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ArrayList</a:t>
              </a: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r>
                <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创建</a:t>
              </a:r>
              <a:r>
                <a:rPr lang="en-US" altLang="zh-CN" sz="18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ArrayList</a:t>
              </a:r>
              <a:r>
                <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集合</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r>
                <a:rPr lang="en-US" altLang="zh-CN" sz="18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list.add</a:t>
              </a: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r>
                <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张三</a:t>
              </a: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r>
                <a:rPr lang="en-US" altLang="zh-CN" sz="18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list.add</a:t>
              </a: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r>
                <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李四</a:t>
              </a: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r>
                <a:rPr lang="en-US" altLang="zh-CN" sz="18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list.add</a:t>
              </a: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r>
                <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王五</a:t>
              </a: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Iterator it = </a:t>
              </a:r>
              <a:r>
                <a:rPr lang="en-US" altLang="zh-CN" sz="18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list.iterator</a:t>
              </a: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 </a:t>
              </a:r>
              <a:r>
                <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获得</a:t>
              </a: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Iterator</a:t>
              </a:r>
              <a:r>
                <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对象</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p:txBody>
        </p:sp>
      </p:gr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文本占位符 6"/>
          <p:cNvSpPr>
            <a:spLocks noGrp="1"/>
          </p:cNvSpPr>
          <p:nvPr>
            <p:ph type="body" sz="quarter" idx="10"/>
          </p:nvPr>
        </p:nvSpPr>
        <p:spPr/>
        <p:txBody>
          <a:bodyPr/>
          <a:lstStyle/>
          <a:p>
            <a:fld id="{179CE24D-CF35-45E9-94DC-D4A163D9ACED}"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203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楷体" panose="02010609060101010101" pitchFamily="49" charset="-122"/>
                <a:ea typeface="楷体" panose="02010609060101010101" pitchFamily="49" charset="-122"/>
                <a:sym typeface="Wingdings" panose="05000000000000000000"/>
              </a:rPr>
              <a:t></a:t>
            </a:r>
            <a:r>
              <a:rPr lang="zh-CN" altLang="zh-CN" sz="3200" b="1" dirty="0">
                <a:solidFill>
                  <a:srgbClr val="1353A2"/>
                </a:solidFill>
                <a:latin typeface="楷体" panose="02010609060101010101" pitchFamily="49" charset="-122"/>
                <a:ea typeface="楷体" panose="02010609060101010101" pitchFamily="49" charset="-122"/>
              </a:rPr>
              <a:t>脚下留心：并发修改异常</a:t>
            </a:r>
            <a:endParaRPr lang="zh-CN" altLang="zh-CN" sz="3200" b="1" dirty="0">
              <a:solidFill>
                <a:srgbClr val="1353A2"/>
              </a:solidFill>
              <a:latin typeface="楷体" panose="02010609060101010101" pitchFamily="49" charset="-122"/>
              <a:ea typeface="楷体" panose="02010609060101010101" pitchFamily="49"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6" name="组合 5"/>
          <p:cNvGrpSpPr/>
          <p:nvPr/>
        </p:nvGrpSpPr>
        <p:grpSpPr>
          <a:xfrm>
            <a:off x="2250438" y="1696720"/>
            <a:ext cx="8808719" cy="3992880"/>
            <a:chOff x="2032000" y="1625600"/>
            <a:chExt cx="8808719" cy="3992880"/>
          </a:xfrm>
        </p:grpSpPr>
        <p:pic>
          <p:nvPicPr>
            <p:cNvPr id="337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32000" y="1625600"/>
              <a:ext cx="8808719" cy="3992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2311398" y="1737360"/>
              <a:ext cx="8425181" cy="38201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while (</a:t>
              </a:r>
              <a:r>
                <a:rPr lang="en-US" altLang="zh-CN" sz="18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it.hasNext</a:t>
              </a: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                // </a:t>
              </a:r>
              <a:r>
                <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判断该集合是否有下一个元素</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Object </a:t>
              </a:r>
              <a:r>
                <a:rPr lang="en-US" altLang="zh-CN" sz="18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obj</a:t>
              </a: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 </a:t>
              </a:r>
              <a:r>
                <a:rPr lang="en-US" altLang="zh-CN" sz="18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it.next</a:t>
              </a: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 </a:t>
              </a:r>
              <a:r>
                <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获取该集合中的元素</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if ("</a:t>
              </a:r>
              <a:r>
                <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张三</a:t>
              </a: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".equals(</a:t>
              </a:r>
              <a:r>
                <a:rPr lang="en-US" altLang="zh-CN" sz="18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obj</a:t>
              </a: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	// </a:t>
              </a:r>
              <a:r>
                <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判断该集合中的元素是否为张三</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r>
                <a:rPr lang="en-US" altLang="zh-CN" sz="18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list.remove</a:t>
              </a: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r>
                <a:rPr lang="en-US" altLang="zh-CN" sz="18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obj</a:t>
              </a: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 </a:t>
              </a:r>
              <a:r>
                <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删除该集合中的元素</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r>
                <a:rPr lang="en-US" altLang="zh-CN" sz="18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System.out.println</a:t>
              </a: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(list);</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 }</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p:txBody>
        </p:sp>
      </p:gr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文本占位符 6"/>
          <p:cNvSpPr>
            <a:spLocks noGrp="1"/>
          </p:cNvSpPr>
          <p:nvPr>
            <p:ph type="body" sz="quarter" idx="10"/>
          </p:nvPr>
        </p:nvSpPr>
        <p:spPr/>
        <p:txBody>
          <a:bodyPr/>
          <a:lstStyle/>
          <a:p>
            <a:fld id="{E912B46C-EE01-48BB-A375-A9B5FB7240D3}"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203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楷体" panose="02010609060101010101" pitchFamily="49" charset="-122"/>
                <a:ea typeface="楷体" panose="02010609060101010101" pitchFamily="49" charset="-122"/>
                <a:sym typeface="Wingdings" panose="05000000000000000000"/>
              </a:rPr>
              <a:t></a:t>
            </a:r>
            <a:r>
              <a:rPr lang="zh-CN" altLang="zh-CN" sz="3200" b="1" dirty="0">
                <a:solidFill>
                  <a:srgbClr val="1353A2"/>
                </a:solidFill>
                <a:latin typeface="楷体" panose="02010609060101010101" pitchFamily="49" charset="-122"/>
                <a:ea typeface="楷体" panose="02010609060101010101" pitchFamily="49" charset="-122"/>
              </a:rPr>
              <a:t>脚下留心：并发修改异常</a:t>
            </a:r>
            <a:endParaRPr lang="zh-CN" altLang="zh-CN" sz="3200" b="1" dirty="0">
              <a:solidFill>
                <a:srgbClr val="1353A2"/>
              </a:solidFill>
              <a:latin typeface="楷体" panose="02010609060101010101" pitchFamily="49" charset="-122"/>
              <a:ea typeface="楷体" panose="02010609060101010101" pitchFamily="49"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内容占位符 2"/>
          <p:cNvSpPr txBox="1"/>
          <p:nvPr/>
        </p:nvSpPr>
        <p:spPr>
          <a:xfrm>
            <a:off x="1673859" y="1452880"/>
            <a:ext cx="6057901" cy="812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程序运行结果如下图。 </a:t>
            </a:r>
            <a:endPar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0" name="图片 9" descr="C:\Users\itcast\AppData\Local\Temp\1583130456(1).png"/>
          <p:cNvPicPr/>
          <p:nvPr/>
        </p:nvPicPr>
        <p:blipFill>
          <a:blip r:embed="rId1" cstate="print">
            <a:extLst>
              <a:ext uri="{28A0092B-C50C-407E-A947-70E740481C1C}">
                <a14:useLocalDpi xmlns:a14="http://schemas.microsoft.com/office/drawing/2010/main" val="0"/>
              </a:ext>
            </a:extLst>
          </a:blip>
          <a:srcRect/>
          <a:stretch>
            <a:fillRect/>
          </a:stretch>
        </p:blipFill>
        <p:spPr>
          <a:xfrm>
            <a:off x="2966720" y="2500947"/>
            <a:ext cx="6890067" cy="2599373"/>
          </a:xfrm>
          <a:prstGeom prst="rect">
            <a:avLst/>
          </a:prstGeom>
          <a:noFill/>
          <a:ln>
            <a:noFill/>
          </a:ln>
        </p:spPr>
      </p:pic>
      <p:sp>
        <p:nvSpPr>
          <p:cNvPr id="6" name="文本占位符 5"/>
          <p:cNvSpPr>
            <a:spLocks noGrp="1"/>
          </p:cNvSpPr>
          <p:nvPr>
            <p:ph type="body" sz="quarter" idx="10"/>
          </p:nvPr>
        </p:nvSpPr>
        <p:spPr/>
        <p:txBody>
          <a:bodyPr/>
          <a:lstStyle/>
          <a:p>
            <a:fld id="{792B94F3-2F79-482F-8D40-CDFFED71519E}"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203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楷体" panose="02010609060101010101" pitchFamily="49" charset="-122"/>
                <a:ea typeface="楷体" panose="02010609060101010101" pitchFamily="49" charset="-122"/>
                <a:sym typeface="Wingdings" panose="05000000000000000000"/>
              </a:rPr>
              <a:t></a:t>
            </a:r>
            <a:r>
              <a:rPr lang="zh-CN" altLang="zh-CN" sz="3200" b="1" dirty="0">
                <a:solidFill>
                  <a:srgbClr val="1353A2"/>
                </a:solidFill>
                <a:latin typeface="楷体" panose="02010609060101010101" pitchFamily="49" charset="-122"/>
                <a:ea typeface="楷体" panose="02010609060101010101" pitchFamily="49" charset="-122"/>
              </a:rPr>
              <a:t>脚下留心：并发修改异常</a:t>
            </a:r>
            <a:endParaRPr lang="zh-CN" altLang="zh-CN" sz="3200" b="1" dirty="0">
              <a:solidFill>
                <a:srgbClr val="1353A2"/>
              </a:solidFill>
              <a:latin typeface="楷体" panose="02010609060101010101" pitchFamily="49" charset="-122"/>
              <a:ea typeface="楷体" panose="02010609060101010101" pitchFamily="49"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内容占位符 2"/>
          <p:cNvSpPr txBox="1"/>
          <p:nvPr/>
        </p:nvSpPr>
        <p:spPr>
          <a:xfrm>
            <a:off x="4711028" y="1682115"/>
            <a:ext cx="5519421" cy="35661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上述程序</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在运行时出现了并发修改异常</a:t>
            </a:r>
            <a:r>
              <a:rPr lang="en-US" altLang="zh-CN" sz="24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ConcurrentModificationException</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。这个异常是迭代器对象抛出的，出现异常的原因是集合在迭代器运行期间删除了元素，会导致迭代器预期的迭代次数发生改变，导致迭代器的结果不准确。</a:t>
            </a:r>
            <a:endPar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348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46337" y="1727200"/>
            <a:ext cx="2995613" cy="352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占位符 5"/>
          <p:cNvSpPr>
            <a:spLocks noGrp="1"/>
          </p:cNvSpPr>
          <p:nvPr>
            <p:ph type="body" sz="quarter" idx="10"/>
          </p:nvPr>
        </p:nvSpPr>
        <p:spPr/>
        <p:txBody>
          <a:bodyPr/>
          <a:lstStyle/>
          <a:p>
            <a:fld id="{8BAE5807-7425-4A07-B8AB-26F89786DE77}"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4818"/>
                                        </p:tgtEl>
                                        <p:attrNameLst>
                                          <p:attrName>style.visibility</p:attrName>
                                        </p:attrNameLst>
                                      </p:cBhvr>
                                      <p:to>
                                        <p:strVal val="visible"/>
                                      </p:to>
                                    </p:set>
                                    <p:animEffect transition="in" filter="fade">
                                      <p:cBhvr>
                                        <p:cTn id="7" dur="500"/>
                                        <p:tgtEl>
                                          <p:spTgt spid="34818"/>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203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楷体" panose="02010609060101010101" pitchFamily="49" charset="-122"/>
                <a:ea typeface="楷体" panose="02010609060101010101" pitchFamily="49" charset="-122"/>
                <a:sym typeface="Wingdings" panose="05000000000000000000"/>
              </a:rPr>
              <a:t></a:t>
            </a:r>
            <a:r>
              <a:rPr lang="zh-CN" altLang="zh-CN" sz="3200" b="1" dirty="0">
                <a:solidFill>
                  <a:srgbClr val="1353A2"/>
                </a:solidFill>
                <a:latin typeface="楷体" panose="02010609060101010101" pitchFamily="49" charset="-122"/>
                <a:ea typeface="楷体" panose="02010609060101010101" pitchFamily="49" charset="-122"/>
              </a:rPr>
              <a:t>脚下留心：并发修改异常</a:t>
            </a:r>
            <a:endParaRPr lang="zh-CN" altLang="zh-CN" sz="3200" b="1" dirty="0">
              <a:solidFill>
                <a:srgbClr val="1353A2"/>
              </a:solidFill>
              <a:latin typeface="楷体" panose="02010609060101010101" pitchFamily="49" charset="-122"/>
              <a:ea typeface="楷体" panose="02010609060101010101" pitchFamily="49"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内容占位符 2"/>
          <p:cNvSpPr txBox="1"/>
          <p:nvPr/>
        </p:nvSpPr>
        <p:spPr>
          <a:xfrm>
            <a:off x="2419815" y="1379777"/>
            <a:ext cx="8642195" cy="46939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要解决上述问题，可以采用两种方式，下面分别介绍。 </a:t>
            </a:r>
            <a:endPar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第一种方式</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：从业务逻辑上讲只想将姓名为</a:t>
            </a:r>
            <a:r>
              <a:rPr lang="zh-CN" altLang="en-US"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“张三”</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的学生删除，至于后面还有多少学生并不需要关心，只需找到该学生后跳出循环不再迭代即可，也就是在第</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12</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行代码下面增加一个</a:t>
            </a:r>
            <a:r>
              <a:rPr lang="en-US" altLang="zh-CN" sz="24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break</a:t>
            </a:r>
            <a:r>
              <a:rPr lang="zh-CN" altLang="zh-CN" sz="24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语句</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，代码如下：</a:t>
            </a:r>
            <a:endPar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if ("</a:t>
            </a:r>
            <a:r>
              <a:rPr lang="zh-CN"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张三</a:t>
            </a:r>
            <a:r>
              <a:rPr lang="en-US"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".equals(</a:t>
            </a:r>
            <a:r>
              <a:rPr lang="en-US" altLang="zh-CN" sz="2000" dirty="0" err="1">
                <a:solidFill>
                  <a:srgbClr val="00B0F0"/>
                </a:solidFill>
                <a:latin typeface="楷体" panose="02010609060101010101" pitchFamily="49" charset="-122"/>
                <a:ea typeface="楷体" panose="02010609060101010101" pitchFamily="49" charset="-122"/>
                <a:cs typeface="Times New Roman" panose="02020603050405020304" pitchFamily="18" charset="0"/>
              </a:rPr>
              <a:t>obj</a:t>
            </a:r>
            <a:r>
              <a:rPr lang="en-US"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 {</a:t>
            </a:r>
            <a:endParaRPr lang="zh-CN"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	</a:t>
            </a:r>
            <a:r>
              <a:rPr lang="en-US" altLang="zh-CN" sz="2000" dirty="0" err="1">
                <a:solidFill>
                  <a:srgbClr val="00B0F0"/>
                </a:solidFill>
                <a:latin typeface="楷体" panose="02010609060101010101" pitchFamily="49" charset="-122"/>
                <a:ea typeface="楷体" panose="02010609060101010101" pitchFamily="49" charset="-122"/>
                <a:cs typeface="Times New Roman" panose="02020603050405020304" pitchFamily="18" charset="0"/>
              </a:rPr>
              <a:t>list.remove</a:t>
            </a:r>
            <a:r>
              <a:rPr lang="en-US"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a:t>
            </a:r>
            <a:r>
              <a:rPr lang="en-US" altLang="zh-CN" sz="2000" dirty="0" err="1">
                <a:solidFill>
                  <a:srgbClr val="00B0F0"/>
                </a:solidFill>
                <a:latin typeface="楷体" panose="02010609060101010101" pitchFamily="49" charset="-122"/>
                <a:ea typeface="楷体" panose="02010609060101010101" pitchFamily="49" charset="-122"/>
                <a:cs typeface="Times New Roman" panose="02020603050405020304" pitchFamily="18" charset="0"/>
              </a:rPr>
              <a:t>obj</a:t>
            </a:r>
            <a:r>
              <a:rPr lang="en-US"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a:t>
            </a:r>
            <a:endParaRPr lang="zh-CN"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	break;</a:t>
            </a:r>
            <a:endParaRPr lang="zh-CN"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a:t>
            </a:r>
            <a:endParaRPr lang="zh-CN"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文本占位符 5"/>
          <p:cNvSpPr>
            <a:spLocks noGrp="1"/>
          </p:cNvSpPr>
          <p:nvPr>
            <p:ph type="body" sz="quarter" idx="10"/>
          </p:nvPr>
        </p:nvSpPr>
        <p:spPr/>
        <p:txBody>
          <a:bodyPr/>
          <a:lstStyle/>
          <a:p>
            <a:fld id="{04D6C7F6-84E0-4C89-AB88-566A850E6420}"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203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楷体" panose="02010609060101010101" pitchFamily="49" charset="-122"/>
                <a:ea typeface="楷体" panose="02010609060101010101" pitchFamily="49" charset="-122"/>
                <a:sym typeface="Wingdings" panose="05000000000000000000"/>
              </a:rPr>
              <a:t></a:t>
            </a:r>
            <a:r>
              <a:rPr lang="zh-CN" altLang="zh-CN" sz="3200" b="1" dirty="0">
                <a:solidFill>
                  <a:srgbClr val="1353A2"/>
                </a:solidFill>
                <a:latin typeface="楷体" panose="02010609060101010101" pitchFamily="49" charset="-122"/>
                <a:ea typeface="楷体" panose="02010609060101010101" pitchFamily="49" charset="-122"/>
              </a:rPr>
              <a:t>脚下留心：并发修改异常</a:t>
            </a:r>
            <a:endParaRPr lang="zh-CN" altLang="zh-CN" sz="3200" b="1" dirty="0">
              <a:solidFill>
                <a:srgbClr val="1353A2"/>
              </a:solidFill>
              <a:latin typeface="楷体" panose="02010609060101010101" pitchFamily="49" charset="-122"/>
              <a:ea typeface="楷体" panose="02010609060101010101" pitchFamily="49"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内容占位符 2"/>
          <p:cNvSpPr txBox="1"/>
          <p:nvPr/>
        </p:nvSpPr>
        <p:spPr>
          <a:xfrm>
            <a:off x="1753528" y="1443463"/>
            <a:ext cx="9684958" cy="33832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rgbClr val="FF0000"/>
                </a:solidFill>
                <a:latin typeface="楷体" panose="02010609060101010101" pitchFamily="49" charset="-122"/>
                <a:ea typeface="楷体" panose="02010609060101010101" pitchFamily="49" charset="-122"/>
                <a:cs typeface="Times New Roman" panose="02020603050405020304" pitchFamily="18" charset="0"/>
              </a:rPr>
              <a:t>第二种方式</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：如果需要在集合的迭代期间对集合中的元素进行删除，可以使用迭代器本身的删除方法，将第</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12</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行代码替换成</a:t>
            </a:r>
            <a:r>
              <a:rPr lang="en-US" altLang="zh-CN" dirty="0" err="1">
                <a:solidFill>
                  <a:srgbClr val="FF0000"/>
                </a:solidFill>
                <a:latin typeface="楷体" panose="02010609060101010101" pitchFamily="49" charset="-122"/>
                <a:ea typeface="楷体" panose="02010609060101010101" pitchFamily="49" charset="-122"/>
                <a:cs typeface="Times New Roman" panose="02020603050405020304" pitchFamily="18" charset="0"/>
              </a:rPr>
              <a:t>it.remove</a:t>
            </a:r>
            <a:r>
              <a:rPr lang="en-US" altLang="zh-CN" dirty="0">
                <a:solidFill>
                  <a:srgbClr val="FF0000"/>
                </a:solidFill>
                <a:latin typeface="楷体" panose="02010609060101010101" pitchFamily="49" charset="-122"/>
                <a:ea typeface="楷体" panose="02010609060101010101" pitchFamily="49" charset="-122"/>
                <a:cs typeface="Times New Roman" panose="02020603050405020304" pitchFamily="18" charset="0"/>
              </a:rPr>
              <a:t>()</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即可解决这个问题</a:t>
            </a:r>
            <a:r>
              <a:rPr lang="zh-CN" altLang="en-US"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a:t>
            </a:r>
            <a:endPar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if ("</a:t>
            </a:r>
            <a:r>
              <a:rPr lang="zh-CN"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张三</a:t>
            </a:r>
            <a:r>
              <a:rPr lang="en-US"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".equals(</a:t>
            </a:r>
            <a:r>
              <a:rPr lang="en-US" altLang="zh-CN" sz="2000" dirty="0" err="1">
                <a:solidFill>
                  <a:srgbClr val="00B0F0"/>
                </a:solidFill>
                <a:latin typeface="楷体" panose="02010609060101010101" pitchFamily="49" charset="-122"/>
                <a:ea typeface="楷体" panose="02010609060101010101" pitchFamily="49" charset="-122"/>
                <a:cs typeface="Times New Roman" panose="02020603050405020304" pitchFamily="18" charset="0"/>
              </a:rPr>
              <a:t>obj</a:t>
            </a:r>
            <a:r>
              <a:rPr lang="en-US"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 { </a:t>
            </a:r>
            <a:endParaRPr lang="zh-CN"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	</a:t>
            </a:r>
            <a:r>
              <a:rPr lang="en-US" altLang="zh-CN" sz="2000" dirty="0" err="1">
                <a:solidFill>
                  <a:srgbClr val="00B0F0"/>
                </a:solidFill>
                <a:latin typeface="楷体" panose="02010609060101010101" pitchFamily="49" charset="-122"/>
                <a:ea typeface="楷体" panose="02010609060101010101" pitchFamily="49" charset="-122"/>
                <a:cs typeface="Times New Roman" panose="02020603050405020304" pitchFamily="18" charset="0"/>
              </a:rPr>
              <a:t>it.remove</a:t>
            </a:r>
            <a:r>
              <a:rPr lang="en-US"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 </a:t>
            </a:r>
            <a:endParaRPr lang="zh-CN"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rPr>
              <a:t>}</a:t>
            </a:r>
            <a:endParaRPr lang="zh-CN" altLang="zh-CN" sz="2000" dirty="0">
              <a:solidFill>
                <a:srgbClr val="00B0F0"/>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文本占位符 5"/>
          <p:cNvSpPr>
            <a:spLocks noGrp="1"/>
          </p:cNvSpPr>
          <p:nvPr>
            <p:ph type="body" sz="quarter" idx="10"/>
          </p:nvPr>
        </p:nvSpPr>
        <p:spPr/>
        <p:txBody>
          <a:bodyPr/>
          <a:lstStyle/>
          <a:p>
            <a:fld id="{C1712DE0-FF37-4FAC-9417-5EB61A98DD80}"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203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楷体" panose="02010609060101010101" pitchFamily="49" charset="-122"/>
                <a:ea typeface="楷体" panose="02010609060101010101" pitchFamily="49" charset="-122"/>
                <a:sym typeface="Wingdings" panose="05000000000000000000"/>
              </a:rPr>
              <a:t></a:t>
            </a:r>
            <a:r>
              <a:rPr lang="zh-CN" altLang="zh-CN" sz="3200" b="1" dirty="0">
                <a:solidFill>
                  <a:srgbClr val="1353A2"/>
                </a:solidFill>
                <a:latin typeface="楷体" panose="02010609060101010101" pitchFamily="49" charset="-122"/>
                <a:ea typeface="楷体" panose="02010609060101010101" pitchFamily="49" charset="-122"/>
              </a:rPr>
              <a:t>脚下留心：并发修改异常</a:t>
            </a:r>
            <a:endParaRPr lang="zh-CN" altLang="zh-CN" sz="3200" b="1" dirty="0">
              <a:solidFill>
                <a:srgbClr val="1353A2"/>
              </a:solidFill>
              <a:latin typeface="楷体" panose="02010609060101010101" pitchFamily="49" charset="-122"/>
              <a:ea typeface="楷体" panose="02010609060101010101" pitchFamily="49"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内容占位符 2"/>
          <p:cNvSpPr txBox="1"/>
          <p:nvPr/>
        </p:nvSpPr>
        <p:spPr>
          <a:xfrm>
            <a:off x="1734819" y="1757680"/>
            <a:ext cx="5996941" cy="3088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由运行结果可知，</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学员</a:t>
            </a:r>
            <a:r>
              <a:rPr lang="zh-CN" altLang="en-US"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张三</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确实被删除了，并且没有出现异常。因此可以得出结论，调用迭代器对象的</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remove()</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方法删除元素所导致的迭代次数变化，对于迭代器对象本身来讲是可预知的。</a:t>
            </a:r>
            <a:endPar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358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31760" y="1757680"/>
            <a:ext cx="3303106" cy="3627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占位符 5"/>
          <p:cNvSpPr>
            <a:spLocks noGrp="1"/>
          </p:cNvSpPr>
          <p:nvPr>
            <p:ph type="body" sz="quarter" idx="10"/>
          </p:nvPr>
        </p:nvSpPr>
        <p:spPr/>
        <p:txBody>
          <a:bodyPr/>
          <a:lstStyle/>
          <a:p>
            <a:fld id="{A3529177-4742-4DA2-81BF-34A4E0015414}"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nodeType="afterEffect">
                                  <p:stCondLst>
                                    <p:cond delay="0"/>
                                  </p:stCondLst>
                                  <p:childTnLst>
                                    <p:set>
                                      <p:cBhvr>
                                        <p:cTn id="12" dur="1" fill="hold">
                                          <p:stCondLst>
                                            <p:cond delay="0"/>
                                          </p:stCondLst>
                                        </p:cTn>
                                        <p:tgtEl>
                                          <p:spTgt spid="35842"/>
                                        </p:tgtEl>
                                        <p:attrNameLst>
                                          <p:attrName>style.visibility</p:attrName>
                                        </p:attrNameLst>
                                      </p:cBhvr>
                                      <p:to>
                                        <p:strVal val="visible"/>
                                      </p:to>
                                    </p:set>
                                    <p:animEffect transition="in" filter="fade">
                                      <p:cBhvr>
                                        <p:cTn id="13" dur="500"/>
                                        <p:tgtEl>
                                          <p:spTgt spid="35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1054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foreach</a:t>
            </a:r>
            <a:r>
              <a:rPr lang="zh-CN" altLang="en-US" sz="3200" b="1" dirty="0">
                <a:solidFill>
                  <a:srgbClr val="1353A2"/>
                </a:solidFill>
                <a:latin typeface="微软雅黑" panose="020B0503020204020204" pitchFamily="34" charset="-122"/>
                <a:ea typeface="微软雅黑" panose="020B0503020204020204" pitchFamily="34" charset="-122"/>
              </a:rPr>
              <a:t>循环</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内容占位符 2"/>
          <p:cNvSpPr txBox="1"/>
          <p:nvPr/>
        </p:nvSpPr>
        <p:spPr>
          <a:xfrm>
            <a:off x="1536699" y="1277062"/>
            <a:ext cx="9852662" cy="481150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从</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JDK5</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开始，提供了</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foreach</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循环。</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foreach</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循环是一种更加简洁的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for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循环，也称增强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for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循环。</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foreach</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循环用于遍历数组或集合中的元素，具体语法格式如下：</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for(</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容器中元素类型 临时变量 ：容器变量</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执行语句</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与</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for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循环相比，</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foreach</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循环不需要获得容器的长度，也不需要根据索引访问容器中的元素，但它会自动遍历容器中的每个元素。</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文本占位符 5"/>
          <p:cNvSpPr>
            <a:spLocks noGrp="1"/>
          </p:cNvSpPr>
          <p:nvPr>
            <p:ph type="body" sz="quarter" idx="10"/>
          </p:nvPr>
        </p:nvSpPr>
        <p:spPr/>
        <p:txBody>
          <a:bodyPr/>
          <a:lstStyle/>
          <a:p>
            <a:fld id="{6CBEC03C-5C1B-4EBE-AA73-B4EE45E0CE0F}"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66656" y="1503680"/>
            <a:ext cx="9269643" cy="4533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51054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foreach</a:t>
            </a:r>
            <a:r>
              <a:rPr lang="zh-CN" altLang="en-US" sz="3200" b="1" dirty="0">
                <a:solidFill>
                  <a:srgbClr val="1353A2"/>
                </a:solidFill>
                <a:latin typeface="微软雅黑" panose="020B0503020204020204" pitchFamily="34" charset="-122"/>
                <a:ea typeface="微软雅黑" panose="020B0503020204020204" pitchFamily="34" charset="-122"/>
              </a:rPr>
              <a:t>循环</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内容占位符 2"/>
          <p:cNvSpPr txBox="1"/>
          <p:nvPr/>
        </p:nvSpPr>
        <p:spPr>
          <a:xfrm>
            <a:off x="1766656" y="1548070"/>
            <a:ext cx="9269643" cy="44500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Example05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list = new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list.add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aaa</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向</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集合中添加字符串元素</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list.add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bbb</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list.add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("ccc");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for (Object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list) {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使用</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foreach</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循环遍历</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取出并打印</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集合中的元素</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文本占位符 5"/>
          <p:cNvSpPr>
            <a:spLocks noGrp="1"/>
          </p:cNvSpPr>
          <p:nvPr>
            <p:ph type="body" sz="quarter" idx="10"/>
          </p:nvPr>
        </p:nvSpPr>
        <p:spPr/>
        <p:txBody>
          <a:bodyPr/>
          <a:lstStyle/>
          <a:p>
            <a:fld id="{2DDF6004-3987-4651-91FF-686EC3F3BBF2}" type="slidenum">
              <a:rPr lang="zh-CN" altLang="en-US" smtClean="0"/>
            </a:fld>
            <a:endParaRPr lang="zh-CN" altLang="en-US" dirty="0"/>
          </a:p>
        </p:txBody>
      </p:sp>
    </p:spTree>
    <p:custDataLst>
      <p:tags r:id="rId2"/>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337533"/>
            <a:ext cx="6385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楷体" panose="02010609060101010101" pitchFamily="49" charset="-122"/>
                <a:ea typeface="楷体" panose="02010609060101010101" pitchFamily="49" charset="-122"/>
                <a:sym typeface="Wingdings" panose="05000000000000000000"/>
              </a:rPr>
              <a:t></a:t>
            </a:r>
            <a:r>
              <a:rPr lang="zh-CN" altLang="zh-CN" sz="3200" b="1" dirty="0">
                <a:solidFill>
                  <a:srgbClr val="1353A2"/>
                </a:solidFill>
                <a:latin typeface="楷体" panose="02010609060101010101" pitchFamily="49" charset="-122"/>
                <a:ea typeface="楷体" panose="02010609060101010101" pitchFamily="49" charset="-122"/>
              </a:rPr>
              <a:t>脚下留心：</a:t>
            </a:r>
            <a:r>
              <a:rPr lang="en-US" altLang="zh-CN" sz="3200" b="1" dirty="0">
                <a:solidFill>
                  <a:srgbClr val="1353A2"/>
                </a:solidFill>
                <a:latin typeface="楷体" panose="02010609060101010101" pitchFamily="49" charset="-122"/>
                <a:ea typeface="楷体" panose="02010609060101010101" pitchFamily="49" charset="-122"/>
              </a:rPr>
              <a:t> </a:t>
            </a:r>
            <a:r>
              <a:rPr lang="en-US" altLang="zh-CN" sz="3200" b="1" dirty="0" err="1">
                <a:solidFill>
                  <a:srgbClr val="1353A2"/>
                </a:solidFill>
                <a:latin typeface="楷体" panose="02010609060101010101" pitchFamily="49" charset="-122"/>
                <a:ea typeface="楷体" panose="02010609060101010101" pitchFamily="49" charset="-122"/>
              </a:rPr>
              <a:t>foreach</a:t>
            </a:r>
            <a:r>
              <a:rPr lang="zh-CN" altLang="en-US" sz="3200" b="1" dirty="0">
                <a:solidFill>
                  <a:srgbClr val="1353A2"/>
                </a:solidFill>
                <a:latin typeface="楷体" panose="02010609060101010101" pitchFamily="49" charset="-122"/>
                <a:ea typeface="楷体" panose="02010609060101010101" pitchFamily="49" charset="-122"/>
              </a:rPr>
              <a:t>循环缺陷</a:t>
            </a:r>
            <a:endParaRPr lang="zh-CN" altLang="en-US" sz="3200" b="1" dirty="0">
              <a:solidFill>
                <a:srgbClr val="1353A2"/>
              </a:solidFill>
              <a:latin typeface="楷体" panose="02010609060101010101" pitchFamily="49" charset="-122"/>
              <a:ea typeface="楷体" panose="02010609060101010101" pitchFamily="49"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2311398" y="1594376"/>
            <a:ext cx="7909189" cy="2326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foreach</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循环虽然书写起来很简洁，但在使用时也存在一定的局限性。当使用</a:t>
            </a:r>
            <a:r>
              <a:rPr lang="en-US" altLang="zh-CN" sz="2400" dirty="0" err="1">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foreach</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rPr>
              <a:t>循环遍历集合和数组时，只能访问集合中的元素，不能对其中的元素进行修改。</a:t>
            </a:r>
            <a:endPar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anose="02020603050405020304" pitchFamily="18" charset="0"/>
            </a:endParaRPr>
          </a:p>
        </p:txBody>
      </p:sp>
      <p:sp>
        <p:nvSpPr>
          <p:cNvPr id="7" name="文本占位符 6"/>
          <p:cNvSpPr>
            <a:spLocks noGrp="1"/>
          </p:cNvSpPr>
          <p:nvPr>
            <p:ph type="body" sz="quarter" idx="10"/>
          </p:nvPr>
        </p:nvSpPr>
        <p:spPr/>
        <p:txBody>
          <a:bodyPr/>
          <a:lstStyle/>
          <a:p>
            <a:fld id="{B6670653-F208-4926-B23B-AD0EEBF5B65F}"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373164"/>
            <a:ext cx="638556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楷体" panose="02010609060101010101" pitchFamily="49" charset="-122"/>
                <a:ea typeface="楷体" panose="02010609060101010101" pitchFamily="49" charset="-122"/>
                <a:sym typeface="Wingdings" panose="05000000000000000000"/>
              </a:rPr>
              <a:t></a:t>
            </a:r>
            <a:r>
              <a:rPr lang="zh-CN" altLang="zh-CN" sz="3200" b="1" dirty="0">
                <a:solidFill>
                  <a:srgbClr val="1353A2"/>
                </a:solidFill>
                <a:latin typeface="楷体" panose="02010609060101010101" pitchFamily="49" charset="-122"/>
                <a:ea typeface="楷体" panose="02010609060101010101" pitchFamily="49" charset="-122"/>
              </a:rPr>
              <a:t>脚下留心：</a:t>
            </a:r>
            <a:r>
              <a:rPr lang="en-US" altLang="zh-CN" sz="3200" b="1" dirty="0">
                <a:solidFill>
                  <a:srgbClr val="1353A2"/>
                </a:solidFill>
                <a:latin typeface="楷体" panose="02010609060101010101" pitchFamily="49" charset="-122"/>
                <a:ea typeface="楷体" panose="02010609060101010101" pitchFamily="49" charset="-122"/>
              </a:rPr>
              <a:t> </a:t>
            </a:r>
            <a:r>
              <a:rPr lang="en-US" altLang="zh-CN" sz="3200" b="1" dirty="0" err="1">
                <a:solidFill>
                  <a:srgbClr val="1353A2"/>
                </a:solidFill>
                <a:latin typeface="楷体" panose="02010609060101010101" pitchFamily="49" charset="-122"/>
                <a:ea typeface="楷体" panose="02010609060101010101" pitchFamily="49" charset="-122"/>
              </a:rPr>
              <a:t>foreach</a:t>
            </a:r>
            <a:r>
              <a:rPr lang="zh-CN" altLang="en-US" sz="3200" b="1" dirty="0">
                <a:solidFill>
                  <a:srgbClr val="1353A2"/>
                </a:solidFill>
                <a:latin typeface="楷体" panose="02010609060101010101" pitchFamily="49" charset="-122"/>
                <a:ea typeface="楷体" panose="02010609060101010101" pitchFamily="49" charset="-122"/>
              </a:rPr>
              <a:t>循环缺陷</a:t>
            </a:r>
            <a:endParaRPr lang="zh-CN" altLang="en-US" sz="3200" b="1" dirty="0">
              <a:solidFill>
                <a:srgbClr val="1353A2"/>
              </a:solidFill>
              <a:latin typeface="楷体" panose="02010609060101010101" pitchFamily="49" charset="-122"/>
              <a:ea typeface="楷体" panose="02010609060101010101" pitchFamily="49"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6" name="组合 5"/>
          <p:cNvGrpSpPr/>
          <p:nvPr/>
        </p:nvGrpSpPr>
        <p:grpSpPr>
          <a:xfrm>
            <a:off x="1170878" y="1029348"/>
            <a:ext cx="11567533" cy="5427043"/>
            <a:chOff x="1788160" y="1635760"/>
            <a:chExt cx="10252323" cy="3860800"/>
          </a:xfrm>
        </p:grpSpPr>
        <p:pic>
          <p:nvPicPr>
            <p:cNvPr id="389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88160" y="1676400"/>
              <a:ext cx="9326879" cy="3820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272444" y="1635760"/>
              <a:ext cx="9768039" cy="3860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class Example06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static 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aaa</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bbb</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"ccc"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foreach</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循环遍历数组</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for (String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ddd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endPar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foreach</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循环修改后的数组</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[0] + ","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for</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循环遍历数组</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for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0;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&lt;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strs.length</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ddd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普通</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for</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循环修改后的数组</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[0] + ","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5DF00FC8-777E-46DC-A616-37980B63130C}"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5.6.5</a:t>
            </a:r>
            <a:r>
              <a:rPr lang="en-US" altLang="zh-CN" sz="3200" b="1" dirty="0">
                <a:solidFill>
                  <a:srgbClr val="1353A2"/>
                </a:solidFill>
                <a:latin typeface="微软雅黑" panose="020B0503020204020204" pitchFamily="34" charset="-122"/>
                <a:ea typeface="微软雅黑" panose="020B0503020204020204" pitchFamily="34" charset="-122"/>
              </a:rPr>
              <a:t> Set</a:t>
            </a:r>
            <a:r>
              <a:rPr lang="zh-CN" altLang="zh-CN" sz="3200" b="1" dirty="0">
                <a:solidFill>
                  <a:srgbClr val="1353A2"/>
                </a:solidFill>
                <a:latin typeface="微软雅黑" panose="020B0503020204020204" pitchFamily="34" charset="-122"/>
                <a:ea typeface="微软雅黑" panose="020B0503020204020204" pitchFamily="34" charset="-122"/>
              </a:rPr>
              <a:t>接口简介</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574800" y="1412240"/>
            <a:ext cx="9692640" cy="44805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接口和</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接口一样，同样继承自</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Collection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接口，它与</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Collection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接口中的方法基本一致，并没有对</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Collection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接口进行功能上的扩充，只是比</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Collection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接口更加严格了。与</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接口不同的是，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接口中元素无序，并且都会以某种规则保证存入的元素不出现重复。</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接口主要有两个实现类，分别是</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TreeSet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。其中，</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是根据对象的哈希值来确定元素在集合中的存储位置，具有良好的存取和查找性能。</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TreeSet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则是以二叉树的方式来存储元素，它可以实现对集合中的元素进行排序。</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占位符 5"/>
          <p:cNvSpPr>
            <a:spLocks noGrp="1"/>
          </p:cNvSpPr>
          <p:nvPr>
            <p:ph type="body" sz="quarter" idx="10"/>
          </p:nvPr>
        </p:nvSpPr>
        <p:spPr/>
        <p:txBody>
          <a:bodyPr/>
          <a:lstStyle/>
          <a:p>
            <a:fld id="{A826DDF0-7AB2-4FF9-BFBB-1A96C6EDDEA7}"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5.6.5</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HashSet</a:t>
            </a:r>
            <a:r>
              <a:rPr lang="zh-CN" altLang="zh-CN" sz="3200" b="1" dirty="0">
                <a:solidFill>
                  <a:srgbClr val="1353A2"/>
                </a:solidFill>
                <a:latin typeface="微软雅黑" panose="020B0503020204020204" pitchFamily="34" charset="-122"/>
                <a:ea typeface="微软雅黑" panose="020B0503020204020204" pitchFamily="34" charset="-122"/>
              </a:rPr>
              <a:t>接口简介</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412240" y="1412240"/>
            <a:ext cx="9855200" cy="13817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接口的一个实现类，它所存储的元素是不可重复的，并且元素都是无序的。</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6" name="组合 5"/>
          <p:cNvGrpSpPr/>
          <p:nvPr/>
        </p:nvGrpSpPr>
        <p:grpSpPr>
          <a:xfrm>
            <a:off x="2113280" y="2794000"/>
            <a:ext cx="8717280" cy="3329305"/>
            <a:chOff x="1981200" y="2844800"/>
            <a:chExt cx="8717280" cy="3329305"/>
          </a:xfrm>
        </p:grpSpPr>
        <p:pic>
          <p:nvPicPr>
            <p:cNvPr id="3993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81200" y="2844800"/>
              <a:ext cx="8717280" cy="3329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611120" y="2915920"/>
              <a:ext cx="7675880" cy="32308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Example07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HashSet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set = new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HashSet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HashSet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set.add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张三</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向该</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集合中添加字符串</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set.add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李四</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set.add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王五</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set.add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李四</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向该</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集合中添加重复元素</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8EF1B19A-1E3A-40FC-9E0D-816D284DC2E9}"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 presetClass="entr" presetSubtype="1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heckerboard(across)">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5.6.5</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HashSet</a:t>
            </a:r>
            <a:r>
              <a:rPr lang="zh-CN" altLang="zh-CN" sz="3200" b="1" dirty="0">
                <a:solidFill>
                  <a:srgbClr val="1353A2"/>
                </a:solidFill>
                <a:latin typeface="微软雅黑" panose="020B0503020204020204" pitchFamily="34" charset="-122"/>
                <a:ea typeface="微软雅黑" panose="020B0503020204020204" pitchFamily="34" charset="-122"/>
              </a:rPr>
              <a:t>接口简介</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6" name="组合 5"/>
          <p:cNvGrpSpPr/>
          <p:nvPr/>
        </p:nvGrpSpPr>
        <p:grpSpPr>
          <a:xfrm>
            <a:off x="1381760" y="2042160"/>
            <a:ext cx="9936480" cy="3098799"/>
            <a:chOff x="1351280" y="2062480"/>
            <a:chExt cx="9936480" cy="3098799"/>
          </a:xfrm>
        </p:grpSpPr>
        <p:pic>
          <p:nvPicPr>
            <p:cNvPr id="4096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51280" y="2062480"/>
              <a:ext cx="9936480" cy="3098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1524000" y="2184400"/>
              <a:ext cx="9692640" cy="29565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Iterator it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set.iterator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Iterator</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while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it.hasNext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通过</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while</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循环，判断集合中是否有元素</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Object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it.next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如果有元素，就通过迭代器的</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next()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方法获取元素</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CEE615C9-081E-48C7-A40C-B568480C94DD}"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5.6.5</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HashSet</a:t>
            </a:r>
            <a:r>
              <a:rPr lang="zh-CN" altLang="zh-CN" sz="3200" b="1" dirty="0">
                <a:solidFill>
                  <a:srgbClr val="1353A2"/>
                </a:solidFill>
                <a:latin typeface="微软雅黑" panose="020B0503020204020204" pitchFamily="34" charset="-122"/>
                <a:ea typeface="微软雅黑" panose="020B0503020204020204" pitchFamily="34" charset="-122"/>
              </a:rPr>
              <a:t>接口简介</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947925" y="1433551"/>
            <a:ext cx="9258238" cy="4409688"/>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集合之所以能确保不出现重复的元素，是因为它在存入元素时做了很多工作。当调用</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add()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方法存入元素时，首先调用当前存入对象的</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hashCode</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方法获得对象的哈希值，然后根据对象的哈希值计算出一个存储位置。如果该位置上没有元素，则直接将元素存入，如果该位置上有元素存在，则会调用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equals()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方法让当前存入的元素依次和该位置上的元素进行比较，如果返回的结果为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false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就将该元素存入集合，返回的结果为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true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则说明有重复元素，就将该元素舍弃。</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占位符 5"/>
          <p:cNvSpPr>
            <a:spLocks noGrp="1"/>
          </p:cNvSpPr>
          <p:nvPr>
            <p:ph type="body" sz="quarter" idx="10"/>
          </p:nvPr>
        </p:nvSpPr>
        <p:spPr/>
        <p:txBody>
          <a:bodyPr/>
          <a:lstStyle/>
          <a:p>
            <a:fld id="{AFCC7F11-3279-4F95-A0AA-10651C868D7F}"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5.6.5</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HashSet</a:t>
            </a:r>
            <a:r>
              <a:rPr lang="zh-CN" altLang="zh-CN" sz="3200" b="1" dirty="0">
                <a:solidFill>
                  <a:srgbClr val="1353A2"/>
                </a:solidFill>
                <a:latin typeface="微软雅黑" panose="020B0503020204020204" pitchFamily="34" charset="-122"/>
                <a:ea typeface="微软雅黑" panose="020B0503020204020204" pitchFamily="34" charset="-122"/>
              </a:rPr>
              <a:t>接口简介</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564640" y="1198880"/>
            <a:ext cx="10048240" cy="7823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接下来通过一个案例演示向</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存储字符串</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6" name="组合 5"/>
          <p:cNvGrpSpPr/>
          <p:nvPr/>
        </p:nvGrpSpPr>
        <p:grpSpPr>
          <a:xfrm>
            <a:off x="2674620" y="1981200"/>
            <a:ext cx="7640320" cy="4114800"/>
            <a:chOff x="2499360" y="1981200"/>
            <a:chExt cx="7640320" cy="4114800"/>
          </a:xfrm>
        </p:grpSpPr>
        <p:pic>
          <p:nvPicPr>
            <p:cNvPr id="419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99360" y="1981200"/>
              <a:ext cx="764032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2893060" y="2032000"/>
              <a:ext cx="7058660" cy="39522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class Student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String id;</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String name;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Student(String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id,String</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name) {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创建构造方法</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this.id=id;</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this.name = name;</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toString</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重写</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toString</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return id+":"+name;</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44CB67E8-13B4-460D-BAD0-01D4D2CC05A6}"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6" presetClass="entr" presetSubtype="37"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outVertical)">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5.6.5</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HashSet</a:t>
            </a:r>
            <a:r>
              <a:rPr lang="zh-CN" altLang="zh-CN" sz="3200" b="1" dirty="0">
                <a:solidFill>
                  <a:srgbClr val="1353A2"/>
                </a:solidFill>
                <a:latin typeface="微软雅黑" panose="020B0503020204020204" pitchFamily="34" charset="-122"/>
                <a:ea typeface="微软雅黑" panose="020B0503020204020204" pitchFamily="34" charset="-122"/>
              </a:rPr>
              <a:t>接口简介</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6" name="组合 5"/>
          <p:cNvGrpSpPr/>
          <p:nvPr/>
        </p:nvGrpSpPr>
        <p:grpSpPr>
          <a:xfrm>
            <a:off x="2275840" y="1493520"/>
            <a:ext cx="8839200" cy="4511040"/>
            <a:chOff x="2214880" y="1524000"/>
            <a:chExt cx="8839200" cy="4511040"/>
          </a:xfrm>
        </p:grpSpPr>
        <p:pic>
          <p:nvPicPr>
            <p:cNvPr id="430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14880" y="1524000"/>
              <a:ext cx="8839200" cy="4511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2672080" y="1605280"/>
              <a:ext cx="8117840" cy="44297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Example08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HashSet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HashSet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HashSet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Student stu1 = new Student("1",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张三</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Student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Student stu2 = new Student("2",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李四</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Student stu3 = new Student("2",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李四</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hs.add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(stu1);</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hs.add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(stu2);</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hs.add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(stu3);</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B20A9C65-404F-458B-AB24-240AFAD4904C}"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5.6.5</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HashSet</a:t>
            </a:r>
            <a:r>
              <a:rPr lang="zh-CN" altLang="zh-CN" sz="3200" b="1" dirty="0">
                <a:solidFill>
                  <a:srgbClr val="1353A2"/>
                </a:solidFill>
                <a:latin typeface="微软雅黑" panose="020B0503020204020204" pitchFamily="34" charset="-122"/>
                <a:ea typeface="微软雅黑" panose="020B0503020204020204" pitchFamily="34" charset="-122"/>
              </a:rPr>
              <a:t>接口简介</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564640" y="1178560"/>
            <a:ext cx="9753600" cy="7823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接下来改写上述案例，存储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id</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编号相同的学生。</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6" name="组合 5"/>
          <p:cNvGrpSpPr/>
          <p:nvPr/>
        </p:nvGrpSpPr>
        <p:grpSpPr>
          <a:xfrm>
            <a:off x="3098800" y="2011680"/>
            <a:ext cx="6857999" cy="3789679"/>
            <a:chOff x="2418080" y="2032000"/>
            <a:chExt cx="6857999" cy="3789679"/>
          </a:xfrm>
        </p:grpSpPr>
        <p:pic>
          <p:nvPicPr>
            <p:cNvPr id="440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18080" y="2032000"/>
              <a:ext cx="6857999" cy="3789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内容占位符 2"/>
            <p:cNvSpPr txBox="1"/>
            <p:nvPr/>
          </p:nvSpPr>
          <p:spPr>
            <a:xfrm>
              <a:off x="2997200" y="2143760"/>
              <a:ext cx="5862320" cy="34747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class Student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private String id;</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private String name;</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Student(String id, String name) {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this.id = id;</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this.name = name;</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F057F90C-EEEA-456C-BB53-07CA7567D975}"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8" presetClass="entr" presetSubtype="6"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trips(downRight)">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5.6.5</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HashSet</a:t>
            </a:r>
            <a:r>
              <a:rPr lang="zh-CN" altLang="zh-CN" sz="3200" b="1" dirty="0">
                <a:solidFill>
                  <a:srgbClr val="1353A2"/>
                </a:solidFill>
                <a:latin typeface="微软雅黑" panose="020B0503020204020204" pitchFamily="34" charset="-122"/>
                <a:ea typeface="微软雅黑" panose="020B0503020204020204" pitchFamily="34" charset="-122"/>
              </a:rPr>
              <a:t>接口简介</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6" name="组合 5"/>
          <p:cNvGrpSpPr/>
          <p:nvPr/>
        </p:nvGrpSpPr>
        <p:grpSpPr>
          <a:xfrm>
            <a:off x="2346960" y="1788160"/>
            <a:ext cx="8534399" cy="3708400"/>
            <a:chOff x="1808480" y="1666240"/>
            <a:chExt cx="8534399" cy="3708400"/>
          </a:xfrm>
        </p:grpSpPr>
        <p:pic>
          <p:nvPicPr>
            <p:cNvPr id="4505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08480" y="1666240"/>
              <a:ext cx="8534399" cy="3637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内容占位符 2"/>
            <p:cNvSpPr txBox="1"/>
            <p:nvPr/>
          </p:nvSpPr>
          <p:spPr>
            <a:xfrm>
              <a:off x="2590800" y="1727200"/>
              <a:ext cx="7386320" cy="36474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重写</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toString</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String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toString</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return id + ":" + name;</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重写</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hashCode</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hashCode</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return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id.hashCode</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返回</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id</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属性的哈希值</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0A1C4945-FA63-45D2-8E40-A380981C4C31}"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6.4.2 </a:t>
            </a:r>
            <a:r>
              <a:rPr lang="en-US" altLang="zh-CN" sz="3200" b="1" dirty="0" err="1">
                <a:solidFill>
                  <a:srgbClr val="1353A2"/>
                </a:solidFill>
                <a:latin typeface="微软雅黑" panose="020B0503020204020204" pitchFamily="34" charset="-122"/>
                <a:ea typeface="微软雅黑" panose="020B0503020204020204" pitchFamily="34" charset="-122"/>
              </a:rPr>
              <a:t>HashSet</a:t>
            </a:r>
            <a:r>
              <a:rPr lang="zh-CN" altLang="zh-CN" sz="3200" b="1" dirty="0">
                <a:solidFill>
                  <a:srgbClr val="1353A2"/>
                </a:solidFill>
                <a:latin typeface="微软雅黑" panose="020B0503020204020204" pitchFamily="34" charset="-122"/>
                <a:ea typeface="微软雅黑" panose="020B0503020204020204" pitchFamily="34" charset="-122"/>
              </a:rPr>
              <a:t>接口简介</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6" name="组合 5"/>
          <p:cNvGrpSpPr/>
          <p:nvPr/>
        </p:nvGrpSpPr>
        <p:grpSpPr>
          <a:xfrm>
            <a:off x="2225040" y="1290320"/>
            <a:ext cx="8971279" cy="4836159"/>
            <a:chOff x="1808480" y="1300480"/>
            <a:chExt cx="8971279" cy="4836159"/>
          </a:xfrm>
        </p:grpSpPr>
        <p:pic>
          <p:nvPicPr>
            <p:cNvPr id="4608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08480" y="1310640"/>
              <a:ext cx="8971279" cy="4825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内容占位符 2"/>
            <p:cNvSpPr txBox="1"/>
            <p:nvPr/>
          </p:nvSpPr>
          <p:spPr>
            <a:xfrm>
              <a:off x="2311398" y="1300480"/>
              <a:ext cx="8128000" cy="4826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重写</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equals</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boolean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equals(Object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if (this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判断是否是同一个对象</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return true;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如果是，直接返回</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true</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if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instanceof</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Student)) {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判断对象是为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Student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return false;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Student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stu</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(Student)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将对象强转为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Student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boolean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b =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this.id.equals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(stu.id);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判断</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id</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值是否相同</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return	b;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返回判断结果</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3ABBD563-6AED-4A5C-BF36-F34DBE176D2E}"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5.6.5</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HashSet</a:t>
            </a:r>
            <a:r>
              <a:rPr lang="zh-CN" altLang="zh-CN" sz="3200" b="1" dirty="0">
                <a:solidFill>
                  <a:srgbClr val="1353A2"/>
                </a:solidFill>
                <a:latin typeface="微软雅黑" panose="020B0503020204020204" pitchFamily="34" charset="-122"/>
                <a:ea typeface="微软雅黑" panose="020B0503020204020204" pitchFamily="34" charset="-122"/>
              </a:rPr>
              <a:t>接口简介</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6" name="组合 5"/>
          <p:cNvGrpSpPr/>
          <p:nvPr/>
        </p:nvGrpSpPr>
        <p:grpSpPr>
          <a:xfrm>
            <a:off x="2245360" y="1422400"/>
            <a:ext cx="8808720" cy="4602479"/>
            <a:chOff x="1625600" y="1432560"/>
            <a:chExt cx="8808720" cy="4602479"/>
          </a:xfrm>
        </p:grpSpPr>
        <p:pic>
          <p:nvPicPr>
            <p:cNvPr id="4710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25600" y="1432560"/>
              <a:ext cx="8808720" cy="4602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内容占位符 2"/>
            <p:cNvSpPr txBox="1"/>
            <p:nvPr/>
          </p:nvSpPr>
          <p:spPr>
            <a:xfrm>
              <a:off x="2098038" y="1493520"/>
              <a:ext cx="8077200" cy="4521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Example09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HashSet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HashSet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HashSet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Student stu1 = new Student("1",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张三</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Student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Student stu2 = new Student("2",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李四</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Student stu3 = new Student("2",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李四</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hs.add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(stu1);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向集合存入对象</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hs.add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(stu2);</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hs.add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(stu3);</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打印集合中的元素</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7FE49940-75C5-4596-A342-E3BF732AE653}"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5.6.5</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HashSet</a:t>
            </a:r>
            <a:r>
              <a:rPr lang="zh-CN" altLang="zh-CN" sz="3200" b="1" dirty="0">
                <a:solidFill>
                  <a:srgbClr val="1353A2"/>
                </a:solidFill>
                <a:latin typeface="微软雅黑" panose="020B0503020204020204" pitchFamily="34" charset="-122"/>
                <a:ea typeface="微软雅黑" panose="020B0503020204020204" pitchFamily="34" charset="-122"/>
              </a:rPr>
              <a:t>接口简介</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564640" y="1696720"/>
            <a:ext cx="9580880" cy="34747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在上述代码中，</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Student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类重写了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Object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类的</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hashCode</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equals()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方法。在</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hashCode</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方法中返回</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属性的哈希值，在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equals()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方法中比较对象的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属性是否相等，并返回结果。当调用</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add()</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方法添加</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stu3</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对象时，发现它的哈希值与</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stu2</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对象相同，而且</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stu2.equals(stu3)</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返回</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true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集合认为两个对象相同，因此重复的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Student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对象被成功去除了。</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占位符 5"/>
          <p:cNvSpPr>
            <a:spLocks noGrp="1"/>
          </p:cNvSpPr>
          <p:nvPr>
            <p:ph type="body" sz="quarter" idx="10"/>
          </p:nvPr>
        </p:nvSpPr>
        <p:spPr/>
        <p:txBody>
          <a:bodyPr/>
          <a:lstStyle/>
          <a:p>
            <a:fld id="{797E6C8E-6DC9-4A3C-B43F-741A030D9A89}"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5.6.5</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HashSet</a:t>
            </a:r>
            <a:r>
              <a:rPr lang="zh-CN" altLang="zh-CN" sz="3200" b="1" dirty="0">
                <a:solidFill>
                  <a:srgbClr val="1353A2"/>
                </a:solidFill>
                <a:latin typeface="微软雅黑" panose="020B0503020204020204" pitchFamily="34" charset="-122"/>
                <a:ea typeface="微软雅黑" panose="020B0503020204020204" pitchFamily="34" charset="-122"/>
              </a:rPr>
              <a:t>接口简介</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864792" y="1588174"/>
            <a:ext cx="8862681" cy="32308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集合存储的元素是无序的，如果想让元素的存取顺序一致，可以使用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中提供的</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LinkedHashSet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LinkedHashSet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类是</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的子类，与</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LinkedList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一样，它也使用双向链表来维护内部元素的关系。</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占位符 5"/>
          <p:cNvSpPr>
            <a:spLocks noGrp="1"/>
          </p:cNvSpPr>
          <p:nvPr>
            <p:ph type="body" sz="quarter" idx="10"/>
          </p:nvPr>
        </p:nvSpPr>
        <p:spPr/>
        <p:txBody>
          <a:bodyPr/>
          <a:lstStyle/>
          <a:p>
            <a:fld id="{D695CC43-1BF6-4F9F-9440-DE62759E4A6D}"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5.6.5</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HashSet</a:t>
            </a:r>
            <a:r>
              <a:rPr lang="zh-CN" altLang="zh-CN" sz="3200" b="1" dirty="0">
                <a:solidFill>
                  <a:srgbClr val="1353A2"/>
                </a:solidFill>
                <a:latin typeface="微软雅黑" panose="020B0503020204020204" pitchFamily="34" charset="-122"/>
                <a:ea typeface="微软雅黑" panose="020B0503020204020204" pitchFamily="34" charset="-122"/>
              </a:rPr>
              <a:t>接口简介</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6" name="组合 5"/>
          <p:cNvGrpSpPr/>
          <p:nvPr/>
        </p:nvGrpSpPr>
        <p:grpSpPr>
          <a:xfrm>
            <a:off x="2722880" y="1310640"/>
            <a:ext cx="7559040" cy="4846320"/>
            <a:chOff x="2722880" y="1310640"/>
            <a:chExt cx="7559040" cy="4846320"/>
          </a:xfrm>
        </p:grpSpPr>
        <p:pic>
          <p:nvPicPr>
            <p:cNvPr id="4813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22880" y="1310640"/>
              <a:ext cx="7559040" cy="484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内容占位符 2"/>
            <p:cNvSpPr txBox="1"/>
            <p:nvPr/>
          </p:nvSpPr>
          <p:spPr>
            <a:xfrm>
              <a:off x="3322320" y="1310640"/>
              <a:ext cx="6563360" cy="48463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java.util.Iterator</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java.util.LinkedHashSet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Example10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LinkedHashSet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set = new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LinkedHashSet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set.add</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张三</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向该</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集合中添加字符串</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set.add</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李四</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set.add</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王五</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Iterator it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set.iterator</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Iterator</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while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it.hasNext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通过</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while</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循环，判断集合中是否有元素</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Object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it.next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5B460AA8-DD20-41DC-9631-D59C8D0A6E91}"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5.6.5</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TreeSet</a:t>
            </a:r>
            <a:r>
              <a:rPr lang="zh-CN" altLang="zh-CN"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内容占位符 2"/>
          <p:cNvSpPr txBox="1"/>
          <p:nvPr/>
        </p:nvSpPr>
        <p:spPr>
          <a:xfrm>
            <a:off x="2522219" y="2057400"/>
            <a:ext cx="4511040" cy="30276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集合存储的元素是无序的和不可重复的，为了对集合中的元素进行排序，</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接口提供了另一个可以对集合中元素进行排序的类——</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TreeSet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915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06081" y="1613459"/>
            <a:ext cx="2335848" cy="3631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占位符 5"/>
          <p:cNvSpPr>
            <a:spLocks noGrp="1"/>
          </p:cNvSpPr>
          <p:nvPr>
            <p:ph type="body" sz="quarter" idx="10"/>
          </p:nvPr>
        </p:nvSpPr>
        <p:spPr/>
        <p:txBody>
          <a:bodyPr/>
          <a:lstStyle/>
          <a:p>
            <a:fld id="{96C3DCBE-6733-46CC-9A7E-100EFFFAEE94}"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49154"/>
                                        </p:tgtEl>
                                        <p:attrNameLst>
                                          <p:attrName>style.visibility</p:attrName>
                                        </p:attrNameLst>
                                      </p:cBhvr>
                                      <p:to>
                                        <p:strVal val="visible"/>
                                      </p:to>
                                    </p:set>
                                    <p:animEffect transition="in" filter="fade">
                                      <p:cBhvr>
                                        <p:cTn id="13" dur="1000"/>
                                        <p:tgtEl>
                                          <p:spTgt spid="49154"/>
                                        </p:tgtEl>
                                      </p:cBhvr>
                                    </p:animEffect>
                                    <p:anim calcmode="lin" valueType="num">
                                      <p:cBhvr>
                                        <p:cTn id="14" dur="1000" fill="hold"/>
                                        <p:tgtEl>
                                          <p:spTgt spid="49154"/>
                                        </p:tgtEl>
                                        <p:attrNameLst>
                                          <p:attrName>ppt_x</p:attrName>
                                        </p:attrNameLst>
                                      </p:cBhvr>
                                      <p:tavLst>
                                        <p:tav tm="0">
                                          <p:val>
                                            <p:strVal val="#ppt_x"/>
                                          </p:val>
                                        </p:tav>
                                        <p:tav tm="100000">
                                          <p:val>
                                            <p:strVal val="#ppt_x"/>
                                          </p:val>
                                        </p:tav>
                                      </p:tavLst>
                                    </p:anim>
                                    <p:anim calcmode="lin" valueType="num">
                                      <p:cBhvr>
                                        <p:cTn id="15" dur="1000" fill="hold"/>
                                        <p:tgtEl>
                                          <p:spTgt spid="491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5.6.5</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TreeSet</a:t>
            </a:r>
            <a:r>
              <a:rPr lang="zh-CN" altLang="zh-CN"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内容占位符 2"/>
          <p:cNvSpPr txBox="1"/>
          <p:nvPr/>
        </p:nvSpPr>
        <p:spPr>
          <a:xfrm>
            <a:off x="1546858" y="1148080"/>
            <a:ext cx="8450581" cy="8432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接下来通过一个案例演示</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TreeSet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集合的用法</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6" name="组合 5"/>
          <p:cNvGrpSpPr/>
          <p:nvPr/>
        </p:nvGrpSpPr>
        <p:grpSpPr>
          <a:xfrm>
            <a:off x="3017520" y="1828800"/>
            <a:ext cx="6471919" cy="4500880"/>
            <a:chOff x="3017520" y="1828800"/>
            <a:chExt cx="6471919" cy="4500880"/>
          </a:xfrm>
        </p:grpSpPr>
        <p:pic>
          <p:nvPicPr>
            <p:cNvPr id="5017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17520" y="1828800"/>
              <a:ext cx="6471919" cy="4500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4084320" y="1828800"/>
              <a:ext cx="4644389" cy="44094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java.util.TreeSet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Example11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TreeSet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TreeSet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ts.add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ts.add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ts.add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ts.add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ts.add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BFDD1932-44F5-45B5-8739-FD35D6A8FC5F}"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4" presetClass="entr" presetSubtype="1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randombar(horizontal)">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5.6.5</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TreeSet</a:t>
            </a:r>
            <a:r>
              <a:rPr lang="zh-CN" altLang="zh-CN"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内容占位符 2"/>
          <p:cNvSpPr txBox="1"/>
          <p:nvPr/>
        </p:nvSpPr>
        <p:spPr>
          <a:xfrm>
            <a:off x="1940561" y="1381760"/>
            <a:ext cx="9184640" cy="45516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TreeSet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集合之所以可以对添加的元素进行排序，是因为元素的类可以实现</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Comparable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基本类型的包装类，</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类都实现了该接口</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Comparable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接口强行对实现它的每个类的对象进行整体排序，这种排序被称为类的自然排序。</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Comparable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compareTo</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方法被称为自然比较方法。如果将自定义的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Student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对象存入</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TreeSet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TreeSet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将不会对添加的元素进行排序，</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Student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对象必须实现</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Comparable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接口并重写</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compareTo</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方法实现对象元素的顺序存取。</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占位符 5"/>
          <p:cNvSpPr>
            <a:spLocks noGrp="1"/>
          </p:cNvSpPr>
          <p:nvPr>
            <p:ph type="body" sz="quarter" idx="10"/>
          </p:nvPr>
        </p:nvSpPr>
        <p:spPr/>
        <p:txBody>
          <a:bodyPr/>
          <a:lstStyle/>
          <a:p>
            <a:fld id="{C9647E24-7355-400B-9164-6DE902050AC4}"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5.6.5</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TreeSet</a:t>
            </a:r>
            <a:r>
              <a:rPr lang="zh-CN" altLang="zh-CN"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内容占位符 2"/>
          <p:cNvSpPr txBox="1"/>
          <p:nvPr/>
        </p:nvSpPr>
        <p:spPr>
          <a:xfrm>
            <a:off x="1422400" y="1188720"/>
            <a:ext cx="10007600" cy="8534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接下来通过一个案例讲解使用</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compareTo</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方法实现对象元素的顺序存取</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6" name="组合 5"/>
          <p:cNvGrpSpPr/>
          <p:nvPr/>
        </p:nvGrpSpPr>
        <p:grpSpPr>
          <a:xfrm>
            <a:off x="3248660" y="1869440"/>
            <a:ext cx="7112000" cy="4460240"/>
            <a:chOff x="2773680" y="1879600"/>
            <a:chExt cx="7112000" cy="4460240"/>
          </a:xfrm>
        </p:grpSpPr>
        <p:pic>
          <p:nvPicPr>
            <p:cNvPr id="5120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73680" y="1879600"/>
              <a:ext cx="7112000" cy="4460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3616960" y="1879600"/>
              <a:ext cx="5623560" cy="44602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java.util.TreeSet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class Student implements Comparable&lt;Student&gt;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private String id;</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private String name;</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Student(String id, String name)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this.id = id;</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this.name = name;</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重写</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toString</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toString</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return id + ":" + name;</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41642E4D-1D69-44E8-838E-D8267F28DB17}"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6" presetClass="entr" presetSubtype="37"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outVertical)">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5.6.5</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TreeSet</a:t>
            </a:r>
            <a:r>
              <a:rPr lang="zh-CN" altLang="zh-CN"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6" name="组合 5"/>
          <p:cNvGrpSpPr/>
          <p:nvPr/>
        </p:nvGrpSpPr>
        <p:grpSpPr>
          <a:xfrm>
            <a:off x="3190240" y="1188720"/>
            <a:ext cx="6969760" cy="5252720"/>
            <a:chOff x="2743200" y="1188720"/>
            <a:chExt cx="6969760" cy="5252720"/>
          </a:xfrm>
        </p:grpSpPr>
        <p:pic>
          <p:nvPicPr>
            <p:cNvPr id="522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43200" y="1188720"/>
              <a:ext cx="6969760" cy="5252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3566160" y="1229360"/>
              <a:ext cx="5628640" cy="51511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@Override</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compareTo</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(Student o)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return 0;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集合中只有一个元素</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return 1;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集合按照怎么存就怎么取</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return -1;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集合按照存入顺序倒过来进行存储</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Example12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TreeSet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TreeSet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ts.add</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(new Student("1","</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张三</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ts.add</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(new Student("2",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李四</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ts.add</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(new Student("2",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王五</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40CDBB25-5537-4B5B-BE6D-0BA050ED6B4D}"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5.6.5</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TreeSet</a:t>
            </a:r>
            <a:r>
              <a:rPr lang="zh-CN" altLang="zh-CN"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内容占位符 2"/>
          <p:cNvSpPr txBox="1"/>
          <p:nvPr/>
        </p:nvSpPr>
        <p:spPr>
          <a:xfrm>
            <a:off x="1798320" y="1595120"/>
            <a:ext cx="6441440" cy="40233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上面介绍了</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TreeSet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集合的自然排序，它还有另一种实现排序的方式，即实现</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Comparator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重写</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compare()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方法和</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equals()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但是由于所有的类默认继承</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Object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，而</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Object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中有</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equals()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方法，所以自定义比较器类时，不用重写</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equals()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方法，只需要重写</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compare()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方法，这种排序被称为比较器排序。</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32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39759" y="1827212"/>
            <a:ext cx="2995613" cy="355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占位符 5"/>
          <p:cNvSpPr>
            <a:spLocks noGrp="1"/>
          </p:cNvSpPr>
          <p:nvPr>
            <p:ph type="body" sz="quarter" idx="10"/>
          </p:nvPr>
        </p:nvSpPr>
        <p:spPr/>
        <p:txBody>
          <a:bodyPr/>
          <a:lstStyle/>
          <a:p>
            <a:fld id="{403235D5-95DF-4CE9-96B6-8F0A62C3CBD5}"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nodeType="afterEffect">
                                  <p:stCondLst>
                                    <p:cond delay="0"/>
                                  </p:stCondLst>
                                  <p:childTnLst>
                                    <p:set>
                                      <p:cBhvr>
                                        <p:cTn id="12" dur="1" fill="hold">
                                          <p:stCondLst>
                                            <p:cond delay="0"/>
                                          </p:stCondLst>
                                        </p:cTn>
                                        <p:tgtEl>
                                          <p:spTgt spid="53250"/>
                                        </p:tgtEl>
                                        <p:attrNameLst>
                                          <p:attrName>style.visibility</p:attrName>
                                        </p:attrNameLst>
                                      </p:cBhvr>
                                      <p:to>
                                        <p:strVal val="visible"/>
                                      </p:to>
                                    </p:set>
                                    <p:animEffect transition="in" filter="fade">
                                      <p:cBhvr>
                                        <p:cTn id="13" dur="500"/>
                                        <p:tgtEl>
                                          <p:spTgt spid="53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5.6.5</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TreeSet</a:t>
            </a:r>
            <a:r>
              <a:rPr lang="zh-CN" altLang="zh-CN"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内容占位符 2"/>
          <p:cNvSpPr txBox="1"/>
          <p:nvPr/>
        </p:nvSpPr>
        <p:spPr>
          <a:xfrm>
            <a:off x="1463040" y="1300480"/>
            <a:ext cx="9966960" cy="13309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接下来通过一个案例学习将自定义的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Student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对象通过比较器的方式存入</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TreeSet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6" name="组合 5"/>
          <p:cNvGrpSpPr/>
          <p:nvPr/>
        </p:nvGrpSpPr>
        <p:grpSpPr>
          <a:xfrm>
            <a:off x="3799840" y="2265680"/>
            <a:ext cx="6380480" cy="3870960"/>
            <a:chOff x="3393440" y="2265680"/>
            <a:chExt cx="6380480" cy="3870960"/>
          </a:xfrm>
        </p:grpSpPr>
        <p:pic>
          <p:nvPicPr>
            <p:cNvPr id="542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93440" y="2265680"/>
              <a:ext cx="6380480" cy="3870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4297680" y="2265680"/>
              <a:ext cx="5024120" cy="37287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java.util.Comparator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java.util.TreeSet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class Student{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private String id;</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private String name;</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Student(String id, String name)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this.id = id;</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this.name = name;</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BBC4FDD6-ECD7-4B93-A5F3-E401203CAB9C}"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 presetClass="entr" presetSubtype="1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heckerboard(across)">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5.6.5</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TreeSet</a:t>
            </a:r>
            <a:r>
              <a:rPr lang="zh-CN" altLang="zh-CN"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6" name="组合 5"/>
          <p:cNvGrpSpPr/>
          <p:nvPr/>
        </p:nvGrpSpPr>
        <p:grpSpPr>
          <a:xfrm>
            <a:off x="3220720" y="1381760"/>
            <a:ext cx="6573520" cy="4927599"/>
            <a:chOff x="3220720" y="1381760"/>
            <a:chExt cx="6573520" cy="4927599"/>
          </a:xfrm>
        </p:grpSpPr>
        <p:pic>
          <p:nvPicPr>
            <p:cNvPr id="552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20720" y="1381760"/>
              <a:ext cx="6573520" cy="4927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3911600" y="1381760"/>
              <a:ext cx="5506720" cy="4826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重写</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toString</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toString</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return id + ":" + name;</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Example13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TreeSet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TreeSet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(new Comparator()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@Override</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compare(Object o1, Object o2)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return -1;</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E1447C66-61AB-476E-A526-6EBB9896A9C7}"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5.6.5</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TreeSet</a:t>
            </a:r>
            <a:r>
              <a:rPr lang="zh-CN" altLang="zh-CN"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6" name="组合 5"/>
          <p:cNvGrpSpPr/>
          <p:nvPr/>
        </p:nvGrpSpPr>
        <p:grpSpPr>
          <a:xfrm>
            <a:off x="3159760" y="1940560"/>
            <a:ext cx="6878320" cy="3200399"/>
            <a:chOff x="3048000" y="1920240"/>
            <a:chExt cx="6878320" cy="3200399"/>
          </a:xfrm>
        </p:grpSpPr>
        <p:pic>
          <p:nvPicPr>
            <p:cNvPr id="563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0" y="1920240"/>
              <a:ext cx="6878320" cy="3200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4185920" y="2225040"/>
              <a:ext cx="4826000" cy="26111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ts.add</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(new Student("1","</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张三</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ts.add</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(new Student("2",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李四</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ts.add</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(new Student("2",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王五</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E8DF6FA8-39BF-4C34-9223-0590EEE413F9}"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5.6.6</a:t>
            </a:r>
            <a:r>
              <a:rPr lang="en-US" altLang="zh-CN" sz="3200" b="1" dirty="0">
                <a:solidFill>
                  <a:srgbClr val="1353A2"/>
                </a:solidFill>
                <a:latin typeface="微软雅黑" panose="020B0503020204020204" pitchFamily="34" charset="-122"/>
                <a:ea typeface="微软雅黑" panose="020B0503020204020204" pitchFamily="34" charset="-122"/>
              </a:rPr>
              <a:t> Map</a:t>
            </a:r>
            <a:r>
              <a:rPr lang="zh-CN" altLang="en-US" sz="3200" b="1" dirty="0">
                <a:solidFill>
                  <a:srgbClr val="1353A2"/>
                </a:solidFill>
                <a:latin typeface="微软雅黑" panose="020B0503020204020204" pitchFamily="34" charset="-122"/>
                <a:ea typeface="微软雅黑" panose="020B0503020204020204" pitchFamily="34" charset="-122"/>
              </a:rPr>
              <a:t>接口简介</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727200" y="1869440"/>
            <a:ext cx="6045200" cy="3098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接口是一种双列集合，它的每个元素都包含一个键对象</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和值对象</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Value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，键和值对象之间存在一种对应关系，称为映射。从</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集合中访问元素时，只要指定了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，就能找到对应的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Value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93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05165" y="1734502"/>
            <a:ext cx="2773363" cy="336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占位符 5"/>
          <p:cNvSpPr>
            <a:spLocks noGrp="1"/>
          </p:cNvSpPr>
          <p:nvPr>
            <p:ph type="body" sz="quarter" idx="10"/>
          </p:nvPr>
        </p:nvSpPr>
        <p:spPr/>
        <p:txBody>
          <a:bodyPr/>
          <a:lstStyle/>
          <a:p>
            <a:fld id="{DAE3C66B-88D8-427A-B628-4E6F13040A80}"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nodeType="afterEffect">
                                  <p:stCondLst>
                                    <p:cond delay="0"/>
                                  </p:stCondLst>
                                  <p:childTnLst>
                                    <p:set>
                                      <p:cBhvr>
                                        <p:cTn id="12" dur="1" fill="hold">
                                          <p:stCondLst>
                                            <p:cond delay="0"/>
                                          </p:stCondLst>
                                        </p:cTn>
                                        <p:tgtEl>
                                          <p:spTgt spid="59394"/>
                                        </p:tgtEl>
                                        <p:attrNameLst>
                                          <p:attrName>style.visibility</p:attrName>
                                        </p:attrNameLst>
                                      </p:cBhvr>
                                      <p:to>
                                        <p:strVal val="visible"/>
                                      </p:to>
                                    </p:set>
                                    <p:animEffect transition="in" filter="fade">
                                      <p:cBhvr>
                                        <p:cTn id="13" dur="500"/>
                                        <p:tgtEl>
                                          <p:spTgt spid="593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5.6.6</a:t>
            </a:r>
            <a:r>
              <a:rPr lang="en-US" altLang="zh-CN" sz="3200" b="1" dirty="0">
                <a:solidFill>
                  <a:srgbClr val="1353A2"/>
                </a:solidFill>
                <a:latin typeface="微软雅黑" panose="020B0503020204020204" pitchFamily="34" charset="-122"/>
                <a:ea typeface="微软雅黑" panose="020B0503020204020204" pitchFamily="34" charset="-122"/>
              </a:rPr>
              <a:t> Map</a:t>
            </a:r>
            <a:r>
              <a:rPr lang="zh-CN" altLang="en-US" sz="3200" b="1" dirty="0">
                <a:solidFill>
                  <a:srgbClr val="1353A2"/>
                </a:solidFill>
                <a:latin typeface="微软雅黑" panose="020B0503020204020204" pitchFamily="34" charset="-122"/>
                <a:ea typeface="微软雅黑" panose="020B0503020204020204" pitchFamily="34" charset="-122"/>
              </a:rPr>
              <a:t>接口简介</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452880" y="1249680"/>
            <a:ext cx="6045200" cy="8737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常用方法如下表。</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6" name="表格 5"/>
          <p:cNvGraphicFramePr>
            <a:graphicFrameLocks noGrp="1"/>
          </p:cNvGraphicFramePr>
          <p:nvPr/>
        </p:nvGraphicFramePr>
        <p:xfrm>
          <a:off x="2037078" y="2021840"/>
          <a:ext cx="9189722" cy="3827047"/>
        </p:xfrm>
        <a:graphic>
          <a:graphicData uri="http://schemas.openxmlformats.org/drawingml/2006/table">
            <a:tbl>
              <a:tblPr firstRow="1" firstCol="1" bandRow="1">
                <a:tableStyleId>{5C22544A-7EE6-4342-B048-85BDC9FD1C3A}</a:tableStyleId>
              </a:tblPr>
              <a:tblGrid>
                <a:gridCol w="3865882"/>
                <a:gridCol w="5323840"/>
              </a:tblGrid>
              <a:tr h="284480">
                <a:tc>
                  <a:txBody>
                    <a:bodyPr/>
                    <a:lstStyle/>
                    <a:p>
                      <a:pPr algn="ctr">
                        <a:spcAft>
                          <a:spcPts val="0"/>
                        </a:spcAft>
                      </a:pPr>
                      <a:r>
                        <a:rPr lang="zh-CN" sz="1600" kern="100" dirty="0">
                          <a:effectLst/>
                        </a:rPr>
                        <a:t>方法声明</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ctr">
                        <a:spcAft>
                          <a:spcPts val="0"/>
                        </a:spcAft>
                      </a:pPr>
                      <a:r>
                        <a:rPr lang="zh-CN" sz="1600" kern="100">
                          <a:effectLst/>
                        </a:rPr>
                        <a:t>功能描述</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ctr"/>
                </a:tc>
              </a:tr>
              <a:tr h="402374">
                <a:tc>
                  <a:txBody>
                    <a:bodyPr/>
                    <a:lstStyle/>
                    <a:p>
                      <a:pPr algn="just">
                        <a:spcAft>
                          <a:spcPts val="0"/>
                        </a:spcAft>
                      </a:pPr>
                      <a:r>
                        <a:rPr lang="en-US" sz="1600" kern="100" dirty="0">
                          <a:effectLst/>
                        </a:rPr>
                        <a:t>void put(Object key, Object value)</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600" kern="100">
                          <a:effectLst/>
                        </a:rPr>
                        <a:t>将指定的值与此映射中的指定键关联（可选操作）</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ctr"/>
                </a:tc>
              </a:tr>
              <a:tr h="615425">
                <a:tc>
                  <a:txBody>
                    <a:bodyPr/>
                    <a:lstStyle/>
                    <a:p>
                      <a:pPr algn="just">
                        <a:spcAft>
                          <a:spcPts val="0"/>
                        </a:spcAft>
                      </a:pPr>
                      <a:r>
                        <a:rPr lang="en-US" sz="1600" kern="100" dirty="0">
                          <a:effectLst/>
                        </a:rPr>
                        <a:t>Object get(Object key)</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600" kern="100">
                          <a:effectLst/>
                        </a:rPr>
                        <a:t>返回指定键所映射的值；如果此映射不包含该键的映射关系，则返回</a:t>
                      </a:r>
                      <a:r>
                        <a:rPr lang="en-US" sz="1600" kern="100">
                          <a:effectLst/>
                        </a:rPr>
                        <a:t>null</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ctr"/>
                </a:tc>
              </a:tr>
              <a:tr h="315596">
                <a:tc>
                  <a:txBody>
                    <a:bodyPr/>
                    <a:lstStyle/>
                    <a:p>
                      <a:pPr algn="just">
                        <a:spcAft>
                          <a:spcPts val="0"/>
                        </a:spcAft>
                      </a:pPr>
                      <a:r>
                        <a:rPr lang="en-US" sz="1600" kern="100">
                          <a:effectLst/>
                        </a:rPr>
                        <a:t>void clear()</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600" kern="100" dirty="0">
                          <a:effectLst/>
                        </a:rPr>
                        <a:t>移除所有的键值对元素</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r h="315596">
                <a:tc>
                  <a:txBody>
                    <a:bodyPr/>
                    <a:lstStyle/>
                    <a:p>
                      <a:pPr algn="just">
                        <a:spcAft>
                          <a:spcPts val="0"/>
                        </a:spcAft>
                      </a:pPr>
                      <a:r>
                        <a:rPr lang="en-US" sz="1600" kern="100">
                          <a:effectLst/>
                        </a:rPr>
                        <a:t>V remove(Object key) </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600" kern="100" dirty="0">
                          <a:effectLst/>
                        </a:rPr>
                        <a:t>根据键删除对应的值，返回被删除的值</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r h="315596">
                <a:tc>
                  <a:txBody>
                    <a:bodyPr/>
                    <a:lstStyle/>
                    <a:p>
                      <a:pPr algn="just">
                        <a:spcAft>
                          <a:spcPts val="0"/>
                        </a:spcAft>
                      </a:pPr>
                      <a:r>
                        <a:rPr lang="en-US" sz="1600" kern="100">
                          <a:effectLst/>
                        </a:rPr>
                        <a:t>int size()</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600" kern="100" dirty="0">
                          <a:effectLst/>
                        </a:rPr>
                        <a:t>返回集合中的键值对的个数</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r h="315596">
                <a:tc>
                  <a:txBody>
                    <a:bodyPr/>
                    <a:lstStyle/>
                    <a:p>
                      <a:pPr algn="just">
                        <a:spcAft>
                          <a:spcPts val="0"/>
                        </a:spcAft>
                      </a:pPr>
                      <a:r>
                        <a:rPr lang="en-US" sz="1600" kern="100">
                          <a:effectLst/>
                        </a:rPr>
                        <a:t>boolean containsKey(Object key) </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600" kern="100" dirty="0">
                          <a:effectLst/>
                        </a:rPr>
                        <a:t>如果此映射包含指定键的映射关系，则返回</a:t>
                      </a:r>
                      <a:r>
                        <a:rPr lang="en-US" sz="1600" kern="100" dirty="0">
                          <a:effectLst/>
                        </a:rPr>
                        <a:t> true</a:t>
                      </a:r>
                      <a:r>
                        <a:rPr lang="zh-CN" sz="1600" kern="100" dirty="0">
                          <a:effectLst/>
                        </a:rPr>
                        <a:t>。</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r h="315596">
                <a:tc>
                  <a:txBody>
                    <a:bodyPr/>
                    <a:lstStyle/>
                    <a:p>
                      <a:pPr algn="just">
                        <a:spcAft>
                          <a:spcPts val="0"/>
                        </a:spcAft>
                      </a:pPr>
                      <a:r>
                        <a:rPr lang="en-US" sz="1600" kern="100">
                          <a:effectLst/>
                        </a:rPr>
                        <a:t>boolean containsValue(Object value)</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600" kern="100" dirty="0">
                          <a:effectLst/>
                        </a:rPr>
                        <a:t>如果此映射将一个或多个键映射到指定值，则返回</a:t>
                      </a:r>
                      <a:r>
                        <a:rPr lang="en-US" sz="1600" kern="100" dirty="0">
                          <a:effectLst/>
                        </a:rPr>
                        <a:t> true</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r h="315596">
                <a:tc>
                  <a:txBody>
                    <a:bodyPr/>
                    <a:lstStyle/>
                    <a:p>
                      <a:pPr algn="just">
                        <a:spcAft>
                          <a:spcPts val="0"/>
                        </a:spcAft>
                      </a:pPr>
                      <a:r>
                        <a:rPr lang="en-US" sz="1600" kern="100">
                          <a:effectLst/>
                        </a:rPr>
                        <a:t>Set keySet()</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600" kern="100" dirty="0">
                          <a:effectLst/>
                        </a:rPr>
                        <a:t>返回此映射中包含的键的</a:t>
                      </a:r>
                      <a:r>
                        <a:rPr lang="en-US" sz="1600" kern="100" dirty="0">
                          <a:effectLst/>
                        </a:rPr>
                        <a:t> Set </a:t>
                      </a:r>
                      <a:r>
                        <a:rPr lang="zh-CN" sz="1600" kern="100" dirty="0">
                          <a:effectLst/>
                        </a:rPr>
                        <a:t>视图</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r h="315596">
                <a:tc>
                  <a:txBody>
                    <a:bodyPr/>
                    <a:lstStyle/>
                    <a:p>
                      <a:pPr algn="just">
                        <a:spcAft>
                          <a:spcPts val="0"/>
                        </a:spcAft>
                      </a:pPr>
                      <a:r>
                        <a:rPr lang="en-US" sz="1600" kern="100">
                          <a:effectLst/>
                        </a:rPr>
                        <a:t>Collection&lt;V&gt; values()</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600" kern="100" dirty="0">
                          <a:effectLst/>
                        </a:rPr>
                        <a:t>返回此映射中包含的值的</a:t>
                      </a:r>
                      <a:r>
                        <a:rPr lang="en-US" sz="1600" kern="100" dirty="0">
                          <a:effectLst/>
                        </a:rPr>
                        <a:t> Collection </a:t>
                      </a:r>
                      <a:r>
                        <a:rPr lang="zh-CN" sz="1600" kern="100" dirty="0">
                          <a:effectLst/>
                        </a:rPr>
                        <a:t>视图</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r h="315596">
                <a:tc>
                  <a:txBody>
                    <a:bodyPr/>
                    <a:lstStyle/>
                    <a:p>
                      <a:pPr algn="just">
                        <a:spcAft>
                          <a:spcPts val="0"/>
                        </a:spcAft>
                      </a:pPr>
                      <a:r>
                        <a:rPr lang="en-US" sz="1600" kern="100">
                          <a:effectLst/>
                        </a:rPr>
                        <a:t>Set&lt;Map.Entry&lt;K,V&gt;&gt;entrySet()</a:t>
                      </a:r>
                      <a:endParaRPr lang="zh-CN" sz="16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600" kern="100" dirty="0">
                          <a:effectLst/>
                        </a:rPr>
                        <a:t>返回此映射中包含的映射关系的</a:t>
                      </a:r>
                      <a:r>
                        <a:rPr lang="en-US" sz="1600" kern="100" dirty="0">
                          <a:effectLst/>
                        </a:rPr>
                        <a:t>Set</a:t>
                      </a:r>
                      <a:r>
                        <a:rPr lang="zh-CN" sz="1600" kern="100" dirty="0">
                          <a:effectLst/>
                        </a:rPr>
                        <a:t>视图</a:t>
                      </a:r>
                      <a:endParaRPr lang="zh-CN" sz="16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bl>
          </a:graphicData>
        </a:graphic>
      </p:graphicFrame>
      <p:sp>
        <p:nvSpPr>
          <p:cNvPr id="7" name="文本占位符 6"/>
          <p:cNvSpPr>
            <a:spLocks noGrp="1"/>
          </p:cNvSpPr>
          <p:nvPr>
            <p:ph type="body" sz="quarter" idx="10"/>
          </p:nvPr>
        </p:nvSpPr>
        <p:spPr/>
        <p:txBody>
          <a:bodyPr/>
          <a:lstStyle/>
          <a:p>
            <a:fld id="{E6607C22-83DF-4A03-8ABD-FDEE8ACCD0A3}"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1"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up)">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5.6.6</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HashMap</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168401" y="1595120"/>
            <a:ext cx="3616960" cy="4033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接口的一个实现类，用于存储键值映射关系，但</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集合没有重复的键并且键值无序。接下来通过一个案例学习</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的用法</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7" name="组合 6"/>
          <p:cNvGrpSpPr/>
          <p:nvPr/>
        </p:nvGrpSpPr>
        <p:grpSpPr>
          <a:xfrm>
            <a:off x="4846321" y="1605280"/>
            <a:ext cx="6959599" cy="4124959"/>
            <a:chOff x="4826001" y="1503680"/>
            <a:chExt cx="6959599" cy="4124959"/>
          </a:xfrm>
        </p:grpSpPr>
        <p:pic>
          <p:nvPicPr>
            <p:cNvPr id="9728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26001" y="1503680"/>
              <a:ext cx="6959599" cy="4124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4897120" y="1595120"/>
              <a:ext cx="6868160" cy="38811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Example14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HashMap</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map = new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HashMap</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map.put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张三</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存储键和值</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map.put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李四</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map.put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王五</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map.get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根据键获取值</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map.get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map.get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6" name="文本占位符 5"/>
          <p:cNvSpPr>
            <a:spLocks noGrp="1"/>
          </p:cNvSpPr>
          <p:nvPr>
            <p:ph type="body" sz="quarter" idx="10"/>
          </p:nvPr>
        </p:nvSpPr>
        <p:spPr/>
        <p:txBody>
          <a:bodyPr/>
          <a:lstStyle/>
          <a:p>
            <a:fld id="{556903EF-B8AC-4D05-9C26-0FAA47CC6A42}"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5.6.6</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HashMap</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737360" y="1351280"/>
            <a:ext cx="9276080" cy="23774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集合中的键具有唯一性，现在向</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集合中存储一个相同的键看看会出现什么情况，在第</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7</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行代码下面增加一行代码，如下所示：</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map.put</a:t>
            </a:r>
            <a:r>
              <a:rPr lang="en-US"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("3", "</a:t>
            </a:r>
            <a:r>
              <a:rPr lang="zh-CN"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赵六</a:t>
            </a:r>
            <a:r>
              <a:rPr lang="en-US"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修改之后，再次运行程序，运行结果如下图。</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图片 7"/>
          <p:cNvPicPr/>
          <p:nvPr/>
        </p:nvPicPr>
        <p:blipFill>
          <a:blip r:embed="rId1" cstate="print">
            <a:extLst>
              <a:ext uri="{28A0092B-C50C-407E-A947-70E740481C1C}">
                <a14:useLocalDpi xmlns:a14="http://schemas.microsoft.com/office/drawing/2010/main" val="0"/>
              </a:ext>
            </a:extLst>
          </a:blip>
          <a:srcRect/>
          <a:stretch>
            <a:fillRect/>
          </a:stretch>
        </p:blipFill>
        <p:spPr>
          <a:xfrm>
            <a:off x="3444240" y="3911598"/>
            <a:ext cx="6126480" cy="1852613"/>
          </a:xfrm>
          <a:prstGeom prst="rect">
            <a:avLst/>
          </a:prstGeom>
          <a:noFill/>
          <a:ln>
            <a:noFill/>
          </a:ln>
        </p:spPr>
      </p:pic>
      <p:sp>
        <p:nvSpPr>
          <p:cNvPr id="6" name="文本占位符 5"/>
          <p:cNvSpPr>
            <a:spLocks noGrp="1"/>
          </p:cNvSpPr>
          <p:nvPr>
            <p:ph type="body" sz="quarter" idx="10"/>
          </p:nvPr>
        </p:nvSpPr>
        <p:spPr/>
        <p:txBody>
          <a:bodyPr/>
          <a:lstStyle/>
          <a:p>
            <a:fld id="{DE2A3157-6973-47DD-914B-2F4D008DB6AE}"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5.6.6</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HashMap</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757680" y="1544320"/>
            <a:ext cx="9276080" cy="40944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中仍然只有</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个元素，只是第二次添加的值“赵六”覆盖了原来的值“王五”，这也证实了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中的键必须是唯一的，不能重复，如果存储了相同的键，后存储的值则会覆盖原有的值，简而言之就是：键相同，值覆盖。</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在程序开发中，经常需要取出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中所有的键和值，那么如何遍历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中所有的键值对呢？有两种方式可以实现，第一种方式就是先遍历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集合中所有的键，再根据键获取相应的值。</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占位符 5"/>
          <p:cNvSpPr>
            <a:spLocks noGrp="1"/>
          </p:cNvSpPr>
          <p:nvPr>
            <p:ph type="body" sz="quarter" idx="10"/>
          </p:nvPr>
        </p:nvSpPr>
        <p:spPr/>
        <p:txBody>
          <a:bodyPr/>
          <a:lstStyle/>
          <a:p>
            <a:fld id="{39D5913F-7293-4D8A-B868-3EF17C5EE985}"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5.6.6</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HashMap</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574800" y="1300480"/>
            <a:ext cx="9723120" cy="89090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先遍历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集合中所有的键，再根据键获取相应的值</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6" name="组合 5"/>
          <p:cNvGrpSpPr/>
          <p:nvPr/>
        </p:nvGrpSpPr>
        <p:grpSpPr>
          <a:xfrm>
            <a:off x="2311398" y="2372360"/>
            <a:ext cx="8580122" cy="3261360"/>
            <a:chOff x="2311398" y="2712720"/>
            <a:chExt cx="8580122" cy="3108484"/>
          </a:xfrm>
        </p:grpSpPr>
        <p:pic>
          <p:nvPicPr>
            <p:cNvPr id="9830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8" y="2712720"/>
              <a:ext cx="8580122" cy="309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3007360" y="2722404"/>
              <a:ext cx="7630160" cy="3098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Example15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HashMap</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map = new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HashMap</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map.put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张三</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存储键和值</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map.put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李四</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map.put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王五</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B1743511-5C3A-40EE-9F2F-C99266E9FF0F}"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5.6.6</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HashMap</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6" name="组合 5"/>
          <p:cNvGrpSpPr/>
          <p:nvPr/>
        </p:nvGrpSpPr>
        <p:grpSpPr>
          <a:xfrm>
            <a:off x="1584960" y="1727200"/>
            <a:ext cx="9763760" cy="3942080"/>
            <a:chOff x="1452880" y="1727200"/>
            <a:chExt cx="9763760" cy="3942080"/>
          </a:xfrm>
        </p:grpSpPr>
        <p:pic>
          <p:nvPicPr>
            <p:cNvPr id="9933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52880" y="1727200"/>
              <a:ext cx="9763760" cy="3942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174240" y="1828800"/>
              <a:ext cx="8818880" cy="36779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Set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keySet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map.keySet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获取键的集合</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Iterator it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keySet.iterator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迭代键的集合</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while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it.hasNext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Object key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it.next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Object value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map.get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获取每个键所对应的值</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 + ":" + value);</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05660A8E-619B-4FED-BB83-199325C7E280}"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5.6.6</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HashMap</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412240" y="1219200"/>
            <a:ext cx="10038080" cy="1310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集合的另外一种遍历方式是先获取集合中的所有的映射关系，然后从映射关系中取出键和值。</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6" name="组合 5"/>
          <p:cNvGrpSpPr/>
          <p:nvPr/>
        </p:nvGrpSpPr>
        <p:grpSpPr>
          <a:xfrm>
            <a:off x="2255520" y="2570480"/>
            <a:ext cx="8798560" cy="3657600"/>
            <a:chOff x="2164080" y="2570480"/>
            <a:chExt cx="8798560" cy="3657600"/>
          </a:xfrm>
        </p:grpSpPr>
        <p:pic>
          <p:nvPicPr>
            <p:cNvPr id="10035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64080" y="2570480"/>
              <a:ext cx="879856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783840" y="2570480"/>
              <a:ext cx="7670800" cy="34747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Example16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HashMap</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map = new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HashMap</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map.put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张三</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存储键和值</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map.put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李四</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map.put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王五</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Set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entrySet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map.entrySet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9FFFA134-B12C-4658-B735-4FE333BDC819}"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6" presetClass="entr" presetSubtype="42"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outHorizontal)">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5.6.6</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HashMap</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6" name="组合 5"/>
          <p:cNvGrpSpPr/>
          <p:nvPr/>
        </p:nvGrpSpPr>
        <p:grpSpPr>
          <a:xfrm>
            <a:off x="2143760" y="1554480"/>
            <a:ext cx="9042400" cy="4236720"/>
            <a:chOff x="1879600" y="1554480"/>
            <a:chExt cx="9042400" cy="4236720"/>
          </a:xfrm>
        </p:grpSpPr>
        <p:pic>
          <p:nvPicPr>
            <p:cNvPr id="10137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79600" y="1554480"/>
              <a:ext cx="9042400" cy="4236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194560" y="1625600"/>
              <a:ext cx="8625840" cy="41656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Iterator it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entrySet.iterator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Iterator</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while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it.hasNext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获取集合中键值对映射关系</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Map.Entry</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entry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Map.Entry</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it.next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Object key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entry.getKey</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Entry</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中的键</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Object value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entry.getValue</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Entry</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中的值</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 + ":" + value);</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34ECA85A-3393-4704-BEF1-C7F9A9D4455A}"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5.6.6</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HashMap</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4773295" y="1442720"/>
            <a:ext cx="6299200" cy="46024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中，还提供了一些操作集合的常用方法，例如，</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values()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方法用于得到</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实例中所有的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value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，返回值类型为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Collection</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size()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方法获取</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集合类的大小；</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containsKey</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方法用于判断是否包含传入的键；</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containsValue</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方法用于判断是否包含传入的值；</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remove()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方法用于根据</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移除</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中的与该</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对应的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value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等。</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0240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64958" y="1662748"/>
            <a:ext cx="3208337" cy="3856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占位符 5"/>
          <p:cNvSpPr>
            <a:spLocks noGrp="1"/>
          </p:cNvSpPr>
          <p:nvPr>
            <p:ph type="body" sz="quarter" idx="10"/>
          </p:nvPr>
        </p:nvSpPr>
        <p:spPr/>
        <p:txBody>
          <a:bodyPr/>
          <a:lstStyle/>
          <a:p>
            <a:fld id="{32093983-DD0F-4149-AC5D-9A947787BEC5}"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2402"/>
                                        </p:tgtEl>
                                        <p:attrNameLst>
                                          <p:attrName>style.visibility</p:attrName>
                                        </p:attrNameLst>
                                      </p:cBhvr>
                                      <p:to>
                                        <p:strVal val="visible"/>
                                      </p:to>
                                    </p:set>
                                    <p:animEffect transition="in" filter="fade">
                                      <p:cBhvr>
                                        <p:cTn id="7" dur="500"/>
                                        <p:tgtEl>
                                          <p:spTgt spid="102402"/>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anim calcmode="lin" valueType="num">
                                      <p:cBhvr>
                                        <p:cTn id="12" dur="1000" fill="hold"/>
                                        <p:tgtEl>
                                          <p:spTgt spid="10"/>
                                        </p:tgtEl>
                                        <p:attrNameLst>
                                          <p:attrName>ppt_x</p:attrName>
                                        </p:attrNameLst>
                                      </p:cBhvr>
                                      <p:tavLst>
                                        <p:tav tm="0">
                                          <p:val>
                                            <p:strVal val="#ppt_x"/>
                                          </p:val>
                                        </p:tav>
                                        <p:tav tm="100000">
                                          <p:val>
                                            <p:strVal val="#ppt_x"/>
                                          </p:val>
                                        </p:tav>
                                      </p:tavLst>
                                    </p:anim>
                                    <p:anim calcmode="lin" valueType="num">
                                      <p:cBhvr>
                                        <p:cTn id="1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5.6.6</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HashMap</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391920" y="1270000"/>
            <a:ext cx="9939019" cy="802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接下来通过一个案例演示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这些方法的使用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6" name="组合 5"/>
          <p:cNvGrpSpPr/>
          <p:nvPr/>
        </p:nvGrpSpPr>
        <p:grpSpPr>
          <a:xfrm>
            <a:off x="2712720" y="2042160"/>
            <a:ext cx="7691119" cy="3982719"/>
            <a:chOff x="2489200" y="2042160"/>
            <a:chExt cx="7691119" cy="3982719"/>
          </a:xfrm>
        </p:grpSpPr>
        <p:pic>
          <p:nvPicPr>
            <p:cNvPr id="1034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89200" y="2042160"/>
              <a:ext cx="7691119" cy="3982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3169920" y="2042160"/>
              <a:ext cx="6457949" cy="3860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Example17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HashMap</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map = new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HashMap</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map.put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张三</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存储键和值</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map.put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李四</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map.put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王五</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map.put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赵六</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集合大小为：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map.size</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8E2E49A6-CAAE-4A7E-A5A4-501FA4E19C43}"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8" presetClass="entr" presetSubtype="12"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trips(downLeft)">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5.6.6</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HashMap</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6" name="组合 5"/>
          <p:cNvGrpSpPr/>
          <p:nvPr/>
        </p:nvGrpSpPr>
        <p:grpSpPr>
          <a:xfrm>
            <a:off x="1676400" y="1432560"/>
            <a:ext cx="9834879" cy="4622799"/>
            <a:chOff x="1666240" y="1432560"/>
            <a:chExt cx="9834879" cy="4622799"/>
          </a:xfrm>
        </p:grpSpPr>
        <p:pic>
          <p:nvPicPr>
            <p:cNvPr id="1044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66240" y="1432560"/>
              <a:ext cx="9834879" cy="4622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2174240" y="1432560"/>
              <a:ext cx="9006838" cy="45516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判断是否包含传入的键：</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map.containsKey</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判断是否包含传入的值：</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map.containsValue</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王五</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移除键为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的值是：</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map.remove</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Collection values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map.values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Iterator it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values.iterator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while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it.hasNext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Object value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it.next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(value);</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D0DBFF1C-532E-406A-81B9-566C8519F8F5}"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5.6.6</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HashMap</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5435600" y="1549400"/>
            <a:ext cx="5895337" cy="3977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从上面的例子可以看出，</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集合迭代出来元素的顺序和存入的顺序是不一致的。如果想让这两个顺序一致，可以使用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中提供的</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LinkedHashMap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类，它是</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的子类，与</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LinkedList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一样，它也使用双向链表来维护内部元素的关系，使</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元素迭代的顺序与存入的顺序一致。</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054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93140" y="2418238"/>
            <a:ext cx="4172063" cy="22655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占位符 5"/>
          <p:cNvSpPr>
            <a:spLocks noGrp="1"/>
          </p:cNvSpPr>
          <p:nvPr>
            <p:ph type="body" sz="quarter" idx="10"/>
          </p:nvPr>
        </p:nvSpPr>
        <p:spPr/>
        <p:txBody>
          <a:bodyPr/>
          <a:lstStyle/>
          <a:p>
            <a:fld id="{BF414356-61E8-4C87-BB6C-C50D4DC3D10D}"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16" presetClass="entr" presetSubtype="37" fill="hold" nodeType="withEffect">
                                  <p:stCondLst>
                                    <p:cond delay="0"/>
                                  </p:stCondLst>
                                  <p:childTnLst>
                                    <p:set>
                                      <p:cBhvr>
                                        <p:cTn id="11" dur="1" fill="hold">
                                          <p:stCondLst>
                                            <p:cond delay="0"/>
                                          </p:stCondLst>
                                        </p:cTn>
                                        <p:tgtEl>
                                          <p:spTgt spid="105474"/>
                                        </p:tgtEl>
                                        <p:attrNameLst>
                                          <p:attrName>style.visibility</p:attrName>
                                        </p:attrNameLst>
                                      </p:cBhvr>
                                      <p:to>
                                        <p:strVal val="visible"/>
                                      </p:to>
                                    </p:set>
                                    <p:animEffect transition="in" filter="barn(outVertical)">
                                      <p:cBhvr>
                                        <p:cTn id="12" dur="500"/>
                                        <p:tgtEl>
                                          <p:spTgt spid="105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5.6.6</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HashMap</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534160" y="1336040"/>
            <a:ext cx="8557257" cy="8178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接下来通过一个案例学习</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LinkedHashMap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的用法</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6" name="组合 5"/>
          <p:cNvGrpSpPr/>
          <p:nvPr/>
        </p:nvGrpSpPr>
        <p:grpSpPr>
          <a:xfrm>
            <a:off x="2496820" y="2052320"/>
            <a:ext cx="8580122" cy="3820159"/>
            <a:chOff x="2311398" y="2052320"/>
            <a:chExt cx="8580122" cy="3820159"/>
          </a:xfrm>
        </p:grpSpPr>
        <p:pic>
          <p:nvPicPr>
            <p:cNvPr id="1064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8" y="2052320"/>
              <a:ext cx="8580122" cy="3820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2854961" y="2153920"/>
              <a:ext cx="7863840" cy="35788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Example18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LinkedHashMap</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map = new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LinkedHashMap</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map.put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李四</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存储键和值</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map.put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王五</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map.put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赵六</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Set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keySet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map.keySet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9D6A9010-562D-4139-BEFB-FA781FA6CE98}"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 presetClass="entr" presetSubtype="1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heckerboard(across)">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5.6.6</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HashMap</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6" name="组合 5"/>
          <p:cNvGrpSpPr/>
          <p:nvPr/>
        </p:nvGrpSpPr>
        <p:grpSpPr>
          <a:xfrm>
            <a:off x="2550163" y="1871979"/>
            <a:ext cx="8168640" cy="3718559"/>
            <a:chOff x="2387600" y="1727200"/>
            <a:chExt cx="8168640" cy="3718559"/>
          </a:xfrm>
        </p:grpSpPr>
        <p:pic>
          <p:nvPicPr>
            <p:cNvPr id="1075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87600" y="1727200"/>
              <a:ext cx="8168640" cy="3718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2936240" y="1907540"/>
              <a:ext cx="7457442" cy="34163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Iterator it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keySet.iterator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while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it.hasNext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Object key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it.next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Object value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map.get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获取每个键所对应的值</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 + ":" + value);</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B5BFE6AF-EEFA-40ED-BFDC-7BF2F41CC7E5}"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5.6.6</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TreeMap</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2311398" y="1983739"/>
            <a:ext cx="4993646" cy="2890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集合存储的元素的键值是无序的和不可重复的，为了对集合中的元素的键值进行排序，</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接口提供了另一个可以对集合中元素键值进行排序的类</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TreeMap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085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69580" y="1535111"/>
            <a:ext cx="3124200" cy="378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占位符 5"/>
          <p:cNvSpPr>
            <a:spLocks noGrp="1"/>
          </p:cNvSpPr>
          <p:nvPr>
            <p:ph type="body" sz="quarter" idx="10"/>
          </p:nvPr>
        </p:nvSpPr>
        <p:spPr/>
        <p:txBody>
          <a:bodyPr/>
          <a:lstStyle/>
          <a:p>
            <a:fld id="{A42A0487-CAF9-4BCD-99C2-FA91DEAAE9F4}"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nodeType="afterEffect">
                                  <p:stCondLst>
                                    <p:cond delay="0"/>
                                  </p:stCondLst>
                                  <p:childTnLst>
                                    <p:set>
                                      <p:cBhvr>
                                        <p:cTn id="12" dur="1" fill="hold">
                                          <p:stCondLst>
                                            <p:cond delay="0"/>
                                          </p:stCondLst>
                                        </p:cTn>
                                        <p:tgtEl>
                                          <p:spTgt spid="108546"/>
                                        </p:tgtEl>
                                        <p:attrNameLst>
                                          <p:attrName>style.visibility</p:attrName>
                                        </p:attrNameLst>
                                      </p:cBhvr>
                                      <p:to>
                                        <p:strVal val="visible"/>
                                      </p:to>
                                    </p:set>
                                    <p:animEffect transition="in" filter="fade">
                                      <p:cBhvr>
                                        <p:cTn id="13" dur="500"/>
                                        <p:tgtEl>
                                          <p:spTgt spid="1085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5.6.6</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TreeMap</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498600" y="1211578"/>
            <a:ext cx="9194800" cy="820421"/>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接下来通过一个案例演示</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TreeMap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集合的用法</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6" name="组合 5"/>
          <p:cNvGrpSpPr/>
          <p:nvPr/>
        </p:nvGrpSpPr>
        <p:grpSpPr>
          <a:xfrm>
            <a:off x="2773680" y="1920237"/>
            <a:ext cx="7762240" cy="4287521"/>
            <a:chOff x="2753360" y="1920237"/>
            <a:chExt cx="7762240" cy="4287521"/>
          </a:xfrm>
        </p:grpSpPr>
        <p:pic>
          <p:nvPicPr>
            <p:cNvPr id="1095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53360" y="1920238"/>
              <a:ext cx="7762240" cy="4287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3556000" y="1920237"/>
              <a:ext cx="6644640" cy="4287521"/>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java.util.Iterator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java.util.Set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java.util.TreeMap</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Example19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TreeMap</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map = new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TreeMap</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map.put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李四</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存储键和值</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map.put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王五</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map.put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赵六</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map.put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张三</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BE414221-11E4-4C8D-9C29-E956E6B57158}"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6" presetClass="entr" presetSubtype="37"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outVertical)">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5.6.6</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TreeMap</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6" name="组合 5"/>
          <p:cNvGrpSpPr/>
          <p:nvPr/>
        </p:nvGrpSpPr>
        <p:grpSpPr>
          <a:xfrm>
            <a:off x="2661920" y="1676399"/>
            <a:ext cx="8077200" cy="3972560"/>
            <a:chOff x="2143760" y="1666240"/>
            <a:chExt cx="8077200" cy="3972560"/>
          </a:xfrm>
        </p:grpSpPr>
        <p:pic>
          <p:nvPicPr>
            <p:cNvPr id="1105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43760" y="1666240"/>
              <a:ext cx="8077200" cy="3972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2753360" y="1777999"/>
              <a:ext cx="7213600" cy="3769361"/>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Set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keySet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map.keySet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Iterator it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keySet.iterator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while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it.hasNext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Object key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it.next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Object value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map.get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获取每个键所对应的值</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(key+":"+value);</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0B4A3084-2852-451E-8687-30732DF59DBC}"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5.6.6</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TreeMap</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259840" y="1150618"/>
            <a:ext cx="10373360" cy="188722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TreeMap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集合之所以可以对添加的元素的键值进行排序，其实现同</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TreeSet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一样，</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TreeMap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的排序也分自然排序与比较排序两种。接下来通过一个案例演示比较排序法实现按键值排序，在该案例中，键是自定义类值是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7" name="组合 6"/>
          <p:cNvGrpSpPr/>
          <p:nvPr/>
        </p:nvGrpSpPr>
        <p:grpSpPr>
          <a:xfrm>
            <a:off x="2202497" y="2860040"/>
            <a:ext cx="3893503" cy="3550920"/>
            <a:chOff x="2202497" y="2860040"/>
            <a:chExt cx="3893503" cy="3550920"/>
          </a:xfrm>
        </p:grpSpPr>
        <p:pic>
          <p:nvPicPr>
            <p:cNvPr id="1116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02497" y="2860040"/>
              <a:ext cx="3893503" cy="3550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418080" y="2946400"/>
              <a:ext cx="3535680" cy="32918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class Student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private String name;</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private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age;</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getName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return name;</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void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setName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 name)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this.name = name;</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6" name="组合 5"/>
          <p:cNvGrpSpPr/>
          <p:nvPr/>
        </p:nvGrpSpPr>
        <p:grpSpPr>
          <a:xfrm>
            <a:off x="6550977" y="2814320"/>
            <a:ext cx="4086543" cy="3596640"/>
            <a:chOff x="6490017" y="2814320"/>
            <a:chExt cx="4086543" cy="3596640"/>
          </a:xfrm>
        </p:grpSpPr>
        <p:pic>
          <p:nvPicPr>
            <p:cNvPr id="11161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90017" y="2860040"/>
              <a:ext cx="4086543" cy="3550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6634480" y="2814320"/>
              <a:ext cx="3840480" cy="3596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getAge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return age;</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void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setAge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age)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this.age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age;</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Student(String name,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age)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super();</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this.name = name;</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this.age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age;</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1" name="文本占位符 10"/>
          <p:cNvSpPr>
            <a:spLocks noGrp="1"/>
          </p:cNvSpPr>
          <p:nvPr>
            <p:ph type="body" sz="quarter" idx="10"/>
          </p:nvPr>
        </p:nvSpPr>
        <p:spPr/>
        <p:txBody>
          <a:bodyPr/>
          <a:lstStyle/>
          <a:p>
            <a:fld id="{64489B95-9347-43EC-AFFB-3D46708A6213}"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1"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up)">
                                      <p:cBhvr>
                                        <p:cTn id="13" dur="500"/>
                                        <p:tgtEl>
                                          <p:spTgt spid="7"/>
                                        </p:tgtEl>
                                      </p:cBhvr>
                                    </p:animEffect>
                                  </p:childTnLst>
                                </p:cTn>
                              </p:par>
                            </p:childTnLst>
                          </p:cTn>
                        </p:par>
                        <p:par>
                          <p:cTn id="14" fill="hold">
                            <p:stCondLst>
                              <p:cond delay="1500"/>
                            </p:stCondLst>
                            <p:childTnLst>
                              <p:par>
                                <p:cTn id="15" presetID="22" presetClass="entr" presetSubtype="1"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5.6.6</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TreeMap</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6" name="组合 5"/>
          <p:cNvGrpSpPr/>
          <p:nvPr/>
        </p:nvGrpSpPr>
        <p:grpSpPr>
          <a:xfrm>
            <a:off x="2834640" y="1452880"/>
            <a:ext cx="7802879" cy="4612640"/>
            <a:chOff x="2743200" y="1452880"/>
            <a:chExt cx="7802879" cy="4612640"/>
          </a:xfrm>
        </p:grpSpPr>
        <p:pic>
          <p:nvPicPr>
            <p:cNvPr id="1126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43200" y="1452880"/>
              <a:ext cx="7802879" cy="4612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3281680" y="1452880"/>
              <a:ext cx="6908800" cy="4612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@Override</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toString</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return "Student [name=" + name + ", age=" + age +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Example20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TreeMap</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tm = new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TreeMap</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(new Comparator&lt;Student&gt;()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@Override</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compare(Student s1, Student s2)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num</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s1.getName().</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compareTo</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(s2.getName());//</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按照姓名比较</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return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num</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0 ? num:s1.getAge() - s2.getAge();</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3BED57C8-9AB1-406F-8E01-43F0EE24867C}"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5.6.6</a:t>
            </a:r>
            <a:r>
              <a:rPr lang="en-US" altLang="zh-CN" sz="3200" b="1" dirty="0">
                <a:solidFill>
                  <a:srgbClr val="1353A2"/>
                </a:solidFill>
                <a:latin typeface="微软雅黑" panose="020B0503020204020204" pitchFamily="34" charset="-122"/>
                <a:ea typeface="微软雅黑" panose="020B0503020204020204" pitchFamily="34" charset="-122"/>
              </a:rPr>
              <a:t> </a:t>
            </a:r>
            <a:r>
              <a:rPr lang="en-US" altLang="zh-CN" sz="3200" b="1" dirty="0" err="1">
                <a:solidFill>
                  <a:srgbClr val="1353A2"/>
                </a:solidFill>
                <a:latin typeface="微软雅黑" panose="020B0503020204020204" pitchFamily="34" charset="-122"/>
                <a:ea typeface="微软雅黑" panose="020B0503020204020204" pitchFamily="34" charset="-122"/>
              </a:rPr>
              <a:t>TreeMap</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6" name="组合 5"/>
          <p:cNvGrpSpPr/>
          <p:nvPr/>
        </p:nvGrpSpPr>
        <p:grpSpPr>
          <a:xfrm>
            <a:off x="2875280" y="1544321"/>
            <a:ext cx="7457440" cy="4338319"/>
            <a:chOff x="2631440" y="1574800"/>
            <a:chExt cx="7457440" cy="4338319"/>
          </a:xfrm>
        </p:grpSpPr>
        <p:pic>
          <p:nvPicPr>
            <p:cNvPr id="1136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31440" y="1574800"/>
              <a:ext cx="7457440" cy="4338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3423920" y="1635760"/>
              <a:ext cx="5801360" cy="42468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tm.put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(new Student("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张三</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23),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北京</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tm.put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(new Student("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李四</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13),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上海</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tm.put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(new Student("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赵六</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43),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深圳</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tm.put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(new Student("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王五</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33),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广州</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Set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keySet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tm.keySet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Iterator it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keySet.iterator</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while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it.hasNext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Object key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it.next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Object value =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tm.get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获取每个键所对应的值</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(key+":"+value);</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314B208E-3989-4CF2-870C-82C674A4C77A}"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5.6.6</a:t>
            </a:r>
            <a:r>
              <a:rPr lang="en-US" altLang="zh-CN" sz="3200" b="1" dirty="0">
                <a:solidFill>
                  <a:srgbClr val="1353A2"/>
                </a:solidFill>
                <a:latin typeface="微软雅黑" panose="020B0503020204020204" pitchFamily="34" charset="-122"/>
                <a:ea typeface="微软雅黑" panose="020B0503020204020204" pitchFamily="34" charset="-122"/>
              </a:rPr>
              <a:t> Properties</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5293361" y="1757680"/>
            <a:ext cx="5902960" cy="3525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接口中还有一个实现类</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Hashtable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，它和</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十分相似，区别在于</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Hashtable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是线程安全的。</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Hashtable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存取元素时速度很慢，目前基本上被</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HashMap</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类所取代，但</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Hashtable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类有一个子类</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Properties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在实际应用中非常重要。</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1469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80844" y="2044700"/>
            <a:ext cx="3330575" cy="323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占位符 5"/>
          <p:cNvSpPr>
            <a:spLocks noGrp="1"/>
          </p:cNvSpPr>
          <p:nvPr>
            <p:ph type="body" sz="quarter" idx="10"/>
          </p:nvPr>
        </p:nvSpPr>
        <p:spPr/>
        <p:txBody>
          <a:bodyPr/>
          <a:lstStyle/>
          <a:p>
            <a:fld id="{456EB011-C76E-48DE-8CC2-1CBBBE45E4F6}"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4690"/>
                                        </p:tgtEl>
                                        <p:attrNameLst>
                                          <p:attrName>style.visibility</p:attrName>
                                        </p:attrNameLst>
                                      </p:cBhvr>
                                      <p:to>
                                        <p:strVal val="visible"/>
                                      </p:to>
                                    </p:set>
                                    <p:animEffect transition="in" filter="fade">
                                      <p:cBhvr>
                                        <p:cTn id="12" dur="1000"/>
                                        <p:tgtEl>
                                          <p:spTgt spid="114690"/>
                                        </p:tgtEl>
                                      </p:cBhvr>
                                    </p:animEffect>
                                    <p:anim calcmode="lin" valueType="num">
                                      <p:cBhvr>
                                        <p:cTn id="13" dur="1000" fill="hold"/>
                                        <p:tgtEl>
                                          <p:spTgt spid="114690"/>
                                        </p:tgtEl>
                                        <p:attrNameLst>
                                          <p:attrName>ppt_x</p:attrName>
                                        </p:attrNameLst>
                                      </p:cBhvr>
                                      <p:tavLst>
                                        <p:tav tm="0">
                                          <p:val>
                                            <p:strVal val="#ppt_x"/>
                                          </p:val>
                                        </p:tav>
                                        <p:tav tm="100000">
                                          <p:val>
                                            <p:strVal val="#ppt_x"/>
                                          </p:val>
                                        </p:tav>
                                      </p:tavLst>
                                    </p:anim>
                                    <p:anim calcmode="lin" valueType="num">
                                      <p:cBhvr>
                                        <p:cTn id="14" dur="1000" fill="hold"/>
                                        <p:tgtEl>
                                          <p:spTgt spid="11469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19074" y="2231073"/>
            <a:ext cx="4029354" cy="2523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5.6.6</a:t>
            </a:r>
            <a:r>
              <a:rPr lang="en-US" altLang="zh-CN" sz="3200" b="1" dirty="0">
                <a:solidFill>
                  <a:srgbClr val="1353A2"/>
                </a:solidFill>
                <a:latin typeface="微软雅黑" panose="020B0503020204020204" pitchFamily="34" charset="-122"/>
                <a:ea typeface="微软雅黑" panose="020B0503020204020204" pitchFamily="34" charset="-122"/>
              </a:rPr>
              <a:t> Properties</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747524" y="1320800"/>
            <a:ext cx="5902959" cy="48564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Properties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主要用来存储字符串类型的键和值，在实际开发中，经常使用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Properties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集合来存取应用的配置项。假设有一个文本编辑工具，要求默认背景色是红色，字体大小为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14px</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，语言为中文，其配置项如下面的代码： </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Backgroup</a:t>
            </a: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-color = red</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Font-size = 14px</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Language = </a:t>
            </a:r>
            <a:r>
              <a:rPr lang="en-US" altLang="zh-CN" sz="20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chinese</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占位符 5"/>
          <p:cNvSpPr>
            <a:spLocks noGrp="1"/>
          </p:cNvSpPr>
          <p:nvPr>
            <p:ph type="body" sz="quarter" idx="10"/>
          </p:nvPr>
        </p:nvSpPr>
        <p:spPr/>
        <p:txBody>
          <a:bodyPr/>
          <a:lstStyle/>
          <a:p>
            <a:fld id="{1B13302A-9B3F-4A24-9751-9B7ADB2F92DA}"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21" presetClass="entr" presetSubtype="1" fill="hold" nodeType="withEffect">
                                  <p:stCondLst>
                                    <p:cond delay="0"/>
                                  </p:stCondLst>
                                  <p:childTnLst>
                                    <p:set>
                                      <p:cBhvr>
                                        <p:cTn id="11" dur="1" fill="hold">
                                          <p:stCondLst>
                                            <p:cond delay="0"/>
                                          </p:stCondLst>
                                        </p:cTn>
                                        <p:tgtEl>
                                          <p:spTgt spid="115714"/>
                                        </p:tgtEl>
                                        <p:attrNameLst>
                                          <p:attrName>style.visibility</p:attrName>
                                        </p:attrNameLst>
                                      </p:cBhvr>
                                      <p:to>
                                        <p:strVal val="visible"/>
                                      </p:to>
                                    </p:set>
                                    <p:animEffect transition="in" filter="wheel(1)">
                                      <p:cBhvr>
                                        <p:cTn id="12" dur="2000"/>
                                        <p:tgtEl>
                                          <p:spTgt spid="1157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91278" y="2673602"/>
            <a:ext cx="8557236" cy="3034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5.6.6</a:t>
            </a:r>
            <a:r>
              <a:rPr lang="en-US" altLang="zh-CN" sz="3200" b="1" dirty="0">
                <a:solidFill>
                  <a:srgbClr val="1353A2"/>
                </a:solidFill>
                <a:latin typeface="微软雅黑" panose="020B0503020204020204" pitchFamily="34" charset="-122"/>
                <a:ea typeface="微软雅黑" panose="020B0503020204020204" pitchFamily="34" charset="-122"/>
              </a:rPr>
              <a:t> Properties</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635760" y="1320800"/>
            <a:ext cx="9997440" cy="13411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在程序中可以使用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Properties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集合对这些配置项进行存取，接下来通过一个案例学习</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Properties</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集合的使用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内容占位符 2"/>
          <p:cNvSpPr txBox="1"/>
          <p:nvPr/>
        </p:nvSpPr>
        <p:spPr>
          <a:xfrm>
            <a:off x="2733040" y="2661920"/>
            <a:ext cx="7955280" cy="31800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Example21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Properties p=new Properties();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Properties</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p.setProperty</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Backgroup</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-color", "red");</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p.setProperty</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("Font-size", "14px");</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p.setProperty</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("Language",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chinese</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占位符 5"/>
          <p:cNvSpPr>
            <a:spLocks noGrp="1"/>
          </p:cNvSpPr>
          <p:nvPr>
            <p:ph type="body" sz="quarter" idx="10"/>
          </p:nvPr>
        </p:nvSpPr>
        <p:spPr/>
        <p:txBody>
          <a:bodyPr/>
          <a:lstStyle/>
          <a:p>
            <a:fld id="{0020B260-F491-400F-BA64-2546F446440C}"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02675" y="2062481"/>
            <a:ext cx="9962423" cy="3373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5.6.6</a:t>
            </a:r>
            <a:r>
              <a:rPr lang="en-US" altLang="zh-CN" sz="3200" b="1" dirty="0">
                <a:solidFill>
                  <a:srgbClr val="1353A2"/>
                </a:solidFill>
                <a:latin typeface="微软雅黑" panose="020B0503020204020204" pitchFamily="34" charset="-122"/>
                <a:ea typeface="微软雅黑" panose="020B0503020204020204" pitchFamily="34" charset="-122"/>
              </a:rPr>
              <a:t> Properties</a:t>
            </a:r>
            <a:r>
              <a:rPr lang="zh-CN" altLang="en-US" sz="3200" b="1" dirty="0">
                <a:solidFill>
                  <a:srgbClr val="1353A2"/>
                </a:solidFill>
                <a:latin typeface="微软雅黑" panose="020B0503020204020204" pitchFamily="34" charset="-122"/>
                <a:ea typeface="微软雅黑" panose="020B0503020204020204" pitchFamily="34" charset="-122"/>
              </a:rPr>
              <a:t>集合</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内容占位符 2"/>
          <p:cNvSpPr txBox="1"/>
          <p:nvPr/>
        </p:nvSpPr>
        <p:spPr>
          <a:xfrm>
            <a:off x="1656080" y="2062480"/>
            <a:ext cx="9611360" cy="33731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Enumeration names =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p.propertyNames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Enumeration</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对象所有键枚举</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while(</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names.hasMoreElements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循环遍历所有的键</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String key=(String)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names.nextElement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String value=</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p.getProperty</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        //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获取对应键的值</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(key+" = "+value);</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占位符 5"/>
          <p:cNvSpPr>
            <a:spLocks noGrp="1"/>
          </p:cNvSpPr>
          <p:nvPr>
            <p:ph type="body" sz="quarter" idx="10"/>
          </p:nvPr>
        </p:nvSpPr>
        <p:spPr/>
        <p:txBody>
          <a:bodyPr/>
          <a:lstStyle/>
          <a:p>
            <a:fld id="{82DE25B8-B624-4581-BA02-E28EE14BF020}" type="slidenum">
              <a:rPr lang="zh-CN" altLang="en-US" smtClean="0"/>
            </a:fld>
            <a:endParaRPr lang="zh-CN" altLang="en-US" dirty="0"/>
          </a:p>
        </p:txBody>
      </p:sp>
    </p:spTree>
    <p:custDataLst>
      <p:tags r:id="rId2"/>
    </p:custData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泛型概述</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859280" y="1412240"/>
            <a:ext cx="5679440" cy="4521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泛型是指定一个表示类型的变量，即“参数化类型”。在编程中用泛型来代替某个实际的类型，而后通过实际调用时传入或推导的类型来对泛型进行替换，以达到代码复用的目的。在使用泛型的过程中，操作数据类型被指定为一个参数，这种参数类型在类、接口和方法中，分别称为泛型类、泛型接口、泛型方法。</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198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08950" y="1740852"/>
            <a:ext cx="3086100" cy="355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占位符 5"/>
          <p:cNvSpPr>
            <a:spLocks noGrp="1"/>
          </p:cNvSpPr>
          <p:nvPr>
            <p:ph type="body" sz="quarter" idx="10"/>
          </p:nvPr>
        </p:nvSpPr>
        <p:spPr/>
        <p:txBody>
          <a:bodyPr/>
          <a:lstStyle/>
          <a:p>
            <a:fld id="{42B8DD39-BD22-42C0-94A6-DA966563A34D}"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9810"/>
                                        </p:tgtEl>
                                        <p:attrNameLst>
                                          <p:attrName>style.visibility</p:attrName>
                                        </p:attrNameLst>
                                      </p:cBhvr>
                                      <p:to>
                                        <p:strVal val="visible"/>
                                      </p:to>
                                    </p:set>
                                    <p:animEffect transition="in" filter="fade">
                                      <p:cBhvr>
                                        <p:cTn id="12" dur="1000"/>
                                        <p:tgtEl>
                                          <p:spTgt spid="119810"/>
                                        </p:tgtEl>
                                      </p:cBhvr>
                                    </p:animEffect>
                                    <p:anim calcmode="lin" valueType="num">
                                      <p:cBhvr>
                                        <p:cTn id="13" dur="1000" fill="hold"/>
                                        <p:tgtEl>
                                          <p:spTgt spid="119810"/>
                                        </p:tgtEl>
                                        <p:attrNameLst>
                                          <p:attrName>ppt_x</p:attrName>
                                        </p:attrNameLst>
                                      </p:cBhvr>
                                      <p:tavLst>
                                        <p:tav tm="0">
                                          <p:val>
                                            <p:strVal val="#ppt_x"/>
                                          </p:val>
                                        </p:tav>
                                        <p:tav tm="100000">
                                          <p:val>
                                            <p:strVal val="#ppt_x"/>
                                          </p:val>
                                        </p:tav>
                                      </p:tavLst>
                                    </p:anim>
                                    <p:anim calcmode="lin" valueType="num">
                                      <p:cBhvr>
                                        <p:cTn id="14" dur="1000" fill="hold"/>
                                        <p:tgtEl>
                                          <p:spTgt spid="1198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泛型概述</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5184139" y="1270000"/>
            <a:ext cx="5913120" cy="50088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相对于传统上的形参，泛型可以使我们的参数具有更多类型上的变化，使代码能更好地复用。例如下面这段代码。</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public class Box {</a:t>
            </a:r>
            <a:endParaRPr lang="zh-CN"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private String value;</a:t>
            </a:r>
            <a:endParaRPr lang="zh-CN"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public void set(String value) {</a:t>
            </a:r>
            <a:endParaRPr lang="zh-CN"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this.value</a:t>
            </a: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 value;</a:t>
            </a:r>
            <a:endParaRPr lang="zh-CN"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public String get() {</a:t>
            </a:r>
            <a:endParaRPr lang="zh-CN"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return value;</a:t>
            </a:r>
            <a:endParaRPr lang="zh-CN"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208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05280" y="1674705"/>
            <a:ext cx="3578859" cy="4199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占位符 5"/>
          <p:cNvSpPr>
            <a:spLocks noGrp="1"/>
          </p:cNvSpPr>
          <p:nvPr>
            <p:ph type="body" sz="quarter" idx="10"/>
          </p:nvPr>
        </p:nvSpPr>
        <p:spPr/>
        <p:txBody>
          <a:bodyPr/>
          <a:lstStyle/>
          <a:p>
            <a:fld id="{1F2116F7-E92D-4100-B137-0E69F3749E19}"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0834"/>
                                        </p:tgtEl>
                                        <p:attrNameLst>
                                          <p:attrName>style.visibility</p:attrName>
                                        </p:attrNameLst>
                                      </p:cBhvr>
                                      <p:to>
                                        <p:strVal val="visible"/>
                                      </p:to>
                                    </p:set>
                                    <p:animEffect transition="in" filter="fade">
                                      <p:cBhvr>
                                        <p:cTn id="12" dur="1000"/>
                                        <p:tgtEl>
                                          <p:spTgt spid="120834"/>
                                        </p:tgtEl>
                                      </p:cBhvr>
                                    </p:animEffect>
                                    <p:anim calcmode="lin" valueType="num">
                                      <p:cBhvr>
                                        <p:cTn id="13" dur="1000" fill="hold"/>
                                        <p:tgtEl>
                                          <p:spTgt spid="120834"/>
                                        </p:tgtEl>
                                        <p:attrNameLst>
                                          <p:attrName>ppt_x</p:attrName>
                                        </p:attrNameLst>
                                      </p:cBhvr>
                                      <p:tavLst>
                                        <p:tav tm="0">
                                          <p:val>
                                            <p:strVal val="#ppt_x"/>
                                          </p:val>
                                        </p:tav>
                                        <p:tav tm="100000">
                                          <p:val>
                                            <p:strVal val="#ppt_x"/>
                                          </p:val>
                                        </p:tav>
                                      </p:tavLst>
                                    </p:anim>
                                    <p:anim calcmode="lin" valueType="num">
                                      <p:cBhvr>
                                        <p:cTn id="14" dur="1000" fill="hold"/>
                                        <p:tgtEl>
                                          <p:spTgt spid="1208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泛型概述</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859280" y="1757680"/>
            <a:ext cx="9408160" cy="35763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上述代码中，定义了一个</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Box</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Box</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类中设置了一个</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String </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类型的数据。这时程序运行起来是没有问题的。但是，如果我们又需要一个能设置 </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 </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类型数据的类，这个时候我们只能重新创建一个类，把</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value </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改为 </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类型的。可是，随着业务不断增加，我们需要设置越来越多数据类型的类，这样会使得工程变得越来越“笨重”，并且安全性和重用性都非常低。</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占位符 5"/>
          <p:cNvSpPr>
            <a:spLocks noGrp="1"/>
          </p:cNvSpPr>
          <p:nvPr>
            <p:ph type="body" sz="quarter" idx="10"/>
          </p:nvPr>
        </p:nvSpPr>
        <p:spPr/>
        <p:txBody>
          <a:bodyPr/>
          <a:lstStyle/>
          <a:p>
            <a:fld id="{CBF7D534-2307-4F36-8745-FF89753E2C00}"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泛型概述</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615440" y="1452880"/>
            <a:ext cx="9652000" cy="1219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泛型就能够很好的解决上述问题。接下来，使用泛型改造</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Box</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类，具体代码如下所示。</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6" name="组合 5"/>
          <p:cNvGrpSpPr/>
          <p:nvPr/>
        </p:nvGrpSpPr>
        <p:grpSpPr>
          <a:xfrm>
            <a:off x="2372358" y="2753360"/>
            <a:ext cx="3272790" cy="3413760"/>
            <a:chOff x="2010410" y="2763520"/>
            <a:chExt cx="3272790" cy="3413760"/>
          </a:xfrm>
        </p:grpSpPr>
        <p:pic>
          <p:nvPicPr>
            <p:cNvPr id="12185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10410" y="2763520"/>
              <a:ext cx="3272790" cy="3413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225040" y="2763520"/>
              <a:ext cx="2816859" cy="34137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public class Box&lt;T&gt;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private 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void set(T 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this.t = 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T get()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return 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pic>
        <p:nvPicPr>
          <p:cNvPr id="1218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2960" y="2216467"/>
            <a:ext cx="3117850" cy="3779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文本占位符 6"/>
          <p:cNvSpPr>
            <a:spLocks noGrp="1"/>
          </p:cNvSpPr>
          <p:nvPr>
            <p:ph type="body" sz="quarter" idx="10"/>
          </p:nvPr>
        </p:nvSpPr>
        <p:spPr/>
        <p:txBody>
          <a:bodyPr/>
          <a:lstStyle/>
          <a:p>
            <a:fld id="{DB936D0D-272C-4616-BE45-B4377DFEDD3A}" type="slidenum">
              <a:rPr lang="zh-CN" altLang="en-US" smtClean="0"/>
            </a:fld>
            <a:endParaRPr lang="zh-CN" altLang="en-US" dirty="0"/>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1"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up)">
                                      <p:cBhvr>
                                        <p:cTn id="13" dur="500"/>
                                        <p:tgtEl>
                                          <p:spTgt spid="6"/>
                                        </p:tgtEl>
                                      </p:cBhvr>
                                    </p:animEffect>
                                  </p:childTnLst>
                                </p:cTn>
                              </p:par>
                              <p:par>
                                <p:cTn id="14" presetID="42" presetClass="entr" presetSubtype="0" fill="hold" nodeType="withEffect">
                                  <p:stCondLst>
                                    <p:cond delay="0"/>
                                  </p:stCondLst>
                                  <p:childTnLst>
                                    <p:set>
                                      <p:cBhvr>
                                        <p:cTn id="15" dur="1" fill="hold">
                                          <p:stCondLst>
                                            <p:cond delay="0"/>
                                          </p:stCondLst>
                                        </p:cTn>
                                        <p:tgtEl>
                                          <p:spTgt spid="121859"/>
                                        </p:tgtEl>
                                        <p:attrNameLst>
                                          <p:attrName>style.visibility</p:attrName>
                                        </p:attrNameLst>
                                      </p:cBhvr>
                                      <p:to>
                                        <p:strVal val="visible"/>
                                      </p:to>
                                    </p:set>
                                    <p:animEffect transition="in" filter="fade">
                                      <p:cBhvr>
                                        <p:cTn id="16" dur="1000"/>
                                        <p:tgtEl>
                                          <p:spTgt spid="121859"/>
                                        </p:tgtEl>
                                      </p:cBhvr>
                                    </p:animEffect>
                                    <p:anim calcmode="lin" valueType="num">
                                      <p:cBhvr>
                                        <p:cTn id="17" dur="1000" fill="hold"/>
                                        <p:tgtEl>
                                          <p:spTgt spid="121859"/>
                                        </p:tgtEl>
                                        <p:attrNameLst>
                                          <p:attrName>ppt_x</p:attrName>
                                        </p:attrNameLst>
                                      </p:cBhvr>
                                      <p:tavLst>
                                        <p:tav tm="0">
                                          <p:val>
                                            <p:strVal val="#ppt_x"/>
                                          </p:val>
                                        </p:tav>
                                        <p:tav tm="100000">
                                          <p:val>
                                            <p:strVal val="#ppt_x"/>
                                          </p:val>
                                        </p:tav>
                                      </p:tavLst>
                                    </p:anim>
                                    <p:anim calcmode="lin" valueType="num">
                                      <p:cBhvr>
                                        <p:cTn id="18" dur="1000" fill="hold"/>
                                        <p:tgtEl>
                                          <p:spTgt spid="12185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泛型概述</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2103120" y="2032000"/>
            <a:ext cx="9276080" cy="3098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上述代码中， </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Box</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类在定义时使用了“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&lt;T&gt;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”的形式，</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表示此类型是由外部调用本类时指定的。这样，在实例化类对象时可以传入除基础数据类型以外的任意类型数据，使类具有良好的通用性。</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在泛型中，</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可以使用任意的字母代替，如“</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&lt;A&gt;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&lt;B&gt;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”。之所以使用“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&lt;T&gt;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”试音为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type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的缩写，表示类型。</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占位符 5"/>
          <p:cNvSpPr>
            <a:spLocks noGrp="1"/>
          </p:cNvSpPr>
          <p:nvPr>
            <p:ph type="body" sz="quarter" idx="10"/>
          </p:nvPr>
        </p:nvSpPr>
        <p:spPr/>
        <p:txBody>
          <a:bodyPr/>
          <a:lstStyle/>
          <a:p>
            <a:fld id="{581113D0-7C69-4282-BCFD-3F886C266DAA}"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5.7.1</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泛型类和泛型对象</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5421228" y="1668780"/>
            <a:ext cx="4968240" cy="31902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泛型类就是在类声明时通过一个标识表示类中某个属性的类型或者是某个方法的返回值及参数类型。只有用户使用该类的时候，该类所属的类型才能明确。</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2288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8" y="1854840"/>
            <a:ext cx="2837179" cy="3524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占位符 5"/>
          <p:cNvSpPr>
            <a:spLocks noGrp="1"/>
          </p:cNvSpPr>
          <p:nvPr>
            <p:ph type="body" sz="quarter" idx="10"/>
          </p:nvPr>
        </p:nvSpPr>
        <p:spPr/>
        <p:txBody>
          <a:bodyPr/>
          <a:lstStyle/>
          <a:p>
            <a:fld id="{60EB667A-48EA-45D2-AD11-9918C462D603}"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2882"/>
                                        </p:tgtEl>
                                        <p:attrNameLst>
                                          <p:attrName>style.visibility</p:attrName>
                                        </p:attrNameLst>
                                      </p:cBhvr>
                                      <p:to>
                                        <p:strVal val="visible"/>
                                      </p:to>
                                    </p:set>
                                    <p:animEffect transition="in" filter="fade">
                                      <p:cBhvr>
                                        <p:cTn id="12" dur="1000"/>
                                        <p:tgtEl>
                                          <p:spTgt spid="122882"/>
                                        </p:tgtEl>
                                      </p:cBhvr>
                                    </p:animEffect>
                                    <p:anim calcmode="lin" valueType="num">
                                      <p:cBhvr>
                                        <p:cTn id="13" dur="1000" fill="hold"/>
                                        <p:tgtEl>
                                          <p:spTgt spid="122882"/>
                                        </p:tgtEl>
                                        <p:attrNameLst>
                                          <p:attrName>ppt_x</p:attrName>
                                        </p:attrNameLst>
                                      </p:cBhvr>
                                      <p:tavLst>
                                        <p:tav tm="0">
                                          <p:val>
                                            <p:strVal val="#ppt_x"/>
                                          </p:val>
                                        </p:tav>
                                        <p:tav tm="100000">
                                          <p:val>
                                            <p:strVal val="#ppt_x"/>
                                          </p:val>
                                        </p:tav>
                                      </p:tavLst>
                                    </p:anim>
                                    <p:anim calcmode="lin" valueType="num">
                                      <p:cBhvr>
                                        <p:cTn id="14" dur="1000" fill="hold"/>
                                        <p:tgtEl>
                                          <p:spTgt spid="12288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5.7.1</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泛型类和泛型对象</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818323" y="1856740"/>
            <a:ext cx="9387840" cy="28143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泛型类的声明格式具体如下：</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访问权限</a:t>
            </a: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class </a:t>
            </a:r>
            <a:r>
              <a:rPr lang="zh-CN"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类名称</a:t>
            </a: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&lt;</a:t>
            </a:r>
            <a:r>
              <a:rPr lang="zh-CN"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泛型类型标识</a:t>
            </a: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，泛型类型标识</a:t>
            </a: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，泛型类型标识</a:t>
            </a: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n&gt;</a:t>
            </a:r>
            <a:endParaRPr lang="zh-CN"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访问权限</a:t>
            </a: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泛型类型标识 变量名称</a:t>
            </a: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访问权限</a:t>
            </a: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泛型类型标识 方法名称</a:t>
            </a: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访问权限</a:t>
            </a: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返回值类型声明</a:t>
            </a: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方法名称</a:t>
            </a: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泛型类型标识 变量名称</a:t>
            </a: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占位符 5"/>
          <p:cNvSpPr>
            <a:spLocks noGrp="1"/>
          </p:cNvSpPr>
          <p:nvPr>
            <p:ph type="body" sz="quarter" idx="10"/>
          </p:nvPr>
        </p:nvSpPr>
        <p:spPr/>
        <p:txBody>
          <a:bodyPr/>
          <a:lstStyle/>
          <a:p>
            <a:fld id="{6800041F-40D7-47EE-BFF3-549554FBB14E}"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5.7.1</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泛型类和泛型对象</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2107085" y="2018494"/>
            <a:ext cx="8727440" cy="21031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定义好泛型类之后，就可以创建泛型对象。创建泛型对象的语法格式具体如下：</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类名称</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&lt;</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参数化类型</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&gt;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对象名称</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 new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类名称</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&lt;</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参数化类型</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&gt;();</a:t>
            </a:r>
            <a:endPar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占位符 5"/>
          <p:cNvSpPr>
            <a:spLocks noGrp="1"/>
          </p:cNvSpPr>
          <p:nvPr>
            <p:ph type="body" sz="quarter" idx="10"/>
          </p:nvPr>
        </p:nvSpPr>
        <p:spPr/>
        <p:txBody>
          <a:bodyPr/>
          <a:lstStyle/>
          <a:p>
            <a:fld id="{C0D4C5FD-23FD-48A9-B780-CD31BE01C50A}"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5.7.1</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泛型类和泛型对象</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574800" y="1361440"/>
            <a:ext cx="9621520" cy="8737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为了大家更好地理解泛型类以及泛型对象的使用，下面先看一个例子</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6" name="组合 5"/>
          <p:cNvGrpSpPr/>
          <p:nvPr/>
        </p:nvGrpSpPr>
        <p:grpSpPr>
          <a:xfrm>
            <a:off x="2524758" y="2108200"/>
            <a:ext cx="8432799" cy="4053839"/>
            <a:chOff x="2311398" y="2159000"/>
            <a:chExt cx="8432799" cy="4053839"/>
          </a:xfrm>
        </p:grpSpPr>
        <p:pic>
          <p:nvPicPr>
            <p:cNvPr id="12390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8" y="2159000"/>
              <a:ext cx="8432799" cy="4053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2926080" y="2235200"/>
              <a:ext cx="7183120" cy="39014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Example22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list = new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list.add</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添加字符串对象</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list.add</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list.add</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添加</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for (Object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list) {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遍历集合</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强制转换成</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029211CF-A1E4-4AB9-BD88-43CC49BCDCC7}"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6" presetClass="entr" presetSubtype="37"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outVertical)">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5.7.1</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泛型类和泛型对象</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574800" y="1432560"/>
            <a:ext cx="9621520" cy="8737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程序运行结果如下图。</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1" name="图片 10"/>
          <p:cNvPicPr/>
          <p:nvPr/>
        </p:nvPicPr>
        <p:blipFill>
          <a:blip r:embed="rId1" cstate="print"/>
          <a:stretch>
            <a:fillRect/>
          </a:stretch>
        </p:blipFill>
        <p:spPr>
          <a:xfrm>
            <a:off x="2475323" y="2405239"/>
            <a:ext cx="8138477" cy="1953895"/>
          </a:xfrm>
          <a:prstGeom prst="rect">
            <a:avLst/>
          </a:prstGeom>
        </p:spPr>
      </p:pic>
      <p:sp>
        <p:nvSpPr>
          <p:cNvPr id="6" name="文本占位符 5"/>
          <p:cNvSpPr>
            <a:spLocks noGrp="1"/>
          </p:cNvSpPr>
          <p:nvPr>
            <p:ph type="body" sz="quarter" idx="10"/>
          </p:nvPr>
        </p:nvSpPr>
        <p:spPr/>
        <p:txBody>
          <a:bodyPr/>
          <a:lstStyle/>
          <a:p>
            <a:fld id="{C131E765-A178-4D77-8BA3-177B28AFF5C4}"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anim calcmode="lin" valueType="num">
                                      <p:cBhvr>
                                        <p:cTn id="14" dur="1000" fill="hold"/>
                                        <p:tgtEl>
                                          <p:spTgt spid="11"/>
                                        </p:tgtEl>
                                        <p:attrNameLst>
                                          <p:attrName>ppt_x</p:attrName>
                                        </p:attrNameLst>
                                      </p:cBhvr>
                                      <p:tavLst>
                                        <p:tav tm="0">
                                          <p:val>
                                            <p:strVal val="#ppt_x"/>
                                          </p:val>
                                        </p:tav>
                                        <p:tav tm="100000">
                                          <p:val>
                                            <p:strVal val="#ppt_x"/>
                                          </p:val>
                                        </p:tav>
                                      </p:tavLst>
                                    </p:anim>
                                    <p:anim calcmode="lin" valueType="num">
                                      <p:cBhvr>
                                        <p:cTn id="1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5.7.1</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泛型类和泛型对象</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2044699" y="1798320"/>
            <a:ext cx="5831840" cy="3556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在上述代码中，</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向</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集合存入了</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个元素，分别是一个字符串和两个</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类型的整数。在取出这些元素时，都将它们强转为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类型，由于</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对象无法转换为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类型，因此程序在运行时会出现</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上图所示</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错误。</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2493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24533" y="1798320"/>
            <a:ext cx="2492375" cy="3490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占位符 5"/>
          <p:cNvSpPr>
            <a:spLocks noGrp="1"/>
          </p:cNvSpPr>
          <p:nvPr>
            <p:ph type="body" sz="quarter" idx="10"/>
          </p:nvPr>
        </p:nvSpPr>
        <p:spPr/>
        <p:txBody>
          <a:bodyPr/>
          <a:lstStyle/>
          <a:p>
            <a:fld id="{A2289DCD-C519-4C16-B1E2-98E77B34A532}"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4930"/>
                                        </p:tgtEl>
                                        <p:attrNameLst>
                                          <p:attrName>style.visibility</p:attrName>
                                        </p:attrNameLst>
                                      </p:cBhvr>
                                      <p:to>
                                        <p:strVal val="visible"/>
                                      </p:to>
                                    </p:set>
                                    <p:animEffect transition="in" filter="fade">
                                      <p:cBhvr>
                                        <p:cTn id="12" dur="1000"/>
                                        <p:tgtEl>
                                          <p:spTgt spid="124930"/>
                                        </p:tgtEl>
                                      </p:cBhvr>
                                    </p:animEffect>
                                    <p:anim calcmode="lin" valueType="num">
                                      <p:cBhvr>
                                        <p:cTn id="13" dur="1000" fill="hold"/>
                                        <p:tgtEl>
                                          <p:spTgt spid="124930"/>
                                        </p:tgtEl>
                                        <p:attrNameLst>
                                          <p:attrName>ppt_x</p:attrName>
                                        </p:attrNameLst>
                                      </p:cBhvr>
                                      <p:tavLst>
                                        <p:tav tm="0">
                                          <p:val>
                                            <p:strVal val="#ppt_x"/>
                                          </p:val>
                                        </p:tav>
                                        <p:tav tm="100000">
                                          <p:val>
                                            <p:strVal val="#ppt_x"/>
                                          </p:val>
                                        </p:tav>
                                      </p:tavLst>
                                    </p:anim>
                                    <p:anim calcmode="lin" valueType="num">
                                      <p:cBhvr>
                                        <p:cTn id="14" dur="1000" fill="hold"/>
                                        <p:tgtEl>
                                          <p:spTgt spid="1249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5.7.1 </a:t>
            </a:r>
            <a:r>
              <a:rPr lang="zh-CN" altLang="en-US" sz="3200" b="1" dirty="0">
                <a:solidFill>
                  <a:srgbClr val="1353A2"/>
                </a:solidFill>
                <a:latin typeface="微软雅黑" panose="020B0503020204020204" pitchFamily="34" charset="-122"/>
                <a:ea typeface="微软雅黑" panose="020B0503020204020204" pitchFamily="34" charset="-122"/>
              </a:rPr>
              <a:t>泛型类和泛型对象</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696720" y="1188720"/>
            <a:ext cx="9794239" cy="2336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接下来，对第</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行代码进行修改，如下所示：</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&lt;Integer&gt; list = new </a:t>
            </a:r>
            <a:r>
              <a:rPr lang="en-US" altLang="zh-CN" sz="20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&lt;Integer&gt;();</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上面这种写法就限定了</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集合只能存储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类型元素，改写后的程序在中编译时就会出现错误提示，如</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下图</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所示。</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9" name="图片 8"/>
          <p:cNvPicPr/>
          <p:nvPr/>
        </p:nvPicPr>
        <p:blipFill>
          <a:blip r:embed="rId1" cstate="print">
            <a:extLst>
              <a:ext uri="{28A0092B-C50C-407E-A947-70E740481C1C}">
                <a14:useLocalDpi xmlns:a14="http://schemas.microsoft.com/office/drawing/2010/main" val="0"/>
              </a:ext>
            </a:extLst>
          </a:blip>
          <a:srcRect/>
          <a:stretch>
            <a:fillRect/>
          </a:stretch>
        </p:blipFill>
        <p:spPr>
          <a:xfrm>
            <a:off x="3911600" y="3464560"/>
            <a:ext cx="5130799" cy="2895600"/>
          </a:xfrm>
          <a:prstGeom prst="rect">
            <a:avLst/>
          </a:prstGeom>
          <a:noFill/>
          <a:ln>
            <a:noFill/>
          </a:ln>
        </p:spPr>
      </p:pic>
      <p:sp>
        <p:nvSpPr>
          <p:cNvPr id="6" name="文本占位符 5"/>
          <p:cNvSpPr>
            <a:spLocks noGrp="1"/>
          </p:cNvSpPr>
          <p:nvPr>
            <p:ph type="body" sz="quarter" idx="10"/>
          </p:nvPr>
        </p:nvSpPr>
        <p:spPr/>
        <p:txBody>
          <a:bodyPr/>
          <a:lstStyle/>
          <a:p>
            <a:fld id="{D11E3112-4449-4461-86D8-59B5CCAF9133}"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6" presetClass="entr" presetSubtype="37"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arn(outVertical)">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63040" y="1554480"/>
            <a:ext cx="3578859" cy="4199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5.7.1</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泛型类和泛型对象</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4950459" y="1656080"/>
            <a:ext cx="6461760" cy="36982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修改之后的</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程序编译报错的原因是修改后的代码限定了集合元素的数据类型，</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&lt;Integer&gt;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这样的集合只能存储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类型的元素，程序在编译时，编译器检查出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String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类型的元素与</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集合的规定类型不匹配，编译不通过。</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占位符 5"/>
          <p:cNvSpPr>
            <a:spLocks noGrp="1"/>
          </p:cNvSpPr>
          <p:nvPr>
            <p:ph type="body" sz="quarter" idx="10"/>
          </p:nvPr>
        </p:nvSpPr>
        <p:spPr/>
        <p:txBody>
          <a:bodyPr/>
          <a:lstStyle/>
          <a:p>
            <a:fld id="{E2A3A315-25FF-45A8-975F-B5ABBB3F8800}"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5.7.1</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泛型类和泛型对象</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605280" y="1229360"/>
            <a:ext cx="9695179" cy="1310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使用泛型可以很好的解决上述问题。接下来，使用泛型再次对</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上述案例</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进行改写</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6" name="组合 5"/>
          <p:cNvGrpSpPr/>
          <p:nvPr/>
        </p:nvGrpSpPr>
        <p:grpSpPr>
          <a:xfrm>
            <a:off x="3271520" y="2052320"/>
            <a:ext cx="7792720" cy="4206240"/>
            <a:chOff x="3180080" y="2092960"/>
            <a:chExt cx="7792720" cy="4206240"/>
          </a:xfrm>
        </p:grpSpPr>
        <p:pic>
          <p:nvPicPr>
            <p:cNvPr id="12595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80080" y="2092960"/>
              <a:ext cx="7792720" cy="4206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3728721" y="2113280"/>
              <a:ext cx="7051040" cy="40843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Example23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&lt;Integer&gt; list = new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&lt;Integer&gt;();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list.add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添加字符串对象</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list.add</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for (Integer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list) {     // </a:t>
              </a:r>
              <a:r>
                <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遍历集合</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str</a:t>
              </a: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6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DC004CC2-EC4B-4349-8D02-5A61DE10AC23}"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9" presetClass="entr" presetSubtype="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ssolv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5.7.1</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泛型类和泛型对象</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666241" y="1818640"/>
            <a:ext cx="9479280" cy="3017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上述代码中，</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使用泛型规定了</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集合只能存入</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类型元素，然后向集合中存入了两个</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类型元素，并对这个集合进行遍历，从运行结果可以看出，该文件已经可以正常运行。需要注意的是，在使用泛型后，每次遍历集合元素时，可以指定元素类型为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，而不是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Object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，这样就避免了在程序中进行强制类型转换。</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占位符 5"/>
          <p:cNvSpPr>
            <a:spLocks noGrp="1"/>
          </p:cNvSpPr>
          <p:nvPr>
            <p:ph type="body" sz="quarter" idx="10"/>
          </p:nvPr>
        </p:nvSpPr>
        <p:spPr/>
        <p:txBody>
          <a:bodyPr/>
          <a:lstStyle/>
          <a:p>
            <a:fld id="{1CE3E909-5537-43D7-805B-519DD67005E7}"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5.7.2</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泛型方法</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808481" y="1826260"/>
            <a:ext cx="9479280" cy="28752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泛型方法的定义与其所在的类是否是泛型类是没有任何关系的，泛型方法所在的类可以是泛型类，也可以不是泛型类。定义泛型方法代码如下所示：</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访问权限</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&lt;</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泛型标识</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&gt;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返回值类型 方法名称</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泛型标识  参数名称</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占位符 5"/>
          <p:cNvSpPr>
            <a:spLocks noGrp="1"/>
          </p:cNvSpPr>
          <p:nvPr>
            <p:ph type="body" sz="quarter" idx="10"/>
          </p:nvPr>
        </p:nvSpPr>
        <p:spPr/>
        <p:txBody>
          <a:bodyPr/>
          <a:lstStyle/>
          <a:p>
            <a:fld id="{3D9ACA4F-C39E-4A43-9A7B-3272B560276D}"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5.7.2</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泛型方法</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656081" y="1229360"/>
            <a:ext cx="9479280" cy="8331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接下来通过一个案例来学习泛型方法的定义与使用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6" name="组合 5"/>
          <p:cNvGrpSpPr/>
          <p:nvPr/>
        </p:nvGrpSpPr>
        <p:grpSpPr>
          <a:xfrm>
            <a:off x="2504438" y="1940560"/>
            <a:ext cx="8143241" cy="4206240"/>
            <a:chOff x="2311398" y="2032000"/>
            <a:chExt cx="8143241" cy="4206240"/>
          </a:xfrm>
        </p:grpSpPr>
        <p:pic>
          <p:nvPicPr>
            <p:cNvPr id="12697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1398" y="2032000"/>
              <a:ext cx="8143241" cy="4206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3230881" y="2032000"/>
              <a:ext cx="6624320" cy="42062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Example24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创建对象</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Dog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new Dog();</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调用方法</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传入的参数是什么类型</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返回值就是什么类型</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dog.show</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("hello");</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dog.show</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dog.show</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(12.5);</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80A00CB9-BE47-4B37-8CF0-1EE5897F321B}"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5.7.2</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泛型方法</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6" name="组合 5"/>
          <p:cNvGrpSpPr/>
          <p:nvPr/>
        </p:nvGrpSpPr>
        <p:grpSpPr>
          <a:xfrm>
            <a:off x="3037840" y="1706880"/>
            <a:ext cx="7040880" cy="4074160"/>
            <a:chOff x="3037840" y="1706880"/>
            <a:chExt cx="6126479" cy="4074160"/>
          </a:xfrm>
        </p:grpSpPr>
        <p:pic>
          <p:nvPicPr>
            <p:cNvPr id="12800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37840" y="1706880"/>
              <a:ext cx="6126479" cy="4074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p:nvPr/>
          </p:nvSpPr>
          <p:spPr>
            <a:xfrm>
              <a:off x="3895370" y="1828800"/>
              <a:ext cx="4822043" cy="3810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class Dog{</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String eat;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Integer age;</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&lt;T&gt; void show(T 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1EF3F83F-FCF6-4160-8481-D8F81D465B04}"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5.7.3</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泛型接口</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696721" y="1442720"/>
            <a:ext cx="9692639" cy="44500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JDK5</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之后，不仅可以声明泛型类，也可以声明泛型接口，声明泛型接口和声明泛型类的语法类似，也是在接口名称后面加上</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&lt;T&gt;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，声明泛型接口的格式如下所示。</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访问权限</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interface </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接口名称</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&lt;</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泛型标识</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&gt; {}</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利用以上格式定义一个泛型接口，如下所示。</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interface Info&lt;T&gt; {</a:t>
            </a:r>
            <a:endParaRPr lang="zh-CN"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public T </a:t>
            </a:r>
            <a:r>
              <a:rPr lang="en-US" altLang="zh-CN" sz="24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getVar</a:t>
            </a:r>
            <a:r>
              <a:rPr lang="en-US"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占位符 5"/>
          <p:cNvSpPr>
            <a:spLocks noGrp="1"/>
          </p:cNvSpPr>
          <p:nvPr>
            <p:ph type="body" sz="quarter" idx="10"/>
          </p:nvPr>
        </p:nvSpPr>
        <p:spPr/>
        <p:txBody>
          <a:bodyPr/>
          <a:lstStyle/>
          <a:p>
            <a:fld id="{F1061FBD-82DA-4A08-867D-FB29933D0731}"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5.7.3</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泛型接口</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5638802" y="1889760"/>
            <a:ext cx="5090159" cy="2997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泛型接口定义完成之后，就要定义此接口的子类，定义泛型接口的子类有两种方式，</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一种</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是直接在子类实现的接口中明确地给出泛型类型，</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另一种</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是直接在子类后声明泛型。</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30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18603" y="1961515"/>
            <a:ext cx="3749675" cy="311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占位符 5"/>
          <p:cNvSpPr>
            <a:spLocks noGrp="1"/>
          </p:cNvSpPr>
          <p:nvPr>
            <p:ph type="body" sz="quarter" idx="10"/>
          </p:nvPr>
        </p:nvSpPr>
        <p:spPr/>
        <p:txBody>
          <a:bodyPr/>
          <a:lstStyle/>
          <a:p>
            <a:fld id="{52054336-CE80-41FB-885C-D0B9D0952024}"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0050"/>
                                        </p:tgtEl>
                                        <p:attrNameLst>
                                          <p:attrName>style.visibility</p:attrName>
                                        </p:attrNameLst>
                                      </p:cBhvr>
                                      <p:to>
                                        <p:strVal val="visible"/>
                                      </p:to>
                                    </p:set>
                                    <p:animEffect transition="in" filter="fade">
                                      <p:cBhvr>
                                        <p:cTn id="7" dur="500"/>
                                        <p:tgtEl>
                                          <p:spTgt spid="130050"/>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anim calcmode="lin" valueType="num">
                                      <p:cBhvr>
                                        <p:cTn id="12" dur="1000" fill="hold"/>
                                        <p:tgtEl>
                                          <p:spTgt spid="10"/>
                                        </p:tgtEl>
                                        <p:attrNameLst>
                                          <p:attrName>ppt_x</p:attrName>
                                        </p:attrNameLst>
                                      </p:cBhvr>
                                      <p:tavLst>
                                        <p:tav tm="0">
                                          <p:val>
                                            <p:strVal val="#ppt_x"/>
                                          </p:val>
                                        </p:tav>
                                        <p:tav tm="100000">
                                          <p:val>
                                            <p:strVal val="#ppt_x"/>
                                          </p:val>
                                        </p:tav>
                                      </p:tavLst>
                                    </p:anim>
                                    <p:anim calcmode="lin" valueType="num">
                                      <p:cBhvr>
                                        <p:cTn id="1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5.7.3</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泛型接口</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706880" y="2133600"/>
            <a:ext cx="9530080" cy="23672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直接在接口中指定具体类型</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当子类明确泛型类的类型参数变量时，外界使用子类的时候，需要传递类型参数变量进来，在实现类中需要定义出类型参数变量。接下来通过一个案例学习这种情况的泛型接口定义。</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占位符 5"/>
          <p:cNvSpPr>
            <a:spLocks noGrp="1"/>
          </p:cNvSpPr>
          <p:nvPr>
            <p:ph type="body" sz="quarter" idx="10"/>
          </p:nvPr>
        </p:nvSpPr>
        <p:spPr/>
        <p:txBody>
          <a:bodyPr/>
          <a:lstStyle/>
          <a:p>
            <a:fld id="{257DC3CB-B88C-4CB3-8E43-8A41D4E25AD1}"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5.7.3</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泛型接口</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940560" y="1259840"/>
            <a:ext cx="5476240" cy="20218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首先定义一个泛型接口</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public interface Inter&lt;T&gt; {</a:t>
            </a:r>
            <a:endParaRPr lang="zh-CN" altLang="zh-CN" sz="18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public abstract void show(T t);</a:t>
            </a:r>
            <a:endParaRPr lang="zh-CN" altLang="zh-CN" sz="18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内容占位符 2"/>
          <p:cNvSpPr txBox="1"/>
          <p:nvPr/>
        </p:nvSpPr>
        <p:spPr>
          <a:xfrm>
            <a:off x="1879600" y="3210560"/>
            <a:ext cx="5821680" cy="3048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接着定义泛型接口的子类</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public class </a:t>
            </a:r>
            <a:r>
              <a:rPr lang="en-US" altLang="zh-CN" sz="18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InterImpl</a:t>
            </a:r>
            <a:r>
              <a:rPr lang="en-US" altLang="zh-CN" sz="18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implements Inter&lt;String&gt; {</a:t>
            </a:r>
            <a:endParaRPr lang="zh-CN" altLang="zh-CN" sz="18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@Override</a:t>
            </a:r>
            <a:endParaRPr lang="zh-CN" altLang="zh-CN" sz="18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public void show(String s) {</a:t>
            </a:r>
            <a:endParaRPr lang="zh-CN" altLang="zh-CN" sz="18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(s);</a:t>
            </a:r>
            <a:endParaRPr lang="zh-CN" altLang="zh-CN" sz="18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18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3107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01280" y="1714500"/>
            <a:ext cx="3481469" cy="3792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占位符 5"/>
          <p:cNvSpPr>
            <a:spLocks noGrp="1"/>
          </p:cNvSpPr>
          <p:nvPr>
            <p:ph type="body" sz="quarter" idx="10"/>
          </p:nvPr>
        </p:nvSpPr>
        <p:spPr/>
        <p:txBody>
          <a:bodyPr/>
          <a:lstStyle/>
          <a:p>
            <a:fld id="{F227DBD9-37F2-4029-8517-47468398A5AA}"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1075"/>
                                        </p:tgtEl>
                                        <p:attrNameLst>
                                          <p:attrName>style.visibility</p:attrName>
                                        </p:attrNameLst>
                                      </p:cBhvr>
                                      <p:to>
                                        <p:strVal val="visible"/>
                                      </p:to>
                                    </p:set>
                                    <p:animEffect transition="in" filter="fade">
                                      <p:cBhvr>
                                        <p:cTn id="7" dur="500"/>
                                        <p:tgtEl>
                                          <p:spTgt spid="131075"/>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anim calcmode="lin" valueType="num">
                                      <p:cBhvr>
                                        <p:cTn id="12" dur="1000" fill="hold"/>
                                        <p:tgtEl>
                                          <p:spTgt spid="10"/>
                                        </p:tgtEl>
                                        <p:attrNameLst>
                                          <p:attrName>ppt_x</p:attrName>
                                        </p:attrNameLst>
                                      </p:cBhvr>
                                      <p:tavLst>
                                        <p:tav tm="0">
                                          <p:val>
                                            <p:strVal val="#ppt_x"/>
                                          </p:val>
                                        </p:tav>
                                        <p:tav tm="100000">
                                          <p:val>
                                            <p:strVal val="#ppt_x"/>
                                          </p:val>
                                        </p:tav>
                                      </p:tavLst>
                                    </p:anim>
                                    <p:anim calcmode="lin" valueType="num">
                                      <p:cBhvr>
                                        <p:cTn id="13" dur="1000" fill="hold"/>
                                        <p:tgtEl>
                                          <p:spTgt spid="10"/>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5.7.3</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泛型接口</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717038" y="1656080"/>
            <a:ext cx="6111240" cy="3596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在子类的定义上声明泛型类型</a:t>
            </a:r>
            <a:endPar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当子类不明确泛型类的类型参数变量，外界使用子类的时候，也需要传递类型参数变量进来，在实现类中也需要定义出类型参数变。接下来通过</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修改子类</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InterImpl</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和测试程序</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来学习这种情况的泛型接口定义。</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33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41638" y="1739583"/>
            <a:ext cx="2843213" cy="3513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占位符 5"/>
          <p:cNvSpPr>
            <a:spLocks noGrp="1"/>
          </p:cNvSpPr>
          <p:nvPr>
            <p:ph type="body" sz="quarter" idx="10"/>
          </p:nvPr>
        </p:nvSpPr>
        <p:spPr/>
        <p:txBody>
          <a:bodyPr/>
          <a:lstStyle/>
          <a:p>
            <a:fld id="{FD588239-FAF6-4F97-BD79-8D1914980FC8}"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nodeType="afterEffect">
                                  <p:stCondLst>
                                    <p:cond delay="0"/>
                                  </p:stCondLst>
                                  <p:childTnLst>
                                    <p:set>
                                      <p:cBhvr>
                                        <p:cTn id="12" dur="1" fill="hold">
                                          <p:stCondLst>
                                            <p:cond delay="0"/>
                                          </p:stCondLst>
                                        </p:cTn>
                                        <p:tgtEl>
                                          <p:spTgt spid="133122"/>
                                        </p:tgtEl>
                                        <p:attrNameLst>
                                          <p:attrName>style.visibility</p:attrName>
                                        </p:attrNameLst>
                                      </p:cBhvr>
                                      <p:to>
                                        <p:strVal val="visible"/>
                                      </p:to>
                                    </p:set>
                                    <p:animEffect transition="in" filter="fade">
                                      <p:cBhvr>
                                        <p:cTn id="13" dur="500"/>
                                        <p:tgtEl>
                                          <p:spTgt spid="133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5.7.3</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泛型接口</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2760049" y="1477661"/>
            <a:ext cx="6111240" cy="38811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泛型接口子类</a:t>
            </a:r>
            <a:r>
              <a:rPr lang="en-US" altLang="zh-CN" sz="2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InterImpl</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的实现如下：</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public class </a:t>
            </a:r>
            <a:r>
              <a:rPr lang="en-US" altLang="zh-CN" sz="20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InterImpl</a:t>
            </a: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&lt;T&gt; implements Inter&lt;T&gt; {</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@Override</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public void show(T t) {</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(t);</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占位符 5"/>
          <p:cNvSpPr>
            <a:spLocks noGrp="1"/>
          </p:cNvSpPr>
          <p:nvPr>
            <p:ph type="body" sz="quarter" idx="10"/>
          </p:nvPr>
        </p:nvSpPr>
        <p:spPr/>
        <p:txBody>
          <a:bodyPr/>
          <a:lstStyle/>
          <a:p>
            <a:fld id="{0CEB2722-5B96-4CFD-B2F0-B0EEEA180951}"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5.7.3</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泛型接口</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3464558" y="1554480"/>
            <a:ext cx="6075682" cy="43078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测试代码实现如下：</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public class Example25 {</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20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Inter&lt;String&gt; inter = new </a:t>
            </a:r>
            <a:r>
              <a:rPr lang="en-US" altLang="zh-CN" sz="20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InterImpl</a:t>
            </a: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inter.show</a:t>
            </a: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("hello");</a:t>
            </a:r>
            <a:endPar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t>          </a:t>
            </a: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Inter&lt;Integer&gt; ii = new </a:t>
            </a:r>
            <a:r>
              <a:rPr lang="en-US" altLang="zh-CN" sz="20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InterImpl</a:t>
            </a: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&lt;&gt;();</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ii.show</a:t>
            </a: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(12);</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占位符 5"/>
          <p:cNvSpPr>
            <a:spLocks noGrp="1"/>
          </p:cNvSpPr>
          <p:nvPr>
            <p:ph type="body" sz="quarter" idx="10"/>
          </p:nvPr>
        </p:nvSpPr>
        <p:spPr/>
        <p:txBody>
          <a:bodyPr/>
          <a:lstStyle/>
          <a:p>
            <a:fld id="{06E05E2A-AA88-48ED-94AE-E32BD2250D82}"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5.7.3</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类型通配符</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5041899" y="1624967"/>
            <a:ext cx="6024880" cy="38709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中，数组是可以协变的，例如，</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 extends Animal</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，那么</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Animal[]</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与</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dog[]</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是可以兼容的。而集合是不能协变的，也就是说</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List&lt;Animal&gt;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不是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List&lt;dog&gt;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的父类， 为了解决这个问题，</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泛型为我们提供了类型通配符</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50885" y="1624966"/>
            <a:ext cx="2963826" cy="3810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占位符 5"/>
          <p:cNvSpPr>
            <a:spLocks noGrp="1"/>
          </p:cNvSpPr>
          <p:nvPr>
            <p:ph type="body" sz="quarter" idx="10"/>
          </p:nvPr>
        </p:nvSpPr>
        <p:spPr/>
        <p:txBody>
          <a:bodyPr/>
          <a:lstStyle/>
          <a:p>
            <a:fld id="{F6FA189F-759F-4BBE-B4B0-9BE8DB78FF6B}"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5.7.3</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类型通配符</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863214" y="1588174"/>
            <a:ext cx="3262630" cy="128080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下面我们通过一个案例演示通配符的使用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6" name="组合 5"/>
          <p:cNvGrpSpPr/>
          <p:nvPr/>
        </p:nvGrpSpPr>
        <p:grpSpPr>
          <a:xfrm>
            <a:off x="5501517" y="1344440"/>
            <a:ext cx="4792979" cy="4902518"/>
            <a:chOff x="5488940" y="1299835"/>
            <a:chExt cx="4792979" cy="4902518"/>
          </a:xfrm>
        </p:grpSpPr>
        <p:pic>
          <p:nvPicPr>
            <p:cNvPr id="134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488940" y="1299835"/>
              <a:ext cx="4792979" cy="4902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内容占位符 2"/>
            <p:cNvSpPr txBox="1"/>
            <p:nvPr/>
          </p:nvSpPr>
          <p:spPr>
            <a:xfrm>
              <a:off x="5763259" y="1299835"/>
              <a:ext cx="4493262" cy="4902518"/>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Example28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//List</a:t>
              </a:r>
              <a:r>
                <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集合装载的是</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List&lt;Integer&gt; list = new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&lt;&gt;();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list.add</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(1);</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list.add</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(2);</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test(list);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test(List&lt;?&gt; list)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for(</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=0;i&lt;</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list.size</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list.get</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a:t>
              </a: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94DB3905-B309-40FA-9D3B-61E6BF6BC87F}"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1"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up)">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5.7.3</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类型通配符</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778000" y="1533527"/>
            <a:ext cx="9349739" cy="442023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需要注意的是，如果使用通配符“？”接收泛型对象，则通配符“？”修饰的对象只能接收，不能修改，也就是不能设置。错误的代码如下所示。 </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class Test {</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20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List&lt;?&gt; list = new </a:t>
            </a:r>
            <a:r>
              <a:rPr lang="en-US" altLang="zh-CN" sz="20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ArrayList</a:t>
            </a: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&lt;String&gt;();</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list.add</a:t>
            </a: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张三</a:t>
            </a: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	</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占位符 5"/>
          <p:cNvSpPr>
            <a:spLocks noGrp="1"/>
          </p:cNvSpPr>
          <p:nvPr>
            <p:ph type="body" sz="quarter" idx="10"/>
          </p:nvPr>
        </p:nvSpPr>
        <p:spPr/>
        <p:txBody>
          <a:bodyPr/>
          <a:lstStyle/>
          <a:p>
            <a:fld id="{661C952E-9069-4CEA-978D-DE52EA7100D7}"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5.7.3</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类型通配符</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666240" y="1310006"/>
            <a:ext cx="9349739" cy="173799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由于</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以上程序将一个字符串设置给泛型所声明的属性，因为使用</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List&lt;?&gt;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的形式，所以无法将内容添加到集合中，但可以设置为</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null</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值。</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因此编译上述代码，编译器会报错，如下图。</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图片 7"/>
          <p:cNvPicPr/>
          <p:nvPr/>
        </p:nvPicPr>
        <p:blipFill>
          <a:blip r:embed="rId1"/>
          <a:stretch>
            <a:fillRect/>
          </a:stretch>
        </p:blipFill>
        <p:spPr>
          <a:xfrm>
            <a:off x="2661425" y="3271531"/>
            <a:ext cx="7626032" cy="3028633"/>
          </a:xfrm>
          <a:prstGeom prst="rect">
            <a:avLst/>
          </a:prstGeom>
        </p:spPr>
      </p:pic>
      <p:sp>
        <p:nvSpPr>
          <p:cNvPr id="6" name="文本占位符 5"/>
          <p:cNvSpPr>
            <a:spLocks noGrp="1"/>
          </p:cNvSpPr>
          <p:nvPr>
            <p:ph type="body" sz="quarter" idx="10"/>
          </p:nvPr>
        </p:nvSpPr>
        <p:spPr/>
        <p:txBody>
          <a:bodyPr/>
          <a:lstStyle/>
          <a:p>
            <a:fld id="{90CA6768-2B7A-44D9-BB25-81D846FDC550}"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46100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5.7.3</a:t>
            </a:r>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类型通配符</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859280" y="1310006"/>
            <a:ext cx="9349739" cy="492823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通配符表示可以匹配任意类型，任意的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类都可以匹配</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但是当接收一个</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List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集合时，它只能操作数字类型的元素（</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Float</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Double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Byte</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等数字类型都行），而如果直接使用通配符的话，该集合就不是只能操作数字了。针对这类问题我们可以设定通配符的上限和下限。</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设定通配符上限代码如下所示：</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List&lt;? extends Number&gt;</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设定通配符下限代码如下所示：</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r>
              <a:rPr lang="en-US"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&lt;? super Type&gt;</a:t>
            </a:r>
            <a:endParaRPr lang="zh-CN" altLang="zh-CN" sz="200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占位符 5"/>
          <p:cNvSpPr>
            <a:spLocks noGrp="1"/>
          </p:cNvSpPr>
          <p:nvPr>
            <p:ph type="body" sz="quarter" idx="10"/>
          </p:nvPr>
        </p:nvSpPr>
        <p:spPr/>
        <p:txBody>
          <a:bodyPr/>
          <a:lstStyle/>
          <a:p>
            <a:fld id="{F73609E6-4C25-4E7A-9C61-5BCC72DF89B0}"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61924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5.8 Lambda</a:t>
            </a:r>
            <a:r>
              <a:rPr lang="zh-CN" altLang="en-US" sz="3200" b="1" dirty="0">
                <a:solidFill>
                  <a:srgbClr val="1353A2"/>
                </a:solidFill>
                <a:latin typeface="微软雅黑" panose="020B0503020204020204" pitchFamily="34" charset="-122"/>
                <a:ea typeface="微软雅黑" panose="020B0503020204020204" pitchFamily="34" charset="-122"/>
              </a:rPr>
              <a:t>表达式</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2031999" y="1543686"/>
            <a:ext cx="5875019" cy="408495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Lambda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表达式是</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JDK8</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的一个新特性，</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Lambda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可以取代大部分的匿名内部类，写出更优雅的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代码，尤其在集合的遍历和其他集合操作中，可以极大地优化代码结构。</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JDK</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也提供了大量的内置函数式接口供我们使用，使得</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Lambda </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表达式的运用更加方便、高效。</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985760" y="1662747"/>
            <a:ext cx="3268663" cy="383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占位符 5"/>
          <p:cNvSpPr>
            <a:spLocks noGrp="1"/>
          </p:cNvSpPr>
          <p:nvPr>
            <p:ph type="body" sz="quarter" idx="10"/>
          </p:nvPr>
        </p:nvSpPr>
        <p:spPr/>
        <p:txBody>
          <a:bodyPr/>
          <a:lstStyle/>
          <a:p>
            <a:fld id="{63802E7A-241F-4963-BC42-D8D1C6F8119A}"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61924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5.8 Lambda</a:t>
            </a:r>
            <a:r>
              <a:rPr lang="zh-CN" altLang="en-US" sz="3200" b="1" dirty="0">
                <a:solidFill>
                  <a:srgbClr val="1353A2"/>
                </a:solidFill>
                <a:latin typeface="微软雅黑" panose="020B0503020204020204" pitchFamily="34" charset="-122"/>
                <a:ea typeface="微软雅黑" panose="020B0503020204020204" pitchFamily="34" charset="-122"/>
                <a:sym typeface="+mn-ea"/>
              </a:rPr>
              <a:t>表达式</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5139055" y="1716405"/>
            <a:ext cx="5864225" cy="360743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Lambda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表达式由</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参数列表</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箭头符号</a:t>
            </a:r>
            <a:r>
              <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-&gt;</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lang="zh-CN"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函数体</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组成。函数体既可以是一个表达式，也可以是一个语句块。其中表达式会被执行然后返回执行结果；语句块中的语句会被依次执行，就像方法中的语句一样。</a:t>
            </a:r>
            <a:endPar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82965" y="1716406"/>
            <a:ext cx="2963826" cy="3810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占位符 5"/>
          <p:cNvSpPr>
            <a:spLocks noGrp="1"/>
          </p:cNvSpPr>
          <p:nvPr>
            <p:ph type="body" sz="quarter" idx="10"/>
          </p:nvPr>
        </p:nvSpPr>
        <p:spPr/>
        <p:txBody>
          <a:bodyPr/>
          <a:lstStyle/>
          <a:p>
            <a:fld id="{AA1894D0-FD75-4C35-AAE8-60A7C29A6EBE}"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61924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5.8 Lambda</a:t>
            </a:r>
            <a:r>
              <a:rPr lang="zh-CN" altLang="en-US" sz="3200" b="1" dirty="0">
                <a:solidFill>
                  <a:srgbClr val="1353A2"/>
                </a:solidFill>
                <a:latin typeface="微软雅黑" panose="020B0503020204020204" pitchFamily="34" charset="-122"/>
                <a:ea typeface="微软雅黑" panose="020B0503020204020204" pitchFamily="34" charset="-122"/>
                <a:sym typeface="+mn-ea"/>
              </a:rPr>
              <a:t>表达式</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341120" y="1320800"/>
            <a:ext cx="9662156" cy="8737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Lambda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表达式常用的语法格式如</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下</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表</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6" name="表格 5"/>
          <p:cNvGraphicFramePr>
            <a:graphicFrameLocks noGrp="1"/>
          </p:cNvGraphicFramePr>
          <p:nvPr/>
        </p:nvGraphicFramePr>
        <p:xfrm>
          <a:off x="2042160" y="2052320"/>
          <a:ext cx="9116060" cy="4165946"/>
        </p:xfrm>
        <a:graphic>
          <a:graphicData uri="http://schemas.openxmlformats.org/drawingml/2006/table">
            <a:tbl>
              <a:tblPr firstRow="1" firstCol="1" bandRow="1">
                <a:tableStyleId>{5C22544A-7EE6-4342-B048-85BDC9FD1C3A}</a:tableStyleId>
              </a:tblPr>
              <a:tblGrid>
                <a:gridCol w="5182903"/>
                <a:gridCol w="3933157"/>
              </a:tblGrid>
              <a:tr h="263474">
                <a:tc>
                  <a:txBody>
                    <a:bodyPr/>
                    <a:lstStyle/>
                    <a:p>
                      <a:pPr algn="ctr">
                        <a:spcAft>
                          <a:spcPts val="0"/>
                        </a:spcAft>
                      </a:pPr>
                      <a:r>
                        <a:rPr lang="zh-CN" sz="1800" kern="100" dirty="0">
                          <a:effectLst/>
                        </a:rPr>
                        <a:t>语法格式</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ctr">
                        <a:spcAft>
                          <a:spcPts val="0"/>
                        </a:spcAft>
                      </a:pPr>
                      <a:r>
                        <a:rPr lang="zh-CN" sz="1800" kern="100">
                          <a:effectLst/>
                        </a:rPr>
                        <a:t>描述</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r>
              <a:tr h="338922">
                <a:tc>
                  <a:txBody>
                    <a:bodyPr/>
                    <a:lstStyle/>
                    <a:p>
                      <a:pPr algn="just">
                        <a:spcAft>
                          <a:spcPts val="0"/>
                        </a:spcAft>
                      </a:pPr>
                      <a:r>
                        <a:rPr lang="en-US" sz="1800" kern="100" dirty="0">
                          <a:effectLst/>
                        </a:rPr>
                        <a:t>()-&gt; </a:t>
                      </a:r>
                      <a:r>
                        <a:rPr lang="en-US" sz="1800" kern="100" dirty="0" err="1">
                          <a:effectLst/>
                        </a:rPr>
                        <a:t>System.out.println</a:t>
                      </a:r>
                      <a:r>
                        <a:rPr lang="en-US" sz="1800" kern="100" dirty="0">
                          <a:effectLst/>
                        </a:rPr>
                        <a:t>("Hello Lambda!");</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800" kern="100">
                          <a:effectLst/>
                        </a:rPr>
                        <a:t>无参数，无返回值</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r>
              <a:tr h="304249">
                <a:tc>
                  <a:txBody>
                    <a:bodyPr/>
                    <a:lstStyle/>
                    <a:p>
                      <a:pPr algn="just">
                        <a:spcAft>
                          <a:spcPts val="0"/>
                        </a:spcAft>
                      </a:pPr>
                      <a:r>
                        <a:rPr lang="en-US" sz="1800" kern="100" dirty="0">
                          <a:effectLst/>
                        </a:rPr>
                        <a:t>(x) -&gt; </a:t>
                      </a:r>
                      <a:r>
                        <a:rPr lang="en-US" sz="1800" kern="100" dirty="0" err="1">
                          <a:effectLst/>
                        </a:rPr>
                        <a:t>System.out.println</a:t>
                      </a:r>
                      <a:r>
                        <a:rPr lang="en-US" sz="1800" kern="100" dirty="0">
                          <a:effectLst/>
                        </a:rPr>
                        <a:t>(x)</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800" kern="100">
                          <a:effectLst/>
                        </a:rPr>
                        <a:t>有一个参数，并且无返回值</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r>
              <a:tr h="526947">
                <a:tc>
                  <a:txBody>
                    <a:bodyPr/>
                    <a:lstStyle/>
                    <a:p>
                      <a:pPr algn="just">
                        <a:spcAft>
                          <a:spcPts val="0"/>
                        </a:spcAft>
                      </a:pPr>
                      <a:r>
                        <a:rPr lang="en-US" sz="1800" kern="100">
                          <a:effectLst/>
                        </a:rPr>
                        <a:t>x -&gt; System.out.println(x)</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800" kern="100" dirty="0">
                          <a:effectLst/>
                        </a:rPr>
                        <a:t>若只有一个参数，小括号可以省略不写</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r h="1053895">
                <a:tc>
                  <a:txBody>
                    <a:bodyPr/>
                    <a:lstStyle/>
                    <a:p>
                      <a:pPr algn="just">
                        <a:spcAft>
                          <a:spcPts val="0"/>
                        </a:spcAft>
                      </a:pPr>
                      <a:r>
                        <a:rPr lang="en-US" sz="1800" kern="100" dirty="0">
                          <a:effectLst/>
                        </a:rPr>
                        <a:t>Comparator&lt;Integer&gt; com = (x, y) -&gt; {</a:t>
                      </a:r>
                      <a:endParaRPr lang="zh-CN" sz="1800" kern="100" dirty="0">
                        <a:effectLst/>
                      </a:endParaRPr>
                    </a:p>
                    <a:p>
                      <a:pPr algn="just">
                        <a:spcAft>
                          <a:spcPts val="0"/>
                        </a:spcAft>
                      </a:pPr>
                      <a:r>
                        <a:rPr lang="en-US" sz="1800" kern="100" dirty="0" err="1">
                          <a:effectLst/>
                        </a:rPr>
                        <a:t>System.out.println</a:t>
                      </a:r>
                      <a:r>
                        <a:rPr lang="en-US" sz="1800" kern="100" dirty="0">
                          <a:effectLst/>
                        </a:rPr>
                        <a:t>("</a:t>
                      </a:r>
                      <a:r>
                        <a:rPr lang="zh-CN" sz="1800" kern="100" dirty="0">
                          <a:effectLst/>
                        </a:rPr>
                        <a:t>函数式接口</a:t>
                      </a:r>
                      <a:r>
                        <a:rPr lang="en-US" sz="1800" kern="100" dirty="0">
                          <a:effectLst/>
                        </a:rPr>
                        <a:t>");</a:t>
                      </a:r>
                      <a:endParaRPr lang="zh-CN" sz="1800" kern="100" dirty="0">
                        <a:effectLst/>
                      </a:endParaRPr>
                    </a:p>
                    <a:p>
                      <a:pPr algn="just">
                        <a:spcAft>
                          <a:spcPts val="0"/>
                        </a:spcAft>
                      </a:pPr>
                      <a:r>
                        <a:rPr lang="en-US" sz="1800" kern="100" dirty="0">
                          <a:effectLst/>
                        </a:rPr>
                        <a:t>return </a:t>
                      </a:r>
                      <a:r>
                        <a:rPr lang="en-US" sz="1800" kern="100" dirty="0" err="1">
                          <a:effectLst/>
                        </a:rPr>
                        <a:t>Integer.compare</a:t>
                      </a:r>
                      <a:r>
                        <a:rPr lang="en-US" sz="1800" kern="100" dirty="0">
                          <a:effectLst/>
                        </a:rPr>
                        <a:t>(x, y);	};</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800" kern="100">
                          <a:effectLst/>
                        </a:rPr>
                        <a:t>有两个以上的参数，有返回值，并且</a:t>
                      </a:r>
                      <a:r>
                        <a:rPr lang="en-US" sz="1800" kern="100">
                          <a:effectLst/>
                        </a:rPr>
                        <a:t> Lambda </a:t>
                      </a:r>
                      <a:r>
                        <a:rPr lang="zh-CN" sz="1800" kern="100">
                          <a:effectLst/>
                        </a:rPr>
                        <a:t>体中有多条语句</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r>
              <a:tr h="526947">
                <a:tc>
                  <a:txBody>
                    <a:bodyPr/>
                    <a:lstStyle/>
                    <a:p>
                      <a:pPr algn="l">
                        <a:spcAft>
                          <a:spcPts val="0"/>
                        </a:spcAft>
                      </a:pPr>
                      <a:r>
                        <a:rPr lang="en-US" sz="1800" kern="100">
                          <a:effectLst/>
                        </a:rPr>
                        <a:t>Comparator&lt;Integer&gt; com = (x, y) -&gt; Integer.compare(x, y);</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zh-CN" sz="1800" kern="100">
                          <a:effectLst/>
                        </a:rPr>
                        <a:t>若</a:t>
                      </a:r>
                      <a:r>
                        <a:rPr lang="en-US" sz="1800" kern="100">
                          <a:effectLst/>
                        </a:rPr>
                        <a:t>Lambda </a:t>
                      </a:r>
                      <a:r>
                        <a:rPr lang="zh-CN" sz="1800" kern="100">
                          <a:effectLst/>
                        </a:rPr>
                        <a:t>体中只有一条语句，</a:t>
                      </a:r>
                      <a:r>
                        <a:rPr lang="en-US" sz="1800" kern="100">
                          <a:effectLst/>
                        </a:rPr>
                        <a:t>return </a:t>
                      </a:r>
                      <a:r>
                        <a:rPr lang="zh-CN" sz="1800" kern="100">
                          <a:effectLst/>
                        </a:rPr>
                        <a:t>和大括号都可以省略不写</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r>
              <a:tr h="1053895">
                <a:tc>
                  <a:txBody>
                    <a:bodyPr/>
                    <a:lstStyle/>
                    <a:p>
                      <a:pPr algn="just">
                        <a:spcAft>
                          <a:spcPts val="0"/>
                        </a:spcAft>
                      </a:pPr>
                      <a:r>
                        <a:rPr lang="en-US" sz="1800" kern="100">
                          <a:effectLst/>
                        </a:rPr>
                        <a:t>(Integer x, Integer y) -&gt; Integer.compare(x, y);</a:t>
                      </a:r>
                      <a:endParaRPr lang="zh-CN" sz="1800" kern="100">
                        <a:effectLst/>
                        <a:latin typeface="Calibri" panose="020F0502020204030204"/>
                        <a:ea typeface="宋体" panose="02010600030101010101" pitchFamily="2" charset="-122"/>
                        <a:cs typeface="Times New Roman" panose="02020603050405020304"/>
                      </a:endParaRPr>
                    </a:p>
                  </a:txBody>
                  <a:tcPr marL="68580" marR="68580" marT="0" marB="0" anchor="ctr"/>
                </a:tc>
                <a:tc>
                  <a:txBody>
                    <a:bodyPr/>
                    <a:lstStyle/>
                    <a:p>
                      <a:pPr algn="just">
                        <a:spcAft>
                          <a:spcPts val="0"/>
                        </a:spcAft>
                      </a:pPr>
                      <a:r>
                        <a:rPr lang="en-US" sz="1800" kern="100" dirty="0">
                          <a:effectLst/>
                        </a:rPr>
                        <a:t>Lambda </a:t>
                      </a:r>
                      <a:r>
                        <a:rPr lang="zh-CN" sz="1800" kern="100" dirty="0">
                          <a:effectLst/>
                        </a:rPr>
                        <a:t>表达式的参数列表的数据类型可以省略不写，因为</a:t>
                      </a:r>
                      <a:r>
                        <a:rPr lang="en-US" sz="1800" kern="100" dirty="0">
                          <a:effectLst/>
                        </a:rPr>
                        <a:t>JVM</a:t>
                      </a:r>
                      <a:r>
                        <a:rPr lang="zh-CN" sz="1800" kern="100" dirty="0">
                          <a:effectLst/>
                        </a:rPr>
                        <a:t>编译器通过上下文推断出，数据类型，即“类型推断”</a:t>
                      </a:r>
                      <a:endParaRPr lang="zh-CN" sz="1800" kern="100" dirty="0">
                        <a:effectLst/>
                        <a:latin typeface="Calibri" panose="020F0502020204030204"/>
                        <a:ea typeface="宋体" panose="02010600030101010101" pitchFamily="2" charset="-122"/>
                        <a:cs typeface="Times New Roman" panose="02020603050405020304"/>
                      </a:endParaRPr>
                    </a:p>
                  </a:txBody>
                  <a:tcPr marL="68580" marR="68580" marT="0" marB="0" anchor="ctr"/>
                </a:tc>
              </a:tr>
            </a:tbl>
          </a:graphicData>
        </a:graphic>
      </p:graphicFrame>
      <p:sp>
        <p:nvSpPr>
          <p:cNvPr id="7" name="文本占位符 6"/>
          <p:cNvSpPr>
            <a:spLocks noGrp="1"/>
          </p:cNvSpPr>
          <p:nvPr>
            <p:ph type="body" sz="quarter" idx="10"/>
          </p:nvPr>
        </p:nvSpPr>
        <p:spPr/>
        <p:txBody>
          <a:bodyPr/>
          <a:lstStyle/>
          <a:p>
            <a:fld id="{C75308C8-C03D-49B4-98B4-4F0530DEE9B2}" type="slidenum">
              <a:rPr lang="zh-CN" altLang="en-US" smtClean="0"/>
            </a:fld>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4"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61924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5.8 Lambda</a:t>
            </a:r>
            <a:r>
              <a:rPr lang="zh-CN" altLang="en-US" sz="3200" b="1" dirty="0">
                <a:solidFill>
                  <a:srgbClr val="1353A2"/>
                </a:solidFill>
                <a:latin typeface="微软雅黑" panose="020B0503020204020204" pitchFamily="34" charset="-122"/>
                <a:ea typeface="微软雅黑" panose="020B0503020204020204" pitchFamily="34" charset="-122"/>
                <a:sym typeface="+mn-ea"/>
              </a:rPr>
              <a:t>表达式</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内容占位符 2"/>
          <p:cNvSpPr txBox="1"/>
          <p:nvPr/>
        </p:nvSpPr>
        <p:spPr>
          <a:xfrm>
            <a:off x="1341120" y="1320800"/>
            <a:ext cx="9662156" cy="8737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接下来通过一个案例来学习</a:t>
            </a:r>
            <a:r>
              <a:rPr lang="en-US"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Lambda</a:t>
            </a:r>
            <a:r>
              <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表达式语法</a:t>
            </a:r>
            <a:r>
              <a:rPr lang="zh-CN" altLang="en-US"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7" name="组合 6"/>
          <p:cNvGrpSpPr/>
          <p:nvPr/>
        </p:nvGrpSpPr>
        <p:grpSpPr>
          <a:xfrm>
            <a:off x="1574800" y="2021840"/>
            <a:ext cx="9133840" cy="3616959"/>
            <a:chOff x="1574800" y="2021840"/>
            <a:chExt cx="9133840" cy="3616959"/>
          </a:xfrm>
        </p:grpSpPr>
        <p:pic>
          <p:nvPicPr>
            <p:cNvPr id="1822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74800" y="2021840"/>
              <a:ext cx="9133840" cy="3616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1976118" y="2286000"/>
              <a:ext cx="8539482" cy="30784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import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java.util.Arrays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class Example29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public static void main(String[]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args</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String[]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 {"program", "creek", "is", "a", "java", "site"};</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Arrays.sort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(m, n) -&gt;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Integer.compare</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m.length</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n.length</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("Lambda</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语句体中只有一条语句，参数类型可推断：</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Arrays.toString</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6" name="文本占位符 5"/>
          <p:cNvSpPr>
            <a:spLocks noGrp="1"/>
          </p:cNvSpPr>
          <p:nvPr>
            <p:ph type="body" sz="quarter" idx="10"/>
          </p:nvPr>
        </p:nvSpPr>
        <p:spPr/>
        <p:txBody>
          <a:bodyPr/>
          <a:lstStyle/>
          <a:p>
            <a:fld id="{FF630F98-016B-4957-8341-6E1607F192C1}"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6" presetClass="entr" presetSubtype="37"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arn(outVertical)">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6619242"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sym typeface="+mn-ea"/>
              </a:rPr>
              <a:t>5.8 Lambda</a:t>
            </a:r>
            <a:r>
              <a:rPr lang="zh-CN" altLang="en-US" sz="3200" b="1" dirty="0">
                <a:solidFill>
                  <a:srgbClr val="1353A2"/>
                </a:solidFill>
                <a:latin typeface="微软雅黑" panose="020B0503020204020204" pitchFamily="34" charset="-122"/>
                <a:ea typeface="微软雅黑" panose="020B0503020204020204" pitchFamily="34" charset="-122"/>
                <a:sym typeface="+mn-ea"/>
              </a:rPr>
              <a:t>表达式</a:t>
            </a:r>
            <a:endParaRPr lang="zh-CN" altLang="zh-CN" sz="3200" b="1" dirty="0">
              <a:solidFill>
                <a:srgbClr val="1353A2"/>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6" name="组合 5"/>
          <p:cNvGrpSpPr/>
          <p:nvPr/>
        </p:nvGrpSpPr>
        <p:grpSpPr>
          <a:xfrm>
            <a:off x="1676400" y="1706880"/>
            <a:ext cx="9296400" cy="3931920"/>
            <a:chOff x="1676400" y="1706880"/>
            <a:chExt cx="9296400" cy="3931920"/>
          </a:xfrm>
        </p:grpSpPr>
        <p:pic>
          <p:nvPicPr>
            <p:cNvPr id="1832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76400" y="1706880"/>
              <a:ext cx="9296400" cy="3850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p:nvPr/>
          </p:nvSpPr>
          <p:spPr>
            <a:xfrm>
              <a:off x="2153920" y="1706880"/>
              <a:ext cx="8818880" cy="39319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Arrays.sort</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(String m, String n) -&gt;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if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m.length</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&gt;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n.length</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return -1;</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else</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return 0;</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System.out.println</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("Lambda</a:t>
              </a:r>
              <a:r>
                <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语句体中有多条语句：</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Arrays.toString</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err="1">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arr</a:t>
              </a: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1800" dirty="0">
                <a:solidFill>
                  <a:schemeClr val="bg1">
                    <a:lumMod val="50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 name="文本占位符 6"/>
          <p:cNvSpPr>
            <a:spLocks noGrp="1"/>
          </p:cNvSpPr>
          <p:nvPr>
            <p:ph type="body" sz="quarter" idx="10"/>
          </p:nvPr>
        </p:nvSpPr>
        <p:spPr/>
        <p:txBody>
          <a:bodyPr/>
          <a:lstStyle/>
          <a:p>
            <a:fld id="{A5A506BA-365B-4762-A426-A49630B8A796}" type="slidenum">
              <a:rPr lang="zh-CN" altLang="en-US" smtClean="0"/>
            </a:fld>
            <a:endParaRPr lang="zh-CN" altLang="en-US" dirty="0"/>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8"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3641" y="1634705"/>
            <a:ext cx="4730773" cy="3870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1"/>
          <p:cNvSpPr txBox="1"/>
          <p:nvPr/>
        </p:nvSpPr>
        <p:spPr>
          <a:xfrm>
            <a:off x="2319338" y="500143"/>
            <a:ext cx="5903119" cy="58356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a:solidFill>
                  <a:srgbClr val="1353A2"/>
                </a:solidFill>
                <a:latin typeface="微软雅黑" panose="020B0503020204020204" pitchFamily="34" charset="-122"/>
                <a:ea typeface="微软雅黑" panose="020B0503020204020204" pitchFamily="34" charset="-122"/>
              </a:rPr>
              <a:t> </a:t>
            </a:r>
            <a:r>
              <a:rPr lang="zh-CN" altLang="en-US" sz="3200" b="1" dirty="0">
                <a:solidFill>
                  <a:srgbClr val="1353A2"/>
                </a:solidFill>
                <a:latin typeface="微软雅黑" panose="020B0503020204020204" pitchFamily="34" charset="-122"/>
                <a:ea typeface="微软雅黑" panose="020B0503020204020204" pitchFamily="34" charset="-122"/>
              </a:rPr>
              <a:t>本章小结</a:t>
            </a:r>
            <a:endParaRPr lang="zh-CN" altLang="en-US" sz="3200" b="1" dirty="0">
              <a:solidFill>
                <a:srgbClr val="1353A2"/>
              </a:solidFill>
              <a:latin typeface="微软雅黑" panose="020B0503020204020204" pitchFamily="34" charset="-122"/>
              <a:ea typeface="微软雅黑" panose="020B0503020204020204" pitchFamily="34" charset="-122"/>
            </a:endParaRPr>
          </a:p>
        </p:txBody>
      </p:sp>
      <p:sp>
        <p:nvSpPr>
          <p:cNvPr id="11" name="矩形 10"/>
          <p:cNvSpPr/>
          <p:nvPr/>
        </p:nvSpPr>
        <p:spPr>
          <a:xfrm>
            <a:off x="5529949" y="1212682"/>
            <a:ext cx="5736381" cy="5170646"/>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457200" defTabSz="720725">
              <a:lnSpc>
                <a:spcPct val="150000"/>
              </a:lnSpc>
            </a:pPr>
            <a:r>
              <a:rPr lang="zh-CN" altLang="zh-CN" sz="2000" dirty="0">
                <a:solidFill>
                  <a:srgbClr val="1353A2"/>
                </a:solidFill>
                <a:latin typeface="微软雅黑" panose="020B0503020204020204" pitchFamily="34" charset="-122"/>
                <a:ea typeface="微软雅黑" panose="020B0503020204020204" pitchFamily="34" charset="-122"/>
              </a:rPr>
              <a:t>本章详细介绍了几种</a:t>
            </a:r>
            <a:r>
              <a:rPr lang="en-US" altLang="zh-CN" sz="2000" dirty="0">
                <a:solidFill>
                  <a:srgbClr val="1353A2"/>
                </a:solidFill>
                <a:latin typeface="微软雅黑" panose="020B0503020204020204" pitchFamily="34" charset="-122"/>
                <a:ea typeface="微软雅黑" panose="020B0503020204020204" pitchFamily="34" charset="-122"/>
              </a:rPr>
              <a:t>Java</a:t>
            </a:r>
            <a:r>
              <a:rPr lang="zh-CN" altLang="zh-CN" sz="2000" dirty="0">
                <a:solidFill>
                  <a:srgbClr val="1353A2"/>
                </a:solidFill>
                <a:latin typeface="微软雅黑" panose="020B0503020204020204" pitchFamily="34" charset="-122"/>
                <a:ea typeface="微软雅黑" panose="020B0503020204020204" pitchFamily="34" charset="-122"/>
              </a:rPr>
              <a:t>常用集合类，首先介绍了集合的概念和</a:t>
            </a:r>
            <a:r>
              <a:rPr lang="en-US" altLang="zh-CN" sz="2000" dirty="0">
                <a:solidFill>
                  <a:srgbClr val="1353A2"/>
                </a:solidFill>
                <a:latin typeface="微软雅黑" panose="020B0503020204020204" pitchFamily="34" charset="-122"/>
                <a:ea typeface="微软雅黑" panose="020B0503020204020204" pitchFamily="34" charset="-122"/>
              </a:rPr>
              <a:t>Collection</a:t>
            </a:r>
            <a:r>
              <a:rPr lang="zh-CN" altLang="zh-CN" sz="2000" dirty="0">
                <a:solidFill>
                  <a:srgbClr val="1353A2"/>
                </a:solidFill>
                <a:latin typeface="微软雅黑" panose="020B0503020204020204" pitchFamily="34" charset="-122"/>
                <a:ea typeface="微软雅黑" panose="020B0503020204020204" pitchFamily="34" charset="-122"/>
              </a:rPr>
              <a:t>接口；其次介绍了</a:t>
            </a:r>
            <a:r>
              <a:rPr lang="en-US" altLang="zh-CN" sz="2000" dirty="0">
                <a:solidFill>
                  <a:srgbClr val="1353A2"/>
                </a:solidFill>
                <a:latin typeface="微软雅黑" panose="020B0503020204020204" pitchFamily="34" charset="-122"/>
                <a:ea typeface="微软雅黑" panose="020B0503020204020204" pitchFamily="34" charset="-122"/>
              </a:rPr>
              <a:t>List</a:t>
            </a:r>
            <a:r>
              <a:rPr lang="zh-CN" altLang="zh-CN" sz="2000" dirty="0">
                <a:solidFill>
                  <a:srgbClr val="1353A2"/>
                </a:solidFill>
                <a:latin typeface="微软雅黑" panose="020B0503020204020204" pitchFamily="34" charset="-122"/>
                <a:ea typeface="微软雅黑" panose="020B0503020204020204" pitchFamily="34" charset="-122"/>
              </a:rPr>
              <a:t>接口，包括</a:t>
            </a:r>
            <a:r>
              <a:rPr lang="en-US" altLang="zh-CN" sz="2000" dirty="0" err="1">
                <a:solidFill>
                  <a:srgbClr val="1353A2"/>
                </a:solidFill>
                <a:latin typeface="微软雅黑" panose="020B0503020204020204" pitchFamily="34" charset="-122"/>
                <a:ea typeface="微软雅黑" panose="020B0503020204020204" pitchFamily="34" charset="-122"/>
              </a:rPr>
              <a:t>ArrayList</a:t>
            </a:r>
            <a:r>
              <a:rPr lang="zh-CN" altLang="zh-CN" sz="2000" dirty="0">
                <a:solidFill>
                  <a:srgbClr val="1353A2"/>
                </a:solidFill>
                <a:latin typeface="微软雅黑" panose="020B0503020204020204" pitchFamily="34" charset="-122"/>
                <a:ea typeface="微软雅黑" panose="020B0503020204020204" pitchFamily="34" charset="-122"/>
              </a:rPr>
              <a:t>、</a:t>
            </a:r>
            <a:r>
              <a:rPr lang="en-US" altLang="zh-CN" sz="2000" dirty="0" err="1">
                <a:solidFill>
                  <a:srgbClr val="1353A2"/>
                </a:solidFill>
                <a:latin typeface="微软雅黑" panose="020B0503020204020204" pitchFamily="34" charset="-122"/>
                <a:ea typeface="微软雅黑" panose="020B0503020204020204" pitchFamily="34" charset="-122"/>
              </a:rPr>
              <a:t>LinkedList</a:t>
            </a:r>
            <a:r>
              <a:rPr lang="zh-CN" altLang="zh-CN" sz="2000" dirty="0">
                <a:solidFill>
                  <a:srgbClr val="1353A2"/>
                </a:solidFill>
                <a:latin typeface="微软雅黑" panose="020B0503020204020204" pitchFamily="34" charset="-122"/>
                <a:ea typeface="微软雅黑" panose="020B0503020204020204" pitchFamily="34" charset="-122"/>
              </a:rPr>
              <a:t>、</a:t>
            </a:r>
            <a:r>
              <a:rPr lang="en-US" altLang="zh-CN" sz="2000" dirty="0">
                <a:solidFill>
                  <a:srgbClr val="1353A2"/>
                </a:solidFill>
                <a:latin typeface="微软雅黑" panose="020B0503020204020204" pitchFamily="34" charset="-122"/>
                <a:ea typeface="微软雅黑" panose="020B0503020204020204" pitchFamily="34" charset="-122"/>
              </a:rPr>
              <a:t>Iterator</a:t>
            </a:r>
            <a:r>
              <a:rPr lang="zh-CN" altLang="zh-CN" sz="2000" dirty="0">
                <a:solidFill>
                  <a:srgbClr val="1353A2"/>
                </a:solidFill>
                <a:latin typeface="微软雅黑" panose="020B0503020204020204" pitchFamily="34" charset="-122"/>
                <a:ea typeface="微软雅黑" panose="020B0503020204020204" pitchFamily="34" charset="-122"/>
              </a:rPr>
              <a:t>和</a:t>
            </a:r>
            <a:r>
              <a:rPr lang="en-US" altLang="zh-CN" sz="2000" dirty="0" err="1">
                <a:solidFill>
                  <a:srgbClr val="1353A2"/>
                </a:solidFill>
                <a:latin typeface="微软雅黑" panose="020B0503020204020204" pitchFamily="34" charset="-122"/>
                <a:ea typeface="微软雅黑" panose="020B0503020204020204" pitchFamily="34" charset="-122"/>
              </a:rPr>
              <a:t>foreach</a:t>
            </a:r>
            <a:r>
              <a:rPr lang="zh-CN" altLang="zh-CN" sz="2000" dirty="0">
                <a:solidFill>
                  <a:srgbClr val="1353A2"/>
                </a:solidFill>
                <a:latin typeface="微软雅黑" panose="020B0503020204020204" pitchFamily="34" charset="-122"/>
                <a:ea typeface="微软雅黑" panose="020B0503020204020204" pitchFamily="34" charset="-122"/>
              </a:rPr>
              <a:t>循环；接着介绍了</a:t>
            </a:r>
            <a:r>
              <a:rPr lang="en-US" altLang="zh-CN" sz="2000" dirty="0">
                <a:solidFill>
                  <a:srgbClr val="1353A2"/>
                </a:solidFill>
                <a:latin typeface="微软雅黑" panose="020B0503020204020204" pitchFamily="34" charset="-122"/>
                <a:ea typeface="微软雅黑" panose="020B0503020204020204" pitchFamily="34" charset="-122"/>
              </a:rPr>
              <a:t>Set</a:t>
            </a:r>
            <a:r>
              <a:rPr lang="zh-CN" altLang="zh-CN" sz="2000" dirty="0">
                <a:solidFill>
                  <a:srgbClr val="1353A2"/>
                </a:solidFill>
                <a:latin typeface="微软雅黑" panose="020B0503020204020204" pitchFamily="34" charset="-122"/>
                <a:ea typeface="微软雅黑" panose="020B0503020204020204" pitchFamily="34" charset="-122"/>
              </a:rPr>
              <a:t>接口，包</a:t>
            </a:r>
            <a:r>
              <a:rPr lang="en-US" altLang="zh-CN" sz="2000" dirty="0" err="1">
                <a:solidFill>
                  <a:srgbClr val="1353A2"/>
                </a:solidFill>
                <a:latin typeface="微软雅黑" panose="020B0503020204020204" pitchFamily="34" charset="-122"/>
                <a:ea typeface="微软雅黑" panose="020B0503020204020204" pitchFamily="34" charset="-122"/>
              </a:rPr>
              <a:t>HashSet</a:t>
            </a:r>
            <a:r>
              <a:rPr lang="zh-CN" altLang="zh-CN" sz="2000" dirty="0">
                <a:solidFill>
                  <a:srgbClr val="1353A2"/>
                </a:solidFill>
                <a:latin typeface="微软雅黑" panose="020B0503020204020204" pitchFamily="34" charset="-122"/>
                <a:ea typeface="微软雅黑" panose="020B0503020204020204" pitchFamily="34" charset="-122"/>
              </a:rPr>
              <a:t>集合和</a:t>
            </a:r>
            <a:r>
              <a:rPr lang="en-US" altLang="zh-CN" sz="2000" dirty="0" err="1">
                <a:solidFill>
                  <a:srgbClr val="1353A2"/>
                </a:solidFill>
                <a:latin typeface="微软雅黑" panose="020B0503020204020204" pitchFamily="34" charset="-122"/>
                <a:ea typeface="微软雅黑" panose="020B0503020204020204" pitchFamily="34" charset="-122"/>
              </a:rPr>
              <a:t>TreeSet</a:t>
            </a:r>
            <a:r>
              <a:rPr lang="zh-CN" altLang="zh-CN" sz="2000" dirty="0">
                <a:solidFill>
                  <a:srgbClr val="1353A2"/>
                </a:solidFill>
                <a:latin typeface="微软雅黑" panose="020B0503020204020204" pitchFamily="34" charset="-122"/>
                <a:ea typeface="微软雅黑" panose="020B0503020204020204" pitchFamily="34" charset="-122"/>
              </a:rPr>
              <a:t>集合；然后</a:t>
            </a:r>
            <a:r>
              <a:rPr lang="en-US" altLang="zh-CN" sz="2000" dirty="0">
                <a:solidFill>
                  <a:srgbClr val="1353A2"/>
                </a:solidFill>
                <a:latin typeface="微软雅黑" panose="020B0503020204020204" pitchFamily="34" charset="-122"/>
                <a:ea typeface="微软雅黑" panose="020B0503020204020204" pitchFamily="34" charset="-122"/>
              </a:rPr>
              <a:t>Map</a:t>
            </a:r>
            <a:r>
              <a:rPr lang="zh-CN" altLang="zh-CN" sz="2000" dirty="0">
                <a:solidFill>
                  <a:srgbClr val="1353A2"/>
                </a:solidFill>
                <a:latin typeface="微软雅黑" panose="020B0503020204020204" pitchFamily="34" charset="-122"/>
                <a:ea typeface="微软雅黑" panose="020B0503020204020204" pitchFamily="34" charset="-122"/>
              </a:rPr>
              <a:t>接口，包括</a:t>
            </a:r>
            <a:r>
              <a:rPr lang="en-US" altLang="zh-CN" sz="2000" dirty="0" err="1">
                <a:solidFill>
                  <a:srgbClr val="1353A2"/>
                </a:solidFill>
                <a:latin typeface="微软雅黑" panose="020B0503020204020204" pitchFamily="34" charset="-122"/>
                <a:ea typeface="微软雅黑" panose="020B0503020204020204" pitchFamily="34" charset="-122"/>
              </a:rPr>
              <a:t>HashMap</a:t>
            </a:r>
            <a:r>
              <a:rPr lang="zh-CN" altLang="zh-CN" sz="2000" dirty="0">
                <a:solidFill>
                  <a:srgbClr val="1353A2"/>
                </a:solidFill>
                <a:latin typeface="微软雅黑" panose="020B0503020204020204" pitchFamily="34" charset="-122"/>
                <a:ea typeface="微软雅黑" panose="020B0503020204020204" pitchFamily="34" charset="-122"/>
              </a:rPr>
              <a:t>和</a:t>
            </a:r>
            <a:r>
              <a:rPr lang="en-US" altLang="zh-CN" sz="2000" dirty="0" err="1">
                <a:solidFill>
                  <a:srgbClr val="1353A2"/>
                </a:solidFill>
                <a:latin typeface="微软雅黑" panose="020B0503020204020204" pitchFamily="34" charset="-122"/>
                <a:ea typeface="微软雅黑" panose="020B0503020204020204" pitchFamily="34" charset="-122"/>
              </a:rPr>
              <a:t>TreeMap</a:t>
            </a:r>
            <a:r>
              <a:rPr lang="zh-CN" altLang="zh-CN" sz="2000" dirty="0">
                <a:solidFill>
                  <a:srgbClr val="1353A2"/>
                </a:solidFill>
                <a:latin typeface="微软雅黑" panose="020B0503020204020204" pitchFamily="34" charset="-122"/>
                <a:ea typeface="微软雅黑" panose="020B0503020204020204" pitchFamily="34" charset="-122"/>
              </a:rPr>
              <a:t>；最后介绍了泛型，包括泛型类、泛型对象、泛型接口和类型通配符。最后还介绍了</a:t>
            </a:r>
            <a:r>
              <a:rPr lang="en-US" altLang="zh-CN" sz="2000" dirty="0">
                <a:solidFill>
                  <a:srgbClr val="1353A2"/>
                </a:solidFill>
                <a:latin typeface="微软雅黑" panose="020B0503020204020204" pitchFamily="34" charset="-122"/>
                <a:ea typeface="微软雅黑" panose="020B0503020204020204" pitchFamily="34" charset="-122"/>
              </a:rPr>
              <a:t>JDK8</a:t>
            </a:r>
            <a:r>
              <a:rPr lang="zh-CN" altLang="zh-CN" sz="2000" dirty="0">
                <a:solidFill>
                  <a:srgbClr val="1353A2"/>
                </a:solidFill>
                <a:latin typeface="微软雅黑" panose="020B0503020204020204" pitchFamily="34" charset="-122"/>
                <a:ea typeface="微软雅黑" panose="020B0503020204020204" pitchFamily="34" charset="-122"/>
              </a:rPr>
              <a:t>的一个新特性——</a:t>
            </a:r>
            <a:r>
              <a:rPr lang="en-US" altLang="zh-CN" sz="2000" dirty="0">
                <a:solidFill>
                  <a:srgbClr val="1353A2"/>
                </a:solidFill>
                <a:latin typeface="微软雅黑" panose="020B0503020204020204" pitchFamily="34" charset="-122"/>
                <a:ea typeface="微软雅黑" panose="020B0503020204020204" pitchFamily="34" charset="-122"/>
              </a:rPr>
              <a:t>Lambda</a:t>
            </a:r>
            <a:r>
              <a:rPr lang="zh-CN" altLang="zh-CN" sz="2000" dirty="0">
                <a:solidFill>
                  <a:srgbClr val="1353A2"/>
                </a:solidFill>
                <a:latin typeface="微软雅黑" panose="020B0503020204020204" pitchFamily="34" charset="-122"/>
                <a:ea typeface="微软雅黑" panose="020B0503020204020204" pitchFamily="34" charset="-122"/>
              </a:rPr>
              <a:t>表达式。通过本章的学习，读者可以熟练掌握各种集合类的使用场景，以及需要注意的细节，同时可以掌握泛型与</a:t>
            </a:r>
            <a:r>
              <a:rPr lang="en-US" altLang="zh-CN" sz="2000" dirty="0">
                <a:solidFill>
                  <a:srgbClr val="1353A2"/>
                </a:solidFill>
                <a:latin typeface="微软雅黑" panose="020B0503020204020204" pitchFamily="34" charset="-122"/>
                <a:ea typeface="微软雅黑" panose="020B0503020204020204" pitchFamily="34" charset="-122"/>
              </a:rPr>
              <a:t> Lambda</a:t>
            </a:r>
            <a:r>
              <a:rPr lang="zh-CN" altLang="zh-CN" sz="2000" dirty="0">
                <a:solidFill>
                  <a:srgbClr val="1353A2"/>
                </a:solidFill>
                <a:latin typeface="微软雅黑" panose="020B0503020204020204" pitchFamily="34" charset="-122"/>
                <a:ea typeface="微软雅黑" panose="020B0503020204020204" pitchFamily="34" charset="-122"/>
              </a:rPr>
              <a:t>表达式的使用。</a:t>
            </a:r>
            <a:endParaRPr lang="zh-CN" altLang="en-US" sz="2000" dirty="0">
              <a:solidFill>
                <a:srgbClr val="1353A2"/>
              </a:solidFill>
              <a:latin typeface="微软雅黑" panose="020B0503020204020204" pitchFamily="34" charset="-122"/>
              <a:ea typeface="微软雅黑" panose="020B0503020204020204" pitchFamily="34" charset="-122"/>
            </a:endParaRPr>
          </a:p>
        </p:txBody>
      </p:sp>
    </p:spTree>
    <p:custDataLst>
      <p:tags r:id="rId2"/>
    </p:custData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cSld>
  <p:clrMapOvr>
    <a:masterClrMapping/>
  </p:clrMapOvr>
</p:sld>
</file>

<file path=ppt/tags/tag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2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3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4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5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6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7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8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9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9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9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9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9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9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9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9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9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9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0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0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0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0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0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0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0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0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0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0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1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1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12.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13.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14.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15.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16.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17.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18.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19.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20.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21.xml><?xml version="1.0" encoding="utf-8"?>
<p:tagLst xmlns:p="http://schemas.openxmlformats.org/presentationml/2006/main">
  <p:tag name="GENSWF_ADVANCE_TIME" val="0.00"/>
  <p:tag name="ISPRING_SLIDE_INDENT_LEVEL" val="0"/>
  <p:tag name="ISPRING_CUSTOM_TIMING_USED" val="0"/>
  <p:tag name="GENSWF_SLIDE_TITLE" val="4.1 性能测试概述"/>
</p:tagLst>
</file>

<file path=ppt/tags/tag122.xml><?xml version="1.0" encoding="utf-8"?>
<p:tagLst xmlns:p="http://schemas.openxmlformats.org/presentationml/2006/main">
  <p:tag name="GENSWF_ADVANCE_TIME" val="0.00"/>
  <p:tag name="ISPRING_SLIDE_INDENT_LEVEL" val="0"/>
  <p:tag name="ISPRING_CUSTOM_TIMING_USED" val="0"/>
  <p:tag name="GENSWF_SLIDE_TITLE" val="传智播客.黑马程序员"/>
</p:tagLst>
</file>

<file path=ppt/tags/tag123.xml><?xml version="1.0" encoding="utf-8"?>
<p:tagLst xmlns:p="http://schemas.openxmlformats.org/presentationml/2006/main">
  <p:tag name="ISPRING_UUID" val="{8D62E317-9EB8-4EE3-A0B2-DEA7D8D8667A}"/>
  <p:tag name="ISPRING_RESOURCE_FOLDER" val="F:\7、计算机组装与维护\5、资源\2.PPT\ppt\第1章 认识计算机 教学PPT_薛蒙蒙_0827_1\"/>
  <p:tag name="ISPRING_RESOURCE_FOLDER_STATIC" val="F:\7、计算机组装与维护\5、资源\2.PPT\ppt\第1章 认识计算机 教学PPT_薛蒙蒙_0827_1\"/>
  <p:tag name="ISPRING_PRESENTATION_PATH" val="F:\7、计算机组装与维护\5、资源\2.PPT\ppt\第1章 认识计算机 教学PPT_薛蒙蒙_0827.pptx"/>
  <p:tag name="ISPRING_PROJECT_FOLDER_UPDATED" val="1"/>
  <p:tag name="ISPRING_PLAYERS_CUSTOMIZATION" val="UEsDBBQAAgAIAO9xSE3/6EwIKgQAAHYOAAAdAAAAdW5pdmVyc2FsL2NvbW1vbl9tZXNzYWdlcy5sbmetV1uP00YUfkfiP4wsUbUPXaASCKnZoEk8m1g4drAne+lF1mw8BAvHs7WdwPYJVS1i+wIStKItLVppu1upNK2QWlFW5ddsnOVf9NhOIAm0tnd5sJSx8n3n9p3jM6WLN7ou6nM/cIS3KJ1dOCMh7rWF7XidRalFl96/IKEgZJ7NXOHxRckTErpYPnmi5DKv02MdDr9PnkCo1OVBAMegHJ9enZFjL0rNilXVG02srVmqXtOtilKTylXR3WDeJlJFR3ziv/vB+Qs3zp47/17p9BiZh8hsYFWdpUIJ07kzOYg0auiqBWxEtTSySqXyO53ww/mnGI/eoqqiEak83NkbPXtyuHdr+MPzYhRNgyyDKy6Yn3syeVqGQTRqmaoiE0sxLU2nScJUQokslaMHvw/v7o7290b7vx08/frg6c3o8Xb0553DvduHgz+G/3yTZUA28Iqi1Syq66ppEU2evJHKo/170Y+PRvf3R4/vF6QxsEkM8O7e7ovvdo6AtRIRpPBo62b0cKsYSV2p1VV4aOzFi18fHDwbFCNoEg0SkB13g5gmrhGroq9CaUAjd3eLQPRLYGV7cDjYKYJaI2ZS+SyMhpeVGqaKrsXKMYhJDaWayGZN9FCbeUh47iZi7Tbg0IbP+47oBfCm7/Dr3EaB69g8KGbFJJdbIFgFq6mVq6zPUSgSyjEhcjwUXuWo4/Q5uODb3M+yAQ1UJXJcnsst5SNrCSsqkS2ol6yvWDRp9NgY8znyRIiY64o4ALDL7D7z2hyt8zbrBRxtwt9sx07+tsEg7NiTz3rO54iFqX/o1LjZNJmsnlo4nmsKVWFyrDDfg/FbkGqm1V8PttsLINIw5N2NMCuKqUwsvBUvjhtXE5vmfwaVpy7HjGjOftFwTJA4MeCrBy1fcUR+BGmAPqQy6TLHzY9StCUw1PR5wL2Q+0jxrhSwqeljAk2go3IsQ+ZnXFiGihTAr5CKqdA4x3w9cEKehUwKldb7zRppw4Lg8pC/0sk6vyKg/13O+lBEeO8EqXAWjmCskCAmkzUegdNzesyigUMdFsI6hsAl1+lC/HYOzlaDTDKYjteZTLzxyz/6/ssiH///M5L6bvCg1+UT2SRBZJGaBBvVulXFWpWA1Id3vo3+up0TBFKNfVKpaam4EsOjJ9vw9Y+++CV69HO09RwCHN76ajj4Oydhun/JZAkD6ThzOaHzjqT2YSf66WEhBmi+eOSQl0wfayLkwadZJBRXZnHJIQ9qvLFOcEX21qTs46xhSnG13gBlmIkQRM9vZ68D0wwNbFyC5k9WKqncYP41mBxUCLcQSxJ3PL3CYtaPtLhPExxvAMdRU6VpYVlOrjZwqXGd9rX0w2Ujloyw+I7jwh0nL1m1jjWYLnN83HbCgoTJQJ80O7Rdep4oLd7XXpvvL09BckMsnZ66MP4LUEsDBBQAAgAIAO9xSE2LtzoSDwQAANwPAAAnAAAAdW5pdmVyc2FsL2ZsYXNoX3B1Ymxpc2hpbmdfc2V0dGluZ3MueG1s5VdRaxtHEH7Xr1iupG/RyYldO+5JwdgSEZVl17rShFLM6m6s23pv93q7J0V5CiEJTV8aKIWShhZDavehdUugkNY0P6ZEkn9G53S2LFlyenJISSjiEDf7zbczs7Pf3lpXb/qcNCFUTIq8MZPNGQSEI10mGnnjI7t0ccEgSlPhUi4F5A0hDXK1kLGCqM6Z8mqgNUIVQRqhFgOdNzytg0XTbLVaWaaCMB6VPNLIr7KO9M0gBAVCQ2gGnLbxT7cDUEYhkyHESkyr0o04EOZiCILF0VFe4lR5hpnA6tTZboQyEu6y5DIkYaOeN95ZWIp/x5iEaoX5IOLkVAGNsVkvUtdlcTyU19gtIB6whoeBz88apMVc7eWNy7lLMQ3CzXGaPnmSBI1pliVmI/QRvw+aulTT5DWZUMNNrY4NicltC+ozx8YREhcgb6zYm7VKeaW4WV2zi7XNa/ZqJYlhCie7eN2ewsku25XiNPi09NdurBc3KuXqB5v22lrFLq+feGFFRwpimaMVs7CyMgodGBTM0l7k1wVlHLvtVBkVaOxXTsMG2LLEcBW3KFdgkM8CaHwYUc50G9s6h229DRAsqQAcvREvW97QYQTGCV1CiIHhWg56Yu7KoCfmF0ZSN5PZT9KaGKVFtaaOh82Dtn5oljlsOoZtSTGSWvxO6pK7g4TAr4NbpT4M7YnaNhMlRM4YZAsXgWOqSyGj3CBMY+rOwFlFdaWZ7u/C0jCSIBfudiCrtbFSOB4N1UjFB1WPG98pfFKVGtSnSSkS01nQ7re/dh7u9g72ege/vHj25Ytnt7s/7/Qe3e3+/tXh3heH+791/vomDc8NGRE/UpqgkgQcNBDtAfk8YrdIHbZkCIQDbaLmoJ0pojhzITsVcUCVOiGlOuEgF5IdUK6uFK9fIFoS6japcKYkx6UHP9Cvg59i7kLiFJzLFrhDFFgZh0YKSBthLnP7sDRpZs+9sudZVocKIgVvE+rg5lcEJbbJZKTQ0mQQp9QPUaXl82gT4irEzkeuhIl+zg3cPzhZ6EKYhi03c+ny7Nx78wtXFrPm37d3L77U6UgQ1zmNZ0sUcflMxU3ndUp3/8XpJeo75luSoR93pTs26eQT5Uj5xrXBMmPNmixhfaV9ExWs+8OP3QfPewdfd79/nKrZn+50Hz/o3vnpyPHR3c79e539P9L4dp7s9f58erh3v/Pd8zT4fv3TAN/l+v3TTyq/BmJPPSl3fKp8H+6mgfV29g/3n6RBboCKfCDrQ59eadw+pqHAA+GtgFbx7Gr0MyN4enHmM9yZb4VEnaUWr65u/4lCvdJHViJvr0ehzrWwb7yo/18qlrwNbjojVxvLnHiJjEd8JpiPdYw/WgY3z8LcbA4vSxOHMhlkG72RFzL/AFBLAwQUAAIACADvcUhNBOcD0bYCAABTCgAAIQAAAHVuaXZlcnNhbC9mbGFzaF9za2luX3NldHRpbmdzLnhtbJVWbU/bMBD+vl9Rdd8Jey2TTCUonYTEBhqI705yTaw6dmQ7Zf338yux26TNekKq757Hd763guSWsOWH2QwVnHLxDEoRVkmjCboZKa/neacUZxcFZwqYumBcNJjOlx9/2g/KLPIci+9ATOVscAG9m4X9TKF4H98WRsYIBW9azPYPvOIXOS62leAdK8+GVu9bEJSwrUZe/lis1qMOKJHqXkGTxLS+MjKN0gqQEkxI39dGzrIozoEGT5f2M5HTuzr9+gPajkiiLO3mk5ExWosrSJN8dWNkHM/07WlVFkZOExT8VRr65bORUSjFexDp5XdfjYwyeNu1/9MjreCVSWjKOV3Edw7luNTjZ6K6NHKWYB5kHJ2tgk+PfetdBPJf47lHZlwFp08mrwcLwRQ9p7BUogOUhZOzyZq/PXZKzwcsN5hKDYhVPehJB/2EOxmuSXU97g+8EVZGIK/oEa+cdg2sXLyx09TQE1arW7srYuy7LopQwM4roxB7ZY/8rfN6hIyUPfKZkhIeGd0fwQ8tjhNqfIt9NU+nX1uBYX0MCQunYDWeHszkysi1VwRMw0tYShPOC2nAlA1lVudCyo5iQgzvSIUV4eyXweV7+xiJsgODb7XhxkKKKApD/WZj1Fs6rpc9p+3orWk/ul+F/nHuPFN6iV/PsVK4qBv9qyTnM8/TU6ITM8+GGWZNajiIe7bhEcf6HiM1WGxBvHBOp7phXIGcej13szUGR1mUA5QNZxn5S4bSz7omB7HWVSMQ2ibVOVxNqprqP/VK4A3KlDBidExV6+sYJu9dGSl8CwAWRR161h2cpemoIhR2QL01UtgHj70MSd2jY+12ox5go+KG85pJHekXRd8pMS41DBBedVzDDGc5v4QVzqV9WTL3YQf3g59s5bDLTOvF3p3Ct1Jys7Yfp1ArzT+T/wBQSwMEFAACAAgA73FITaPtv2riAwAA7Q4AACYAAAB1bml2ZXJzYWwvaHRtbF9wdWJsaXNoaW5nX3NldHRpbmdzLnhtbN1X328bRRB+91+xOlTe6kv6g6Th7CpKHMXCdUJyiFYIReu7sW/p3u71ds+u+1ShUlFeqISQUKlAkUrCAwRUCakQ0T8G1Xb+DGZ9jhPHSTgHaNXKOlk7N/PtfLOz3946V2+HnDQhVkyKgjWdn7IICE/6TDQK1gfu0vlZiyhNhU+5FFCwhLTI1WLOiZIaZypYB63RVRGEEWou0gUr0Dqas+1Wq5VnKorNW8kTjfgq78nQjmJQIDTEdsRpG/90OwJlFXM5QpzUdE36CQfCfExBMJMd5cs65JadetWod7MRy0T4C5LLmMSNWsF6a3be/PZ9UqRFFoIw3FQRjcas56jvM5MO5evsDpAAWCPAvGcuWaTFfB0UrItTFwwMutvjMH3wlAM1MAsSyQg9wA9BU59qmg7TCTXc1mrfkJr8tqAh81x8Qwz/grXobqxXyouljeqKW1rfWHavVdIcJghyS9fdCYLcslspTeKfFX75xmpprVKuvrfhrqxU3PLqQRRWdKQgjj1aMQcrK5PYg2HBHB0kYU1QxrHZjpRRgcZ25TRugCuXGK5inXIFFvkkgsb7CeVMt7Grp7CrbwJE8yoCT6+ZZStYOk7AOoBLATExXMthT1y+MuyJmdkR6nY6+wGtY7N0qNbUC7B50NZPzbEPm/bd6lKMUDNjUpPcHxKqY5U5cpmPGeUWYRq5ecO32lRALzGO9Tex0/m60GPkvIDGaqSGwzqaVvaKH1WlBvVxSi41neTa/eaXzsOt3u52b/fnF8++ePHsbvenzd6je93fvtzb/nxv59fOn19nwbkhExImShOUhoiDBqIDILcSdofUoC5jIBxoE0UE7UwRxZkP+YmAI6rUASjVKQY5l/Z0ubpYun6OaEmo36TCmxAcFxPCSP8f+BS5C4lTcC5b4B+CwMp4NFFA2ujmM7/vloVm/swre5Zl9aggUvA2oR5uZ0VQNJtMJgotTQaGUj9FlRUvoE0wVTDBg1DCRJ9zAw8JnCz2Ic6CNjV94eKly+/MzF6Zy9t/3d06f2rQQOJWOTWzpRq3cKKGZos6oqT/EHSKno7FLsk4NF3pj016/Bkx0LJxbXBsoyTHi1JfO1+OJnW//6H74Hlv96vud48zte/Tze7jB91PfxwEPrrXuf9ZZ+f3LLGdJ9u9P57ubd/vfPs8i3+/olkc3+b63aNPprgG+h55Mu7hTHwfbmVx623u7O08yeK5BioJgawe+jzKEvYhjQVK/GvhWsXTqNFnRvA84ixkuNdeC9E5af//e716KZpz+odQqkj/keacaalevfC+sTVIR8Mbw8gVwbGPvYzl0D56RS3m/gZQSwMEFAACAAgA73FITQ/kWSCZAQAAHQYAAB8AAAB1bml2ZXJzYWwvaHRtbF9za2luX3NldHRpbmdzLmpzjZRNb8IwDIbv/AqUXSfEPrvthgaTJnGYNG7TDmkxpSJNoiR0MMR/Xx2+mtYdxJfm7dPXsStn0+mWiyWs+9Ld+Ge//wj3XgPUnFnCdaiLFj1HnVmRTWGS5SAyCayGFIdPj/L2RFDGTHrTeP2JtrbixxS+mXFhq7gmLAyhWUIrCO2HSrKixN+gtH1Zu5IqfY6XzinZS5R0IF1PKpNzz7CrN7+qFdZgVYA5g854AoFp5FcbeXJ8iDCqXKJyzeV6rFLVi3mySI1aymlb/vlagyn/+GIH9J+j11FgJzLr3h3k9cSjJ4x2UhuwFvZ5H0cYJCx4DKLi2/frHzQwbhZUo4vMZu5AD24wqrTmKTS69DTACDFZejW6GWE0OQcrtyPubjECQvA1mIbV8B4jAJVe6gt+oDYqxY400GbPj6hQfJrJdJ+6j0FyeFi0beveqVB//CELRkjVRmhOjGnednNcMPaOHFxbyzqmZl5QoqRERSTWFFiQp3H1awT3X13GnePJPC9vh/JqLNvAzQLMRClRHv/73EGLo7jL1dn+AVBLAwQUAAIACADvcUhNGtrqO6oAAAAfAQAAGgAAAHVuaXZlcnNhbC9pMThuX3ByZXNldHMueG1snY8xD8IgEIV3fgW5XbBb0wDdTNwcdDYVUUno0XDU+vOF1Bhnh0vuXd73Xk71rzHwp0vkI2poxBa4QxuvHu8aTsfdpgVOecDrECI6DRiB94Yp37R4SI5cJl4ikDQ8cp46KZdlEZ6mVBIohjmXYBI2jrLMGFFWUk4rCivb+b/ozw0MY5yry+xD3qMpe1GrhVOyGipzdig83iLIalDy667KzpRLRRFK/jxm2BtQSwMEFAACAAgA73FITZQTsyJpAAAAbgAAABwAAAB1bml2ZXJzYWwvbG9jYWxfc2V0dGluZ3MueG1sDcwxDoMwDEDRnVNY3int1oHAxlaW0gNYxEWRHBuRgOD2ZPvD02/7MwocvKVg6vD1eCKwzuaDLg5/01C/EVIm9SSm7FANoe+qVmwm+XLOBSZYhS7eJo4lMo8Uixx2EajhU17/wB6brroBUEsDBBQAAgAIAKBhr0TOggk37AIAAIgIAAAUAAAAdW5pdmVyc2FsL3BsYXllci54bWytVU1v2zAMPafA/oOhe62kXdc0kFt0BYod1qFA1m23QLUZW4tteZJcN/31o/xtz+lWYAcDNsX3SPGRNLt6TmLnCZQWMvXIwp0TB1JfBiINPfLw9fZ4Sa4u3x2xLOZ7UI4IPJKnwgJ4TJwAtK9EZhB8z03kkZ7BRWbiZEpIJcweuc+Qu4u0JO+OZuiSao9ExmQrSouicIVGRBpqGeeWRLu+TGimQENqQNEqDeI02JX5OxqfRKbU7DPQPWRm3h64Jmk5nrUYkBSnrlQhPZnPF/TH3ee1H0HCj0WqDU99IA5WclaW8pH7uzsZ5DFoa5uxKsk1GGOTKG0zZlZisUwdrXyPVA6bBLTmIWg3TkNCKyydALNtzHVU8+gBreXVO1Hzln4b+71p3ErlaOec5Y+x0BEe9SGddRLI6DAqS8rrlh300HTQrWUijoJfuVAQlJ/f2haZL0gVsO24Mk9XFz4e4Nst941U+xuEYRfVCrqtaG4lmluCWg63jb7uKEhz2y1wkytoSjVjTyIA+YUrxW1bXBqVA6MjY42lQzCj1ZVrkTpBWGSS+OwftLF+I2l+6teUKQH/Q5hPSNTWRKQBPN8K9DGQYE0NYLGtzTVZ7NqYXU46f0x6fT0wVTnWouBFHMNVCDiGATecdnZ6CAqKa3TxczXC9g4OgiMRRjE+ZpJhfHqQJuFqN8nQOzgIjqW/m4C25raMdFzHUTO1HcToxDphfq6NTMRL2Z6DPWNWZR++NnLN0XUm2oPz+R+jOIjRDOaWTKwu+9bbV83hvZ1TozufTVZZBt2K8wAmzyqvZhbybOQTwJbnsbnp59Tswx50lPPUdExzfcd+l8VavIBTiMD+6RantiYR2J7xyIflaY8B9cTtMghfmqYiMlpLUql5SDmGtXkSUFSYalY+ouqhknkajLRxs+7noGPcVdcKuBPDFjNdnGDzycwj7/GlvsvF2UV3lfPFRYMt87qvAle5vGFV1wl3nUHrfm0vwuqZx9ffUEsDBBQAAgAIAO9xSE0129mtaAEAAPMCAAApAAAAdW5pdmVyc2FsL3NraW5fY3VzdG9taXphdGlvbl9zZXR0aW5ncy54bWyNUttqGzEQfc9XiPyAJY1uC1uDrsWQh0IT8rz1qmGJoy0rhYSij682rXHcurSap5lz5gwzOn1+nJJ9zmV+mr4PZZrT51jKlB7y9gqhfj8f5uXTEnMseXOq3E9pnF926eu81lo1lyGNwzLaFc1bjMLbQ0pq5VTLmGEUSeapV8h5bhvWgevANsxRYvvNbxI/dZe4j6lcVu03Z+ifDbuU41J2aYyvWzhnv4fON/i4DOPUeHkr2Br1OLU6tgZihEvuK9UAIJDljjhcpeykJshjxjFUoyhQQIRz0olKJOXQstCJpsJ8JxCTjFFXqaetG2ltHLVVQkeIbtO86mwNwUiMESEEmKtcQDAYNTY0DQ1qPSA4MCCqNpooQMEGE1j1zgvLkaJeYFyZMYDx6bin7d6f61T973WO5/yH4MUvuIiu3tpcMFe/f16WRr6NT98OQ4noy5DjbvxwHe5ubq5/efLNv0fGatS28V99/QNQSwMEFAACAAgA73FITe7Vv9acGQAA8D4AABcAAAB1bml2ZXJzYWwvdW5pdmVyc2FsLnBuZ+17f1jSV/83u9ty3/XDWpmYP7idrZqWjlxaqdBWd9ZaulrmSoWSlJoikYkoArU2TUSpNXOulO3b7myZUlhCIlArwCSlckWEQvFJzQDxYwrIzwdsV652X89zPc9138/1XNfjHwrnfT6f9+v1fp/zfp/30XNKP0+In/HO/HcgEMiMDevXboFA3hRBIH8zvz3VLcmq6z/v/ngjd0v8J5DGzoABd+NN7MebPoZALjKn2Xe95W7/177123MhkJnXPT9vSPFnd0MgiG83rP14Kwll6MGVNfRvd4GtC9EHI1YPlX49Dyx9Ur2+6JdroermS2+93/y2eA/8k/X/WHp59pJrX72J33Lx8xnid3E/euFwDVc+Vt1YuO2+i/aZ2Y+durJvBbZReTwgt1Hui9DfPH85s+OWOjeTjb7/WdAKXKHhsiIB7XiWnIh2DldFFD2ehnZTgxy8Lznhw9+mT1GpA0ROg8a5VAD3yLvfv5hbHi5hV6GpKwXvjUv+cTE/jYFmi5yFhR6rIDxZurnw70LfZfxZnuYg54EgiDR4pf/utDfczUfhZT26Q/q/ebq+PARO82Bl+InGmyf+J809vRvR1rsDvVVoBMWm0iA2bDn1FmHhDeXRGr9ISYT7gYeWfpqzv0vHFlGNwewFDjQh6obfsZpAH8DX3Yuze3oFJVe+GzFpGW2dFXSP8oNRC/ZuIxK3Mjw2Xwre0MRpOp1ud3P7acaGHytfvrv+7nm9/ix0nMaa7zIzsPFii9vU1f7ffRQWExP6Av7oL9uVys1wqtvI28ULOtonIf7jEKeflUerVwiG28Pq3PNxbMTochqvpmuzYoQSIEsQ+hLxrJXpsjC76tnCwkLHqMIoWHf3U7GCWFQuVRQmvYTc7COffuwStYk9OgHQbnm/Jn5cyYmkDPt3nSHjJGTnllE39B8bZ52R5Cf65Xmbx8yrnHMM9N2C3R7SO7cnSSJ+pWnGOvMT5AibfiDRNZKoGfn9i8SaWvLgFbLiB+zEY/muUbQrr1B/UZrARFj3PPOwNaY1db5UukWj9UPDc8Rto1fklEEtKx5OFzeJtJw6FtWqzoqQ/+nB9KFzkgbDCtNlNsWgzno+btqSercdo4bSRbU8ywmpIVJoEj/Nq8TSxgPry22V4MZnKYwd4HUDNq23cMJaa6aH4sGws25rKf5Ieb21WeqLIj3WrqKZ82n5xuUFf3qWWAMjubRlEWoyrnbCMepyQpiwgWCbfgHK13pppRnBjclxa25N8DWm3y589mudOuBK6D1I5kuXDOTMRarCah3Lb3A/QZi7c+ukQWT9p1N+mNDMTyuyAURIWVUTy5Ux8d5g9NQLsmL2vx6Pgdhlnll34XwoUHUgaML6VcwJN/3L4S4c661KZAutzwS07y6lg8uD0Lqkl3N43T1/fCvB2hctKgDPz9q56bXu/+ejCHM/iy0gWstElrIuo3PQWEt1KGiOkWmioWlXA33RMnB5IFoFLkdMYJ8tBMW+id5I+9DAzyVBf5vngwbAy6gJ7VvjnBZg4HDGzqWvigvu+54qsexgT5A9x/G6efXHcy9Jlp/Tv7HswplzExEYSj4YQH1aQj0izhAZzzf8Kajbg/5eAo1HFQ68P2/0yfHEM3/t9gIUDxno/l8npZPSSem/W5qzjOqJc1+OzOTsRTt7cbVU60B0hApN6wuBja23WmU3KJSna2AtpDGOjd8pjYy1D13HC3sMBtpYFW3sN+do2taJ3JaknPJkp32H6g6om8Oy3BCzTiJtTciNEZqy9AsP55++k1dyflYGW/TZdBRADeeLLF82WsHpKlW2F9vgCCzgc/9F6Fcw0O5F13XA2p4s3A/qkuJrnskfEGPp2PWOTqO9U7zvo9qk5ZLTln4eKnVR+2BM45wqaQZIlOjMmN9JlG5sK5WMBDiktNQodRVoDc7xx+e3Ghp80UXgiFJONWlX2bh8gdpkEBx/NYHt/5DaYGizLK+9eBmWF3qHOPJfmM/pWgUpjbEueOo/oRUoyui9MtsRfAqjCsgjuDan0siw4Kl18Hbxaq7jfjvBsZhaboOFJB2RSOfIs8tsZSomdzliMDgHmcMPvKLt5VFby3mdboYL1VyeHGwhrfS/n5Pyp0KmMm71TAn7cs8TLBUXX1O9J3bjV1DMlrkiyQqfcvhiyWlomUTVNrVJAD0vUQWu2d56qhwNCvG0ecmMLwGgdPNXtO1QV2w20ktVxTVHo2DGxLmiCpXR2F+z5U/JPMP76GEwC2d8YqkUIBiy9CX0O3taqbFNoVMbSA7igvlcZRk+j4FNK8ceKP/5A39RM3uairkoyybM4CqFrRQVMArKtwNRxl9eS/YMdJYulooTZ8C/Kn8ju7tvGbxQHClNf7OM1ilhQ6XNSN9sG8jQ3crGN1HGOKCOwzTWbPsrL3OunX5tr02eco91kaCkBtAJoVPZoBxcehS+Ryy7A60qBnHfYm7T8QUMbLlYprQsFzbsj41ZUswBnUyWf5SwY5maCT6/3qxdBfhlgsM8SjfaFCnSOvyM6NR5OC9e/qf/wuO77XTsLpzIBy45I6tVbo0D9qbO42pmfgafKX76EV1XDg+V/GpAeoNORvqe+UZ0a49B7pqvYCqYOsmR5Y0wfPQg5vsZ6ODiehIZfgCHhMGJYh0wbNABFCisy+Qg1yX9NWI2SSIGG//qxEhqTd2kdFI6Kf2/IE23p6chraeRPzqFTc1/6nv2uASWAFswJauUPfpnMSiFJcIW/0Us9kWP6CO+TH1tZwrXhaHH2gfGV9Wf/Hiq8R0u9j+xLwgYYDufsb88dWnpS4UrtjBCIgQj75YVDt9cZHQkbNRMgK34zp1pJREG2UuUit32HSfBjbaJBTHET3Q/035X+NJMYL07U/qJLkVMqvn/SE2gn0gIluNPIZ5Xy0/VkrSl0+RIl12wMdxYja1dKTBSjDGObrmj+9t4GGVE/b4RBVLR/Y4HKCRVoAcqmMbwqolJetNyuTkEUBz2RpDg1DibvskXUCRJakuCCp+mf0hXfUNaKbmQ30RCNkZuxbFh1xVc4WhDWZXZ8cjb+UhQNZj5MkAkx9zhzB+0+Ey5HcKM3W9kCRXZ+lIsXZynVeBUjz8o/gXOMLA2+3D5eg5oNagqPs7pzmyNfahO5GXb6TY/ebZ/iMJkhTtxmkESmdBj6MfYhHi25sqrtveMYKnitw9UYhPF7gqiEDQwbW6e2OPiXngUjuUTFV52bWk4WU5WP+876BPBVEjzEKO/JqZ1L5TU8UQkSmsNL3uueTa31HZEhTWSGVsJShJa2wtPL9dJ3SXN5lR8N7pbARWlry6rktqgXD8jpv/V4SAeB8MkNVCySS5pp1/7irEW/rbYICHNnfKQ+BP95w8a54gkOO3wZgaWQIMvxqGRkguLc/zN0fMxW1MX5US3ZPPKDn1lW1pN4MN5GUCySRhPQNtsKhQ361VPxqyilgf3h15P3hZ7OnTdf0OPpj+iV5klDz5adwan1AFRKnQ8wAKov+1pdVDgB8R7ltf6Ra1rNoxKHVg8phvdikCpdaiXSYqw4EUND59ajn+r9VOCQ1+iYuJ9uplbVJK2j+hVgEGs42o+8Tt8z1SNVkmQ0siW9AP+GdfvCXkJrSwCS6VjmsMQXoSxZgLNZnY0fv/qBNJVoAGVNX09fRcWWpURch96RhJ59r+hjZKDzS7TTUMGkDIL6F089Z88pkMHVO/APGjJts83R+bM4colbFKK6uOwxmiE2mHxEdtWFfMsUC5GZaIwzHjk93lLXo0XRaAo/XbpY2wEnbC3tTVi6k9Qajr0Hfg7OFHG/ukogtKp+gDDmM9VIXKzbFYSGegvMmhKDEjpCh88rbXBoPIXq5RCNsFGSmtNBKygjgQDFGCU+fCO6Xk2bpfgtbn2xEud1fFvCGrVJvfkosV25yt190R/ieVmV/R1GarCxf/59XCKWUZNi8rGofH2Fv7EEhW/zL0nagEUp5mIQnh2Obag/JiOo4hnWX+vC0fB1GaheexEW99rz5+R238U2O3P5ejW2KlsS7+5tT/ON6Ie+1r8GkBd6aLaFXGWR4d9RTNV8M8c7a9aEgOnirkxOVL2UDm+CNDuH31tBePGUSl9kayVccNtIb4R8RrrfS4D3fGaO+6AYbZrJqUOoy98+nNJOPU2hYEijBGnfyF6LdbcewDYDhiyKay4wSAfbNGPbrbDYBj3xuDrX/P/4qq9hslFZVLNf17NFgb6vA7mfAwbfLWCm/yX0iTEJMQkxCTEJMQkxCTEJMQkxCTEJMQkxCTEJMQkxCTEJMQkxP8uhMXEFVGMjxsWCAQrQib+UBdBGdhYZ6Sa+eagvk/vunywa07NfkmlPVcel+85jT8Y1135S5e4ehZ2DTHzFvR/fTT+/7AZN6RxOTSLxmXH/g36AueLUAW9lV11SMdAVzzSeqfLCzF0qOu6N7I7oRUNOsU2PyPeRPC8I8BFH9GDrrS5sI2WJ4uQBQ0d7zX6c/24crXJLZPhBqMVQSKhc5TNog5UUT+gYPl0c7TaqAc8NwgKCx9/6/sQMdBHLe14D9GpBzR0XffluL4WrdkayirTtZgsoyCTFkvx4peZY2yknGeeA2Xf6jkClmuMhaSMydBUlc5lwrtMIymi0RTfILL+Ijet01BgUmI19m7k6O9f4K9k22zvKlSoZh8RFijU2PuiNfuVJEcSDR1hi9yPHMQQBd7UocO90oIvVK4duUhnb96IsiZN7e0e53mJ6VdgNKxoGtVopkY4ArLFeRxV40Kq3Gie80NjHLXnXiXcY8yVUuhsodEmNKZ/3hauIQ9d89KYWqCd2lH4pW9glkMwniWPFpcTXzSIGaHLxzwHyEUrD4qvfkSN+I1pb2OmrkqVGLQKHi4VnzqPFp7+OV0mkalUmRxkiBlAnNOJpfPxSOcSaa9K1RPBdTDukFTJKwP4rTD3bF3qvD4cwoz9zikgJyn7d4XxO85pzU4q4sqjh0CyKaHHRynN3cp4C/7JDTZ84W6Fkv54gf9CbTVCdS1YfT9JHRTtyzIbjs6VF9KvhaHU3mvhByTGpNaAw72WOH9AyUPZC6DyNxnwvbYlDZ5D+Ylelx67acUbQxDF4P48geUHKatfNV+kLsUyUL0v/abZfsxBIWe8INSula82Faz4zZJ322K6UF+RBK/N9mLISH2KmEXURJMoH/6umG3bvAwVJG+nH/qKkQh/r1z3DdgfXPxPRxNPy6rXqGRORoCASVrpPNXZGL3ugkE3yFUVNd+bZT7WY95WZZ4CgfBS7bfq9MaH9TKEb4oSt20es2FQIXcto/bchr7HkTVrq5ersOrd6fv85OFaU4YoH2N/6P0xOExd/Q5gvU46qRzFAnczaOtyCmHJArXewS/V68Co3WZBZU+f+2MGBHJLzG2pkcnHHsoQMA+Cr8b5AyW8UWbJW4M50hauesj0ToGTbvQWs/O3mcjmnAq0UuUtYdfLBsluJ2Q4HsOcuwod9W2D/hDIDzFVsGe1N8cVdV5bhBy7OfKcEChh+89fs5aonKVpJyrz0i101uXvHecX5SQX6bTEfd3OW2ySw3JfcsFRjU4hOEDc4V322EZSDyllzWik6BwyJFrArEcZe4JEVJeZ5hr5NqLo8Yj9uRwWVMuxqdtzjucdfxw2bsrvtQV91SNGRf97tlPZGdyVviyXvb9LfjNJkAUohPUo4hz3rPki2U+U/mA+MiQ7YmoleFhS4lh8zXBEnstYDZgXUiMkV32ALXbhjRUrp7bDi8VszIKH6oXqTuJW+rW95JMOyOXl7vB6gtDKe/PUVflZdmuHxt7RpRCaLpPRBo1O7rLLu3Sd4w7O1Nxx8/P4hdeNc7GUxq/1zzluv6feYJWftLNGy9HRc9f8BvUJb3KdaNpVxAfUegPBdaN/lbDhQ8bFrNR5h7t4S2pxy1EixyEzBuqvUDnV5T+HomCibdfdFLFsb/d8VfdBf28cFm6d0r0pA80MnnnBc9FEnWwd0Pbqq9GJiLEn4gzQ+gx9REnBZ3CV5odZ7LTp+5V57FA+HgJ5tB9squGIUljHX1A71f2kn+YnOphSRYkrhrasuxfZqFUFcymDuayNXuf0Qq5J4X2adPI09GrOMLqGY5sKgewHI90akjVr7VKHfnRN3timHH9mSAXiRBsi2jMNOu6M33/ISTONQuXa+eKh79OwvPOOnSd6zPdNLWs+qt3bTGFpU+B4HXoHBHLVXASWoT9zJVB+d6c/vGgM1myuEmuM0vzK3S5Q0II7Ip0Grgh2hjidHOgNbTMIuwsY9BEiuv55U2XPmXdhmNhjjzhmbFEQRxrXpJJkgGDmmp3dCxGJAOG+Yx4tkyNPdK+H3S16HSH2ZNjM7q9202HfiJY6M971IhDbMs2CyyLqA1gbyODwmCeLbBiixk1K1cN28TGxOQ+o2A2MCIBD0s9iBmuNls32FkrA5z1RN/IAguwp22Vla1qzGajTPDUurqIt54tSM7noFkgVD3Epeh9Y/2JEseH2cj6uaOY6GyxtDsxlKRKrjugymZoKOjJS2V+X/sJPKx46y0KaHL4bLrl872wjatxuXEb4Eubw3TYeZSS+3tilmH24g7inVOqtEsnwsEQGNqR8NpaoghY1T7ltQv4mZauuLXECVMYeoDl+N4vVoI+KBC9KpLHFjSChQgYA5bQgGDYVz9jZpKrYTCiaCSgsp8plUtcd2twIDXv2EpvdXWh8S3MoaHFx1qenfUUrU8AW3hL+jCGiUgEsninTDweHM9dEUgMzFNPG59aVc7qAu0qKO2nhqxwU6yoJ8A0UxQH3zj3dYareuIuogueILU202FlTNs89fFsP70jKGOeV7AMjezziJgULue8EqnuiENGYv5fJlc5hEhmTqkLw9QvHh63yyK4w6vOgwqc/d5UgRty/kPbHXJLLpqFZb7LsN8t00Gs7w22FAR21Y8uzWdtOpgWNJ4hcH0D0jZ41g6hsuj4+ZdWDU2CW1db8Z/V0aS/45S5GGKCMxzylY8NxrJ99aFzYlFv6ZoLA8LTJYRLyElLzp68Do7Q4sYohY7YhkO7hyMwZhm/lzoge61avtVffRCB9AEXnxgjBAWs1a6y67FDYCbmsSI+B8d1vR+ccFyx9ROawpYT1kuAf0oTRzo2f2H/8g1zknBLz4pmDcJKYDcptuhK98A3IQS7ZOlDXJfoCncwIhUsY0hl3TMMOrhnH6vmIj5u+kuBwLy2YakPvxdnZIgF++mpFJYXazFFt1VIqtJgKJsUFM8aDBKlUFHgmk9uDqC3T5cSLDJizNtDwExnELhwf3BjwVqNZaBbg/VpCCT28Tabmg8abwiBgXyDOJT5eyr682a74Wr8qmG/0DNJFChoYYtKCXHdvNbJ6oiGQo7an8cgfnQLrWZDxTz0HzK6zxFCIBXmqWVy+HpSRmruoi1vO6XPHw9KYNZpdb1kR4f8sk1suv5bBum6x4K1LeLIbrEp9bqR70SK5a5sIYQ0Bua/DbmG6LAOJzieJCS7317bA5/G0kXhfjbq9V/uoXYhqDLEVTgdEp9ZWOaYtEEokt+eKUERLsTs7cVSpSQH67cq8pvHMxG4d/nTMbM89Rslxe+fUcUvku7RtHHkHA8wKoR6l2BlsB8/Hu93Vh3f2fdLaKrIrqAZFgmg4TPRdRdhI1QxEa5JpdH+gUoE5sgs3PWVzbE+UUFJs+KLktKVQpu486l6kiSd1R8x70UTB+LjJKOPJK4eSwJHL3H25w2NyGsLRmirmR1EF/hwmVldHfVYXXjvMDWzW7qXaLi5AcQUJsYZBKVUvVRPjBouz9Y8bOOwqXZswqIQUqjeRdU3pf+frB3gpfwSZ4/Po9saTnhH43DZSh6xxOqypu1nH3WPUrwVgLpJ15ZVQQCE57I2wnNgcthuz4QHaWEKzlHTp7qCjTEPblApZ3m40MwUcuQet5Gqm+omR6H6yuOlFpFTNQG8mOsaNuRIfVLDAEWNa2fZiPf/YrglkUvnATvvDD6k1dX8iil8znqNy1owny26FyDna5BhDK/sx7gphJcldDd+VS/OgoigOnsxggU2wjdo8lc7SLOUv9SeT6vW63lXqUlqBmOJeNu/1OtwldLgvUvWBjW96xpGL3X68F/f8VuRAv7aFgfaHOYdKumAkVxVtrAo/831w2DlsOWQ2UoxkzbKz+/J3Y7zxlRRBanwRjWhaXoBM6yVffVFSGmosfHL0H7XbYD+mPouJzh8dKEkuiJJgkTZlmZfVRsjqW0TVLkqgDXnRjs4MGzG5Cw4z3r+QVM9yKFmbRKhGoJnVEoCPGQxxh0W40QsC+dBXk1HpEJD/AeY2cOTXtqUu4hvoWjPCFhCQZwB1jY3s5LTpNNCXBo44zSJk4JVlfwSba46mjuLvGqZzC2qMbxiHqW67L+dax9DJyiWdvcp9XPCXrz0UQW9NHoLguQEdQTUpPMdfz2AUQxeZFL121QtVnt0NoEV+yEYcTMtrWlEC/xAhVJG2XLssZe9LkZ/izYivLZ+N2Wa3sy1EtiUPWeSQ4O0SMfewOKPYsx3kxeXvPcxr1OXMQ/hKA+aLOsVdiUiK9ZEXklToKfrfQ/lWZXA9W5ufvMc3mRDZ+D1FyIUlfzQLH8VoxhIK3xi/b51xkRw3JPHH/+LruUR9NW0eXzHFZRO5TqLe9vTnb9ejvE85abUOz23sq5+mG+nhEvZTmrOfdjfsxRvvxiiedoBh1sF8EdlzIbbL36N5NfZillg4SqtJcHl35wtO2jaJajwKN/wjYW3jJzu//h9QSwMEFAACAAgA73FITXA/OElKAAAAagAAABsAAAB1bml2ZXJzYWwvdW5pdmVyc2FsLnBuZy54bWyzsa/IzVEoSy0qzszPs1Uy1DNQsrfj5bIpKEoty0wtV6gAihnpGUCAkkIlKrc8M6Ukw1bJ0tAYIZaRmpmeUWKrZGZhChfUBxoJAFBLAQIAABQAAgAIAO9xSE3/6EwIKgQAAHYOAAAdAAAAAAAAAAEAAAAAAAAAAAB1bml2ZXJzYWwvY29tbW9uX21lc3NhZ2VzLmxuZ1BLAQIAABQAAgAIAO9xSE2LtzoSDwQAANwPAAAnAAAAAAAAAAEAAAAAAGUEAAB1bml2ZXJzYWwvZmxhc2hfcHVibGlzaGluZ19zZXR0aW5ncy54bWxQSwECAAAUAAIACADvcUhNBOcD0bYCAABTCgAAIQAAAAAAAAABAAAAAAC5CAAAdW5pdmVyc2FsL2ZsYXNoX3NraW5fc2V0dGluZ3MueG1sUEsBAgAAFAACAAgA73FITaPtv2riAwAA7Q4AACYAAAAAAAAAAQAAAAAArgsAAHVuaXZlcnNhbC9odG1sX3B1Ymxpc2hpbmdfc2V0dGluZ3MueG1sUEsBAgAAFAACAAgA73FITQ/kWSCZAQAAHQYAAB8AAAAAAAAAAQAAAAAA1A8AAHVuaXZlcnNhbC9odG1sX3NraW5fc2V0dGluZ3MuanNQSwECAAAUAAIACADvcUhNGtrqO6oAAAAfAQAAGgAAAAAAAAABAAAAAACqEQAAdW5pdmVyc2FsL2kxOG5fcHJlc2V0cy54bWxQSwECAAAUAAIACADvcUhNlBOzImkAAABuAAAAHAAAAAAAAAABAAAAAACMEgAAdW5pdmVyc2FsL2xvY2FsX3NldHRpbmdzLnhtbFBLAQIAABQAAgAIAKBhr0TOggk37AIAAIgIAAAUAAAAAAAAAAEAAAAAAC8TAAB1bml2ZXJzYWwvcGxheWVyLnhtbFBLAQIAABQAAgAIAO9xSE0129mtaAEAAPMCAAApAAAAAAAAAAEAAAAAAE0WAAB1bml2ZXJzYWwvc2tpbl9jdXN0b21pemF0aW9uX3NldHRpbmdzLnhtbFBLAQIAABQAAgAIAO9xSE3u1b/WnBkAAPA+AAAXAAAAAAAAAAAAAAAAAPwXAAB1bml2ZXJzYWwvdW5pdmVyc2FsLnBuZ1BLAQIAABQAAgAIAO9xSE1wPzhJSgAAAGoAAAAbAAAAAAAAAAEAAAAAAM0xAAB1bml2ZXJzYWwvdW5pdmVyc2FsLnBuZy54bWxQSwUGAAAAAAsACwBJAwAAUDIAAAAA"/>
  <p:tag name="ISPRING_ULTRA_SCORM_COURSE_ID" val="29CDFE28-0755-48D7-B396-2DB4679C4ED9"/>
  <p:tag name="ISPRING_SCORM_RATE_SLIDES" val="1"/>
  <p:tag name="ISPRING_SCORM_RATE_QUIZZES" val="0"/>
  <p:tag name="ISPRING_SCORM_PASSING_SCORE" val="100.0000000000"/>
  <p:tag name="ISPRING_SCORM_ENDPOINT" val="&lt;endpoint&gt;&lt;enable&gt;0&lt;/enable&gt;&lt;lrs&gt;http://&lt;/lrs&gt;&lt;auth&gt;0&lt;/auth&gt;&lt;login&gt;&lt;/login&gt;&lt;password&gt;&lt;/password&gt;&lt;key&gt;&lt;/key&gt;&lt;name&gt;&lt;/name&gt;&lt;email&gt;&lt;/email&gt;&lt;/endpoint&gt;&#10;"/>
  <p:tag name="ISPRINGONLINEFOLDERID" val="0"/>
  <p:tag name="ISPRINGONLINEFOLDERPATH" val="Content List"/>
  <p:tag name="ISPRINGCLOUDFOLDERID" val="0"/>
  <p:tag name="ISPRINGCLOUDFOLDERPATH" val="Content List"/>
  <p:tag name="ISPRING_PRESENTATION_TITLE" val="第1章 认识计算机 教学PPT_薛蒙蒙_0827"/>
  <p:tag name="ISPRING_RESOURCE_PATHS_HASH_PRESENTER" val="6f21232e94b46569fb407c359ca3a72a5848185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28559</Words>
  <Application>WPS 演示</Application>
  <PresentationFormat>宽屏</PresentationFormat>
  <Paragraphs>1537</Paragraphs>
  <Slides>123</Slides>
  <Notes>123</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3</vt:i4>
      </vt:variant>
      <vt:variant>
        <vt:lpstr>幻灯片标题</vt:lpstr>
      </vt:variant>
      <vt:variant>
        <vt:i4>123</vt:i4>
      </vt:variant>
    </vt:vector>
  </HeadingPairs>
  <TitlesOfParts>
    <vt:vector size="142" baseType="lpstr">
      <vt:lpstr>Arial</vt:lpstr>
      <vt:lpstr>宋体</vt:lpstr>
      <vt:lpstr>Wingdings</vt:lpstr>
      <vt:lpstr>微软雅黑</vt:lpstr>
      <vt:lpstr>方正细倩简体</vt:lpstr>
      <vt:lpstr>Segoe Print</vt:lpstr>
      <vt:lpstr>Times New Roman</vt:lpstr>
      <vt:lpstr>Lucida Sans Unicode</vt:lpstr>
      <vt:lpstr>Calibri</vt:lpstr>
      <vt:lpstr>Times New Roman</vt:lpstr>
      <vt:lpstr>等线</vt:lpstr>
      <vt:lpstr>Arial Unicode MS</vt:lpstr>
      <vt:lpstr>等线 Light</vt:lpstr>
      <vt:lpstr>楷体</vt:lpstr>
      <vt:lpstr>Wingdings</vt:lpstr>
      <vt:lpstr>Office 主题​​</vt:lpstr>
      <vt:lpstr>Visio.Drawing.11</vt:lpstr>
      <vt:lpstr>Visio.Drawing.11</vt:lpstr>
      <vt:lpstr>Visio.Drawing.11</vt:lpstr>
      <vt:lpstr>第5章  集合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认识计算机 教学PPT_薛蒙蒙_0827</dc:title>
  <dc:creator>lucius</dc:creator>
  <cp:lastModifiedBy>小老头子</cp:lastModifiedBy>
  <cp:revision>1120</cp:revision>
  <dcterms:created xsi:type="dcterms:W3CDTF">2016-08-25T05:35:00Z</dcterms:created>
  <dcterms:modified xsi:type="dcterms:W3CDTF">2024-11-20T00:24:22Z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2052-12.1.0.18912</vt:lpwstr>
  </property>
  <property fmtid="{D5CDD505-2E9C-101B-9397-08002B2CF9AE}" pid="3" name="ICV">
    <vt:lpwstr>A4E71898EC93401FB9E49D8BD336AEF5_13</vt:lpwstr>
  </property>
</Properties>
</file>