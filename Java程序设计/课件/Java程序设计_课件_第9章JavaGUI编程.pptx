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256" r:id="rId3"/>
    <p:sldId id="523" r:id="rId5"/>
    <p:sldId id="524" r:id="rId6"/>
    <p:sldId id="525" r:id="rId7"/>
    <p:sldId id="526" r:id="rId8"/>
    <p:sldId id="527" r:id="rId9"/>
    <p:sldId id="528" r:id="rId10"/>
    <p:sldId id="529" r:id="rId11"/>
    <p:sldId id="530" r:id="rId12"/>
    <p:sldId id="531" r:id="rId13"/>
    <p:sldId id="532" r:id="rId14"/>
    <p:sldId id="546" r:id="rId15"/>
    <p:sldId id="547" r:id="rId16"/>
    <p:sldId id="552" r:id="rId17"/>
    <p:sldId id="555" r:id="rId18"/>
    <p:sldId id="561" r:id="rId19"/>
    <p:sldId id="564" r:id="rId20"/>
    <p:sldId id="566" r:id="rId21"/>
    <p:sldId id="568" r:id="rId22"/>
    <p:sldId id="569" r:id="rId23"/>
    <p:sldId id="581" r:id="rId24"/>
    <p:sldId id="570" r:id="rId25"/>
    <p:sldId id="571" r:id="rId26"/>
    <p:sldId id="572" r:id="rId27"/>
    <p:sldId id="583" r:id="rId28"/>
    <p:sldId id="584" r:id="rId29"/>
    <p:sldId id="586" r:id="rId30"/>
    <p:sldId id="587" r:id="rId31"/>
    <p:sldId id="588" r:id="rId32"/>
    <p:sldId id="589" r:id="rId33"/>
    <p:sldId id="591" r:id="rId34"/>
    <p:sldId id="593" r:id="rId35"/>
    <p:sldId id="694" r:id="rId36"/>
    <p:sldId id="695" r:id="rId37"/>
    <p:sldId id="696" r:id="rId38"/>
    <p:sldId id="600" r:id="rId39"/>
    <p:sldId id="697" r:id="rId40"/>
    <p:sldId id="698" r:id="rId41"/>
    <p:sldId id="699" r:id="rId42"/>
    <p:sldId id="607" r:id="rId43"/>
    <p:sldId id="700" r:id="rId44"/>
    <p:sldId id="701" r:id="rId45"/>
    <p:sldId id="702" r:id="rId46"/>
    <p:sldId id="614" r:id="rId47"/>
    <p:sldId id="692" r:id="rId48"/>
    <p:sldId id="283" r:id="rId49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2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6871" autoAdjust="0"/>
  </p:normalViewPr>
  <p:slideViewPr>
    <p:cSldViewPr snapToGrid="0">
      <p:cViewPr varScale="1">
        <p:scale>
          <a:sx n="109" d="100"/>
          <a:sy n="109" d="100"/>
        </p:scale>
        <p:origin x="72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47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1AB7-F5A4-4C0D-8EFD-8068E49AF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06D94-0700-400A-A759-B2484DAA30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圆角矩形 12"/>
          <p:cNvSpPr/>
          <p:nvPr userDrawn="1"/>
        </p:nvSpPr>
        <p:spPr>
          <a:xfrm>
            <a:off x="4063999" y="810988"/>
            <a:ext cx="4117976" cy="69391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 descr="C:\Users\wz\Desktop\黑马程序员横板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44" y="603199"/>
            <a:ext cx="2448556" cy="108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771" y="603199"/>
            <a:ext cx="4540102" cy="14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829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0600" y="313611"/>
            <a:ext cx="2990476" cy="761905"/>
          </a:xfrm>
          <a:prstGeom prst="rect">
            <a:avLst/>
          </a:prstGeom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9314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48" y="0"/>
            <a:ext cx="122018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0" y="6518245"/>
            <a:ext cx="1768679" cy="336973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0338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1362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2386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409"/>
          </a:xfrm>
          <a:prstGeom prst="rect">
            <a:avLst/>
          </a:prstGeom>
        </p:spPr>
      </p:pic>
      <p:pic>
        <p:nvPicPr>
          <p:cNvPr id="6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06" y="776178"/>
            <a:ext cx="5074388" cy="153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1262" y="279447"/>
            <a:ext cx="2990476" cy="761905"/>
          </a:xfrm>
          <a:prstGeom prst="rect">
            <a:avLst/>
          </a:prstGeom>
        </p:spPr>
      </p:pic>
      <p:pic>
        <p:nvPicPr>
          <p:cNvPr id="4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06163" y="6527800"/>
            <a:ext cx="479018" cy="255772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FF0000"/>
                </a:solidFill>
              </a:defRPr>
            </a:lvl1pPr>
            <a:lvl2pPr>
              <a:defRPr b="1">
                <a:solidFill>
                  <a:srgbClr val="FF0000"/>
                </a:solidFill>
              </a:defRPr>
            </a:lvl2pPr>
            <a:lvl3pPr>
              <a:defRPr b="1">
                <a:solidFill>
                  <a:srgbClr val="FF0000"/>
                </a:solidFill>
              </a:defRPr>
            </a:lvl3pPr>
            <a:lvl4pPr>
              <a:defRPr b="1">
                <a:solidFill>
                  <a:srgbClr val="FF0000"/>
                </a:solidFill>
              </a:defRPr>
            </a:lvl4pPr>
            <a:lvl5pPr>
              <a:defRPr b="1">
                <a:solidFill>
                  <a:srgbClr val="FF0000"/>
                </a:solidFill>
              </a:defRPr>
            </a:lvl5pPr>
          </a:lstStyle>
          <a:p>
            <a:pPr lvl="0"/>
            <a:fld id="{73FEE35F-1510-4CD3-A5F4-79EF5F7854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18245"/>
            <a:ext cx="1768679" cy="336973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3162" y="317547"/>
            <a:ext cx="2990476" cy="761905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6518245"/>
            <a:ext cx="1768679" cy="336973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8724" y="247700"/>
            <a:ext cx="2980952" cy="800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6493079"/>
            <a:ext cx="1768679" cy="36214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86103"/>
            <a:ext cx="2164360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image" Target="../media/image8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3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15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6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8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9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1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2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.xml"/><Relationship Id="rId1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9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30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3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4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5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7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8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9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1.xml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2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3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5.xml"/><Relationship Id="rId1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9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 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GUI</a:t>
            </a:r>
            <a:r>
              <a:rPr lang="zh-CN" altLang="zh-CN" b="1" dirty="0">
                <a:latin typeface="方正细倩简体"/>
                <a:ea typeface="宋体" panose="02010600030101010101" pitchFamily="2" charset="-122"/>
                <a:cs typeface="方正细倩简体"/>
              </a:rPr>
              <a:t>编程</a:t>
            </a:r>
            <a:endParaRPr lang="zh-CN" altLang="zh-CN" b="1" dirty="0">
              <a:solidFill>
                <a:srgbClr val="000000"/>
              </a:solidFill>
              <a:latin typeface="方正细倩简体"/>
              <a:ea typeface="宋体" panose="02010600030101010101" pitchFamily="2" charset="-122"/>
              <a:cs typeface="方正细倩简体"/>
            </a:endParaRPr>
          </a:p>
        </p:txBody>
      </p:sp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4980313"/>
            <a:ext cx="2429827" cy="145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241375" y="5141141"/>
            <a:ext cx="2743200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Swing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概述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Swing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顶级容器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76910" y="5141141"/>
            <a:ext cx="2660511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布局管理器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事件管理机制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Swing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96720" y="1676400"/>
            <a:ext cx="5648960" cy="3677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语言开发图形化界面的一个工具包。它以抽象窗口工具包（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AWT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）为基础，使跨平台应用程序可以使用可插拔的外观风格。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拥有丰富的库和组件，使用非常灵活，开发人员只用很少的代码就可以创建出优雅的用户界面。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440" y="1676400"/>
            <a:ext cx="3896043" cy="3703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DA7A59C-1504-4841-B0B3-B056E0C23F7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Swing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22400" y="1705610"/>
            <a:ext cx="4419600" cy="344551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中，所有的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组件都保存在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javax.swing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包中，为了有效的使用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组件，必须了解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包的层次结构和继承关系。下面通过一张图描述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组件的继承关系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974080" y="1166494"/>
            <a:ext cx="5478145" cy="51631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D09F26A-089C-4E1B-9780-B3818311E26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Swing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699760" y="1371600"/>
            <a:ext cx="5720080" cy="4531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从上图可以看出，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组件的所有类都继承自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Container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类，然后根据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GUI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开发的功能扩展了两个主要分支，分别是容器分支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窗口和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Panel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和组件分支。其中，容器分支是为了实现图形化用户界面窗口的容器而设计的，而组件分支则是为了实现向容器中填充数据、元素以及交互组件等功能。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0" y="2108518"/>
            <a:ext cx="4887840" cy="2737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BECA3B8-1A02-494A-B3E9-C9E58856A7D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Swing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63040" y="1442720"/>
            <a:ext cx="10139680" cy="147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JComponent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类几乎是所有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组件的公共超类，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omponent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类的所有子类都继承了它的全部公有方法，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omponent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的常用子类如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930400" y="2690177"/>
            <a:ext cx="8448038" cy="272510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3BFA82B-9E7E-4EF8-91F4-1B210733794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Swing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704339" y="1910080"/>
            <a:ext cx="5567680" cy="309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在容器分支中，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组件类中有三个组件是继承的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AWT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类，而不是继承自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JComponent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类，这三个组件是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中的顶级容器类，它们分别是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JDialog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JWindow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0" y="1683066"/>
            <a:ext cx="41148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4E651B2-DF0C-490E-B460-20DCB1340C2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4986653" y="1569820"/>
            <a:ext cx="5712462" cy="3058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组件中，最常见的一个容器就是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，它是一个独立存在的顶级容器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也叫窗口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，不能放置在其他容器之中。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支持通用窗口所有的基本功能，例如，窗口最小化、设定窗口大小等。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1869440"/>
            <a:ext cx="3523613" cy="32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21D1826-834D-41E9-AF53-6AD0DB62E67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58898" y="1370955"/>
            <a:ext cx="4991102" cy="81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类的常用操作方法如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006598" y="2296157"/>
          <a:ext cx="9235441" cy="34544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38602"/>
                <a:gridCol w="2032000"/>
                <a:gridCol w="3164839"/>
              </a:tblGrid>
              <a:tr h="3025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方法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类型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功能描述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747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public </a:t>
                      </a:r>
                      <a:r>
                        <a:rPr lang="en-US" sz="1600" kern="100" dirty="0" err="1">
                          <a:effectLst/>
                        </a:rPr>
                        <a:t>JFrame</a:t>
                      </a:r>
                      <a:r>
                        <a:rPr lang="en-US" sz="1600" kern="100" dirty="0">
                          <a:effectLst/>
                        </a:rPr>
                        <a:t>() throws </a:t>
                      </a:r>
                      <a:r>
                        <a:rPr lang="en-US" sz="1600" kern="100" dirty="0" err="1">
                          <a:effectLst/>
                        </a:rPr>
                        <a:t>HeadlessException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构造方法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创建一个普通窗体对象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8546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public </a:t>
                      </a:r>
                      <a:r>
                        <a:rPr lang="en-US" sz="1600" kern="100" dirty="0" err="1">
                          <a:effectLst/>
                        </a:rPr>
                        <a:t>JFrame</a:t>
                      </a:r>
                      <a:r>
                        <a:rPr lang="en-US" sz="1600" kern="100" dirty="0">
                          <a:effectLst/>
                        </a:rPr>
                        <a:t>(String title) throws </a:t>
                      </a:r>
                      <a:r>
                        <a:rPr lang="en-US" sz="1600" kern="100" dirty="0" err="1">
                          <a:effectLst/>
                        </a:rPr>
                        <a:t>HeadlessException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构造方法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创建一个窗体对象，并指定标题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747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public void </a:t>
                      </a:r>
                      <a:r>
                        <a:rPr lang="en-US" sz="1600" kern="100" dirty="0" err="1">
                          <a:solidFill>
                            <a:srgbClr val="FF0000"/>
                          </a:solidFill>
                          <a:effectLst/>
                        </a:rPr>
                        <a:t>setSize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chemeClr val="bg1"/>
                          </a:solidFill>
                          <a:effectLst/>
                        </a:rPr>
                        <a:t>int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solidFill>
                            <a:schemeClr val="bg1"/>
                          </a:solidFill>
                          <a:effectLst/>
                        </a:rPr>
                        <a:t>width,int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 height)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普通方法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设置窗体大小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747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public void </a:t>
                      </a:r>
                      <a:r>
                        <a:rPr lang="en-US" sz="1600" kern="100" dirty="0" err="1">
                          <a:effectLst/>
                        </a:rPr>
                        <a:t>setSize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en-US" sz="1600" kern="100" dirty="0" err="1">
                          <a:effectLst/>
                        </a:rPr>
                        <a:t>Dimention</a:t>
                      </a:r>
                      <a:r>
                        <a:rPr lang="en-US" sz="1600" kern="100" dirty="0">
                          <a:effectLst/>
                        </a:rPr>
                        <a:t> d)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600" kern="100">
                          <a:effectLst/>
                        </a:rPr>
                        <a:t>普通方法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600" kern="100">
                          <a:effectLst/>
                        </a:rPr>
                        <a:t>通过</a:t>
                      </a:r>
                      <a:r>
                        <a:rPr lang="en-US" sz="1600" kern="100">
                          <a:effectLst/>
                        </a:rPr>
                        <a:t>Dimention</a:t>
                      </a:r>
                      <a:r>
                        <a:rPr lang="zh-CN" sz="1600" kern="100">
                          <a:effectLst/>
                        </a:rPr>
                        <a:t>设置窗体大小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728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600" kern="100">
                          <a:effectLst/>
                        </a:rPr>
                        <a:t>public void Background(Color c)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600" kern="100">
                          <a:effectLst/>
                        </a:rPr>
                        <a:t>普通方法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设置窗体的背景颜色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2869012-33F3-4B48-B340-4CF57C120AC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10080" y="1879595"/>
          <a:ext cx="9398761" cy="3958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7978"/>
                <a:gridCol w="1302210"/>
                <a:gridCol w="3448573"/>
              </a:tblGrid>
              <a:tr h="2723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方法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类型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功能描述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public void </a:t>
                      </a:r>
                      <a:r>
                        <a:rPr lang="en-US" sz="1800" kern="100" dirty="0" err="1">
                          <a:solidFill>
                            <a:srgbClr val="FF0000"/>
                          </a:solidFill>
                          <a:effectLst/>
                        </a:rPr>
                        <a:t>setLocation</a:t>
                      </a: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800" kern="100" dirty="0" err="1">
                          <a:solidFill>
                            <a:schemeClr val="bg1"/>
                          </a:solidFill>
                          <a:effectLst/>
                        </a:rPr>
                        <a:t>int</a:t>
                      </a: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solidFill>
                            <a:schemeClr val="bg1"/>
                          </a:solidFill>
                          <a:effectLst/>
                        </a:rPr>
                        <a:t>x,int</a:t>
                      </a: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 y)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设置组件的显示位置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public void setLocation(Point p)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通过</a:t>
                      </a:r>
                      <a:r>
                        <a:rPr lang="en-US" sz="1800" kern="100">
                          <a:effectLst/>
                        </a:rPr>
                        <a:t>Point</a:t>
                      </a:r>
                      <a:r>
                        <a:rPr lang="zh-CN" sz="1800" kern="100">
                          <a:effectLst/>
                        </a:rPr>
                        <a:t>设置组件的显示位置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public void </a:t>
                      </a:r>
                      <a:r>
                        <a:rPr lang="en-US" sz="1800" kern="100" dirty="0" err="1">
                          <a:solidFill>
                            <a:srgbClr val="FF0000"/>
                          </a:solidFill>
                          <a:effectLst/>
                        </a:rPr>
                        <a:t>setVisiable</a:t>
                      </a: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800" kern="100" dirty="0" err="1">
                          <a:solidFill>
                            <a:schemeClr val="bg1"/>
                          </a:solidFill>
                          <a:effectLst/>
                        </a:rPr>
                        <a:t>boolean</a:t>
                      </a: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 b)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显示或隐藏组件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public Component 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add</a:t>
                      </a:r>
                      <a:r>
                        <a:rPr lang="en-US" sz="1800" kern="100" dirty="0">
                          <a:effectLst/>
                        </a:rPr>
                        <a:t>(Component comp)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向容器中增加组件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public </a:t>
                      </a:r>
                      <a:r>
                        <a:rPr lang="en-US" sz="1800" kern="100" dirty="0" err="1">
                          <a:effectLst/>
                        </a:rPr>
                        <a:t>setLayout</a:t>
                      </a:r>
                      <a:r>
                        <a:rPr lang="en-US" sz="1800" kern="100" dirty="0">
                          <a:effectLst/>
                        </a:rPr>
                        <a:t>(Component comp)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设置布局管理器，如果设置为</a:t>
                      </a:r>
                      <a:r>
                        <a:rPr lang="en-US" sz="1800" kern="100">
                          <a:effectLst/>
                        </a:rPr>
                        <a:t>null</a:t>
                      </a:r>
                      <a:r>
                        <a:rPr lang="zh-CN" sz="1800" kern="100">
                          <a:effectLst/>
                        </a:rPr>
                        <a:t>表示不使用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157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public void pack()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调整窗口大小，以适合其子组件的首选大小和布局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  <a:tr h="524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public Comntainer getContentPane()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>
                          <a:effectLst/>
                        </a:rPr>
                        <a:t>普通方法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97000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返回此窗体的容器对象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9441" marR="59441" marT="0" marB="0" anchor="ctr"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20EBA53-706A-46D9-8C40-551BE3BD5C7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58898" y="1218555"/>
            <a:ext cx="10030462" cy="8439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接下来通过一个案例演示一下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的使用效果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489200" y="1889113"/>
            <a:ext cx="8056880" cy="4288165"/>
            <a:chOff x="2489200" y="1889113"/>
            <a:chExt cx="8056880" cy="4288165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9200" y="1889114"/>
              <a:ext cx="8056880" cy="4288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3014978" y="1889113"/>
              <a:ext cx="7236462" cy="4288165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java.awt.FlowLayout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javax.swing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class Example01 extends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private static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创建并设置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容器窗口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frame = new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JFrameTest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设置关闭窗口时的默认操作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frame.setDefaultCloseOperation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JFrame.EXIT_ON_CLOSE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设置窗口标题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frame.setTitle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JFrameTest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890971F-3635-4C11-A4D9-77B64122ABB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153920" y="1299834"/>
            <a:ext cx="9042400" cy="4989206"/>
            <a:chOff x="1778000" y="1309994"/>
            <a:chExt cx="9042400" cy="4989206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8000" y="1309994"/>
              <a:ext cx="8961120" cy="4989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275840" y="1309994"/>
              <a:ext cx="8544560" cy="4989206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设置窗口尺寸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frame.setSize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(350, 300);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设置窗口的显示位置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frame.setLocation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(300,200);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让组件显示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frame.setVisible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(true);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方法显示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GUI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程序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createAndShowGUI(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03E498A-9F61-4987-845A-265953F2F49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布局管理器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86560" y="1458282"/>
            <a:ext cx="9712960" cy="41195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组件在容器中的位置和尺寸是由布局管理器决定的，每当需要重新调整屏幕大小时，都要用到布局管理器。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常用的布局管理器有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种，分别是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FlowLayout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（流式布局管理器）、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BorderLayout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（边界布局管理器）、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（网格布局管理器）、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（网格包布局管理器）。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容器在创建时都会使用一种默认的布局管理器，在程序中可以通过调用容器对象的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setLayout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方法设置布局管理器，通过布局管理器自动进行组件的布局管理。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C6FB30A-4BE0-43A9-BCCF-0CBEA6D3C1B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9.3.1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638800" y="1458282"/>
            <a:ext cx="5567680" cy="41195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FlowLayout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于流式布局管理器，是最简单的布局管理器。在这种布局下，容器会将组件按照添加顺序从左向右放置。当到达容器的边界时，自动将组件放到下一行的开始位置。这些组件可以左对齐、居中对齐（默认方式）或右对齐的方式排列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80944"/>
            <a:ext cx="4142739" cy="3271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8CF9B64-3C30-49B0-BFCF-C0F44275A93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9.3.1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3413266" y="1758417"/>
            <a:ext cx="4597402" cy="33451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ED5A3C2-EB40-4CE0-9384-1A99EE26D15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BorderLayout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15440" y="1539562"/>
            <a:ext cx="5618480" cy="40179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BorderLayout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（边界布局管理器）是一种较为复杂的布局方式，它将窗体划分为五个区域，分别是东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(EAST)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(SOUTH)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(WEST)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(NORTH)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、中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(CENTER)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。组件可以被放置在这五个区域中的任意一个区域中。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BorderLayout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的布局效果如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右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741920" y="1899920"/>
          <a:ext cx="3637280" cy="3196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Visio" r:id="rId1" imgW="4762500" imgH="3835400" progId="Visio.Drawing.11">
                  <p:embed/>
                </p:oleObj>
              </mc:Choice>
              <mc:Fallback>
                <p:oleObj name="Visio" r:id="rId1" imgW="4762500" imgH="38354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280" t="14137" r="16026" b="20503"/>
                      <a:stretch>
                        <a:fillRect/>
                      </a:stretch>
                    </p:blipFill>
                    <p:spPr bwMode="auto">
                      <a:xfrm>
                        <a:off x="7741920" y="1899920"/>
                        <a:ext cx="3637280" cy="3196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52734FE-E625-4B09-9C84-D63AFA3EA3A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BorderLayout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338077" y="1699003"/>
            <a:ext cx="5010467" cy="3616643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EB12485-98C6-445C-8F28-097ACFD1105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34160" y="1503680"/>
            <a:ext cx="9834880" cy="4094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布局管理器是以网格的形式管理容器中组件布局的。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使用纵横线将容器分成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列大小相等的网格，每个网格中放置一个组件。添加到容器中的组件首先放置在第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列（左上角）的网格中，然后在第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行的网格中从左向右依次放置其他组件。一行放满之后，继续在下一行中从左到右放置组件。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管理方式与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FlowLayou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类似，但与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FlowLayout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不同的是，使用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管理的组件将自动占据网格的整个区域。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423B9DC-D9CD-488C-95F6-F1ED6DC2F0C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73859" y="1795780"/>
            <a:ext cx="5742941" cy="2936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三个构造方法，其中，参数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代表行数，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代表列数，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hgap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vgap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规定水平和垂直方向的间隙。水平间隙指的是网格之间的水平距离，垂直间隙是指网格之间的垂直距离。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361" y="1656080"/>
            <a:ext cx="3359468" cy="3771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1702F70-99C6-4905-A081-0B6BC7AD9D9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319739" y="1713312"/>
            <a:ext cx="4298950" cy="36347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0CDA881-238E-4753-9F8A-AFAEDC18669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9.3.4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GridBagLayout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2471701" y="1700530"/>
            <a:ext cx="5194301" cy="3545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是最灵活、最复杂的布局管理器。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布局管理器类似，不同的是，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允许网格中的组件大小各不相同，而且允许一个组件跨越一个或者多个网格。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204" y="1625600"/>
            <a:ext cx="3230563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6A0B2A4-D4D7-4A09-B07E-FFC44A1A0C4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9.3.4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GridBagLayout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869690" y="1745882"/>
            <a:ext cx="4452620" cy="35991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12B7B12-40A2-4B50-B74B-732D442BF21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9.3.4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GridBagLayout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171440" y="1859280"/>
            <a:ext cx="6004560" cy="2926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布局管理器的步骤如下：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）创建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布局管理器，设置容器采用该布局管理器。具体示例如下：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layout = new 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container.setLayout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(layout);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339" y="1859280"/>
            <a:ext cx="2895600" cy="330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CC99C8F-7D59-47A9-A0EA-3483D252B04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11.3.4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GridBagLayout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2306316" y="1605280"/>
            <a:ext cx="8696960" cy="3860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）创建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GridBagContraints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对象，并设置该对象的相关属性（设置布局约束条件）。具体示例如下：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GridBagConstraints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constraints = new 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GridBagConstraints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constraints.gridx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1;        	//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设置网格的左上角横向索引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constraints.gridy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1;        	//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设置网格的左上角纵向索引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constraints.gridwidth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1;   	//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设置组件横向跨越的网格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constraints.gridheight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1; 	//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设置组件纵向跨越的网格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FC3E735-75C9-4F13-81E1-1E141FEA315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9.3.4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GridBagLayout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05280" y="1381760"/>
            <a:ext cx="9987280" cy="449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）调用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GridBagLayout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setConstraints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方法，建立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GridBagConstraints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对象和受控组件之间的关联。具体示例如下：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layout.setConstraints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component,constraints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）向容器中添加组件。具体示例如下：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container.add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conponent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GridBagConstraints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对象可以重复使用。如果改变布局，只需要改变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GridBagConstraints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对象的属性即可。如果要向容器中添加多个组件，则重复（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）、（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）、（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）步骤。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20835EE-6E63-4BF9-A832-60E7775911C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41120" y="1336040"/>
            <a:ext cx="10241280" cy="4617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组件中的事件处理专门用于响应用户的操作，例如，响应用户的鼠标单击、按下键盘等操作。在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事件处理的过程中，主要涉及到三类对象：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●  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事件源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Event Source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）：事件发生的场所，通常是产生事件的组件，如窗口、按钮、菜单等。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●  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事件对象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）：封装了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GUI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组件上发生的特定事件（通常就是用户的一次操作）。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●  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监听器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Listener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）：负责监听事件源上发生的事件，并对各种事件做出相应处理（监听器对象中包含事件处理器）。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8AEB1EE-CD95-4F3F-A1EE-C1F22931273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05280" y="1336040"/>
            <a:ext cx="9784080" cy="1833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上面提到的事件源、事件对象、监听器在整个事件处理过程中都起着非常重要的作用，它们彼此之间有着非常紧密的联系。接下来用一个图例来描述事件处理的工作流程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850" y="3241040"/>
            <a:ext cx="6607577" cy="275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748EE3D-51B8-4D4B-BBC9-723D091E95A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89379" y="1283968"/>
            <a:ext cx="7145022" cy="7899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接下来通过一个案例演示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中的事件处理。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433318" y="2133600"/>
            <a:ext cx="8381999" cy="3505200"/>
            <a:chOff x="1940560" y="2174240"/>
            <a:chExt cx="8381999" cy="3505200"/>
          </a:xfrm>
        </p:grpSpPr>
        <p:pic>
          <p:nvPicPr>
            <p:cNvPr id="6041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0560" y="2174240"/>
              <a:ext cx="8381999" cy="3423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2585722" y="2174240"/>
              <a:ext cx="7655558" cy="3505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java.awt.event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javax.swing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自定义事件监听器类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class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MyListener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implements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ActionListener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实现监听器方法，对监听事件进行处理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void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actionPerformed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ActionEvent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用户点击了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JButton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按钮组件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0A05A8E-9C0D-43DD-B1C7-E6AF94B172F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509520" y="1783080"/>
            <a:ext cx="8077200" cy="3454400"/>
            <a:chOff x="2418080" y="1696720"/>
            <a:chExt cx="8077200" cy="3454400"/>
          </a:xfrm>
        </p:grpSpPr>
        <p:pic>
          <p:nvPicPr>
            <p:cNvPr id="6144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8080" y="1696720"/>
              <a:ext cx="8077200" cy="345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3014980" y="1869440"/>
              <a:ext cx="6901180" cy="32816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Example07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private static void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f =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窗口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f.setSize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(200, 100);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创建一个按钮组件，作为事件源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JButton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btn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JButton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按钮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为按钮组件事件源添加自定义监听器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btn.addActionListener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MyListener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6E13AE3-B854-4C30-8EC2-030CF2A7D3C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645919" y="1788160"/>
            <a:ext cx="9591040" cy="3474720"/>
            <a:chOff x="1544319" y="1788160"/>
            <a:chExt cx="9591040" cy="3474720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4320" y="1788160"/>
              <a:ext cx="9591039" cy="3474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1544319" y="1788160"/>
              <a:ext cx="9560243" cy="3474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f.add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btn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f.setVisible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(true);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f.setDefaultCloseOperation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JFrame.EXIT_ON_CLOSE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7B03A7A-FCF3-4B3A-98F7-1372D715FCB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61464" y="1305557"/>
            <a:ext cx="4036061" cy="7899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程序运行结果如下图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561464" y="2617470"/>
            <a:ext cx="3691890" cy="239141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6116320" y="1448595"/>
            <a:ext cx="20320" cy="472915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内容占位符 2"/>
          <p:cNvSpPr txBox="1"/>
          <p:nvPr/>
        </p:nvSpPr>
        <p:spPr>
          <a:xfrm>
            <a:off x="6797040" y="1468442"/>
            <a:ext cx="4531360" cy="12544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在左图中单击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【按钮】组件，查看控制台，显示输出结果如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817360" y="3240404"/>
            <a:ext cx="4738687" cy="145351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9913069-3F15-411C-BCC2-F90DDA7AD05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事件处理机制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78712" y="1387404"/>
            <a:ext cx="9966960" cy="432477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Swing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事件处理的主要步骤如下：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）创建事件源：除了一些常见的按钮、键盘等组件可以作为事件源外，还可以使用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JFrame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窗口在内的顶级容器作为事件源。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）自定义事件监听器：根据要监听的事件源创建指定类型的监听器进行事件处理。监听器是一个特殊的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类，必须实现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XxxListener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接口。根据组件触发的动作进行区分，例如，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WindowListener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用于监听窗口事件，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ActionListener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用于监听动作事件。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）为事件源注册监听器：使用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addXxxListener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方法为指定事件源添加特定类型的监听器。当事件源上发生监听事件后，就会触发绑定的事件监听器，由监听器中的方法对事件进行相应处理。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CF8756E-CB0D-4B31-93F1-B6E6CC0EAB7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9.4.1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窗体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01292" y="1244034"/>
            <a:ext cx="9904871" cy="50332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．窗体事件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大部分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GUI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应用程序都需要使用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窗体对象作为最外层的容器，可以说窗体对象是所有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GUI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应用程序的基础，应用程序中通常都是将其他组件直接或者间接地添加到窗体中。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当对窗体进行操作时，例如，窗体的打开、关闭、激活、停用等，这些动作都属于窗体事件。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提供了一个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类用于表示窗体事件。在应用程序中，当对窗体事件进行处理时，首先需要定义一个实现了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WindowListener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接口的类作为窗体监听器，然后通过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addWindowListener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方法将窗体对象与窗体监听器进行绑定。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EB7DEC0-C332-484D-B842-3F95E22DB31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9.4.1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窗体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86840" y="1137920"/>
            <a:ext cx="9316720" cy="731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接下来通过一个案例实现对窗体事件的监听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19580" y="1737360"/>
            <a:ext cx="9545320" cy="4470400"/>
            <a:chOff x="1605280" y="1838960"/>
            <a:chExt cx="9545320" cy="4470400"/>
          </a:xfrm>
        </p:grpSpPr>
        <p:pic>
          <p:nvPicPr>
            <p:cNvPr id="6553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5280" y="1869440"/>
              <a:ext cx="9215119" cy="4439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1833880" y="1838960"/>
              <a:ext cx="9316720" cy="44704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java.awt.event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javax.swing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Example08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private static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f =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f.setSize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(400, 300);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f.setLocation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(300, 200);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f.setVisible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(true);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		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f.setDefaultCloseOperation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JFrame.EXIT_ON_CLOSE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使用内部类创建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WindowListener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实例对象，监听窗体事件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f.addWindowListener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WindowListener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windowOpened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windowOpened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窗体打开事件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9.4.1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窗体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32560" y="1310640"/>
            <a:ext cx="9316720" cy="4907280"/>
            <a:chOff x="1432560" y="1310640"/>
            <a:chExt cx="9316720" cy="4907280"/>
          </a:xfrm>
        </p:grpSpPr>
        <p:pic>
          <p:nvPicPr>
            <p:cNvPr id="6656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9280" y="1310640"/>
              <a:ext cx="7619999" cy="4907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1432560" y="1310640"/>
              <a:ext cx="9316720" cy="4907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windowIconified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windowIconified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窗体图标化事件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windowDeiconified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 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windowDeiconified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窗体取消图标化事件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windowDeactivated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windowDeactivated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窗体停用事件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windowClosing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windowClosing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窗体正在关闭事件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windowClosed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windowClosed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窗体关闭事件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9.4.1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窗体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808480" y="1651000"/>
            <a:ext cx="9469120" cy="3749040"/>
            <a:chOff x="1635760" y="1595120"/>
            <a:chExt cx="9469120" cy="3749040"/>
          </a:xfrm>
        </p:grpSpPr>
        <p:pic>
          <p:nvPicPr>
            <p:cNvPr id="6758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760" y="1595120"/>
              <a:ext cx="9469119" cy="3749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006600" y="1849120"/>
              <a:ext cx="9098280" cy="33528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windowActivated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windowActivated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窗体激活事件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	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createAndShowGUI()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9.4.2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280592" y="1351280"/>
            <a:ext cx="10165080" cy="4155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．鼠标事件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在图形用户界面中，用户会经常使用鼠标进行选择、切换界面等操作，这些操作被定义为鼠标事件，包括鼠标按下、鼠标松开、鼠标单击等。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提供了一个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MouseEvent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类描述鼠标事件。处理鼠标事件时，首先需要通过实现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MouseListener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接口定义监听器（也可以通过继承适配器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MouseAdapter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类定义监听器），然后调用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addMouseListener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方法将监听器绑定到事件源对象。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0861DD7-22BF-4795-8029-B63E4AD6C20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9.4.2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鼠标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24939" y="1219200"/>
            <a:ext cx="10165080" cy="76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接下来通过一个案例学习如何监听鼠标事件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311398" y="1874520"/>
            <a:ext cx="8818881" cy="4180840"/>
            <a:chOff x="1971040" y="1874520"/>
            <a:chExt cx="8818881" cy="4180840"/>
          </a:xfrm>
        </p:grpSpPr>
        <p:pic>
          <p:nvPicPr>
            <p:cNvPr id="6861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1040" y="1874520"/>
              <a:ext cx="8564880" cy="41808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489200" y="1874520"/>
              <a:ext cx="8300721" cy="4180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java.awt.event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javax.swing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Example09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private static void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f =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f.setLayout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FlowLayout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());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为窗口设置布局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f.setSize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(300, 200);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f.setLocation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(300, 200);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f.setVisible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(true);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f.setDefaultCloseOperation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JFrame.EXIT_ON_CLOSE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9.4.2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鼠标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19579" y="1432560"/>
            <a:ext cx="9395462" cy="4419600"/>
            <a:chOff x="1719579" y="1432560"/>
            <a:chExt cx="9395462" cy="4419600"/>
          </a:xfrm>
        </p:grpSpPr>
        <p:pic>
          <p:nvPicPr>
            <p:cNvPr id="6963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4960" y="1432560"/>
              <a:ext cx="7985760" cy="44195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1719579" y="1539240"/>
              <a:ext cx="9395462" cy="43129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JButton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but =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JButton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("Button");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创建按钮对象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f.add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(but);                           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在窗口添加按钮组件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为按钮添加鼠标事件监听器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but.addMouseListener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MouseListener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mouseReleased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mouseReleased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鼠标放开事件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mousePressed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mousePressed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鼠标按下事件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mouseExited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mouseExited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—鼠标移出按钮区域事件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   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9.4.2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鼠标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635760" y="1391920"/>
            <a:ext cx="9895840" cy="4480559"/>
            <a:chOff x="1534160" y="1391920"/>
            <a:chExt cx="9895840" cy="4480559"/>
          </a:xfrm>
        </p:grpSpPr>
        <p:pic>
          <p:nvPicPr>
            <p:cNvPr id="7065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4160" y="1391920"/>
              <a:ext cx="9733280" cy="44805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1922779" y="1498600"/>
              <a:ext cx="9507221" cy="4180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mouseEntered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mouseEntered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—鼠标进入按钮区域事件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mouseClicked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mouseClicked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鼠标完成单击事件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方法并显示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GUI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程序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createAndShowGUI(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9.4.3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键盘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025646" y="1425506"/>
            <a:ext cx="9563331" cy="367678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．键盘事件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键盘操作也是最常用的用户交互方式，例如，键盘按下、释放等，这些操作被定义为键盘事件。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提供了一个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类表示键盘事件，处理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事件的监听器对象需要实现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KeyListener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接口或者继承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KeyAdapter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类，然后调用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addKeyListener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方法将监听器绑定到事件源对象。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C720E6B-6906-4B36-8BC6-F21CAACC0D9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9.4.3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45259" y="1209040"/>
            <a:ext cx="6286501" cy="68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接下来通过一个案例学习如何监听键盘事件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311398" y="1889760"/>
            <a:ext cx="8412481" cy="4287520"/>
            <a:chOff x="1859280" y="1889760"/>
            <a:chExt cx="8412481" cy="4287520"/>
          </a:xfrm>
        </p:grpSpPr>
        <p:pic>
          <p:nvPicPr>
            <p:cNvPr id="7373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280" y="1889760"/>
              <a:ext cx="8331200" cy="4287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2560321" y="1889760"/>
              <a:ext cx="7711440" cy="4287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java.awt.event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javax.swing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Example10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private static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f =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f.setLayout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FlowLayout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f.setSize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(400, 300);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f.setLocation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(300, 200);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JTextField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tf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JTextField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(30);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创建文本框对象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f.add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tf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                            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在窗口中添加文本框组件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f.setVisible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(true);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f.setDefaultCloseOperation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JFrame.EXIT_ON_CLOSE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9.4.3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47520" y="1666239"/>
            <a:ext cx="9845041" cy="4013200"/>
            <a:chOff x="1422400" y="1666240"/>
            <a:chExt cx="9845041" cy="4013200"/>
          </a:xfrm>
        </p:grpSpPr>
        <p:pic>
          <p:nvPicPr>
            <p:cNvPr id="7475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400" y="1666240"/>
              <a:ext cx="9458960" cy="4013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1904999" y="1666240"/>
              <a:ext cx="9362442" cy="4013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为文本框添加键盘事件监听器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tf.addKeyListener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KeyAdapter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public void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keyPressed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KeyEvent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e)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获取对应的键盘字符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char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keyChar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e.getKeyChar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获取对应的键盘字符代码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keyCode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e.getKeyCode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键盘按下的字符内容为：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 +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keyChar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+" 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键盘按下的字符代码为：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 +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keyCode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9.4.3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键盘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60219" y="2194560"/>
            <a:ext cx="9794241" cy="2418081"/>
            <a:chOff x="1432560" y="2164080"/>
            <a:chExt cx="9794241" cy="2418081"/>
          </a:xfrm>
        </p:grpSpPr>
        <p:pic>
          <p:nvPicPr>
            <p:cNvPr id="7577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2560" y="2164080"/>
              <a:ext cx="9489440" cy="2418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1803399" y="2387600"/>
              <a:ext cx="9423402" cy="21742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方法并显示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GUI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程序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createAndShowGUI(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52780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898313" y="1314927"/>
            <a:ext cx="10395373" cy="504137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．动作事件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动作事件与前面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事件有所不同，它不代表某类事件，只是表示一个动作发生了。例如，在关闭一个文件时，可以通过键盘关闭，也可以通过鼠标关闭。在这里读者不需要关心使用哪种方式关闭文件，只要是对关闭按钮进行操作，就会触发动作事件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中，动作事件用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ActionEvent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类表示，处理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ActionEvent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事件的监听器对象需要实现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ActionListener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接口。监听器对象在监听动作时，不会像鼠标事件一样处理鼠标的移动和单击的细节，而是去处理类似于“按钮按下”这样“有意义”的事件。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013446A-D97D-43A8-A70E-49EBF5A197F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11.5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03578" y="1512785"/>
            <a:ext cx="5490549" cy="424731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本章主要讲解了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中比较流行的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图形用户工具——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。首先讲解了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的顶级窗口，包括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Jdialog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；其次讲解了布局管理器，包括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FlowLayout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BorderLayout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GridLayout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等；然后讲解了事件处理机制，以及常见的事件处理；最后讲解了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常用的组件，包括面板组件、文本组件、标签组件等。通过本章的学习，读者会了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的开发原理、开发技巧和开发思想，实现更高级的编程。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.xml><?xml version="1.0" encoding="utf-8"?>
<p:tagLst xmlns:p="http://schemas.openxmlformats.org/presentationml/2006/main">
  <p:tag name="KSO_WM_UNIT_TABLE_BEAUTIFY" val="smartTable{44445816-0244-4fdd-bfbf-5c710b8cb964}"/>
</p:tagLst>
</file>

<file path=ppt/tags/tag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7 本章小结"/>
</p:tagLst>
</file>

<file path=ppt/tags/tag4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ags/tag47.xml><?xml version="1.0" encoding="utf-8"?>
<p:tagLst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6f21232e94b46569fb407c359ca3a72a5848185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9845</Words>
  <Application>WPS 演示</Application>
  <PresentationFormat>宽屏</PresentationFormat>
  <Paragraphs>519</Paragraphs>
  <Slides>46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Times New Roman</vt:lpstr>
      <vt:lpstr>方正细倩简体</vt:lpstr>
      <vt:lpstr>Segoe Print</vt:lpstr>
      <vt:lpstr>Times New Roman</vt:lpstr>
      <vt:lpstr>等线</vt:lpstr>
      <vt:lpstr>Arial Unicode MS</vt:lpstr>
      <vt:lpstr>等线 Light</vt:lpstr>
      <vt:lpstr>Calibri</vt:lpstr>
      <vt:lpstr>Lucida Sans Unicode</vt:lpstr>
      <vt:lpstr>Office 主题​​</vt:lpstr>
      <vt:lpstr>Visio.Drawing.11</vt:lpstr>
      <vt:lpstr>第11章  GUI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Administrator</cp:lastModifiedBy>
  <cp:revision>1157</cp:revision>
  <dcterms:created xsi:type="dcterms:W3CDTF">2016-08-25T05:35:00Z</dcterms:created>
  <dcterms:modified xsi:type="dcterms:W3CDTF">2024-12-11T01:46:33Z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