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474" r:id="rId4"/>
    <p:sldId id="475" r:id="rId6"/>
    <p:sldId id="476" r:id="rId7"/>
    <p:sldId id="478" r:id="rId8"/>
    <p:sldId id="554" r:id="rId9"/>
    <p:sldId id="479" r:id="rId10"/>
    <p:sldId id="480" r:id="rId11"/>
    <p:sldId id="482" r:id="rId12"/>
    <p:sldId id="555" r:id="rId13"/>
    <p:sldId id="484" r:id="rId14"/>
    <p:sldId id="541" r:id="rId15"/>
    <p:sldId id="485" r:id="rId16"/>
    <p:sldId id="549" r:id="rId17"/>
    <p:sldId id="486" r:id="rId18"/>
    <p:sldId id="488" r:id="rId19"/>
    <p:sldId id="489" r:id="rId20"/>
    <p:sldId id="490" r:id="rId21"/>
    <p:sldId id="491" r:id="rId22"/>
    <p:sldId id="492" r:id="rId23"/>
    <p:sldId id="556" r:id="rId24"/>
    <p:sldId id="551" r:id="rId25"/>
    <p:sldId id="550" r:id="rId26"/>
    <p:sldId id="493" r:id="rId27"/>
    <p:sldId id="494" r:id="rId28"/>
    <p:sldId id="495" r:id="rId29"/>
    <p:sldId id="496" r:id="rId30"/>
    <p:sldId id="542" r:id="rId31"/>
    <p:sldId id="497" r:id="rId32"/>
    <p:sldId id="498" r:id="rId33"/>
    <p:sldId id="499" r:id="rId34"/>
    <p:sldId id="501" r:id="rId35"/>
    <p:sldId id="502" r:id="rId36"/>
    <p:sldId id="503" r:id="rId37"/>
    <p:sldId id="561" r:id="rId38"/>
    <p:sldId id="562" r:id="rId39"/>
    <p:sldId id="504" r:id="rId40"/>
    <p:sldId id="557" r:id="rId41"/>
    <p:sldId id="506" r:id="rId42"/>
    <p:sldId id="508" r:id="rId43"/>
    <p:sldId id="509" r:id="rId44"/>
    <p:sldId id="511" r:id="rId45"/>
    <p:sldId id="536" r:id="rId46"/>
    <p:sldId id="558" r:id="rId47"/>
    <p:sldId id="543" r:id="rId48"/>
    <p:sldId id="548" r:id="rId49"/>
    <p:sldId id="512" r:id="rId50"/>
    <p:sldId id="513" r:id="rId51"/>
    <p:sldId id="514" r:id="rId52"/>
    <p:sldId id="516" r:id="rId53"/>
    <p:sldId id="517" r:id="rId54"/>
    <p:sldId id="518" r:id="rId55"/>
    <p:sldId id="559" r:id="rId56"/>
    <p:sldId id="560" r:id="rId57"/>
    <p:sldId id="544" r:id="rId58"/>
    <p:sldId id="519" r:id="rId59"/>
    <p:sldId id="545" r:id="rId60"/>
    <p:sldId id="520" r:id="rId61"/>
    <p:sldId id="522" r:id="rId62"/>
    <p:sldId id="523" r:id="rId63"/>
    <p:sldId id="563" r:id="rId64"/>
    <p:sldId id="524" r:id="rId65"/>
    <p:sldId id="525" r:id="rId66"/>
    <p:sldId id="546" r:id="rId67"/>
    <p:sldId id="538" r:id="rId68"/>
    <p:sldId id="547" r:id="rId69"/>
    <p:sldId id="553" r:id="rId70"/>
    <p:sldId id="526" r:id="rId71"/>
    <p:sldId id="531" r:id="rId72"/>
    <p:sldId id="532" r:id="rId73"/>
    <p:sldId id="533" r:id="rId74"/>
    <p:sldId id="534" r:id="rId75"/>
    <p:sldId id="535" r:id="rId7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163"/>
    <p:restoredTop sz="95080"/>
  </p:normalViewPr>
  <p:slideViewPr>
    <p:cSldViewPr showGuides="1">
      <p:cViewPr varScale="1">
        <p:scale>
          <a:sx n="85" d="100"/>
          <a:sy n="85" d="100"/>
        </p:scale>
        <p:origin x="-1644" y="-84"/>
      </p:cViewPr>
      <p:guideLst>
        <p:guide orient="horz" pos="2140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7E0660-EF3C-4B39-B304-1385D8C3E9D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229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433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2048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2253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2867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072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277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1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891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096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6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301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301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608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813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427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632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939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144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4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349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349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553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758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758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963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963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168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68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475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475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680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680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885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885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8089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089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8294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294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8499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499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9113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9113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9318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9318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9523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9523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9728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9728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9933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9933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0137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137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0649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649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0957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957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161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161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366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366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366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366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571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571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776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776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981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1981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2493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493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2697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697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2902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9027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31074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107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33122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2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3517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517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7" y="304800"/>
            <a:ext cx="2669116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Object 1026"/>
          <p:cNvGraphicFramePr>
            <a:graphicFrameLocks noChangeAspect="1"/>
          </p:cNvGraphicFramePr>
          <p:nvPr/>
        </p:nvGraphicFramePr>
        <p:xfrm>
          <a:off x="0" y="0"/>
          <a:ext cx="12192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9563100" imgH="1600200" progId="">
                  <p:embed/>
                </p:oleObj>
              </mc:Choice>
              <mc:Fallback>
                <p:oleObj name="" r:id="rId2" imgW="9563100" imgH="1600200" progId="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Freeform 1027"/>
          <p:cNvSpPr/>
          <p:nvPr/>
        </p:nvSpPr>
        <p:spPr>
          <a:xfrm>
            <a:off x="-14816" y="280988"/>
            <a:ext cx="12206816" cy="16208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8" name="Freeform 1028"/>
          <p:cNvSpPr/>
          <p:nvPr/>
        </p:nvSpPr>
        <p:spPr>
          <a:xfrm>
            <a:off x="-27516" y="533400"/>
            <a:ext cx="12215283" cy="10064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3079" name="Group 1029"/>
          <p:cNvGrpSpPr/>
          <p:nvPr/>
        </p:nvGrpSpPr>
        <p:grpSpPr>
          <a:xfrm>
            <a:off x="10320867" y="347663"/>
            <a:ext cx="516467" cy="366712"/>
            <a:chOff x="4752" y="1200"/>
            <a:chExt cx="288" cy="288"/>
          </a:xfrm>
        </p:grpSpPr>
        <p:sp>
          <p:nvSpPr>
            <p:cNvPr id="13" name="Oval 1030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031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2" name="Group 1032"/>
          <p:cNvGrpSpPr/>
          <p:nvPr/>
        </p:nvGrpSpPr>
        <p:grpSpPr>
          <a:xfrm>
            <a:off x="10871200" y="53975"/>
            <a:ext cx="812800" cy="592138"/>
            <a:chOff x="4992" y="816"/>
            <a:chExt cx="576" cy="576"/>
          </a:xfrm>
        </p:grpSpPr>
        <p:sp>
          <p:nvSpPr>
            <p:cNvPr id="16" name="Oval 1033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Oval 1034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5" name="Group 1035"/>
          <p:cNvGrpSpPr/>
          <p:nvPr/>
        </p:nvGrpSpPr>
        <p:grpSpPr>
          <a:xfrm>
            <a:off x="228600" y="819150"/>
            <a:ext cx="960967" cy="762000"/>
            <a:chOff x="4992" y="816"/>
            <a:chExt cx="576" cy="576"/>
          </a:xfrm>
        </p:grpSpPr>
        <p:sp>
          <p:nvSpPr>
            <p:cNvPr id="19" name="Oval 1036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Oval 1037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533400"/>
            <a:ext cx="10261600" cy="4873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1200" y="1536700"/>
            <a:ext cx="5359400" cy="4940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73800" y="1536700"/>
            <a:ext cx="5359400" cy="2393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73800" y="4083050"/>
            <a:ext cx="5359400" cy="2393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5588000" y="6534150"/>
            <a:ext cx="11176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ct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  <p:sp>
        <p:nvSpPr>
          <p:cNvPr id="22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508000" y="6534150"/>
            <a:ext cx="25400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80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  <p:transition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7" y="304800"/>
            <a:ext cx="2669116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Object 1026"/>
          <p:cNvGraphicFramePr>
            <a:graphicFrameLocks noChangeAspect="1"/>
          </p:cNvGraphicFramePr>
          <p:nvPr/>
        </p:nvGraphicFramePr>
        <p:xfrm>
          <a:off x="0" y="0"/>
          <a:ext cx="12192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9563100" imgH="1600200" progId="">
                  <p:embed/>
                </p:oleObj>
              </mc:Choice>
              <mc:Fallback>
                <p:oleObj name="" r:id="rId2" imgW="9563100" imgH="1600200" progId="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Freeform 1027"/>
          <p:cNvSpPr/>
          <p:nvPr/>
        </p:nvSpPr>
        <p:spPr>
          <a:xfrm>
            <a:off x="-14816" y="280988"/>
            <a:ext cx="12206816" cy="16208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sp>
        <p:nvSpPr>
          <p:cNvPr id="3078" name="Freeform 1028"/>
          <p:cNvSpPr/>
          <p:nvPr/>
        </p:nvSpPr>
        <p:spPr>
          <a:xfrm>
            <a:off x="-27516" y="533400"/>
            <a:ext cx="12215283" cy="10064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3079" name="Group 1029"/>
          <p:cNvGrpSpPr/>
          <p:nvPr/>
        </p:nvGrpSpPr>
        <p:grpSpPr>
          <a:xfrm>
            <a:off x="10320867" y="347663"/>
            <a:ext cx="516467" cy="366712"/>
            <a:chOff x="4752" y="1200"/>
            <a:chExt cx="288" cy="288"/>
          </a:xfrm>
        </p:grpSpPr>
        <p:sp>
          <p:nvSpPr>
            <p:cNvPr id="13" name="Oval 1030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031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2" name="Group 1032"/>
          <p:cNvGrpSpPr/>
          <p:nvPr/>
        </p:nvGrpSpPr>
        <p:grpSpPr>
          <a:xfrm>
            <a:off x="10871200" y="53975"/>
            <a:ext cx="812800" cy="592138"/>
            <a:chOff x="4992" y="816"/>
            <a:chExt cx="576" cy="576"/>
          </a:xfrm>
        </p:grpSpPr>
        <p:sp>
          <p:nvSpPr>
            <p:cNvPr id="16" name="Oval 1033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Oval 1034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5" name="Group 1035"/>
          <p:cNvGrpSpPr/>
          <p:nvPr/>
        </p:nvGrpSpPr>
        <p:grpSpPr>
          <a:xfrm>
            <a:off x="228600" y="819150"/>
            <a:ext cx="960967" cy="762000"/>
            <a:chOff x="4992" y="816"/>
            <a:chExt cx="576" cy="576"/>
          </a:xfrm>
        </p:grpSpPr>
        <p:sp>
          <p:nvSpPr>
            <p:cNvPr id="19" name="Oval 1036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Oval 1037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533400"/>
            <a:ext cx="10261600" cy="4873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1200" y="1536700"/>
            <a:ext cx="5359400" cy="49403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73800" y="1536700"/>
            <a:ext cx="5359400" cy="2393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73800" y="4083050"/>
            <a:ext cx="5359400" cy="23939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5588000" y="6534150"/>
            <a:ext cx="11176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ct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  <p:sp>
        <p:nvSpPr>
          <p:cNvPr id="22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508000" y="6534150"/>
            <a:ext cx="25400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762000" y="214313"/>
            <a:ext cx="10668000" cy="7350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755651" y="1143000"/>
            <a:ext cx="10668000" cy="487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762000" y="1000125"/>
            <a:ext cx="10610851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812800" y="6172200"/>
            <a:ext cx="105664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762000" y="214313"/>
            <a:ext cx="10668000" cy="7350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755651" y="1143000"/>
            <a:ext cx="10668000" cy="487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762000" y="1000125"/>
            <a:ext cx="10610851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800"/>
          </a:p>
        </p:txBody>
      </p:sp>
      <p:sp>
        <p:nvSpPr>
          <p:cNvPr id="1029" name="Line 5"/>
          <p:cNvSpPr/>
          <p:nvPr/>
        </p:nvSpPr>
        <p:spPr>
          <a:xfrm flipV="1">
            <a:off x="812800" y="6172200"/>
            <a:ext cx="105664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advClick="0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3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第六章 关系数据理论</a:t>
            </a:r>
            <a:endParaRPr lang="zh-CN" altLang="en-US" dirty="0"/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2711450" y="1773238"/>
            <a:ext cx="641985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6.1 </a:t>
            </a:r>
            <a:r>
              <a:rPr lang="zh-CN" altLang="en-US" b="1" dirty="0">
                <a:solidFill>
                  <a:srgbClr val="FF0000"/>
                </a:solidFill>
              </a:rPr>
              <a:t>问题的提出</a:t>
            </a:r>
            <a:endParaRPr lang="zh-CN" alt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6.2 </a:t>
            </a:r>
            <a:r>
              <a:rPr lang="zh-CN" altLang="en-US" b="1" dirty="0">
                <a:solidFill>
                  <a:srgbClr val="FF0000"/>
                </a:solidFill>
              </a:rPr>
              <a:t>规范化</a:t>
            </a:r>
            <a:endParaRPr lang="zh-CN" alt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6.3 </a:t>
            </a:r>
            <a:r>
              <a:rPr lang="zh-CN" altLang="en-US" b="1" dirty="0"/>
              <a:t>数据依赖的公理系统（不讲）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6.4 </a:t>
            </a:r>
            <a:r>
              <a:rPr lang="zh-CN" altLang="en-US" b="1" dirty="0"/>
              <a:t>模式的分解（不讲）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6.5 </a:t>
            </a:r>
            <a:r>
              <a:rPr lang="zh-CN" altLang="en-US" b="1" dirty="0"/>
              <a:t>小结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6.1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lnSpc>
                <a:spcPct val="170000"/>
              </a:lnSpc>
              <a:buNone/>
            </a:pPr>
            <a:r>
              <a:rPr lang="zh-CN" altLang="en-US" sz="3200" dirty="0"/>
              <a:t>数据库设计问题，即关系数据库</a:t>
            </a:r>
            <a:r>
              <a:rPr lang="zh-CN" altLang="en-US" sz="3200" b="1" dirty="0">
                <a:solidFill>
                  <a:srgbClr val="FF0000"/>
                </a:solidFill>
              </a:rPr>
              <a:t>逻辑设计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lvl="1" indent="-436245" algn="just" eaLnBrk="1" hangingPunct="1">
              <a:lnSpc>
                <a:spcPct val="170000"/>
              </a:lnSpc>
            </a:pPr>
            <a:r>
              <a:rPr lang="zh-CN" altLang="en-US" dirty="0"/>
              <a:t>针对具体问题，如何构造一个适合于它的数据模式，即</a:t>
            </a:r>
            <a:r>
              <a:rPr lang="zh-CN" altLang="en-US" dirty="0">
                <a:solidFill>
                  <a:srgbClr val="FF0000"/>
                </a:solidFill>
              </a:rPr>
              <a:t>应该构造几个表，每个表中有什么属性。</a:t>
            </a:r>
            <a:endParaRPr lang="zh-CN" altLang="en-US" dirty="0">
              <a:solidFill>
                <a:srgbClr val="FF0000"/>
              </a:solidFill>
            </a:endParaRPr>
          </a:p>
          <a:p>
            <a:pPr lvl="1" indent="-436245" algn="just" eaLnBrk="1" hangingPunct="1">
              <a:lnSpc>
                <a:spcPct val="170000"/>
              </a:lnSpc>
            </a:pPr>
            <a:r>
              <a:rPr lang="zh-CN" altLang="en-US" dirty="0"/>
              <a:t>关系数据库</a:t>
            </a:r>
            <a:r>
              <a:rPr lang="zh-CN" altLang="en-US" dirty="0">
                <a:solidFill>
                  <a:srgbClr val="FF0000"/>
                </a:solidFill>
              </a:rPr>
              <a:t>逻辑设计</a:t>
            </a:r>
            <a:r>
              <a:rPr lang="zh-CN" altLang="en-US" dirty="0"/>
              <a:t>的工具──关系数据库的</a:t>
            </a:r>
            <a:r>
              <a:rPr lang="zh-CN" altLang="en-US" dirty="0">
                <a:solidFill>
                  <a:srgbClr val="FF0000"/>
                </a:solidFill>
              </a:rPr>
              <a:t>规范化理论。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6.1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2452688" y="1357313"/>
            <a:ext cx="7786687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、关系模式的形式化定义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、什么是数据依赖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、数据依赖对关系模式影响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、关系模式的形式化定义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1055370" y="1268730"/>
            <a:ext cx="9154795" cy="475742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200" dirty="0"/>
              <a:t>关系模式由五部分组成，即它是一个五元组：</a:t>
            </a:r>
            <a:endParaRPr lang="zh-CN" altLang="en-US" sz="32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/>
              <a:t>                    </a:t>
            </a:r>
            <a:r>
              <a:rPr lang="en-US" altLang="zh-CN" dirty="0">
                <a:solidFill>
                  <a:srgbClr val="FF00FF"/>
                </a:solidFill>
              </a:rPr>
              <a:t>R(U, D, DOM, F)</a:t>
            </a:r>
            <a:endParaRPr lang="en-US" altLang="zh-CN" dirty="0">
              <a:solidFill>
                <a:srgbClr val="FF00FF"/>
              </a:solidFill>
            </a:endParaRPr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/>
              <a:t>R</a:t>
            </a:r>
            <a:r>
              <a:rPr lang="zh-CN" altLang="en-US" dirty="0"/>
              <a:t>：关系名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/>
              <a:t>U</a:t>
            </a:r>
            <a:r>
              <a:rPr lang="zh-CN" altLang="en-US" dirty="0"/>
              <a:t>：组成该关系的属性名集合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/>
              <a:t>D</a:t>
            </a:r>
            <a:r>
              <a:rPr lang="zh-CN" altLang="en-US" dirty="0"/>
              <a:t>：属性组</a:t>
            </a:r>
            <a:r>
              <a:rPr lang="en-US" altLang="zh-CN" dirty="0"/>
              <a:t>U</a:t>
            </a:r>
            <a:r>
              <a:rPr lang="zh-CN" altLang="en-US" dirty="0"/>
              <a:t>中属性所来自的域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/>
              <a:t>DOM</a:t>
            </a:r>
            <a:r>
              <a:rPr lang="zh-CN" altLang="en-US" dirty="0"/>
              <a:t>：属性向域的映象集合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FF00FF"/>
                </a:solidFill>
              </a:rPr>
              <a:t>F</a:t>
            </a:r>
            <a:r>
              <a:rPr lang="zh-CN" altLang="en-US" dirty="0">
                <a:solidFill>
                  <a:srgbClr val="FF00FF"/>
                </a:solidFill>
              </a:rPr>
              <a:t>：属性间数据的依赖关系集合</a:t>
            </a:r>
            <a:endParaRPr lang="zh-CN" altLang="en-US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2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0">
                                            <p:txEl>
                                              <p:charRg st="2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0">
                                            <p:txEl>
                                              <p:charRg st="2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5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0">
                                            <p:txEl>
                                              <p:charRg st="5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0">
                                            <p:txEl>
                                              <p:charRg st="5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63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0">
                                            <p:txEl>
                                              <p:charRg st="63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0">
                                            <p:txEl>
                                              <p:charRg st="63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77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0">
                                            <p:txEl>
                                              <p:charRg st="77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0">
                                            <p:txEl>
                                              <p:charRg st="77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9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20">
                                            <p:txEl>
                                              <p:charRg st="9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0">
                                            <p:txEl>
                                              <p:charRg st="9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10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20">
                                            <p:txEl>
                                              <p:charRg st="10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20">
                                            <p:txEl>
                                              <p:charRg st="10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、关系模式的形式化定义</a:t>
            </a:r>
            <a:endParaRPr lang="zh-CN" altLang="en-US" dirty="0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</a:pPr>
            <a:r>
              <a:rPr lang="zh-CN" altLang="en-US" dirty="0"/>
              <a:t>关系模式的简化表示</a:t>
            </a:r>
            <a:endParaRPr lang="zh-CN" altLang="en-US" dirty="0"/>
          </a:p>
          <a:p>
            <a:pPr eaLnBrk="1" hangingPunct="1">
              <a:buClr>
                <a:schemeClr val="accent1"/>
              </a:buClr>
            </a:pPr>
            <a:r>
              <a:rPr lang="zh-CN" altLang="en-US" dirty="0"/>
              <a:t>关系模式</a:t>
            </a:r>
            <a:r>
              <a:rPr lang="en-US" altLang="zh-CN" dirty="0"/>
              <a:t>R</a:t>
            </a:r>
            <a:r>
              <a:rPr lang="zh-CN" altLang="en-US" dirty="0"/>
              <a:t>（</a:t>
            </a:r>
            <a:r>
              <a:rPr lang="en-US" altLang="zh-CN" dirty="0"/>
              <a:t>U, D, DOM, F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buSzPct val="75000"/>
              <a:buFont typeface="宋体" panose="02010600030101010101" pitchFamily="2" charset="-122"/>
              <a:buNone/>
            </a:pPr>
            <a:r>
              <a:rPr lang="zh-CN" altLang="en-US" dirty="0"/>
              <a:t>    简化为一个三元组：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                </a:t>
            </a:r>
            <a:r>
              <a:rPr lang="en-US" altLang="zh-CN" sz="3600" dirty="0">
                <a:solidFill>
                  <a:srgbClr val="FF00FF"/>
                </a:solidFill>
              </a:rPr>
              <a:t>R</a:t>
            </a:r>
            <a:r>
              <a:rPr lang="zh-CN" altLang="en-US" sz="3600" dirty="0">
                <a:solidFill>
                  <a:srgbClr val="FF00FF"/>
                </a:solidFill>
              </a:rPr>
              <a:t>（</a:t>
            </a:r>
            <a:r>
              <a:rPr lang="en-US" altLang="zh-CN" sz="3600" dirty="0">
                <a:solidFill>
                  <a:srgbClr val="FF00FF"/>
                </a:solidFill>
              </a:rPr>
              <a:t>U, F</a:t>
            </a:r>
            <a:r>
              <a:rPr lang="zh-CN" altLang="en-US" sz="3600" dirty="0">
                <a:solidFill>
                  <a:srgbClr val="FF00FF"/>
                </a:solidFill>
              </a:rPr>
              <a:t>）</a:t>
            </a:r>
            <a:endParaRPr lang="zh-CN" altLang="en-US" dirty="0">
              <a:solidFill>
                <a:srgbClr val="FF00FF"/>
              </a:solidFill>
            </a:endParaRPr>
          </a:p>
          <a:p>
            <a:pPr eaLnBrk="1" hangingPunct="1">
              <a:buClr>
                <a:schemeClr val="accent1"/>
              </a:buClr>
            </a:pPr>
            <a:r>
              <a:rPr lang="zh-CN" altLang="en-US" dirty="0"/>
              <a:t>当且仅当</a:t>
            </a:r>
            <a:r>
              <a:rPr lang="en-US" altLang="zh-CN" dirty="0"/>
              <a:t>U</a:t>
            </a:r>
            <a:r>
              <a:rPr lang="zh-CN" altLang="en-US" dirty="0"/>
              <a:t>上的一个关系</a:t>
            </a:r>
            <a:r>
              <a:rPr lang="en-US" altLang="zh-CN" sz="4000" dirty="0">
                <a:solidFill>
                  <a:srgbClr val="FF00FF"/>
                </a:solidFill>
              </a:rPr>
              <a:t>r</a:t>
            </a:r>
            <a:r>
              <a:rPr lang="zh-CN" altLang="en-US" dirty="0"/>
              <a:t>满足</a:t>
            </a:r>
            <a:r>
              <a:rPr lang="en-US" altLang="zh-CN" dirty="0">
                <a:solidFill>
                  <a:srgbClr val="FF00FF"/>
                </a:solidFill>
              </a:rPr>
              <a:t>F</a:t>
            </a:r>
            <a:r>
              <a:rPr lang="zh-CN" altLang="en-US" dirty="0"/>
              <a:t>时，</a:t>
            </a:r>
            <a:r>
              <a:rPr lang="en-US" altLang="zh-CN" sz="4000" dirty="0">
                <a:solidFill>
                  <a:srgbClr val="FF00FF"/>
                </a:solidFill>
              </a:rPr>
              <a:t>r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FF00FF"/>
                </a:solidFill>
              </a:rPr>
              <a:t>关系模式 </a:t>
            </a:r>
            <a:r>
              <a:rPr lang="en-US" altLang="zh-CN" sz="3200" dirty="0">
                <a:solidFill>
                  <a:srgbClr val="FF00FF"/>
                </a:solidFill>
              </a:rPr>
              <a:t>R</a:t>
            </a:r>
            <a:r>
              <a:rPr lang="zh-CN" altLang="en-US" dirty="0"/>
              <a:t>（</a:t>
            </a:r>
            <a:r>
              <a:rPr lang="en-US" altLang="zh-CN" dirty="0"/>
              <a:t>U, F</a:t>
            </a:r>
            <a:r>
              <a:rPr lang="zh-CN" altLang="en-US" dirty="0"/>
              <a:t>）的一个</a:t>
            </a:r>
            <a:r>
              <a:rPr lang="zh-CN" altLang="en-US" dirty="0">
                <a:solidFill>
                  <a:srgbClr val="FF00FF"/>
                </a:solidFill>
              </a:rPr>
              <a:t>关系。</a:t>
            </a:r>
            <a:endParaRPr lang="en-US" altLang="zh-CN" dirty="0">
              <a:solidFill>
                <a:srgbClr val="FF00FF"/>
              </a:solidFill>
            </a:endParaRPr>
          </a:p>
          <a:p>
            <a:pPr eaLnBrk="1" hangingPunct="1">
              <a:buClr>
                <a:schemeClr val="accent1"/>
              </a:buClr>
            </a:pPr>
            <a:endParaRPr lang="zh-CN" altLang="en-US" sz="32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、什么是数据依赖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26160" y="1196975"/>
            <a:ext cx="10090150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一个关系内部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属性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属性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约束关系，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这种约束关系是通过属性值的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相等与否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体现出来的数据间相互联系。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是现实世界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属性间相互联系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的抽象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是数据内在的性质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的体现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marL="342900" indent="-342900"/>
            <a:r>
              <a:rPr lang="en-US" altLang="zh-CN" dirty="0"/>
              <a:t>2</a:t>
            </a:r>
            <a:r>
              <a:rPr lang="zh-CN" altLang="en-US" dirty="0"/>
              <a:t>、什么是数据依赖</a:t>
            </a:r>
            <a:endParaRPr lang="zh-CN" altLang="en-US" dirty="0"/>
          </a:p>
        </p:txBody>
      </p:sp>
      <p:sp>
        <p:nvSpPr>
          <p:cNvPr id="400388" name="Rectangle 4"/>
          <p:cNvSpPr/>
          <p:nvPr/>
        </p:nvSpPr>
        <p:spPr>
          <a:xfrm>
            <a:off x="1097280" y="1196975"/>
            <a:ext cx="10527665" cy="479361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数据依赖的</a:t>
            </a:r>
            <a:r>
              <a:rPr lang="zh-CN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类型：</a:t>
            </a:r>
            <a:endParaRPr lang="zh-CN" altLang="en-US" sz="3200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函数依赖</a:t>
            </a: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200" dirty="0">
                <a:latin typeface="Verdana" panose="020B0604030504040204" pitchFamily="34" charset="0"/>
                <a:ea typeface="宋体" panose="02010600030101010101" pitchFamily="2" charset="-122"/>
              </a:rPr>
              <a:t>Functional Dependency</a:t>
            </a: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，简记为</a:t>
            </a:r>
            <a:r>
              <a:rPr lang="en-US" altLang="zh-CN" sz="3200" dirty="0">
                <a:latin typeface="Verdana" panose="020B0604030504040204" pitchFamily="34" charset="0"/>
                <a:ea typeface="宋体" panose="02010600030101010101" pitchFamily="2" charset="-122"/>
              </a:rPr>
              <a:t>FD</a:t>
            </a: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endParaRPr lang="zh-CN" altLang="en-US" sz="3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50000"/>
              </a:lnSpc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多值依赖（</a:t>
            </a:r>
            <a:r>
              <a:rPr lang="en-US" altLang="zh-CN" sz="3200" dirty="0">
                <a:latin typeface="Verdana" panose="020B0604030504040204" pitchFamily="34" charset="0"/>
                <a:ea typeface="宋体" panose="02010600030101010101" pitchFamily="2" charset="-122"/>
              </a:rPr>
              <a:t>Multivalued Dependency</a:t>
            </a: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，简记为</a:t>
            </a:r>
            <a:r>
              <a:rPr lang="en-US" altLang="zh-CN" sz="3200" dirty="0">
                <a:latin typeface="Verdana" panose="020B0604030504040204" pitchFamily="34" charset="0"/>
                <a:ea typeface="宋体" panose="02010600030101010101" pitchFamily="2" charset="-122"/>
              </a:rPr>
              <a:t>MVD</a:t>
            </a: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endParaRPr lang="zh-CN" altLang="en-US" sz="3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50000"/>
              </a:lnSpc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其他：连接依赖</a:t>
            </a:r>
            <a:endParaRPr lang="zh-CN" altLang="en-US" sz="3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、数据依赖对关系模式的影响</a:t>
            </a:r>
            <a:endParaRPr lang="zh-CN" altLang="en-US" dirty="0"/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1]</a:t>
            </a:r>
            <a:r>
              <a:rPr lang="zh-CN" altLang="en-US" dirty="0"/>
              <a:t>建立一个描述学校教务的数据库：</a:t>
            </a:r>
            <a:endParaRPr lang="zh-CN" altLang="en-US" dirty="0"/>
          </a:p>
          <a:p>
            <a:pPr lvl="1" indent="-436245" eaLnBrk="1" hangingPunct="1">
              <a:buNone/>
            </a:pPr>
            <a:r>
              <a:rPr lang="zh-CN" altLang="en-US" dirty="0"/>
              <a:t>	学生的学号（</a:t>
            </a:r>
            <a:r>
              <a:rPr lang="en-US" altLang="zh-CN" dirty="0"/>
              <a:t>Sno</a:t>
            </a:r>
            <a:r>
              <a:rPr lang="zh-CN" altLang="en-US" dirty="0"/>
              <a:t>）、所在系（</a:t>
            </a:r>
            <a:r>
              <a:rPr lang="en-US" altLang="zh-CN" dirty="0"/>
              <a:t>Sdept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indent="-436245" eaLnBrk="1" hangingPunct="1">
              <a:buNone/>
            </a:pPr>
            <a:r>
              <a:rPr lang="zh-CN" altLang="en-US" dirty="0"/>
              <a:t>	系主任姓名（</a:t>
            </a:r>
            <a:r>
              <a:rPr lang="en-US" altLang="zh-CN" dirty="0"/>
              <a:t>Mname</a:t>
            </a:r>
            <a:r>
              <a:rPr lang="zh-CN" altLang="en-US" dirty="0"/>
              <a:t>）、课程号（</a:t>
            </a:r>
            <a:r>
              <a:rPr lang="en-US" altLang="zh-CN" dirty="0"/>
              <a:t>Cno</a:t>
            </a:r>
            <a:r>
              <a:rPr lang="zh-CN" altLang="en-US" dirty="0"/>
              <a:t>）、成绩（</a:t>
            </a:r>
            <a:r>
              <a:rPr lang="en-US" altLang="zh-CN" dirty="0"/>
              <a:t>Grade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indent="-436245" eaLnBrk="1" hangingPunct="1">
              <a:buNone/>
            </a:pPr>
            <a:endParaRPr lang="zh-CN" altLang="en-US" sz="2200" dirty="0"/>
          </a:p>
          <a:p>
            <a:pPr lvl="1" indent="-436245" eaLnBrk="1" hangingPunct="1"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单一</a:t>
            </a:r>
            <a:r>
              <a:rPr lang="zh-CN" altLang="en-US" b="1" dirty="0"/>
              <a:t>的关系模式 </a:t>
            </a:r>
            <a:r>
              <a:rPr lang="zh-CN" altLang="en-US" dirty="0"/>
              <a:t>：   </a:t>
            </a:r>
            <a:r>
              <a:rPr lang="en-US" altLang="zh-CN" dirty="0"/>
              <a:t>Student &lt;U</a:t>
            </a:r>
            <a:r>
              <a:rPr lang="zh-CN" altLang="en-US" dirty="0"/>
              <a:t>、</a:t>
            </a:r>
            <a:r>
              <a:rPr lang="en-US" altLang="zh-CN" dirty="0"/>
              <a:t>F&gt;</a:t>
            </a:r>
            <a:endParaRPr lang="en-US" altLang="zh-CN" dirty="0"/>
          </a:p>
          <a:p>
            <a:pPr lvl="1" indent="-436245" eaLnBrk="1" hangingPunct="1">
              <a:lnSpc>
                <a:spcPct val="150000"/>
              </a:lnSpc>
              <a:buNone/>
            </a:pPr>
            <a:r>
              <a:rPr lang="en-US" altLang="zh-CN" i="1" dirty="0"/>
              <a:t>U </a:t>
            </a:r>
            <a:r>
              <a:rPr lang="zh-CN" altLang="en-US" i="1" dirty="0"/>
              <a:t>＝｛ </a:t>
            </a:r>
            <a:r>
              <a:rPr lang="en-US" altLang="zh-CN" i="1" dirty="0"/>
              <a:t>Sno, Sdept, Mname, Cno, Grade </a:t>
            </a:r>
            <a:r>
              <a:rPr lang="zh-CN" altLang="en-US" i="1" dirty="0"/>
              <a:t>｝</a:t>
            </a:r>
            <a:endParaRPr lang="zh-CN" altLang="en-US" i="1" dirty="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135188" y="1268413"/>
          <a:ext cx="8064500" cy="482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1612900"/>
                <a:gridCol w="1612900"/>
                <a:gridCol w="1612900"/>
                <a:gridCol w="1612900"/>
              </a:tblGrid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Sno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Sdept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Mname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Cno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Grade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90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 smtClean="0"/>
                        <a:t>s1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98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89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78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 smtClean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87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76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66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S4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96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S4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……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</a:tbl>
          </a:graphicData>
        </a:graphic>
      </p:graphicFrame>
      <p:sp>
        <p:nvSpPr>
          <p:cNvPr id="23627" name="矩形 2"/>
          <p:cNvSpPr/>
          <p:nvPr/>
        </p:nvSpPr>
        <p:spPr>
          <a:xfrm>
            <a:off x="1558925" y="188913"/>
            <a:ext cx="8497888" cy="737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1" indent="0" eaLnBrk="1" hangingPunct="1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800" i="1" dirty="0">
                <a:latin typeface="Verdana" panose="020B0604030504040204" pitchFamily="34" charset="0"/>
                <a:ea typeface="宋体" panose="02010600030101010101" pitchFamily="2" charset="-122"/>
              </a:rPr>
              <a:t>U </a:t>
            </a:r>
            <a:r>
              <a:rPr lang="zh-CN" altLang="en-US" sz="2800" i="1" dirty="0">
                <a:latin typeface="Verdana" panose="020B0604030504040204" pitchFamily="34" charset="0"/>
                <a:ea typeface="宋体" panose="02010600030101010101" pitchFamily="2" charset="-122"/>
              </a:rPr>
              <a:t>＝｛ </a:t>
            </a:r>
            <a:r>
              <a:rPr lang="en-US" altLang="zh-CN" sz="2800" i="1" dirty="0">
                <a:latin typeface="Verdana" panose="020B0604030504040204" pitchFamily="34" charset="0"/>
                <a:ea typeface="宋体" panose="02010600030101010101" pitchFamily="2" charset="-122"/>
              </a:rPr>
              <a:t>Sno, Sdept, Mname, Cno, Grade </a:t>
            </a:r>
            <a:r>
              <a:rPr lang="zh-CN" altLang="en-US" sz="2800" i="1" dirty="0">
                <a:latin typeface="Verdana" panose="020B0604030504040204" pitchFamily="34" charset="0"/>
                <a:ea typeface="宋体" panose="02010600030101010101" pitchFamily="2" charset="-122"/>
              </a:rPr>
              <a:t>｝</a:t>
            </a:r>
            <a:endParaRPr lang="zh-CN" altLang="en-US" sz="2800" i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/>
              <a:t>关系模式中存在的问题</a:t>
            </a:r>
            <a:endParaRPr lang="zh-CN" altLang="en-US" sz="4000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1193800" y="1125855"/>
            <a:ext cx="9150985" cy="4781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U 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＝｛ 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Sno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Sdept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Mname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0" lang="en-US" altLang="zh-CN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Cno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Grade 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｝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1.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数据冗余太大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系主任的名字重复存储了多次。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2.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更新异常（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Update Anomalies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系主任更换之后，需要修改大量的数据。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4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2">
                                            <p:txEl>
                                              <p:charRg st="4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2">
                                            <p:txEl>
                                              <p:charRg st="4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6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2">
                                            <p:txEl>
                                              <p:charRg st="6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2">
                                            <p:txEl>
                                              <p:charRg st="6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2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2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/>
              <a:t>关系模式中存在的问题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2090" y="1125855"/>
            <a:ext cx="9801860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3. 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插入异常（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Insertion Anomalies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080135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如果一个系刚成立，还没有学生，无法把系主任的信息插入。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4. 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删除异常（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Deletion Anomalies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080135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某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系学生毕业后，删除全部的学生信息的同时，会把系主任的名字也删除了。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8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8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3</a:t>
            </a:r>
            <a:r>
              <a:rPr lang="zh-CN" altLang="en-US" sz="3200" dirty="0"/>
              <a:t>、数据依赖对关系模式的影响（续）</a:t>
            </a:r>
            <a:endParaRPr lang="zh-CN" altLang="en-US" sz="3200" dirty="0"/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2279650" y="1557338"/>
            <a:ext cx="7772400" cy="2447925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结论：</a:t>
            </a:r>
            <a:endParaRPr lang="zh-CN" altLang="en-US" b="1" dirty="0">
              <a:solidFill>
                <a:srgbClr val="FF00FF"/>
              </a:solidFill>
            </a:endParaRPr>
          </a:p>
          <a:p>
            <a:pPr lvl="1" indent="-436245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600" b="1" dirty="0"/>
              <a:t>Student</a:t>
            </a:r>
            <a:r>
              <a:rPr lang="zh-CN" altLang="en-US" sz="2600" b="1" dirty="0"/>
              <a:t>关系模式不是一个好的模式。</a:t>
            </a:r>
            <a:endParaRPr lang="zh-CN" altLang="en-US" sz="2600" b="1" dirty="0"/>
          </a:p>
          <a:p>
            <a:pPr lvl="1" indent="-436245" eaLnBrk="1" hangingPunct="1"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/>
              <a:t>“好”的模式：</a:t>
            </a:r>
            <a:endParaRPr lang="zh-CN" altLang="en-US" sz="2600" b="1" dirty="0"/>
          </a:p>
          <a:p>
            <a:pPr lvl="2" indent="-394970" eaLnBrk="1" hangingPunct="1">
              <a:buClrTx/>
            </a:pPr>
            <a:r>
              <a:rPr lang="zh-CN" altLang="en-US" sz="2600" b="1" dirty="0"/>
              <a:t>不会发生插入异常、删除异常、更新异常</a:t>
            </a:r>
            <a:endParaRPr lang="zh-CN" altLang="en-US" sz="2600" b="1" dirty="0"/>
          </a:p>
          <a:p>
            <a:pPr lvl="2" indent="-394970" eaLnBrk="1" hangingPunct="1">
              <a:buClrTx/>
            </a:pPr>
            <a:r>
              <a:rPr lang="zh-CN" altLang="en-US" sz="2600" b="1" dirty="0">
                <a:solidFill>
                  <a:srgbClr val="FF0000"/>
                </a:solidFill>
              </a:rPr>
              <a:t>数据冗余</a:t>
            </a:r>
            <a:r>
              <a:rPr lang="zh-CN" altLang="en-US" sz="2600" b="1" dirty="0"/>
              <a:t>应</a:t>
            </a:r>
            <a:r>
              <a:rPr lang="zh-CN" altLang="en-US" sz="2600" b="1" dirty="0">
                <a:solidFill>
                  <a:srgbClr val="FF0000"/>
                </a:solidFill>
              </a:rPr>
              <a:t>尽可能少</a:t>
            </a:r>
            <a:endParaRPr lang="zh-CN" altLang="en-US" sz="2600" b="1" dirty="0">
              <a:solidFill>
                <a:srgbClr val="FF0000"/>
              </a:solidFill>
            </a:endParaRPr>
          </a:p>
        </p:txBody>
      </p:sp>
      <p:sp>
        <p:nvSpPr>
          <p:cNvPr id="408580" name="Rectangle 4"/>
          <p:cNvSpPr/>
          <p:nvPr/>
        </p:nvSpPr>
        <p:spPr>
          <a:xfrm>
            <a:off x="2208213" y="4076700"/>
            <a:ext cx="7772400" cy="719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20000"/>
              </a:lnSpc>
            </a:pPr>
            <a:r>
              <a:rPr lang="zh-CN" altLang="en-US" sz="2600" b="1" dirty="0">
                <a:solidFill>
                  <a:srgbClr val="FF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原因：</a:t>
            </a:r>
            <a:r>
              <a:rPr lang="zh-CN" altLang="en-US" sz="2600" b="1" dirty="0">
                <a:latin typeface="Verdana" panose="020B0604030504040204" pitchFamily="34" charset="0"/>
                <a:ea typeface="宋体" panose="02010600030101010101" pitchFamily="2" charset="-122"/>
              </a:rPr>
              <a:t>由存在于模式中的</a:t>
            </a:r>
            <a:r>
              <a:rPr lang="zh-CN" altLang="en-US" sz="2600" b="1" dirty="0">
                <a:solidFill>
                  <a:srgbClr val="FF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某些数据依赖</a:t>
            </a:r>
            <a:r>
              <a:rPr lang="zh-CN" altLang="en-US" sz="2600" b="1" dirty="0">
                <a:latin typeface="Verdana" panose="020B0604030504040204" pitchFamily="34" charset="0"/>
                <a:ea typeface="宋体" panose="02010600030101010101" pitchFamily="2" charset="-122"/>
              </a:rPr>
              <a:t>引起的。</a:t>
            </a:r>
            <a:endParaRPr lang="zh-CN" altLang="en-US" sz="26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8581" name="Rectangle 5"/>
          <p:cNvSpPr/>
          <p:nvPr/>
        </p:nvSpPr>
        <p:spPr>
          <a:xfrm>
            <a:off x="2211705" y="4868545"/>
            <a:ext cx="9401810" cy="10807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20000"/>
              </a:lnSpc>
            </a:pPr>
            <a:r>
              <a:rPr lang="zh-CN" altLang="en-US" sz="2600" b="1" dirty="0">
                <a:solidFill>
                  <a:srgbClr val="FF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解决方法：</a:t>
            </a:r>
            <a:r>
              <a:rPr lang="zh-CN" altLang="en-US" sz="2600" b="1" dirty="0">
                <a:latin typeface="Verdana" panose="020B0604030504040204" pitchFamily="34" charset="0"/>
                <a:ea typeface="宋体" panose="02010600030101010101" pitchFamily="2" charset="-122"/>
              </a:rPr>
              <a:t>通过</a:t>
            </a:r>
            <a:r>
              <a:rPr lang="zh-CN" altLang="en-US" sz="2600" b="1" dirty="0">
                <a:solidFill>
                  <a:srgbClr val="FF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分解</a:t>
            </a:r>
            <a:r>
              <a:rPr lang="zh-CN" altLang="en-US" sz="2600" b="1" dirty="0">
                <a:latin typeface="Verdana" panose="020B0604030504040204" pitchFamily="34" charset="0"/>
                <a:ea typeface="宋体" panose="02010600030101010101" pitchFamily="2" charset="-122"/>
              </a:rPr>
              <a:t>关系模式来消除其中不合适的数据依赖。</a:t>
            </a:r>
            <a:endParaRPr lang="zh-CN" altLang="en-US" sz="26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0" grpId="0"/>
      <p:bldP spid="4085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3</a:t>
            </a:r>
            <a:r>
              <a:rPr lang="zh-CN" altLang="en-US" sz="3200" dirty="0"/>
              <a:t>、数据依赖对关系模式的影响（续）</a:t>
            </a:r>
            <a:endParaRPr lang="zh-CN" altLang="en-US" sz="3200" dirty="0"/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1776095" y="1127443"/>
            <a:ext cx="7772400" cy="5040312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/>
              <a:t>   U </a:t>
            </a:r>
            <a:r>
              <a:rPr lang="zh-CN" altLang="en-US" sz="2400" dirty="0"/>
              <a:t>＝｛ </a:t>
            </a:r>
            <a:r>
              <a:rPr lang="en-US" altLang="zh-CN" sz="2400" dirty="0"/>
              <a:t>Sno, Sdept, Mname, Cno, Grade </a:t>
            </a:r>
            <a:r>
              <a:rPr lang="zh-CN" altLang="en-US" sz="2400" dirty="0"/>
              <a:t>｝</a:t>
            </a:r>
            <a:endParaRPr lang="en-US" altLang="zh-CN" sz="2400" dirty="0"/>
          </a:p>
          <a:p>
            <a:pPr eaLnBrk="1" hangingPunct="1">
              <a:buNone/>
            </a:pP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属性组</a:t>
            </a:r>
            <a:r>
              <a:rPr lang="en-US" altLang="zh-CN" sz="2400" dirty="0"/>
              <a:t>U</a:t>
            </a:r>
            <a:r>
              <a:rPr lang="zh-CN" altLang="en-US" sz="2400" dirty="0"/>
              <a:t>上的一组函数依赖</a:t>
            </a:r>
            <a:r>
              <a:rPr lang="en-US" altLang="zh-CN" sz="2400" dirty="0"/>
              <a:t>F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400" dirty="0"/>
              <a:t>F </a:t>
            </a:r>
            <a:r>
              <a:rPr lang="zh-CN" altLang="en-US" sz="2400" dirty="0"/>
              <a:t>＝｛ </a:t>
            </a:r>
            <a:r>
              <a:rPr lang="en-US" altLang="zh-CN" sz="2400" dirty="0"/>
              <a:t>Sno → Sdept,  Sdept → Mname, </a:t>
            </a:r>
            <a:endParaRPr lang="en-US" altLang="zh-CN" sz="24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sz="2400" dirty="0"/>
              <a:t>                (Sno, Cno) → Grade </a:t>
            </a:r>
            <a:r>
              <a:rPr lang="zh-CN" altLang="en-US" sz="2400" dirty="0"/>
              <a:t>｝</a:t>
            </a:r>
            <a:endParaRPr lang="zh-CN" altLang="en-US" sz="2400" dirty="0"/>
          </a:p>
        </p:txBody>
      </p:sp>
      <p:grpSp>
        <p:nvGrpSpPr>
          <p:cNvPr id="2" name="Group 4"/>
          <p:cNvGrpSpPr/>
          <p:nvPr/>
        </p:nvGrpSpPr>
        <p:grpSpPr>
          <a:xfrm>
            <a:off x="2855913" y="3429000"/>
            <a:ext cx="5715000" cy="2667000"/>
            <a:chOff x="3000" y="4872"/>
            <a:chExt cx="5580" cy="2028"/>
          </a:xfrm>
        </p:grpSpPr>
        <p:sp>
          <p:nvSpPr>
            <p:cNvPr id="29700" name="Rectangle 5"/>
            <p:cNvSpPr/>
            <p:nvPr/>
          </p:nvSpPr>
          <p:spPr>
            <a:xfrm>
              <a:off x="3000" y="4872"/>
              <a:ext cx="3600" cy="109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Text Box 6"/>
            <p:cNvSpPr txBox="1"/>
            <p:nvPr/>
          </p:nvSpPr>
          <p:spPr>
            <a:xfrm>
              <a:off x="3360" y="5184"/>
              <a:ext cx="108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Sno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Text Box 7"/>
            <p:cNvSpPr txBox="1"/>
            <p:nvPr/>
          </p:nvSpPr>
          <p:spPr>
            <a:xfrm>
              <a:off x="4980" y="5184"/>
              <a:ext cx="126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Cno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3" name="Text Box 8"/>
            <p:cNvSpPr txBox="1"/>
            <p:nvPr/>
          </p:nvSpPr>
          <p:spPr>
            <a:xfrm>
              <a:off x="3360" y="6432"/>
              <a:ext cx="108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Sdept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Text Box 9"/>
            <p:cNvSpPr txBox="1"/>
            <p:nvPr/>
          </p:nvSpPr>
          <p:spPr>
            <a:xfrm>
              <a:off x="4980" y="6432"/>
              <a:ext cx="126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nam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5" name="Line 10"/>
            <p:cNvSpPr/>
            <p:nvPr/>
          </p:nvSpPr>
          <p:spPr>
            <a:xfrm>
              <a:off x="3900" y="5652"/>
              <a:ext cx="0" cy="78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29706" name="Line 11"/>
            <p:cNvSpPr/>
            <p:nvPr/>
          </p:nvSpPr>
          <p:spPr>
            <a:xfrm>
              <a:off x="4437" y="6588"/>
              <a:ext cx="54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29707" name="Text Box 12"/>
            <p:cNvSpPr txBox="1"/>
            <p:nvPr/>
          </p:nvSpPr>
          <p:spPr>
            <a:xfrm>
              <a:off x="7320" y="5184"/>
              <a:ext cx="126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Grade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8" name="Line 13"/>
            <p:cNvSpPr/>
            <p:nvPr/>
          </p:nvSpPr>
          <p:spPr>
            <a:xfrm>
              <a:off x="6600" y="5340"/>
              <a:ext cx="7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分解关系模式</a:t>
            </a:r>
            <a:endParaRPr lang="zh-CN" altLang="en-US" sz="3200" dirty="0"/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/>
              <a:t>把这个单一模式分成</a:t>
            </a:r>
            <a:r>
              <a:rPr lang="en-US" altLang="zh-CN" dirty="0"/>
              <a:t>3</a:t>
            </a:r>
            <a:r>
              <a:rPr lang="zh-CN" altLang="en-US" dirty="0"/>
              <a:t>个关系模式：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     </a:t>
            </a:r>
            <a:r>
              <a:rPr lang="en-US" altLang="zh-CN" sz="2400" dirty="0"/>
              <a:t>S</a:t>
            </a:r>
            <a:r>
              <a:rPr lang="zh-CN" altLang="en-US" sz="2400" dirty="0"/>
              <a:t>（</a:t>
            </a:r>
            <a:r>
              <a:rPr lang="en-US" altLang="zh-CN" sz="2400" dirty="0"/>
              <a:t>Sno</a:t>
            </a:r>
            <a:r>
              <a:rPr lang="zh-CN" altLang="en-US" sz="2400" dirty="0"/>
              <a:t>，</a:t>
            </a:r>
            <a:r>
              <a:rPr lang="en-US" altLang="zh-CN" sz="2400" dirty="0"/>
              <a:t>Sdept</a:t>
            </a:r>
            <a:r>
              <a:rPr lang="zh-CN" altLang="en-US" sz="2400" dirty="0"/>
              <a:t>，</a:t>
            </a:r>
            <a:r>
              <a:rPr lang="en-US" altLang="zh-CN" sz="2400" dirty="0"/>
              <a:t>Sno → Sdept</a:t>
            </a:r>
            <a:r>
              <a:rPr lang="zh-CN" altLang="en-US" sz="2400" dirty="0"/>
              <a:t>）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SC</a:t>
            </a:r>
            <a:r>
              <a:rPr lang="zh-CN" altLang="en-US" sz="2400" dirty="0"/>
              <a:t>（</a:t>
            </a:r>
            <a:r>
              <a:rPr lang="en-US" altLang="zh-CN" sz="2400" dirty="0"/>
              <a:t>Sno</a:t>
            </a:r>
            <a:r>
              <a:rPr lang="zh-CN" altLang="en-US" sz="2400" dirty="0"/>
              <a:t>，</a:t>
            </a:r>
            <a:r>
              <a:rPr lang="en-US" altLang="zh-CN" sz="2400" dirty="0"/>
              <a:t>Cno</a:t>
            </a:r>
            <a:r>
              <a:rPr lang="zh-CN" altLang="en-US" sz="2400" dirty="0"/>
              <a:t>，</a:t>
            </a:r>
            <a:r>
              <a:rPr lang="en-US" altLang="zh-CN" sz="2400" dirty="0"/>
              <a:t>Grade</a:t>
            </a:r>
            <a:r>
              <a:rPr lang="zh-CN" altLang="en-US" sz="2400" dirty="0"/>
              <a:t>，（</a:t>
            </a:r>
            <a:r>
              <a:rPr lang="en-US" altLang="zh-CN" sz="2400" dirty="0"/>
              <a:t>Sno</a:t>
            </a:r>
            <a:r>
              <a:rPr lang="zh-CN" altLang="en-US" sz="2400" dirty="0"/>
              <a:t>，</a:t>
            </a:r>
            <a:r>
              <a:rPr lang="en-US" altLang="zh-CN" sz="2400" dirty="0"/>
              <a:t>Cno</a:t>
            </a:r>
            <a:r>
              <a:rPr lang="zh-CN" altLang="en-US" sz="2400" dirty="0"/>
              <a:t>） → </a:t>
            </a:r>
            <a:r>
              <a:rPr lang="en-US" altLang="zh-CN" sz="2400" dirty="0"/>
              <a:t>Grade</a:t>
            </a:r>
            <a:r>
              <a:rPr lang="zh-CN" altLang="en-US" sz="2400" dirty="0"/>
              <a:t>）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DEPT</a:t>
            </a:r>
            <a:r>
              <a:rPr lang="zh-CN" altLang="en-US" sz="2400" dirty="0"/>
              <a:t>（</a:t>
            </a:r>
            <a:r>
              <a:rPr lang="en-US" altLang="zh-CN" sz="2400" dirty="0"/>
              <a:t>Sdept</a:t>
            </a:r>
            <a:r>
              <a:rPr lang="zh-CN" altLang="en-US" sz="2400" dirty="0"/>
              <a:t>，</a:t>
            </a:r>
            <a:r>
              <a:rPr lang="en-US" altLang="zh-CN" sz="2400" dirty="0"/>
              <a:t>Mname</a:t>
            </a:r>
            <a:r>
              <a:rPr lang="zh-CN" altLang="en-US" sz="2400" dirty="0"/>
              <a:t>，</a:t>
            </a:r>
            <a:r>
              <a:rPr lang="en-US" altLang="zh-CN" sz="2400" dirty="0"/>
              <a:t>Sdept→ Mname</a:t>
            </a:r>
            <a:r>
              <a:rPr lang="zh-CN" altLang="en-US" sz="2400" dirty="0"/>
              <a:t>）</a:t>
            </a:r>
            <a:r>
              <a:rPr lang="en-US" altLang="zh-CN" sz="2400" dirty="0"/>
              <a:t>;</a:t>
            </a:r>
            <a:endParaRPr lang="en-US" altLang="zh-CN" sz="2400" dirty="0"/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规范化</a:t>
            </a:r>
            <a:endParaRPr lang="zh-CN" altLang="en-US" dirty="0"/>
          </a:p>
        </p:txBody>
      </p:sp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xfrm>
            <a:off x="1270953" y="1411923"/>
            <a:ext cx="8075612" cy="4495800"/>
          </a:xfrm>
        </p:spPr>
        <p:txBody>
          <a:bodyPr vert="horz" wrap="square" lIns="91440" tIns="45720" rIns="91440" bIns="45720" anchor="t" anchorCtr="0"/>
          <a:p>
            <a:pPr marL="358775" eaLnBrk="1" hangingPunct="1">
              <a:lnSpc>
                <a:spcPct val="180000"/>
              </a:lnSpc>
              <a:buNone/>
            </a:pPr>
            <a:r>
              <a:rPr lang="en-US" altLang="zh-CN" b="1" dirty="0"/>
              <a:t>        </a:t>
            </a:r>
            <a:r>
              <a:rPr lang="zh-CN" altLang="en-US" b="1" dirty="0">
                <a:solidFill>
                  <a:srgbClr val="FF00FF"/>
                </a:solidFill>
              </a:rPr>
              <a:t>规范化理论</a:t>
            </a:r>
            <a:r>
              <a:rPr lang="zh-CN" altLang="en-US" b="1" dirty="0"/>
              <a:t>是用来</a:t>
            </a:r>
            <a:r>
              <a:rPr lang="zh-CN" altLang="en-US" b="1" dirty="0">
                <a:solidFill>
                  <a:srgbClr val="FF0000"/>
                </a:solidFill>
              </a:rPr>
              <a:t>改造</a:t>
            </a:r>
            <a:r>
              <a:rPr lang="zh-CN" altLang="en-US" b="1" dirty="0"/>
              <a:t>关系模式，通过</a:t>
            </a:r>
            <a:r>
              <a:rPr lang="zh-CN" altLang="en-US" b="1" dirty="0">
                <a:solidFill>
                  <a:srgbClr val="FF0000"/>
                </a:solidFill>
              </a:rPr>
              <a:t>分解</a:t>
            </a:r>
            <a:r>
              <a:rPr lang="zh-CN" altLang="en-US" b="1" dirty="0"/>
              <a:t>关系模式来</a:t>
            </a:r>
            <a:r>
              <a:rPr lang="zh-CN" altLang="en-US" b="1" dirty="0">
                <a:solidFill>
                  <a:srgbClr val="FF0000"/>
                </a:solidFill>
              </a:rPr>
              <a:t>消除其中不合适的数据依赖</a:t>
            </a:r>
            <a:r>
              <a:rPr lang="zh-CN" altLang="en-US" b="1" dirty="0"/>
              <a:t>，以解决插入异常、删除异常、更新异常和数据冗余问题。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2424113" y="1268413"/>
            <a:ext cx="7643812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6.2.1  </a:t>
            </a:r>
            <a:r>
              <a:rPr lang="zh-CN" altLang="en-US" sz="2400" b="1" dirty="0">
                <a:solidFill>
                  <a:srgbClr val="3333FF"/>
                </a:solidFill>
              </a:rPr>
              <a:t>函数依赖</a:t>
            </a:r>
            <a:endParaRPr lang="zh-CN" altLang="en-US" sz="24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6.2.1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2279015" y="1411923"/>
            <a:ext cx="7329488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3200" b="1" dirty="0"/>
              <a:t>函数依赖的分类</a:t>
            </a:r>
            <a:endParaRPr lang="zh-CN" altLang="en-US" sz="3200" b="1" dirty="0"/>
          </a:p>
          <a:p>
            <a:pPr lvl="1" indent="-436245"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3200" b="1" dirty="0"/>
              <a:t>平凡函数依赖与非平凡函数依赖</a:t>
            </a:r>
            <a:endParaRPr lang="zh-CN" altLang="en-US" sz="3200" b="1" dirty="0"/>
          </a:p>
          <a:p>
            <a:pPr lvl="1" indent="-436245"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3200" b="1" dirty="0"/>
              <a:t>完全函数依赖与部分函数依赖</a:t>
            </a:r>
            <a:endParaRPr lang="zh-CN" altLang="en-US" sz="3200" b="1" dirty="0"/>
          </a:p>
          <a:p>
            <a:pPr lvl="1" indent="-436245"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3200" b="1" dirty="0"/>
              <a:t>传递函数依赖</a:t>
            </a:r>
            <a:endParaRPr lang="zh-CN" altLang="en-US" sz="3200" b="1" dirty="0"/>
          </a:p>
          <a:p>
            <a:pPr eaLnBrk="1" hangingPunct="1">
              <a:lnSpc>
                <a:spcPct val="130000"/>
              </a:lnSpc>
              <a:buNone/>
            </a:pPr>
            <a:endParaRPr lang="zh-CN" altLang="en-US" sz="3200" b="1" dirty="0"/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一、函数依赖</a:t>
            </a:r>
            <a:endParaRPr lang="zh-CN" altLang="en-US" dirty="0"/>
          </a:p>
        </p:txBody>
      </p:sp>
      <p:sp>
        <p:nvSpPr>
          <p:cNvPr id="39938" name="Rectangle 3"/>
          <p:cNvSpPr>
            <a:spLocks noGrp="1"/>
          </p:cNvSpPr>
          <p:nvPr>
            <p:ph idx="1"/>
          </p:nvPr>
        </p:nvSpPr>
        <p:spPr>
          <a:xfrm>
            <a:off x="1061720" y="908050"/>
            <a:ext cx="9834880" cy="5257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zh-CN" altLang="en-US" b="1" dirty="0"/>
              <a:t>定义</a:t>
            </a:r>
            <a:r>
              <a:rPr lang="en-US" altLang="zh-CN" b="1" dirty="0"/>
              <a:t>6.1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dirty="0"/>
              <a:t>R(U)</a:t>
            </a:r>
            <a:r>
              <a:rPr lang="zh-CN" altLang="en-US" dirty="0"/>
              <a:t>是一个属性集</a:t>
            </a:r>
            <a:r>
              <a:rPr lang="en-US" altLang="zh-CN" dirty="0"/>
              <a:t>U</a:t>
            </a:r>
            <a:r>
              <a:rPr lang="zh-CN" altLang="en-US" dirty="0"/>
              <a:t>上的关系模式，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U</a:t>
            </a:r>
            <a:r>
              <a:rPr lang="zh-CN" altLang="en-US" dirty="0"/>
              <a:t>的子集。</a:t>
            </a:r>
            <a:r>
              <a:rPr lang="en-US" altLang="zh-CN" dirty="0"/>
              <a:t>Sno,sname,ssex,sage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    若对于</a:t>
            </a:r>
            <a:r>
              <a:rPr lang="en-US" altLang="zh-CN" dirty="0"/>
              <a:t>R(U)</a:t>
            </a:r>
            <a:r>
              <a:rPr lang="zh-CN" altLang="en-US" dirty="0"/>
              <a:t>的任意一个可能的关系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不可能存在两个元组</a:t>
            </a:r>
            <a:r>
              <a:rPr lang="zh-CN" altLang="en-US" b="1" dirty="0">
                <a:solidFill>
                  <a:srgbClr val="0000FF"/>
                </a:solidFill>
              </a:rPr>
              <a:t>在</a:t>
            </a:r>
            <a:r>
              <a:rPr lang="en-US" altLang="zh-CN" b="1" dirty="0">
                <a:solidFill>
                  <a:srgbClr val="0000FF"/>
                </a:solidFill>
              </a:rPr>
              <a:t>X</a:t>
            </a:r>
            <a:r>
              <a:rPr lang="zh-CN" altLang="en-US" b="1" dirty="0">
                <a:solidFill>
                  <a:srgbClr val="0000FF"/>
                </a:solidFill>
              </a:rPr>
              <a:t>上的属性值相等</a:t>
            </a:r>
            <a:r>
              <a:rPr lang="zh-CN" altLang="en-US" dirty="0"/>
              <a:t>， 而</a:t>
            </a:r>
            <a:r>
              <a:rPr lang="zh-CN" altLang="en-US" b="1" dirty="0">
                <a:solidFill>
                  <a:srgbClr val="0000FF"/>
                </a:solidFill>
              </a:rPr>
              <a:t>在</a:t>
            </a:r>
            <a:r>
              <a:rPr lang="en-US" altLang="zh-CN" b="1" dirty="0">
                <a:solidFill>
                  <a:srgbClr val="0000FF"/>
                </a:solidFill>
              </a:rPr>
              <a:t>Y</a:t>
            </a:r>
            <a:r>
              <a:rPr lang="zh-CN" altLang="en-US" b="1" dirty="0">
                <a:solidFill>
                  <a:srgbClr val="0000FF"/>
                </a:solidFill>
              </a:rPr>
              <a:t>上的属性值不等</a:t>
            </a:r>
            <a:r>
              <a:rPr lang="zh-CN" altLang="en-US" dirty="0"/>
              <a:t>， 则称 “</a:t>
            </a:r>
            <a:r>
              <a:rPr lang="en-US" altLang="zh-CN" dirty="0">
                <a:solidFill>
                  <a:srgbClr val="FF00FF"/>
                </a:solidFill>
              </a:rPr>
              <a:t>X</a:t>
            </a:r>
            <a:r>
              <a:rPr lang="zh-CN" altLang="en-US" dirty="0">
                <a:solidFill>
                  <a:srgbClr val="FF00FF"/>
                </a:solidFill>
              </a:rPr>
              <a:t>函数确定</a:t>
            </a:r>
            <a:r>
              <a:rPr lang="en-US" altLang="zh-CN" dirty="0">
                <a:solidFill>
                  <a:srgbClr val="FF00FF"/>
                </a:solidFill>
              </a:rPr>
              <a:t>Y</a:t>
            </a:r>
            <a:r>
              <a:rPr lang="en-US" altLang="zh-CN" dirty="0"/>
              <a:t>” </a:t>
            </a:r>
            <a:r>
              <a:rPr lang="zh-CN" altLang="en-US" dirty="0"/>
              <a:t>或  “</a:t>
            </a:r>
            <a:r>
              <a:rPr lang="en-US" altLang="zh-CN" dirty="0">
                <a:solidFill>
                  <a:srgbClr val="FF00FF"/>
                </a:solidFill>
              </a:rPr>
              <a:t>Y</a:t>
            </a:r>
            <a:r>
              <a:rPr lang="zh-CN" altLang="en-US" dirty="0">
                <a:solidFill>
                  <a:srgbClr val="FF00FF"/>
                </a:solidFill>
              </a:rPr>
              <a:t>函数依赖于</a:t>
            </a:r>
            <a:r>
              <a:rPr lang="en-US" altLang="zh-CN" dirty="0">
                <a:solidFill>
                  <a:srgbClr val="FF00FF"/>
                </a:solidFill>
              </a:rPr>
              <a:t>X</a:t>
            </a:r>
            <a:r>
              <a:rPr lang="en-US" altLang="zh-CN" dirty="0"/>
              <a:t>”</a:t>
            </a:r>
            <a:r>
              <a:rPr lang="zh-CN" altLang="en-US" dirty="0"/>
              <a:t>，记作</a:t>
            </a:r>
            <a:r>
              <a:rPr lang="en-US" altLang="zh-CN" dirty="0"/>
              <a:t>X→Y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  通俗来说：</a:t>
            </a:r>
            <a:r>
              <a:rPr lang="zh-CN" altLang="en-US" sz="2600" dirty="0">
                <a:solidFill>
                  <a:srgbClr val="FF0000"/>
                </a:solidFill>
              </a:rPr>
              <a:t>给定</a:t>
            </a:r>
            <a:r>
              <a:rPr lang="en-US" altLang="zh-CN" sz="2600" dirty="0">
                <a:solidFill>
                  <a:srgbClr val="FF0000"/>
                </a:solidFill>
              </a:rPr>
              <a:t>X</a:t>
            </a:r>
            <a:r>
              <a:rPr lang="zh-CN" altLang="en-US" sz="2600" dirty="0">
                <a:solidFill>
                  <a:srgbClr val="FF0000"/>
                </a:solidFill>
              </a:rPr>
              <a:t>的值，</a:t>
            </a:r>
            <a:r>
              <a:rPr lang="en-US" altLang="zh-CN" sz="2600" dirty="0">
                <a:solidFill>
                  <a:srgbClr val="FF0000"/>
                </a:solidFill>
              </a:rPr>
              <a:t>Y</a:t>
            </a:r>
            <a:r>
              <a:rPr lang="zh-CN" altLang="en-US" sz="2600" dirty="0">
                <a:solidFill>
                  <a:srgbClr val="FF0000"/>
                </a:solidFill>
              </a:rPr>
              <a:t>的值能不能被定住。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sz="2600" dirty="0"/>
              <a:t>                </a:t>
            </a:r>
            <a:r>
              <a:rPr lang="en-US" altLang="zh-CN" sz="2600" dirty="0">
                <a:solidFill>
                  <a:srgbClr val="FF0000"/>
                </a:solidFill>
              </a:rPr>
              <a:t>X</a:t>
            </a:r>
            <a:r>
              <a:rPr lang="zh-CN" altLang="en-US" sz="2600" dirty="0">
                <a:solidFill>
                  <a:srgbClr val="FF0000"/>
                </a:solidFill>
              </a:rPr>
              <a:t>是否能够决定</a:t>
            </a:r>
            <a:r>
              <a:rPr lang="en-US" altLang="zh-CN" sz="2600" dirty="0">
                <a:solidFill>
                  <a:srgbClr val="FF0000"/>
                </a:solidFill>
              </a:rPr>
              <a:t>Y</a:t>
            </a:r>
            <a:r>
              <a:rPr lang="zh-CN" altLang="en-US" sz="2600" dirty="0">
                <a:solidFill>
                  <a:srgbClr val="FF0000"/>
                </a:solidFill>
              </a:rPr>
              <a:t>的值。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例如：</a:t>
            </a:r>
            <a:endParaRPr lang="zh-CN" altLang="en-US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2063750" y="1125538"/>
            <a:ext cx="8305800" cy="5111750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student(sno,sname,ssex,sdept,sage)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sno</a:t>
            </a:r>
            <a:r>
              <a:rPr lang="en-US" altLang="zh-CN" sz="2400" dirty="0"/>
              <a:t> →sname ?</a:t>
            </a:r>
            <a:endParaRPr lang="en-US" altLang="zh-CN" sz="24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sno</a:t>
            </a:r>
            <a:r>
              <a:rPr lang="en-US" altLang="zh-CN" sz="2400" dirty="0"/>
              <a:t> →ssex ?   </a:t>
            </a:r>
            <a:r>
              <a:rPr lang="en-US" altLang="zh-CN" sz="2400" dirty="0">
                <a:solidFill>
                  <a:srgbClr val="FF00FF"/>
                </a:solidFill>
              </a:rPr>
              <a:t>sno</a:t>
            </a:r>
            <a:r>
              <a:rPr lang="en-US" altLang="zh-CN" sz="2400" dirty="0"/>
              <a:t> →sdept ?</a:t>
            </a:r>
            <a:endParaRPr lang="en-US" altLang="zh-CN" sz="24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sname </a:t>
            </a:r>
            <a:r>
              <a:rPr lang="en-US" altLang="zh-CN" sz="2400" dirty="0"/>
              <a:t>→ssex ?</a:t>
            </a:r>
            <a:r>
              <a:rPr lang="zh-CN" altLang="en-US" sz="2400" dirty="0"/>
              <a:t>   </a:t>
            </a:r>
            <a:r>
              <a:rPr lang="en-US" altLang="zh-CN" sz="2400" dirty="0">
                <a:solidFill>
                  <a:srgbClr val="FF00FF"/>
                </a:solidFill>
              </a:rPr>
              <a:t>sname </a:t>
            </a:r>
            <a:r>
              <a:rPr lang="en-US" altLang="zh-CN" sz="2400" dirty="0"/>
              <a:t>→ sage ?</a:t>
            </a:r>
            <a:endParaRPr lang="en-US" altLang="zh-CN" sz="24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ssex</a:t>
            </a:r>
            <a:r>
              <a:rPr lang="en-US" altLang="zh-CN" sz="2400" dirty="0">
                <a:solidFill>
                  <a:srgbClr val="000000"/>
                </a:solidFill>
              </a:rPr>
              <a:t> →sage? </a:t>
            </a:r>
            <a:endParaRPr lang="en-US" altLang="zh-CN" sz="24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zh-CN" altLang="en-US" sz="2400" dirty="0"/>
              <a:t>还有其他的函数依赖吗</a:t>
            </a:r>
            <a:r>
              <a:rPr lang="en-US" altLang="zh-CN" sz="2400" dirty="0"/>
              <a:t>?</a:t>
            </a:r>
            <a:endParaRPr lang="en-US" altLang="zh-CN" sz="24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Sc(sno,cno,grade)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sno </a:t>
            </a:r>
            <a:r>
              <a:rPr lang="en-US" altLang="zh-CN" sz="2400" dirty="0">
                <a:solidFill>
                  <a:srgbClr val="000000"/>
                </a:solidFill>
              </a:rPr>
              <a:t>→grade ?           </a:t>
            </a:r>
            <a:r>
              <a:rPr lang="en-US" altLang="zh-CN" sz="2400" dirty="0">
                <a:solidFill>
                  <a:srgbClr val="FF00FF"/>
                </a:solidFill>
              </a:rPr>
              <a:t>cno</a:t>
            </a:r>
            <a:r>
              <a:rPr lang="en-US" altLang="zh-CN" sz="2400" dirty="0">
                <a:solidFill>
                  <a:srgbClr val="000000"/>
                </a:solidFill>
              </a:rPr>
              <a:t> →grade ? 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(Sno,cno)</a:t>
            </a:r>
            <a:r>
              <a:rPr lang="en-US" altLang="zh-CN" sz="2400" dirty="0"/>
              <a:t> →grade ?</a:t>
            </a:r>
            <a:endParaRPr lang="en-US" altLang="zh-CN" sz="24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FF00FF"/>
                </a:solidFill>
              </a:rPr>
              <a:t>(Sno,cno)</a:t>
            </a:r>
            <a:r>
              <a:rPr lang="en-US" altLang="zh-CN" sz="2400" dirty="0"/>
              <a:t> →sno   </a:t>
            </a:r>
            <a:r>
              <a:rPr lang="zh-CN" altLang="en-US" sz="2400" dirty="0"/>
              <a:t>？？？</a:t>
            </a:r>
            <a:endParaRPr lang="en-US" altLang="zh-CN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35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>
                                            <p:txEl>
                                              <p:charRg st="35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0">
                                            <p:txEl>
                                              <p:charRg st="35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4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0">
                                            <p:txEl>
                                              <p:charRg st="4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0">
                                            <p:txEl>
                                              <p:charRg st="4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75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0">
                                            <p:txEl>
                                              <p:charRg st="75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0">
                                            <p:txEl>
                                              <p:charRg st="75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106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0">
                                            <p:txEl>
                                              <p:charRg st="106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0">
                                            <p:txEl>
                                              <p:charRg st="106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119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80">
                                            <p:txEl>
                                              <p:charRg st="119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80">
                                            <p:txEl>
                                              <p:charRg st="119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13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80">
                                            <p:txEl>
                                              <p:charRg st="13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80">
                                            <p:txEl>
                                              <p:charRg st="13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580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580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186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80">
                                            <p:txEl>
                                              <p:charRg st="186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80">
                                            <p:txEl>
                                              <p:charRg st="186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205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580">
                                            <p:txEl>
                                              <p:charRg st="205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580">
                                            <p:txEl>
                                              <p:charRg st="205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135188" y="1268413"/>
          <a:ext cx="8064500" cy="482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1612900"/>
                <a:gridCol w="1612900"/>
                <a:gridCol w="1612900"/>
                <a:gridCol w="1612900"/>
              </a:tblGrid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Sno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Sdept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Mname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Cno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Grade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90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98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89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78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张三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87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C1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76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66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S4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C3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96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S4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IS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李四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C2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86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  <a:tr h="43878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……</a:t>
                      </a:r>
                      <a:endParaRPr lang="zh-CN" altLang="en-US" sz="18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6" marR="91436" marT="45719" marB="45719"/>
                </a:tc>
              </a:tr>
            </a:tbl>
          </a:graphicData>
        </a:graphic>
      </p:graphicFrame>
      <p:sp>
        <p:nvSpPr>
          <p:cNvPr id="44107" name="矩形 2"/>
          <p:cNvSpPr/>
          <p:nvPr/>
        </p:nvSpPr>
        <p:spPr>
          <a:xfrm>
            <a:off x="1558925" y="188913"/>
            <a:ext cx="8497888" cy="737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1" indent="0" eaLnBrk="1" hangingPunct="1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800" i="1" dirty="0">
                <a:latin typeface="Verdana" panose="020B0604030504040204" pitchFamily="34" charset="0"/>
                <a:ea typeface="宋体" panose="02010600030101010101" pitchFamily="2" charset="-122"/>
              </a:rPr>
              <a:t>U </a:t>
            </a:r>
            <a:r>
              <a:rPr lang="zh-CN" altLang="en-US" sz="2800" i="1" dirty="0">
                <a:latin typeface="Verdana" panose="020B0604030504040204" pitchFamily="34" charset="0"/>
                <a:ea typeface="宋体" panose="02010600030101010101" pitchFamily="2" charset="-122"/>
              </a:rPr>
              <a:t>＝｛ </a:t>
            </a:r>
            <a:r>
              <a:rPr lang="en-US" altLang="zh-CN" sz="2800" i="1" dirty="0">
                <a:latin typeface="Verdana" panose="020B0604030504040204" pitchFamily="34" charset="0"/>
                <a:ea typeface="宋体" panose="02010600030101010101" pitchFamily="2" charset="-122"/>
              </a:rPr>
              <a:t>Sno, Sdept, Mname, Cno, Grade </a:t>
            </a:r>
            <a:r>
              <a:rPr lang="zh-CN" altLang="en-US" sz="2800" i="1" dirty="0">
                <a:latin typeface="Verdana" panose="020B0604030504040204" pitchFamily="34" charset="0"/>
                <a:ea typeface="宋体" panose="02010600030101010101" pitchFamily="2" charset="-122"/>
              </a:rPr>
              <a:t>｝</a:t>
            </a:r>
            <a:endParaRPr lang="zh-CN" altLang="en-US" sz="2800" i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页脚占位符 4"/>
          <p:cNvSpPr>
            <a:spLocks noGrp="1"/>
          </p:cNvSpPr>
          <p:nvPr>
            <p:ph type="ftr" sz="quarter" idx="11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SzTx/>
            </a:pPr>
            <a:r>
              <a:rPr lang="en-US" altLang="zh-CN" sz="1200" dirty="0">
                <a:solidFill>
                  <a:srgbClr val="F03628"/>
                </a:solidFill>
                <a:latin typeface="Arial" panose="020B0604020202020204" pitchFamily="34" charset="0"/>
              </a:rPr>
              <a:t>An Introduction to Database System</a:t>
            </a:r>
            <a:endParaRPr lang="en-US" altLang="zh-CN" sz="1200" dirty="0">
              <a:solidFill>
                <a:srgbClr val="F03628"/>
              </a:solidFill>
              <a:latin typeface="Arial" panose="020B0604020202020204" pitchFamily="34" charset="0"/>
            </a:endParaRPr>
          </a:p>
        </p:txBody>
      </p:sp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例如</a:t>
            </a:r>
            <a:endParaRPr lang="zh-CN" altLang="en-US" sz="3200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1992313" y="1052513"/>
            <a:ext cx="8294687" cy="5040312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dirty="0"/>
              <a:t>U </a:t>
            </a:r>
            <a:r>
              <a:rPr lang="zh-CN" altLang="en-US" sz="2800" dirty="0"/>
              <a:t>＝｛ </a:t>
            </a:r>
            <a:r>
              <a:rPr lang="en-US" altLang="zh-CN" sz="2800" dirty="0"/>
              <a:t>Sno, Sdept, Mname, Cno, Grade </a:t>
            </a:r>
            <a:r>
              <a:rPr lang="zh-CN" altLang="en-US" sz="2800" dirty="0"/>
              <a:t>｝</a:t>
            </a:r>
            <a:endParaRPr lang="en-US" altLang="zh-CN" sz="2800" dirty="0"/>
          </a:p>
          <a:p>
            <a:pPr eaLnBrk="1" hangingPunct="1">
              <a:buNone/>
            </a:pPr>
            <a:r>
              <a:rPr lang="zh-CN" altLang="en-US" sz="2800" dirty="0"/>
              <a:t>         学号，所在系，系主任，课程号，分数</a:t>
            </a:r>
            <a:endParaRPr lang="en-US" altLang="zh-CN" sz="2800" dirty="0"/>
          </a:p>
          <a:p>
            <a:pPr eaLnBrk="1" hangingPunct="1">
              <a:buNone/>
            </a:pP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属性组</a:t>
            </a:r>
            <a:r>
              <a:rPr lang="en-US" altLang="zh-CN" sz="2800" dirty="0"/>
              <a:t>U</a:t>
            </a:r>
            <a:r>
              <a:rPr lang="zh-CN" altLang="en-US" sz="2800" dirty="0"/>
              <a:t>上的一组函数依赖</a:t>
            </a:r>
            <a:r>
              <a:rPr lang="en-US" altLang="zh-CN" sz="2800" dirty="0"/>
              <a:t>F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</a:t>
            </a:r>
            <a:r>
              <a:rPr lang="en-US" altLang="zh-CN" sz="2800" dirty="0"/>
              <a:t>F </a:t>
            </a:r>
            <a:r>
              <a:rPr lang="zh-CN" altLang="en-US" sz="2800" dirty="0"/>
              <a:t>＝｛ </a:t>
            </a:r>
            <a:r>
              <a:rPr lang="en-US" altLang="zh-CN" sz="2800" dirty="0"/>
              <a:t>Sno → Sdept,  Sdept → Mname, 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sz="2800" dirty="0"/>
              <a:t>                (Sno, Cno) → Grade </a:t>
            </a:r>
            <a:r>
              <a:rPr lang="zh-CN" altLang="en-US" sz="2800" dirty="0"/>
              <a:t>｝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buNone/>
            </a:pPr>
            <a:endParaRPr lang="en-US" altLang="zh-CN" sz="28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Sno</a:t>
            </a:r>
            <a:r>
              <a:rPr lang="zh-CN" altLang="en-US" sz="2800" dirty="0"/>
              <a:t>，</a:t>
            </a:r>
            <a:r>
              <a:rPr lang="en-US" altLang="zh-CN" sz="2800" dirty="0"/>
              <a:t>cno</a:t>
            </a:r>
            <a:r>
              <a:rPr lang="zh-CN" altLang="en-US" sz="2800" dirty="0"/>
              <a:t>）</a:t>
            </a:r>
            <a:r>
              <a:rPr lang="en-US" altLang="zh-CN" sz="2800" dirty="0"/>
              <a:t> → Sdept  </a:t>
            </a:r>
            <a:r>
              <a:rPr lang="zh-CN" altLang="en-US" sz="2800" dirty="0"/>
              <a:t>？？？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Sno</a:t>
            </a:r>
            <a:r>
              <a:rPr lang="zh-CN" altLang="en-US" sz="2800" dirty="0"/>
              <a:t>，</a:t>
            </a:r>
            <a:r>
              <a:rPr lang="en-US" altLang="zh-CN" sz="2800" dirty="0"/>
              <a:t>cno</a:t>
            </a:r>
            <a:r>
              <a:rPr lang="zh-CN" altLang="en-US" sz="2800" dirty="0"/>
              <a:t>）</a:t>
            </a:r>
            <a:r>
              <a:rPr lang="en-US" altLang="zh-CN" sz="2800" dirty="0"/>
              <a:t> → Mname  </a:t>
            </a:r>
            <a:r>
              <a:rPr lang="zh-CN" altLang="en-US" sz="2800" dirty="0"/>
              <a:t>？？？</a:t>
            </a:r>
            <a:endParaRPr lang="zh-CN" altLang="en-US" sz="2800" dirty="0"/>
          </a:p>
          <a:p>
            <a:pPr eaLnBrk="1" hangingPunct="1">
              <a:spcBef>
                <a:spcPct val="10000"/>
              </a:spcBef>
              <a:buNone/>
            </a:pPr>
            <a:endParaRPr lang="zh-CN" altLang="en-US" sz="28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4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4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4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80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4">
                                            <p:txEl>
                                              <p:charRg st="80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4">
                                            <p:txEl>
                                              <p:charRg st="80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119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4">
                                            <p:txEl>
                                              <p:charRg st="119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4">
                                            <p:txEl>
                                              <p:charRg st="119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157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4">
                                            <p:txEl>
                                              <p:charRg st="157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4">
                                            <p:txEl>
                                              <p:charRg st="157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180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604">
                                            <p:txEl>
                                              <p:charRg st="180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04">
                                            <p:txEl>
                                              <p:charRg st="180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对函数依赖的说明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7106" name="Rectangle 3"/>
          <p:cNvSpPr>
            <a:spLocks noGrp="1"/>
          </p:cNvSpPr>
          <p:nvPr>
            <p:ph idx="1"/>
          </p:nvPr>
        </p:nvSpPr>
        <p:spPr>
          <a:xfrm>
            <a:off x="2135188" y="1484313"/>
            <a:ext cx="8305800" cy="3673475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1.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zh-CN" altLang="en-US" dirty="0">
                <a:solidFill>
                  <a:srgbClr val="FF00FF"/>
                </a:solidFill>
              </a:rPr>
              <a:t>所有关系实例</a:t>
            </a:r>
            <a:r>
              <a:rPr lang="zh-CN" altLang="en-US" dirty="0"/>
              <a:t>均要满足约束条件</a:t>
            </a:r>
            <a:endParaRPr lang="zh-CN" altLang="en-US" dirty="0"/>
          </a:p>
          <a:p>
            <a:pPr marL="533400" indent="-533400" eaLnBrk="1" hangingPunct="1">
              <a:lnSpc>
                <a:spcPct val="120000"/>
              </a:lnSpc>
              <a:buNone/>
            </a:pPr>
            <a:endParaRPr lang="zh-CN" altLang="en-US" sz="9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>
                <a:solidFill>
                  <a:srgbClr val="FF00FF"/>
                </a:solidFill>
              </a:rPr>
              <a:t>语义范畴</a:t>
            </a:r>
            <a:r>
              <a:rPr lang="zh-CN" altLang="en-US" dirty="0"/>
              <a:t>的概念</a:t>
            </a:r>
            <a:endParaRPr lang="zh-CN" altLang="en-US" dirty="0"/>
          </a:p>
          <a:p>
            <a:pPr marL="533400" indent="-533400" eaLnBrk="1" hangingPunct="1">
              <a:lnSpc>
                <a:spcPct val="120000"/>
              </a:lnSpc>
              <a:buNone/>
            </a:pPr>
            <a:endParaRPr lang="zh-CN" altLang="en-US" sz="9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数据库设计者可以对现实世界作强制的规定</a:t>
            </a:r>
            <a:endParaRPr lang="en-US" altLang="zh-CN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endParaRPr lang="en-US" altLang="zh-CN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    </a:t>
            </a:r>
            <a:r>
              <a:rPr lang="zh-CN" altLang="en-US" dirty="0"/>
              <a:t>如果姓名没有重复的，姓名</a:t>
            </a:r>
            <a:r>
              <a:rPr lang="en-US" altLang="zh-CN" sz="3200" dirty="0"/>
              <a:t>→</a:t>
            </a:r>
            <a:r>
              <a:rPr lang="zh-CN" altLang="en-US" dirty="0">
                <a:sym typeface="Wingdings" panose="05000000000000000000" pitchFamily="2" charset="2"/>
              </a:rPr>
              <a:t>年龄 。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二、平凡函数依赖与非平凡函数依赖</a:t>
            </a:r>
            <a:endParaRPr lang="zh-CN" altLang="en-US" sz="2800" dirty="0"/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1415415" y="1268413"/>
            <a:ext cx="8305800" cy="1752600"/>
          </a:xfrm>
        </p:spPr>
        <p:txBody>
          <a:bodyPr vert="horz" wrap="square" lIns="91440" tIns="45720" rIns="91440" bIns="45720" anchor="t" anchorCtr="0"/>
          <a:p>
            <a:pPr marL="361950" indent="-361950" defTabSz="914400" eaLnBrk="1" hangingPunct="1">
              <a:lnSpc>
                <a:spcPct val="120000"/>
              </a:lnSpc>
              <a:buNone/>
              <a:tabLst>
                <a:tab pos="361950" algn="l"/>
              </a:tabLst>
            </a:pPr>
            <a:r>
              <a:rPr lang="zh-CN" altLang="en-US" sz="2600" dirty="0"/>
              <a:t>在关系模式</a:t>
            </a:r>
            <a:r>
              <a:rPr lang="en-US" altLang="zh-CN" sz="2600" dirty="0"/>
              <a:t>R(U)</a:t>
            </a:r>
            <a:r>
              <a:rPr lang="zh-CN" altLang="en-US" sz="2600" dirty="0"/>
              <a:t>中，对于</a:t>
            </a:r>
            <a:r>
              <a:rPr lang="en-US" altLang="zh-CN" sz="2600" dirty="0"/>
              <a:t>U</a:t>
            </a:r>
            <a:r>
              <a:rPr lang="zh-CN" altLang="en-US" sz="2600" dirty="0"/>
              <a:t>的子集</a:t>
            </a:r>
            <a:r>
              <a:rPr lang="en-US" altLang="zh-CN" sz="2600" dirty="0"/>
              <a:t>X</a:t>
            </a:r>
            <a:r>
              <a:rPr lang="zh-CN" altLang="en-US" sz="2600" dirty="0"/>
              <a:t>和</a:t>
            </a:r>
            <a:r>
              <a:rPr lang="en-US" altLang="zh-CN" sz="2600" dirty="0"/>
              <a:t>Y</a:t>
            </a:r>
            <a:r>
              <a:rPr lang="zh-CN" altLang="en-US" sz="2600" dirty="0"/>
              <a:t>，</a:t>
            </a:r>
            <a:endParaRPr lang="zh-CN" altLang="en-US" sz="2600" dirty="0"/>
          </a:p>
          <a:p>
            <a:pPr marL="361950" indent="-361950" defTabSz="914400" eaLnBrk="1" hangingPunct="1">
              <a:lnSpc>
                <a:spcPct val="120000"/>
              </a:lnSpc>
              <a:buNone/>
              <a:tabLst>
                <a:tab pos="361950" algn="l"/>
              </a:tabLst>
            </a:pPr>
            <a:r>
              <a:rPr lang="zh-CN" altLang="en-US" sz="2600" dirty="0"/>
              <a:t>如果</a:t>
            </a:r>
            <a:r>
              <a:rPr lang="en-US" altLang="zh-CN" sz="2600" dirty="0"/>
              <a:t>X→Y</a:t>
            </a:r>
            <a:r>
              <a:rPr lang="zh-CN" altLang="en-US" sz="2600" dirty="0"/>
              <a:t>，但</a:t>
            </a:r>
            <a:r>
              <a:rPr lang="en-US" altLang="zh-CN" sz="2600" dirty="0"/>
              <a:t>Y </a:t>
            </a:r>
            <a:r>
              <a:rPr lang="en-US" altLang="zh-CN" sz="2600" dirty="0">
                <a:sym typeface="Symbol" panose="05050102010706020507" pitchFamily="18" charset="2"/>
              </a:rPr>
              <a:t></a:t>
            </a:r>
            <a:r>
              <a:rPr lang="en-US" altLang="zh-CN" sz="2600" dirty="0"/>
              <a:t> X</a:t>
            </a:r>
            <a:r>
              <a:rPr lang="zh-CN" altLang="en-US" sz="2600" dirty="0"/>
              <a:t>，则称</a:t>
            </a:r>
            <a:r>
              <a:rPr lang="en-US" altLang="zh-CN" sz="2600" dirty="0"/>
              <a:t>X→Y</a:t>
            </a:r>
            <a:r>
              <a:rPr lang="zh-CN" altLang="en-US" sz="2600" dirty="0">
                <a:solidFill>
                  <a:srgbClr val="FF00FF"/>
                </a:solidFill>
              </a:rPr>
              <a:t>是非平凡的函数依赖</a:t>
            </a:r>
            <a:endParaRPr lang="zh-CN" altLang="en-US" sz="2600" dirty="0">
              <a:solidFill>
                <a:srgbClr val="FF00FF"/>
              </a:solidFill>
            </a:endParaRPr>
          </a:p>
          <a:p>
            <a:pPr marL="361950" indent="-361950" defTabSz="914400" eaLnBrk="1" hangingPunct="1">
              <a:lnSpc>
                <a:spcPct val="120000"/>
              </a:lnSpc>
              <a:buNone/>
              <a:tabLst>
                <a:tab pos="361950" algn="l"/>
              </a:tabLst>
            </a:pPr>
            <a:r>
              <a:rPr lang="zh-CN" altLang="en-US" sz="2600" dirty="0"/>
              <a:t>若</a:t>
            </a:r>
            <a:r>
              <a:rPr lang="en-US" altLang="zh-CN" sz="2600" dirty="0"/>
              <a:t>X→Y</a:t>
            </a:r>
            <a:r>
              <a:rPr lang="zh-CN" altLang="en-US" sz="2600" dirty="0"/>
              <a:t>，但</a:t>
            </a:r>
            <a:r>
              <a:rPr lang="en-US" altLang="zh-CN" sz="2600" dirty="0"/>
              <a:t>Y </a:t>
            </a:r>
            <a:r>
              <a:rPr lang="en-US" altLang="zh-CN" sz="2600" dirty="0">
                <a:sym typeface="Symbol" panose="05050102010706020507" pitchFamily="18" charset="2"/>
              </a:rPr>
              <a:t></a:t>
            </a:r>
            <a:r>
              <a:rPr lang="en-US" altLang="zh-CN" sz="2600" dirty="0"/>
              <a:t> X,   </a:t>
            </a:r>
            <a:r>
              <a:rPr lang="zh-CN" altLang="en-US" sz="2600" dirty="0"/>
              <a:t>则称</a:t>
            </a:r>
            <a:r>
              <a:rPr lang="en-US" altLang="zh-CN" sz="2600" dirty="0"/>
              <a:t>X→Y</a:t>
            </a:r>
            <a:r>
              <a:rPr lang="zh-CN" altLang="en-US" sz="2600" dirty="0"/>
              <a:t>是</a:t>
            </a:r>
            <a:r>
              <a:rPr lang="zh-CN" altLang="en-US" sz="2600" dirty="0">
                <a:solidFill>
                  <a:srgbClr val="FF00FF"/>
                </a:solidFill>
              </a:rPr>
              <a:t>平凡的函数依赖</a:t>
            </a:r>
            <a:endParaRPr lang="zh-CN" altLang="en-US" sz="2600" dirty="0"/>
          </a:p>
        </p:txBody>
      </p:sp>
      <p:sp>
        <p:nvSpPr>
          <p:cNvPr id="49155" name="Line 4"/>
          <p:cNvSpPr/>
          <p:nvPr/>
        </p:nvSpPr>
        <p:spPr>
          <a:xfrm>
            <a:off x="3935730" y="2132330"/>
            <a:ext cx="228600" cy="231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4725" name="Rectangle 5"/>
          <p:cNvSpPr/>
          <p:nvPr/>
        </p:nvSpPr>
        <p:spPr>
          <a:xfrm>
            <a:off x="1415098" y="3406458"/>
            <a:ext cx="8305800" cy="2819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61950" indent="-361950" defTabSz="914400" eaLnBrk="0" hangingPunct="0">
              <a:lnSpc>
                <a:spcPct val="120000"/>
              </a:lnSpc>
              <a:buFont typeface="Wingdings" panose="05000000000000000000" pitchFamily="2" charset="2"/>
              <a:buChar char="v"/>
              <a:tabLst>
                <a:tab pos="361950" algn="l"/>
              </a:tabLst>
            </a:pPr>
            <a:r>
              <a:rPr lang="zh-CN" altLang="en-US" sz="2600" dirty="0">
                <a:latin typeface="Verdana" panose="020B0604030504040204" pitchFamily="34" charset="0"/>
                <a:ea typeface="宋体" panose="02010600030101010101" pitchFamily="2" charset="-122"/>
              </a:rPr>
              <a:t>例：在关系</a:t>
            </a: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SC(Sno, Cno, Grade)</a:t>
            </a:r>
            <a:r>
              <a:rPr lang="zh-CN" altLang="en-US" sz="2600" dirty="0">
                <a:latin typeface="Verdana" panose="020B0604030504040204" pitchFamily="34" charset="0"/>
                <a:ea typeface="宋体" panose="02010600030101010101" pitchFamily="2" charset="-122"/>
              </a:rPr>
              <a:t>中，</a:t>
            </a:r>
            <a:endParaRPr lang="zh-CN" altLang="en-US" sz="2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61950" indent="-361950" defTabSz="914400" eaLnBrk="0" hangingPunct="0">
              <a:lnSpc>
                <a:spcPct val="120000"/>
              </a:lnSpc>
              <a:tabLst>
                <a:tab pos="361950" algn="l"/>
              </a:tabLst>
            </a:pPr>
            <a:r>
              <a:rPr lang="zh-CN" altLang="en-US" sz="2600" dirty="0">
                <a:latin typeface="Verdana" panose="020B0604030504040204" pitchFamily="34" charset="0"/>
                <a:ea typeface="宋体" panose="02010600030101010101" pitchFamily="2" charset="-122"/>
              </a:rPr>
              <a:t>            非平凡函数依赖： </a:t>
            </a: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(Sno, Cno) →</a:t>
            </a:r>
            <a:r>
              <a:rPr lang="en-US" altLang="zh-CN" sz="2600" baseline="46000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Grade</a:t>
            </a:r>
            <a:endParaRPr lang="en-US" altLang="zh-CN" sz="2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61950" indent="-361950" defTabSz="914400" eaLnBrk="0" hangingPunct="0">
              <a:lnSpc>
                <a:spcPct val="120000"/>
              </a:lnSpc>
              <a:tabLst>
                <a:tab pos="361950" algn="l"/>
              </a:tabLst>
            </a:pP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            </a:t>
            </a:r>
            <a:endParaRPr lang="en-US" altLang="zh-CN" sz="2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61950" indent="-361950" defTabSz="914400" eaLnBrk="0" hangingPunct="0">
              <a:lnSpc>
                <a:spcPct val="120000"/>
              </a:lnSpc>
              <a:tabLst>
                <a:tab pos="361950" algn="l"/>
              </a:tabLst>
            </a:pP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		    </a:t>
            </a:r>
            <a:r>
              <a:rPr lang="zh-CN" altLang="en-US" sz="2600" dirty="0">
                <a:latin typeface="Verdana" panose="020B0604030504040204" pitchFamily="34" charset="0"/>
                <a:ea typeface="宋体" panose="02010600030101010101" pitchFamily="2" charset="-122"/>
              </a:rPr>
              <a:t>平凡函数依赖：    </a:t>
            </a: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(Sno, Cno) →</a:t>
            </a:r>
            <a:r>
              <a:rPr lang="en-US" altLang="zh-CN" sz="2600" baseline="46000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Sno </a:t>
            </a:r>
            <a:endParaRPr lang="en-US" altLang="zh-CN" sz="2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61950" indent="-361950" defTabSz="914400" eaLnBrk="0" hangingPunct="0">
              <a:lnSpc>
                <a:spcPct val="120000"/>
              </a:lnSpc>
              <a:tabLst>
                <a:tab pos="361950" algn="l"/>
              </a:tabLst>
            </a:pPr>
            <a:r>
              <a:rPr lang="en-US" altLang="zh-CN" sz="2600" dirty="0">
                <a:latin typeface="Verdana" panose="020B0604030504040204" pitchFamily="34" charset="0"/>
                <a:ea typeface="宋体" panose="02010600030101010101" pitchFamily="2" charset="-122"/>
              </a:rPr>
              <a:t>                                    (Sno, Cno) → Cno</a:t>
            </a:r>
            <a:endParaRPr lang="en-US" altLang="zh-CN" sz="2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61950" indent="-361950" algn="ctr" defTabSz="914400" eaLnBrk="0" hangingPunct="0">
              <a:lnSpc>
                <a:spcPct val="120000"/>
              </a:lnSpc>
              <a:tabLst>
                <a:tab pos="361950" algn="l"/>
              </a:tabLst>
            </a:pPr>
            <a:endParaRPr lang="en-US" altLang="zh-CN" sz="2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>
                                            <p:txEl>
                                              <p:charRg st="2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>
                                            <p:txEl>
                                              <p:charRg st="6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>
                                            <p:txEl>
                                              <p:charRg st="8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>
                                            <p:txEl>
                                              <p:charRg st="115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平凡函数依赖与非平凡函数依赖（续）</a:t>
            </a:r>
            <a:endParaRPr lang="zh-CN" altLang="en-US" sz="2800" dirty="0"/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2135188" y="1557338"/>
            <a:ext cx="7772400" cy="4548187"/>
          </a:xfrm>
        </p:spPr>
        <p:txBody>
          <a:bodyPr vert="horz" wrap="square" lIns="91440" tIns="45720" rIns="91440" bIns="45720" anchor="t" anchorCtr="0"/>
          <a:p>
            <a:pPr lvl="1" indent="-436245" eaLnBrk="1" hangingPunct="1">
              <a:lnSpc>
                <a:spcPct val="160000"/>
              </a:lnSpc>
            </a:pPr>
            <a:r>
              <a:rPr lang="zh-CN" altLang="en-US" dirty="0"/>
              <a:t>若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</a:t>
            </a:r>
            <a:r>
              <a:rPr lang="zh-CN" altLang="en-US" dirty="0"/>
              <a:t>，则</a:t>
            </a:r>
            <a:r>
              <a:rPr lang="en-US" altLang="zh-CN" i="1" dirty="0"/>
              <a:t>X</a:t>
            </a:r>
            <a:r>
              <a:rPr lang="zh-CN" altLang="en-US" dirty="0"/>
              <a:t>称为这个函数依赖的决定属性组，也称为</a:t>
            </a:r>
            <a:r>
              <a:rPr lang="zh-CN" altLang="en-US" b="1" dirty="0">
                <a:solidFill>
                  <a:srgbClr val="0000FF"/>
                </a:solidFill>
              </a:rPr>
              <a:t>决定因素</a:t>
            </a:r>
            <a:r>
              <a:rPr lang="zh-CN" altLang="en-US" dirty="0"/>
              <a:t>（</a:t>
            </a:r>
            <a:r>
              <a:rPr lang="en-US" altLang="zh-CN" dirty="0"/>
              <a:t>Determinant</a:t>
            </a:r>
            <a:r>
              <a:rPr lang="zh-CN" altLang="en-US" dirty="0"/>
              <a:t>）。</a:t>
            </a:r>
            <a:endParaRPr lang="zh-CN" altLang="en-US" dirty="0"/>
          </a:p>
          <a:p>
            <a:pPr lvl="1" indent="-436245" eaLnBrk="1" hangingPunct="1">
              <a:lnSpc>
                <a:spcPct val="160000"/>
              </a:lnSpc>
            </a:pPr>
            <a:r>
              <a:rPr lang="zh-CN" altLang="en-US" dirty="0"/>
              <a:t>若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</a:t>
            </a:r>
            <a:r>
              <a:rPr lang="zh-CN" altLang="en-US" dirty="0"/>
              <a:t>，</a:t>
            </a:r>
            <a:r>
              <a:rPr lang="en-US" altLang="zh-CN" i="1" dirty="0"/>
              <a:t>Y</a:t>
            </a:r>
            <a:r>
              <a:rPr lang="en-US" altLang="zh-CN" dirty="0"/>
              <a:t>→</a:t>
            </a:r>
            <a:r>
              <a:rPr lang="en-US" altLang="zh-CN" i="1" dirty="0"/>
              <a:t>X</a:t>
            </a:r>
            <a:r>
              <a:rPr lang="zh-CN" altLang="en-US" dirty="0"/>
              <a:t>，则记作</a:t>
            </a:r>
            <a:r>
              <a:rPr lang="en-US" altLang="zh-CN" i="1" dirty="0">
                <a:solidFill>
                  <a:srgbClr val="0000FF"/>
                </a:solidFill>
              </a:rPr>
              <a:t>X</a:t>
            </a:r>
            <a:r>
              <a:rPr lang="en-US" altLang="zh-CN" dirty="0">
                <a:solidFill>
                  <a:srgbClr val="0000FF"/>
                </a:solidFill>
              </a:rPr>
              <a:t>←→</a:t>
            </a:r>
            <a:r>
              <a:rPr lang="en-US" altLang="zh-CN" i="1" dirty="0">
                <a:solidFill>
                  <a:srgbClr val="0000FF"/>
                </a:solidFill>
              </a:rPr>
              <a:t>Y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indent="-436245" eaLnBrk="1" hangingPunct="1">
              <a:lnSpc>
                <a:spcPct val="160000"/>
              </a:lnSpc>
            </a:pPr>
            <a:r>
              <a:rPr lang="zh-CN" altLang="en-US" dirty="0"/>
              <a:t>若</a:t>
            </a:r>
            <a:r>
              <a:rPr lang="en-US" altLang="zh-CN" i="1" dirty="0"/>
              <a:t>Y</a:t>
            </a:r>
            <a:r>
              <a:rPr lang="zh-CN" altLang="en-US" dirty="0"/>
              <a:t>不函数依赖于</a:t>
            </a:r>
            <a:r>
              <a:rPr lang="en-US" altLang="zh-CN" i="1" dirty="0"/>
              <a:t>X</a:t>
            </a:r>
            <a:r>
              <a:rPr lang="zh-CN" altLang="en-US" dirty="0"/>
              <a:t>，则记作</a:t>
            </a:r>
            <a:r>
              <a:rPr lang="en-US" altLang="zh-CN" i="1" dirty="0">
                <a:solidFill>
                  <a:srgbClr val="0000FF"/>
                </a:solidFill>
              </a:rPr>
              <a:t>X</a:t>
            </a:r>
            <a:r>
              <a:rPr lang="en-US" altLang="zh-CN" b="1" dirty="0">
                <a:solidFill>
                  <a:srgbClr val="0000FF"/>
                </a:solidFill>
              </a:rPr>
              <a:t>→</a:t>
            </a:r>
            <a:r>
              <a:rPr lang="en-US" altLang="zh-CN" i="1" dirty="0">
                <a:solidFill>
                  <a:srgbClr val="0000FF"/>
                </a:solidFill>
              </a:rPr>
              <a:t>Y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1203" name="Line 6"/>
          <p:cNvSpPr/>
          <p:nvPr/>
        </p:nvSpPr>
        <p:spPr>
          <a:xfrm>
            <a:off x="7880350" y="4148138"/>
            <a:ext cx="144463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三、完全函数依赖与部分函数依赖</a:t>
            </a:r>
            <a:endParaRPr lang="zh-CN" altLang="en-US" sz="2800" dirty="0"/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>
          <a:xfrm>
            <a:off x="1992313" y="1169988"/>
            <a:ext cx="8275637" cy="31067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6.2</a:t>
            </a:r>
            <a:r>
              <a:rPr lang="en-US" altLang="zh-CN" sz="2400" dirty="0"/>
              <a:t>  </a:t>
            </a:r>
            <a:r>
              <a:rPr lang="zh-CN" altLang="en-US" sz="2400" dirty="0"/>
              <a:t>在</a:t>
            </a:r>
            <a:r>
              <a:rPr lang="en-US" altLang="zh-CN" sz="2400" dirty="0"/>
              <a:t>R(U)</a:t>
            </a:r>
            <a:r>
              <a:rPr lang="zh-CN" altLang="en-US" sz="2400" dirty="0"/>
              <a:t>中，如果</a:t>
            </a:r>
            <a:r>
              <a:rPr lang="en-US" altLang="zh-CN" sz="2400" dirty="0"/>
              <a:t>X→Y</a:t>
            </a:r>
            <a:r>
              <a:rPr lang="zh-CN" altLang="en-US" sz="2400" dirty="0"/>
              <a:t>，并且对于</a:t>
            </a:r>
            <a:r>
              <a:rPr lang="en-US" altLang="zh-CN" sz="2400" dirty="0"/>
              <a:t>X</a:t>
            </a:r>
            <a:r>
              <a:rPr lang="zh-CN" altLang="en-US" sz="2400" dirty="0"/>
              <a:t>的任何一个真子集</a:t>
            </a:r>
            <a:r>
              <a:rPr lang="en-US" altLang="zh-CN" sz="2400" dirty="0"/>
              <a:t>X’</a:t>
            </a:r>
            <a:r>
              <a:rPr lang="zh-CN" altLang="en-US" sz="2400" dirty="0"/>
              <a:t>，都有</a:t>
            </a:r>
            <a:r>
              <a:rPr lang="en-US" altLang="zh-CN" sz="2400" dirty="0"/>
              <a:t>X’     Y, </a:t>
            </a:r>
            <a:r>
              <a:rPr lang="zh-CN" altLang="en-US" sz="2400" dirty="0"/>
              <a:t>则称</a:t>
            </a:r>
            <a:r>
              <a:rPr lang="en-US" altLang="zh-CN" sz="2400" dirty="0"/>
              <a:t>Y</a:t>
            </a:r>
            <a:r>
              <a:rPr lang="zh-CN" altLang="en-US" sz="2400" dirty="0"/>
              <a:t>对</a:t>
            </a:r>
            <a:r>
              <a:rPr lang="en-US" altLang="zh-CN" sz="2400" dirty="0"/>
              <a:t>X</a:t>
            </a:r>
            <a:r>
              <a:rPr lang="zh-CN" altLang="en-US" sz="2400" dirty="0">
                <a:solidFill>
                  <a:srgbClr val="FF00FF"/>
                </a:solidFill>
              </a:rPr>
              <a:t>完全函数依赖</a:t>
            </a:r>
            <a:r>
              <a:rPr lang="zh-CN" altLang="en-US" sz="2400" dirty="0"/>
              <a:t>，记作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X  </a:t>
            </a:r>
            <a:r>
              <a:rPr lang="en-US" altLang="zh-CN" sz="2400" baseline="46000" dirty="0"/>
              <a:t>F</a:t>
            </a:r>
            <a:r>
              <a:rPr lang="en-US" altLang="zh-CN" sz="2400" dirty="0"/>
              <a:t>  Y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  若</a:t>
            </a:r>
            <a:r>
              <a:rPr lang="en-US" altLang="zh-CN" sz="2400" dirty="0"/>
              <a:t>X→Y</a:t>
            </a:r>
            <a:r>
              <a:rPr lang="zh-CN" altLang="en-US" sz="2400" dirty="0"/>
              <a:t>，但</a:t>
            </a:r>
            <a:r>
              <a:rPr lang="en-US" altLang="zh-CN" sz="2400" dirty="0"/>
              <a:t>Y</a:t>
            </a:r>
            <a:r>
              <a:rPr lang="zh-CN" altLang="en-US" sz="2400" dirty="0"/>
              <a:t>不完全函数依赖于</a:t>
            </a:r>
            <a:r>
              <a:rPr lang="en-US" altLang="zh-CN" sz="2400" dirty="0"/>
              <a:t>X</a:t>
            </a:r>
            <a:r>
              <a:rPr lang="zh-CN" altLang="en-US" sz="2400" dirty="0"/>
              <a:t>，则称</a:t>
            </a:r>
            <a:r>
              <a:rPr lang="en-US" altLang="zh-CN" sz="2400" dirty="0"/>
              <a:t>Y</a:t>
            </a:r>
            <a:r>
              <a:rPr lang="zh-CN" altLang="en-US" sz="2400" dirty="0"/>
              <a:t>对</a:t>
            </a:r>
            <a:r>
              <a:rPr lang="en-US" altLang="zh-CN" sz="2400" dirty="0"/>
              <a:t>X</a:t>
            </a:r>
            <a:r>
              <a:rPr lang="zh-CN" altLang="en-US" sz="2400" dirty="0">
                <a:solidFill>
                  <a:srgbClr val="FF00FF"/>
                </a:solidFill>
              </a:rPr>
              <a:t>部分函数依赖</a:t>
            </a:r>
            <a:r>
              <a:rPr lang="zh-CN" altLang="en-US" sz="2400" dirty="0"/>
              <a:t>，记作</a:t>
            </a:r>
            <a:r>
              <a:rPr lang="en-US" altLang="zh-CN" sz="2400" dirty="0"/>
              <a:t>X   </a:t>
            </a:r>
            <a:r>
              <a:rPr lang="en-US" altLang="zh-CN" sz="2400" baseline="30000" dirty="0"/>
              <a:t>P</a:t>
            </a:r>
            <a:r>
              <a:rPr lang="en-US" altLang="zh-CN" sz="2400" dirty="0"/>
              <a:t>   Y</a:t>
            </a:r>
            <a:r>
              <a:rPr lang="zh-CN" altLang="en-US" sz="2400" dirty="0"/>
              <a:t>。</a:t>
            </a:r>
            <a:endParaRPr lang="zh-CN" altLang="en-US" dirty="0"/>
          </a:p>
          <a:p>
            <a:pPr eaLnBrk="1" hangingPunct="1">
              <a:buNone/>
            </a:pPr>
            <a:endParaRPr lang="en-US" altLang="zh-CN" sz="2400" dirty="0"/>
          </a:p>
        </p:txBody>
      </p:sp>
      <p:grpSp>
        <p:nvGrpSpPr>
          <p:cNvPr id="53251" name="Group 14"/>
          <p:cNvGrpSpPr/>
          <p:nvPr/>
        </p:nvGrpSpPr>
        <p:grpSpPr>
          <a:xfrm>
            <a:off x="4727575" y="1773238"/>
            <a:ext cx="381000" cy="290512"/>
            <a:chOff x="2145" y="1439"/>
            <a:chExt cx="240" cy="183"/>
          </a:xfrm>
        </p:grpSpPr>
        <p:sp>
          <p:nvSpPr>
            <p:cNvPr id="53252" name="Line 4"/>
            <p:cNvSpPr/>
            <p:nvPr/>
          </p:nvSpPr>
          <p:spPr>
            <a:xfrm>
              <a:off x="2190" y="1439"/>
              <a:ext cx="180" cy="1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3" name="Line 5"/>
            <p:cNvSpPr/>
            <p:nvPr/>
          </p:nvSpPr>
          <p:spPr>
            <a:xfrm>
              <a:off x="2145" y="1529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53254" name="Line 6"/>
          <p:cNvSpPr/>
          <p:nvPr/>
        </p:nvSpPr>
        <p:spPr>
          <a:xfrm>
            <a:off x="4138613" y="3644900"/>
            <a:ext cx="503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3255" name="Line 7"/>
          <p:cNvSpPr/>
          <p:nvPr/>
        </p:nvSpPr>
        <p:spPr>
          <a:xfrm>
            <a:off x="2928938" y="2565400"/>
            <a:ext cx="3587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" name="Group 15"/>
          <p:cNvGrpSpPr/>
          <p:nvPr/>
        </p:nvGrpSpPr>
        <p:grpSpPr>
          <a:xfrm>
            <a:off x="2351088" y="4149725"/>
            <a:ext cx="8167687" cy="1825625"/>
            <a:chOff x="457" y="2643"/>
            <a:chExt cx="5145" cy="1150"/>
          </a:xfrm>
        </p:grpSpPr>
        <p:sp>
          <p:nvSpPr>
            <p:cNvPr id="53257" name="Rectangle 10"/>
            <p:cNvSpPr/>
            <p:nvPr/>
          </p:nvSpPr>
          <p:spPr>
            <a:xfrm>
              <a:off x="457" y="2723"/>
              <a:ext cx="5145" cy="10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 eaLnBrk="0" hangingPunct="0"/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[  U ] 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中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(Sno,Cno)→Grade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是完全函数依赖，</a:t>
              </a:r>
              <a:endPara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 marL="342900" indent="-342900" eaLnBrk="0" hangingPunct="0">
                <a:lnSpc>
                  <a:spcPct val="150000"/>
                </a:lnSpc>
              </a:pP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            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(Sno,Cno)→Sdept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是部分函数依赖</a:t>
              </a:r>
              <a:endPara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 marL="342900" indent="-342900" eaLnBrk="0" hangingPunct="0">
                <a:lnSpc>
                  <a:spcPct val="150000"/>
                </a:lnSpc>
              </a:pP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因为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Sno →Sdept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成立，且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Sno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是（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Sno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Cno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）的真子集</a:t>
              </a:r>
              <a:endPara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8" name="Text Box 11"/>
            <p:cNvSpPr txBox="1"/>
            <p:nvPr/>
          </p:nvSpPr>
          <p:spPr>
            <a:xfrm>
              <a:off x="2238" y="2643"/>
              <a:ext cx="203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t" anchorCtr="0">
              <a:spAutoFit/>
            </a:bodyPr>
            <a:p>
              <a:pPr marL="342900" indent="-342900"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59" name="Text Box 12"/>
            <p:cNvSpPr txBox="1"/>
            <p:nvPr/>
          </p:nvSpPr>
          <p:spPr>
            <a:xfrm>
              <a:off x="2285" y="2960"/>
              <a:ext cx="203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t" anchorCtr="0">
              <a:spAutoFit/>
            </a:bodyPr>
            <a:p>
              <a:pPr marL="342900" indent="-342900"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260" name="TextBox 1"/>
          <p:cNvSpPr txBox="1"/>
          <p:nvPr/>
        </p:nvSpPr>
        <p:spPr>
          <a:xfrm>
            <a:off x="2135188" y="3716338"/>
            <a:ext cx="72009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U 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＝｛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Sno, Sdept, Mname, Cno, Grade 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｝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四、传递函数依赖</a:t>
            </a:r>
            <a:endParaRPr lang="zh-CN" altLang="en-US" sz="3200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2351088" y="1700213"/>
            <a:ext cx="7772400" cy="44037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6.3</a:t>
            </a:r>
            <a:r>
              <a:rPr lang="en-US" altLang="zh-CN" sz="2400" dirty="0"/>
              <a:t>  </a:t>
            </a:r>
            <a:r>
              <a:rPr lang="zh-CN" altLang="en-US" sz="2400" dirty="0"/>
              <a:t>在</a:t>
            </a:r>
            <a:r>
              <a:rPr lang="en-US" altLang="zh-CN" sz="2400" dirty="0"/>
              <a:t>R(U)</a:t>
            </a:r>
            <a:r>
              <a:rPr lang="zh-CN" altLang="en-US" sz="2400" dirty="0"/>
              <a:t>中，如果</a:t>
            </a:r>
            <a:r>
              <a:rPr lang="en-US" altLang="zh-CN" sz="2400" dirty="0"/>
              <a:t>X→Y</a:t>
            </a:r>
            <a:r>
              <a:rPr lang="zh-CN" altLang="en-US" sz="2400" dirty="0"/>
              <a:t>，</a:t>
            </a:r>
            <a:r>
              <a:rPr lang="en-US" altLang="zh-CN" sz="2400" dirty="0"/>
              <a:t>(Y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X) ,Y→X Y→Z</a:t>
            </a:r>
            <a:r>
              <a:rPr lang="zh-CN" altLang="en-US" sz="2400" dirty="0"/>
              <a:t>， </a:t>
            </a:r>
            <a:r>
              <a:rPr lang="en-US" altLang="zh-CN" sz="2400" dirty="0"/>
              <a:t>(Z </a:t>
            </a:r>
            <a:r>
              <a:rPr lang="en-US" altLang="zh-CN" sz="2400" dirty="0">
                <a:sym typeface="Symbol" panose="05050102010706020507" pitchFamily="18" charset="2"/>
              </a:rPr>
              <a:t>Y</a:t>
            </a:r>
            <a:r>
              <a:rPr lang="en-US" altLang="zh-CN" sz="2400" dirty="0"/>
              <a:t>)</a:t>
            </a:r>
            <a:r>
              <a:rPr lang="zh-CN" altLang="en-US" sz="2400" dirty="0"/>
              <a:t>则称</a:t>
            </a:r>
            <a:r>
              <a:rPr lang="en-US" altLang="zh-CN" sz="2400" dirty="0"/>
              <a:t>Z</a:t>
            </a:r>
            <a:r>
              <a:rPr lang="zh-CN" altLang="en-US" sz="2400" dirty="0"/>
              <a:t>对</a:t>
            </a:r>
            <a:r>
              <a:rPr lang="en-US" altLang="zh-CN" sz="2400" dirty="0"/>
              <a:t>X</a:t>
            </a:r>
            <a:r>
              <a:rPr lang="zh-CN" altLang="en-US" sz="2400" dirty="0">
                <a:solidFill>
                  <a:srgbClr val="FF00FF"/>
                </a:solidFill>
              </a:rPr>
              <a:t>传递函数依赖</a:t>
            </a:r>
            <a:r>
              <a:rPr lang="zh-CN" altLang="en-US" sz="2400" dirty="0"/>
              <a:t>。记为：</a:t>
            </a:r>
            <a:r>
              <a:rPr lang="en-US" altLang="zh-CN" sz="2400" dirty="0"/>
              <a:t>X → Z</a:t>
            </a:r>
            <a:endParaRPr lang="en-US" altLang="zh-CN" sz="2400" dirty="0"/>
          </a:p>
          <a:p>
            <a:pPr eaLnBrk="1" hangingPunct="1">
              <a:buNone/>
            </a:pP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注</a:t>
            </a:r>
            <a:r>
              <a:rPr lang="en-US" altLang="zh-CN" sz="2400" dirty="0"/>
              <a:t>: </a:t>
            </a:r>
            <a:r>
              <a:rPr lang="zh-CN" altLang="en-US" sz="2400" dirty="0"/>
              <a:t>如果</a:t>
            </a:r>
            <a:r>
              <a:rPr lang="en-US" altLang="zh-CN" sz="2400" dirty="0"/>
              <a:t>Y→X</a:t>
            </a:r>
            <a:r>
              <a:rPr lang="zh-CN" altLang="en-US" sz="2400" dirty="0"/>
              <a:t>， 即</a:t>
            </a:r>
            <a:r>
              <a:rPr lang="en-US" altLang="zh-CN" sz="2400" dirty="0"/>
              <a:t>X←→Y</a:t>
            </a:r>
            <a:r>
              <a:rPr lang="zh-CN" altLang="en-US" sz="2400" dirty="0"/>
              <a:t>，则</a:t>
            </a:r>
            <a:r>
              <a:rPr lang="en-US" altLang="zh-CN" sz="2400" dirty="0">
                <a:solidFill>
                  <a:srgbClr val="FF00FF"/>
                </a:solidFill>
              </a:rPr>
              <a:t>Z</a:t>
            </a:r>
            <a:r>
              <a:rPr lang="zh-CN" altLang="en-US" sz="2400" dirty="0">
                <a:solidFill>
                  <a:srgbClr val="FF00FF"/>
                </a:solidFill>
              </a:rPr>
              <a:t>直接依赖于</a:t>
            </a:r>
            <a:r>
              <a:rPr lang="en-US" altLang="zh-CN" sz="2400" dirty="0">
                <a:solidFill>
                  <a:srgbClr val="FF00FF"/>
                </a:solidFill>
              </a:rPr>
              <a:t>X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个方面：</a:t>
            </a:r>
            <a:r>
              <a:rPr lang="en-US" altLang="zh-CN" sz="2400" dirty="0"/>
              <a:t> X→Y</a:t>
            </a:r>
            <a:r>
              <a:rPr lang="zh-CN" altLang="en-US" sz="2400" dirty="0"/>
              <a:t>，</a:t>
            </a:r>
            <a:r>
              <a:rPr lang="en-US" altLang="zh-CN" sz="2400" dirty="0"/>
              <a:t>(Y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X) ,Y→X </a:t>
            </a:r>
            <a:r>
              <a:rPr lang="zh-CN" altLang="en-US" sz="2400" dirty="0"/>
              <a:t>，</a:t>
            </a:r>
            <a:r>
              <a:rPr lang="en-US" altLang="zh-CN" sz="2400" dirty="0"/>
              <a:t>Y→Z </a:t>
            </a:r>
            <a:r>
              <a:rPr lang="zh-CN" altLang="en-US" sz="2400" dirty="0"/>
              <a:t>，</a:t>
            </a:r>
            <a:r>
              <a:rPr lang="en-US" altLang="zh-CN" sz="2400" dirty="0"/>
              <a:t>(Z </a:t>
            </a:r>
            <a:r>
              <a:rPr lang="en-US" altLang="zh-CN" sz="2400" dirty="0">
                <a:sym typeface="Symbol" panose="05050102010706020507" pitchFamily="18" charset="2"/>
              </a:rPr>
              <a:t>Y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: </a:t>
            </a:r>
            <a:r>
              <a:rPr lang="zh-CN" altLang="en-US" sz="2400" dirty="0"/>
              <a:t>在关系</a:t>
            </a:r>
            <a:r>
              <a:rPr lang="en-US" altLang="zh-CN" sz="2400" dirty="0"/>
              <a:t>Std(Sno, Sdept, Mname)</a:t>
            </a:r>
            <a:r>
              <a:rPr lang="zh-CN" altLang="en-US" sz="2400" dirty="0"/>
              <a:t>中，有：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	  </a:t>
            </a:r>
            <a:r>
              <a:rPr lang="en-US" altLang="zh-CN" sz="2400" dirty="0"/>
              <a:t>Sno → Sdept</a:t>
            </a:r>
            <a:r>
              <a:rPr lang="zh-CN" altLang="en-US" sz="2400" dirty="0"/>
              <a:t>，</a:t>
            </a:r>
            <a:r>
              <a:rPr lang="en-US" altLang="zh-CN" sz="2400" dirty="0"/>
              <a:t>Sdept → Mname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      Mname</a:t>
            </a:r>
            <a:r>
              <a:rPr lang="zh-CN" altLang="en-US" sz="2400" dirty="0"/>
              <a:t>传递函数依赖于</a:t>
            </a:r>
            <a:r>
              <a:rPr lang="en-US" altLang="zh-CN" sz="2400" dirty="0"/>
              <a:t>Sno</a:t>
            </a:r>
            <a:endParaRPr lang="en-US" altLang="zh-CN" sz="2400" dirty="0"/>
          </a:p>
          <a:p>
            <a:pPr eaLnBrk="1" hangingPunct="1">
              <a:buNone/>
            </a:pPr>
            <a:endParaRPr lang="en-US" altLang="zh-CN" sz="2400" dirty="0"/>
          </a:p>
        </p:txBody>
      </p:sp>
      <p:sp>
        <p:nvSpPr>
          <p:cNvPr id="55299" name="Line 4"/>
          <p:cNvSpPr/>
          <p:nvPr/>
        </p:nvSpPr>
        <p:spPr>
          <a:xfrm>
            <a:off x="7518400" y="1916113"/>
            <a:ext cx="215900" cy="3603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300" name="Line 6"/>
          <p:cNvSpPr/>
          <p:nvPr/>
        </p:nvSpPr>
        <p:spPr>
          <a:xfrm>
            <a:off x="8532813" y="1930400"/>
            <a:ext cx="228600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301" name="Text Box 7"/>
          <p:cNvSpPr txBox="1"/>
          <p:nvPr/>
        </p:nvSpPr>
        <p:spPr>
          <a:xfrm>
            <a:off x="8492173" y="2284413"/>
            <a:ext cx="538480" cy="306705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p>
            <a:pPr marL="342900" indent="-342900" algn="ctr"/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传递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2" name="Line 6"/>
          <p:cNvSpPr/>
          <p:nvPr/>
        </p:nvSpPr>
        <p:spPr>
          <a:xfrm>
            <a:off x="6380163" y="3789363"/>
            <a:ext cx="228600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303" name="Line 6"/>
          <p:cNvSpPr/>
          <p:nvPr/>
        </p:nvSpPr>
        <p:spPr>
          <a:xfrm>
            <a:off x="3359150" y="2436813"/>
            <a:ext cx="228600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304" name="Line 6"/>
          <p:cNvSpPr/>
          <p:nvPr/>
        </p:nvSpPr>
        <p:spPr>
          <a:xfrm>
            <a:off x="8916988" y="3867150"/>
            <a:ext cx="228600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305" name="Line 4"/>
          <p:cNvSpPr/>
          <p:nvPr/>
        </p:nvSpPr>
        <p:spPr>
          <a:xfrm>
            <a:off x="5448300" y="3838575"/>
            <a:ext cx="215900" cy="36036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6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>
                                            <p:txEl>
                                              <p:charRg st="6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>
                                            <p:txEl>
                                              <p:charRg st="6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92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>
                                            <p:txEl>
                                              <p:charRg st="92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4">
                                            <p:txEl>
                                              <p:charRg st="92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12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4">
                                            <p:txEl>
                                              <p:charRg st="12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4">
                                            <p:txEl>
                                              <p:charRg st="12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16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4">
                                            <p:txEl>
                                              <p:charRg st="16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4">
                                            <p:txEl>
                                              <p:charRg st="16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charRg st="189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4">
                                            <p:txEl>
                                              <p:charRg st="189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4">
                                            <p:txEl>
                                              <p:charRg st="189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例题：</a:t>
            </a:r>
            <a:endParaRPr lang="zh-CN" altLang="en-US" dirty="0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2400" dirty="0"/>
              <a:t>平凡函数依赖，非平凡函数依赖</a:t>
            </a:r>
            <a:endParaRPr lang="en-US" altLang="zh-CN" sz="2400" dirty="0"/>
          </a:p>
          <a:p>
            <a:r>
              <a:rPr lang="zh-CN" altLang="en-US" sz="2400" dirty="0"/>
              <a:t>部分函数依赖，完全函数依赖</a:t>
            </a:r>
            <a:endParaRPr lang="en-US" altLang="zh-CN" sz="2400" dirty="0"/>
          </a:p>
          <a:p>
            <a:r>
              <a:rPr lang="zh-CN" altLang="en-US" sz="2400" dirty="0"/>
              <a:t>传递函数依赖</a:t>
            </a:r>
            <a:endParaRPr lang="en-US" altLang="zh-CN" sz="2400" dirty="0"/>
          </a:p>
          <a:p>
            <a:r>
              <a:rPr lang="en-US" altLang="zh-CN" sz="2400" dirty="0"/>
              <a:t>Studen(SId,Sno,Sname,ssex,sage)</a:t>
            </a:r>
            <a:endParaRPr lang="en-US" altLang="zh-CN" sz="2400" dirty="0"/>
          </a:p>
          <a:p>
            <a:r>
              <a:rPr lang="zh-CN" altLang="en-US" sz="2400" dirty="0"/>
              <a:t>（身份证号，学号，姓名，性别，年龄）</a:t>
            </a:r>
            <a:endParaRPr lang="en-US" altLang="zh-CN" sz="2400" dirty="0"/>
          </a:p>
          <a:p>
            <a:r>
              <a:rPr lang="zh-CN" altLang="en-US" sz="2400" dirty="0"/>
              <a:t>分析这个表的函数依赖关系有哪些。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Sid →Sname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是一个非平凡函数依赖？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(Sid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Sno) →Sno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是一个平凡函数依赖？ 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(Sid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Sno) →Sname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是一个部分函数依赖？ 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Sname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传递函数依赖于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？ 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ts val="1200"/>
              </a:spcBef>
            </a:pPr>
            <a:endParaRPr lang="zh-CN" altLang="en-US" sz="2400" dirty="0">
              <a:solidFill>
                <a:srgbClr val="639EF4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3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charRg st="3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charRg st="3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charRg st="6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7">
                                            <p:txEl>
                                              <p:charRg st="6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47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04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47">
                                            <p:txEl>
                                              <p:charRg st="104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47">
                                            <p:txEl>
                                              <p:charRg st="104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26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747">
                                            <p:txEl>
                                              <p:charRg st="126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47">
                                            <p:txEl>
                                              <p:charRg st="126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52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747">
                                            <p:txEl>
                                              <p:charRg st="152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747">
                                            <p:txEl>
                                              <p:charRg st="152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80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747">
                                            <p:txEl>
                                              <p:charRg st="180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747">
                                            <p:txEl>
                                              <p:charRg st="180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58370" name="Rectangle 3"/>
          <p:cNvSpPr>
            <a:spLocks noGrp="1"/>
          </p:cNvSpPr>
          <p:nvPr>
            <p:ph idx="1"/>
          </p:nvPr>
        </p:nvSpPr>
        <p:spPr>
          <a:xfrm>
            <a:off x="2424113" y="1268413"/>
            <a:ext cx="7643812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6.2.2  </a:t>
            </a:r>
            <a:r>
              <a:rPr lang="zh-CN" altLang="en-US" sz="2400" b="1" dirty="0">
                <a:solidFill>
                  <a:srgbClr val="3333FF"/>
                </a:solidFill>
              </a:rPr>
              <a:t>码</a:t>
            </a:r>
            <a:endParaRPr lang="zh-CN" altLang="en-US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6.2.2 </a:t>
            </a:r>
            <a:r>
              <a:rPr lang="zh-CN" altLang="en-US" dirty="0"/>
              <a:t>码</a:t>
            </a:r>
            <a:endParaRPr lang="zh-CN" altLang="en-US" dirty="0"/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801370" y="1196975"/>
            <a:ext cx="10172700" cy="177292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6.4</a:t>
            </a:r>
            <a:r>
              <a:rPr lang="en-US" altLang="zh-CN" sz="2400" dirty="0"/>
              <a:t>  </a:t>
            </a:r>
            <a:r>
              <a:rPr lang="zh-CN" altLang="en-US" sz="2400" dirty="0"/>
              <a:t>设</a:t>
            </a:r>
            <a:r>
              <a:rPr lang="en-US" altLang="zh-CN" sz="2400" dirty="0"/>
              <a:t>K</a:t>
            </a:r>
            <a:r>
              <a:rPr lang="zh-CN" altLang="en-US" sz="2400" dirty="0"/>
              <a:t>为</a:t>
            </a:r>
            <a:r>
              <a:rPr lang="en-US" altLang="zh-CN" sz="2400" dirty="0"/>
              <a:t>R&lt;U,F&gt;</a:t>
            </a:r>
            <a:r>
              <a:rPr lang="zh-CN" altLang="en-US" sz="2400" dirty="0"/>
              <a:t>中的属性或属性组合。若</a:t>
            </a:r>
            <a:r>
              <a:rPr lang="en-US" altLang="zh-CN" sz="2400" dirty="0"/>
              <a:t>K </a:t>
            </a:r>
            <a:r>
              <a:rPr lang="en-US" altLang="zh-CN" sz="2400" dirty="0">
                <a:sym typeface="+mn-ea"/>
              </a:rPr>
              <a:t>→</a:t>
            </a:r>
            <a:r>
              <a:rPr lang="en-US" altLang="zh-CN" sz="2400" baseline="46000" dirty="0"/>
              <a:t>  </a:t>
            </a:r>
            <a:r>
              <a:rPr lang="en-US" altLang="zh-CN" sz="2400" dirty="0"/>
              <a:t>U</a:t>
            </a:r>
            <a:r>
              <a:rPr lang="zh-CN" altLang="en-US" sz="2400" dirty="0"/>
              <a:t>，  则</a:t>
            </a:r>
            <a:r>
              <a:rPr lang="en-US" altLang="zh-CN" sz="2400" dirty="0"/>
              <a:t>K</a:t>
            </a:r>
            <a:r>
              <a:rPr lang="zh-CN" altLang="en-US" sz="2400" dirty="0"/>
              <a:t>称为</a:t>
            </a:r>
            <a:r>
              <a:rPr lang="en-US" altLang="zh-CN" sz="2400" dirty="0"/>
              <a:t>R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FF"/>
                </a:solidFill>
              </a:rPr>
              <a:t>侯选码</a:t>
            </a:r>
            <a:r>
              <a:rPr lang="zh-CN" altLang="en-US" sz="2400" dirty="0"/>
              <a:t>（</a:t>
            </a:r>
            <a:r>
              <a:rPr lang="en-US" altLang="zh-CN" sz="2400" dirty="0"/>
              <a:t>Candidate Key</a:t>
            </a:r>
            <a:r>
              <a:rPr lang="zh-CN" altLang="en-US" sz="2400" dirty="0"/>
              <a:t>）。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若候选码多于一个，则选定其中的一个做为</a:t>
            </a:r>
            <a:r>
              <a:rPr lang="zh-CN" altLang="en-US" sz="2400" dirty="0">
                <a:solidFill>
                  <a:srgbClr val="FF00FF"/>
                </a:solidFill>
              </a:rPr>
              <a:t>主码</a:t>
            </a:r>
            <a:r>
              <a:rPr lang="zh-CN" altLang="en-US" sz="2400" dirty="0"/>
              <a:t>（</a:t>
            </a:r>
            <a:r>
              <a:rPr lang="en-US" altLang="zh-CN" sz="2400" dirty="0"/>
              <a:t>Primary Key</a:t>
            </a:r>
            <a:r>
              <a:rPr lang="zh-CN" altLang="en-US" sz="2400" dirty="0"/>
              <a:t>）。</a:t>
            </a:r>
            <a:endParaRPr lang="zh-CN" altLang="en-US" sz="2400" dirty="0"/>
          </a:p>
        </p:txBody>
      </p:sp>
      <p:sp>
        <p:nvSpPr>
          <p:cNvPr id="60420" name="Text Box 5"/>
          <p:cNvSpPr txBox="1"/>
          <p:nvPr/>
        </p:nvSpPr>
        <p:spPr>
          <a:xfrm>
            <a:off x="7967822" y="1196975"/>
            <a:ext cx="295910" cy="337185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p>
            <a:pPr marL="342900" indent="-342900" algn="ctr"/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46" name="Rectangle 6"/>
          <p:cNvSpPr/>
          <p:nvPr/>
        </p:nvSpPr>
        <p:spPr>
          <a:xfrm>
            <a:off x="1199515" y="3068955"/>
            <a:ext cx="9846310" cy="27539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主属性与非主属性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包含在任何一个候选码中的属性 ，称为主属性（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Prime attribute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） 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不包含在任何码中的属性称为非主属性（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Nonprime attribute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）或非码属性（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Non-key attribute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） 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全码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整个属性组是码，称为全码（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All-key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） </a:t>
            </a:r>
            <a:endParaRPr lang="zh-CN" altLang="en-US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6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6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charRg st="62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6">
                                            <p:txEl>
                                              <p:charRg st="62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6">
                                            <p:txEl>
                                              <p:charRg st="62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  <p:bldP spid="4198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码（续）</a:t>
            </a:r>
            <a:endParaRPr lang="zh-CN" altLang="en-US" sz="3200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2259013" y="1196975"/>
            <a:ext cx="7570787" cy="25209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dirty="0"/>
              <a:t>关系模式</a:t>
            </a:r>
            <a:r>
              <a:rPr lang="en-US" altLang="zh-CN" sz="2200" dirty="0"/>
              <a:t>S(</a:t>
            </a:r>
            <a:r>
              <a:rPr lang="en-US" altLang="zh-CN" sz="2200" u="sng" dirty="0"/>
              <a:t>Sno</a:t>
            </a:r>
            <a:r>
              <a:rPr lang="en-US" altLang="zh-CN" sz="2200" dirty="0"/>
              <a:t>,Sdept,Sage)</a:t>
            </a:r>
            <a:endParaRPr lang="en-US" altLang="zh-CN" sz="22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dirty="0"/>
              <a:t> 单个属性</a:t>
            </a:r>
            <a:r>
              <a:rPr lang="en-US" altLang="zh-CN" sz="2200" dirty="0"/>
              <a:t>Sno</a:t>
            </a:r>
            <a:r>
              <a:rPr lang="zh-CN" altLang="en-US" sz="2200" dirty="0"/>
              <a:t>是码，</a:t>
            </a:r>
            <a:endParaRPr lang="zh-CN" altLang="en-US" sz="22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dirty="0"/>
              <a:t>  </a:t>
            </a:r>
            <a:r>
              <a:rPr lang="en-US" altLang="zh-CN" sz="2200" dirty="0"/>
              <a:t>SC</a:t>
            </a:r>
            <a:r>
              <a:rPr lang="zh-CN" altLang="en-US" sz="2200" dirty="0"/>
              <a:t>（</a:t>
            </a:r>
            <a:r>
              <a:rPr lang="en-US" altLang="zh-CN" sz="2200" u="sng" dirty="0"/>
              <a:t>Sno</a:t>
            </a:r>
            <a:r>
              <a:rPr lang="zh-CN" altLang="en-US" sz="2200" u="sng" dirty="0"/>
              <a:t>，</a:t>
            </a:r>
            <a:r>
              <a:rPr lang="en-US" altLang="zh-CN" sz="2200" u="sng" dirty="0"/>
              <a:t>Cno</a:t>
            </a:r>
            <a:r>
              <a:rPr lang="zh-CN" altLang="en-US" sz="2200" dirty="0"/>
              <a:t>，</a:t>
            </a:r>
            <a:r>
              <a:rPr lang="en-US" altLang="zh-CN" sz="2200" dirty="0"/>
              <a:t>Grade</a:t>
            </a:r>
            <a:r>
              <a:rPr lang="zh-CN" altLang="en-US" sz="2200" dirty="0"/>
              <a:t>）中</a:t>
            </a:r>
            <a:endParaRPr lang="en-US" altLang="zh-CN" sz="22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Sno</a:t>
            </a:r>
            <a:r>
              <a:rPr lang="zh-CN" altLang="en-US" sz="2200" dirty="0"/>
              <a:t>，</a:t>
            </a:r>
            <a:r>
              <a:rPr lang="en-US" altLang="zh-CN" sz="2200" dirty="0"/>
              <a:t>Cno</a:t>
            </a:r>
            <a:r>
              <a:rPr lang="zh-CN" altLang="en-US" sz="2200" dirty="0"/>
              <a:t>）是码</a:t>
            </a:r>
            <a:endParaRPr lang="zh-CN" altLang="en-US" sz="2200" dirty="0"/>
          </a:p>
        </p:txBody>
      </p:sp>
      <p:sp>
        <p:nvSpPr>
          <p:cNvPr id="546820" name="Rectangle 4"/>
          <p:cNvSpPr/>
          <p:nvPr/>
        </p:nvSpPr>
        <p:spPr>
          <a:xfrm>
            <a:off x="2279650" y="3397250"/>
            <a:ext cx="7570788" cy="3271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]</a:t>
            </a:r>
            <a:endParaRPr lang="en-US" altLang="zh-CN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关系模式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W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：演奏者     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W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：作品    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：听众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       一个演奏者可以演奏多个作品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       某一作品可被多个演奏者演奏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       听众可以欣赏不同演奏者的不同作品</a:t>
            </a:r>
            <a:endParaRPr lang="zh-CN" altLang="en-US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       码为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(P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W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A)</a:t>
            </a:r>
            <a:r>
              <a:rPr lang="zh-CN" altLang="en-US" sz="2200" dirty="0">
                <a:latin typeface="Verdana" panose="020B0604030504040204" pitchFamily="34" charset="0"/>
                <a:ea typeface="宋体" panose="02010600030101010101" pitchFamily="2" charset="-122"/>
              </a:rPr>
              <a:t>，即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All-Key  </a:t>
            </a:r>
            <a:endParaRPr lang="en-US" altLang="zh-CN" sz="2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0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0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0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0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0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0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20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20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68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682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6820">
                                            <p:txEl>
                                              <p:charRg st="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6820">
                                            <p:txEl>
                                              <p:charRg st="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2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6820">
                                            <p:txEl>
                                              <p:charRg st="2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6820">
                                            <p:txEl>
                                              <p:charRg st="2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54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6820">
                                            <p:txEl>
                                              <p:charRg st="54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6820">
                                            <p:txEl>
                                              <p:charRg st="54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7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6820">
                                            <p:txEl>
                                              <p:charRg st="7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6820">
                                            <p:txEl>
                                              <p:charRg st="7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96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6820">
                                            <p:txEl>
                                              <p:charRg st="96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6820">
                                            <p:txEl>
                                              <p:charRg st="96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>
                                            <p:txEl>
                                              <p:charRg st="120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6820">
                                            <p:txEl>
                                              <p:charRg st="120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46820">
                                            <p:txEl>
                                              <p:charRg st="120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uild="p"/>
      <p:bldP spid="546820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2495550" y="1268413"/>
            <a:ext cx="7643813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6.2.3  </a:t>
            </a:r>
            <a:r>
              <a:rPr lang="zh-CN" altLang="en-US" sz="2400" b="1" dirty="0">
                <a:solidFill>
                  <a:srgbClr val="3333FF"/>
                </a:solidFill>
              </a:rPr>
              <a:t>范式</a:t>
            </a:r>
            <a:endParaRPr lang="zh-CN" altLang="en-US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6.2.3 </a:t>
            </a:r>
            <a:r>
              <a:rPr lang="zh-CN" altLang="en-US" dirty="0"/>
              <a:t>范式</a:t>
            </a:r>
            <a:endParaRPr lang="zh-CN" altLang="en-US" dirty="0"/>
          </a:p>
        </p:txBody>
      </p:sp>
      <p:sp>
        <p:nvSpPr>
          <p:cNvPr id="66562" name="Rectangle 3"/>
          <p:cNvSpPr>
            <a:spLocks noGrp="1"/>
          </p:cNvSpPr>
          <p:nvPr>
            <p:ph idx="1"/>
          </p:nvPr>
        </p:nvSpPr>
        <p:spPr>
          <a:xfrm>
            <a:off x="922655" y="1268730"/>
            <a:ext cx="10984230" cy="167132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范式是符合</a:t>
            </a:r>
            <a:r>
              <a:rPr lang="zh-CN" altLang="en-US" sz="2400" dirty="0">
                <a:solidFill>
                  <a:srgbClr val="FF0000"/>
                </a:solidFill>
              </a:rPr>
              <a:t>某一种级别</a:t>
            </a:r>
            <a:r>
              <a:rPr lang="zh-CN" altLang="en-US" sz="2400" dirty="0"/>
              <a:t>的关系模式的集合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关系数据库中的关系必须</a:t>
            </a:r>
            <a:r>
              <a:rPr lang="zh-CN" altLang="en-US" sz="2400" dirty="0">
                <a:solidFill>
                  <a:srgbClr val="FF0000"/>
                </a:solidFill>
              </a:rPr>
              <a:t>满足一定的要求</a:t>
            </a:r>
            <a:r>
              <a:rPr lang="zh-CN" altLang="en-US" sz="2400" dirty="0"/>
              <a:t>，</a:t>
            </a:r>
            <a:r>
              <a:rPr lang="zh-CN" altLang="en-US" sz="2400" dirty="0"/>
              <a:t>满足不同程度要求的为不同范式</a:t>
            </a:r>
            <a:endParaRPr lang="zh-CN" altLang="en-US" sz="2400" dirty="0"/>
          </a:p>
        </p:txBody>
      </p:sp>
      <p:sp>
        <p:nvSpPr>
          <p:cNvPr id="421892" name="AutoShape 4"/>
          <p:cNvSpPr/>
          <p:nvPr/>
        </p:nvSpPr>
        <p:spPr>
          <a:xfrm>
            <a:off x="3575050" y="3500438"/>
            <a:ext cx="304800" cy="2403475"/>
          </a:xfrm>
          <a:prstGeom prst="leftBrace">
            <a:avLst>
              <a:gd name="adj1" fmla="val 62462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1894" name="Rectangle 6"/>
          <p:cNvSpPr/>
          <p:nvPr/>
        </p:nvSpPr>
        <p:spPr>
          <a:xfrm>
            <a:off x="1991360" y="2636203"/>
            <a:ext cx="8229600" cy="3313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范式的种类：	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			 </a:t>
            </a:r>
            <a:r>
              <a:rPr lang="zh-CN" altLang="en-US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第一范式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(1NF)</a:t>
            </a:r>
            <a:endParaRPr lang="en-US" altLang="zh-CN" sz="2800" b="1" dirty="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			 </a:t>
            </a:r>
            <a:r>
              <a:rPr lang="zh-CN" altLang="en-US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第二范式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(2NF)</a:t>
            </a:r>
            <a:endParaRPr lang="en-US" altLang="zh-CN" sz="2800" b="1" dirty="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			 </a:t>
            </a:r>
            <a:r>
              <a:rPr lang="zh-CN" altLang="en-US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第三范式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(3NF)</a:t>
            </a:r>
            <a:endParaRPr lang="en-US" altLang="zh-CN" sz="2800" b="1" dirty="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			 BC</a:t>
            </a:r>
            <a:r>
              <a:rPr lang="zh-CN" altLang="en-US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范式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(BCNF)</a:t>
            </a:r>
            <a:endParaRPr lang="en-US" altLang="zh-CN" sz="2800" b="1" dirty="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			 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第四范式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(4NF)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			 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第五范式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(5NF)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2" grpId="0" bldLvl="0" animBg="1"/>
      <p:bldP spid="42189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6.2.3 </a:t>
            </a:r>
            <a:r>
              <a:rPr lang="zh-CN" altLang="en-US" dirty="0"/>
              <a:t>范式</a:t>
            </a:r>
            <a:endParaRPr lang="zh-CN" altLang="en-US" dirty="0"/>
          </a:p>
        </p:txBody>
      </p:sp>
      <p:sp>
        <p:nvSpPr>
          <p:cNvPr id="686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600" dirty="0"/>
              <a:t>各种范式之间存在联系：</a:t>
            </a:r>
            <a:endParaRPr lang="zh-CN" altLang="en-US" sz="2600" dirty="0"/>
          </a:p>
          <a:p>
            <a:pPr eaLnBrk="1" hangingPunct="1"/>
            <a:endParaRPr lang="zh-CN" altLang="en-US" sz="2600" dirty="0"/>
          </a:p>
          <a:p>
            <a:pPr eaLnBrk="1" hangingPunct="1"/>
            <a:endParaRPr lang="zh-CN" altLang="en-US" sz="26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600" dirty="0"/>
              <a:t>某一关系模式</a:t>
            </a:r>
            <a:r>
              <a:rPr lang="en-US" altLang="zh-CN" sz="2600" dirty="0"/>
              <a:t>R</a:t>
            </a:r>
            <a:r>
              <a:rPr lang="zh-CN" altLang="en-US" sz="2600" dirty="0"/>
              <a:t>为第</a:t>
            </a:r>
            <a:r>
              <a:rPr lang="en-US" altLang="zh-CN" sz="2600" dirty="0"/>
              <a:t>n</a:t>
            </a:r>
            <a:r>
              <a:rPr lang="zh-CN" altLang="en-US" sz="2600" dirty="0"/>
              <a:t>范式，可简记为</a:t>
            </a:r>
            <a:r>
              <a:rPr lang="en-US" altLang="zh-CN" sz="2600" dirty="0"/>
              <a:t>R∈nNF</a:t>
            </a:r>
            <a:r>
              <a:rPr lang="zh-CN" altLang="en-US" sz="2600" dirty="0"/>
              <a:t>。</a:t>
            </a:r>
            <a:endParaRPr lang="zh-CN" altLang="en-US" sz="26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规范化：</a:t>
            </a:r>
            <a:r>
              <a:rPr lang="zh-CN" altLang="en-US" sz="2400" dirty="0"/>
              <a:t>一个低一级范式的关系模式，通过</a:t>
            </a:r>
            <a:r>
              <a:rPr lang="zh-CN" altLang="en-US" sz="2400" dirty="0">
                <a:solidFill>
                  <a:srgbClr val="FF00FF"/>
                </a:solidFill>
              </a:rPr>
              <a:t>模式分解</a:t>
            </a:r>
            <a:r>
              <a:rPr lang="zh-CN" altLang="en-US" sz="2400" dirty="0"/>
              <a:t>可以转换为若干个高一级范式的关系模式的集合，这种过程就叫</a:t>
            </a:r>
            <a:r>
              <a:rPr lang="zh-CN" altLang="en-US" sz="2400" dirty="0">
                <a:solidFill>
                  <a:srgbClr val="FF00FF"/>
                </a:solidFill>
              </a:rPr>
              <a:t>规范化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graphicFrame>
        <p:nvGraphicFramePr>
          <p:cNvPr id="68611" name="Object 4"/>
          <p:cNvGraphicFramePr>
            <a:graphicFrameLocks noChangeAspect="1"/>
          </p:cNvGraphicFramePr>
          <p:nvPr/>
        </p:nvGraphicFramePr>
        <p:xfrm>
          <a:off x="2711450" y="1844675"/>
          <a:ext cx="57292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870200" imgH="177800" progId="Equation.3">
                  <p:embed/>
                </p:oleObj>
              </mc:Choice>
              <mc:Fallback>
                <p:oleObj name="" r:id="rId1" imgW="2870200" imgH="177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1450" y="1844675"/>
                        <a:ext cx="5729288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6.2.3 </a:t>
            </a:r>
            <a:r>
              <a:rPr lang="zh-CN" altLang="en-US" dirty="0"/>
              <a:t>范式</a:t>
            </a:r>
            <a:endParaRPr lang="en-US" altLang="zh-CN" dirty="0"/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1421765" y="1268730"/>
            <a:ext cx="900684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sz="2400" dirty="0"/>
              <a:t>1NF</a:t>
            </a:r>
            <a:r>
              <a:rPr lang="zh-CN" altLang="en-US" sz="2400" dirty="0"/>
              <a:t>的定义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	如果一个关系模式</a:t>
            </a:r>
            <a:r>
              <a:rPr lang="en-US" altLang="zh-CN" sz="2400" dirty="0"/>
              <a:t>R</a:t>
            </a:r>
            <a:r>
              <a:rPr lang="zh-CN" altLang="en-US" sz="2400" dirty="0"/>
              <a:t>的所有属性都是</a:t>
            </a:r>
            <a:r>
              <a:rPr lang="zh-CN" altLang="en-US" sz="2400" dirty="0">
                <a:solidFill>
                  <a:srgbClr val="FF00FF"/>
                </a:solidFill>
              </a:rPr>
              <a:t>不可分的基本数据项</a:t>
            </a:r>
            <a:r>
              <a:rPr lang="zh-CN" altLang="en-US" sz="2400" dirty="0"/>
              <a:t>，同一列中不能有多个值，即实体中的某个属性</a:t>
            </a:r>
            <a:r>
              <a:rPr lang="zh-CN" altLang="en-US" sz="2400" dirty="0">
                <a:solidFill>
                  <a:srgbClr val="FF0000"/>
                </a:solidFill>
              </a:rPr>
              <a:t>不能有多个值或者不能有重复</a:t>
            </a:r>
            <a:r>
              <a:rPr lang="zh-CN" altLang="en-US" sz="2400" dirty="0"/>
              <a:t>的属性。则</a:t>
            </a:r>
            <a:r>
              <a:rPr lang="en-US" altLang="zh-CN" sz="2400" dirty="0"/>
              <a:t>R∈1NF</a:t>
            </a:r>
            <a:endParaRPr lang="en-US" altLang="zh-CN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第一范式是对关系模式的</a:t>
            </a:r>
            <a:r>
              <a:rPr lang="zh-CN" altLang="en-US" sz="2400" dirty="0">
                <a:solidFill>
                  <a:srgbClr val="FF0000"/>
                </a:solidFill>
              </a:rPr>
              <a:t>最起码</a:t>
            </a:r>
            <a:r>
              <a:rPr lang="zh-CN" altLang="en-US" sz="2400" dirty="0"/>
              <a:t>的要求。不满足第一范式的数据库模式不能称为关系数据库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但是满足第一范式的关系模式</a:t>
            </a:r>
            <a:r>
              <a:rPr lang="zh-CN" altLang="en-US" sz="2400" dirty="0">
                <a:solidFill>
                  <a:srgbClr val="FF0000"/>
                </a:solidFill>
              </a:rPr>
              <a:t>并不一定</a:t>
            </a:r>
            <a:r>
              <a:rPr lang="zh-CN" altLang="en-US" sz="2400" dirty="0"/>
              <a:t>是一个好的关系模式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不是</a:t>
            </a:r>
            <a:r>
              <a:rPr lang="en-US" altLang="zh-CN" dirty="0"/>
              <a:t>1NF</a:t>
            </a:r>
            <a:r>
              <a:rPr lang="zh-CN" altLang="en-US" dirty="0"/>
              <a:t>的例子</a:t>
            </a:r>
            <a:endParaRPr lang="zh-CN" altLang="en-US" dirty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2091055" y="1071245"/>
            <a:ext cx="8001000" cy="470979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（导师，专业，研究生）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（张三，软件工程，张华 赵兴 李梦）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（李四，软件工程，王华 李星 李白）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（王二，软件工程，赵晓 李木 王琪）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（部门号，部门名，部门经理，部门成员）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B01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，软件开发部，李四，张兴 赵梦 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B02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，软件测试部，张一，张二 赵三 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B03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，硬件设计部，王六，张四 李五）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因为最后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一列可以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分割，不是基本数据项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12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5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7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9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112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134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charRg st="155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页脚占位符 4"/>
          <p:cNvSpPr>
            <a:spLocks noGrp="1"/>
          </p:cNvSpPr>
          <p:nvPr>
            <p:ph type="ftr" sz="quarter" idx="11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SzTx/>
            </a:pPr>
            <a:r>
              <a:rPr lang="en-US" altLang="zh-CN" sz="1200" dirty="0">
                <a:solidFill>
                  <a:srgbClr val="F03628"/>
                </a:solidFill>
                <a:latin typeface="Arial" panose="020B0604020202020204" pitchFamily="34" charset="0"/>
              </a:rPr>
              <a:t>An Introduction to Database System</a:t>
            </a:r>
            <a:endParaRPr lang="en-US" altLang="zh-CN" sz="1200" dirty="0">
              <a:solidFill>
                <a:srgbClr val="F03628"/>
              </a:solidFill>
              <a:latin typeface="Arial" panose="020B0604020202020204" pitchFamily="34" charset="0"/>
            </a:endParaRPr>
          </a:p>
        </p:txBody>
      </p:sp>
      <p:sp>
        <p:nvSpPr>
          <p:cNvPr id="737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2495550" y="1268413"/>
            <a:ext cx="7643813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6.2.4  2NF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 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xfrm>
            <a:off x="1703388" y="1143000"/>
            <a:ext cx="8388350" cy="4876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2NF</a:t>
            </a:r>
            <a:r>
              <a:rPr lang="zh-CN" altLang="en-US" dirty="0"/>
              <a:t>的定义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	</a:t>
            </a:r>
            <a:r>
              <a:rPr lang="zh-CN" altLang="en-US" sz="2400" b="1" dirty="0"/>
              <a:t>定义</a:t>
            </a:r>
            <a:r>
              <a:rPr lang="en-US" altLang="zh-CN" sz="2400" b="1" dirty="0"/>
              <a:t>6.6</a:t>
            </a:r>
            <a:r>
              <a:rPr lang="en-US" altLang="zh-CN" sz="2400" dirty="0"/>
              <a:t>  </a:t>
            </a:r>
            <a:r>
              <a:rPr lang="zh-CN" altLang="en-US" sz="2400" dirty="0"/>
              <a:t>若</a:t>
            </a:r>
            <a:r>
              <a:rPr lang="en-US" altLang="zh-CN" sz="2400" dirty="0"/>
              <a:t>R∈1NF</a:t>
            </a:r>
            <a:r>
              <a:rPr lang="zh-CN" altLang="en-US" sz="2400" dirty="0"/>
              <a:t>，且每一个</a:t>
            </a:r>
            <a:r>
              <a:rPr lang="zh-CN" altLang="en-US" sz="2400" dirty="0">
                <a:solidFill>
                  <a:srgbClr val="6600FF"/>
                </a:solidFill>
              </a:rPr>
              <a:t>非主属性</a:t>
            </a:r>
            <a:r>
              <a:rPr lang="zh-CN" altLang="en-US" sz="2400" dirty="0">
                <a:solidFill>
                  <a:srgbClr val="FF0000"/>
                </a:solidFill>
              </a:rPr>
              <a:t>完全函数依赖</a:t>
            </a:r>
            <a:r>
              <a:rPr lang="zh-CN" altLang="en-US" sz="2400" dirty="0"/>
              <a:t>于</a:t>
            </a: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zh-CN" altLang="en-US" sz="2400" dirty="0"/>
              <a:t>，则</a:t>
            </a:r>
            <a:r>
              <a:rPr lang="en-US" altLang="zh-CN" sz="2400" dirty="0"/>
              <a:t>R∈2NF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	例：</a:t>
            </a:r>
            <a:r>
              <a:rPr lang="en-US" altLang="zh-CN" sz="2400" dirty="0"/>
              <a:t>S-L-C(Sno, Sdept, Sloc, Cno, Grade) </a:t>
            </a:r>
            <a:r>
              <a:rPr lang="en-US" altLang="zh-CN" sz="2200" dirty="0"/>
              <a:t>∈</a:t>
            </a:r>
            <a:r>
              <a:rPr lang="en-US" altLang="zh-CN" sz="2400" dirty="0"/>
              <a:t>1NF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       S-L-C(Sno, Sdept, Sloc, Cno, Grade) </a:t>
            </a:r>
            <a:r>
              <a:rPr lang="en-US" altLang="zh-CN" sz="2200" dirty="0"/>
              <a:t>∈</a:t>
            </a:r>
            <a:r>
              <a:rPr lang="en-US" altLang="zh-CN" sz="2400" dirty="0"/>
              <a:t>2NF </a:t>
            </a:r>
            <a:endParaRPr lang="en-US" altLang="zh-CN" sz="2400" dirty="0"/>
          </a:p>
          <a:p>
            <a:pPr lvl="2" indent="-394970" eaLnBrk="1" hangingPunct="1"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分析码是什么</a:t>
            </a:r>
            <a:endParaRPr lang="en-US" altLang="zh-CN" sz="2800" dirty="0"/>
          </a:p>
          <a:p>
            <a:pPr lvl="2" indent="-394970" eaLnBrk="1" hangingPunct="1"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写出非主属性</a:t>
            </a:r>
            <a:endParaRPr lang="en-US" altLang="zh-CN" sz="2800" dirty="0"/>
          </a:p>
          <a:p>
            <a:pPr lvl="2" indent="-394970" eaLnBrk="1" hangingPunct="1">
              <a:buNone/>
            </a:pPr>
            <a:r>
              <a:rPr lang="en-US" altLang="zh-CN" sz="2800" dirty="0"/>
              <a:t>3.</a:t>
            </a:r>
            <a:r>
              <a:rPr lang="zh-CN" altLang="en-US" sz="2800" dirty="0"/>
              <a:t>看非主属性对码是否都是完全函数依赖</a:t>
            </a:r>
            <a:endParaRPr lang="en-US" altLang="zh-CN" sz="2800" dirty="0"/>
          </a:p>
          <a:p>
            <a:pPr lvl="2" indent="-394970" eaLnBrk="1" hangingPunct="1">
              <a:buNone/>
            </a:pPr>
            <a:r>
              <a:rPr lang="zh-CN" altLang="en-US" sz="2800" dirty="0"/>
              <a:t>如果有多个码，需要分别分析每个非主属性对每个码是否都是完全函数依赖。</a:t>
            </a:r>
            <a:endParaRPr lang="en-US" altLang="zh-CN" sz="2800" dirty="0"/>
          </a:p>
        </p:txBody>
      </p:sp>
      <p:sp>
        <p:nvSpPr>
          <p:cNvPr id="75779" name="Line 4"/>
          <p:cNvSpPr/>
          <p:nvPr/>
        </p:nvSpPr>
        <p:spPr>
          <a:xfrm>
            <a:off x="8759825" y="3141663"/>
            <a:ext cx="215900" cy="3587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4967" name="Rectangle 7"/>
          <p:cNvSpPr/>
          <p:nvPr/>
        </p:nvSpPr>
        <p:spPr>
          <a:xfrm>
            <a:off x="1992313" y="2419350"/>
            <a:ext cx="8229600" cy="1009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函数依赖包括：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ts val="500"/>
              </a:spcBef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(Sno, Cno)  →  Grade       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1992313" y="1382713"/>
            <a:ext cx="8229600" cy="1023937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4] </a:t>
            </a:r>
            <a:r>
              <a:rPr lang="zh-CN" altLang="en-US" sz="2400" dirty="0"/>
              <a:t>关系模式 </a:t>
            </a:r>
            <a:r>
              <a:rPr lang="en-US" altLang="zh-CN" sz="2400" dirty="0"/>
              <a:t>S-L-C(</a:t>
            </a:r>
            <a:r>
              <a:rPr lang="en-US" altLang="zh-CN" sz="2400" u="sng" dirty="0"/>
              <a:t>Sno</a:t>
            </a:r>
            <a:r>
              <a:rPr lang="en-US" altLang="zh-CN" sz="2400" dirty="0"/>
              <a:t>, Sdept, Sloc, </a:t>
            </a:r>
            <a:r>
              <a:rPr lang="en-US" altLang="zh-CN" sz="2400" u="sng" dirty="0"/>
              <a:t>Cno</a:t>
            </a:r>
            <a:r>
              <a:rPr lang="en-US" altLang="zh-CN" sz="2400" dirty="0"/>
              <a:t>, Grade)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    Sloc</a:t>
            </a:r>
            <a:r>
              <a:rPr lang="zh-CN" altLang="en-US" sz="2400" dirty="0"/>
              <a:t>为学生住处，假设每个系的学生住在同一个地方</a:t>
            </a:r>
            <a:endParaRPr lang="zh-CN" altLang="en-US" sz="2400" dirty="0"/>
          </a:p>
          <a:p>
            <a:pPr lvl="2" indent="-394970" eaLnBrk="1" hangingPunct="1">
              <a:buClrTx/>
              <a:buFontTx/>
              <a:buNone/>
            </a:pPr>
            <a:endParaRPr lang="en-US" altLang="zh-CN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5375275" y="2627313"/>
            <a:ext cx="433388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F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2001838" y="3448050"/>
            <a:ext cx="8229600" cy="773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80000"/>
              </a:lnSpc>
              <a:spcBef>
                <a:spcPts val="500"/>
              </a:spcBef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  2.(Sno, Cno)  → Sdept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ts val="500"/>
              </a:spcBef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     Sno → Sdept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59375" y="3263900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1992313" y="4338638"/>
            <a:ext cx="8229600" cy="746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80000"/>
              </a:lnSpc>
              <a:spcBef>
                <a:spcPts val="500"/>
              </a:spcBef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  3.(Sno, Cno)  →  Sloc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ts val="500"/>
              </a:spcBef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     Sno → Sloc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2400" y="4149725"/>
            <a:ext cx="4318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7"/>
          <p:cNvSpPr/>
          <p:nvPr/>
        </p:nvSpPr>
        <p:spPr>
          <a:xfrm>
            <a:off x="2043113" y="5443538"/>
            <a:ext cx="8229600" cy="433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80000"/>
              </a:lnSpc>
              <a:spcBef>
                <a:spcPts val="500"/>
              </a:spcBef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  4.Sdept → Sloc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>
                                            <p:txEl>
                                              <p:charRg st="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7" grpId="0" build="p"/>
      <p:bldP spid="2" grpId="0"/>
      <p:bldP spid="10" grpId="0" build="p"/>
      <p:bldP spid="11" grpId="0"/>
      <p:bldP spid="12" grpId="0" build="p"/>
      <p:bldP spid="13" grpId="0"/>
      <p:bldP spid="1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S-L-C</a:t>
            </a:r>
            <a:r>
              <a:rPr lang="zh-CN" altLang="en-US" sz="3200" dirty="0"/>
              <a:t>不是一个好的关系模式（续）</a:t>
            </a:r>
            <a:endParaRPr lang="zh-CN" altLang="en-US" sz="3200" dirty="0"/>
          </a:p>
        </p:txBody>
      </p:sp>
      <p:sp>
        <p:nvSpPr>
          <p:cNvPr id="79874" name="Rectangle 3"/>
          <p:cNvSpPr>
            <a:spLocks noGrp="1"/>
          </p:cNvSpPr>
          <p:nvPr>
            <p:ph idx="1"/>
          </p:nvPr>
        </p:nvSpPr>
        <p:spPr>
          <a:xfrm>
            <a:off x="2135188" y="1196975"/>
            <a:ext cx="8229600" cy="18557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/>
              <a:t>S-L-C</a:t>
            </a:r>
            <a:r>
              <a:rPr lang="zh-CN" altLang="en-US" sz="2400" dirty="0"/>
              <a:t>的码为</a:t>
            </a:r>
            <a:r>
              <a:rPr lang="en-US" altLang="zh-CN" sz="2400" dirty="0"/>
              <a:t>(Sno, Cno)</a:t>
            </a:r>
            <a:r>
              <a:rPr lang="zh-CN" altLang="en-US" sz="2400" dirty="0"/>
              <a:t>，</a:t>
            </a:r>
            <a:r>
              <a:rPr lang="en-US" altLang="zh-CN" sz="2400" dirty="0"/>
              <a:t>S-L-C</a:t>
            </a:r>
            <a:r>
              <a:rPr lang="zh-CN" altLang="en-US" sz="2400" dirty="0"/>
              <a:t>满足第一范式。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非主属性</a:t>
            </a:r>
            <a:r>
              <a:rPr lang="en-US" altLang="zh-CN" sz="2400" dirty="0"/>
              <a:t>Sdept</a:t>
            </a:r>
            <a:r>
              <a:rPr lang="zh-CN" altLang="en-US" sz="2400" dirty="0"/>
              <a:t>和</a:t>
            </a:r>
            <a:r>
              <a:rPr lang="en-US" altLang="zh-CN" sz="2400" dirty="0"/>
              <a:t>Sloc</a:t>
            </a:r>
            <a:r>
              <a:rPr lang="zh-CN" altLang="en-US" sz="2400" dirty="0"/>
              <a:t>部分函数依赖于码</a:t>
            </a:r>
            <a:r>
              <a:rPr lang="en-US" altLang="zh-CN" sz="2400" dirty="0"/>
              <a:t>(Sno, Cno)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/>
              <a:t>会导致：</a:t>
            </a:r>
            <a:r>
              <a:rPr lang="en-US" altLang="zh-CN" sz="2400" dirty="0"/>
              <a:t>(1) </a:t>
            </a:r>
            <a:r>
              <a:rPr lang="zh-CN" altLang="en-US" sz="2400" dirty="0"/>
              <a:t>插入异常</a:t>
            </a:r>
            <a:r>
              <a:rPr lang="en-US" altLang="zh-CN" sz="2400" dirty="0"/>
              <a:t>(2) </a:t>
            </a:r>
            <a:r>
              <a:rPr lang="zh-CN" altLang="en-US" sz="2400" dirty="0"/>
              <a:t>删除异常</a:t>
            </a:r>
            <a:endParaRPr lang="zh-CN" altLang="en-US" sz="24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400" dirty="0"/>
              <a:t>           (3) </a:t>
            </a:r>
            <a:r>
              <a:rPr lang="zh-CN" altLang="en-US" sz="2400" dirty="0"/>
              <a:t>修改复杂</a:t>
            </a:r>
            <a:r>
              <a:rPr lang="en-US" altLang="zh-CN" sz="2400" dirty="0"/>
              <a:t>(4) </a:t>
            </a:r>
            <a:r>
              <a:rPr lang="zh-CN" altLang="en-US" sz="2400" dirty="0"/>
              <a:t>数据冗余度大</a:t>
            </a:r>
            <a:endParaRPr lang="zh-CN" altLang="en-US" sz="2400" dirty="0"/>
          </a:p>
          <a:p>
            <a:pPr eaLnBrk="1" hangingPunct="1">
              <a:lnSpc>
                <a:spcPct val="110000"/>
              </a:lnSpc>
              <a:buNone/>
            </a:pPr>
            <a:endParaRPr lang="en-US" altLang="zh-CN" sz="2000" dirty="0"/>
          </a:p>
        </p:txBody>
      </p:sp>
      <p:sp>
        <p:nvSpPr>
          <p:cNvPr id="427012" name="Rectangle 4"/>
          <p:cNvSpPr/>
          <p:nvPr/>
        </p:nvSpPr>
        <p:spPr>
          <a:xfrm>
            <a:off x="2135188" y="3197225"/>
            <a:ext cx="8229600" cy="2968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原因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Sdept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、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Sloc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部分函数依赖于码。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解决方法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en-US" sz="2000" dirty="0"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S-L-C</a:t>
            </a:r>
            <a:r>
              <a:rPr lang="zh-CN" alt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分解为两个关系模式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，以消除这些部分函数依赖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把完全函数依赖于码的和码放在一个表里。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     表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：     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SC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Sno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Cno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Grade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把部分函数依赖于码的，和他们依赖的属性放在一个表里：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     表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2: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S-L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Sno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Sdept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Sloc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45063" name="Rectangle 19"/>
          <p:cNvSpPr>
            <a:spLocks noChangeArrowheads="1"/>
          </p:cNvSpPr>
          <p:nvPr/>
        </p:nvSpPr>
        <p:spPr bwMode="auto">
          <a:xfrm>
            <a:off x="2135188" y="1796415"/>
            <a:ext cx="7273925" cy="319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：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0" i="0" u="sng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Sno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2800" b="0" i="0" u="sng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Cno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Grade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2: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S-L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0" i="0" u="sng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Sno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Sdept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Sloc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关系模式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的码为（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Sno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Cno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关系模式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S-L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的码为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Sno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这样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非主属性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对码都是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完全函数依赖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所以都是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2NF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 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839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采用</a:t>
            </a:r>
            <a:r>
              <a:rPr lang="zh-CN" altLang="en-US" sz="2800" dirty="0">
                <a:solidFill>
                  <a:srgbClr val="FF0000"/>
                </a:solidFill>
              </a:rPr>
              <a:t>投影分解法</a:t>
            </a:r>
            <a:r>
              <a:rPr lang="zh-CN" altLang="en-US" sz="2800" dirty="0"/>
              <a:t>将一个</a:t>
            </a:r>
            <a:r>
              <a:rPr lang="en-US" altLang="zh-CN" sz="2800" dirty="0"/>
              <a:t>1NF</a:t>
            </a:r>
            <a:r>
              <a:rPr lang="zh-CN" altLang="en-US" sz="2800" dirty="0"/>
              <a:t>的关系分解为多个</a:t>
            </a:r>
            <a:r>
              <a:rPr lang="en-US" altLang="zh-CN" sz="2800" dirty="0"/>
              <a:t>2NF</a:t>
            </a:r>
            <a:r>
              <a:rPr lang="zh-CN" altLang="en-US" sz="2800" dirty="0"/>
              <a:t>的关系，可以</a:t>
            </a:r>
            <a:r>
              <a:rPr lang="zh-CN" altLang="en-US" sz="2800" b="1" dirty="0">
                <a:solidFill>
                  <a:srgbClr val="0000FF"/>
                </a:solidFill>
              </a:rPr>
              <a:t>在一定程度上</a:t>
            </a:r>
            <a:r>
              <a:rPr lang="zh-CN" altLang="en-US" sz="2800" dirty="0"/>
              <a:t>减轻原</a:t>
            </a:r>
            <a:r>
              <a:rPr lang="en-US" altLang="zh-CN" sz="2800" dirty="0"/>
              <a:t>1NF</a:t>
            </a:r>
            <a:r>
              <a:rPr lang="zh-CN" altLang="en-US" sz="2800" dirty="0"/>
              <a:t>关系中存在的插入异常、删除异常、数据冗余度大、修改复杂等问题。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将一个</a:t>
            </a:r>
            <a:r>
              <a:rPr lang="en-US" altLang="zh-CN" sz="2800" dirty="0"/>
              <a:t>1NF</a:t>
            </a:r>
            <a:r>
              <a:rPr lang="zh-CN" altLang="en-US" sz="2800" dirty="0"/>
              <a:t>关系分解为多个</a:t>
            </a:r>
            <a:r>
              <a:rPr lang="en-US" altLang="zh-CN" sz="2800" dirty="0"/>
              <a:t>2NF</a:t>
            </a:r>
            <a:r>
              <a:rPr lang="zh-CN" altLang="en-US" sz="2800" dirty="0"/>
              <a:t>的关系，</a:t>
            </a:r>
            <a:r>
              <a:rPr lang="zh-CN" altLang="en-US" sz="2800" b="1" dirty="0">
                <a:solidFill>
                  <a:srgbClr val="0000FF"/>
                </a:solidFill>
              </a:rPr>
              <a:t>并不能完全消除</a:t>
            </a:r>
            <a:r>
              <a:rPr lang="zh-CN" altLang="en-US" sz="2800" dirty="0"/>
              <a:t>关系模式中的各种异常情况和数据冗余。</a:t>
            </a:r>
            <a:endParaRPr lang="zh-CN" altLang="en-US" sz="2800" dirty="0"/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提问：下面两个关系是否是</a:t>
            </a:r>
            <a:r>
              <a:rPr lang="en-US" altLang="zh-CN" dirty="0"/>
              <a:t>2NF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1017270" y="1143000"/>
            <a:ext cx="10031095" cy="4949825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1.</a:t>
            </a:r>
            <a:r>
              <a:rPr lang="zh-CN" altLang="en-US" dirty="0"/>
              <a:t>部门（部门号，部门名，经理编号），注：部门名有可能重复，一个人可能担任多个部门的经理，一个部门只有一个经理。</a:t>
            </a:r>
            <a:endParaRPr lang="en-US" altLang="zh-CN" dirty="0"/>
          </a:p>
          <a:p>
            <a:pPr marL="457200" lvl="1" indent="457200">
              <a:buNone/>
            </a:pPr>
            <a:r>
              <a:rPr lang="en-US" altLang="zh-CN" dirty="0"/>
              <a:t>B01</a:t>
            </a:r>
            <a:r>
              <a:rPr lang="zh-CN" altLang="en-US" dirty="0"/>
              <a:t>，软件部，</a:t>
            </a:r>
            <a:r>
              <a:rPr lang="en-US" altLang="zh-CN" dirty="0"/>
              <a:t>J01</a:t>
            </a:r>
            <a:endParaRPr lang="en-US" altLang="zh-CN" dirty="0"/>
          </a:p>
          <a:p>
            <a:pPr marL="457200" lvl="1" indent="457200">
              <a:buNone/>
            </a:pPr>
            <a:r>
              <a:rPr lang="en-US" altLang="zh-CN" dirty="0"/>
              <a:t>B02</a:t>
            </a:r>
            <a:r>
              <a:rPr lang="zh-CN" altLang="en-US" dirty="0"/>
              <a:t>，硬件部，</a:t>
            </a:r>
            <a:r>
              <a:rPr lang="en-US" altLang="zh-CN" dirty="0"/>
              <a:t>J02</a:t>
            </a:r>
            <a:endParaRPr lang="en-US" altLang="zh-CN" dirty="0"/>
          </a:p>
          <a:p>
            <a:pPr marL="457200" lvl="1" indent="457200">
              <a:buNone/>
            </a:pPr>
            <a:r>
              <a:rPr lang="en-US" altLang="zh-CN" dirty="0"/>
              <a:t>B04</a:t>
            </a:r>
            <a:r>
              <a:rPr lang="zh-CN" altLang="en-US" dirty="0"/>
              <a:t>，调试部，</a:t>
            </a:r>
            <a:r>
              <a:rPr lang="en-US" altLang="zh-CN" dirty="0"/>
              <a:t>J03</a:t>
            </a:r>
            <a:endParaRPr lang="en-US" altLang="zh-CN" dirty="0"/>
          </a:p>
          <a:p>
            <a:pPr marL="457200" lvl="1" indent="457200">
              <a:buNone/>
            </a:pPr>
            <a:r>
              <a:rPr lang="en-US" altLang="zh-CN" dirty="0"/>
              <a:t>B05</a:t>
            </a:r>
            <a:r>
              <a:rPr lang="zh-CN" altLang="en-US" dirty="0"/>
              <a:t>，调试部，</a:t>
            </a:r>
            <a:r>
              <a:rPr lang="en-US" altLang="zh-CN" dirty="0"/>
              <a:t>J01</a:t>
            </a:r>
            <a:endParaRPr lang="en-US" altLang="zh-CN" dirty="0"/>
          </a:p>
          <a:p>
            <a:r>
              <a:rPr lang="zh-CN" altLang="en-US" b="1" dirty="0">
                <a:solidFill>
                  <a:srgbClr val="0000FF"/>
                </a:solidFill>
              </a:rPr>
              <a:t>分析方法：</a:t>
            </a:r>
            <a:r>
              <a:rPr lang="zh-CN" altLang="en-US" dirty="0"/>
              <a:t>分析码是什么，看看非主属性是否完全函数依赖于码。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57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6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81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93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0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提问：下面两个关系是否是</a:t>
            </a:r>
            <a:r>
              <a:rPr lang="en-US" altLang="zh-CN" dirty="0"/>
              <a:t>2NF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1137920" y="1052830"/>
            <a:ext cx="9946005" cy="5165725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2.</a:t>
            </a:r>
            <a:r>
              <a:rPr lang="zh-CN" altLang="en-US" dirty="0"/>
              <a:t>医院里面有多个病房，有多个科室，每个病房有多个床位</a:t>
            </a:r>
            <a:r>
              <a:rPr lang="en-US" altLang="zh-CN" dirty="0"/>
              <a:t>(</a:t>
            </a:r>
            <a:r>
              <a:rPr lang="zh-CN" altLang="en-US" dirty="0"/>
              <a:t>每个病房的床位号都是从</a:t>
            </a:r>
            <a:r>
              <a:rPr lang="en-US" altLang="zh-CN" dirty="0"/>
              <a:t>1</a:t>
            </a:r>
            <a:r>
              <a:rPr lang="zh-CN" altLang="en-US" dirty="0"/>
              <a:t>开始编号</a:t>
            </a:r>
            <a:r>
              <a:rPr lang="en-US" altLang="zh-CN" dirty="0"/>
              <a:t>)</a:t>
            </a:r>
            <a:r>
              <a:rPr lang="zh-CN" altLang="en-US" dirty="0"/>
              <a:t>，一个病房属于一个科室</a:t>
            </a:r>
            <a:endParaRPr lang="en-US" altLang="zh-CN" dirty="0"/>
          </a:p>
          <a:p>
            <a:r>
              <a:rPr lang="zh-CN" altLang="en-US" dirty="0"/>
              <a:t>病房（病房号，床位号，科室名）</a:t>
            </a:r>
            <a:endParaRPr lang="en-US" altLang="zh-CN" dirty="0"/>
          </a:p>
          <a:p>
            <a:pPr marL="457200" lvl="1" indent="457200">
              <a:buNone/>
            </a:pPr>
            <a:r>
              <a:rPr lang="en-US" altLang="zh-CN" sz="2400" dirty="0"/>
              <a:t>B01</a:t>
            </a:r>
            <a:r>
              <a:rPr lang="zh-CN" altLang="en-US" sz="2400" dirty="0"/>
              <a:t>，</a:t>
            </a:r>
            <a:r>
              <a:rPr lang="en-US" altLang="zh-CN" sz="2400" dirty="0"/>
              <a:t>1</a:t>
            </a:r>
            <a:r>
              <a:rPr lang="zh-CN" altLang="en-US" sz="2400" dirty="0"/>
              <a:t>，外科</a:t>
            </a:r>
            <a:endParaRPr lang="en-US" altLang="zh-CN" sz="2400" dirty="0"/>
          </a:p>
          <a:p>
            <a:pPr marL="457200" lvl="1" indent="457200">
              <a:buNone/>
            </a:pPr>
            <a:r>
              <a:rPr lang="en-US" altLang="zh-CN" sz="2400" dirty="0"/>
              <a:t>B01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，外科</a:t>
            </a:r>
            <a:endParaRPr lang="en-US" altLang="zh-CN" sz="2400" dirty="0"/>
          </a:p>
          <a:p>
            <a:pPr marL="457200" lvl="1" indent="457200">
              <a:buNone/>
            </a:pPr>
            <a:r>
              <a:rPr lang="en-US" altLang="zh-CN" sz="2400" dirty="0"/>
              <a:t>B01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，外科</a:t>
            </a:r>
            <a:endParaRPr lang="en-US" altLang="zh-CN" sz="2400" dirty="0"/>
          </a:p>
          <a:p>
            <a:pPr marL="457200" lvl="1" indent="457200">
              <a:buNone/>
            </a:pPr>
            <a:r>
              <a:rPr lang="en-US" altLang="zh-CN" sz="2400" dirty="0"/>
              <a:t>B02</a:t>
            </a:r>
            <a:r>
              <a:rPr lang="zh-CN" altLang="en-US" sz="2400" dirty="0"/>
              <a:t>，</a:t>
            </a:r>
            <a:r>
              <a:rPr lang="en-US" altLang="zh-CN" sz="2400" dirty="0"/>
              <a:t>1</a:t>
            </a:r>
            <a:r>
              <a:rPr lang="zh-CN" altLang="en-US" sz="2400" dirty="0"/>
              <a:t>，内科</a:t>
            </a:r>
            <a:endParaRPr lang="en-US" altLang="zh-CN" sz="2400" dirty="0"/>
          </a:p>
          <a:p>
            <a:pPr marL="457200" lvl="1" indent="457200">
              <a:buNone/>
            </a:pPr>
            <a:r>
              <a:rPr lang="en-US" altLang="zh-CN" sz="2400" dirty="0"/>
              <a:t>B02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，内科</a:t>
            </a:r>
            <a:endParaRPr lang="en-US" altLang="zh-CN" sz="2400" dirty="0"/>
          </a:p>
          <a:p>
            <a:r>
              <a:rPr lang="zh-CN" altLang="en-US" b="1" dirty="0">
                <a:solidFill>
                  <a:srgbClr val="0000FF"/>
                </a:solidFill>
              </a:rPr>
              <a:t>分析方法：</a:t>
            </a:r>
            <a:r>
              <a:rPr lang="zh-CN" altLang="en-US" dirty="0"/>
              <a:t>分析码是什么，看看非主属性是否完全函数依赖于码。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57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7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8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91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00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0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18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答案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3200" dirty="0"/>
              <a:t>部门：是</a:t>
            </a:r>
            <a:r>
              <a:rPr lang="en-US" altLang="zh-CN" sz="3200" dirty="0"/>
              <a:t>2NF</a:t>
            </a:r>
            <a:r>
              <a:rPr lang="zh-CN" altLang="en-US" sz="3200" dirty="0"/>
              <a:t>。码是部门号。另外两个属性都完全函数依赖于码。</a:t>
            </a:r>
            <a:endParaRPr lang="en-US" altLang="zh-CN" sz="3200" dirty="0"/>
          </a:p>
          <a:p>
            <a:r>
              <a:rPr lang="zh-CN" altLang="en-US" sz="3200" dirty="0"/>
              <a:t>病房：是</a:t>
            </a:r>
            <a:r>
              <a:rPr lang="en-US" altLang="zh-CN" sz="3200" dirty="0"/>
              <a:t>1NF</a:t>
            </a:r>
            <a:r>
              <a:rPr lang="zh-CN" altLang="en-US" sz="3200" dirty="0"/>
              <a:t>，不是</a:t>
            </a:r>
            <a:r>
              <a:rPr lang="en-US" altLang="zh-CN" sz="3200" dirty="0"/>
              <a:t>2NF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r>
              <a:rPr lang="zh-CN" altLang="en-US" sz="3200" dirty="0"/>
              <a:t>主码是病房号</a:t>
            </a:r>
            <a:r>
              <a:rPr lang="en-US" altLang="zh-CN" sz="3200" dirty="0"/>
              <a:t>+</a:t>
            </a:r>
            <a:r>
              <a:rPr lang="zh-CN" altLang="en-US" sz="3200" dirty="0"/>
              <a:t>床位号；科室名依赖于病房号，即科室名部分函数依赖于主码。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>
                <a:solidFill>
                  <a:srgbClr val="FF0000"/>
                </a:solidFill>
              </a:rPr>
              <a:t>思考</a:t>
            </a:r>
            <a:r>
              <a:rPr lang="zh-CN" altLang="en-US" sz="3200" dirty="0"/>
              <a:t>：之前的</a:t>
            </a:r>
            <a:r>
              <a:rPr lang="en-US" altLang="zh-CN" sz="3200" dirty="0"/>
              <a:t>EDUC</a:t>
            </a:r>
            <a:r>
              <a:rPr lang="zh-CN" altLang="en-US" sz="3200" dirty="0"/>
              <a:t>和</a:t>
            </a:r>
            <a:r>
              <a:rPr lang="en-US" altLang="zh-CN" sz="3200" dirty="0"/>
              <a:t>SPJ</a:t>
            </a:r>
            <a:r>
              <a:rPr lang="zh-CN" altLang="en-US" sz="3200" dirty="0"/>
              <a:t>数据库中的表都是第几范式，目前满足第二范式吗？</a:t>
            </a:r>
            <a:endParaRPr lang="en-US" altLang="zh-CN" sz="3200" dirty="0"/>
          </a:p>
          <a:p>
            <a:r>
              <a:rPr lang="zh-CN" altLang="en-US" sz="3200" dirty="0"/>
              <a:t>答：是</a:t>
            </a:r>
            <a:endParaRPr lang="en-US" altLang="zh-CN" sz="3200" dirty="0"/>
          </a:p>
          <a:p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3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4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8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2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回顾</a:t>
            </a:r>
            <a:endParaRPr lang="zh-CN" altLang="en-US" dirty="0"/>
          </a:p>
        </p:txBody>
      </p:sp>
      <p:sp>
        <p:nvSpPr>
          <p:cNvPr id="89090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码，候选码，主码，几个码</a:t>
            </a:r>
            <a:endParaRPr lang="en-US" altLang="zh-CN" dirty="0"/>
          </a:p>
          <a:p>
            <a:r>
              <a:rPr lang="zh-CN" altLang="en-US" dirty="0"/>
              <a:t>主属性，非主属性</a:t>
            </a:r>
            <a:endParaRPr lang="en-US" altLang="zh-CN" dirty="0"/>
          </a:p>
          <a:p>
            <a:r>
              <a:rPr lang="zh-CN" altLang="en-US" dirty="0"/>
              <a:t>函数依赖</a:t>
            </a:r>
            <a:r>
              <a:rPr lang="en-US" altLang="zh-CN" dirty="0"/>
              <a:t> </a:t>
            </a:r>
            <a:r>
              <a:rPr lang="en-US" altLang="zh-CN" dirty="0">
                <a:sym typeface="+mn-ea"/>
              </a:rPr>
              <a:t>X→Y</a:t>
            </a:r>
            <a:endParaRPr lang="en-US" altLang="zh-CN" dirty="0"/>
          </a:p>
          <a:p>
            <a:r>
              <a:rPr lang="zh-CN" altLang="en-US" dirty="0"/>
              <a:t>平凡，非平凡</a:t>
            </a:r>
            <a:endParaRPr lang="en-US" altLang="zh-CN" dirty="0"/>
          </a:p>
          <a:p>
            <a:r>
              <a:rPr lang="zh-CN" altLang="en-US" dirty="0"/>
              <a:t>完全，部分</a:t>
            </a:r>
            <a:endParaRPr lang="en-US" altLang="zh-CN" dirty="0"/>
          </a:p>
          <a:p>
            <a:r>
              <a:rPr lang="zh-CN" altLang="en-US" dirty="0"/>
              <a:t>传递</a:t>
            </a:r>
            <a:endParaRPr lang="en-US" altLang="zh-CN" dirty="0"/>
          </a:p>
          <a:p>
            <a:r>
              <a:rPr lang="en-US" altLang="zh-CN" dirty="0"/>
              <a:t>1NF</a:t>
            </a:r>
            <a:endParaRPr lang="en-US" altLang="zh-CN" dirty="0"/>
          </a:p>
          <a:p>
            <a:r>
              <a:rPr lang="en-US" altLang="zh-CN" dirty="0"/>
              <a:t>2NF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9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90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90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90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build="p"/>
      <p:bldP spid="89090" grpI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90114" name="Rectangle 3"/>
          <p:cNvSpPr>
            <a:spLocks noGrp="1"/>
          </p:cNvSpPr>
          <p:nvPr>
            <p:ph idx="1"/>
          </p:nvPr>
        </p:nvSpPr>
        <p:spPr>
          <a:xfrm>
            <a:off x="2495550" y="1341438"/>
            <a:ext cx="7643813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6.2.5  3NF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 6.2.5  3NF</a:t>
            </a:r>
            <a:endParaRPr lang="en-US" altLang="zh-CN" dirty="0"/>
          </a:p>
        </p:txBody>
      </p:sp>
      <p:sp>
        <p:nvSpPr>
          <p:cNvPr id="92162" name="Rectangle 3"/>
          <p:cNvSpPr>
            <a:spLocks noGrp="1"/>
          </p:cNvSpPr>
          <p:nvPr>
            <p:ph idx="1"/>
          </p:nvPr>
        </p:nvSpPr>
        <p:spPr>
          <a:xfrm>
            <a:off x="1774825" y="1143000"/>
            <a:ext cx="8316913" cy="4876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/>
              <a:t>3NF</a:t>
            </a:r>
            <a:r>
              <a:rPr lang="zh-CN" altLang="en-US" dirty="0"/>
              <a:t>的定义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dirty="0"/>
              <a:t>	</a:t>
            </a:r>
            <a:r>
              <a:rPr lang="zh-CN" altLang="en-US" sz="2400" b="1" dirty="0"/>
              <a:t>定义</a:t>
            </a:r>
            <a:r>
              <a:rPr lang="en-US" altLang="zh-CN" sz="2400" b="1" dirty="0"/>
              <a:t>6.7</a:t>
            </a:r>
            <a:r>
              <a:rPr lang="en-US" altLang="zh-CN" sz="2400" dirty="0"/>
              <a:t>  </a:t>
            </a:r>
            <a:r>
              <a:rPr lang="zh-CN" altLang="en-US" sz="2400" dirty="0"/>
              <a:t>关系模式</a:t>
            </a:r>
            <a:r>
              <a:rPr lang="en-US" altLang="zh-CN" sz="2400" i="1" dirty="0"/>
              <a:t>R&lt;U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F&gt;</a:t>
            </a:r>
            <a:r>
              <a:rPr lang="en-US" altLang="zh-CN" sz="2400" dirty="0"/>
              <a:t> ∈1NF </a:t>
            </a:r>
            <a:r>
              <a:rPr lang="zh-CN" altLang="en-US" sz="2400" dirty="0"/>
              <a:t>，</a:t>
            </a:r>
            <a:r>
              <a:rPr lang="en-US" altLang="zh-CN" sz="2400" dirty="0"/>
              <a:t>R</a:t>
            </a:r>
            <a:r>
              <a:rPr lang="zh-CN" altLang="en-US" sz="2400" dirty="0"/>
              <a:t>中若不存在这样的码</a:t>
            </a:r>
            <a:r>
              <a:rPr lang="en-US" altLang="zh-CN" sz="2400" i="1" dirty="0"/>
              <a:t>X</a:t>
            </a:r>
            <a:r>
              <a:rPr lang="zh-CN" altLang="en-US" sz="2400" dirty="0"/>
              <a:t>、属性组</a:t>
            </a:r>
            <a:r>
              <a:rPr lang="en-US" altLang="zh-CN" sz="2400" i="1" dirty="0"/>
              <a:t>Y</a:t>
            </a:r>
            <a:r>
              <a:rPr lang="zh-CN" altLang="en-US" sz="2400" dirty="0"/>
              <a:t>及非主属性</a:t>
            </a:r>
            <a:r>
              <a:rPr lang="en-US" altLang="zh-CN" sz="2400" i="1" dirty="0"/>
              <a:t>Z</a:t>
            </a:r>
            <a:r>
              <a:rPr lang="zh-CN" altLang="en-US" sz="2400" i="1" dirty="0"/>
              <a:t>（</a:t>
            </a:r>
            <a:r>
              <a:rPr lang="en-US" altLang="zh-CN" sz="2400" i="1" dirty="0"/>
              <a:t>Z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i="1" dirty="0"/>
              <a:t> Y</a:t>
            </a:r>
            <a:r>
              <a:rPr lang="zh-CN" altLang="en-US" sz="2400" i="1" dirty="0"/>
              <a:t>）</a:t>
            </a:r>
            <a:r>
              <a:rPr lang="en-US" altLang="zh-CN" sz="2400" i="1" dirty="0"/>
              <a:t>, </a:t>
            </a:r>
            <a:r>
              <a:rPr lang="zh-CN" altLang="en-US" sz="2400" dirty="0"/>
              <a:t>使得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，</a:t>
            </a:r>
            <a:r>
              <a:rPr lang="en-US" altLang="zh-CN" sz="2400" i="1" dirty="0"/>
              <a:t>Y</a:t>
            </a:r>
            <a:r>
              <a:rPr lang="en-US" altLang="zh-CN" sz="2400" dirty="0"/>
              <a:t>→</a:t>
            </a:r>
            <a:r>
              <a:rPr lang="en-US" altLang="zh-CN" sz="2400" i="1" dirty="0"/>
              <a:t>Z</a:t>
            </a:r>
            <a:r>
              <a:rPr lang="zh-CN" altLang="en-US" sz="2400" dirty="0"/>
              <a:t>成立，  </a:t>
            </a:r>
            <a:r>
              <a:rPr lang="en-US" altLang="zh-CN" sz="2400" i="1" dirty="0"/>
              <a:t>Y</a:t>
            </a:r>
            <a:r>
              <a:rPr lang="en-US" altLang="zh-CN" sz="2400" dirty="0"/>
              <a:t> → </a:t>
            </a:r>
            <a:r>
              <a:rPr lang="en-US" altLang="zh-CN" sz="2400" i="1" dirty="0"/>
              <a:t>X</a:t>
            </a:r>
            <a:r>
              <a:rPr lang="zh-CN" altLang="en-US" sz="2400" dirty="0"/>
              <a:t>，则称</a:t>
            </a:r>
            <a:r>
              <a:rPr lang="en-US" altLang="zh-CN" sz="2400" i="1" dirty="0"/>
              <a:t>R&lt;U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F&gt;</a:t>
            </a:r>
            <a:r>
              <a:rPr lang="en-US" altLang="zh-CN" sz="2400" dirty="0"/>
              <a:t> ∈ </a:t>
            </a:r>
            <a:r>
              <a:rPr lang="en-US" altLang="zh-CN" sz="2400" i="1" dirty="0"/>
              <a:t>3NF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indent="-436245" eaLnBrk="1" hangingPunct="1">
              <a:lnSpc>
                <a:spcPct val="16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若</a:t>
            </a:r>
            <a:r>
              <a:rPr lang="en-US" altLang="zh-CN" b="1" i="1" dirty="0"/>
              <a:t>R</a:t>
            </a:r>
            <a:r>
              <a:rPr lang="en-US" altLang="zh-CN" dirty="0"/>
              <a:t>∈3NF</a:t>
            </a:r>
            <a:r>
              <a:rPr lang="zh-CN" altLang="en-US" dirty="0"/>
              <a:t>，则每一个</a:t>
            </a:r>
            <a:r>
              <a:rPr lang="zh-CN" altLang="en-US" dirty="0">
                <a:solidFill>
                  <a:srgbClr val="3333FF"/>
                </a:solidFill>
              </a:rPr>
              <a:t>非主属性</a:t>
            </a:r>
            <a:r>
              <a:rPr lang="zh-CN" altLang="en-US" dirty="0">
                <a:solidFill>
                  <a:srgbClr val="FF00FF"/>
                </a:solidFill>
              </a:rPr>
              <a:t>既不部分依赖</a:t>
            </a:r>
            <a:r>
              <a:rPr lang="zh-CN" altLang="en-US" dirty="0"/>
              <a:t>于码</a:t>
            </a:r>
            <a:r>
              <a:rPr lang="zh-CN" altLang="en-US" dirty="0">
                <a:solidFill>
                  <a:srgbClr val="FF00FF"/>
                </a:solidFill>
              </a:rPr>
              <a:t>也不传递依赖</a:t>
            </a:r>
            <a:r>
              <a:rPr lang="zh-CN" altLang="en-US" dirty="0"/>
              <a:t>于码。 </a:t>
            </a:r>
            <a:r>
              <a:rPr lang="en-US" altLang="zh-CN" dirty="0"/>
              <a:t>  </a:t>
            </a:r>
            <a:endParaRPr lang="en-US" altLang="zh-CN" sz="2000" dirty="0"/>
          </a:p>
        </p:txBody>
      </p:sp>
      <p:sp>
        <p:nvSpPr>
          <p:cNvPr id="92163" name="Line 4"/>
          <p:cNvSpPr/>
          <p:nvPr/>
        </p:nvSpPr>
        <p:spPr>
          <a:xfrm>
            <a:off x="4583113" y="3359150"/>
            <a:ext cx="176212" cy="3365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164" name="Line 5"/>
          <p:cNvSpPr/>
          <p:nvPr/>
        </p:nvSpPr>
        <p:spPr>
          <a:xfrm>
            <a:off x="7248525" y="2781300"/>
            <a:ext cx="142875" cy="28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uiExpand="1" build="p"/>
      <p:bldP spid="92162" grpI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3NF</a:t>
            </a:r>
            <a:r>
              <a:rPr lang="zh-CN" altLang="en-US" sz="3200" dirty="0"/>
              <a:t>（续）</a:t>
            </a:r>
            <a:endParaRPr lang="zh-CN" altLang="en-US" sz="3200" dirty="0"/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1919288" y="1309688"/>
            <a:ext cx="836295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2NF</a:t>
            </a:r>
            <a:r>
              <a:rPr lang="zh-CN" altLang="en-US" sz="2400" dirty="0"/>
              <a:t>关系模式</a:t>
            </a:r>
            <a:r>
              <a:rPr lang="en-US" altLang="zh-CN" sz="2400" dirty="0"/>
              <a:t>S-L(Sno, Sdept, Sloc)</a:t>
            </a:r>
            <a:r>
              <a:rPr lang="zh-CN" altLang="en-US" sz="2400" dirty="0"/>
              <a:t>中</a:t>
            </a:r>
            <a:endParaRPr lang="zh-CN" altLang="en-US" sz="2400" dirty="0"/>
          </a:p>
          <a:p>
            <a:pPr lvl="1" indent="-436245" eaLnBrk="1" hangingPunct="1">
              <a:lnSpc>
                <a:spcPct val="130000"/>
              </a:lnSpc>
            </a:pPr>
            <a:r>
              <a:rPr lang="zh-CN" altLang="en-US" dirty="0"/>
              <a:t>函数依赖：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Sno→Sdept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    Sdept → Sno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    Sdept→Sloc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    </a:t>
            </a:r>
            <a:r>
              <a:rPr lang="zh-CN" altLang="en-US" sz="2400" dirty="0"/>
              <a:t>可得：          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    </a:t>
            </a:r>
            <a:r>
              <a:rPr lang="en-US" altLang="zh-CN" sz="2400" dirty="0"/>
              <a:t>Sno →  Sloc</a:t>
            </a:r>
            <a:r>
              <a:rPr lang="zh-CN" altLang="en-US" sz="2400" dirty="0"/>
              <a:t>，即</a:t>
            </a:r>
            <a:r>
              <a:rPr lang="en-US" altLang="zh-CN" sz="2400" dirty="0"/>
              <a:t>S-L</a:t>
            </a:r>
            <a:r>
              <a:rPr lang="zh-CN" altLang="en-US" sz="2400" dirty="0"/>
              <a:t>中存在非主属性对码的传递函数依赖，</a:t>
            </a:r>
            <a:r>
              <a:rPr lang="en-US" altLang="zh-CN" sz="2400" dirty="0"/>
              <a:t>S-L </a:t>
            </a:r>
            <a:r>
              <a:rPr lang="en-US" altLang="zh-CN" sz="2200" dirty="0"/>
              <a:t>∈ </a:t>
            </a:r>
            <a:r>
              <a:rPr lang="en-US" altLang="zh-CN" sz="2400" i="1" dirty="0"/>
              <a:t>3NF</a:t>
            </a:r>
            <a:endParaRPr lang="en-US" altLang="zh-CN" dirty="0"/>
          </a:p>
        </p:txBody>
      </p:sp>
      <p:sp>
        <p:nvSpPr>
          <p:cNvPr id="51205" name="Text Box 4"/>
          <p:cNvSpPr txBox="1"/>
          <p:nvPr/>
        </p:nvSpPr>
        <p:spPr>
          <a:xfrm>
            <a:off x="3537585" y="4652963"/>
            <a:ext cx="589280" cy="337185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p>
            <a:pPr marL="342900" indent="-342900" algn="ctr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传递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2" name="Line 6"/>
          <p:cNvSpPr/>
          <p:nvPr/>
        </p:nvSpPr>
        <p:spPr>
          <a:xfrm>
            <a:off x="4124325" y="3213100"/>
            <a:ext cx="21590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4213" name="Line 7"/>
          <p:cNvSpPr/>
          <p:nvPr/>
        </p:nvSpPr>
        <p:spPr>
          <a:xfrm>
            <a:off x="4414838" y="5300663"/>
            <a:ext cx="144462" cy="3587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3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04">
                                            <p:txEl>
                                              <p:charRg st="3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4">
                                            <p:txEl>
                                              <p:charRg st="3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04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04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04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04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04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04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10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4">
                                            <p:txEl>
                                              <p:charRg st="10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04">
                                            <p:txEl>
                                              <p:charRg st="10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12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04">
                                            <p:txEl>
                                              <p:charRg st="12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204">
                                            <p:txEl>
                                              <p:charRg st="12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20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0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uiExpand="1" build="p"/>
      <p:bldP spid="51205" grpId="0" build="allAtOnce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962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800" dirty="0"/>
              <a:t>解决方法</a:t>
            </a:r>
            <a:endParaRPr lang="zh-CN" altLang="en-US" sz="28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600" dirty="0"/>
              <a:t>   采用投影分解法，把</a:t>
            </a:r>
            <a:r>
              <a:rPr lang="en-US" altLang="zh-CN" sz="2600" dirty="0"/>
              <a:t>S-L</a:t>
            </a:r>
            <a:r>
              <a:rPr lang="zh-CN" altLang="en-US" sz="2600" b="1" dirty="0">
                <a:solidFill>
                  <a:srgbClr val="FF0000"/>
                </a:solidFill>
              </a:rPr>
              <a:t>分解为两个关系模式</a:t>
            </a:r>
            <a:r>
              <a:rPr lang="zh-CN" altLang="en-US" sz="2600" dirty="0"/>
              <a:t>，以消除传递函数依赖：</a:t>
            </a:r>
            <a:endParaRPr lang="zh-CN" altLang="en-US" sz="2600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/>
              <a:t>          S-D</a:t>
            </a:r>
            <a:r>
              <a:rPr lang="zh-CN" altLang="en-US" dirty="0"/>
              <a:t>（</a:t>
            </a:r>
            <a:r>
              <a:rPr lang="en-US" altLang="zh-CN" dirty="0"/>
              <a:t>Sno</a:t>
            </a:r>
            <a:r>
              <a:rPr lang="zh-CN" altLang="en-US" dirty="0"/>
              <a:t>， </a:t>
            </a:r>
            <a:r>
              <a:rPr lang="en-US" altLang="zh-CN" dirty="0"/>
              <a:t>Sdept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zh-CN" altLang="en-US" dirty="0"/>
              <a:t>                </a:t>
            </a:r>
            <a:r>
              <a:rPr lang="en-US" altLang="zh-CN" dirty="0"/>
              <a:t>D-L</a:t>
            </a:r>
            <a:r>
              <a:rPr lang="zh-CN" altLang="en-US" dirty="0"/>
              <a:t>（</a:t>
            </a:r>
            <a:r>
              <a:rPr lang="en-US" altLang="zh-CN" dirty="0"/>
              <a:t>Sdept</a:t>
            </a:r>
            <a:r>
              <a:rPr lang="zh-CN" altLang="en-US" dirty="0"/>
              <a:t>，</a:t>
            </a:r>
            <a:r>
              <a:rPr lang="en-US" altLang="zh-CN" dirty="0"/>
              <a:t>Sloc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None/>
            </a:pPr>
            <a:r>
              <a:rPr lang="en-US" altLang="zh-CN" dirty="0"/>
              <a:t>S-D</a:t>
            </a:r>
            <a:r>
              <a:rPr lang="zh-CN" altLang="en-US" dirty="0"/>
              <a:t>的码为</a:t>
            </a:r>
            <a:r>
              <a:rPr lang="en-US" altLang="zh-CN" dirty="0"/>
              <a:t>Sno</a:t>
            </a:r>
            <a:r>
              <a:rPr lang="zh-CN" altLang="en-US" dirty="0"/>
              <a:t>， </a:t>
            </a:r>
            <a:r>
              <a:rPr lang="en-US" altLang="zh-CN" dirty="0"/>
              <a:t>D-L</a:t>
            </a:r>
            <a:r>
              <a:rPr lang="zh-CN" altLang="en-US" dirty="0"/>
              <a:t>的码为</a:t>
            </a:r>
            <a:r>
              <a:rPr lang="en-US" altLang="zh-CN" dirty="0"/>
              <a:t>Sdept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indent="-436245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dirty="0"/>
              <a:t>分解后的关系模式</a:t>
            </a:r>
            <a:r>
              <a:rPr lang="en-US" altLang="zh-CN" dirty="0"/>
              <a:t>S-D</a:t>
            </a:r>
            <a:r>
              <a:rPr lang="zh-CN" altLang="en-US" dirty="0"/>
              <a:t>与</a:t>
            </a:r>
            <a:r>
              <a:rPr lang="en-US" altLang="zh-CN" dirty="0"/>
              <a:t>D-L</a:t>
            </a:r>
            <a:r>
              <a:rPr lang="zh-CN" altLang="en-US" dirty="0"/>
              <a:t>中不再存在传递依赖 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983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indent="-436245" eaLnBrk="1" hangingPunct="1">
              <a:buNone/>
            </a:pPr>
            <a:r>
              <a:rPr lang="en-US" altLang="zh-CN" dirty="0"/>
              <a:t>S-D</a:t>
            </a:r>
            <a:r>
              <a:rPr lang="zh-CN" altLang="en-US" dirty="0"/>
              <a:t>的码为</a:t>
            </a:r>
            <a:r>
              <a:rPr lang="en-US" altLang="zh-CN" dirty="0"/>
              <a:t>Sno</a:t>
            </a:r>
            <a:r>
              <a:rPr lang="zh-CN" altLang="en-US" dirty="0"/>
              <a:t>， </a:t>
            </a:r>
            <a:r>
              <a:rPr lang="en-US" altLang="zh-CN" dirty="0"/>
              <a:t>D-L</a:t>
            </a:r>
            <a:r>
              <a:rPr lang="zh-CN" altLang="en-US" dirty="0"/>
              <a:t>的码为</a:t>
            </a:r>
            <a:r>
              <a:rPr lang="en-US" altLang="zh-CN" dirty="0"/>
              <a:t>Sdept</a:t>
            </a:r>
            <a:endParaRPr lang="en-US" altLang="zh-CN" dirty="0"/>
          </a:p>
        </p:txBody>
      </p:sp>
      <p:grpSp>
        <p:nvGrpSpPr>
          <p:cNvPr id="98307" name="Group 13"/>
          <p:cNvGrpSpPr/>
          <p:nvPr/>
        </p:nvGrpSpPr>
        <p:grpSpPr>
          <a:xfrm>
            <a:off x="2640013" y="1844675"/>
            <a:ext cx="6565900" cy="1655763"/>
            <a:chOff x="1008" y="1920"/>
            <a:chExt cx="4272" cy="1296"/>
          </a:xfrm>
        </p:grpSpPr>
        <p:sp>
          <p:nvSpPr>
            <p:cNvPr id="98308" name="Text Box 5"/>
            <p:cNvSpPr txBox="1"/>
            <p:nvPr/>
          </p:nvSpPr>
          <p:spPr>
            <a:xfrm>
              <a:off x="1008" y="1920"/>
              <a:ext cx="594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Sno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09" name="Text Box 6"/>
            <p:cNvSpPr txBox="1"/>
            <p:nvPr/>
          </p:nvSpPr>
          <p:spPr>
            <a:xfrm>
              <a:off x="2076" y="1920"/>
              <a:ext cx="712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Sdept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0" name="Line 7"/>
            <p:cNvSpPr/>
            <p:nvPr/>
          </p:nvSpPr>
          <p:spPr>
            <a:xfrm>
              <a:off x="1602" y="2082"/>
              <a:ext cx="47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8311" name="Text Box 8"/>
            <p:cNvSpPr txBox="1"/>
            <p:nvPr/>
          </p:nvSpPr>
          <p:spPr>
            <a:xfrm>
              <a:off x="1602" y="2730"/>
              <a:ext cx="598" cy="48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/>
            <a:p>
              <a:pPr algn="ctr" eaLnBrk="0" hangingPunct="0"/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S-D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2" name="Text Box 9"/>
            <p:cNvSpPr txBox="1"/>
            <p:nvPr/>
          </p:nvSpPr>
          <p:spPr>
            <a:xfrm>
              <a:off x="3382" y="1920"/>
              <a:ext cx="712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Sdept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3" name="Text Box 10"/>
            <p:cNvSpPr txBox="1"/>
            <p:nvPr/>
          </p:nvSpPr>
          <p:spPr>
            <a:xfrm>
              <a:off x="4686" y="1920"/>
              <a:ext cx="594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/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Sloc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4" name="Line 11"/>
            <p:cNvSpPr/>
            <p:nvPr/>
          </p:nvSpPr>
          <p:spPr>
            <a:xfrm>
              <a:off x="4094" y="2082"/>
              <a:ext cx="59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8315" name="Text Box 12"/>
            <p:cNvSpPr txBox="1"/>
            <p:nvPr/>
          </p:nvSpPr>
          <p:spPr>
            <a:xfrm>
              <a:off x="4212" y="2730"/>
              <a:ext cx="528" cy="48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/>
            <a:p>
              <a:pPr algn="ctr" eaLnBrk="0" hangingPunct="0"/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D-L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8316" name="Rectangle 14"/>
          <p:cNvSpPr/>
          <p:nvPr/>
        </p:nvSpPr>
        <p:spPr>
          <a:xfrm>
            <a:off x="2424113" y="3860800"/>
            <a:ext cx="6408737" cy="156845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marL="342900" indent="-342900" algn="ctr" eaLnBrk="0" hangingPunct="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S-L(Sno, Sdept, Sloc) 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2NF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algn="ctr" eaLnBrk="0" hangingPunct="0"/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     S-L(Sno, Sdept, Sloc) 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3NF 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algn="ctr" eaLnBrk="0" hangingPunct="0"/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S-D(Sno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Sdept)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 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3NF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algn="ctr" eaLnBrk="0" hangingPunct="0"/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D-L(Sdept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Sloc)</a:t>
            </a:r>
            <a:r>
              <a:rPr lang="en-US" altLang="zh-CN" sz="2200" dirty="0">
                <a:latin typeface="Verdana" panose="020B0604030504040204" pitchFamily="34" charset="0"/>
                <a:ea typeface="宋体" panose="02010600030101010101" pitchFamily="2" charset="-122"/>
              </a:rPr>
              <a:t>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3NF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8317" name="Line 16"/>
          <p:cNvSpPr/>
          <p:nvPr/>
        </p:nvSpPr>
        <p:spPr>
          <a:xfrm>
            <a:off x="7219950" y="4311650"/>
            <a:ext cx="215900" cy="3603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100354" name="Rectangle 3"/>
          <p:cNvSpPr>
            <a:spLocks noGrp="1"/>
          </p:cNvSpPr>
          <p:nvPr>
            <p:ph idx="1"/>
          </p:nvPr>
        </p:nvSpPr>
        <p:spPr>
          <a:xfrm>
            <a:off x="1992313" y="1125538"/>
            <a:ext cx="8153400" cy="49672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spcAft>
                <a:spcPct val="30000"/>
              </a:spcAft>
            </a:pPr>
            <a:r>
              <a:rPr lang="zh-CN" altLang="en-US" sz="2800" dirty="0"/>
              <a:t>采用投影分解法将一个</a:t>
            </a:r>
            <a:r>
              <a:rPr lang="en-US" altLang="zh-CN" sz="2800" dirty="0"/>
              <a:t>2NF</a:t>
            </a:r>
            <a:r>
              <a:rPr lang="zh-CN" altLang="en-US" sz="2800" dirty="0"/>
              <a:t>的关系分解为多个</a:t>
            </a:r>
            <a:r>
              <a:rPr lang="en-US" altLang="zh-CN" sz="2800" dirty="0"/>
              <a:t>3NF</a:t>
            </a:r>
            <a:r>
              <a:rPr lang="zh-CN" altLang="en-US" sz="2800" dirty="0"/>
              <a:t>的关系，可以</a:t>
            </a:r>
            <a:r>
              <a:rPr lang="zh-CN" altLang="en-US" sz="2800" dirty="0">
                <a:solidFill>
                  <a:srgbClr val="FF0000"/>
                </a:solidFill>
              </a:rPr>
              <a:t>在一定程度上</a:t>
            </a:r>
            <a:r>
              <a:rPr lang="zh-CN" altLang="en-US" sz="2800" dirty="0"/>
              <a:t>解决原</a:t>
            </a:r>
            <a:r>
              <a:rPr lang="en-US" altLang="zh-CN" sz="2800" dirty="0"/>
              <a:t>2NF</a:t>
            </a:r>
            <a:r>
              <a:rPr lang="zh-CN" altLang="en-US" sz="2800" dirty="0"/>
              <a:t>关系中存在的插入异常、删除异常、数据冗余度大、修改复杂等问题。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/>
              <a:t> 将一个</a:t>
            </a:r>
            <a:r>
              <a:rPr lang="en-US" altLang="zh-CN" sz="2800" dirty="0"/>
              <a:t>2NF</a:t>
            </a:r>
            <a:r>
              <a:rPr lang="zh-CN" altLang="en-US" sz="2800" dirty="0"/>
              <a:t>关系分解为多个</a:t>
            </a:r>
            <a:r>
              <a:rPr lang="en-US" altLang="zh-CN" sz="2800" dirty="0"/>
              <a:t>3NF</a:t>
            </a:r>
            <a:r>
              <a:rPr lang="zh-CN" altLang="en-US" sz="2800" dirty="0"/>
              <a:t>的关系后，</a:t>
            </a:r>
            <a:r>
              <a:rPr lang="zh-CN" altLang="en-US" sz="2800" dirty="0">
                <a:solidFill>
                  <a:srgbClr val="FF0000"/>
                </a:solidFill>
              </a:rPr>
              <a:t>仍然不能完全消除</a:t>
            </a:r>
            <a:r>
              <a:rPr lang="zh-CN" altLang="en-US" sz="2800" dirty="0"/>
              <a:t>关系模式中的各种异常情况和数据冗余。</a:t>
            </a:r>
            <a:endParaRPr lang="zh-CN" altLang="en-US" sz="2800" dirty="0"/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提问：下面两个关系是否是</a:t>
            </a:r>
            <a:r>
              <a:rPr lang="en-US" altLang="zh-CN" dirty="0"/>
              <a:t>3NF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2090738" y="1143000"/>
            <a:ext cx="8001000" cy="4949825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1.</a:t>
            </a:r>
            <a:r>
              <a:rPr lang="zh-CN" altLang="en-US" dirty="0"/>
              <a:t>部门（部门号，部门名，经理编号），注：部门名有可能重复，一个人可能担任两个部门的经理</a:t>
            </a:r>
            <a:r>
              <a:rPr lang="zh-CN" altLang="en-US" dirty="0">
                <a:sym typeface="+mn-ea"/>
              </a:rPr>
              <a:t>，一个部门只有一个经理。</a:t>
            </a:r>
            <a:endParaRPr lang="en-US" altLang="zh-CN" dirty="0"/>
          </a:p>
          <a:p>
            <a:pPr lvl="2"/>
            <a:r>
              <a:rPr lang="en-US" altLang="zh-CN" sz="2800" dirty="0"/>
              <a:t>B01</a:t>
            </a:r>
            <a:r>
              <a:rPr lang="zh-CN" altLang="en-US" sz="2800" dirty="0"/>
              <a:t>，软件部，</a:t>
            </a:r>
            <a:r>
              <a:rPr lang="en-US" altLang="zh-CN" sz="2800" dirty="0"/>
              <a:t>J01</a:t>
            </a:r>
            <a:endParaRPr lang="en-US" altLang="zh-CN" sz="2800" dirty="0"/>
          </a:p>
          <a:p>
            <a:pPr lvl="2"/>
            <a:r>
              <a:rPr lang="en-US" altLang="zh-CN" sz="2800" dirty="0"/>
              <a:t>B02</a:t>
            </a:r>
            <a:r>
              <a:rPr lang="zh-CN" altLang="en-US" sz="2800" dirty="0"/>
              <a:t>，硬件部，</a:t>
            </a:r>
            <a:r>
              <a:rPr lang="en-US" altLang="zh-CN" sz="2800" dirty="0"/>
              <a:t>J02</a:t>
            </a:r>
            <a:endParaRPr lang="en-US" altLang="zh-CN" sz="2800" dirty="0"/>
          </a:p>
          <a:p>
            <a:pPr lvl="2"/>
            <a:r>
              <a:rPr lang="en-US" altLang="zh-CN" sz="2800" dirty="0"/>
              <a:t>B04</a:t>
            </a:r>
            <a:r>
              <a:rPr lang="zh-CN" altLang="en-US" sz="2800" dirty="0"/>
              <a:t>，调试部，</a:t>
            </a:r>
            <a:r>
              <a:rPr lang="en-US" altLang="zh-CN" sz="2800" dirty="0"/>
              <a:t>J03</a:t>
            </a:r>
            <a:endParaRPr lang="en-US" altLang="zh-CN" sz="2800" dirty="0"/>
          </a:p>
          <a:p>
            <a:pPr lvl="2"/>
            <a:r>
              <a:rPr lang="en-US" altLang="zh-CN" sz="2800" dirty="0"/>
              <a:t>B05</a:t>
            </a:r>
            <a:r>
              <a:rPr lang="zh-CN" altLang="en-US" sz="2800" dirty="0"/>
              <a:t>，调试部，</a:t>
            </a:r>
            <a:r>
              <a:rPr lang="en-US" altLang="zh-CN" sz="2800" dirty="0"/>
              <a:t>J01</a:t>
            </a:r>
            <a:endParaRPr lang="en-US" altLang="zh-CN" sz="2800" dirty="0"/>
          </a:p>
          <a:p>
            <a:r>
              <a:rPr lang="zh-CN" altLang="en-US" sz="2400" dirty="0"/>
              <a:t>分析方法：先分析是不是</a:t>
            </a:r>
            <a:r>
              <a:rPr lang="en-US" altLang="zh-CN" sz="2400" dirty="0"/>
              <a:t>2NF</a:t>
            </a:r>
            <a:r>
              <a:rPr lang="zh-CN" altLang="en-US" sz="2400" dirty="0"/>
              <a:t>（分析码是什么，看看非主属性是否完全函数依赖于码），如果不是</a:t>
            </a:r>
            <a:r>
              <a:rPr lang="en-US" altLang="zh-CN" sz="2400" dirty="0"/>
              <a:t>2NF</a:t>
            </a:r>
            <a:r>
              <a:rPr lang="zh-CN" altLang="en-US" sz="2400" dirty="0"/>
              <a:t>，更不会是</a:t>
            </a:r>
            <a:r>
              <a:rPr lang="en-US" altLang="zh-CN" sz="2400" dirty="0"/>
              <a:t>3NF</a:t>
            </a:r>
            <a:r>
              <a:rPr lang="zh-CN" altLang="en-US" sz="2400" dirty="0"/>
              <a:t>，如果是</a:t>
            </a:r>
            <a:r>
              <a:rPr lang="en-US" altLang="zh-CN" sz="2400" dirty="0"/>
              <a:t>2NF</a:t>
            </a:r>
            <a:r>
              <a:rPr lang="zh-CN" altLang="en-US" sz="2400" dirty="0"/>
              <a:t>，再看非主属性对码有没有传递函数依赖。</a:t>
            </a:r>
            <a:endParaRPr lang="zh-CN" altLang="en-US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4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58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70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8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提问：下面两个关系是否是</a:t>
            </a:r>
            <a:r>
              <a:rPr lang="en-US" altLang="zh-CN" dirty="0"/>
              <a:t>3NF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2090738" y="1143000"/>
            <a:ext cx="8326437" cy="5165725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2.</a:t>
            </a:r>
            <a:r>
              <a:rPr lang="zh-CN" altLang="en-US" dirty="0"/>
              <a:t>医院里面有多个病房，有多个科室，每个病房有多个床位</a:t>
            </a:r>
            <a:r>
              <a:rPr lang="en-US" altLang="zh-CN" dirty="0"/>
              <a:t>(</a:t>
            </a:r>
            <a:r>
              <a:rPr lang="zh-CN" altLang="en-US" dirty="0"/>
              <a:t>每个病房的床位号都是从</a:t>
            </a:r>
            <a:r>
              <a:rPr lang="en-US" altLang="zh-CN" dirty="0"/>
              <a:t>1</a:t>
            </a:r>
            <a:r>
              <a:rPr lang="zh-CN" altLang="en-US" dirty="0"/>
              <a:t>开始编号</a:t>
            </a:r>
            <a:r>
              <a:rPr lang="en-US" altLang="zh-CN" dirty="0"/>
              <a:t>)</a:t>
            </a:r>
            <a:r>
              <a:rPr lang="zh-CN" altLang="en-US" dirty="0"/>
              <a:t>，一个病房属于一个科室。</a:t>
            </a:r>
            <a:endParaRPr lang="en-US" altLang="zh-CN" dirty="0"/>
          </a:p>
          <a:p>
            <a:r>
              <a:rPr lang="zh-CN" altLang="en-US" dirty="0"/>
              <a:t>病房（病房号，床位号，科室名）</a:t>
            </a:r>
            <a:endParaRPr lang="en-US" altLang="zh-CN" dirty="0"/>
          </a:p>
          <a:p>
            <a:pPr lvl="3"/>
            <a:r>
              <a:rPr lang="en-US" altLang="zh-CN" sz="2800" dirty="0"/>
              <a:t>B01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，外科</a:t>
            </a:r>
            <a:endParaRPr lang="en-US" altLang="zh-CN" sz="2800" dirty="0"/>
          </a:p>
          <a:p>
            <a:pPr lvl="3"/>
            <a:r>
              <a:rPr lang="en-US" altLang="zh-CN" sz="2800" dirty="0"/>
              <a:t>B01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，外科</a:t>
            </a:r>
            <a:endParaRPr lang="en-US" altLang="zh-CN" sz="2800" dirty="0"/>
          </a:p>
          <a:p>
            <a:pPr lvl="3"/>
            <a:r>
              <a:rPr lang="en-US" altLang="zh-CN" sz="2800" dirty="0"/>
              <a:t>B01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，外科</a:t>
            </a:r>
            <a:endParaRPr lang="en-US" altLang="zh-CN" sz="2800" dirty="0"/>
          </a:p>
          <a:p>
            <a:pPr lvl="3"/>
            <a:r>
              <a:rPr lang="en-US" altLang="zh-CN" sz="2800" dirty="0"/>
              <a:t>B02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，内科</a:t>
            </a:r>
            <a:endParaRPr lang="en-US" altLang="zh-CN" sz="2800" dirty="0"/>
          </a:p>
          <a:p>
            <a:pPr lvl="3"/>
            <a:r>
              <a:rPr lang="en-US" altLang="zh-CN" sz="2800" dirty="0"/>
              <a:t>B02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，内科</a:t>
            </a:r>
            <a:endParaRPr lang="zh-CN" altLang="en-US" sz="28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57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7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8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91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00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0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答案</a:t>
            </a:r>
            <a:endParaRPr lang="zh-CN" altLang="en-US" dirty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3200" dirty="0"/>
              <a:t>部门：是</a:t>
            </a:r>
            <a:r>
              <a:rPr lang="en-US" altLang="zh-CN" sz="3200" dirty="0"/>
              <a:t>2NF</a:t>
            </a:r>
            <a:r>
              <a:rPr lang="zh-CN" altLang="en-US" sz="3200" dirty="0"/>
              <a:t>。是</a:t>
            </a:r>
            <a:r>
              <a:rPr lang="en-US" altLang="zh-CN" sz="3200" dirty="0"/>
              <a:t>3NF</a:t>
            </a:r>
            <a:r>
              <a:rPr lang="zh-CN" altLang="en-US" sz="3200" dirty="0"/>
              <a:t>，部门号</a:t>
            </a:r>
            <a:r>
              <a:rPr lang="en-US" altLang="zh-CN" sz="3200" dirty="0">
                <a:sym typeface="Wingdings" panose="05000000000000000000" pitchFamily="2" charset="2"/>
              </a:rPr>
              <a:t></a:t>
            </a:r>
            <a:r>
              <a:rPr lang="zh-CN" altLang="en-US" sz="3200" dirty="0"/>
              <a:t>部门名，部门名不能决定经理，没有传递函数依赖。</a:t>
            </a:r>
            <a:endParaRPr lang="en-US" altLang="zh-CN" sz="3200" dirty="0"/>
          </a:p>
          <a:p>
            <a:r>
              <a:rPr lang="zh-CN" altLang="en-US" sz="3200" dirty="0"/>
              <a:t>病房：是</a:t>
            </a:r>
            <a:r>
              <a:rPr lang="en-US" altLang="zh-CN" sz="3200" dirty="0"/>
              <a:t>1NF</a:t>
            </a:r>
            <a:r>
              <a:rPr lang="zh-CN" altLang="en-US" sz="3200" dirty="0"/>
              <a:t>，不是</a:t>
            </a:r>
            <a:r>
              <a:rPr lang="en-US" altLang="zh-CN" sz="3200" dirty="0"/>
              <a:t>2NF</a:t>
            </a:r>
            <a:r>
              <a:rPr lang="zh-CN" altLang="en-US" sz="3200" dirty="0"/>
              <a:t>。不是</a:t>
            </a:r>
            <a:r>
              <a:rPr lang="en-US" altLang="zh-CN" sz="3200" dirty="0"/>
              <a:t>3NF</a:t>
            </a:r>
            <a:endParaRPr lang="en-US" altLang="zh-CN" sz="3200" dirty="0"/>
          </a:p>
          <a:p>
            <a:r>
              <a:rPr lang="zh-CN" altLang="en-US" sz="3200" dirty="0"/>
              <a:t>思考，之前的</a:t>
            </a:r>
            <a:r>
              <a:rPr lang="en-US" altLang="zh-CN" sz="3200" dirty="0"/>
              <a:t>EDUC</a:t>
            </a:r>
            <a:r>
              <a:rPr lang="zh-CN" altLang="en-US" sz="3200" dirty="0"/>
              <a:t>和</a:t>
            </a:r>
            <a:r>
              <a:rPr lang="en-US" altLang="zh-CN" sz="3200" dirty="0"/>
              <a:t>SPJ</a:t>
            </a:r>
            <a:r>
              <a:rPr lang="zh-CN" altLang="en-US" sz="3200" dirty="0"/>
              <a:t>数据库中的表都是第几范式，目前满足第三范式吗？</a:t>
            </a:r>
            <a:endParaRPr lang="zh-CN" altLang="en-US" sz="3200" dirty="0"/>
          </a:p>
          <a:p>
            <a:r>
              <a:rPr lang="zh-CN" altLang="en-US" dirty="0"/>
              <a:t>答：是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中没有非主属性，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是</a:t>
            </a:r>
            <a:r>
              <a:rPr lang="en-US" altLang="zh-CN" b="1" dirty="0">
                <a:solidFill>
                  <a:srgbClr val="FF0000"/>
                </a:solidFill>
              </a:rPr>
              <a:t>3NF</a:t>
            </a:r>
            <a:r>
              <a:rPr lang="zh-CN" altLang="en-US" b="1" dirty="0">
                <a:solidFill>
                  <a:srgbClr val="FF0000"/>
                </a:solidFill>
              </a:rPr>
              <a:t>吗？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答：是的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4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61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99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103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12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105474" name="Rectangle 3"/>
          <p:cNvSpPr>
            <a:spLocks noGrp="1"/>
          </p:cNvSpPr>
          <p:nvPr>
            <p:ph idx="1"/>
          </p:nvPr>
        </p:nvSpPr>
        <p:spPr>
          <a:xfrm>
            <a:off x="2495550" y="1268413"/>
            <a:ext cx="7643813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6.2.6  BCNF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10752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是第一范式，如果关系</a:t>
            </a:r>
            <a:r>
              <a:rPr lang="en-US" altLang="zh-CN" dirty="0"/>
              <a:t>R</a:t>
            </a:r>
            <a:r>
              <a:rPr lang="zh-CN" altLang="en-US" dirty="0"/>
              <a:t>中不存在非主属性，</a:t>
            </a:r>
            <a:r>
              <a:rPr lang="en-US" altLang="zh-CN" dirty="0"/>
              <a:t>R</a:t>
            </a:r>
            <a:r>
              <a:rPr lang="zh-CN" altLang="en-US" dirty="0"/>
              <a:t>一定是</a:t>
            </a:r>
            <a:r>
              <a:rPr lang="en-US" altLang="zh-CN" dirty="0"/>
              <a:t>3NF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1NF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/>
              <a:t> ↓  </a:t>
            </a:r>
            <a:r>
              <a:rPr lang="zh-CN" altLang="en-US" sz="3200" dirty="0"/>
              <a:t>消除</a:t>
            </a:r>
            <a:r>
              <a:rPr lang="zh-CN" altLang="en-US" sz="3200" b="1" dirty="0">
                <a:solidFill>
                  <a:srgbClr val="0000FF"/>
                </a:solidFill>
              </a:rPr>
              <a:t>非</a:t>
            </a:r>
            <a:r>
              <a:rPr lang="zh-CN" altLang="en-US" sz="3200" dirty="0">
                <a:solidFill>
                  <a:srgbClr val="FF0000"/>
                </a:solidFill>
              </a:rPr>
              <a:t>主属性</a:t>
            </a:r>
            <a:r>
              <a:rPr lang="zh-CN" altLang="en-US" sz="3200" dirty="0"/>
              <a:t>对</a:t>
            </a:r>
            <a:r>
              <a:rPr lang="zh-CN" altLang="en-US" sz="3200" dirty="0">
                <a:solidFill>
                  <a:srgbClr val="FF0000"/>
                </a:solidFill>
              </a:rPr>
              <a:t>码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部分函数依赖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2NF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3200" dirty="0"/>
              <a:t> ↓  消除</a:t>
            </a:r>
            <a:r>
              <a:rPr lang="zh-CN" altLang="en-US" sz="3200" b="1" dirty="0">
                <a:solidFill>
                  <a:srgbClr val="0000FF"/>
                </a:solidFill>
              </a:rPr>
              <a:t>非</a:t>
            </a:r>
            <a:r>
              <a:rPr lang="zh-CN" altLang="en-US" sz="3200" dirty="0">
                <a:solidFill>
                  <a:srgbClr val="FF0000"/>
                </a:solidFill>
              </a:rPr>
              <a:t>主属性</a:t>
            </a:r>
            <a:r>
              <a:rPr lang="zh-CN" altLang="en-US" sz="3200" dirty="0"/>
              <a:t>对</a:t>
            </a:r>
            <a:r>
              <a:rPr lang="zh-CN" altLang="en-US" sz="3200" dirty="0">
                <a:solidFill>
                  <a:srgbClr val="FF0000"/>
                </a:solidFill>
              </a:rPr>
              <a:t>码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传递函数依赖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3NF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32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 6.2.6  BC</a:t>
            </a:r>
            <a:r>
              <a:rPr lang="zh-CN" altLang="en-US" dirty="0"/>
              <a:t>范式（</a:t>
            </a:r>
            <a:r>
              <a:rPr lang="en-US" altLang="zh-CN" dirty="0"/>
              <a:t>BCNF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2135188" y="1125538"/>
            <a:ext cx="8077200" cy="48958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定义</a:t>
            </a:r>
            <a:r>
              <a:rPr lang="en-US" altLang="zh-CN" b="1" dirty="0"/>
              <a:t>6.8</a:t>
            </a:r>
            <a:r>
              <a:rPr lang="en-US" altLang="zh-CN" dirty="0"/>
              <a:t>   </a:t>
            </a:r>
            <a:r>
              <a:rPr lang="zh-CN" altLang="en-US" dirty="0"/>
              <a:t>关系模式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</a:t>
            </a:r>
            <a:r>
              <a:rPr lang="en-US" altLang="zh-CN" sz="2600" dirty="0"/>
              <a:t>∈</a:t>
            </a:r>
            <a:r>
              <a:rPr lang="en-US" altLang="zh-CN" dirty="0"/>
              <a:t>1NF</a:t>
            </a:r>
            <a:r>
              <a:rPr lang="zh-CN" altLang="en-US" dirty="0"/>
              <a:t>，若</a:t>
            </a:r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en-US" altLang="zh-CN" dirty="0"/>
              <a:t>→Y</a:t>
            </a:r>
            <a:r>
              <a:rPr lang="zh-CN" altLang="en-US" dirty="0"/>
              <a:t>且</a:t>
            </a:r>
            <a:r>
              <a:rPr lang="en-US" altLang="zh-CN" dirty="0"/>
              <a:t>Y </a:t>
            </a:r>
            <a:r>
              <a:rPr lang="en-US" altLang="zh-CN" sz="32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zh-CN" altLang="en-US" dirty="0"/>
              <a:t>时</a:t>
            </a:r>
            <a:r>
              <a:rPr lang="en-US" altLang="zh-CN" dirty="0"/>
              <a:t>X</a:t>
            </a:r>
            <a:r>
              <a:rPr lang="zh-CN" altLang="en-US" dirty="0"/>
              <a:t>必含有码，则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 </a:t>
            </a:r>
            <a:r>
              <a:rPr lang="en-US" altLang="zh-CN" sz="2600" dirty="0"/>
              <a:t>∈</a:t>
            </a:r>
            <a:r>
              <a:rPr lang="en-US" altLang="zh-CN" dirty="0"/>
              <a:t>BCNF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判断</a:t>
            </a:r>
            <a:r>
              <a:rPr lang="en-US" altLang="zh-CN" dirty="0"/>
              <a:t>BCNF</a:t>
            </a:r>
            <a:r>
              <a:rPr lang="zh-CN" altLang="en-US" dirty="0"/>
              <a:t>的方法：</a:t>
            </a:r>
            <a:endParaRPr lang="en-US" altLang="zh-CN" dirty="0"/>
          </a:p>
          <a:p>
            <a:pPr eaLnBrk="1" hangingPunct="1">
              <a:lnSpc>
                <a:spcPct val="14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、每一个</a:t>
            </a:r>
            <a:r>
              <a:rPr lang="zh-CN" altLang="en-US" b="1" dirty="0">
                <a:solidFill>
                  <a:srgbClr val="FF0000"/>
                </a:solidFill>
              </a:rPr>
              <a:t>决定属性</a:t>
            </a:r>
            <a:r>
              <a:rPr lang="zh-CN" altLang="en-US" dirty="0"/>
              <a:t>因素都包含码</a:t>
            </a:r>
            <a:endParaRPr lang="en-US" altLang="zh-CN" dirty="0"/>
          </a:p>
          <a:p>
            <a:pPr eaLnBrk="1" hangingPunct="1">
              <a:lnSpc>
                <a:spcPct val="14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、消除第</a:t>
            </a:r>
            <a:r>
              <a:rPr lang="en-US" altLang="zh-CN" dirty="0"/>
              <a:t>3</a:t>
            </a:r>
            <a:r>
              <a:rPr lang="zh-CN" altLang="en-US" dirty="0"/>
              <a:t>范式中的，</a:t>
            </a:r>
            <a:r>
              <a:rPr lang="zh-CN" altLang="en-US" b="1" dirty="0">
                <a:solidFill>
                  <a:srgbClr val="FF0000"/>
                </a:solidFill>
              </a:rPr>
              <a:t>主属性</a:t>
            </a:r>
            <a:r>
              <a:rPr lang="zh-CN" altLang="en-US" dirty="0"/>
              <a:t>对</a:t>
            </a:r>
            <a:r>
              <a:rPr lang="zh-CN" altLang="en-US" b="1" dirty="0">
                <a:solidFill>
                  <a:srgbClr val="FF0000"/>
                </a:solidFill>
              </a:rPr>
              <a:t>不包含它的码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部分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传递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108547" name="Line 4"/>
          <p:cNvSpPr/>
          <p:nvPr/>
        </p:nvSpPr>
        <p:spPr>
          <a:xfrm>
            <a:off x="4386263" y="2060575"/>
            <a:ext cx="215900" cy="3603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charRg st="5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8">
                                            <p:txEl>
                                              <p:charRg st="5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charRg st="6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8">
                                            <p:txEl>
                                              <p:charRg st="6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charRg st="82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8">
                                            <p:txEl>
                                              <p:charRg st="82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BCNF</a:t>
            </a:r>
            <a:r>
              <a:rPr lang="zh-CN" altLang="en-US" sz="3200" dirty="0"/>
              <a:t>（续）</a:t>
            </a:r>
            <a:endParaRPr lang="zh-CN" altLang="en-US" sz="3200" dirty="0"/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974850" y="1196975"/>
            <a:ext cx="8507413" cy="230346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5] </a:t>
            </a:r>
            <a:r>
              <a:rPr lang="zh-CN" altLang="en-US" sz="2400" dirty="0"/>
              <a:t>关系模式</a:t>
            </a:r>
            <a:r>
              <a:rPr lang="en-US" altLang="zh-CN" sz="2400" dirty="0"/>
              <a:t>C</a:t>
            </a:r>
            <a:r>
              <a:rPr lang="zh-CN" altLang="en-US" sz="2400" dirty="0"/>
              <a:t>（</a:t>
            </a:r>
            <a:r>
              <a:rPr lang="en-US" altLang="zh-CN" sz="2400" dirty="0"/>
              <a:t>Cno</a:t>
            </a:r>
            <a:r>
              <a:rPr lang="zh-CN" altLang="en-US" sz="2400" dirty="0"/>
              <a:t>，</a:t>
            </a:r>
            <a:r>
              <a:rPr lang="en-US" altLang="zh-CN" sz="2400" dirty="0"/>
              <a:t>Cname</a:t>
            </a:r>
            <a:r>
              <a:rPr lang="zh-CN" altLang="en-US" sz="2400" dirty="0"/>
              <a:t>，</a:t>
            </a:r>
            <a:r>
              <a:rPr lang="en-US" altLang="zh-CN" sz="2400" dirty="0"/>
              <a:t>Pcno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indent="-436245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C∈3NF</a:t>
            </a:r>
            <a:r>
              <a:rPr lang="zh-CN" altLang="en-US" dirty="0"/>
              <a:t>？？</a:t>
            </a:r>
            <a:endParaRPr lang="en-US" altLang="zh-CN" dirty="0"/>
          </a:p>
          <a:p>
            <a:pPr lvl="1" indent="-436245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C∈BCNF</a:t>
            </a:r>
            <a:r>
              <a:rPr lang="zh-CN" altLang="en-US" dirty="0"/>
              <a:t>？？</a:t>
            </a:r>
            <a:endParaRPr lang="en-US" altLang="zh-CN" dirty="0"/>
          </a:p>
          <a:p>
            <a:pPr lvl="1" indent="-436245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答案：是的，是的</a:t>
            </a:r>
            <a:endParaRPr lang="en-US" altLang="zh-CN" dirty="0"/>
          </a:p>
          <a:p>
            <a:pPr lvl="1" indent="-436245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 lvl="1" indent="-436245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endParaRPr lang="en-US" altLang="zh-CN" dirty="0"/>
          </a:p>
        </p:txBody>
      </p:sp>
      <p:sp>
        <p:nvSpPr>
          <p:cNvPr id="63493" name="Rectangle 4"/>
          <p:cNvSpPr/>
          <p:nvPr/>
        </p:nvSpPr>
        <p:spPr>
          <a:xfrm>
            <a:off x="2134870" y="3500755"/>
            <a:ext cx="8124190" cy="2675255"/>
          </a:xfrm>
          <a:prstGeom prst="rect">
            <a:avLst/>
          </a:prstGeom>
          <a:noFill/>
          <a:ln w="57150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lnSpc>
                <a:spcPct val="120000"/>
              </a:lnSpc>
            </a:pP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6]  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关系模式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Sid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Sno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Sname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Sdept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Sage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Clr>
                <a:srgbClr val="B90000"/>
              </a:buClr>
              <a:buFont typeface="Wingdings" panose="05000000000000000000" charset="0"/>
              <a:buChar char="n"/>
            </a:pP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S∈3NF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？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Clr>
                <a:srgbClr val="B90000"/>
              </a:buClr>
              <a:buFont typeface="Wingdings" panose="05000000000000000000" charset="0"/>
              <a:buChar char="n"/>
            </a:pP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S ∈ BCNF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？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Clr>
                <a:srgbClr val="B90000"/>
              </a:buClr>
              <a:buFont typeface="Wingdings" panose="05000000000000000000" charset="0"/>
              <a:buChar char="n"/>
            </a:pP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答案：是的，是的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5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50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2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2">
                                            <p:txEl>
                                              <p:charRg st="2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50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charRg st="3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2">
                                            <p:txEl>
                                              <p:charRg st="3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2">
                                            <p:txEl>
                                              <p:charRg st="3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50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charRg st="4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2">
                                            <p:txEl>
                                              <p:charRg st="4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2">
                                            <p:txEl>
                                              <p:charRg st="4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3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3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charRg st="3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93">
                                            <p:txEl>
                                              <p:charRg st="3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493">
                                            <p:txEl>
                                              <p:charRg st="3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charRg st="4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3">
                                            <p:txEl>
                                              <p:charRg st="4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493">
                                            <p:txEl>
                                              <p:charRg st="4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charRg st="56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493">
                                            <p:txEl>
                                              <p:charRg st="56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493">
                                            <p:txEl>
                                              <p:charRg st="56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BCNF</a:t>
            </a:r>
            <a:r>
              <a:rPr lang="zh-CN" altLang="en-US" sz="3200" dirty="0"/>
              <a:t>（续）</a:t>
            </a:r>
            <a:endParaRPr lang="zh-CN" altLang="en-US" sz="3200" dirty="0"/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2063115" y="1196340"/>
            <a:ext cx="8229600" cy="503301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/>
              <a:t>［例</a:t>
            </a:r>
            <a:r>
              <a:rPr lang="en-US" altLang="zh-CN" sz="2400" dirty="0"/>
              <a:t>7</a:t>
            </a:r>
            <a:r>
              <a:rPr lang="zh-CN" altLang="en-US" sz="2400" dirty="0"/>
              <a:t>］关系模式</a:t>
            </a:r>
            <a:r>
              <a:rPr lang="en-US" altLang="zh-CN" sz="2400" dirty="0"/>
              <a:t>SJP</a:t>
            </a:r>
            <a:r>
              <a:rPr lang="zh-CN" altLang="en-US" sz="2400" dirty="0"/>
              <a:t>（</a:t>
            </a:r>
            <a:r>
              <a:rPr lang="en-US" altLang="zh-CN" sz="2400" dirty="0"/>
              <a:t>S</a:t>
            </a:r>
            <a:r>
              <a:rPr lang="zh-CN" altLang="en-US" sz="2400" dirty="0"/>
              <a:t>，</a:t>
            </a:r>
            <a:r>
              <a:rPr lang="en-US" altLang="zh-CN" sz="2400" dirty="0"/>
              <a:t>J</a:t>
            </a:r>
            <a:r>
              <a:rPr lang="zh-CN" altLang="en-US" sz="2400" dirty="0"/>
              <a:t>，</a:t>
            </a:r>
            <a:r>
              <a:rPr lang="en-US" altLang="zh-CN" sz="2400" dirty="0"/>
              <a:t>P</a:t>
            </a:r>
            <a:r>
              <a:rPr lang="zh-CN" altLang="en-US" sz="2400" dirty="0"/>
              <a:t>）中，</a:t>
            </a:r>
            <a:r>
              <a:rPr lang="en-US" altLang="zh-CN" sz="2400" dirty="0"/>
              <a:t>S</a:t>
            </a:r>
            <a:r>
              <a:rPr lang="zh-CN" altLang="en-US" sz="2400" dirty="0"/>
              <a:t>表示学生，</a:t>
            </a:r>
            <a:r>
              <a:rPr lang="en-US" altLang="zh-CN" sz="2400" dirty="0"/>
              <a:t>J</a:t>
            </a:r>
            <a:r>
              <a:rPr lang="zh-CN" altLang="en-US" sz="2400" dirty="0"/>
              <a:t>表示课程 ， </a:t>
            </a:r>
            <a:r>
              <a:rPr lang="en-US" altLang="zh-CN" sz="2400" dirty="0"/>
              <a:t>P</a:t>
            </a:r>
            <a:r>
              <a:rPr lang="zh-CN" altLang="en-US" sz="2400" dirty="0"/>
              <a:t>表示名次 。</a:t>
            </a:r>
            <a:r>
              <a:rPr lang="en-US" altLang="zh-CN" sz="2400" dirty="0"/>
              <a:t>(</a:t>
            </a:r>
            <a:r>
              <a:rPr lang="zh-CN" altLang="en-US" sz="2400" dirty="0"/>
              <a:t>同一门课的名次不能重复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S1,J01,1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ym typeface="+mn-ea"/>
              </a:rPr>
              <a:t>     S1,J02,1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ym typeface="+mn-ea"/>
              </a:rPr>
              <a:t>     S2,J01,3</a:t>
            </a:r>
            <a:endParaRPr lang="en-US" altLang="zh-CN" sz="2400" dirty="0">
              <a:sym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ym typeface="+mn-ea"/>
              </a:rPr>
              <a:t>     S2,J02,4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分析主码？非主属性？</a:t>
            </a:r>
            <a:endParaRPr lang="zh-CN" altLang="en-US" sz="2400" dirty="0"/>
          </a:p>
          <a:p>
            <a:pPr lvl="1" indent="-436245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400" dirty="0"/>
              <a:t>函数依赖：（</a:t>
            </a:r>
            <a:r>
              <a:rPr lang="en-US" altLang="zh-CN" sz="2400" dirty="0"/>
              <a:t>S</a:t>
            </a:r>
            <a:r>
              <a:rPr lang="zh-CN" altLang="en-US" sz="2400" dirty="0"/>
              <a:t>，</a:t>
            </a:r>
            <a:r>
              <a:rPr lang="en-US" altLang="zh-CN" sz="2400" dirty="0"/>
              <a:t>J</a:t>
            </a:r>
            <a:r>
              <a:rPr lang="zh-CN" altLang="en-US" sz="2400" dirty="0"/>
              <a:t>）→</a:t>
            </a:r>
            <a:r>
              <a:rPr lang="en-US" altLang="zh-CN" sz="2400" dirty="0"/>
              <a:t>P</a:t>
            </a:r>
            <a:r>
              <a:rPr lang="zh-CN" altLang="en-US" sz="2400" dirty="0"/>
              <a:t>；</a:t>
            </a:r>
            <a:r>
              <a:rPr lang="en-US" altLang="zh-CN" sz="2400" dirty="0"/>
              <a:t>(J</a:t>
            </a:r>
            <a:r>
              <a:rPr lang="zh-CN" altLang="en-US" sz="2400" dirty="0"/>
              <a:t>，</a:t>
            </a:r>
            <a:r>
              <a:rPr lang="en-US" altLang="zh-CN" sz="2400" dirty="0"/>
              <a:t>P</a:t>
            </a:r>
            <a:r>
              <a:rPr lang="zh-CN" altLang="en-US" sz="2400" dirty="0"/>
              <a:t>）→</a:t>
            </a:r>
            <a:r>
              <a:rPr lang="en-US" altLang="zh-CN" sz="2400" dirty="0"/>
              <a:t>S</a:t>
            </a:r>
            <a:endParaRPr lang="en-US" altLang="zh-CN" sz="2400" dirty="0"/>
          </a:p>
          <a:p>
            <a:pPr lvl="1" indent="-436245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400" dirty="0"/>
              <a:t>（</a:t>
            </a:r>
            <a:r>
              <a:rPr lang="en-US" altLang="zh-CN" sz="2400" dirty="0"/>
              <a:t>S</a:t>
            </a:r>
            <a:r>
              <a:rPr lang="zh-CN" altLang="en-US" sz="2400" dirty="0"/>
              <a:t>，</a:t>
            </a:r>
            <a:r>
              <a:rPr lang="en-US" altLang="zh-CN" sz="2400" dirty="0"/>
              <a:t>J</a:t>
            </a:r>
            <a:r>
              <a:rPr lang="zh-CN" altLang="en-US" sz="2400" dirty="0"/>
              <a:t>）与（</a:t>
            </a:r>
            <a:r>
              <a:rPr lang="en-US" altLang="zh-CN" sz="2400" dirty="0"/>
              <a:t>J</a:t>
            </a:r>
            <a:r>
              <a:rPr lang="zh-CN" altLang="en-US" sz="2400" dirty="0"/>
              <a:t>，</a:t>
            </a:r>
            <a:r>
              <a:rPr lang="en-US" altLang="zh-CN" sz="2400" dirty="0"/>
              <a:t>P</a:t>
            </a:r>
            <a:r>
              <a:rPr lang="zh-CN" altLang="en-US" sz="2400" dirty="0"/>
              <a:t>）都可以作为候选码，属性相交</a:t>
            </a:r>
            <a:endParaRPr lang="zh-CN" altLang="en-US" sz="2400" dirty="0"/>
          </a:p>
          <a:p>
            <a:pPr lvl="1" indent="-436245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FF0000"/>
                </a:solidFill>
              </a:rPr>
              <a:t>没有非主属性</a:t>
            </a:r>
            <a:r>
              <a:rPr lang="zh-CN" altLang="en-US" sz="2400" dirty="0"/>
              <a:t>，所以</a:t>
            </a:r>
            <a:r>
              <a:rPr lang="en-US" altLang="zh-CN" sz="2400" dirty="0"/>
              <a:t>SJP∈3NF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lvl="1" indent="-436245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400" dirty="0"/>
              <a:t>每个主属性对不包含它的码是完全函数依赖的，所以</a:t>
            </a:r>
            <a:r>
              <a:rPr lang="en-US" altLang="zh-CN" sz="2400" dirty="0"/>
              <a:t>SJP∈BCNF</a:t>
            </a:r>
            <a:endParaRPr lang="en-US" altLang="zh-CN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53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BCNF</a:t>
            </a:r>
            <a:r>
              <a:rPr lang="zh-CN" altLang="en-US" sz="3200" dirty="0"/>
              <a:t>（续）</a:t>
            </a:r>
            <a:endParaRPr lang="zh-CN" altLang="en-US" sz="3200" dirty="0"/>
          </a:p>
        </p:txBody>
      </p:sp>
      <p:sp>
        <p:nvSpPr>
          <p:cNvPr id="548868" name="Rectangle 4"/>
          <p:cNvSpPr/>
          <p:nvPr/>
        </p:nvSpPr>
        <p:spPr>
          <a:xfrm>
            <a:off x="2135505" y="1053465"/>
            <a:ext cx="7772400" cy="5255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8]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在关系模式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STJ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）中，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表示学生，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表示教师，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表示课程。每个教师只教一门课，每门课对应多个教师。学生选了某门课，教师就固定了。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4572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S1,T1,J01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4572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S1,T2,J02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4572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S1,T4,J03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4572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S2,T1,J01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4572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S2,T5,J02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457200" eaLnBrk="0" hangingPunct="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S2,T3,J03    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分析主码？非主属性？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0" fontAlgn="base" hangingPunct="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函数依赖：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0" fontAlgn="base" hangingPunct="0">
              <a:lnSpc>
                <a:spcPct val="10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(S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J)→T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(S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T)→J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T→J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0" fontAlgn="base" hangingPunct="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决定因素：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(S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J)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(S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T)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都是候选码，</a:t>
            </a:r>
            <a:r>
              <a:rPr lang="en-US" altLang="zh-CN" sz="2400" dirty="0">
                <a:sym typeface="+mn-ea"/>
              </a:rPr>
              <a:t>T</a:t>
            </a:r>
            <a:r>
              <a:rPr lang="zh-CN" altLang="en-US" sz="2400" dirty="0">
                <a:sym typeface="+mn-ea"/>
              </a:rPr>
              <a:t>不是码</a:t>
            </a:r>
            <a:endParaRPr lang="zh-CN" altLang="en-US" sz="2400" dirty="0">
              <a:sym typeface="+mn-ea"/>
            </a:endParaRPr>
          </a:p>
          <a:p>
            <a:pPr marL="742950" lvl="1" indent="-285750" eaLnBrk="0" fontAlgn="base" hangingPunct="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存在主属性对不包含它的码的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部分函数依赖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8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8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8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8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8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8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8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8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488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488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8" grpId="0" bldLvl="2" build="p"/>
      <p:bldP spid="548868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 BCNF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114690" name="Text Box 14"/>
          <p:cNvSpPr txBox="1"/>
          <p:nvPr/>
        </p:nvSpPr>
        <p:spPr>
          <a:xfrm>
            <a:off x="7712075" y="1939925"/>
            <a:ext cx="538163" cy="50482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1" name="Rectangle 5"/>
          <p:cNvSpPr/>
          <p:nvPr/>
        </p:nvSpPr>
        <p:spPr>
          <a:xfrm>
            <a:off x="3575050" y="1268413"/>
            <a:ext cx="900113" cy="2014537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4692" name="Text Box 6"/>
          <p:cNvSpPr txBox="1"/>
          <p:nvPr/>
        </p:nvSpPr>
        <p:spPr>
          <a:xfrm>
            <a:off x="3754438" y="1603375"/>
            <a:ext cx="539750" cy="50482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3" name="Text Box 7"/>
          <p:cNvSpPr txBox="1"/>
          <p:nvPr/>
        </p:nvSpPr>
        <p:spPr>
          <a:xfrm>
            <a:off x="3754438" y="2444750"/>
            <a:ext cx="539750" cy="50165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4" name="Text Box 8"/>
          <p:cNvSpPr txBox="1"/>
          <p:nvPr/>
        </p:nvSpPr>
        <p:spPr>
          <a:xfrm>
            <a:off x="4833938" y="1939925"/>
            <a:ext cx="539750" cy="50482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5" name="Line 9"/>
          <p:cNvSpPr/>
          <p:nvPr/>
        </p:nvSpPr>
        <p:spPr>
          <a:xfrm>
            <a:off x="4475163" y="2108200"/>
            <a:ext cx="358775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4696" name="Line 10"/>
          <p:cNvSpPr/>
          <p:nvPr/>
        </p:nvSpPr>
        <p:spPr>
          <a:xfrm flipH="1">
            <a:off x="4294188" y="2276475"/>
            <a:ext cx="539750" cy="503238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4697" name="Rectangle 11"/>
          <p:cNvSpPr/>
          <p:nvPr/>
        </p:nvSpPr>
        <p:spPr>
          <a:xfrm>
            <a:off x="6451600" y="1268413"/>
            <a:ext cx="898525" cy="2014537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4698" name="Text Box 12"/>
          <p:cNvSpPr txBox="1"/>
          <p:nvPr/>
        </p:nvSpPr>
        <p:spPr>
          <a:xfrm>
            <a:off x="6632575" y="1603375"/>
            <a:ext cx="538163" cy="50482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9" name="Text Box 13"/>
          <p:cNvSpPr txBox="1"/>
          <p:nvPr/>
        </p:nvSpPr>
        <p:spPr>
          <a:xfrm>
            <a:off x="6632575" y="2444750"/>
            <a:ext cx="538163" cy="50165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00" name="Line 15"/>
          <p:cNvSpPr/>
          <p:nvPr/>
        </p:nvSpPr>
        <p:spPr>
          <a:xfrm>
            <a:off x="7350125" y="2108200"/>
            <a:ext cx="36195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4701" name="Line 16"/>
          <p:cNvSpPr/>
          <p:nvPr/>
        </p:nvSpPr>
        <p:spPr>
          <a:xfrm flipH="1">
            <a:off x="7170738" y="2276475"/>
            <a:ext cx="541337" cy="503238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114702" name="Text Box 17"/>
          <p:cNvSpPr txBox="1"/>
          <p:nvPr/>
        </p:nvSpPr>
        <p:spPr>
          <a:xfrm>
            <a:off x="4440238" y="3357563"/>
            <a:ext cx="2087562" cy="503237"/>
          </a:xfrm>
          <a:prstGeom prst="rect">
            <a:avLst/>
          </a:prstGeom>
          <a:noFill/>
          <a:ln w="28575">
            <a:noFill/>
          </a:ln>
        </p:spPr>
        <p:txBody>
          <a:bodyPr anchor="t" anchorCtr="0"/>
          <a:p>
            <a:pPr algn="ctr" eaLnBrk="0" hangingPunct="0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STJ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中的函数依赖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2270125" y="3788938"/>
            <a:ext cx="7772400" cy="2197100"/>
            <a:chOff x="476" y="2480"/>
            <a:chExt cx="4896" cy="1651"/>
          </a:xfrm>
        </p:grpSpPr>
        <p:sp>
          <p:nvSpPr>
            <p:cNvPr id="114704" name="Rectangle 20"/>
            <p:cNvSpPr/>
            <p:nvPr/>
          </p:nvSpPr>
          <p:spPr>
            <a:xfrm>
              <a:off x="476" y="2480"/>
              <a:ext cx="4896" cy="16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 eaLnBrk="0" fontAlgn="base" hangingPunct="0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STJ∈3NF</a:t>
              </a:r>
              <a:r>
                <a:rPr lang="en-US" altLang="zh-CN" sz="2400" dirty="0">
                  <a:latin typeface="Courier New" panose="02070309020205020404" pitchFamily="49" charset="0"/>
                  <a:ea typeface="宋体" panose="02010600030101010101" pitchFamily="2" charset="-122"/>
                </a:rPr>
                <a:t> </a:t>
              </a:r>
              <a:endPara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 marL="742950" lvl="1" indent="-285750" eaLnBrk="0" fontAlgn="base" hangingPunct="0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zh-CN" altLang="en-US" sz="2000" dirty="0">
                  <a:latin typeface="Verdana" panose="020B0604030504040204" pitchFamily="34" charset="0"/>
                  <a:ea typeface="宋体" panose="02010600030101010101" pitchFamily="2" charset="-122"/>
                </a:rPr>
                <a:t>没有任何非主属性对码传递依赖或部分依赖</a:t>
              </a:r>
              <a:r>
                <a:rPr lang="zh-CN" altLang="en-US" sz="2000" dirty="0">
                  <a:latin typeface="Courier New" panose="02070309020205020404" pitchFamily="49" charset="0"/>
                  <a:ea typeface="宋体" panose="02010600030101010101" pitchFamily="2" charset="-122"/>
                </a:rPr>
                <a:t> </a:t>
              </a:r>
              <a:endParaRPr lang="zh-CN" altLang="en-US" sz="20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 marL="342900" indent="-342900" eaLnBrk="0" fontAlgn="base" hangingPunct="0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STJ∈BCNF</a:t>
              </a:r>
              <a:endPara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 marL="742950" lvl="1" indent="-285750" eaLnBrk="0" fontAlgn="base" hangingPunct="0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zh-CN" sz="2000" dirty="0">
                  <a:latin typeface="Verdan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zh-CN" altLang="en-US" sz="2000" dirty="0">
                  <a:latin typeface="Verdana" panose="020B0604030504040204" pitchFamily="34" charset="0"/>
                  <a:ea typeface="宋体" panose="02010600030101010101" pitchFamily="2" charset="-122"/>
                </a:rPr>
                <a:t>是决定因素，</a:t>
              </a:r>
              <a:r>
                <a:rPr lang="en-US" altLang="zh-CN" sz="2000" dirty="0">
                  <a:latin typeface="Verdan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zh-CN" altLang="en-US" sz="2000" dirty="0">
                  <a:latin typeface="Verdana" panose="020B0604030504040204" pitchFamily="34" charset="0"/>
                  <a:ea typeface="宋体" panose="02010600030101010101" pitchFamily="2" charset="-122"/>
                </a:rPr>
                <a:t>不包含码。主属性对不包含它的码存在部分函数依赖。</a:t>
              </a:r>
              <a:endParaRPr lang="zh-CN" altLang="en-US" sz="20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 marL="742950" lvl="1" indent="-285750" eaLnBrk="0" fontAlgn="base" hangingPunct="0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分解成：（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S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），（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J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）</a:t>
              </a:r>
              <a:endPara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705" name="Line 21"/>
            <p:cNvSpPr/>
            <p:nvPr/>
          </p:nvSpPr>
          <p:spPr>
            <a:xfrm>
              <a:off x="1141" y="3074"/>
              <a:ext cx="76" cy="194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3NF</a:t>
            </a:r>
            <a:r>
              <a:rPr lang="zh-CN" altLang="en-US" sz="3200" dirty="0"/>
              <a:t>与</a:t>
            </a:r>
            <a:r>
              <a:rPr lang="en-US" altLang="zh-CN" sz="3200" dirty="0"/>
              <a:t>BCNF</a:t>
            </a:r>
            <a:r>
              <a:rPr lang="zh-CN" altLang="en-US" sz="3200" dirty="0"/>
              <a:t>的关系</a:t>
            </a:r>
            <a:endParaRPr lang="zh-CN" altLang="en-US" dirty="0"/>
          </a:p>
        </p:txBody>
      </p:sp>
      <p:sp>
        <p:nvSpPr>
          <p:cNvPr id="116738" name="Rectangle 3"/>
          <p:cNvSpPr>
            <a:spLocks noGrp="1"/>
          </p:cNvSpPr>
          <p:nvPr>
            <p:ph idx="1"/>
          </p:nvPr>
        </p:nvSpPr>
        <p:spPr>
          <a:xfrm>
            <a:off x="2309813" y="1906588"/>
            <a:ext cx="8153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/>
              <a:t>R ∈BCNF                R ∈3NF</a:t>
            </a:r>
            <a:endParaRPr lang="en-US" altLang="zh-CN" dirty="0"/>
          </a:p>
          <a:p>
            <a:pPr eaLnBrk="1" hangingPunct="1">
              <a:lnSpc>
                <a:spcPct val="14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如果</a:t>
            </a:r>
            <a:r>
              <a:rPr lang="en-US" altLang="zh-CN" dirty="0"/>
              <a:t>R∈3NF</a:t>
            </a:r>
            <a:r>
              <a:rPr lang="zh-CN" altLang="en-US" dirty="0"/>
              <a:t>，且</a:t>
            </a:r>
            <a:r>
              <a:rPr lang="en-US" altLang="zh-CN" dirty="0"/>
              <a:t>R</a:t>
            </a:r>
            <a:r>
              <a:rPr lang="zh-CN" altLang="en-US" dirty="0"/>
              <a:t>只有一个候选码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R ∈BCNF                R ∈3NF</a:t>
            </a:r>
            <a:endParaRPr lang="en-US" altLang="zh-CN" dirty="0"/>
          </a:p>
          <a:p>
            <a:pPr marL="469900" lvl="1" indent="-469900" eaLnBrk="1" hangingPunct="1">
              <a:lnSpc>
                <a:spcPct val="150000"/>
              </a:lnSpc>
              <a:buNone/>
            </a:pPr>
            <a:r>
              <a:rPr lang="en-US" altLang="zh-CN" sz="2400" dirty="0"/>
              <a:t>Bcnf</a:t>
            </a:r>
            <a:r>
              <a:rPr lang="zh-CN" altLang="en-US" sz="2400" dirty="0"/>
              <a:t>消除的是</a:t>
            </a:r>
            <a:r>
              <a:rPr lang="en-US" altLang="zh-CN" sz="2400" dirty="0"/>
              <a:t>3nf</a:t>
            </a:r>
            <a:r>
              <a:rPr lang="zh-CN" altLang="en-US" sz="2400" dirty="0"/>
              <a:t>中，所有的主属性对每一个不包含它的码的部分或传递依赖。</a:t>
            </a:r>
            <a:r>
              <a:rPr lang="zh-CN" altLang="en-US" sz="2400" b="1" dirty="0">
                <a:solidFill>
                  <a:srgbClr val="FF0000"/>
                </a:solidFill>
              </a:rPr>
              <a:t>只有一个码，就不存在这个问题。</a:t>
            </a:r>
            <a:endParaRPr lang="en-US" altLang="zh-CN" sz="2400" dirty="0"/>
          </a:p>
        </p:txBody>
      </p:sp>
      <p:grpSp>
        <p:nvGrpSpPr>
          <p:cNvPr id="116739" name="Group 4"/>
          <p:cNvGrpSpPr/>
          <p:nvPr/>
        </p:nvGrpSpPr>
        <p:grpSpPr>
          <a:xfrm>
            <a:off x="5176838" y="1989138"/>
            <a:ext cx="1439862" cy="719137"/>
            <a:chOff x="1655" y="3158"/>
            <a:chExt cx="907" cy="453"/>
          </a:xfrm>
        </p:grpSpPr>
        <p:sp>
          <p:nvSpPr>
            <p:cNvPr id="116740" name="Line 5"/>
            <p:cNvSpPr/>
            <p:nvPr/>
          </p:nvSpPr>
          <p:spPr>
            <a:xfrm>
              <a:off x="1655" y="3339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6741" name="Line 6"/>
            <p:cNvSpPr/>
            <p:nvPr/>
          </p:nvSpPr>
          <p:spPr>
            <a:xfrm flipH="1">
              <a:off x="1655" y="3430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6742" name="Line 7"/>
            <p:cNvSpPr/>
            <p:nvPr/>
          </p:nvSpPr>
          <p:spPr>
            <a:xfrm flipH="1">
              <a:off x="2018" y="3385"/>
              <a:ext cx="136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3" name="Rectangle 8"/>
            <p:cNvSpPr/>
            <p:nvPr/>
          </p:nvSpPr>
          <p:spPr>
            <a:xfrm>
              <a:off x="1655" y="3158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p>
              <a:pPr marL="342900" indent="-342900" algn="ctr" eaLnBrk="0" hangingPunct="0"/>
              <a:r>
                <a:rPr lang="zh-CN" altLang="en-US" dirty="0">
                  <a:latin typeface="Verdana" panose="020B0604030504040204" pitchFamily="34" charset="0"/>
                  <a:ea typeface="宋体" panose="02010600030101010101" pitchFamily="2" charset="-122"/>
                </a:rPr>
                <a:t>充分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744" name="Rectangle 9"/>
            <p:cNvSpPr/>
            <p:nvPr/>
          </p:nvSpPr>
          <p:spPr>
            <a:xfrm>
              <a:off x="1655" y="3475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p>
              <a:pPr marL="342900" indent="-342900" algn="ctr" eaLnBrk="0" hangingPunct="0"/>
              <a:r>
                <a:rPr lang="zh-CN" altLang="en-US" dirty="0">
                  <a:latin typeface="Verdana" panose="020B0604030504040204" pitchFamily="34" charset="0"/>
                  <a:ea typeface="宋体" panose="02010600030101010101" pitchFamily="2" charset="-122"/>
                </a:rPr>
                <a:t>不必要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6745" name="Group 16"/>
          <p:cNvGrpSpPr/>
          <p:nvPr/>
        </p:nvGrpSpPr>
        <p:grpSpPr>
          <a:xfrm>
            <a:off x="5273675" y="4176713"/>
            <a:ext cx="1439863" cy="719137"/>
            <a:chOff x="2018" y="2568"/>
            <a:chExt cx="907" cy="453"/>
          </a:xfrm>
        </p:grpSpPr>
        <p:sp>
          <p:nvSpPr>
            <p:cNvPr id="116746" name="Line 11"/>
            <p:cNvSpPr/>
            <p:nvPr/>
          </p:nvSpPr>
          <p:spPr>
            <a:xfrm>
              <a:off x="2018" y="2749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6747" name="Line 12"/>
            <p:cNvSpPr/>
            <p:nvPr/>
          </p:nvSpPr>
          <p:spPr>
            <a:xfrm flipH="1">
              <a:off x="2018" y="2840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6748" name="Rectangle 14"/>
            <p:cNvSpPr/>
            <p:nvPr/>
          </p:nvSpPr>
          <p:spPr>
            <a:xfrm>
              <a:off x="2018" y="2568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p>
              <a:pPr marL="342900" indent="-342900" algn="ctr" eaLnBrk="0" hangingPunct="0"/>
              <a:r>
                <a:rPr lang="zh-CN" altLang="en-US" dirty="0">
                  <a:latin typeface="Verdana" panose="020B0604030504040204" pitchFamily="34" charset="0"/>
                  <a:ea typeface="宋体" panose="02010600030101010101" pitchFamily="2" charset="-122"/>
                </a:rPr>
                <a:t>充分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749" name="Rectangle 15"/>
            <p:cNvSpPr/>
            <p:nvPr/>
          </p:nvSpPr>
          <p:spPr>
            <a:xfrm>
              <a:off x="2018" y="2885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p>
              <a:pPr marL="342900" indent="-342900" algn="ctr" eaLnBrk="0" hangingPunct="0"/>
              <a:r>
                <a:rPr lang="zh-CN" altLang="en-US" dirty="0">
                  <a:latin typeface="Verdana" panose="020B0604030504040204" pitchFamily="34" charset="0"/>
                  <a:ea typeface="宋体" panose="02010600030101010101" pitchFamily="2" charset="-122"/>
                </a:rPr>
                <a:t>必要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BCNF</a:t>
            </a:r>
            <a:r>
              <a:rPr lang="zh-CN" altLang="en-US" sz="3200" dirty="0"/>
              <a:t>（续）</a:t>
            </a:r>
            <a:endParaRPr lang="zh-CN" altLang="en-US" sz="3200" dirty="0"/>
          </a:p>
        </p:txBody>
      </p:sp>
      <p:sp>
        <p:nvSpPr>
          <p:cNvPr id="1187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en-US" altLang="zh-CN" sz="2600" dirty="0"/>
              <a:t>∈</a:t>
            </a:r>
            <a:r>
              <a:rPr lang="en-US" altLang="zh-CN" dirty="0"/>
              <a:t>BCNF </a:t>
            </a:r>
            <a:r>
              <a:rPr lang="zh-CN" altLang="en-US" dirty="0"/>
              <a:t>（每个决定因素都包含码）</a:t>
            </a:r>
            <a:endParaRPr lang="en-US" altLang="zh-CN" dirty="0"/>
          </a:p>
          <a:p>
            <a:pPr lvl="1" indent="-436245" eaLnBrk="1" hangingPunct="1">
              <a:lnSpc>
                <a:spcPct val="140000"/>
              </a:lnSpc>
            </a:pPr>
            <a:r>
              <a:rPr lang="zh-CN" altLang="en-US" dirty="0"/>
              <a:t>所有</a:t>
            </a:r>
            <a:r>
              <a:rPr lang="zh-CN" altLang="en-US" b="1" dirty="0">
                <a:solidFill>
                  <a:srgbClr val="FF0000"/>
                </a:solidFill>
              </a:rPr>
              <a:t>非主属性</a:t>
            </a:r>
            <a:r>
              <a:rPr lang="zh-CN" altLang="en-US" dirty="0"/>
              <a:t>对每一个码都是完全函数依赖</a:t>
            </a:r>
            <a:endParaRPr lang="zh-CN" altLang="en-US" dirty="0"/>
          </a:p>
          <a:p>
            <a:pPr lvl="1" indent="-436245" eaLnBrk="1" hangingPunct="1">
              <a:lnSpc>
                <a:spcPct val="140000"/>
              </a:lnSpc>
            </a:pPr>
            <a:r>
              <a:rPr lang="zh-CN" altLang="en-US" dirty="0"/>
              <a:t>所有的</a:t>
            </a:r>
            <a:r>
              <a:rPr lang="zh-CN" altLang="en-US" b="1" dirty="0">
                <a:solidFill>
                  <a:srgbClr val="FF0000"/>
                </a:solidFill>
              </a:rPr>
              <a:t>主属性</a:t>
            </a:r>
            <a:r>
              <a:rPr lang="zh-CN" altLang="en-US" dirty="0"/>
              <a:t>对每一个不包含它的码，也是完全函数依赖</a:t>
            </a:r>
            <a:endParaRPr lang="zh-CN" altLang="en-US" dirty="0"/>
          </a:p>
          <a:p>
            <a:pPr lvl="1" indent="-436245" eaLnBrk="1" hangingPunct="1">
              <a:lnSpc>
                <a:spcPct val="140000"/>
              </a:lnSpc>
            </a:pPr>
            <a:r>
              <a:rPr lang="zh-CN" altLang="en-US" dirty="0"/>
              <a:t>没有</a:t>
            </a:r>
            <a:r>
              <a:rPr lang="zh-CN" altLang="en-US" b="1" dirty="0">
                <a:solidFill>
                  <a:srgbClr val="FF0000"/>
                </a:solidFill>
              </a:rPr>
              <a:t>任何属性</a:t>
            </a:r>
            <a:r>
              <a:rPr lang="zh-CN" altLang="en-US" dirty="0"/>
              <a:t>完全函数依赖于</a:t>
            </a:r>
            <a:r>
              <a:rPr lang="zh-CN" altLang="en-US" dirty="0">
                <a:solidFill>
                  <a:srgbClr val="FF0000"/>
                </a:solidFill>
              </a:rPr>
              <a:t>非码</a:t>
            </a:r>
            <a:r>
              <a:rPr lang="zh-CN" altLang="en-US" dirty="0"/>
              <a:t>的任何一组</a:t>
            </a:r>
            <a:r>
              <a:rPr lang="zh-CN" altLang="en-US" dirty="0">
                <a:solidFill>
                  <a:srgbClr val="FF0000"/>
                </a:solidFill>
              </a:rPr>
              <a:t>属性</a:t>
            </a:r>
            <a:endParaRPr lang="zh-CN" altLang="en-US" dirty="0">
              <a:solidFill>
                <a:srgbClr val="FF0000"/>
              </a:solidFill>
            </a:endParaRPr>
          </a:p>
          <a:p>
            <a:pPr lvl="1" indent="-436245" eaLnBrk="1" hangingPunct="1">
              <a:lnSpc>
                <a:spcPct val="140000"/>
              </a:lnSpc>
            </a:pPr>
            <a:endParaRPr lang="zh-CN" altLang="en-US" sz="800" dirty="0"/>
          </a:p>
          <a:p>
            <a:pPr eaLnBrk="1" hangingPunct="1">
              <a:lnSpc>
                <a:spcPct val="140000"/>
              </a:lnSpc>
            </a:pPr>
            <a:r>
              <a:rPr lang="en-US" altLang="zh-CN" dirty="0"/>
              <a:t>R ∈BCNF                R ∈3NF</a:t>
            </a:r>
            <a:endParaRPr lang="en-US" altLang="zh-CN" dirty="0"/>
          </a:p>
        </p:txBody>
      </p:sp>
      <p:grpSp>
        <p:nvGrpSpPr>
          <p:cNvPr id="118787" name="Group 9"/>
          <p:cNvGrpSpPr/>
          <p:nvPr/>
        </p:nvGrpSpPr>
        <p:grpSpPr>
          <a:xfrm>
            <a:off x="4727575" y="5332413"/>
            <a:ext cx="1439863" cy="719137"/>
            <a:chOff x="1655" y="3158"/>
            <a:chExt cx="907" cy="453"/>
          </a:xfrm>
        </p:grpSpPr>
        <p:sp>
          <p:nvSpPr>
            <p:cNvPr id="118788" name="Line 4"/>
            <p:cNvSpPr/>
            <p:nvPr/>
          </p:nvSpPr>
          <p:spPr>
            <a:xfrm>
              <a:off x="1655" y="3339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789" name="Line 5"/>
            <p:cNvSpPr/>
            <p:nvPr/>
          </p:nvSpPr>
          <p:spPr>
            <a:xfrm flipH="1">
              <a:off x="1655" y="3430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790" name="Line 6"/>
            <p:cNvSpPr/>
            <p:nvPr/>
          </p:nvSpPr>
          <p:spPr>
            <a:xfrm flipH="1">
              <a:off x="2018" y="3385"/>
              <a:ext cx="136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791" name="Rectangle 7"/>
            <p:cNvSpPr/>
            <p:nvPr/>
          </p:nvSpPr>
          <p:spPr>
            <a:xfrm>
              <a:off x="1655" y="3158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p>
              <a:pPr marL="342900" indent="-342900" algn="ctr" eaLnBrk="0" hangingPunct="0"/>
              <a:r>
                <a:rPr lang="zh-CN" altLang="en-US" dirty="0">
                  <a:latin typeface="Verdana" panose="020B0604030504040204" pitchFamily="34" charset="0"/>
                  <a:ea typeface="宋体" panose="02010600030101010101" pitchFamily="2" charset="-122"/>
                </a:rPr>
                <a:t>充分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792" name="Rectangle 8"/>
            <p:cNvSpPr/>
            <p:nvPr/>
          </p:nvSpPr>
          <p:spPr>
            <a:xfrm>
              <a:off x="1655" y="3475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p>
              <a:pPr marL="342900" indent="-342900" algn="ctr" eaLnBrk="0" hangingPunct="0"/>
              <a:r>
                <a:rPr lang="zh-CN" altLang="en-US" dirty="0">
                  <a:latin typeface="Verdana" panose="020B0604030504040204" pitchFamily="34" charset="0"/>
                  <a:ea typeface="宋体" panose="02010600030101010101" pitchFamily="2" charset="-122"/>
                </a:rPr>
                <a:t>不必要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sz="3200" dirty="0"/>
              <a:t>EDUC</a:t>
            </a:r>
            <a:r>
              <a:rPr lang="zh-CN" altLang="en-US" sz="3200" dirty="0"/>
              <a:t>和</a:t>
            </a:r>
            <a:r>
              <a:rPr lang="en-US" altLang="zh-CN" sz="3200" dirty="0"/>
              <a:t>SPJ</a:t>
            </a:r>
            <a:r>
              <a:rPr lang="zh-CN" altLang="en-US" sz="3200" dirty="0"/>
              <a:t>数据库中的表都是第几范式，目前满足</a:t>
            </a:r>
            <a:r>
              <a:rPr lang="en-US" altLang="zh-CN" sz="3200" dirty="0"/>
              <a:t>BCNF</a:t>
            </a:r>
            <a:r>
              <a:rPr lang="zh-CN" altLang="en-US" sz="3200" dirty="0"/>
              <a:t>吗？</a:t>
            </a:r>
            <a:endParaRPr lang="en-US" altLang="zh-CN" sz="3200" dirty="0"/>
          </a:p>
          <a:p>
            <a:r>
              <a:rPr lang="zh-CN" altLang="en-US" sz="2800" dirty="0"/>
              <a:t>答案：是的</a:t>
            </a:r>
            <a:endParaRPr lang="en-US" altLang="zh-CN" sz="2800" dirty="0"/>
          </a:p>
          <a:p>
            <a:r>
              <a:rPr lang="zh-CN" altLang="en-US" sz="2800" dirty="0"/>
              <a:t>思考：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</a:rPr>
              <a:t>中没有非主属性，</a:t>
            </a:r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</a:rPr>
              <a:t>是</a:t>
            </a:r>
            <a:r>
              <a:rPr lang="en-US" altLang="zh-CN" sz="2800" b="1" dirty="0">
                <a:solidFill>
                  <a:srgbClr val="FF0000"/>
                </a:solidFill>
              </a:rPr>
              <a:t>BCNF</a:t>
            </a:r>
            <a:r>
              <a:rPr lang="zh-CN" altLang="en-US" sz="2800" b="1" dirty="0">
                <a:solidFill>
                  <a:srgbClr val="FF0000"/>
                </a:solidFill>
              </a:rPr>
              <a:t>吗？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答：它是</a:t>
            </a:r>
            <a:r>
              <a:rPr lang="en-US" altLang="zh-CN" sz="2800" dirty="0"/>
              <a:t>3NF</a:t>
            </a:r>
            <a:r>
              <a:rPr lang="zh-CN" altLang="en-US" sz="2800" dirty="0"/>
              <a:t>，不一定是</a:t>
            </a:r>
            <a:r>
              <a:rPr lang="en-US" altLang="zh-CN" sz="2800" dirty="0"/>
              <a:t>BCNF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</a:rPr>
              <a:t>是</a:t>
            </a:r>
            <a:r>
              <a:rPr lang="en-US" altLang="zh-CN" sz="2800" b="1" dirty="0">
                <a:solidFill>
                  <a:srgbClr val="FF0000"/>
                </a:solidFill>
              </a:rPr>
              <a:t>ALL-KEY</a:t>
            </a:r>
            <a:r>
              <a:rPr lang="zh-CN" altLang="en-US" sz="2800" b="1" dirty="0">
                <a:solidFill>
                  <a:srgbClr val="FF0000"/>
                </a:solidFill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</a:rPr>
              <a:t>一定是</a:t>
            </a:r>
            <a:r>
              <a:rPr lang="en-US" altLang="zh-CN" sz="2800" b="1" dirty="0">
                <a:solidFill>
                  <a:srgbClr val="FF0000"/>
                </a:solidFill>
              </a:rPr>
              <a:t>BCNF</a:t>
            </a:r>
            <a:r>
              <a:rPr lang="zh-CN" altLang="en-US" sz="2800" b="1" dirty="0">
                <a:solidFill>
                  <a:srgbClr val="FF0000"/>
                </a:solidFill>
              </a:rPr>
              <a:t>吗？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答案：是的</a:t>
            </a:r>
            <a:endParaRPr lang="en-US" altLang="zh-CN" sz="2800" dirty="0"/>
          </a:p>
          <a:p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5">
                                            <p:txEl>
                                              <p:charRg st="3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5">
                                            <p:txEl>
                                              <p:charRg st="3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5">
                                            <p:txEl>
                                              <p:charRg st="3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5">
                                            <p:txEl>
                                              <p:charRg st="3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5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5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6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35">
                                            <p:txEl>
                                              <p:charRg st="6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35">
                                            <p:txEl>
                                              <p:charRg st="6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7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635">
                                            <p:txEl>
                                              <p:charRg st="7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35">
                                            <p:txEl>
                                              <p:charRg st="7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9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635">
                                            <p:txEl>
                                              <p:charRg st="9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635">
                                            <p:txEl>
                                              <p:charRg st="9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121858" name="内容占位符 2"/>
          <p:cNvSpPr>
            <a:spLocks noGrp="1"/>
          </p:cNvSpPr>
          <p:nvPr>
            <p:ph idx="1"/>
          </p:nvPr>
        </p:nvSpPr>
        <p:spPr>
          <a:xfrm>
            <a:off x="1918970" y="2635885"/>
            <a:ext cx="8556625" cy="3642995"/>
          </a:xfrm>
        </p:spPr>
        <p:txBody>
          <a:bodyPr vert="horz" wrap="square" lIns="91440" tIns="45720" rIns="91440" bIns="45720" anchor="t" anchorCtr="0"/>
          <a:p>
            <a:r>
              <a:rPr lang="zh-CN" altLang="zh-CN" dirty="0"/>
              <a:t>设有关系</a:t>
            </a:r>
            <a:r>
              <a:rPr lang="en-US" altLang="zh-CN" dirty="0"/>
              <a:t>R</a:t>
            </a:r>
            <a:r>
              <a:rPr lang="zh-CN" altLang="zh-CN" dirty="0"/>
              <a:t>，课程名没有重复的，</a:t>
            </a:r>
            <a:r>
              <a:rPr lang="zh-CN" altLang="en-US" dirty="0"/>
              <a:t>教师也没有重名的，</a:t>
            </a:r>
            <a:r>
              <a:rPr lang="zh-CN" altLang="zh-CN" dirty="0"/>
              <a:t>每门课的上课老师只有一位</a:t>
            </a:r>
            <a:r>
              <a:rPr lang="zh-CN" altLang="en-US" dirty="0"/>
              <a:t>。</a:t>
            </a:r>
            <a:endParaRPr lang="zh-CN" altLang="zh-CN" dirty="0"/>
          </a:p>
          <a:p>
            <a:r>
              <a:rPr lang="en-US" altLang="zh-CN" dirty="0"/>
              <a:t>(1)</a:t>
            </a:r>
            <a:r>
              <a:rPr lang="zh-CN" altLang="zh-CN" dirty="0"/>
              <a:t>它为第几范式</a:t>
            </a:r>
            <a:r>
              <a:rPr lang="en-US" altLang="zh-CN" dirty="0"/>
              <a:t>? </a:t>
            </a:r>
            <a:r>
              <a:rPr lang="zh-CN" altLang="zh-CN" dirty="0"/>
              <a:t>为什么</a:t>
            </a:r>
            <a:r>
              <a:rPr lang="en-US" altLang="zh-CN" dirty="0"/>
              <a:t>? </a:t>
            </a:r>
            <a:endParaRPr lang="zh-CN" altLang="zh-CN" dirty="0"/>
          </a:p>
          <a:p>
            <a:r>
              <a:rPr lang="en-US" altLang="zh-CN" dirty="0"/>
              <a:t>(2)</a:t>
            </a:r>
            <a:r>
              <a:rPr lang="zh-CN" altLang="zh-CN" dirty="0"/>
              <a:t>是否存在删除操作异常</a:t>
            </a:r>
            <a:r>
              <a:rPr lang="en-US" altLang="zh-CN" dirty="0"/>
              <a:t>?</a:t>
            </a:r>
            <a:r>
              <a:rPr lang="zh-CN" altLang="zh-CN" dirty="0"/>
              <a:t>若存在，则说明是在什么情况下发生的</a:t>
            </a:r>
            <a:r>
              <a:rPr lang="en-US" altLang="zh-CN" dirty="0"/>
              <a:t>? </a:t>
            </a:r>
            <a:endParaRPr lang="zh-CN" altLang="zh-CN" dirty="0"/>
          </a:p>
          <a:p>
            <a:r>
              <a:rPr lang="en-US" altLang="zh-CN" dirty="0"/>
              <a:t>(3)</a:t>
            </a:r>
            <a:r>
              <a:rPr lang="zh-CN" altLang="zh-CN" dirty="0"/>
              <a:t>将它分解为高一级范式，分解后的关系是如何解决分解前可能存在的删除操作异常问题</a:t>
            </a:r>
            <a:r>
              <a:rPr lang="en-US" altLang="zh-CN" dirty="0"/>
              <a:t>? </a:t>
            </a:r>
            <a:endParaRPr lang="zh-CN" altLang="zh-CN" dirty="0"/>
          </a:p>
        </p:txBody>
      </p:sp>
      <p:pic>
        <p:nvPicPr>
          <p:cNvPr id="12185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020" y="214630"/>
            <a:ext cx="4145915" cy="23348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答案</a:t>
            </a:r>
            <a:endParaRPr lang="zh-CN" altLang="en-US" dirty="0"/>
          </a:p>
        </p:txBody>
      </p:sp>
      <p:sp>
        <p:nvSpPr>
          <p:cNvPr id="12288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第</a:t>
            </a:r>
            <a:r>
              <a:rPr lang="en-US" altLang="zh-CN" dirty="0"/>
              <a:t>2nf</a:t>
            </a:r>
            <a:endParaRPr lang="en-US" altLang="zh-CN" dirty="0"/>
          </a:p>
          <a:p>
            <a:r>
              <a:rPr lang="zh-CN" altLang="en-US" dirty="0"/>
              <a:t>存在，如果某个老师所教的课都取消了，这个老师的名字和住址也会从数据库中删除</a:t>
            </a:r>
            <a:endParaRPr lang="en-US" altLang="zh-CN" dirty="0"/>
          </a:p>
          <a:p>
            <a:r>
              <a:rPr lang="zh-CN" altLang="en-US" dirty="0"/>
              <a:t>分解成两个表：</a:t>
            </a:r>
            <a:endParaRPr lang="en-US" altLang="zh-CN" dirty="0"/>
          </a:p>
          <a:p>
            <a:r>
              <a:rPr lang="zh-CN" altLang="en-US" dirty="0"/>
              <a:t>（课程名，教师名）</a:t>
            </a:r>
            <a:endParaRPr lang="en-US" altLang="zh-CN" dirty="0"/>
          </a:p>
          <a:p>
            <a:r>
              <a:rPr lang="zh-CN" altLang="en-US" dirty="0"/>
              <a:t>（教师名，教师地址）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6.2  </a:t>
            </a:r>
            <a:r>
              <a:rPr lang="zh-CN" altLang="en-US" sz="3200" dirty="0"/>
              <a:t>规范化</a:t>
            </a:r>
            <a:endParaRPr lang="zh-CN" altLang="en-US" sz="3200" dirty="0"/>
          </a:p>
        </p:txBody>
      </p:sp>
      <p:sp>
        <p:nvSpPr>
          <p:cNvPr id="123906" name="Rectangle 3"/>
          <p:cNvSpPr>
            <a:spLocks noGrp="1"/>
          </p:cNvSpPr>
          <p:nvPr>
            <p:ph idx="1"/>
          </p:nvPr>
        </p:nvSpPr>
        <p:spPr>
          <a:xfrm>
            <a:off x="2424113" y="1268413"/>
            <a:ext cx="7643812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6.2.7  </a:t>
            </a:r>
            <a:r>
              <a:rPr lang="zh-CN" altLang="en-US" sz="2400" b="1" dirty="0">
                <a:solidFill>
                  <a:srgbClr val="0000FF"/>
                </a:solidFill>
              </a:rPr>
              <a:t>多值依赖（不讲）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6.2.8  4NF</a:t>
            </a:r>
            <a:r>
              <a:rPr lang="zh-CN" altLang="en-US" sz="2400" b="1" dirty="0">
                <a:solidFill>
                  <a:srgbClr val="0000FF"/>
                </a:solidFill>
              </a:rPr>
              <a:t>（不讲）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</p:spTree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6.2.9 </a:t>
            </a:r>
            <a:r>
              <a:rPr lang="zh-CN" altLang="en-US" dirty="0"/>
              <a:t>规范化小结</a:t>
            </a:r>
            <a:endParaRPr lang="zh-CN" altLang="en-US" dirty="0"/>
          </a:p>
        </p:txBody>
      </p:sp>
      <p:sp>
        <p:nvSpPr>
          <p:cNvPr id="125954" name="Rectangle 3"/>
          <p:cNvSpPr>
            <a:spLocks noGrp="1"/>
          </p:cNvSpPr>
          <p:nvPr>
            <p:ph idx="1"/>
          </p:nvPr>
        </p:nvSpPr>
        <p:spPr>
          <a:xfrm>
            <a:off x="1992313" y="1268413"/>
            <a:ext cx="8507412" cy="4495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关系数据库的规范化理论是</a:t>
            </a:r>
            <a:r>
              <a:rPr lang="zh-CN" altLang="en-US" b="1" dirty="0">
                <a:solidFill>
                  <a:srgbClr val="FF0000"/>
                </a:solidFill>
              </a:rPr>
              <a:t>数据库逻辑设计</a:t>
            </a:r>
            <a:r>
              <a:rPr lang="zh-CN" altLang="en-US" dirty="0"/>
              <a:t>的工具。</a:t>
            </a:r>
            <a:endParaRPr lang="zh-CN" altLang="en-US" dirty="0"/>
          </a:p>
          <a:p>
            <a:pPr lvl="3" eaLnBrk="1" hangingPunct="1"/>
            <a:endParaRPr lang="zh-CN" altLang="en-US" sz="2800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目的</a:t>
            </a:r>
            <a:r>
              <a:rPr lang="zh-CN" altLang="en-US" dirty="0"/>
              <a:t>：尽量消除插入、删除异常，修改复杂，数据冗余。</a:t>
            </a:r>
            <a:endParaRPr lang="zh-CN" altLang="en-US" dirty="0"/>
          </a:p>
          <a:p>
            <a:pPr lvl="4" eaLnBrk="1" hangingPunct="1"/>
            <a:endParaRPr lang="zh-CN" altLang="en-US" sz="2800" dirty="0"/>
          </a:p>
          <a:p>
            <a:pPr eaLnBrk="1" hangingPunct="1"/>
            <a:r>
              <a:rPr lang="zh-CN" altLang="en-US" dirty="0"/>
              <a:t>基本思想：逐步消除数据依赖中不合适的部分</a:t>
            </a:r>
            <a:endParaRPr lang="zh-CN" altLang="en-US" dirty="0"/>
          </a:p>
          <a:p>
            <a:pPr lvl="1" indent="-436245" eaLnBrk="1" hangingPunct="1"/>
            <a:r>
              <a:rPr lang="zh-CN" altLang="en-US" dirty="0"/>
              <a:t>实质：概念的</a:t>
            </a:r>
            <a:r>
              <a:rPr lang="zh-CN" altLang="en-US" b="1" dirty="0">
                <a:solidFill>
                  <a:srgbClr val="FF0000"/>
                </a:solidFill>
              </a:rPr>
              <a:t>单一化</a:t>
            </a:r>
            <a:r>
              <a:rPr lang="zh-CN" altLang="en-US" b="1" dirty="0">
                <a:solidFill>
                  <a:srgbClr val="FF00FF"/>
                </a:solidFill>
              </a:rPr>
              <a:t>。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Rectangle 2"/>
          <p:cNvSpPr/>
          <p:nvPr/>
        </p:nvSpPr>
        <p:spPr>
          <a:xfrm>
            <a:off x="2133600" y="1758950"/>
            <a:ext cx="8153400" cy="4191000"/>
          </a:xfrm>
          <a:prstGeom prst="rect">
            <a:avLst/>
          </a:prstGeom>
          <a:solidFill>
            <a:srgbClr val="FFFF00">
              <a:alpha val="50195"/>
            </a:srgbClr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8002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规范化小结（续）</a:t>
            </a:r>
            <a:endParaRPr lang="zh-CN" altLang="en-US" dirty="0"/>
          </a:p>
        </p:txBody>
      </p:sp>
      <p:sp>
        <p:nvSpPr>
          <p:cNvPr id="64517" name="Rectangle 4"/>
          <p:cNvSpPr>
            <a:spLocks noGrp="1" noChangeArrowheads="1"/>
          </p:cNvSpPr>
          <p:nvPr>
            <p:ph idx="1"/>
          </p:nvPr>
        </p:nvSpPr>
        <p:spPr>
          <a:xfrm>
            <a:off x="2286000" y="1309688"/>
            <a:ext cx="8229600" cy="4640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关系模式规范化的过程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1NF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	↓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消除非主属性对码的部分函数依赖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消除决定属性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2NF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集非码的非平    ↓  消除非主属性对码的传递函数依赖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凡函数依赖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3NF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	 ↓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消除主属性对码的部分和传递函数依赖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BCNF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	 ↓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消除非平凡且非函数依赖的多值依赖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4NF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↓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消除连接依赖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5NF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8004" name="Line 5"/>
          <p:cNvSpPr/>
          <p:nvPr/>
        </p:nvSpPr>
        <p:spPr>
          <a:xfrm flipH="1">
            <a:off x="3998913" y="2078038"/>
            <a:ext cx="0" cy="37195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规范化小结（续）</a:t>
            </a:r>
            <a:endParaRPr lang="zh-CN" altLang="en-US" dirty="0"/>
          </a:p>
        </p:txBody>
      </p:sp>
      <p:sp>
        <p:nvSpPr>
          <p:cNvPr id="1300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7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不能说</a:t>
            </a:r>
            <a:r>
              <a:rPr lang="zh-CN" altLang="en-US" sz="2800" b="1" dirty="0"/>
              <a:t>规范化</a:t>
            </a:r>
            <a:r>
              <a:rPr lang="zh-CN" altLang="en-US" sz="2800" b="1" dirty="0">
                <a:solidFill>
                  <a:srgbClr val="FF0000"/>
                </a:solidFill>
              </a:rPr>
              <a:t>程度越高</a:t>
            </a:r>
            <a:r>
              <a:rPr lang="zh-CN" altLang="en-US" sz="2800" dirty="0"/>
              <a:t>的关系模式就</a:t>
            </a:r>
            <a:r>
              <a:rPr lang="zh-CN" altLang="en-US" sz="2800" b="1" dirty="0">
                <a:solidFill>
                  <a:srgbClr val="FF0000"/>
                </a:solidFill>
              </a:rPr>
              <a:t>越好；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sz="2800" dirty="0"/>
              <a:t>在设计数据库模式结构时，必须对现实世界的</a:t>
            </a:r>
            <a:r>
              <a:rPr lang="zh-CN" altLang="en-US" sz="2800" dirty="0">
                <a:solidFill>
                  <a:srgbClr val="FF0000"/>
                </a:solidFill>
              </a:rPr>
              <a:t>实际情况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FF0000"/>
                </a:solidFill>
              </a:rPr>
              <a:t>用户应用需求</a:t>
            </a:r>
            <a:r>
              <a:rPr lang="zh-CN" altLang="en-US" sz="2800" dirty="0"/>
              <a:t>作进一步分析，确定一个合适的、能够</a:t>
            </a:r>
            <a:r>
              <a:rPr lang="zh-CN" altLang="en-US" sz="2800" dirty="0">
                <a:solidFill>
                  <a:srgbClr val="FF0000"/>
                </a:solidFill>
              </a:rPr>
              <a:t>反映现实世界</a:t>
            </a:r>
            <a:r>
              <a:rPr lang="zh-CN" altLang="en-US" sz="2800" dirty="0"/>
              <a:t>的模式；</a:t>
            </a:r>
            <a:endParaRPr lang="zh-CN" altLang="en-US" sz="2800" dirty="0"/>
          </a:p>
          <a:p>
            <a:pPr eaLnBrk="1" hangingPunct="1">
              <a:lnSpc>
                <a:spcPct val="170000"/>
              </a:lnSpc>
            </a:pPr>
            <a:r>
              <a:rPr lang="zh-CN" altLang="en-US" sz="2800" dirty="0"/>
              <a:t>上面的规范化步骤可以在其中任何一步终止。</a:t>
            </a:r>
            <a:endParaRPr lang="zh-CN" altLang="en-US" sz="2800" dirty="0"/>
          </a:p>
        </p:txBody>
      </p:sp>
    </p:spTree>
  </p:cSld>
  <p:clrMapOvr>
    <a:masterClrMapping/>
  </p:clrMapOvr>
  <p:transition advClick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6.4 </a:t>
            </a:r>
            <a:r>
              <a:rPr lang="zh-CN" altLang="en-US" dirty="0"/>
              <a:t>模式的分解</a:t>
            </a:r>
            <a:endParaRPr lang="zh-CN" altLang="en-US" dirty="0"/>
          </a:p>
        </p:txBody>
      </p:sp>
      <p:sp>
        <p:nvSpPr>
          <p:cNvPr id="13209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90000"/>
              </a:lnSpc>
            </a:pPr>
            <a:r>
              <a:rPr lang="zh-CN" altLang="en-US" sz="2800" dirty="0"/>
              <a:t>把低一级的关系模式</a:t>
            </a:r>
            <a:r>
              <a:rPr lang="zh-CN" altLang="en-US" sz="2800" b="1" dirty="0">
                <a:solidFill>
                  <a:srgbClr val="FF0000"/>
                </a:solidFill>
              </a:rPr>
              <a:t>分解</a:t>
            </a:r>
            <a:r>
              <a:rPr lang="zh-CN" altLang="en-US" sz="2800" dirty="0"/>
              <a:t>为若干个高一级的关系模式的</a:t>
            </a:r>
            <a:r>
              <a:rPr lang="zh-CN" altLang="en-US" sz="2800" b="1" dirty="0">
                <a:solidFill>
                  <a:srgbClr val="FF0000"/>
                </a:solidFill>
              </a:rPr>
              <a:t>方法不是唯一</a:t>
            </a:r>
            <a:r>
              <a:rPr lang="zh-CN" altLang="en-US" sz="2800" dirty="0"/>
              <a:t>的。</a:t>
            </a:r>
            <a:endParaRPr lang="zh-CN" altLang="en-US" sz="2800" dirty="0"/>
          </a:p>
          <a:p>
            <a:pPr eaLnBrk="1" hangingPunct="1">
              <a:lnSpc>
                <a:spcPct val="190000"/>
              </a:lnSpc>
            </a:pPr>
            <a:r>
              <a:rPr lang="zh-CN" altLang="en-US" sz="2800" dirty="0"/>
              <a:t>只有能够保证分解后的关系模式与原关系模式</a:t>
            </a:r>
            <a:r>
              <a:rPr lang="zh-CN" altLang="en-US" sz="2800" b="1" dirty="0">
                <a:solidFill>
                  <a:srgbClr val="FF0000"/>
                </a:solidFill>
              </a:rPr>
              <a:t>等价</a:t>
            </a:r>
            <a:r>
              <a:rPr lang="zh-CN" altLang="en-US" sz="2800" dirty="0"/>
              <a:t>，分解方法才有意义，</a:t>
            </a:r>
            <a:r>
              <a:rPr lang="zh-CN" altLang="en-US" sz="2800" b="1" dirty="0">
                <a:solidFill>
                  <a:srgbClr val="0000FF"/>
                </a:solidFill>
              </a:rPr>
              <a:t>无损连接性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0000FF"/>
                </a:solidFill>
              </a:rPr>
              <a:t>保持函数依赖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</p:spTree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小结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341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</a:pPr>
            <a:r>
              <a:rPr lang="zh-CN" altLang="en-US" sz="3200" dirty="0"/>
              <a:t>规范化理论为数据库设计提供了理论的指南和工具</a:t>
            </a:r>
            <a:endParaRPr lang="zh-CN" altLang="en-US" sz="3200" dirty="0"/>
          </a:p>
          <a:p>
            <a:pPr lvl="1" indent="-436245" algn="just" eaLnBrk="1" hangingPunct="1">
              <a:lnSpc>
                <a:spcPct val="130000"/>
              </a:lnSpc>
            </a:pPr>
            <a:r>
              <a:rPr lang="zh-CN" altLang="en-US" dirty="0"/>
              <a:t>也仅仅是</a:t>
            </a:r>
            <a:r>
              <a:rPr lang="zh-CN" altLang="en-US" dirty="0">
                <a:solidFill>
                  <a:srgbClr val="FF0000"/>
                </a:solidFill>
              </a:rPr>
              <a:t>指南和工具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400" dirty="0"/>
          </a:p>
          <a:p>
            <a:pPr algn="just" eaLnBrk="1" hangingPunct="1">
              <a:lnSpc>
                <a:spcPct val="130000"/>
              </a:lnSpc>
            </a:pPr>
            <a:r>
              <a:rPr lang="zh-CN" altLang="en-US" sz="3200" dirty="0"/>
              <a:t>并不是规范化程度越高，模式就越好</a:t>
            </a:r>
            <a:endParaRPr lang="zh-CN" altLang="en-US" sz="3200" dirty="0"/>
          </a:p>
          <a:p>
            <a:pPr lvl="1" indent="-436245" algn="just" eaLnBrk="1" hangingPunct="1">
              <a:lnSpc>
                <a:spcPct val="130000"/>
              </a:lnSpc>
            </a:pPr>
            <a:r>
              <a:rPr lang="zh-CN" altLang="en-US" dirty="0"/>
              <a:t>必须</a:t>
            </a:r>
            <a:r>
              <a:rPr lang="zh-CN" altLang="en-US" dirty="0">
                <a:solidFill>
                  <a:srgbClr val="FF0000"/>
                </a:solidFill>
              </a:rPr>
              <a:t>结合</a:t>
            </a:r>
            <a:r>
              <a:rPr lang="zh-CN" altLang="en-US" dirty="0"/>
              <a:t>应用环境和现实世界的</a:t>
            </a:r>
            <a:r>
              <a:rPr lang="zh-CN" altLang="en-US" dirty="0">
                <a:solidFill>
                  <a:srgbClr val="FF0000"/>
                </a:solidFill>
              </a:rPr>
              <a:t>具体情况</a:t>
            </a:r>
            <a:r>
              <a:rPr lang="zh-CN" altLang="en-US" dirty="0"/>
              <a:t>合理地选择数据库模式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10193</Words>
  <Application>WPS 演示</Application>
  <PresentationFormat>全屏显示(4:3)</PresentationFormat>
  <Paragraphs>971</Paragraphs>
  <Slides>72</Slides>
  <Notes>56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94" baseType="lpstr">
      <vt:lpstr>Arial</vt:lpstr>
      <vt:lpstr>宋体</vt:lpstr>
      <vt:lpstr>Wingdings</vt:lpstr>
      <vt:lpstr>Verdana</vt:lpstr>
      <vt:lpstr>Arial Black</vt:lpstr>
      <vt:lpstr>隶书</vt:lpstr>
      <vt:lpstr>楷体_GB2312</vt:lpstr>
      <vt:lpstr>新宋体</vt:lpstr>
      <vt:lpstr>Times New Roman</vt:lpstr>
      <vt:lpstr>微软雅黑</vt:lpstr>
      <vt:lpstr>Arial Unicode MS</vt:lpstr>
      <vt:lpstr>Calibri</vt:lpstr>
      <vt:lpstr>黑体</vt:lpstr>
      <vt:lpstr>Symbol</vt:lpstr>
      <vt:lpstr>Wingdings</vt:lpstr>
      <vt:lpstr>Courier New</vt:lpstr>
      <vt:lpstr>Symbol</vt:lpstr>
      <vt:lpstr>楷体_GB2312</vt:lpstr>
      <vt:lpstr>MS PGothic</vt:lpstr>
      <vt:lpstr>Profile</vt:lpstr>
      <vt:lpstr>1_Profile</vt:lpstr>
      <vt:lpstr>Equation.3</vt:lpstr>
      <vt:lpstr>第六章 关系数据理论</vt:lpstr>
      <vt:lpstr>6.1 问题的提出</vt:lpstr>
      <vt:lpstr>6.1 问题的提出</vt:lpstr>
      <vt:lpstr>1、关系模式的形式化定义</vt:lpstr>
      <vt:lpstr>1、关系模式的形式化定义</vt:lpstr>
      <vt:lpstr>2、什么是数据依赖</vt:lpstr>
      <vt:lpstr>2、什么是数据依赖</vt:lpstr>
      <vt:lpstr>3、数据依赖对关系模式的影响</vt:lpstr>
      <vt:lpstr>PowerPoint 演示文稿</vt:lpstr>
      <vt:lpstr>关系模式中存在的问题</vt:lpstr>
      <vt:lpstr>关系模式中存在的问题</vt:lpstr>
      <vt:lpstr>3、数据依赖对关系模式的影响（续）</vt:lpstr>
      <vt:lpstr>3、数据依赖对关系模式的影响（续）</vt:lpstr>
      <vt:lpstr>分解关系模式</vt:lpstr>
      <vt:lpstr>6.2  规范化</vt:lpstr>
      <vt:lpstr>6.2  规范化</vt:lpstr>
      <vt:lpstr>6.2.1 函数依赖</vt:lpstr>
      <vt:lpstr>一、函数依赖</vt:lpstr>
      <vt:lpstr>例如：</vt:lpstr>
      <vt:lpstr>PowerPoint 演示文稿</vt:lpstr>
      <vt:lpstr>例如</vt:lpstr>
      <vt:lpstr>对函数依赖的说明 </vt:lpstr>
      <vt:lpstr>二、平凡函数依赖与非平凡函数依赖</vt:lpstr>
      <vt:lpstr>平凡函数依赖与非平凡函数依赖（续）</vt:lpstr>
      <vt:lpstr>三、完全函数依赖与部分函数依赖</vt:lpstr>
      <vt:lpstr>四、传递函数依赖</vt:lpstr>
      <vt:lpstr>例题：</vt:lpstr>
      <vt:lpstr>6.2  规范化</vt:lpstr>
      <vt:lpstr>6.2.2 码</vt:lpstr>
      <vt:lpstr>码（续）</vt:lpstr>
      <vt:lpstr>6.2  规范化</vt:lpstr>
      <vt:lpstr>6.2.3 范式</vt:lpstr>
      <vt:lpstr>6.2.3 范式</vt:lpstr>
      <vt:lpstr>6.2.3 范式</vt:lpstr>
      <vt:lpstr>不是1NF的例子</vt:lpstr>
      <vt:lpstr>6.2  规范化</vt:lpstr>
      <vt:lpstr> 2NF（续）</vt:lpstr>
      <vt:lpstr>2NF（续）</vt:lpstr>
      <vt:lpstr>S-L-C不是一个好的关系模式（续）</vt:lpstr>
      <vt:lpstr>2NF（续）</vt:lpstr>
      <vt:lpstr> 2NF（续）</vt:lpstr>
      <vt:lpstr>提问：下面两个关系是否是2NF？</vt:lpstr>
      <vt:lpstr>提问：下面两个关系是否是2NF？</vt:lpstr>
      <vt:lpstr>答案</vt:lpstr>
      <vt:lpstr>回顾</vt:lpstr>
      <vt:lpstr>6.2  规范化</vt:lpstr>
      <vt:lpstr> 6.2.5  3NF</vt:lpstr>
      <vt:lpstr>3NF（续）</vt:lpstr>
      <vt:lpstr>3NF（续）</vt:lpstr>
      <vt:lpstr>3NF（续）</vt:lpstr>
      <vt:lpstr>3NF（续）</vt:lpstr>
      <vt:lpstr>提问：下面两个关系是否是3NF？</vt:lpstr>
      <vt:lpstr>提问：下面两个关系是否是3NF？</vt:lpstr>
      <vt:lpstr>答案</vt:lpstr>
      <vt:lpstr>6.2  规范化</vt:lpstr>
      <vt:lpstr>总结</vt:lpstr>
      <vt:lpstr> 6.2.6  BC范式（BCNF）</vt:lpstr>
      <vt:lpstr>BCNF（续）</vt:lpstr>
      <vt:lpstr>BCNF（续）</vt:lpstr>
      <vt:lpstr>BCNF（续）</vt:lpstr>
      <vt:lpstr> BCNF（续）</vt:lpstr>
      <vt:lpstr>3NF与BCNF的关系</vt:lpstr>
      <vt:lpstr>BCNF（续）</vt:lpstr>
      <vt:lpstr>提问</vt:lpstr>
      <vt:lpstr>提问</vt:lpstr>
      <vt:lpstr>答案</vt:lpstr>
      <vt:lpstr>6.2  规范化</vt:lpstr>
      <vt:lpstr>6.2.9 规范化小结</vt:lpstr>
      <vt:lpstr>规范化小结（续）</vt:lpstr>
      <vt:lpstr>规范化小结（续）</vt:lpstr>
      <vt:lpstr>6.4 模式的分解</vt:lpstr>
      <vt:lpstr>小结(续)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补充知识</dc:title>
  <dc:creator>微软用户</dc:creator>
  <cp:lastModifiedBy>shr</cp:lastModifiedBy>
  <cp:revision>296</cp:revision>
  <dcterms:created xsi:type="dcterms:W3CDTF">2014-03-04T01:24:00Z</dcterms:created>
  <dcterms:modified xsi:type="dcterms:W3CDTF">2026-05-24T14:40:35Z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62CB8223403E407C924F4CE7D434D227_12</vt:lpwstr>
  </property>
  <property fmtid="{D5CDD505-2E9C-101B-9397-08002B2CF9AE}" pid="3" name="KSOProductBuildVer">
    <vt:lpwstr>2052-12.1.0.26375</vt:lpwstr>
  </property>
</Properties>
</file>