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450" r:id="rId3"/>
    <p:sldId id="400" r:id="rId4"/>
    <p:sldId id="296" r:id="rId5"/>
    <p:sldId id="297" r:id="rId6"/>
    <p:sldId id="298" r:id="rId7"/>
    <p:sldId id="299" r:id="rId8"/>
    <p:sldId id="300" r:id="rId9"/>
    <p:sldId id="301" r:id="rId10"/>
    <p:sldId id="303" r:id="rId11"/>
    <p:sldId id="304" r:id="rId12"/>
    <p:sldId id="305" r:id="rId13"/>
    <p:sldId id="306" r:id="rId15"/>
    <p:sldId id="307" r:id="rId16"/>
    <p:sldId id="308" r:id="rId17"/>
    <p:sldId id="309" r:id="rId18"/>
    <p:sldId id="310" r:id="rId19"/>
    <p:sldId id="311" r:id="rId20"/>
    <p:sldId id="312" r:id="rId21"/>
    <p:sldId id="313" r:id="rId22"/>
    <p:sldId id="314" r:id="rId23"/>
    <p:sldId id="315" r:id="rId24"/>
    <p:sldId id="316" r:id="rId25"/>
    <p:sldId id="395" r:id="rId26"/>
    <p:sldId id="318" r:id="rId27"/>
    <p:sldId id="319" r:id="rId28"/>
    <p:sldId id="320" r:id="rId29"/>
    <p:sldId id="323" r:id="rId30"/>
    <p:sldId id="321" r:id="rId31"/>
    <p:sldId id="322" r:id="rId32"/>
    <p:sldId id="324" r:id="rId33"/>
    <p:sldId id="325" r:id="rId34"/>
    <p:sldId id="326" r:id="rId35"/>
    <p:sldId id="327" r:id="rId36"/>
    <p:sldId id="401" r:id="rId37"/>
    <p:sldId id="402" r:id="rId38"/>
    <p:sldId id="403" r:id="rId39"/>
    <p:sldId id="399" r:id="rId40"/>
    <p:sldId id="329" r:id="rId41"/>
    <p:sldId id="330" r:id="rId42"/>
    <p:sldId id="331" r:id="rId43"/>
    <p:sldId id="332" r:id="rId44"/>
    <p:sldId id="333" r:id="rId45"/>
    <p:sldId id="334" r:id="rId46"/>
    <p:sldId id="335" r:id="rId47"/>
    <p:sldId id="336" r:id="rId48"/>
    <p:sldId id="337" r:id="rId49"/>
    <p:sldId id="338" r:id="rId50"/>
    <p:sldId id="339" r:id="rId51"/>
    <p:sldId id="340" r:id="rId52"/>
    <p:sldId id="341" r:id="rId53"/>
    <p:sldId id="342" r:id="rId54"/>
    <p:sldId id="343" r:id="rId55"/>
    <p:sldId id="344" r:id="rId56"/>
    <p:sldId id="345" r:id="rId57"/>
    <p:sldId id="346" r:id="rId58"/>
    <p:sldId id="404" r:id="rId59"/>
    <p:sldId id="405" r:id="rId60"/>
    <p:sldId id="406" r:id="rId61"/>
    <p:sldId id="407" r:id="rId62"/>
    <p:sldId id="408" r:id="rId63"/>
    <p:sldId id="409" r:id="rId64"/>
    <p:sldId id="410" r:id="rId65"/>
    <p:sldId id="411" r:id="rId66"/>
    <p:sldId id="412" r:id="rId67"/>
    <p:sldId id="413" r:id="rId68"/>
    <p:sldId id="414" r:id="rId69"/>
    <p:sldId id="415" r:id="rId70"/>
    <p:sldId id="416" r:id="rId71"/>
    <p:sldId id="417" r:id="rId72"/>
    <p:sldId id="418" r:id="rId73"/>
    <p:sldId id="419" r:id="rId74"/>
    <p:sldId id="420" r:id="rId75"/>
    <p:sldId id="421" r:id="rId76"/>
    <p:sldId id="422" r:id="rId77"/>
    <p:sldId id="423" r:id="rId78"/>
    <p:sldId id="424" r:id="rId79"/>
    <p:sldId id="425" r:id="rId80"/>
    <p:sldId id="426" r:id="rId81"/>
    <p:sldId id="427" r:id="rId82"/>
    <p:sldId id="428" r:id="rId83"/>
    <p:sldId id="429" r:id="rId84"/>
    <p:sldId id="430" r:id="rId85"/>
    <p:sldId id="431" r:id="rId86"/>
    <p:sldId id="432" r:id="rId87"/>
    <p:sldId id="433" r:id="rId88"/>
    <p:sldId id="434" r:id="rId89"/>
    <p:sldId id="435" r:id="rId90"/>
    <p:sldId id="436" r:id="rId91"/>
    <p:sldId id="437" r:id="rId92"/>
    <p:sldId id="438" r:id="rId93"/>
    <p:sldId id="439" r:id="rId94"/>
    <p:sldId id="440" r:id="rId95"/>
    <p:sldId id="441" r:id="rId96"/>
    <p:sldId id="442" r:id="rId97"/>
    <p:sldId id="443" r:id="rId98"/>
    <p:sldId id="444" r:id="rId99"/>
    <p:sldId id="445" r:id="rId100"/>
    <p:sldId id="446" r:id="rId101"/>
    <p:sldId id="447" r:id="rId102"/>
    <p:sldId id="448" r:id="rId103"/>
    <p:sldId id="449" r:id="rId104"/>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273"/>
    <p:restoredTop sz="94660"/>
  </p:normalViewPr>
  <p:slideViewPr>
    <p:cSldViewPr showGuides="1">
      <p:cViewPr varScale="1">
        <p:scale>
          <a:sx n="84" d="100"/>
          <a:sy n="84" d="100"/>
        </p:scale>
        <p:origin x="-1572"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7" Type="http://schemas.openxmlformats.org/officeDocument/2006/relationships/tableStyles" Target="tableStyles.xml"/><Relationship Id="rId106" Type="http://schemas.openxmlformats.org/officeDocument/2006/relationships/viewProps" Target="viewProps.xml"/><Relationship Id="rId105" Type="http://schemas.openxmlformats.org/officeDocument/2006/relationships/presProps" Target="presProps.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B083709B-DFC4-47C0-A564-D9D10A30A348}" type="datetimeFigureOut">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fontAlgn="base" hangingPunct="1">
              <a:buNone/>
            </a:pPr>
            <a:fld id="{9A0DB2DC-4C9A-4742-B13C-FB6460FD3503}" type="slidenum">
              <a:rPr lang="zh-CN" altLang="en-US" sz="1200" strike="noStrike" noProof="1" dirty="0">
                <a:latin typeface="Verdana" panose="020B0604030504040204" pitchFamily="34" charset="0"/>
                <a:ea typeface="宋体" panose="02010600030101010101" pitchFamily="2" charset="-122"/>
                <a:cs typeface="+mn-cs"/>
              </a:rPr>
            </a:fld>
            <a:endParaRPr lang="zh-CN" altLang="en-US"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幻灯片图像占位符 1"/>
          <p:cNvSpPr>
            <a:spLocks noGrp="1" noRot="1" noChangeAspect="1" noTextEdit="1"/>
          </p:cNvSpPr>
          <p:nvPr>
            <p:ph type="sldImg"/>
          </p:nvPr>
        </p:nvSpPr>
        <p:spPr>
          <a:ln>
            <a:solidFill>
              <a:srgbClr val="000000"/>
            </a:solidFill>
            <a:miter/>
          </a:ln>
        </p:spPr>
      </p:sp>
      <p:sp>
        <p:nvSpPr>
          <p:cNvPr id="1741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17411" name="灯片编号占位符 3"/>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nchorCtr="0"/>
          <a:p>
            <a:pPr lvl="0" algn="r"/>
            <a:fld id="{9A0DB2DC-4C9A-4742-B13C-FB6460FD3503}" type="slidenum">
              <a:rPr lang="zh-CN" altLang="en-US" sz="1200" dirty="0"/>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dirty="0" smtClean="0"/>
              <a:t>单击此处编辑母版标题样式</a:t>
            </a:r>
            <a:endParaRPr lang="zh-CN" altLang="en-US" strike="noStrike" noProof="1" dirty="0"/>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050" name="AutoShape 7"/>
          <p:cNvSpPr/>
          <p:nvPr/>
        </p:nvSpPr>
        <p:spPr>
          <a:xfrm>
            <a:off x="685800" y="2393950"/>
            <a:ext cx="7772400" cy="109538"/>
          </a:xfrm>
          <a:custGeom>
            <a:avLst/>
            <a:gdLst/>
            <a:ahLst/>
            <a:cxnLst>
              <a:cxn ang="0">
                <a:pos x="0" y="0"/>
              </a:cxn>
              <a:cxn ang="0">
                <a:pos x="2147483647" y="0"/>
              </a:cxn>
              <a:cxn ang="0">
                <a:pos x="2147483647" y="2147483647"/>
              </a:cxn>
              <a:cxn ang="0">
                <a:pos x="0" y="2147483647"/>
              </a:cxn>
              <a:cxn ang="0">
                <a:pos x="0" y="0"/>
              </a:cxn>
              <a:cxn ang="0">
                <a:pos x="2147483647"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p>
            <a:endParaRPr lang="zh-CN" altLang="en-US"/>
          </a:p>
        </p:txBody>
      </p:sp>
      <p:sp>
        <p:nvSpPr>
          <p:cNvPr id="21506" name="Rectangle 2"/>
          <p:cNvSpPr>
            <a:spLocks noGrp="1" noChangeArrowheads="1"/>
          </p:cNvSpPr>
          <p:nvPr>
            <p:ph type="ctrTitle"/>
          </p:nvPr>
        </p:nvSpPr>
        <p:spPr>
          <a:xfrm>
            <a:off x="685800" y="990600"/>
            <a:ext cx="7772400" cy="1371600"/>
          </a:xfrm>
        </p:spPr>
        <p:txBody>
          <a:bodyPr/>
          <a:lstStyle>
            <a:lvl1pPr>
              <a:defRPr sz="4000"/>
            </a:lvl1pPr>
          </a:lstStyle>
          <a:p>
            <a:pPr fontAlgn="base"/>
            <a:r>
              <a:rPr lang="zh-CN" altLang="en-US" strike="noStrike" noProof="1"/>
              <a:t>单击此处编辑母版标题样式</a:t>
            </a:r>
            <a:endParaRPr lang="zh-CN" altLang="en-US" strike="noStrike" noProof="1"/>
          </a:p>
        </p:txBody>
      </p:sp>
      <p:sp>
        <p:nvSpPr>
          <p:cNvPr id="21507"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pPr fontAlgn="base"/>
            <a:r>
              <a:rPr lang="zh-CN" altLang="en-US" strike="noStrike" noProof="1"/>
              <a:t>单击此处编辑母版副标题样式</a:t>
            </a:r>
            <a:endParaRPr lang="zh-CN" altLang="en-US" strike="noStrike" noProof="1"/>
          </a:p>
        </p:txBody>
      </p:sp>
      <p:sp>
        <p:nvSpPr>
          <p:cNvPr id="10"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2"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p>
            <a:pPr algn="r" fontAlgn="base">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p>
        </p:txBody>
      </p:sp>
    </p:spTree>
  </p:cSld>
  <p:clrMapOvr>
    <a:masterClrMapping/>
  </p:clrMapOvr>
  <p:transition advClick="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566738" y="304800"/>
            <a:ext cx="5854700" cy="5715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457200" y="1828800"/>
            <a:ext cx="8229600" cy="4495800"/>
          </a:xfrm>
        </p:spPr>
        <p:txBody>
          <a:bodyPr vert="horz" wrap="square" lIns="91440" tIns="45720" rIns="91440" bIns="45720" numCol="1" anchor="t" anchorCtr="0" compatLnSpc="1"/>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endParaRPr kumimoji="0" lang="zh-CN" altLang="en-US" sz="3000" b="0" i="0" u="none" strike="noStrike" kern="0" cap="none" spc="0" normalizeH="0" baseline="0" noProof="0" smtClean="0">
              <a:ln>
                <a:noFill/>
              </a:ln>
              <a:solidFill>
                <a:schemeClr val="tx1"/>
              </a:solidFill>
              <a:effectLst/>
              <a:uLnTx/>
              <a:uFillTx/>
              <a:latin typeface="+mn-lt"/>
              <a:ea typeface="+mn-ea"/>
              <a:cs typeface="+mn-cs"/>
            </a:endParaRPr>
          </a:p>
        </p:txBody>
      </p:sp>
      <p:sp>
        <p:nvSpPr>
          <p:cNvPr id="9" name="Rectangle 15"/>
          <p:cNvSpPr>
            <a:spLocks noGrp="1" noChangeArrowheads="1"/>
          </p:cNvSpPr>
          <p:nvPr>
            <p:ph type="dt" sz="half" idx="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 name="Rectangle 16"/>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An Introduction to Database System</a:t>
            </a: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0"/>
          </p:nvPr>
        </p:nvSpPr>
        <p:spPr>
          <a:xfrm>
            <a:off x="6553200" y="6245225"/>
            <a:ext cx="19812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457200" y="1828800"/>
            <a:ext cx="403860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828800"/>
            <a:ext cx="403860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9" name="Rectangle 15"/>
          <p:cNvSpPr>
            <a:spLocks noGrp="1" noChangeArrowheads="1"/>
          </p:cNvSpPr>
          <p:nvPr>
            <p:ph type="dt" sz="half" idx="1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 name="Rectangle 16"/>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An Introduction to Database System</a:t>
            </a: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3"/>
          </p:nvPr>
        </p:nvSpPr>
        <p:spPr>
          <a:xfrm>
            <a:off x="6553200" y="6245225"/>
            <a:ext cx="1981200" cy="476250"/>
          </a:xfrm>
          <a:prstGeom prst="rect">
            <a:avLst/>
          </a:prstGeom>
          <a:noFill/>
          <a:ln w="9525">
            <a:noFill/>
            <a:miter lim="800000"/>
          </a:ln>
          <a:effectLst/>
        </p:spPr>
        <p:txBody>
          <a:bodyPr vert="horz" wrap="square" lIns="91440" tIns="45720" rIns="91440" bIns="45720" numCol="1" anchor="t" anchorCtr="0" compatLnSpc="1"/>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Ovr>
    <a:masterClrMapping/>
  </p:clrMapOvr>
  <p:transition advClick="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p:sp>
        <p:nvSpPr>
          <p:cNvPr id="1026" name="Rectangle 2"/>
          <p:cNvSpPr>
            <a:spLocks noGrp="1"/>
          </p:cNvSpPr>
          <p:nvPr>
            <p:ph type="title"/>
          </p:nvPr>
        </p:nvSpPr>
        <p:spPr>
          <a:xfrm>
            <a:off x="571500" y="214313"/>
            <a:ext cx="8001000" cy="735012"/>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27" name="Rectangle 3"/>
          <p:cNvSpPr>
            <a:spLocks noGrp="1"/>
          </p:cNvSpPr>
          <p:nvPr>
            <p:ph type="body"/>
          </p:nvPr>
        </p:nvSpPr>
        <p:spPr>
          <a:xfrm>
            <a:off x="566738" y="1143000"/>
            <a:ext cx="8001000" cy="487680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AutoShape 4"/>
          <p:cNvSpPr/>
          <p:nvPr/>
        </p:nvSpPr>
        <p:spPr>
          <a:xfrm>
            <a:off x="571500" y="1000125"/>
            <a:ext cx="7958138" cy="109538"/>
          </a:xfrm>
          <a:custGeom>
            <a:avLst/>
            <a:gdLst/>
            <a:ahLst/>
            <a:cxnLst>
              <a:cxn ang="0">
                <a:pos x="0" y="0"/>
              </a:cxn>
              <a:cxn ang="0">
                <a:pos x="2147483647" y="0"/>
              </a:cxn>
              <a:cxn ang="0">
                <a:pos x="2147483647" y="2147483647"/>
              </a:cxn>
              <a:cxn ang="0">
                <a:pos x="0" y="2147483647"/>
              </a:cxn>
              <a:cxn ang="0">
                <a:pos x="0" y="0"/>
              </a:cxn>
              <a:cxn ang="0">
                <a:pos x="2147483647" y="0"/>
              </a:cxn>
            </a:cxnLst>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p>
            <a:endParaRPr lang="zh-CN" altLang="en-US"/>
          </a:p>
        </p:txBody>
      </p:sp>
      <p:sp>
        <p:nvSpPr>
          <p:cNvPr id="1029" name="Line 5"/>
          <p:cNvSpPr/>
          <p:nvPr/>
        </p:nvSpPr>
        <p:spPr>
          <a:xfrm flipV="1">
            <a:off x="609600" y="6172200"/>
            <a:ext cx="7924800" cy="0"/>
          </a:xfrm>
          <a:prstGeom prst="line">
            <a:avLst/>
          </a:prstGeom>
          <a:ln w="3175" cap="flat" cmpd="sng">
            <a:solidFill>
              <a:schemeClr val="accent2"/>
            </a:solidFill>
            <a:prstDash val="solid"/>
            <a:round/>
            <a:headEnd type="none" w="med" len="med"/>
            <a:tailEnd type="none" w="med" len="med"/>
          </a:ln>
        </p:spPr>
      </p:sp>
      <p:sp>
        <p:nvSpPr>
          <p:cNvPr id="20486" name="Rectangle 6"/>
          <p:cNvSpPr>
            <a:spLocks noGrp="1" noChangeArrowheads="1"/>
          </p:cNvSpPr>
          <p:nvPr>
            <p:ph type="dt" sz="half" idx="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487" name="Rectangle 7"/>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0488" name="Rectangle 8"/>
          <p:cNvSpPr>
            <a:spLocks noGrp="1" noChangeArrowheads="1"/>
          </p:cNvSpPr>
          <p:nvPr>
            <p:ph type="sldNum" sz="quarter" idx="4"/>
          </p:nvPr>
        </p:nvSpPr>
        <p:spPr bwMode="auto">
          <a:xfrm>
            <a:off x="6553200" y="6245225"/>
            <a:ext cx="1981200" cy="47625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lvl="0" eaLnBrk="1" fontAlgn="base" hangingPunct="1">
              <a:buNone/>
            </a:pPr>
            <a:fld id="{9A0DB2DC-4C9A-4742-B13C-FB6460FD3503}" type="slidenum">
              <a:rPr lang="en-US" altLang="zh-CN" strike="noStrike" noProof="1" dirty="0">
                <a:latin typeface="Verdana" panose="020B0604030504040204" pitchFamily="34" charset="0"/>
                <a:ea typeface="宋体" panose="02010600030101010101" pitchFamily="2" charset="-122"/>
                <a:cs typeface="+mn-cs"/>
              </a:rPr>
            </a:fld>
            <a:endParaRPr lang="en-US" altLang="zh-CN" strike="noStrike" noProof="1" dirty="0">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advClick="0"/>
  <p:hf sldNum="0" hdr="0" ftr="0" dt="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n"/>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p"/>
        <a:defRPr sz="28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xml"/><Relationship Id="rId2" Type="http://schemas.openxmlformats.org/officeDocument/2006/relationships/image" Target="../media/image4.wmf"/><Relationship Id="rId1" Type="http://schemas.openxmlformats.org/officeDocument/2006/relationships/oleObject" Target="../embeddings/oleObject1.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2"/>
          <p:cNvSpPr>
            <a:spLocks noGrp="1"/>
          </p:cNvSpPr>
          <p:nvPr>
            <p:ph type="ctrTitle"/>
          </p:nvPr>
        </p:nvSpPr>
        <p:spPr>
          <a:ln/>
        </p:spPr>
        <p:txBody>
          <a:bodyPr vert="horz" wrap="square" lIns="91440" tIns="45720" rIns="91440" bIns="45720" anchor="b" anchorCtr="0"/>
          <a:p>
            <a:pPr eaLnBrk="1" hangingPunct="1">
              <a:buClrTx/>
              <a:buSzTx/>
              <a:buFontTx/>
            </a:pPr>
            <a:r>
              <a:rPr lang="zh-CN" altLang="en-US" dirty="0">
                <a:latin typeface="楷体_GB2312" pitchFamily="49" charset="-122"/>
                <a:ea typeface="楷体_GB2312" pitchFamily="49" charset="-122"/>
                <a:cs typeface="+mj-cs"/>
              </a:rPr>
              <a:t>第十二章  并发控制</a:t>
            </a:r>
            <a:endParaRPr lang="zh-CN" altLang="en-US" dirty="0">
              <a:latin typeface="楷体_GB2312" pitchFamily="49" charset="-122"/>
              <a:ea typeface="楷体_GB2312" pitchFamily="49" charset="-122"/>
              <a:cs typeface="+mj-cs"/>
            </a:endParaRPr>
          </a:p>
        </p:txBody>
      </p:sp>
      <p:sp>
        <p:nvSpPr>
          <p:cNvPr id="5123" name="副标题 3"/>
          <p:cNvSpPr>
            <a:spLocks noGrp="1"/>
          </p:cNvSpPr>
          <p:nvPr>
            <p:ph type="subTitle" idx="1"/>
          </p:nvPr>
        </p:nvSpPr>
        <p:spPr>
          <a:xfrm>
            <a:off x="1357313" y="2857500"/>
            <a:ext cx="7010400" cy="2714625"/>
          </a:xfrm>
        </p:spPr>
        <p:txBody>
          <a:bodyPr vert="horz" wrap="square" lIns="91440" tIns="45720" rIns="91440" bIns="45720" anchor="t" anchorCtr="0"/>
          <a:p>
            <a:pPr marL="0" marR="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pPr>
            <a:r>
              <a:rPr kumimoji="0" lang="zh-CN" altLang="en-US" sz="2800" b="0" i="0" u="none" strike="noStrike" kern="0" cap="none" spc="0" normalizeH="0" baseline="0" noProof="1" dirty="0">
                <a:solidFill>
                  <a:schemeClr val="tx1"/>
                </a:solidFill>
                <a:latin typeface="+mn-lt"/>
                <a:ea typeface="+mn-ea"/>
                <a:cs typeface="+mn-cs"/>
              </a:rPr>
              <a:t>第</a:t>
            </a:r>
            <a:r>
              <a:rPr kumimoji="0" lang="en-US" altLang="zh-CN" sz="2800" b="0" i="0" u="none" strike="noStrike" kern="0" cap="none" spc="0" normalizeH="0" baseline="0" noProof="1" dirty="0">
                <a:solidFill>
                  <a:schemeClr val="tx1"/>
                </a:solidFill>
                <a:latin typeface="+mn-lt"/>
                <a:ea typeface="+mn-ea"/>
                <a:cs typeface="+mn-cs"/>
              </a:rPr>
              <a:t>11,12</a:t>
            </a:r>
            <a:r>
              <a:rPr kumimoji="0" lang="zh-CN" altLang="en-US" sz="2800" b="0" i="0" u="none" strike="noStrike" kern="0" cap="none" spc="0" normalizeH="0" baseline="0" noProof="1" dirty="0">
                <a:solidFill>
                  <a:schemeClr val="tx1"/>
                </a:solidFill>
                <a:latin typeface="+mn-lt"/>
                <a:ea typeface="+mn-ea"/>
                <a:cs typeface="+mn-cs"/>
              </a:rPr>
              <a:t>章讨论</a:t>
            </a:r>
            <a:r>
              <a:rPr kumimoji="0" lang="zh-CN" altLang="en-US" sz="2800" b="1" i="0" u="none" strike="noStrike" kern="0" cap="none" spc="0" normalizeH="0" baseline="0" noProof="1" dirty="0">
                <a:solidFill>
                  <a:srgbClr val="FF0000"/>
                </a:solidFill>
                <a:latin typeface="+mn-lt"/>
                <a:ea typeface="+mn-ea"/>
                <a:cs typeface="+mn-cs"/>
              </a:rPr>
              <a:t>事务处理技术</a:t>
            </a:r>
            <a:endParaRPr kumimoji="0" lang="en-US" altLang="zh-CN" sz="2800" b="1" i="0" u="none" strike="noStrike" kern="0" cap="none" spc="0" normalizeH="0" baseline="0" noProof="1" dirty="0">
              <a:solidFill>
                <a:srgbClr val="FF0000"/>
              </a:solidFill>
              <a:latin typeface="+mn-lt"/>
              <a:ea typeface="+mn-ea"/>
              <a:cs typeface="+mn-cs"/>
            </a:endParaRPr>
          </a:p>
          <a:p>
            <a:pPr marL="0" marR="0" indent="0" algn="l" defTabSz="914400" rtl="0" eaLnBrk="0" fontAlgn="base" latinLnBrk="0" hangingPunct="0">
              <a:lnSpc>
                <a:spcPct val="200000"/>
              </a:lnSpc>
              <a:spcBef>
                <a:spcPct val="20000"/>
              </a:spcBef>
              <a:spcAft>
                <a:spcPct val="0"/>
              </a:spcAft>
              <a:buClr>
                <a:schemeClr val="accent2"/>
              </a:buClr>
              <a:buSzTx/>
              <a:buFont typeface="Wingdings" panose="05000000000000000000" pitchFamily="2" charset="2"/>
              <a:buChar char="l"/>
            </a:pPr>
            <a:r>
              <a:rPr kumimoji="0" lang="zh-CN" altLang="en-US" sz="2800" b="0" i="0" u="none" strike="noStrike" kern="0" cap="none" spc="0" normalizeH="0" baseline="0" noProof="1" dirty="0">
                <a:solidFill>
                  <a:schemeClr val="tx1"/>
                </a:solidFill>
                <a:latin typeface="+mn-lt"/>
                <a:ea typeface="+mn-ea"/>
                <a:cs typeface="+mn-cs"/>
              </a:rPr>
              <a:t> 数据库恢复技术 </a:t>
            </a:r>
            <a:endParaRPr kumimoji="0" lang="en-US" altLang="zh-CN" sz="2800" b="0" i="0" u="none" strike="noStrike" kern="0" cap="none" spc="0" normalizeH="0" baseline="0" noProof="1" dirty="0">
              <a:solidFill>
                <a:schemeClr val="tx1"/>
              </a:solidFill>
              <a:latin typeface="+mn-lt"/>
              <a:ea typeface="+mn-ea"/>
              <a:cs typeface="+mn-cs"/>
            </a:endParaRPr>
          </a:p>
          <a:p>
            <a:pPr marL="0" marR="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l"/>
            </a:pPr>
            <a:r>
              <a:rPr kumimoji="0" lang="zh-CN" altLang="en-US" sz="2800" b="0" i="0" u="none" strike="noStrike" kern="0" cap="none" spc="0" normalizeH="0" baseline="0" noProof="1" dirty="0">
                <a:solidFill>
                  <a:schemeClr val="tx1"/>
                </a:solidFill>
                <a:latin typeface="+mn-lt"/>
                <a:ea typeface="+mn-ea"/>
                <a:cs typeface="+mn-cs"/>
              </a:rPr>
              <a:t> 并发控制技术</a:t>
            </a:r>
            <a:endParaRPr kumimoji="0" lang="zh-CN" altLang="en-US" sz="2800" b="0" i="0" u="none" strike="noStrike" kern="0" cap="none" spc="0" normalizeH="0" baseline="0" noProof="1" dirty="0">
              <a:solidFill>
                <a:schemeClr val="tx1"/>
              </a:solidFill>
              <a:latin typeface="+mn-lt"/>
              <a:ea typeface="+mn-ea"/>
              <a:cs typeface="+mn-cs"/>
            </a:endParaRPr>
          </a:p>
        </p:txBody>
      </p:sp>
    </p:spTree>
  </p:cSld>
  <p:clrMapOvr>
    <a:masterClrMapping/>
  </p:clrMapOvr>
  <p:transition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2"/>
          <p:cNvSpPr>
            <a:spLocks noGrp="1"/>
          </p:cNvSpPr>
          <p:nvPr>
            <p:ph type="title"/>
          </p:nvPr>
        </p:nvSpPr>
        <p:spPr>
          <a:ln/>
        </p:spPr>
        <p:txBody>
          <a:bodyPr vert="horz" wrap="square" lIns="91440" tIns="45720" rIns="91440" bIns="45720" anchor="b" anchorCtr="0"/>
          <a:p>
            <a:pPr eaLnBrk="1" hangingPunct="1"/>
            <a:r>
              <a:rPr lang="zh-CN" altLang="en-US" dirty="0"/>
              <a:t>第十一章  并发控制</a:t>
            </a:r>
            <a:endParaRPr lang="zh-CN" altLang="en-US" dirty="0"/>
          </a:p>
        </p:txBody>
      </p:sp>
      <p:sp>
        <p:nvSpPr>
          <p:cNvPr id="7170" name="Rectangle 3"/>
          <p:cNvSpPr>
            <a:spLocks noGrp="1"/>
          </p:cNvSpPr>
          <p:nvPr>
            <p:ph idx="1"/>
          </p:nvPr>
        </p:nvSpPr>
        <p:spPr>
          <a:xfrm>
            <a:off x="785813" y="1143000"/>
            <a:ext cx="7715250" cy="4929188"/>
          </a:xfrm>
          <a:ln/>
        </p:spPr>
        <p:txBody>
          <a:bodyPr vert="horz" wrap="square" lIns="91440" tIns="45720" rIns="91440" bIns="45720" anchor="t" anchorCtr="0"/>
          <a:p>
            <a:pPr algn="just" eaLnBrk="1" hangingPunct="1">
              <a:buNone/>
            </a:pPr>
            <a:r>
              <a:rPr lang="zh-CN" altLang="en-US" b="1" dirty="0">
                <a:solidFill>
                  <a:srgbClr val="FF0000"/>
                </a:solidFill>
              </a:rPr>
              <a:t>只讲前</a:t>
            </a:r>
            <a:r>
              <a:rPr lang="en-US" altLang="zh-CN" b="1" dirty="0">
                <a:solidFill>
                  <a:srgbClr val="FF0000"/>
                </a:solidFill>
              </a:rPr>
              <a:t>4</a:t>
            </a:r>
            <a:r>
              <a:rPr lang="zh-CN" altLang="en-US" b="1" dirty="0">
                <a:solidFill>
                  <a:srgbClr val="FF0000"/>
                </a:solidFill>
              </a:rPr>
              <a:t>节，后面的不考。</a:t>
            </a:r>
            <a:endParaRPr lang="en-US" altLang="zh-CN" b="1" dirty="0">
              <a:solidFill>
                <a:srgbClr val="FF0000"/>
              </a:solidFill>
            </a:endParaRPr>
          </a:p>
          <a:p>
            <a:pPr algn="just" eaLnBrk="1" hangingPunct="1">
              <a:buNone/>
            </a:pPr>
            <a:r>
              <a:rPr lang="en-US" altLang="zh-CN" b="1" dirty="0">
                <a:solidFill>
                  <a:srgbClr val="0000FF"/>
                </a:solidFill>
              </a:rPr>
              <a:t>11.1 </a:t>
            </a:r>
            <a:r>
              <a:rPr lang="zh-CN" altLang="en-US" b="1" dirty="0">
                <a:solidFill>
                  <a:srgbClr val="0000FF"/>
                </a:solidFill>
              </a:rPr>
              <a:t>并发控制概述</a:t>
            </a:r>
            <a:endParaRPr lang="en-US" altLang="zh-CN" b="1" dirty="0">
              <a:solidFill>
                <a:srgbClr val="0000FF"/>
              </a:solidFill>
            </a:endParaRPr>
          </a:p>
          <a:p>
            <a:pPr algn="just" eaLnBrk="1" hangingPunct="1">
              <a:buNone/>
            </a:pPr>
            <a:r>
              <a:rPr lang="en-US" altLang="zh-CN" b="1" dirty="0">
                <a:solidFill>
                  <a:srgbClr val="0000FF"/>
                </a:solidFill>
              </a:rPr>
              <a:t>11.2 </a:t>
            </a:r>
            <a:r>
              <a:rPr lang="zh-CN" altLang="en-US" b="1" dirty="0">
                <a:solidFill>
                  <a:srgbClr val="0000FF"/>
                </a:solidFill>
              </a:rPr>
              <a:t>封锁</a:t>
            </a:r>
            <a:endParaRPr lang="en-US" altLang="zh-CN" b="1" dirty="0">
              <a:solidFill>
                <a:srgbClr val="0000FF"/>
              </a:solidFill>
            </a:endParaRPr>
          </a:p>
          <a:p>
            <a:pPr algn="just" eaLnBrk="1" hangingPunct="1">
              <a:buNone/>
            </a:pPr>
            <a:r>
              <a:rPr lang="en-US" altLang="zh-CN" b="1" dirty="0">
                <a:solidFill>
                  <a:srgbClr val="0000FF"/>
                </a:solidFill>
              </a:rPr>
              <a:t>11.3 </a:t>
            </a:r>
            <a:r>
              <a:rPr lang="zh-CN" altLang="en-US" b="1" dirty="0">
                <a:solidFill>
                  <a:srgbClr val="0000FF"/>
                </a:solidFill>
              </a:rPr>
              <a:t>封锁协议</a:t>
            </a:r>
            <a:endParaRPr lang="en-US" altLang="zh-CN" b="1" dirty="0">
              <a:solidFill>
                <a:srgbClr val="0000FF"/>
              </a:solidFill>
            </a:endParaRPr>
          </a:p>
          <a:p>
            <a:pPr algn="just" eaLnBrk="1" hangingPunct="1">
              <a:buNone/>
            </a:pPr>
            <a:r>
              <a:rPr lang="en-US" altLang="zh-CN" b="1" dirty="0">
                <a:solidFill>
                  <a:srgbClr val="0000FF"/>
                </a:solidFill>
              </a:rPr>
              <a:t>11.4 </a:t>
            </a:r>
            <a:r>
              <a:rPr lang="zh-CN" altLang="en-US" b="1" dirty="0">
                <a:solidFill>
                  <a:srgbClr val="0000FF"/>
                </a:solidFill>
              </a:rPr>
              <a:t>活锁和死锁</a:t>
            </a:r>
            <a:endParaRPr lang="en-US" altLang="zh-CN" b="1" dirty="0">
              <a:solidFill>
                <a:srgbClr val="0000FF"/>
              </a:solidFill>
            </a:endParaRPr>
          </a:p>
          <a:p>
            <a:pPr algn="just" eaLnBrk="1" hangingPunct="1">
              <a:buNone/>
            </a:pPr>
            <a:r>
              <a:rPr lang="en-US" altLang="zh-CN" b="1" dirty="0"/>
              <a:t>11.5 </a:t>
            </a:r>
            <a:r>
              <a:rPr lang="zh-CN" altLang="en-US" b="1" dirty="0"/>
              <a:t>并发调度的可串行性</a:t>
            </a:r>
            <a:endParaRPr lang="en-US" altLang="zh-CN" b="1" dirty="0"/>
          </a:p>
          <a:p>
            <a:pPr algn="just" eaLnBrk="1" hangingPunct="1">
              <a:buNone/>
            </a:pPr>
            <a:r>
              <a:rPr lang="en-US" altLang="zh-CN" b="1" dirty="0"/>
              <a:t>11.6 </a:t>
            </a:r>
            <a:r>
              <a:rPr lang="zh-CN" altLang="en-US" b="1" dirty="0"/>
              <a:t>两段锁协议</a:t>
            </a:r>
            <a:endParaRPr lang="en-US" altLang="zh-CN" b="1" dirty="0"/>
          </a:p>
          <a:p>
            <a:pPr algn="just" eaLnBrk="1" hangingPunct="1">
              <a:buNone/>
            </a:pPr>
            <a:r>
              <a:rPr lang="en-US" altLang="zh-CN" b="1" dirty="0"/>
              <a:t>11.7 </a:t>
            </a:r>
            <a:r>
              <a:rPr lang="zh-CN" altLang="en-US" b="1" dirty="0"/>
              <a:t>封锁的粒度</a:t>
            </a:r>
            <a:endParaRPr lang="en-US" altLang="zh-CN" b="1" dirty="0"/>
          </a:p>
          <a:p>
            <a:pPr algn="just" eaLnBrk="1" hangingPunct="1">
              <a:buNone/>
            </a:pPr>
            <a:r>
              <a:rPr lang="zh-CN" altLang="en-US" b="1" dirty="0"/>
              <a:t>*</a:t>
            </a:r>
            <a:r>
              <a:rPr lang="en-US" altLang="zh-CN" b="1" dirty="0"/>
              <a:t>11.8 </a:t>
            </a:r>
            <a:r>
              <a:rPr lang="zh-CN" altLang="en-US" b="1" dirty="0"/>
              <a:t>其他并发控制机制</a:t>
            </a:r>
            <a:endParaRPr lang="zh-CN" altLang="en-US" b="1" dirty="0"/>
          </a:p>
        </p:txBody>
      </p:sp>
    </p:spTree>
  </p:cSld>
  <p:clrMapOvr>
    <a:masterClrMapping/>
  </p:clrMapOvr>
  <p:transition advClick="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2"/>
          <p:cNvSpPr>
            <a:spLocks noGrp="1"/>
          </p:cNvSpPr>
          <p:nvPr>
            <p:ph type="title"/>
          </p:nvPr>
        </p:nvSpPr>
        <p:spPr>
          <a:ln/>
        </p:spPr>
        <p:txBody>
          <a:bodyPr vert="horz" wrap="square" lIns="91440" tIns="45720" rIns="91440" bIns="45720" anchor="b" anchorCtr="0"/>
          <a:p>
            <a:pPr eaLnBrk="1" hangingPunct="1"/>
            <a:r>
              <a:rPr lang="zh-CN" altLang="en-US" dirty="0"/>
              <a:t>问题的产生</a:t>
            </a:r>
            <a:endParaRPr lang="zh-CN" altLang="en-US" dirty="0"/>
          </a:p>
        </p:txBody>
      </p:sp>
      <p:sp>
        <p:nvSpPr>
          <p:cNvPr id="8194" name="Rectangle 3"/>
          <p:cNvSpPr>
            <a:spLocks noGrp="1"/>
          </p:cNvSpPr>
          <p:nvPr>
            <p:ph idx="1"/>
          </p:nvPr>
        </p:nvSpPr>
        <p:spPr>
          <a:xfrm>
            <a:off x="357188" y="1143000"/>
            <a:ext cx="8210550" cy="4876800"/>
          </a:xfrm>
          <a:ln/>
        </p:spPr>
        <p:txBody>
          <a:bodyPr vert="horz" wrap="square" lIns="91440" tIns="45720" rIns="91440" bIns="45720" anchor="t" anchorCtr="0"/>
          <a:p>
            <a:pPr eaLnBrk="1" hangingPunct="1">
              <a:lnSpc>
                <a:spcPct val="180000"/>
              </a:lnSpc>
            </a:pPr>
            <a:r>
              <a:rPr lang="zh-CN" altLang="en-US" dirty="0"/>
              <a:t>多用户数据库系统的存在</a:t>
            </a:r>
            <a:endParaRPr lang="zh-CN" altLang="en-US" dirty="0"/>
          </a:p>
          <a:p>
            <a:pPr eaLnBrk="1" hangingPunct="1">
              <a:lnSpc>
                <a:spcPct val="180000"/>
              </a:lnSpc>
              <a:buNone/>
            </a:pPr>
            <a:r>
              <a:rPr lang="zh-CN" altLang="en-US" dirty="0"/>
              <a:t>    </a:t>
            </a:r>
            <a:r>
              <a:rPr lang="zh-CN" altLang="en-US" dirty="0">
                <a:solidFill>
                  <a:srgbClr val="FF0000"/>
                </a:solidFill>
              </a:rPr>
              <a:t>允许多个用户同时使用的数据库系统</a:t>
            </a:r>
            <a:endParaRPr lang="zh-CN" altLang="en-US" dirty="0">
              <a:solidFill>
                <a:srgbClr val="FF0000"/>
              </a:solidFill>
            </a:endParaRPr>
          </a:p>
          <a:p>
            <a:pPr lvl="1" indent="-436245" eaLnBrk="1" hangingPunct="1">
              <a:lnSpc>
                <a:spcPct val="180000"/>
              </a:lnSpc>
              <a:buFont typeface="Wingdings" panose="05000000000000000000" pitchFamily="2" charset="2"/>
              <a:buChar char="n"/>
            </a:pPr>
            <a:r>
              <a:rPr lang="zh-CN" altLang="en-US" dirty="0"/>
              <a:t>飞机定票数据库系统</a:t>
            </a:r>
            <a:endParaRPr lang="zh-CN" altLang="en-US" dirty="0"/>
          </a:p>
          <a:p>
            <a:pPr lvl="1" indent="-436245" eaLnBrk="1" hangingPunct="1">
              <a:lnSpc>
                <a:spcPct val="180000"/>
              </a:lnSpc>
              <a:buFont typeface="Wingdings" panose="05000000000000000000" pitchFamily="2" charset="2"/>
              <a:buChar char="n"/>
            </a:pPr>
            <a:r>
              <a:rPr lang="zh-CN" altLang="en-US" dirty="0"/>
              <a:t>银行数据库系统 </a:t>
            </a:r>
            <a:endParaRPr lang="zh-CN" altLang="en-US" dirty="0"/>
          </a:p>
          <a:p>
            <a:pPr lvl="1" indent="-436245" eaLnBrk="1" hangingPunct="1">
              <a:lnSpc>
                <a:spcPct val="180000"/>
              </a:lnSpc>
              <a:buNone/>
            </a:pPr>
            <a:r>
              <a:rPr lang="zh-CN" altLang="en-US" dirty="0"/>
              <a:t>特点：在同一时刻</a:t>
            </a:r>
            <a:r>
              <a:rPr lang="zh-CN" altLang="en-US" dirty="0">
                <a:solidFill>
                  <a:srgbClr val="0000FF"/>
                </a:solidFill>
              </a:rPr>
              <a:t>并发运行的事务</a:t>
            </a:r>
            <a:r>
              <a:rPr lang="zh-CN" altLang="en-US" dirty="0"/>
              <a:t>数可达数百个 </a:t>
            </a:r>
            <a:endParaRPr lang="zh-CN" altLang="en-US" dirty="0"/>
          </a:p>
        </p:txBody>
      </p:sp>
    </p:spTree>
  </p:cSld>
  <p:clrMapOvr>
    <a:masterClrMapping/>
  </p:clrMapOvr>
  <p:transition advClick="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title"/>
          </p:nvPr>
        </p:nvSpPr>
        <p:spPr>
          <a:ln/>
        </p:spPr>
        <p:txBody>
          <a:bodyPr vert="horz" wrap="square" lIns="91440" tIns="45720" rIns="91440" bIns="45720" anchor="b" anchorCtr="0"/>
          <a:p>
            <a:pPr eaLnBrk="1" hangingPunct="1"/>
            <a:r>
              <a:rPr lang="zh-CN" altLang="en-US" dirty="0"/>
              <a:t>问题的产生（续）</a:t>
            </a:r>
            <a:endParaRPr lang="zh-CN" altLang="en-US" dirty="0"/>
          </a:p>
        </p:txBody>
      </p:sp>
      <p:sp>
        <p:nvSpPr>
          <p:cNvPr id="9218" name="Rectangle 3"/>
          <p:cNvSpPr>
            <a:spLocks noGrp="1"/>
          </p:cNvSpPr>
          <p:nvPr>
            <p:ph idx="1"/>
          </p:nvPr>
        </p:nvSpPr>
        <p:spPr>
          <a:xfrm>
            <a:off x="428625" y="1125538"/>
            <a:ext cx="5770563" cy="4495800"/>
          </a:xfrm>
          <a:ln/>
        </p:spPr>
        <p:txBody>
          <a:bodyPr vert="horz" wrap="square" lIns="91440" tIns="45720" rIns="91440" bIns="45720" anchor="t" anchorCtr="0"/>
          <a:p>
            <a:pPr algn="just" eaLnBrk="1" hangingPunct="1">
              <a:lnSpc>
                <a:spcPct val="150000"/>
              </a:lnSpc>
            </a:pPr>
            <a:r>
              <a:rPr lang="zh-CN" altLang="en-US" sz="3200" dirty="0"/>
              <a:t>不同的多事务执行方式 </a:t>
            </a:r>
            <a:endParaRPr lang="zh-CN" altLang="en-US" sz="3200" dirty="0"/>
          </a:p>
          <a:p>
            <a:pPr algn="just" eaLnBrk="1" hangingPunct="1">
              <a:lnSpc>
                <a:spcPct val="150000"/>
              </a:lnSpc>
              <a:spcBef>
                <a:spcPct val="50000"/>
              </a:spcBef>
              <a:buNone/>
            </a:pPr>
            <a:r>
              <a:rPr lang="zh-CN" altLang="en-US" sz="2800" dirty="0"/>
              <a:t>  </a:t>
            </a:r>
            <a:r>
              <a:rPr lang="en-US" altLang="zh-CN" sz="2800" dirty="0"/>
              <a:t>(1)</a:t>
            </a:r>
            <a:r>
              <a:rPr lang="zh-CN" altLang="en-US" sz="2800" dirty="0"/>
              <a:t>事务串行执行</a:t>
            </a:r>
            <a:endParaRPr lang="zh-CN" altLang="en-US" sz="2800" dirty="0"/>
          </a:p>
          <a:p>
            <a:pPr lvl="1" indent="-436245" algn="just" eaLnBrk="1" hangingPunct="1">
              <a:lnSpc>
                <a:spcPct val="150000"/>
              </a:lnSpc>
              <a:spcBef>
                <a:spcPct val="50000"/>
              </a:spcBef>
            </a:pPr>
            <a:r>
              <a:rPr lang="zh-CN" altLang="en-US" sz="2200" dirty="0"/>
              <a:t>每个时刻</a:t>
            </a:r>
            <a:r>
              <a:rPr lang="zh-CN" altLang="en-US" sz="2200" dirty="0">
                <a:solidFill>
                  <a:srgbClr val="0000FF"/>
                </a:solidFill>
              </a:rPr>
              <a:t>只有一个事务运行</a:t>
            </a:r>
            <a:r>
              <a:rPr lang="zh-CN" altLang="en-US" sz="2200" dirty="0"/>
              <a:t>，其他事务必须等到这个事务结束以后方能运行</a:t>
            </a:r>
            <a:endParaRPr lang="zh-CN" altLang="en-US" sz="2200" dirty="0"/>
          </a:p>
          <a:p>
            <a:pPr lvl="1" indent="-436245" algn="just" eaLnBrk="1" hangingPunct="1">
              <a:lnSpc>
                <a:spcPct val="150000"/>
              </a:lnSpc>
              <a:spcBef>
                <a:spcPct val="50000"/>
              </a:spcBef>
            </a:pPr>
            <a:r>
              <a:rPr lang="zh-CN" altLang="en-US" sz="2200" dirty="0">
                <a:solidFill>
                  <a:srgbClr val="0000FF"/>
                </a:solidFill>
              </a:rPr>
              <a:t>不能充分利用系统资源</a:t>
            </a:r>
            <a:r>
              <a:rPr lang="zh-CN" altLang="en-US" sz="2200" dirty="0"/>
              <a:t>，发挥数据库共享资源的特点</a:t>
            </a:r>
            <a:endParaRPr lang="zh-CN" altLang="en-US" sz="2200" dirty="0"/>
          </a:p>
        </p:txBody>
      </p:sp>
      <p:sp>
        <p:nvSpPr>
          <p:cNvPr id="9219" name="Line 10"/>
          <p:cNvSpPr/>
          <p:nvPr/>
        </p:nvSpPr>
        <p:spPr>
          <a:xfrm>
            <a:off x="7740650" y="2276475"/>
            <a:ext cx="0" cy="3024188"/>
          </a:xfrm>
          <a:prstGeom prst="line">
            <a:avLst/>
          </a:prstGeom>
          <a:ln w="25400" cap="flat" cmpd="sng">
            <a:solidFill>
              <a:schemeClr val="tx1"/>
            </a:solidFill>
            <a:prstDash val="solid"/>
            <a:round/>
            <a:headEnd type="none" w="med" len="med"/>
            <a:tailEnd type="none" w="med" len="med"/>
          </a:ln>
        </p:spPr>
      </p:sp>
      <p:sp>
        <p:nvSpPr>
          <p:cNvPr id="9220" name="Line 11"/>
          <p:cNvSpPr/>
          <p:nvPr/>
        </p:nvSpPr>
        <p:spPr>
          <a:xfrm>
            <a:off x="7740650" y="3716338"/>
            <a:ext cx="215900" cy="0"/>
          </a:xfrm>
          <a:prstGeom prst="line">
            <a:avLst/>
          </a:prstGeom>
          <a:ln w="25400" cap="flat" cmpd="sng">
            <a:solidFill>
              <a:schemeClr val="tx1"/>
            </a:solidFill>
            <a:prstDash val="solid"/>
            <a:round/>
            <a:headEnd type="none" w="med" len="med"/>
            <a:tailEnd type="none" w="med" len="med"/>
          </a:ln>
        </p:spPr>
      </p:sp>
      <p:sp>
        <p:nvSpPr>
          <p:cNvPr id="9221" name="Line 12"/>
          <p:cNvSpPr/>
          <p:nvPr/>
        </p:nvSpPr>
        <p:spPr>
          <a:xfrm>
            <a:off x="7740650" y="4652963"/>
            <a:ext cx="215900" cy="0"/>
          </a:xfrm>
          <a:prstGeom prst="line">
            <a:avLst/>
          </a:prstGeom>
          <a:ln w="25400" cap="flat" cmpd="sng">
            <a:solidFill>
              <a:schemeClr val="tx1"/>
            </a:solidFill>
            <a:prstDash val="solid"/>
            <a:round/>
            <a:headEnd type="none" w="med" len="med"/>
            <a:tailEnd type="none" w="med" len="med"/>
          </a:ln>
        </p:spPr>
      </p:sp>
      <p:sp>
        <p:nvSpPr>
          <p:cNvPr id="9222" name="Text Box 13"/>
          <p:cNvSpPr txBox="1"/>
          <p:nvPr/>
        </p:nvSpPr>
        <p:spPr>
          <a:xfrm>
            <a:off x="7727950" y="2846388"/>
            <a:ext cx="438150" cy="366712"/>
          </a:xfrm>
          <a:prstGeom prst="rect">
            <a:avLst/>
          </a:prstGeom>
          <a:noFill/>
          <a:ln w="25400">
            <a:noFill/>
          </a:ln>
        </p:spPr>
        <p:txBody>
          <a:bodyPr wrap="none" anchor="t" anchorCtr="0">
            <a:spAutoFit/>
          </a:bodyPr>
          <a:p>
            <a:pPr marL="342900" indent="-342900"/>
            <a:r>
              <a:rPr lang="en-US" altLang="zh-CN" dirty="0">
                <a:latin typeface="Verdana" panose="020B0604030504040204" pitchFamily="34" charset="0"/>
                <a:ea typeface="宋体" panose="02010600030101010101" pitchFamily="2" charset="-122"/>
              </a:rPr>
              <a:t>T1</a:t>
            </a:r>
            <a:endParaRPr lang="en-US" altLang="zh-CN" dirty="0">
              <a:latin typeface="Verdana" panose="020B0604030504040204" pitchFamily="34" charset="0"/>
              <a:ea typeface="宋体" panose="02010600030101010101" pitchFamily="2" charset="-122"/>
            </a:endParaRPr>
          </a:p>
        </p:txBody>
      </p:sp>
      <p:sp>
        <p:nvSpPr>
          <p:cNvPr id="9223" name="Text Box 14"/>
          <p:cNvSpPr txBox="1"/>
          <p:nvPr/>
        </p:nvSpPr>
        <p:spPr>
          <a:xfrm>
            <a:off x="7747000" y="3860800"/>
            <a:ext cx="438150" cy="366713"/>
          </a:xfrm>
          <a:prstGeom prst="rect">
            <a:avLst/>
          </a:prstGeom>
          <a:noFill/>
          <a:ln w="25400">
            <a:noFill/>
          </a:ln>
        </p:spPr>
        <p:txBody>
          <a:bodyPr wrap="none" anchor="t" anchorCtr="0">
            <a:spAutoFit/>
          </a:bodyPr>
          <a:p>
            <a:pPr marL="342900" indent="-342900"/>
            <a:r>
              <a:rPr lang="en-US" altLang="zh-CN" dirty="0">
                <a:latin typeface="Verdana" panose="020B0604030504040204" pitchFamily="34" charset="0"/>
                <a:ea typeface="宋体" panose="02010600030101010101" pitchFamily="2" charset="-122"/>
              </a:rPr>
              <a:t>T2</a:t>
            </a:r>
            <a:endParaRPr lang="en-US" altLang="zh-CN" dirty="0">
              <a:latin typeface="Verdana" panose="020B0604030504040204" pitchFamily="34" charset="0"/>
              <a:ea typeface="宋体" panose="02010600030101010101" pitchFamily="2" charset="-122"/>
            </a:endParaRPr>
          </a:p>
        </p:txBody>
      </p:sp>
      <p:sp>
        <p:nvSpPr>
          <p:cNvPr id="9224" name="Text Box 15"/>
          <p:cNvSpPr txBox="1"/>
          <p:nvPr/>
        </p:nvSpPr>
        <p:spPr>
          <a:xfrm>
            <a:off x="7747000" y="4724400"/>
            <a:ext cx="438150" cy="366713"/>
          </a:xfrm>
          <a:prstGeom prst="rect">
            <a:avLst/>
          </a:prstGeom>
          <a:noFill/>
          <a:ln w="25400">
            <a:noFill/>
          </a:ln>
        </p:spPr>
        <p:txBody>
          <a:bodyPr wrap="none" anchor="t" anchorCtr="0">
            <a:spAutoFit/>
          </a:bodyPr>
          <a:p>
            <a:pPr marL="342900" indent="-342900"/>
            <a:r>
              <a:rPr lang="en-US" altLang="zh-CN" dirty="0">
                <a:latin typeface="Verdana" panose="020B0604030504040204" pitchFamily="34" charset="0"/>
                <a:ea typeface="宋体" panose="02010600030101010101" pitchFamily="2" charset="-122"/>
              </a:rPr>
              <a:t>T3</a:t>
            </a:r>
            <a:endParaRPr lang="en-US" altLang="zh-CN" dirty="0">
              <a:latin typeface="Verdana" panose="020B0604030504040204" pitchFamily="34" charset="0"/>
              <a:ea typeface="宋体" panose="02010600030101010101" pitchFamily="2" charset="-122"/>
            </a:endParaRPr>
          </a:p>
        </p:txBody>
      </p:sp>
      <p:sp>
        <p:nvSpPr>
          <p:cNvPr id="9225" name="Text Box 16"/>
          <p:cNvSpPr txBox="1"/>
          <p:nvPr/>
        </p:nvSpPr>
        <p:spPr>
          <a:xfrm>
            <a:off x="6516688" y="5589588"/>
            <a:ext cx="2241550" cy="366712"/>
          </a:xfrm>
          <a:prstGeom prst="rect">
            <a:avLst/>
          </a:prstGeom>
          <a:noFill/>
          <a:ln w="25400">
            <a:noFill/>
          </a:ln>
        </p:spPr>
        <p:txBody>
          <a:bodyPr wrap="none" anchor="t" anchorCtr="0">
            <a:spAutoFit/>
          </a:bodyPr>
          <a:p>
            <a:pPr marL="342900" indent="-342900"/>
            <a:r>
              <a:rPr lang="zh-CN" altLang="en-US" dirty="0">
                <a:latin typeface="Verdana" panose="020B0604030504040204" pitchFamily="34" charset="0"/>
                <a:ea typeface="宋体" panose="02010600030101010101" pitchFamily="2" charset="-122"/>
              </a:rPr>
              <a:t>事务的串行执行方式</a:t>
            </a:r>
            <a:endParaRPr lang="zh-CN" altLang="en-US"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title"/>
          </p:nvPr>
        </p:nvSpPr>
        <p:spPr>
          <a:ln/>
        </p:spPr>
        <p:txBody>
          <a:bodyPr vert="horz" wrap="square" lIns="91440" tIns="45720" rIns="91440" bIns="45720" anchor="b" anchorCtr="0"/>
          <a:p>
            <a:pPr eaLnBrk="1" hangingPunct="1"/>
            <a:r>
              <a:rPr lang="zh-CN" altLang="en-US" dirty="0"/>
              <a:t>问题的产生（续）</a:t>
            </a:r>
            <a:endParaRPr lang="zh-CN" altLang="en-US" dirty="0"/>
          </a:p>
        </p:txBody>
      </p:sp>
      <p:sp>
        <p:nvSpPr>
          <p:cNvPr id="10242" name="Rectangle 3"/>
          <p:cNvSpPr>
            <a:spLocks noGrp="1"/>
          </p:cNvSpPr>
          <p:nvPr>
            <p:ph idx="1"/>
          </p:nvPr>
        </p:nvSpPr>
        <p:spPr>
          <a:xfrm>
            <a:off x="428625" y="928688"/>
            <a:ext cx="8229600" cy="5357812"/>
          </a:xfrm>
          <a:ln/>
        </p:spPr>
        <p:txBody>
          <a:bodyPr vert="horz" wrap="square" lIns="91440" tIns="45720" rIns="91440" bIns="45720" anchor="t" anchorCtr="0"/>
          <a:p>
            <a:pPr algn="just" eaLnBrk="1" hangingPunct="1">
              <a:lnSpc>
                <a:spcPct val="200000"/>
              </a:lnSpc>
              <a:buNone/>
            </a:pPr>
            <a:r>
              <a:rPr lang="en-US" altLang="zh-CN" sz="2400" dirty="0"/>
              <a:t>(2)</a:t>
            </a:r>
            <a:r>
              <a:rPr lang="zh-CN" altLang="en-US" sz="2800" dirty="0">
                <a:solidFill>
                  <a:srgbClr val="FF0000"/>
                </a:solidFill>
              </a:rPr>
              <a:t>交叉并发方式</a:t>
            </a:r>
            <a:r>
              <a:rPr lang="zh-CN" altLang="en-US" sz="2800" dirty="0"/>
              <a:t>（</a:t>
            </a:r>
            <a:r>
              <a:rPr lang="en-US" altLang="zh-CN" sz="2800" dirty="0"/>
              <a:t>Interleaved Concurrency</a:t>
            </a:r>
            <a:r>
              <a:rPr lang="zh-CN" altLang="en-US" sz="2800" dirty="0"/>
              <a:t>）</a:t>
            </a:r>
            <a:endParaRPr lang="zh-CN" altLang="en-US" sz="2400" dirty="0"/>
          </a:p>
          <a:p>
            <a:pPr lvl="1" indent="-436245" algn="just" eaLnBrk="1" hangingPunct="1">
              <a:lnSpc>
                <a:spcPct val="200000"/>
              </a:lnSpc>
              <a:spcBef>
                <a:spcPct val="50000"/>
              </a:spcBef>
            </a:pPr>
            <a:r>
              <a:rPr lang="zh-CN" altLang="en-US" sz="2400" dirty="0"/>
              <a:t>在</a:t>
            </a:r>
            <a:r>
              <a:rPr lang="zh-CN" altLang="en-US" sz="2400" dirty="0">
                <a:solidFill>
                  <a:srgbClr val="0000FF"/>
                </a:solidFill>
              </a:rPr>
              <a:t>单处理机系统</a:t>
            </a:r>
            <a:r>
              <a:rPr lang="zh-CN" altLang="en-US" sz="2400" dirty="0"/>
              <a:t>中，事务的并行执行是这些并行事务的并行操作</a:t>
            </a:r>
            <a:r>
              <a:rPr lang="zh-CN" altLang="en-US" sz="2400" dirty="0">
                <a:solidFill>
                  <a:srgbClr val="FF0000"/>
                </a:solidFill>
              </a:rPr>
              <a:t>轮流交叉</a:t>
            </a:r>
            <a:r>
              <a:rPr lang="zh-CN" altLang="en-US" sz="2400" dirty="0"/>
              <a:t>运行</a:t>
            </a:r>
            <a:endParaRPr lang="zh-CN" altLang="en-US" sz="2400" dirty="0"/>
          </a:p>
          <a:p>
            <a:pPr lvl="1" indent="-436245" algn="just" eaLnBrk="1" hangingPunct="1">
              <a:lnSpc>
                <a:spcPct val="200000"/>
              </a:lnSpc>
              <a:spcBef>
                <a:spcPct val="50000"/>
              </a:spcBef>
            </a:pPr>
            <a:r>
              <a:rPr lang="zh-CN" altLang="en-US" sz="2400" dirty="0"/>
              <a:t>单处理机系统中的并行事务并</a:t>
            </a:r>
            <a:r>
              <a:rPr lang="zh-CN" altLang="en-US" sz="2400" dirty="0">
                <a:solidFill>
                  <a:srgbClr val="FF0000"/>
                </a:solidFill>
              </a:rPr>
              <a:t>没有真正地并行运行</a:t>
            </a:r>
            <a:r>
              <a:rPr lang="zh-CN" altLang="en-US" sz="2400" dirty="0"/>
              <a:t>，但能够减少处理机的空闲时间，提高系统的效率</a:t>
            </a:r>
            <a:endParaRPr lang="zh-CN" altLang="en-US" sz="2400" dirty="0"/>
          </a:p>
        </p:txBody>
      </p:sp>
    </p:spTree>
  </p:cSld>
  <p:clrMapOvr>
    <a:masterClrMapping/>
  </p:clrMapOvr>
  <p:transition advClick="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2"/>
          <p:cNvSpPr>
            <a:spLocks noGrp="1"/>
          </p:cNvSpPr>
          <p:nvPr>
            <p:ph type="title"/>
          </p:nvPr>
        </p:nvSpPr>
        <p:spPr>
          <a:ln/>
        </p:spPr>
        <p:txBody>
          <a:bodyPr vert="horz" wrap="square" lIns="91440" tIns="45720" rIns="91440" bIns="45720" anchor="b" anchorCtr="0"/>
          <a:p>
            <a:pPr eaLnBrk="1" hangingPunct="1"/>
            <a:r>
              <a:rPr lang="zh-CN" altLang="en-US" dirty="0"/>
              <a:t>问题的产生（续）</a:t>
            </a:r>
            <a:endParaRPr lang="zh-CN" altLang="en-US" dirty="0"/>
          </a:p>
        </p:txBody>
      </p:sp>
      <p:pic>
        <p:nvPicPr>
          <p:cNvPr id="11266" name="Picture 4"/>
          <p:cNvPicPr>
            <a:picLocks noChangeAspect="1"/>
          </p:cNvPicPr>
          <p:nvPr/>
        </p:nvPicPr>
        <p:blipFill>
          <a:blip r:embed="rId1"/>
          <a:stretch>
            <a:fillRect/>
          </a:stretch>
        </p:blipFill>
        <p:spPr>
          <a:xfrm>
            <a:off x="2411413" y="1700213"/>
            <a:ext cx="3517900" cy="4321175"/>
          </a:xfrm>
          <a:prstGeom prst="rect">
            <a:avLst/>
          </a:prstGeom>
          <a:noFill/>
          <a:ln w="9525">
            <a:noFill/>
          </a:ln>
        </p:spPr>
      </p:pic>
      <p:sp>
        <p:nvSpPr>
          <p:cNvPr id="11267" name="Text Box 5"/>
          <p:cNvSpPr txBox="1"/>
          <p:nvPr/>
        </p:nvSpPr>
        <p:spPr>
          <a:xfrm>
            <a:off x="2987675" y="6092825"/>
            <a:ext cx="2698750" cy="366713"/>
          </a:xfrm>
          <a:prstGeom prst="rect">
            <a:avLst/>
          </a:prstGeom>
          <a:noFill/>
          <a:ln w="25400">
            <a:noFill/>
          </a:ln>
        </p:spPr>
        <p:txBody>
          <a:bodyPr wrap="none" anchor="t" anchorCtr="0">
            <a:spAutoFit/>
          </a:bodyPr>
          <a:p>
            <a:pPr marL="342900" indent="-342900"/>
            <a:r>
              <a:rPr lang="zh-CN" altLang="en-US" dirty="0">
                <a:latin typeface="Verdana" panose="020B0604030504040204" pitchFamily="34" charset="0"/>
                <a:ea typeface="宋体" panose="02010600030101010101" pitchFamily="2" charset="-122"/>
              </a:rPr>
              <a:t>事务的交叉并发执行方式</a:t>
            </a:r>
            <a:endParaRPr lang="zh-CN" altLang="en-US"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2"/>
          <p:cNvSpPr>
            <a:spLocks noGrp="1"/>
          </p:cNvSpPr>
          <p:nvPr>
            <p:ph type="title"/>
          </p:nvPr>
        </p:nvSpPr>
        <p:spPr>
          <a:ln/>
        </p:spPr>
        <p:txBody>
          <a:bodyPr vert="horz" wrap="square" lIns="91440" tIns="45720" rIns="91440" bIns="45720" anchor="b" anchorCtr="0"/>
          <a:p>
            <a:pPr eaLnBrk="1" hangingPunct="1"/>
            <a:r>
              <a:rPr lang="zh-CN" altLang="en-US" dirty="0"/>
              <a:t>问题的产生（续）</a:t>
            </a:r>
            <a:endParaRPr lang="zh-CN" altLang="en-US" dirty="0"/>
          </a:p>
        </p:txBody>
      </p:sp>
      <p:sp>
        <p:nvSpPr>
          <p:cNvPr id="12290" name="Rectangle 3"/>
          <p:cNvSpPr>
            <a:spLocks noGrp="1"/>
          </p:cNvSpPr>
          <p:nvPr>
            <p:ph idx="1"/>
          </p:nvPr>
        </p:nvSpPr>
        <p:spPr>
          <a:ln/>
        </p:spPr>
        <p:txBody>
          <a:bodyPr vert="horz" wrap="square" lIns="91440" tIns="45720" rIns="91440" bIns="45720" anchor="t" anchorCtr="0"/>
          <a:p>
            <a:pPr algn="just" eaLnBrk="1" hangingPunct="1">
              <a:lnSpc>
                <a:spcPct val="150000"/>
              </a:lnSpc>
              <a:buNone/>
            </a:pPr>
            <a:r>
              <a:rPr lang="en-US" altLang="zh-CN" dirty="0"/>
              <a:t> (3)</a:t>
            </a:r>
            <a:r>
              <a:rPr lang="zh-CN" altLang="en-US" sz="2800" dirty="0"/>
              <a:t>同时并发方式</a:t>
            </a:r>
            <a:endParaRPr lang="en-US" altLang="zh-CN" sz="2800" dirty="0"/>
          </a:p>
          <a:p>
            <a:pPr algn="just" eaLnBrk="1" hangingPunct="1">
              <a:lnSpc>
                <a:spcPct val="150000"/>
              </a:lnSpc>
              <a:buNone/>
            </a:pPr>
            <a:r>
              <a:rPr lang="zh-CN" altLang="en-US" sz="2800" dirty="0"/>
              <a:t>（</a:t>
            </a:r>
            <a:r>
              <a:rPr lang="en-US" altLang="zh-CN" sz="2800" dirty="0"/>
              <a:t>simultaneous  concurrency</a:t>
            </a:r>
            <a:r>
              <a:rPr lang="zh-CN" altLang="en-US" sz="2800" dirty="0"/>
              <a:t>）</a:t>
            </a:r>
            <a:endParaRPr lang="zh-CN" altLang="en-US" sz="2800" dirty="0"/>
          </a:p>
          <a:p>
            <a:pPr lvl="1" indent="-436245" algn="just" eaLnBrk="1" hangingPunct="1">
              <a:lnSpc>
                <a:spcPct val="150000"/>
              </a:lnSpc>
              <a:spcBef>
                <a:spcPct val="50000"/>
              </a:spcBef>
            </a:pPr>
            <a:r>
              <a:rPr lang="zh-CN" altLang="en-US" sz="2600" dirty="0">
                <a:solidFill>
                  <a:srgbClr val="0000FF"/>
                </a:solidFill>
              </a:rPr>
              <a:t>多处理机系统</a:t>
            </a:r>
            <a:r>
              <a:rPr lang="zh-CN" altLang="en-US" sz="2600" dirty="0"/>
              <a:t>中，每个处理机可以运行一个事务，多个处理机可以同时运行多个事务，实现多个事务</a:t>
            </a:r>
            <a:r>
              <a:rPr lang="zh-CN" altLang="en-US" sz="2600" dirty="0">
                <a:solidFill>
                  <a:srgbClr val="FF0000"/>
                </a:solidFill>
              </a:rPr>
              <a:t>真正的并行运行</a:t>
            </a:r>
            <a:endParaRPr lang="zh-CN" altLang="en-US" sz="2600" dirty="0">
              <a:solidFill>
                <a:srgbClr val="FF0000"/>
              </a:solidFill>
            </a:endParaRPr>
          </a:p>
          <a:p>
            <a:pPr algn="just" eaLnBrk="1" hangingPunct="1">
              <a:lnSpc>
                <a:spcPct val="150000"/>
              </a:lnSpc>
              <a:spcBef>
                <a:spcPct val="50000"/>
              </a:spcBef>
              <a:buNone/>
            </a:pPr>
            <a:endParaRPr lang="zh-CN" altLang="en-US" sz="2600" dirty="0">
              <a:solidFill>
                <a:srgbClr val="FF0000"/>
              </a:solidFill>
            </a:endParaRPr>
          </a:p>
        </p:txBody>
      </p:sp>
    </p:spTree>
  </p:cSld>
  <p:clrMapOvr>
    <a:masterClrMapping/>
  </p:clrMapOvr>
  <p:transition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2"/>
          <p:cNvSpPr>
            <a:spLocks noGrp="1"/>
          </p:cNvSpPr>
          <p:nvPr>
            <p:ph type="title"/>
          </p:nvPr>
        </p:nvSpPr>
        <p:spPr>
          <a:ln/>
        </p:spPr>
        <p:txBody>
          <a:bodyPr vert="horz" wrap="square" lIns="91440" tIns="45720" rIns="91440" bIns="45720" anchor="b" anchorCtr="0"/>
          <a:p>
            <a:pPr eaLnBrk="1" hangingPunct="1"/>
            <a:r>
              <a:rPr lang="zh-CN" altLang="en-US" dirty="0"/>
              <a:t>问题的产生（续）</a:t>
            </a:r>
            <a:endParaRPr lang="zh-CN" altLang="en-US" dirty="0"/>
          </a:p>
        </p:txBody>
      </p:sp>
      <p:sp>
        <p:nvSpPr>
          <p:cNvPr id="13314" name="Rectangle 3"/>
          <p:cNvSpPr>
            <a:spLocks noGrp="1"/>
          </p:cNvSpPr>
          <p:nvPr>
            <p:ph idx="1"/>
          </p:nvPr>
        </p:nvSpPr>
        <p:spPr>
          <a:ln/>
        </p:spPr>
        <p:txBody>
          <a:bodyPr vert="horz" wrap="square" lIns="91440" tIns="45720" rIns="91440" bIns="45720" anchor="t" anchorCtr="0"/>
          <a:p>
            <a:pPr algn="just" eaLnBrk="1" hangingPunct="1">
              <a:lnSpc>
                <a:spcPct val="130000"/>
              </a:lnSpc>
            </a:pPr>
            <a:r>
              <a:rPr lang="zh-CN" altLang="en-US" dirty="0"/>
              <a:t>事务并发执行带来的问题</a:t>
            </a:r>
            <a:endParaRPr lang="zh-CN" altLang="en-US" dirty="0"/>
          </a:p>
          <a:p>
            <a:pPr lvl="1" indent="-436245" algn="just" eaLnBrk="1" hangingPunct="1">
              <a:lnSpc>
                <a:spcPct val="130000"/>
              </a:lnSpc>
            </a:pPr>
            <a:r>
              <a:rPr lang="zh-CN" altLang="en-US" sz="2600" dirty="0"/>
              <a:t>会产生多个事务</a:t>
            </a:r>
            <a:r>
              <a:rPr lang="zh-CN" altLang="en-US" sz="2600" dirty="0">
                <a:solidFill>
                  <a:srgbClr val="0000FF"/>
                </a:solidFill>
              </a:rPr>
              <a:t>同时存取同一数据</a:t>
            </a:r>
            <a:r>
              <a:rPr lang="zh-CN" altLang="en-US" sz="2600" dirty="0"/>
              <a:t>的情况 </a:t>
            </a:r>
            <a:endParaRPr lang="zh-CN" altLang="en-US" sz="2600" dirty="0"/>
          </a:p>
          <a:p>
            <a:pPr lvl="1" indent="-436245" algn="just" eaLnBrk="1" hangingPunct="1">
              <a:lnSpc>
                <a:spcPct val="130000"/>
              </a:lnSpc>
            </a:pPr>
            <a:r>
              <a:rPr lang="zh-CN" altLang="en-US" sz="2600" dirty="0"/>
              <a:t>可能会</a:t>
            </a:r>
            <a:r>
              <a:rPr lang="zh-CN" altLang="en-US" sz="2600" dirty="0">
                <a:solidFill>
                  <a:srgbClr val="0000FF"/>
                </a:solidFill>
              </a:rPr>
              <a:t>存取和存储不正确的数据</a:t>
            </a:r>
            <a:r>
              <a:rPr lang="zh-CN" altLang="en-US" sz="2600" dirty="0"/>
              <a:t>，破坏事务一致性和数据库的一致性</a:t>
            </a:r>
            <a:endParaRPr lang="zh-CN" altLang="en-US" sz="2600" dirty="0"/>
          </a:p>
          <a:p>
            <a:pPr algn="just" eaLnBrk="1" hangingPunct="1">
              <a:lnSpc>
                <a:spcPct val="130000"/>
              </a:lnSpc>
            </a:pPr>
            <a:endParaRPr lang="zh-CN" altLang="en-US" dirty="0"/>
          </a:p>
          <a:p>
            <a:pPr algn="just" eaLnBrk="1" hangingPunct="1">
              <a:lnSpc>
                <a:spcPct val="130000"/>
              </a:lnSpc>
            </a:pPr>
            <a:endParaRPr lang="en-US" altLang="zh-CN" dirty="0"/>
          </a:p>
        </p:txBody>
      </p:sp>
    </p:spTree>
  </p:cSld>
  <p:clrMapOvr>
    <a:masterClrMapping/>
  </p:clrMapOvr>
  <p:transition advClick="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2"/>
          <p:cNvSpPr>
            <a:spLocks noGrp="1"/>
          </p:cNvSpPr>
          <p:nvPr>
            <p:ph type="title"/>
          </p:nvPr>
        </p:nvSpPr>
        <p:spPr>
          <a:ln/>
        </p:spPr>
        <p:txBody>
          <a:bodyPr vert="horz" wrap="square" lIns="91440" tIns="45720" rIns="91440" bIns="45720" anchor="b" anchorCtr="0"/>
          <a:p>
            <a:pPr eaLnBrk="1" hangingPunct="1"/>
            <a:r>
              <a:rPr lang="en-US" altLang="zh-CN" dirty="0"/>
              <a:t>11.1  </a:t>
            </a:r>
            <a:r>
              <a:rPr lang="zh-CN" altLang="en-US" dirty="0"/>
              <a:t>并发控制概述</a:t>
            </a:r>
            <a:endParaRPr lang="zh-CN" altLang="en-US" dirty="0"/>
          </a:p>
        </p:txBody>
      </p:sp>
      <p:sp>
        <p:nvSpPr>
          <p:cNvPr id="14338" name="Rectangle 3"/>
          <p:cNvSpPr>
            <a:spLocks noGrp="1"/>
          </p:cNvSpPr>
          <p:nvPr>
            <p:ph idx="1"/>
          </p:nvPr>
        </p:nvSpPr>
        <p:spPr>
          <a:ln/>
        </p:spPr>
        <p:txBody>
          <a:bodyPr vert="horz" wrap="square" lIns="91440" tIns="45720" rIns="91440" bIns="45720" anchor="t" anchorCtr="0"/>
          <a:p>
            <a:pPr algn="just" eaLnBrk="1" hangingPunct="1">
              <a:lnSpc>
                <a:spcPct val="160000"/>
              </a:lnSpc>
            </a:pPr>
            <a:r>
              <a:rPr lang="zh-CN" altLang="en-US" dirty="0"/>
              <a:t>并发控制机制的</a:t>
            </a:r>
            <a:r>
              <a:rPr lang="zh-CN" altLang="en-US" b="1" dirty="0">
                <a:solidFill>
                  <a:srgbClr val="FF0000"/>
                </a:solidFill>
              </a:rPr>
              <a:t>任务</a:t>
            </a:r>
            <a:endParaRPr lang="zh-CN" altLang="en-US" dirty="0"/>
          </a:p>
          <a:p>
            <a:pPr lvl="1" indent="-436245" algn="just" eaLnBrk="1" hangingPunct="1">
              <a:lnSpc>
                <a:spcPct val="160000"/>
              </a:lnSpc>
            </a:pPr>
            <a:r>
              <a:rPr lang="zh-CN" altLang="en-US" dirty="0"/>
              <a:t>对</a:t>
            </a:r>
            <a:r>
              <a:rPr lang="zh-CN" altLang="en-US" b="1" dirty="0">
                <a:solidFill>
                  <a:srgbClr val="FF0000"/>
                </a:solidFill>
              </a:rPr>
              <a:t>并发操作</a:t>
            </a:r>
            <a:r>
              <a:rPr lang="zh-CN" altLang="en-US" dirty="0"/>
              <a:t>进行</a:t>
            </a:r>
            <a:r>
              <a:rPr lang="zh-CN" altLang="en-US" b="1" dirty="0">
                <a:solidFill>
                  <a:srgbClr val="FF0000"/>
                </a:solidFill>
              </a:rPr>
              <a:t>正确调度</a:t>
            </a:r>
            <a:endParaRPr lang="zh-CN" altLang="en-US" b="1" dirty="0">
              <a:solidFill>
                <a:srgbClr val="FF0000"/>
              </a:solidFill>
            </a:endParaRPr>
          </a:p>
          <a:p>
            <a:pPr lvl="1" indent="-436245" algn="just" eaLnBrk="1" hangingPunct="1">
              <a:lnSpc>
                <a:spcPct val="160000"/>
              </a:lnSpc>
            </a:pPr>
            <a:r>
              <a:rPr lang="zh-CN" altLang="en-US" b="1" dirty="0">
                <a:solidFill>
                  <a:srgbClr val="FF0000"/>
                </a:solidFill>
              </a:rPr>
              <a:t>事务</a:t>
            </a:r>
            <a:r>
              <a:rPr lang="zh-CN" altLang="en-US" dirty="0"/>
              <a:t>是并发控制的</a:t>
            </a:r>
            <a:r>
              <a:rPr lang="zh-CN" altLang="en-US" b="1" dirty="0">
                <a:solidFill>
                  <a:srgbClr val="FF0000"/>
                </a:solidFill>
              </a:rPr>
              <a:t>基本单位</a:t>
            </a:r>
            <a:endParaRPr lang="en-US" altLang="zh-CN" dirty="0">
              <a:solidFill>
                <a:srgbClr val="FF0000"/>
              </a:solidFill>
            </a:endParaRPr>
          </a:p>
          <a:p>
            <a:pPr lvl="1" indent="-436245" algn="just" eaLnBrk="1" hangingPunct="1">
              <a:lnSpc>
                <a:spcPct val="160000"/>
              </a:lnSpc>
            </a:pPr>
            <a:r>
              <a:rPr lang="zh-CN" altLang="en-US" dirty="0"/>
              <a:t>保证事务的</a:t>
            </a:r>
            <a:r>
              <a:rPr lang="zh-CN" altLang="en-US" b="1" dirty="0">
                <a:solidFill>
                  <a:srgbClr val="FF0000"/>
                </a:solidFill>
              </a:rPr>
              <a:t>隔离性</a:t>
            </a:r>
            <a:endParaRPr lang="zh-CN" altLang="en-US" b="1" dirty="0">
              <a:solidFill>
                <a:srgbClr val="FF0000"/>
              </a:solidFill>
            </a:endParaRPr>
          </a:p>
          <a:p>
            <a:pPr lvl="1" indent="-436245" algn="just" eaLnBrk="1" hangingPunct="1">
              <a:lnSpc>
                <a:spcPct val="160000"/>
              </a:lnSpc>
            </a:pPr>
            <a:r>
              <a:rPr lang="zh-CN" altLang="en-US" dirty="0"/>
              <a:t>保证数据库的</a:t>
            </a:r>
            <a:r>
              <a:rPr lang="zh-CN" altLang="en-US" b="1" dirty="0">
                <a:solidFill>
                  <a:srgbClr val="FF0000"/>
                </a:solidFill>
              </a:rPr>
              <a:t>一致性</a:t>
            </a:r>
            <a:endParaRPr lang="zh-CN" altLang="en-US" b="1" dirty="0">
              <a:solidFill>
                <a:srgbClr val="FF0000"/>
              </a:solidFill>
            </a:endParaRPr>
          </a:p>
          <a:p>
            <a:pPr algn="just" eaLnBrk="1" hangingPunct="1"/>
            <a:endParaRPr lang="en-US" altLang="zh-CN" dirty="0"/>
          </a:p>
        </p:txBody>
      </p:sp>
    </p:spTree>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2"/>
          <p:cNvSpPr>
            <a:spLocks noGrp="1"/>
          </p:cNvSpPr>
          <p:nvPr>
            <p:ph type="title"/>
          </p:nvPr>
        </p:nvSpPr>
        <p:spPr>
          <a:xfrm>
            <a:off x="571500" y="5643563"/>
            <a:ext cx="7772400" cy="500062"/>
          </a:xfrm>
          <a:ln/>
        </p:spPr>
        <p:txBody>
          <a:bodyPr vert="horz" wrap="square" lIns="91440" tIns="45720" rIns="91440" bIns="45720" anchor="b" anchorCtr="0"/>
          <a:p>
            <a:pPr eaLnBrk="1" hangingPunct="1"/>
            <a:r>
              <a:rPr lang="en-US" altLang="zh-CN" sz="2400" dirty="0">
                <a:solidFill>
                  <a:srgbClr val="FF0000"/>
                </a:solidFill>
              </a:rPr>
              <a:t>T1</a:t>
            </a:r>
            <a:r>
              <a:rPr lang="zh-CN" altLang="en-US" sz="2400" dirty="0">
                <a:solidFill>
                  <a:srgbClr val="FF0000"/>
                </a:solidFill>
              </a:rPr>
              <a:t>的修改被</a:t>
            </a:r>
            <a:r>
              <a:rPr lang="en-US" altLang="zh-CN" sz="2400" dirty="0">
                <a:solidFill>
                  <a:srgbClr val="FF0000"/>
                </a:solidFill>
              </a:rPr>
              <a:t>T2</a:t>
            </a:r>
            <a:r>
              <a:rPr lang="zh-CN" altLang="en-US" sz="2400" dirty="0">
                <a:solidFill>
                  <a:srgbClr val="FF0000"/>
                </a:solidFill>
              </a:rPr>
              <a:t>覆盖了！</a:t>
            </a:r>
            <a:endParaRPr lang="zh-CN" altLang="en-US" dirty="0">
              <a:solidFill>
                <a:srgbClr val="FF0000"/>
              </a:solidFill>
            </a:endParaRPr>
          </a:p>
        </p:txBody>
      </p:sp>
      <p:sp>
        <p:nvSpPr>
          <p:cNvPr id="15362" name="Rectangle 14"/>
          <p:cNvSpPr/>
          <p:nvPr/>
        </p:nvSpPr>
        <p:spPr>
          <a:xfrm>
            <a:off x="714375" y="285750"/>
            <a:ext cx="5486400" cy="647700"/>
          </a:xfrm>
          <a:prstGeom prst="rect">
            <a:avLst/>
          </a:prstGeom>
          <a:noFill/>
          <a:ln w="28575">
            <a:noFill/>
          </a:ln>
        </p:spPr>
        <p:txBody>
          <a:bodyPr lIns="90000" tIns="46800" rIns="90000" bIns="46800" anchor="ctr" anchorCtr="0">
            <a:spAutoFit/>
          </a:bodyPr>
          <a:p>
            <a:r>
              <a:rPr lang="zh-CN" altLang="en-US" sz="3600" dirty="0">
                <a:latin typeface="宋体" panose="02010600030101010101" pitchFamily="2" charset="-122"/>
                <a:ea typeface="宋体" panose="02010600030101010101" pitchFamily="2" charset="-122"/>
              </a:rPr>
              <a:t>并发控制概述（续）</a:t>
            </a:r>
            <a:endParaRPr lang="zh-CN" altLang="en-US" sz="3600" dirty="0">
              <a:latin typeface="宋体" panose="02010600030101010101" pitchFamily="2" charset="-122"/>
              <a:ea typeface="宋体" panose="02010600030101010101" pitchFamily="2" charset="-122"/>
            </a:endParaRPr>
          </a:p>
        </p:txBody>
      </p:sp>
      <p:sp>
        <p:nvSpPr>
          <p:cNvPr id="15363" name="Rectangle 16"/>
          <p:cNvSpPr>
            <a:spLocks noGrp="1"/>
          </p:cNvSpPr>
          <p:nvPr>
            <p:ph idx="1"/>
          </p:nvPr>
        </p:nvSpPr>
        <p:spPr>
          <a:xfrm>
            <a:off x="228600" y="990600"/>
            <a:ext cx="8291513" cy="5081588"/>
          </a:xfrm>
          <a:ln/>
        </p:spPr>
        <p:txBody>
          <a:bodyPr vert="horz" wrap="square" lIns="91440" tIns="45720" rIns="91440" bIns="45720" anchor="t" anchorCtr="0"/>
          <a:p>
            <a:pPr eaLnBrk="1" hangingPunct="1">
              <a:lnSpc>
                <a:spcPct val="150000"/>
              </a:lnSpc>
              <a:spcBef>
                <a:spcPct val="0"/>
              </a:spcBef>
              <a:buFontTx/>
              <a:buNone/>
            </a:pPr>
            <a:r>
              <a:rPr lang="zh-CN" altLang="en-US" sz="2400" b="1" dirty="0"/>
              <a:t>并发操作带来数据的不一致性实例</a:t>
            </a:r>
            <a:endParaRPr lang="zh-CN" altLang="en-US" sz="2400" b="1" dirty="0"/>
          </a:p>
          <a:p>
            <a:pPr eaLnBrk="1" hangingPunct="1">
              <a:lnSpc>
                <a:spcPct val="150000"/>
              </a:lnSpc>
              <a:spcBef>
                <a:spcPct val="0"/>
              </a:spcBef>
              <a:buFontTx/>
              <a:buNone/>
            </a:pPr>
            <a:r>
              <a:rPr lang="en-US" altLang="zh-CN" sz="2200" dirty="0"/>
              <a:t>[</a:t>
            </a:r>
            <a:r>
              <a:rPr lang="zh-CN" altLang="en-US" sz="2200" dirty="0"/>
              <a:t>例</a:t>
            </a:r>
            <a:r>
              <a:rPr lang="en-US" altLang="zh-CN" sz="2200" dirty="0"/>
              <a:t>1]</a:t>
            </a:r>
            <a:r>
              <a:rPr lang="zh-CN" altLang="en-US" sz="2200" dirty="0"/>
              <a:t>飞机订票系统中的一个活动序列 </a:t>
            </a:r>
            <a:endParaRPr lang="zh-CN" altLang="en-US" sz="2200" dirty="0"/>
          </a:p>
          <a:p>
            <a:pPr lvl="1" indent="-436245" eaLnBrk="1" hangingPunct="1">
              <a:lnSpc>
                <a:spcPct val="150000"/>
              </a:lnSpc>
              <a:buNone/>
            </a:pPr>
            <a:r>
              <a:rPr lang="zh-CN" altLang="en-US" sz="2000" dirty="0"/>
              <a:t>① 甲售票点</a:t>
            </a:r>
            <a:r>
              <a:rPr lang="en-US" altLang="zh-CN" sz="2000" dirty="0"/>
              <a:t>(</a:t>
            </a:r>
            <a:r>
              <a:rPr lang="zh-CN" altLang="en-US" sz="2000" dirty="0"/>
              <a:t>甲事务</a:t>
            </a:r>
            <a:r>
              <a:rPr lang="en-US" altLang="zh-CN" sz="2000" dirty="0"/>
              <a:t>)</a:t>
            </a:r>
            <a:r>
              <a:rPr lang="zh-CN" altLang="en-US" sz="2000" dirty="0"/>
              <a:t>读出某航班的机票余额</a:t>
            </a:r>
            <a:r>
              <a:rPr lang="en-US" altLang="zh-CN" sz="2000" dirty="0"/>
              <a:t>A</a:t>
            </a:r>
            <a:r>
              <a:rPr lang="zh-CN" altLang="en-US" sz="2000" dirty="0"/>
              <a:t>，设</a:t>
            </a:r>
            <a:r>
              <a:rPr lang="en-US" altLang="zh-CN" sz="2000" dirty="0"/>
              <a:t>A=16</a:t>
            </a:r>
            <a:r>
              <a:rPr lang="zh-CN" altLang="en-US" sz="2000" dirty="0"/>
              <a:t>；</a:t>
            </a:r>
            <a:endParaRPr lang="zh-CN" altLang="en-US" sz="2000" dirty="0"/>
          </a:p>
          <a:p>
            <a:pPr lvl="1" indent="-436245" eaLnBrk="1" hangingPunct="1">
              <a:lnSpc>
                <a:spcPct val="150000"/>
              </a:lnSpc>
              <a:buNone/>
            </a:pPr>
            <a:r>
              <a:rPr lang="zh-CN" altLang="en-US" sz="2000" dirty="0"/>
              <a:t>② 乙售票点</a:t>
            </a:r>
            <a:r>
              <a:rPr lang="en-US" altLang="zh-CN" sz="2000" dirty="0"/>
              <a:t>(</a:t>
            </a:r>
            <a:r>
              <a:rPr lang="zh-CN" altLang="en-US" sz="2000" dirty="0"/>
              <a:t>乙事务</a:t>
            </a:r>
            <a:r>
              <a:rPr lang="en-US" altLang="zh-CN" sz="2000" dirty="0"/>
              <a:t>)</a:t>
            </a:r>
            <a:r>
              <a:rPr lang="zh-CN" altLang="en-US" sz="2000" dirty="0"/>
              <a:t>读出同一航班的机票余额</a:t>
            </a:r>
            <a:r>
              <a:rPr lang="en-US" altLang="zh-CN" sz="2000" dirty="0"/>
              <a:t>A</a:t>
            </a:r>
            <a:r>
              <a:rPr lang="zh-CN" altLang="en-US" sz="2000" dirty="0"/>
              <a:t>，也为</a:t>
            </a:r>
            <a:r>
              <a:rPr lang="en-US" altLang="zh-CN" sz="2000" dirty="0"/>
              <a:t>16</a:t>
            </a:r>
            <a:r>
              <a:rPr lang="zh-CN" altLang="en-US" sz="2000" dirty="0"/>
              <a:t>；</a:t>
            </a:r>
            <a:endParaRPr lang="zh-CN" altLang="en-US" sz="2000" dirty="0"/>
          </a:p>
          <a:p>
            <a:pPr lvl="1" indent="-436245" eaLnBrk="1" hangingPunct="1">
              <a:lnSpc>
                <a:spcPct val="150000"/>
              </a:lnSpc>
              <a:buNone/>
            </a:pPr>
            <a:r>
              <a:rPr lang="zh-CN" altLang="en-US" sz="2000" dirty="0"/>
              <a:t>③ 甲售票点卖出一张机票，修改余额</a:t>
            </a:r>
            <a:r>
              <a:rPr lang="en-US" altLang="zh-CN" sz="2000" dirty="0"/>
              <a:t>A←A-1</a:t>
            </a:r>
            <a:r>
              <a:rPr lang="zh-CN" altLang="en-US" sz="2000" dirty="0"/>
              <a:t>，所以</a:t>
            </a:r>
            <a:r>
              <a:rPr lang="en-US" altLang="zh-CN" sz="2000" dirty="0"/>
              <a:t>A</a:t>
            </a:r>
            <a:r>
              <a:rPr lang="zh-CN" altLang="en-US" sz="2000" dirty="0"/>
              <a:t>为</a:t>
            </a:r>
            <a:r>
              <a:rPr lang="en-US" altLang="zh-CN" sz="2000" dirty="0"/>
              <a:t>15</a:t>
            </a:r>
            <a:r>
              <a:rPr lang="zh-CN" altLang="en-US" sz="2000" dirty="0"/>
              <a:t>，把</a:t>
            </a:r>
            <a:r>
              <a:rPr lang="en-US" altLang="zh-CN" sz="2000" dirty="0"/>
              <a:t>A</a:t>
            </a:r>
            <a:r>
              <a:rPr lang="zh-CN" altLang="en-US" sz="2000" dirty="0"/>
              <a:t>写回数据库；</a:t>
            </a:r>
            <a:endParaRPr lang="zh-CN" altLang="en-US" sz="2000" dirty="0"/>
          </a:p>
          <a:p>
            <a:pPr lvl="1" indent="-436245" eaLnBrk="1" hangingPunct="1">
              <a:lnSpc>
                <a:spcPct val="150000"/>
              </a:lnSpc>
              <a:buNone/>
            </a:pPr>
            <a:r>
              <a:rPr lang="zh-CN" altLang="en-US" sz="2000" dirty="0"/>
              <a:t>④ 乙售票点也卖出一张机票，修改余额</a:t>
            </a:r>
            <a:r>
              <a:rPr lang="en-US" altLang="zh-CN" sz="2000" dirty="0"/>
              <a:t>A←A-1</a:t>
            </a:r>
            <a:r>
              <a:rPr lang="zh-CN" altLang="en-US" sz="2000" dirty="0"/>
              <a:t>，所以</a:t>
            </a:r>
            <a:r>
              <a:rPr lang="en-US" altLang="zh-CN" sz="2000" dirty="0"/>
              <a:t>A</a:t>
            </a:r>
            <a:r>
              <a:rPr lang="zh-CN" altLang="en-US" sz="2000" dirty="0"/>
              <a:t>为</a:t>
            </a:r>
            <a:r>
              <a:rPr lang="en-US" altLang="zh-CN" sz="2000" dirty="0"/>
              <a:t>15</a:t>
            </a:r>
            <a:r>
              <a:rPr lang="zh-CN" altLang="en-US" sz="2000" dirty="0"/>
              <a:t>，把</a:t>
            </a:r>
            <a:r>
              <a:rPr lang="en-US" altLang="zh-CN" sz="2000" dirty="0"/>
              <a:t>A</a:t>
            </a:r>
            <a:r>
              <a:rPr lang="zh-CN" altLang="en-US" sz="2000" dirty="0"/>
              <a:t>写回数据库 </a:t>
            </a:r>
            <a:endParaRPr lang="zh-CN" altLang="en-US" sz="2000" dirty="0"/>
          </a:p>
          <a:p>
            <a:pPr lvl="1" indent="-436245" eaLnBrk="1" hangingPunct="1">
              <a:lnSpc>
                <a:spcPct val="150000"/>
              </a:lnSpc>
              <a:buFont typeface="Wingdings" panose="05000000000000000000" pitchFamily="2" charset="2"/>
              <a:buChar char="n"/>
            </a:pPr>
            <a:r>
              <a:rPr lang="zh-CN" altLang="en-US" sz="2000" dirty="0"/>
              <a:t>结果明明卖出两张机票，数据库中机票余额只减少</a:t>
            </a:r>
            <a:r>
              <a:rPr lang="en-US" altLang="zh-CN" sz="2000" dirty="0"/>
              <a:t>1 </a:t>
            </a:r>
            <a:endParaRPr lang="en-US" altLang="zh-CN" sz="2000" dirty="0"/>
          </a:p>
        </p:txBody>
      </p:sp>
    </p:spTree>
  </p:cSld>
  <p:clrMapOvr>
    <a:masterClrMapping/>
  </p:clrMapOvr>
  <p:transition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2"/>
          <p:cNvSpPr>
            <a:spLocks noGrp="1"/>
          </p:cNvSpPr>
          <p:nvPr>
            <p:ph type="title"/>
          </p:nvPr>
        </p:nvSpPr>
        <p:spPr>
          <a:ln/>
        </p:spPr>
        <p:txBody>
          <a:bodyPr vert="horz" wrap="square" lIns="91440" tIns="45720" rIns="91440" bIns="45720" anchor="b" anchorCtr="0"/>
          <a:p>
            <a:pPr eaLnBrk="1" hangingPunct="1"/>
            <a:r>
              <a:rPr lang="zh-CN" altLang="en-US" dirty="0"/>
              <a:t>并发控制概述（续）</a:t>
            </a:r>
            <a:endParaRPr lang="zh-CN" altLang="en-US" dirty="0"/>
          </a:p>
        </p:txBody>
      </p:sp>
      <p:sp>
        <p:nvSpPr>
          <p:cNvPr id="16386" name="Rectangle 3"/>
          <p:cNvSpPr>
            <a:spLocks noGrp="1"/>
          </p:cNvSpPr>
          <p:nvPr>
            <p:ph idx="1"/>
          </p:nvPr>
        </p:nvSpPr>
        <p:spPr>
          <a:ln/>
        </p:spPr>
        <p:txBody>
          <a:bodyPr vert="horz" wrap="square" lIns="91440" tIns="45720" rIns="91440" bIns="45720" anchor="t" anchorCtr="0"/>
          <a:p>
            <a:pPr eaLnBrk="1" hangingPunct="1">
              <a:lnSpc>
                <a:spcPct val="200000"/>
              </a:lnSpc>
            </a:pPr>
            <a:r>
              <a:rPr lang="zh-CN" altLang="en-US" sz="2400" dirty="0"/>
              <a:t>这种情况称为数据库的不一致性，是由并发操作引起的。</a:t>
            </a:r>
            <a:endParaRPr lang="zh-CN" altLang="en-US" sz="2400" dirty="0"/>
          </a:p>
          <a:p>
            <a:pPr eaLnBrk="1" hangingPunct="1">
              <a:lnSpc>
                <a:spcPct val="200000"/>
              </a:lnSpc>
            </a:pPr>
            <a:r>
              <a:rPr lang="zh-CN" altLang="en-US" sz="2400" dirty="0"/>
              <a:t>在并发操作情况下，对甲、乙两个事务的操作序列的调度是随机的。</a:t>
            </a:r>
            <a:endParaRPr lang="zh-CN" altLang="en-US" sz="2400" dirty="0"/>
          </a:p>
          <a:p>
            <a:pPr eaLnBrk="1" hangingPunct="1">
              <a:lnSpc>
                <a:spcPct val="200000"/>
              </a:lnSpc>
            </a:pPr>
            <a:r>
              <a:rPr lang="zh-CN" altLang="en-US" sz="2400" dirty="0"/>
              <a:t>若按上面的</a:t>
            </a:r>
            <a:r>
              <a:rPr lang="zh-CN" altLang="en-US" sz="2400" b="1" dirty="0">
                <a:solidFill>
                  <a:srgbClr val="FF0000"/>
                </a:solidFill>
              </a:rPr>
              <a:t>调度</a:t>
            </a:r>
            <a:r>
              <a:rPr lang="zh-CN" altLang="en-US" sz="2400" dirty="0"/>
              <a:t>序列执行，甲事务的</a:t>
            </a:r>
            <a:r>
              <a:rPr lang="zh-CN" altLang="en-US" sz="2400" dirty="0">
                <a:solidFill>
                  <a:srgbClr val="0000FF"/>
                </a:solidFill>
              </a:rPr>
              <a:t>修改就被丢失</a:t>
            </a:r>
            <a:r>
              <a:rPr lang="zh-CN" altLang="en-US" sz="2400" dirty="0"/>
              <a:t>。</a:t>
            </a:r>
            <a:endParaRPr lang="zh-CN" altLang="en-US" sz="2400" dirty="0"/>
          </a:p>
          <a:p>
            <a:pPr lvl="1" indent="-436245" eaLnBrk="1" hangingPunct="1">
              <a:lnSpc>
                <a:spcPct val="200000"/>
              </a:lnSpc>
            </a:pPr>
            <a:r>
              <a:rPr lang="zh-CN" altLang="en-US" sz="2400" dirty="0"/>
              <a:t>原因：第</a:t>
            </a:r>
            <a:r>
              <a:rPr lang="en-US" altLang="zh-CN" sz="2400" dirty="0"/>
              <a:t>4</a:t>
            </a:r>
            <a:r>
              <a:rPr lang="zh-CN" altLang="en-US" sz="2400" dirty="0"/>
              <a:t>步中乙事务修改</a:t>
            </a:r>
            <a:r>
              <a:rPr lang="en-US" altLang="zh-CN" sz="2400" dirty="0"/>
              <a:t>A</a:t>
            </a:r>
            <a:r>
              <a:rPr lang="zh-CN" altLang="en-US" sz="2400" dirty="0"/>
              <a:t>并写回后覆盖了甲事务的修改。</a:t>
            </a:r>
            <a:endParaRPr lang="zh-CN" altLang="en-US" sz="2400" dirty="0"/>
          </a:p>
        </p:txBody>
      </p:sp>
    </p:spTree>
  </p:cSld>
  <p:clrMapOvr>
    <a:masterClrMapping/>
  </p:clrMapOvr>
  <p:transition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2"/>
          <p:cNvSpPr>
            <a:spLocks noGrp="1"/>
          </p:cNvSpPr>
          <p:nvPr>
            <p:ph type="title"/>
          </p:nvPr>
        </p:nvSpPr>
        <p:spPr>
          <a:ln/>
        </p:spPr>
        <p:txBody>
          <a:bodyPr vert="horz" wrap="square" lIns="91440" tIns="45720" rIns="91440" bIns="45720" anchor="b" anchorCtr="0"/>
          <a:p>
            <a:pPr eaLnBrk="1" hangingPunct="1"/>
            <a:r>
              <a:rPr lang="zh-CN" altLang="en-US" dirty="0"/>
              <a:t>并发控制概述（续）</a:t>
            </a:r>
            <a:endParaRPr lang="zh-CN" altLang="en-US" dirty="0"/>
          </a:p>
        </p:txBody>
      </p:sp>
      <p:sp>
        <p:nvSpPr>
          <p:cNvPr id="18434" name="Rectangle 3"/>
          <p:cNvSpPr>
            <a:spLocks noGrp="1"/>
          </p:cNvSpPr>
          <p:nvPr>
            <p:ph idx="1"/>
          </p:nvPr>
        </p:nvSpPr>
        <p:spPr>
          <a:ln/>
        </p:spPr>
        <p:txBody>
          <a:bodyPr vert="horz" wrap="square" lIns="91440" tIns="45720" rIns="91440" bIns="45720" anchor="t" anchorCtr="0"/>
          <a:p>
            <a:pPr algn="just" eaLnBrk="1" hangingPunct="1">
              <a:lnSpc>
                <a:spcPct val="150000"/>
              </a:lnSpc>
            </a:pPr>
            <a:r>
              <a:rPr lang="zh-CN" altLang="en-US" sz="2600" dirty="0"/>
              <a:t>并发操作带来的数据不一致性包括：</a:t>
            </a:r>
            <a:endParaRPr lang="zh-CN" altLang="en-US" sz="2600" dirty="0"/>
          </a:p>
          <a:p>
            <a:pPr lvl="1" indent="-436245" algn="just" eaLnBrk="1" hangingPunct="1">
              <a:lnSpc>
                <a:spcPct val="150000"/>
              </a:lnSpc>
            </a:pPr>
            <a:r>
              <a:rPr lang="zh-CN" altLang="en-US" sz="2200" b="1" dirty="0">
                <a:solidFill>
                  <a:srgbClr val="0000FF"/>
                </a:solidFill>
              </a:rPr>
              <a:t>丢失修改</a:t>
            </a:r>
            <a:r>
              <a:rPr lang="zh-CN" altLang="en-US" sz="2200" dirty="0"/>
              <a:t>（</a:t>
            </a:r>
            <a:r>
              <a:rPr lang="en-US" altLang="zh-CN" sz="2200" dirty="0"/>
              <a:t>Lost Update</a:t>
            </a:r>
            <a:r>
              <a:rPr lang="zh-CN" altLang="en-US" sz="2200" dirty="0"/>
              <a:t>）</a:t>
            </a:r>
            <a:endParaRPr lang="zh-CN" altLang="en-US" sz="2200" dirty="0"/>
          </a:p>
          <a:p>
            <a:pPr lvl="1" indent="-436245" algn="just" eaLnBrk="1" hangingPunct="1">
              <a:lnSpc>
                <a:spcPct val="150000"/>
              </a:lnSpc>
            </a:pPr>
            <a:r>
              <a:rPr lang="zh-CN" altLang="en-US" sz="2200" b="1" dirty="0">
                <a:solidFill>
                  <a:srgbClr val="0000FF"/>
                </a:solidFill>
              </a:rPr>
              <a:t>不可重复读</a:t>
            </a:r>
            <a:r>
              <a:rPr lang="zh-CN" altLang="en-US" sz="2200" dirty="0"/>
              <a:t>（</a:t>
            </a:r>
            <a:r>
              <a:rPr lang="en-US" altLang="zh-CN" sz="2200" dirty="0"/>
              <a:t>Non-repeatable Read</a:t>
            </a:r>
            <a:r>
              <a:rPr lang="zh-CN" altLang="en-US" sz="2200" dirty="0"/>
              <a:t>）</a:t>
            </a:r>
            <a:endParaRPr lang="zh-CN" altLang="en-US" sz="2200" dirty="0"/>
          </a:p>
          <a:p>
            <a:pPr lvl="1" indent="-436245" algn="just" eaLnBrk="1" hangingPunct="1">
              <a:lnSpc>
                <a:spcPct val="150000"/>
              </a:lnSpc>
            </a:pPr>
            <a:r>
              <a:rPr lang="zh-CN" altLang="en-US" sz="2200" b="1" dirty="0">
                <a:solidFill>
                  <a:srgbClr val="0000FF"/>
                </a:solidFill>
              </a:rPr>
              <a:t>读“脏”数据</a:t>
            </a:r>
            <a:r>
              <a:rPr lang="zh-CN" altLang="en-US" sz="2200" dirty="0"/>
              <a:t>（</a:t>
            </a:r>
            <a:r>
              <a:rPr lang="en-US" altLang="zh-CN" sz="2200" dirty="0"/>
              <a:t>Dirty Read</a:t>
            </a:r>
            <a:r>
              <a:rPr lang="zh-CN" altLang="en-US" sz="2200" dirty="0"/>
              <a:t>）</a:t>
            </a:r>
            <a:endParaRPr lang="zh-CN" altLang="en-US" sz="2200" dirty="0"/>
          </a:p>
          <a:p>
            <a:pPr algn="just" eaLnBrk="1" hangingPunct="1">
              <a:lnSpc>
                <a:spcPct val="150000"/>
              </a:lnSpc>
            </a:pPr>
            <a:r>
              <a:rPr lang="zh-CN" altLang="en-US" sz="2600" dirty="0"/>
              <a:t>记号</a:t>
            </a:r>
            <a:endParaRPr lang="zh-CN" altLang="en-US" sz="2600" dirty="0"/>
          </a:p>
          <a:p>
            <a:pPr lvl="1" indent="-436245" algn="just" eaLnBrk="1" hangingPunct="1">
              <a:lnSpc>
                <a:spcPct val="150000"/>
              </a:lnSpc>
            </a:pPr>
            <a:r>
              <a:rPr lang="en-US" altLang="zh-CN" sz="2200" dirty="0"/>
              <a:t>R(x):</a:t>
            </a:r>
            <a:r>
              <a:rPr lang="zh-CN" altLang="en-US" sz="2200" dirty="0"/>
              <a:t>读数据</a:t>
            </a:r>
            <a:r>
              <a:rPr lang="en-US" altLang="zh-CN" sz="2200" dirty="0"/>
              <a:t>x</a:t>
            </a:r>
            <a:endParaRPr lang="en-US" altLang="zh-CN" sz="2200" dirty="0"/>
          </a:p>
          <a:p>
            <a:pPr lvl="1" indent="-436245" algn="just" eaLnBrk="1" hangingPunct="1">
              <a:lnSpc>
                <a:spcPct val="150000"/>
              </a:lnSpc>
            </a:pPr>
            <a:r>
              <a:rPr lang="en-US" altLang="zh-CN" sz="2200" dirty="0"/>
              <a:t>W(x):</a:t>
            </a:r>
            <a:r>
              <a:rPr lang="zh-CN" altLang="en-US" sz="2200" dirty="0"/>
              <a:t>写数据</a:t>
            </a:r>
            <a:r>
              <a:rPr lang="en-US" altLang="zh-CN" sz="2200" dirty="0"/>
              <a:t>x</a:t>
            </a:r>
            <a:r>
              <a:rPr lang="en-US" altLang="zh-CN" dirty="0"/>
              <a:t> </a:t>
            </a:r>
            <a:endParaRPr lang="en-US" altLang="zh-CN" dirty="0"/>
          </a:p>
        </p:txBody>
      </p:sp>
    </p:spTree>
  </p:cSld>
  <p:clrMapOvr>
    <a:masterClrMapping/>
  </p:clrMapOvr>
  <p:transition advClick="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a:spLocks noGrp="1"/>
          </p:cNvSpPr>
          <p:nvPr>
            <p:ph type="title"/>
          </p:nvPr>
        </p:nvSpPr>
        <p:spPr>
          <a:ln/>
        </p:spPr>
        <p:txBody>
          <a:bodyPr vert="horz" wrap="square" lIns="91440" tIns="45720" rIns="91440" bIns="45720" anchor="b" anchorCtr="0"/>
          <a:p>
            <a:pPr eaLnBrk="1" hangingPunct="1"/>
            <a:r>
              <a:rPr lang="en-US" altLang="zh-CN" dirty="0"/>
              <a:t>1. </a:t>
            </a:r>
            <a:r>
              <a:rPr lang="zh-CN" altLang="en-US" dirty="0"/>
              <a:t>丢失修改</a:t>
            </a:r>
            <a:endParaRPr lang="zh-CN" altLang="en-US" dirty="0"/>
          </a:p>
        </p:txBody>
      </p:sp>
      <p:sp>
        <p:nvSpPr>
          <p:cNvPr id="19458" name="Rectangle 3"/>
          <p:cNvSpPr>
            <a:spLocks noGrp="1"/>
          </p:cNvSpPr>
          <p:nvPr>
            <p:ph idx="1"/>
          </p:nvPr>
        </p:nvSpPr>
        <p:spPr>
          <a:ln/>
        </p:spPr>
        <p:txBody>
          <a:bodyPr vert="horz" wrap="square" lIns="91440" tIns="45720" rIns="91440" bIns="45720" anchor="t" anchorCtr="0"/>
          <a:p>
            <a:pPr algn="just" eaLnBrk="1" hangingPunct="1">
              <a:lnSpc>
                <a:spcPct val="130000"/>
              </a:lnSpc>
            </a:pPr>
            <a:r>
              <a:rPr lang="zh-CN" altLang="en-US" dirty="0"/>
              <a:t>两个事务</a:t>
            </a:r>
            <a:r>
              <a:rPr lang="en-US" altLang="zh-CN" dirty="0"/>
              <a:t>T</a:t>
            </a:r>
            <a:r>
              <a:rPr lang="en-US" altLang="zh-CN" baseline="-25000" dirty="0"/>
              <a:t>1</a:t>
            </a:r>
            <a:r>
              <a:rPr lang="zh-CN" altLang="en-US" dirty="0"/>
              <a:t>和</a:t>
            </a:r>
            <a:r>
              <a:rPr lang="en-US" altLang="zh-CN" dirty="0"/>
              <a:t>T</a:t>
            </a:r>
            <a:r>
              <a:rPr lang="en-US" altLang="zh-CN" baseline="-25000" dirty="0"/>
              <a:t>2</a:t>
            </a:r>
            <a:r>
              <a:rPr lang="zh-CN" altLang="en-US" dirty="0"/>
              <a:t>读入同一数据并修改，</a:t>
            </a:r>
            <a:r>
              <a:rPr lang="en-US" altLang="zh-CN" dirty="0"/>
              <a:t>T</a:t>
            </a:r>
            <a:r>
              <a:rPr lang="en-US" altLang="zh-CN" baseline="-25000" dirty="0"/>
              <a:t>2</a:t>
            </a:r>
            <a:r>
              <a:rPr lang="zh-CN" altLang="en-US" dirty="0"/>
              <a:t>的提交结果破坏了</a:t>
            </a:r>
            <a:r>
              <a:rPr lang="en-US" altLang="zh-CN" dirty="0"/>
              <a:t>T</a:t>
            </a:r>
            <a:r>
              <a:rPr lang="en-US" altLang="zh-CN" baseline="-25000" dirty="0"/>
              <a:t>1</a:t>
            </a:r>
            <a:r>
              <a:rPr lang="zh-CN" altLang="en-US" dirty="0"/>
              <a:t>提交的结果，导致</a:t>
            </a:r>
            <a:r>
              <a:rPr lang="en-US" altLang="zh-CN" dirty="0"/>
              <a:t>T</a:t>
            </a:r>
            <a:r>
              <a:rPr lang="en-US" altLang="zh-CN" baseline="-25000" dirty="0"/>
              <a:t>1</a:t>
            </a:r>
            <a:r>
              <a:rPr lang="zh-CN" altLang="en-US" dirty="0"/>
              <a:t>的修改被丢失。</a:t>
            </a:r>
            <a:endParaRPr lang="zh-CN" altLang="en-US" dirty="0"/>
          </a:p>
          <a:p>
            <a:pPr algn="just" eaLnBrk="1" hangingPunct="1">
              <a:lnSpc>
                <a:spcPct val="130000"/>
              </a:lnSpc>
            </a:pPr>
            <a:r>
              <a:rPr lang="zh-CN" altLang="en-US" dirty="0"/>
              <a:t>上面飞机订票例子就属此类 </a:t>
            </a:r>
            <a:endParaRPr lang="zh-CN" altLang="en-US" dirty="0"/>
          </a:p>
        </p:txBody>
      </p:sp>
    </p:spTree>
  </p:cSld>
  <p:clrMapOvr>
    <a:masterClrMapping/>
  </p:clrMapOvr>
  <p:transition advClick="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2"/>
          <p:cNvSpPr>
            <a:spLocks noGrp="1"/>
          </p:cNvSpPr>
          <p:nvPr>
            <p:ph type="title"/>
          </p:nvPr>
        </p:nvSpPr>
        <p:spPr>
          <a:xfrm>
            <a:off x="642938" y="428625"/>
            <a:ext cx="7391400" cy="563563"/>
          </a:xfrm>
          <a:ln/>
        </p:spPr>
        <p:txBody>
          <a:bodyPr vert="horz" wrap="square" lIns="91440" tIns="45720" rIns="91440" bIns="45720" anchor="b" anchorCtr="0"/>
          <a:p>
            <a:pPr eaLnBrk="1" hangingPunct="1"/>
            <a:r>
              <a:rPr lang="zh-CN" altLang="en-US" dirty="0"/>
              <a:t>丢失修改（续）</a:t>
            </a:r>
            <a:endParaRPr lang="zh-CN" altLang="en-US" dirty="0"/>
          </a:p>
        </p:txBody>
      </p:sp>
      <p:graphicFrame>
        <p:nvGraphicFramePr>
          <p:cNvPr id="472248" name="Group 184"/>
          <p:cNvGraphicFramePr>
            <a:graphicFrameLocks noGrp="1"/>
          </p:cNvGraphicFramePr>
          <p:nvPr>
            <p:ph idx="1"/>
          </p:nvPr>
        </p:nvGraphicFramePr>
        <p:xfrm>
          <a:off x="1143000" y="1214438"/>
          <a:ext cx="5473700" cy="4359275"/>
        </p:xfrm>
        <a:graphic>
          <a:graphicData uri="http://schemas.openxmlformats.org/drawingml/2006/table">
            <a:tbl>
              <a:tblPr/>
              <a:tblGrid>
                <a:gridCol w="2627313"/>
                <a:gridCol w="2846387"/>
              </a:tblGrid>
              <a:tr h="39629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20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20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98">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① R(A)=16</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629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6298">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②</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R(A)=16</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629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6298">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③ A←A-1</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6298">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W(A)=15W</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629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6298">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④</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A←A-1</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629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W(A)=15</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629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bl>
          </a:graphicData>
        </a:graphic>
      </p:graphicFrame>
      <p:sp>
        <p:nvSpPr>
          <p:cNvPr id="20520" name="Text Box 185"/>
          <p:cNvSpPr txBox="1"/>
          <p:nvPr/>
        </p:nvSpPr>
        <p:spPr>
          <a:xfrm>
            <a:off x="3071813" y="5786438"/>
            <a:ext cx="1098550" cy="366712"/>
          </a:xfrm>
          <a:prstGeom prst="rect">
            <a:avLst/>
          </a:prstGeom>
          <a:noFill/>
          <a:ln w="25400">
            <a:noFill/>
          </a:ln>
        </p:spPr>
        <p:txBody>
          <a:bodyPr wrap="none" anchor="t" anchorCtr="0">
            <a:spAutoFit/>
          </a:bodyPr>
          <a:p>
            <a:pPr marL="342900" indent="-342900"/>
            <a:r>
              <a:rPr lang="zh-CN" altLang="en-US" dirty="0">
                <a:latin typeface="Verdana" panose="020B0604030504040204" pitchFamily="34" charset="0"/>
                <a:ea typeface="宋体" panose="02010600030101010101" pitchFamily="2" charset="-122"/>
              </a:rPr>
              <a:t>丢失修改</a:t>
            </a:r>
            <a:endParaRPr lang="zh-CN" altLang="en-US"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2"/>
          <p:cNvSpPr>
            <a:spLocks noGrp="1"/>
          </p:cNvSpPr>
          <p:nvPr>
            <p:ph type="title"/>
          </p:nvPr>
        </p:nvSpPr>
        <p:spPr>
          <a:ln/>
        </p:spPr>
        <p:txBody>
          <a:bodyPr vert="horz" wrap="square" lIns="91440" tIns="45720" rIns="91440" bIns="45720" anchor="b" anchorCtr="0"/>
          <a:p>
            <a:pPr eaLnBrk="1" hangingPunct="1"/>
            <a:r>
              <a:rPr lang="en-US" altLang="zh-CN" dirty="0"/>
              <a:t>2. </a:t>
            </a:r>
            <a:r>
              <a:rPr lang="zh-CN" altLang="en-US" dirty="0"/>
              <a:t>不可重复读</a:t>
            </a:r>
            <a:endParaRPr lang="zh-CN" altLang="en-US" dirty="0"/>
          </a:p>
        </p:txBody>
      </p:sp>
      <p:sp>
        <p:nvSpPr>
          <p:cNvPr id="21506" name="Rectangle 3"/>
          <p:cNvSpPr>
            <a:spLocks noGrp="1"/>
          </p:cNvSpPr>
          <p:nvPr>
            <p:ph idx="1"/>
          </p:nvPr>
        </p:nvSpPr>
        <p:spPr>
          <a:ln/>
        </p:spPr>
        <p:txBody>
          <a:bodyPr vert="horz" wrap="square" lIns="91440" tIns="45720" rIns="91440" bIns="45720" anchor="t" anchorCtr="0"/>
          <a:p>
            <a:pPr algn="just" eaLnBrk="1" hangingPunct="1">
              <a:lnSpc>
                <a:spcPct val="130000"/>
              </a:lnSpc>
            </a:pPr>
            <a:r>
              <a:rPr lang="zh-CN" altLang="en-US" dirty="0"/>
              <a:t>不可重复读是指事务</a:t>
            </a:r>
            <a:r>
              <a:rPr lang="en-US" altLang="zh-CN" dirty="0"/>
              <a:t>T</a:t>
            </a:r>
            <a:r>
              <a:rPr lang="en-US" altLang="zh-CN" baseline="-25000" dirty="0"/>
              <a:t>1</a:t>
            </a:r>
            <a:r>
              <a:rPr lang="zh-CN" altLang="en-US" dirty="0"/>
              <a:t>读取数据后，事务</a:t>
            </a:r>
            <a:r>
              <a:rPr lang="en-US" altLang="zh-CN" dirty="0"/>
              <a:t>T</a:t>
            </a:r>
            <a:r>
              <a:rPr lang="en-US" altLang="zh-CN" baseline="-25000" dirty="0"/>
              <a:t>2</a:t>
            </a:r>
            <a:r>
              <a:rPr lang="zh-CN" altLang="en-US" dirty="0"/>
              <a:t>执行更新操作，使</a:t>
            </a:r>
            <a:r>
              <a:rPr lang="en-US" altLang="zh-CN" dirty="0"/>
              <a:t>T</a:t>
            </a:r>
            <a:r>
              <a:rPr lang="en-US" altLang="zh-CN" baseline="-25000" dirty="0"/>
              <a:t>1</a:t>
            </a:r>
            <a:r>
              <a:rPr lang="zh-CN" altLang="en-US" dirty="0"/>
              <a:t>无法再现前一次读取结果。</a:t>
            </a:r>
            <a:endParaRPr lang="zh-CN" altLang="en-US" dirty="0"/>
          </a:p>
        </p:txBody>
      </p:sp>
    </p:spTree>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2"/>
          <p:cNvSpPr>
            <a:spLocks noGrp="1"/>
          </p:cNvSpPr>
          <p:nvPr>
            <p:ph type="title"/>
          </p:nvPr>
        </p:nvSpPr>
        <p:spPr>
          <a:ln/>
        </p:spPr>
        <p:txBody>
          <a:bodyPr vert="horz" wrap="square" lIns="91440" tIns="45720" rIns="91440" bIns="45720" anchor="b" anchorCtr="0"/>
          <a:p>
            <a:pPr eaLnBrk="1" hangingPunct="1"/>
            <a:r>
              <a:rPr lang="zh-CN" altLang="en-US" dirty="0"/>
              <a:t>不可重复读（续）</a:t>
            </a:r>
            <a:endParaRPr lang="zh-CN" altLang="en-US" dirty="0"/>
          </a:p>
        </p:txBody>
      </p:sp>
      <p:sp>
        <p:nvSpPr>
          <p:cNvPr id="22530" name="Rectangle 3"/>
          <p:cNvSpPr>
            <a:spLocks noGrp="1"/>
          </p:cNvSpPr>
          <p:nvPr>
            <p:ph idx="1"/>
          </p:nvPr>
        </p:nvSpPr>
        <p:spPr>
          <a:xfrm>
            <a:off x="539750" y="1125538"/>
            <a:ext cx="8135938" cy="4114800"/>
          </a:xfrm>
          <a:ln/>
        </p:spPr>
        <p:txBody>
          <a:bodyPr vert="horz" wrap="square" lIns="91440" tIns="45720" rIns="91440" bIns="45720" anchor="t" anchorCtr="0"/>
          <a:p>
            <a:pPr eaLnBrk="1" hangingPunct="1">
              <a:lnSpc>
                <a:spcPct val="150000"/>
              </a:lnSpc>
            </a:pPr>
            <a:r>
              <a:rPr lang="zh-CN" altLang="en-US" dirty="0"/>
              <a:t>不可重复读包括三种情况：</a:t>
            </a:r>
            <a:endParaRPr lang="zh-CN" altLang="en-US" dirty="0"/>
          </a:p>
          <a:p>
            <a:pPr eaLnBrk="1" hangingPunct="1">
              <a:lnSpc>
                <a:spcPct val="150000"/>
              </a:lnSpc>
              <a:buNone/>
            </a:pPr>
            <a:r>
              <a:rPr lang="en-US" altLang="zh-CN" dirty="0"/>
              <a:t>(1)</a:t>
            </a:r>
            <a:r>
              <a:rPr lang="zh-CN" altLang="en-US" dirty="0"/>
              <a:t>事务</a:t>
            </a:r>
            <a:r>
              <a:rPr lang="en-US" altLang="zh-CN" dirty="0"/>
              <a:t>T</a:t>
            </a:r>
            <a:r>
              <a:rPr lang="en-US" altLang="zh-CN" baseline="-25000" dirty="0"/>
              <a:t>1</a:t>
            </a:r>
            <a:r>
              <a:rPr lang="zh-CN" altLang="en-US" dirty="0"/>
              <a:t>读取某一数据后，事务</a:t>
            </a:r>
            <a:r>
              <a:rPr lang="en-US" altLang="zh-CN" dirty="0"/>
              <a:t>T</a:t>
            </a:r>
            <a:r>
              <a:rPr lang="en-US" altLang="zh-CN" baseline="-25000" dirty="0"/>
              <a:t>2</a:t>
            </a:r>
            <a:r>
              <a:rPr lang="zh-CN" altLang="en-US" dirty="0"/>
              <a:t>对其做了</a:t>
            </a:r>
            <a:r>
              <a:rPr lang="zh-CN" altLang="en-US" b="1" dirty="0">
                <a:solidFill>
                  <a:srgbClr val="FF0000"/>
                </a:solidFill>
              </a:rPr>
              <a:t>修改</a:t>
            </a:r>
            <a:r>
              <a:rPr lang="zh-CN" altLang="en-US" dirty="0"/>
              <a:t>，当事务</a:t>
            </a:r>
            <a:r>
              <a:rPr lang="en-US" altLang="zh-CN" dirty="0"/>
              <a:t>T</a:t>
            </a:r>
            <a:r>
              <a:rPr lang="en-US" altLang="zh-CN" baseline="-25000" dirty="0"/>
              <a:t>1</a:t>
            </a:r>
            <a:r>
              <a:rPr lang="zh-CN" altLang="en-US" dirty="0"/>
              <a:t>再次读该数据时，得到与前一次不同的值 </a:t>
            </a:r>
            <a:endParaRPr lang="zh-CN" altLang="en-US" dirty="0"/>
          </a:p>
        </p:txBody>
      </p:sp>
    </p:spTree>
  </p:cSld>
  <p:clrMapOvr>
    <a:masterClrMapping/>
  </p:clrMapOvr>
  <p:transition advClick="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a:spLocks noGrp="1"/>
          </p:cNvSpPr>
          <p:nvPr>
            <p:ph type="title"/>
          </p:nvPr>
        </p:nvSpPr>
        <p:spPr>
          <a:xfrm>
            <a:off x="571500" y="500063"/>
            <a:ext cx="7391400" cy="563562"/>
          </a:xfrm>
          <a:ln/>
        </p:spPr>
        <p:txBody>
          <a:bodyPr vert="horz" wrap="square" lIns="91440" tIns="45720" rIns="91440" bIns="45720" anchor="b" anchorCtr="0"/>
          <a:p>
            <a:pPr eaLnBrk="1" hangingPunct="1"/>
            <a:r>
              <a:rPr lang="zh-CN" altLang="en-US" dirty="0"/>
              <a:t>不可重复读（续）</a:t>
            </a:r>
            <a:endParaRPr lang="zh-CN" altLang="en-US" dirty="0"/>
          </a:p>
        </p:txBody>
      </p:sp>
      <p:sp>
        <p:nvSpPr>
          <p:cNvPr id="23554" name="Rectangle 3"/>
          <p:cNvSpPr>
            <a:spLocks noGrp="1"/>
          </p:cNvSpPr>
          <p:nvPr>
            <p:ph type="body" sz="half" idx="1"/>
          </p:nvPr>
        </p:nvSpPr>
        <p:spPr>
          <a:xfrm>
            <a:off x="4857750" y="1643063"/>
            <a:ext cx="4038600" cy="4495800"/>
          </a:xfrm>
          <a:ln/>
        </p:spPr>
        <p:txBody>
          <a:bodyPr vert="horz" wrap="square" lIns="91440" tIns="45720" rIns="91440" bIns="45720" anchor="t" anchorCtr="0"/>
          <a:p>
            <a:pPr eaLnBrk="1" hangingPunct="1">
              <a:lnSpc>
                <a:spcPct val="140000"/>
              </a:lnSpc>
              <a:buClr>
                <a:schemeClr val="accent2"/>
              </a:buClr>
              <a:buSzTx/>
              <a:buFont typeface="Wingdings" panose="05000000000000000000" pitchFamily="2" charset="2"/>
            </a:pPr>
            <a:r>
              <a:rPr lang="en-US" altLang="zh-CN" sz="2200" dirty="0"/>
              <a:t>T1</a:t>
            </a:r>
            <a:r>
              <a:rPr lang="zh-CN" altLang="en-US" sz="2200" dirty="0"/>
              <a:t>读取</a:t>
            </a:r>
            <a:r>
              <a:rPr lang="en-US" altLang="zh-CN" sz="2200" dirty="0"/>
              <a:t>B=100</a:t>
            </a:r>
            <a:r>
              <a:rPr lang="zh-CN" altLang="en-US" sz="2200" dirty="0"/>
              <a:t>进行运算</a:t>
            </a:r>
            <a:endParaRPr lang="zh-CN" altLang="en-US" sz="2200" dirty="0"/>
          </a:p>
          <a:p>
            <a:pPr eaLnBrk="1" hangingPunct="1">
              <a:lnSpc>
                <a:spcPct val="140000"/>
              </a:lnSpc>
              <a:buClr>
                <a:schemeClr val="accent2"/>
              </a:buClr>
              <a:buSzTx/>
              <a:buFont typeface="Wingdings" panose="05000000000000000000" pitchFamily="2" charset="2"/>
            </a:pPr>
            <a:r>
              <a:rPr lang="en-US" altLang="zh-CN" sz="2200" dirty="0"/>
              <a:t>T2</a:t>
            </a:r>
            <a:r>
              <a:rPr lang="zh-CN" altLang="en-US" sz="2200" dirty="0"/>
              <a:t>读取同一数据</a:t>
            </a:r>
            <a:r>
              <a:rPr lang="en-US" altLang="zh-CN" sz="2200" dirty="0"/>
              <a:t>B</a:t>
            </a:r>
            <a:r>
              <a:rPr lang="zh-CN" altLang="en-US" sz="2200" dirty="0"/>
              <a:t>，对其进行修改后将</a:t>
            </a:r>
            <a:r>
              <a:rPr lang="en-US" altLang="zh-CN" sz="2200" dirty="0"/>
              <a:t>B=200</a:t>
            </a:r>
            <a:r>
              <a:rPr lang="zh-CN" altLang="en-US" sz="2200" dirty="0"/>
              <a:t>写回数据库。</a:t>
            </a:r>
            <a:endParaRPr lang="zh-CN" altLang="en-US" sz="2200" dirty="0"/>
          </a:p>
          <a:p>
            <a:pPr eaLnBrk="1" hangingPunct="1">
              <a:lnSpc>
                <a:spcPct val="140000"/>
              </a:lnSpc>
              <a:buClr>
                <a:schemeClr val="accent2"/>
              </a:buClr>
              <a:buSzTx/>
              <a:buFont typeface="Wingdings" panose="05000000000000000000" pitchFamily="2" charset="2"/>
            </a:pPr>
            <a:r>
              <a:rPr lang="en-US" altLang="zh-CN" sz="2200" dirty="0"/>
              <a:t>T1</a:t>
            </a:r>
            <a:r>
              <a:rPr lang="zh-CN" altLang="en-US" sz="2200" dirty="0"/>
              <a:t>为了对读取值校对重读</a:t>
            </a:r>
            <a:r>
              <a:rPr lang="en-US" altLang="zh-CN" sz="2200" dirty="0"/>
              <a:t>B</a:t>
            </a:r>
            <a:r>
              <a:rPr lang="zh-CN" altLang="en-US" sz="2200" dirty="0"/>
              <a:t>，</a:t>
            </a:r>
            <a:r>
              <a:rPr lang="en-US" altLang="zh-CN" sz="2200" dirty="0"/>
              <a:t>B</a:t>
            </a:r>
            <a:r>
              <a:rPr lang="zh-CN" altLang="en-US" sz="2200" dirty="0"/>
              <a:t>已为</a:t>
            </a:r>
            <a:r>
              <a:rPr lang="en-US" altLang="zh-CN" sz="2200" dirty="0"/>
              <a:t>200</a:t>
            </a:r>
            <a:r>
              <a:rPr lang="zh-CN" altLang="en-US" sz="2200" dirty="0"/>
              <a:t>，与第一次读取值不一致 </a:t>
            </a:r>
            <a:endParaRPr lang="zh-CN" altLang="en-US" sz="2200" dirty="0"/>
          </a:p>
        </p:txBody>
      </p:sp>
      <p:graphicFrame>
        <p:nvGraphicFramePr>
          <p:cNvPr id="474292" name="Group 180"/>
          <p:cNvGraphicFramePr>
            <a:graphicFrameLocks noGrp="1"/>
          </p:cNvGraphicFramePr>
          <p:nvPr>
            <p:ph sz="half" idx="1"/>
          </p:nvPr>
        </p:nvGraphicFramePr>
        <p:xfrm>
          <a:off x="500063" y="1714500"/>
          <a:ext cx="3967163" cy="4359275"/>
        </p:xfrm>
        <a:graphic>
          <a:graphicData uri="http://schemas.openxmlformats.org/drawingml/2006/table">
            <a:tbl>
              <a:tblPr/>
              <a:tblGrid>
                <a:gridCol w="1984375"/>
                <a:gridCol w="1982787"/>
              </a:tblGrid>
              <a:tr h="39629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20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20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98">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① R(A)=50</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629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R(B)=100</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629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求和</a:t>
                      </a:r>
                      <a:r>
                        <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=150</a:t>
                      </a:r>
                      <a:endPar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6298">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②</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R(B)=100</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629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B←B*2</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629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(B)=200</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6298">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③ R(A)=50</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629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R(B)=200</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629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a:t>
                      </a: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=250</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629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验算不对</a:t>
                      </a: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7" marB="45727"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bl>
          </a:graphicData>
        </a:graphic>
      </p:graphicFrame>
      <p:sp>
        <p:nvSpPr>
          <p:cNvPr id="23593" name="Text Box 177"/>
          <p:cNvSpPr txBox="1"/>
          <p:nvPr/>
        </p:nvSpPr>
        <p:spPr>
          <a:xfrm>
            <a:off x="1857375" y="6215063"/>
            <a:ext cx="1384300" cy="366712"/>
          </a:xfrm>
          <a:prstGeom prst="rect">
            <a:avLst/>
          </a:prstGeom>
          <a:noFill/>
          <a:ln w="25400">
            <a:noFill/>
          </a:ln>
        </p:spPr>
        <p:txBody>
          <a:bodyPr wrap="none" anchor="t" anchorCtr="0">
            <a:spAutoFit/>
          </a:bodyPr>
          <a:p>
            <a:pPr marL="342900" indent="-342900"/>
            <a:r>
              <a:rPr lang="zh-CN" altLang="en-US" dirty="0">
                <a:latin typeface="Verdana" panose="020B0604030504040204" pitchFamily="34" charset="0"/>
                <a:ea typeface="宋体" panose="02010600030101010101" pitchFamily="2" charset="-122"/>
              </a:rPr>
              <a:t>不可重复读 </a:t>
            </a:r>
            <a:endParaRPr lang="zh-CN" altLang="en-US" dirty="0">
              <a:latin typeface="Verdana" panose="020B0604030504040204" pitchFamily="34" charset="0"/>
              <a:ea typeface="宋体" panose="02010600030101010101" pitchFamily="2" charset="-122"/>
            </a:endParaRPr>
          </a:p>
        </p:txBody>
      </p:sp>
      <p:sp>
        <p:nvSpPr>
          <p:cNvPr id="23594" name="Rectangle 178"/>
          <p:cNvSpPr/>
          <p:nvPr/>
        </p:nvSpPr>
        <p:spPr>
          <a:xfrm>
            <a:off x="571500" y="1143000"/>
            <a:ext cx="1174750" cy="488950"/>
          </a:xfrm>
          <a:prstGeom prst="rect">
            <a:avLst/>
          </a:prstGeom>
          <a:noFill/>
          <a:ln w="25400">
            <a:noFill/>
          </a:ln>
        </p:spPr>
        <p:txBody>
          <a:bodyPr wrap="none" anchor="t" anchorCtr="0">
            <a:spAutoFit/>
          </a:bodyPr>
          <a:p>
            <a:pPr marL="342900" indent="-342900">
              <a:spcBef>
                <a:spcPct val="20000"/>
              </a:spcBef>
              <a:buClr>
                <a:schemeClr val="hlink"/>
              </a:buClr>
              <a:buFont typeface="Wingdings" panose="05000000000000000000" pitchFamily="2" charset="2"/>
            </a:pPr>
            <a:r>
              <a:rPr lang="zh-CN" altLang="en-US" sz="2600" dirty="0">
                <a:latin typeface="Verdana" panose="020B0604030504040204" pitchFamily="34" charset="0"/>
                <a:ea typeface="宋体" panose="02010600030101010101" pitchFamily="2" charset="-122"/>
              </a:rPr>
              <a:t>例如：</a:t>
            </a:r>
            <a:endParaRPr lang="zh-CN" altLang="en-US" sz="2600"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2"/>
          <p:cNvSpPr>
            <a:spLocks noGrp="1"/>
          </p:cNvSpPr>
          <p:nvPr>
            <p:ph type="title"/>
          </p:nvPr>
        </p:nvSpPr>
        <p:spPr>
          <a:ln/>
        </p:spPr>
        <p:txBody>
          <a:bodyPr vert="horz" wrap="square" lIns="91440" tIns="45720" rIns="91440" bIns="45720" anchor="b" anchorCtr="0"/>
          <a:p>
            <a:pPr eaLnBrk="1" hangingPunct="1"/>
            <a:r>
              <a:rPr lang="zh-CN" altLang="en-US" dirty="0"/>
              <a:t>不可重复读（续）</a:t>
            </a:r>
            <a:endParaRPr lang="zh-CN" altLang="en-US" dirty="0"/>
          </a:p>
        </p:txBody>
      </p:sp>
      <p:sp>
        <p:nvSpPr>
          <p:cNvPr id="24578" name="Rectangle 3"/>
          <p:cNvSpPr>
            <a:spLocks noGrp="1"/>
          </p:cNvSpPr>
          <p:nvPr>
            <p:ph idx="1"/>
          </p:nvPr>
        </p:nvSpPr>
        <p:spPr>
          <a:xfrm>
            <a:off x="428625" y="1357313"/>
            <a:ext cx="8362950" cy="4479925"/>
          </a:xfrm>
          <a:ln/>
        </p:spPr>
        <p:txBody>
          <a:bodyPr vert="horz" wrap="square" lIns="91440" tIns="45720" rIns="91440" bIns="45720" anchor="t" anchorCtr="0"/>
          <a:p>
            <a:pPr eaLnBrk="1" hangingPunct="1">
              <a:lnSpc>
                <a:spcPct val="140000"/>
              </a:lnSpc>
              <a:spcBef>
                <a:spcPct val="60000"/>
              </a:spcBef>
              <a:buNone/>
            </a:pPr>
            <a:r>
              <a:rPr lang="en-US" altLang="zh-CN" sz="2400" dirty="0"/>
              <a:t>(2)</a:t>
            </a:r>
            <a:r>
              <a:rPr lang="zh-CN" altLang="en-US" sz="2400" dirty="0"/>
              <a:t>事务</a:t>
            </a:r>
            <a:r>
              <a:rPr lang="en-US" altLang="zh-CN" sz="2400" dirty="0"/>
              <a:t>T1</a:t>
            </a:r>
            <a:r>
              <a:rPr lang="zh-CN" altLang="en-US" sz="2400" dirty="0"/>
              <a:t>按一定条件从数据库中读取了某些数据记录后，事务</a:t>
            </a:r>
            <a:r>
              <a:rPr lang="en-US" altLang="zh-CN" sz="2400" dirty="0"/>
              <a:t>T2</a:t>
            </a:r>
            <a:r>
              <a:rPr lang="zh-CN" altLang="en-US" sz="2400" b="1" dirty="0">
                <a:solidFill>
                  <a:srgbClr val="FF0000"/>
                </a:solidFill>
              </a:rPr>
              <a:t>删除</a:t>
            </a:r>
            <a:r>
              <a:rPr lang="zh-CN" altLang="en-US" sz="2400" dirty="0"/>
              <a:t>了其中部分记录，当</a:t>
            </a:r>
            <a:r>
              <a:rPr lang="en-US" altLang="zh-CN" sz="2400" dirty="0"/>
              <a:t>T1</a:t>
            </a:r>
            <a:r>
              <a:rPr lang="zh-CN" altLang="en-US" sz="2400" dirty="0"/>
              <a:t>再次按相同条件读取数据时，发现某些记录消失了 </a:t>
            </a:r>
            <a:endParaRPr lang="zh-CN" altLang="en-US" sz="2400" dirty="0"/>
          </a:p>
          <a:p>
            <a:pPr eaLnBrk="1" hangingPunct="1">
              <a:lnSpc>
                <a:spcPct val="140000"/>
              </a:lnSpc>
              <a:buNone/>
            </a:pPr>
            <a:r>
              <a:rPr lang="en-US" altLang="zh-CN" sz="2400" dirty="0"/>
              <a:t>(3)</a:t>
            </a:r>
            <a:r>
              <a:rPr lang="zh-CN" altLang="en-US" sz="2400" dirty="0"/>
              <a:t>事务</a:t>
            </a:r>
            <a:r>
              <a:rPr lang="en-US" altLang="zh-CN" sz="2400" dirty="0"/>
              <a:t>T1</a:t>
            </a:r>
            <a:r>
              <a:rPr lang="zh-CN" altLang="en-US" sz="2400" dirty="0"/>
              <a:t>按一定条件从数据库中读取某些数据记录后，事务</a:t>
            </a:r>
            <a:r>
              <a:rPr lang="en-US" altLang="zh-CN" sz="2400" dirty="0"/>
              <a:t>T2</a:t>
            </a:r>
            <a:r>
              <a:rPr lang="zh-CN" altLang="en-US" sz="2400" b="1" dirty="0">
                <a:solidFill>
                  <a:srgbClr val="FF0000"/>
                </a:solidFill>
              </a:rPr>
              <a:t>插入</a:t>
            </a:r>
            <a:r>
              <a:rPr lang="zh-CN" altLang="en-US" sz="2400" dirty="0"/>
              <a:t>了一些记录，当</a:t>
            </a:r>
            <a:r>
              <a:rPr lang="en-US" altLang="zh-CN" sz="2400" dirty="0"/>
              <a:t>T1</a:t>
            </a:r>
            <a:r>
              <a:rPr lang="zh-CN" altLang="en-US" sz="2400" dirty="0"/>
              <a:t>再次按相同条件读取数据时，发现多了一些记录。</a:t>
            </a:r>
            <a:endParaRPr lang="zh-CN" altLang="en-US" sz="2400" dirty="0"/>
          </a:p>
          <a:p>
            <a:pPr eaLnBrk="1" hangingPunct="1">
              <a:lnSpc>
                <a:spcPct val="140000"/>
              </a:lnSpc>
              <a:buNone/>
            </a:pPr>
            <a:r>
              <a:rPr lang="zh-CN" altLang="en-US" sz="2400" dirty="0"/>
              <a:t>     后两种不可重复读有时也称为</a:t>
            </a:r>
            <a:r>
              <a:rPr lang="zh-CN" altLang="en-US" sz="2400" b="1" dirty="0">
                <a:solidFill>
                  <a:srgbClr val="FF0000"/>
                </a:solidFill>
              </a:rPr>
              <a:t>幻影现象</a:t>
            </a:r>
            <a:r>
              <a:rPr lang="zh-CN" altLang="en-US" sz="2400" dirty="0"/>
              <a:t>（</a:t>
            </a:r>
            <a:r>
              <a:rPr lang="en-US" altLang="zh-CN" sz="2400" dirty="0"/>
              <a:t>Phantom Row</a:t>
            </a:r>
            <a:r>
              <a:rPr lang="zh-CN" altLang="en-US" sz="2400" dirty="0"/>
              <a:t>）</a:t>
            </a:r>
            <a:endParaRPr lang="zh-CN" altLang="en-US" sz="2400" dirty="0"/>
          </a:p>
          <a:p>
            <a:pPr eaLnBrk="1" hangingPunct="1"/>
            <a:endParaRPr lang="en-US" altLang="zh-CN" dirty="0"/>
          </a:p>
        </p:txBody>
      </p:sp>
    </p:spTree>
  </p:cSld>
  <p:clrMapOvr>
    <a:masterClrMapping/>
  </p:clrMapOvr>
  <p:transition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2"/>
          <p:cNvSpPr>
            <a:spLocks noGrp="1"/>
          </p:cNvSpPr>
          <p:nvPr>
            <p:ph type="title"/>
          </p:nvPr>
        </p:nvSpPr>
        <p:spPr>
          <a:ln/>
        </p:spPr>
        <p:txBody>
          <a:bodyPr vert="horz" wrap="square" lIns="91440" tIns="45720" rIns="91440" bIns="45720" anchor="b" anchorCtr="0"/>
          <a:p>
            <a:pPr eaLnBrk="1" hangingPunct="1"/>
            <a:r>
              <a:rPr lang="en-US" altLang="zh-CN" dirty="0"/>
              <a:t>3. </a:t>
            </a:r>
            <a:r>
              <a:rPr lang="zh-CN" altLang="en-US" dirty="0"/>
              <a:t>读“脏”数据</a:t>
            </a:r>
            <a:endParaRPr lang="zh-CN" altLang="en-US" dirty="0"/>
          </a:p>
        </p:txBody>
      </p:sp>
      <p:sp>
        <p:nvSpPr>
          <p:cNvPr id="25602" name="Rectangle 3"/>
          <p:cNvSpPr>
            <a:spLocks noGrp="1"/>
          </p:cNvSpPr>
          <p:nvPr>
            <p:ph idx="1"/>
          </p:nvPr>
        </p:nvSpPr>
        <p:spPr>
          <a:xfrm>
            <a:off x="285750" y="1000125"/>
            <a:ext cx="8686800" cy="5143500"/>
          </a:xfrm>
          <a:ln/>
        </p:spPr>
        <p:txBody>
          <a:bodyPr vert="horz" wrap="square" lIns="91440" tIns="45720" rIns="91440" bIns="45720" anchor="t" anchorCtr="0"/>
          <a:p>
            <a:pPr algn="just" eaLnBrk="1" hangingPunct="1">
              <a:lnSpc>
                <a:spcPct val="160000"/>
              </a:lnSpc>
              <a:buNone/>
            </a:pPr>
            <a:r>
              <a:rPr lang="en-US" altLang="zh-CN" dirty="0"/>
              <a:t>   </a:t>
            </a:r>
            <a:r>
              <a:rPr lang="zh-CN" altLang="en-US" dirty="0"/>
              <a:t>读“脏”数据是指：</a:t>
            </a:r>
            <a:endParaRPr lang="zh-CN" altLang="en-US" dirty="0"/>
          </a:p>
          <a:p>
            <a:pPr lvl="1" indent="-436245" algn="just" eaLnBrk="1" hangingPunct="1">
              <a:lnSpc>
                <a:spcPct val="160000"/>
              </a:lnSpc>
              <a:buFont typeface="Wingdings" panose="05000000000000000000" pitchFamily="2" charset="2"/>
              <a:buChar char="n"/>
            </a:pPr>
            <a:r>
              <a:rPr lang="zh-CN" altLang="en-US" dirty="0"/>
              <a:t>事务</a:t>
            </a:r>
            <a:r>
              <a:rPr lang="en-US" altLang="zh-CN" dirty="0"/>
              <a:t>T1</a:t>
            </a:r>
            <a:r>
              <a:rPr lang="zh-CN" altLang="en-US" dirty="0"/>
              <a:t>修改某一数据，并将其写回磁盘</a:t>
            </a:r>
            <a:endParaRPr lang="zh-CN" altLang="en-US" dirty="0"/>
          </a:p>
          <a:p>
            <a:pPr lvl="1" indent="-436245" algn="just" eaLnBrk="1" hangingPunct="1">
              <a:lnSpc>
                <a:spcPct val="160000"/>
              </a:lnSpc>
              <a:buFont typeface="Wingdings" panose="05000000000000000000" pitchFamily="2" charset="2"/>
              <a:buChar char="n"/>
            </a:pPr>
            <a:r>
              <a:rPr lang="zh-CN" altLang="en-US" dirty="0"/>
              <a:t>事务</a:t>
            </a:r>
            <a:r>
              <a:rPr lang="en-US" altLang="zh-CN" dirty="0"/>
              <a:t>T2</a:t>
            </a:r>
            <a:r>
              <a:rPr lang="zh-CN" altLang="en-US" dirty="0"/>
              <a:t>读取同一数据后，</a:t>
            </a:r>
            <a:r>
              <a:rPr lang="en-US" altLang="zh-CN" dirty="0"/>
              <a:t>T1</a:t>
            </a:r>
            <a:r>
              <a:rPr lang="zh-CN" altLang="en-US" dirty="0"/>
              <a:t>由于某种原因被撤销</a:t>
            </a:r>
            <a:endParaRPr lang="zh-CN" altLang="en-US" dirty="0"/>
          </a:p>
          <a:p>
            <a:pPr lvl="1" indent="-436245" algn="just" eaLnBrk="1" hangingPunct="1">
              <a:lnSpc>
                <a:spcPct val="160000"/>
              </a:lnSpc>
              <a:buFont typeface="Wingdings" panose="05000000000000000000" pitchFamily="2" charset="2"/>
              <a:buChar char="n"/>
            </a:pPr>
            <a:r>
              <a:rPr lang="zh-CN" altLang="en-US" dirty="0"/>
              <a:t>这时</a:t>
            </a:r>
            <a:r>
              <a:rPr lang="en-US" altLang="zh-CN" dirty="0"/>
              <a:t>T1</a:t>
            </a:r>
            <a:r>
              <a:rPr lang="zh-CN" altLang="en-US" dirty="0"/>
              <a:t>已修改过的数据恢复原值，</a:t>
            </a:r>
            <a:r>
              <a:rPr lang="en-US" altLang="zh-CN" dirty="0"/>
              <a:t>T2</a:t>
            </a:r>
            <a:r>
              <a:rPr lang="zh-CN" altLang="en-US" dirty="0"/>
              <a:t>读到的数据就与数据库中的数据不一致</a:t>
            </a:r>
            <a:endParaRPr lang="zh-CN" altLang="en-US" dirty="0"/>
          </a:p>
          <a:p>
            <a:pPr lvl="1" indent="-436245" algn="just" eaLnBrk="1" hangingPunct="1">
              <a:lnSpc>
                <a:spcPct val="160000"/>
              </a:lnSpc>
              <a:buFont typeface="Wingdings" panose="05000000000000000000" pitchFamily="2" charset="2"/>
              <a:buChar char="n"/>
            </a:pPr>
            <a:r>
              <a:rPr lang="en-US" altLang="zh-CN" dirty="0"/>
              <a:t>T2</a:t>
            </a:r>
            <a:r>
              <a:rPr lang="zh-CN" altLang="en-US" dirty="0"/>
              <a:t>读到的数据就为“脏”数据，即不正确的数据 </a:t>
            </a:r>
            <a:endParaRPr lang="zh-CN" altLang="en-US" dirty="0"/>
          </a:p>
        </p:txBody>
      </p:sp>
    </p:spTree>
  </p:cSld>
  <p:clrMapOvr>
    <a:masterClrMapping/>
  </p:clrMapOvr>
  <p:transition advClick="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2"/>
          <p:cNvSpPr>
            <a:spLocks noGrp="1"/>
          </p:cNvSpPr>
          <p:nvPr>
            <p:ph type="title"/>
          </p:nvPr>
        </p:nvSpPr>
        <p:spPr>
          <a:xfrm>
            <a:off x="428625" y="428625"/>
            <a:ext cx="7391400" cy="563563"/>
          </a:xfrm>
          <a:ln/>
        </p:spPr>
        <p:txBody>
          <a:bodyPr vert="horz" wrap="square" lIns="91440" tIns="45720" rIns="91440" bIns="45720" anchor="b" anchorCtr="0"/>
          <a:p>
            <a:pPr eaLnBrk="1" hangingPunct="1"/>
            <a:r>
              <a:rPr lang="zh-CN" altLang="en-US" dirty="0"/>
              <a:t>读“脏”数据（续）</a:t>
            </a:r>
            <a:endParaRPr lang="zh-CN" altLang="en-US" dirty="0"/>
          </a:p>
        </p:txBody>
      </p:sp>
      <p:graphicFrame>
        <p:nvGraphicFramePr>
          <p:cNvPr id="477360" name="Group 176"/>
          <p:cNvGraphicFramePr>
            <a:graphicFrameLocks noGrp="1"/>
          </p:cNvGraphicFramePr>
          <p:nvPr>
            <p:ph idx="1"/>
          </p:nvPr>
        </p:nvGraphicFramePr>
        <p:xfrm>
          <a:off x="642938" y="1714500"/>
          <a:ext cx="4103688" cy="4392613"/>
        </p:xfrm>
        <a:graphic>
          <a:graphicData uri="http://schemas.openxmlformats.org/drawingml/2006/table">
            <a:tbl>
              <a:tblPr/>
              <a:tblGrid>
                <a:gridCol w="2120900"/>
                <a:gridCol w="1982787"/>
              </a:tblGrid>
              <a:tr h="40005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20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20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846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① R(C)=100</a:t>
                      </a:r>
                      <a:endPar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40005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C←C*2</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846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W(C)=200</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40005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②</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R(C)=200</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8463">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40005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846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③ROLLBACK</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40005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C</a:t>
                      </a:r>
                      <a:r>
                        <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恢复为</a:t>
                      </a: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98463">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40005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bl>
          </a:graphicData>
        </a:graphic>
      </p:graphicFrame>
      <p:sp>
        <p:nvSpPr>
          <p:cNvPr id="26664" name="Text Box 177"/>
          <p:cNvSpPr txBox="1"/>
          <p:nvPr/>
        </p:nvSpPr>
        <p:spPr>
          <a:xfrm>
            <a:off x="642938" y="1214438"/>
            <a:ext cx="1365250" cy="457200"/>
          </a:xfrm>
          <a:prstGeom prst="rect">
            <a:avLst/>
          </a:prstGeom>
          <a:noFill/>
          <a:ln w="25400">
            <a:noFill/>
          </a:ln>
        </p:spPr>
        <p:txBody>
          <a:bodyPr anchor="t" anchorCtr="0">
            <a:spAutoFit/>
          </a:bodyPr>
          <a:p>
            <a:pPr marL="342900" indent="-342900"/>
            <a:r>
              <a:rPr lang="zh-CN" altLang="en-US" sz="2400" dirty="0">
                <a:latin typeface="Verdana" panose="020B0604030504040204" pitchFamily="34" charset="0"/>
                <a:ea typeface="宋体" panose="02010600030101010101" pitchFamily="2" charset="-122"/>
              </a:rPr>
              <a:t>例如</a:t>
            </a:r>
            <a:endParaRPr lang="zh-CN" altLang="en-US" sz="2400" dirty="0">
              <a:latin typeface="Verdana" panose="020B0604030504040204" pitchFamily="34" charset="0"/>
              <a:ea typeface="宋体" panose="02010600030101010101" pitchFamily="2" charset="-122"/>
            </a:endParaRPr>
          </a:p>
        </p:txBody>
      </p:sp>
      <p:sp>
        <p:nvSpPr>
          <p:cNvPr id="26665" name="Rectangle 178"/>
          <p:cNvSpPr/>
          <p:nvPr/>
        </p:nvSpPr>
        <p:spPr>
          <a:xfrm>
            <a:off x="1979613" y="6237288"/>
            <a:ext cx="1358900" cy="366712"/>
          </a:xfrm>
          <a:prstGeom prst="rect">
            <a:avLst/>
          </a:prstGeom>
          <a:noFill/>
          <a:ln w="25400">
            <a:noFill/>
          </a:ln>
        </p:spPr>
        <p:txBody>
          <a:bodyPr wrap="none" anchor="ctr" anchorCtr="0">
            <a:spAutoFit/>
          </a:bodyPr>
          <a:p>
            <a:r>
              <a:rPr lang="zh-CN" altLang="en-US" dirty="0">
                <a:latin typeface="Verdana" panose="020B0604030504040204" pitchFamily="34" charset="0"/>
                <a:ea typeface="宋体" panose="02010600030101010101" pitchFamily="2" charset="-122"/>
              </a:rPr>
              <a:t>读“脏”数据 </a:t>
            </a:r>
            <a:endParaRPr lang="zh-CN" altLang="en-US" dirty="0">
              <a:latin typeface="Verdana" panose="020B0604030504040204" pitchFamily="34" charset="0"/>
              <a:ea typeface="宋体" panose="02010600030101010101" pitchFamily="2" charset="-122"/>
            </a:endParaRPr>
          </a:p>
        </p:txBody>
      </p:sp>
      <p:sp>
        <p:nvSpPr>
          <p:cNvPr id="26666" name="Text Box 180"/>
          <p:cNvSpPr txBox="1"/>
          <p:nvPr/>
        </p:nvSpPr>
        <p:spPr>
          <a:xfrm>
            <a:off x="5580063" y="2565400"/>
            <a:ext cx="2611437" cy="366713"/>
          </a:xfrm>
          <a:prstGeom prst="rect">
            <a:avLst/>
          </a:prstGeom>
          <a:noFill/>
          <a:ln w="25400">
            <a:noFill/>
          </a:ln>
        </p:spPr>
        <p:txBody>
          <a:bodyPr anchor="t" anchorCtr="0">
            <a:spAutoFit/>
          </a:bodyPr>
          <a:p>
            <a:pPr marL="342900" indent="-342900"/>
            <a:endParaRPr lang="zh-CN" altLang="zh-CN" dirty="0">
              <a:latin typeface="Verdana" panose="020B0604030504040204" pitchFamily="34" charset="0"/>
              <a:ea typeface="宋体" panose="02010600030101010101" pitchFamily="2" charset="-122"/>
            </a:endParaRPr>
          </a:p>
        </p:txBody>
      </p:sp>
      <p:sp>
        <p:nvSpPr>
          <p:cNvPr id="26667" name="Text Box 181"/>
          <p:cNvSpPr txBox="1"/>
          <p:nvPr/>
        </p:nvSpPr>
        <p:spPr>
          <a:xfrm>
            <a:off x="6516688" y="2425700"/>
            <a:ext cx="1943100" cy="366713"/>
          </a:xfrm>
          <a:prstGeom prst="rect">
            <a:avLst/>
          </a:prstGeom>
          <a:noFill/>
          <a:ln w="25400">
            <a:noFill/>
          </a:ln>
        </p:spPr>
        <p:txBody>
          <a:bodyPr anchor="t" anchorCtr="0">
            <a:spAutoFit/>
          </a:bodyPr>
          <a:p>
            <a:pPr marL="342900" indent="-342900"/>
            <a:endParaRPr lang="zh-CN" altLang="zh-CN" dirty="0">
              <a:latin typeface="Verdana" panose="020B0604030504040204" pitchFamily="34" charset="0"/>
              <a:ea typeface="宋体" panose="02010600030101010101" pitchFamily="2" charset="-122"/>
            </a:endParaRPr>
          </a:p>
        </p:txBody>
      </p:sp>
      <p:sp>
        <p:nvSpPr>
          <p:cNvPr id="26668" name="Text Box 182"/>
          <p:cNvSpPr txBox="1"/>
          <p:nvPr/>
        </p:nvSpPr>
        <p:spPr>
          <a:xfrm>
            <a:off x="5500688" y="1714500"/>
            <a:ext cx="3024187" cy="4306888"/>
          </a:xfrm>
          <a:prstGeom prst="rect">
            <a:avLst/>
          </a:prstGeom>
          <a:noFill/>
          <a:ln w="25400">
            <a:noFill/>
          </a:ln>
        </p:spPr>
        <p:txBody>
          <a:bodyPr anchor="t" anchorCtr="0">
            <a:spAutoFit/>
          </a:bodyPr>
          <a:p>
            <a:pPr marL="342900" indent="-342900">
              <a:lnSpc>
                <a:spcPct val="140000"/>
              </a:lnSpc>
              <a:buClr>
                <a:schemeClr val="accent1"/>
              </a:buClr>
              <a:buFont typeface="Wingdings" panose="05000000000000000000" pitchFamily="2" charset="2"/>
              <a:buChar char="n"/>
            </a:pPr>
            <a:r>
              <a:rPr lang="en-US" altLang="zh-CN" sz="2200" dirty="0">
                <a:latin typeface="Verdana" panose="020B0604030504040204" pitchFamily="34" charset="0"/>
                <a:ea typeface="宋体" panose="02010600030101010101" pitchFamily="2" charset="-122"/>
              </a:rPr>
              <a:t>T1</a:t>
            </a:r>
            <a:r>
              <a:rPr lang="zh-CN" altLang="en-US" sz="2200" dirty="0">
                <a:latin typeface="Verdana" panose="020B0604030504040204" pitchFamily="34" charset="0"/>
                <a:ea typeface="宋体" panose="02010600030101010101" pitchFamily="2" charset="-122"/>
              </a:rPr>
              <a:t>将</a:t>
            </a:r>
            <a:r>
              <a:rPr lang="en-US" altLang="zh-CN" sz="2200" dirty="0">
                <a:latin typeface="Verdana" panose="020B0604030504040204" pitchFamily="34" charset="0"/>
                <a:ea typeface="宋体" panose="02010600030101010101" pitchFamily="2" charset="-122"/>
              </a:rPr>
              <a:t>C</a:t>
            </a:r>
            <a:r>
              <a:rPr lang="zh-CN" altLang="en-US" sz="2200" dirty="0">
                <a:latin typeface="Verdana" panose="020B0604030504040204" pitchFamily="34" charset="0"/>
                <a:ea typeface="宋体" panose="02010600030101010101" pitchFamily="2" charset="-122"/>
              </a:rPr>
              <a:t>值修改为</a:t>
            </a:r>
            <a:r>
              <a:rPr lang="en-US" altLang="zh-CN" sz="2200" dirty="0">
                <a:latin typeface="Verdana" panose="020B0604030504040204" pitchFamily="34" charset="0"/>
                <a:ea typeface="宋体" panose="02010600030101010101" pitchFamily="2" charset="-122"/>
              </a:rPr>
              <a:t>200</a:t>
            </a:r>
            <a:r>
              <a:rPr lang="zh-CN" altLang="en-US" sz="2200" dirty="0">
                <a:latin typeface="Verdana" panose="020B0604030504040204" pitchFamily="34" charset="0"/>
                <a:ea typeface="宋体" panose="02010600030101010101" pitchFamily="2" charset="-122"/>
              </a:rPr>
              <a:t>，</a:t>
            </a:r>
            <a:r>
              <a:rPr lang="en-US" altLang="zh-CN" sz="2200" dirty="0">
                <a:latin typeface="Verdana" panose="020B0604030504040204" pitchFamily="34" charset="0"/>
                <a:ea typeface="宋体" panose="02010600030101010101" pitchFamily="2" charset="-122"/>
              </a:rPr>
              <a:t>T2</a:t>
            </a:r>
            <a:r>
              <a:rPr lang="zh-CN" altLang="en-US" sz="2200" dirty="0">
                <a:latin typeface="Verdana" panose="020B0604030504040204" pitchFamily="34" charset="0"/>
                <a:ea typeface="宋体" panose="02010600030101010101" pitchFamily="2" charset="-122"/>
              </a:rPr>
              <a:t>读到</a:t>
            </a:r>
            <a:r>
              <a:rPr lang="en-US" altLang="zh-CN" sz="2200" dirty="0">
                <a:latin typeface="Verdana" panose="020B0604030504040204" pitchFamily="34" charset="0"/>
                <a:ea typeface="宋体" panose="02010600030101010101" pitchFamily="2" charset="-122"/>
              </a:rPr>
              <a:t>C</a:t>
            </a:r>
            <a:r>
              <a:rPr lang="zh-CN" altLang="en-US" sz="2200" dirty="0">
                <a:latin typeface="Verdana" panose="020B0604030504040204" pitchFamily="34" charset="0"/>
                <a:ea typeface="宋体" panose="02010600030101010101" pitchFamily="2" charset="-122"/>
              </a:rPr>
              <a:t>为</a:t>
            </a:r>
            <a:r>
              <a:rPr lang="en-US" altLang="zh-CN" sz="2200" dirty="0">
                <a:latin typeface="Verdana" panose="020B0604030504040204" pitchFamily="34" charset="0"/>
                <a:ea typeface="宋体" panose="02010600030101010101" pitchFamily="2" charset="-122"/>
              </a:rPr>
              <a:t>200</a:t>
            </a:r>
            <a:endParaRPr lang="en-US" altLang="zh-CN" sz="2200" dirty="0">
              <a:latin typeface="Verdana" panose="020B0604030504040204" pitchFamily="34" charset="0"/>
              <a:ea typeface="宋体" panose="02010600030101010101" pitchFamily="2" charset="-122"/>
            </a:endParaRPr>
          </a:p>
          <a:p>
            <a:pPr marL="342900" indent="-342900">
              <a:lnSpc>
                <a:spcPct val="140000"/>
              </a:lnSpc>
              <a:buClr>
                <a:schemeClr val="accent1"/>
              </a:buClr>
              <a:buFont typeface="Wingdings" panose="05000000000000000000" pitchFamily="2" charset="2"/>
              <a:buChar char="n"/>
            </a:pPr>
            <a:r>
              <a:rPr lang="en-US" altLang="zh-CN" sz="2200" dirty="0">
                <a:latin typeface="Verdana" panose="020B0604030504040204" pitchFamily="34" charset="0"/>
                <a:ea typeface="宋体" panose="02010600030101010101" pitchFamily="2" charset="-122"/>
              </a:rPr>
              <a:t>T1</a:t>
            </a:r>
            <a:r>
              <a:rPr lang="zh-CN" altLang="en-US" sz="2200" dirty="0">
                <a:latin typeface="Verdana" panose="020B0604030504040204" pitchFamily="34" charset="0"/>
                <a:ea typeface="宋体" panose="02010600030101010101" pitchFamily="2" charset="-122"/>
              </a:rPr>
              <a:t>由于某种原因撤销，其修改作废，</a:t>
            </a:r>
            <a:r>
              <a:rPr lang="en-US" altLang="zh-CN" sz="2200" dirty="0">
                <a:latin typeface="Verdana" panose="020B0604030504040204" pitchFamily="34" charset="0"/>
                <a:ea typeface="宋体" panose="02010600030101010101" pitchFamily="2" charset="-122"/>
              </a:rPr>
              <a:t>C</a:t>
            </a:r>
            <a:r>
              <a:rPr lang="zh-CN" altLang="en-US" sz="2200" dirty="0">
                <a:latin typeface="Verdana" panose="020B0604030504040204" pitchFamily="34" charset="0"/>
                <a:ea typeface="宋体" panose="02010600030101010101" pitchFamily="2" charset="-122"/>
              </a:rPr>
              <a:t>恢复原值</a:t>
            </a:r>
            <a:r>
              <a:rPr lang="en-US" altLang="zh-CN" sz="2200" dirty="0">
                <a:latin typeface="Verdana" panose="020B0604030504040204" pitchFamily="34" charset="0"/>
                <a:ea typeface="宋体" panose="02010600030101010101" pitchFamily="2" charset="-122"/>
              </a:rPr>
              <a:t>100</a:t>
            </a:r>
            <a:endParaRPr lang="en-US" altLang="zh-CN" sz="2200" dirty="0">
              <a:latin typeface="Verdana" panose="020B0604030504040204" pitchFamily="34" charset="0"/>
              <a:ea typeface="宋体" panose="02010600030101010101" pitchFamily="2" charset="-122"/>
            </a:endParaRPr>
          </a:p>
          <a:p>
            <a:pPr marL="342900" indent="-342900">
              <a:lnSpc>
                <a:spcPct val="140000"/>
              </a:lnSpc>
              <a:buClr>
                <a:schemeClr val="accent1"/>
              </a:buClr>
              <a:buFont typeface="Wingdings" panose="05000000000000000000" pitchFamily="2" charset="2"/>
              <a:buChar char="n"/>
            </a:pPr>
            <a:r>
              <a:rPr lang="zh-CN" altLang="en-US" sz="2200" dirty="0">
                <a:latin typeface="Verdana" panose="020B0604030504040204" pitchFamily="34" charset="0"/>
                <a:ea typeface="宋体" panose="02010600030101010101" pitchFamily="2" charset="-122"/>
              </a:rPr>
              <a:t>这时</a:t>
            </a:r>
            <a:r>
              <a:rPr lang="en-US" altLang="zh-CN" sz="2200" dirty="0">
                <a:latin typeface="Verdana" panose="020B0604030504040204" pitchFamily="34" charset="0"/>
                <a:ea typeface="宋体" panose="02010600030101010101" pitchFamily="2" charset="-122"/>
              </a:rPr>
              <a:t>T2</a:t>
            </a:r>
            <a:r>
              <a:rPr lang="zh-CN" altLang="en-US" sz="2200" dirty="0">
                <a:latin typeface="Verdana" panose="020B0604030504040204" pitchFamily="34" charset="0"/>
                <a:ea typeface="宋体" panose="02010600030101010101" pitchFamily="2" charset="-122"/>
              </a:rPr>
              <a:t>读到的</a:t>
            </a:r>
            <a:r>
              <a:rPr lang="en-US" altLang="zh-CN" sz="2200" dirty="0">
                <a:latin typeface="Verdana" panose="020B0604030504040204" pitchFamily="34" charset="0"/>
                <a:ea typeface="宋体" panose="02010600030101010101" pitchFamily="2" charset="-122"/>
              </a:rPr>
              <a:t>C</a:t>
            </a:r>
            <a:r>
              <a:rPr lang="zh-CN" altLang="en-US" sz="2200" dirty="0">
                <a:latin typeface="Verdana" panose="020B0604030504040204" pitchFamily="34" charset="0"/>
                <a:ea typeface="宋体" panose="02010600030101010101" pitchFamily="2" charset="-122"/>
              </a:rPr>
              <a:t>为</a:t>
            </a:r>
            <a:r>
              <a:rPr lang="en-US" altLang="zh-CN" sz="2200" dirty="0">
                <a:latin typeface="Verdana" panose="020B0604030504040204" pitchFamily="34" charset="0"/>
                <a:ea typeface="宋体" panose="02010600030101010101" pitchFamily="2" charset="-122"/>
              </a:rPr>
              <a:t>200</a:t>
            </a:r>
            <a:r>
              <a:rPr lang="zh-CN" altLang="en-US" sz="2200" dirty="0">
                <a:latin typeface="Verdana" panose="020B0604030504040204" pitchFamily="34" charset="0"/>
                <a:ea typeface="宋体" panose="02010600030101010101" pitchFamily="2" charset="-122"/>
              </a:rPr>
              <a:t>，与数据库内容不一致，就是“脏”数据</a:t>
            </a:r>
            <a:r>
              <a:rPr lang="zh-CN" altLang="en-US" sz="2000" dirty="0">
                <a:latin typeface="Verdana" panose="020B0604030504040204" pitchFamily="34" charset="0"/>
                <a:ea typeface="宋体" panose="02010600030101010101" pitchFamily="2" charset="-122"/>
              </a:rPr>
              <a:t> </a:t>
            </a:r>
            <a:endParaRPr lang="zh-CN" altLang="en-US" sz="2000"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2"/>
          <p:cNvSpPr>
            <a:spLocks noGrp="1"/>
          </p:cNvSpPr>
          <p:nvPr>
            <p:ph type="title"/>
          </p:nvPr>
        </p:nvSpPr>
        <p:spPr>
          <a:ln/>
        </p:spPr>
        <p:txBody>
          <a:bodyPr vert="horz" wrap="square" lIns="91440" tIns="45720" rIns="91440" bIns="45720" anchor="b" anchorCtr="0"/>
          <a:p>
            <a:pPr eaLnBrk="1" hangingPunct="1"/>
            <a:r>
              <a:rPr lang="zh-CN" altLang="en-US" dirty="0"/>
              <a:t>并发控制概述（续）</a:t>
            </a:r>
            <a:endParaRPr lang="zh-CN" altLang="en-US" dirty="0"/>
          </a:p>
        </p:txBody>
      </p:sp>
      <p:sp>
        <p:nvSpPr>
          <p:cNvPr id="27650" name="Rectangle 3"/>
          <p:cNvSpPr>
            <a:spLocks noGrp="1"/>
          </p:cNvSpPr>
          <p:nvPr>
            <p:ph idx="1"/>
          </p:nvPr>
        </p:nvSpPr>
        <p:spPr>
          <a:ln/>
        </p:spPr>
        <p:txBody>
          <a:bodyPr vert="horz" wrap="square" lIns="91440" tIns="45720" rIns="91440" bIns="45720" anchor="t" anchorCtr="0"/>
          <a:p>
            <a:pPr eaLnBrk="1" hangingPunct="1">
              <a:lnSpc>
                <a:spcPct val="160000"/>
              </a:lnSpc>
            </a:pPr>
            <a:r>
              <a:rPr lang="zh-CN" altLang="en-US" dirty="0"/>
              <a:t>数据不一致性：由于并发操作破坏了事务的</a:t>
            </a:r>
            <a:r>
              <a:rPr lang="zh-CN" altLang="en-US" b="1" dirty="0">
                <a:solidFill>
                  <a:srgbClr val="FF0000"/>
                </a:solidFill>
              </a:rPr>
              <a:t>隔离性</a:t>
            </a:r>
            <a:endParaRPr lang="zh-CN" altLang="en-US" b="1" dirty="0">
              <a:solidFill>
                <a:srgbClr val="FF0000"/>
              </a:solidFill>
            </a:endParaRPr>
          </a:p>
          <a:p>
            <a:pPr eaLnBrk="1" hangingPunct="1">
              <a:lnSpc>
                <a:spcPct val="160000"/>
              </a:lnSpc>
            </a:pPr>
            <a:r>
              <a:rPr lang="zh-CN" altLang="en-US" dirty="0"/>
              <a:t>并发控制就是要用</a:t>
            </a:r>
            <a:r>
              <a:rPr lang="zh-CN" altLang="en-US" b="1" dirty="0">
                <a:solidFill>
                  <a:srgbClr val="FF0000"/>
                </a:solidFill>
              </a:rPr>
              <a:t>正确的方式调度并发操作</a:t>
            </a:r>
            <a:r>
              <a:rPr lang="zh-CN" altLang="en-US" dirty="0"/>
              <a:t>，使一个用户事务的执行不受其他事务的干扰，从而避免造成数据的不一致性 </a:t>
            </a:r>
            <a:endParaRPr lang="zh-CN" altLang="en-US" dirty="0"/>
          </a:p>
        </p:txBody>
      </p:sp>
    </p:spTree>
  </p:cSld>
  <p:clrMapOvr>
    <a:masterClrMapping/>
  </p:clrMapOvr>
  <p:transition advClick="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2"/>
          <p:cNvSpPr>
            <a:spLocks noGrp="1"/>
          </p:cNvSpPr>
          <p:nvPr>
            <p:ph type="title"/>
          </p:nvPr>
        </p:nvSpPr>
        <p:spPr>
          <a:ln/>
        </p:spPr>
        <p:txBody>
          <a:bodyPr vert="horz" wrap="square" lIns="91440" tIns="45720" rIns="91440" bIns="45720" anchor="b" anchorCtr="0"/>
          <a:p>
            <a:pPr eaLnBrk="1" hangingPunct="1"/>
            <a:r>
              <a:rPr lang="zh-CN" altLang="en-US" dirty="0"/>
              <a:t>并发控制概述（续）</a:t>
            </a:r>
            <a:endParaRPr lang="zh-CN" altLang="en-US" dirty="0"/>
          </a:p>
        </p:txBody>
      </p:sp>
      <p:sp>
        <p:nvSpPr>
          <p:cNvPr id="28674" name="Rectangle 3"/>
          <p:cNvSpPr>
            <a:spLocks noGrp="1"/>
          </p:cNvSpPr>
          <p:nvPr>
            <p:ph idx="1"/>
          </p:nvPr>
        </p:nvSpPr>
        <p:spPr>
          <a:ln/>
        </p:spPr>
        <p:txBody>
          <a:bodyPr vert="horz" wrap="square" lIns="91440" tIns="45720" rIns="91440" bIns="45720" anchor="t" anchorCtr="0"/>
          <a:p>
            <a:pPr eaLnBrk="1" hangingPunct="1">
              <a:lnSpc>
                <a:spcPct val="170000"/>
              </a:lnSpc>
            </a:pPr>
            <a:r>
              <a:rPr lang="zh-CN" altLang="en-US" b="1" dirty="0">
                <a:solidFill>
                  <a:srgbClr val="FF0000"/>
                </a:solidFill>
              </a:rPr>
              <a:t>并发控制的主要技术</a:t>
            </a:r>
            <a:endParaRPr lang="zh-CN" altLang="en-US" b="1" dirty="0">
              <a:solidFill>
                <a:srgbClr val="FF0000"/>
              </a:solidFill>
            </a:endParaRPr>
          </a:p>
          <a:p>
            <a:pPr lvl="1" indent="-436245" eaLnBrk="1" hangingPunct="1">
              <a:lnSpc>
                <a:spcPct val="170000"/>
              </a:lnSpc>
            </a:pPr>
            <a:r>
              <a:rPr lang="zh-CN" altLang="en-US" dirty="0"/>
              <a:t>封锁</a:t>
            </a:r>
            <a:r>
              <a:rPr lang="en-US" altLang="zh-CN" dirty="0"/>
              <a:t>(Locking)</a:t>
            </a:r>
            <a:endParaRPr lang="en-US" altLang="zh-CN" dirty="0"/>
          </a:p>
          <a:p>
            <a:pPr lvl="1" indent="-436245" eaLnBrk="1" hangingPunct="1">
              <a:lnSpc>
                <a:spcPct val="170000"/>
              </a:lnSpc>
            </a:pPr>
            <a:r>
              <a:rPr lang="zh-CN" altLang="en-US" dirty="0"/>
              <a:t>时间戳</a:t>
            </a:r>
            <a:r>
              <a:rPr lang="en-US" altLang="zh-CN" dirty="0"/>
              <a:t>(Timestamp)</a:t>
            </a:r>
            <a:endParaRPr lang="en-US" altLang="zh-CN" dirty="0"/>
          </a:p>
          <a:p>
            <a:pPr lvl="1" indent="-436245" eaLnBrk="1" hangingPunct="1">
              <a:lnSpc>
                <a:spcPct val="170000"/>
              </a:lnSpc>
            </a:pPr>
            <a:r>
              <a:rPr lang="zh-CN" altLang="en-US" dirty="0"/>
              <a:t>乐观控制法</a:t>
            </a:r>
            <a:endParaRPr lang="zh-CN" altLang="en-US" dirty="0"/>
          </a:p>
          <a:p>
            <a:pPr eaLnBrk="1" hangingPunct="1">
              <a:lnSpc>
                <a:spcPct val="170000"/>
              </a:lnSpc>
            </a:pPr>
            <a:r>
              <a:rPr lang="zh-CN" altLang="en-US" dirty="0"/>
              <a:t>商用的</a:t>
            </a:r>
            <a:r>
              <a:rPr lang="en-US" altLang="zh-CN" dirty="0"/>
              <a:t>DBMS</a:t>
            </a:r>
            <a:r>
              <a:rPr lang="zh-CN" altLang="en-US" dirty="0"/>
              <a:t>一般都采用</a:t>
            </a:r>
            <a:r>
              <a:rPr lang="zh-CN" altLang="en-US" b="1" dirty="0">
                <a:solidFill>
                  <a:srgbClr val="FF0000"/>
                </a:solidFill>
              </a:rPr>
              <a:t>封锁</a:t>
            </a:r>
            <a:r>
              <a:rPr lang="zh-CN" altLang="en-US" dirty="0"/>
              <a:t>方法 </a:t>
            </a:r>
            <a:endParaRPr lang="zh-CN" altLang="en-US" dirty="0"/>
          </a:p>
        </p:txBody>
      </p:sp>
    </p:spTree>
  </p:cSld>
  <p:clrMapOvr>
    <a:masterClrMapping/>
  </p:clrMapOvr>
  <p:transition advClick="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2"/>
          <p:cNvSpPr>
            <a:spLocks noGrp="1"/>
          </p:cNvSpPr>
          <p:nvPr>
            <p:ph type="title"/>
          </p:nvPr>
        </p:nvSpPr>
        <p:spPr>
          <a:ln/>
        </p:spPr>
        <p:txBody>
          <a:bodyPr vert="horz" wrap="square" lIns="91440" tIns="45720" rIns="91440" bIns="45720" anchor="b" anchorCtr="0"/>
          <a:p>
            <a:pPr eaLnBrk="1" hangingPunct="1"/>
            <a:r>
              <a:rPr lang="zh-CN" altLang="en-US" dirty="0"/>
              <a:t>第十一章  并发控制</a:t>
            </a:r>
            <a:endParaRPr lang="zh-CN" altLang="en-US" dirty="0"/>
          </a:p>
        </p:txBody>
      </p:sp>
      <p:sp>
        <p:nvSpPr>
          <p:cNvPr id="29698" name="Rectangle 3"/>
          <p:cNvSpPr>
            <a:spLocks noGrp="1"/>
          </p:cNvSpPr>
          <p:nvPr>
            <p:ph idx="1"/>
          </p:nvPr>
        </p:nvSpPr>
        <p:spPr>
          <a:xfrm>
            <a:off x="785813" y="1143000"/>
            <a:ext cx="7715250" cy="4929188"/>
          </a:xfrm>
          <a:ln/>
        </p:spPr>
        <p:txBody>
          <a:bodyPr vert="horz" wrap="square" lIns="91440" tIns="45720" rIns="91440" bIns="45720" anchor="t" anchorCtr="0"/>
          <a:p>
            <a:pPr algn="just" eaLnBrk="1" hangingPunct="1">
              <a:buNone/>
            </a:pPr>
            <a:r>
              <a:rPr lang="en-US" altLang="zh-CN" b="1" dirty="0"/>
              <a:t>11.1 </a:t>
            </a:r>
            <a:r>
              <a:rPr lang="zh-CN" altLang="en-US" b="1" dirty="0"/>
              <a:t>并发控制概述</a:t>
            </a:r>
            <a:endParaRPr lang="en-US" altLang="zh-CN" b="1" dirty="0"/>
          </a:p>
          <a:p>
            <a:pPr algn="just" eaLnBrk="1" hangingPunct="1">
              <a:buNone/>
            </a:pPr>
            <a:r>
              <a:rPr lang="en-US" altLang="zh-CN" b="1" dirty="0">
                <a:solidFill>
                  <a:srgbClr val="FF0000"/>
                </a:solidFill>
              </a:rPr>
              <a:t>11.2 </a:t>
            </a:r>
            <a:r>
              <a:rPr lang="zh-CN" altLang="en-US" b="1" dirty="0">
                <a:solidFill>
                  <a:srgbClr val="FF0000"/>
                </a:solidFill>
              </a:rPr>
              <a:t>封锁</a:t>
            </a:r>
            <a:endParaRPr lang="en-US" altLang="zh-CN" b="1" dirty="0">
              <a:solidFill>
                <a:srgbClr val="FF0000"/>
              </a:solidFill>
            </a:endParaRPr>
          </a:p>
          <a:p>
            <a:pPr algn="just" eaLnBrk="1" hangingPunct="1">
              <a:buNone/>
            </a:pPr>
            <a:r>
              <a:rPr lang="en-US" altLang="zh-CN" b="1" dirty="0"/>
              <a:t>11.3 </a:t>
            </a:r>
            <a:r>
              <a:rPr lang="zh-CN" altLang="en-US" b="1" dirty="0"/>
              <a:t>封锁协议</a:t>
            </a:r>
            <a:endParaRPr lang="en-US" altLang="zh-CN" b="1" dirty="0"/>
          </a:p>
          <a:p>
            <a:pPr algn="just" eaLnBrk="1" hangingPunct="1">
              <a:buNone/>
            </a:pPr>
            <a:r>
              <a:rPr lang="en-US" altLang="zh-CN" b="1" dirty="0"/>
              <a:t>11.4 </a:t>
            </a:r>
            <a:r>
              <a:rPr lang="zh-CN" altLang="en-US" b="1" dirty="0"/>
              <a:t>活锁和死锁</a:t>
            </a:r>
            <a:endParaRPr lang="en-US" altLang="zh-CN" b="1" dirty="0"/>
          </a:p>
          <a:p>
            <a:pPr algn="just" eaLnBrk="1" hangingPunct="1">
              <a:buNone/>
            </a:pPr>
            <a:r>
              <a:rPr lang="en-US" altLang="zh-CN" b="1" dirty="0"/>
              <a:t>11.5 </a:t>
            </a:r>
            <a:r>
              <a:rPr lang="zh-CN" altLang="en-US" b="1" dirty="0"/>
              <a:t>并发调度的可串行性</a:t>
            </a:r>
            <a:endParaRPr lang="en-US" altLang="zh-CN" b="1" dirty="0"/>
          </a:p>
          <a:p>
            <a:pPr algn="just" eaLnBrk="1" hangingPunct="1">
              <a:buNone/>
            </a:pPr>
            <a:r>
              <a:rPr lang="en-US" altLang="zh-CN" b="1" dirty="0"/>
              <a:t>11.6 </a:t>
            </a:r>
            <a:r>
              <a:rPr lang="zh-CN" altLang="en-US" b="1" dirty="0"/>
              <a:t>两段锁协议</a:t>
            </a:r>
            <a:endParaRPr lang="en-US" altLang="zh-CN" b="1" dirty="0"/>
          </a:p>
          <a:p>
            <a:pPr algn="just" eaLnBrk="1" hangingPunct="1">
              <a:buNone/>
            </a:pPr>
            <a:r>
              <a:rPr lang="en-US" altLang="zh-CN" b="1" dirty="0"/>
              <a:t>11.7 </a:t>
            </a:r>
            <a:r>
              <a:rPr lang="zh-CN" altLang="en-US" b="1" dirty="0"/>
              <a:t>封锁的粒度</a:t>
            </a:r>
            <a:endParaRPr lang="en-US" altLang="zh-CN" b="1" dirty="0"/>
          </a:p>
          <a:p>
            <a:pPr algn="just" eaLnBrk="1" hangingPunct="1">
              <a:buNone/>
            </a:pPr>
            <a:r>
              <a:rPr lang="zh-CN" altLang="en-US" b="1" dirty="0"/>
              <a:t>*</a:t>
            </a:r>
            <a:r>
              <a:rPr lang="en-US" altLang="zh-CN" b="1" dirty="0"/>
              <a:t>11.8 </a:t>
            </a:r>
            <a:r>
              <a:rPr lang="zh-CN" altLang="en-US" b="1" dirty="0"/>
              <a:t>其他并发控制机制</a:t>
            </a:r>
            <a:endParaRPr lang="zh-CN" altLang="en-US" b="1" dirty="0"/>
          </a:p>
        </p:txBody>
      </p:sp>
    </p:spTree>
  </p:cSld>
  <p:clrMapOvr>
    <a:masterClrMapping/>
  </p:clrMapOvr>
  <p:transition advClick="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2"/>
          <p:cNvSpPr>
            <a:spLocks noGrp="1"/>
          </p:cNvSpPr>
          <p:nvPr>
            <p:ph type="title"/>
          </p:nvPr>
        </p:nvSpPr>
        <p:spPr>
          <a:ln/>
        </p:spPr>
        <p:txBody>
          <a:bodyPr vert="horz" wrap="square" lIns="91440" tIns="45720" rIns="91440" bIns="45720" anchor="b" anchorCtr="0"/>
          <a:p>
            <a:pPr eaLnBrk="1" hangingPunct="1"/>
            <a:r>
              <a:rPr lang="en-US" altLang="zh-CN" dirty="0"/>
              <a:t>11.2  </a:t>
            </a:r>
            <a:r>
              <a:rPr lang="zh-CN" altLang="en-US" dirty="0"/>
              <a:t>封锁</a:t>
            </a:r>
            <a:endParaRPr lang="zh-CN" altLang="en-US" dirty="0"/>
          </a:p>
        </p:txBody>
      </p:sp>
      <p:sp>
        <p:nvSpPr>
          <p:cNvPr id="30722" name="Rectangle 3"/>
          <p:cNvSpPr>
            <a:spLocks noGrp="1"/>
          </p:cNvSpPr>
          <p:nvPr>
            <p:ph idx="1"/>
          </p:nvPr>
        </p:nvSpPr>
        <p:spPr>
          <a:ln/>
        </p:spPr>
        <p:txBody>
          <a:bodyPr vert="horz" wrap="square" lIns="91440" tIns="45720" rIns="91440" bIns="45720" anchor="t" anchorCtr="0"/>
          <a:p>
            <a:pPr eaLnBrk="1" hangingPunct="1">
              <a:lnSpc>
                <a:spcPct val="150000"/>
              </a:lnSpc>
            </a:pPr>
            <a:r>
              <a:rPr lang="zh-CN" altLang="en-US" dirty="0"/>
              <a:t>什么是封锁</a:t>
            </a:r>
            <a:endParaRPr lang="zh-CN" altLang="en-US" dirty="0"/>
          </a:p>
          <a:p>
            <a:pPr eaLnBrk="1" hangingPunct="1">
              <a:lnSpc>
                <a:spcPct val="150000"/>
              </a:lnSpc>
            </a:pPr>
            <a:r>
              <a:rPr lang="zh-CN" altLang="en-US" dirty="0"/>
              <a:t>基本封锁类型</a:t>
            </a:r>
            <a:endParaRPr lang="zh-CN" altLang="en-US" dirty="0"/>
          </a:p>
          <a:p>
            <a:pPr eaLnBrk="1" hangingPunct="1">
              <a:lnSpc>
                <a:spcPct val="150000"/>
              </a:lnSpc>
            </a:pPr>
            <a:r>
              <a:rPr lang="zh-CN" altLang="en-US" dirty="0"/>
              <a:t>锁的相容矩阵</a:t>
            </a:r>
            <a:endParaRPr lang="zh-CN" altLang="en-US" dirty="0"/>
          </a:p>
        </p:txBody>
      </p:sp>
    </p:spTree>
  </p:cSld>
  <p:clrMapOvr>
    <a:masterClrMapping/>
  </p:clrMapOvr>
  <p:transition advClick="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2"/>
          <p:cNvSpPr>
            <a:spLocks noGrp="1"/>
          </p:cNvSpPr>
          <p:nvPr>
            <p:ph type="title"/>
          </p:nvPr>
        </p:nvSpPr>
        <p:spPr>
          <a:ln/>
        </p:spPr>
        <p:txBody>
          <a:bodyPr vert="horz" wrap="square" lIns="91440" tIns="45720" rIns="91440" bIns="45720" anchor="b" anchorCtr="0"/>
          <a:p>
            <a:pPr eaLnBrk="1" hangingPunct="1"/>
            <a:r>
              <a:rPr lang="zh-CN" altLang="en-US" dirty="0"/>
              <a:t>什么是封锁</a:t>
            </a:r>
            <a:endParaRPr lang="zh-CN" altLang="en-US" dirty="0"/>
          </a:p>
        </p:txBody>
      </p:sp>
      <p:sp>
        <p:nvSpPr>
          <p:cNvPr id="31746" name="Rectangle 3"/>
          <p:cNvSpPr>
            <a:spLocks noGrp="1"/>
          </p:cNvSpPr>
          <p:nvPr>
            <p:ph idx="1"/>
          </p:nvPr>
        </p:nvSpPr>
        <p:spPr>
          <a:xfrm>
            <a:off x="214313" y="1143000"/>
            <a:ext cx="8353425" cy="4876800"/>
          </a:xfrm>
          <a:ln/>
        </p:spPr>
        <p:txBody>
          <a:bodyPr vert="horz" wrap="square" lIns="91440" tIns="45720" rIns="91440" bIns="45720" anchor="t" anchorCtr="0"/>
          <a:p>
            <a:pPr eaLnBrk="1" hangingPunct="1">
              <a:lnSpc>
                <a:spcPct val="150000"/>
              </a:lnSpc>
            </a:pPr>
            <a:r>
              <a:rPr lang="zh-CN" altLang="en-US" sz="2800" dirty="0"/>
              <a:t>封锁是实现并发控制的一个非常重要的技术。</a:t>
            </a:r>
            <a:endParaRPr lang="en-US" altLang="zh-CN" sz="2800" dirty="0"/>
          </a:p>
          <a:p>
            <a:pPr eaLnBrk="1" hangingPunct="1">
              <a:lnSpc>
                <a:spcPct val="150000"/>
              </a:lnSpc>
            </a:pPr>
            <a:r>
              <a:rPr lang="zh-CN" altLang="en-US" sz="2800" dirty="0"/>
              <a:t>封锁就是事务</a:t>
            </a:r>
            <a:r>
              <a:rPr lang="en-US" altLang="zh-CN" sz="2800" dirty="0"/>
              <a:t>T</a:t>
            </a:r>
            <a:r>
              <a:rPr lang="zh-CN" altLang="en-US" sz="2800" dirty="0"/>
              <a:t>在对某个数据对象（例如表、记录等）操作之前，先向系统发出请求，对其</a:t>
            </a:r>
            <a:r>
              <a:rPr lang="zh-CN" altLang="en-US" sz="2800" b="1" dirty="0">
                <a:solidFill>
                  <a:srgbClr val="FF0000"/>
                </a:solidFill>
              </a:rPr>
              <a:t>加锁</a:t>
            </a:r>
            <a:r>
              <a:rPr lang="zh-CN" altLang="en-US" sz="2800" dirty="0"/>
              <a:t>。</a:t>
            </a:r>
            <a:endParaRPr lang="zh-CN" altLang="en-US" sz="2800" dirty="0"/>
          </a:p>
          <a:p>
            <a:pPr eaLnBrk="1" hangingPunct="1">
              <a:lnSpc>
                <a:spcPct val="150000"/>
              </a:lnSpc>
            </a:pPr>
            <a:r>
              <a:rPr lang="zh-CN" altLang="en-US" sz="2800" dirty="0"/>
              <a:t>加锁后事务</a:t>
            </a:r>
            <a:r>
              <a:rPr lang="en-US" altLang="zh-CN" sz="2800" dirty="0"/>
              <a:t>T</a:t>
            </a:r>
            <a:r>
              <a:rPr lang="zh-CN" altLang="en-US" sz="2800" dirty="0"/>
              <a:t>就对该数据对象有了一定的控制，在事务</a:t>
            </a:r>
            <a:r>
              <a:rPr lang="en-US" altLang="zh-CN" sz="2800" dirty="0"/>
              <a:t>T</a:t>
            </a:r>
            <a:r>
              <a:rPr lang="zh-CN" altLang="en-US" sz="2800" dirty="0"/>
              <a:t>释放它的锁之前，其它的事务</a:t>
            </a:r>
            <a:r>
              <a:rPr lang="zh-CN" altLang="en-US" sz="2800" b="1" dirty="0">
                <a:solidFill>
                  <a:srgbClr val="FF0000"/>
                </a:solidFill>
              </a:rPr>
              <a:t>不能更新</a:t>
            </a:r>
            <a:r>
              <a:rPr lang="zh-CN" altLang="en-US" sz="2800" dirty="0"/>
              <a:t>此数据对象。</a:t>
            </a:r>
            <a:endParaRPr lang="zh-CN" altLang="en-US" sz="2800" dirty="0"/>
          </a:p>
          <a:p>
            <a:pPr eaLnBrk="1" hangingPunct="1">
              <a:lnSpc>
                <a:spcPct val="150000"/>
              </a:lnSpc>
            </a:pPr>
            <a:endParaRPr lang="en-US" altLang="zh-CN" dirty="0"/>
          </a:p>
        </p:txBody>
      </p:sp>
    </p:spTree>
  </p:cSld>
  <p:clrMapOvr>
    <a:masterClrMapping/>
  </p:clrMapOvr>
  <p:transition advClick="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2"/>
          <p:cNvSpPr>
            <a:spLocks noGrp="1"/>
          </p:cNvSpPr>
          <p:nvPr>
            <p:ph type="title"/>
          </p:nvPr>
        </p:nvSpPr>
        <p:spPr>
          <a:ln/>
        </p:spPr>
        <p:txBody>
          <a:bodyPr vert="horz" wrap="square" lIns="91440" tIns="45720" rIns="91440" bIns="45720" anchor="b" anchorCtr="0"/>
          <a:p>
            <a:pPr eaLnBrk="1" hangingPunct="1"/>
            <a:r>
              <a:rPr lang="zh-CN" altLang="en-US" dirty="0"/>
              <a:t>基本封锁类型</a:t>
            </a:r>
            <a:endParaRPr lang="zh-CN" altLang="en-US" dirty="0"/>
          </a:p>
        </p:txBody>
      </p:sp>
      <p:sp>
        <p:nvSpPr>
          <p:cNvPr id="32770" name="Rectangle 3"/>
          <p:cNvSpPr>
            <a:spLocks noGrp="1"/>
          </p:cNvSpPr>
          <p:nvPr>
            <p:ph idx="1"/>
          </p:nvPr>
        </p:nvSpPr>
        <p:spPr>
          <a:ln/>
        </p:spPr>
        <p:txBody>
          <a:bodyPr vert="horz" wrap="square" lIns="91440" tIns="45720" rIns="91440" bIns="45720" anchor="t" anchorCtr="0"/>
          <a:p>
            <a:pPr eaLnBrk="1" hangingPunct="1">
              <a:lnSpc>
                <a:spcPct val="190000"/>
              </a:lnSpc>
            </a:pPr>
            <a:r>
              <a:rPr lang="zh-CN" altLang="en-US" sz="2400" dirty="0"/>
              <a:t>一个事务对某个数据对象加锁后究竟拥有什么样的控制由封锁的类型决定。</a:t>
            </a:r>
            <a:endParaRPr lang="zh-CN" altLang="en-US" sz="2400" dirty="0"/>
          </a:p>
          <a:p>
            <a:pPr eaLnBrk="1" hangingPunct="1">
              <a:lnSpc>
                <a:spcPct val="190000"/>
              </a:lnSpc>
            </a:pPr>
            <a:r>
              <a:rPr lang="zh-CN" altLang="en-US" sz="2400" dirty="0"/>
              <a:t>基本封锁类型</a:t>
            </a:r>
            <a:endParaRPr lang="zh-CN" altLang="en-US" sz="2400" dirty="0"/>
          </a:p>
          <a:p>
            <a:pPr lvl="1" indent="-436245" eaLnBrk="1" hangingPunct="1">
              <a:lnSpc>
                <a:spcPct val="190000"/>
              </a:lnSpc>
            </a:pPr>
            <a:r>
              <a:rPr lang="zh-CN" altLang="en-US" sz="2200" b="1" dirty="0">
                <a:solidFill>
                  <a:srgbClr val="FF0000"/>
                </a:solidFill>
              </a:rPr>
              <a:t>排它锁</a:t>
            </a:r>
            <a:r>
              <a:rPr lang="zh-CN" altLang="en-US" sz="2200" dirty="0"/>
              <a:t>（</a:t>
            </a:r>
            <a:r>
              <a:rPr lang="en-US" altLang="zh-CN" sz="2200" dirty="0"/>
              <a:t>Exclusive Locks</a:t>
            </a:r>
            <a:r>
              <a:rPr lang="zh-CN" altLang="en-US" sz="2200" dirty="0"/>
              <a:t>，简记为</a:t>
            </a:r>
            <a:r>
              <a:rPr lang="en-US" altLang="zh-CN" sz="2200" dirty="0">
                <a:solidFill>
                  <a:srgbClr val="FF0000"/>
                </a:solidFill>
              </a:rPr>
              <a:t>X</a:t>
            </a:r>
            <a:r>
              <a:rPr lang="zh-CN" altLang="en-US" sz="2200" dirty="0">
                <a:solidFill>
                  <a:srgbClr val="FF0000"/>
                </a:solidFill>
              </a:rPr>
              <a:t>锁</a:t>
            </a:r>
            <a:r>
              <a:rPr lang="zh-CN" altLang="en-US" sz="2200" dirty="0"/>
              <a:t>）（</a:t>
            </a:r>
            <a:r>
              <a:rPr lang="zh-CN" altLang="en-US" sz="2200" dirty="0">
                <a:solidFill>
                  <a:srgbClr val="FF0000"/>
                </a:solidFill>
              </a:rPr>
              <a:t>写锁</a:t>
            </a:r>
            <a:r>
              <a:rPr lang="zh-CN" altLang="en-US" sz="2200" dirty="0"/>
              <a:t>）</a:t>
            </a:r>
            <a:endParaRPr lang="zh-CN" altLang="en-US" sz="2200" dirty="0"/>
          </a:p>
          <a:p>
            <a:pPr lvl="1" indent="-436245" eaLnBrk="1" hangingPunct="1">
              <a:lnSpc>
                <a:spcPct val="190000"/>
              </a:lnSpc>
            </a:pPr>
            <a:r>
              <a:rPr lang="zh-CN" altLang="en-US" sz="2200" b="1" dirty="0">
                <a:solidFill>
                  <a:srgbClr val="FF0000"/>
                </a:solidFill>
              </a:rPr>
              <a:t>共享锁</a:t>
            </a:r>
            <a:r>
              <a:rPr lang="zh-CN" altLang="en-US" sz="2200" dirty="0"/>
              <a:t>（</a:t>
            </a:r>
            <a:r>
              <a:rPr lang="en-US" altLang="zh-CN" sz="2200" dirty="0"/>
              <a:t>Share Locks</a:t>
            </a:r>
            <a:r>
              <a:rPr lang="zh-CN" altLang="en-US" sz="2200" dirty="0"/>
              <a:t>，简记为</a:t>
            </a:r>
            <a:r>
              <a:rPr lang="en-US" altLang="zh-CN" sz="2200" dirty="0">
                <a:solidFill>
                  <a:srgbClr val="FF0000"/>
                </a:solidFill>
              </a:rPr>
              <a:t>S</a:t>
            </a:r>
            <a:r>
              <a:rPr lang="zh-CN" altLang="en-US" sz="2200" dirty="0">
                <a:solidFill>
                  <a:srgbClr val="FF0000"/>
                </a:solidFill>
              </a:rPr>
              <a:t>锁</a:t>
            </a:r>
            <a:r>
              <a:rPr lang="zh-CN" altLang="en-US" sz="2200" dirty="0"/>
              <a:t>）（</a:t>
            </a:r>
            <a:r>
              <a:rPr lang="zh-CN" altLang="en-US" sz="2200" dirty="0">
                <a:solidFill>
                  <a:srgbClr val="FF0000"/>
                </a:solidFill>
              </a:rPr>
              <a:t>读锁</a:t>
            </a:r>
            <a:r>
              <a:rPr lang="zh-CN" altLang="en-US" sz="2200" dirty="0"/>
              <a:t>）</a:t>
            </a:r>
            <a:endParaRPr lang="zh-CN" altLang="en-US" sz="2200" dirty="0"/>
          </a:p>
        </p:txBody>
      </p:sp>
    </p:spTree>
  </p:cSld>
  <p:clrMapOvr>
    <a:masterClrMapping/>
  </p:clrMapOvr>
  <p:transition advClick="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2"/>
          <p:cNvSpPr>
            <a:spLocks noGrp="1"/>
          </p:cNvSpPr>
          <p:nvPr>
            <p:ph type="title"/>
          </p:nvPr>
        </p:nvSpPr>
        <p:spPr>
          <a:ln/>
        </p:spPr>
        <p:txBody>
          <a:bodyPr vert="horz" wrap="square" lIns="91440" tIns="45720" rIns="91440" bIns="45720" anchor="b" anchorCtr="0"/>
          <a:p>
            <a:pPr eaLnBrk="1" hangingPunct="1"/>
            <a:r>
              <a:rPr lang="zh-CN" altLang="en-US" dirty="0"/>
              <a:t>锁的相容矩阵</a:t>
            </a:r>
            <a:endParaRPr lang="zh-CN" altLang="en-US" dirty="0"/>
          </a:p>
        </p:txBody>
      </p:sp>
      <p:grpSp>
        <p:nvGrpSpPr>
          <p:cNvPr id="33794" name="Group 59"/>
          <p:cNvGrpSpPr/>
          <p:nvPr/>
        </p:nvGrpSpPr>
        <p:grpSpPr>
          <a:xfrm>
            <a:off x="990600" y="1643063"/>
            <a:ext cx="5645150" cy="4219575"/>
            <a:chOff x="612" y="1107"/>
            <a:chExt cx="3556" cy="2658"/>
          </a:xfrm>
        </p:grpSpPr>
        <p:sp>
          <p:nvSpPr>
            <p:cNvPr id="33795" name="Text Box 4"/>
            <p:cNvSpPr txBox="1"/>
            <p:nvPr/>
          </p:nvSpPr>
          <p:spPr>
            <a:xfrm>
              <a:off x="1610" y="3067"/>
              <a:ext cx="1771" cy="698"/>
            </a:xfrm>
            <a:prstGeom prst="rect">
              <a:avLst/>
            </a:prstGeom>
            <a:noFill/>
            <a:ln w="9525">
              <a:noFill/>
            </a:ln>
          </p:spPr>
          <p:txBody>
            <a:bodyPr anchor="t" anchorCtr="0"/>
            <a:p>
              <a:r>
                <a:rPr lang="en-US" altLang="zh-CN" sz="2000" dirty="0">
                  <a:latin typeface="Verdana" panose="020B0604030504040204" pitchFamily="34" charset="0"/>
                  <a:ea typeface="宋体" panose="02010600030101010101" pitchFamily="2" charset="-122"/>
                </a:rPr>
                <a:t>Y=Yes</a:t>
              </a:r>
              <a:r>
                <a:rPr lang="zh-CN" altLang="en-US" sz="2000" dirty="0">
                  <a:latin typeface="Verdana" panose="020B0604030504040204" pitchFamily="34" charset="0"/>
                  <a:ea typeface="宋体" panose="02010600030101010101" pitchFamily="2" charset="-122"/>
                </a:rPr>
                <a:t>，相容的请求</a:t>
              </a:r>
              <a:endParaRPr lang="zh-CN" altLang="en-US" sz="3200" dirty="0">
                <a:latin typeface="Verdana" panose="020B0604030504040204" pitchFamily="34" charset="0"/>
                <a:ea typeface="宋体" panose="02010600030101010101" pitchFamily="2" charset="-122"/>
              </a:endParaRPr>
            </a:p>
            <a:p>
              <a:pPr eaLnBrk="0" hangingPunct="0"/>
              <a:r>
                <a:rPr lang="en-US" altLang="zh-CN" sz="2000" dirty="0">
                  <a:latin typeface="Verdana" panose="020B0604030504040204" pitchFamily="34" charset="0"/>
                  <a:ea typeface="宋体" panose="02010600030101010101" pitchFamily="2" charset="-122"/>
                </a:rPr>
                <a:t>N=No</a:t>
              </a:r>
              <a:r>
                <a:rPr lang="zh-CN" altLang="en-US" sz="2000" dirty="0">
                  <a:latin typeface="Verdana" panose="020B0604030504040204" pitchFamily="34" charset="0"/>
                  <a:ea typeface="宋体" panose="02010600030101010101" pitchFamily="2" charset="-122"/>
                </a:rPr>
                <a:t>，不相容的请求</a:t>
              </a:r>
              <a:endParaRPr lang="en-US" altLang="zh-CN" sz="2000" dirty="0">
                <a:latin typeface="Verdana" panose="020B0604030504040204" pitchFamily="34" charset="0"/>
                <a:ea typeface="宋体" panose="02010600030101010101" pitchFamily="2" charset="-122"/>
              </a:endParaRPr>
            </a:p>
            <a:p>
              <a:pPr eaLnBrk="0" hangingPunct="0"/>
              <a:r>
                <a:rPr lang="en-US" altLang="zh-CN" sz="2000" dirty="0">
                  <a:latin typeface="Verdana" panose="020B0604030504040204" pitchFamily="34" charset="0"/>
                  <a:ea typeface="宋体" panose="02010600030101010101" pitchFamily="2" charset="-122"/>
                </a:rPr>
                <a:t>- </a:t>
              </a:r>
              <a:r>
                <a:rPr lang="zh-CN" altLang="en-US" sz="2000" dirty="0">
                  <a:latin typeface="Verdana" panose="020B0604030504040204" pitchFamily="34" charset="0"/>
                  <a:ea typeface="宋体" panose="02010600030101010101" pitchFamily="2" charset="-122"/>
                </a:rPr>
                <a:t>表示没有加锁</a:t>
              </a:r>
              <a:endParaRPr lang="zh-CN" altLang="en-US" sz="6000" dirty="0">
                <a:latin typeface="Verdana" panose="020B0604030504040204" pitchFamily="34" charset="0"/>
                <a:ea typeface="宋体" panose="02010600030101010101" pitchFamily="2" charset="-122"/>
              </a:endParaRPr>
            </a:p>
          </p:txBody>
        </p:sp>
        <p:sp>
          <p:nvSpPr>
            <p:cNvPr id="33796" name="Rectangle 5"/>
            <p:cNvSpPr/>
            <p:nvPr/>
          </p:nvSpPr>
          <p:spPr>
            <a:xfrm>
              <a:off x="933" y="1107"/>
              <a:ext cx="506" cy="486"/>
            </a:xfrm>
            <a:prstGeom prst="rect">
              <a:avLst/>
            </a:prstGeom>
            <a:noFill/>
            <a:ln w="28575">
              <a:noFill/>
            </a:ln>
          </p:spPr>
          <p:txBody>
            <a:bodyPr lIns="90000" tIns="46800" rIns="90000" bIns="46800" anchor="t" anchorCtr="0">
              <a:spAutoFit/>
            </a:bodyPr>
            <a:p>
              <a:pPr algn="just"/>
              <a:r>
                <a:rPr lang="en-US" altLang="zh-CN" sz="1200" dirty="0">
                  <a:latin typeface="Verdana" panose="020B0604030504040204" pitchFamily="34" charset="0"/>
                  <a:ea typeface="宋体" panose="02010600030101010101" pitchFamily="2" charset="-122"/>
                </a:rPr>
                <a:t>        </a:t>
              </a:r>
              <a:r>
                <a:rPr lang="en-US" altLang="zh-CN" sz="1600" dirty="0">
                  <a:latin typeface="Verdana" panose="020B0604030504040204" pitchFamily="34" charset="0"/>
                  <a:ea typeface="宋体" panose="02010600030101010101" pitchFamily="2" charset="-122"/>
                </a:rPr>
                <a:t>T</a:t>
              </a:r>
              <a:r>
                <a:rPr lang="en-US" altLang="zh-CN" sz="1600" baseline="-30000" dirty="0">
                  <a:latin typeface="Verdana" panose="020B0604030504040204" pitchFamily="34" charset="0"/>
                  <a:ea typeface="宋体" panose="02010600030101010101" pitchFamily="2" charset="-122"/>
                </a:rPr>
                <a:t>1</a:t>
              </a:r>
              <a:r>
                <a:rPr lang="en-US" altLang="zh-CN" sz="1600" dirty="0">
                  <a:latin typeface="Verdana" panose="020B0604030504040204" pitchFamily="34" charset="0"/>
                  <a:ea typeface="宋体" panose="02010600030101010101" pitchFamily="2" charset="-122"/>
                </a:rPr>
                <a:t>    T</a:t>
              </a:r>
              <a:r>
                <a:rPr lang="en-US" altLang="zh-CN" sz="1600" baseline="-30000" dirty="0">
                  <a:latin typeface="Verdana" panose="020B0604030504040204" pitchFamily="34" charset="0"/>
                  <a:ea typeface="宋体" panose="02010600030101010101" pitchFamily="2" charset="-122"/>
                </a:rPr>
                <a:t>2</a:t>
              </a:r>
              <a:endParaRPr lang="en-US" altLang="zh-CN" sz="1600" dirty="0">
                <a:latin typeface="Verdana" panose="020B0604030504040204" pitchFamily="34" charset="0"/>
                <a:ea typeface="宋体" panose="02010600030101010101" pitchFamily="2" charset="-122"/>
              </a:endParaRPr>
            </a:p>
          </p:txBody>
        </p:sp>
        <p:grpSp>
          <p:nvGrpSpPr>
            <p:cNvPr id="33797" name="Group 6"/>
            <p:cNvGrpSpPr/>
            <p:nvPr/>
          </p:nvGrpSpPr>
          <p:grpSpPr>
            <a:xfrm>
              <a:off x="612" y="1207"/>
              <a:ext cx="3556" cy="1544"/>
              <a:chOff x="-3" y="-3"/>
              <a:chExt cx="1733" cy="1841"/>
            </a:xfrm>
          </p:grpSpPr>
          <p:grpSp>
            <p:nvGrpSpPr>
              <p:cNvPr id="33798" name="Group 7"/>
              <p:cNvGrpSpPr/>
              <p:nvPr/>
            </p:nvGrpSpPr>
            <p:grpSpPr>
              <a:xfrm>
                <a:off x="0" y="0"/>
                <a:ext cx="1727" cy="1835"/>
                <a:chOff x="0" y="0"/>
                <a:chExt cx="1727" cy="1835"/>
              </a:xfrm>
            </p:grpSpPr>
            <p:grpSp>
              <p:nvGrpSpPr>
                <p:cNvPr id="33799" name="Group 8"/>
                <p:cNvGrpSpPr/>
                <p:nvPr/>
              </p:nvGrpSpPr>
              <p:grpSpPr>
                <a:xfrm>
                  <a:off x="0" y="0"/>
                  <a:ext cx="447" cy="442"/>
                  <a:chOff x="0" y="0"/>
                  <a:chExt cx="447" cy="442"/>
                </a:xfrm>
              </p:grpSpPr>
              <p:sp>
                <p:nvSpPr>
                  <p:cNvPr id="33800" name="Rectangle 9"/>
                  <p:cNvSpPr/>
                  <p:nvPr/>
                </p:nvSpPr>
                <p:spPr>
                  <a:xfrm>
                    <a:off x="43" y="0"/>
                    <a:ext cx="361" cy="442"/>
                  </a:xfrm>
                  <a:prstGeom prst="rect">
                    <a:avLst/>
                  </a:prstGeom>
                  <a:noFill/>
                  <a:ln w="28575">
                    <a:noFill/>
                  </a:ln>
                </p:spPr>
                <p:txBody>
                  <a:bodyPr lIns="90000" tIns="46800" rIns="90000" bIns="46800" anchor="t" anchorCtr="0">
                    <a:spAutoFit/>
                  </a:bodyPr>
                  <a:p>
                    <a:endParaRPr lang="zh-CN" altLang="en-US" dirty="0">
                      <a:latin typeface="Verdana" panose="020B0604030504040204" pitchFamily="34" charset="0"/>
                      <a:ea typeface="宋体" panose="02010600030101010101" pitchFamily="2" charset="-122"/>
                    </a:endParaRPr>
                  </a:p>
                </p:txBody>
              </p:sp>
              <p:sp>
                <p:nvSpPr>
                  <p:cNvPr id="33801" name="Rectangle 10"/>
                  <p:cNvSpPr/>
                  <p:nvPr/>
                </p:nvSpPr>
                <p:spPr>
                  <a:xfrm>
                    <a:off x="0" y="0"/>
                    <a:ext cx="447" cy="442"/>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33802" name="Group 11"/>
                <p:cNvGrpSpPr/>
                <p:nvPr/>
              </p:nvGrpSpPr>
              <p:grpSpPr>
                <a:xfrm>
                  <a:off x="447" y="0"/>
                  <a:ext cx="426" cy="442"/>
                  <a:chOff x="447" y="0"/>
                  <a:chExt cx="426" cy="442"/>
                </a:xfrm>
              </p:grpSpPr>
              <p:sp>
                <p:nvSpPr>
                  <p:cNvPr id="33803" name="Rectangle 12"/>
                  <p:cNvSpPr/>
                  <p:nvPr/>
                </p:nvSpPr>
                <p:spPr>
                  <a:xfrm>
                    <a:off x="490" y="0"/>
                    <a:ext cx="340" cy="442"/>
                  </a:xfrm>
                  <a:prstGeom prst="rect">
                    <a:avLst/>
                  </a:prstGeom>
                  <a:noFill/>
                  <a:ln w="28575">
                    <a:noFill/>
                  </a:ln>
                </p:spPr>
                <p:txBody>
                  <a:bodyPr lIns="90000" tIns="46800" rIns="90000" bIns="46800" anchor="t" anchorCtr="0"/>
                  <a:p>
                    <a:r>
                      <a:rPr lang="en-US" altLang="zh-CN" sz="2400" dirty="0">
                        <a:latin typeface="Verdana" panose="020B0604030504040204" pitchFamily="34" charset="0"/>
                        <a:ea typeface="宋体" panose="02010600030101010101" pitchFamily="2" charset="-122"/>
                      </a:rPr>
                      <a:t>X</a:t>
                    </a:r>
                    <a:endParaRPr lang="en-US" altLang="zh-CN" sz="3600" dirty="0">
                      <a:latin typeface="Verdana" panose="020B0604030504040204" pitchFamily="34" charset="0"/>
                      <a:ea typeface="宋体" panose="02010600030101010101" pitchFamily="2" charset="-122"/>
                    </a:endParaRPr>
                  </a:p>
                </p:txBody>
              </p:sp>
              <p:sp>
                <p:nvSpPr>
                  <p:cNvPr id="33804" name="Rectangle 13"/>
                  <p:cNvSpPr/>
                  <p:nvPr/>
                </p:nvSpPr>
                <p:spPr>
                  <a:xfrm>
                    <a:off x="447" y="0"/>
                    <a:ext cx="426" cy="442"/>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33805" name="Group 14"/>
                <p:cNvGrpSpPr/>
                <p:nvPr/>
              </p:nvGrpSpPr>
              <p:grpSpPr>
                <a:xfrm>
                  <a:off x="873" y="0"/>
                  <a:ext cx="426" cy="442"/>
                  <a:chOff x="873" y="0"/>
                  <a:chExt cx="426" cy="442"/>
                </a:xfrm>
              </p:grpSpPr>
              <p:sp>
                <p:nvSpPr>
                  <p:cNvPr id="33806" name="Rectangle 15"/>
                  <p:cNvSpPr/>
                  <p:nvPr/>
                </p:nvSpPr>
                <p:spPr>
                  <a:xfrm>
                    <a:off x="916" y="0"/>
                    <a:ext cx="340" cy="442"/>
                  </a:xfrm>
                  <a:prstGeom prst="rect">
                    <a:avLst/>
                  </a:prstGeom>
                  <a:noFill/>
                  <a:ln w="28575">
                    <a:noFill/>
                  </a:ln>
                </p:spPr>
                <p:txBody>
                  <a:bodyPr lIns="90000" tIns="46800" rIns="90000" bIns="46800" anchor="t" anchorCtr="0"/>
                  <a:p>
                    <a:r>
                      <a:rPr lang="en-US" altLang="zh-CN" sz="2400" dirty="0">
                        <a:latin typeface="Verdana" panose="020B0604030504040204" pitchFamily="34" charset="0"/>
                        <a:ea typeface="宋体" panose="02010600030101010101" pitchFamily="2" charset="-122"/>
                      </a:rPr>
                      <a:t>S</a:t>
                    </a:r>
                    <a:endParaRPr lang="en-US" altLang="zh-CN" sz="3600" dirty="0">
                      <a:latin typeface="Verdana" panose="020B0604030504040204" pitchFamily="34" charset="0"/>
                      <a:ea typeface="宋体" panose="02010600030101010101" pitchFamily="2" charset="-122"/>
                    </a:endParaRPr>
                  </a:p>
                </p:txBody>
              </p:sp>
              <p:sp>
                <p:nvSpPr>
                  <p:cNvPr id="33807" name="Rectangle 16"/>
                  <p:cNvSpPr/>
                  <p:nvPr/>
                </p:nvSpPr>
                <p:spPr>
                  <a:xfrm>
                    <a:off x="873" y="0"/>
                    <a:ext cx="426" cy="442"/>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33808" name="Group 17"/>
                <p:cNvGrpSpPr/>
                <p:nvPr/>
              </p:nvGrpSpPr>
              <p:grpSpPr>
                <a:xfrm>
                  <a:off x="1299" y="0"/>
                  <a:ext cx="428" cy="442"/>
                  <a:chOff x="1299" y="0"/>
                  <a:chExt cx="428" cy="442"/>
                </a:xfrm>
              </p:grpSpPr>
              <p:sp>
                <p:nvSpPr>
                  <p:cNvPr id="33809" name="Rectangle 18"/>
                  <p:cNvSpPr/>
                  <p:nvPr/>
                </p:nvSpPr>
                <p:spPr>
                  <a:xfrm>
                    <a:off x="1342" y="0"/>
                    <a:ext cx="342" cy="442"/>
                  </a:xfrm>
                  <a:prstGeom prst="rect">
                    <a:avLst/>
                  </a:prstGeom>
                  <a:noFill/>
                  <a:ln w="28575">
                    <a:noFill/>
                  </a:ln>
                </p:spPr>
                <p:txBody>
                  <a:bodyPr lIns="90000" tIns="46800" rIns="90000" bIns="46800" anchor="t" anchorCtr="0"/>
                  <a:p>
                    <a:r>
                      <a:rPr lang="en-US" altLang="zh-CN" sz="2400" dirty="0">
                        <a:latin typeface="Verdana" panose="020B0604030504040204" pitchFamily="34" charset="0"/>
                        <a:ea typeface="宋体" panose="02010600030101010101" pitchFamily="2" charset="-122"/>
                      </a:rPr>
                      <a:t>-</a:t>
                    </a:r>
                    <a:endParaRPr lang="en-US" altLang="zh-CN" sz="3600" dirty="0">
                      <a:latin typeface="Verdana" panose="020B0604030504040204" pitchFamily="34" charset="0"/>
                      <a:ea typeface="宋体" panose="02010600030101010101" pitchFamily="2" charset="-122"/>
                    </a:endParaRPr>
                  </a:p>
                </p:txBody>
              </p:sp>
              <p:sp>
                <p:nvSpPr>
                  <p:cNvPr id="33810" name="Rectangle 19"/>
                  <p:cNvSpPr/>
                  <p:nvPr/>
                </p:nvSpPr>
                <p:spPr>
                  <a:xfrm>
                    <a:off x="1299" y="0"/>
                    <a:ext cx="428" cy="442"/>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33811" name="Group 20"/>
                <p:cNvGrpSpPr/>
                <p:nvPr/>
              </p:nvGrpSpPr>
              <p:grpSpPr>
                <a:xfrm>
                  <a:off x="0" y="442"/>
                  <a:ext cx="447" cy="509"/>
                  <a:chOff x="0" y="442"/>
                  <a:chExt cx="447" cy="509"/>
                </a:xfrm>
              </p:grpSpPr>
              <p:sp>
                <p:nvSpPr>
                  <p:cNvPr id="33812" name="Rectangle 21"/>
                  <p:cNvSpPr/>
                  <p:nvPr/>
                </p:nvSpPr>
                <p:spPr>
                  <a:xfrm>
                    <a:off x="43" y="442"/>
                    <a:ext cx="361" cy="509"/>
                  </a:xfrm>
                  <a:prstGeom prst="rect">
                    <a:avLst/>
                  </a:prstGeom>
                  <a:noFill/>
                  <a:ln w="28575">
                    <a:noFill/>
                  </a:ln>
                </p:spPr>
                <p:txBody>
                  <a:bodyPr lIns="90000" tIns="46800" rIns="90000" bIns="46800" anchor="t" anchorCtr="0"/>
                  <a:p>
                    <a:r>
                      <a:rPr lang="en-US" altLang="zh-CN" sz="2400" dirty="0">
                        <a:latin typeface="Verdana" panose="020B0604030504040204" pitchFamily="34" charset="0"/>
                        <a:ea typeface="宋体" panose="02010600030101010101" pitchFamily="2" charset="-122"/>
                      </a:rPr>
                      <a:t>X</a:t>
                    </a:r>
                    <a:endParaRPr lang="en-US" altLang="zh-CN" sz="3600" dirty="0">
                      <a:latin typeface="Verdana" panose="020B0604030504040204" pitchFamily="34" charset="0"/>
                      <a:ea typeface="宋体" panose="02010600030101010101" pitchFamily="2" charset="-122"/>
                    </a:endParaRPr>
                  </a:p>
                </p:txBody>
              </p:sp>
              <p:sp>
                <p:nvSpPr>
                  <p:cNvPr id="33813" name="Rectangle 22"/>
                  <p:cNvSpPr/>
                  <p:nvPr/>
                </p:nvSpPr>
                <p:spPr>
                  <a:xfrm>
                    <a:off x="0" y="442"/>
                    <a:ext cx="447" cy="509"/>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33814" name="Group 23"/>
                <p:cNvGrpSpPr/>
                <p:nvPr/>
              </p:nvGrpSpPr>
              <p:grpSpPr>
                <a:xfrm>
                  <a:off x="447" y="442"/>
                  <a:ext cx="426" cy="509"/>
                  <a:chOff x="447" y="442"/>
                  <a:chExt cx="426" cy="509"/>
                </a:xfrm>
              </p:grpSpPr>
              <p:sp>
                <p:nvSpPr>
                  <p:cNvPr id="33815" name="Rectangle 24"/>
                  <p:cNvSpPr/>
                  <p:nvPr/>
                </p:nvSpPr>
                <p:spPr>
                  <a:xfrm>
                    <a:off x="490" y="442"/>
                    <a:ext cx="340" cy="509"/>
                  </a:xfrm>
                  <a:prstGeom prst="rect">
                    <a:avLst/>
                  </a:prstGeom>
                  <a:noFill/>
                  <a:ln w="28575">
                    <a:noFill/>
                  </a:ln>
                </p:spPr>
                <p:txBody>
                  <a:bodyPr lIns="90000" tIns="46800" rIns="90000" bIns="46800" anchor="t" anchorCtr="0"/>
                  <a:p>
                    <a:r>
                      <a:rPr lang="en-US" altLang="zh-CN" sz="2400" dirty="0">
                        <a:latin typeface="Verdana" panose="020B0604030504040204" pitchFamily="34" charset="0"/>
                        <a:ea typeface="宋体" panose="02010600030101010101" pitchFamily="2" charset="-122"/>
                      </a:rPr>
                      <a:t>N</a:t>
                    </a:r>
                    <a:endParaRPr lang="en-US" altLang="zh-CN" sz="2400" dirty="0">
                      <a:latin typeface="Verdana" panose="020B0604030504040204" pitchFamily="34" charset="0"/>
                      <a:ea typeface="宋体" panose="02010600030101010101" pitchFamily="2" charset="-122"/>
                    </a:endParaRPr>
                  </a:p>
                </p:txBody>
              </p:sp>
              <p:sp>
                <p:nvSpPr>
                  <p:cNvPr id="33816" name="Rectangle 25"/>
                  <p:cNvSpPr/>
                  <p:nvPr/>
                </p:nvSpPr>
                <p:spPr>
                  <a:xfrm>
                    <a:off x="447" y="442"/>
                    <a:ext cx="426" cy="509"/>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33817" name="Group 26"/>
                <p:cNvGrpSpPr/>
                <p:nvPr/>
              </p:nvGrpSpPr>
              <p:grpSpPr>
                <a:xfrm>
                  <a:off x="873" y="442"/>
                  <a:ext cx="426" cy="509"/>
                  <a:chOff x="873" y="442"/>
                  <a:chExt cx="426" cy="509"/>
                </a:xfrm>
              </p:grpSpPr>
              <p:sp>
                <p:nvSpPr>
                  <p:cNvPr id="33818" name="Rectangle 27"/>
                  <p:cNvSpPr/>
                  <p:nvPr/>
                </p:nvSpPr>
                <p:spPr>
                  <a:xfrm>
                    <a:off x="916" y="442"/>
                    <a:ext cx="340" cy="509"/>
                  </a:xfrm>
                  <a:prstGeom prst="rect">
                    <a:avLst/>
                  </a:prstGeom>
                  <a:noFill/>
                  <a:ln w="28575">
                    <a:noFill/>
                  </a:ln>
                </p:spPr>
                <p:txBody>
                  <a:bodyPr lIns="90000" tIns="46800" rIns="90000" bIns="46800" anchor="t" anchorCtr="0"/>
                  <a:p>
                    <a:r>
                      <a:rPr lang="en-US" altLang="zh-CN" sz="2400" dirty="0">
                        <a:latin typeface="Verdana" panose="020B0604030504040204" pitchFamily="34" charset="0"/>
                        <a:ea typeface="宋体" panose="02010600030101010101" pitchFamily="2" charset="-122"/>
                      </a:rPr>
                      <a:t>N</a:t>
                    </a:r>
                    <a:endParaRPr lang="en-US" altLang="zh-CN" sz="3600" dirty="0">
                      <a:latin typeface="Verdana" panose="020B0604030504040204" pitchFamily="34" charset="0"/>
                      <a:ea typeface="宋体" panose="02010600030101010101" pitchFamily="2" charset="-122"/>
                    </a:endParaRPr>
                  </a:p>
                </p:txBody>
              </p:sp>
              <p:sp>
                <p:nvSpPr>
                  <p:cNvPr id="33819" name="Rectangle 28"/>
                  <p:cNvSpPr/>
                  <p:nvPr/>
                </p:nvSpPr>
                <p:spPr>
                  <a:xfrm>
                    <a:off x="873" y="442"/>
                    <a:ext cx="426" cy="509"/>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33820" name="Group 29"/>
                <p:cNvGrpSpPr/>
                <p:nvPr/>
              </p:nvGrpSpPr>
              <p:grpSpPr>
                <a:xfrm>
                  <a:off x="1299" y="442"/>
                  <a:ext cx="428" cy="509"/>
                  <a:chOff x="1299" y="442"/>
                  <a:chExt cx="428" cy="509"/>
                </a:xfrm>
              </p:grpSpPr>
              <p:sp>
                <p:nvSpPr>
                  <p:cNvPr id="33821" name="Rectangle 30"/>
                  <p:cNvSpPr/>
                  <p:nvPr/>
                </p:nvSpPr>
                <p:spPr>
                  <a:xfrm>
                    <a:off x="1342" y="442"/>
                    <a:ext cx="342" cy="509"/>
                  </a:xfrm>
                  <a:prstGeom prst="rect">
                    <a:avLst/>
                  </a:prstGeom>
                  <a:noFill/>
                  <a:ln w="28575">
                    <a:noFill/>
                  </a:ln>
                </p:spPr>
                <p:txBody>
                  <a:bodyPr lIns="90000" tIns="46800" rIns="90000" bIns="0" anchor="t" anchorCtr="0"/>
                  <a:p>
                    <a:r>
                      <a:rPr lang="en-US" altLang="zh-CN" sz="2200" dirty="0">
                        <a:latin typeface="Verdana" panose="020B0604030504040204" pitchFamily="34" charset="0"/>
                        <a:ea typeface="宋体" panose="02010600030101010101" pitchFamily="2" charset="-122"/>
                      </a:rPr>
                      <a:t>Y</a:t>
                    </a:r>
                    <a:endParaRPr lang="en-US" altLang="zh-CN" sz="2000" dirty="0">
                      <a:latin typeface="Verdana" panose="020B0604030504040204" pitchFamily="34" charset="0"/>
                      <a:ea typeface="宋体" panose="02010600030101010101" pitchFamily="2" charset="-122"/>
                    </a:endParaRPr>
                  </a:p>
                </p:txBody>
              </p:sp>
              <p:sp>
                <p:nvSpPr>
                  <p:cNvPr id="33822" name="Rectangle 31"/>
                  <p:cNvSpPr/>
                  <p:nvPr/>
                </p:nvSpPr>
                <p:spPr>
                  <a:xfrm>
                    <a:off x="1299" y="442"/>
                    <a:ext cx="428" cy="509"/>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33823" name="Group 32"/>
                <p:cNvGrpSpPr/>
                <p:nvPr/>
              </p:nvGrpSpPr>
              <p:grpSpPr>
                <a:xfrm>
                  <a:off x="0" y="951"/>
                  <a:ext cx="447" cy="442"/>
                  <a:chOff x="0" y="951"/>
                  <a:chExt cx="447" cy="442"/>
                </a:xfrm>
              </p:grpSpPr>
              <p:sp>
                <p:nvSpPr>
                  <p:cNvPr id="33824" name="Rectangle 33"/>
                  <p:cNvSpPr/>
                  <p:nvPr/>
                </p:nvSpPr>
                <p:spPr>
                  <a:xfrm>
                    <a:off x="43" y="951"/>
                    <a:ext cx="361" cy="442"/>
                  </a:xfrm>
                  <a:prstGeom prst="rect">
                    <a:avLst/>
                  </a:prstGeom>
                  <a:noFill/>
                  <a:ln w="28575">
                    <a:noFill/>
                  </a:ln>
                </p:spPr>
                <p:txBody>
                  <a:bodyPr lIns="90000" tIns="46800" rIns="90000" bIns="46800" anchor="t" anchorCtr="0"/>
                  <a:p>
                    <a:r>
                      <a:rPr lang="en-US" altLang="zh-CN" sz="2400" dirty="0">
                        <a:latin typeface="Verdana" panose="020B0604030504040204" pitchFamily="34" charset="0"/>
                        <a:ea typeface="宋体" panose="02010600030101010101" pitchFamily="2" charset="-122"/>
                      </a:rPr>
                      <a:t>S</a:t>
                    </a:r>
                    <a:endParaRPr lang="en-US" altLang="zh-CN" sz="2400" dirty="0">
                      <a:latin typeface="Verdana" panose="020B0604030504040204" pitchFamily="34" charset="0"/>
                      <a:ea typeface="宋体" panose="02010600030101010101" pitchFamily="2" charset="-122"/>
                    </a:endParaRPr>
                  </a:p>
                </p:txBody>
              </p:sp>
              <p:sp>
                <p:nvSpPr>
                  <p:cNvPr id="33825" name="Rectangle 34"/>
                  <p:cNvSpPr/>
                  <p:nvPr/>
                </p:nvSpPr>
                <p:spPr>
                  <a:xfrm>
                    <a:off x="0" y="951"/>
                    <a:ext cx="447" cy="442"/>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33826" name="Group 35"/>
                <p:cNvGrpSpPr/>
                <p:nvPr/>
              </p:nvGrpSpPr>
              <p:grpSpPr>
                <a:xfrm>
                  <a:off x="447" y="951"/>
                  <a:ext cx="426" cy="442"/>
                  <a:chOff x="447" y="951"/>
                  <a:chExt cx="426" cy="442"/>
                </a:xfrm>
              </p:grpSpPr>
              <p:sp>
                <p:nvSpPr>
                  <p:cNvPr id="33827" name="Rectangle 36"/>
                  <p:cNvSpPr/>
                  <p:nvPr/>
                </p:nvSpPr>
                <p:spPr>
                  <a:xfrm>
                    <a:off x="490" y="951"/>
                    <a:ext cx="340" cy="442"/>
                  </a:xfrm>
                  <a:prstGeom prst="rect">
                    <a:avLst/>
                  </a:prstGeom>
                  <a:noFill/>
                  <a:ln w="28575">
                    <a:noFill/>
                  </a:ln>
                </p:spPr>
                <p:txBody>
                  <a:bodyPr lIns="90000" tIns="46800" rIns="90000" bIns="46800" anchor="t" anchorCtr="0"/>
                  <a:p>
                    <a:r>
                      <a:rPr lang="en-US" altLang="zh-CN" sz="2400" dirty="0">
                        <a:latin typeface="Verdana" panose="020B0604030504040204" pitchFamily="34" charset="0"/>
                        <a:ea typeface="宋体" panose="02010600030101010101" pitchFamily="2" charset="-122"/>
                      </a:rPr>
                      <a:t>N</a:t>
                    </a:r>
                    <a:endParaRPr lang="en-US" altLang="zh-CN" sz="2400" dirty="0">
                      <a:latin typeface="Verdana" panose="020B0604030504040204" pitchFamily="34" charset="0"/>
                      <a:ea typeface="宋体" panose="02010600030101010101" pitchFamily="2" charset="-122"/>
                    </a:endParaRPr>
                  </a:p>
                </p:txBody>
              </p:sp>
              <p:sp>
                <p:nvSpPr>
                  <p:cNvPr id="33828" name="Rectangle 37"/>
                  <p:cNvSpPr/>
                  <p:nvPr/>
                </p:nvSpPr>
                <p:spPr>
                  <a:xfrm>
                    <a:off x="447" y="951"/>
                    <a:ext cx="426" cy="442"/>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33829" name="Group 38"/>
                <p:cNvGrpSpPr/>
                <p:nvPr/>
              </p:nvGrpSpPr>
              <p:grpSpPr>
                <a:xfrm>
                  <a:off x="873" y="951"/>
                  <a:ext cx="426" cy="442"/>
                  <a:chOff x="873" y="951"/>
                  <a:chExt cx="426" cy="442"/>
                </a:xfrm>
              </p:grpSpPr>
              <p:sp>
                <p:nvSpPr>
                  <p:cNvPr id="33830" name="Rectangle 39"/>
                  <p:cNvSpPr/>
                  <p:nvPr/>
                </p:nvSpPr>
                <p:spPr>
                  <a:xfrm>
                    <a:off x="916" y="951"/>
                    <a:ext cx="340" cy="442"/>
                  </a:xfrm>
                  <a:prstGeom prst="rect">
                    <a:avLst/>
                  </a:prstGeom>
                  <a:noFill/>
                  <a:ln w="28575">
                    <a:noFill/>
                  </a:ln>
                </p:spPr>
                <p:txBody>
                  <a:bodyPr lIns="90000" tIns="46800" rIns="90000" bIns="46800" anchor="t" anchorCtr="0"/>
                  <a:p>
                    <a:r>
                      <a:rPr lang="en-US" altLang="zh-CN" sz="2400" dirty="0">
                        <a:latin typeface="Verdana" panose="020B0604030504040204" pitchFamily="34" charset="0"/>
                        <a:ea typeface="宋体" panose="02010600030101010101" pitchFamily="2" charset="-122"/>
                      </a:rPr>
                      <a:t>Y</a:t>
                    </a:r>
                    <a:endParaRPr lang="en-US" altLang="zh-CN" sz="2400" dirty="0">
                      <a:latin typeface="Verdana" panose="020B0604030504040204" pitchFamily="34" charset="0"/>
                      <a:ea typeface="宋体" panose="02010600030101010101" pitchFamily="2" charset="-122"/>
                    </a:endParaRPr>
                  </a:p>
                </p:txBody>
              </p:sp>
              <p:sp>
                <p:nvSpPr>
                  <p:cNvPr id="33831" name="Rectangle 40"/>
                  <p:cNvSpPr/>
                  <p:nvPr/>
                </p:nvSpPr>
                <p:spPr>
                  <a:xfrm>
                    <a:off x="873" y="951"/>
                    <a:ext cx="426" cy="442"/>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33832" name="Group 41"/>
                <p:cNvGrpSpPr/>
                <p:nvPr/>
              </p:nvGrpSpPr>
              <p:grpSpPr>
                <a:xfrm>
                  <a:off x="1299" y="951"/>
                  <a:ext cx="428" cy="442"/>
                  <a:chOff x="1299" y="951"/>
                  <a:chExt cx="428" cy="442"/>
                </a:xfrm>
              </p:grpSpPr>
              <p:sp>
                <p:nvSpPr>
                  <p:cNvPr id="33833" name="Rectangle 42"/>
                  <p:cNvSpPr/>
                  <p:nvPr/>
                </p:nvSpPr>
                <p:spPr>
                  <a:xfrm>
                    <a:off x="1342" y="951"/>
                    <a:ext cx="342" cy="442"/>
                  </a:xfrm>
                  <a:prstGeom prst="rect">
                    <a:avLst/>
                  </a:prstGeom>
                  <a:noFill/>
                  <a:ln w="28575">
                    <a:noFill/>
                  </a:ln>
                </p:spPr>
                <p:txBody>
                  <a:bodyPr lIns="90000" tIns="46800" rIns="90000" bIns="46800" anchor="t" anchorCtr="0"/>
                  <a:p>
                    <a:r>
                      <a:rPr lang="en-US" altLang="zh-CN" sz="2400" dirty="0">
                        <a:latin typeface="Verdana" panose="020B0604030504040204" pitchFamily="34" charset="0"/>
                        <a:ea typeface="宋体" panose="02010600030101010101" pitchFamily="2" charset="-122"/>
                      </a:rPr>
                      <a:t>Y</a:t>
                    </a:r>
                    <a:endParaRPr lang="en-US" altLang="zh-CN" sz="2400" dirty="0">
                      <a:latin typeface="Verdana" panose="020B0604030504040204" pitchFamily="34" charset="0"/>
                      <a:ea typeface="宋体" panose="02010600030101010101" pitchFamily="2" charset="-122"/>
                    </a:endParaRPr>
                  </a:p>
                </p:txBody>
              </p:sp>
              <p:sp>
                <p:nvSpPr>
                  <p:cNvPr id="33834" name="Rectangle 43"/>
                  <p:cNvSpPr/>
                  <p:nvPr/>
                </p:nvSpPr>
                <p:spPr>
                  <a:xfrm>
                    <a:off x="1299" y="951"/>
                    <a:ext cx="428" cy="442"/>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33835" name="Group 44"/>
                <p:cNvGrpSpPr/>
                <p:nvPr/>
              </p:nvGrpSpPr>
              <p:grpSpPr>
                <a:xfrm>
                  <a:off x="0" y="1393"/>
                  <a:ext cx="447" cy="442"/>
                  <a:chOff x="0" y="1393"/>
                  <a:chExt cx="447" cy="442"/>
                </a:xfrm>
              </p:grpSpPr>
              <p:sp>
                <p:nvSpPr>
                  <p:cNvPr id="33836" name="Rectangle 45"/>
                  <p:cNvSpPr/>
                  <p:nvPr/>
                </p:nvSpPr>
                <p:spPr>
                  <a:xfrm>
                    <a:off x="43" y="1393"/>
                    <a:ext cx="361" cy="442"/>
                  </a:xfrm>
                  <a:prstGeom prst="rect">
                    <a:avLst/>
                  </a:prstGeom>
                  <a:noFill/>
                  <a:ln w="28575">
                    <a:noFill/>
                  </a:ln>
                </p:spPr>
                <p:txBody>
                  <a:bodyPr lIns="90000" tIns="46800" rIns="90000" bIns="46800" anchor="t" anchorCtr="0"/>
                  <a:p>
                    <a:r>
                      <a:rPr lang="en-US" altLang="zh-CN" sz="2400" dirty="0">
                        <a:latin typeface="Verdana" panose="020B0604030504040204" pitchFamily="34" charset="0"/>
                        <a:ea typeface="宋体" panose="02010600030101010101" pitchFamily="2" charset="-122"/>
                      </a:rPr>
                      <a:t>-</a:t>
                    </a:r>
                    <a:endParaRPr lang="en-US" altLang="zh-CN" sz="3600" dirty="0">
                      <a:latin typeface="Verdana" panose="020B0604030504040204" pitchFamily="34" charset="0"/>
                      <a:ea typeface="宋体" panose="02010600030101010101" pitchFamily="2" charset="-122"/>
                    </a:endParaRPr>
                  </a:p>
                </p:txBody>
              </p:sp>
              <p:sp>
                <p:nvSpPr>
                  <p:cNvPr id="33837" name="Rectangle 46"/>
                  <p:cNvSpPr/>
                  <p:nvPr/>
                </p:nvSpPr>
                <p:spPr>
                  <a:xfrm>
                    <a:off x="0" y="1393"/>
                    <a:ext cx="447" cy="442"/>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33838" name="Group 47"/>
                <p:cNvGrpSpPr/>
                <p:nvPr/>
              </p:nvGrpSpPr>
              <p:grpSpPr>
                <a:xfrm>
                  <a:off x="447" y="1393"/>
                  <a:ext cx="426" cy="442"/>
                  <a:chOff x="447" y="1393"/>
                  <a:chExt cx="426" cy="442"/>
                </a:xfrm>
              </p:grpSpPr>
              <p:sp>
                <p:nvSpPr>
                  <p:cNvPr id="33839" name="Rectangle 48"/>
                  <p:cNvSpPr/>
                  <p:nvPr/>
                </p:nvSpPr>
                <p:spPr>
                  <a:xfrm>
                    <a:off x="490" y="1393"/>
                    <a:ext cx="340" cy="442"/>
                  </a:xfrm>
                  <a:prstGeom prst="rect">
                    <a:avLst/>
                  </a:prstGeom>
                  <a:noFill/>
                  <a:ln w="28575">
                    <a:noFill/>
                  </a:ln>
                </p:spPr>
                <p:txBody>
                  <a:bodyPr lIns="90000" tIns="46800" rIns="90000" bIns="46800" anchor="t" anchorCtr="0"/>
                  <a:p>
                    <a:r>
                      <a:rPr lang="en-US" altLang="zh-CN" sz="2400" dirty="0">
                        <a:latin typeface="Verdana" panose="020B0604030504040204" pitchFamily="34" charset="0"/>
                        <a:ea typeface="宋体" panose="02010600030101010101" pitchFamily="2" charset="-122"/>
                      </a:rPr>
                      <a:t>Y</a:t>
                    </a:r>
                    <a:endParaRPr lang="en-US" altLang="zh-CN" sz="2400" dirty="0">
                      <a:latin typeface="Verdana" panose="020B0604030504040204" pitchFamily="34" charset="0"/>
                      <a:ea typeface="宋体" panose="02010600030101010101" pitchFamily="2" charset="-122"/>
                    </a:endParaRPr>
                  </a:p>
                </p:txBody>
              </p:sp>
              <p:sp>
                <p:nvSpPr>
                  <p:cNvPr id="33840" name="Rectangle 49"/>
                  <p:cNvSpPr/>
                  <p:nvPr/>
                </p:nvSpPr>
                <p:spPr>
                  <a:xfrm>
                    <a:off x="447" y="1393"/>
                    <a:ext cx="426" cy="442"/>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33841" name="Group 50"/>
                <p:cNvGrpSpPr/>
                <p:nvPr/>
              </p:nvGrpSpPr>
              <p:grpSpPr>
                <a:xfrm>
                  <a:off x="873" y="1393"/>
                  <a:ext cx="426" cy="442"/>
                  <a:chOff x="873" y="1393"/>
                  <a:chExt cx="426" cy="442"/>
                </a:xfrm>
              </p:grpSpPr>
              <p:sp>
                <p:nvSpPr>
                  <p:cNvPr id="33842" name="Rectangle 51"/>
                  <p:cNvSpPr/>
                  <p:nvPr/>
                </p:nvSpPr>
                <p:spPr>
                  <a:xfrm>
                    <a:off x="916" y="1393"/>
                    <a:ext cx="340" cy="442"/>
                  </a:xfrm>
                  <a:prstGeom prst="rect">
                    <a:avLst/>
                  </a:prstGeom>
                  <a:noFill/>
                  <a:ln w="28575">
                    <a:noFill/>
                  </a:ln>
                </p:spPr>
                <p:txBody>
                  <a:bodyPr lIns="90000" tIns="46800" rIns="90000" bIns="46800" anchor="t" anchorCtr="0"/>
                  <a:p>
                    <a:r>
                      <a:rPr lang="en-US" altLang="zh-CN" sz="2400" dirty="0">
                        <a:latin typeface="Verdana" panose="020B0604030504040204" pitchFamily="34" charset="0"/>
                        <a:ea typeface="宋体" panose="02010600030101010101" pitchFamily="2" charset="-122"/>
                      </a:rPr>
                      <a:t>Y</a:t>
                    </a:r>
                    <a:endParaRPr lang="en-US" altLang="zh-CN" sz="2400" dirty="0">
                      <a:latin typeface="Verdana" panose="020B0604030504040204" pitchFamily="34" charset="0"/>
                      <a:ea typeface="宋体" panose="02010600030101010101" pitchFamily="2" charset="-122"/>
                    </a:endParaRPr>
                  </a:p>
                </p:txBody>
              </p:sp>
              <p:sp>
                <p:nvSpPr>
                  <p:cNvPr id="33843" name="Rectangle 52"/>
                  <p:cNvSpPr/>
                  <p:nvPr/>
                </p:nvSpPr>
                <p:spPr>
                  <a:xfrm>
                    <a:off x="873" y="1393"/>
                    <a:ext cx="426" cy="442"/>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nvGrpSpPr>
                <p:cNvPr id="33844" name="Group 53"/>
                <p:cNvGrpSpPr/>
                <p:nvPr/>
              </p:nvGrpSpPr>
              <p:grpSpPr>
                <a:xfrm>
                  <a:off x="1299" y="1393"/>
                  <a:ext cx="428" cy="442"/>
                  <a:chOff x="1299" y="1393"/>
                  <a:chExt cx="428" cy="442"/>
                </a:xfrm>
              </p:grpSpPr>
              <p:sp>
                <p:nvSpPr>
                  <p:cNvPr id="33845" name="Rectangle 54"/>
                  <p:cNvSpPr/>
                  <p:nvPr/>
                </p:nvSpPr>
                <p:spPr>
                  <a:xfrm>
                    <a:off x="1342" y="1393"/>
                    <a:ext cx="342" cy="442"/>
                  </a:xfrm>
                  <a:prstGeom prst="rect">
                    <a:avLst/>
                  </a:prstGeom>
                  <a:noFill/>
                  <a:ln w="28575">
                    <a:noFill/>
                  </a:ln>
                </p:spPr>
                <p:txBody>
                  <a:bodyPr lIns="90000" tIns="46800" rIns="90000" bIns="46800" anchor="t" anchorCtr="0"/>
                  <a:p>
                    <a:r>
                      <a:rPr lang="en-US" altLang="zh-CN" sz="2400" dirty="0">
                        <a:latin typeface="Verdana" panose="020B0604030504040204" pitchFamily="34" charset="0"/>
                        <a:ea typeface="宋体" panose="02010600030101010101" pitchFamily="2" charset="-122"/>
                      </a:rPr>
                      <a:t>Y</a:t>
                    </a:r>
                    <a:endParaRPr lang="en-US" altLang="zh-CN" sz="2400" dirty="0">
                      <a:latin typeface="Verdana" panose="020B0604030504040204" pitchFamily="34" charset="0"/>
                      <a:ea typeface="宋体" panose="02010600030101010101" pitchFamily="2" charset="-122"/>
                    </a:endParaRPr>
                  </a:p>
                </p:txBody>
              </p:sp>
              <p:sp>
                <p:nvSpPr>
                  <p:cNvPr id="33846" name="Rectangle 55"/>
                  <p:cNvSpPr/>
                  <p:nvPr/>
                </p:nvSpPr>
                <p:spPr>
                  <a:xfrm>
                    <a:off x="1299" y="1393"/>
                    <a:ext cx="428" cy="442"/>
                  </a:xfrm>
                  <a:prstGeom prst="rect">
                    <a:avLst/>
                  </a:prstGeom>
                  <a:noFill/>
                  <a:ln w="7"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grpSp>
          <p:sp>
            <p:nvSpPr>
              <p:cNvPr id="33847" name="Rectangle 56"/>
              <p:cNvSpPr/>
              <p:nvPr/>
            </p:nvSpPr>
            <p:spPr>
              <a:xfrm>
                <a:off x="-3" y="-3"/>
                <a:ext cx="1733" cy="1841"/>
              </a:xfrm>
              <a:prstGeom prst="rect">
                <a:avLst/>
              </a:prstGeom>
              <a:noFill/>
              <a:ln w="11112" cap="flat" cmpd="sng">
                <a:solidFill>
                  <a:srgbClr val="A0A0A0"/>
                </a:solidFill>
                <a:prstDash val="solid"/>
                <a:miter/>
                <a:headEnd type="none" w="med" len="med"/>
                <a:tailEnd type="none" w="med" len="med"/>
              </a:ln>
            </p:spPr>
            <p:txBody>
              <a:bodyPr wrap="none" lIns="90000" tIns="46800" rIns="90000" bIns="46800" anchor="ctr" anchorCtr="0"/>
              <a:p>
                <a:endParaRPr lang="zh-CN" altLang="en-US" dirty="0">
                  <a:latin typeface="Verdana" panose="020B0604030504040204" pitchFamily="34" charset="0"/>
                  <a:ea typeface="宋体" panose="02010600030101010101" pitchFamily="2" charset="-122"/>
                </a:endParaRPr>
              </a:p>
            </p:txBody>
          </p:sp>
        </p:grpSp>
        <p:sp>
          <p:nvSpPr>
            <p:cNvPr id="35848" name="Line 57"/>
            <p:cNvSpPr>
              <a:spLocks noChangeShapeType="1"/>
            </p:cNvSpPr>
            <p:nvPr/>
          </p:nvSpPr>
          <p:spPr bwMode="auto">
            <a:xfrm>
              <a:off x="612" y="1207"/>
              <a:ext cx="862" cy="363"/>
            </a:xfrm>
            <a:prstGeom prst="line">
              <a:avLst/>
            </a:prstGeom>
            <a:noFill/>
            <a:ln w="28575">
              <a:solidFill>
                <a:schemeClr val="tx1"/>
              </a:solidFill>
              <a:round/>
            </a:ln>
          </p:spPr>
          <p:txBody>
            <a:bodyPr wrap="none" lIns="90000" tIns="46800" rIns="90000" bIns="46800"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w="6350">
                  <a:solidFill>
                    <a:schemeClr val="tx1"/>
                  </a:solidFill>
                </a:ln>
                <a:solidFill>
                  <a:schemeClr val="tx1"/>
                </a:solidFill>
                <a:effectLst/>
                <a:uLnTx/>
                <a:uFillTx/>
                <a:latin typeface="Verdana" panose="020B0604030504040204" pitchFamily="34" charset="0"/>
                <a:ea typeface="宋体" panose="02010600030101010101" pitchFamily="2" charset="-122"/>
                <a:cs typeface="+mn-cs"/>
              </a:endParaRPr>
            </a:p>
          </p:txBody>
        </p:sp>
      </p:grpSp>
      <p:sp>
        <p:nvSpPr>
          <p:cNvPr id="33849" name="Text Box 58"/>
          <p:cNvSpPr txBox="1"/>
          <p:nvPr/>
        </p:nvSpPr>
        <p:spPr>
          <a:xfrm>
            <a:off x="827088" y="4941888"/>
            <a:ext cx="7632700" cy="366712"/>
          </a:xfrm>
          <a:prstGeom prst="rect">
            <a:avLst/>
          </a:prstGeom>
          <a:noFill/>
          <a:ln w="25400">
            <a:noFill/>
          </a:ln>
        </p:spPr>
        <p:txBody>
          <a:bodyPr anchor="t" anchorCtr="0">
            <a:spAutoFit/>
          </a:bodyPr>
          <a:p>
            <a:pPr marL="342900" indent="-342900"/>
            <a:endParaRPr lang="zh-CN" altLang="zh-CN" dirty="0">
              <a:latin typeface="Verdana" panose="020B0604030504040204" pitchFamily="34" charset="0"/>
              <a:ea typeface="宋体" panose="02010600030101010101" pitchFamily="2" charset="-122"/>
            </a:endParaRPr>
          </a:p>
        </p:txBody>
      </p:sp>
      <p:sp>
        <p:nvSpPr>
          <p:cNvPr id="33850" name="TextBox 1"/>
          <p:cNvSpPr txBox="1"/>
          <p:nvPr/>
        </p:nvSpPr>
        <p:spPr>
          <a:xfrm>
            <a:off x="1258888" y="1196975"/>
            <a:ext cx="4826000" cy="522288"/>
          </a:xfrm>
          <a:prstGeom prst="rect">
            <a:avLst/>
          </a:prstGeom>
          <a:noFill/>
          <a:ln w="9525">
            <a:noFill/>
          </a:ln>
        </p:spPr>
        <p:txBody>
          <a:bodyPr anchor="t" anchorCtr="0">
            <a:spAutoFit/>
          </a:bodyPr>
          <a:p>
            <a:r>
              <a:rPr lang="en-US" altLang="zh-CN" sz="2800" dirty="0">
                <a:latin typeface="Verdana" panose="020B0604030504040204" pitchFamily="34" charset="0"/>
                <a:ea typeface="宋体" panose="02010600030101010101" pitchFamily="2" charset="-122"/>
              </a:rPr>
              <a:t>X</a:t>
            </a:r>
            <a:r>
              <a:rPr lang="zh-CN" altLang="en-US" sz="2800" dirty="0">
                <a:latin typeface="Verdana" panose="020B0604030504040204" pitchFamily="34" charset="0"/>
                <a:ea typeface="宋体" panose="02010600030101010101" pitchFamily="2" charset="-122"/>
              </a:rPr>
              <a:t>：写锁     </a:t>
            </a:r>
            <a:r>
              <a:rPr lang="en-US" altLang="zh-CN" sz="2800" dirty="0">
                <a:latin typeface="Verdana" panose="020B0604030504040204" pitchFamily="34" charset="0"/>
                <a:ea typeface="宋体" panose="02010600030101010101" pitchFamily="2" charset="-122"/>
              </a:rPr>
              <a:t>S</a:t>
            </a:r>
            <a:r>
              <a:rPr lang="zh-CN" altLang="en-US" sz="2800" dirty="0">
                <a:latin typeface="Verdana" panose="020B0604030504040204" pitchFamily="34" charset="0"/>
                <a:ea typeface="宋体" panose="02010600030101010101" pitchFamily="2" charset="-122"/>
              </a:rPr>
              <a:t>：读锁</a:t>
            </a:r>
            <a:endParaRPr lang="zh-CN" altLang="en-US" sz="2800"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2"/>
          <p:cNvSpPr>
            <a:spLocks noGrp="1"/>
          </p:cNvSpPr>
          <p:nvPr>
            <p:ph type="title"/>
          </p:nvPr>
        </p:nvSpPr>
        <p:spPr>
          <a:ln/>
        </p:spPr>
        <p:txBody>
          <a:bodyPr vert="horz" wrap="square" lIns="91440" tIns="45720" rIns="91440" bIns="45720" anchor="b" anchorCtr="0"/>
          <a:p>
            <a:pPr eaLnBrk="1" hangingPunct="1"/>
            <a:r>
              <a:rPr lang="zh-CN" altLang="en-US" dirty="0"/>
              <a:t>排它锁</a:t>
            </a:r>
            <a:endParaRPr lang="zh-CN" altLang="en-US" dirty="0"/>
          </a:p>
        </p:txBody>
      </p:sp>
      <p:sp>
        <p:nvSpPr>
          <p:cNvPr id="34818" name="Rectangle 3"/>
          <p:cNvSpPr>
            <a:spLocks noGrp="1"/>
          </p:cNvSpPr>
          <p:nvPr>
            <p:ph idx="1"/>
          </p:nvPr>
        </p:nvSpPr>
        <p:spPr>
          <a:ln/>
        </p:spPr>
        <p:txBody>
          <a:bodyPr vert="horz" wrap="square" lIns="91440" tIns="45720" rIns="91440" bIns="45720" anchor="t" anchorCtr="0"/>
          <a:p>
            <a:pPr eaLnBrk="1" hangingPunct="1">
              <a:lnSpc>
                <a:spcPct val="110000"/>
              </a:lnSpc>
              <a:spcBef>
                <a:spcPct val="60000"/>
              </a:spcBef>
            </a:pPr>
            <a:r>
              <a:rPr lang="zh-CN" altLang="en-US" dirty="0"/>
              <a:t>排它锁又称为</a:t>
            </a:r>
            <a:r>
              <a:rPr lang="zh-CN" altLang="en-US" b="1" dirty="0">
                <a:solidFill>
                  <a:srgbClr val="FF0000"/>
                </a:solidFill>
              </a:rPr>
              <a:t>写锁</a:t>
            </a:r>
            <a:endParaRPr lang="zh-CN" altLang="en-US" b="1" dirty="0">
              <a:solidFill>
                <a:srgbClr val="FF0000"/>
              </a:solidFill>
            </a:endParaRPr>
          </a:p>
          <a:p>
            <a:pPr eaLnBrk="1" hangingPunct="1">
              <a:lnSpc>
                <a:spcPct val="110000"/>
              </a:lnSpc>
              <a:spcBef>
                <a:spcPct val="60000"/>
              </a:spcBef>
            </a:pPr>
            <a:r>
              <a:rPr lang="zh-CN" altLang="en-US" dirty="0"/>
              <a:t>若事务</a:t>
            </a:r>
            <a:r>
              <a:rPr lang="en-US" altLang="zh-CN" dirty="0"/>
              <a:t>T</a:t>
            </a:r>
            <a:r>
              <a:rPr lang="zh-CN" altLang="en-US" dirty="0"/>
              <a:t>对数据对象</a:t>
            </a:r>
            <a:r>
              <a:rPr lang="en-US" altLang="zh-CN" dirty="0"/>
              <a:t>A</a:t>
            </a:r>
            <a:r>
              <a:rPr lang="zh-CN" altLang="en-US" dirty="0"/>
              <a:t>加上</a:t>
            </a:r>
            <a:r>
              <a:rPr lang="en-US" altLang="zh-CN" dirty="0"/>
              <a:t>X</a:t>
            </a:r>
            <a:r>
              <a:rPr lang="zh-CN" altLang="en-US" dirty="0"/>
              <a:t>锁，则只允许</a:t>
            </a:r>
            <a:r>
              <a:rPr lang="en-US" altLang="zh-CN" dirty="0"/>
              <a:t>T</a:t>
            </a:r>
            <a:r>
              <a:rPr lang="zh-CN" altLang="en-US" dirty="0"/>
              <a:t>读取和修改</a:t>
            </a:r>
            <a:r>
              <a:rPr lang="en-US" altLang="zh-CN" dirty="0"/>
              <a:t>A</a:t>
            </a:r>
            <a:r>
              <a:rPr lang="zh-CN" altLang="en-US" dirty="0"/>
              <a:t>，</a:t>
            </a:r>
            <a:r>
              <a:rPr lang="zh-CN" altLang="en-US" dirty="0">
                <a:solidFill>
                  <a:srgbClr val="0000FF"/>
                </a:solidFill>
              </a:rPr>
              <a:t>其它任何事务都不能再对</a:t>
            </a:r>
            <a:r>
              <a:rPr lang="en-US" altLang="zh-CN" dirty="0">
                <a:solidFill>
                  <a:srgbClr val="0000FF"/>
                </a:solidFill>
              </a:rPr>
              <a:t>A</a:t>
            </a:r>
            <a:r>
              <a:rPr lang="zh-CN" altLang="en-US" dirty="0">
                <a:solidFill>
                  <a:srgbClr val="0000FF"/>
                </a:solidFill>
              </a:rPr>
              <a:t>加任何类型的锁，直到</a:t>
            </a:r>
            <a:r>
              <a:rPr lang="en-US" altLang="zh-CN" dirty="0">
                <a:solidFill>
                  <a:srgbClr val="0000FF"/>
                </a:solidFill>
              </a:rPr>
              <a:t>T</a:t>
            </a:r>
            <a:r>
              <a:rPr lang="zh-CN" altLang="en-US" dirty="0">
                <a:solidFill>
                  <a:srgbClr val="0000FF"/>
                </a:solidFill>
              </a:rPr>
              <a:t>释放</a:t>
            </a:r>
            <a:r>
              <a:rPr lang="en-US" altLang="zh-CN" dirty="0">
                <a:solidFill>
                  <a:srgbClr val="0000FF"/>
                </a:solidFill>
              </a:rPr>
              <a:t>A</a:t>
            </a:r>
            <a:r>
              <a:rPr lang="zh-CN" altLang="en-US" dirty="0">
                <a:solidFill>
                  <a:srgbClr val="0000FF"/>
                </a:solidFill>
              </a:rPr>
              <a:t>上的锁</a:t>
            </a:r>
            <a:endParaRPr lang="zh-CN" altLang="en-US" dirty="0">
              <a:solidFill>
                <a:srgbClr val="0000FF"/>
              </a:solidFill>
            </a:endParaRPr>
          </a:p>
          <a:p>
            <a:pPr eaLnBrk="1" hangingPunct="1">
              <a:lnSpc>
                <a:spcPct val="110000"/>
              </a:lnSpc>
              <a:spcBef>
                <a:spcPct val="60000"/>
              </a:spcBef>
            </a:pPr>
            <a:r>
              <a:rPr lang="zh-CN" altLang="en-US" dirty="0"/>
              <a:t>保证其他事务在</a:t>
            </a:r>
            <a:r>
              <a:rPr lang="en-US" altLang="zh-CN" dirty="0"/>
              <a:t>T</a:t>
            </a:r>
            <a:r>
              <a:rPr lang="zh-CN" altLang="en-US" dirty="0"/>
              <a:t>释放</a:t>
            </a:r>
            <a:r>
              <a:rPr lang="en-US" altLang="zh-CN" dirty="0"/>
              <a:t>A</a:t>
            </a:r>
            <a:r>
              <a:rPr lang="zh-CN" altLang="en-US" dirty="0"/>
              <a:t>上的锁之前不能再读取和修改</a:t>
            </a:r>
            <a:r>
              <a:rPr lang="en-US" altLang="zh-CN" dirty="0"/>
              <a:t>A </a:t>
            </a:r>
            <a:endParaRPr lang="en-US" altLang="zh-CN" dirty="0"/>
          </a:p>
        </p:txBody>
      </p:sp>
    </p:spTree>
  </p:cSld>
  <p:clrMapOvr>
    <a:masterClrMapping/>
  </p:clrMapOvr>
  <p:transition advClick="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2"/>
          <p:cNvSpPr>
            <a:spLocks noGrp="1"/>
          </p:cNvSpPr>
          <p:nvPr>
            <p:ph type="title"/>
          </p:nvPr>
        </p:nvSpPr>
        <p:spPr>
          <a:ln/>
        </p:spPr>
        <p:txBody>
          <a:bodyPr vert="horz" wrap="square" lIns="91440" tIns="45720" rIns="91440" bIns="45720" anchor="b" anchorCtr="0"/>
          <a:p>
            <a:pPr eaLnBrk="1" hangingPunct="1"/>
            <a:r>
              <a:rPr lang="zh-CN" altLang="en-US" dirty="0"/>
              <a:t>共享锁</a:t>
            </a:r>
            <a:endParaRPr lang="zh-CN" altLang="en-US" dirty="0"/>
          </a:p>
        </p:txBody>
      </p:sp>
      <p:sp>
        <p:nvSpPr>
          <p:cNvPr id="35842" name="Rectangle 3"/>
          <p:cNvSpPr>
            <a:spLocks noGrp="1"/>
          </p:cNvSpPr>
          <p:nvPr>
            <p:ph idx="1"/>
          </p:nvPr>
        </p:nvSpPr>
        <p:spPr>
          <a:ln/>
        </p:spPr>
        <p:txBody>
          <a:bodyPr vert="horz" wrap="square" lIns="91440" tIns="45720" rIns="91440" bIns="45720" anchor="t" anchorCtr="0"/>
          <a:p>
            <a:pPr eaLnBrk="1" hangingPunct="1"/>
            <a:r>
              <a:rPr lang="zh-CN" altLang="en-US" dirty="0"/>
              <a:t>共享锁又称为</a:t>
            </a:r>
            <a:r>
              <a:rPr lang="zh-CN" altLang="en-US" b="1" dirty="0">
                <a:solidFill>
                  <a:srgbClr val="FF0000"/>
                </a:solidFill>
              </a:rPr>
              <a:t>读锁</a:t>
            </a:r>
            <a:endParaRPr lang="zh-CN" altLang="en-US" b="1" dirty="0">
              <a:solidFill>
                <a:srgbClr val="FF0000"/>
              </a:solidFill>
            </a:endParaRPr>
          </a:p>
          <a:p>
            <a:pPr eaLnBrk="1" hangingPunct="1">
              <a:lnSpc>
                <a:spcPct val="110000"/>
              </a:lnSpc>
              <a:spcBef>
                <a:spcPct val="60000"/>
              </a:spcBef>
            </a:pPr>
            <a:r>
              <a:rPr lang="zh-CN" altLang="en-US" dirty="0"/>
              <a:t>若事务</a:t>
            </a:r>
            <a:r>
              <a:rPr lang="en-US" altLang="zh-CN" dirty="0"/>
              <a:t>T</a:t>
            </a:r>
            <a:r>
              <a:rPr lang="zh-CN" altLang="en-US" dirty="0"/>
              <a:t>对数据对象</a:t>
            </a:r>
            <a:r>
              <a:rPr lang="en-US" altLang="zh-CN" dirty="0"/>
              <a:t>A</a:t>
            </a:r>
            <a:r>
              <a:rPr lang="zh-CN" altLang="en-US" dirty="0"/>
              <a:t>加上</a:t>
            </a:r>
            <a:r>
              <a:rPr lang="en-US" altLang="zh-CN" dirty="0"/>
              <a:t>S</a:t>
            </a:r>
            <a:r>
              <a:rPr lang="zh-CN" altLang="en-US" dirty="0"/>
              <a:t>锁，则</a:t>
            </a:r>
            <a:r>
              <a:rPr lang="zh-CN" altLang="en-US" dirty="0">
                <a:solidFill>
                  <a:srgbClr val="0000FF"/>
                </a:solidFill>
              </a:rPr>
              <a:t>其它事务只能再对</a:t>
            </a:r>
            <a:r>
              <a:rPr lang="en-US" altLang="zh-CN" dirty="0">
                <a:solidFill>
                  <a:srgbClr val="0000FF"/>
                </a:solidFill>
              </a:rPr>
              <a:t>A</a:t>
            </a:r>
            <a:r>
              <a:rPr lang="zh-CN" altLang="en-US" dirty="0">
                <a:solidFill>
                  <a:srgbClr val="0000FF"/>
                </a:solidFill>
              </a:rPr>
              <a:t>加</a:t>
            </a:r>
            <a:r>
              <a:rPr lang="en-US" altLang="zh-CN" dirty="0">
                <a:solidFill>
                  <a:srgbClr val="0000FF"/>
                </a:solidFill>
              </a:rPr>
              <a:t>S</a:t>
            </a:r>
            <a:r>
              <a:rPr lang="zh-CN" altLang="en-US" dirty="0">
                <a:solidFill>
                  <a:srgbClr val="0000FF"/>
                </a:solidFill>
              </a:rPr>
              <a:t>锁，而不能加</a:t>
            </a:r>
            <a:r>
              <a:rPr lang="en-US" altLang="zh-CN" dirty="0">
                <a:solidFill>
                  <a:srgbClr val="0000FF"/>
                </a:solidFill>
              </a:rPr>
              <a:t>X</a:t>
            </a:r>
            <a:r>
              <a:rPr lang="zh-CN" altLang="en-US" dirty="0">
                <a:solidFill>
                  <a:srgbClr val="0000FF"/>
                </a:solidFill>
              </a:rPr>
              <a:t>锁，直到</a:t>
            </a:r>
            <a:r>
              <a:rPr lang="en-US" altLang="zh-CN" dirty="0">
                <a:solidFill>
                  <a:srgbClr val="0000FF"/>
                </a:solidFill>
              </a:rPr>
              <a:t>T</a:t>
            </a:r>
            <a:r>
              <a:rPr lang="zh-CN" altLang="en-US" dirty="0">
                <a:solidFill>
                  <a:srgbClr val="0000FF"/>
                </a:solidFill>
              </a:rPr>
              <a:t>释放</a:t>
            </a:r>
            <a:r>
              <a:rPr lang="en-US" altLang="zh-CN" dirty="0">
                <a:solidFill>
                  <a:srgbClr val="0000FF"/>
                </a:solidFill>
              </a:rPr>
              <a:t>A</a:t>
            </a:r>
            <a:r>
              <a:rPr lang="zh-CN" altLang="en-US" dirty="0">
                <a:solidFill>
                  <a:srgbClr val="0000FF"/>
                </a:solidFill>
              </a:rPr>
              <a:t>上的</a:t>
            </a:r>
            <a:r>
              <a:rPr lang="en-US" altLang="zh-CN" dirty="0">
                <a:solidFill>
                  <a:srgbClr val="0000FF"/>
                </a:solidFill>
              </a:rPr>
              <a:t>S</a:t>
            </a:r>
            <a:r>
              <a:rPr lang="zh-CN" altLang="en-US" dirty="0">
                <a:solidFill>
                  <a:srgbClr val="0000FF"/>
                </a:solidFill>
              </a:rPr>
              <a:t>锁</a:t>
            </a:r>
            <a:endParaRPr lang="zh-CN" altLang="en-US" dirty="0">
              <a:solidFill>
                <a:srgbClr val="0000FF"/>
              </a:solidFill>
            </a:endParaRPr>
          </a:p>
          <a:p>
            <a:pPr eaLnBrk="1" hangingPunct="1">
              <a:lnSpc>
                <a:spcPct val="110000"/>
              </a:lnSpc>
              <a:spcBef>
                <a:spcPct val="60000"/>
              </a:spcBef>
            </a:pPr>
            <a:r>
              <a:rPr lang="zh-CN" altLang="en-US" dirty="0"/>
              <a:t>保证其他事务可以读</a:t>
            </a:r>
            <a:r>
              <a:rPr lang="en-US" altLang="zh-CN" dirty="0"/>
              <a:t>A</a:t>
            </a:r>
            <a:r>
              <a:rPr lang="zh-CN" altLang="en-US" dirty="0"/>
              <a:t>，但在</a:t>
            </a:r>
            <a:r>
              <a:rPr lang="en-US" altLang="zh-CN" dirty="0"/>
              <a:t>T</a:t>
            </a:r>
            <a:r>
              <a:rPr lang="zh-CN" altLang="en-US" dirty="0"/>
              <a:t>释放</a:t>
            </a:r>
            <a:r>
              <a:rPr lang="en-US" altLang="zh-CN" dirty="0"/>
              <a:t>A</a:t>
            </a:r>
            <a:r>
              <a:rPr lang="zh-CN" altLang="en-US" dirty="0"/>
              <a:t>上的</a:t>
            </a:r>
            <a:r>
              <a:rPr lang="en-US" altLang="zh-CN" dirty="0"/>
              <a:t>S</a:t>
            </a:r>
            <a:r>
              <a:rPr lang="zh-CN" altLang="en-US" dirty="0"/>
              <a:t>锁之前不能对</a:t>
            </a:r>
            <a:r>
              <a:rPr lang="en-US" altLang="zh-CN" dirty="0"/>
              <a:t>A</a:t>
            </a:r>
            <a:r>
              <a:rPr lang="zh-CN" altLang="en-US" dirty="0"/>
              <a:t>做任何修改 </a:t>
            </a:r>
            <a:endParaRPr lang="zh-CN" altLang="en-US" dirty="0"/>
          </a:p>
          <a:p>
            <a:pPr eaLnBrk="1" hangingPunct="1">
              <a:lnSpc>
                <a:spcPct val="110000"/>
              </a:lnSpc>
              <a:spcBef>
                <a:spcPct val="60000"/>
              </a:spcBef>
            </a:pPr>
            <a:endParaRPr lang="en-US" altLang="zh-CN" dirty="0"/>
          </a:p>
        </p:txBody>
      </p:sp>
    </p:spTree>
  </p:cSld>
  <p:clrMapOvr>
    <a:masterClrMapping/>
  </p:clrMapOvr>
  <p:transition advClick="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2"/>
          <p:cNvSpPr>
            <a:spLocks noGrp="1"/>
          </p:cNvSpPr>
          <p:nvPr>
            <p:ph type="title"/>
          </p:nvPr>
        </p:nvSpPr>
        <p:spPr>
          <a:ln/>
        </p:spPr>
        <p:txBody>
          <a:bodyPr vert="horz" wrap="square" lIns="91440" tIns="45720" rIns="91440" bIns="45720" anchor="b" anchorCtr="0"/>
          <a:p>
            <a:pPr eaLnBrk="1" hangingPunct="1"/>
            <a:r>
              <a:rPr lang="zh-CN" altLang="en-US" dirty="0"/>
              <a:t>锁的相容矩阵（续）</a:t>
            </a:r>
            <a:endParaRPr lang="zh-CN" altLang="en-US" dirty="0"/>
          </a:p>
        </p:txBody>
      </p:sp>
      <p:sp>
        <p:nvSpPr>
          <p:cNvPr id="36866" name="Rectangle 3"/>
          <p:cNvSpPr>
            <a:spLocks noGrp="1"/>
          </p:cNvSpPr>
          <p:nvPr>
            <p:ph idx="1"/>
          </p:nvPr>
        </p:nvSpPr>
        <p:spPr>
          <a:ln/>
        </p:spPr>
        <p:txBody>
          <a:bodyPr vert="horz" wrap="square" lIns="91440" tIns="45720" rIns="91440" bIns="45720" anchor="t" anchorCtr="0"/>
          <a:p>
            <a:pPr eaLnBrk="1" hangingPunct="1">
              <a:lnSpc>
                <a:spcPct val="120000"/>
              </a:lnSpc>
              <a:spcBef>
                <a:spcPct val="0"/>
              </a:spcBef>
              <a:buClr>
                <a:schemeClr val="accent1"/>
              </a:buClr>
              <a:buNone/>
            </a:pPr>
            <a:r>
              <a:rPr lang="zh-CN" altLang="en-US" sz="2400" dirty="0"/>
              <a:t>在锁的相容矩阵中：</a:t>
            </a:r>
            <a:endParaRPr lang="zh-CN" altLang="en-US" sz="2400" dirty="0"/>
          </a:p>
          <a:p>
            <a:pPr eaLnBrk="1" hangingPunct="1">
              <a:lnSpc>
                <a:spcPct val="120000"/>
              </a:lnSpc>
              <a:spcBef>
                <a:spcPct val="0"/>
              </a:spcBef>
              <a:buClr>
                <a:schemeClr val="accent1"/>
              </a:buClr>
            </a:pPr>
            <a:r>
              <a:rPr lang="zh-CN" altLang="en-US" sz="2400" dirty="0"/>
              <a:t>最左边一列表示事务</a:t>
            </a:r>
            <a:r>
              <a:rPr lang="en-US" altLang="zh-CN" sz="2400" dirty="0"/>
              <a:t>T1</a:t>
            </a:r>
            <a:r>
              <a:rPr lang="zh-CN" altLang="en-US" sz="2400" dirty="0"/>
              <a:t>已经获得的数据对象上的锁的类型，其中横线表示没有加锁。</a:t>
            </a:r>
            <a:endParaRPr lang="zh-CN" altLang="en-US" sz="2400" dirty="0"/>
          </a:p>
          <a:p>
            <a:pPr eaLnBrk="1" hangingPunct="1">
              <a:lnSpc>
                <a:spcPct val="120000"/>
              </a:lnSpc>
              <a:spcBef>
                <a:spcPct val="0"/>
              </a:spcBef>
              <a:buClr>
                <a:schemeClr val="accent1"/>
              </a:buClr>
            </a:pPr>
            <a:r>
              <a:rPr lang="zh-CN" altLang="en-US" sz="2400" dirty="0"/>
              <a:t>最上面一行表示另一事务</a:t>
            </a:r>
            <a:r>
              <a:rPr lang="en-US" altLang="zh-CN" sz="2400" dirty="0"/>
              <a:t>T2</a:t>
            </a:r>
            <a:r>
              <a:rPr lang="zh-CN" altLang="en-US" sz="2400" dirty="0"/>
              <a:t>对同一数据对象发出的封锁请求。</a:t>
            </a:r>
            <a:endParaRPr lang="zh-CN" altLang="en-US" sz="2400" dirty="0"/>
          </a:p>
          <a:p>
            <a:pPr eaLnBrk="1" hangingPunct="1">
              <a:lnSpc>
                <a:spcPct val="120000"/>
              </a:lnSpc>
              <a:spcBef>
                <a:spcPct val="0"/>
              </a:spcBef>
              <a:buClr>
                <a:schemeClr val="accent1"/>
              </a:buClr>
            </a:pPr>
            <a:r>
              <a:rPr lang="en-US" altLang="zh-CN" sz="2400" dirty="0"/>
              <a:t>T2</a:t>
            </a:r>
            <a:r>
              <a:rPr lang="zh-CN" altLang="en-US" sz="2400" dirty="0"/>
              <a:t>的封锁请求能否被满足用矩阵中的</a:t>
            </a:r>
            <a:r>
              <a:rPr lang="en-US" altLang="zh-CN" sz="2400" dirty="0"/>
              <a:t>Y</a:t>
            </a:r>
            <a:r>
              <a:rPr lang="zh-CN" altLang="en-US" sz="2400" dirty="0"/>
              <a:t>和</a:t>
            </a:r>
            <a:r>
              <a:rPr lang="en-US" altLang="zh-CN" sz="2400" dirty="0"/>
              <a:t>N</a:t>
            </a:r>
            <a:r>
              <a:rPr lang="zh-CN" altLang="en-US" sz="2400" dirty="0"/>
              <a:t>表示</a:t>
            </a:r>
            <a:endParaRPr lang="zh-CN" altLang="en-US" sz="2400" dirty="0"/>
          </a:p>
          <a:p>
            <a:pPr lvl="1" indent="-436245" eaLnBrk="1" hangingPunct="1">
              <a:lnSpc>
                <a:spcPct val="120000"/>
              </a:lnSpc>
              <a:spcBef>
                <a:spcPct val="0"/>
              </a:spcBef>
            </a:pPr>
            <a:r>
              <a:rPr lang="en-US" altLang="zh-CN" sz="2200" dirty="0"/>
              <a:t>Y</a:t>
            </a:r>
            <a:r>
              <a:rPr lang="zh-CN" altLang="en-US" sz="2200" dirty="0"/>
              <a:t>表示事务</a:t>
            </a:r>
            <a:r>
              <a:rPr lang="en-US" altLang="zh-CN" sz="2200" dirty="0"/>
              <a:t>T2</a:t>
            </a:r>
            <a:r>
              <a:rPr lang="zh-CN" altLang="en-US" sz="2200" dirty="0"/>
              <a:t>的封锁要求与</a:t>
            </a:r>
            <a:r>
              <a:rPr lang="en-US" altLang="zh-CN" sz="2200" dirty="0"/>
              <a:t>T1</a:t>
            </a:r>
            <a:r>
              <a:rPr lang="zh-CN" altLang="en-US" sz="2200" dirty="0"/>
              <a:t>已持有的锁相容，封锁请求可以满足</a:t>
            </a:r>
            <a:endParaRPr lang="zh-CN" altLang="en-US" sz="2200" dirty="0"/>
          </a:p>
          <a:p>
            <a:pPr lvl="1" indent="-436245" eaLnBrk="1" hangingPunct="1">
              <a:lnSpc>
                <a:spcPct val="120000"/>
              </a:lnSpc>
              <a:spcBef>
                <a:spcPct val="0"/>
              </a:spcBef>
            </a:pPr>
            <a:r>
              <a:rPr lang="en-US" altLang="zh-CN" sz="2200" dirty="0"/>
              <a:t>N</a:t>
            </a:r>
            <a:r>
              <a:rPr lang="zh-CN" altLang="en-US" sz="2200" dirty="0"/>
              <a:t>表示</a:t>
            </a:r>
            <a:r>
              <a:rPr lang="en-US" altLang="zh-CN" sz="2200" dirty="0"/>
              <a:t>T2</a:t>
            </a:r>
            <a:r>
              <a:rPr lang="zh-CN" altLang="en-US" sz="2200" dirty="0"/>
              <a:t>的封锁请求与</a:t>
            </a:r>
            <a:r>
              <a:rPr lang="en-US" altLang="zh-CN" sz="2200" dirty="0"/>
              <a:t>T1</a:t>
            </a:r>
            <a:r>
              <a:rPr lang="zh-CN" altLang="en-US" sz="2200" dirty="0"/>
              <a:t>已持有的锁冲突，</a:t>
            </a:r>
            <a:r>
              <a:rPr lang="en-US" altLang="zh-CN" sz="2200" dirty="0"/>
              <a:t>T2</a:t>
            </a:r>
            <a:r>
              <a:rPr lang="zh-CN" altLang="en-US" sz="2200" dirty="0"/>
              <a:t>的请求被拒绝</a:t>
            </a:r>
            <a:endParaRPr lang="zh-CN" altLang="en-US" sz="2000" dirty="0"/>
          </a:p>
        </p:txBody>
      </p:sp>
    </p:spTree>
  </p:cSld>
  <p:clrMapOvr>
    <a:masterClrMapping/>
  </p:clrMapOvr>
  <p:transition advClick="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2"/>
          <p:cNvSpPr>
            <a:spLocks noGrp="1"/>
          </p:cNvSpPr>
          <p:nvPr>
            <p:ph type="title"/>
          </p:nvPr>
        </p:nvSpPr>
        <p:spPr>
          <a:xfrm>
            <a:off x="428625" y="428625"/>
            <a:ext cx="7391400" cy="563563"/>
          </a:xfrm>
          <a:ln/>
        </p:spPr>
        <p:txBody>
          <a:bodyPr vert="horz" wrap="square" lIns="91440" tIns="45720" rIns="91440" bIns="45720" anchor="b" anchorCtr="0"/>
          <a:p>
            <a:pPr eaLnBrk="1" hangingPunct="1"/>
            <a:r>
              <a:rPr lang="zh-CN" altLang="en-US" dirty="0"/>
              <a:t>使用封锁机制解决丢失修改问题</a:t>
            </a:r>
            <a:endParaRPr lang="zh-CN" altLang="en-US" dirty="0"/>
          </a:p>
        </p:txBody>
      </p:sp>
      <p:graphicFrame>
        <p:nvGraphicFramePr>
          <p:cNvPr id="482543" name="Group 239"/>
          <p:cNvGraphicFramePr>
            <a:graphicFrameLocks noGrp="1"/>
          </p:cNvGraphicFramePr>
          <p:nvPr>
            <p:ph idx="1"/>
          </p:nvPr>
        </p:nvGraphicFramePr>
        <p:xfrm>
          <a:off x="214313" y="1214438"/>
          <a:ext cx="5194300" cy="4906963"/>
        </p:xfrm>
        <a:graphic>
          <a:graphicData uri="http://schemas.openxmlformats.org/drawingml/2006/table">
            <a:tbl>
              <a:tblPr/>
              <a:tblGrid>
                <a:gridCol w="2597150"/>
                <a:gridCol w="2597150"/>
              </a:tblGrid>
              <a:tr h="350497">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7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7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7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0497">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① Xlock A</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② R(A)=16</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A</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③ A←A-1</a:t>
                      </a:r>
                      <a:endParaRPr kumimoji="1" lang="en-US" altLang="zh-CN" sz="17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W(A)=15</a:t>
                      </a:r>
                      <a:endParaRPr kumimoji="1" lang="en-US" altLang="zh-CN" sz="17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Commit</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Unlock A</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④</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获得</a:t>
                      </a: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A</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R(A)=15</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A←A-1</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⑤</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W(A)=14</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Commit</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endParaRPr kumimoji="1" lang="en-US" altLang="zh-CN" sz="17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bl>
          </a:graphicData>
        </a:graphic>
      </p:graphicFrame>
      <p:sp>
        <p:nvSpPr>
          <p:cNvPr id="37937" name="Text Box 240"/>
          <p:cNvSpPr txBox="1"/>
          <p:nvPr/>
        </p:nvSpPr>
        <p:spPr>
          <a:xfrm>
            <a:off x="5572125" y="1643063"/>
            <a:ext cx="3095625" cy="4137025"/>
          </a:xfrm>
          <a:prstGeom prst="rect">
            <a:avLst/>
          </a:prstGeom>
          <a:noFill/>
          <a:ln w="25400">
            <a:noFill/>
          </a:ln>
        </p:spPr>
        <p:txBody>
          <a:bodyPr anchor="t" anchorCtr="0">
            <a:spAutoFit/>
          </a:bodyPr>
          <a:p>
            <a:pPr marL="342900" indent="-342900">
              <a:spcBef>
                <a:spcPct val="50000"/>
              </a:spcBef>
              <a:buClr>
                <a:schemeClr val="accent1"/>
              </a:buClr>
              <a:buFont typeface="Wingdings" panose="05000000000000000000" pitchFamily="2" charset="2"/>
              <a:buChar char="n"/>
            </a:pPr>
            <a:r>
              <a:rPr lang="zh-CN" altLang="en-US" sz="1900" dirty="0">
                <a:latin typeface="Verdana" panose="020B0604030504040204" pitchFamily="34" charset="0"/>
                <a:ea typeface="宋体" panose="02010600030101010101" pitchFamily="2" charset="-122"/>
              </a:rPr>
              <a:t>事务</a:t>
            </a:r>
            <a:r>
              <a:rPr lang="en-US" altLang="zh-CN" sz="1900" dirty="0">
                <a:latin typeface="Verdana" panose="020B0604030504040204" pitchFamily="34" charset="0"/>
                <a:ea typeface="宋体" panose="02010600030101010101" pitchFamily="2" charset="-122"/>
              </a:rPr>
              <a:t>T1</a:t>
            </a:r>
            <a:r>
              <a:rPr lang="zh-CN" altLang="en-US" sz="1900" dirty="0">
                <a:latin typeface="Verdana" panose="020B0604030504040204" pitchFamily="34" charset="0"/>
                <a:ea typeface="宋体" panose="02010600030101010101" pitchFamily="2" charset="-122"/>
              </a:rPr>
              <a:t>在读</a:t>
            </a:r>
            <a:r>
              <a:rPr lang="en-US" altLang="zh-CN" sz="1900" dirty="0">
                <a:latin typeface="Verdana" panose="020B0604030504040204" pitchFamily="34" charset="0"/>
                <a:ea typeface="宋体" panose="02010600030101010101" pitchFamily="2" charset="-122"/>
              </a:rPr>
              <a:t>A</a:t>
            </a:r>
            <a:r>
              <a:rPr lang="zh-CN" altLang="en-US" sz="1900" dirty="0">
                <a:latin typeface="Verdana" panose="020B0604030504040204" pitchFamily="34" charset="0"/>
                <a:ea typeface="宋体" panose="02010600030101010101" pitchFamily="2" charset="-122"/>
              </a:rPr>
              <a:t>进行修改之前先对</a:t>
            </a:r>
            <a:r>
              <a:rPr lang="en-US" altLang="zh-CN" sz="1900" dirty="0">
                <a:latin typeface="Verdana" panose="020B0604030504040204" pitchFamily="34" charset="0"/>
                <a:ea typeface="宋体" panose="02010600030101010101" pitchFamily="2" charset="-122"/>
              </a:rPr>
              <a:t>A</a:t>
            </a:r>
            <a:r>
              <a:rPr lang="zh-CN" altLang="en-US" sz="1900" dirty="0">
                <a:latin typeface="Verdana" panose="020B0604030504040204" pitchFamily="34" charset="0"/>
                <a:ea typeface="宋体" panose="02010600030101010101" pitchFamily="2" charset="-122"/>
              </a:rPr>
              <a:t>加</a:t>
            </a:r>
            <a:r>
              <a:rPr lang="en-US" altLang="zh-CN" sz="1900" dirty="0">
                <a:latin typeface="Verdana" panose="020B0604030504040204" pitchFamily="34" charset="0"/>
                <a:ea typeface="宋体" panose="02010600030101010101" pitchFamily="2" charset="-122"/>
              </a:rPr>
              <a:t>X</a:t>
            </a:r>
            <a:r>
              <a:rPr lang="zh-CN" altLang="en-US" sz="1900" dirty="0">
                <a:latin typeface="Verdana" panose="020B0604030504040204" pitchFamily="34" charset="0"/>
                <a:ea typeface="宋体" panose="02010600030101010101" pitchFamily="2" charset="-122"/>
              </a:rPr>
              <a:t>锁</a:t>
            </a:r>
            <a:endParaRPr lang="zh-CN" altLang="en-US" sz="1900" dirty="0">
              <a:latin typeface="Verdana" panose="020B0604030504040204" pitchFamily="34" charset="0"/>
              <a:ea typeface="宋体" panose="02010600030101010101" pitchFamily="2" charset="-122"/>
            </a:endParaRPr>
          </a:p>
          <a:p>
            <a:pPr marL="342900" indent="-342900">
              <a:spcBef>
                <a:spcPct val="50000"/>
              </a:spcBef>
              <a:buClr>
                <a:schemeClr val="accent1"/>
              </a:buClr>
              <a:buFont typeface="Wingdings" panose="05000000000000000000" pitchFamily="2" charset="2"/>
              <a:buChar char="n"/>
            </a:pPr>
            <a:r>
              <a:rPr lang="zh-CN" altLang="en-US" sz="1900" dirty="0">
                <a:latin typeface="Verdana" panose="020B0604030504040204" pitchFamily="34" charset="0"/>
                <a:ea typeface="宋体" panose="02010600030101010101" pitchFamily="2" charset="-122"/>
              </a:rPr>
              <a:t>当</a:t>
            </a:r>
            <a:r>
              <a:rPr lang="en-US" altLang="zh-CN" sz="1900" dirty="0">
                <a:latin typeface="Verdana" panose="020B0604030504040204" pitchFamily="34" charset="0"/>
                <a:ea typeface="宋体" panose="02010600030101010101" pitchFamily="2" charset="-122"/>
              </a:rPr>
              <a:t>T2</a:t>
            </a:r>
            <a:r>
              <a:rPr lang="zh-CN" altLang="en-US" sz="1900" dirty="0">
                <a:latin typeface="Verdana" panose="020B0604030504040204" pitchFamily="34" charset="0"/>
                <a:ea typeface="宋体" panose="02010600030101010101" pitchFamily="2" charset="-122"/>
              </a:rPr>
              <a:t>再请求对</a:t>
            </a:r>
            <a:r>
              <a:rPr lang="en-US" altLang="zh-CN" sz="1900" dirty="0">
                <a:latin typeface="Verdana" panose="020B0604030504040204" pitchFamily="34" charset="0"/>
                <a:ea typeface="宋体" panose="02010600030101010101" pitchFamily="2" charset="-122"/>
              </a:rPr>
              <a:t>A</a:t>
            </a:r>
            <a:r>
              <a:rPr lang="zh-CN" altLang="en-US" sz="1900" dirty="0">
                <a:latin typeface="Verdana" panose="020B0604030504040204" pitchFamily="34" charset="0"/>
                <a:ea typeface="宋体" panose="02010600030101010101" pitchFamily="2" charset="-122"/>
              </a:rPr>
              <a:t>加</a:t>
            </a:r>
            <a:r>
              <a:rPr lang="en-US" altLang="zh-CN" sz="1900" dirty="0">
                <a:latin typeface="Verdana" panose="020B0604030504040204" pitchFamily="34" charset="0"/>
                <a:ea typeface="宋体" panose="02010600030101010101" pitchFamily="2" charset="-122"/>
              </a:rPr>
              <a:t>X</a:t>
            </a:r>
            <a:r>
              <a:rPr lang="zh-CN" altLang="en-US" sz="1900" dirty="0">
                <a:latin typeface="Verdana" panose="020B0604030504040204" pitchFamily="34" charset="0"/>
                <a:ea typeface="宋体" panose="02010600030101010101" pitchFamily="2" charset="-122"/>
              </a:rPr>
              <a:t>锁时被拒绝</a:t>
            </a:r>
            <a:endParaRPr lang="zh-CN" altLang="en-US" sz="1900" dirty="0">
              <a:latin typeface="Verdana" panose="020B0604030504040204" pitchFamily="34" charset="0"/>
              <a:ea typeface="宋体" panose="02010600030101010101" pitchFamily="2" charset="-122"/>
            </a:endParaRPr>
          </a:p>
          <a:p>
            <a:pPr marL="342900" indent="-342900">
              <a:spcBef>
                <a:spcPct val="50000"/>
              </a:spcBef>
              <a:buClr>
                <a:schemeClr val="accent1"/>
              </a:buClr>
              <a:buFont typeface="Wingdings" panose="05000000000000000000" pitchFamily="2" charset="2"/>
              <a:buChar char="n"/>
            </a:pPr>
            <a:r>
              <a:rPr lang="en-US" altLang="zh-CN" sz="1900" dirty="0">
                <a:latin typeface="Verdana" panose="020B0604030504040204" pitchFamily="34" charset="0"/>
                <a:ea typeface="宋体" panose="02010600030101010101" pitchFamily="2" charset="-122"/>
              </a:rPr>
              <a:t>T2</a:t>
            </a:r>
            <a:r>
              <a:rPr lang="zh-CN" altLang="en-US" sz="1900" dirty="0">
                <a:latin typeface="Verdana" panose="020B0604030504040204" pitchFamily="34" charset="0"/>
                <a:ea typeface="宋体" panose="02010600030101010101" pitchFamily="2" charset="-122"/>
              </a:rPr>
              <a:t>只能等待</a:t>
            </a:r>
            <a:r>
              <a:rPr lang="en-US" altLang="zh-CN" sz="1900" dirty="0">
                <a:latin typeface="Verdana" panose="020B0604030504040204" pitchFamily="34" charset="0"/>
                <a:ea typeface="宋体" panose="02010600030101010101" pitchFamily="2" charset="-122"/>
              </a:rPr>
              <a:t>T1</a:t>
            </a:r>
            <a:r>
              <a:rPr lang="zh-CN" altLang="en-US" sz="1900" dirty="0">
                <a:latin typeface="Verdana" panose="020B0604030504040204" pitchFamily="34" charset="0"/>
                <a:ea typeface="宋体" panose="02010600030101010101" pitchFamily="2" charset="-122"/>
              </a:rPr>
              <a:t>释放</a:t>
            </a:r>
            <a:r>
              <a:rPr lang="en-US" altLang="zh-CN" sz="1900" dirty="0">
                <a:latin typeface="Verdana" panose="020B0604030504040204" pitchFamily="34" charset="0"/>
                <a:ea typeface="宋体" panose="02010600030101010101" pitchFamily="2" charset="-122"/>
              </a:rPr>
              <a:t>A</a:t>
            </a:r>
            <a:r>
              <a:rPr lang="zh-CN" altLang="en-US" sz="1900" dirty="0">
                <a:latin typeface="Verdana" panose="020B0604030504040204" pitchFamily="34" charset="0"/>
                <a:ea typeface="宋体" panose="02010600030101010101" pitchFamily="2" charset="-122"/>
              </a:rPr>
              <a:t>上的锁后</a:t>
            </a:r>
            <a:r>
              <a:rPr lang="en-US" altLang="zh-CN" sz="1900" dirty="0">
                <a:latin typeface="Verdana" panose="020B0604030504040204" pitchFamily="34" charset="0"/>
                <a:ea typeface="宋体" panose="02010600030101010101" pitchFamily="2" charset="-122"/>
              </a:rPr>
              <a:t>T2</a:t>
            </a:r>
            <a:r>
              <a:rPr lang="zh-CN" altLang="en-US" sz="1900" dirty="0">
                <a:latin typeface="Verdana" panose="020B0604030504040204" pitchFamily="34" charset="0"/>
                <a:ea typeface="宋体" panose="02010600030101010101" pitchFamily="2" charset="-122"/>
              </a:rPr>
              <a:t>获得对</a:t>
            </a:r>
            <a:r>
              <a:rPr lang="en-US" altLang="zh-CN" sz="1900" dirty="0">
                <a:latin typeface="Verdana" panose="020B0604030504040204" pitchFamily="34" charset="0"/>
                <a:ea typeface="宋体" panose="02010600030101010101" pitchFamily="2" charset="-122"/>
              </a:rPr>
              <a:t>A</a:t>
            </a:r>
            <a:r>
              <a:rPr lang="zh-CN" altLang="en-US" sz="1900" dirty="0">
                <a:latin typeface="Verdana" panose="020B0604030504040204" pitchFamily="34" charset="0"/>
                <a:ea typeface="宋体" panose="02010600030101010101" pitchFamily="2" charset="-122"/>
              </a:rPr>
              <a:t>的</a:t>
            </a:r>
            <a:r>
              <a:rPr lang="en-US" altLang="zh-CN" sz="1900" dirty="0">
                <a:latin typeface="Verdana" panose="020B0604030504040204" pitchFamily="34" charset="0"/>
                <a:ea typeface="宋体" panose="02010600030101010101" pitchFamily="2" charset="-122"/>
              </a:rPr>
              <a:t>X</a:t>
            </a:r>
            <a:r>
              <a:rPr lang="zh-CN" altLang="en-US" sz="1900" dirty="0">
                <a:latin typeface="Verdana" panose="020B0604030504040204" pitchFamily="34" charset="0"/>
                <a:ea typeface="宋体" panose="02010600030101010101" pitchFamily="2" charset="-122"/>
              </a:rPr>
              <a:t>锁</a:t>
            </a:r>
            <a:endParaRPr lang="zh-CN" altLang="en-US" sz="1900" dirty="0">
              <a:latin typeface="Verdana" panose="020B0604030504040204" pitchFamily="34" charset="0"/>
              <a:ea typeface="宋体" panose="02010600030101010101" pitchFamily="2" charset="-122"/>
            </a:endParaRPr>
          </a:p>
          <a:p>
            <a:pPr marL="342900" indent="-342900">
              <a:spcBef>
                <a:spcPct val="50000"/>
              </a:spcBef>
              <a:buClr>
                <a:schemeClr val="accent1"/>
              </a:buClr>
              <a:buFont typeface="Wingdings" panose="05000000000000000000" pitchFamily="2" charset="2"/>
              <a:buChar char="n"/>
            </a:pPr>
            <a:r>
              <a:rPr lang="zh-CN" altLang="en-US" sz="1900" dirty="0">
                <a:latin typeface="Verdana" panose="020B0604030504040204" pitchFamily="34" charset="0"/>
                <a:ea typeface="宋体" panose="02010600030101010101" pitchFamily="2" charset="-122"/>
              </a:rPr>
              <a:t>这时</a:t>
            </a:r>
            <a:r>
              <a:rPr lang="en-US" altLang="zh-CN" sz="1900" dirty="0">
                <a:latin typeface="Verdana" panose="020B0604030504040204" pitchFamily="34" charset="0"/>
                <a:ea typeface="宋体" panose="02010600030101010101" pitchFamily="2" charset="-122"/>
              </a:rPr>
              <a:t>T2</a:t>
            </a:r>
            <a:r>
              <a:rPr lang="zh-CN" altLang="en-US" sz="1900" dirty="0">
                <a:latin typeface="Verdana" panose="020B0604030504040204" pitchFamily="34" charset="0"/>
                <a:ea typeface="宋体" panose="02010600030101010101" pitchFamily="2" charset="-122"/>
              </a:rPr>
              <a:t>读到的</a:t>
            </a:r>
            <a:r>
              <a:rPr lang="en-US" altLang="zh-CN" sz="1900" dirty="0">
                <a:latin typeface="Verdana" panose="020B0604030504040204" pitchFamily="34" charset="0"/>
                <a:ea typeface="宋体" panose="02010600030101010101" pitchFamily="2" charset="-122"/>
              </a:rPr>
              <a:t>A</a:t>
            </a:r>
            <a:r>
              <a:rPr lang="zh-CN" altLang="en-US" sz="1900" dirty="0">
                <a:latin typeface="Verdana" panose="020B0604030504040204" pitchFamily="34" charset="0"/>
                <a:ea typeface="宋体" panose="02010600030101010101" pitchFamily="2" charset="-122"/>
              </a:rPr>
              <a:t>已经是</a:t>
            </a:r>
            <a:r>
              <a:rPr lang="en-US" altLang="zh-CN" sz="1900" dirty="0">
                <a:latin typeface="Verdana" panose="020B0604030504040204" pitchFamily="34" charset="0"/>
                <a:ea typeface="宋体" panose="02010600030101010101" pitchFamily="2" charset="-122"/>
              </a:rPr>
              <a:t>T1</a:t>
            </a:r>
            <a:r>
              <a:rPr lang="zh-CN" altLang="en-US" sz="1900" dirty="0">
                <a:latin typeface="Verdana" panose="020B0604030504040204" pitchFamily="34" charset="0"/>
                <a:ea typeface="宋体" panose="02010600030101010101" pitchFamily="2" charset="-122"/>
              </a:rPr>
              <a:t>更新过的值</a:t>
            </a:r>
            <a:r>
              <a:rPr lang="en-US" altLang="zh-CN" sz="1900" dirty="0">
                <a:latin typeface="Verdana" panose="020B0604030504040204" pitchFamily="34" charset="0"/>
                <a:ea typeface="宋体" panose="02010600030101010101" pitchFamily="2" charset="-122"/>
              </a:rPr>
              <a:t>15</a:t>
            </a:r>
            <a:endParaRPr lang="en-US" altLang="zh-CN" sz="1900" dirty="0">
              <a:latin typeface="Verdana" panose="020B0604030504040204" pitchFamily="34" charset="0"/>
              <a:ea typeface="宋体" panose="02010600030101010101" pitchFamily="2" charset="-122"/>
            </a:endParaRPr>
          </a:p>
          <a:p>
            <a:pPr marL="342900" indent="-342900">
              <a:spcBef>
                <a:spcPct val="50000"/>
              </a:spcBef>
              <a:buClr>
                <a:schemeClr val="accent1"/>
              </a:buClr>
              <a:buFont typeface="Wingdings" panose="05000000000000000000" pitchFamily="2" charset="2"/>
              <a:buChar char="n"/>
            </a:pPr>
            <a:r>
              <a:rPr lang="en-US" altLang="zh-CN" sz="1900" dirty="0">
                <a:latin typeface="Verdana" panose="020B0604030504040204" pitchFamily="34" charset="0"/>
                <a:ea typeface="宋体" panose="02010600030101010101" pitchFamily="2" charset="-122"/>
              </a:rPr>
              <a:t>T2</a:t>
            </a:r>
            <a:r>
              <a:rPr lang="zh-CN" altLang="en-US" sz="1900" dirty="0">
                <a:latin typeface="Verdana" panose="020B0604030504040204" pitchFamily="34" charset="0"/>
                <a:ea typeface="宋体" panose="02010600030101010101" pitchFamily="2" charset="-122"/>
              </a:rPr>
              <a:t>按此新的</a:t>
            </a:r>
            <a:r>
              <a:rPr lang="en-US" altLang="zh-CN" sz="1900" dirty="0">
                <a:latin typeface="Verdana" panose="020B0604030504040204" pitchFamily="34" charset="0"/>
                <a:ea typeface="宋体" panose="02010600030101010101" pitchFamily="2" charset="-122"/>
              </a:rPr>
              <a:t>A</a:t>
            </a:r>
            <a:r>
              <a:rPr lang="zh-CN" altLang="en-US" sz="1900" dirty="0">
                <a:latin typeface="Verdana" panose="020B0604030504040204" pitchFamily="34" charset="0"/>
                <a:ea typeface="宋体" panose="02010600030101010101" pitchFamily="2" charset="-122"/>
              </a:rPr>
              <a:t>值进行运算，并将结果值</a:t>
            </a:r>
            <a:r>
              <a:rPr lang="en-US" altLang="zh-CN" sz="1900" dirty="0">
                <a:latin typeface="Verdana" panose="020B0604030504040204" pitchFamily="34" charset="0"/>
                <a:ea typeface="宋体" panose="02010600030101010101" pitchFamily="2" charset="-122"/>
              </a:rPr>
              <a:t>A=14</a:t>
            </a:r>
            <a:r>
              <a:rPr lang="zh-CN" altLang="en-US" sz="1900" dirty="0">
                <a:latin typeface="Verdana" panose="020B0604030504040204" pitchFamily="34" charset="0"/>
                <a:ea typeface="宋体" panose="02010600030101010101" pitchFamily="2" charset="-122"/>
              </a:rPr>
              <a:t>送回到磁盘。避免了丢失</a:t>
            </a:r>
            <a:r>
              <a:rPr lang="en-US" altLang="zh-CN" sz="1900" dirty="0">
                <a:latin typeface="Verdana" panose="020B0604030504040204" pitchFamily="34" charset="0"/>
                <a:ea typeface="宋体" panose="02010600030101010101" pitchFamily="2" charset="-122"/>
              </a:rPr>
              <a:t>T1</a:t>
            </a:r>
            <a:r>
              <a:rPr lang="zh-CN" altLang="en-US" sz="1900" dirty="0">
                <a:latin typeface="Verdana" panose="020B0604030504040204" pitchFamily="34" charset="0"/>
                <a:ea typeface="宋体" panose="02010600030101010101" pitchFamily="2" charset="-122"/>
              </a:rPr>
              <a:t>的更新。</a:t>
            </a:r>
            <a:endParaRPr lang="zh-CN" altLang="en-US" sz="1900" dirty="0">
              <a:latin typeface="Verdana" panose="020B0604030504040204" pitchFamily="34" charset="0"/>
              <a:ea typeface="宋体" panose="02010600030101010101" pitchFamily="2" charset="-122"/>
            </a:endParaRPr>
          </a:p>
        </p:txBody>
      </p:sp>
      <p:sp>
        <p:nvSpPr>
          <p:cNvPr id="37938" name="Text Box 241"/>
          <p:cNvSpPr txBox="1"/>
          <p:nvPr/>
        </p:nvSpPr>
        <p:spPr>
          <a:xfrm>
            <a:off x="5786438" y="1143000"/>
            <a:ext cx="1565275" cy="366713"/>
          </a:xfrm>
          <a:prstGeom prst="rect">
            <a:avLst/>
          </a:prstGeom>
          <a:noFill/>
          <a:ln w="25400">
            <a:noFill/>
          </a:ln>
        </p:spPr>
        <p:txBody>
          <a:bodyPr wrap="none" anchor="t" anchorCtr="0">
            <a:spAutoFit/>
          </a:bodyPr>
          <a:p>
            <a:pPr marL="342900" indent="-342900"/>
            <a:r>
              <a:rPr lang="zh-CN" altLang="en-US" dirty="0">
                <a:solidFill>
                  <a:schemeClr val="tx2"/>
                </a:solidFill>
                <a:latin typeface="Verdana" panose="020B0604030504040204" pitchFamily="34" charset="0"/>
                <a:ea typeface="宋体" panose="02010600030101010101" pitchFamily="2" charset="-122"/>
              </a:rPr>
              <a:t>没有丢失修改</a:t>
            </a:r>
            <a:endParaRPr lang="zh-CN" altLang="en-US" dirty="0">
              <a:solidFill>
                <a:schemeClr val="tx2"/>
              </a:solidFill>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2"/>
          <p:cNvSpPr>
            <a:spLocks noGrp="1"/>
          </p:cNvSpPr>
          <p:nvPr>
            <p:ph type="title"/>
          </p:nvPr>
        </p:nvSpPr>
        <p:spPr>
          <a:xfrm>
            <a:off x="357188" y="214313"/>
            <a:ext cx="8148637" cy="563562"/>
          </a:xfrm>
          <a:ln/>
        </p:spPr>
        <p:txBody>
          <a:bodyPr vert="horz" wrap="square" lIns="91440" tIns="45720" rIns="91440" bIns="45720" anchor="b" anchorCtr="0"/>
          <a:p>
            <a:pPr eaLnBrk="1" hangingPunct="1"/>
            <a:r>
              <a:rPr lang="zh-CN" altLang="en-US" dirty="0"/>
              <a:t>使用封锁机制解决不可重复读问题</a:t>
            </a:r>
            <a:endParaRPr lang="zh-CN" altLang="en-US" dirty="0"/>
          </a:p>
        </p:txBody>
      </p:sp>
      <p:graphicFrame>
        <p:nvGraphicFramePr>
          <p:cNvPr id="486147" name="Group 771"/>
          <p:cNvGraphicFramePr>
            <a:graphicFrameLocks noGrp="1"/>
          </p:cNvGraphicFramePr>
          <p:nvPr>
            <p:ph idx="1"/>
          </p:nvPr>
        </p:nvGraphicFramePr>
        <p:xfrm>
          <a:off x="684213" y="739775"/>
          <a:ext cx="2871788" cy="5761038"/>
        </p:xfrm>
        <a:graphic>
          <a:graphicData uri="http://schemas.openxmlformats.org/drawingml/2006/table">
            <a:tbl>
              <a:tblPr/>
              <a:tblGrid>
                <a:gridCol w="1908175"/>
                <a:gridCol w="963612"/>
              </a:tblGrid>
              <a:tr h="27433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2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cap="flat">
                      <a:noFill/>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r>
              <a:tr h="27433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① Slock A</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433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B</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433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R(A)=50</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433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R(B)=100</a:t>
                      </a:r>
                      <a:endParaRPr kumimoji="1" lang="en-US" altLang="zh-CN" sz="1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433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求和</a:t>
                      </a: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=150</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433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②</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B</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433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433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433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③ R(A)=50</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433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R(B)=100</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433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求和</a:t>
                      </a: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=150</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433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Commit</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433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433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B</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433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④</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获得</a:t>
                      </a: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XlockB</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433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R(B)=100</a:t>
                      </a:r>
                      <a:endParaRPr kumimoji="1" lang="en-US" altLang="zh-CN" sz="1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433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B←B*2</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433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⑤</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W(B)=200</a:t>
                      </a:r>
                      <a:endParaRPr kumimoji="1" lang="en-US" altLang="zh-CN" sz="1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433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Commit</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7433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3" marB="45723"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B</a:t>
                      </a:r>
                      <a:endParaRPr kumimoji="1" lang="en-US" altLang="zh-CN" sz="1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bl>
          </a:graphicData>
        </a:graphic>
      </p:graphicFrame>
      <p:sp>
        <p:nvSpPr>
          <p:cNvPr id="38982" name="Text Box 773"/>
          <p:cNvSpPr txBox="1"/>
          <p:nvPr/>
        </p:nvSpPr>
        <p:spPr>
          <a:xfrm>
            <a:off x="4572000" y="1428750"/>
            <a:ext cx="3889375" cy="4702175"/>
          </a:xfrm>
          <a:prstGeom prst="rect">
            <a:avLst/>
          </a:prstGeom>
          <a:noFill/>
          <a:ln w="25400">
            <a:noFill/>
          </a:ln>
        </p:spPr>
        <p:txBody>
          <a:bodyPr anchor="t" anchorCtr="0">
            <a:spAutoFit/>
          </a:bodyPr>
          <a:p>
            <a:pPr marL="342900" indent="-342900">
              <a:lnSpc>
                <a:spcPct val="140000"/>
              </a:lnSpc>
              <a:buClr>
                <a:schemeClr val="accent1"/>
              </a:buClr>
              <a:buFont typeface="Wingdings" panose="05000000000000000000" pitchFamily="2" charset="2"/>
              <a:buChar char="n"/>
            </a:pPr>
            <a:r>
              <a:rPr lang="zh-CN" altLang="en-US" dirty="0">
                <a:latin typeface="Verdana" panose="020B0604030504040204" pitchFamily="34" charset="0"/>
                <a:ea typeface="宋体" panose="02010600030101010101" pitchFamily="2" charset="-122"/>
              </a:rPr>
              <a:t>事务</a:t>
            </a:r>
            <a:r>
              <a:rPr lang="en-US" altLang="zh-CN" dirty="0">
                <a:latin typeface="Verdana" panose="020B0604030504040204" pitchFamily="34" charset="0"/>
                <a:ea typeface="宋体" panose="02010600030101010101" pitchFamily="2" charset="-122"/>
              </a:rPr>
              <a:t>T1</a:t>
            </a:r>
            <a:r>
              <a:rPr lang="zh-CN" altLang="en-US" dirty="0">
                <a:latin typeface="Verdana" panose="020B0604030504040204" pitchFamily="34" charset="0"/>
                <a:ea typeface="宋体" panose="02010600030101010101" pitchFamily="2" charset="-122"/>
              </a:rPr>
              <a:t>在读</a:t>
            </a:r>
            <a:r>
              <a:rPr lang="en-US" altLang="zh-CN" dirty="0">
                <a:latin typeface="Verdana" panose="020B0604030504040204" pitchFamily="34" charset="0"/>
                <a:ea typeface="宋体" panose="02010600030101010101" pitchFamily="2" charset="-122"/>
              </a:rPr>
              <a:t>A</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B</a:t>
            </a:r>
            <a:r>
              <a:rPr lang="zh-CN" altLang="en-US" dirty="0">
                <a:latin typeface="Verdana" panose="020B0604030504040204" pitchFamily="34" charset="0"/>
                <a:ea typeface="宋体" panose="02010600030101010101" pitchFamily="2" charset="-122"/>
              </a:rPr>
              <a:t>之前，先对</a:t>
            </a:r>
            <a:r>
              <a:rPr lang="en-US" altLang="zh-CN" dirty="0">
                <a:latin typeface="Verdana" panose="020B0604030504040204" pitchFamily="34" charset="0"/>
                <a:ea typeface="宋体" panose="02010600030101010101" pitchFamily="2" charset="-122"/>
              </a:rPr>
              <a:t>A</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B</a:t>
            </a:r>
            <a:r>
              <a:rPr lang="zh-CN" altLang="en-US" dirty="0">
                <a:latin typeface="Verdana" panose="020B0604030504040204" pitchFamily="34" charset="0"/>
                <a:ea typeface="宋体" panose="02010600030101010101" pitchFamily="2" charset="-122"/>
              </a:rPr>
              <a:t>加</a:t>
            </a:r>
            <a:r>
              <a:rPr lang="en-US" altLang="zh-CN" dirty="0">
                <a:latin typeface="Verdana" panose="020B0604030504040204" pitchFamily="34" charset="0"/>
                <a:ea typeface="宋体" panose="02010600030101010101" pitchFamily="2" charset="-122"/>
              </a:rPr>
              <a:t>S</a:t>
            </a:r>
            <a:r>
              <a:rPr lang="zh-CN" altLang="en-US" dirty="0">
                <a:latin typeface="Verdana" panose="020B0604030504040204" pitchFamily="34" charset="0"/>
                <a:ea typeface="宋体" panose="02010600030101010101" pitchFamily="2" charset="-122"/>
              </a:rPr>
              <a:t>锁</a:t>
            </a:r>
            <a:endParaRPr lang="zh-CN" altLang="en-US" dirty="0">
              <a:latin typeface="Verdana" panose="020B0604030504040204" pitchFamily="34" charset="0"/>
              <a:ea typeface="宋体" panose="02010600030101010101" pitchFamily="2" charset="-122"/>
            </a:endParaRPr>
          </a:p>
          <a:p>
            <a:pPr marL="342900" indent="-342900">
              <a:lnSpc>
                <a:spcPct val="140000"/>
              </a:lnSpc>
              <a:buClr>
                <a:schemeClr val="accent1"/>
              </a:buClr>
              <a:buFont typeface="Wingdings" panose="05000000000000000000" pitchFamily="2" charset="2"/>
              <a:buChar char="n"/>
            </a:pPr>
            <a:r>
              <a:rPr lang="zh-CN" altLang="en-US" dirty="0">
                <a:latin typeface="Verdana" panose="020B0604030504040204" pitchFamily="34" charset="0"/>
                <a:ea typeface="宋体" panose="02010600030101010101" pitchFamily="2" charset="-122"/>
              </a:rPr>
              <a:t>其他事务只能再对</a:t>
            </a:r>
            <a:r>
              <a:rPr lang="en-US" altLang="zh-CN" dirty="0">
                <a:latin typeface="Verdana" panose="020B0604030504040204" pitchFamily="34" charset="0"/>
                <a:ea typeface="宋体" panose="02010600030101010101" pitchFamily="2" charset="-122"/>
              </a:rPr>
              <a:t>A</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B</a:t>
            </a:r>
            <a:r>
              <a:rPr lang="zh-CN" altLang="en-US" dirty="0">
                <a:latin typeface="Verdana" panose="020B0604030504040204" pitchFamily="34" charset="0"/>
                <a:ea typeface="宋体" panose="02010600030101010101" pitchFamily="2" charset="-122"/>
              </a:rPr>
              <a:t>加</a:t>
            </a:r>
            <a:r>
              <a:rPr lang="en-US" altLang="zh-CN" dirty="0">
                <a:latin typeface="Verdana" panose="020B0604030504040204" pitchFamily="34" charset="0"/>
                <a:ea typeface="宋体" panose="02010600030101010101" pitchFamily="2" charset="-122"/>
              </a:rPr>
              <a:t>S</a:t>
            </a:r>
            <a:r>
              <a:rPr lang="zh-CN" altLang="en-US" dirty="0">
                <a:latin typeface="Verdana" panose="020B0604030504040204" pitchFamily="34" charset="0"/>
                <a:ea typeface="宋体" panose="02010600030101010101" pitchFamily="2" charset="-122"/>
              </a:rPr>
              <a:t>锁，而不能加</a:t>
            </a:r>
            <a:r>
              <a:rPr lang="en-US" altLang="zh-CN" dirty="0">
                <a:latin typeface="Verdana" panose="020B0604030504040204" pitchFamily="34" charset="0"/>
                <a:ea typeface="宋体" panose="02010600030101010101" pitchFamily="2" charset="-122"/>
              </a:rPr>
              <a:t>X</a:t>
            </a:r>
            <a:r>
              <a:rPr lang="zh-CN" altLang="en-US" dirty="0">
                <a:latin typeface="Verdana" panose="020B0604030504040204" pitchFamily="34" charset="0"/>
                <a:ea typeface="宋体" panose="02010600030101010101" pitchFamily="2" charset="-122"/>
              </a:rPr>
              <a:t>锁，即其他事务只能读</a:t>
            </a:r>
            <a:r>
              <a:rPr lang="en-US" altLang="zh-CN" dirty="0">
                <a:latin typeface="Verdana" panose="020B0604030504040204" pitchFamily="34" charset="0"/>
                <a:ea typeface="宋体" panose="02010600030101010101" pitchFamily="2" charset="-122"/>
              </a:rPr>
              <a:t>A</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B</a:t>
            </a:r>
            <a:r>
              <a:rPr lang="zh-CN" altLang="en-US" dirty="0">
                <a:latin typeface="Verdana" panose="020B0604030504040204" pitchFamily="34" charset="0"/>
                <a:ea typeface="宋体" panose="02010600030101010101" pitchFamily="2" charset="-122"/>
              </a:rPr>
              <a:t>，而不能修改</a:t>
            </a:r>
            <a:endParaRPr lang="zh-CN" altLang="en-US" dirty="0">
              <a:latin typeface="Verdana" panose="020B0604030504040204" pitchFamily="34" charset="0"/>
              <a:ea typeface="宋体" panose="02010600030101010101" pitchFamily="2" charset="-122"/>
            </a:endParaRPr>
          </a:p>
          <a:p>
            <a:pPr marL="342900" indent="-342900">
              <a:lnSpc>
                <a:spcPct val="140000"/>
              </a:lnSpc>
              <a:buClr>
                <a:schemeClr val="accent1"/>
              </a:buClr>
              <a:buFont typeface="Wingdings" panose="05000000000000000000" pitchFamily="2" charset="2"/>
              <a:buChar char="n"/>
            </a:pPr>
            <a:r>
              <a:rPr lang="zh-CN" altLang="en-US" dirty="0">
                <a:latin typeface="Verdana" panose="020B0604030504040204" pitchFamily="34" charset="0"/>
                <a:ea typeface="宋体" panose="02010600030101010101" pitchFamily="2" charset="-122"/>
              </a:rPr>
              <a:t>当</a:t>
            </a:r>
            <a:r>
              <a:rPr lang="en-US" altLang="zh-CN" dirty="0">
                <a:latin typeface="Verdana" panose="020B0604030504040204" pitchFamily="34" charset="0"/>
                <a:ea typeface="宋体" panose="02010600030101010101" pitchFamily="2" charset="-122"/>
              </a:rPr>
              <a:t>T2</a:t>
            </a:r>
            <a:r>
              <a:rPr lang="zh-CN" altLang="en-US" dirty="0">
                <a:latin typeface="Verdana" panose="020B0604030504040204" pitchFamily="34" charset="0"/>
                <a:ea typeface="宋体" panose="02010600030101010101" pitchFamily="2" charset="-122"/>
              </a:rPr>
              <a:t>为修改</a:t>
            </a:r>
            <a:r>
              <a:rPr lang="en-US" altLang="zh-CN" dirty="0">
                <a:latin typeface="Verdana" panose="020B0604030504040204" pitchFamily="34" charset="0"/>
                <a:ea typeface="宋体" panose="02010600030101010101" pitchFamily="2" charset="-122"/>
              </a:rPr>
              <a:t>B</a:t>
            </a:r>
            <a:r>
              <a:rPr lang="zh-CN" altLang="en-US" dirty="0">
                <a:latin typeface="Verdana" panose="020B0604030504040204" pitchFamily="34" charset="0"/>
                <a:ea typeface="宋体" panose="02010600030101010101" pitchFamily="2" charset="-122"/>
              </a:rPr>
              <a:t>而申请对</a:t>
            </a:r>
            <a:r>
              <a:rPr lang="en-US" altLang="zh-CN" dirty="0">
                <a:latin typeface="Verdana" panose="020B0604030504040204" pitchFamily="34" charset="0"/>
                <a:ea typeface="宋体" panose="02010600030101010101" pitchFamily="2" charset="-122"/>
              </a:rPr>
              <a:t>B</a:t>
            </a:r>
            <a:r>
              <a:rPr lang="zh-CN" altLang="en-US" dirty="0">
                <a:latin typeface="Verdana" panose="020B0604030504040204" pitchFamily="34" charset="0"/>
                <a:ea typeface="宋体" panose="02010600030101010101" pitchFamily="2" charset="-122"/>
              </a:rPr>
              <a:t>的</a:t>
            </a:r>
            <a:r>
              <a:rPr lang="en-US" altLang="zh-CN" dirty="0">
                <a:latin typeface="Verdana" panose="020B0604030504040204" pitchFamily="34" charset="0"/>
                <a:ea typeface="宋体" panose="02010600030101010101" pitchFamily="2" charset="-122"/>
              </a:rPr>
              <a:t>X</a:t>
            </a:r>
            <a:r>
              <a:rPr lang="zh-CN" altLang="en-US" dirty="0">
                <a:latin typeface="Verdana" panose="020B0604030504040204" pitchFamily="34" charset="0"/>
                <a:ea typeface="宋体" panose="02010600030101010101" pitchFamily="2" charset="-122"/>
              </a:rPr>
              <a:t>锁时被拒绝只能等待</a:t>
            </a:r>
            <a:r>
              <a:rPr lang="en-US" altLang="zh-CN" dirty="0">
                <a:latin typeface="Verdana" panose="020B0604030504040204" pitchFamily="34" charset="0"/>
                <a:ea typeface="宋体" panose="02010600030101010101" pitchFamily="2" charset="-122"/>
              </a:rPr>
              <a:t>T1</a:t>
            </a:r>
            <a:r>
              <a:rPr lang="zh-CN" altLang="en-US" dirty="0">
                <a:latin typeface="Verdana" panose="020B0604030504040204" pitchFamily="34" charset="0"/>
                <a:ea typeface="宋体" panose="02010600030101010101" pitchFamily="2" charset="-122"/>
              </a:rPr>
              <a:t>释放</a:t>
            </a:r>
            <a:r>
              <a:rPr lang="en-US" altLang="zh-CN" dirty="0">
                <a:latin typeface="Verdana" panose="020B0604030504040204" pitchFamily="34" charset="0"/>
                <a:ea typeface="宋体" panose="02010600030101010101" pitchFamily="2" charset="-122"/>
              </a:rPr>
              <a:t>B</a:t>
            </a:r>
            <a:r>
              <a:rPr lang="zh-CN" altLang="en-US" dirty="0">
                <a:latin typeface="Verdana" panose="020B0604030504040204" pitchFamily="34" charset="0"/>
                <a:ea typeface="宋体" panose="02010600030101010101" pitchFamily="2" charset="-122"/>
              </a:rPr>
              <a:t>上的锁</a:t>
            </a:r>
            <a:endParaRPr lang="zh-CN" altLang="en-US" dirty="0">
              <a:latin typeface="Verdana" panose="020B0604030504040204" pitchFamily="34" charset="0"/>
              <a:ea typeface="宋体" panose="02010600030101010101" pitchFamily="2" charset="-122"/>
            </a:endParaRPr>
          </a:p>
          <a:p>
            <a:pPr marL="342900" indent="-342900">
              <a:lnSpc>
                <a:spcPct val="140000"/>
              </a:lnSpc>
              <a:buClr>
                <a:schemeClr val="accent1"/>
              </a:buClr>
              <a:buFont typeface="Wingdings" panose="05000000000000000000" pitchFamily="2" charset="2"/>
              <a:buChar char="n"/>
            </a:pPr>
            <a:r>
              <a:rPr lang="en-US" altLang="zh-CN" dirty="0">
                <a:latin typeface="Verdana" panose="020B0604030504040204" pitchFamily="34" charset="0"/>
                <a:ea typeface="宋体" panose="02010600030101010101" pitchFamily="2" charset="-122"/>
              </a:rPr>
              <a:t>T1</a:t>
            </a:r>
            <a:r>
              <a:rPr lang="zh-CN" altLang="en-US" dirty="0">
                <a:latin typeface="Verdana" panose="020B0604030504040204" pitchFamily="34" charset="0"/>
                <a:ea typeface="宋体" panose="02010600030101010101" pitchFamily="2" charset="-122"/>
              </a:rPr>
              <a:t>为验算再读</a:t>
            </a:r>
            <a:r>
              <a:rPr lang="en-US" altLang="zh-CN" dirty="0">
                <a:latin typeface="Verdana" panose="020B0604030504040204" pitchFamily="34" charset="0"/>
                <a:ea typeface="宋体" panose="02010600030101010101" pitchFamily="2" charset="-122"/>
              </a:rPr>
              <a:t>A</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B</a:t>
            </a:r>
            <a:r>
              <a:rPr lang="zh-CN" altLang="en-US" dirty="0">
                <a:latin typeface="Verdana" panose="020B0604030504040204" pitchFamily="34" charset="0"/>
                <a:ea typeface="宋体" panose="02010600030101010101" pitchFamily="2" charset="-122"/>
              </a:rPr>
              <a:t>，这时读出的</a:t>
            </a:r>
            <a:r>
              <a:rPr lang="en-US" altLang="zh-CN" dirty="0">
                <a:latin typeface="Verdana" panose="020B0604030504040204" pitchFamily="34" charset="0"/>
                <a:ea typeface="宋体" panose="02010600030101010101" pitchFamily="2" charset="-122"/>
              </a:rPr>
              <a:t>B</a:t>
            </a:r>
            <a:r>
              <a:rPr lang="zh-CN" altLang="en-US" dirty="0">
                <a:latin typeface="Verdana" panose="020B0604030504040204" pitchFamily="34" charset="0"/>
                <a:ea typeface="宋体" panose="02010600030101010101" pitchFamily="2" charset="-122"/>
              </a:rPr>
              <a:t>仍是</a:t>
            </a:r>
            <a:r>
              <a:rPr lang="en-US" altLang="zh-CN" dirty="0">
                <a:latin typeface="Verdana" panose="020B0604030504040204" pitchFamily="34" charset="0"/>
                <a:ea typeface="宋体" panose="02010600030101010101" pitchFamily="2" charset="-122"/>
              </a:rPr>
              <a:t>100</a:t>
            </a:r>
            <a:r>
              <a:rPr lang="zh-CN" altLang="en-US" dirty="0">
                <a:latin typeface="Verdana" panose="020B0604030504040204" pitchFamily="34" charset="0"/>
                <a:ea typeface="宋体" panose="02010600030101010101" pitchFamily="2" charset="-122"/>
              </a:rPr>
              <a:t>，求和结果仍为</a:t>
            </a:r>
            <a:r>
              <a:rPr lang="en-US" altLang="zh-CN" dirty="0">
                <a:latin typeface="Verdana" panose="020B0604030504040204" pitchFamily="34" charset="0"/>
                <a:ea typeface="宋体" panose="02010600030101010101" pitchFamily="2" charset="-122"/>
              </a:rPr>
              <a:t>150</a:t>
            </a:r>
            <a:r>
              <a:rPr lang="zh-CN" altLang="en-US" dirty="0">
                <a:latin typeface="Verdana" panose="020B0604030504040204" pitchFamily="34" charset="0"/>
                <a:ea typeface="宋体" panose="02010600030101010101" pitchFamily="2" charset="-122"/>
              </a:rPr>
              <a:t>，即可重复读</a:t>
            </a:r>
            <a:endParaRPr lang="zh-CN" altLang="en-US" dirty="0">
              <a:latin typeface="Verdana" panose="020B0604030504040204" pitchFamily="34" charset="0"/>
              <a:ea typeface="宋体" panose="02010600030101010101" pitchFamily="2" charset="-122"/>
            </a:endParaRPr>
          </a:p>
          <a:p>
            <a:pPr marL="342900" indent="-342900">
              <a:lnSpc>
                <a:spcPct val="140000"/>
              </a:lnSpc>
              <a:buClr>
                <a:schemeClr val="accent1"/>
              </a:buClr>
              <a:buFont typeface="Wingdings" panose="05000000000000000000" pitchFamily="2" charset="2"/>
              <a:buChar char="n"/>
            </a:pPr>
            <a:r>
              <a:rPr lang="en-US" altLang="zh-CN" dirty="0">
                <a:latin typeface="Verdana" panose="020B0604030504040204" pitchFamily="34" charset="0"/>
                <a:ea typeface="宋体" panose="02010600030101010101" pitchFamily="2" charset="-122"/>
              </a:rPr>
              <a:t>T1</a:t>
            </a:r>
            <a:r>
              <a:rPr lang="zh-CN" altLang="en-US" dirty="0">
                <a:latin typeface="Verdana" panose="020B0604030504040204" pitchFamily="34" charset="0"/>
                <a:ea typeface="宋体" panose="02010600030101010101" pitchFamily="2" charset="-122"/>
              </a:rPr>
              <a:t>结束才释放</a:t>
            </a:r>
            <a:r>
              <a:rPr lang="en-US" altLang="zh-CN" dirty="0">
                <a:latin typeface="Verdana" panose="020B0604030504040204" pitchFamily="34" charset="0"/>
                <a:ea typeface="宋体" panose="02010600030101010101" pitchFamily="2" charset="-122"/>
              </a:rPr>
              <a:t>A</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B</a:t>
            </a:r>
            <a:r>
              <a:rPr lang="zh-CN" altLang="en-US" dirty="0">
                <a:latin typeface="Verdana" panose="020B0604030504040204" pitchFamily="34" charset="0"/>
                <a:ea typeface="宋体" panose="02010600030101010101" pitchFamily="2" charset="-122"/>
              </a:rPr>
              <a:t>上的</a:t>
            </a:r>
            <a:r>
              <a:rPr lang="en-US" altLang="zh-CN" dirty="0">
                <a:latin typeface="Verdana" panose="020B0604030504040204" pitchFamily="34" charset="0"/>
                <a:ea typeface="宋体" panose="02010600030101010101" pitchFamily="2" charset="-122"/>
              </a:rPr>
              <a:t>S</a:t>
            </a:r>
            <a:r>
              <a:rPr lang="zh-CN" altLang="en-US" dirty="0">
                <a:latin typeface="Verdana" panose="020B0604030504040204" pitchFamily="34" charset="0"/>
                <a:ea typeface="宋体" panose="02010600030101010101" pitchFamily="2" charset="-122"/>
              </a:rPr>
              <a:t>锁。</a:t>
            </a:r>
            <a:r>
              <a:rPr lang="en-US" altLang="zh-CN" dirty="0">
                <a:latin typeface="Verdana" panose="020B0604030504040204" pitchFamily="34" charset="0"/>
                <a:ea typeface="宋体" panose="02010600030101010101" pitchFamily="2" charset="-122"/>
              </a:rPr>
              <a:t>T2</a:t>
            </a:r>
            <a:r>
              <a:rPr lang="zh-CN" altLang="en-US" dirty="0">
                <a:latin typeface="Verdana" panose="020B0604030504040204" pitchFamily="34" charset="0"/>
                <a:ea typeface="宋体" panose="02010600030101010101" pitchFamily="2" charset="-122"/>
              </a:rPr>
              <a:t>才获得对</a:t>
            </a:r>
            <a:r>
              <a:rPr lang="en-US" altLang="zh-CN" dirty="0">
                <a:latin typeface="Verdana" panose="020B0604030504040204" pitchFamily="34" charset="0"/>
                <a:ea typeface="宋体" panose="02010600030101010101" pitchFamily="2" charset="-122"/>
              </a:rPr>
              <a:t>B</a:t>
            </a:r>
            <a:r>
              <a:rPr lang="zh-CN" altLang="en-US" dirty="0">
                <a:latin typeface="Verdana" panose="020B0604030504040204" pitchFamily="34" charset="0"/>
                <a:ea typeface="宋体" panose="02010600030101010101" pitchFamily="2" charset="-122"/>
              </a:rPr>
              <a:t>的</a:t>
            </a:r>
            <a:r>
              <a:rPr lang="en-US" altLang="zh-CN" dirty="0">
                <a:latin typeface="Verdana" panose="020B0604030504040204" pitchFamily="34" charset="0"/>
                <a:ea typeface="宋体" panose="02010600030101010101" pitchFamily="2" charset="-122"/>
              </a:rPr>
              <a:t>X</a:t>
            </a:r>
            <a:r>
              <a:rPr lang="zh-CN" altLang="en-US" dirty="0">
                <a:latin typeface="Verdana" panose="020B0604030504040204" pitchFamily="34" charset="0"/>
                <a:ea typeface="宋体" panose="02010600030101010101" pitchFamily="2" charset="-122"/>
              </a:rPr>
              <a:t>锁 </a:t>
            </a:r>
            <a:endParaRPr lang="zh-CN" altLang="en-US" dirty="0">
              <a:latin typeface="Verdana" panose="020B0604030504040204" pitchFamily="34" charset="0"/>
              <a:ea typeface="宋体" panose="02010600030101010101" pitchFamily="2" charset="-122"/>
            </a:endParaRPr>
          </a:p>
        </p:txBody>
      </p:sp>
      <p:sp>
        <p:nvSpPr>
          <p:cNvPr id="38983" name="Text Box 774"/>
          <p:cNvSpPr txBox="1"/>
          <p:nvPr/>
        </p:nvSpPr>
        <p:spPr>
          <a:xfrm>
            <a:off x="4572000" y="1071563"/>
            <a:ext cx="1104900" cy="366712"/>
          </a:xfrm>
          <a:prstGeom prst="rect">
            <a:avLst/>
          </a:prstGeom>
          <a:noFill/>
          <a:ln w="25400">
            <a:noFill/>
          </a:ln>
        </p:spPr>
        <p:txBody>
          <a:bodyPr wrap="none" anchor="t" anchorCtr="0">
            <a:spAutoFit/>
          </a:bodyPr>
          <a:p>
            <a:pPr marL="342900" indent="-342900"/>
            <a:r>
              <a:rPr lang="zh-CN" altLang="en-US" dirty="0">
                <a:solidFill>
                  <a:schemeClr val="tx2"/>
                </a:solidFill>
                <a:latin typeface="Verdana" panose="020B0604030504040204" pitchFamily="34" charset="0"/>
                <a:ea typeface="宋体" panose="02010600030101010101" pitchFamily="2" charset="-122"/>
              </a:rPr>
              <a:t>可重复读</a:t>
            </a:r>
            <a:endParaRPr lang="zh-CN" altLang="en-US" dirty="0">
              <a:solidFill>
                <a:schemeClr val="tx2"/>
              </a:solidFill>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2"/>
          <p:cNvSpPr>
            <a:spLocks noGrp="1"/>
          </p:cNvSpPr>
          <p:nvPr>
            <p:ph type="title"/>
          </p:nvPr>
        </p:nvSpPr>
        <p:spPr>
          <a:xfrm>
            <a:off x="357188" y="357188"/>
            <a:ext cx="8305800" cy="563562"/>
          </a:xfrm>
          <a:ln/>
        </p:spPr>
        <p:txBody>
          <a:bodyPr vert="horz" wrap="square" lIns="91440" tIns="45720" rIns="91440" bIns="45720" anchor="b" anchorCtr="0"/>
          <a:p>
            <a:pPr eaLnBrk="1" hangingPunct="1"/>
            <a:r>
              <a:rPr lang="zh-CN" altLang="en-US" dirty="0"/>
              <a:t>使用封锁机制解决读“脏”数据问题</a:t>
            </a:r>
            <a:endParaRPr lang="zh-CN" altLang="en-US" dirty="0"/>
          </a:p>
        </p:txBody>
      </p:sp>
      <p:graphicFrame>
        <p:nvGraphicFramePr>
          <p:cNvPr id="487647" name="Group 223"/>
          <p:cNvGraphicFramePr>
            <a:graphicFrameLocks noGrp="1"/>
          </p:cNvGraphicFramePr>
          <p:nvPr>
            <p:ph idx="1"/>
          </p:nvPr>
        </p:nvGraphicFramePr>
        <p:xfrm>
          <a:off x="428625" y="1214438"/>
          <a:ext cx="3538538" cy="4906963"/>
        </p:xfrm>
        <a:graphic>
          <a:graphicData uri="http://schemas.openxmlformats.org/drawingml/2006/table">
            <a:tbl>
              <a:tblPr/>
              <a:tblGrid>
                <a:gridCol w="1935163"/>
                <a:gridCol w="1603375"/>
              </a:tblGrid>
              <a:tr h="350497">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7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7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7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0497">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①</a:t>
                      </a:r>
                      <a:r>
                        <a:rPr kumimoji="1" lang="en-US" altLang="zh-CN" sz="17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700" b="0"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a:t>
                      </a:r>
                      <a:r>
                        <a:rPr kumimoji="1" lang="en-US" altLang="zh-CN" sz="17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C</a:t>
                      </a:r>
                      <a:endParaRPr kumimoji="1" lang="en-US" altLang="zh-CN" sz="17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R(C)=100</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C←C*2</a:t>
                      </a:r>
                      <a:endParaRPr kumimoji="1" lang="en-US" altLang="zh-CN" sz="17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W(C)=200</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②</a:t>
                      </a:r>
                      <a:endParaRPr kumimoji="1" lang="en-US" altLang="zh-CN" sz="17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T="45710" marB="45710"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C</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0" marB="45710"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③</a:t>
                      </a: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ROLLBACK</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r>
                        <a:rPr kumimoji="1" lang="zh-CN" altLang="en-US"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恢复为</a:t>
                      </a: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C</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④</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获得</a:t>
                      </a: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C</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0" marB="45710"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R(C)=100</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⑤</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Commit C</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350497">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0" marB="45710"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C</a:t>
                      </a:r>
                      <a:endParaRPr kumimoji="1" lang="en-US" altLang="zh-CN" sz="17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bl>
          </a:graphicData>
        </a:graphic>
      </p:graphicFrame>
      <p:sp>
        <p:nvSpPr>
          <p:cNvPr id="39985" name="Text Box 225"/>
          <p:cNvSpPr txBox="1"/>
          <p:nvPr/>
        </p:nvSpPr>
        <p:spPr>
          <a:xfrm>
            <a:off x="4500563" y="1785938"/>
            <a:ext cx="3816350" cy="4049712"/>
          </a:xfrm>
          <a:prstGeom prst="rect">
            <a:avLst/>
          </a:prstGeom>
          <a:noFill/>
          <a:ln w="25400">
            <a:noFill/>
          </a:ln>
        </p:spPr>
        <p:txBody>
          <a:bodyPr anchor="t" anchorCtr="0">
            <a:spAutoFit/>
          </a:bodyPr>
          <a:p>
            <a:pPr marL="342900" indent="-342900">
              <a:lnSpc>
                <a:spcPct val="160000"/>
              </a:lnSpc>
              <a:buClr>
                <a:schemeClr val="accent1"/>
              </a:buClr>
              <a:buFont typeface="Wingdings" panose="05000000000000000000" pitchFamily="2" charset="2"/>
              <a:buChar char="n"/>
            </a:pPr>
            <a:r>
              <a:rPr lang="zh-CN" altLang="en-US" dirty="0">
                <a:latin typeface="Verdana" panose="020B0604030504040204" pitchFamily="34" charset="0"/>
                <a:ea typeface="宋体" panose="02010600030101010101" pitchFamily="2" charset="-122"/>
              </a:rPr>
              <a:t>事务</a:t>
            </a:r>
            <a:r>
              <a:rPr lang="en-US" altLang="zh-CN" dirty="0">
                <a:latin typeface="Verdana" panose="020B0604030504040204" pitchFamily="34" charset="0"/>
                <a:ea typeface="宋体" panose="02010600030101010101" pitchFamily="2" charset="-122"/>
              </a:rPr>
              <a:t>T1</a:t>
            </a:r>
            <a:r>
              <a:rPr lang="zh-CN" altLang="en-US" dirty="0">
                <a:latin typeface="Verdana" panose="020B0604030504040204" pitchFamily="34" charset="0"/>
                <a:ea typeface="宋体" panose="02010600030101010101" pitchFamily="2" charset="-122"/>
              </a:rPr>
              <a:t>在对</a:t>
            </a:r>
            <a:r>
              <a:rPr lang="en-US" altLang="zh-CN" dirty="0">
                <a:latin typeface="Verdana" panose="020B0604030504040204" pitchFamily="34" charset="0"/>
                <a:ea typeface="宋体" panose="02010600030101010101" pitchFamily="2" charset="-122"/>
              </a:rPr>
              <a:t>C</a:t>
            </a:r>
            <a:r>
              <a:rPr lang="zh-CN" altLang="en-US" dirty="0">
                <a:latin typeface="Verdana" panose="020B0604030504040204" pitchFamily="34" charset="0"/>
                <a:ea typeface="宋体" panose="02010600030101010101" pitchFamily="2" charset="-122"/>
              </a:rPr>
              <a:t>进行修改之前，先对</a:t>
            </a:r>
            <a:r>
              <a:rPr lang="en-US" altLang="zh-CN" dirty="0">
                <a:latin typeface="Verdana" panose="020B0604030504040204" pitchFamily="34" charset="0"/>
                <a:ea typeface="宋体" panose="02010600030101010101" pitchFamily="2" charset="-122"/>
              </a:rPr>
              <a:t>C</a:t>
            </a:r>
            <a:r>
              <a:rPr lang="zh-CN" altLang="en-US" dirty="0">
                <a:latin typeface="Verdana" panose="020B0604030504040204" pitchFamily="34" charset="0"/>
                <a:ea typeface="宋体" panose="02010600030101010101" pitchFamily="2" charset="-122"/>
              </a:rPr>
              <a:t>加</a:t>
            </a:r>
            <a:r>
              <a:rPr lang="en-US" altLang="zh-CN" dirty="0">
                <a:latin typeface="Verdana" panose="020B0604030504040204" pitchFamily="34" charset="0"/>
                <a:ea typeface="宋体" panose="02010600030101010101" pitchFamily="2" charset="-122"/>
              </a:rPr>
              <a:t>X</a:t>
            </a:r>
            <a:r>
              <a:rPr lang="zh-CN" altLang="en-US" dirty="0">
                <a:latin typeface="Verdana" panose="020B0604030504040204" pitchFamily="34" charset="0"/>
                <a:ea typeface="宋体" panose="02010600030101010101" pitchFamily="2" charset="-122"/>
              </a:rPr>
              <a:t>锁，修改其值后写回磁盘</a:t>
            </a:r>
            <a:endParaRPr lang="zh-CN" altLang="en-US" dirty="0">
              <a:latin typeface="Verdana" panose="020B0604030504040204" pitchFamily="34" charset="0"/>
              <a:ea typeface="宋体" panose="02010600030101010101" pitchFamily="2" charset="-122"/>
            </a:endParaRPr>
          </a:p>
          <a:p>
            <a:pPr marL="342900" indent="-342900">
              <a:lnSpc>
                <a:spcPct val="160000"/>
              </a:lnSpc>
              <a:buClr>
                <a:schemeClr val="accent1"/>
              </a:buClr>
              <a:buFont typeface="Wingdings" panose="05000000000000000000" pitchFamily="2" charset="2"/>
              <a:buChar char="n"/>
            </a:pPr>
            <a:r>
              <a:rPr lang="en-US" altLang="zh-CN" dirty="0">
                <a:latin typeface="Verdana" panose="020B0604030504040204" pitchFamily="34" charset="0"/>
                <a:ea typeface="宋体" panose="02010600030101010101" pitchFamily="2" charset="-122"/>
              </a:rPr>
              <a:t>T2</a:t>
            </a:r>
            <a:r>
              <a:rPr lang="zh-CN" altLang="en-US" dirty="0">
                <a:latin typeface="Verdana" panose="020B0604030504040204" pitchFamily="34" charset="0"/>
                <a:ea typeface="宋体" panose="02010600030101010101" pitchFamily="2" charset="-122"/>
              </a:rPr>
              <a:t>请求在</a:t>
            </a:r>
            <a:r>
              <a:rPr lang="en-US" altLang="zh-CN" dirty="0">
                <a:latin typeface="Verdana" panose="020B0604030504040204" pitchFamily="34" charset="0"/>
                <a:ea typeface="宋体" panose="02010600030101010101" pitchFamily="2" charset="-122"/>
              </a:rPr>
              <a:t>C</a:t>
            </a:r>
            <a:r>
              <a:rPr lang="zh-CN" altLang="en-US" dirty="0">
                <a:latin typeface="Verdana" panose="020B0604030504040204" pitchFamily="34" charset="0"/>
                <a:ea typeface="宋体" panose="02010600030101010101" pitchFamily="2" charset="-122"/>
              </a:rPr>
              <a:t>上加</a:t>
            </a:r>
            <a:r>
              <a:rPr lang="en-US" altLang="zh-CN" dirty="0">
                <a:latin typeface="Verdana" panose="020B0604030504040204" pitchFamily="34" charset="0"/>
                <a:ea typeface="宋体" panose="02010600030101010101" pitchFamily="2" charset="-122"/>
              </a:rPr>
              <a:t>S</a:t>
            </a:r>
            <a:r>
              <a:rPr lang="zh-CN" altLang="en-US" dirty="0">
                <a:latin typeface="Verdana" panose="020B0604030504040204" pitchFamily="34" charset="0"/>
                <a:ea typeface="宋体" panose="02010600030101010101" pitchFamily="2" charset="-122"/>
              </a:rPr>
              <a:t>锁，因</a:t>
            </a:r>
            <a:r>
              <a:rPr lang="en-US" altLang="zh-CN" dirty="0">
                <a:latin typeface="Verdana" panose="020B0604030504040204" pitchFamily="34" charset="0"/>
                <a:ea typeface="宋体" panose="02010600030101010101" pitchFamily="2" charset="-122"/>
              </a:rPr>
              <a:t>T1</a:t>
            </a:r>
            <a:r>
              <a:rPr lang="zh-CN" altLang="en-US" dirty="0">
                <a:latin typeface="Verdana" panose="020B0604030504040204" pitchFamily="34" charset="0"/>
                <a:ea typeface="宋体" panose="02010600030101010101" pitchFamily="2" charset="-122"/>
              </a:rPr>
              <a:t>已在</a:t>
            </a:r>
            <a:r>
              <a:rPr lang="en-US" altLang="zh-CN" dirty="0">
                <a:latin typeface="Verdana" panose="020B0604030504040204" pitchFamily="34" charset="0"/>
                <a:ea typeface="宋体" panose="02010600030101010101" pitchFamily="2" charset="-122"/>
              </a:rPr>
              <a:t>C</a:t>
            </a:r>
            <a:r>
              <a:rPr lang="zh-CN" altLang="en-US" dirty="0">
                <a:latin typeface="Verdana" panose="020B0604030504040204" pitchFamily="34" charset="0"/>
                <a:ea typeface="宋体" panose="02010600030101010101" pitchFamily="2" charset="-122"/>
              </a:rPr>
              <a:t>上加了</a:t>
            </a:r>
            <a:r>
              <a:rPr lang="en-US" altLang="zh-CN" dirty="0">
                <a:latin typeface="Verdana" panose="020B0604030504040204" pitchFamily="34" charset="0"/>
                <a:ea typeface="宋体" panose="02010600030101010101" pitchFamily="2" charset="-122"/>
              </a:rPr>
              <a:t>X</a:t>
            </a:r>
            <a:r>
              <a:rPr lang="zh-CN" altLang="en-US" dirty="0">
                <a:latin typeface="Verdana" panose="020B0604030504040204" pitchFamily="34" charset="0"/>
                <a:ea typeface="宋体" panose="02010600030101010101" pitchFamily="2" charset="-122"/>
              </a:rPr>
              <a:t>锁，</a:t>
            </a:r>
            <a:r>
              <a:rPr lang="en-US" altLang="zh-CN" dirty="0">
                <a:latin typeface="Verdana" panose="020B0604030504040204" pitchFamily="34" charset="0"/>
                <a:ea typeface="宋体" panose="02010600030101010101" pitchFamily="2" charset="-122"/>
              </a:rPr>
              <a:t>T2</a:t>
            </a:r>
            <a:r>
              <a:rPr lang="zh-CN" altLang="en-US" dirty="0">
                <a:latin typeface="Verdana" panose="020B0604030504040204" pitchFamily="34" charset="0"/>
                <a:ea typeface="宋体" panose="02010600030101010101" pitchFamily="2" charset="-122"/>
              </a:rPr>
              <a:t>只能等待</a:t>
            </a:r>
            <a:endParaRPr lang="zh-CN" altLang="en-US" dirty="0">
              <a:latin typeface="Verdana" panose="020B0604030504040204" pitchFamily="34" charset="0"/>
              <a:ea typeface="宋体" panose="02010600030101010101" pitchFamily="2" charset="-122"/>
            </a:endParaRPr>
          </a:p>
          <a:p>
            <a:pPr marL="342900" indent="-342900">
              <a:lnSpc>
                <a:spcPct val="160000"/>
              </a:lnSpc>
              <a:buClr>
                <a:schemeClr val="accent1"/>
              </a:buClr>
              <a:buFont typeface="Wingdings" panose="05000000000000000000" pitchFamily="2" charset="2"/>
              <a:buChar char="n"/>
            </a:pPr>
            <a:r>
              <a:rPr lang="en-US" altLang="zh-CN" dirty="0">
                <a:latin typeface="Verdana" panose="020B0604030504040204" pitchFamily="34" charset="0"/>
                <a:ea typeface="宋体" panose="02010600030101010101" pitchFamily="2" charset="-122"/>
              </a:rPr>
              <a:t>T1</a:t>
            </a:r>
            <a:r>
              <a:rPr lang="zh-CN" altLang="en-US" dirty="0">
                <a:latin typeface="Verdana" panose="020B0604030504040204" pitchFamily="34" charset="0"/>
                <a:ea typeface="宋体" panose="02010600030101010101" pitchFamily="2" charset="-122"/>
              </a:rPr>
              <a:t>因某种原因被撤销，</a:t>
            </a:r>
            <a:r>
              <a:rPr lang="en-US" altLang="zh-CN" dirty="0">
                <a:latin typeface="Verdana" panose="020B0604030504040204" pitchFamily="34" charset="0"/>
                <a:ea typeface="宋体" panose="02010600030101010101" pitchFamily="2" charset="-122"/>
              </a:rPr>
              <a:t>C</a:t>
            </a:r>
            <a:r>
              <a:rPr lang="zh-CN" altLang="en-US" dirty="0">
                <a:latin typeface="Verdana" panose="020B0604030504040204" pitchFamily="34" charset="0"/>
                <a:ea typeface="宋体" panose="02010600030101010101" pitchFamily="2" charset="-122"/>
              </a:rPr>
              <a:t>恢复为原值</a:t>
            </a:r>
            <a:r>
              <a:rPr lang="en-US" altLang="zh-CN" dirty="0">
                <a:latin typeface="Verdana" panose="020B0604030504040204" pitchFamily="34" charset="0"/>
                <a:ea typeface="宋体" panose="02010600030101010101" pitchFamily="2" charset="-122"/>
              </a:rPr>
              <a:t>100</a:t>
            </a:r>
            <a:endParaRPr lang="en-US" altLang="zh-CN" dirty="0">
              <a:latin typeface="Verdana" panose="020B0604030504040204" pitchFamily="34" charset="0"/>
              <a:ea typeface="宋体" panose="02010600030101010101" pitchFamily="2" charset="-122"/>
            </a:endParaRPr>
          </a:p>
          <a:p>
            <a:pPr marL="342900" indent="-342900">
              <a:lnSpc>
                <a:spcPct val="160000"/>
              </a:lnSpc>
              <a:buClr>
                <a:schemeClr val="accent1"/>
              </a:buClr>
              <a:buFont typeface="Wingdings" panose="05000000000000000000" pitchFamily="2" charset="2"/>
              <a:buChar char="n"/>
            </a:pPr>
            <a:r>
              <a:rPr lang="en-US" altLang="zh-CN" dirty="0">
                <a:latin typeface="Verdana" panose="020B0604030504040204" pitchFamily="34" charset="0"/>
                <a:ea typeface="宋体" panose="02010600030101010101" pitchFamily="2" charset="-122"/>
              </a:rPr>
              <a:t>T1</a:t>
            </a:r>
            <a:r>
              <a:rPr lang="zh-CN" altLang="en-US" dirty="0">
                <a:latin typeface="Verdana" panose="020B0604030504040204" pitchFamily="34" charset="0"/>
                <a:ea typeface="宋体" panose="02010600030101010101" pitchFamily="2" charset="-122"/>
              </a:rPr>
              <a:t>释放</a:t>
            </a:r>
            <a:r>
              <a:rPr lang="en-US" altLang="zh-CN" dirty="0">
                <a:latin typeface="Verdana" panose="020B0604030504040204" pitchFamily="34" charset="0"/>
                <a:ea typeface="宋体" panose="02010600030101010101" pitchFamily="2" charset="-122"/>
              </a:rPr>
              <a:t>C</a:t>
            </a:r>
            <a:r>
              <a:rPr lang="zh-CN" altLang="en-US" dirty="0">
                <a:latin typeface="Verdana" panose="020B0604030504040204" pitchFamily="34" charset="0"/>
                <a:ea typeface="宋体" panose="02010600030101010101" pitchFamily="2" charset="-122"/>
              </a:rPr>
              <a:t>上的</a:t>
            </a:r>
            <a:r>
              <a:rPr lang="en-US" altLang="zh-CN" dirty="0">
                <a:latin typeface="Verdana" panose="020B0604030504040204" pitchFamily="34" charset="0"/>
                <a:ea typeface="宋体" panose="02010600030101010101" pitchFamily="2" charset="-122"/>
              </a:rPr>
              <a:t>X</a:t>
            </a:r>
            <a:r>
              <a:rPr lang="zh-CN" altLang="en-US" dirty="0">
                <a:latin typeface="Verdana" panose="020B0604030504040204" pitchFamily="34" charset="0"/>
                <a:ea typeface="宋体" panose="02010600030101010101" pitchFamily="2" charset="-122"/>
              </a:rPr>
              <a:t>锁后</a:t>
            </a:r>
            <a:r>
              <a:rPr lang="en-US" altLang="zh-CN" dirty="0">
                <a:latin typeface="Verdana" panose="020B0604030504040204" pitchFamily="34" charset="0"/>
                <a:ea typeface="宋体" panose="02010600030101010101" pitchFamily="2" charset="-122"/>
              </a:rPr>
              <a:t>T2</a:t>
            </a:r>
            <a:r>
              <a:rPr lang="zh-CN" altLang="en-US" dirty="0">
                <a:latin typeface="Verdana" panose="020B0604030504040204" pitchFamily="34" charset="0"/>
                <a:ea typeface="宋体" panose="02010600030101010101" pitchFamily="2" charset="-122"/>
              </a:rPr>
              <a:t>获得</a:t>
            </a:r>
            <a:r>
              <a:rPr lang="en-US" altLang="zh-CN" dirty="0">
                <a:latin typeface="Verdana" panose="020B0604030504040204" pitchFamily="34" charset="0"/>
                <a:ea typeface="宋体" panose="02010600030101010101" pitchFamily="2" charset="-122"/>
              </a:rPr>
              <a:t>C</a:t>
            </a:r>
            <a:r>
              <a:rPr lang="zh-CN" altLang="en-US" dirty="0">
                <a:latin typeface="Verdana" panose="020B0604030504040204" pitchFamily="34" charset="0"/>
                <a:ea typeface="宋体" panose="02010600030101010101" pitchFamily="2" charset="-122"/>
              </a:rPr>
              <a:t>上的</a:t>
            </a:r>
            <a:r>
              <a:rPr lang="en-US" altLang="zh-CN" dirty="0">
                <a:latin typeface="Verdana" panose="020B0604030504040204" pitchFamily="34" charset="0"/>
                <a:ea typeface="宋体" panose="02010600030101010101" pitchFamily="2" charset="-122"/>
              </a:rPr>
              <a:t>S</a:t>
            </a:r>
            <a:r>
              <a:rPr lang="zh-CN" altLang="en-US" dirty="0">
                <a:latin typeface="Verdana" panose="020B0604030504040204" pitchFamily="34" charset="0"/>
                <a:ea typeface="宋体" panose="02010600030101010101" pitchFamily="2" charset="-122"/>
              </a:rPr>
              <a:t>锁，读</a:t>
            </a:r>
            <a:r>
              <a:rPr lang="en-US" altLang="zh-CN" dirty="0">
                <a:latin typeface="Verdana" panose="020B0604030504040204" pitchFamily="34" charset="0"/>
                <a:ea typeface="宋体" panose="02010600030101010101" pitchFamily="2" charset="-122"/>
              </a:rPr>
              <a:t>C=100</a:t>
            </a:r>
            <a:r>
              <a:rPr lang="zh-CN" altLang="en-US" dirty="0">
                <a:latin typeface="Verdana" panose="020B0604030504040204" pitchFamily="34" charset="0"/>
                <a:ea typeface="宋体" panose="02010600030101010101" pitchFamily="2" charset="-122"/>
              </a:rPr>
              <a:t>。避免了</a:t>
            </a:r>
            <a:r>
              <a:rPr lang="en-US" altLang="zh-CN" dirty="0">
                <a:latin typeface="Verdana" panose="020B0604030504040204" pitchFamily="34" charset="0"/>
                <a:ea typeface="宋体" panose="02010600030101010101" pitchFamily="2" charset="-122"/>
              </a:rPr>
              <a:t>T2</a:t>
            </a:r>
            <a:r>
              <a:rPr lang="zh-CN" altLang="en-US" dirty="0">
                <a:latin typeface="Verdana" panose="020B0604030504040204" pitchFamily="34" charset="0"/>
                <a:ea typeface="宋体" panose="02010600030101010101" pitchFamily="2" charset="-122"/>
              </a:rPr>
              <a:t>读“脏”数据</a:t>
            </a:r>
            <a:endParaRPr lang="zh-CN" altLang="en-US" dirty="0">
              <a:latin typeface="Verdana" panose="020B0604030504040204" pitchFamily="34" charset="0"/>
              <a:ea typeface="宋体" panose="02010600030101010101" pitchFamily="2" charset="-122"/>
            </a:endParaRPr>
          </a:p>
        </p:txBody>
      </p:sp>
      <p:sp>
        <p:nvSpPr>
          <p:cNvPr id="39986" name="Text Box 226"/>
          <p:cNvSpPr txBox="1"/>
          <p:nvPr/>
        </p:nvSpPr>
        <p:spPr>
          <a:xfrm>
            <a:off x="4429125" y="1214438"/>
            <a:ext cx="1620838" cy="366712"/>
          </a:xfrm>
          <a:prstGeom prst="rect">
            <a:avLst/>
          </a:prstGeom>
          <a:noFill/>
          <a:ln w="25400">
            <a:noFill/>
          </a:ln>
        </p:spPr>
        <p:txBody>
          <a:bodyPr wrap="none" anchor="t" anchorCtr="0">
            <a:spAutoFit/>
          </a:bodyPr>
          <a:p>
            <a:pPr marL="342900" indent="-342900"/>
            <a:r>
              <a:rPr lang="zh-CN" altLang="en-US" dirty="0">
                <a:solidFill>
                  <a:schemeClr val="tx2"/>
                </a:solidFill>
                <a:latin typeface="Verdana" panose="020B0604030504040204" pitchFamily="34" charset="0"/>
                <a:ea typeface="宋体" panose="02010600030101010101" pitchFamily="2" charset="-122"/>
              </a:rPr>
              <a:t>不读“脏”数据</a:t>
            </a:r>
            <a:r>
              <a:rPr lang="zh-CN" altLang="en-US" dirty="0">
                <a:latin typeface="Verdana" panose="020B0604030504040204" pitchFamily="34" charset="0"/>
                <a:ea typeface="宋体" panose="02010600030101010101" pitchFamily="2" charset="-122"/>
              </a:rPr>
              <a:t> </a:t>
            </a:r>
            <a:endParaRPr lang="zh-CN" altLang="en-US"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2"/>
          <p:cNvSpPr>
            <a:spLocks noGrp="1"/>
          </p:cNvSpPr>
          <p:nvPr>
            <p:ph type="title"/>
          </p:nvPr>
        </p:nvSpPr>
        <p:spPr>
          <a:ln/>
        </p:spPr>
        <p:txBody>
          <a:bodyPr vert="horz" wrap="square" lIns="91440" tIns="45720" rIns="91440" bIns="45720" anchor="b" anchorCtr="0"/>
          <a:p>
            <a:pPr eaLnBrk="1" hangingPunct="1"/>
            <a:r>
              <a:rPr lang="zh-CN" altLang="en-US" dirty="0"/>
              <a:t>第十一章  并发控制</a:t>
            </a:r>
            <a:endParaRPr lang="zh-CN" altLang="en-US" dirty="0"/>
          </a:p>
        </p:txBody>
      </p:sp>
      <p:sp>
        <p:nvSpPr>
          <p:cNvPr id="40962" name="Rectangle 3"/>
          <p:cNvSpPr>
            <a:spLocks noGrp="1"/>
          </p:cNvSpPr>
          <p:nvPr>
            <p:ph idx="1"/>
          </p:nvPr>
        </p:nvSpPr>
        <p:spPr>
          <a:xfrm>
            <a:off x="785813" y="1143000"/>
            <a:ext cx="7715250" cy="4929188"/>
          </a:xfrm>
          <a:ln/>
        </p:spPr>
        <p:txBody>
          <a:bodyPr vert="horz" wrap="square" lIns="91440" tIns="45720" rIns="91440" bIns="45720" anchor="t" anchorCtr="0"/>
          <a:p>
            <a:pPr algn="just" eaLnBrk="1" hangingPunct="1">
              <a:buNone/>
            </a:pPr>
            <a:r>
              <a:rPr lang="en-US" altLang="zh-CN" b="1" dirty="0"/>
              <a:t>11.1 </a:t>
            </a:r>
            <a:r>
              <a:rPr lang="zh-CN" altLang="en-US" b="1" dirty="0"/>
              <a:t>并发控制概述</a:t>
            </a:r>
            <a:endParaRPr lang="en-US" altLang="zh-CN" b="1" dirty="0"/>
          </a:p>
          <a:p>
            <a:pPr algn="just" eaLnBrk="1" hangingPunct="1">
              <a:buNone/>
            </a:pPr>
            <a:r>
              <a:rPr lang="en-US" altLang="zh-CN" b="1" dirty="0"/>
              <a:t>11.2 </a:t>
            </a:r>
            <a:r>
              <a:rPr lang="zh-CN" altLang="en-US" b="1" dirty="0"/>
              <a:t>封锁</a:t>
            </a:r>
            <a:endParaRPr lang="en-US" altLang="zh-CN" b="1" dirty="0"/>
          </a:p>
          <a:p>
            <a:pPr algn="just" eaLnBrk="1" hangingPunct="1">
              <a:buNone/>
            </a:pPr>
            <a:r>
              <a:rPr lang="en-US" altLang="zh-CN" b="1" dirty="0">
                <a:solidFill>
                  <a:srgbClr val="FF0000"/>
                </a:solidFill>
              </a:rPr>
              <a:t>11.3 </a:t>
            </a:r>
            <a:r>
              <a:rPr lang="zh-CN" altLang="en-US" b="1" dirty="0">
                <a:solidFill>
                  <a:srgbClr val="FF0000"/>
                </a:solidFill>
              </a:rPr>
              <a:t>封锁协议</a:t>
            </a:r>
            <a:endParaRPr lang="en-US" altLang="zh-CN" b="1" dirty="0">
              <a:solidFill>
                <a:srgbClr val="FF0000"/>
              </a:solidFill>
            </a:endParaRPr>
          </a:p>
          <a:p>
            <a:pPr algn="just" eaLnBrk="1" hangingPunct="1">
              <a:buNone/>
            </a:pPr>
            <a:r>
              <a:rPr lang="en-US" altLang="zh-CN" b="1" dirty="0"/>
              <a:t>11.4 </a:t>
            </a:r>
            <a:r>
              <a:rPr lang="zh-CN" altLang="en-US" b="1" dirty="0"/>
              <a:t>活锁和死锁</a:t>
            </a:r>
            <a:endParaRPr lang="en-US" altLang="zh-CN" b="1" dirty="0"/>
          </a:p>
          <a:p>
            <a:pPr algn="just" eaLnBrk="1" hangingPunct="1">
              <a:buNone/>
            </a:pPr>
            <a:r>
              <a:rPr lang="en-US" altLang="zh-CN" b="1" dirty="0"/>
              <a:t>11.5 </a:t>
            </a:r>
            <a:r>
              <a:rPr lang="zh-CN" altLang="en-US" b="1" dirty="0"/>
              <a:t>并发调度的可串行性</a:t>
            </a:r>
            <a:endParaRPr lang="en-US" altLang="zh-CN" b="1" dirty="0"/>
          </a:p>
          <a:p>
            <a:pPr algn="just" eaLnBrk="1" hangingPunct="1">
              <a:buNone/>
            </a:pPr>
            <a:r>
              <a:rPr lang="en-US" altLang="zh-CN" b="1" dirty="0"/>
              <a:t>11.6 </a:t>
            </a:r>
            <a:r>
              <a:rPr lang="zh-CN" altLang="en-US" b="1" dirty="0"/>
              <a:t>两段锁协议</a:t>
            </a:r>
            <a:endParaRPr lang="en-US" altLang="zh-CN" b="1" dirty="0"/>
          </a:p>
          <a:p>
            <a:pPr algn="just" eaLnBrk="1" hangingPunct="1">
              <a:buNone/>
            </a:pPr>
            <a:r>
              <a:rPr lang="en-US" altLang="zh-CN" b="1" dirty="0"/>
              <a:t>11.7 </a:t>
            </a:r>
            <a:r>
              <a:rPr lang="zh-CN" altLang="en-US" b="1" dirty="0"/>
              <a:t>封锁的粒度</a:t>
            </a:r>
            <a:endParaRPr lang="en-US" altLang="zh-CN" b="1" dirty="0"/>
          </a:p>
          <a:p>
            <a:pPr algn="just" eaLnBrk="1" hangingPunct="1">
              <a:buNone/>
            </a:pPr>
            <a:r>
              <a:rPr lang="zh-CN" altLang="en-US" b="1" dirty="0"/>
              <a:t>*</a:t>
            </a:r>
            <a:r>
              <a:rPr lang="en-US" altLang="zh-CN" b="1" dirty="0"/>
              <a:t>11.8 </a:t>
            </a:r>
            <a:r>
              <a:rPr lang="zh-CN" altLang="en-US" b="1" dirty="0"/>
              <a:t>其他并发控制机制</a:t>
            </a:r>
            <a:endParaRPr lang="zh-CN" altLang="en-US" b="1" dirty="0"/>
          </a:p>
        </p:txBody>
      </p:sp>
    </p:spTree>
  </p:cSld>
  <p:clrMapOvr>
    <a:masterClrMapping/>
  </p:clrMapOvr>
  <p:transition advClick="0"/>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标题 1"/>
          <p:cNvSpPr>
            <a:spLocks noGrp="1"/>
          </p:cNvSpPr>
          <p:nvPr>
            <p:ph type="title"/>
          </p:nvPr>
        </p:nvSpPr>
        <p:spPr>
          <a:ln/>
        </p:spPr>
        <p:txBody>
          <a:bodyPr vert="horz" wrap="square" lIns="91440" tIns="45720" rIns="91440" bIns="45720" anchor="b" anchorCtr="0"/>
          <a:p>
            <a:r>
              <a:rPr lang="zh-CN" altLang="en-US" dirty="0"/>
              <a:t>封锁协议</a:t>
            </a:r>
            <a:endParaRPr lang="zh-CN" altLang="en-US" dirty="0"/>
          </a:p>
        </p:txBody>
      </p:sp>
      <p:sp>
        <p:nvSpPr>
          <p:cNvPr id="41986" name="内容占位符 2"/>
          <p:cNvSpPr>
            <a:spLocks noGrp="1"/>
          </p:cNvSpPr>
          <p:nvPr>
            <p:ph idx="1"/>
          </p:nvPr>
        </p:nvSpPr>
        <p:spPr>
          <a:xfrm>
            <a:off x="566738" y="1143000"/>
            <a:ext cx="8001000" cy="5072063"/>
          </a:xfrm>
          <a:ln/>
        </p:spPr>
        <p:txBody>
          <a:bodyPr vert="horz" wrap="square" lIns="91440" tIns="45720" rIns="91440" bIns="45720" anchor="t" anchorCtr="0"/>
          <a:p>
            <a:r>
              <a:rPr lang="zh-CN" altLang="en-US" sz="2800" dirty="0"/>
              <a:t>何时申请</a:t>
            </a:r>
            <a:r>
              <a:rPr lang="en-US" altLang="zh-CN" sz="2800" dirty="0"/>
              <a:t>X</a:t>
            </a:r>
            <a:r>
              <a:rPr lang="zh-CN" altLang="en-US" sz="2800" dirty="0"/>
              <a:t>或</a:t>
            </a:r>
            <a:r>
              <a:rPr lang="en-US" altLang="zh-CN" sz="2800" dirty="0"/>
              <a:t>S</a:t>
            </a:r>
            <a:r>
              <a:rPr lang="zh-CN" altLang="en-US" sz="2800" dirty="0"/>
              <a:t>锁，持锁时间，何时释放，这些规则称为封锁协议。</a:t>
            </a:r>
            <a:endParaRPr lang="en-US" altLang="zh-CN" sz="2800" dirty="0"/>
          </a:p>
          <a:p>
            <a:r>
              <a:rPr lang="zh-CN" altLang="en-US" sz="2800" dirty="0"/>
              <a:t>一级封锁协议</a:t>
            </a:r>
            <a:endParaRPr lang="en-US" altLang="zh-CN" sz="2800" dirty="0"/>
          </a:p>
          <a:p>
            <a:pPr lvl="1" indent="-436245"/>
            <a:r>
              <a:rPr lang="zh-CN" altLang="en-US" sz="2400" dirty="0"/>
              <a:t>事务</a:t>
            </a:r>
            <a:r>
              <a:rPr lang="en-US" altLang="zh-CN" sz="2400" dirty="0"/>
              <a:t>T</a:t>
            </a:r>
            <a:r>
              <a:rPr lang="zh-CN" altLang="en-US" sz="2400" dirty="0"/>
              <a:t>在修改数据</a:t>
            </a:r>
            <a:r>
              <a:rPr lang="en-US" altLang="zh-CN" sz="2400" dirty="0"/>
              <a:t>R</a:t>
            </a:r>
            <a:r>
              <a:rPr lang="zh-CN" altLang="en-US" sz="2400" dirty="0"/>
              <a:t>前先加</a:t>
            </a:r>
            <a:r>
              <a:rPr lang="en-US" altLang="zh-CN" sz="2400" dirty="0"/>
              <a:t>X</a:t>
            </a:r>
            <a:r>
              <a:rPr lang="zh-CN" altLang="en-US" sz="2400" dirty="0"/>
              <a:t>锁，事务结束释放。</a:t>
            </a:r>
            <a:endParaRPr lang="en-US" altLang="zh-CN" sz="2400" dirty="0"/>
          </a:p>
          <a:p>
            <a:r>
              <a:rPr lang="zh-CN" altLang="en-US" sz="2800" dirty="0"/>
              <a:t>二级封锁协议</a:t>
            </a:r>
            <a:endParaRPr lang="en-US" altLang="zh-CN" sz="2800" dirty="0"/>
          </a:p>
          <a:p>
            <a:pPr lvl="1" indent="-436245"/>
            <a:r>
              <a:rPr lang="zh-CN" altLang="en-US" sz="2400" dirty="0"/>
              <a:t>事务</a:t>
            </a:r>
            <a:r>
              <a:rPr lang="en-US" altLang="zh-CN" sz="2400" dirty="0"/>
              <a:t>T</a:t>
            </a:r>
            <a:r>
              <a:rPr lang="zh-CN" altLang="en-US" sz="2400" dirty="0"/>
              <a:t>在修改数据</a:t>
            </a:r>
            <a:r>
              <a:rPr lang="en-US" altLang="zh-CN" sz="2400" dirty="0"/>
              <a:t>R</a:t>
            </a:r>
            <a:r>
              <a:rPr lang="zh-CN" altLang="en-US" sz="2400" dirty="0"/>
              <a:t>前先加</a:t>
            </a:r>
            <a:r>
              <a:rPr lang="en-US" altLang="zh-CN" sz="2400" dirty="0"/>
              <a:t>X</a:t>
            </a:r>
            <a:r>
              <a:rPr lang="zh-CN" altLang="en-US" sz="2400" dirty="0"/>
              <a:t>锁，事务结束释放。</a:t>
            </a:r>
            <a:endParaRPr lang="en-US" altLang="zh-CN" sz="2400" dirty="0"/>
          </a:p>
          <a:p>
            <a:pPr lvl="1" indent="-436245"/>
            <a:r>
              <a:rPr lang="zh-CN" altLang="en-US" sz="2400" dirty="0"/>
              <a:t>事务</a:t>
            </a:r>
            <a:r>
              <a:rPr lang="en-US" altLang="zh-CN" sz="2400" dirty="0"/>
              <a:t>T</a:t>
            </a:r>
            <a:r>
              <a:rPr lang="zh-CN" altLang="en-US" sz="2400" dirty="0"/>
              <a:t>在读取</a:t>
            </a:r>
            <a:r>
              <a:rPr lang="en-US" altLang="zh-CN" sz="2400" dirty="0"/>
              <a:t>R</a:t>
            </a:r>
            <a:r>
              <a:rPr lang="zh-CN" altLang="en-US" sz="2400" dirty="0"/>
              <a:t>之前先加</a:t>
            </a:r>
            <a:r>
              <a:rPr lang="en-US" altLang="zh-CN" sz="2400" dirty="0"/>
              <a:t>S</a:t>
            </a:r>
            <a:r>
              <a:rPr lang="zh-CN" altLang="en-US" sz="2400" dirty="0"/>
              <a:t>锁，读完就释放。</a:t>
            </a:r>
            <a:endParaRPr lang="en-US" altLang="zh-CN" sz="2400" dirty="0"/>
          </a:p>
          <a:p>
            <a:r>
              <a:rPr lang="zh-CN" altLang="en-US" sz="2800" dirty="0"/>
              <a:t>三级封锁协议 </a:t>
            </a:r>
            <a:endParaRPr lang="en-US" altLang="zh-CN" sz="2800" dirty="0"/>
          </a:p>
          <a:p>
            <a:pPr lvl="1" indent="-436245"/>
            <a:r>
              <a:rPr lang="zh-CN" altLang="en-US" sz="2400" dirty="0"/>
              <a:t>事务</a:t>
            </a:r>
            <a:r>
              <a:rPr lang="en-US" altLang="zh-CN" sz="2400" dirty="0"/>
              <a:t>T</a:t>
            </a:r>
            <a:r>
              <a:rPr lang="zh-CN" altLang="en-US" sz="2400" dirty="0"/>
              <a:t>在修改数据</a:t>
            </a:r>
            <a:r>
              <a:rPr lang="en-US" altLang="zh-CN" sz="2400" dirty="0"/>
              <a:t>R</a:t>
            </a:r>
            <a:r>
              <a:rPr lang="zh-CN" altLang="en-US" sz="2400" dirty="0"/>
              <a:t>前先加</a:t>
            </a:r>
            <a:r>
              <a:rPr lang="en-US" altLang="zh-CN" sz="2400" dirty="0"/>
              <a:t>X</a:t>
            </a:r>
            <a:r>
              <a:rPr lang="zh-CN" altLang="en-US" sz="2400" dirty="0"/>
              <a:t>锁，事务结束释放。</a:t>
            </a:r>
            <a:endParaRPr lang="en-US" altLang="zh-CN" sz="2400" dirty="0"/>
          </a:p>
          <a:p>
            <a:pPr lvl="1" indent="-436245"/>
            <a:r>
              <a:rPr lang="zh-CN" altLang="en-US" sz="2400" dirty="0"/>
              <a:t>事务</a:t>
            </a:r>
            <a:r>
              <a:rPr lang="en-US" altLang="zh-CN" sz="2400" dirty="0"/>
              <a:t>T</a:t>
            </a:r>
            <a:r>
              <a:rPr lang="zh-CN" altLang="en-US" sz="2400" dirty="0"/>
              <a:t>在读取</a:t>
            </a:r>
            <a:r>
              <a:rPr lang="en-US" altLang="zh-CN" sz="2400" dirty="0"/>
              <a:t>R</a:t>
            </a:r>
            <a:r>
              <a:rPr lang="zh-CN" altLang="en-US" sz="2400" dirty="0"/>
              <a:t>之前先加</a:t>
            </a:r>
            <a:r>
              <a:rPr lang="en-US" altLang="zh-CN" sz="2400" dirty="0"/>
              <a:t>S</a:t>
            </a:r>
            <a:r>
              <a:rPr lang="zh-CN" altLang="en-US" sz="2400" dirty="0"/>
              <a:t>锁，事务结束释放。</a:t>
            </a:r>
            <a:endParaRPr lang="en-US" altLang="zh-CN" sz="2400" dirty="0"/>
          </a:p>
        </p:txBody>
      </p:sp>
    </p:spTree>
  </p:cSld>
  <p:clrMapOvr>
    <a:masterClrMapping/>
  </p:clrMapOvr>
  <p:transition advClick="0"/>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标题 1"/>
          <p:cNvSpPr>
            <a:spLocks noGrp="1"/>
          </p:cNvSpPr>
          <p:nvPr>
            <p:ph type="title"/>
          </p:nvPr>
        </p:nvSpPr>
        <p:spPr>
          <a:ln/>
        </p:spPr>
        <p:txBody>
          <a:bodyPr vert="horz" wrap="square" lIns="91440" tIns="45720" rIns="91440" bIns="45720" anchor="b" anchorCtr="0"/>
          <a:p>
            <a:r>
              <a:rPr lang="zh-CN" altLang="en-US" dirty="0"/>
              <a:t>三级协议小结</a:t>
            </a:r>
            <a:endParaRPr lang="zh-CN" altLang="en-US" dirty="0"/>
          </a:p>
        </p:txBody>
      </p:sp>
      <p:sp>
        <p:nvSpPr>
          <p:cNvPr id="43010" name="内容占位符 2"/>
          <p:cNvSpPr>
            <a:spLocks noGrp="1"/>
          </p:cNvSpPr>
          <p:nvPr>
            <p:ph idx="1"/>
          </p:nvPr>
        </p:nvSpPr>
        <p:spPr>
          <a:ln/>
        </p:spPr>
        <p:txBody>
          <a:bodyPr vert="horz" wrap="square" lIns="91440" tIns="45720" rIns="91440" bIns="45720" anchor="t" anchorCtr="0"/>
          <a:p>
            <a:r>
              <a:rPr lang="zh-CN" altLang="en-US" dirty="0"/>
              <a:t>三级协议的主要区别 </a:t>
            </a:r>
            <a:endParaRPr lang="en-US" altLang="zh-CN" dirty="0"/>
          </a:p>
          <a:p>
            <a:r>
              <a:rPr lang="zh-CN" altLang="en-US" dirty="0"/>
              <a:t>什么操作需要申请封锁以及何时释放锁（即持锁时间） </a:t>
            </a:r>
            <a:endParaRPr lang="en-US" altLang="zh-CN" dirty="0"/>
          </a:p>
          <a:p>
            <a:r>
              <a:rPr lang="zh-CN" altLang="en-US" dirty="0"/>
              <a:t>不同的封锁协议使事务达到的一致性级别不同 ：封锁协议级别越高，一致性程度越高</a:t>
            </a:r>
            <a:endParaRPr lang="zh-CN" altLang="en-US" dirty="0"/>
          </a:p>
        </p:txBody>
      </p:sp>
      <p:pic>
        <p:nvPicPr>
          <p:cNvPr id="43011" name="Picture 2"/>
          <p:cNvPicPr>
            <a:picLocks noChangeAspect="1"/>
          </p:cNvPicPr>
          <p:nvPr/>
        </p:nvPicPr>
        <p:blipFill>
          <a:blip r:embed="rId1"/>
          <a:stretch>
            <a:fillRect/>
          </a:stretch>
        </p:blipFill>
        <p:spPr>
          <a:xfrm>
            <a:off x="642938" y="3714750"/>
            <a:ext cx="7500937" cy="2995613"/>
          </a:xfrm>
          <a:prstGeom prst="rect">
            <a:avLst/>
          </a:prstGeom>
          <a:noFill/>
          <a:ln w="9525">
            <a:noFill/>
          </a:ln>
        </p:spPr>
      </p:pic>
    </p:spTree>
  </p:cSld>
  <p:clrMapOvr>
    <a:masterClrMapping/>
  </p:clrMapOvr>
  <p:transition advClick="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2"/>
          <p:cNvSpPr>
            <a:spLocks noGrp="1"/>
          </p:cNvSpPr>
          <p:nvPr>
            <p:ph type="title"/>
          </p:nvPr>
        </p:nvSpPr>
        <p:spPr>
          <a:ln/>
        </p:spPr>
        <p:txBody>
          <a:bodyPr vert="horz" wrap="square" lIns="91440" tIns="45720" rIns="91440" bIns="45720" anchor="b" anchorCtr="0"/>
          <a:p>
            <a:pPr eaLnBrk="1" hangingPunct="1"/>
            <a:r>
              <a:rPr lang="zh-CN" altLang="en-US" dirty="0"/>
              <a:t>第十一章  并发控制</a:t>
            </a:r>
            <a:endParaRPr lang="zh-CN" altLang="en-US" dirty="0"/>
          </a:p>
        </p:txBody>
      </p:sp>
      <p:sp>
        <p:nvSpPr>
          <p:cNvPr id="44034" name="Rectangle 3"/>
          <p:cNvSpPr>
            <a:spLocks noGrp="1"/>
          </p:cNvSpPr>
          <p:nvPr>
            <p:ph idx="1"/>
          </p:nvPr>
        </p:nvSpPr>
        <p:spPr>
          <a:xfrm>
            <a:off x="785813" y="1143000"/>
            <a:ext cx="7715250" cy="4929188"/>
          </a:xfrm>
          <a:ln/>
        </p:spPr>
        <p:txBody>
          <a:bodyPr vert="horz" wrap="square" lIns="91440" tIns="45720" rIns="91440" bIns="45720" anchor="t" anchorCtr="0"/>
          <a:p>
            <a:pPr algn="just" eaLnBrk="1" hangingPunct="1">
              <a:buNone/>
            </a:pPr>
            <a:r>
              <a:rPr lang="en-US" altLang="zh-CN" b="1" dirty="0"/>
              <a:t>11.1 </a:t>
            </a:r>
            <a:r>
              <a:rPr lang="zh-CN" altLang="en-US" b="1" dirty="0"/>
              <a:t>并发控制概述</a:t>
            </a:r>
            <a:endParaRPr lang="en-US" altLang="zh-CN" b="1" dirty="0"/>
          </a:p>
          <a:p>
            <a:pPr algn="just" eaLnBrk="1" hangingPunct="1">
              <a:buNone/>
            </a:pPr>
            <a:r>
              <a:rPr lang="en-US" altLang="zh-CN" b="1" dirty="0"/>
              <a:t>11.2 </a:t>
            </a:r>
            <a:r>
              <a:rPr lang="zh-CN" altLang="en-US" b="1" dirty="0"/>
              <a:t>封锁</a:t>
            </a:r>
            <a:endParaRPr lang="en-US" altLang="zh-CN" b="1" dirty="0"/>
          </a:p>
          <a:p>
            <a:pPr algn="just" eaLnBrk="1" hangingPunct="1">
              <a:buNone/>
            </a:pPr>
            <a:r>
              <a:rPr lang="en-US" altLang="zh-CN" b="1" dirty="0"/>
              <a:t>11.3 </a:t>
            </a:r>
            <a:r>
              <a:rPr lang="zh-CN" altLang="en-US" b="1" dirty="0"/>
              <a:t>封锁协议</a:t>
            </a:r>
            <a:endParaRPr lang="en-US" altLang="zh-CN" b="1" dirty="0"/>
          </a:p>
          <a:p>
            <a:pPr algn="just" eaLnBrk="1" hangingPunct="1">
              <a:buNone/>
            </a:pPr>
            <a:r>
              <a:rPr lang="en-US" altLang="zh-CN" b="1" dirty="0">
                <a:solidFill>
                  <a:srgbClr val="FF0000"/>
                </a:solidFill>
              </a:rPr>
              <a:t>11.4 </a:t>
            </a:r>
            <a:r>
              <a:rPr lang="zh-CN" altLang="en-US" b="1" dirty="0">
                <a:solidFill>
                  <a:srgbClr val="FF0000"/>
                </a:solidFill>
              </a:rPr>
              <a:t>活锁和死锁</a:t>
            </a:r>
            <a:endParaRPr lang="en-US" altLang="zh-CN" b="1" dirty="0">
              <a:solidFill>
                <a:srgbClr val="FF0000"/>
              </a:solidFill>
            </a:endParaRPr>
          </a:p>
          <a:p>
            <a:pPr algn="just" eaLnBrk="1" hangingPunct="1">
              <a:buNone/>
            </a:pPr>
            <a:r>
              <a:rPr lang="en-US" altLang="zh-CN" b="1" dirty="0"/>
              <a:t>11.5 </a:t>
            </a:r>
            <a:r>
              <a:rPr lang="zh-CN" altLang="en-US" b="1" dirty="0"/>
              <a:t>并发调度的可串行性</a:t>
            </a:r>
            <a:endParaRPr lang="en-US" altLang="zh-CN" b="1" dirty="0"/>
          </a:p>
          <a:p>
            <a:pPr algn="just" eaLnBrk="1" hangingPunct="1">
              <a:buNone/>
            </a:pPr>
            <a:r>
              <a:rPr lang="en-US" altLang="zh-CN" b="1" dirty="0"/>
              <a:t>11.6 </a:t>
            </a:r>
            <a:r>
              <a:rPr lang="zh-CN" altLang="en-US" b="1" dirty="0"/>
              <a:t>两段锁协议</a:t>
            </a:r>
            <a:endParaRPr lang="en-US" altLang="zh-CN" b="1" dirty="0"/>
          </a:p>
          <a:p>
            <a:pPr algn="just" eaLnBrk="1" hangingPunct="1">
              <a:buNone/>
            </a:pPr>
            <a:r>
              <a:rPr lang="en-US" altLang="zh-CN" b="1" dirty="0"/>
              <a:t>11.7 </a:t>
            </a:r>
            <a:r>
              <a:rPr lang="zh-CN" altLang="en-US" b="1" dirty="0"/>
              <a:t>封锁的粒度</a:t>
            </a:r>
            <a:endParaRPr lang="en-US" altLang="zh-CN" b="1" dirty="0"/>
          </a:p>
          <a:p>
            <a:pPr algn="just" eaLnBrk="1" hangingPunct="1">
              <a:buNone/>
            </a:pPr>
            <a:r>
              <a:rPr lang="zh-CN" altLang="en-US" b="1" dirty="0"/>
              <a:t>*</a:t>
            </a:r>
            <a:r>
              <a:rPr lang="en-US" altLang="zh-CN" b="1" dirty="0"/>
              <a:t>11.8 </a:t>
            </a:r>
            <a:r>
              <a:rPr lang="zh-CN" altLang="en-US" b="1" dirty="0"/>
              <a:t>其他并发控制机制</a:t>
            </a:r>
            <a:endParaRPr lang="zh-CN" altLang="en-US" b="1" dirty="0"/>
          </a:p>
        </p:txBody>
      </p:sp>
    </p:spTree>
  </p:cSld>
  <p:clrMapOvr>
    <a:masterClrMapping/>
  </p:clrMapOvr>
  <p:transition advClick="0"/>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2"/>
          <p:cNvSpPr>
            <a:spLocks noGrp="1"/>
          </p:cNvSpPr>
          <p:nvPr>
            <p:ph type="title"/>
          </p:nvPr>
        </p:nvSpPr>
        <p:spPr>
          <a:ln/>
        </p:spPr>
        <p:txBody>
          <a:bodyPr vert="horz" wrap="square" lIns="91440" tIns="45720" rIns="91440" bIns="45720" anchor="b" anchorCtr="0"/>
          <a:p>
            <a:pPr eaLnBrk="1" hangingPunct="1"/>
            <a:r>
              <a:rPr lang="en-US" altLang="zh-CN" dirty="0"/>
              <a:t>11.4  </a:t>
            </a:r>
            <a:r>
              <a:rPr lang="zh-CN" altLang="en-US" dirty="0"/>
              <a:t>活锁和死锁</a:t>
            </a:r>
            <a:endParaRPr lang="zh-CN" altLang="en-US" dirty="0"/>
          </a:p>
        </p:txBody>
      </p:sp>
      <p:sp>
        <p:nvSpPr>
          <p:cNvPr id="45058" name="Rectangle 3"/>
          <p:cNvSpPr>
            <a:spLocks noGrp="1"/>
          </p:cNvSpPr>
          <p:nvPr>
            <p:ph idx="1"/>
          </p:nvPr>
        </p:nvSpPr>
        <p:spPr>
          <a:ln/>
        </p:spPr>
        <p:txBody>
          <a:bodyPr vert="horz" wrap="square" lIns="91440" tIns="45720" rIns="91440" bIns="45720" anchor="t" anchorCtr="0"/>
          <a:p>
            <a:pPr eaLnBrk="1" hangingPunct="1"/>
            <a:r>
              <a:rPr lang="zh-CN" altLang="en-US" dirty="0"/>
              <a:t>封锁技术可以有效地解决并行操作的一致性问题，但也</a:t>
            </a:r>
            <a:r>
              <a:rPr lang="zh-CN" altLang="en-US" b="1" dirty="0">
                <a:solidFill>
                  <a:srgbClr val="FF0000"/>
                </a:solidFill>
              </a:rPr>
              <a:t>带来一些新的问题</a:t>
            </a:r>
            <a:endParaRPr lang="zh-CN" altLang="en-US" b="1" dirty="0">
              <a:solidFill>
                <a:srgbClr val="FF0000"/>
              </a:solidFill>
            </a:endParaRPr>
          </a:p>
          <a:p>
            <a:pPr lvl="1" indent="-436245" eaLnBrk="1" hangingPunct="1">
              <a:lnSpc>
                <a:spcPct val="160000"/>
              </a:lnSpc>
            </a:pPr>
            <a:r>
              <a:rPr lang="zh-CN" altLang="en-US" dirty="0">
                <a:solidFill>
                  <a:srgbClr val="0000FF"/>
                </a:solidFill>
              </a:rPr>
              <a:t>活锁</a:t>
            </a:r>
            <a:endParaRPr lang="zh-CN" altLang="en-US" dirty="0">
              <a:solidFill>
                <a:srgbClr val="0000FF"/>
              </a:solidFill>
            </a:endParaRPr>
          </a:p>
          <a:p>
            <a:pPr lvl="1" indent="-436245" eaLnBrk="1" hangingPunct="1">
              <a:lnSpc>
                <a:spcPct val="160000"/>
              </a:lnSpc>
            </a:pPr>
            <a:r>
              <a:rPr lang="zh-CN" altLang="en-US" dirty="0">
                <a:solidFill>
                  <a:srgbClr val="0000FF"/>
                </a:solidFill>
              </a:rPr>
              <a:t>死锁</a:t>
            </a:r>
            <a:endParaRPr lang="zh-CN" altLang="en-US" dirty="0">
              <a:solidFill>
                <a:srgbClr val="0000FF"/>
              </a:solidFill>
            </a:endParaRPr>
          </a:p>
        </p:txBody>
      </p:sp>
    </p:spTree>
  </p:cSld>
  <p:clrMapOvr>
    <a:masterClrMapping/>
  </p:clrMapOvr>
  <p:transition advClick="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2"/>
          <p:cNvSpPr>
            <a:spLocks noGrp="1"/>
          </p:cNvSpPr>
          <p:nvPr>
            <p:ph type="title"/>
          </p:nvPr>
        </p:nvSpPr>
        <p:spPr>
          <a:ln/>
        </p:spPr>
        <p:txBody>
          <a:bodyPr vert="horz" wrap="square" lIns="91440" tIns="45720" rIns="91440" bIns="45720" anchor="b" anchorCtr="0"/>
          <a:p>
            <a:pPr eaLnBrk="1" hangingPunct="1"/>
            <a:r>
              <a:rPr lang="en-US" altLang="zh-CN" dirty="0"/>
              <a:t>11.4.1 </a:t>
            </a:r>
            <a:r>
              <a:rPr lang="zh-CN" altLang="en-US" dirty="0"/>
              <a:t>活锁</a:t>
            </a:r>
            <a:endParaRPr lang="zh-CN" altLang="en-US" dirty="0"/>
          </a:p>
        </p:txBody>
      </p:sp>
      <p:sp>
        <p:nvSpPr>
          <p:cNvPr id="46082" name="Text Box 5"/>
          <p:cNvSpPr txBox="1"/>
          <p:nvPr/>
        </p:nvSpPr>
        <p:spPr>
          <a:xfrm>
            <a:off x="2032000" y="2138363"/>
            <a:ext cx="184150" cy="366712"/>
          </a:xfrm>
          <a:prstGeom prst="rect">
            <a:avLst/>
          </a:prstGeom>
          <a:noFill/>
          <a:ln w="25400">
            <a:noFill/>
          </a:ln>
        </p:spPr>
        <p:txBody>
          <a:bodyPr wrap="none" anchor="t" anchorCtr="0">
            <a:spAutoFit/>
          </a:bodyPr>
          <a:p>
            <a:pPr marL="342900" indent="-342900"/>
            <a:endParaRPr lang="zh-CN" altLang="zh-CN" dirty="0">
              <a:latin typeface="Verdana" panose="020B0604030504040204" pitchFamily="34" charset="0"/>
              <a:ea typeface="宋体" panose="02010600030101010101" pitchFamily="2" charset="-122"/>
            </a:endParaRPr>
          </a:p>
        </p:txBody>
      </p:sp>
      <p:sp>
        <p:nvSpPr>
          <p:cNvPr id="46083" name="Rectangle 7"/>
          <p:cNvSpPr>
            <a:spLocks noGrp="1"/>
          </p:cNvSpPr>
          <p:nvPr>
            <p:ph idx="1"/>
          </p:nvPr>
        </p:nvSpPr>
        <p:spPr>
          <a:ln/>
        </p:spPr>
        <p:txBody>
          <a:bodyPr vert="horz" wrap="square" lIns="91440" tIns="45720" rIns="91440" bIns="45720" anchor="t" anchorCtr="0"/>
          <a:p>
            <a:pPr eaLnBrk="1" hangingPunct="1">
              <a:lnSpc>
                <a:spcPct val="150000"/>
              </a:lnSpc>
            </a:pPr>
            <a:r>
              <a:rPr lang="zh-CN" altLang="en-US" sz="2400" dirty="0"/>
              <a:t>事务</a:t>
            </a:r>
            <a:r>
              <a:rPr lang="en-US" altLang="zh-CN" sz="2400" dirty="0"/>
              <a:t>T1</a:t>
            </a:r>
            <a:r>
              <a:rPr lang="zh-CN" altLang="en-US" sz="2400" dirty="0"/>
              <a:t>封锁了数据</a:t>
            </a:r>
            <a:r>
              <a:rPr lang="en-US" altLang="zh-CN" sz="2400" dirty="0"/>
              <a:t>R</a:t>
            </a:r>
            <a:endParaRPr lang="en-US" altLang="zh-CN" sz="2400" dirty="0"/>
          </a:p>
          <a:p>
            <a:pPr eaLnBrk="1" hangingPunct="1">
              <a:lnSpc>
                <a:spcPct val="150000"/>
              </a:lnSpc>
            </a:pPr>
            <a:r>
              <a:rPr lang="zh-CN" altLang="en-US" sz="2400" dirty="0"/>
              <a:t>事务</a:t>
            </a:r>
            <a:r>
              <a:rPr lang="en-US" altLang="zh-CN" sz="2400" dirty="0"/>
              <a:t>T2</a:t>
            </a:r>
            <a:r>
              <a:rPr lang="zh-CN" altLang="en-US" sz="2400" dirty="0"/>
              <a:t>又请求封锁</a:t>
            </a:r>
            <a:r>
              <a:rPr lang="en-US" altLang="zh-CN" sz="2400" dirty="0"/>
              <a:t>R</a:t>
            </a:r>
            <a:r>
              <a:rPr lang="zh-CN" altLang="en-US" sz="2400" dirty="0"/>
              <a:t>，于是</a:t>
            </a:r>
            <a:r>
              <a:rPr lang="en-US" altLang="zh-CN" sz="2400" dirty="0"/>
              <a:t>T2</a:t>
            </a:r>
            <a:r>
              <a:rPr lang="zh-CN" altLang="en-US" sz="2400" dirty="0"/>
              <a:t>等待。</a:t>
            </a:r>
            <a:endParaRPr lang="zh-CN" altLang="en-US" sz="2400" dirty="0"/>
          </a:p>
          <a:p>
            <a:pPr eaLnBrk="1" hangingPunct="1">
              <a:lnSpc>
                <a:spcPct val="150000"/>
              </a:lnSpc>
            </a:pPr>
            <a:r>
              <a:rPr lang="en-US" altLang="zh-CN" sz="2400" dirty="0"/>
              <a:t>T3</a:t>
            </a:r>
            <a:r>
              <a:rPr lang="zh-CN" altLang="en-US" sz="2400" dirty="0"/>
              <a:t>也请求封锁</a:t>
            </a:r>
            <a:r>
              <a:rPr lang="en-US" altLang="zh-CN" sz="2400" dirty="0"/>
              <a:t>R</a:t>
            </a:r>
            <a:r>
              <a:rPr lang="zh-CN" altLang="en-US" sz="2400" dirty="0"/>
              <a:t>，当</a:t>
            </a:r>
            <a:r>
              <a:rPr lang="en-US" altLang="zh-CN" sz="2400" dirty="0"/>
              <a:t>T1</a:t>
            </a:r>
            <a:r>
              <a:rPr lang="zh-CN" altLang="en-US" sz="2400" dirty="0"/>
              <a:t>释放了</a:t>
            </a:r>
            <a:r>
              <a:rPr lang="en-US" altLang="zh-CN" sz="2400" dirty="0"/>
              <a:t>R</a:t>
            </a:r>
            <a:r>
              <a:rPr lang="zh-CN" altLang="en-US" sz="2400" dirty="0"/>
              <a:t>上的封锁之后系统首先批准了</a:t>
            </a:r>
            <a:r>
              <a:rPr lang="en-US" altLang="zh-CN" sz="2400" dirty="0"/>
              <a:t>T3</a:t>
            </a:r>
            <a:r>
              <a:rPr lang="zh-CN" altLang="en-US" sz="2400" dirty="0"/>
              <a:t>的请求，</a:t>
            </a:r>
            <a:r>
              <a:rPr lang="en-US" altLang="zh-CN" sz="2400" dirty="0"/>
              <a:t>T2</a:t>
            </a:r>
            <a:r>
              <a:rPr lang="zh-CN" altLang="en-US" sz="2400" dirty="0"/>
              <a:t>仍然等待。</a:t>
            </a:r>
            <a:endParaRPr lang="zh-CN" altLang="en-US" sz="2400" dirty="0"/>
          </a:p>
          <a:p>
            <a:pPr eaLnBrk="1" hangingPunct="1">
              <a:lnSpc>
                <a:spcPct val="150000"/>
              </a:lnSpc>
            </a:pPr>
            <a:r>
              <a:rPr lang="en-US" altLang="zh-CN" sz="2400" dirty="0"/>
              <a:t>T4</a:t>
            </a:r>
            <a:r>
              <a:rPr lang="zh-CN" altLang="en-US" sz="2400" dirty="0"/>
              <a:t>又请求封锁</a:t>
            </a:r>
            <a:r>
              <a:rPr lang="en-US" altLang="zh-CN" sz="2400" dirty="0"/>
              <a:t>R</a:t>
            </a:r>
            <a:r>
              <a:rPr lang="zh-CN" altLang="en-US" sz="2400" dirty="0"/>
              <a:t>，当</a:t>
            </a:r>
            <a:r>
              <a:rPr lang="en-US" altLang="zh-CN" sz="2400" dirty="0"/>
              <a:t>T3</a:t>
            </a:r>
            <a:r>
              <a:rPr lang="zh-CN" altLang="en-US" sz="2400" dirty="0"/>
              <a:t>释放了</a:t>
            </a:r>
            <a:r>
              <a:rPr lang="en-US" altLang="zh-CN" sz="2400" dirty="0"/>
              <a:t>R</a:t>
            </a:r>
            <a:r>
              <a:rPr lang="zh-CN" altLang="en-US" sz="2400" dirty="0"/>
              <a:t>上的封锁之后系统又批准了</a:t>
            </a:r>
            <a:r>
              <a:rPr lang="en-US" altLang="zh-CN" sz="2400" dirty="0"/>
              <a:t>T4</a:t>
            </a:r>
            <a:r>
              <a:rPr lang="zh-CN" altLang="en-US" sz="2400" dirty="0"/>
              <a:t>的请求</a:t>
            </a:r>
            <a:r>
              <a:rPr lang="en-US" altLang="zh-CN" sz="2400" dirty="0"/>
              <a:t>……</a:t>
            </a:r>
            <a:endParaRPr lang="en-US" altLang="zh-CN" sz="2400" dirty="0"/>
          </a:p>
          <a:p>
            <a:pPr eaLnBrk="1" hangingPunct="1">
              <a:lnSpc>
                <a:spcPct val="150000"/>
              </a:lnSpc>
            </a:pPr>
            <a:r>
              <a:rPr lang="en-US" altLang="zh-CN" sz="2400" dirty="0"/>
              <a:t>T2</a:t>
            </a:r>
            <a:r>
              <a:rPr lang="zh-CN" altLang="en-US" sz="2400" dirty="0"/>
              <a:t>有可能永远等待，这就是</a:t>
            </a:r>
            <a:r>
              <a:rPr lang="zh-CN" altLang="en-US" sz="2400" dirty="0">
                <a:solidFill>
                  <a:srgbClr val="FF00FF"/>
                </a:solidFill>
              </a:rPr>
              <a:t>活锁</a:t>
            </a:r>
            <a:r>
              <a:rPr lang="zh-CN" altLang="en-US" sz="2400" dirty="0"/>
              <a:t>的情形 </a:t>
            </a:r>
            <a:endParaRPr lang="zh-CN" altLang="en-US" sz="2400" dirty="0"/>
          </a:p>
        </p:txBody>
      </p:sp>
    </p:spTree>
  </p:cSld>
  <p:clrMapOvr>
    <a:masterClrMapping/>
  </p:clrMapOvr>
  <p:transition advClick="0"/>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2"/>
          <p:cNvSpPr>
            <a:spLocks noGrp="1"/>
          </p:cNvSpPr>
          <p:nvPr>
            <p:ph type="title"/>
          </p:nvPr>
        </p:nvSpPr>
        <p:spPr>
          <a:ln/>
        </p:spPr>
        <p:txBody>
          <a:bodyPr vert="horz" wrap="square" lIns="91440" tIns="45720" rIns="91440" bIns="45720" anchor="b" anchorCtr="0"/>
          <a:p>
            <a:pPr eaLnBrk="1" hangingPunct="1"/>
            <a:r>
              <a:rPr lang="zh-CN" altLang="en-US" dirty="0"/>
              <a:t>活锁（续）</a:t>
            </a:r>
            <a:endParaRPr lang="zh-CN" altLang="en-US" dirty="0"/>
          </a:p>
        </p:txBody>
      </p:sp>
      <p:pic>
        <p:nvPicPr>
          <p:cNvPr id="47106" name="Picture 4" descr="81"/>
          <p:cNvPicPr>
            <a:picLocks noChangeAspect="1"/>
          </p:cNvPicPr>
          <p:nvPr/>
        </p:nvPicPr>
        <p:blipFill>
          <a:blip r:embed="rId1">
            <a:clrChange>
              <a:clrFrom>
                <a:srgbClr val="FFFFFF"/>
              </a:clrFrom>
              <a:clrTo>
                <a:srgbClr val="FFFFFF">
                  <a:alpha val="0"/>
                </a:srgbClr>
              </a:clrTo>
            </a:clrChange>
          </a:blip>
          <a:stretch>
            <a:fillRect/>
          </a:stretch>
        </p:blipFill>
        <p:spPr>
          <a:xfrm>
            <a:off x="1143000" y="1600200"/>
            <a:ext cx="7620000" cy="4437063"/>
          </a:xfrm>
          <a:prstGeom prst="rect">
            <a:avLst/>
          </a:prstGeom>
          <a:noFill/>
          <a:ln w="9525">
            <a:noFill/>
          </a:ln>
        </p:spPr>
      </p:pic>
      <p:sp>
        <p:nvSpPr>
          <p:cNvPr id="47107" name="Text Box 5"/>
          <p:cNvSpPr txBox="1"/>
          <p:nvPr/>
        </p:nvSpPr>
        <p:spPr>
          <a:xfrm>
            <a:off x="3938588" y="6181725"/>
            <a:ext cx="758825" cy="366713"/>
          </a:xfrm>
          <a:prstGeom prst="rect">
            <a:avLst/>
          </a:prstGeom>
          <a:noFill/>
          <a:ln w="25400">
            <a:noFill/>
          </a:ln>
        </p:spPr>
        <p:txBody>
          <a:bodyPr wrap="none" anchor="t" anchorCtr="0">
            <a:spAutoFit/>
          </a:bodyPr>
          <a:p>
            <a:pPr marL="342900" indent="-342900"/>
            <a:r>
              <a:rPr lang="zh-CN" altLang="en-US" dirty="0">
                <a:latin typeface="Verdana" panose="020B0604030504040204" pitchFamily="34" charset="0"/>
                <a:ea typeface="宋体" panose="02010600030101010101" pitchFamily="2" charset="-122"/>
              </a:rPr>
              <a:t>活  锁</a:t>
            </a:r>
            <a:endParaRPr lang="zh-CN" altLang="en-US"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2"/>
          <p:cNvSpPr>
            <a:spLocks noGrp="1"/>
          </p:cNvSpPr>
          <p:nvPr>
            <p:ph type="title"/>
          </p:nvPr>
        </p:nvSpPr>
        <p:spPr>
          <a:ln/>
        </p:spPr>
        <p:txBody>
          <a:bodyPr vert="horz" wrap="square" lIns="91440" tIns="45720" rIns="91440" bIns="45720" anchor="b" anchorCtr="0"/>
          <a:p>
            <a:pPr eaLnBrk="1" hangingPunct="1"/>
            <a:r>
              <a:rPr lang="zh-CN" altLang="en-US" dirty="0"/>
              <a:t>活锁（续）</a:t>
            </a:r>
            <a:endParaRPr lang="zh-CN" altLang="en-US" dirty="0"/>
          </a:p>
        </p:txBody>
      </p:sp>
      <p:sp>
        <p:nvSpPr>
          <p:cNvPr id="48130" name="Rectangle 3"/>
          <p:cNvSpPr>
            <a:spLocks noGrp="1"/>
          </p:cNvSpPr>
          <p:nvPr>
            <p:ph idx="1"/>
          </p:nvPr>
        </p:nvSpPr>
        <p:spPr>
          <a:ln/>
        </p:spPr>
        <p:txBody>
          <a:bodyPr vert="horz" wrap="square" lIns="91440" tIns="45720" rIns="91440" bIns="45720" anchor="t" anchorCtr="0"/>
          <a:p>
            <a:pPr algn="just" eaLnBrk="1" hangingPunct="1">
              <a:lnSpc>
                <a:spcPct val="170000"/>
              </a:lnSpc>
            </a:pPr>
            <a:r>
              <a:rPr lang="zh-CN" altLang="en-US" dirty="0"/>
              <a:t>避免活锁：采用</a:t>
            </a:r>
            <a:r>
              <a:rPr lang="zh-CN" altLang="en-US" b="1" dirty="0">
                <a:solidFill>
                  <a:srgbClr val="FF0000"/>
                </a:solidFill>
              </a:rPr>
              <a:t>先来先服务</a:t>
            </a:r>
            <a:r>
              <a:rPr lang="zh-CN" altLang="en-US" dirty="0"/>
              <a:t>的策略</a:t>
            </a:r>
            <a:endParaRPr lang="zh-CN" altLang="en-US" dirty="0"/>
          </a:p>
          <a:p>
            <a:pPr lvl="1" indent="-436245" algn="just" eaLnBrk="1" hangingPunct="1">
              <a:lnSpc>
                <a:spcPct val="170000"/>
              </a:lnSpc>
            </a:pPr>
            <a:r>
              <a:rPr lang="zh-CN" altLang="en-US" dirty="0"/>
              <a:t>当多个事务请求封锁同一数据对象时</a:t>
            </a:r>
            <a:endParaRPr lang="zh-CN" altLang="en-US" dirty="0"/>
          </a:p>
          <a:p>
            <a:pPr lvl="1" indent="-436245" algn="just" eaLnBrk="1" hangingPunct="1">
              <a:lnSpc>
                <a:spcPct val="170000"/>
              </a:lnSpc>
            </a:pPr>
            <a:r>
              <a:rPr lang="zh-CN" altLang="en-US" dirty="0"/>
              <a:t>按请求封锁的先后次序对这些事务排队</a:t>
            </a:r>
            <a:endParaRPr lang="zh-CN" altLang="en-US" dirty="0"/>
          </a:p>
          <a:p>
            <a:pPr lvl="1" indent="-436245" algn="just" eaLnBrk="1" hangingPunct="1">
              <a:lnSpc>
                <a:spcPct val="170000"/>
              </a:lnSpc>
            </a:pPr>
            <a:r>
              <a:rPr lang="zh-CN" altLang="en-US" dirty="0"/>
              <a:t>该数据对象上的锁一旦释放，首先批准申请队列中第一个事务获得锁</a:t>
            </a:r>
            <a:endParaRPr lang="zh-CN" altLang="en-US" dirty="0"/>
          </a:p>
          <a:p>
            <a:pPr eaLnBrk="1" hangingPunct="1">
              <a:buNone/>
            </a:pPr>
            <a:endParaRPr lang="en-US" altLang="zh-CN" dirty="0"/>
          </a:p>
        </p:txBody>
      </p:sp>
    </p:spTree>
  </p:cSld>
  <p:clrMapOvr>
    <a:masterClrMapping/>
  </p:clrMapOvr>
  <p:transition advClick="0"/>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2"/>
          <p:cNvSpPr>
            <a:spLocks noGrp="1"/>
          </p:cNvSpPr>
          <p:nvPr>
            <p:ph type="title"/>
          </p:nvPr>
        </p:nvSpPr>
        <p:spPr>
          <a:ln/>
        </p:spPr>
        <p:txBody>
          <a:bodyPr vert="horz" wrap="square" lIns="91440" tIns="45720" rIns="91440" bIns="45720" anchor="b" anchorCtr="0"/>
          <a:p>
            <a:pPr eaLnBrk="1" hangingPunct="1"/>
            <a:r>
              <a:rPr lang="en-US" altLang="zh-CN" dirty="0"/>
              <a:t>11.4.2  </a:t>
            </a:r>
            <a:r>
              <a:rPr lang="zh-CN" altLang="en-US" dirty="0"/>
              <a:t>死锁</a:t>
            </a:r>
            <a:endParaRPr lang="zh-CN" altLang="en-US" dirty="0"/>
          </a:p>
        </p:txBody>
      </p:sp>
      <p:sp>
        <p:nvSpPr>
          <p:cNvPr id="49154" name="Rectangle 10"/>
          <p:cNvSpPr>
            <a:spLocks noGrp="1"/>
          </p:cNvSpPr>
          <p:nvPr>
            <p:ph idx="1"/>
          </p:nvPr>
        </p:nvSpPr>
        <p:spPr>
          <a:ln/>
        </p:spPr>
        <p:txBody>
          <a:bodyPr vert="horz" wrap="square" lIns="91440" tIns="45720" rIns="91440" bIns="45720" anchor="t" anchorCtr="0"/>
          <a:p>
            <a:pPr eaLnBrk="1" hangingPunct="1">
              <a:lnSpc>
                <a:spcPct val="130000"/>
              </a:lnSpc>
            </a:pPr>
            <a:r>
              <a:rPr lang="zh-CN" altLang="en-US" sz="2400" dirty="0"/>
              <a:t>事务</a:t>
            </a:r>
            <a:r>
              <a:rPr lang="en-US" altLang="zh-CN" sz="2400" dirty="0"/>
              <a:t>T1</a:t>
            </a:r>
            <a:r>
              <a:rPr lang="zh-CN" altLang="en-US" sz="2400" dirty="0"/>
              <a:t>封锁了数据</a:t>
            </a:r>
            <a:r>
              <a:rPr lang="en-US" altLang="zh-CN" sz="2400" dirty="0"/>
              <a:t>R1</a:t>
            </a:r>
            <a:endParaRPr lang="en-US" altLang="zh-CN" sz="2400" dirty="0"/>
          </a:p>
          <a:p>
            <a:pPr eaLnBrk="1" hangingPunct="1">
              <a:lnSpc>
                <a:spcPct val="130000"/>
              </a:lnSpc>
            </a:pPr>
            <a:r>
              <a:rPr lang="en-US" altLang="zh-CN" sz="2400" dirty="0"/>
              <a:t>T2</a:t>
            </a:r>
            <a:r>
              <a:rPr lang="zh-CN" altLang="en-US" sz="2400" dirty="0"/>
              <a:t>封锁了数据</a:t>
            </a:r>
            <a:r>
              <a:rPr lang="en-US" altLang="zh-CN" sz="2400" dirty="0"/>
              <a:t>R2</a:t>
            </a:r>
            <a:endParaRPr lang="en-US" altLang="zh-CN" sz="2400" dirty="0"/>
          </a:p>
          <a:p>
            <a:pPr eaLnBrk="1" hangingPunct="1">
              <a:lnSpc>
                <a:spcPct val="130000"/>
              </a:lnSpc>
            </a:pPr>
            <a:r>
              <a:rPr lang="en-US" altLang="zh-CN" sz="2400" dirty="0"/>
              <a:t>T1</a:t>
            </a:r>
            <a:r>
              <a:rPr lang="zh-CN" altLang="en-US" sz="2400" dirty="0"/>
              <a:t>又请求封锁</a:t>
            </a:r>
            <a:r>
              <a:rPr lang="en-US" altLang="zh-CN" sz="2400" dirty="0"/>
              <a:t>R2</a:t>
            </a:r>
            <a:r>
              <a:rPr lang="zh-CN" altLang="en-US" sz="2400" dirty="0"/>
              <a:t>，因</a:t>
            </a:r>
            <a:r>
              <a:rPr lang="en-US" altLang="zh-CN" sz="2400" dirty="0"/>
              <a:t>T2</a:t>
            </a:r>
            <a:r>
              <a:rPr lang="zh-CN" altLang="en-US" sz="2400" dirty="0"/>
              <a:t>已封锁了</a:t>
            </a:r>
            <a:r>
              <a:rPr lang="en-US" altLang="zh-CN" sz="2400" dirty="0"/>
              <a:t>R2</a:t>
            </a:r>
            <a:r>
              <a:rPr lang="zh-CN" altLang="en-US" sz="2400" dirty="0"/>
              <a:t>，于是</a:t>
            </a:r>
            <a:r>
              <a:rPr lang="en-US" altLang="zh-CN" sz="2400" dirty="0"/>
              <a:t>T1</a:t>
            </a:r>
            <a:r>
              <a:rPr lang="zh-CN" altLang="en-US" sz="2400" dirty="0"/>
              <a:t>等待</a:t>
            </a:r>
            <a:r>
              <a:rPr lang="en-US" altLang="zh-CN" sz="2400" dirty="0"/>
              <a:t>T2</a:t>
            </a:r>
            <a:r>
              <a:rPr lang="zh-CN" altLang="en-US" sz="2400" dirty="0"/>
              <a:t>释放</a:t>
            </a:r>
            <a:r>
              <a:rPr lang="en-US" altLang="zh-CN" sz="2400" dirty="0"/>
              <a:t>R2</a:t>
            </a:r>
            <a:r>
              <a:rPr lang="zh-CN" altLang="en-US" sz="2400" dirty="0"/>
              <a:t>上的锁</a:t>
            </a:r>
            <a:endParaRPr lang="zh-CN" altLang="en-US" sz="2400" dirty="0"/>
          </a:p>
          <a:p>
            <a:pPr eaLnBrk="1" hangingPunct="1">
              <a:lnSpc>
                <a:spcPct val="130000"/>
              </a:lnSpc>
            </a:pPr>
            <a:r>
              <a:rPr lang="zh-CN" altLang="en-US" sz="2400" dirty="0"/>
              <a:t>接着</a:t>
            </a:r>
            <a:r>
              <a:rPr lang="en-US" altLang="zh-CN" sz="2400" dirty="0"/>
              <a:t>T2</a:t>
            </a:r>
            <a:r>
              <a:rPr lang="zh-CN" altLang="en-US" sz="2400" dirty="0"/>
              <a:t>又申请封锁</a:t>
            </a:r>
            <a:r>
              <a:rPr lang="en-US" altLang="zh-CN" sz="2400" dirty="0"/>
              <a:t>R1</a:t>
            </a:r>
            <a:r>
              <a:rPr lang="zh-CN" altLang="en-US" sz="2400" dirty="0"/>
              <a:t>，因</a:t>
            </a:r>
            <a:r>
              <a:rPr lang="en-US" altLang="zh-CN" sz="2400" dirty="0"/>
              <a:t>T1</a:t>
            </a:r>
            <a:r>
              <a:rPr lang="zh-CN" altLang="en-US" sz="2400" dirty="0"/>
              <a:t>已封锁了</a:t>
            </a:r>
            <a:r>
              <a:rPr lang="en-US" altLang="zh-CN" sz="2400" dirty="0"/>
              <a:t>R1</a:t>
            </a:r>
            <a:r>
              <a:rPr lang="zh-CN" altLang="en-US" sz="2400" dirty="0"/>
              <a:t>，</a:t>
            </a:r>
            <a:r>
              <a:rPr lang="en-US" altLang="zh-CN" sz="2400" dirty="0"/>
              <a:t>T2</a:t>
            </a:r>
            <a:r>
              <a:rPr lang="zh-CN" altLang="en-US" sz="2400" dirty="0"/>
              <a:t>也只能等待</a:t>
            </a:r>
            <a:r>
              <a:rPr lang="en-US" altLang="zh-CN" sz="2400" dirty="0"/>
              <a:t>T1</a:t>
            </a:r>
            <a:r>
              <a:rPr lang="zh-CN" altLang="en-US" sz="2400" dirty="0"/>
              <a:t>释放</a:t>
            </a:r>
            <a:r>
              <a:rPr lang="en-US" altLang="zh-CN" sz="2400" dirty="0"/>
              <a:t>R1</a:t>
            </a:r>
            <a:r>
              <a:rPr lang="zh-CN" altLang="en-US" sz="2400" dirty="0"/>
              <a:t>上的锁</a:t>
            </a:r>
            <a:endParaRPr lang="zh-CN" altLang="en-US" sz="2400" dirty="0"/>
          </a:p>
          <a:p>
            <a:pPr eaLnBrk="1" hangingPunct="1">
              <a:lnSpc>
                <a:spcPct val="130000"/>
              </a:lnSpc>
            </a:pPr>
            <a:r>
              <a:rPr lang="zh-CN" altLang="en-US" sz="2400" dirty="0"/>
              <a:t>这样</a:t>
            </a:r>
            <a:r>
              <a:rPr lang="en-US" altLang="zh-CN" sz="2400" dirty="0">
                <a:solidFill>
                  <a:srgbClr val="FF0000"/>
                </a:solidFill>
              </a:rPr>
              <a:t>T1</a:t>
            </a:r>
            <a:r>
              <a:rPr lang="zh-CN" altLang="en-US" sz="2400" dirty="0">
                <a:solidFill>
                  <a:srgbClr val="FF0000"/>
                </a:solidFill>
              </a:rPr>
              <a:t>在等待</a:t>
            </a:r>
            <a:r>
              <a:rPr lang="en-US" altLang="zh-CN" sz="2400" dirty="0">
                <a:solidFill>
                  <a:srgbClr val="FF0000"/>
                </a:solidFill>
              </a:rPr>
              <a:t>T2</a:t>
            </a:r>
            <a:r>
              <a:rPr lang="zh-CN" altLang="en-US" sz="2400" dirty="0"/>
              <a:t>，而</a:t>
            </a:r>
            <a:r>
              <a:rPr lang="en-US" altLang="zh-CN" sz="2400" dirty="0">
                <a:solidFill>
                  <a:srgbClr val="FF0000"/>
                </a:solidFill>
              </a:rPr>
              <a:t>T2</a:t>
            </a:r>
            <a:r>
              <a:rPr lang="zh-CN" altLang="en-US" sz="2400" dirty="0">
                <a:solidFill>
                  <a:srgbClr val="FF0000"/>
                </a:solidFill>
              </a:rPr>
              <a:t>又在等待</a:t>
            </a:r>
            <a:r>
              <a:rPr lang="en-US" altLang="zh-CN" sz="2400" dirty="0">
                <a:solidFill>
                  <a:srgbClr val="FF0000"/>
                </a:solidFill>
              </a:rPr>
              <a:t>T1</a:t>
            </a:r>
            <a:r>
              <a:rPr lang="zh-CN" altLang="en-US" sz="2400" dirty="0"/>
              <a:t>，</a:t>
            </a:r>
            <a:r>
              <a:rPr lang="en-US" altLang="zh-CN" sz="2400" dirty="0"/>
              <a:t>T1</a:t>
            </a:r>
            <a:r>
              <a:rPr lang="zh-CN" altLang="en-US" sz="2400" dirty="0"/>
              <a:t>和</a:t>
            </a:r>
            <a:r>
              <a:rPr lang="en-US" altLang="zh-CN" sz="2400" dirty="0"/>
              <a:t>T2</a:t>
            </a:r>
            <a:r>
              <a:rPr lang="zh-CN" altLang="en-US" sz="2400" dirty="0"/>
              <a:t>两个事务永远不能结束，形成</a:t>
            </a:r>
            <a:r>
              <a:rPr lang="zh-CN" altLang="en-US" sz="2400" dirty="0">
                <a:solidFill>
                  <a:srgbClr val="FF00FF"/>
                </a:solidFill>
              </a:rPr>
              <a:t>死锁</a:t>
            </a:r>
            <a:r>
              <a:rPr lang="zh-CN" altLang="en-US" dirty="0"/>
              <a:t> </a:t>
            </a:r>
            <a:endParaRPr lang="zh-CN" altLang="en-US" dirty="0"/>
          </a:p>
        </p:txBody>
      </p:sp>
    </p:spTree>
  </p:cSld>
  <p:clrMapOvr>
    <a:masterClrMapping/>
  </p:clrMapOvr>
  <p:transition advClick="0"/>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2"/>
          <p:cNvSpPr>
            <a:spLocks noGrp="1"/>
          </p:cNvSpPr>
          <p:nvPr>
            <p:ph type="title"/>
          </p:nvPr>
        </p:nvSpPr>
        <p:spPr>
          <a:xfrm>
            <a:off x="642938" y="428625"/>
            <a:ext cx="7391400" cy="563563"/>
          </a:xfrm>
          <a:ln/>
        </p:spPr>
        <p:txBody>
          <a:bodyPr vert="horz" wrap="square" lIns="91440" tIns="45720" rIns="91440" bIns="45720" anchor="b" anchorCtr="0"/>
          <a:p>
            <a:pPr eaLnBrk="1" hangingPunct="1"/>
            <a:r>
              <a:rPr lang="zh-CN" altLang="en-US" dirty="0"/>
              <a:t>死锁（续）</a:t>
            </a:r>
            <a:endParaRPr lang="zh-CN" altLang="en-US" dirty="0"/>
          </a:p>
        </p:txBody>
      </p:sp>
      <p:graphicFrame>
        <p:nvGraphicFramePr>
          <p:cNvPr id="495942" name="Group 326"/>
          <p:cNvGraphicFramePr>
            <a:graphicFrameLocks noGrp="1"/>
          </p:cNvGraphicFramePr>
          <p:nvPr>
            <p:ph idx="1"/>
          </p:nvPr>
        </p:nvGraphicFramePr>
        <p:xfrm>
          <a:off x="785813" y="1285875"/>
          <a:ext cx="6923088" cy="4408488"/>
        </p:xfrm>
        <a:graphic>
          <a:graphicData uri="http://schemas.openxmlformats.org/drawingml/2006/table">
            <a:tbl>
              <a:tblPr/>
              <a:tblGrid>
                <a:gridCol w="3727449"/>
                <a:gridCol w="3195638"/>
              </a:tblGrid>
              <a:tr h="40798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20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20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640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lock R</a:t>
                      </a:r>
                      <a:r>
                        <a:rPr kumimoji="1" lang="en-US" altLang="zh-CN" sz="20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40798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Lock R</a:t>
                      </a:r>
                      <a:r>
                        <a:rPr kumimoji="1" lang="en-US" altLang="zh-CN" sz="20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noFill/>
                  </a:tcPr>
                </a:tc>
              </a:tr>
              <a:tr h="40640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noFill/>
                  </a:tcPr>
                </a:tc>
              </a:tr>
              <a:tr h="40798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Lock R</a:t>
                      </a:r>
                      <a:r>
                        <a:rPr kumimoji="1" lang="en-US" altLang="zh-CN" sz="20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noFill/>
                  </a:tcPr>
                </a:tc>
              </a:tr>
              <a:tr h="40640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noFill/>
                  </a:tcPr>
                </a:tc>
              </a:tr>
              <a:tr h="40798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Lock R</a:t>
                      </a:r>
                      <a:r>
                        <a:rPr kumimoji="1" lang="en-US" altLang="zh-CN" sz="20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noFill/>
                  </a:tcPr>
                </a:tc>
              </a:tr>
              <a:tr h="40798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noFill/>
                  </a:tcPr>
                </a:tc>
              </a:tr>
              <a:tr h="40640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lnTlToBr>
                      <a:noFill/>
                    </a:lnTlToBr>
                    <a:lnBlToTr>
                      <a:noFill/>
                    </a:lnBlToTr>
                    <a:noFill/>
                  </a:tcPr>
                </a:tc>
              </a:tr>
              <a:tr h="74295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lnTlToBr>
                      <a:noFill/>
                    </a:lnTlToBr>
                    <a:lnBlToTr>
                      <a:noFill/>
                    </a:lnBlToTr>
                    <a:noFill/>
                  </a:tcPr>
                </a:tc>
              </a:tr>
            </a:tbl>
          </a:graphicData>
        </a:graphic>
      </p:graphicFrame>
      <p:sp>
        <p:nvSpPr>
          <p:cNvPr id="50213" name="Text Box 189"/>
          <p:cNvSpPr txBox="1"/>
          <p:nvPr/>
        </p:nvSpPr>
        <p:spPr>
          <a:xfrm>
            <a:off x="4000500" y="5857875"/>
            <a:ext cx="873125" cy="366713"/>
          </a:xfrm>
          <a:prstGeom prst="rect">
            <a:avLst/>
          </a:prstGeom>
          <a:noFill/>
          <a:ln w="25400">
            <a:noFill/>
          </a:ln>
        </p:spPr>
        <p:txBody>
          <a:bodyPr wrap="none" anchor="t" anchorCtr="0">
            <a:spAutoFit/>
          </a:bodyPr>
          <a:p>
            <a:pPr marL="342900" indent="-342900"/>
            <a:r>
              <a:rPr lang="zh-CN" altLang="en-US" dirty="0">
                <a:latin typeface="Verdana" panose="020B0604030504040204" pitchFamily="34" charset="0"/>
                <a:ea typeface="宋体" panose="02010600030101010101" pitchFamily="2" charset="-122"/>
              </a:rPr>
              <a:t>死    锁</a:t>
            </a:r>
            <a:endParaRPr lang="zh-CN" altLang="en-US"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2"/>
          <p:cNvSpPr>
            <a:spLocks noGrp="1"/>
          </p:cNvSpPr>
          <p:nvPr>
            <p:ph type="title"/>
          </p:nvPr>
        </p:nvSpPr>
        <p:spPr>
          <a:ln/>
        </p:spPr>
        <p:txBody>
          <a:bodyPr vert="horz" wrap="square" lIns="91440" tIns="45720" rIns="91440" bIns="45720" anchor="b" anchorCtr="0"/>
          <a:p>
            <a:pPr eaLnBrk="1" hangingPunct="1"/>
            <a:r>
              <a:rPr lang="zh-CN" altLang="en-US" dirty="0"/>
              <a:t>解决死锁的方法</a:t>
            </a:r>
            <a:endParaRPr lang="zh-CN" altLang="en-US" dirty="0"/>
          </a:p>
        </p:txBody>
      </p:sp>
      <p:sp>
        <p:nvSpPr>
          <p:cNvPr id="51202" name="Rectangle 3"/>
          <p:cNvSpPr>
            <a:spLocks noGrp="1"/>
          </p:cNvSpPr>
          <p:nvPr>
            <p:ph idx="1"/>
          </p:nvPr>
        </p:nvSpPr>
        <p:spPr>
          <a:ln/>
        </p:spPr>
        <p:txBody>
          <a:bodyPr vert="horz" wrap="square" lIns="91440" tIns="45720" rIns="91440" bIns="45720" anchor="t" anchorCtr="0"/>
          <a:p>
            <a:pPr eaLnBrk="1" hangingPunct="1">
              <a:buNone/>
            </a:pPr>
            <a:r>
              <a:rPr lang="zh-CN" altLang="en-US" dirty="0"/>
              <a:t>两类方法</a:t>
            </a:r>
            <a:endParaRPr lang="zh-CN" altLang="en-US" dirty="0"/>
          </a:p>
          <a:p>
            <a:pPr lvl="1" indent="-436245" eaLnBrk="1" hangingPunct="1">
              <a:lnSpc>
                <a:spcPct val="150000"/>
              </a:lnSpc>
              <a:buNone/>
            </a:pPr>
            <a:r>
              <a:rPr lang="en-US" altLang="zh-CN" dirty="0"/>
              <a:t>1. </a:t>
            </a:r>
            <a:r>
              <a:rPr lang="zh-CN" altLang="en-US" dirty="0">
                <a:solidFill>
                  <a:srgbClr val="0000FF"/>
                </a:solidFill>
              </a:rPr>
              <a:t>预防</a:t>
            </a:r>
            <a:r>
              <a:rPr lang="zh-CN" altLang="en-US" dirty="0"/>
              <a:t>死锁</a:t>
            </a:r>
            <a:endParaRPr lang="zh-CN" altLang="en-US" dirty="0"/>
          </a:p>
          <a:p>
            <a:pPr lvl="1" indent="-436245" eaLnBrk="1" hangingPunct="1">
              <a:lnSpc>
                <a:spcPct val="150000"/>
              </a:lnSpc>
              <a:buNone/>
            </a:pPr>
            <a:r>
              <a:rPr lang="en-US" altLang="zh-CN" dirty="0"/>
              <a:t>2. </a:t>
            </a:r>
            <a:r>
              <a:rPr lang="zh-CN" altLang="en-US" dirty="0"/>
              <a:t>死锁的</a:t>
            </a:r>
            <a:r>
              <a:rPr lang="zh-CN" altLang="en-US" dirty="0">
                <a:solidFill>
                  <a:srgbClr val="0000FF"/>
                </a:solidFill>
              </a:rPr>
              <a:t>诊断与解除</a:t>
            </a:r>
            <a:endParaRPr lang="zh-CN" altLang="en-US" dirty="0">
              <a:solidFill>
                <a:srgbClr val="0000FF"/>
              </a:solidFill>
            </a:endParaRPr>
          </a:p>
          <a:p>
            <a:pPr eaLnBrk="1" hangingPunct="1"/>
            <a:endParaRPr lang="en-US" altLang="zh-CN" dirty="0"/>
          </a:p>
        </p:txBody>
      </p:sp>
    </p:spTree>
  </p:cSld>
  <p:clrMapOvr>
    <a:masterClrMapping/>
  </p:clrMapOvr>
  <p:transition advClick="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2"/>
          <p:cNvSpPr>
            <a:spLocks noGrp="1"/>
          </p:cNvSpPr>
          <p:nvPr>
            <p:ph type="title"/>
          </p:nvPr>
        </p:nvSpPr>
        <p:spPr>
          <a:ln/>
        </p:spPr>
        <p:txBody>
          <a:bodyPr vert="horz" wrap="square" lIns="91440" tIns="45720" rIns="91440" bIns="45720" anchor="b" anchorCtr="0"/>
          <a:p>
            <a:pPr eaLnBrk="1" hangingPunct="1"/>
            <a:r>
              <a:rPr lang="en-US" altLang="zh-CN" dirty="0"/>
              <a:t>1. </a:t>
            </a:r>
            <a:r>
              <a:rPr lang="zh-CN" altLang="en-US" dirty="0"/>
              <a:t>死锁的预防</a:t>
            </a:r>
            <a:endParaRPr lang="zh-CN" altLang="en-US" dirty="0"/>
          </a:p>
        </p:txBody>
      </p:sp>
      <p:sp>
        <p:nvSpPr>
          <p:cNvPr id="52226" name="Rectangle 3"/>
          <p:cNvSpPr>
            <a:spLocks noGrp="1"/>
          </p:cNvSpPr>
          <p:nvPr>
            <p:ph idx="1"/>
          </p:nvPr>
        </p:nvSpPr>
        <p:spPr>
          <a:ln/>
        </p:spPr>
        <p:txBody>
          <a:bodyPr vert="horz" wrap="square" lIns="91440" tIns="45720" rIns="91440" bIns="45720" anchor="t" anchorCtr="0"/>
          <a:p>
            <a:pPr eaLnBrk="1" hangingPunct="1">
              <a:lnSpc>
                <a:spcPct val="210000"/>
              </a:lnSpc>
            </a:pPr>
            <a:r>
              <a:rPr lang="zh-CN" altLang="en-US" sz="2400" dirty="0"/>
              <a:t>产生死锁的原因是两个或多个事务都已封锁了一些数据对象，然后又都请求对已为其他事务封锁的数据对象加锁，从而出现死等待。</a:t>
            </a:r>
            <a:endParaRPr lang="zh-CN" altLang="en-US" sz="2400" dirty="0"/>
          </a:p>
          <a:p>
            <a:pPr eaLnBrk="1" hangingPunct="1">
              <a:lnSpc>
                <a:spcPct val="210000"/>
              </a:lnSpc>
              <a:spcBef>
                <a:spcPct val="60000"/>
              </a:spcBef>
            </a:pPr>
            <a:r>
              <a:rPr lang="zh-CN" altLang="en-US" sz="2400" dirty="0"/>
              <a:t>预防死锁的发生就是要</a:t>
            </a:r>
            <a:r>
              <a:rPr lang="zh-CN" altLang="en-US" sz="2400" dirty="0">
                <a:solidFill>
                  <a:srgbClr val="0000FF"/>
                </a:solidFill>
              </a:rPr>
              <a:t>破坏产生死锁的条件</a:t>
            </a:r>
            <a:endParaRPr lang="zh-CN" altLang="en-US" sz="2400" dirty="0">
              <a:solidFill>
                <a:srgbClr val="0000FF"/>
              </a:solidFill>
            </a:endParaRPr>
          </a:p>
        </p:txBody>
      </p:sp>
    </p:spTree>
  </p:cSld>
  <p:clrMapOvr>
    <a:masterClrMapping/>
  </p:clrMapOvr>
  <p:transition advClick="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2"/>
          <p:cNvSpPr>
            <a:spLocks noGrp="1"/>
          </p:cNvSpPr>
          <p:nvPr>
            <p:ph type="title"/>
          </p:nvPr>
        </p:nvSpPr>
        <p:spPr>
          <a:ln/>
        </p:spPr>
        <p:txBody>
          <a:bodyPr vert="horz" wrap="square" lIns="91440" tIns="45720" rIns="91440" bIns="45720" anchor="b" anchorCtr="0"/>
          <a:p>
            <a:pPr eaLnBrk="1" hangingPunct="1"/>
            <a:r>
              <a:rPr lang="zh-CN" altLang="en-US" dirty="0"/>
              <a:t>死锁的预防（续）</a:t>
            </a:r>
            <a:endParaRPr lang="zh-CN" altLang="en-US" dirty="0"/>
          </a:p>
        </p:txBody>
      </p:sp>
      <p:sp>
        <p:nvSpPr>
          <p:cNvPr id="53250" name="Rectangle 3"/>
          <p:cNvSpPr>
            <a:spLocks noGrp="1"/>
          </p:cNvSpPr>
          <p:nvPr>
            <p:ph idx="1"/>
          </p:nvPr>
        </p:nvSpPr>
        <p:spPr>
          <a:xfrm>
            <a:off x="684213" y="1844675"/>
            <a:ext cx="7427912" cy="4495800"/>
          </a:xfrm>
          <a:ln/>
        </p:spPr>
        <p:txBody>
          <a:bodyPr vert="horz" wrap="square" lIns="91440" tIns="45720" rIns="91440" bIns="45720" anchor="t" anchorCtr="0"/>
          <a:p>
            <a:pPr eaLnBrk="1" hangingPunct="1">
              <a:lnSpc>
                <a:spcPct val="150000"/>
              </a:lnSpc>
              <a:buNone/>
            </a:pPr>
            <a:r>
              <a:rPr lang="zh-CN" altLang="en-US" dirty="0"/>
              <a:t>预防死锁的方法</a:t>
            </a:r>
            <a:endParaRPr lang="zh-CN" altLang="en-US" dirty="0"/>
          </a:p>
          <a:p>
            <a:pPr eaLnBrk="1" hangingPunct="1">
              <a:lnSpc>
                <a:spcPct val="150000"/>
              </a:lnSpc>
            </a:pPr>
            <a:r>
              <a:rPr lang="zh-CN" altLang="en-US" dirty="0"/>
              <a:t> </a:t>
            </a:r>
            <a:r>
              <a:rPr lang="zh-CN" altLang="en-US" dirty="0">
                <a:solidFill>
                  <a:srgbClr val="0000FF"/>
                </a:solidFill>
              </a:rPr>
              <a:t>一次封锁法</a:t>
            </a:r>
            <a:endParaRPr lang="zh-CN" altLang="en-US" dirty="0">
              <a:solidFill>
                <a:srgbClr val="0000FF"/>
              </a:solidFill>
            </a:endParaRPr>
          </a:p>
          <a:p>
            <a:pPr eaLnBrk="1" hangingPunct="1">
              <a:lnSpc>
                <a:spcPct val="150000"/>
              </a:lnSpc>
            </a:pPr>
            <a:r>
              <a:rPr lang="zh-CN" altLang="en-US" dirty="0"/>
              <a:t> </a:t>
            </a:r>
            <a:r>
              <a:rPr lang="zh-CN" altLang="en-US" dirty="0">
                <a:solidFill>
                  <a:srgbClr val="0000FF"/>
                </a:solidFill>
              </a:rPr>
              <a:t>顺序封锁法</a:t>
            </a:r>
            <a:endParaRPr lang="zh-CN" altLang="en-US" dirty="0">
              <a:solidFill>
                <a:srgbClr val="0000FF"/>
              </a:solidFill>
            </a:endParaRPr>
          </a:p>
        </p:txBody>
      </p:sp>
    </p:spTree>
  </p:cSld>
  <p:clrMapOvr>
    <a:masterClrMapping/>
  </p:clrMapOvr>
  <p:transition advClick="0"/>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Rectangle 2"/>
          <p:cNvSpPr>
            <a:spLocks noGrp="1"/>
          </p:cNvSpPr>
          <p:nvPr>
            <p:ph type="title"/>
          </p:nvPr>
        </p:nvSpPr>
        <p:spPr>
          <a:ln/>
        </p:spPr>
        <p:txBody>
          <a:bodyPr vert="horz" wrap="square" lIns="91440" tIns="45720" rIns="91440" bIns="45720" anchor="b" anchorCtr="0"/>
          <a:p>
            <a:pPr eaLnBrk="1" hangingPunct="1"/>
            <a:r>
              <a:rPr lang="en-US" altLang="zh-CN" dirty="0"/>
              <a:t>(1)</a:t>
            </a:r>
            <a:r>
              <a:rPr lang="zh-CN" altLang="en-US" dirty="0"/>
              <a:t>一次封锁法</a:t>
            </a:r>
            <a:endParaRPr lang="zh-CN" altLang="en-US" dirty="0"/>
          </a:p>
        </p:txBody>
      </p:sp>
      <p:sp>
        <p:nvSpPr>
          <p:cNvPr id="54274" name="Rectangle 3"/>
          <p:cNvSpPr>
            <a:spLocks noGrp="1"/>
          </p:cNvSpPr>
          <p:nvPr>
            <p:ph idx="1"/>
          </p:nvPr>
        </p:nvSpPr>
        <p:spPr>
          <a:xfrm>
            <a:off x="785813" y="1428750"/>
            <a:ext cx="7696200" cy="4114800"/>
          </a:xfrm>
          <a:ln/>
        </p:spPr>
        <p:txBody>
          <a:bodyPr vert="horz" wrap="square" lIns="91440" tIns="45720" rIns="91440" bIns="45720" anchor="t" anchorCtr="0"/>
          <a:p>
            <a:pPr eaLnBrk="1" hangingPunct="1">
              <a:lnSpc>
                <a:spcPct val="160000"/>
              </a:lnSpc>
            </a:pPr>
            <a:r>
              <a:rPr lang="zh-CN" altLang="en-US" dirty="0"/>
              <a:t>要求</a:t>
            </a:r>
            <a:r>
              <a:rPr lang="zh-CN" altLang="en-US" dirty="0">
                <a:solidFill>
                  <a:srgbClr val="FF0000"/>
                </a:solidFill>
              </a:rPr>
              <a:t>每个事务</a:t>
            </a:r>
            <a:r>
              <a:rPr lang="zh-CN" altLang="en-US" dirty="0"/>
              <a:t>必须</a:t>
            </a:r>
            <a:r>
              <a:rPr lang="zh-CN" altLang="en-US" dirty="0">
                <a:solidFill>
                  <a:srgbClr val="FF0000"/>
                </a:solidFill>
              </a:rPr>
              <a:t>一次</a:t>
            </a:r>
            <a:r>
              <a:rPr lang="zh-CN" altLang="en-US" dirty="0"/>
              <a:t>将所有要使用的数据全部加锁，否则就不能继续执行</a:t>
            </a:r>
            <a:endParaRPr lang="zh-CN" altLang="en-US" dirty="0"/>
          </a:p>
          <a:p>
            <a:pPr eaLnBrk="1" hangingPunct="1">
              <a:lnSpc>
                <a:spcPct val="160000"/>
              </a:lnSpc>
            </a:pPr>
            <a:r>
              <a:rPr lang="zh-CN" altLang="en-US" dirty="0"/>
              <a:t>存在的问题</a:t>
            </a:r>
            <a:endParaRPr lang="zh-CN" altLang="en-US" dirty="0"/>
          </a:p>
          <a:p>
            <a:pPr lvl="1" indent="-436245" eaLnBrk="1" hangingPunct="1">
              <a:lnSpc>
                <a:spcPct val="160000"/>
              </a:lnSpc>
            </a:pPr>
            <a:r>
              <a:rPr lang="zh-CN" altLang="en-US" dirty="0"/>
              <a:t>降低系统并发度</a:t>
            </a:r>
            <a:endParaRPr lang="zh-CN" altLang="en-US" dirty="0"/>
          </a:p>
          <a:p>
            <a:pPr lvl="1" indent="-436245" eaLnBrk="1" hangingPunct="1">
              <a:lnSpc>
                <a:spcPct val="160000"/>
              </a:lnSpc>
            </a:pPr>
            <a:r>
              <a:rPr lang="zh-CN" altLang="en-US" dirty="0"/>
              <a:t>难于事先精确确定封锁对象</a:t>
            </a:r>
            <a:endParaRPr lang="zh-CN" altLang="en-US" dirty="0"/>
          </a:p>
        </p:txBody>
      </p:sp>
    </p:spTree>
  </p:cSld>
  <p:clrMapOvr>
    <a:masterClrMapping/>
  </p:clrMapOvr>
  <p:transition advClick="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Rectangle 2"/>
          <p:cNvSpPr>
            <a:spLocks noGrp="1"/>
          </p:cNvSpPr>
          <p:nvPr>
            <p:ph type="title"/>
          </p:nvPr>
        </p:nvSpPr>
        <p:spPr>
          <a:ln/>
        </p:spPr>
        <p:txBody>
          <a:bodyPr vert="horz" wrap="square" lIns="91440" tIns="45720" rIns="91440" bIns="45720" anchor="b" anchorCtr="0"/>
          <a:p>
            <a:pPr eaLnBrk="1" hangingPunct="1"/>
            <a:r>
              <a:rPr lang="en-US" altLang="zh-CN" dirty="0"/>
              <a:t>(2)</a:t>
            </a:r>
            <a:r>
              <a:rPr lang="zh-CN" altLang="en-US" dirty="0"/>
              <a:t>顺序封锁法</a:t>
            </a:r>
            <a:endParaRPr lang="zh-CN" altLang="en-US" dirty="0"/>
          </a:p>
        </p:txBody>
      </p:sp>
      <p:sp>
        <p:nvSpPr>
          <p:cNvPr id="55298" name="Rectangle 3"/>
          <p:cNvSpPr>
            <a:spLocks noGrp="1"/>
          </p:cNvSpPr>
          <p:nvPr>
            <p:ph idx="1"/>
          </p:nvPr>
        </p:nvSpPr>
        <p:spPr>
          <a:ln/>
        </p:spPr>
        <p:txBody>
          <a:bodyPr vert="horz" wrap="square" lIns="91440" tIns="45720" rIns="91440" bIns="45720" anchor="t" anchorCtr="0"/>
          <a:p>
            <a:pPr eaLnBrk="1" hangingPunct="1">
              <a:lnSpc>
                <a:spcPct val="110000"/>
              </a:lnSpc>
            </a:pPr>
            <a:r>
              <a:rPr lang="zh-CN" altLang="en-US" sz="2400" dirty="0"/>
              <a:t>顺序封锁法是</a:t>
            </a:r>
            <a:r>
              <a:rPr lang="zh-CN" altLang="en-US" sz="2400" dirty="0">
                <a:solidFill>
                  <a:srgbClr val="FF0000"/>
                </a:solidFill>
              </a:rPr>
              <a:t>预先对数据对象</a:t>
            </a:r>
            <a:r>
              <a:rPr lang="zh-CN" altLang="en-US" sz="2400" dirty="0"/>
              <a:t>规定一个封锁顺序，所有事务都按这个顺序实行封锁。</a:t>
            </a:r>
            <a:endParaRPr lang="zh-CN" altLang="en-US" sz="2400" dirty="0"/>
          </a:p>
          <a:p>
            <a:pPr eaLnBrk="1" hangingPunct="1">
              <a:lnSpc>
                <a:spcPct val="110000"/>
              </a:lnSpc>
            </a:pPr>
            <a:r>
              <a:rPr lang="zh-CN" altLang="en-US" sz="2400" dirty="0"/>
              <a:t>顺序封锁法存在的问题</a:t>
            </a:r>
            <a:endParaRPr lang="zh-CN" altLang="en-US" sz="2400" dirty="0"/>
          </a:p>
          <a:p>
            <a:pPr lvl="1" indent="-436245" eaLnBrk="1" hangingPunct="1">
              <a:lnSpc>
                <a:spcPct val="110000"/>
              </a:lnSpc>
            </a:pPr>
            <a:r>
              <a:rPr lang="zh-CN" altLang="en-US" dirty="0"/>
              <a:t>维护成本</a:t>
            </a:r>
            <a:endParaRPr lang="zh-CN" altLang="en-US" dirty="0"/>
          </a:p>
          <a:p>
            <a:pPr lvl="1" indent="-436245" eaLnBrk="1" hangingPunct="1">
              <a:lnSpc>
                <a:spcPct val="110000"/>
              </a:lnSpc>
              <a:buNone/>
            </a:pPr>
            <a:r>
              <a:rPr lang="zh-CN" altLang="en-US" dirty="0"/>
              <a:t>    数据库系统中封锁的数据对象极多，并且在不断地变化。</a:t>
            </a:r>
            <a:endParaRPr lang="zh-CN" altLang="en-US" dirty="0"/>
          </a:p>
          <a:p>
            <a:pPr lvl="1" indent="-436245" eaLnBrk="1" hangingPunct="1">
              <a:lnSpc>
                <a:spcPct val="110000"/>
              </a:lnSpc>
            </a:pPr>
            <a:r>
              <a:rPr lang="zh-CN" altLang="en-US" dirty="0"/>
              <a:t>难以实现：很难事先确定每一个事务要封锁哪些对象</a:t>
            </a:r>
            <a:endParaRPr lang="zh-CN" altLang="en-US" dirty="0"/>
          </a:p>
          <a:p>
            <a:pPr lvl="1" indent="-436245" eaLnBrk="1" hangingPunct="1">
              <a:lnSpc>
                <a:spcPct val="110000"/>
              </a:lnSpc>
              <a:buNone/>
            </a:pPr>
            <a:r>
              <a:rPr lang="zh-CN" altLang="en-US" dirty="0"/>
              <a:t>    </a:t>
            </a:r>
            <a:endParaRPr lang="zh-CN" altLang="en-US" dirty="0">
              <a:solidFill>
                <a:srgbClr val="FF00FF"/>
              </a:solidFill>
            </a:endParaRPr>
          </a:p>
        </p:txBody>
      </p:sp>
    </p:spTree>
  </p:cSld>
  <p:clrMapOvr>
    <a:masterClrMapping/>
  </p:clrMapOvr>
  <p:transition advClick="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Rectangle 2"/>
          <p:cNvSpPr>
            <a:spLocks noGrp="1"/>
          </p:cNvSpPr>
          <p:nvPr>
            <p:ph type="title"/>
          </p:nvPr>
        </p:nvSpPr>
        <p:spPr>
          <a:ln/>
        </p:spPr>
        <p:txBody>
          <a:bodyPr vert="horz" wrap="square" lIns="91440" tIns="45720" rIns="91440" bIns="45720" anchor="b" anchorCtr="0"/>
          <a:p>
            <a:pPr eaLnBrk="1" hangingPunct="1"/>
            <a:r>
              <a:rPr lang="zh-CN" altLang="en-US" dirty="0"/>
              <a:t>死锁的预防（续）</a:t>
            </a:r>
            <a:endParaRPr lang="zh-CN" altLang="en-US" dirty="0"/>
          </a:p>
        </p:txBody>
      </p:sp>
      <p:sp>
        <p:nvSpPr>
          <p:cNvPr id="56322" name="Rectangle 3"/>
          <p:cNvSpPr>
            <a:spLocks noGrp="1"/>
          </p:cNvSpPr>
          <p:nvPr>
            <p:ph idx="1"/>
          </p:nvPr>
        </p:nvSpPr>
        <p:spPr>
          <a:ln/>
        </p:spPr>
        <p:txBody>
          <a:bodyPr vert="horz" wrap="square" lIns="91440" tIns="45720" rIns="91440" bIns="45720" anchor="t" anchorCtr="0"/>
          <a:p>
            <a:pPr eaLnBrk="1" hangingPunct="1">
              <a:lnSpc>
                <a:spcPct val="140000"/>
              </a:lnSpc>
            </a:pPr>
            <a:r>
              <a:rPr lang="zh-CN" altLang="en-US" dirty="0"/>
              <a:t>结论</a:t>
            </a:r>
            <a:endParaRPr lang="zh-CN" altLang="en-US" dirty="0"/>
          </a:p>
          <a:p>
            <a:pPr lvl="1" indent="-436245" eaLnBrk="1" hangingPunct="1">
              <a:lnSpc>
                <a:spcPct val="140000"/>
              </a:lnSpc>
            </a:pPr>
            <a:r>
              <a:rPr lang="zh-CN" altLang="en-US" dirty="0"/>
              <a:t>在</a:t>
            </a:r>
            <a:r>
              <a:rPr lang="zh-CN" altLang="en-US" dirty="0">
                <a:solidFill>
                  <a:srgbClr val="0000FF"/>
                </a:solidFill>
              </a:rPr>
              <a:t>操作系统</a:t>
            </a:r>
            <a:r>
              <a:rPr lang="zh-CN" altLang="en-US" dirty="0"/>
              <a:t>中广为采用的</a:t>
            </a:r>
            <a:r>
              <a:rPr lang="zh-CN" altLang="en-US" dirty="0">
                <a:solidFill>
                  <a:srgbClr val="FF0000"/>
                </a:solidFill>
              </a:rPr>
              <a:t>预防死锁</a:t>
            </a:r>
            <a:r>
              <a:rPr lang="zh-CN" altLang="en-US" dirty="0"/>
              <a:t>的策略，这种策略</a:t>
            </a:r>
            <a:r>
              <a:rPr lang="zh-CN" altLang="en-US" dirty="0">
                <a:solidFill>
                  <a:srgbClr val="FF0000"/>
                </a:solidFill>
              </a:rPr>
              <a:t>并不很适合</a:t>
            </a:r>
            <a:r>
              <a:rPr lang="zh-CN" altLang="en-US" dirty="0"/>
              <a:t>数据库的特点</a:t>
            </a:r>
            <a:endParaRPr lang="zh-CN" altLang="en-US" dirty="0"/>
          </a:p>
          <a:p>
            <a:pPr lvl="1" indent="-436245" eaLnBrk="1" hangingPunct="1">
              <a:lnSpc>
                <a:spcPct val="140000"/>
              </a:lnSpc>
              <a:spcBef>
                <a:spcPct val="80000"/>
              </a:spcBef>
            </a:pPr>
            <a:r>
              <a:rPr lang="en-US" altLang="zh-CN" dirty="0"/>
              <a:t>DBMS</a:t>
            </a:r>
            <a:r>
              <a:rPr lang="zh-CN" altLang="en-US" dirty="0"/>
              <a:t>在解决死锁的问题上更普遍采用的是</a:t>
            </a:r>
            <a:r>
              <a:rPr lang="zh-CN" altLang="en-US" dirty="0">
                <a:solidFill>
                  <a:srgbClr val="FF0000"/>
                </a:solidFill>
              </a:rPr>
              <a:t>诊断并解除死锁</a:t>
            </a:r>
            <a:r>
              <a:rPr lang="zh-CN" altLang="en-US" dirty="0"/>
              <a:t>的方法</a:t>
            </a:r>
            <a:endParaRPr lang="zh-CN" altLang="en-US" dirty="0"/>
          </a:p>
        </p:txBody>
      </p:sp>
    </p:spTree>
  </p:cSld>
  <p:clrMapOvr>
    <a:masterClrMapping/>
  </p:clrMapOvr>
  <p:transition advClick="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Rectangle 2"/>
          <p:cNvSpPr>
            <a:spLocks noGrp="1"/>
          </p:cNvSpPr>
          <p:nvPr>
            <p:ph type="title"/>
          </p:nvPr>
        </p:nvSpPr>
        <p:spPr>
          <a:ln/>
        </p:spPr>
        <p:txBody>
          <a:bodyPr vert="horz" wrap="square" lIns="91440" tIns="45720" rIns="91440" bIns="45720" anchor="b" anchorCtr="0"/>
          <a:p>
            <a:pPr eaLnBrk="1" hangingPunct="1"/>
            <a:r>
              <a:rPr lang="en-US" altLang="zh-CN" dirty="0"/>
              <a:t>2. </a:t>
            </a:r>
            <a:r>
              <a:rPr lang="zh-CN" altLang="en-US" dirty="0"/>
              <a:t>死锁的诊断与解除</a:t>
            </a:r>
            <a:endParaRPr lang="zh-CN" altLang="en-US" dirty="0"/>
          </a:p>
        </p:txBody>
      </p:sp>
      <p:sp>
        <p:nvSpPr>
          <p:cNvPr id="57346" name="Rectangle 3"/>
          <p:cNvSpPr>
            <a:spLocks noGrp="1"/>
          </p:cNvSpPr>
          <p:nvPr>
            <p:ph idx="1"/>
          </p:nvPr>
        </p:nvSpPr>
        <p:spPr>
          <a:xfrm>
            <a:off x="1066800" y="1676400"/>
            <a:ext cx="7772400" cy="4114800"/>
          </a:xfrm>
          <a:ln/>
        </p:spPr>
        <p:txBody>
          <a:bodyPr vert="horz" wrap="square" lIns="91440" tIns="45720" rIns="91440" bIns="45720" anchor="t" anchorCtr="0"/>
          <a:p>
            <a:pPr eaLnBrk="1" hangingPunct="1">
              <a:lnSpc>
                <a:spcPct val="190000"/>
              </a:lnSpc>
            </a:pPr>
            <a:r>
              <a:rPr lang="zh-CN" altLang="en-US" dirty="0"/>
              <a:t>死锁的诊断</a:t>
            </a:r>
            <a:endParaRPr lang="zh-CN" altLang="en-US" dirty="0"/>
          </a:p>
          <a:p>
            <a:pPr lvl="1" indent="-436245" eaLnBrk="1" hangingPunct="1">
              <a:lnSpc>
                <a:spcPct val="190000"/>
              </a:lnSpc>
              <a:buFont typeface="Wingdings" panose="05000000000000000000" pitchFamily="2" charset="2"/>
              <a:buChar char="n"/>
            </a:pPr>
            <a:r>
              <a:rPr lang="zh-CN" altLang="en-US" dirty="0"/>
              <a:t>超时法</a:t>
            </a:r>
            <a:endParaRPr lang="zh-CN" altLang="en-US" dirty="0"/>
          </a:p>
          <a:p>
            <a:pPr lvl="1" indent="-436245" eaLnBrk="1" hangingPunct="1">
              <a:lnSpc>
                <a:spcPct val="190000"/>
              </a:lnSpc>
              <a:buFont typeface="Wingdings" panose="05000000000000000000" pitchFamily="2" charset="2"/>
              <a:buChar char="n"/>
            </a:pPr>
            <a:r>
              <a:rPr lang="zh-CN" altLang="en-US" dirty="0"/>
              <a:t>事务等待图法 </a:t>
            </a:r>
            <a:endParaRPr lang="zh-CN" altLang="en-US" dirty="0"/>
          </a:p>
          <a:p>
            <a:pPr eaLnBrk="1" hangingPunct="1"/>
            <a:endParaRPr lang="en-US" altLang="zh-CN" dirty="0"/>
          </a:p>
        </p:txBody>
      </p:sp>
    </p:spTree>
  </p:cSld>
  <p:clrMapOvr>
    <a:masterClrMapping/>
  </p:clrMapOvr>
  <p:transition advClick="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2"/>
          <p:cNvSpPr>
            <a:spLocks noGrp="1"/>
          </p:cNvSpPr>
          <p:nvPr>
            <p:ph type="title"/>
          </p:nvPr>
        </p:nvSpPr>
        <p:spPr>
          <a:ln/>
        </p:spPr>
        <p:txBody>
          <a:bodyPr vert="horz" wrap="square" lIns="91440" tIns="45720" rIns="91440" bIns="45720" anchor="b" anchorCtr="0"/>
          <a:p>
            <a:pPr eaLnBrk="1" hangingPunct="1"/>
            <a:r>
              <a:rPr lang="en-US" altLang="zh-CN" dirty="0"/>
              <a:t>(1) </a:t>
            </a:r>
            <a:r>
              <a:rPr lang="zh-CN" altLang="en-US" dirty="0"/>
              <a:t>超时法</a:t>
            </a:r>
            <a:endParaRPr lang="zh-CN" altLang="en-US" dirty="0"/>
          </a:p>
        </p:txBody>
      </p:sp>
      <p:sp>
        <p:nvSpPr>
          <p:cNvPr id="58370" name="Rectangle 3"/>
          <p:cNvSpPr>
            <a:spLocks noGrp="1"/>
          </p:cNvSpPr>
          <p:nvPr>
            <p:ph idx="1"/>
          </p:nvPr>
        </p:nvSpPr>
        <p:spPr>
          <a:xfrm>
            <a:off x="714375" y="1500188"/>
            <a:ext cx="7772400" cy="4114800"/>
          </a:xfrm>
          <a:ln/>
        </p:spPr>
        <p:txBody>
          <a:bodyPr vert="horz" wrap="square" lIns="91440" tIns="45720" rIns="91440" bIns="45720" anchor="t" anchorCtr="0"/>
          <a:p>
            <a:pPr eaLnBrk="1" hangingPunct="1">
              <a:lnSpc>
                <a:spcPct val="140000"/>
              </a:lnSpc>
            </a:pPr>
            <a:r>
              <a:rPr lang="zh-CN" altLang="en-US" sz="2400" dirty="0"/>
              <a:t>如果一个事务的</a:t>
            </a:r>
            <a:r>
              <a:rPr lang="zh-CN" altLang="en-US" sz="2400" dirty="0">
                <a:solidFill>
                  <a:srgbClr val="0000FF"/>
                </a:solidFill>
              </a:rPr>
              <a:t>等待时间超过了规定的时限</a:t>
            </a:r>
            <a:r>
              <a:rPr lang="zh-CN" altLang="en-US" sz="2400" dirty="0"/>
              <a:t>，就认为发生了死锁</a:t>
            </a:r>
            <a:endParaRPr lang="zh-CN" altLang="en-US" sz="2400" dirty="0"/>
          </a:p>
          <a:p>
            <a:pPr eaLnBrk="1" hangingPunct="1">
              <a:lnSpc>
                <a:spcPct val="140000"/>
              </a:lnSpc>
            </a:pPr>
            <a:r>
              <a:rPr lang="zh-CN" altLang="en-US" sz="2400" dirty="0"/>
              <a:t>优点：实现简单</a:t>
            </a:r>
            <a:endParaRPr lang="zh-CN" altLang="en-US" sz="2400" dirty="0"/>
          </a:p>
          <a:p>
            <a:pPr eaLnBrk="1" hangingPunct="1">
              <a:lnSpc>
                <a:spcPct val="140000"/>
              </a:lnSpc>
            </a:pPr>
            <a:r>
              <a:rPr lang="zh-CN" altLang="en-US" sz="2400" dirty="0"/>
              <a:t>缺点</a:t>
            </a:r>
            <a:endParaRPr lang="zh-CN" altLang="en-US" sz="2400" dirty="0"/>
          </a:p>
          <a:p>
            <a:pPr lvl="1" indent="-436245" eaLnBrk="1" hangingPunct="1">
              <a:lnSpc>
                <a:spcPct val="140000"/>
              </a:lnSpc>
            </a:pPr>
            <a:r>
              <a:rPr lang="zh-CN" altLang="en-US" dirty="0"/>
              <a:t>时限太短，有可能</a:t>
            </a:r>
            <a:r>
              <a:rPr lang="zh-CN" altLang="en-US" dirty="0">
                <a:solidFill>
                  <a:srgbClr val="FF0000"/>
                </a:solidFill>
              </a:rPr>
              <a:t>误判</a:t>
            </a:r>
            <a:r>
              <a:rPr lang="zh-CN" altLang="en-US" dirty="0"/>
              <a:t>死锁</a:t>
            </a:r>
            <a:endParaRPr lang="zh-CN" altLang="en-US" dirty="0"/>
          </a:p>
          <a:p>
            <a:pPr lvl="1" indent="-436245" eaLnBrk="1" hangingPunct="1">
              <a:lnSpc>
                <a:spcPct val="140000"/>
              </a:lnSpc>
            </a:pPr>
            <a:r>
              <a:rPr lang="zh-CN" altLang="en-US" dirty="0"/>
              <a:t>时限若设置得太长，死锁发生后</a:t>
            </a:r>
            <a:r>
              <a:rPr lang="zh-CN" altLang="en-US" dirty="0">
                <a:solidFill>
                  <a:srgbClr val="FF0000"/>
                </a:solidFill>
              </a:rPr>
              <a:t>不能及时发现</a:t>
            </a:r>
            <a:endParaRPr lang="zh-CN" altLang="en-US" dirty="0">
              <a:solidFill>
                <a:srgbClr val="FF0000"/>
              </a:solidFill>
            </a:endParaRPr>
          </a:p>
        </p:txBody>
      </p:sp>
    </p:spTree>
  </p:cSld>
  <p:clrMapOvr>
    <a:masterClrMapping/>
  </p:clrMapOvr>
  <p:transition advClick="0"/>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Rectangle 2"/>
          <p:cNvSpPr>
            <a:spLocks noGrp="1"/>
          </p:cNvSpPr>
          <p:nvPr>
            <p:ph type="title"/>
          </p:nvPr>
        </p:nvSpPr>
        <p:spPr>
          <a:xfrm>
            <a:off x="571500" y="357188"/>
            <a:ext cx="7391400" cy="563562"/>
          </a:xfrm>
          <a:ln/>
        </p:spPr>
        <p:txBody>
          <a:bodyPr vert="horz" wrap="square" lIns="91440" tIns="45720" rIns="91440" bIns="45720" anchor="b" anchorCtr="0"/>
          <a:p>
            <a:pPr eaLnBrk="1" hangingPunct="1"/>
            <a:r>
              <a:rPr lang="en-US" altLang="zh-CN" dirty="0"/>
              <a:t>(2)</a:t>
            </a:r>
            <a:r>
              <a:rPr lang="zh-CN" altLang="en-US" dirty="0"/>
              <a:t>等待图法</a:t>
            </a:r>
            <a:endParaRPr lang="zh-CN" altLang="en-US" dirty="0"/>
          </a:p>
        </p:txBody>
      </p:sp>
      <p:sp>
        <p:nvSpPr>
          <p:cNvPr id="59394" name="Rectangle 3"/>
          <p:cNvSpPr>
            <a:spLocks noGrp="1"/>
          </p:cNvSpPr>
          <p:nvPr>
            <p:ph type="body" sz="half" idx="1"/>
          </p:nvPr>
        </p:nvSpPr>
        <p:spPr>
          <a:xfrm>
            <a:off x="428625" y="1357313"/>
            <a:ext cx="8002588" cy="4408487"/>
          </a:xfrm>
          <a:ln/>
        </p:spPr>
        <p:txBody>
          <a:bodyPr vert="horz" wrap="square" lIns="91440" tIns="45720" rIns="91440" bIns="45720" anchor="t" anchorCtr="0"/>
          <a:p>
            <a:pPr eaLnBrk="1" hangingPunct="1">
              <a:lnSpc>
                <a:spcPct val="220000"/>
              </a:lnSpc>
              <a:buClr>
                <a:schemeClr val="accent2"/>
              </a:buClr>
              <a:buSzTx/>
              <a:buFont typeface="Wingdings" panose="05000000000000000000" pitchFamily="2" charset="2"/>
            </a:pPr>
            <a:r>
              <a:rPr lang="zh-CN" altLang="en-US" sz="2400" dirty="0"/>
              <a:t>用事务等待图动态反映所有事务的等待情况</a:t>
            </a:r>
            <a:endParaRPr lang="zh-CN" altLang="en-US" sz="2000" dirty="0"/>
          </a:p>
          <a:p>
            <a:pPr lvl="1" indent="-436245" eaLnBrk="1" hangingPunct="1">
              <a:lnSpc>
                <a:spcPct val="220000"/>
              </a:lnSpc>
              <a:buClr>
                <a:schemeClr val="accent2"/>
              </a:buClr>
              <a:buFont typeface="Wingdings" panose="05000000000000000000" pitchFamily="2" charset="2"/>
            </a:pPr>
            <a:r>
              <a:rPr lang="zh-CN" altLang="en-US" sz="2200" dirty="0"/>
              <a:t>事务等待图是一个有向图</a:t>
            </a:r>
            <a:r>
              <a:rPr lang="en-US" altLang="zh-CN" sz="2200" i="1" dirty="0"/>
              <a:t>G</a:t>
            </a:r>
            <a:r>
              <a:rPr lang="en-US" altLang="zh-CN" sz="2200" dirty="0"/>
              <a:t>=(</a:t>
            </a:r>
            <a:r>
              <a:rPr lang="en-US" altLang="zh-CN" sz="2200" i="1" dirty="0"/>
              <a:t>T</a:t>
            </a:r>
            <a:r>
              <a:rPr lang="zh-CN" altLang="en-US" sz="2200" dirty="0"/>
              <a:t>，</a:t>
            </a:r>
            <a:r>
              <a:rPr lang="en-US" altLang="zh-CN" sz="2200" i="1" dirty="0"/>
              <a:t>U</a:t>
            </a:r>
            <a:r>
              <a:rPr lang="en-US" altLang="zh-CN" sz="2200" dirty="0"/>
              <a:t>)</a:t>
            </a:r>
            <a:endParaRPr lang="en-US" altLang="zh-CN" sz="2200" dirty="0"/>
          </a:p>
          <a:p>
            <a:pPr lvl="1" indent="-436245" eaLnBrk="1" hangingPunct="1">
              <a:lnSpc>
                <a:spcPct val="220000"/>
              </a:lnSpc>
              <a:buClr>
                <a:schemeClr val="accent2"/>
              </a:buClr>
              <a:buFont typeface="Wingdings" panose="05000000000000000000" pitchFamily="2" charset="2"/>
            </a:pPr>
            <a:r>
              <a:rPr lang="en-US" altLang="zh-CN" sz="2200" i="1" dirty="0"/>
              <a:t>T</a:t>
            </a:r>
            <a:r>
              <a:rPr lang="zh-CN" altLang="en-US" sz="2200" dirty="0"/>
              <a:t>为结点的集合，每个结点表示</a:t>
            </a:r>
            <a:r>
              <a:rPr lang="zh-CN" altLang="en-US" sz="2200" dirty="0">
                <a:solidFill>
                  <a:srgbClr val="FF0000"/>
                </a:solidFill>
              </a:rPr>
              <a:t>正运行的事务</a:t>
            </a:r>
            <a:endParaRPr lang="zh-CN" altLang="en-US" sz="2200" dirty="0">
              <a:solidFill>
                <a:srgbClr val="FF0000"/>
              </a:solidFill>
            </a:endParaRPr>
          </a:p>
          <a:p>
            <a:pPr lvl="1" indent="-436245" eaLnBrk="1" hangingPunct="1">
              <a:lnSpc>
                <a:spcPct val="220000"/>
              </a:lnSpc>
              <a:buClr>
                <a:schemeClr val="accent2"/>
              </a:buClr>
              <a:buFont typeface="Wingdings" panose="05000000000000000000" pitchFamily="2" charset="2"/>
            </a:pPr>
            <a:r>
              <a:rPr lang="en-US" altLang="zh-CN" sz="2200" i="1" dirty="0"/>
              <a:t>U</a:t>
            </a:r>
            <a:r>
              <a:rPr lang="zh-CN" altLang="en-US" sz="2200" dirty="0"/>
              <a:t>为边的集合，每条边表示</a:t>
            </a:r>
            <a:r>
              <a:rPr lang="zh-CN" altLang="en-US" sz="2200" dirty="0">
                <a:solidFill>
                  <a:srgbClr val="FF0000"/>
                </a:solidFill>
              </a:rPr>
              <a:t>事务等待的情况</a:t>
            </a:r>
            <a:endParaRPr lang="zh-CN" altLang="en-US" sz="2200" dirty="0">
              <a:solidFill>
                <a:srgbClr val="FF0000"/>
              </a:solidFill>
            </a:endParaRPr>
          </a:p>
          <a:p>
            <a:pPr lvl="1" indent="-436245" eaLnBrk="1" hangingPunct="1">
              <a:lnSpc>
                <a:spcPct val="220000"/>
              </a:lnSpc>
              <a:buClr>
                <a:schemeClr val="accent2"/>
              </a:buClr>
              <a:buFont typeface="Wingdings" panose="05000000000000000000" pitchFamily="2" charset="2"/>
            </a:pPr>
            <a:r>
              <a:rPr lang="zh-CN" altLang="en-US" sz="2200" dirty="0"/>
              <a:t>若</a:t>
            </a:r>
            <a:r>
              <a:rPr lang="en-US" altLang="zh-CN" sz="2200" dirty="0"/>
              <a:t>T</a:t>
            </a:r>
            <a:r>
              <a:rPr lang="en-US" altLang="zh-CN" sz="2200" baseline="-25000" dirty="0"/>
              <a:t>1</a:t>
            </a:r>
            <a:r>
              <a:rPr lang="zh-CN" altLang="en-US" sz="2200" dirty="0"/>
              <a:t>等待</a:t>
            </a:r>
            <a:r>
              <a:rPr lang="en-US" altLang="zh-CN" sz="2200" dirty="0"/>
              <a:t>T</a:t>
            </a:r>
            <a:r>
              <a:rPr lang="en-US" altLang="zh-CN" sz="2200" baseline="-25000" dirty="0"/>
              <a:t>2</a:t>
            </a:r>
            <a:r>
              <a:rPr lang="zh-CN" altLang="en-US" sz="2200" dirty="0"/>
              <a:t>，则</a:t>
            </a:r>
            <a:r>
              <a:rPr lang="en-US" altLang="zh-CN" sz="2200" dirty="0"/>
              <a:t>T</a:t>
            </a:r>
            <a:r>
              <a:rPr lang="en-US" altLang="zh-CN" sz="2200" baseline="-25000" dirty="0"/>
              <a:t>1</a:t>
            </a:r>
            <a:r>
              <a:rPr lang="zh-CN" altLang="en-US" sz="2200" dirty="0"/>
              <a:t>，</a:t>
            </a:r>
            <a:r>
              <a:rPr lang="en-US" altLang="zh-CN" sz="2200" dirty="0"/>
              <a:t>T</a:t>
            </a:r>
            <a:r>
              <a:rPr lang="en-US" altLang="zh-CN" sz="2200" baseline="-25000" dirty="0"/>
              <a:t>2</a:t>
            </a:r>
            <a:r>
              <a:rPr lang="zh-CN" altLang="en-US" sz="2200" dirty="0"/>
              <a:t>之间划一条有向边，从</a:t>
            </a:r>
            <a:r>
              <a:rPr lang="en-US" altLang="zh-CN" sz="2200" dirty="0"/>
              <a:t>T</a:t>
            </a:r>
            <a:r>
              <a:rPr lang="en-US" altLang="zh-CN" sz="2200" baseline="-25000" dirty="0"/>
              <a:t>1</a:t>
            </a:r>
            <a:r>
              <a:rPr lang="zh-CN" altLang="en-US" sz="2200" dirty="0"/>
              <a:t>指向</a:t>
            </a:r>
            <a:r>
              <a:rPr lang="en-US" altLang="zh-CN" sz="2200" dirty="0"/>
              <a:t>T</a:t>
            </a:r>
            <a:r>
              <a:rPr lang="en-US" altLang="zh-CN" sz="2200" baseline="-25000" dirty="0"/>
              <a:t>2</a:t>
            </a:r>
            <a:endParaRPr lang="en-US" altLang="zh-CN" sz="2200" baseline="-25000" dirty="0"/>
          </a:p>
        </p:txBody>
      </p:sp>
    </p:spTree>
  </p:cSld>
  <p:clrMapOvr>
    <a:masterClrMapping/>
  </p:clrMapOvr>
  <p:transition advClick="0"/>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Rectangle 2"/>
          <p:cNvSpPr>
            <a:spLocks noGrp="1"/>
          </p:cNvSpPr>
          <p:nvPr>
            <p:ph type="title"/>
          </p:nvPr>
        </p:nvSpPr>
        <p:spPr>
          <a:ln/>
        </p:spPr>
        <p:txBody>
          <a:bodyPr vert="horz" wrap="square" lIns="91440" tIns="45720" rIns="91440" bIns="45720" anchor="b" anchorCtr="0"/>
          <a:p>
            <a:pPr eaLnBrk="1" hangingPunct="1"/>
            <a:r>
              <a:rPr lang="zh-CN" altLang="en-US" dirty="0"/>
              <a:t>等待图法（续）</a:t>
            </a:r>
            <a:endParaRPr lang="zh-CN" altLang="en-US" dirty="0"/>
          </a:p>
        </p:txBody>
      </p:sp>
      <p:grpSp>
        <p:nvGrpSpPr>
          <p:cNvPr id="2" name="Group 7"/>
          <p:cNvGrpSpPr/>
          <p:nvPr/>
        </p:nvGrpSpPr>
        <p:grpSpPr>
          <a:xfrm>
            <a:off x="1500188" y="1357313"/>
            <a:ext cx="6337300" cy="2455862"/>
            <a:chOff x="975" y="1162"/>
            <a:chExt cx="3992" cy="1547"/>
          </a:xfrm>
        </p:grpSpPr>
        <p:graphicFrame>
          <p:nvGraphicFramePr>
            <p:cNvPr id="60419" name="Object 4"/>
            <p:cNvGraphicFramePr>
              <a:graphicFrameLocks noChangeAspect="1"/>
            </p:cNvGraphicFramePr>
            <p:nvPr/>
          </p:nvGraphicFramePr>
          <p:xfrm>
            <a:off x="975" y="1162"/>
            <a:ext cx="3992" cy="1268"/>
          </p:xfrm>
          <a:graphic>
            <a:graphicData uri="http://schemas.openxmlformats.org/presentationml/2006/ole">
              <mc:AlternateContent xmlns:mc="http://schemas.openxmlformats.org/markup-compatibility/2006">
                <mc:Choice xmlns:v="urn:schemas-microsoft-com:vml" Requires="v">
                  <p:oleObj spid="_x0000_s3076" name="" r:id="rId1" imgW="2245360" imgH="711835" progId="Word.Picture.8">
                    <p:embed/>
                  </p:oleObj>
                </mc:Choice>
                <mc:Fallback>
                  <p:oleObj name="" r:id="rId1" imgW="2245360" imgH="711835" progId="Word.Picture.8">
                    <p:embed/>
                    <p:pic>
                      <p:nvPicPr>
                        <p:cNvPr id="0" name="图片 3075"/>
                        <p:cNvPicPr/>
                        <p:nvPr/>
                      </p:nvPicPr>
                      <p:blipFill>
                        <a:blip r:embed="rId2"/>
                        <a:stretch>
                          <a:fillRect/>
                        </a:stretch>
                      </p:blipFill>
                      <p:spPr>
                        <a:xfrm>
                          <a:off x="975" y="1162"/>
                          <a:ext cx="3992" cy="1268"/>
                        </a:xfrm>
                        <a:prstGeom prst="rect">
                          <a:avLst/>
                        </a:prstGeom>
                        <a:noFill/>
                        <a:ln w="38100">
                          <a:noFill/>
                          <a:miter/>
                        </a:ln>
                      </p:spPr>
                    </p:pic>
                  </p:oleObj>
                </mc:Fallback>
              </mc:AlternateContent>
            </a:graphicData>
          </a:graphic>
        </p:graphicFrame>
        <p:sp>
          <p:nvSpPr>
            <p:cNvPr id="60420" name="Text Box 5"/>
            <p:cNvSpPr txBox="1"/>
            <p:nvPr/>
          </p:nvSpPr>
          <p:spPr>
            <a:xfrm>
              <a:off x="2245" y="2478"/>
              <a:ext cx="836" cy="231"/>
            </a:xfrm>
            <a:prstGeom prst="rect">
              <a:avLst/>
            </a:prstGeom>
            <a:noFill/>
            <a:ln w="25400">
              <a:noFill/>
            </a:ln>
          </p:spPr>
          <p:txBody>
            <a:bodyPr wrap="none" anchor="t" anchorCtr="0">
              <a:spAutoFit/>
            </a:bodyPr>
            <a:p>
              <a:pPr marL="342900" indent="-342900"/>
              <a:r>
                <a:rPr lang="zh-CN" altLang="en-US" dirty="0">
                  <a:latin typeface="Verdana" panose="020B0604030504040204" pitchFamily="34" charset="0"/>
                  <a:ea typeface="宋体" panose="02010600030101010101" pitchFamily="2" charset="-122"/>
                </a:rPr>
                <a:t>事务等待图</a:t>
              </a:r>
              <a:endParaRPr lang="zh-CN" altLang="en-US" dirty="0">
                <a:latin typeface="Verdana" panose="020B0604030504040204" pitchFamily="34" charset="0"/>
                <a:ea typeface="宋体" panose="02010600030101010101" pitchFamily="2" charset="-122"/>
              </a:endParaRPr>
            </a:p>
          </p:txBody>
        </p:sp>
      </p:grpSp>
      <p:sp>
        <p:nvSpPr>
          <p:cNvPr id="499718" name="Text Box 6"/>
          <p:cNvSpPr txBox="1"/>
          <p:nvPr/>
        </p:nvSpPr>
        <p:spPr>
          <a:xfrm>
            <a:off x="428625" y="4143375"/>
            <a:ext cx="8064500" cy="2105025"/>
          </a:xfrm>
          <a:prstGeom prst="rect">
            <a:avLst/>
          </a:prstGeom>
          <a:noFill/>
          <a:ln w="25400">
            <a:noFill/>
          </a:ln>
        </p:spPr>
        <p:txBody>
          <a:bodyPr anchor="t" anchorCtr="0">
            <a:spAutoFit/>
          </a:bodyPr>
          <a:p>
            <a:pPr marL="342900" indent="-342900">
              <a:lnSpc>
                <a:spcPct val="150000"/>
              </a:lnSpc>
              <a:buClr>
                <a:schemeClr val="accent1"/>
              </a:buClr>
              <a:buFont typeface="Wingdings" panose="05000000000000000000" pitchFamily="2" charset="2"/>
              <a:buChar char="n"/>
            </a:pPr>
            <a:r>
              <a:rPr lang="zh-CN" altLang="en-US" sz="2200" dirty="0">
                <a:latin typeface="Verdana" panose="020B0604030504040204" pitchFamily="34" charset="0"/>
                <a:ea typeface="宋体" panose="02010600030101010101" pitchFamily="2" charset="-122"/>
              </a:rPr>
              <a:t>图</a:t>
            </a:r>
            <a:r>
              <a:rPr lang="en-US" altLang="zh-CN" sz="2200" dirty="0">
                <a:latin typeface="Verdana" panose="020B0604030504040204" pitchFamily="34" charset="0"/>
                <a:ea typeface="宋体" panose="02010600030101010101" pitchFamily="2" charset="-122"/>
              </a:rPr>
              <a:t>(a)</a:t>
            </a:r>
            <a:r>
              <a:rPr lang="zh-CN" altLang="en-US" sz="2200" dirty="0">
                <a:latin typeface="Verdana" panose="020B0604030504040204" pitchFamily="34" charset="0"/>
                <a:ea typeface="宋体" panose="02010600030101010101" pitchFamily="2" charset="-122"/>
              </a:rPr>
              <a:t>中，事务</a:t>
            </a:r>
            <a:r>
              <a:rPr lang="en-US" altLang="zh-CN" sz="2200" dirty="0">
                <a:latin typeface="Verdana" panose="020B0604030504040204" pitchFamily="34" charset="0"/>
                <a:ea typeface="宋体" panose="02010600030101010101" pitchFamily="2" charset="-122"/>
              </a:rPr>
              <a:t>T1</a:t>
            </a:r>
            <a:r>
              <a:rPr lang="zh-CN" altLang="en-US" sz="2200" dirty="0">
                <a:latin typeface="Verdana" panose="020B0604030504040204" pitchFamily="34" charset="0"/>
                <a:ea typeface="宋体" panose="02010600030101010101" pitchFamily="2" charset="-122"/>
              </a:rPr>
              <a:t>等待</a:t>
            </a:r>
            <a:r>
              <a:rPr lang="en-US" altLang="zh-CN" sz="2200" dirty="0">
                <a:latin typeface="Verdana" panose="020B0604030504040204" pitchFamily="34" charset="0"/>
                <a:ea typeface="宋体" panose="02010600030101010101" pitchFamily="2" charset="-122"/>
              </a:rPr>
              <a:t>T2</a:t>
            </a:r>
            <a:r>
              <a:rPr lang="zh-CN" altLang="en-US" sz="2200" dirty="0">
                <a:latin typeface="Verdana" panose="020B0604030504040204" pitchFamily="34" charset="0"/>
                <a:ea typeface="宋体" panose="02010600030101010101" pitchFamily="2" charset="-122"/>
              </a:rPr>
              <a:t>，</a:t>
            </a:r>
            <a:r>
              <a:rPr lang="en-US" altLang="zh-CN" sz="2200" dirty="0">
                <a:latin typeface="Verdana" panose="020B0604030504040204" pitchFamily="34" charset="0"/>
                <a:ea typeface="宋体" panose="02010600030101010101" pitchFamily="2" charset="-122"/>
              </a:rPr>
              <a:t>T2</a:t>
            </a:r>
            <a:r>
              <a:rPr lang="zh-CN" altLang="en-US" sz="2200" dirty="0">
                <a:latin typeface="Verdana" panose="020B0604030504040204" pitchFamily="34" charset="0"/>
                <a:ea typeface="宋体" panose="02010600030101010101" pitchFamily="2" charset="-122"/>
              </a:rPr>
              <a:t>等待</a:t>
            </a:r>
            <a:r>
              <a:rPr lang="en-US" altLang="zh-CN" sz="2200" dirty="0">
                <a:latin typeface="Verdana" panose="020B0604030504040204" pitchFamily="34" charset="0"/>
                <a:ea typeface="宋体" panose="02010600030101010101" pitchFamily="2" charset="-122"/>
              </a:rPr>
              <a:t>T1</a:t>
            </a:r>
            <a:r>
              <a:rPr lang="zh-CN" altLang="en-US" sz="2200" dirty="0">
                <a:latin typeface="Verdana" panose="020B0604030504040204" pitchFamily="34" charset="0"/>
                <a:ea typeface="宋体" panose="02010600030101010101" pitchFamily="2" charset="-122"/>
              </a:rPr>
              <a:t>，产生了死锁</a:t>
            </a:r>
            <a:endParaRPr lang="zh-CN" altLang="en-US" sz="2200" dirty="0">
              <a:latin typeface="Verdana" panose="020B0604030504040204" pitchFamily="34" charset="0"/>
              <a:ea typeface="宋体" panose="02010600030101010101" pitchFamily="2" charset="-122"/>
            </a:endParaRPr>
          </a:p>
          <a:p>
            <a:pPr marL="342900" indent="-342900">
              <a:lnSpc>
                <a:spcPct val="150000"/>
              </a:lnSpc>
              <a:buClr>
                <a:schemeClr val="accent1"/>
              </a:buClr>
              <a:buFont typeface="Wingdings" panose="05000000000000000000" pitchFamily="2" charset="2"/>
              <a:buChar char="n"/>
            </a:pPr>
            <a:r>
              <a:rPr lang="zh-CN" altLang="en-US" sz="2200" dirty="0">
                <a:latin typeface="Verdana" panose="020B0604030504040204" pitchFamily="34" charset="0"/>
                <a:ea typeface="宋体" panose="02010600030101010101" pitchFamily="2" charset="-122"/>
              </a:rPr>
              <a:t>图</a:t>
            </a:r>
            <a:r>
              <a:rPr lang="en-US" altLang="zh-CN" sz="2200" dirty="0">
                <a:latin typeface="Verdana" panose="020B0604030504040204" pitchFamily="34" charset="0"/>
                <a:ea typeface="宋体" panose="02010600030101010101" pitchFamily="2" charset="-122"/>
              </a:rPr>
              <a:t>(b)</a:t>
            </a:r>
            <a:r>
              <a:rPr lang="zh-CN" altLang="en-US" sz="2200" dirty="0">
                <a:latin typeface="Verdana" panose="020B0604030504040204" pitchFamily="34" charset="0"/>
                <a:ea typeface="宋体" panose="02010600030101010101" pitchFamily="2" charset="-122"/>
              </a:rPr>
              <a:t>中，事务</a:t>
            </a:r>
            <a:r>
              <a:rPr lang="en-US" altLang="zh-CN" sz="2200" dirty="0">
                <a:latin typeface="Verdana" panose="020B0604030504040204" pitchFamily="34" charset="0"/>
                <a:ea typeface="宋体" panose="02010600030101010101" pitchFamily="2" charset="-122"/>
              </a:rPr>
              <a:t>T1</a:t>
            </a:r>
            <a:r>
              <a:rPr lang="zh-CN" altLang="en-US" sz="2200" dirty="0">
                <a:latin typeface="Verdana" panose="020B0604030504040204" pitchFamily="34" charset="0"/>
                <a:ea typeface="宋体" panose="02010600030101010101" pitchFamily="2" charset="-122"/>
              </a:rPr>
              <a:t>等待</a:t>
            </a:r>
            <a:r>
              <a:rPr lang="en-US" altLang="zh-CN" sz="2200" dirty="0">
                <a:latin typeface="Verdana" panose="020B0604030504040204" pitchFamily="34" charset="0"/>
                <a:ea typeface="宋体" panose="02010600030101010101" pitchFamily="2" charset="-122"/>
              </a:rPr>
              <a:t>T2</a:t>
            </a:r>
            <a:r>
              <a:rPr lang="zh-CN" altLang="en-US" sz="2200" dirty="0">
                <a:latin typeface="Verdana" panose="020B0604030504040204" pitchFamily="34" charset="0"/>
                <a:ea typeface="宋体" panose="02010600030101010101" pitchFamily="2" charset="-122"/>
              </a:rPr>
              <a:t>，</a:t>
            </a:r>
            <a:r>
              <a:rPr lang="en-US" altLang="zh-CN" sz="2200" dirty="0">
                <a:latin typeface="Verdana" panose="020B0604030504040204" pitchFamily="34" charset="0"/>
                <a:ea typeface="宋体" panose="02010600030101010101" pitchFamily="2" charset="-122"/>
              </a:rPr>
              <a:t>T2</a:t>
            </a:r>
            <a:r>
              <a:rPr lang="zh-CN" altLang="en-US" sz="2200" dirty="0">
                <a:latin typeface="Verdana" panose="020B0604030504040204" pitchFamily="34" charset="0"/>
                <a:ea typeface="宋体" panose="02010600030101010101" pitchFamily="2" charset="-122"/>
              </a:rPr>
              <a:t>等待</a:t>
            </a:r>
            <a:r>
              <a:rPr lang="en-US" altLang="zh-CN" sz="2200" dirty="0">
                <a:latin typeface="Verdana" panose="020B0604030504040204" pitchFamily="34" charset="0"/>
                <a:ea typeface="宋体" panose="02010600030101010101" pitchFamily="2" charset="-122"/>
              </a:rPr>
              <a:t>T3</a:t>
            </a:r>
            <a:r>
              <a:rPr lang="zh-CN" altLang="en-US" sz="2200" dirty="0">
                <a:latin typeface="Verdana" panose="020B0604030504040204" pitchFamily="34" charset="0"/>
                <a:ea typeface="宋体" panose="02010600030101010101" pitchFamily="2" charset="-122"/>
              </a:rPr>
              <a:t>，</a:t>
            </a:r>
            <a:r>
              <a:rPr lang="en-US" altLang="zh-CN" sz="2200" dirty="0">
                <a:latin typeface="Verdana" panose="020B0604030504040204" pitchFamily="34" charset="0"/>
                <a:ea typeface="宋体" panose="02010600030101010101" pitchFamily="2" charset="-122"/>
              </a:rPr>
              <a:t>T3</a:t>
            </a:r>
            <a:r>
              <a:rPr lang="zh-CN" altLang="en-US" sz="2200" dirty="0">
                <a:latin typeface="Verdana" panose="020B0604030504040204" pitchFamily="34" charset="0"/>
                <a:ea typeface="宋体" panose="02010600030101010101" pitchFamily="2" charset="-122"/>
              </a:rPr>
              <a:t>等待</a:t>
            </a:r>
            <a:r>
              <a:rPr lang="en-US" altLang="zh-CN" sz="2200" dirty="0">
                <a:latin typeface="Verdana" panose="020B0604030504040204" pitchFamily="34" charset="0"/>
                <a:ea typeface="宋体" panose="02010600030101010101" pitchFamily="2" charset="-122"/>
              </a:rPr>
              <a:t>T4</a:t>
            </a:r>
            <a:r>
              <a:rPr lang="zh-CN" altLang="en-US" sz="2200" dirty="0">
                <a:latin typeface="Verdana" panose="020B0604030504040204" pitchFamily="34" charset="0"/>
                <a:ea typeface="宋体" panose="02010600030101010101" pitchFamily="2" charset="-122"/>
              </a:rPr>
              <a:t>，</a:t>
            </a:r>
            <a:r>
              <a:rPr lang="en-US" altLang="zh-CN" sz="2200" dirty="0">
                <a:latin typeface="Verdana" panose="020B0604030504040204" pitchFamily="34" charset="0"/>
                <a:ea typeface="宋体" panose="02010600030101010101" pitchFamily="2" charset="-122"/>
              </a:rPr>
              <a:t>T4</a:t>
            </a:r>
            <a:r>
              <a:rPr lang="zh-CN" altLang="en-US" sz="2200" dirty="0">
                <a:latin typeface="Verdana" panose="020B0604030504040204" pitchFamily="34" charset="0"/>
                <a:ea typeface="宋体" panose="02010600030101010101" pitchFamily="2" charset="-122"/>
              </a:rPr>
              <a:t>又等待</a:t>
            </a:r>
            <a:r>
              <a:rPr lang="en-US" altLang="zh-CN" sz="2200" dirty="0">
                <a:latin typeface="Verdana" panose="020B0604030504040204" pitchFamily="34" charset="0"/>
                <a:ea typeface="宋体" panose="02010600030101010101" pitchFamily="2" charset="-122"/>
              </a:rPr>
              <a:t>T1</a:t>
            </a:r>
            <a:r>
              <a:rPr lang="zh-CN" altLang="en-US" sz="2200" dirty="0">
                <a:latin typeface="Verdana" panose="020B0604030504040204" pitchFamily="34" charset="0"/>
                <a:ea typeface="宋体" panose="02010600030101010101" pitchFamily="2" charset="-122"/>
              </a:rPr>
              <a:t>，产生了死锁 </a:t>
            </a:r>
            <a:endParaRPr lang="zh-CN" altLang="en-US" sz="2200" dirty="0">
              <a:latin typeface="Verdana" panose="020B0604030504040204" pitchFamily="34" charset="0"/>
              <a:ea typeface="宋体" panose="02010600030101010101" pitchFamily="2" charset="-122"/>
            </a:endParaRPr>
          </a:p>
          <a:p>
            <a:pPr marL="342900" indent="-342900">
              <a:lnSpc>
                <a:spcPct val="150000"/>
              </a:lnSpc>
              <a:buClr>
                <a:schemeClr val="accent1"/>
              </a:buClr>
              <a:buFont typeface="Wingdings" panose="05000000000000000000" pitchFamily="2" charset="2"/>
              <a:buChar char="n"/>
            </a:pPr>
            <a:r>
              <a:rPr lang="zh-CN" altLang="en-US" sz="2200" dirty="0">
                <a:latin typeface="Verdana" panose="020B0604030504040204" pitchFamily="34" charset="0"/>
                <a:ea typeface="宋体" panose="02010600030101010101" pitchFamily="2" charset="-122"/>
              </a:rPr>
              <a:t>图</a:t>
            </a:r>
            <a:r>
              <a:rPr lang="en-US" altLang="zh-CN" sz="2200" dirty="0">
                <a:latin typeface="Verdana" panose="020B0604030504040204" pitchFamily="34" charset="0"/>
                <a:ea typeface="宋体" panose="02010600030101010101" pitchFamily="2" charset="-122"/>
              </a:rPr>
              <a:t>(b)</a:t>
            </a:r>
            <a:r>
              <a:rPr lang="zh-CN" altLang="en-US" sz="2200" dirty="0">
                <a:latin typeface="Verdana" panose="020B0604030504040204" pitchFamily="34" charset="0"/>
                <a:ea typeface="宋体" panose="02010600030101010101" pitchFamily="2" charset="-122"/>
              </a:rPr>
              <a:t>中，事务</a:t>
            </a:r>
            <a:r>
              <a:rPr lang="en-US" altLang="zh-CN" sz="2200" dirty="0">
                <a:latin typeface="Verdana" panose="020B0604030504040204" pitchFamily="34" charset="0"/>
                <a:ea typeface="宋体" panose="02010600030101010101" pitchFamily="2" charset="-122"/>
              </a:rPr>
              <a:t>T3</a:t>
            </a:r>
            <a:r>
              <a:rPr lang="zh-CN" altLang="en-US" sz="2200" dirty="0">
                <a:latin typeface="Verdana" panose="020B0604030504040204" pitchFamily="34" charset="0"/>
                <a:ea typeface="宋体" panose="02010600030101010101" pitchFamily="2" charset="-122"/>
              </a:rPr>
              <a:t>可能还等待</a:t>
            </a:r>
            <a:r>
              <a:rPr lang="en-US" altLang="zh-CN" sz="2200" dirty="0">
                <a:latin typeface="Verdana" panose="020B0604030504040204" pitchFamily="34" charset="0"/>
                <a:ea typeface="宋体" panose="02010600030101010101" pitchFamily="2" charset="-122"/>
              </a:rPr>
              <a:t>T2</a:t>
            </a:r>
            <a:r>
              <a:rPr lang="zh-CN" altLang="en-US" sz="2200" dirty="0">
                <a:latin typeface="Verdana" panose="020B0604030504040204" pitchFamily="34" charset="0"/>
                <a:ea typeface="宋体" panose="02010600030101010101" pitchFamily="2" charset="-122"/>
              </a:rPr>
              <a:t>，在大回路中又有小的回路</a:t>
            </a:r>
            <a:r>
              <a:rPr lang="zh-CN" altLang="en-US" dirty="0">
                <a:latin typeface="Verdana" panose="020B0604030504040204" pitchFamily="34" charset="0"/>
                <a:ea typeface="宋体" panose="02010600030101010101" pitchFamily="2" charset="-122"/>
              </a:rPr>
              <a:t> </a:t>
            </a:r>
            <a:endParaRPr lang="zh-CN" altLang="en-US" dirty="0">
              <a:latin typeface="Verdana" panose="020B0604030504040204" pitchFamily="34" charset="0"/>
              <a:ea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99718"/>
                                        </p:tgtEl>
                                        <p:attrNameLst>
                                          <p:attrName>style.visibility</p:attrName>
                                        </p:attrNameLst>
                                      </p:cBhvr>
                                      <p:to>
                                        <p:strVal val="visible"/>
                                      </p:to>
                                    </p:set>
                                    <p:anim calcmode="lin" valueType="num">
                                      <p:cBhvr additive="base">
                                        <p:cTn id="12" dur="1000" fill="hold"/>
                                        <p:tgtEl>
                                          <p:spTgt spid="499718"/>
                                        </p:tgtEl>
                                        <p:attrNameLst>
                                          <p:attrName>ppt_x</p:attrName>
                                        </p:attrNameLst>
                                      </p:cBhvr>
                                      <p:tavLst>
                                        <p:tav tm="0">
                                          <p:val>
                                            <p:strVal val="#ppt_x"/>
                                          </p:val>
                                        </p:tav>
                                        <p:tav tm="100000">
                                          <p:val>
                                            <p:strVal val="#ppt_x"/>
                                          </p:val>
                                        </p:tav>
                                      </p:tavLst>
                                    </p:anim>
                                    <p:anim calcmode="lin" valueType="num">
                                      <p:cBhvr additive="base">
                                        <p:cTn id="13" dur="1000" fill="hold"/>
                                        <p:tgtEl>
                                          <p:spTgt spid="4997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971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2"/>
          <p:cNvSpPr>
            <a:spLocks noGrp="1"/>
          </p:cNvSpPr>
          <p:nvPr>
            <p:ph type="title"/>
          </p:nvPr>
        </p:nvSpPr>
        <p:spPr>
          <a:ln/>
        </p:spPr>
        <p:txBody>
          <a:bodyPr vert="horz" wrap="square" lIns="91440" tIns="45720" rIns="91440" bIns="45720" anchor="b" anchorCtr="0"/>
          <a:p>
            <a:pPr eaLnBrk="1" hangingPunct="1"/>
            <a:r>
              <a:rPr lang="zh-CN" altLang="en-US" dirty="0"/>
              <a:t>等待图法（续）</a:t>
            </a:r>
            <a:endParaRPr lang="zh-CN" altLang="en-US" dirty="0"/>
          </a:p>
        </p:txBody>
      </p:sp>
      <p:sp>
        <p:nvSpPr>
          <p:cNvPr id="61442" name="Rectangle 3"/>
          <p:cNvSpPr>
            <a:spLocks noGrp="1"/>
          </p:cNvSpPr>
          <p:nvPr>
            <p:ph idx="1"/>
          </p:nvPr>
        </p:nvSpPr>
        <p:spPr>
          <a:ln/>
        </p:spPr>
        <p:txBody>
          <a:bodyPr vert="horz" wrap="square" lIns="91440" tIns="45720" rIns="91440" bIns="45720" anchor="t" anchorCtr="0"/>
          <a:p>
            <a:pPr eaLnBrk="1" hangingPunct="1">
              <a:lnSpc>
                <a:spcPct val="170000"/>
              </a:lnSpc>
            </a:pPr>
            <a:r>
              <a:rPr lang="zh-CN" altLang="en-US" dirty="0"/>
              <a:t>并发控制子系统</a:t>
            </a:r>
            <a:r>
              <a:rPr lang="zh-CN" altLang="en-US" dirty="0">
                <a:solidFill>
                  <a:srgbClr val="FF0000"/>
                </a:solidFill>
              </a:rPr>
              <a:t>周期性</a:t>
            </a:r>
            <a:r>
              <a:rPr lang="zh-CN" altLang="en-US" dirty="0"/>
              <a:t>地（比如每隔数秒）生成事务等待图，检测事务。如果发现图中存在</a:t>
            </a:r>
            <a:r>
              <a:rPr lang="zh-CN" altLang="en-US" b="1" dirty="0">
                <a:solidFill>
                  <a:srgbClr val="FF0000"/>
                </a:solidFill>
              </a:rPr>
              <a:t>回路</a:t>
            </a:r>
            <a:r>
              <a:rPr lang="zh-CN" altLang="en-US" dirty="0"/>
              <a:t>，则表示系统中出现了死锁。</a:t>
            </a:r>
            <a:endParaRPr lang="zh-CN" altLang="en-US" dirty="0"/>
          </a:p>
        </p:txBody>
      </p:sp>
    </p:spTree>
  </p:cSld>
  <p:clrMapOvr>
    <a:masterClrMapping/>
  </p:clrMapOvr>
  <p:transition advClick="0"/>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Rectangle 2"/>
          <p:cNvSpPr>
            <a:spLocks noGrp="1"/>
          </p:cNvSpPr>
          <p:nvPr>
            <p:ph type="title"/>
          </p:nvPr>
        </p:nvSpPr>
        <p:spPr>
          <a:ln/>
        </p:spPr>
        <p:txBody>
          <a:bodyPr vert="horz" wrap="square" lIns="91440" tIns="45720" rIns="91440" bIns="45720" anchor="b" anchorCtr="0"/>
          <a:p>
            <a:pPr eaLnBrk="1" hangingPunct="1"/>
            <a:r>
              <a:rPr lang="zh-CN" altLang="en-US" dirty="0"/>
              <a:t>死锁的诊断与解除（续）</a:t>
            </a:r>
            <a:endParaRPr lang="zh-CN" altLang="en-US" dirty="0"/>
          </a:p>
        </p:txBody>
      </p:sp>
      <p:sp>
        <p:nvSpPr>
          <p:cNvPr id="62466" name="Rectangle 3"/>
          <p:cNvSpPr>
            <a:spLocks noGrp="1"/>
          </p:cNvSpPr>
          <p:nvPr>
            <p:ph idx="1"/>
          </p:nvPr>
        </p:nvSpPr>
        <p:spPr>
          <a:ln/>
        </p:spPr>
        <p:txBody>
          <a:bodyPr vert="horz" wrap="square" lIns="91440" tIns="45720" rIns="91440" bIns="45720" anchor="t" anchorCtr="0"/>
          <a:p>
            <a:pPr eaLnBrk="1" hangingPunct="1"/>
            <a:r>
              <a:rPr lang="zh-CN" altLang="en-US" dirty="0"/>
              <a:t>解除死锁</a:t>
            </a:r>
            <a:endParaRPr lang="zh-CN" altLang="en-US" dirty="0"/>
          </a:p>
          <a:p>
            <a:pPr lvl="1" indent="-436245" eaLnBrk="1" hangingPunct="1">
              <a:lnSpc>
                <a:spcPct val="140000"/>
              </a:lnSpc>
            </a:pPr>
            <a:r>
              <a:rPr lang="zh-CN" altLang="en-US" dirty="0"/>
              <a:t>选择一个处理死锁</a:t>
            </a:r>
            <a:r>
              <a:rPr lang="zh-CN" altLang="en-US" b="1" dirty="0">
                <a:solidFill>
                  <a:srgbClr val="FF0000"/>
                </a:solidFill>
              </a:rPr>
              <a:t>代价最小</a:t>
            </a:r>
            <a:r>
              <a:rPr lang="zh-CN" altLang="en-US" dirty="0"/>
              <a:t>的事务，</a:t>
            </a:r>
            <a:r>
              <a:rPr lang="zh-CN" altLang="en-US" dirty="0">
                <a:solidFill>
                  <a:srgbClr val="0000FF"/>
                </a:solidFill>
              </a:rPr>
              <a:t>将其撤消</a:t>
            </a:r>
            <a:r>
              <a:rPr lang="zh-CN" altLang="en-US" dirty="0"/>
              <a:t>，释放此事务持有的所有的锁，使其它事务能继续运行下去</a:t>
            </a:r>
            <a:endParaRPr lang="zh-CN" altLang="en-US" dirty="0"/>
          </a:p>
        </p:txBody>
      </p:sp>
    </p:spTree>
  </p:cSld>
  <p:clrMapOvr>
    <a:masterClrMapping/>
  </p:clrMapOvr>
  <p:transition advClick="0"/>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Rectangle 2"/>
          <p:cNvSpPr>
            <a:spLocks noGrp="1"/>
          </p:cNvSpPr>
          <p:nvPr>
            <p:ph type="title"/>
          </p:nvPr>
        </p:nvSpPr>
        <p:spPr>
          <a:ln/>
        </p:spPr>
        <p:txBody>
          <a:bodyPr vert="horz" wrap="square" lIns="91440" tIns="45720" rIns="91440" bIns="45720" anchor="b" anchorCtr="0"/>
          <a:p>
            <a:pPr eaLnBrk="1" hangingPunct="1"/>
            <a:r>
              <a:rPr lang="zh-CN" altLang="en-US" dirty="0"/>
              <a:t>第十一章  并发控制</a:t>
            </a:r>
            <a:endParaRPr lang="zh-CN" altLang="en-US" dirty="0"/>
          </a:p>
        </p:txBody>
      </p:sp>
      <p:sp>
        <p:nvSpPr>
          <p:cNvPr id="63490" name="Rectangle 3"/>
          <p:cNvSpPr>
            <a:spLocks noGrp="1"/>
          </p:cNvSpPr>
          <p:nvPr>
            <p:ph idx="1"/>
          </p:nvPr>
        </p:nvSpPr>
        <p:spPr>
          <a:xfrm>
            <a:off x="785813" y="1143000"/>
            <a:ext cx="7715250" cy="4929188"/>
          </a:xfrm>
          <a:ln/>
        </p:spPr>
        <p:txBody>
          <a:bodyPr vert="horz" wrap="square" lIns="91440" tIns="45720" rIns="91440" bIns="45720" anchor="t" anchorCtr="0"/>
          <a:p>
            <a:pPr algn="just" eaLnBrk="1" hangingPunct="1">
              <a:buNone/>
            </a:pPr>
            <a:r>
              <a:rPr lang="en-US" altLang="zh-CN" b="1" dirty="0"/>
              <a:t>11.1 </a:t>
            </a:r>
            <a:r>
              <a:rPr lang="zh-CN" altLang="en-US" b="1" dirty="0"/>
              <a:t>并发控制概述</a:t>
            </a:r>
            <a:endParaRPr lang="en-US" altLang="zh-CN" b="1" dirty="0"/>
          </a:p>
          <a:p>
            <a:pPr algn="just" eaLnBrk="1" hangingPunct="1">
              <a:buNone/>
            </a:pPr>
            <a:r>
              <a:rPr lang="en-US" altLang="zh-CN" b="1" dirty="0"/>
              <a:t>11.2 </a:t>
            </a:r>
            <a:r>
              <a:rPr lang="zh-CN" altLang="en-US" b="1" dirty="0"/>
              <a:t>封锁</a:t>
            </a:r>
            <a:endParaRPr lang="en-US" altLang="zh-CN" b="1" dirty="0"/>
          </a:p>
          <a:p>
            <a:pPr algn="just" eaLnBrk="1" hangingPunct="1">
              <a:buNone/>
            </a:pPr>
            <a:r>
              <a:rPr lang="en-US" altLang="zh-CN" b="1" dirty="0"/>
              <a:t>11.3 </a:t>
            </a:r>
            <a:r>
              <a:rPr lang="zh-CN" altLang="en-US" b="1" dirty="0"/>
              <a:t>封锁协议</a:t>
            </a:r>
            <a:endParaRPr lang="en-US" altLang="zh-CN" b="1" dirty="0"/>
          </a:p>
          <a:p>
            <a:pPr algn="just" eaLnBrk="1" hangingPunct="1">
              <a:buNone/>
            </a:pPr>
            <a:r>
              <a:rPr lang="en-US" altLang="zh-CN" b="1" dirty="0"/>
              <a:t>11.4 </a:t>
            </a:r>
            <a:r>
              <a:rPr lang="zh-CN" altLang="en-US" b="1" dirty="0"/>
              <a:t>活锁和死锁</a:t>
            </a:r>
            <a:endParaRPr lang="en-US" altLang="zh-CN" b="1" dirty="0"/>
          </a:p>
          <a:p>
            <a:pPr algn="just" eaLnBrk="1" hangingPunct="1">
              <a:buNone/>
            </a:pPr>
            <a:r>
              <a:rPr lang="en-US" altLang="zh-CN" b="1" dirty="0">
                <a:solidFill>
                  <a:srgbClr val="FF0000"/>
                </a:solidFill>
              </a:rPr>
              <a:t>11.5 </a:t>
            </a:r>
            <a:r>
              <a:rPr lang="zh-CN" altLang="en-US" b="1" dirty="0">
                <a:solidFill>
                  <a:srgbClr val="FF0000"/>
                </a:solidFill>
              </a:rPr>
              <a:t>并发调度的可串行性（后面都不讲）</a:t>
            </a:r>
            <a:endParaRPr lang="en-US" altLang="zh-CN" b="1" dirty="0">
              <a:solidFill>
                <a:srgbClr val="FF0000"/>
              </a:solidFill>
            </a:endParaRPr>
          </a:p>
          <a:p>
            <a:pPr algn="just" eaLnBrk="1" hangingPunct="1">
              <a:buNone/>
            </a:pPr>
            <a:r>
              <a:rPr lang="en-US" altLang="zh-CN" b="1" dirty="0"/>
              <a:t>11.6 </a:t>
            </a:r>
            <a:r>
              <a:rPr lang="zh-CN" altLang="en-US" b="1" dirty="0"/>
              <a:t>两段锁协议</a:t>
            </a:r>
            <a:endParaRPr lang="en-US" altLang="zh-CN" b="1" dirty="0"/>
          </a:p>
          <a:p>
            <a:pPr algn="just" eaLnBrk="1" hangingPunct="1">
              <a:buNone/>
            </a:pPr>
            <a:r>
              <a:rPr lang="en-US" altLang="zh-CN" b="1" dirty="0"/>
              <a:t>11.7 </a:t>
            </a:r>
            <a:r>
              <a:rPr lang="zh-CN" altLang="en-US" b="1" dirty="0"/>
              <a:t>封锁的粒度</a:t>
            </a:r>
            <a:endParaRPr lang="en-US" altLang="zh-CN" b="1" dirty="0"/>
          </a:p>
          <a:p>
            <a:pPr algn="just" eaLnBrk="1" hangingPunct="1">
              <a:buNone/>
            </a:pPr>
            <a:r>
              <a:rPr lang="zh-CN" altLang="en-US" b="1" dirty="0"/>
              <a:t>*</a:t>
            </a:r>
            <a:r>
              <a:rPr lang="en-US" altLang="zh-CN" b="1" dirty="0"/>
              <a:t>11.8 </a:t>
            </a:r>
            <a:r>
              <a:rPr lang="zh-CN" altLang="en-US" b="1" dirty="0"/>
              <a:t>其他并发控制机制</a:t>
            </a:r>
            <a:endParaRPr lang="zh-CN" altLang="en-US" b="1" dirty="0"/>
          </a:p>
        </p:txBody>
      </p:sp>
    </p:spTree>
  </p:cSld>
  <p:clrMapOvr>
    <a:masterClrMapping/>
  </p:clrMapOvr>
  <p:transition advClick="0"/>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Rectangle 2"/>
          <p:cNvSpPr>
            <a:spLocks noGrp="1"/>
          </p:cNvSpPr>
          <p:nvPr>
            <p:ph type="title"/>
          </p:nvPr>
        </p:nvSpPr>
        <p:spPr>
          <a:ln/>
        </p:spPr>
        <p:txBody>
          <a:bodyPr vert="horz" wrap="square" lIns="91440" tIns="45720" rIns="91440" bIns="45720" anchor="b" anchorCtr="0"/>
          <a:p>
            <a:pPr eaLnBrk="1" hangingPunct="1"/>
            <a:r>
              <a:rPr lang="en-US" altLang="zh-CN" dirty="0"/>
              <a:t>11.5  </a:t>
            </a:r>
            <a:r>
              <a:rPr lang="zh-CN" altLang="en-US" dirty="0"/>
              <a:t>并发调度的可串行性</a:t>
            </a:r>
            <a:endParaRPr lang="zh-CN" altLang="en-US" dirty="0"/>
          </a:p>
        </p:txBody>
      </p:sp>
      <p:sp>
        <p:nvSpPr>
          <p:cNvPr id="64514" name="Rectangle 3"/>
          <p:cNvSpPr>
            <a:spLocks noGrp="1"/>
          </p:cNvSpPr>
          <p:nvPr>
            <p:ph idx="1"/>
          </p:nvPr>
        </p:nvSpPr>
        <p:spPr>
          <a:ln/>
        </p:spPr>
        <p:txBody>
          <a:bodyPr vert="horz" wrap="square" lIns="91440" tIns="45720" rIns="91440" bIns="45720" anchor="t" anchorCtr="0"/>
          <a:p>
            <a:pPr eaLnBrk="1" hangingPunct="1">
              <a:lnSpc>
                <a:spcPct val="180000"/>
              </a:lnSpc>
            </a:pPr>
            <a:r>
              <a:rPr lang="en-US" altLang="zh-CN" dirty="0"/>
              <a:t>DBMS</a:t>
            </a:r>
            <a:r>
              <a:rPr lang="zh-CN" altLang="en-US" dirty="0"/>
              <a:t>对并发事务不同的调度可能会产生不同的结果</a:t>
            </a:r>
            <a:endParaRPr lang="zh-CN" altLang="en-US" dirty="0"/>
          </a:p>
          <a:p>
            <a:pPr eaLnBrk="1" hangingPunct="1">
              <a:lnSpc>
                <a:spcPct val="180000"/>
              </a:lnSpc>
            </a:pPr>
            <a:r>
              <a:rPr lang="zh-CN" altLang="en-US" dirty="0"/>
              <a:t>什么样的调度是</a:t>
            </a:r>
            <a:r>
              <a:rPr lang="zh-CN" altLang="en-US" dirty="0">
                <a:solidFill>
                  <a:srgbClr val="FF0000"/>
                </a:solidFill>
              </a:rPr>
              <a:t>正确的</a:t>
            </a:r>
            <a:r>
              <a:rPr lang="zh-CN" altLang="en-US" dirty="0"/>
              <a:t>？</a:t>
            </a:r>
            <a:endParaRPr lang="zh-CN" altLang="en-US" dirty="0"/>
          </a:p>
          <a:p>
            <a:pPr eaLnBrk="1" hangingPunct="1">
              <a:lnSpc>
                <a:spcPct val="180000"/>
              </a:lnSpc>
              <a:buNone/>
            </a:pPr>
            <a:r>
              <a:rPr lang="zh-CN" altLang="en-US" dirty="0"/>
              <a:t>	</a:t>
            </a:r>
            <a:endParaRPr lang="zh-CN" altLang="en-US" dirty="0"/>
          </a:p>
        </p:txBody>
      </p:sp>
    </p:spTree>
  </p:cSld>
  <p:clrMapOvr>
    <a:masterClrMapping/>
  </p:clrMapOvr>
  <p:transition advClick="0"/>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Rectangle 2"/>
          <p:cNvSpPr>
            <a:spLocks noGrp="1"/>
          </p:cNvSpPr>
          <p:nvPr>
            <p:ph type="title"/>
          </p:nvPr>
        </p:nvSpPr>
        <p:spPr>
          <a:ln/>
        </p:spPr>
        <p:txBody>
          <a:bodyPr vert="horz" wrap="square" lIns="91440" tIns="45720" rIns="91440" bIns="45720" anchor="b" anchorCtr="0"/>
          <a:p>
            <a:pPr eaLnBrk="1" hangingPunct="1"/>
            <a:r>
              <a:rPr lang="en-US" altLang="zh-CN" dirty="0"/>
              <a:t>11.5.1 </a:t>
            </a:r>
            <a:r>
              <a:rPr lang="zh-CN" altLang="en-US" dirty="0"/>
              <a:t>可串行化调度</a:t>
            </a:r>
            <a:endParaRPr lang="zh-CN" altLang="en-US" dirty="0"/>
          </a:p>
        </p:txBody>
      </p:sp>
      <p:sp>
        <p:nvSpPr>
          <p:cNvPr id="65538" name="Rectangle 3"/>
          <p:cNvSpPr>
            <a:spLocks noGrp="1"/>
          </p:cNvSpPr>
          <p:nvPr>
            <p:ph idx="1"/>
          </p:nvPr>
        </p:nvSpPr>
        <p:spPr>
          <a:xfrm>
            <a:off x="500063" y="1143000"/>
            <a:ext cx="7772400" cy="5072063"/>
          </a:xfrm>
          <a:ln/>
        </p:spPr>
        <p:txBody>
          <a:bodyPr vert="horz" wrap="square" lIns="91440" tIns="45720" rIns="91440" bIns="45720" anchor="t" anchorCtr="0"/>
          <a:p>
            <a:pPr eaLnBrk="1" hangingPunct="1">
              <a:lnSpc>
                <a:spcPct val="140000"/>
              </a:lnSpc>
            </a:pPr>
            <a:r>
              <a:rPr lang="zh-CN" altLang="en-US" sz="2800" b="1" dirty="0">
                <a:solidFill>
                  <a:srgbClr val="FF0000"/>
                </a:solidFill>
              </a:rPr>
              <a:t>可串行化</a:t>
            </a:r>
            <a:r>
              <a:rPr lang="en-US" altLang="zh-CN" sz="2800" b="1" dirty="0">
                <a:solidFill>
                  <a:srgbClr val="FF0000"/>
                </a:solidFill>
              </a:rPr>
              <a:t>(Serializable)</a:t>
            </a:r>
            <a:r>
              <a:rPr lang="zh-CN" altLang="en-US" sz="2800" b="1" dirty="0">
                <a:solidFill>
                  <a:srgbClr val="FF0000"/>
                </a:solidFill>
              </a:rPr>
              <a:t>调度</a:t>
            </a:r>
            <a:endParaRPr lang="zh-CN" altLang="en-US" sz="2800" b="1" dirty="0">
              <a:solidFill>
                <a:srgbClr val="FF0000"/>
              </a:solidFill>
            </a:endParaRPr>
          </a:p>
          <a:p>
            <a:pPr lvl="1" indent="-436245" eaLnBrk="1" hangingPunct="1">
              <a:lnSpc>
                <a:spcPct val="140000"/>
              </a:lnSpc>
              <a:buSzPct val="70000"/>
              <a:buFont typeface="Wingdings" panose="05000000000000000000" pitchFamily="2" charset="2"/>
              <a:buChar char="n"/>
            </a:pPr>
            <a:r>
              <a:rPr lang="zh-CN" altLang="en-US" dirty="0"/>
              <a:t>多个事务的并发执行是</a:t>
            </a:r>
            <a:r>
              <a:rPr lang="zh-CN" altLang="en-US" dirty="0">
                <a:solidFill>
                  <a:srgbClr val="FF0000"/>
                </a:solidFill>
              </a:rPr>
              <a:t>正确的</a:t>
            </a:r>
            <a:r>
              <a:rPr lang="zh-CN" altLang="en-US" dirty="0"/>
              <a:t>，当且仅当其</a:t>
            </a:r>
            <a:r>
              <a:rPr lang="zh-CN" altLang="en-US" dirty="0">
                <a:solidFill>
                  <a:srgbClr val="FF0000"/>
                </a:solidFill>
              </a:rPr>
              <a:t>结果</a:t>
            </a:r>
            <a:r>
              <a:rPr lang="zh-CN" altLang="en-US" dirty="0"/>
              <a:t>与按</a:t>
            </a:r>
            <a:r>
              <a:rPr lang="zh-CN" altLang="en-US" b="1" dirty="0">
                <a:solidFill>
                  <a:srgbClr val="FF0000"/>
                </a:solidFill>
              </a:rPr>
              <a:t>某一次序串行地执行</a:t>
            </a:r>
            <a:r>
              <a:rPr lang="zh-CN" altLang="en-US" dirty="0"/>
              <a:t>这些事务时的结果相同。</a:t>
            </a:r>
            <a:endParaRPr lang="zh-CN" altLang="en-US" dirty="0"/>
          </a:p>
          <a:p>
            <a:pPr eaLnBrk="1" hangingPunct="1">
              <a:lnSpc>
                <a:spcPct val="140000"/>
              </a:lnSpc>
            </a:pPr>
            <a:r>
              <a:rPr lang="zh-CN" altLang="en-US" sz="2800" dirty="0"/>
              <a:t>可串行性</a:t>
            </a:r>
            <a:r>
              <a:rPr lang="en-US" altLang="zh-CN" sz="2800" dirty="0"/>
              <a:t>(Serializability)</a:t>
            </a:r>
            <a:endParaRPr lang="en-US" altLang="zh-CN" sz="2800" dirty="0"/>
          </a:p>
          <a:p>
            <a:pPr lvl="1" indent="-436245" eaLnBrk="1" hangingPunct="1">
              <a:lnSpc>
                <a:spcPct val="140000"/>
              </a:lnSpc>
            </a:pPr>
            <a:r>
              <a:rPr lang="zh-CN" altLang="en-US" dirty="0"/>
              <a:t>是并发事务正确调度的准则</a:t>
            </a:r>
            <a:endParaRPr lang="zh-CN" altLang="en-US" dirty="0"/>
          </a:p>
          <a:p>
            <a:pPr lvl="1" indent="-436245" eaLnBrk="1" hangingPunct="1">
              <a:lnSpc>
                <a:spcPct val="140000"/>
              </a:lnSpc>
            </a:pPr>
            <a:r>
              <a:rPr lang="zh-CN" altLang="en-US" dirty="0"/>
              <a:t>一个给定的并发调度，当且仅当它是</a:t>
            </a:r>
            <a:r>
              <a:rPr lang="zh-CN" altLang="en-US" dirty="0">
                <a:solidFill>
                  <a:srgbClr val="FF0000"/>
                </a:solidFill>
              </a:rPr>
              <a:t>可串行化的</a:t>
            </a:r>
            <a:r>
              <a:rPr lang="zh-CN" altLang="en-US" dirty="0"/>
              <a:t>，才认为是正确调度 </a:t>
            </a:r>
            <a:endParaRPr lang="zh-CN" altLang="en-US" dirty="0"/>
          </a:p>
        </p:txBody>
      </p:sp>
    </p:spTree>
  </p:cSld>
  <p:clrMapOvr>
    <a:masterClrMapping/>
  </p:clrMapOvr>
  <p:transition advClick="0"/>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Rectangle 2"/>
          <p:cNvSpPr>
            <a:spLocks noGrp="1"/>
          </p:cNvSpPr>
          <p:nvPr>
            <p:ph type="title"/>
          </p:nvPr>
        </p:nvSpPr>
        <p:spPr>
          <a:ln/>
        </p:spPr>
        <p:txBody>
          <a:bodyPr vert="horz" wrap="square" lIns="91440" tIns="45720" rIns="91440" bIns="45720" anchor="b" anchorCtr="0"/>
          <a:p>
            <a:pPr eaLnBrk="1" hangingPunct="1"/>
            <a:r>
              <a:rPr lang="zh-CN" altLang="en-US" dirty="0"/>
              <a:t>可串行化调度（续）</a:t>
            </a:r>
            <a:endParaRPr lang="zh-CN" altLang="en-US" dirty="0"/>
          </a:p>
        </p:txBody>
      </p:sp>
      <p:sp>
        <p:nvSpPr>
          <p:cNvPr id="66562" name="Rectangle 3"/>
          <p:cNvSpPr>
            <a:spLocks noGrp="1"/>
          </p:cNvSpPr>
          <p:nvPr>
            <p:ph idx="1"/>
          </p:nvPr>
        </p:nvSpPr>
        <p:spPr>
          <a:ln/>
        </p:spPr>
        <p:txBody>
          <a:bodyPr vert="horz" wrap="square" lIns="91440" tIns="45720" rIns="91440" bIns="45720" anchor="t" anchorCtr="0"/>
          <a:p>
            <a:pPr eaLnBrk="1" hangingPunct="1">
              <a:lnSpc>
                <a:spcPct val="170000"/>
              </a:lnSpc>
              <a:buNone/>
            </a:pPr>
            <a:r>
              <a:rPr lang="en-US" altLang="zh-CN" dirty="0"/>
              <a:t>[</a:t>
            </a:r>
            <a:r>
              <a:rPr lang="zh-CN" altLang="en-US" dirty="0"/>
              <a:t>例</a:t>
            </a:r>
            <a:r>
              <a:rPr lang="en-US" altLang="zh-CN" dirty="0"/>
              <a:t>]</a:t>
            </a:r>
            <a:r>
              <a:rPr lang="zh-CN" altLang="en-US" dirty="0"/>
              <a:t>现在有两个事务，分别包含下列操作：</a:t>
            </a:r>
            <a:endParaRPr lang="zh-CN" altLang="en-US" dirty="0"/>
          </a:p>
          <a:p>
            <a:pPr lvl="1" indent="-436245" eaLnBrk="1" hangingPunct="1">
              <a:lnSpc>
                <a:spcPct val="170000"/>
              </a:lnSpc>
            </a:pPr>
            <a:r>
              <a:rPr lang="zh-CN" altLang="en-US" dirty="0"/>
              <a:t>事务</a:t>
            </a:r>
            <a:r>
              <a:rPr lang="en-US" altLang="zh-CN" dirty="0"/>
              <a:t>T1</a:t>
            </a:r>
            <a:r>
              <a:rPr lang="zh-CN" altLang="en-US" dirty="0"/>
              <a:t>：读</a:t>
            </a:r>
            <a:r>
              <a:rPr lang="en-US" altLang="zh-CN" dirty="0"/>
              <a:t>B</a:t>
            </a:r>
            <a:r>
              <a:rPr lang="zh-CN" altLang="en-US" dirty="0"/>
              <a:t>；</a:t>
            </a:r>
            <a:r>
              <a:rPr lang="en-US" altLang="zh-CN" dirty="0"/>
              <a:t>A=B+1</a:t>
            </a:r>
            <a:r>
              <a:rPr lang="zh-CN" altLang="en-US" dirty="0"/>
              <a:t>；写回</a:t>
            </a:r>
            <a:r>
              <a:rPr lang="en-US" altLang="zh-CN" dirty="0"/>
              <a:t>A</a:t>
            </a:r>
            <a:endParaRPr lang="en-US" altLang="zh-CN" dirty="0"/>
          </a:p>
          <a:p>
            <a:pPr lvl="1" indent="-436245" eaLnBrk="1" hangingPunct="1">
              <a:lnSpc>
                <a:spcPct val="170000"/>
              </a:lnSpc>
            </a:pPr>
            <a:r>
              <a:rPr lang="zh-CN" altLang="en-US" dirty="0"/>
              <a:t>事务</a:t>
            </a:r>
            <a:r>
              <a:rPr lang="en-US" altLang="zh-CN" dirty="0"/>
              <a:t>T2</a:t>
            </a:r>
            <a:r>
              <a:rPr lang="zh-CN" altLang="en-US" dirty="0"/>
              <a:t>：读</a:t>
            </a:r>
            <a:r>
              <a:rPr lang="en-US" altLang="zh-CN" dirty="0"/>
              <a:t>A</a:t>
            </a:r>
            <a:r>
              <a:rPr lang="zh-CN" altLang="en-US" dirty="0"/>
              <a:t>；</a:t>
            </a:r>
            <a:r>
              <a:rPr lang="en-US" altLang="zh-CN" dirty="0"/>
              <a:t>B=A+1</a:t>
            </a:r>
            <a:r>
              <a:rPr lang="zh-CN" altLang="en-US" dirty="0"/>
              <a:t>；写回</a:t>
            </a:r>
            <a:r>
              <a:rPr lang="en-US" altLang="zh-CN" dirty="0"/>
              <a:t>B</a:t>
            </a:r>
            <a:endParaRPr lang="en-US" altLang="zh-CN" dirty="0"/>
          </a:p>
          <a:p>
            <a:pPr lvl="1" indent="-436245" eaLnBrk="1" hangingPunct="1">
              <a:lnSpc>
                <a:spcPct val="170000"/>
              </a:lnSpc>
              <a:buNone/>
            </a:pPr>
            <a:r>
              <a:rPr lang="zh-CN" altLang="en-US" dirty="0"/>
              <a:t>现给出对这两个事务不同的调度策略，串行的：</a:t>
            </a:r>
            <a:endParaRPr lang="en-US" altLang="zh-CN" dirty="0"/>
          </a:p>
          <a:p>
            <a:pPr lvl="1" indent="-436245" eaLnBrk="1" hangingPunct="1">
              <a:lnSpc>
                <a:spcPct val="170000"/>
              </a:lnSpc>
              <a:buNone/>
            </a:pPr>
            <a:r>
              <a:rPr lang="en-US" altLang="zh-CN" b="1" dirty="0">
                <a:solidFill>
                  <a:srgbClr val="FF0000"/>
                </a:solidFill>
              </a:rPr>
              <a:t>R1(B)w1(A)</a:t>
            </a:r>
            <a:r>
              <a:rPr lang="zh-CN" altLang="en-US" b="1" dirty="0">
                <a:solidFill>
                  <a:srgbClr val="FF0000"/>
                </a:solidFill>
              </a:rPr>
              <a:t> </a:t>
            </a:r>
            <a:r>
              <a:rPr lang="en-US" altLang="zh-CN" b="1" dirty="0">
                <a:solidFill>
                  <a:srgbClr val="003399"/>
                </a:solidFill>
              </a:rPr>
              <a:t>R2(A)W2(B)</a:t>
            </a:r>
            <a:endParaRPr lang="zh-CN" altLang="en-US" b="1" dirty="0">
              <a:solidFill>
                <a:srgbClr val="003399"/>
              </a:solidFill>
            </a:endParaRPr>
          </a:p>
          <a:p>
            <a:pPr lvl="1" indent="-436245" eaLnBrk="1" hangingPunct="1">
              <a:lnSpc>
                <a:spcPct val="170000"/>
              </a:lnSpc>
              <a:buNone/>
            </a:pPr>
            <a:r>
              <a:rPr lang="en-US" altLang="zh-CN" b="1" dirty="0">
                <a:solidFill>
                  <a:srgbClr val="003399"/>
                </a:solidFill>
              </a:rPr>
              <a:t>R2(A)W2(B) </a:t>
            </a:r>
            <a:r>
              <a:rPr lang="en-US" altLang="zh-CN" b="1" dirty="0">
                <a:solidFill>
                  <a:srgbClr val="FF0000"/>
                </a:solidFill>
              </a:rPr>
              <a:t>R1(B)w1(A)</a:t>
            </a:r>
            <a:r>
              <a:rPr lang="zh-CN" altLang="en-US" b="1" dirty="0">
                <a:solidFill>
                  <a:srgbClr val="FF0000"/>
                </a:solidFill>
              </a:rPr>
              <a:t> </a:t>
            </a:r>
            <a:endParaRPr lang="zh-CN" altLang="en-US" dirty="0"/>
          </a:p>
        </p:txBody>
      </p:sp>
    </p:spTree>
  </p:cSld>
  <p:clrMapOvr>
    <a:masterClrMapping/>
  </p:clrMapOvr>
  <p:transition advClick="0"/>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Rectangle 2"/>
          <p:cNvSpPr>
            <a:spLocks noGrp="1"/>
          </p:cNvSpPr>
          <p:nvPr>
            <p:ph type="title"/>
          </p:nvPr>
        </p:nvSpPr>
        <p:spPr>
          <a:xfrm>
            <a:off x="571500" y="357188"/>
            <a:ext cx="7391400" cy="563562"/>
          </a:xfrm>
          <a:ln/>
        </p:spPr>
        <p:txBody>
          <a:bodyPr vert="horz" wrap="square" lIns="91440" tIns="45720" rIns="91440" bIns="45720" anchor="b" anchorCtr="0"/>
          <a:p>
            <a:pPr eaLnBrk="1" hangingPunct="1"/>
            <a:r>
              <a:rPr lang="zh-CN" altLang="en-US" dirty="0"/>
              <a:t>串行化调度</a:t>
            </a:r>
            <a:r>
              <a:rPr lang="en-US" altLang="zh-CN" dirty="0"/>
              <a:t>,</a:t>
            </a:r>
            <a:r>
              <a:rPr lang="zh-CN" altLang="en-US" dirty="0"/>
              <a:t>正确的调度</a:t>
            </a:r>
            <a:endParaRPr lang="zh-CN" altLang="en-US" dirty="0"/>
          </a:p>
        </p:txBody>
      </p:sp>
      <p:graphicFrame>
        <p:nvGraphicFramePr>
          <p:cNvPr id="502308" name="Group 548"/>
          <p:cNvGraphicFramePr>
            <a:graphicFrameLocks noGrp="1"/>
          </p:cNvGraphicFramePr>
          <p:nvPr>
            <p:ph idx="1"/>
          </p:nvPr>
        </p:nvGraphicFramePr>
        <p:xfrm>
          <a:off x="1403350" y="1143000"/>
          <a:ext cx="4013200" cy="5257800"/>
        </p:xfrm>
        <a:graphic>
          <a:graphicData uri="http://schemas.openxmlformats.org/drawingml/2006/table">
            <a:tbl>
              <a:tblPr/>
              <a:tblGrid>
                <a:gridCol w="1976438"/>
                <a:gridCol w="2036762"/>
              </a:tblGrid>
              <a:tr h="15557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7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7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7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B</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Y=R(B)=2</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B</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A</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A=Y+1=3</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A</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X=R(A)=3</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B</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B=X+1=4</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W(B)</a:t>
                      </a:r>
                      <a:endParaRPr kumimoji="1" lang="en-US" altLang="zh-CN" sz="17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7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B</a:t>
                      </a:r>
                      <a:endParaRPr kumimoji="1" lang="en-US" altLang="zh-CN" sz="17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bl>
          </a:graphicData>
        </a:graphic>
      </p:graphicFrame>
      <p:sp>
        <p:nvSpPr>
          <p:cNvPr id="67636" name="Text Box 549"/>
          <p:cNvSpPr txBox="1"/>
          <p:nvPr/>
        </p:nvSpPr>
        <p:spPr>
          <a:xfrm>
            <a:off x="1857375" y="6286500"/>
            <a:ext cx="1352550" cy="366713"/>
          </a:xfrm>
          <a:prstGeom prst="rect">
            <a:avLst/>
          </a:prstGeom>
          <a:noFill/>
          <a:ln w="25400">
            <a:noFill/>
          </a:ln>
        </p:spPr>
        <p:txBody>
          <a:bodyPr wrap="none" anchor="t" anchorCtr="0">
            <a:spAutoFit/>
          </a:bodyPr>
          <a:p>
            <a:pPr marL="342900" indent="-342900"/>
            <a:r>
              <a:rPr lang="zh-CN" altLang="en-US" dirty="0">
                <a:latin typeface="Verdana" panose="020B0604030504040204" pitchFamily="34" charset="0"/>
                <a:ea typeface="宋体" panose="02010600030101010101" pitchFamily="2" charset="-122"/>
              </a:rPr>
              <a:t>串行调度</a:t>
            </a:r>
            <a:r>
              <a:rPr lang="en-US" altLang="zh-CN" dirty="0">
                <a:latin typeface="Verdana" panose="020B0604030504040204" pitchFamily="34" charset="0"/>
                <a:ea typeface="宋体" panose="02010600030101010101" pitchFamily="2" charset="-122"/>
              </a:rPr>
              <a:t>(a)</a:t>
            </a:r>
            <a:endParaRPr lang="en-US" altLang="zh-CN" dirty="0">
              <a:latin typeface="Verdana" panose="020B0604030504040204" pitchFamily="34" charset="0"/>
              <a:ea typeface="宋体" panose="02010600030101010101" pitchFamily="2" charset="-122"/>
            </a:endParaRPr>
          </a:p>
        </p:txBody>
      </p:sp>
      <p:sp>
        <p:nvSpPr>
          <p:cNvPr id="67637" name="Text Box 550"/>
          <p:cNvSpPr txBox="1"/>
          <p:nvPr/>
        </p:nvSpPr>
        <p:spPr>
          <a:xfrm>
            <a:off x="5300663" y="2276475"/>
            <a:ext cx="3303587" cy="1993900"/>
          </a:xfrm>
          <a:prstGeom prst="rect">
            <a:avLst/>
          </a:prstGeom>
          <a:noFill/>
          <a:ln w="25400">
            <a:noFill/>
          </a:ln>
        </p:spPr>
        <p:txBody>
          <a:bodyPr anchor="t" anchorCtr="0">
            <a:spAutoFit/>
          </a:bodyPr>
          <a:p>
            <a:pPr marL="342900" indent="-342900">
              <a:lnSpc>
                <a:spcPct val="160000"/>
              </a:lnSpc>
              <a:buClr>
                <a:schemeClr val="accent1"/>
              </a:buClr>
              <a:buFont typeface="Wingdings" panose="05000000000000000000" pitchFamily="2" charset="2"/>
              <a:buChar char="n"/>
            </a:pPr>
            <a:r>
              <a:rPr lang="zh-CN" altLang="en-US" sz="2000" dirty="0">
                <a:latin typeface="Verdana" panose="020B0604030504040204" pitchFamily="34" charset="0"/>
                <a:ea typeface="宋体" panose="02010600030101010101" pitchFamily="2" charset="-122"/>
              </a:rPr>
              <a:t>假设</a:t>
            </a:r>
            <a:r>
              <a:rPr lang="en-US" altLang="zh-CN" sz="2000" dirty="0">
                <a:latin typeface="Verdana" panose="020B0604030504040204" pitchFamily="34" charset="0"/>
                <a:ea typeface="宋体" panose="02010600030101010101" pitchFamily="2" charset="-122"/>
              </a:rPr>
              <a:t>A</a:t>
            </a:r>
            <a:r>
              <a:rPr lang="zh-CN" altLang="en-US" sz="2000" dirty="0">
                <a:latin typeface="Verdana" panose="020B0604030504040204" pitchFamily="34" charset="0"/>
                <a:ea typeface="宋体" panose="02010600030101010101" pitchFamily="2" charset="-122"/>
              </a:rPr>
              <a:t>、</a:t>
            </a:r>
            <a:r>
              <a:rPr lang="en-US" altLang="zh-CN" sz="2000" dirty="0">
                <a:latin typeface="Verdana" panose="020B0604030504040204" pitchFamily="34" charset="0"/>
                <a:ea typeface="宋体" panose="02010600030101010101" pitchFamily="2" charset="-122"/>
              </a:rPr>
              <a:t>B</a:t>
            </a:r>
            <a:r>
              <a:rPr lang="zh-CN" altLang="en-US" sz="2000" dirty="0">
                <a:latin typeface="Verdana" panose="020B0604030504040204" pitchFamily="34" charset="0"/>
                <a:ea typeface="宋体" panose="02010600030101010101" pitchFamily="2" charset="-122"/>
              </a:rPr>
              <a:t>的初值均为</a:t>
            </a:r>
            <a:r>
              <a:rPr lang="en-US" altLang="zh-CN" sz="2000" dirty="0">
                <a:latin typeface="Verdana" panose="020B0604030504040204" pitchFamily="34" charset="0"/>
                <a:ea typeface="宋体" panose="02010600030101010101" pitchFamily="2" charset="-122"/>
              </a:rPr>
              <a:t>2</a:t>
            </a:r>
            <a:r>
              <a:rPr lang="zh-CN" altLang="en-US" sz="2000" dirty="0">
                <a:latin typeface="Verdana" panose="020B0604030504040204" pitchFamily="34" charset="0"/>
                <a:ea typeface="宋体" panose="02010600030101010101" pitchFamily="2" charset="-122"/>
              </a:rPr>
              <a:t>。</a:t>
            </a:r>
            <a:endParaRPr lang="zh-CN" altLang="en-US" sz="2000" dirty="0">
              <a:latin typeface="Verdana" panose="020B0604030504040204" pitchFamily="34" charset="0"/>
              <a:ea typeface="宋体" panose="02010600030101010101" pitchFamily="2" charset="-122"/>
            </a:endParaRPr>
          </a:p>
          <a:p>
            <a:pPr marL="342900" indent="-342900">
              <a:lnSpc>
                <a:spcPct val="160000"/>
              </a:lnSpc>
              <a:buClr>
                <a:schemeClr val="accent1"/>
              </a:buClr>
              <a:buFont typeface="Wingdings" panose="05000000000000000000" pitchFamily="2" charset="2"/>
              <a:buChar char="n"/>
            </a:pPr>
            <a:r>
              <a:rPr lang="zh-CN" altLang="en-US" sz="2000" dirty="0">
                <a:latin typeface="Verdana" panose="020B0604030504040204" pitchFamily="34" charset="0"/>
                <a:ea typeface="宋体" panose="02010600030101010101" pitchFamily="2" charset="-122"/>
              </a:rPr>
              <a:t>按</a:t>
            </a:r>
            <a:r>
              <a:rPr lang="en-US" altLang="zh-CN" sz="2000" dirty="0">
                <a:latin typeface="Verdana" panose="020B0604030504040204" pitchFamily="34" charset="0"/>
                <a:ea typeface="宋体" panose="02010600030101010101" pitchFamily="2" charset="-122"/>
              </a:rPr>
              <a:t>T1→T2</a:t>
            </a:r>
            <a:r>
              <a:rPr lang="zh-CN" altLang="en-US" sz="2000" dirty="0">
                <a:latin typeface="Verdana" panose="020B0604030504040204" pitchFamily="34" charset="0"/>
                <a:ea typeface="宋体" panose="02010600030101010101" pitchFamily="2" charset="-122"/>
              </a:rPr>
              <a:t>次序执行结果为</a:t>
            </a:r>
            <a:r>
              <a:rPr lang="en-US" altLang="zh-CN" sz="2000" dirty="0">
                <a:latin typeface="Verdana" panose="020B0604030504040204" pitchFamily="34" charset="0"/>
                <a:ea typeface="宋体" panose="02010600030101010101" pitchFamily="2" charset="-122"/>
              </a:rPr>
              <a:t>A=3</a:t>
            </a:r>
            <a:r>
              <a:rPr lang="zh-CN" altLang="en-US" sz="2000" dirty="0">
                <a:latin typeface="Verdana" panose="020B0604030504040204" pitchFamily="34" charset="0"/>
                <a:ea typeface="宋体" panose="02010600030101010101" pitchFamily="2" charset="-122"/>
              </a:rPr>
              <a:t>，</a:t>
            </a:r>
            <a:r>
              <a:rPr lang="en-US" altLang="zh-CN" sz="2000" dirty="0">
                <a:latin typeface="Verdana" panose="020B0604030504040204" pitchFamily="34" charset="0"/>
                <a:ea typeface="宋体" panose="02010600030101010101" pitchFamily="2" charset="-122"/>
              </a:rPr>
              <a:t>B=4 </a:t>
            </a:r>
            <a:endParaRPr lang="en-US" altLang="zh-CN" sz="2000" dirty="0">
              <a:latin typeface="Verdana" panose="020B0604030504040204" pitchFamily="34" charset="0"/>
              <a:ea typeface="宋体" panose="02010600030101010101" pitchFamily="2" charset="-122"/>
            </a:endParaRPr>
          </a:p>
          <a:p>
            <a:pPr marL="342900" indent="-342900">
              <a:lnSpc>
                <a:spcPct val="160000"/>
              </a:lnSpc>
              <a:buClr>
                <a:schemeClr val="accent1"/>
              </a:buClr>
              <a:buFont typeface="Wingdings" panose="05000000000000000000" pitchFamily="2" charset="2"/>
              <a:buChar char="n"/>
            </a:pPr>
            <a:r>
              <a:rPr lang="zh-CN" altLang="en-US" dirty="0">
                <a:latin typeface="Verdana" panose="020B0604030504040204" pitchFamily="34" charset="0"/>
                <a:ea typeface="宋体" panose="02010600030101010101" pitchFamily="2" charset="-122"/>
              </a:rPr>
              <a:t>串行调度策略</a:t>
            </a:r>
            <a:r>
              <a:rPr lang="en-US" altLang="zh-CN" dirty="0">
                <a:latin typeface="Verdana" panose="020B0604030504040204" pitchFamily="34" charset="0"/>
                <a:ea typeface="宋体" panose="02010600030101010101" pitchFamily="2" charset="-122"/>
              </a:rPr>
              <a:t>,</a:t>
            </a:r>
            <a:r>
              <a:rPr lang="zh-CN" altLang="en-US" dirty="0">
                <a:latin typeface="Verdana" panose="020B0604030504040204" pitchFamily="34" charset="0"/>
                <a:ea typeface="宋体" panose="02010600030101010101" pitchFamily="2" charset="-122"/>
              </a:rPr>
              <a:t>正确的调度 </a:t>
            </a:r>
            <a:endParaRPr lang="zh-CN" altLang="en-US"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2"/>
          <p:cNvSpPr>
            <a:spLocks noGrp="1"/>
          </p:cNvSpPr>
          <p:nvPr>
            <p:ph type="title"/>
          </p:nvPr>
        </p:nvSpPr>
        <p:spPr>
          <a:xfrm>
            <a:off x="571500" y="357188"/>
            <a:ext cx="7391400" cy="563562"/>
          </a:xfrm>
          <a:ln/>
        </p:spPr>
        <p:txBody>
          <a:bodyPr vert="horz" wrap="square" lIns="91440" tIns="45720" rIns="91440" bIns="45720" anchor="b" anchorCtr="0"/>
          <a:p>
            <a:pPr eaLnBrk="1" hangingPunct="1"/>
            <a:r>
              <a:rPr lang="zh-CN" altLang="en-US" dirty="0"/>
              <a:t>串行化调度</a:t>
            </a:r>
            <a:r>
              <a:rPr lang="en-US" altLang="zh-CN" dirty="0"/>
              <a:t>,</a:t>
            </a:r>
            <a:r>
              <a:rPr lang="zh-CN" altLang="en-US" dirty="0"/>
              <a:t>正确的调度</a:t>
            </a:r>
            <a:endParaRPr lang="zh-CN" altLang="en-US" dirty="0"/>
          </a:p>
        </p:txBody>
      </p:sp>
      <p:graphicFrame>
        <p:nvGraphicFramePr>
          <p:cNvPr id="504080" name="Group 272"/>
          <p:cNvGraphicFramePr>
            <a:graphicFrameLocks noGrp="1"/>
          </p:cNvGraphicFramePr>
          <p:nvPr>
            <p:ph idx="1"/>
          </p:nvPr>
        </p:nvGraphicFramePr>
        <p:xfrm>
          <a:off x="642938" y="1285875"/>
          <a:ext cx="3816350" cy="5029200"/>
        </p:xfrm>
        <a:graphic>
          <a:graphicData uri="http://schemas.openxmlformats.org/drawingml/2006/table">
            <a:tbl>
              <a:tblPr/>
              <a:tblGrid>
                <a:gridCol w="1906587"/>
                <a:gridCol w="1909763"/>
              </a:tblGrid>
              <a:tr h="13970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6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A</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X=R(A)=2</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B</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B=X+1=3</a:t>
                      </a:r>
                      <a:endPar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W(B)</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Unlock B</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B</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Y=R(B)=3</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B</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A</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A=Y+1=4</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bl>
          </a:graphicData>
        </a:graphic>
      </p:graphicFrame>
      <p:sp>
        <p:nvSpPr>
          <p:cNvPr id="68660" name="Text Box 273"/>
          <p:cNvSpPr txBox="1"/>
          <p:nvPr/>
        </p:nvSpPr>
        <p:spPr>
          <a:xfrm>
            <a:off x="1785938" y="6357938"/>
            <a:ext cx="1365250" cy="366712"/>
          </a:xfrm>
          <a:prstGeom prst="rect">
            <a:avLst/>
          </a:prstGeom>
          <a:noFill/>
          <a:ln w="25400">
            <a:noFill/>
          </a:ln>
        </p:spPr>
        <p:txBody>
          <a:bodyPr wrap="none" anchor="t" anchorCtr="0">
            <a:spAutoFit/>
          </a:bodyPr>
          <a:p>
            <a:pPr marL="342900" indent="-342900"/>
            <a:r>
              <a:rPr lang="zh-CN" altLang="en-US" dirty="0">
                <a:latin typeface="Verdana" panose="020B0604030504040204" pitchFamily="34" charset="0"/>
                <a:ea typeface="宋体" panose="02010600030101010101" pitchFamily="2" charset="-122"/>
              </a:rPr>
              <a:t>串行调度</a:t>
            </a:r>
            <a:r>
              <a:rPr lang="en-US" altLang="zh-CN" dirty="0">
                <a:latin typeface="Verdana" panose="020B0604030504040204" pitchFamily="34" charset="0"/>
                <a:ea typeface="宋体" panose="02010600030101010101" pitchFamily="2" charset="-122"/>
              </a:rPr>
              <a:t>(b)</a:t>
            </a:r>
            <a:endParaRPr lang="en-US" altLang="zh-CN" dirty="0">
              <a:latin typeface="Verdana" panose="020B0604030504040204" pitchFamily="34" charset="0"/>
              <a:ea typeface="宋体" panose="02010600030101010101" pitchFamily="2" charset="-122"/>
            </a:endParaRPr>
          </a:p>
        </p:txBody>
      </p:sp>
      <p:sp>
        <p:nvSpPr>
          <p:cNvPr id="68661" name="Text Box 274"/>
          <p:cNvSpPr txBox="1"/>
          <p:nvPr/>
        </p:nvSpPr>
        <p:spPr>
          <a:xfrm>
            <a:off x="5300663" y="2276475"/>
            <a:ext cx="3303587" cy="1898650"/>
          </a:xfrm>
          <a:prstGeom prst="rect">
            <a:avLst/>
          </a:prstGeom>
          <a:noFill/>
          <a:ln w="25400">
            <a:noFill/>
          </a:ln>
        </p:spPr>
        <p:txBody>
          <a:bodyPr anchor="t" anchorCtr="0">
            <a:spAutoFit/>
          </a:bodyPr>
          <a:p>
            <a:pPr marL="342900" indent="-342900">
              <a:lnSpc>
                <a:spcPct val="160000"/>
              </a:lnSpc>
              <a:buClr>
                <a:schemeClr val="accent1"/>
              </a:buClr>
              <a:buFont typeface="Wingdings" panose="05000000000000000000" pitchFamily="2" charset="2"/>
              <a:buChar char="n"/>
            </a:pPr>
            <a:r>
              <a:rPr lang="zh-CN" altLang="en-US" sz="2000" dirty="0">
                <a:latin typeface="Verdana" panose="020B0604030504040204" pitchFamily="34" charset="0"/>
                <a:ea typeface="宋体" panose="02010600030101010101" pitchFamily="2" charset="-122"/>
              </a:rPr>
              <a:t>假设</a:t>
            </a:r>
            <a:r>
              <a:rPr lang="en-US" altLang="zh-CN" sz="2000" dirty="0">
                <a:latin typeface="Verdana" panose="020B0604030504040204" pitchFamily="34" charset="0"/>
                <a:ea typeface="宋体" panose="02010600030101010101" pitchFamily="2" charset="-122"/>
              </a:rPr>
              <a:t>A</a:t>
            </a:r>
            <a:r>
              <a:rPr lang="zh-CN" altLang="en-US" sz="2000" dirty="0">
                <a:latin typeface="Verdana" panose="020B0604030504040204" pitchFamily="34" charset="0"/>
                <a:ea typeface="宋体" panose="02010600030101010101" pitchFamily="2" charset="-122"/>
              </a:rPr>
              <a:t>、</a:t>
            </a:r>
            <a:r>
              <a:rPr lang="en-US" altLang="zh-CN" sz="2000" dirty="0">
                <a:latin typeface="Verdana" panose="020B0604030504040204" pitchFamily="34" charset="0"/>
                <a:ea typeface="宋体" panose="02010600030101010101" pitchFamily="2" charset="-122"/>
              </a:rPr>
              <a:t>B</a:t>
            </a:r>
            <a:r>
              <a:rPr lang="zh-CN" altLang="en-US" sz="2000" dirty="0">
                <a:latin typeface="Verdana" panose="020B0604030504040204" pitchFamily="34" charset="0"/>
                <a:ea typeface="宋体" panose="02010600030101010101" pitchFamily="2" charset="-122"/>
              </a:rPr>
              <a:t>的初值均为</a:t>
            </a:r>
            <a:r>
              <a:rPr lang="en-US" altLang="zh-CN" sz="2000" dirty="0">
                <a:latin typeface="Verdana" panose="020B0604030504040204" pitchFamily="34" charset="0"/>
                <a:ea typeface="宋体" panose="02010600030101010101" pitchFamily="2" charset="-122"/>
              </a:rPr>
              <a:t>2</a:t>
            </a:r>
            <a:r>
              <a:rPr lang="zh-CN" altLang="en-US" sz="2000" dirty="0">
                <a:latin typeface="Verdana" panose="020B0604030504040204" pitchFamily="34" charset="0"/>
                <a:ea typeface="宋体" panose="02010600030101010101" pitchFamily="2" charset="-122"/>
              </a:rPr>
              <a:t>。</a:t>
            </a:r>
            <a:endParaRPr lang="zh-CN" altLang="en-US" sz="2000" dirty="0">
              <a:latin typeface="Verdana" panose="020B0604030504040204" pitchFamily="34" charset="0"/>
              <a:ea typeface="宋体" panose="02010600030101010101" pitchFamily="2" charset="-122"/>
            </a:endParaRPr>
          </a:p>
          <a:p>
            <a:pPr marL="342900" indent="-342900">
              <a:lnSpc>
                <a:spcPct val="160000"/>
              </a:lnSpc>
              <a:buClr>
                <a:schemeClr val="accent1"/>
              </a:buClr>
              <a:buFont typeface="Wingdings" panose="05000000000000000000" pitchFamily="2" charset="2"/>
              <a:buChar char="n"/>
            </a:pPr>
            <a:r>
              <a:rPr lang="en-US" altLang="zh-CN" dirty="0">
                <a:latin typeface="Verdana" panose="020B0604030504040204" pitchFamily="34" charset="0"/>
                <a:ea typeface="宋体" panose="02010600030101010101" pitchFamily="2" charset="-122"/>
              </a:rPr>
              <a:t>T2→T1</a:t>
            </a:r>
            <a:r>
              <a:rPr lang="zh-CN" altLang="en-US" dirty="0">
                <a:latin typeface="Verdana" panose="020B0604030504040204" pitchFamily="34" charset="0"/>
                <a:ea typeface="宋体" panose="02010600030101010101" pitchFamily="2" charset="-122"/>
              </a:rPr>
              <a:t>次序执行结果为</a:t>
            </a:r>
            <a:r>
              <a:rPr lang="en-US" altLang="zh-CN" dirty="0">
                <a:latin typeface="Verdana" panose="020B0604030504040204" pitchFamily="34" charset="0"/>
                <a:ea typeface="宋体" panose="02010600030101010101" pitchFamily="2" charset="-122"/>
              </a:rPr>
              <a:t>B=3</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A=4 </a:t>
            </a:r>
            <a:endParaRPr lang="en-US" altLang="zh-CN" sz="2000" dirty="0">
              <a:latin typeface="Verdana" panose="020B0604030504040204" pitchFamily="34" charset="0"/>
              <a:ea typeface="宋体" panose="02010600030101010101" pitchFamily="2" charset="-122"/>
            </a:endParaRPr>
          </a:p>
          <a:p>
            <a:pPr marL="342900" indent="-342900">
              <a:lnSpc>
                <a:spcPct val="160000"/>
              </a:lnSpc>
              <a:buClr>
                <a:schemeClr val="accent1"/>
              </a:buClr>
              <a:buFont typeface="Wingdings" panose="05000000000000000000" pitchFamily="2" charset="2"/>
              <a:buChar char="n"/>
            </a:pPr>
            <a:r>
              <a:rPr lang="zh-CN" altLang="en-US" dirty="0">
                <a:latin typeface="Verdana" panose="020B0604030504040204" pitchFamily="34" charset="0"/>
                <a:ea typeface="宋体" panose="02010600030101010101" pitchFamily="2" charset="-122"/>
              </a:rPr>
              <a:t>串行调度策略</a:t>
            </a:r>
            <a:r>
              <a:rPr lang="en-US" altLang="zh-CN" dirty="0">
                <a:latin typeface="Verdana" panose="020B0604030504040204" pitchFamily="34" charset="0"/>
                <a:ea typeface="宋体" panose="02010600030101010101" pitchFamily="2" charset="-122"/>
              </a:rPr>
              <a:t>,</a:t>
            </a:r>
            <a:r>
              <a:rPr lang="zh-CN" altLang="en-US" dirty="0">
                <a:latin typeface="Verdana" panose="020B0604030504040204" pitchFamily="34" charset="0"/>
                <a:ea typeface="宋体" panose="02010600030101010101" pitchFamily="2" charset="-122"/>
              </a:rPr>
              <a:t>正确的调度 </a:t>
            </a:r>
            <a:endParaRPr lang="zh-CN" altLang="en-US"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Rectangle 2"/>
          <p:cNvSpPr>
            <a:spLocks noGrp="1"/>
          </p:cNvSpPr>
          <p:nvPr>
            <p:ph type="title"/>
          </p:nvPr>
        </p:nvSpPr>
        <p:spPr>
          <a:xfrm>
            <a:off x="500063" y="428625"/>
            <a:ext cx="7391400" cy="563563"/>
          </a:xfrm>
          <a:ln/>
        </p:spPr>
        <p:txBody>
          <a:bodyPr vert="horz" wrap="square" lIns="91440" tIns="45720" rIns="91440" bIns="45720" anchor="b" anchorCtr="0"/>
          <a:p>
            <a:pPr eaLnBrk="1" hangingPunct="1"/>
            <a:r>
              <a:rPr lang="zh-CN" altLang="en-US" dirty="0"/>
              <a:t>不可串行化调度，错误的调度</a:t>
            </a:r>
            <a:endParaRPr lang="zh-CN" altLang="en-US" dirty="0"/>
          </a:p>
        </p:txBody>
      </p:sp>
      <p:graphicFrame>
        <p:nvGraphicFramePr>
          <p:cNvPr id="506125" name="Group 269"/>
          <p:cNvGraphicFramePr>
            <a:graphicFrameLocks noGrp="1"/>
          </p:cNvGraphicFramePr>
          <p:nvPr>
            <p:ph idx="1"/>
          </p:nvPr>
        </p:nvGraphicFramePr>
        <p:xfrm>
          <a:off x="468313" y="1143000"/>
          <a:ext cx="5111750" cy="5029200"/>
        </p:xfrm>
        <a:graphic>
          <a:graphicData uri="http://schemas.openxmlformats.org/drawingml/2006/table">
            <a:tbl>
              <a:tblPr/>
              <a:tblGrid>
                <a:gridCol w="2552700"/>
                <a:gridCol w="2559050"/>
              </a:tblGrid>
              <a:tr h="15557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6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B</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Y=R(B)=2</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A</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X=R(A)=2</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B</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A</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A=Y+1=3</a:t>
                      </a:r>
                      <a:endPar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B</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B=X+1=3</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W(B)</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Unlock B</a:t>
                      </a:r>
                      <a:endPar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bl>
          </a:graphicData>
        </a:graphic>
      </p:graphicFrame>
      <p:sp>
        <p:nvSpPr>
          <p:cNvPr id="69684" name="Text Box 236"/>
          <p:cNvSpPr txBox="1"/>
          <p:nvPr/>
        </p:nvSpPr>
        <p:spPr>
          <a:xfrm>
            <a:off x="1428750" y="6357938"/>
            <a:ext cx="2070100" cy="366712"/>
          </a:xfrm>
          <a:prstGeom prst="rect">
            <a:avLst/>
          </a:prstGeom>
          <a:noFill/>
          <a:ln w="25400">
            <a:noFill/>
          </a:ln>
        </p:spPr>
        <p:txBody>
          <a:bodyPr wrap="none" anchor="t" anchorCtr="0">
            <a:spAutoFit/>
          </a:bodyPr>
          <a:p>
            <a:pPr marL="342900" indent="-342900"/>
            <a:r>
              <a:rPr lang="zh-CN" altLang="en-US" dirty="0">
                <a:latin typeface="Verdana" panose="020B0604030504040204" pitchFamily="34" charset="0"/>
                <a:ea typeface="宋体" panose="02010600030101010101" pitchFamily="2" charset="-122"/>
              </a:rPr>
              <a:t>不可串行化的调度 </a:t>
            </a:r>
            <a:endParaRPr lang="zh-CN" altLang="en-US" dirty="0">
              <a:latin typeface="Verdana" panose="020B0604030504040204" pitchFamily="34" charset="0"/>
              <a:ea typeface="宋体" panose="02010600030101010101" pitchFamily="2" charset="-122"/>
            </a:endParaRPr>
          </a:p>
        </p:txBody>
      </p:sp>
      <p:sp>
        <p:nvSpPr>
          <p:cNvPr id="69685" name="Text Box 237"/>
          <p:cNvSpPr txBox="1"/>
          <p:nvPr/>
        </p:nvSpPr>
        <p:spPr>
          <a:xfrm>
            <a:off x="5508625" y="2276475"/>
            <a:ext cx="3203575" cy="2185988"/>
          </a:xfrm>
          <a:prstGeom prst="rect">
            <a:avLst/>
          </a:prstGeom>
          <a:noFill/>
          <a:ln w="25400">
            <a:noFill/>
          </a:ln>
        </p:spPr>
        <p:txBody>
          <a:bodyPr anchor="t" anchorCtr="0">
            <a:spAutoFit/>
          </a:bodyPr>
          <a:p>
            <a:pPr marL="342900" indent="-342900">
              <a:lnSpc>
                <a:spcPct val="170000"/>
              </a:lnSpc>
              <a:buClr>
                <a:schemeClr val="accent1"/>
              </a:buClr>
              <a:buFont typeface="Wingdings" panose="05000000000000000000" pitchFamily="2" charset="2"/>
              <a:buChar char="n"/>
            </a:pPr>
            <a:r>
              <a:rPr lang="zh-CN" altLang="en-US" sz="2000" dirty="0">
                <a:latin typeface="Verdana" panose="020B0604030504040204" pitchFamily="34" charset="0"/>
                <a:ea typeface="宋体" panose="02010600030101010101" pitchFamily="2" charset="-122"/>
              </a:rPr>
              <a:t>执行结果与</a:t>
            </a:r>
            <a:r>
              <a:rPr lang="en-US" altLang="zh-CN" sz="2000" dirty="0">
                <a:latin typeface="Verdana" panose="020B0604030504040204" pitchFamily="34" charset="0"/>
                <a:ea typeface="宋体" panose="02010600030101010101" pitchFamily="2" charset="-122"/>
              </a:rPr>
              <a:t>(a)</a:t>
            </a:r>
            <a:r>
              <a:rPr lang="zh-CN" altLang="en-US" sz="2000" dirty="0">
                <a:latin typeface="Verdana" panose="020B0604030504040204" pitchFamily="34" charset="0"/>
                <a:ea typeface="宋体" panose="02010600030101010101" pitchFamily="2" charset="-122"/>
              </a:rPr>
              <a:t>、</a:t>
            </a:r>
            <a:r>
              <a:rPr lang="en-US" altLang="zh-CN" sz="2000" dirty="0">
                <a:latin typeface="Verdana" panose="020B0604030504040204" pitchFamily="34" charset="0"/>
                <a:ea typeface="宋体" panose="02010600030101010101" pitchFamily="2" charset="-122"/>
              </a:rPr>
              <a:t>(b)</a:t>
            </a:r>
            <a:r>
              <a:rPr lang="zh-CN" altLang="en-US" sz="2000" dirty="0">
                <a:latin typeface="Verdana" panose="020B0604030504040204" pitchFamily="34" charset="0"/>
                <a:ea typeface="宋体" panose="02010600030101010101" pitchFamily="2" charset="-122"/>
              </a:rPr>
              <a:t>的结果都不同</a:t>
            </a:r>
            <a:endParaRPr lang="en-US" altLang="zh-CN" sz="2000" dirty="0">
              <a:latin typeface="Verdana" panose="020B0604030504040204" pitchFamily="34" charset="0"/>
              <a:ea typeface="宋体" panose="02010600030101010101" pitchFamily="2" charset="-122"/>
            </a:endParaRPr>
          </a:p>
          <a:p>
            <a:pPr marL="342900" indent="-342900">
              <a:lnSpc>
                <a:spcPct val="170000"/>
              </a:lnSpc>
              <a:buClr>
                <a:schemeClr val="accent1"/>
              </a:buClr>
              <a:buFont typeface="Wingdings" panose="05000000000000000000" pitchFamily="2" charset="2"/>
              <a:buChar char="n"/>
            </a:pPr>
            <a:r>
              <a:rPr lang="en-US" altLang="zh-CN" sz="2000" dirty="0">
                <a:latin typeface="Verdana" panose="020B0604030504040204" pitchFamily="34" charset="0"/>
                <a:ea typeface="宋体" panose="02010600030101010101" pitchFamily="2" charset="-122"/>
              </a:rPr>
              <a:t>A=3</a:t>
            </a:r>
            <a:r>
              <a:rPr lang="zh-CN" altLang="en-US" sz="2000" dirty="0">
                <a:latin typeface="Verdana" panose="020B0604030504040204" pitchFamily="34" charset="0"/>
                <a:ea typeface="宋体" panose="02010600030101010101" pitchFamily="2" charset="-122"/>
              </a:rPr>
              <a:t>，</a:t>
            </a:r>
            <a:r>
              <a:rPr lang="en-US" altLang="zh-CN" sz="2000" dirty="0">
                <a:latin typeface="Verdana" panose="020B0604030504040204" pitchFamily="34" charset="0"/>
                <a:ea typeface="宋体" panose="02010600030101010101" pitchFamily="2" charset="-122"/>
              </a:rPr>
              <a:t>B=3</a:t>
            </a:r>
            <a:endParaRPr lang="zh-CN" altLang="en-US" sz="2000" dirty="0">
              <a:latin typeface="Verdana" panose="020B0604030504040204" pitchFamily="34" charset="0"/>
              <a:ea typeface="宋体" panose="02010600030101010101" pitchFamily="2" charset="-122"/>
            </a:endParaRPr>
          </a:p>
          <a:p>
            <a:pPr marL="342900" indent="-342900">
              <a:lnSpc>
                <a:spcPct val="170000"/>
              </a:lnSpc>
              <a:buClr>
                <a:schemeClr val="accent1"/>
              </a:buClr>
              <a:buFont typeface="Wingdings" panose="05000000000000000000" pitchFamily="2" charset="2"/>
              <a:buChar char="n"/>
            </a:pPr>
            <a:r>
              <a:rPr lang="zh-CN" altLang="en-US" sz="2000" dirty="0">
                <a:latin typeface="Verdana" panose="020B0604030504040204" pitchFamily="34" charset="0"/>
                <a:ea typeface="宋体" panose="02010600030101010101" pitchFamily="2" charset="-122"/>
              </a:rPr>
              <a:t>是错误的调度 </a:t>
            </a:r>
            <a:endParaRPr lang="zh-CN" altLang="en-US" sz="2000"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Rectangle 2"/>
          <p:cNvSpPr>
            <a:spLocks noGrp="1"/>
          </p:cNvSpPr>
          <p:nvPr>
            <p:ph type="title"/>
          </p:nvPr>
        </p:nvSpPr>
        <p:spPr>
          <a:xfrm>
            <a:off x="714375" y="428625"/>
            <a:ext cx="7391400" cy="563563"/>
          </a:xfrm>
          <a:ln/>
        </p:spPr>
        <p:txBody>
          <a:bodyPr vert="horz" wrap="square" lIns="91440" tIns="45720" rIns="91440" bIns="45720" anchor="b" anchorCtr="0"/>
          <a:p>
            <a:pPr eaLnBrk="1" hangingPunct="1"/>
            <a:r>
              <a:rPr lang="zh-CN" altLang="en-US" dirty="0"/>
              <a:t>可串行化调度，正确的调度</a:t>
            </a:r>
            <a:endParaRPr lang="zh-CN" altLang="en-US" dirty="0"/>
          </a:p>
        </p:txBody>
      </p:sp>
      <p:graphicFrame>
        <p:nvGraphicFramePr>
          <p:cNvPr id="508203" name="Group 299"/>
          <p:cNvGraphicFramePr>
            <a:graphicFrameLocks noGrp="1"/>
          </p:cNvGraphicFramePr>
          <p:nvPr>
            <p:ph idx="1"/>
          </p:nvPr>
        </p:nvGraphicFramePr>
        <p:xfrm>
          <a:off x="428625" y="1214438"/>
          <a:ext cx="5410200" cy="5029200"/>
        </p:xfrm>
        <a:graphic>
          <a:graphicData uri="http://schemas.openxmlformats.org/drawingml/2006/table">
            <a:tbl>
              <a:tblPr/>
              <a:tblGrid>
                <a:gridCol w="2717800"/>
                <a:gridCol w="2692400"/>
              </a:tblGrid>
              <a:tr h="17303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6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6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B</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Y=R(B)=2</a:t>
                      </a:r>
                      <a:endPar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B</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A</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 A</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173038">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A=Y+1=3</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173038">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17462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X=R(A)=3</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A</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B</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B=X+1=4</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W(B)</a:t>
                      </a:r>
                      <a:endParaRPr kumimoji="1"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r h="228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Unlock B</a:t>
                      </a:r>
                      <a:endParaRPr kumimoji="1" lang="en-US" altLang="zh-CN"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r>
            </a:tbl>
          </a:graphicData>
        </a:graphic>
      </p:graphicFrame>
      <p:sp>
        <p:nvSpPr>
          <p:cNvPr id="70708" name="Text Box 238"/>
          <p:cNvSpPr txBox="1"/>
          <p:nvPr/>
        </p:nvSpPr>
        <p:spPr>
          <a:xfrm>
            <a:off x="1697038" y="6491288"/>
            <a:ext cx="1841500" cy="366712"/>
          </a:xfrm>
          <a:prstGeom prst="rect">
            <a:avLst/>
          </a:prstGeom>
          <a:noFill/>
          <a:ln w="25400">
            <a:noFill/>
          </a:ln>
        </p:spPr>
        <p:txBody>
          <a:bodyPr wrap="none" anchor="t" anchorCtr="0">
            <a:spAutoFit/>
          </a:bodyPr>
          <a:p>
            <a:pPr marL="342900" indent="-342900"/>
            <a:r>
              <a:rPr lang="zh-CN" altLang="en-US" dirty="0">
                <a:latin typeface="Verdana" panose="020B0604030504040204" pitchFamily="34" charset="0"/>
                <a:ea typeface="宋体" panose="02010600030101010101" pitchFamily="2" charset="-122"/>
              </a:rPr>
              <a:t>可串行化的调度 </a:t>
            </a:r>
            <a:endParaRPr lang="zh-CN" altLang="en-US" dirty="0">
              <a:latin typeface="Verdana" panose="020B0604030504040204" pitchFamily="34" charset="0"/>
              <a:ea typeface="宋体" panose="02010600030101010101" pitchFamily="2" charset="-122"/>
            </a:endParaRPr>
          </a:p>
        </p:txBody>
      </p:sp>
      <p:sp>
        <p:nvSpPr>
          <p:cNvPr id="70709" name="Text Box 239"/>
          <p:cNvSpPr txBox="1"/>
          <p:nvPr/>
        </p:nvSpPr>
        <p:spPr>
          <a:xfrm>
            <a:off x="5940425" y="2276475"/>
            <a:ext cx="2952750" cy="1644650"/>
          </a:xfrm>
          <a:prstGeom prst="rect">
            <a:avLst/>
          </a:prstGeom>
          <a:noFill/>
          <a:ln w="25400">
            <a:noFill/>
          </a:ln>
        </p:spPr>
        <p:txBody>
          <a:bodyPr anchor="t" anchorCtr="0">
            <a:spAutoFit/>
          </a:bodyPr>
          <a:p>
            <a:pPr marL="342900" indent="-342900">
              <a:lnSpc>
                <a:spcPct val="170000"/>
              </a:lnSpc>
              <a:buClr>
                <a:schemeClr val="accent1"/>
              </a:buClr>
              <a:buFont typeface="Wingdings" panose="05000000000000000000" pitchFamily="2" charset="2"/>
              <a:buChar char="n"/>
            </a:pPr>
            <a:r>
              <a:rPr lang="zh-CN" altLang="en-US" sz="2000" dirty="0">
                <a:latin typeface="Verdana" panose="020B0604030504040204" pitchFamily="34" charset="0"/>
                <a:ea typeface="宋体" panose="02010600030101010101" pitchFamily="2" charset="-122"/>
              </a:rPr>
              <a:t>执行结果与串行调度</a:t>
            </a:r>
            <a:r>
              <a:rPr lang="en-US" altLang="zh-CN" sz="2000" dirty="0">
                <a:latin typeface="Verdana" panose="020B0604030504040204" pitchFamily="34" charset="0"/>
                <a:ea typeface="宋体" panose="02010600030101010101" pitchFamily="2" charset="-122"/>
              </a:rPr>
              <a:t>(a)</a:t>
            </a:r>
            <a:r>
              <a:rPr lang="zh-CN" altLang="en-US" sz="2000" dirty="0">
                <a:latin typeface="Verdana" panose="020B0604030504040204" pitchFamily="34" charset="0"/>
                <a:ea typeface="宋体" panose="02010600030101010101" pitchFamily="2" charset="-122"/>
              </a:rPr>
              <a:t>的执行结果相同</a:t>
            </a:r>
            <a:endParaRPr lang="zh-CN" altLang="en-US" sz="2000" dirty="0">
              <a:latin typeface="Verdana" panose="020B0604030504040204" pitchFamily="34" charset="0"/>
              <a:ea typeface="宋体" panose="02010600030101010101" pitchFamily="2" charset="-122"/>
            </a:endParaRPr>
          </a:p>
          <a:p>
            <a:pPr marL="342900" indent="-342900">
              <a:lnSpc>
                <a:spcPct val="170000"/>
              </a:lnSpc>
              <a:buClr>
                <a:schemeClr val="accent1"/>
              </a:buClr>
              <a:buFont typeface="Wingdings" panose="05000000000000000000" pitchFamily="2" charset="2"/>
              <a:buChar char="n"/>
            </a:pPr>
            <a:r>
              <a:rPr lang="zh-CN" altLang="en-US" sz="2000" dirty="0">
                <a:latin typeface="Verdana" panose="020B0604030504040204" pitchFamily="34" charset="0"/>
                <a:ea typeface="宋体" panose="02010600030101010101" pitchFamily="2" charset="-122"/>
              </a:rPr>
              <a:t>是正确的调度 </a:t>
            </a:r>
            <a:endParaRPr lang="zh-CN" altLang="en-US" sz="2000"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Rectangle 2"/>
          <p:cNvSpPr>
            <a:spLocks noGrp="1"/>
          </p:cNvSpPr>
          <p:nvPr>
            <p:ph type="title"/>
          </p:nvPr>
        </p:nvSpPr>
        <p:spPr>
          <a:ln/>
        </p:spPr>
        <p:txBody>
          <a:bodyPr vert="horz" wrap="square" lIns="91440" tIns="45720" rIns="91440" bIns="45720" anchor="b" anchorCtr="0"/>
          <a:p>
            <a:pPr eaLnBrk="1" hangingPunct="1"/>
            <a:r>
              <a:rPr lang="en-US" altLang="zh-CN" dirty="0"/>
              <a:t>11.5.2  </a:t>
            </a:r>
            <a:r>
              <a:rPr lang="zh-CN" altLang="en-US" dirty="0"/>
              <a:t>冲突可串行化调度</a:t>
            </a:r>
            <a:endParaRPr lang="zh-CN" altLang="en-US" dirty="0"/>
          </a:p>
        </p:txBody>
      </p:sp>
      <p:sp>
        <p:nvSpPr>
          <p:cNvPr id="71682" name="Rectangle 3"/>
          <p:cNvSpPr>
            <a:spLocks noGrp="1"/>
          </p:cNvSpPr>
          <p:nvPr>
            <p:ph idx="1"/>
          </p:nvPr>
        </p:nvSpPr>
        <p:spPr>
          <a:xfrm>
            <a:off x="566738" y="1143000"/>
            <a:ext cx="8001000" cy="5000625"/>
          </a:xfrm>
          <a:ln/>
        </p:spPr>
        <p:txBody>
          <a:bodyPr vert="horz" wrap="square" lIns="91440" tIns="45720" rIns="91440" bIns="45720" anchor="t" anchorCtr="0"/>
          <a:p>
            <a:pPr eaLnBrk="1" hangingPunct="1"/>
            <a:r>
              <a:rPr lang="zh-CN" altLang="en-US" dirty="0"/>
              <a:t>可串行化调度的</a:t>
            </a:r>
            <a:r>
              <a:rPr lang="zh-CN" altLang="en-US" b="1" dirty="0">
                <a:solidFill>
                  <a:srgbClr val="FF00FF"/>
                </a:solidFill>
              </a:rPr>
              <a:t>充分条件</a:t>
            </a:r>
            <a:endParaRPr lang="zh-CN" altLang="en-US" b="1" dirty="0">
              <a:solidFill>
                <a:srgbClr val="FF00FF"/>
              </a:solidFill>
            </a:endParaRPr>
          </a:p>
          <a:p>
            <a:pPr lvl="1" indent="-436245" eaLnBrk="1" hangingPunct="1"/>
            <a:r>
              <a:rPr lang="zh-CN" altLang="en-US" sz="2400" dirty="0"/>
              <a:t>一个调度</a:t>
            </a:r>
            <a:r>
              <a:rPr lang="en-US" altLang="zh-CN" sz="2400" dirty="0"/>
              <a:t>Sc</a:t>
            </a:r>
            <a:r>
              <a:rPr lang="zh-CN" altLang="en-US" sz="2400" dirty="0"/>
              <a:t>在保证</a:t>
            </a:r>
            <a:r>
              <a:rPr lang="zh-CN" altLang="en-US" sz="2400" b="1" dirty="0">
                <a:solidFill>
                  <a:srgbClr val="FF0000"/>
                </a:solidFill>
              </a:rPr>
              <a:t>冲突操作</a:t>
            </a:r>
            <a:r>
              <a:rPr lang="zh-CN" altLang="en-US" sz="2400" dirty="0"/>
              <a:t>的</a:t>
            </a:r>
            <a:r>
              <a:rPr lang="zh-CN" altLang="en-US" sz="2400" dirty="0">
                <a:solidFill>
                  <a:srgbClr val="FF0000"/>
                </a:solidFill>
              </a:rPr>
              <a:t>次序不变</a:t>
            </a:r>
            <a:r>
              <a:rPr lang="zh-CN" altLang="en-US" sz="2400" dirty="0"/>
              <a:t>的情况下，通过</a:t>
            </a:r>
            <a:r>
              <a:rPr lang="zh-CN" altLang="en-US" sz="2400" dirty="0">
                <a:solidFill>
                  <a:srgbClr val="FF0000"/>
                </a:solidFill>
              </a:rPr>
              <a:t>交换</a:t>
            </a:r>
            <a:r>
              <a:rPr lang="zh-CN" altLang="en-US" sz="2400" dirty="0"/>
              <a:t>两个事务</a:t>
            </a:r>
            <a:r>
              <a:rPr lang="zh-CN" altLang="en-US" sz="2400" b="1" dirty="0">
                <a:solidFill>
                  <a:srgbClr val="FF0000"/>
                </a:solidFill>
              </a:rPr>
              <a:t>不冲突操作</a:t>
            </a:r>
            <a:r>
              <a:rPr lang="zh-CN" altLang="en-US" sz="2400" dirty="0"/>
              <a:t>的次序得到另一个调度</a:t>
            </a:r>
            <a:r>
              <a:rPr lang="en-US" altLang="zh-CN" sz="2400" dirty="0"/>
              <a:t>Sc’</a:t>
            </a:r>
            <a:r>
              <a:rPr lang="zh-CN" altLang="en-US" sz="2400" dirty="0"/>
              <a:t>，如果</a:t>
            </a:r>
            <a:r>
              <a:rPr lang="en-US" altLang="zh-CN" sz="2400" dirty="0"/>
              <a:t>Sc’</a:t>
            </a:r>
            <a:r>
              <a:rPr lang="zh-CN" altLang="en-US" sz="2400" dirty="0"/>
              <a:t>是</a:t>
            </a:r>
            <a:r>
              <a:rPr lang="zh-CN" altLang="en-US" sz="2400" b="1" dirty="0">
                <a:solidFill>
                  <a:srgbClr val="FF0000"/>
                </a:solidFill>
              </a:rPr>
              <a:t>串行的</a:t>
            </a:r>
            <a:r>
              <a:rPr lang="zh-CN" altLang="en-US" sz="2400" dirty="0"/>
              <a:t>，称调度</a:t>
            </a:r>
            <a:r>
              <a:rPr lang="en-US" altLang="zh-CN" sz="2400" dirty="0"/>
              <a:t>Sc</a:t>
            </a:r>
            <a:r>
              <a:rPr lang="zh-CN" altLang="en-US" sz="2400" dirty="0"/>
              <a:t>为冲突可串行化的调度</a:t>
            </a:r>
            <a:endParaRPr lang="en-US" altLang="zh-CN" sz="2400" dirty="0"/>
          </a:p>
          <a:p>
            <a:pPr lvl="1" indent="-436245" eaLnBrk="1" hangingPunct="1"/>
            <a:r>
              <a:rPr lang="en-US" altLang="zh-CN" sz="2400" dirty="0"/>
              <a:t>Sc’</a:t>
            </a:r>
            <a:r>
              <a:rPr lang="zh-CN" altLang="en-US" sz="2400" dirty="0"/>
              <a:t>是一个串行的。不带“可”字。就是事务一个一个的做的样子。不能交叉。</a:t>
            </a:r>
            <a:endParaRPr lang="zh-CN" altLang="en-US" sz="2400" dirty="0"/>
          </a:p>
          <a:p>
            <a:pPr lvl="1" indent="-436245" eaLnBrk="1" hangingPunct="1"/>
            <a:r>
              <a:rPr lang="zh-CN" altLang="en-US" sz="2400" dirty="0"/>
              <a:t>一个调度是</a:t>
            </a:r>
            <a:r>
              <a:rPr lang="zh-CN" altLang="en-US" sz="2400" b="1" dirty="0">
                <a:solidFill>
                  <a:srgbClr val="003399"/>
                </a:solidFill>
              </a:rPr>
              <a:t>冲突</a:t>
            </a:r>
            <a:r>
              <a:rPr lang="zh-CN" altLang="en-US" sz="2400" b="1" dirty="0">
                <a:solidFill>
                  <a:srgbClr val="FF0000"/>
                </a:solidFill>
              </a:rPr>
              <a:t>可串行化</a:t>
            </a:r>
            <a:r>
              <a:rPr lang="zh-CN" altLang="en-US" sz="2400" dirty="0"/>
              <a:t>，一定是</a:t>
            </a:r>
            <a:r>
              <a:rPr lang="zh-CN" altLang="en-US" sz="2400" b="1" dirty="0">
                <a:solidFill>
                  <a:srgbClr val="FF0000"/>
                </a:solidFill>
              </a:rPr>
              <a:t>可串行化的调度</a:t>
            </a:r>
            <a:endParaRPr lang="en-US" altLang="zh-CN" sz="2400" b="1" dirty="0">
              <a:solidFill>
                <a:srgbClr val="FF0000"/>
              </a:solidFill>
            </a:endParaRPr>
          </a:p>
          <a:p>
            <a:pPr lvl="1" indent="-436245" eaLnBrk="1" hangingPunct="1"/>
            <a:r>
              <a:rPr lang="zh-CN" altLang="en-US" sz="2400" dirty="0"/>
              <a:t>一个调度是</a:t>
            </a:r>
            <a:r>
              <a:rPr lang="zh-CN" altLang="en-US" sz="2400" b="1" dirty="0">
                <a:solidFill>
                  <a:srgbClr val="003399"/>
                </a:solidFill>
              </a:rPr>
              <a:t>冲突</a:t>
            </a:r>
            <a:r>
              <a:rPr lang="zh-CN" altLang="en-US" sz="2400" b="1" dirty="0">
                <a:solidFill>
                  <a:srgbClr val="FF0000"/>
                </a:solidFill>
              </a:rPr>
              <a:t>可串行化，一定是个正确的调度。这是判断一个调度是否是正确的调度的条件或者说是方法。</a:t>
            </a:r>
            <a:endParaRPr lang="en-US" altLang="zh-CN" sz="2400" b="1" dirty="0">
              <a:solidFill>
                <a:srgbClr val="FF0000"/>
              </a:solidFill>
            </a:endParaRPr>
          </a:p>
          <a:p>
            <a:pPr lvl="1" indent="-436245" eaLnBrk="1" hangingPunct="1"/>
            <a:r>
              <a:rPr lang="zh-CN" altLang="en-US" sz="2400" b="1" dirty="0">
                <a:solidFill>
                  <a:srgbClr val="FF0000"/>
                </a:solidFill>
              </a:rPr>
              <a:t>调度有两种：</a:t>
            </a:r>
            <a:r>
              <a:rPr lang="zh-CN" altLang="en-US" sz="2400" b="1" dirty="0">
                <a:solidFill>
                  <a:srgbClr val="003399"/>
                </a:solidFill>
              </a:rPr>
              <a:t>一种是正确的，一种是不正确的。</a:t>
            </a:r>
            <a:endParaRPr lang="en-US" altLang="zh-CN" sz="2400" b="1" dirty="0">
              <a:solidFill>
                <a:srgbClr val="003399"/>
              </a:solidFill>
            </a:endParaRPr>
          </a:p>
        </p:txBody>
      </p:sp>
    </p:spTree>
  </p:cSld>
  <p:clrMapOvr>
    <a:masterClrMapping/>
  </p:clrMapOvr>
  <p:transition advClick="0"/>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Rectangle 2"/>
          <p:cNvSpPr>
            <a:spLocks noGrp="1"/>
          </p:cNvSpPr>
          <p:nvPr>
            <p:ph type="title"/>
          </p:nvPr>
        </p:nvSpPr>
        <p:spPr>
          <a:ln/>
        </p:spPr>
        <p:txBody>
          <a:bodyPr vert="horz" wrap="square" lIns="91440" tIns="45720" rIns="91440" bIns="45720" anchor="b" anchorCtr="0"/>
          <a:p>
            <a:pPr eaLnBrk="1" hangingPunct="1"/>
            <a:r>
              <a:rPr lang="zh-CN" altLang="en-US" dirty="0"/>
              <a:t>冲突可串行化调度（续）</a:t>
            </a:r>
            <a:endParaRPr lang="zh-CN" altLang="en-US" dirty="0"/>
          </a:p>
        </p:txBody>
      </p:sp>
      <p:sp>
        <p:nvSpPr>
          <p:cNvPr id="72706" name="Rectangle 3"/>
          <p:cNvSpPr>
            <a:spLocks noGrp="1"/>
          </p:cNvSpPr>
          <p:nvPr>
            <p:ph idx="1"/>
          </p:nvPr>
        </p:nvSpPr>
        <p:spPr>
          <a:xfrm>
            <a:off x="285750" y="1143000"/>
            <a:ext cx="8643938" cy="4876800"/>
          </a:xfrm>
          <a:ln/>
        </p:spPr>
        <p:txBody>
          <a:bodyPr vert="horz" wrap="square" lIns="91440" tIns="45720" rIns="91440" bIns="45720" anchor="t" anchorCtr="0"/>
          <a:p>
            <a:pPr eaLnBrk="1" hangingPunct="1">
              <a:buNone/>
            </a:pPr>
            <a:r>
              <a:rPr lang="zh-CN" altLang="en-US" sz="2600" b="1" dirty="0">
                <a:solidFill>
                  <a:srgbClr val="4B7D1D"/>
                </a:solidFill>
              </a:rPr>
              <a:t>冲突操作</a:t>
            </a:r>
            <a:endParaRPr lang="zh-CN" altLang="en-US" sz="2600" b="1" dirty="0">
              <a:solidFill>
                <a:srgbClr val="4B7D1D"/>
              </a:solidFill>
            </a:endParaRPr>
          </a:p>
          <a:p>
            <a:pPr eaLnBrk="1" hangingPunct="1">
              <a:lnSpc>
                <a:spcPct val="140000"/>
              </a:lnSpc>
            </a:pPr>
            <a:r>
              <a:rPr lang="zh-CN" altLang="en-US" sz="2400" dirty="0"/>
              <a:t>冲突操作是指</a:t>
            </a:r>
            <a:r>
              <a:rPr lang="zh-CN" altLang="en-US" sz="2400" b="1" dirty="0">
                <a:solidFill>
                  <a:srgbClr val="FF0000"/>
                </a:solidFill>
              </a:rPr>
              <a:t>不同的事务</a:t>
            </a:r>
            <a:r>
              <a:rPr lang="zh-CN" altLang="en-US" sz="2400" dirty="0"/>
              <a:t>对</a:t>
            </a:r>
            <a:r>
              <a:rPr lang="zh-CN" altLang="en-US" sz="2400" b="1" dirty="0">
                <a:solidFill>
                  <a:srgbClr val="FF0000"/>
                </a:solidFill>
              </a:rPr>
              <a:t>同一个数据</a:t>
            </a:r>
            <a:r>
              <a:rPr lang="zh-CN" altLang="en-US" sz="2400" dirty="0"/>
              <a:t>的</a:t>
            </a:r>
            <a:r>
              <a:rPr lang="zh-CN" altLang="en-US" sz="2400" b="1" dirty="0">
                <a:solidFill>
                  <a:srgbClr val="003399"/>
                </a:solidFill>
              </a:rPr>
              <a:t>读写</a:t>
            </a:r>
            <a:r>
              <a:rPr lang="zh-CN" altLang="en-US" sz="2400" dirty="0"/>
              <a:t>操作和</a:t>
            </a:r>
            <a:r>
              <a:rPr lang="zh-CN" altLang="en-US" sz="2400" b="1" dirty="0">
                <a:solidFill>
                  <a:srgbClr val="003399"/>
                </a:solidFill>
              </a:rPr>
              <a:t>写写</a:t>
            </a:r>
            <a:r>
              <a:rPr lang="zh-CN" altLang="en-US" sz="2400" dirty="0"/>
              <a:t>操作</a:t>
            </a:r>
            <a:endParaRPr lang="zh-CN" altLang="en-US" sz="2400" dirty="0"/>
          </a:p>
          <a:p>
            <a:pPr lvl="1" indent="-436245" eaLnBrk="1" hangingPunct="1">
              <a:lnSpc>
                <a:spcPct val="140000"/>
              </a:lnSpc>
            </a:pPr>
            <a:r>
              <a:rPr lang="en-US" altLang="zh-CN" sz="2200" dirty="0"/>
              <a:t>Ri (x)</a:t>
            </a:r>
            <a:r>
              <a:rPr lang="zh-CN" altLang="en-US" sz="2200" dirty="0"/>
              <a:t>与</a:t>
            </a:r>
            <a:r>
              <a:rPr lang="en-US" altLang="zh-CN" sz="2200" dirty="0"/>
              <a:t>Wj(x)	          /* </a:t>
            </a:r>
            <a:r>
              <a:rPr lang="zh-CN" altLang="en-US" sz="2200" dirty="0"/>
              <a:t>事务</a:t>
            </a:r>
            <a:r>
              <a:rPr lang="en-US" altLang="zh-CN" sz="2200" dirty="0"/>
              <a:t>Ti</a:t>
            </a:r>
            <a:r>
              <a:rPr lang="zh-CN" altLang="en-US" sz="2200" dirty="0"/>
              <a:t>读</a:t>
            </a:r>
            <a:r>
              <a:rPr lang="en-US" altLang="zh-CN" sz="2200" dirty="0"/>
              <a:t>x</a:t>
            </a:r>
            <a:r>
              <a:rPr lang="zh-CN" altLang="en-US" sz="2200" dirty="0"/>
              <a:t>，</a:t>
            </a:r>
            <a:r>
              <a:rPr lang="en-US" altLang="zh-CN" sz="2200" dirty="0"/>
              <a:t>Tj</a:t>
            </a:r>
            <a:r>
              <a:rPr lang="zh-CN" altLang="en-US" sz="2200" dirty="0"/>
              <a:t>写</a:t>
            </a:r>
            <a:r>
              <a:rPr lang="en-US" altLang="zh-CN" sz="2200" dirty="0"/>
              <a:t>x*/</a:t>
            </a:r>
            <a:endParaRPr lang="en-US" altLang="zh-CN" sz="2200" dirty="0"/>
          </a:p>
          <a:p>
            <a:pPr lvl="1" indent="-436245" eaLnBrk="1" hangingPunct="1">
              <a:lnSpc>
                <a:spcPct val="140000"/>
              </a:lnSpc>
            </a:pPr>
            <a:r>
              <a:rPr lang="en-US" altLang="zh-CN" sz="2200" dirty="0"/>
              <a:t>Wi(x)</a:t>
            </a:r>
            <a:r>
              <a:rPr lang="zh-CN" altLang="en-US" sz="2200" dirty="0"/>
              <a:t>与</a:t>
            </a:r>
            <a:r>
              <a:rPr lang="en-US" altLang="zh-CN" sz="2200" dirty="0"/>
              <a:t>Wj(x)	          /* </a:t>
            </a:r>
            <a:r>
              <a:rPr lang="zh-CN" altLang="en-US" sz="2200" dirty="0"/>
              <a:t>事务</a:t>
            </a:r>
            <a:r>
              <a:rPr lang="en-US" altLang="zh-CN" sz="2200" dirty="0"/>
              <a:t>Ti</a:t>
            </a:r>
            <a:r>
              <a:rPr lang="zh-CN" altLang="en-US" sz="2200" dirty="0"/>
              <a:t>写</a:t>
            </a:r>
            <a:r>
              <a:rPr lang="en-US" altLang="zh-CN" sz="2200" dirty="0"/>
              <a:t>x</a:t>
            </a:r>
            <a:r>
              <a:rPr lang="zh-CN" altLang="en-US" sz="2200" dirty="0"/>
              <a:t>，</a:t>
            </a:r>
            <a:r>
              <a:rPr lang="en-US" altLang="zh-CN" sz="2200" dirty="0"/>
              <a:t>Tj</a:t>
            </a:r>
            <a:r>
              <a:rPr lang="zh-CN" altLang="en-US" sz="2200" dirty="0"/>
              <a:t>写</a:t>
            </a:r>
            <a:r>
              <a:rPr lang="en-US" altLang="zh-CN" sz="2200" dirty="0"/>
              <a:t>x*/</a:t>
            </a:r>
            <a:endParaRPr lang="en-US" altLang="zh-CN" sz="2200" dirty="0"/>
          </a:p>
          <a:p>
            <a:pPr eaLnBrk="1" hangingPunct="1">
              <a:lnSpc>
                <a:spcPct val="140000"/>
              </a:lnSpc>
            </a:pPr>
            <a:r>
              <a:rPr lang="zh-CN" altLang="en-US" sz="2400" dirty="0"/>
              <a:t>其他操作是不冲突操作</a:t>
            </a:r>
            <a:endParaRPr lang="zh-CN" altLang="en-US" sz="2400" dirty="0"/>
          </a:p>
          <a:p>
            <a:pPr eaLnBrk="1" hangingPunct="1">
              <a:lnSpc>
                <a:spcPct val="140000"/>
              </a:lnSpc>
            </a:pPr>
            <a:r>
              <a:rPr lang="zh-CN" altLang="en-US" sz="2400" dirty="0">
                <a:solidFill>
                  <a:srgbClr val="003399"/>
                </a:solidFill>
              </a:rPr>
              <a:t>不同事务的冲突操作</a:t>
            </a:r>
            <a:r>
              <a:rPr lang="zh-CN" altLang="en-US" sz="2400" dirty="0"/>
              <a:t>不能交换</a:t>
            </a:r>
            <a:r>
              <a:rPr lang="en-US" altLang="zh-CN" sz="2400" dirty="0"/>
              <a:t>(Swap) </a:t>
            </a:r>
            <a:endParaRPr lang="en-US" altLang="zh-CN" sz="2400" dirty="0">
              <a:solidFill>
                <a:srgbClr val="003399"/>
              </a:solidFill>
            </a:endParaRPr>
          </a:p>
          <a:p>
            <a:pPr eaLnBrk="1" hangingPunct="1">
              <a:lnSpc>
                <a:spcPct val="140000"/>
              </a:lnSpc>
            </a:pPr>
            <a:r>
              <a:rPr lang="zh-CN" altLang="en-US" sz="2400" dirty="0">
                <a:solidFill>
                  <a:srgbClr val="003399"/>
                </a:solidFill>
              </a:rPr>
              <a:t>同一事务的两个操作</a:t>
            </a:r>
            <a:r>
              <a:rPr lang="zh-CN" altLang="en-US" sz="2400" dirty="0"/>
              <a:t>不能交换</a:t>
            </a:r>
            <a:r>
              <a:rPr lang="en-US" altLang="zh-CN" sz="2400" dirty="0"/>
              <a:t>(Swap) </a:t>
            </a:r>
            <a:endParaRPr lang="en-US" altLang="zh-CN" sz="2400" dirty="0"/>
          </a:p>
        </p:txBody>
      </p:sp>
    </p:spTree>
  </p:cSld>
  <p:clrMapOvr>
    <a:masterClrMapping/>
  </p:clrMapOvr>
  <p:transition advClick="0"/>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Rectangle 2"/>
          <p:cNvSpPr>
            <a:spLocks noGrp="1"/>
          </p:cNvSpPr>
          <p:nvPr>
            <p:ph type="title"/>
          </p:nvPr>
        </p:nvSpPr>
        <p:spPr>
          <a:ln/>
        </p:spPr>
        <p:txBody>
          <a:bodyPr vert="horz" wrap="square" lIns="91440" tIns="45720" rIns="91440" bIns="45720" anchor="b" anchorCtr="0"/>
          <a:p>
            <a:pPr eaLnBrk="1" hangingPunct="1"/>
            <a:r>
              <a:rPr lang="zh-CN" altLang="en-US" dirty="0"/>
              <a:t>冲突可串行化调度（续）</a:t>
            </a:r>
            <a:endParaRPr lang="zh-CN" altLang="en-US" dirty="0"/>
          </a:p>
        </p:txBody>
      </p:sp>
      <p:sp>
        <p:nvSpPr>
          <p:cNvPr id="73730" name="Rectangle 3"/>
          <p:cNvSpPr>
            <a:spLocks noGrp="1"/>
          </p:cNvSpPr>
          <p:nvPr>
            <p:ph idx="1"/>
          </p:nvPr>
        </p:nvSpPr>
        <p:spPr>
          <a:xfrm>
            <a:off x="142875" y="1285875"/>
            <a:ext cx="8720138" cy="4857750"/>
          </a:xfrm>
          <a:ln/>
        </p:spPr>
        <p:txBody>
          <a:bodyPr vert="horz" wrap="square" lIns="91440" tIns="45720" rIns="91440" bIns="45720" anchor="t" anchorCtr="0"/>
          <a:p>
            <a:pPr eaLnBrk="1" hangingPunct="1">
              <a:lnSpc>
                <a:spcPct val="160000"/>
              </a:lnSpc>
              <a:buNone/>
            </a:pPr>
            <a:r>
              <a:rPr lang="zh-CN" altLang="en-US" sz="2400" dirty="0"/>
              <a:t>［例］今有调度，问是否是正确的调度？</a:t>
            </a:r>
            <a:endParaRPr lang="en-US" altLang="zh-CN" sz="2400" dirty="0"/>
          </a:p>
          <a:p>
            <a:pPr eaLnBrk="1" hangingPunct="1">
              <a:lnSpc>
                <a:spcPct val="160000"/>
              </a:lnSpc>
              <a:buNone/>
            </a:pPr>
            <a:r>
              <a:rPr lang="en-US" altLang="zh-CN" sz="2400" dirty="0"/>
              <a:t>T1=</a:t>
            </a:r>
            <a:r>
              <a:rPr lang="en-US" altLang="zh-CN" sz="2400" dirty="0">
                <a:solidFill>
                  <a:srgbClr val="FF0000"/>
                </a:solidFill>
              </a:rPr>
              <a:t>r1(A)w1(A)r1(B)w1(B)</a:t>
            </a:r>
            <a:r>
              <a:rPr lang="zh-CN" altLang="en-US" sz="2400" dirty="0">
                <a:solidFill>
                  <a:srgbClr val="FF0000"/>
                </a:solidFill>
              </a:rPr>
              <a:t>，</a:t>
            </a:r>
            <a:r>
              <a:rPr lang="en-US" altLang="zh-CN" sz="2400" dirty="0">
                <a:solidFill>
                  <a:srgbClr val="FF0000"/>
                </a:solidFill>
              </a:rPr>
              <a:t>T2=</a:t>
            </a:r>
            <a:r>
              <a:rPr lang="en-US" altLang="zh-CN" sz="2400" u="sng" dirty="0"/>
              <a:t>r2(A)</a:t>
            </a:r>
            <a:r>
              <a:rPr lang="en-US" altLang="zh-CN" sz="2400" dirty="0"/>
              <a:t>w2(A)r2(B)w2(B)</a:t>
            </a:r>
            <a:endParaRPr lang="en-US" altLang="zh-CN" sz="2400" dirty="0"/>
          </a:p>
          <a:p>
            <a:pPr eaLnBrk="1" hangingPunct="1">
              <a:lnSpc>
                <a:spcPct val="160000"/>
              </a:lnSpc>
              <a:buNone/>
            </a:pPr>
            <a:r>
              <a:rPr lang="en-US" altLang="zh-CN" sz="2400" dirty="0"/>
              <a:t>Sc1=</a:t>
            </a:r>
            <a:r>
              <a:rPr lang="en-US" altLang="zh-CN" sz="2400" dirty="0">
                <a:solidFill>
                  <a:srgbClr val="FF0000"/>
                </a:solidFill>
              </a:rPr>
              <a:t>r1(A)w1(A)</a:t>
            </a:r>
            <a:r>
              <a:rPr lang="en-US" altLang="zh-CN" sz="2400" dirty="0"/>
              <a:t>r2(A)</a:t>
            </a:r>
            <a:r>
              <a:rPr lang="en-US" altLang="zh-CN" sz="2400" u="sng" dirty="0"/>
              <a:t>w2(A)</a:t>
            </a:r>
            <a:r>
              <a:rPr lang="en-US" altLang="zh-CN" sz="2400" dirty="0">
                <a:solidFill>
                  <a:srgbClr val="FF0000"/>
                </a:solidFill>
              </a:rPr>
              <a:t>r1(B)w1(B)</a:t>
            </a:r>
            <a:r>
              <a:rPr lang="en-US" altLang="zh-CN" sz="2400" dirty="0"/>
              <a:t>r2(B)w2(B)</a:t>
            </a:r>
            <a:endParaRPr lang="en-US" altLang="zh-CN" sz="2400" dirty="0"/>
          </a:p>
          <a:p>
            <a:pPr lvl="1" indent="-436245" eaLnBrk="1" hangingPunct="1">
              <a:lnSpc>
                <a:spcPct val="160000"/>
              </a:lnSpc>
            </a:pPr>
            <a:r>
              <a:rPr lang="zh-CN" altLang="en-US" sz="2200" dirty="0"/>
              <a:t>把</a:t>
            </a:r>
            <a:r>
              <a:rPr lang="en-US" altLang="zh-CN" sz="2200" dirty="0"/>
              <a:t>w2(A)</a:t>
            </a:r>
            <a:r>
              <a:rPr lang="zh-CN" altLang="en-US" sz="2200" dirty="0"/>
              <a:t>与</a:t>
            </a:r>
            <a:r>
              <a:rPr lang="en-US" altLang="zh-CN" sz="2200" dirty="0"/>
              <a:t>r1(B)w1(B)</a:t>
            </a:r>
            <a:r>
              <a:rPr lang="zh-CN" altLang="en-US" sz="2200" dirty="0"/>
              <a:t>交换，得到：</a:t>
            </a:r>
            <a:endParaRPr lang="zh-CN" altLang="en-US" sz="2200" dirty="0"/>
          </a:p>
          <a:p>
            <a:pPr lvl="1" indent="-436245" eaLnBrk="1" hangingPunct="1">
              <a:lnSpc>
                <a:spcPct val="160000"/>
              </a:lnSpc>
              <a:buNone/>
            </a:pPr>
            <a:r>
              <a:rPr lang="zh-CN" altLang="en-US" sz="2200" dirty="0"/>
              <a:t>    </a:t>
            </a:r>
            <a:r>
              <a:rPr lang="en-US" altLang="zh-CN" sz="2200" dirty="0"/>
              <a:t>r1(A)w1(A)</a:t>
            </a:r>
            <a:r>
              <a:rPr lang="en-US" altLang="zh-CN" sz="2200" u="sng" dirty="0"/>
              <a:t>r2(A)</a:t>
            </a:r>
            <a:r>
              <a:rPr lang="en-US" altLang="zh-CN" sz="2200" dirty="0"/>
              <a:t>r1(B)w1(B)</a:t>
            </a:r>
            <a:r>
              <a:rPr lang="en-US" altLang="zh-CN" sz="2200" u="sng" dirty="0"/>
              <a:t>w2(A)</a:t>
            </a:r>
            <a:r>
              <a:rPr lang="en-US" altLang="zh-CN" sz="2200" dirty="0"/>
              <a:t>r2(B)w2(B)</a:t>
            </a:r>
            <a:endParaRPr lang="en-US" altLang="zh-CN" sz="2200" dirty="0"/>
          </a:p>
          <a:p>
            <a:pPr lvl="1" indent="-436245" eaLnBrk="1" hangingPunct="1">
              <a:lnSpc>
                <a:spcPct val="160000"/>
              </a:lnSpc>
            </a:pPr>
            <a:r>
              <a:rPr lang="zh-CN" altLang="en-US" sz="2200" dirty="0"/>
              <a:t>再把</a:t>
            </a:r>
            <a:r>
              <a:rPr lang="en-US" altLang="zh-CN" sz="2200" dirty="0"/>
              <a:t>r2(A)</a:t>
            </a:r>
            <a:r>
              <a:rPr lang="zh-CN" altLang="en-US" sz="2200" dirty="0"/>
              <a:t>与</a:t>
            </a:r>
            <a:r>
              <a:rPr lang="en-US" altLang="zh-CN" sz="2200" dirty="0"/>
              <a:t>r1(B)w1(B)</a:t>
            </a:r>
            <a:r>
              <a:rPr lang="zh-CN" altLang="en-US" sz="2200" dirty="0"/>
              <a:t>交换：</a:t>
            </a:r>
            <a:endParaRPr lang="zh-CN" altLang="en-US" sz="2200" dirty="0"/>
          </a:p>
          <a:p>
            <a:pPr lvl="1" indent="-436245" eaLnBrk="1" hangingPunct="1">
              <a:lnSpc>
                <a:spcPct val="160000"/>
              </a:lnSpc>
              <a:buNone/>
            </a:pPr>
            <a:r>
              <a:rPr lang="zh-CN" altLang="en-US" sz="2200" dirty="0"/>
              <a:t>   </a:t>
            </a:r>
            <a:r>
              <a:rPr lang="en-US" altLang="zh-CN" sz="2200" dirty="0"/>
              <a:t>Sc2</a:t>
            </a:r>
            <a:r>
              <a:rPr lang="zh-CN" altLang="en-US" sz="2200" dirty="0"/>
              <a:t>＝</a:t>
            </a:r>
            <a:r>
              <a:rPr lang="en-US" altLang="zh-CN" sz="2200" dirty="0">
                <a:solidFill>
                  <a:srgbClr val="FF0000"/>
                </a:solidFill>
              </a:rPr>
              <a:t>r1(A)w1(A)r1(B)w1(B)</a:t>
            </a:r>
            <a:r>
              <a:rPr lang="en-US" altLang="zh-CN" sz="2200" u="sng" dirty="0"/>
              <a:t>r2(A)</a:t>
            </a:r>
            <a:r>
              <a:rPr lang="en-US" altLang="zh-CN" sz="2200" dirty="0"/>
              <a:t>w2(A)r2(B)w2(B)</a:t>
            </a:r>
            <a:endParaRPr lang="en-US" altLang="zh-CN" sz="2200" dirty="0"/>
          </a:p>
          <a:p>
            <a:pPr lvl="1" indent="-436245" eaLnBrk="1" hangingPunct="1">
              <a:lnSpc>
                <a:spcPct val="160000"/>
              </a:lnSpc>
            </a:pPr>
            <a:r>
              <a:rPr lang="en-US" altLang="zh-CN" sz="2200" b="1" dirty="0">
                <a:solidFill>
                  <a:srgbClr val="FF0000"/>
                </a:solidFill>
              </a:rPr>
              <a:t>Sc2</a:t>
            </a:r>
            <a:r>
              <a:rPr lang="zh-CN" altLang="en-US" sz="2200" b="1" dirty="0">
                <a:solidFill>
                  <a:srgbClr val="FF0000"/>
                </a:solidFill>
              </a:rPr>
              <a:t>等价于一个串行调度</a:t>
            </a:r>
            <a:r>
              <a:rPr lang="en-US" altLang="zh-CN" sz="2200" b="1" dirty="0">
                <a:solidFill>
                  <a:srgbClr val="FF0000"/>
                </a:solidFill>
              </a:rPr>
              <a:t>T1</a:t>
            </a:r>
            <a:r>
              <a:rPr lang="zh-CN" altLang="en-US" sz="2200" b="1" dirty="0">
                <a:solidFill>
                  <a:srgbClr val="FF0000"/>
                </a:solidFill>
              </a:rPr>
              <a:t>，</a:t>
            </a:r>
            <a:r>
              <a:rPr lang="en-US" altLang="zh-CN" sz="2200" b="1" dirty="0">
                <a:solidFill>
                  <a:srgbClr val="FF0000"/>
                </a:solidFill>
              </a:rPr>
              <a:t>T2</a:t>
            </a:r>
            <a:r>
              <a:rPr lang="zh-CN" altLang="en-US" sz="2200" dirty="0"/>
              <a:t>，</a:t>
            </a:r>
            <a:r>
              <a:rPr lang="en-US" altLang="zh-CN" sz="2200" dirty="0"/>
              <a:t>Sc1</a:t>
            </a:r>
            <a:r>
              <a:rPr lang="zh-CN" altLang="en-US" sz="2200" dirty="0"/>
              <a:t>冲突可串行化的调度</a:t>
            </a:r>
            <a:endParaRPr lang="zh-CN" altLang="en-US" sz="2200" dirty="0"/>
          </a:p>
        </p:txBody>
      </p:sp>
    </p:spTree>
  </p:cSld>
  <p:clrMapOvr>
    <a:masterClrMapping/>
  </p:clrMapOvr>
  <p:transition advClick="0"/>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标题 1"/>
          <p:cNvSpPr>
            <a:spLocks noGrp="1"/>
          </p:cNvSpPr>
          <p:nvPr>
            <p:ph type="title"/>
          </p:nvPr>
        </p:nvSpPr>
        <p:spPr>
          <a:ln/>
        </p:spPr>
        <p:txBody>
          <a:bodyPr vert="horz" wrap="square" lIns="91440" tIns="45720" rIns="91440" bIns="45720" anchor="b" anchorCtr="0"/>
          <a:p>
            <a:r>
              <a:rPr lang="zh-CN" altLang="en-US" dirty="0"/>
              <a:t>例题</a:t>
            </a:r>
            <a:endParaRPr lang="zh-CN" altLang="en-US" dirty="0"/>
          </a:p>
        </p:txBody>
      </p:sp>
      <p:sp>
        <p:nvSpPr>
          <p:cNvPr id="3" name="内容占位符 2"/>
          <p:cNvSpPr>
            <a:spLocks noGrp="1"/>
          </p:cNvSpPr>
          <p:nvPr>
            <p:ph idx="1"/>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zh-CN" altLang="zh-CN" sz="3000" b="0" i="0" u="none" strike="noStrike" kern="0" cap="none" spc="0" normalizeH="0" baseline="0" noProof="0" dirty="0">
                <a:ln>
                  <a:noFill/>
                </a:ln>
                <a:solidFill>
                  <a:schemeClr val="tx1"/>
                </a:solidFill>
                <a:effectLst/>
                <a:uLnTx/>
                <a:uFillTx/>
                <a:latin typeface="+mn-lt"/>
                <a:ea typeface="+mn-ea"/>
                <a:cs typeface="+mn-cs"/>
              </a:rPr>
              <a:t>下面哪个调度是冲突可串行的调度（</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       </a:t>
            </a:r>
            <a:r>
              <a:rPr kumimoji="0" lang="zh-CN" altLang="zh-CN" sz="3000" b="0" i="0" u="none" strike="noStrike" kern="0" cap="none" spc="0" normalizeH="0" baseline="0" noProof="0" dirty="0">
                <a:ln>
                  <a:noFill/>
                </a:ln>
                <a:solidFill>
                  <a:schemeClr val="tx1"/>
                </a:solidFill>
                <a:effectLst/>
                <a:uLnTx/>
                <a:uFillTx/>
                <a:latin typeface="+mn-lt"/>
                <a:ea typeface="+mn-ea"/>
                <a:cs typeface="+mn-cs"/>
              </a:rPr>
              <a:t>）。  </a:t>
            </a:r>
            <a:endParaRPr kumimoji="0" lang="zh-CN" altLang="zh-CN" sz="30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0" i="0" u="none" strike="noStrike" kern="0" cap="none" spc="0" normalizeH="0" baseline="0" noProof="0" dirty="0">
                <a:ln>
                  <a:noFill/>
                </a:ln>
                <a:solidFill>
                  <a:schemeClr val="tx1"/>
                </a:solidFill>
                <a:effectLst/>
                <a:uLnTx/>
                <a:uFillTx/>
                <a:latin typeface="+mn-lt"/>
                <a:ea typeface="+mn-ea"/>
                <a:cs typeface="+mn-cs"/>
              </a:rPr>
              <a:t>A</a:t>
            </a:r>
            <a:r>
              <a:rPr kumimoji="0" lang="zh-CN" altLang="zh-CN" sz="3000" b="0" i="0" u="none" strike="noStrike" kern="0" cap="none" spc="0" normalizeH="0" baseline="0" noProof="0" dirty="0">
                <a:ln>
                  <a:noFill/>
                </a:ln>
                <a:solidFill>
                  <a:schemeClr val="tx1"/>
                </a:solidFill>
                <a:effectLst/>
                <a:uLnTx/>
                <a:uFillTx/>
                <a:latin typeface="+mn-lt"/>
                <a:ea typeface="+mn-ea"/>
                <a:cs typeface="+mn-cs"/>
              </a:rPr>
              <a:t>．</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R1(X)</a:t>
            </a:r>
            <a:r>
              <a:rPr kumimoji="0" lang="zh-CN" altLang="zh-CN" sz="3000" b="0" i="0" u="none" strike="noStrike" kern="0" cap="none" spc="0" normalizeH="0" baseline="0" noProof="0" dirty="0">
                <a:ln>
                  <a:noFill/>
                </a:ln>
                <a:solidFill>
                  <a:schemeClr val="tx1"/>
                </a:solidFill>
                <a:effectLst/>
                <a:uLnTx/>
                <a:uFillTx/>
                <a:latin typeface="+mn-lt"/>
                <a:ea typeface="+mn-ea"/>
                <a:cs typeface="+mn-cs"/>
              </a:rPr>
              <a:t>，</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R1(Y)</a:t>
            </a:r>
            <a:r>
              <a:rPr kumimoji="0" lang="zh-CN" altLang="zh-CN" sz="3000" b="0" i="0" u="none" strike="noStrike" kern="0" cap="none" spc="0" normalizeH="0" baseline="0" noProof="0" dirty="0">
                <a:ln>
                  <a:noFill/>
                </a:ln>
                <a:solidFill>
                  <a:schemeClr val="tx1"/>
                </a:solidFill>
                <a:effectLst/>
                <a:uLnTx/>
                <a:uFillTx/>
                <a:latin typeface="+mn-lt"/>
                <a:ea typeface="+mn-ea"/>
                <a:cs typeface="+mn-cs"/>
              </a:rPr>
              <a:t>，</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W1(X)</a:t>
            </a:r>
            <a:r>
              <a:rPr kumimoji="0" lang="zh-CN" altLang="zh-CN" sz="3000" b="0" i="0" u="none" strike="noStrike" kern="0" cap="none" spc="0" normalizeH="0" baseline="0" noProof="0" dirty="0">
                <a:ln>
                  <a:noFill/>
                </a:ln>
                <a:solidFill>
                  <a:schemeClr val="tx1"/>
                </a:solidFill>
                <a:effectLst/>
                <a:uLnTx/>
                <a:uFillTx/>
                <a:latin typeface="+mn-lt"/>
                <a:ea typeface="+mn-ea"/>
                <a:cs typeface="+mn-cs"/>
              </a:rPr>
              <a:t>，</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R2(Y)</a:t>
            </a:r>
            <a:r>
              <a:rPr kumimoji="0" lang="zh-CN" altLang="zh-CN" sz="3000" b="0" i="0" u="none" strike="noStrike" kern="0" cap="none" spc="0" normalizeH="0" baseline="0" noProof="0" dirty="0">
                <a:ln>
                  <a:noFill/>
                </a:ln>
                <a:solidFill>
                  <a:schemeClr val="tx1"/>
                </a:solidFill>
                <a:effectLst/>
                <a:uLnTx/>
                <a:uFillTx/>
                <a:latin typeface="+mn-lt"/>
                <a:ea typeface="+mn-ea"/>
                <a:cs typeface="+mn-cs"/>
              </a:rPr>
              <a:t>，</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W3(Y)</a:t>
            </a:r>
            <a:r>
              <a:rPr kumimoji="0" lang="zh-CN" altLang="zh-CN" sz="3000" b="0" i="0" u="none" strike="noStrike" kern="0" cap="none" spc="0" normalizeH="0" baseline="0" noProof="0" dirty="0">
                <a:ln>
                  <a:noFill/>
                </a:ln>
                <a:solidFill>
                  <a:schemeClr val="tx1"/>
                </a:solidFill>
                <a:effectLst/>
                <a:uLnTx/>
                <a:uFillTx/>
                <a:latin typeface="+mn-lt"/>
                <a:ea typeface="+mn-ea"/>
                <a:cs typeface="+mn-cs"/>
              </a:rPr>
              <a:t>，</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W1(X)</a:t>
            </a:r>
            <a:r>
              <a:rPr kumimoji="0" lang="zh-CN" altLang="zh-CN" sz="3000" b="0" i="0" u="none" strike="noStrike" kern="0" cap="none" spc="0" normalizeH="0" baseline="0" noProof="0" dirty="0">
                <a:ln>
                  <a:noFill/>
                </a:ln>
                <a:solidFill>
                  <a:schemeClr val="tx1"/>
                </a:solidFill>
                <a:effectLst/>
                <a:uLnTx/>
                <a:uFillTx/>
                <a:latin typeface="+mn-lt"/>
                <a:ea typeface="+mn-ea"/>
                <a:cs typeface="+mn-cs"/>
              </a:rPr>
              <a:t>，</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R2(Y)</a:t>
            </a:r>
            <a:endParaRPr kumimoji="0" lang="zh-CN" altLang="zh-CN" sz="30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0" i="0" u="none" strike="noStrike" kern="0" cap="none" spc="0" normalizeH="0" baseline="0" noProof="0" dirty="0">
                <a:ln>
                  <a:noFill/>
                </a:ln>
                <a:solidFill>
                  <a:schemeClr val="tx1"/>
                </a:solidFill>
                <a:effectLst/>
                <a:uLnTx/>
                <a:uFillTx/>
                <a:latin typeface="+mn-lt"/>
                <a:ea typeface="+mn-ea"/>
                <a:cs typeface="+mn-cs"/>
              </a:rPr>
              <a:t>B</a:t>
            </a:r>
            <a:r>
              <a:rPr kumimoji="0" lang="zh-CN" altLang="zh-CN" sz="3000" b="0" i="0" u="none" strike="noStrike" kern="0" cap="none" spc="0" normalizeH="0" baseline="0" noProof="0" dirty="0">
                <a:ln>
                  <a:noFill/>
                </a:ln>
                <a:solidFill>
                  <a:schemeClr val="tx1"/>
                </a:solidFill>
                <a:effectLst/>
                <a:uLnTx/>
                <a:uFillTx/>
                <a:latin typeface="+mn-lt"/>
                <a:ea typeface="+mn-ea"/>
                <a:cs typeface="+mn-cs"/>
              </a:rPr>
              <a:t>．</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R1(X)</a:t>
            </a:r>
            <a:r>
              <a:rPr kumimoji="0" lang="zh-CN" altLang="zh-CN" sz="3000" b="0" i="0" u="none" strike="noStrike" kern="0" cap="none" spc="0" normalizeH="0" baseline="0" noProof="0" dirty="0">
                <a:ln>
                  <a:noFill/>
                </a:ln>
                <a:solidFill>
                  <a:schemeClr val="tx1"/>
                </a:solidFill>
                <a:effectLst/>
                <a:uLnTx/>
                <a:uFillTx/>
                <a:latin typeface="+mn-lt"/>
                <a:ea typeface="+mn-ea"/>
                <a:cs typeface="+mn-cs"/>
              </a:rPr>
              <a:t>，</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R2(Y)</a:t>
            </a:r>
            <a:r>
              <a:rPr kumimoji="0" lang="zh-CN" altLang="zh-CN" sz="3000" b="0" i="0" u="none" strike="noStrike" kern="0" cap="none" spc="0" normalizeH="0" baseline="0" noProof="0" dirty="0">
                <a:ln>
                  <a:noFill/>
                </a:ln>
                <a:solidFill>
                  <a:schemeClr val="tx1"/>
                </a:solidFill>
                <a:effectLst/>
                <a:uLnTx/>
                <a:uFillTx/>
                <a:latin typeface="+mn-lt"/>
                <a:ea typeface="+mn-ea"/>
                <a:cs typeface="+mn-cs"/>
              </a:rPr>
              <a:t>，</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W3(X)</a:t>
            </a:r>
            <a:r>
              <a:rPr kumimoji="0" lang="zh-CN" altLang="zh-CN" sz="3000" b="0" i="0" u="none" strike="noStrike" kern="0" cap="none" spc="0" normalizeH="0" baseline="0" noProof="0" dirty="0">
                <a:ln>
                  <a:noFill/>
                </a:ln>
                <a:solidFill>
                  <a:schemeClr val="tx1"/>
                </a:solidFill>
                <a:effectLst/>
                <a:uLnTx/>
                <a:uFillTx/>
                <a:latin typeface="+mn-lt"/>
                <a:ea typeface="+mn-ea"/>
                <a:cs typeface="+mn-cs"/>
              </a:rPr>
              <a:t>，</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R2(X)</a:t>
            </a:r>
            <a:r>
              <a:rPr kumimoji="0" lang="zh-CN" altLang="zh-CN" sz="3000" b="0" i="0" u="none" strike="noStrike" kern="0" cap="none" spc="0" normalizeH="0" baseline="0" noProof="0" dirty="0">
                <a:ln>
                  <a:noFill/>
                </a:ln>
                <a:solidFill>
                  <a:schemeClr val="tx1"/>
                </a:solidFill>
                <a:effectLst/>
                <a:uLnTx/>
                <a:uFillTx/>
                <a:latin typeface="+mn-lt"/>
                <a:ea typeface="+mn-ea"/>
                <a:cs typeface="+mn-cs"/>
              </a:rPr>
              <a:t>，</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R1(X)</a:t>
            </a:r>
            <a:endParaRPr kumimoji="0" lang="zh-CN" altLang="zh-CN" sz="30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0" i="0" u="none" strike="noStrike" kern="0" cap="none" spc="0" normalizeH="0" baseline="0" noProof="0" dirty="0">
                <a:ln>
                  <a:noFill/>
                </a:ln>
                <a:solidFill>
                  <a:schemeClr val="tx1"/>
                </a:solidFill>
                <a:effectLst/>
                <a:uLnTx/>
                <a:uFillTx/>
                <a:latin typeface="+mn-lt"/>
                <a:ea typeface="+mn-ea"/>
                <a:cs typeface="+mn-cs"/>
              </a:rPr>
              <a:t>C</a:t>
            </a:r>
            <a:r>
              <a:rPr kumimoji="0" lang="zh-CN" altLang="zh-CN" sz="3000" b="0" i="0" u="none" strike="noStrike" kern="0" cap="none" spc="0" normalizeH="0" baseline="0" noProof="0" dirty="0">
                <a:ln>
                  <a:noFill/>
                </a:ln>
                <a:solidFill>
                  <a:schemeClr val="tx1"/>
                </a:solidFill>
                <a:effectLst/>
                <a:uLnTx/>
                <a:uFillTx/>
                <a:latin typeface="+mn-lt"/>
                <a:ea typeface="+mn-ea"/>
                <a:cs typeface="+mn-cs"/>
              </a:rPr>
              <a:t>．</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R1(X)</a:t>
            </a:r>
            <a:r>
              <a:rPr kumimoji="0" lang="zh-CN" altLang="zh-CN" sz="3000" b="0" i="0" u="none" strike="noStrike" kern="0" cap="none" spc="0" normalizeH="0" baseline="0" noProof="0" dirty="0">
                <a:ln>
                  <a:noFill/>
                </a:ln>
                <a:solidFill>
                  <a:schemeClr val="tx1"/>
                </a:solidFill>
                <a:effectLst/>
                <a:uLnTx/>
                <a:uFillTx/>
                <a:latin typeface="+mn-lt"/>
                <a:ea typeface="+mn-ea"/>
                <a:cs typeface="+mn-cs"/>
              </a:rPr>
              <a:t>，</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R2(X)</a:t>
            </a:r>
            <a:r>
              <a:rPr kumimoji="0" lang="zh-CN" altLang="zh-CN" sz="3000" b="0" i="0" u="none" strike="noStrike" kern="0" cap="none" spc="0" normalizeH="0" baseline="0" noProof="0" dirty="0">
                <a:ln>
                  <a:noFill/>
                </a:ln>
                <a:solidFill>
                  <a:schemeClr val="tx1"/>
                </a:solidFill>
                <a:effectLst/>
                <a:uLnTx/>
                <a:uFillTx/>
                <a:latin typeface="+mn-lt"/>
                <a:ea typeface="+mn-ea"/>
                <a:cs typeface="+mn-cs"/>
              </a:rPr>
              <a:t>，</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W1(X)</a:t>
            </a:r>
            <a:r>
              <a:rPr kumimoji="0" lang="zh-CN" altLang="zh-CN" sz="3000" b="0" i="0" u="none" strike="noStrike" kern="0" cap="none" spc="0" normalizeH="0" baseline="0" noProof="0" dirty="0">
                <a:ln>
                  <a:noFill/>
                </a:ln>
                <a:solidFill>
                  <a:schemeClr val="tx1"/>
                </a:solidFill>
                <a:effectLst/>
                <a:uLnTx/>
                <a:uFillTx/>
                <a:latin typeface="+mn-lt"/>
                <a:ea typeface="+mn-ea"/>
                <a:cs typeface="+mn-cs"/>
              </a:rPr>
              <a:t>，</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W2(X)</a:t>
            </a:r>
            <a:endParaRPr kumimoji="0" lang="zh-CN" altLang="zh-CN" sz="30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r>
              <a:rPr kumimoji="0" lang="en-US" altLang="zh-CN" sz="3000" b="0" i="0" u="none" strike="noStrike" kern="0" cap="none" spc="0" normalizeH="0" baseline="0" noProof="0" dirty="0">
                <a:ln>
                  <a:noFill/>
                </a:ln>
                <a:solidFill>
                  <a:schemeClr val="tx1"/>
                </a:solidFill>
                <a:effectLst/>
                <a:uLnTx/>
                <a:uFillTx/>
                <a:latin typeface="+mn-lt"/>
                <a:ea typeface="+mn-ea"/>
                <a:cs typeface="+mn-cs"/>
              </a:rPr>
              <a:t>D</a:t>
            </a:r>
            <a:r>
              <a:rPr kumimoji="0" lang="zh-CN" altLang="zh-CN" sz="3000" b="0" i="0" u="none" strike="noStrike" kern="0" cap="none" spc="0" normalizeH="0" baseline="0" noProof="0" dirty="0">
                <a:ln>
                  <a:noFill/>
                </a:ln>
                <a:solidFill>
                  <a:schemeClr val="tx1"/>
                </a:solidFill>
                <a:effectLst/>
                <a:uLnTx/>
                <a:uFillTx/>
                <a:latin typeface="+mn-lt"/>
                <a:ea typeface="+mn-ea"/>
                <a:cs typeface="+mn-cs"/>
              </a:rPr>
              <a:t>．</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W1(X)</a:t>
            </a:r>
            <a:r>
              <a:rPr kumimoji="0" lang="zh-CN" altLang="zh-CN" sz="3000" b="0" i="0" u="none" strike="noStrike" kern="0" cap="none" spc="0" normalizeH="0" baseline="0" noProof="0" dirty="0">
                <a:ln>
                  <a:noFill/>
                </a:ln>
                <a:solidFill>
                  <a:schemeClr val="tx1"/>
                </a:solidFill>
                <a:effectLst/>
                <a:uLnTx/>
                <a:uFillTx/>
                <a:latin typeface="+mn-lt"/>
                <a:ea typeface="+mn-ea"/>
                <a:cs typeface="+mn-cs"/>
              </a:rPr>
              <a:t>，</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R2(Y)</a:t>
            </a:r>
            <a:r>
              <a:rPr kumimoji="0" lang="zh-CN" altLang="zh-CN" sz="3000" b="0" i="0" u="none" strike="noStrike" kern="0" cap="none" spc="0" normalizeH="0" baseline="0" noProof="0" dirty="0">
                <a:ln>
                  <a:noFill/>
                </a:ln>
                <a:solidFill>
                  <a:schemeClr val="tx1"/>
                </a:solidFill>
                <a:effectLst/>
                <a:uLnTx/>
                <a:uFillTx/>
                <a:latin typeface="+mn-lt"/>
                <a:ea typeface="+mn-ea"/>
                <a:cs typeface="+mn-cs"/>
              </a:rPr>
              <a:t>，</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R1(Y)</a:t>
            </a:r>
            <a:r>
              <a:rPr kumimoji="0" lang="zh-CN" altLang="zh-CN" sz="3000" b="0" i="0" u="none" strike="noStrike" kern="0" cap="none" spc="0" normalizeH="0" baseline="0" noProof="0" dirty="0">
                <a:ln>
                  <a:noFill/>
                </a:ln>
                <a:solidFill>
                  <a:schemeClr val="tx1"/>
                </a:solidFill>
                <a:effectLst/>
                <a:uLnTx/>
                <a:uFillTx/>
                <a:latin typeface="+mn-lt"/>
                <a:ea typeface="+mn-ea"/>
                <a:cs typeface="+mn-cs"/>
              </a:rPr>
              <a:t>，</a:t>
            </a:r>
            <a:r>
              <a:rPr kumimoji="0" lang="en-US" altLang="zh-CN" sz="3000" b="0" i="0" u="none" strike="noStrike" kern="0" cap="none" spc="0" normalizeH="0" baseline="0" noProof="0" dirty="0">
                <a:ln>
                  <a:noFill/>
                </a:ln>
                <a:solidFill>
                  <a:schemeClr val="tx1"/>
                </a:solidFill>
                <a:effectLst/>
                <a:uLnTx/>
                <a:uFillTx/>
                <a:latin typeface="+mn-lt"/>
                <a:ea typeface="+mn-ea"/>
                <a:cs typeface="+mn-cs"/>
              </a:rPr>
              <a:t>R2(X)</a:t>
            </a:r>
            <a:endParaRPr kumimoji="0" lang="zh-CN" altLang="zh-CN" sz="3000" b="0" i="0" u="none" strike="noStrike" kern="0" cap="none" spc="0" normalizeH="0" baseline="0" noProof="0" dirty="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n"/>
              <a:defRPr/>
            </a:pPr>
            <a:endParaRPr kumimoji="0" lang="zh-CN" altLang="en-US" sz="30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advClick="0"/>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Rectangle 2"/>
          <p:cNvSpPr>
            <a:spLocks noGrp="1"/>
          </p:cNvSpPr>
          <p:nvPr>
            <p:ph type="title"/>
          </p:nvPr>
        </p:nvSpPr>
        <p:spPr>
          <a:ln/>
        </p:spPr>
        <p:txBody>
          <a:bodyPr vert="horz" wrap="square" lIns="91440" tIns="45720" rIns="91440" bIns="45720" anchor="b" anchorCtr="0"/>
          <a:p>
            <a:pPr eaLnBrk="1" hangingPunct="1"/>
            <a:r>
              <a:rPr lang="zh-CN" altLang="en-US" dirty="0"/>
              <a:t>冲突可串行化调度（续）</a:t>
            </a:r>
            <a:endParaRPr lang="zh-CN" altLang="en-US" dirty="0"/>
          </a:p>
        </p:txBody>
      </p:sp>
      <p:sp>
        <p:nvSpPr>
          <p:cNvPr id="75778" name="Rectangle 3"/>
          <p:cNvSpPr>
            <a:spLocks noGrp="1"/>
          </p:cNvSpPr>
          <p:nvPr>
            <p:ph idx="1"/>
          </p:nvPr>
        </p:nvSpPr>
        <p:spPr>
          <a:xfrm>
            <a:off x="285750" y="1143000"/>
            <a:ext cx="8281988" cy="4876800"/>
          </a:xfrm>
          <a:ln/>
        </p:spPr>
        <p:txBody>
          <a:bodyPr vert="horz" wrap="square" lIns="91440" tIns="45720" rIns="91440" bIns="45720" anchor="t" anchorCtr="0"/>
          <a:p>
            <a:pPr eaLnBrk="1" hangingPunct="1">
              <a:lnSpc>
                <a:spcPct val="130000"/>
              </a:lnSpc>
            </a:pPr>
            <a:r>
              <a:rPr lang="zh-CN" altLang="en-US" sz="2400" b="1" dirty="0">
                <a:solidFill>
                  <a:srgbClr val="FF0000"/>
                </a:solidFill>
              </a:rPr>
              <a:t>冲突可串行化调度</a:t>
            </a:r>
            <a:r>
              <a:rPr lang="zh-CN" altLang="en-US" sz="2400" dirty="0"/>
              <a:t>是</a:t>
            </a:r>
            <a:r>
              <a:rPr lang="zh-CN" altLang="en-US" sz="2400" b="1" dirty="0">
                <a:solidFill>
                  <a:srgbClr val="FF0000"/>
                </a:solidFill>
              </a:rPr>
              <a:t>可串行化调度</a:t>
            </a:r>
            <a:r>
              <a:rPr lang="zh-CN" altLang="en-US" sz="2400" dirty="0"/>
              <a:t>的</a:t>
            </a:r>
            <a:r>
              <a:rPr lang="zh-CN" altLang="en-US" sz="2400" dirty="0">
                <a:solidFill>
                  <a:srgbClr val="FF00FF"/>
                </a:solidFill>
              </a:rPr>
              <a:t>充分条件</a:t>
            </a:r>
            <a:r>
              <a:rPr lang="zh-CN" altLang="en-US" sz="2400" dirty="0"/>
              <a:t>，不是必要条件。还有不满足冲突可串行化条件的可串行化调度。</a:t>
            </a:r>
            <a:endParaRPr lang="zh-CN" altLang="en-US" dirty="0"/>
          </a:p>
          <a:p>
            <a:pPr eaLnBrk="1" hangingPunct="1">
              <a:lnSpc>
                <a:spcPct val="130000"/>
              </a:lnSpc>
              <a:buNone/>
            </a:pPr>
            <a:r>
              <a:rPr lang="zh-CN" altLang="en-US" sz="2400" dirty="0"/>
              <a:t>    </a:t>
            </a:r>
            <a:r>
              <a:rPr lang="en-US" altLang="zh-CN" sz="2400" dirty="0"/>
              <a:t>[</a:t>
            </a:r>
            <a:r>
              <a:rPr lang="zh-CN" altLang="en-US" sz="2400" dirty="0"/>
              <a:t>例</a:t>
            </a:r>
            <a:r>
              <a:rPr lang="en-US" altLang="zh-CN" sz="2400" dirty="0"/>
              <a:t>]</a:t>
            </a:r>
            <a:r>
              <a:rPr lang="zh-CN" altLang="en-US" sz="2400" dirty="0"/>
              <a:t>有</a:t>
            </a:r>
            <a:r>
              <a:rPr lang="en-US" altLang="zh-CN" sz="2400" dirty="0"/>
              <a:t>3</a:t>
            </a:r>
            <a:r>
              <a:rPr lang="zh-CN" altLang="en-US" sz="2400" dirty="0"/>
              <a:t>个事务</a:t>
            </a:r>
            <a:endParaRPr lang="zh-CN" altLang="en-US" sz="2400" dirty="0"/>
          </a:p>
          <a:p>
            <a:pPr eaLnBrk="1" hangingPunct="1">
              <a:lnSpc>
                <a:spcPct val="130000"/>
              </a:lnSpc>
              <a:buNone/>
            </a:pPr>
            <a:r>
              <a:rPr lang="zh-CN" altLang="en-US" sz="2400" dirty="0"/>
              <a:t>       </a:t>
            </a:r>
            <a:r>
              <a:rPr lang="en-US" altLang="zh-CN" sz="2400" dirty="0"/>
              <a:t>T1=W1(Y)W1(X)</a:t>
            </a:r>
            <a:r>
              <a:rPr lang="zh-CN" altLang="en-US" sz="2400" dirty="0"/>
              <a:t>，</a:t>
            </a:r>
            <a:r>
              <a:rPr lang="en-US" altLang="zh-CN" sz="2400" dirty="0"/>
              <a:t>T2=W2(Y)W2(X)</a:t>
            </a:r>
            <a:r>
              <a:rPr lang="zh-CN" altLang="en-US" sz="2400" dirty="0"/>
              <a:t>，</a:t>
            </a:r>
            <a:r>
              <a:rPr lang="en-US" altLang="zh-CN" sz="2400" dirty="0"/>
              <a:t>T3=W3(X)</a:t>
            </a:r>
            <a:endParaRPr lang="en-US" altLang="zh-CN" sz="2400" dirty="0"/>
          </a:p>
          <a:p>
            <a:pPr lvl="1" indent="-436245" eaLnBrk="1" hangingPunct="1">
              <a:lnSpc>
                <a:spcPct val="130000"/>
              </a:lnSpc>
            </a:pPr>
            <a:r>
              <a:rPr lang="zh-CN" altLang="en-US" sz="2200" dirty="0"/>
              <a:t>调度</a:t>
            </a:r>
            <a:r>
              <a:rPr lang="en-US" altLang="zh-CN" sz="2200" dirty="0"/>
              <a:t>L1=W1(Y)</a:t>
            </a:r>
            <a:r>
              <a:rPr lang="en-US" altLang="zh-CN" sz="2200" b="1" u="sng" dirty="0">
                <a:solidFill>
                  <a:srgbClr val="003399"/>
                </a:solidFill>
              </a:rPr>
              <a:t>W1(X)</a:t>
            </a:r>
            <a:r>
              <a:rPr lang="en-US" altLang="zh-CN" sz="2200" dirty="0"/>
              <a:t>W2(Y)</a:t>
            </a:r>
            <a:r>
              <a:rPr lang="en-US" altLang="zh-CN" sz="2200" dirty="0">
                <a:solidFill>
                  <a:srgbClr val="FF0000"/>
                </a:solidFill>
              </a:rPr>
              <a:t>W2(X)</a:t>
            </a:r>
            <a:r>
              <a:rPr lang="en-US" altLang="zh-CN" sz="2200" dirty="0"/>
              <a:t> W</a:t>
            </a:r>
            <a:r>
              <a:rPr lang="en-US" altLang="zh-CN" sz="2200" u="sng" dirty="0"/>
              <a:t>3</a:t>
            </a:r>
            <a:r>
              <a:rPr lang="en-US" altLang="zh-CN" sz="2200" dirty="0"/>
              <a:t>(X)</a:t>
            </a:r>
            <a:r>
              <a:rPr lang="zh-CN" altLang="en-US" sz="2200" dirty="0"/>
              <a:t>是一个串行调度。</a:t>
            </a:r>
            <a:endParaRPr lang="zh-CN" altLang="en-US" sz="2200" dirty="0"/>
          </a:p>
          <a:p>
            <a:pPr lvl="1" indent="-436245" eaLnBrk="1" hangingPunct="1">
              <a:lnSpc>
                <a:spcPct val="130000"/>
              </a:lnSpc>
            </a:pPr>
            <a:r>
              <a:rPr lang="zh-CN" altLang="en-US" sz="2200" dirty="0"/>
              <a:t>调度</a:t>
            </a:r>
            <a:r>
              <a:rPr lang="en-US" altLang="zh-CN" sz="2200" dirty="0"/>
              <a:t>L2=W1(Y)</a:t>
            </a:r>
            <a:r>
              <a:rPr lang="en-US" altLang="zh-CN" sz="2200" dirty="0">
                <a:solidFill>
                  <a:srgbClr val="003399"/>
                </a:solidFill>
              </a:rPr>
              <a:t>W2(Y)</a:t>
            </a:r>
            <a:r>
              <a:rPr lang="en-US" altLang="zh-CN" sz="2200" dirty="0">
                <a:solidFill>
                  <a:srgbClr val="FF0000"/>
                </a:solidFill>
              </a:rPr>
              <a:t>W2(X)</a:t>
            </a:r>
            <a:r>
              <a:rPr lang="en-US" altLang="zh-CN" sz="2200" u="sng" dirty="0">
                <a:solidFill>
                  <a:srgbClr val="FF0000"/>
                </a:solidFill>
              </a:rPr>
              <a:t>W1(X)</a:t>
            </a:r>
            <a:r>
              <a:rPr lang="en-US" altLang="zh-CN" sz="2200" dirty="0"/>
              <a:t>W3(X)</a:t>
            </a:r>
            <a:r>
              <a:rPr lang="zh-CN" altLang="en-US" sz="2200" dirty="0"/>
              <a:t>不满足冲突可串行化因为把不同事务对同一对象的写写操作互换了。但是调度</a:t>
            </a:r>
            <a:r>
              <a:rPr lang="en-US" altLang="zh-CN" sz="2200" dirty="0"/>
              <a:t>L2</a:t>
            </a:r>
            <a:r>
              <a:rPr lang="zh-CN" altLang="en-US" sz="2200" dirty="0"/>
              <a:t>是可串行化的，因为</a:t>
            </a:r>
            <a:r>
              <a:rPr lang="en-US" altLang="zh-CN" sz="2200" dirty="0"/>
              <a:t>L2</a:t>
            </a:r>
            <a:r>
              <a:rPr lang="zh-CN" altLang="en-US" sz="2200" dirty="0"/>
              <a:t>执行的结果与调度</a:t>
            </a:r>
            <a:r>
              <a:rPr lang="en-US" altLang="zh-CN" sz="2200" dirty="0"/>
              <a:t>L1</a:t>
            </a:r>
            <a:r>
              <a:rPr lang="zh-CN" altLang="en-US" sz="2200" dirty="0"/>
              <a:t>相同，</a:t>
            </a:r>
            <a:r>
              <a:rPr lang="en-US" altLang="zh-CN" sz="2200" dirty="0"/>
              <a:t>Y</a:t>
            </a:r>
            <a:r>
              <a:rPr lang="zh-CN" altLang="en-US" sz="2200" dirty="0"/>
              <a:t>的值都等于</a:t>
            </a:r>
            <a:r>
              <a:rPr lang="en-US" altLang="zh-CN" sz="2200" dirty="0"/>
              <a:t>T2</a:t>
            </a:r>
            <a:r>
              <a:rPr lang="zh-CN" altLang="en-US" sz="2200" dirty="0"/>
              <a:t>的值，</a:t>
            </a:r>
            <a:r>
              <a:rPr lang="en-US" altLang="zh-CN" sz="2200" dirty="0"/>
              <a:t>X</a:t>
            </a:r>
            <a:r>
              <a:rPr lang="zh-CN" altLang="en-US" sz="2200" dirty="0"/>
              <a:t>的值都等于</a:t>
            </a:r>
            <a:r>
              <a:rPr lang="en-US" altLang="zh-CN" sz="2200" dirty="0"/>
              <a:t>T3</a:t>
            </a:r>
            <a:r>
              <a:rPr lang="zh-CN" altLang="en-US" sz="2200" dirty="0"/>
              <a:t>的值 </a:t>
            </a:r>
            <a:endParaRPr lang="zh-CN" altLang="en-US" sz="2200" dirty="0"/>
          </a:p>
        </p:txBody>
      </p:sp>
    </p:spTree>
  </p:cSld>
  <p:clrMapOvr>
    <a:masterClrMapping/>
  </p:clrMapOvr>
  <p:transition advClick="0"/>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Rectangle 2"/>
          <p:cNvSpPr>
            <a:spLocks noGrp="1"/>
          </p:cNvSpPr>
          <p:nvPr>
            <p:ph type="title"/>
          </p:nvPr>
        </p:nvSpPr>
        <p:spPr>
          <a:ln/>
        </p:spPr>
        <p:txBody>
          <a:bodyPr vert="horz" wrap="square" lIns="91440" tIns="45720" rIns="91440" bIns="45720" anchor="b" anchorCtr="0"/>
          <a:p>
            <a:pPr eaLnBrk="1" hangingPunct="1"/>
            <a:r>
              <a:rPr lang="zh-CN" altLang="en-US" dirty="0"/>
              <a:t>第十一章  并发控制</a:t>
            </a:r>
            <a:endParaRPr lang="zh-CN" altLang="en-US" dirty="0"/>
          </a:p>
        </p:txBody>
      </p:sp>
      <p:sp>
        <p:nvSpPr>
          <p:cNvPr id="76802" name="Rectangle 3"/>
          <p:cNvSpPr>
            <a:spLocks noGrp="1"/>
          </p:cNvSpPr>
          <p:nvPr>
            <p:ph idx="1"/>
          </p:nvPr>
        </p:nvSpPr>
        <p:spPr>
          <a:xfrm>
            <a:off x="785813" y="1143000"/>
            <a:ext cx="7715250" cy="4929188"/>
          </a:xfrm>
          <a:ln/>
        </p:spPr>
        <p:txBody>
          <a:bodyPr vert="horz" wrap="square" lIns="91440" tIns="45720" rIns="91440" bIns="45720" anchor="t" anchorCtr="0"/>
          <a:p>
            <a:pPr algn="just" eaLnBrk="1" hangingPunct="1">
              <a:buNone/>
            </a:pPr>
            <a:r>
              <a:rPr lang="en-US" altLang="zh-CN" b="1" dirty="0"/>
              <a:t>11.1 </a:t>
            </a:r>
            <a:r>
              <a:rPr lang="zh-CN" altLang="en-US" b="1" dirty="0"/>
              <a:t>并发控制概述</a:t>
            </a:r>
            <a:endParaRPr lang="en-US" altLang="zh-CN" b="1" dirty="0"/>
          </a:p>
          <a:p>
            <a:pPr algn="just" eaLnBrk="1" hangingPunct="1">
              <a:buNone/>
            </a:pPr>
            <a:r>
              <a:rPr lang="en-US" altLang="zh-CN" b="1" dirty="0"/>
              <a:t>11.2 </a:t>
            </a:r>
            <a:r>
              <a:rPr lang="zh-CN" altLang="en-US" b="1" dirty="0"/>
              <a:t>封锁</a:t>
            </a:r>
            <a:endParaRPr lang="en-US" altLang="zh-CN" b="1" dirty="0"/>
          </a:p>
          <a:p>
            <a:pPr algn="just" eaLnBrk="1" hangingPunct="1">
              <a:buNone/>
            </a:pPr>
            <a:r>
              <a:rPr lang="en-US" altLang="zh-CN" b="1" dirty="0"/>
              <a:t>11.3 </a:t>
            </a:r>
            <a:r>
              <a:rPr lang="zh-CN" altLang="en-US" b="1" dirty="0"/>
              <a:t>封锁协议</a:t>
            </a:r>
            <a:endParaRPr lang="en-US" altLang="zh-CN" b="1" dirty="0"/>
          </a:p>
          <a:p>
            <a:pPr algn="just" eaLnBrk="1" hangingPunct="1">
              <a:buNone/>
            </a:pPr>
            <a:r>
              <a:rPr lang="en-US" altLang="zh-CN" b="1" dirty="0"/>
              <a:t>11.4 </a:t>
            </a:r>
            <a:r>
              <a:rPr lang="zh-CN" altLang="en-US" b="1" dirty="0"/>
              <a:t>活锁和死锁</a:t>
            </a:r>
            <a:endParaRPr lang="en-US" altLang="zh-CN" b="1" dirty="0"/>
          </a:p>
          <a:p>
            <a:pPr algn="just" eaLnBrk="1" hangingPunct="1">
              <a:buNone/>
            </a:pPr>
            <a:r>
              <a:rPr lang="en-US" altLang="zh-CN" b="1" dirty="0"/>
              <a:t>11.5 </a:t>
            </a:r>
            <a:r>
              <a:rPr lang="zh-CN" altLang="en-US" b="1" dirty="0"/>
              <a:t>并发调度的可串行性</a:t>
            </a:r>
            <a:endParaRPr lang="en-US" altLang="zh-CN" b="1" dirty="0"/>
          </a:p>
          <a:p>
            <a:pPr algn="just" eaLnBrk="1" hangingPunct="1">
              <a:buNone/>
            </a:pPr>
            <a:r>
              <a:rPr lang="en-US" altLang="zh-CN" b="1" dirty="0">
                <a:solidFill>
                  <a:srgbClr val="FF0000"/>
                </a:solidFill>
              </a:rPr>
              <a:t>11.6 </a:t>
            </a:r>
            <a:r>
              <a:rPr lang="zh-CN" altLang="en-US" b="1" dirty="0">
                <a:solidFill>
                  <a:srgbClr val="FF0000"/>
                </a:solidFill>
              </a:rPr>
              <a:t>两段锁协议</a:t>
            </a:r>
            <a:endParaRPr lang="en-US" altLang="zh-CN" b="1" dirty="0">
              <a:solidFill>
                <a:srgbClr val="FF0000"/>
              </a:solidFill>
            </a:endParaRPr>
          </a:p>
          <a:p>
            <a:pPr algn="just" eaLnBrk="1" hangingPunct="1">
              <a:buNone/>
            </a:pPr>
            <a:r>
              <a:rPr lang="en-US" altLang="zh-CN" b="1" dirty="0"/>
              <a:t>11.7 </a:t>
            </a:r>
            <a:r>
              <a:rPr lang="zh-CN" altLang="en-US" b="1" dirty="0"/>
              <a:t>封锁的粒度</a:t>
            </a:r>
            <a:endParaRPr lang="en-US" altLang="zh-CN" b="1" dirty="0"/>
          </a:p>
          <a:p>
            <a:pPr algn="just" eaLnBrk="1" hangingPunct="1">
              <a:buNone/>
            </a:pPr>
            <a:r>
              <a:rPr lang="zh-CN" altLang="en-US" b="1" dirty="0"/>
              <a:t>*</a:t>
            </a:r>
            <a:r>
              <a:rPr lang="en-US" altLang="zh-CN" b="1" dirty="0"/>
              <a:t>11.8 </a:t>
            </a:r>
            <a:r>
              <a:rPr lang="zh-CN" altLang="en-US" b="1" dirty="0"/>
              <a:t>其他并发控制机制</a:t>
            </a:r>
            <a:endParaRPr lang="zh-CN" altLang="en-US" b="1" dirty="0"/>
          </a:p>
        </p:txBody>
      </p:sp>
    </p:spTree>
  </p:cSld>
  <p:clrMapOvr>
    <a:masterClrMapping/>
  </p:clrMapOvr>
  <p:transition advClick="0"/>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2"/>
          <p:cNvSpPr>
            <a:spLocks noGrp="1"/>
          </p:cNvSpPr>
          <p:nvPr>
            <p:ph type="title"/>
          </p:nvPr>
        </p:nvSpPr>
        <p:spPr>
          <a:ln/>
        </p:spPr>
        <p:txBody>
          <a:bodyPr vert="horz" wrap="square" lIns="91440" tIns="45720" rIns="91440" bIns="45720" anchor="b" anchorCtr="0"/>
          <a:p>
            <a:pPr eaLnBrk="1" hangingPunct="1"/>
            <a:r>
              <a:rPr lang="en-US" altLang="zh-CN" dirty="0"/>
              <a:t>11.6 </a:t>
            </a:r>
            <a:r>
              <a:rPr lang="zh-CN" altLang="en-US" dirty="0"/>
              <a:t>两段锁协议</a:t>
            </a:r>
            <a:endParaRPr lang="zh-CN" altLang="en-US" dirty="0"/>
          </a:p>
        </p:txBody>
      </p:sp>
      <p:sp>
        <p:nvSpPr>
          <p:cNvPr id="77826" name="Rectangle 3"/>
          <p:cNvSpPr>
            <a:spLocks noGrp="1"/>
          </p:cNvSpPr>
          <p:nvPr>
            <p:ph idx="1"/>
          </p:nvPr>
        </p:nvSpPr>
        <p:spPr>
          <a:ln/>
        </p:spPr>
        <p:txBody>
          <a:bodyPr vert="horz" wrap="square" lIns="91440" tIns="45720" rIns="91440" bIns="45720" anchor="t" anchorCtr="0"/>
          <a:p>
            <a:pPr eaLnBrk="1" hangingPunct="1">
              <a:lnSpc>
                <a:spcPct val="120000"/>
              </a:lnSpc>
            </a:pPr>
            <a:r>
              <a:rPr lang="zh-CN" altLang="en-US" sz="2200" dirty="0"/>
              <a:t>封锁协议</a:t>
            </a:r>
            <a:endParaRPr lang="zh-CN" altLang="en-US" sz="2200" dirty="0"/>
          </a:p>
          <a:p>
            <a:pPr eaLnBrk="1" hangingPunct="1">
              <a:lnSpc>
                <a:spcPct val="120000"/>
              </a:lnSpc>
              <a:buNone/>
            </a:pPr>
            <a:r>
              <a:rPr lang="zh-CN" altLang="en-US" sz="2200" dirty="0"/>
              <a:t>     运用封锁方法时，对数据对象加锁时需要约定一些规则 </a:t>
            </a:r>
            <a:endParaRPr lang="zh-CN" altLang="en-US" sz="2200" dirty="0"/>
          </a:p>
          <a:p>
            <a:pPr lvl="1" indent="-436245" eaLnBrk="1" hangingPunct="1">
              <a:lnSpc>
                <a:spcPct val="120000"/>
              </a:lnSpc>
            </a:pPr>
            <a:r>
              <a:rPr lang="zh-CN" altLang="en-US" sz="2000" dirty="0"/>
              <a:t>何时申请封锁</a:t>
            </a:r>
            <a:endParaRPr lang="zh-CN" altLang="en-US" sz="2000" dirty="0"/>
          </a:p>
          <a:p>
            <a:pPr lvl="1" indent="-436245" eaLnBrk="1" hangingPunct="1">
              <a:lnSpc>
                <a:spcPct val="120000"/>
              </a:lnSpc>
            </a:pPr>
            <a:r>
              <a:rPr lang="zh-CN" altLang="en-US" sz="2000" dirty="0"/>
              <a:t>持锁时间</a:t>
            </a:r>
            <a:endParaRPr lang="zh-CN" altLang="en-US" sz="2000" dirty="0"/>
          </a:p>
          <a:p>
            <a:pPr lvl="1" indent="-436245" eaLnBrk="1" hangingPunct="1">
              <a:lnSpc>
                <a:spcPct val="120000"/>
              </a:lnSpc>
            </a:pPr>
            <a:r>
              <a:rPr lang="zh-CN" altLang="en-US" sz="2000" dirty="0"/>
              <a:t>何时释放封锁等</a:t>
            </a:r>
            <a:endParaRPr lang="zh-CN" altLang="en-US" sz="2000" dirty="0"/>
          </a:p>
          <a:p>
            <a:pPr eaLnBrk="1" hangingPunct="1">
              <a:lnSpc>
                <a:spcPct val="120000"/>
              </a:lnSpc>
            </a:pPr>
            <a:r>
              <a:rPr lang="zh-CN" altLang="en-US" sz="2200" dirty="0"/>
              <a:t>两段封锁协议</a:t>
            </a:r>
            <a:r>
              <a:rPr lang="en-US" altLang="zh-CN" sz="2200" dirty="0"/>
              <a:t>(Two-Phase Locking</a:t>
            </a:r>
            <a:r>
              <a:rPr lang="zh-CN" altLang="en-US" sz="2200" dirty="0"/>
              <a:t>，简称</a:t>
            </a:r>
            <a:r>
              <a:rPr lang="en-US" altLang="zh-CN" sz="2200" dirty="0"/>
              <a:t>2PL)</a:t>
            </a:r>
            <a:r>
              <a:rPr lang="zh-CN" altLang="en-US" sz="2200" dirty="0"/>
              <a:t>是最常用的一种封锁协议，理论上证明</a:t>
            </a:r>
            <a:r>
              <a:rPr lang="zh-CN" altLang="en-US" sz="2200" b="1" dirty="0">
                <a:solidFill>
                  <a:srgbClr val="003399"/>
                </a:solidFill>
              </a:rPr>
              <a:t>使用两段封锁协议</a:t>
            </a:r>
            <a:r>
              <a:rPr lang="zh-CN" altLang="en-US" sz="2200" dirty="0"/>
              <a:t>产生的是</a:t>
            </a:r>
            <a:r>
              <a:rPr lang="zh-CN" altLang="en-US" sz="2200" b="1" dirty="0">
                <a:solidFill>
                  <a:srgbClr val="003399"/>
                </a:solidFill>
              </a:rPr>
              <a:t>可串行化调度</a:t>
            </a:r>
            <a:endParaRPr lang="zh-CN" altLang="en-US" sz="2200" b="1" dirty="0">
              <a:solidFill>
                <a:srgbClr val="003399"/>
              </a:solidFill>
            </a:endParaRPr>
          </a:p>
          <a:p>
            <a:pPr eaLnBrk="1" hangingPunct="1">
              <a:lnSpc>
                <a:spcPct val="120000"/>
              </a:lnSpc>
            </a:pPr>
            <a:endParaRPr lang="en-US" altLang="zh-CN" sz="2200" dirty="0"/>
          </a:p>
        </p:txBody>
      </p:sp>
    </p:spTree>
  </p:cSld>
  <p:clrMapOvr>
    <a:masterClrMapping/>
  </p:clrMapOvr>
  <p:transition advClick="0"/>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Rectangle 2"/>
          <p:cNvSpPr>
            <a:spLocks noGrp="1"/>
          </p:cNvSpPr>
          <p:nvPr>
            <p:ph type="title"/>
          </p:nvPr>
        </p:nvSpPr>
        <p:spPr>
          <a:ln/>
        </p:spPr>
        <p:txBody>
          <a:bodyPr vert="horz" wrap="square" lIns="91440" tIns="45720" rIns="91440" bIns="45720" anchor="b" anchorCtr="0"/>
          <a:p>
            <a:pPr eaLnBrk="1" hangingPunct="1"/>
            <a:r>
              <a:rPr lang="zh-CN" altLang="en-US" dirty="0"/>
              <a:t>两段锁协议（续）</a:t>
            </a:r>
            <a:endParaRPr lang="zh-CN" altLang="en-US" dirty="0"/>
          </a:p>
        </p:txBody>
      </p:sp>
      <p:sp>
        <p:nvSpPr>
          <p:cNvPr id="78850" name="Rectangle 3"/>
          <p:cNvSpPr>
            <a:spLocks noGrp="1"/>
          </p:cNvSpPr>
          <p:nvPr>
            <p:ph idx="1"/>
          </p:nvPr>
        </p:nvSpPr>
        <p:spPr>
          <a:xfrm>
            <a:off x="357188" y="1143000"/>
            <a:ext cx="8229600" cy="4857750"/>
          </a:xfrm>
          <a:ln/>
        </p:spPr>
        <p:txBody>
          <a:bodyPr vert="horz" wrap="square" lIns="91440" tIns="45720" rIns="91440" bIns="45720" anchor="t" anchorCtr="0"/>
          <a:p>
            <a:pPr eaLnBrk="1" hangingPunct="1">
              <a:lnSpc>
                <a:spcPct val="170000"/>
              </a:lnSpc>
            </a:pPr>
            <a:r>
              <a:rPr lang="zh-CN" altLang="en-US" dirty="0"/>
              <a:t>两段锁协议</a:t>
            </a:r>
            <a:endParaRPr lang="zh-CN" altLang="en-US" dirty="0"/>
          </a:p>
          <a:p>
            <a:pPr eaLnBrk="1" hangingPunct="1">
              <a:lnSpc>
                <a:spcPct val="170000"/>
              </a:lnSpc>
              <a:buNone/>
            </a:pPr>
            <a:r>
              <a:rPr lang="zh-CN" altLang="en-US" sz="2400" dirty="0"/>
              <a:t>     指所有</a:t>
            </a:r>
            <a:r>
              <a:rPr lang="zh-CN" altLang="en-US" sz="2400" dirty="0">
                <a:solidFill>
                  <a:srgbClr val="FF0000"/>
                </a:solidFill>
              </a:rPr>
              <a:t>事务</a:t>
            </a:r>
            <a:r>
              <a:rPr lang="zh-CN" altLang="en-US" sz="2400" dirty="0"/>
              <a:t>必须分</a:t>
            </a:r>
            <a:r>
              <a:rPr lang="zh-CN" altLang="en-US" sz="2400" b="1" dirty="0">
                <a:solidFill>
                  <a:srgbClr val="003399"/>
                </a:solidFill>
              </a:rPr>
              <a:t>两个阶段</a:t>
            </a:r>
            <a:r>
              <a:rPr lang="zh-CN" altLang="en-US" sz="2400" dirty="0"/>
              <a:t>对数据项加锁和解锁</a:t>
            </a:r>
            <a:r>
              <a:rPr lang="zh-CN" altLang="en-US" dirty="0"/>
              <a:t> </a:t>
            </a:r>
            <a:endParaRPr lang="zh-CN" altLang="en-US" dirty="0"/>
          </a:p>
          <a:p>
            <a:pPr lvl="1" indent="-436245" eaLnBrk="1" hangingPunct="1">
              <a:lnSpc>
                <a:spcPct val="170000"/>
              </a:lnSpc>
              <a:buFont typeface="Wingdings" panose="05000000000000000000" pitchFamily="2" charset="2"/>
              <a:buChar char="n"/>
            </a:pPr>
            <a:r>
              <a:rPr lang="zh-CN" altLang="en-US" dirty="0"/>
              <a:t>在对任何数据进行读、写操作之前，事务首先要获得对该数据的封锁</a:t>
            </a:r>
            <a:endParaRPr lang="zh-CN" altLang="en-US" dirty="0"/>
          </a:p>
          <a:p>
            <a:pPr lvl="1" indent="-436245" eaLnBrk="1" hangingPunct="1">
              <a:lnSpc>
                <a:spcPct val="170000"/>
              </a:lnSpc>
              <a:buFont typeface="Wingdings" panose="05000000000000000000" pitchFamily="2" charset="2"/>
              <a:buChar char="n"/>
            </a:pPr>
            <a:r>
              <a:rPr lang="zh-CN" altLang="en-US" dirty="0"/>
              <a:t> 在释放一个封锁之后，事务不再申请和获得任何其他封锁</a:t>
            </a:r>
            <a:endParaRPr lang="zh-CN" altLang="en-US" dirty="0"/>
          </a:p>
        </p:txBody>
      </p:sp>
    </p:spTree>
  </p:cSld>
  <p:clrMapOvr>
    <a:masterClrMapping/>
  </p:clrMapOvr>
  <p:transition advClick="0"/>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Rectangle 2"/>
          <p:cNvSpPr>
            <a:spLocks noGrp="1"/>
          </p:cNvSpPr>
          <p:nvPr>
            <p:ph type="title"/>
          </p:nvPr>
        </p:nvSpPr>
        <p:spPr>
          <a:ln/>
        </p:spPr>
        <p:txBody>
          <a:bodyPr vert="horz" wrap="square" lIns="91440" tIns="45720" rIns="91440" bIns="45720" anchor="b" anchorCtr="0"/>
          <a:p>
            <a:pPr eaLnBrk="1" hangingPunct="1"/>
            <a:r>
              <a:rPr lang="zh-CN" altLang="en-US" dirty="0"/>
              <a:t>两段锁协议（续）</a:t>
            </a:r>
            <a:endParaRPr lang="zh-CN" altLang="en-US" dirty="0"/>
          </a:p>
        </p:txBody>
      </p:sp>
      <p:sp>
        <p:nvSpPr>
          <p:cNvPr id="79874" name="Rectangle 3"/>
          <p:cNvSpPr>
            <a:spLocks noGrp="1"/>
          </p:cNvSpPr>
          <p:nvPr>
            <p:ph idx="1"/>
          </p:nvPr>
        </p:nvSpPr>
        <p:spPr>
          <a:xfrm>
            <a:off x="357188" y="1143000"/>
            <a:ext cx="8135937" cy="4822825"/>
          </a:xfrm>
          <a:ln/>
        </p:spPr>
        <p:txBody>
          <a:bodyPr vert="horz" wrap="square" lIns="91440" tIns="45720" rIns="91440" bIns="45720" anchor="t" anchorCtr="0"/>
          <a:p>
            <a:pPr eaLnBrk="1" hangingPunct="1">
              <a:lnSpc>
                <a:spcPct val="90000"/>
              </a:lnSpc>
            </a:pPr>
            <a:r>
              <a:rPr lang="en-US" altLang="zh-CN" sz="2400" dirty="0"/>
              <a:t>“</a:t>
            </a:r>
            <a:r>
              <a:rPr lang="zh-CN" altLang="en-US" sz="2400" dirty="0"/>
              <a:t>两段”锁的含义</a:t>
            </a:r>
            <a:endParaRPr lang="zh-CN" altLang="en-US" sz="2400" dirty="0"/>
          </a:p>
          <a:p>
            <a:pPr lvl="1" indent="-436245" eaLnBrk="1" hangingPunct="1">
              <a:lnSpc>
                <a:spcPct val="160000"/>
              </a:lnSpc>
              <a:buNone/>
            </a:pPr>
            <a:r>
              <a:rPr lang="zh-CN" altLang="en-US" sz="2600" dirty="0"/>
              <a:t>事务分为两个阶段</a:t>
            </a:r>
            <a:endParaRPr lang="zh-CN" altLang="en-US" sz="2600" dirty="0"/>
          </a:p>
          <a:p>
            <a:pPr lvl="1" indent="-436245" eaLnBrk="1" hangingPunct="1">
              <a:lnSpc>
                <a:spcPct val="160000"/>
              </a:lnSpc>
            </a:pPr>
            <a:r>
              <a:rPr lang="zh-CN" altLang="en-US" sz="2200" dirty="0"/>
              <a:t> 第一阶段是获得封锁，也称为扩展阶段</a:t>
            </a:r>
            <a:endParaRPr lang="zh-CN" altLang="en-US" sz="2200" dirty="0"/>
          </a:p>
          <a:p>
            <a:pPr lvl="2" indent="-394970" eaLnBrk="1" hangingPunct="1">
              <a:lnSpc>
                <a:spcPct val="160000"/>
              </a:lnSpc>
              <a:buFont typeface="Wingdings" panose="05000000000000000000" pitchFamily="2" charset="2"/>
              <a:buChar char="Ø"/>
            </a:pPr>
            <a:r>
              <a:rPr lang="zh-CN" altLang="en-US" sz="2400" dirty="0"/>
              <a:t>事务可以申请获得任何数据项上的任何类型的锁，但是不能释放任何锁 </a:t>
            </a:r>
            <a:endParaRPr lang="zh-CN" altLang="en-US" sz="2800" dirty="0"/>
          </a:p>
          <a:p>
            <a:pPr lvl="1" indent="-436245" eaLnBrk="1" hangingPunct="1">
              <a:lnSpc>
                <a:spcPct val="160000"/>
              </a:lnSpc>
            </a:pPr>
            <a:r>
              <a:rPr lang="zh-CN" altLang="en-US" sz="2200" dirty="0"/>
              <a:t> 第二阶段是释放封锁，也称为收缩阶段</a:t>
            </a:r>
            <a:endParaRPr lang="zh-CN" altLang="en-US" sz="2200" dirty="0"/>
          </a:p>
          <a:p>
            <a:pPr lvl="2" indent="-394970" eaLnBrk="1" hangingPunct="1">
              <a:lnSpc>
                <a:spcPct val="160000"/>
              </a:lnSpc>
              <a:buFont typeface="Wingdings" panose="05000000000000000000" pitchFamily="2" charset="2"/>
              <a:buChar char="Ø"/>
            </a:pPr>
            <a:r>
              <a:rPr lang="zh-CN" altLang="en-US" sz="2400" dirty="0"/>
              <a:t>事务可以释放任何数据项上的任何类型的锁，但是不能再申请任何锁 </a:t>
            </a:r>
            <a:endParaRPr lang="zh-CN" altLang="en-US" sz="2400" dirty="0"/>
          </a:p>
        </p:txBody>
      </p:sp>
    </p:spTree>
  </p:cSld>
  <p:clrMapOvr>
    <a:masterClrMapping/>
  </p:clrMapOvr>
  <p:transition advClick="0"/>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Rectangle 2"/>
          <p:cNvSpPr>
            <a:spLocks noGrp="1"/>
          </p:cNvSpPr>
          <p:nvPr>
            <p:ph type="title"/>
          </p:nvPr>
        </p:nvSpPr>
        <p:spPr>
          <a:ln/>
        </p:spPr>
        <p:txBody>
          <a:bodyPr vert="horz" wrap="square" lIns="91440" tIns="45720" rIns="91440" bIns="45720" anchor="b" anchorCtr="0"/>
          <a:p>
            <a:pPr eaLnBrk="1" hangingPunct="1"/>
            <a:r>
              <a:rPr lang="zh-CN" altLang="en-US" dirty="0"/>
              <a:t>两段锁协议（续）</a:t>
            </a:r>
            <a:endParaRPr lang="zh-CN" altLang="en-US" dirty="0"/>
          </a:p>
        </p:txBody>
      </p:sp>
      <p:sp>
        <p:nvSpPr>
          <p:cNvPr id="80898" name="Rectangle 3"/>
          <p:cNvSpPr>
            <a:spLocks noGrp="1"/>
          </p:cNvSpPr>
          <p:nvPr>
            <p:ph idx="1"/>
          </p:nvPr>
        </p:nvSpPr>
        <p:spPr>
          <a:xfrm>
            <a:off x="571500" y="1214438"/>
            <a:ext cx="8358188" cy="4929187"/>
          </a:xfrm>
          <a:ln/>
        </p:spPr>
        <p:txBody>
          <a:bodyPr vert="horz" wrap="square" lIns="91440" tIns="45720" rIns="91440" bIns="45720" anchor="t" anchorCtr="0"/>
          <a:p>
            <a:pPr eaLnBrk="1" hangingPunct="1">
              <a:lnSpc>
                <a:spcPct val="160000"/>
              </a:lnSpc>
              <a:buNone/>
            </a:pPr>
            <a:r>
              <a:rPr lang="zh-CN" altLang="en-US" sz="2400" dirty="0"/>
              <a:t>例：</a:t>
            </a:r>
            <a:endParaRPr lang="zh-CN" altLang="en-US" sz="2400" dirty="0"/>
          </a:p>
          <a:p>
            <a:pPr eaLnBrk="1" hangingPunct="1">
              <a:lnSpc>
                <a:spcPct val="160000"/>
              </a:lnSpc>
              <a:buNone/>
            </a:pPr>
            <a:r>
              <a:rPr lang="zh-CN" altLang="en-US" sz="2400" dirty="0"/>
              <a:t>事务</a:t>
            </a:r>
            <a:r>
              <a:rPr lang="en-US" altLang="zh-CN" sz="2400" dirty="0"/>
              <a:t>T</a:t>
            </a:r>
            <a:r>
              <a:rPr lang="en-US" altLang="zh-CN" sz="2400" i="1" dirty="0"/>
              <a:t>i</a:t>
            </a:r>
            <a:r>
              <a:rPr lang="zh-CN" altLang="en-US" sz="2400" dirty="0"/>
              <a:t>遵守两段锁协议，其封锁序列是 ：</a:t>
            </a:r>
            <a:endParaRPr lang="zh-CN" altLang="en-US" sz="2400" dirty="0"/>
          </a:p>
          <a:p>
            <a:pPr eaLnBrk="1" hangingPunct="1">
              <a:lnSpc>
                <a:spcPct val="160000"/>
              </a:lnSpc>
              <a:buNone/>
            </a:pPr>
            <a:r>
              <a:rPr lang="en-US" altLang="zh-CN" sz="2000" dirty="0"/>
              <a:t>Slock A    Slock B    Xlock C     Unlock B    Unlock A   Unlock C</a:t>
            </a:r>
            <a:r>
              <a:rPr lang="zh-CN" altLang="en-US" sz="2000" dirty="0"/>
              <a:t>；</a:t>
            </a:r>
            <a:endParaRPr lang="zh-CN" altLang="en-US" sz="2400" dirty="0"/>
          </a:p>
          <a:p>
            <a:pPr eaLnBrk="1" hangingPunct="1">
              <a:lnSpc>
                <a:spcPct val="160000"/>
              </a:lnSpc>
              <a:buNone/>
            </a:pPr>
            <a:r>
              <a:rPr lang="en-US" altLang="zh-CN" sz="2000" dirty="0"/>
              <a:t>|←		</a:t>
            </a:r>
            <a:r>
              <a:rPr lang="zh-CN" altLang="en-US" sz="2000" dirty="0"/>
              <a:t>扩展阶段	→</a:t>
            </a:r>
            <a:r>
              <a:rPr lang="en-US" altLang="zh-CN" sz="2000" dirty="0"/>
              <a:t>|	|←	    </a:t>
            </a:r>
            <a:r>
              <a:rPr lang="zh-CN" altLang="en-US" sz="2000" dirty="0"/>
              <a:t>收缩阶段           →</a:t>
            </a:r>
            <a:r>
              <a:rPr lang="en-US" altLang="zh-CN" sz="2000" dirty="0"/>
              <a:t>|</a:t>
            </a:r>
            <a:endParaRPr lang="en-US" altLang="zh-CN" sz="2000" dirty="0"/>
          </a:p>
          <a:p>
            <a:pPr eaLnBrk="1" hangingPunct="1">
              <a:lnSpc>
                <a:spcPct val="160000"/>
              </a:lnSpc>
              <a:buNone/>
            </a:pPr>
            <a:r>
              <a:rPr lang="zh-CN" altLang="en-US" sz="2400" dirty="0"/>
              <a:t>事务</a:t>
            </a:r>
            <a:r>
              <a:rPr lang="en-US" altLang="zh-CN" sz="2400" dirty="0"/>
              <a:t>T</a:t>
            </a:r>
            <a:r>
              <a:rPr lang="en-US" altLang="zh-CN" sz="2400" i="1" dirty="0"/>
              <a:t>j</a:t>
            </a:r>
            <a:r>
              <a:rPr lang="zh-CN" altLang="en-US" sz="2400" dirty="0"/>
              <a:t>不遵守两段锁协议，其封锁序列是：</a:t>
            </a:r>
            <a:r>
              <a:rPr lang="zh-CN" altLang="en-US" dirty="0"/>
              <a:t> </a:t>
            </a:r>
            <a:endParaRPr lang="zh-CN" altLang="en-US" sz="2400" dirty="0"/>
          </a:p>
          <a:p>
            <a:pPr eaLnBrk="1" hangingPunct="1">
              <a:lnSpc>
                <a:spcPct val="160000"/>
              </a:lnSpc>
              <a:buNone/>
            </a:pPr>
            <a:r>
              <a:rPr lang="en-US" altLang="zh-CN" sz="2000" dirty="0"/>
              <a:t>Slock A    Unlock A    Slock B    Xlock C    Unlock C    Unlock B</a:t>
            </a:r>
            <a:r>
              <a:rPr lang="zh-CN" altLang="en-US" sz="2000" dirty="0"/>
              <a:t>；</a:t>
            </a:r>
            <a:endParaRPr lang="zh-CN" altLang="en-US" sz="2000" dirty="0"/>
          </a:p>
        </p:txBody>
      </p:sp>
    </p:spTree>
  </p:cSld>
  <p:clrMapOvr>
    <a:masterClrMapping/>
  </p:clrMapOvr>
  <p:transition advClick="0"/>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2"/>
          <p:cNvSpPr>
            <a:spLocks noGrp="1"/>
          </p:cNvSpPr>
          <p:nvPr>
            <p:ph type="title"/>
          </p:nvPr>
        </p:nvSpPr>
        <p:spPr>
          <a:xfrm>
            <a:off x="428625" y="285750"/>
            <a:ext cx="7391400" cy="563563"/>
          </a:xfrm>
          <a:ln/>
        </p:spPr>
        <p:txBody>
          <a:bodyPr vert="horz" wrap="square" lIns="91440" tIns="45720" rIns="91440" bIns="45720" anchor="b" anchorCtr="0"/>
          <a:p>
            <a:pPr eaLnBrk="1" hangingPunct="1"/>
            <a:r>
              <a:rPr lang="zh-CN" altLang="en-US" dirty="0"/>
              <a:t>两段锁协议（续）</a:t>
            </a:r>
            <a:endParaRPr lang="zh-CN" altLang="en-US" dirty="0"/>
          </a:p>
        </p:txBody>
      </p:sp>
      <p:graphicFrame>
        <p:nvGraphicFramePr>
          <p:cNvPr id="515654" name="Group 582"/>
          <p:cNvGraphicFramePr>
            <a:graphicFrameLocks noGrp="1"/>
          </p:cNvGraphicFramePr>
          <p:nvPr>
            <p:ph idx="1"/>
          </p:nvPr>
        </p:nvGraphicFramePr>
        <p:xfrm>
          <a:off x="395288" y="785813"/>
          <a:ext cx="4762500" cy="5668963"/>
        </p:xfrm>
        <a:graphic>
          <a:graphicData uri="http://schemas.openxmlformats.org/drawingml/2006/table">
            <a:tbl>
              <a:tblPr/>
              <a:tblGrid>
                <a:gridCol w="2647950"/>
                <a:gridCol w="2114550"/>
              </a:tblGrid>
              <a:tr h="274304">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事务</a:t>
                      </a: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cap="flat">
                      <a:noFill/>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事务</a:t>
                      </a: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en-US" altLang="zh-CN" sz="12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w="12700" cap="flat" cmpd="sng" algn="ctr">
                      <a:solidFill>
                        <a:srgbClr val="000000"/>
                      </a:solidFill>
                      <a:prstDash val="solid"/>
                      <a:round/>
                      <a:headEnd type="none" w="med" len="med"/>
                      <a:tailEnd type="none" w="med" len="med"/>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r>
              <a:tr h="274304">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Slock(A)</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tr>
              <a:tr h="274304">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R(A=260)</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274304">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Slock(C)</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274304">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R(C=300)</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274304">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Xlock(A)</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274304">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W(A=160)</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274304">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 C )</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274304">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W(C=250)</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274304">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Slock(A)</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274304">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Slock(B)</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274304">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R(B=1000)</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274304">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Xlock(B)</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274304">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W(B=1100)</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274304">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Unlock(A)</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等待</a:t>
                      </a:r>
                      <a:endParaRPr kumimoji="1"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274304">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R(A=160)</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274304">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Xlock(A)</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274304">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Unlock(B)</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274304">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12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cap="flat">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W(A=210)</a:t>
                      </a:r>
                      <a:endParaRPr kumimoji="1" lang="en-US" altLang="zh-CN"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457183">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13" marB="45713" horzOverflow="overflow">
                    <a:lnL cap="flat">
                      <a:noFill/>
                    </a:lnL>
                    <a:lnR w="12700" cap="flat" cmpd="sng" algn="ctr">
                      <a:solidFill>
                        <a:srgbClr val="000000"/>
                      </a:solidFill>
                      <a:prstDash val="solid"/>
                      <a:round/>
                      <a:headEnd type="none" w="med" len="med"/>
                      <a:tailEnd type="none" w="med" len="med"/>
                    </a:lnR>
                    <a:lnT>
                      <a:noFill/>
                    </a:lnT>
                    <a:lnB cap="flat">
                      <a:noFill/>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1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Unlock( C )</a:t>
                      </a:r>
                      <a:endParaRPr kumimoji="1" lang="en-US" altLang="zh-CN" sz="12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13" marB="45713" horzOverflow="overflow">
                    <a:lnL w="12700" cap="flat" cmpd="sng" algn="ctr">
                      <a:solidFill>
                        <a:srgbClr val="000000"/>
                      </a:solidFill>
                      <a:prstDash val="solid"/>
                      <a:round/>
                      <a:headEnd type="none" w="med" len="med"/>
                      <a:tailEnd type="none" w="med" len="med"/>
                    </a:lnL>
                    <a:lnR cap="flat">
                      <a:noFill/>
                    </a:lnR>
                    <a:lnT>
                      <a:noFill/>
                    </a:lnT>
                    <a:lnB cap="flat">
                      <a:noFill/>
                    </a:lnB>
                    <a:lnTlToBr>
                      <a:noFill/>
                    </a:lnTlToBr>
                    <a:lnBlToTr>
                      <a:noFill/>
                    </a:lnBlToTr>
                    <a:noFill/>
                  </a:tcPr>
                </a:tc>
              </a:tr>
            </a:tbl>
          </a:graphicData>
        </a:graphic>
      </p:graphicFrame>
      <p:sp>
        <p:nvSpPr>
          <p:cNvPr id="81987" name="Text Box 584"/>
          <p:cNvSpPr txBox="1"/>
          <p:nvPr/>
        </p:nvSpPr>
        <p:spPr>
          <a:xfrm>
            <a:off x="1285875" y="6429375"/>
            <a:ext cx="2317750" cy="274638"/>
          </a:xfrm>
          <a:prstGeom prst="rect">
            <a:avLst/>
          </a:prstGeom>
          <a:noFill/>
          <a:ln w="25400">
            <a:noFill/>
          </a:ln>
        </p:spPr>
        <p:txBody>
          <a:bodyPr wrap="none" anchor="t" anchorCtr="0">
            <a:spAutoFit/>
          </a:bodyPr>
          <a:p>
            <a:pPr marL="342900" indent="-342900"/>
            <a:r>
              <a:rPr lang="zh-CN" altLang="en-US" sz="1200" dirty="0">
                <a:latin typeface="Verdana" panose="020B0604030504040204" pitchFamily="34" charset="0"/>
                <a:ea typeface="宋体" panose="02010600030101010101" pitchFamily="2" charset="-122"/>
              </a:rPr>
              <a:t>遵守两段锁协议的可串行化调度</a:t>
            </a:r>
            <a:endParaRPr lang="zh-CN" altLang="en-US" sz="1200" dirty="0">
              <a:latin typeface="Verdana" panose="020B0604030504040204" pitchFamily="34" charset="0"/>
              <a:ea typeface="宋体" panose="02010600030101010101" pitchFamily="2" charset="-122"/>
            </a:endParaRPr>
          </a:p>
        </p:txBody>
      </p:sp>
      <p:sp>
        <p:nvSpPr>
          <p:cNvPr id="81988" name="Text Box 586"/>
          <p:cNvSpPr txBox="1"/>
          <p:nvPr/>
        </p:nvSpPr>
        <p:spPr>
          <a:xfrm>
            <a:off x="4872038" y="1989138"/>
            <a:ext cx="3948112" cy="2530475"/>
          </a:xfrm>
          <a:prstGeom prst="rect">
            <a:avLst/>
          </a:prstGeom>
          <a:noFill/>
          <a:ln w="25400">
            <a:noFill/>
          </a:ln>
        </p:spPr>
        <p:txBody>
          <a:bodyPr anchor="t" anchorCtr="0">
            <a:spAutoFit/>
          </a:bodyPr>
          <a:p>
            <a:pPr marL="342900" indent="-342900">
              <a:lnSpc>
                <a:spcPct val="200000"/>
              </a:lnSpc>
              <a:buClr>
                <a:schemeClr val="accent1"/>
              </a:buClr>
              <a:buFont typeface="Wingdings" panose="05000000000000000000" pitchFamily="2" charset="2"/>
              <a:buChar char="n"/>
            </a:pPr>
            <a:r>
              <a:rPr lang="zh-CN" altLang="en-US" sz="2000" dirty="0">
                <a:latin typeface="Verdana" panose="020B0604030504040204" pitchFamily="34" charset="0"/>
                <a:ea typeface="宋体" panose="02010600030101010101" pitchFamily="2" charset="-122"/>
              </a:rPr>
              <a:t>左图的调度是遵守两段锁协议的，因此一定是一个可串行化调度。</a:t>
            </a:r>
            <a:endParaRPr lang="zh-CN" altLang="en-US" sz="2000" dirty="0">
              <a:latin typeface="Verdana" panose="020B0604030504040204" pitchFamily="34" charset="0"/>
              <a:ea typeface="宋体" panose="02010600030101010101" pitchFamily="2" charset="-122"/>
            </a:endParaRPr>
          </a:p>
          <a:p>
            <a:pPr marL="342900" indent="-342900">
              <a:lnSpc>
                <a:spcPct val="200000"/>
              </a:lnSpc>
              <a:buClr>
                <a:schemeClr val="accent1"/>
              </a:buClr>
              <a:buFont typeface="Wingdings" panose="05000000000000000000" pitchFamily="2" charset="2"/>
            </a:pPr>
            <a:endParaRPr lang="en-US" altLang="zh-CN" sz="2000"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Rectangle 2"/>
          <p:cNvSpPr>
            <a:spLocks noGrp="1"/>
          </p:cNvSpPr>
          <p:nvPr>
            <p:ph type="title"/>
          </p:nvPr>
        </p:nvSpPr>
        <p:spPr>
          <a:ln/>
        </p:spPr>
        <p:txBody>
          <a:bodyPr vert="horz" wrap="square" lIns="91440" tIns="45720" rIns="91440" bIns="45720" anchor="b" anchorCtr="0"/>
          <a:p>
            <a:pPr eaLnBrk="1" hangingPunct="1"/>
            <a:r>
              <a:rPr lang="zh-CN" altLang="en-US" dirty="0"/>
              <a:t>两段锁协议（续）</a:t>
            </a:r>
            <a:endParaRPr lang="zh-CN" altLang="en-US" dirty="0"/>
          </a:p>
        </p:txBody>
      </p:sp>
      <p:sp>
        <p:nvSpPr>
          <p:cNvPr id="82946" name="Rectangle 3"/>
          <p:cNvSpPr>
            <a:spLocks noGrp="1"/>
          </p:cNvSpPr>
          <p:nvPr>
            <p:ph idx="1"/>
          </p:nvPr>
        </p:nvSpPr>
        <p:spPr>
          <a:ln/>
        </p:spPr>
        <p:txBody>
          <a:bodyPr vert="horz" wrap="square" lIns="91440" tIns="45720" rIns="91440" bIns="45720" anchor="t" anchorCtr="0"/>
          <a:p>
            <a:pPr eaLnBrk="1" hangingPunct="1">
              <a:lnSpc>
                <a:spcPct val="170000"/>
              </a:lnSpc>
            </a:pPr>
            <a:r>
              <a:rPr lang="zh-CN" altLang="en-US" sz="2400" dirty="0">
                <a:solidFill>
                  <a:srgbClr val="FF0000"/>
                </a:solidFill>
              </a:rPr>
              <a:t>事务遵守两段锁协议</a:t>
            </a:r>
            <a:r>
              <a:rPr lang="zh-CN" altLang="en-US" sz="2400" dirty="0"/>
              <a:t>是</a:t>
            </a:r>
            <a:r>
              <a:rPr lang="zh-CN" altLang="en-US" sz="2400" dirty="0">
                <a:solidFill>
                  <a:srgbClr val="FF0000"/>
                </a:solidFill>
              </a:rPr>
              <a:t>可串行化调度</a:t>
            </a:r>
            <a:r>
              <a:rPr lang="zh-CN" altLang="en-US" sz="2400" dirty="0"/>
              <a:t>的</a:t>
            </a:r>
            <a:r>
              <a:rPr lang="zh-CN" altLang="en-US" sz="2400" dirty="0">
                <a:solidFill>
                  <a:srgbClr val="FF0000"/>
                </a:solidFill>
              </a:rPr>
              <a:t>充分条件</a:t>
            </a:r>
            <a:r>
              <a:rPr lang="zh-CN" altLang="en-US" sz="2400" dirty="0"/>
              <a:t>，而不是必要条件。</a:t>
            </a:r>
            <a:endParaRPr lang="zh-CN" altLang="en-US" sz="2400" dirty="0"/>
          </a:p>
          <a:p>
            <a:pPr eaLnBrk="1" hangingPunct="1">
              <a:lnSpc>
                <a:spcPct val="170000"/>
              </a:lnSpc>
            </a:pPr>
            <a:r>
              <a:rPr lang="zh-CN" altLang="en-US" sz="2400" dirty="0"/>
              <a:t>若并发事务都遵守两段锁协议，则对这些事务的任何并发调度策略都是可串行化的。</a:t>
            </a:r>
            <a:endParaRPr lang="zh-CN" altLang="en-US" sz="2400" dirty="0"/>
          </a:p>
          <a:p>
            <a:pPr eaLnBrk="1" hangingPunct="1">
              <a:lnSpc>
                <a:spcPct val="170000"/>
              </a:lnSpc>
            </a:pPr>
            <a:r>
              <a:rPr lang="zh-CN" altLang="en-US" sz="2400" dirty="0"/>
              <a:t>若并发事务的一个调度是可串行化的，不一定所有事务都符合两段锁协议 。</a:t>
            </a:r>
            <a:endParaRPr lang="zh-CN" altLang="en-US" sz="2400" dirty="0"/>
          </a:p>
        </p:txBody>
      </p:sp>
    </p:spTree>
  </p:cSld>
  <p:clrMapOvr>
    <a:masterClrMapping/>
  </p:clrMapOvr>
  <p:transition advClick="0"/>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Rectangle 2"/>
          <p:cNvSpPr>
            <a:spLocks noGrp="1"/>
          </p:cNvSpPr>
          <p:nvPr>
            <p:ph type="title"/>
          </p:nvPr>
        </p:nvSpPr>
        <p:spPr>
          <a:ln/>
        </p:spPr>
        <p:txBody>
          <a:bodyPr vert="horz" wrap="square" lIns="91440" tIns="45720" rIns="91440" bIns="45720" anchor="b" anchorCtr="0"/>
          <a:p>
            <a:pPr eaLnBrk="1" hangingPunct="1"/>
            <a:r>
              <a:rPr lang="zh-CN" altLang="en-US" dirty="0"/>
              <a:t>两段锁协议（续）</a:t>
            </a:r>
            <a:endParaRPr lang="zh-CN" altLang="en-US" dirty="0"/>
          </a:p>
        </p:txBody>
      </p:sp>
      <p:sp>
        <p:nvSpPr>
          <p:cNvPr id="83970" name="Rectangle 3"/>
          <p:cNvSpPr>
            <a:spLocks noGrp="1"/>
          </p:cNvSpPr>
          <p:nvPr>
            <p:ph idx="1"/>
          </p:nvPr>
        </p:nvSpPr>
        <p:spPr>
          <a:ln/>
        </p:spPr>
        <p:txBody>
          <a:bodyPr vert="horz" wrap="square" lIns="91440" tIns="45720" rIns="91440" bIns="45720" anchor="t" anchorCtr="0"/>
          <a:p>
            <a:pPr eaLnBrk="1" hangingPunct="1"/>
            <a:r>
              <a:rPr lang="zh-CN" altLang="en-US" dirty="0">
                <a:solidFill>
                  <a:srgbClr val="003399"/>
                </a:solidFill>
              </a:rPr>
              <a:t>两段锁协议</a:t>
            </a:r>
            <a:r>
              <a:rPr lang="zh-CN" altLang="en-US" dirty="0"/>
              <a:t>与</a:t>
            </a:r>
            <a:r>
              <a:rPr lang="zh-CN" altLang="en-US" dirty="0">
                <a:solidFill>
                  <a:srgbClr val="003399"/>
                </a:solidFill>
              </a:rPr>
              <a:t>防止死锁的一次封锁法</a:t>
            </a:r>
            <a:r>
              <a:rPr lang="zh-CN" altLang="en-US" dirty="0"/>
              <a:t>的异同</a:t>
            </a:r>
            <a:endParaRPr lang="zh-CN" altLang="en-US" sz="2400" dirty="0"/>
          </a:p>
          <a:p>
            <a:pPr lvl="1" indent="-436245" eaLnBrk="1" hangingPunct="1">
              <a:lnSpc>
                <a:spcPct val="115000"/>
              </a:lnSpc>
              <a:spcBef>
                <a:spcPct val="60000"/>
              </a:spcBef>
            </a:pPr>
            <a:r>
              <a:rPr lang="zh-CN" altLang="en-US" dirty="0"/>
              <a:t>一次封锁法要求每个事务必须一次将所有要使用的数据全部加锁，否则就不能继续执行，因此一次封锁法遵守两段锁协议。</a:t>
            </a:r>
            <a:endParaRPr lang="zh-CN" altLang="en-US" dirty="0"/>
          </a:p>
          <a:p>
            <a:pPr lvl="1" indent="-436245" eaLnBrk="1" hangingPunct="1">
              <a:lnSpc>
                <a:spcPct val="115000"/>
              </a:lnSpc>
              <a:spcBef>
                <a:spcPct val="60000"/>
              </a:spcBef>
            </a:pPr>
            <a:r>
              <a:rPr lang="zh-CN" altLang="en-US" dirty="0"/>
              <a:t>但是两段锁协议</a:t>
            </a:r>
            <a:r>
              <a:rPr lang="zh-CN" altLang="en-US" dirty="0">
                <a:solidFill>
                  <a:srgbClr val="FF0000"/>
                </a:solidFill>
              </a:rPr>
              <a:t>并不要求事务必须一次将所有要使用的数据全部加锁</a:t>
            </a:r>
            <a:r>
              <a:rPr lang="zh-CN" altLang="en-US" dirty="0"/>
              <a:t>，因此</a:t>
            </a:r>
            <a:r>
              <a:rPr lang="zh-CN" altLang="en-US" dirty="0">
                <a:solidFill>
                  <a:srgbClr val="FF0000"/>
                </a:solidFill>
              </a:rPr>
              <a:t>遵守两段锁协议</a:t>
            </a:r>
            <a:r>
              <a:rPr lang="zh-CN" altLang="en-US" dirty="0"/>
              <a:t>的事务</a:t>
            </a:r>
            <a:r>
              <a:rPr lang="zh-CN" altLang="en-US" dirty="0">
                <a:solidFill>
                  <a:srgbClr val="FF0000"/>
                </a:solidFill>
              </a:rPr>
              <a:t>可能发生死锁</a:t>
            </a:r>
            <a:r>
              <a:rPr lang="zh-CN" altLang="en-US" dirty="0"/>
              <a:t>。</a:t>
            </a:r>
            <a:endParaRPr lang="zh-CN" altLang="en-US" dirty="0"/>
          </a:p>
        </p:txBody>
      </p:sp>
    </p:spTree>
  </p:cSld>
  <p:clrMapOvr>
    <a:masterClrMapping/>
  </p:clrMapOvr>
  <p:transition advClick="0"/>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Rectangle 2"/>
          <p:cNvSpPr>
            <a:spLocks noGrp="1"/>
          </p:cNvSpPr>
          <p:nvPr>
            <p:ph type="title"/>
          </p:nvPr>
        </p:nvSpPr>
        <p:spPr>
          <a:ln/>
        </p:spPr>
        <p:txBody>
          <a:bodyPr vert="horz" wrap="square" lIns="91440" tIns="45720" rIns="91440" bIns="45720" anchor="b" anchorCtr="0"/>
          <a:p>
            <a:pPr eaLnBrk="1" hangingPunct="1"/>
            <a:r>
              <a:rPr lang="zh-CN" altLang="en-US" dirty="0"/>
              <a:t>两段锁协议（续）</a:t>
            </a:r>
            <a:endParaRPr lang="zh-CN" altLang="en-US" dirty="0"/>
          </a:p>
        </p:txBody>
      </p:sp>
      <p:sp>
        <p:nvSpPr>
          <p:cNvPr id="84994" name="Rectangle 3"/>
          <p:cNvSpPr>
            <a:spLocks noGrp="1"/>
          </p:cNvSpPr>
          <p:nvPr>
            <p:ph idx="1"/>
          </p:nvPr>
        </p:nvSpPr>
        <p:spPr>
          <a:ln/>
        </p:spPr>
        <p:txBody>
          <a:bodyPr vert="horz" wrap="square" lIns="91440" tIns="45720" rIns="91440" bIns="45720" anchor="t" anchorCtr="0"/>
          <a:p>
            <a:pPr eaLnBrk="1" hangingPunct="1">
              <a:buNone/>
            </a:pPr>
            <a:r>
              <a:rPr lang="en-US" altLang="zh-CN" sz="2400" dirty="0"/>
              <a:t>[</a:t>
            </a:r>
            <a:r>
              <a:rPr lang="zh-CN" altLang="en-US" sz="2400" dirty="0"/>
              <a:t>例</a:t>
            </a:r>
            <a:r>
              <a:rPr lang="en-US" altLang="zh-CN" sz="2400" dirty="0"/>
              <a:t>]  </a:t>
            </a:r>
            <a:r>
              <a:rPr lang="zh-CN" altLang="en-US" sz="2400" dirty="0"/>
              <a:t>遵守两段锁协议的事务发生死锁</a:t>
            </a:r>
            <a:endParaRPr lang="zh-CN" altLang="en-US" sz="2400" dirty="0"/>
          </a:p>
        </p:txBody>
      </p:sp>
      <p:sp>
        <p:nvSpPr>
          <p:cNvPr id="84995" name="Rectangle 4"/>
          <p:cNvSpPr/>
          <p:nvPr/>
        </p:nvSpPr>
        <p:spPr>
          <a:xfrm>
            <a:off x="2665413" y="2362200"/>
            <a:ext cx="1220787" cy="3581400"/>
          </a:xfrm>
          <a:prstGeom prst="rect">
            <a:avLst/>
          </a:prstGeom>
          <a:noFill/>
          <a:ln w="28575">
            <a:noFill/>
          </a:ln>
        </p:spPr>
        <p:txBody>
          <a:bodyPr wrap="none" lIns="90000" tIns="46800" rIns="90000" bIns="46800" anchor="ctr" anchorCtr="0"/>
          <a:p>
            <a:r>
              <a:rPr lang="en-US" altLang="zh-CN" sz="2400" dirty="0">
                <a:latin typeface="Verdana" panose="020B0604030504040204" pitchFamily="34" charset="0"/>
                <a:ea typeface="宋体" panose="02010600030101010101" pitchFamily="2" charset="-122"/>
              </a:rPr>
              <a:t>T</a:t>
            </a:r>
            <a:r>
              <a:rPr lang="en-US" altLang="zh-CN" sz="2400" baseline="-30000" dirty="0">
                <a:latin typeface="Verdana" panose="020B0604030504040204" pitchFamily="34" charset="0"/>
                <a:ea typeface="宋体" panose="02010600030101010101" pitchFamily="2" charset="-122"/>
              </a:rPr>
              <a:t>1</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Slock B</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R(B)=2</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 </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 </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Xlock A</a:t>
            </a:r>
            <a:endParaRPr lang="en-US" altLang="zh-CN" sz="2400" dirty="0">
              <a:latin typeface="Verdana" panose="020B0604030504040204" pitchFamily="34" charset="0"/>
              <a:ea typeface="宋体" panose="02010600030101010101" pitchFamily="2" charset="-122"/>
            </a:endParaRPr>
          </a:p>
          <a:p>
            <a:r>
              <a:rPr lang="zh-CN" altLang="en-US" sz="2400" dirty="0">
                <a:latin typeface="Verdana" panose="020B0604030504040204" pitchFamily="34" charset="0"/>
                <a:ea typeface="宋体" panose="02010600030101010101" pitchFamily="2" charset="-122"/>
              </a:rPr>
              <a:t>等待</a:t>
            </a:r>
            <a:endParaRPr lang="zh-CN" altLang="en-US" sz="2400" dirty="0">
              <a:latin typeface="Verdana" panose="020B0604030504040204" pitchFamily="34" charset="0"/>
              <a:ea typeface="宋体" panose="02010600030101010101" pitchFamily="2" charset="-122"/>
            </a:endParaRPr>
          </a:p>
          <a:p>
            <a:r>
              <a:rPr lang="zh-CN" altLang="en-US" sz="2400" dirty="0">
                <a:latin typeface="Verdana" panose="020B0604030504040204" pitchFamily="34" charset="0"/>
                <a:ea typeface="宋体" panose="02010600030101010101" pitchFamily="2" charset="-122"/>
              </a:rPr>
              <a:t>等待</a:t>
            </a:r>
            <a:endParaRPr lang="zh-CN" altLang="en-US" sz="2400" dirty="0">
              <a:latin typeface="Verdana" panose="020B0604030504040204" pitchFamily="34" charset="0"/>
              <a:ea typeface="宋体" panose="02010600030101010101" pitchFamily="2" charset="-122"/>
            </a:endParaRPr>
          </a:p>
          <a:p>
            <a:endParaRPr lang="en-US" altLang="zh-CN" sz="2400" dirty="0">
              <a:latin typeface="Verdana" panose="020B0604030504040204" pitchFamily="34" charset="0"/>
              <a:ea typeface="宋体" panose="02010600030101010101" pitchFamily="2" charset="-122"/>
            </a:endParaRPr>
          </a:p>
        </p:txBody>
      </p:sp>
      <p:sp>
        <p:nvSpPr>
          <p:cNvPr id="84996" name="Rectangle 5"/>
          <p:cNvSpPr/>
          <p:nvPr/>
        </p:nvSpPr>
        <p:spPr>
          <a:xfrm>
            <a:off x="4191000" y="2514600"/>
            <a:ext cx="1220788" cy="3581400"/>
          </a:xfrm>
          <a:prstGeom prst="rect">
            <a:avLst/>
          </a:prstGeom>
          <a:noFill/>
          <a:ln w="28575">
            <a:noFill/>
          </a:ln>
        </p:spPr>
        <p:txBody>
          <a:bodyPr wrap="none" lIns="90000" tIns="46800" rIns="90000" bIns="46800" anchor="ctr" anchorCtr="0"/>
          <a:p>
            <a:r>
              <a:rPr lang="en-US" altLang="zh-CN" sz="2400" dirty="0">
                <a:latin typeface="Verdana" panose="020B0604030504040204" pitchFamily="34" charset="0"/>
                <a:ea typeface="宋体" panose="02010600030101010101" pitchFamily="2" charset="-122"/>
              </a:rPr>
              <a:t>T</a:t>
            </a:r>
            <a:r>
              <a:rPr lang="en-US" altLang="zh-CN" sz="2400" baseline="-30000" dirty="0">
                <a:latin typeface="Verdana" panose="020B0604030504040204" pitchFamily="34" charset="0"/>
                <a:ea typeface="宋体" panose="02010600030101010101" pitchFamily="2" charset="-122"/>
              </a:rPr>
              <a:t>2</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 </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 </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Slock A</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R(A)=2</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 </a:t>
            </a:r>
            <a:endParaRPr lang="en-US" altLang="zh-CN" sz="2400" dirty="0">
              <a:latin typeface="Verdana" panose="020B0604030504040204" pitchFamily="34" charset="0"/>
              <a:ea typeface="宋体" panose="02010600030101010101" pitchFamily="2" charset="-122"/>
            </a:endParaRPr>
          </a:p>
          <a:p>
            <a:r>
              <a:rPr lang="en-US" altLang="zh-CN" sz="2400" dirty="0">
                <a:latin typeface="Verdana" panose="020B0604030504040204" pitchFamily="34" charset="0"/>
                <a:ea typeface="宋体" panose="02010600030101010101" pitchFamily="2" charset="-122"/>
              </a:rPr>
              <a:t>Xlock B</a:t>
            </a:r>
            <a:endParaRPr lang="en-US" altLang="zh-CN" sz="2400" dirty="0">
              <a:latin typeface="Verdana" panose="020B0604030504040204" pitchFamily="34" charset="0"/>
              <a:ea typeface="宋体" panose="02010600030101010101" pitchFamily="2" charset="-122"/>
            </a:endParaRPr>
          </a:p>
          <a:p>
            <a:r>
              <a:rPr lang="zh-CN" altLang="en-US" sz="2400" dirty="0">
                <a:latin typeface="Verdana" panose="020B0604030504040204" pitchFamily="34" charset="0"/>
                <a:ea typeface="宋体" panose="02010600030101010101" pitchFamily="2" charset="-122"/>
              </a:rPr>
              <a:t>等待</a:t>
            </a:r>
            <a:endParaRPr lang="zh-CN" altLang="en-US" sz="2400" dirty="0">
              <a:latin typeface="Verdana" panose="020B0604030504040204" pitchFamily="34" charset="0"/>
              <a:ea typeface="宋体" panose="02010600030101010101" pitchFamily="2" charset="-122"/>
            </a:endParaRPr>
          </a:p>
          <a:p>
            <a:endParaRPr lang="zh-CN" altLang="en-US" sz="2400" dirty="0">
              <a:latin typeface="Verdana" panose="020B0604030504040204" pitchFamily="34" charset="0"/>
              <a:ea typeface="宋体" panose="02010600030101010101" pitchFamily="2" charset="-122"/>
            </a:endParaRPr>
          </a:p>
          <a:p>
            <a:endParaRPr lang="en-US" altLang="zh-CN" sz="2400" dirty="0">
              <a:latin typeface="Verdana" panose="020B0604030504040204" pitchFamily="34" charset="0"/>
              <a:ea typeface="宋体" panose="02010600030101010101" pitchFamily="2" charset="-122"/>
            </a:endParaRPr>
          </a:p>
        </p:txBody>
      </p:sp>
      <p:sp>
        <p:nvSpPr>
          <p:cNvPr id="84997" name="Line 6"/>
          <p:cNvSpPr/>
          <p:nvPr/>
        </p:nvSpPr>
        <p:spPr>
          <a:xfrm>
            <a:off x="2286000" y="2895600"/>
            <a:ext cx="3429000" cy="0"/>
          </a:xfrm>
          <a:prstGeom prst="line">
            <a:avLst/>
          </a:prstGeom>
          <a:ln w="28575" cap="flat" cmpd="sng">
            <a:solidFill>
              <a:schemeClr val="tx1"/>
            </a:solidFill>
            <a:prstDash val="solid"/>
            <a:round/>
            <a:headEnd type="none" w="med" len="med"/>
            <a:tailEnd type="none" w="med" len="med"/>
          </a:ln>
        </p:spPr>
      </p:sp>
      <p:sp>
        <p:nvSpPr>
          <p:cNvPr id="84998" name="Line 7"/>
          <p:cNvSpPr/>
          <p:nvPr/>
        </p:nvSpPr>
        <p:spPr>
          <a:xfrm>
            <a:off x="3886200" y="2514600"/>
            <a:ext cx="0" cy="3200400"/>
          </a:xfrm>
          <a:prstGeom prst="line">
            <a:avLst/>
          </a:prstGeom>
          <a:ln w="28575" cap="flat" cmpd="sng">
            <a:solidFill>
              <a:schemeClr val="tx1"/>
            </a:solidFill>
            <a:prstDash val="solid"/>
            <a:round/>
            <a:headEnd type="none" w="med" len="med"/>
            <a:tailEnd type="none" w="med" len="med"/>
          </a:ln>
        </p:spPr>
      </p:sp>
      <p:sp>
        <p:nvSpPr>
          <p:cNvPr id="84999" name="Text Box 8"/>
          <p:cNvSpPr txBox="1"/>
          <p:nvPr/>
        </p:nvSpPr>
        <p:spPr>
          <a:xfrm>
            <a:off x="2555875" y="5805488"/>
            <a:ext cx="3492500" cy="366712"/>
          </a:xfrm>
          <a:prstGeom prst="rect">
            <a:avLst/>
          </a:prstGeom>
          <a:noFill/>
          <a:ln w="25400">
            <a:noFill/>
          </a:ln>
        </p:spPr>
        <p:txBody>
          <a:bodyPr wrap="none" anchor="t" anchorCtr="0">
            <a:spAutoFit/>
          </a:bodyPr>
          <a:p>
            <a:pPr marL="342900" indent="-342900"/>
            <a:r>
              <a:rPr lang="zh-CN" altLang="en-US" sz="1600" dirty="0">
                <a:latin typeface="Verdana" panose="020B0604030504040204" pitchFamily="34" charset="0"/>
                <a:ea typeface="宋体" panose="02010600030101010101" pitchFamily="2" charset="-122"/>
              </a:rPr>
              <a:t>遵守两段锁协议的事务可能发生死锁</a:t>
            </a:r>
            <a:r>
              <a:rPr lang="zh-CN" altLang="en-US" dirty="0">
                <a:latin typeface="Verdana" panose="020B0604030504040204" pitchFamily="34" charset="0"/>
                <a:ea typeface="宋体" panose="02010600030101010101" pitchFamily="2" charset="-122"/>
              </a:rPr>
              <a:t> </a:t>
            </a:r>
            <a:endParaRPr lang="zh-CN" altLang="en-US"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Rectangle 2"/>
          <p:cNvSpPr>
            <a:spLocks noGrp="1"/>
          </p:cNvSpPr>
          <p:nvPr>
            <p:ph type="title"/>
          </p:nvPr>
        </p:nvSpPr>
        <p:spPr>
          <a:ln/>
        </p:spPr>
        <p:txBody>
          <a:bodyPr vert="horz" wrap="square" lIns="91440" tIns="45720" rIns="91440" bIns="45720" anchor="b" anchorCtr="0"/>
          <a:p>
            <a:pPr eaLnBrk="1" hangingPunct="1"/>
            <a:r>
              <a:rPr lang="zh-CN" altLang="en-US" dirty="0"/>
              <a:t>第十一章  并发控制</a:t>
            </a:r>
            <a:endParaRPr lang="zh-CN" altLang="en-US" dirty="0"/>
          </a:p>
        </p:txBody>
      </p:sp>
      <p:sp>
        <p:nvSpPr>
          <p:cNvPr id="86018" name="Rectangle 3"/>
          <p:cNvSpPr>
            <a:spLocks noGrp="1"/>
          </p:cNvSpPr>
          <p:nvPr>
            <p:ph idx="1"/>
          </p:nvPr>
        </p:nvSpPr>
        <p:spPr>
          <a:xfrm>
            <a:off x="785813" y="1143000"/>
            <a:ext cx="7715250" cy="4929188"/>
          </a:xfrm>
          <a:ln/>
        </p:spPr>
        <p:txBody>
          <a:bodyPr vert="horz" wrap="square" lIns="91440" tIns="45720" rIns="91440" bIns="45720" anchor="t" anchorCtr="0"/>
          <a:p>
            <a:pPr algn="just" eaLnBrk="1" hangingPunct="1">
              <a:buNone/>
            </a:pPr>
            <a:r>
              <a:rPr lang="en-US" altLang="zh-CN" b="1" dirty="0"/>
              <a:t>11.1 </a:t>
            </a:r>
            <a:r>
              <a:rPr lang="zh-CN" altLang="en-US" b="1" dirty="0"/>
              <a:t>并发控制概述</a:t>
            </a:r>
            <a:endParaRPr lang="en-US" altLang="zh-CN" b="1" dirty="0"/>
          </a:p>
          <a:p>
            <a:pPr algn="just" eaLnBrk="1" hangingPunct="1">
              <a:buNone/>
            </a:pPr>
            <a:r>
              <a:rPr lang="en-US" altLang="zh-CN" b="1" dirty="0"/>
              <a:t>11.2 </a:t>
            </a:r>
            <a:r>
              <a:rPr lang="zh-CN" altLang="en-US" b="1" dirty="0"/>
              <a:t>封锁</a:t>
            </a:r>
            <a:endParaRPr lang="en-US" altLang="zh-CN" b="1" dirty="0"/>
          </a:p>
          <a:p>
            <a:pPr algn="just" eaLnBrk="1" hangingPunct="1">
              <a:buNone/>
            </a:pPr>
            <a:r>
              <a:rPr lang="en-US" altLang="zh-CN" b="1" dirty="0"/>
              <a:t>11.3 </a:t>
            </a:r>
            <a:r>
              <a:rPr lang="zh-CN" altLang="en-US" b="1" dirty="0"/>
              <a:t>封锁协议</a:t>
            </a:r>
            <a:endParaRPr lang="en-US" altLang="zh-CN" b="1" dirty="0"/>
          </a:p>
          <a:p>
            <a:pPr algn="just" eaLnBrk="1" hangingPunct="1">
              <a:buNone/>
            </a:pPr>
            <a:r>
              <a:rPr lang="en-US" altLang="zh-CN" b="1" dirty="0"/>
              <a:t>11.4 </a:t>
            </a:r>
            <a:r>
              <a:rPr lang="zh-CN" altLang="en-US" b="1" dirty="0"/>
              <a:t>活锁和死锁</a:t>
            </a:r>
            <a:endParaRPr lang="en-US" altLang="zh-CN" b="1" dirty="0"/>
          </a:p>
          <a:p>
            <a:pPr algn="just" eaLnBrk="1" hangingPunct="1">
              <a:buNone/>
            </a:pPr>
            <a:r>
              <a:rPr lang="en-US" altLang="zh-CN" b="1" dirty="0"/>
              <a:t>11.5 </a:t>
            </a:r>
            <a:r>
              <a:rPr lang="zh-CN" altLang="en-US" b="1" dirty="0"/>
              <a:t>并发调度的可串行性</a:t>
            </a:r>
            <a:endParaRPr lang="en-US" altLang="zh-CN" b="1" dirty="0"/>
          </a:p>
          <a:p>
            <a:pPr algn="just" eaLnBrk="1" hangingPunct="1">
              <a:buNone/>
            </a:pPr>
            <a:r>
              <a:rPr lang="en-US" altLang="zh-CN" b="1" dirty="0"/>
              <a:t>11.6 </a:t>
            </a:r>
            <a:r>
              <a:rPr lang="zh-CN" altLang="en-US" b="1" dirty="0"/>
              <a:t>两段锁协议</a:t>
            </a:r>
            <a:endParaRPr lang="en-US" altLang="zh-CN" b="1" dirty="0"/>
          </a:p>
          <a:p>
            <a:pPr algn="just" eaLnBrk="1" hangingPunct="1">
              <a:buNone/>
            </a:pPr>
            <a:r>
              <a:rPr lang="en-US" altLang="zh-CN" b="1" dirty="0">
                <a:solidFill>
                  <a:srgbClr val="FF0000"/>
                </a:solidFill>
              </a:rPr>
              <a:t>11.7 </a:t>
            </a:r>
            <a:r>
              <a:rPr lang="zh-CN" altLang="en-US" b="1" dirty="0">
                <a:solidFill>
                  <a:srgbClr val="FF0000"/>
                </a:solidFill>
              </a:rPr>
              <a:t>封锁的粒度</a:t>
            </a:r>
            <a:endParaRPr lang="en-US" altLang="zh-CN" b="1" dirty="0">
              <a:solidFill>
                <a:srgbClr val="FF0000"/>
              </a:solidFill>
            </a:endParaRPr>
          </a:p>
          <a:p>
            <a:pPr algn="just" eaLnBrk="1" hangingPunct="1">
              <a:buNone/>
            </a:pPr>
            <a:r>
              <a:rPr lang="zh-CN" altLang="en-US" b="1" dirty="0"/>
              <a:t>*</a:t>
            </a:r>
            <a:r>
              <a:rPr lang="en-US" altLang="zh-CN" b="1" dirty="0"/>
              <a:t>11.8 </a:t>
            </a:r>
            <a:r>
              <a:rPr lang="zh-CN" altLang="en-US" b="1" dirty="0"/>
              <a:t>其他并发控制机制</a:t>
            </a:r>
            <a:endParaRPr lang="zh-CN" altLang="en-US" b="1" dirty="0"/>
          </a:p>
        </p:txBody>
      </p:sp>
    </p:spTree>
  </p:cSld>
  <p:clrMapOvr>
    <a:masterClrMapping/>
  </p:clrMapOvr>
  <p:transition advClick="0"/>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Rectangle 2"/>
          <p:cNvSpPr>
            <a:spLocks noGrp="1"/>
          </p:cNvSpPr>
          <p:nvPr>
            <p:ph type="title"/>
          </p:nvPr>
        </p:nvSpPr>
        <p:spPr>
          <a:ln/>
        </p:spPr>
        <p:txBody>
          <a:bodyPr vert="horz" wrap="square" lIns="91440" tIns="45720" rIns="91440" bIns="45720" anchor="b" anchorCtr="0"/>
          <a:p>
            <a:pPr eaLnBrk="1" hangingPunct="1"/>
            <a:r>
              <a:rPr lang="zh-CN" altLang="en-US" dirty="0"/>
              <a:t>封锁粒度</a:t>
            </a:r>
            <a:endParaRPr lang="zh-CN" altLang="en-US" dirty="0"/>
          </a:p>
        </p:txBody>
      </p:sp>
      <p:sp>
        <p:nvSpPr>
          <p:cNvPr id="87042" name="Rectangle 3"/>
          <p:cNvSpPr>
            <a:spLocks noGrp="1"/>
          </p:cNvSpPr>
          <p:nvPr>
            <p:ph idx="1"/>
          </p:nvPr>
        </p:nvSpPr>
        <p:spPr>
          <a:ln/>
        </p:spPr>
        <p:txBody>
          <a:bodyPr vert="horz" wrap="square" lIns="91440" tIns="45720" rIns="91440" bIns="45720" anchor="t" anchorCtr="0"/>
          <a:p>
            <a:pPr eaLnBrk="1" hangingPunct="1">
              <a:lnSpc>
                <a:spcPct val="170000"/>
              </a:lnSpc>
            </a:pPr>
            <a:r>
              <a:rPr lang="zh-CN" altLang="en-US" sz="2800" dirty="0"/>
              <a:t>封锁对象的大小称为封锁粒度</a:t>
            </a:r>
            <a:r>
              <a:rPr lang="en-US" altLang="zh-CN" sz="2800" dirty="0"/>
              <a:t>(Granularity) </a:t>
            </a:r>
            <a:endParaRPr lang="en-US" altLang="zh-CN" sz="2800" dirty="0"/>
          </a:p>
          <a:p>
            <a:pPr eaLnBrk="1" hangingPunct="1">
              <a:lnSpc>
                <a:spcPct val="170000"/>
              </a:lnSpc>
            </a:pPr>
            <a:r>
              <a:rPr lang="zh-CN" altLang="en-US" sz="2800" dirty="0"/>
              <a:t>封锁的对象：逻辑单元，物理单元 </a:t>
            </a:r>
            <a:endParaRPr lang="zh-CN" altLang="en-US" sz="2800" dirty="0"/>
          </a:p>
          <a:p>
            <a:pPr eaLnBrk="1" hangingPunct="1">
              <a:lnSpc>
                <a:spcPct val="170000"/>
              </a:lnSpc>
              <a:buNone/>
            </a:pPr>
            <a:r>
              <a:rPr lang="zh-CN" altLang="en-US" sz="2800" dirty="0"/>
              <a:t>     例：在关系数据库中，封锁对象：</a:t>
            </a:r>
            <a:endParaRPr lang="zh-CN" altLang="en-US" sz="3200" dirty="0"/>
          </a:p>
          <a:p>
            <a:pPr lvl="1" indent="-436245" eaLnBrk="1" hangingPunct="1">
              <a:lnSpc>
                <a:spcPct val="170000"/>
              </a:lnSpc>
            </a:pPr>
            <a:r>
              <a:rPr lang="zh-CN" altLang="en-US" sz="2400" dirty="0"/>
              <a:t>逻辑单元</a:t>
            </a:r>
            <a:r>
              <a:rPr lang="en-US" altLang="zh-CN" sz="2400" dirty="0"/>
              <a:t>: </a:t>
            </a:r>
            <a:r>
              <a:rPr lang="zh-CN" altLang="en-US" sz="2400" dirty="0">
                <a:solidFill>
                  <a:srgbClr val="FF0000"/>
                </a:solidFill>
              </a:rPr>
              <a:t>属性值</a:t>
            </a:r>
            <a:r>
              <a:rPr lang="zh-CN" altLang="en-US" sz="2400" dirty="0"/>
              <a:t>、属性值集合、</a:t>
            </a:r>
            <a:r>
              <a:rPr lang="zh-CN" altLang="en-US" sz="2400" dirty="0">
                <a:solidFill>
                  <a:srgbClr val="FF0000"/>
                </a:solidFill>
              </a:rPr>
              <a:t>元组</a:t>
            </a:r>
            <a:r>
              <a:rPr lang="zh-CN" altLang="en-US" sz="2400" dirty="0"/>
              <a:t>、</a:t>
            </a:r>
            <a:r>
              <a:rPr lang="zh-CN" altLang="en-US" sz="2400" dirty="0">
                <a:solidFill>
                  <a:srgbClr val="FF0000"/>
                </a:solidFill>
              </a:rPr>
              <a:t>关系</a:t>
            </a:r>
            <a:r>
              <a:rPr lang="zh-CN" altLang="en-US" sz="2400" dirty="0"/>
              <a:t>、索引项、整个索引、</a:t>
            </a:r>
            <a:r>
              <a:rPr lang="zh-CN" altLang="en-US" sz="2400" dirty="0">
                <a:solidFill>
                  <a:srgbClr val="FF0000"/>
                </a:solidFill>
              </a:rPr>
              <a:t>整个数据库</a:t>
            </a:r>
            <a:r>
              <a:rPr lang="zh-CN" altLang="en-US" sz="2400" dirty="0"/>
              <a:t>等</a:t>
            </a:r>
            <a:endParaRPr lang="zh-CN" altLang="en-US" sz="2400" dirty="0"/>
          </a:p>
          <a:p>
            <a:pPr lvl="1" indent="-436245" eaLnBrk="1" hangingPunct="1">
              <a:lnSpc>
                <a:spcPct val="170000"/>
              </a:lnSpc>
            </a:pPr>
            <a:r>
              <a:rPr lang="zh-CN" altLang="en-US" sz="2400" dirty="0"/>
              <a:t>物理单元：页（数据页或索引页）、物理记录等</a:t>
            </a:r>
            <a:endParaRPr lang="zh-CN" altLang="en-US" sz="2400" dirty="0"/>
          </a:p>
        </p:txBody>
      </p:sp>
    </p:spTree>
  </p:cSld>
  <p:clrMapOvr>
    <a:masterClrMapping/>
  </p:clrMapOvr>
  <p:transition advClick="0"/>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Rectangle 2"/>
          <p:cNvSpPr>
            <a:spLocks noGrp="1"/>
          </p:cNvSpPr>
          <p:nvPr>
            <p:ph type="title"/>
          </p:nvPr>
        </p:nvSpPr>
        <p:spPr>
          <a:ln/>
        </p:spPr>
        <p:txBody>
          <a:bodyPr vert="horz" wrap="square" lIns="91440" tIns="45720" rIns="91440" bIns="45720" anchor="b" anchorCtr="0"/>
          <a:p>
            <a:pPr eaLnBrk="1" hangingPunct="1"/>
            <a:r>
              <a:rPr lang="zh-CN" altLang="en-US" dirty="0"/>
              <a:t>选择封锁粒度原则</a:t>
            </a:r>
            <a:endParaRPr lang="zh-CN" altLang="en-US" dirty="0"/>
          </a:p>
        </p:txBody>
      </p:sp>
      <p:sp>
        <p:nvSpPr>
          <p:cNvPr id="88066" name="Rectangle 3"/>
          <p:cNvSpPr>
            <a:spLocks noGrp="1"/>
          </p:cNvSpPr>
          <p:nvPr>
            <p:ph idx="1"/>
          </p:nvPr>
        </p:nvSpPr>
        <p:spPr>
          <a:xfrm>
            <a:off x="357188" y="1143000"/>
            <a:ext cx="8210550" cy="4876800"/>
          </a:xfrm>
          <a:ln/>
        </p:spPr>
        <p:txBody>
          <a:bodyPr vert="horz" wrap="square" lIns="91440" tIns="45720" rIns="91440" bIns="45720" anchor="t" anchorCtr="0"/>
          <a:p>
            <a:pPr eaLnBrk="1" hangingPunct="1">
              <a:lnSpc>
                <a:spcPct val="140000"/>
              </a:lnSpc>
            </a:pPr>
            <a:r>
              <a:rPr lang="zh-CN" altLang="en-US" dirty="0"/>
              <a:t>封锁粒度与系统的并发度和并发控制的开销密切相关。</a:t>
            </a:r>
            <a:endParaRPr lang="zh-CN" altLang="en-US" dirty="0"/>
          </a:p>
          <a:p>
            <a:pPr lvl="1" indent="-436245" eaLnBrk="1" hangingPunct="1">
              <a:lnSpc>
                <a:spcPct val="180000"/>
              </a:lnSpc>
            </a:pPr>
            <a:r>
              <a:rPr lang="zh-CN" altLang="en-US" dirty="0"/>
              <a:t>封锁的</a:t>
            </a:r>
            <a:r>
              <a:rPr lang="zh-CN" altLang="en-US" dirty="0">
                <a:solidFill>
                  <a:srgbClr val="FF0000"/>
                </a:solidFill>
              </a:rPr>
              <a:t>粒度越小</a:t>
            </a:r>
            <a:r>
              <a:rPr lang="zh-CN" altLang="en-US" dirty="0"/>
              <a:t>，</a:t>
            </a:r>
            <a:r>
              <a:rPr lang="zh-CN" altLang="en-US" dirty="0">
                <a:solidFill>
                  <a:srgbClr val="FF0000"/>
                </a:solidFill>
              </a:rPr>
              <a:t>并发度较高</a:t>
            </a:r>
            <a:r>
              <a:rPr lang="zh-CN" altLang="en-US" dirty="0"/>
              <a:t>，但</a:t>
            </a:r>
            <a:r>
              <a:rPr lang="zh-CN" altLang="en-US" dirty="0">
                <a:solidFill>
                  <a:srgbClr val="FF0000"/>
                </a:solidFill>
              </a:rPr>
              <a:t>系统开销</a:t>
            </a:r>
            <a:r>
              <a:rPr lang="zh-CN" altLang="en-US" dirty="0"/>
              <a:t>也就</a:t>
            </a:r>
            <a:r>
              <a:rPr lang="zh-CN" altLang="en-US" dirty="0">
                <a:solidFill>
                  <a:srgbClr val="FF0000"/>
                </a:solidFill>
              </a:rPr>
              <a:t>越大</a:t>
            </a:r>
            <a:r>
              <a:rPr lang="zh-CN" altLang="en-US" dirty="0"/>
              <a:t>；</a:t>
            </a:r>
            <a:endParaRPr lang="en-US" altLang="zh-CN" dirty="0"/>
          </a:p>
          <a:p>
            <a:pPr lvl="1" indent="-436245" eaLnBrk="1" hangingPunct="1">
              <a:lnSpc>
                <a:spcPct val="180000"/>
              </a:lnSpc>
            </a:pPr>
            <a:r>
              <a:rPr lang="zh-CN" altLang="en-US" dirty="0"/>
              <a:t>封锁的粒度越大，数据库所能够封锁的数据单元就越少，并发度就越小，系统开销也越小。</a:t>
            </a:r>
            <a:endParaRPr lang="zh-CN" altLang="en-US" dirty="0"/>
          </a:p>
        </p:txBody>
      </p:sp>
    </p:spTree>
  </p:cSld>
  <p:clrMapOvr>
    <a:masterClrMapping/>
  </p:clrMapOvr>
  <p:transition advClick="0"/>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Rectangle 2"/>
          <p:cNvSpPr>
            <a:spLocks noGrp="1"/>
          </p:cNvSpPr>
          <p:nvPr>
            <p:ph type="title"/>
          </p:nvPr>
        </p:nvSpPr>
        <p:spPr>
          <a:ln/>
        </p:spPr>
        <p:txBody>
          <a:bodyPr vert="horz" wrap="square" lIns="91440" tIns="45720" rIns="91440" bIns="45720" anchor="b" anchorCtr="0"/>
          <a:p>
            <a:pPr eaLnBrk="1" hangingPunct="1"/>
            <a:r>
              <a:rPr lang="zh-CN" altLang="en-US" dirty="0"/>
              <a:t>选择封锁粒度的原则（续）</a:t>
            </a:r>
            <a:endParaRPr lang="zh-CN" altLang="en-US" dirty="0"/>
          </a:p>
        </p:txBody>
      </p:sp>
      <p:sp>
        <p:nvSpPr>
          <p:cNvPr id="89090" name="Rectangle 3"/>
          <p:cNvSpPr>
            <a:spLocks noGrp="1"/>
          </p:cNvSpPr>
          <p:nvPr>
            <p:ph idx="1"/>
          </p:nvPr>
        </p:nvSpPr>
        <p:spPr>
          <a:ln/>
        </p:spPr>
        <p:txBody>
          <a:bodyPr vert="horz" wrap="square" lIns="91440" tIns="45720" rIns="91440" bIns="45720" anchor="t" anchorCtr="0"/>
          <a:p>
            <a:pPr eaLnBrk="1" hangingPunct="1">
              <a:buNone/>
            </a:pPr>
            <a:r>
              <a:rPr lang="zh-CN" altLang="en-US" sz="2400" dirty="0"/>
              <a:t>例：</a:t>
            </a:r>
            <a:endParaRPr lang="zh-CN" altLang="en-US" sz="2400" dirty="0"/>
          </a:p>
          <a:p>
            <a:pPr eaLnBrk="1" hangingPunct="1">
              <a:lnSpc>
                <a:spcPct val="140000"/>
              </a:lnSpc>
            </a:pPr>
            <a:r>
              <a:rPr lang="zh-CN" altLang="en-US" sz="2400" dirty="0"/>
              <a:t>若封锁粒度是数据页，事务</a:t>
            </a:r>
            <a:r>
              <a:rPr lang="en-US" altLang="zh-CN" sz="2400" dirty="0"/>
              <a:t>T1</a:t>
            </a:r>
            <a:r>
              <a:rPr lang="zh-CN" altLang="en-US" sz="2400" dirty="0"/>
              <a:t>需要修改元组</a:t>
            </a:r>
            <a:r>
              <a:rPr lang="en-US" altLang="zh-CN" sz="2400" dirty="0"/>
              <a:t>L1</a:t>
            </a:r>
            <a:r>
              <a:rPr lang="zh-CN" altLang="en-US" sz="2400" dirty="0"/>
              <a:t>，则</a:t>
            </a:r>
            <a:r>
              <a:rPr lang="en-US" altLang="zh-CN" sz="2400" dirty="0"/>
              <a:t>T1</a:t>
            </a:r>
            <a:r>
              <a:rPr lang="zh-CN" altLang="en-US" sz="2400" dirty="0"/>
              <a:t>必须对包含</a:t>
            </a:r>
            <a:r>
              <a:rPr lang="en-US" altLang="zh-CN" sz="2400" dirty="0"/>
              <a:t>L1</a:t>
            </a:r>
            <a:r>
              <a:rPr lang="zh-CN" altLang="en-US" sz="2400" dirty="0"/>
              <a:t>的整个数据页</a:t>
            </a:r>
            <a:r>
              <a:rPr lang="en-US" altLang="zh-CN" sz="2400" dirty="0"/>
              <a:t>A</a:t>
            </a:r>
            <a:r>
              <a:rPr lang="zh-CN" altLang="en-US" sz="2400" dirty="0"/>
              <a:t>加锁。如果</a:t>
            </a:r>
            <a:r>
              <a:rPr lang="en-US" altLang="zh-CN" sz="2400" dirty="0"/>
              <a:t>T1</a:t>
            </a:r>
            <a:r>
              <a:rPr lang="zh-CN" altLang="en-US" sz="2400" dirty="0"/>
              <a:t>对</a:t>
            </a:r>
            <a:r>
              <a:rPr lang="en-US" altLang="zh-CN" sz="2400" dirty="0"/>
              <a:t>A</a:t>
            </a:r>
            <a:r>
              <a:rPr lang="zh-CN" altLang="en-US" sz="2400" dirty="0"/>
              <a:t>加锁后事务</a:t>
            </a:r>
            <a:r>
              <a:rPr lang="en-US" altLang="zh-CN" sz="2400" dirty="0"/>
              <a:t>T2</a:t>
            </a:r>
            <a:r>
              <a:rPr lang="zh-CN" altLang="en-US" sz="2400" dirty="0"/>
              <a:t>要修改</a:t>
            </a:r>
            <a:r>
              <a:rPr lang="en-US" altLang="zh-CN" sz="2400" dirty="0"/>
              <a:t>A</a:t>
            </a:r>
            <a:r>
              <a:rPr lang="zh-CN" altLang="en-US" sz="2400" dirty="0"/>
              <a:t>中元组</a:t>
            </a:r>
            <a:r>
              <a:rPr lang="en-US" altLang="zh-CN" sz="2400" dirty="0"/>
              <a:t>L2</a:t>
            </a:r>
            <a:r>
              <a:rPr lang="zh-CN" altLang="en-US" sz="2400" dirty="0"/>
              <a:t>，则</a:t>
            </a:r>
            <a:r>
              <a:rPr lang="en-US" altLang="zh-CN" sz="2400" dirty="0"/>
              <a:t>T2</a:t>
            </a:r>
            <a:r>
              <a:rPr lang="zh-CN" altLang="en-US" sz="2400" dirty="0"/>
              <a:t>被迫等待，直到</a:t>
            </a:r>
            <a:r>
              <a:rPr lang="en-US" altLang="zh-CN" sz="2400" dirty="0"/>
              <a:t>T1</a:t>
            </a:r>
            <a:r>
              <a:rPr lang="zh-CN" altLang="en-US" sz="2400" dirty="0"/>
              <a:t>释放</a:t>
            </a:r>
            <a:r>
              <a:rPr lang="en-US" altLang="zh-CN" sz="2400" dirty="0"/>
              <a:t>A</a:t>
            </a:r>
            <a:r>
              <a:rPr lang="zh-CN" altLang="en-US" sz="2400" dirty="0"/>
              <a:t>。</a:t>
            </a:r>
            <a:endParaRPr lang="zh-CN" altLang="en-US" sz="2400" dirty="0"/>
          </a:p>
          <a:p>
            <a:pPr eaLnBrk="1" hangingPunct="1">
              <a:lnSpc>
                <a:spcPct val="140000"/>
              </a:lnSpc>
            </a:pPr>
            <a:r>
              <a:rPr lang="zh-CN" altLang="en-US" sz="2400" dirty="0"/>
              <a:t>如果封锁粒度是元组，则</a:t>
            </a:r>
            <a:r>
              <a:rPr lang="en-US" altLang="zh-CN" sz="2400" dirty="0"/>
              <a:t>T1</a:t>
            </a:r>
            <a:r>
              <a:rPr lang="zh-CN" altLang="en-US" sz="2400" dirty="0"/>
              <a:t>和</a:t>
            </a:r>
            <a:r>
              <a:rPr lang="en-US" altLang="zh-CN" sz="2400" dirty="0"/>
              <a:t>T2</a:t>
            </a:r>
            <a:r>
              <a:rPr lang="zh-CN" altLang="en-US" sz="2400" dirty="0"/>
              <a:t>可以同时对</a:t>
            </a:r>
            <a:r>
              <a:rPr lang="en-US" altLang="zh-CN" sz="2400" dirty="0"/>
              <a:t>L1</a:t>
            </a:r>
            <a:r>
              <a:rPr lang="zh-CN" altLang="en-US" sz="2400" dirty="0"/>
              <a:t>和</a:t>
            </a:r>
            <a:r>
              <a:rPr lang="en-US" altLang="zh-CN" sz="2400" dirty="0"/>
              <a:t>L2</a:t>
            </a:r>
            <a:r>
              <a:rPr lang="zh-CN" altLang="en-US" sz="2400" dirty="0"/>
              <a:t>加锁，不需要互相等待，提高了系统的并行度。</a:t>
            </a:r>
            <a:endParaRPr lang="zh-CN" altLang="en-US" sz="2400" dirty="0"/>
          </a:p>
          <a:p>
            <a:pPr eaLnBrk="1" hangingPunct="1">
              <a:lnSpc>
                <a:spcPct val="140000"/>
              </a:lnSpc>
            </a:pPr>
            <a:r>
              <a:rPr lang="zh-CN" altLang="en-US" sz="2400" dirty="0"/>
              <a:t>又如，事务</a:t>
            </a:r>
            <a:r>
              <a:rPr lang="en-US" altLang="zh-CN" sz="2400" dirty="0"/>
              <a:t>T</a:t>
            </a:r>
            <a:r>
              <a:rPr lang="zh-CN" altLang="en-US" sz="2400" dirty="0"/>
              <a:t>需要读取整个表，若封锁粒度是元组，</a:t>
            </a:r>
            <a:r>
              <a:rPr lang="en-US" altLang="zh-CN" sz="2400" dirty="0"/>
              <a:t>T</a:t>
            </a:r>
            <a:r>
              <a:rPr lang="zh-CN" altLang="en-US" sz="2400" dirty="0"/>
              <a:t>必须对表中的每一个元组加锁，开销极大 。</a:t>
            </a:r>
            <a:endParaRPr lang="zh-CN" altLang="en-US" sz="2400" dirty="0"/>
          </a:p>
        </p:txBody>
      </p:sp>
    </p:spTree>
  </p:cSld>
  <p:clrMapOvr>
    <a:masterClrMapping/>
  </p:clrMapOvr>
  <p:transition advClick="0"/>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Rectangle 2"/>
          <p:cNvSpPr>
            <a:spLocks noGrp="1"/>
          </p:cNvSpPr>
          <p:nvPr>
            <p:ph type="title"/>
          </p:nvPr>
        </p:nvSpPr>
        <p:spPr>
          <a:ln/>
        </p:spPr>
        <p:txBody>
          <a:bodyPr vert="horz" wrap="square" lIns="91440" tIns="45720" rIns="91440" bIns="45720" anchor="b" anchorCtr="0"/>
          <a:p>
            <a:pPr eaLnBrk="1" hangingPunct="1"/>
            <a:r>
              <a:rPr lang="zh-CN" altLang="en-US" dirty="0"/>
              <a:t>选择封锁粒度的原则（续）</a:t>
            </a:r>
            <a:endParaRPr lang="zh-CN" altLang="en-US" dirty="0"/>
          </a:p>
        </p:txBody>
      </p:sp>
      <p:sp>
        <p:nvSpPr>
          <p:cNvPr id="90114" name="Rectangle 3"/>
          <p:cNvSpPr>
            <a:spLocks noGrp="1"/>
          </p:cNvSpPr>
          <p:nvPr>
            <p:ph idx="1"/>
          </p:nvPr>
        </p:nvSpPr>
        <p:spPr>
          <a:xfrm>
            <a:off x="642938" y="1214438"/>
            <a:ext cx="8135937" cy="4929187"/>
          </a:xfrm>
          <a:ln/>
        </p:spPr>
        <p:txBody>
          <a:bodyPr vert="horz" wrap="square" lIns="91440" tIns="45720" rIns="91440" bIns="45720" anchor="t" anchorCtr="0"/>
          <a:p>
            <a:pPr eaLnBrk="1" hangingPunct="1">
              <a:lnSpc>
                <a:spcPct val="170000"/>
              </a:lnSpc>
            </a:pPr>
            <a:r>
              <a:rPr lang="zh-CN" altLang="en-US" sz="2200" dirty="0"/>
              <a:t>多粒度封锁</a:t>
            </a:r>
            <a:r>
              <a:rPr lang="en-US" altLang="zh-CN" sz="2200" dirty="0"/>
              <a:t>(Multiple Granularity Locking)</a:t>
            </a:r>
            <a:endParaRPr lang="en-US" altLang="zh-CN" sz="2200" dirty="0"/>
          </a:p>
          <a:p>
            <a:pPr eaLnBrk="1" hangingPunct="1">
              <a:lnSpc>
                <a:spcPct val="170000"/>
              </a:lnSpc>
              <a:buNone/>
            </a:pPr>
            <a:r>
              <a:rPr lang="en-US" altLang="zh-CN" sz="2200" dirty="0"/>
              <a:t>    </a:t>
            </a:r>
            <a:r>
              <a:rPr lang="zh-CN" altLang="en-US" sz="2200" dirty="0"/>
              <a:t>在一个系统中同时支持</a:t>
            </a:r>
            <a:r>
              <a:rPr lang="zh-CN" altLang="en-US" sz="2200" b="1" dirty="0">
                <a:solidFill>
                  <a:srgbClr val="003399"/>
                </a:solidFill>
              </a:rPr>
              <a:t>多种封锁粒度</a:t>
            </a:r>
            <a:r>
              <a:rPr lang="zh-CN" altLang="en-US" sz="2200" dirty="0"/>
              <a:t>供不同的事务选择</a:t>
            </a:r>
            <a:endParaRPr lang="zh-CN" altLang="en-US" sz="2200" dirty="0"/>
          </a:p>
          <a:p>
            <a:pPr eaLnBrk="1" hangingPunct="1">
              <a:lnSpc>
                <a:spcPct val="170000"/>
              </a:lnSpc>
            </a:pPr>
            <a:r>
              <a:rPr lang="zh-CN" altLang="en-US" sz="2200" dirty="0"/>
              <a:t>选择封锁粒度</a:t>
            </a:r>
            <a:endParaRPr lang="zh-CN" altLang="en-US" sz="2200" dirty="0"/>
          </a:p>
          <a:p>
            <a:pPr eaLnBrk="1" hangingPunct="1">
              <a:lnSpc>
                <a:spcPct val="170000"/>
              </a:lnSpc>
              <a:buNone/>
            </a:pPr>
            <a:r>
              <a:rPr lang="zh-CN" altLang="en-US" sz="2200" dirty="0"/>
              <a:t>     同时考虑</a:t>
            </a:r>
            <a:r>
              <a:rPr lang="zh-CN" altLang="en-US" sz="2200" b="1" dirty="0">
                <a:solidFill>
                  <a:srgbClr val="FF0000"/>
                </a:solidFill>
              </a:rPr>
              <a:t>封锁开销</a:t>
            </a:r>
            <a:r>
              <a:rPr lang="zh-CN" altLang="en-US" sz="2200" dirty="0"/>
              <a:t>和</a:t>
            </a:r>
            <a:r>
              <a:rPr lang="zh-CN" altLang="en-US" sz="2200" b="1" dirty="0">
                <a:solidFill>
                  <a:srgbClr val="FF0000"/>
                </a:solidFill>
              </a:rPr>
              <a:t>并发度</a:t>
            </a:r>
            <a:r>
              <a:rPr lang="zh-CN" altLang="en-US" sz="2200" dirty="0"/>
              <a:t>两个因素，适当选择封锁粒度</a:t>
            </a:r>
            <a:endParaRPr lang="zh-CN" altLang="en-US" sz="2200" dirty="0"/>
          </a:p>
          <a:p>
            <a:pPr lvl="1" indent="-436245" eaLnBrk="1" hangingPunct="1">
              <a:lnSpc>
                <a:spcPct val="170000"/>
              </a:lnSpc>
            </a:pPr>
            <a:r>
              <a:rPr lang="zh-CN" altLang="en-US" sz="2000" dirty="0"/>
              <a:t>需要处理</a:t>
            </a:r>
            <a:r>
              <a:rPr lang="zh-CN" altLang="en-US" sz="2000" dirty="0">
                <a:solidFill>
                  <a:srgbClr val="FF0000"/>
                </a:solidFill>
              </a:rPr>
              <a:t>多个关系的大量元组</a:t>
            </a:r>
            <a:r>
              <a:rPr lang="zh-CN" altLang="en-US" sz="2000" dirty="0"/>
              <a:t>的用户事务：以</a:t>
            </a:r>
            <a:r>
              <a:rPr lang="zh-CN" altLang="en-US" sz="2000" dirty="0">
                <a:solidFill>
                  <a:srgbClr val="FF0000"/>
                </a:solidFill>
              </a:rPr>
              <a:t>数据库</a:t>
            </a:r>
            <a:r>
              <a:rPr lang="zh-CN" altLang="en-US" sz="2000" dirty="0"/>
              <a:t>为封锁单位</a:t>
            </a:r>
            <a:endParaRPr lang="zh-CN" altLang="en-US" sz="2000" dirty="0"/>
          </a:p>
          <a:p>
            <a:pPr lvl="1" indent="-436245" eaLnBrk="1" hangingPunct="1">
              <a:lnSpc>
                <a:spcPct val="170000"/>
              </a:lnSpc>
            </a:pPr>
            <a:r>
              <a:rPr lang="zh-CN" altLang="en-US" sz="2000" dirty="0"/>
              <a:t>需要处理</a:t>
            </a:r>
            <a:r>
              <a:rPr lang="zh-CN" altLang="en-US" sz="2000" dirty="0">
                <a:solidFill>
                  <a:srgbClr val="FF0000"/>
                </a:solidFill>
              </a:rPr>
              <a:t>大量元组</a:t>
            </a:r>
            <a:r>
              <a:rPr lang="zh-CN" altLang="en-US" sz="2000" dirty="0"/>
              <a:t>的用户事务：以</a:t>
            </a:r>
            <a:r>
              <a:rPr lang="zh-CN" altLang="en-US" sz="2000" dirty="0">
                <a:solidFill>
                  <a:srgbClr val="FF0000"/>
                </a:solidFill>
              </a:rPr>
              <a:t>关系</a:t>
            </a:r>
            <a:r>
              <a:rPr lang="zh-CN" altLang="en-US" sz="2000" dirty="0"/>
              <a:t>为封锁单元</a:t>
            </a:r>
            <a:endParaRPr lang="zh-CN" altLang="en-US" sz="2000" dirty="0"/>
          </a:p>
          <a:p>
            <a:pPr lvl="1" indent="-436245" eaLnBrk="1" hangingPunct="1">
              <a:lnSpc>
                <a:spcPct val="170000"/>
              </a:lnSpc>
            </a:pPr>
            <a:r>
              <a:rPr lang="zh-CN" altLang="en-US" sz="2000" dirty="0"/>
              <a:t>只处理</a:t>
            </a:r>
            <a:r>
              <a:rPr lang="zh-CN" altLang="en-US" sz="2000" dirty="0">
                <a:solidFill>
                  <a:srgbClr val="FF0000"/>
                </a:solidFill>
              </a:rPr>
              <a:t>少量元组</a:t>
            </a:r>
            <a:r>
              <a:rPr lang="zh-CN" altLang="en-US" sz="2000" dirty="0"/>
              <a:t>的用户事务：以</a:t>
            </a:r>
            <a:r>
              <a:rPr lang="zh-CN" altLang="en-US" sz="2000" dirty="0">
                <a:solidFill>
                  <a:srgbClr val="FF0000"/>
                </a:solidFill>
              </a:rPr>
              <a:t>元组</a:t>
            </a:r>
            <a:r>
              <a:rPr lang="zh-CN" altLang="en-US" sz="2000" dirty="0"/>
              <a:t>为封锁单位</a:t>
            </a:r>
            <a:endParaRPr lang="zh-CN" altLang="en-US" sz="2000" dirty="0"/>
          </a:p>
        </p:txBody>
      </p:sp>
    </p:spTree>
  </p:cSld>
  <p:clrMapOvr>
    <a:masterClrMapping/>
  </p:clrMapOvr>
  <p:transition advClick="0"/>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Rectangle 2"/>
          <p:cNvSpPr>
            <a:spLocks noGrp="1"/>
          </p:cNvSpPr>
          <p:nvPr>
            <p:ph type="title"/>
          </p:nvPr>
        </p:nvSpPr>
        <p:spPr>
          <a:ln/>
        </p:spPr>
        <p:txBody>
          <a:bodyPr vert="horz" wrap="square" lIns="91440" tIns="45720" rIns="91440" bIns="45720" anchor="b" anchorCtr="0"/>
          <a:p>
            <a:pPr eaLnBrk="1" hangingPunct="1"/>
            <a:r>
              <a:rPr lang="en-US" altLang="zh-CN" dirty="0"/>
              <a:t>11.7.1 </a:t>
            </a:r>
            <a:r>
              <a:rPr lang="zh-CN" altLang="en-US" dirty="0"/>
              <a:t>多粒度封锁</a:t>
            </a:r>
            <a:endParaRPr lang="zh-CN" altLang="en-US" dirty="0"/>
          </a:p>
        </p:txBody>
      </p:sp>
      <p:sp>
        <p:nvSpPr>
          <p:cNvPr id="91138" name="Rectangle 3"/>
          <p:cNvSpPr>
            <a:spLocks noGrp="1"/>
          </p:cNvSpPr>
          <p:nvPr>
            <p:ph idx="1"/>
          </p:nvPr>
        </p:nvSpPr>
        <p:spPr>
          <a:ln/>
        </p:spPr>
        <p:txBody>
          <a:bodyPr vert="horz" wrap="square" lIns="91440" tIns="45720" rIns="91440" bIns="45720" anchor="t" anchorCtr="0"/>
          <a:p>
            <a:pPr eaLnBrk="1" hangingPunct="1">
              <a:lnSpc>
                <a:spcPct val="190000"/>
              </a:lnSpc>
            </a:pPr>
            <a:r>
              <a:rPr lang="zh-CN" altLang="en-US" dirty="0"/>
              <a:t>多粒度树</a:t>
            </a:r>
            <a:endParaRPr lang="zh-CN" altLang="en-US" dirty="0"/>
          </a:p>
          <a:p>
            <a:pPr lvl="1" indent="-436245" eaLnBrk="1" hangingPunct="1">
              <a:lnSpc>
                <a:spcPct val="190000"/>
              </a:lnSpc>
              <a:spcBef>
                <a:spcPct val="60000"/>
              </a:spcBef>
            </a:pPr>
            <a:r>
              <a:rPr lang="zh-CN" altLang="en-US" dirty="0"/>
              <a:t>以树形结构来表示多级封锁粒度</a:t>
            </a:r>
            <a:endParaRPr lang="zh-CN" altLang="en-US" dirty="0"/>
          </a:p>
          <a:p>
            <a:pPr lvl="1" indent="-436245" eaLnBrk="1" hangingPunct="1">
              <a:lnSpc>
                <a:spcPct val="190000"/>
              </a:lnSpc>
              <a:spcBef>
                <a:spcPct val="60000"/>
              </a:spcBef>
            </a:pPr>
            <a:r>
              <a:rPr lang="zh-CN" altLang="en-US" dirty="0"/>
              <a:t>根结点是整个数据库，表示最大的数据粒度</a:t>
            </a:r>
            <a:endParaRPr lang="zh-CN" altLang="en-US" dirty="0"/>
          </a:p>
          <a:p>
            <a:pPr lvl="1" indent="-436245" eaLnBrk="1" hangingPunct="1">
              <a:lnSpc>
                <a:spcPct val="190000"/>
              </a:lnSpc>
              <a:spcBef>
                <a:spcPct val="60000"/>
              </a:spcBef>
            </a:pPr>
            <a:r>
              <a:rPr lang="zh-CN" altLang="en-US" dirty="0"/>
              <a:t>叶结点表示最小的数据粒度</a:t>
            </a:r>
            <a:endParaRPr lang="zh-CN" altLang="en-US" dirty="0"/>
          </a:p>
          <a:p>
            <a:pPr lvl="3" eaLnBrk="1" hangingPunct="1">
              <a:lnSpc>
                <a:spcPct val="90000"/>
              </a:lnSpc>
            </a:pPr>
            <a:endParaRPr lang="zh-CN" altLang="en-US" sz="2400" dirty="0"/>
          </a:p>
          <a:p>
            <a:pPr eaLnBrk="1" hangingPunct="1">
              <a:lnSpc>
                <a:spcPct val="90000"/>
              </a:lnSpc>
              <a:buNone/>
            </a:pPr>
            <a:r>
              <a:rPr lang="zh-CN" altLang="en-US" sz="2400" dirty="0"/>
              <a:t>    </a:t>
            </a:r>
            <a:endParaRPr lang="zh-CN" altLang="en-US" sz="2000" dirty="0"/>
          </a:p>
        </p:txBody>
      </p:sp>
    </p:spTree>
  </p:cSld>
  <p:clrMapOvr>
    <a:masterClrMapping/>
  </p:clrMapOvr>
  <p:transition advClick="0"/>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Rectangle 2"/>
          <p:cNvSpPr>
            <a:spLocks noGrp="1"/>
          </p:cNvSpPr>
          <p:nvPr>
            <p:ph type="title"/>
          </p:nvPr>
        </p:nvSpPr>
        <p:spPr>
          <a:ln/>
        </p:spPr>
        <p:txBody>
          <a:bodyPr vert="horz" wrap="square" lIns="91440" tIns="45720" rIns="91440" bIns="45720" anchor="b" anchorCtr="0"/>
          <a:p>
            <a:pPr eaLnBrk="1" hangingPunct="1"/>
            <a:r>
              <a:rPr lang="zh-CN" altLang="en-US" dirty="0"/>
              <a:t>多粒度封锁（续）</a:t>
            </a:r>
            <a:endParaRPr lang="zh-CN" altLang="en-US" dirty="0"/>
          </a:p>
        </p:txBody>
      </p:sp>
      <p:sp>
        <p:nvSpPr>
          <p:cNvPr id="92162" name="Rectangle 3"/>
          <p:cNvSpPr>
            <a:spLocks noGrp="1"/>
          </p:cNvSpPr>
          <p:nvPr>
            <p:ph idx="1"/>
          </p:nvPr>
        </p:nvSpPr>
        <p:spPr>
          <a:ln/>
        </p:spPr>
        <p:txBody>
          <a:bodyPr vert="horz" wrap="square" lIns="91440" tIns="45720" rIns="91440" bIns="45720" anchor="t" anchorCtr="0"/>
          <a:p>
            <a:pPr eaLnBrk="1" hangingPunct="1">
              <a:lnSpc>
                <a:spcPct val="130000"/>
              </a:lnSpc>
              <a:buNone/>
            </a:pPr>
            <a:r>
              <a:rPr lang="zh-CN" altLang="en-US" sz="2400" dirty="0"/>
              <a:t>例：三级粒度树。根结点为数据库，数据库的子结点为关系，关系的子结点为元组。</a:t>
            </a:r>
            <a:endParaRPr lang="zh-CN" altLang="en-US" sz="2400" dirty="0"/>
          </a:p>
        </p:txBody>
      </p:sp>
      <p:grpSp>
        <p:nvGrpSpPr>
          <p:cNvPr id="92163" name="Group 4"/>
          <p:cNvGrpSpPr/>
          <p:nvPr/>
        </p:nvGrpSpPr>
        <p:grpSpPr>
          <a:xfrm>
            <a:off x="2286000" y="3200400"/>
            <a:ext cx="5257800" cy="2536825"/>
            <a:chOff x="3447" y="9625"/>
            <a:chExt cx="3183" cy="1829"/>
          </a:xfrm>
        </p:grpSpPr>
        <p:sp>
          <p:nvSpPr>
            <p:cNvPr id="92164" name="Line 5"/>
            <p:cNvSpPr/>
            <p:nvPr/>
          </p:nvSpPr>
          <p:spPr>
            <a:xfrm flipH="1">
              <a:off x="4226" y="9995"/>
              <a:ext cx="510" cy="381"/>
            </a:xfrm>
            <a:prstGeom prst="line">
              <a:avLst/>
            </a:prstGeom>
            <a:ln w="6350" cap="flat" cmpd="sng">
              <a:solidFill>
                <a:srgbClr val="000000"/>
              </a:solidFill>
              <a:prstDash val="solid"/>
              <a:round/>
              <a:headEnd type="none" w="med" len="med"/>
              <a:tailEnd type="stealth" w="sm" len="sm"/>
            </a:ln>
          </p:spPr>
        </p:sp>
        <p:sp>
          <p:nvSpPr>
            <p:cNvPr id="92165" name="Line 6"/>
            <p:cNvSpPr/>
            <p:nvPr/>
          </p:nvSpPr>
          <p:spPr>
            <a:xfrm>
              <a:off x="4976" y="9995"/>
              <a:ext cx="645" cy="366"/>
            </a:xfrm>
            <a:prstGeom prst="line">
              <a:avLst/>
            </a:prstGeom>
            <a:ln w="6350" cap="flat" cmpd="sng">
              <a:solidFill>
                <a:srgbClr val="000000"/>
              </a:solidFill>
              <a:prstDash val="solid"/>
              <a:round/>
              <a:headEnd type="none" w="med" len="med"/>
              <a:tailEnd type="stealth" w="sm" len="sm"/>
            </a:ln>
          </p:spPr>
        </p:sp>
        <p:sp>
          <p:nvSpPr>
            <p:cNvPr id="92166" name="Line 7"/>
            <p:cNvSpPr/>
            <p:nvPr/>
          </p:nvSpPr>
          <p:spPr>
            <a:xfrm flipH="1">
              <a:off x="3761" y="10680"/>
              <a:ext cx="345" cy="436"/>
            </a:xfrm>
            <a:prstGeom prst="line">
              <a:avLst/>
            </a:prstGeom>
            <a:ln w="6350" cap="flat" cmpd="sng">
              <a:solidFill>
                <a:srgbClr val="000000"/>
              </a:solidFill>
              <a:prstDash val="solid"/>
              <a:round/>
              <a:headEnd type="none" w="med" len="med"/>
              <a:tailEnd type="stealth" w="sm" len="sm"/>
            </a:ln>
          </p:spPr>
        </p:sp>
        <p:sp>
          <p:nvSpPr>
            <p:cNvPr id="92167" name="Line 8"/>
            <p:cNvSpPr/>
            <p:nvPr/>
          </p:nvSpPr>
          <p:spPr>
            <a:xfrm>
              <a:off x="4271" y="10678"/>
              <a:ext cx="330" cy="443"/>
            </a:xfrm>
            <a:prstGeom prst="line">
              <a:avLst/>
            </a:prstGeom>
            <a:ln w="6350" cap="flat" cmpd="sng">
              <a:solidFill>
                <a:srgbClr val="000000"/>
              </a:solidFill>
              <a:prstDash val="solid"/>
              <a:round/>
              <a:headEnd type="none" w="med" len="med"/>
              <a:tailEnd type="stealth" w="sm" len="sm"/>
            </a:ln>
          </p:spPr>
        </p:sp>
        <p:sp>
          <p:nvSpPr>
            <p:cNvPr id="92168" name="Line 9"/>
            <p:cNvSpPr/>
            <p:nvPr/>
          </p:nvSpPr>
          <p:spPr>
            <a:xfrm flipH="1">
              <a:off x="5201" y="10704"/>
              <a:ext cx="315" cy="390"/>
            </a:xfrm>
            <a:prstGeom prst="line">
              <a:avLst/>
            </a:prstGeom>
            <a:ln w="6350" cap="flat" cmpd="sng">
              <a:solidFill>
                <a:srgbClr val="000000"/>
              </a:solidFill>
              <a:prstDash val="solid"/>
              <a:round/>
              <a:headEnd type="none" w="med" len="med"/>
              <a:tailEnd type="stealth" w="sm" len="sm"/>
            </a:ln>
          </p:spPr>
        </p:sp>
        <p:sp>
          <p:nvSpPr>
            <p:cNvPr id="92169" name="Line 10"/>
            <p:cNvSpPr/>
            <p:nvPr/>
          </p:nvSpPr>
          <p:spPr>
            <a:xfrm>
              <a:off x="5756" y="10715"/>
              <a:ext cx="375" cy="379"/>
            </a:xfrm>
            <a:prstGeom prst="line">
              <a:avLst/>
            </a:prstGeom>
            <a:ln w="6350" cap="flat" cmpd="sng">
              <a:solidFill>
                <a:srgbClr val="000000"/>
              </a:solidFill>
              <a:prstDash val="solid"/>
              <a:round/>
              <a:headEnd type="none" w="med" len="med"/>
              <a:tailEnd type="stealth" w="sm" len="sm"/>
            </a:ln>
          </p:spPr>
        </p:sp>
        <p:sp>
          <p:nvSpPr>
            <p:cNvPr id="92170" name="Text Box 11"/>
            <p:cNvSpPr txBox="1"/>
            <p:nvPr/>
          </p:nvSpPr>
          <p:spPr>
            <a:xfrm>
              <a:off x="4515" y="9625"/>
              <a:ext cx="795" cy="420"/>
            </a:xfrm>
            <a:prstGeom prst="rect">
              <a:avLst/>
            </a:prstGeom>
            <a:noFill/>
            <a:ln w="9525">
              <a:noFill/>
            </a:ln>
          </p:spPr>
          <p:txBody>
            <a:bodyPr anchor="t" anchorCtr="0"/>
            <a:p>
              <a:pPr eaLnBrk="0" hangingPunct="0">
                <a:lnSpc>
                  <a:spcPct val="96000"/>
                </a:lnSpc>
              </a:pPr>
              <a:r>
                <a:rPr lang="zh-CN" altLang="en-US" sz="2400" dirty="0">
                  <a:latin typeface="Verdana" panose="020B0604030504040204" pitchFamily="34" charset="0"/>
                  <a:ea typeface="宋体" panose="02010600030101010101" pitchFamily="2" charset="-122"/>
                </a:rPr>
                <a:t>数据库</a:t>
              </a:r>
              <a:endParaRPr lang="zh-CN" altLang="en-US" sz="2400" dirty="0">
                <a:latin typeface="Verdana" panose="020B0604030504040204" pitchFamily="34" charset="0"/>
                <a:ea typeface="宋体" panose="02010600030101010101" pitchFamily="2" charset="-122"/>
              </a:endParaRPr>
            </a:p>
          </p:txBody>
        </p:sp>
        <p:sp>
          <p:nvSpPr>
            <p:cNvPr id="92171" name="Text Box 12"/>
            <p:cNvSpPr txBox="1"/>
            <p:nvPr/>
          </p:nvSpPr>
          <p:spPr>
            <a:xfrm>
              <a:off x="5265" y="10315"/>
              <a:ext cx="810" cy="375"/>
            </a:xfrm>
            <a:prstGeom prst="rect">
              <a:avLst/>
            </a:prstGeom>
            <a:noFill/>
            <a:ln w="9525">
              <a:noFill/>
            </a:ln>
          </p:spPr>
          <p:txBody>
            <a:bodyPr anchor="t" anchorCtr="0"/>
            <a:p>
              <a:pPr eaLnBrk="0" hangingPunct="0">
                <a:lnSpc>
                  <a:spcPct val="96000"/>
                </a:lnSpc>
              </a:pPr>
              <a:r>
                <a:rPr lang="zh-CN" altLang="en-US" sz="2400" dirty="0">
                  <a:latin typeface="Verdana" panose="020B0604030504040204" pitchFamily="34" charset="0"/>
                  <a:ea typeface="宋体" panose="02010600030101010101" pitchFamily="2" charset="-122"/>
                </a:rPr>
                <a:t>关系</a:t>
              </a:r>
              <a:r>
                <a:rPr lang="en-US" altLang="zh-CN" sz="2400" dirty="0">
                  <a:latin typeface="Verdana" panose="020B0604030504040204" pitchFamily="34" charset="0"/>
                  <a:ea typeface="宋体" panose="02010600030101010101" pitchFamily="2" charset="-122"/>
                </a:rPr>
                <a:t>R</a:t>
              </a:r>
              <a:r>
                <a:rPr lang="en-US" altLang="zh-CN" sz="2400" i="1" baseline="-25000" dirty="0">
                  <a:latin typeface="Verdana" panose="020B0604030504040204" pitchFamily="34" charset="0"/>
                  <a:ea typeface="宋体" panose="02010600030101010101" pitchFamily="2" charset="-122"/>
                </a:rPr>
                <a:t>n</a:t>
              </a:r>
              <a:endParaRPr lang="en-US" altLang="zh-CN" sz="2400" dirty="0">
                <a:latin typeface="Verdana" panose="020B0604030504040204" pitchFamily="34" charset="0"/>
                <a:ea typeface="宋体" panose="02010600030101010101" pitchFamily="2" charset="-122"/>
              </a:endParaRPr>
            </a:p>
          </p:txBody>
        </p:sp>
        <p:sp>
          <p:nvSpPr>
            <p:cNvPr id="92172" name="Text Box 13"/>
            <p:cNvSpPr txBox="1"/>
            <p:nvPr/>
          </p:nvSpPr>
          <p:spPr>
            <a:xfrm>
              <a:off x="3810" y="10315"/>
              <a:ext cx="930" cy="600"/>
            </a:xfrm>
            <a:prstGeom prst="rect">
              <a:avLst/>
            </a:prstGeom>
            <a:noFill/>
            <a:ln w="9525">
              <a:noFill/>
            </a:ln>
          </p:spPr>
          <p:txBody>
            <a:bodyPr anchor="t" anchorCtr="0"/>
            <a:p>
              <a:pPr eaLnBrk="0" hangingPunct="0">
                <a:lnSpc>
                  <a:spcPct val="96000"/>
                </a:lnSpc>
              </a:pPr>
              <a:r>
                <a:rPr lang="zh-CN" altLang="en-US" sz="2000" dirty="0">
                  <a:latin typeface="Verdana" panose="020B0604030504040204" pitchFamily="34" charset="0"/>
                  <a:ea typeface="宋体" panose="02010600030101010101" pitchFamily="2" charset="-122"/>
                </a:rPr>
                <a:t>关系</a:t>
              </a:r>
              <a:r>
                <a:rPr lang="en-US" altLang="zh-CN" sz="2000" dirty="0">
                  <a:latin typeface="Verdana" panose="020B0604030504040204" pitchFamily="34" charset="0"/>
                  <a:ea typeface="宋体" panose="02010600030101010101" pitchFamily="2" charset="-122"/>
                </a:rPr>
                <a:t>R</a:t>
              </a:r>
              <a:r>
                <a:rPr lang="en-US" altLang="zh-CN" sz="2000" baseline="-25000" dirty="0">
                  <a:latin typeface="Verdana" panose="020B0604030504040204" pitchFamily="34" charset="0"/>
                  <a:ea typeface="宋体" panose="02010600030101010101" pitchFamily="2" charset="-122"/>
                </a:rPr>
                <a:t>1</a:t>
              </a:r>
              <a:endParaRPr lang="en-US" altLang="zh-CN" sz="2000" dirty="0">
                <a:latin typeface="Verdana" panose="020B0604030504040204" pitchFamily="34" charset="0"/>
                <a:ea typeface="宋体" panose="02010600030101010101" pitchFamily="2" charset="-122"/>
              </a:endParaRPr>
            </a:p>
          </p:txBody>
        </p:sp>
        <p:sp>
          <p:nvSpPr>
            <p:cNvPr id="92173" name="Text Box 14"/>
            <p:cNvSpPr txBox="1"/>
            <p:nvPr/>
          </p:nvSpPr>
          <p:spPr>
            <a:xfrm>
              <a:off x="3447" y="11005"/>
              <a:ext cx="630" cy="390"/>
            </a:xfrm>
            <a:prstGeom prst="rect">
              <a:avLst/>
            </a:prstGeom>
            <a:noFill/>
            <a:ln w="6350">
              <a:noFill/>
            </a:ln>
          </p:spPr>
          <p:txBody>
            <a:bodyPr anchor="t" anchorCtr="0"/>
            <a:p>
              <a:pPr eaLnBrk="0" hangingPunct="0">
                <a:lnSpc>
                  <a:spcPct val="96000"/>
                </a:lnSpc>
              </a:pPr>
              <a:r>
                <a:rPr lang="zh-CN" altLang="en-US" sz="2400" dirty="0">
                  <a:latin typeface="Verdana" panose="020B0604030504040204" pitchFamily="34" charset="0"/>
                  <a:ea typeface="宋体" panose="02010600030101010101" pitchFamily="2" charset="-122"/>
                </a:rPr>
                <a:t>元组</a:t>
              </a:r>
              <a:endParaRPr lang="zh-CN" altLang="en-US" sz="2400" dirty="0">
                <a:latin typeface="Verdana" panose="020B0604030504040204" pitchFamily="34" charset="0"/>
                <a:ea typeface="宋体" panose="02010600030101010101" pitchFamily="2" charset="-122"/>
              </a:endParaRPr>
            </a:p>
          </p:txBody>
        </p:sp>
        <p:sp>
          <p:nvSpPr>
            <p:cNvPr id="92174" name="Text Box 15"/>
            <p:cNvSpPr txBox="1"/>
            <p:nvPr/>
          </p:nvSpPr>
          <p:spPr>
            <a:xfrm>
              <a:off x="5835" y="11005"/>
              <a:ext cx="795" cy="435"/>
            </a:xfrm>
            <a:prstGeom prst="rect">
              <a:avLst/>
            </a:prstGeom>
            <a:noFill/>
            <a:ln w="9525">
              <a:noFill/>
            </a:ln>
          </p:spPr>
          <p:txBody>
            <a:bodyPr anchor="t" anchorCtr="0"/>
            <a:p>
              <a:pPr eaLnBrk="0" hangingPunct="0">
                <a:lnSpc>
                  <a:spcPct val="96000"/>
                </a:lnSpc>
              </a:pPr>
              <a:r>
                <a:rPr lang="zh-CN" altLang="en-US" sz="2400" dirty="0">
                  <a:latin typeface="Verdana" panose="020B0604030504040204" pitchFamily="34" charset="0"/>
                  <a:ea typeface="宋体" panose="02010600030101010101" pitchFamily="2" charset="-122"/>
                </a:rPr>
                <a:t>元组</a:t>
              </a:r>
              <a:endParaRPr lang="zh-CN" altLang="en-US" sz="2400" dirty="0">
                <a:latin typeface="Verdana" panose="020B0604030504040204" pitchFamily="34" charset="0"/>
                <a:ea typeface="宋体" panose="02010600030101010101" pitchFamily="2" charset="-122"/>
              </a:endParaRPr>
            </a:p>
          </p:txBody>
        </p:sp>
        <p:sp>
          <p:nvSpPr>
            <p:cNvPr id="92175" name="Text Box 16"/>
            <p:cNvSpPr txBox="1"/>
            <p:nvPr/>
          </p:nvSpPr>
          <p:spPr>
            <a:xfrm>
              <a:off x="4257" y="11023"/>
              <a:ext cx="630" cy="390"/>
            </a:xfrm>
            <a:prstGeom prst="rect">
              <a:avLst/>
            </a:prstGeom>
            <a:noFill/>
            <a:ln w="6350">
              <a:noFill/>
            </a:ln>
          </p:spPr>
          <p:txBody>
            <a:bodyPr anchor="t" anchorCtr="0"/>
            <a:p>
              <a:pPr eaLnBrk="0" hangingPunct="0">
                <a:lnSpc>
                  <a:spcPct val="96000"/>
                </a:lnSpc>
              </a:pPr>
              <a:r>
                <a:rPr lang="zh-CN" altLang="en-US" sz="2400" dirty="0">
                  <a:latin typeface="Verdana" panose="020B0604030504040204" pitchFamily="34" charset="0"/>
                  <a:ea typeface="宋体" panose="02010600030101010101" pitchFamily="2" charset="-122"/>
                </a:rPr>
                <a:t>元组</a:t>
              </a:r>
              <a:endParaRPr lang="zh-CN" altLang="en-US" sz="2400" dirty="0">
                <a:latin typeface="Verdana" panose="020B0604030504040204" pitchFamily="34" charset="0"/>
                <a:ea typeface="宋体" panose="02010600030101010101" pitchFamily="2" charset="-122"/>
              </a:endParaRPr>
            </a:p>
          </p:txBody>
        </p:sp>
        <p:sp>
          <p:nvSpPr>
            <p:cNvPr id="92176" name="Text Box 17"/>
            <p:cNvSpPr txBox="1"/>
            <p:nvPr/>
          </p:nvSpPr>
          <p:spPr>
            <a:xfrm>
              <a:off x="4902" y="11023"/>
              <a:ext cx="630" cy="390"/>
            </a:xfrm>
            <a:prstGeom prst="rect">
              <a:avLst/>
            </a:prstGeom>
            <a:noFill/>
            <a:ln w="6350">
              <a:noFill/>
            </a:ln>
          </p:spPr>
          <p:txBody>
            <a:bodyPr anchor="t" anchorCtr="0"/>
            <a:p>
              <a:pPr eaLnBrk="0" hangingPunct="0">
                <a:lnSpc>
                  <a:spcPct val="96000"/>
                </a:lnSpc>
              </a:pPr>
              <a:r>
                <a:rPr lang="zh-CN" altLang="en-US" sz="2400" dirty="0">
                  <a:latin typeface="Verdana" panose="020B0604030504040204" pitchFamily="34" charset="0"/>
                  <a:ea typeface="宋体" panose="02010600030101010101" pitchFamily="2" charset="-122"/>
                </a:rPr>
                <a:t>元组</a:t>
              </a:r>
              <a:endParaRPr lang="zh-CN" altLang="en-US" sz="2400" dirty="0">
                <a:latin typeface="Verdana" panose="020B0604030504040204" pitchFamily="34" charset="0"/>
                <a:ea typeface="宋体" panose="02010600030101010101" pitchFamily="2" charset="-122"/>
              </a:endParaRPr>
            </a:p>
          </p:txBody>
        </p:sp>
        <p:sp>
          <p:nvSpPr>
            <p:cNvPr id="92177" name="Text Box 18"/>
            <p:cNvSpPr txBox="1"/>
            <p:nvPr/>
          </p:nvSpPr>
          <p:spPr>
            <a:xfrm>
              <a:off x="4692" y="10405"/>
              <a:ext cx="1170" cy="615"/>
            </a:xfrm>
            <a:prstGeom prst="rect">
              <a:avLst/>
            </a:prstGeom>
            <a:noFill/>
            <a:ln w="6350">
              <a:noFill/>
            </a:ln>
          </p:spPr>
          <p:txBody>
            <a:bodyPr anchor="t" anchorCtr="0"/>
            <a:p>
              <a:pPr algn="just" eaLnBrk="0" hangingPunct="0">
                <a:lnSpc>
                  <a:spcPct val="96000"/>
                </a:lnSpc>
              </a:pPr>
              <a:endParaRPr lang="zh-CN" altLang="zh-CN" sz="700" dirty="0">
                <a:latin typeface="Verdana" panose="020B0604030504040204" pitchFamily="34" charset="0"/>
                <a:ea typeface="宋体" panose="02010600030101010101" pitchFamily="2" charset="-122"/>
              </a:endParaRPr>
            </a:p>
          </p:txBody>
        </p:sp>
        <p:sp>
          <p:nvSpPr>
            <p:cNvPr id="92178" name="Text Box 19"/>
            <p:cNvSpPr txBox="1"/>
            <p:nvPr/>
          </p:nvSpPr>
          <p:spPr>
            <a:xfrm>
              <a:off x="4665" y="10330"/>
              <a:ext cx="810" cy="314"/>
            </a:xfrm>
            <a:prstGeom prst="rect">
              <a:avLst/>
            </a:prstGeom>
            <a:noFill/>
            <a:ln w="9525">
              <a:noFill/>
            </a:ln>
          </p:spPr>
          <p:txBody>
            <a:bodyPr anchor="t" anchorCtr="0"/>
            <a:p>
              <a:pPr algn="just" eaLnBrk="0" hangingPunct="0">
                <a:lnSpc>
                  <a:spcPct val="96000"/>
                </a:lnSpc>
              </a:pPr>
              <a:r>
                <a:rPr lang="en-US" altLang="zh-CN" sz="2400" dirty="0">
                  <a:latin typeface="Verdana" panose="020B0604030504040204" pitchFamily="34" charset="0"/>
                  <a:ea typeface="宋体" panose="02010600030101010101" pitchFamily="2" charset="-122"/>
                </a:rPr>
                <a:t>……</a:t>
              </a:r>
              <a:endParaRPr lang="en-US" altLang="zh-CN" sz="2400" dirty="0">
                <a:latin typeface="Verdana" panose="020B0604030504040204" pitchFamily="34" charset="0"/>
                <a:ea typeface="宋体" panose="02010600030101010101" pitchFamily="2" charset="-122"/>
              </a:endParaRPr>
            </a:p>
          </p:txBody>
        </p:sp>
        <p:sp>
          <p:nvSpPr>
            <p:cNvPr id="92179" name="Text Box 20"/>
            <p:cNvSpPr txBox="1"/>
            <p:nvPr/>
          </p:nvSpPr>
          <p:spPr>
            <a:xfrm>
              <a:off x="5355" y="11020"/>
              <a:ext cx="810" cy="434"/>
            </a:xfrm>
            <a:prstGeom prst="rect">
              <a:avLst/>
            </a:prstGeom>
            <a:noFill/>
            <a:ln w="9525">
              <a:noFill/>
            </a:ln>
          </p:spPr>
          <p:txBody>
            <a:bodyPr anchor="t" anchorCtr="0"/>
            <a:p>
              <a:pPr algn="just" eaLnBrk="0" hangingPunct="0">
                <a:lnSpc>
                  <a:spcPct val="96000"/>
                </a:lnSpc>
              </a:pPr>
              <a:r>
                <a:rPr lang="en-US" altLang="zh-CN" sz="2000" dirty="0">
                  <a:latin typeface="宋体" panose="02010600030101010101" pitchFamily="2" charset="-122"/>
                  <a:ea typeface="宋体" panose="02010600030101010101" pitchFamily="2" charset="-122"/>
                </a:rPr>
                <a:t>   </a:t>
              </a:r>
              <a:r>
                <a:rPr lang="en-US" altLang="zh-CN" sz="2000" dirty="0">
                  <a:latin typeface="Verdana" panose="020B0604030504040204" pitchFamily="34" charset="0"/>
                  <a:ea typeface="宋体" panose="02010600030101010101" pitchFamily="2" charset="-122"/>
                </a:rPr>
                <a:t>……</a:t>
              </a:r>
              <a:endParaRPr lang="en-US" altLang="zh-CN" sz="2000" dirty="0">
                <a:latin typeface="Verdana" panose="020B0604030504040204" pitchFamily="34" charset="0"/>
                <a:ea typeface="宋体" panose="02010600030101010101" pitchFamily="2" charset="-122"/>
              </a:endParaRPr>
            </a:p>
          </p:txBody>
        </p:sp>
        <p:sp>
          <p:nvSpPr>
            <p:cNvPr id="92180" name="Text Box 21"/>
            <p:cNvSpPr txBox="1"/>
            <p:nvPr/>
          </p:nvSpPr>
          <p:spPr>
            <a:xfrm>
              <a:off x="3840" y="11020"/>
              <a:ext cx="810" cy="314"/>
            </a:xfrm>
            <a:prstGeom prst="rect">
              <a:avLst/>
            </a:prstGeom>
            <a:noFill/>
            <a:ln w="9525">
              <a:noFill/>
            </a:ln>
          </p:spPr>
          <p:txBody>
            <a:bodyPr anchor="t" anchorCtr="0"/>
            <a:p>
              <a:pPr algn="just" eaLnBrk="0" hangingPunct="0">
                <a:lnSpc>
                  <a:spcPct val="96000"/>
                </a:lnSpc>
              </a:pPr>
              <a:r>
                <a:rPr lang="en-US" altLang="zh-CN" sz="2000" dirty="0">
                  <a:latin typeface="宋体" panose="02010600030101010101" pitchFamily="2" charset="-122"/>
                  <a:ea typeface="宋体" panose="02010600030101010101" pitchFamily="2" charset="-122"/>
                </a:rPr>
                <a:t>  </a:t>
              </a:r>
              <a:r>
                <a:rPr lang="en-US" altLang="zh-CN" sz="2000" dirty="0">
                  <a:latin typeface="Verdana" panose="020B0604030504040204" pitchFamily="34" charset="0"/>
                  <a:ea typeface="宋体" panose="02010600030101010101" pitchFamily="2" charset="-122"/>
                </a:rPr>
                <a:t>……</a:t>
              </a:r>
              <a:endParaRPr lang="en-US" altLang="zh-CN" sz="2000" dirty="0">
                <a:latin typeface="Verdana" panose="020B0604030504040204" pitchFamily="34" charset="0"/>
                <a:ea typeface="宋体" panose="02010600030101010101" pitchFamily="2" charset="-122"/>
              </a:endParaRPr>
            </a:p>
          </p:txBody>
        </p:sp>
      </p:grpSp>
      <p:sp>
        <p:nvSpPr>
          <p:cNvPr id="92181" name="Text Box 22"/>
          <p:cNvSpPr txBox="1"/>
          <p:nvPr/>
        </p:nvSpPr>
        <p:spPr>
          <a:xfrm>
            <a:off x="3924300" y="5876925"/>
            <a:ext cx="1335088" cy="366713"/>
          </a:xfrm>
          <a:prstGeom prst="rect">
            <a:avLst/>
          </a:prstGeom>
          <a:noFill/>
          <a:ln w="25400">
            <a:noFill/>
          </a:ln>
        </p:spPr>
        <p:txBody>
          <a:bodyPr wrap="none" anchor="t" anchorCtr="0">
            <a:spAutoFit/>
          </a:bodyPr>
          <a:p>
            <a:pPr marL="342900" indent="-342900"/>
            <a:r>
              <a:rPr lang="zh-CN" altLang="en-US" dirty="0">
                <a:latin typeface="Verdana" panose="020B0604030504040204" pitchFamily="34" charset="0"/>
                <a:ea typeface="宋体" panose="02010600030101010101" pitchFamily="2" charset="-122"/>
              </a:rPr>
              <a:t>三级粒度树</a:t>
            </a:r>
            <a:endParaRPr lang="zh-CN" altLang="en-US" dirty="0">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Rectangle 2"/>
          <p:cNvSpPr>
            <a:spLocks noGrp="1"/>
          </p:cNvSpPr>
          <p:nvPr>
            <p:ph type="title"/>
          </p:nvPr>
        </p:nvSpPr>
        <p:spPr>
          <a:ln/>
        </p:spPr>
        <p:txBody>
          <a:bodyPr vert="horz" wrap="square" lIns="91440" tIns="45720" rIns="91440" bIns="45720" anchor="b" anchorCtr="0"/>
          <a:p>
            <a:pPr eaLnBrk="1" hangingPunct="1"/>
            <a:r>
              <a:rPr lang="zh-CN" altLang="en-US" dirty="0"/>
              <a:t>多粒度封锁协议</a:t>
            </a:r>
            <a:endParaRPr lang="zh-CN" altLang="en-US" dirty="0"/>
          </a:p>
        </p:txBody>
      </p:sp>
      <p:sp>
        <p:nvSpPr>
          <p:cNvPr id="93186" name="Rectangle 3"/>
          <p:cNvSpPr>
            <a:spLocks noGrp="1"/>
          </p:cNvSpPr>
          <p:nvPr>
            <p:ph idx="1"/>
          </p:nvPr>
        </p:nvSpPr>
        <p:spPr>
          <a:ln/>
        </p:spPr>
        <p:txBody>
          <a:bodyPr vert="horz" wrap="square" lIns="91440" tIns="45720" rIns="91440" bIns="45720" anchor="t" anchorCtr="0"/>
          <a:p>
            <a:pPr eaLnBrk="1" hangingPunct="1">
              <a:lnSpc>
                <a:spcPct val="150000"/>
              </a:lnSpc>
            </a:pPr>
            <a:r>
              <a:rPr lang="zh-CN" altLang="en-US" dirty="0"/>
              <a:t>允许多粒度树中的每个结点被独立地加锁</a:t>
            </a:r>
            <a:endParaRPr lang="zh-CN" altLang="en-US" dirty="0"/>
          </a:p>
          <a:p>
            <a:pPr eaLnBrk="1" hangingPunct="1">
              <a:lnSpc>
                <a:spcPct val="150000"/>
              </a:lnSpc>
              <a:spcBef>
                <a:spcPct val="60000"/>
              </a:spcBef>
            </a:pPr>
            <a:r>
              <a:rPr lang="zh-CN" altLang="en-US" dirty="0"/>
              <a:t>对一个结点加锁意味着这个结点的所有后裔结点也被加以同样类型的锁</a:t>
            </a:r>
            <a:endParaRPr lang="zh-CN" altLang="en-US" dirty="0"/>
          </a:p>
          <a:p>
            <a:pPr eaLnBrk="1" hangingPunct="1">
              <a:lnSpc>
                <a:spcPct val="150000"/>
              </a:lnSpc>
              <a:spcBef>
                <a:spcPct val="60000"/>
              </a:spcBef>
            </a:pPr>
            <a:r>
              <a:rPr lang="zh-CN" altLang="en-US" dirty="0"/>
              <a:t>在多粒度封锁中一个数据对象可能以两种方式封锁：</a:t>
            </a:r>
            <a:r>
              <a:rPr lang="zh-CN" altLang="en-US" dirty="0">
                <a:solidFill>
                  <a:srgbClr val="FF00FF"/>
                </a:solidFill>
              </a:rPr>
              <a:t>显式封锁和隐式封锁</a:t>
            </a:r>
            <a:endParaRPr lang="zh-CN" altLang="en-US" dirty="0">
              <a:solidFill>
                <a:srgbClr val="FF00FF"/>
              </a:solidFill>
            </a:endParaRPr>
          </a:p>
        </p:txBody>
      </p:sp>
    </p:spTree>
  </p:cSld>
  <p:clrMapOvr>
    <a:masterClrMapping/>
  </p:clrMapOvr>
  <p:transition advClick="0"/>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Rectangle 2"/>
          <p:cNvSpPr>
            <a:spLocks noGrp="1"/>
          </p:cNvSpPr>
          <p:nvPr>
            <p:ph type="title"/>
          </p:nvPr>
        </p:nvSpPr>
        <p:spPr>
          <a:ln/>
        </p:spPr>
        <p:txBody>
          <a:bodyPr vert="horz" wrap="square" lIns="91440" tIns="45720" rIns="91440" bIns="45720" anchor="b" anchorCtr="0"/>
          <a:p>
            <a:pPr eaLnBrk="1" hangingPunct="1"/>
            <a:r>
              <a:rPr lang="zh-CN" altLang="en-US" dirty="0"/>
              <a:t>显式封锁和隐式封锁</a:t>
            </a:r>
            <a:endParaRPr lang="zh-CN" altLang="en-US" dirty="0"/>
          </a:p>
        </p:txBody>
      </p:sp>
      <p:sp>
        <p:nvSpPr>
          <p:cNvPr id="94210" name="Rectangle 3"/>
          <p:cNvSpPr>
            <a:spLocks noGrp="1"/>
          </p:cNvSpPr>
          <p:nvPr>
            <p:ph idx="1"/>
          </p:nvPr>
        </p:nvSpPr>
        <p:spPr>
          <a:ln/>
        </p:spPr>
        <p:txBody>
          <a:bodyPr vert="horz" wrap="square" lIns="91440" tIns="45720" rIns="91440" bIns="45720" anchor="t" anchorCtr="0"/>
          <a:p>
            <a:pPr eaLnBrk="1" hangingPunct="1">
              <a:lnSpc>
                <a:spcPct val="140000"/>
              </a:lnSpc>
            </a:pPr>
            <a:r>
              <a:rPr lang="zh-CN" altLang="en-US" dirty="0"/>
              <a:t>显式封锁</a:t>
            </a:r>
            <a:r>
              <a:rPr lang="en-US" altLang="zh-CN" dirty="0"/>
              <a:t>: </a:t>
            </a:r>
            <a:r>
              <a:rPr lang="zh-CN" altLang="en-US" dirty="0"/>
              <a:t>直接加到数据对象上的封锁</a:t>
            </a:r>
            <a:endParaRPr lang="zh-CN" altLang="en-US" dirty="0"/>
          </a:p>
          <a:p>
            <a:pPr eaLnBrk="1" hangingPunct="1">
              <a:lnSpc>
                <a:spcPct val="140000"/>
              </a:lnSpc>
              <a:spcBef>
                <a:spcPct val="60000"/>
              </a:spcBef>
            </a:pPr>
            <a:r>
              <a:rPr lang="zh-CN" altLang="en-US" dirty="0"/>
              <a:t>隐式封锁</a:t>
            </a:r>
            <a:r>
              <a:rPr lang="en-US" altLang="zh-CN" dirty="0"/>
              <a:t>: </a:t>
            </a:r>
            <a:r>
              <a:rPr lang="zh-CN" altLang="en-US" dirty="0"/>
              <a:t>该数据对象没有独立加锁，是由于其上级结点加锁而使该数据对象加上了锁</a:t>
            </a:r>
            <a:endParaRPr lang="zh-CN" altLang="en-US" dirty="0"/>
          </a:p>
          <a:p>
            <a:pPr eaLnBrk="1" hangingPunct="1">
              <a:lnSpc>
                <a:spcPct val="140000"/>
              </a:lnSpc>
              <a:spcBef>
                <a:spcPct val="60000"/>
              </a:spcBef>
            </a:pPr>
            <a:r>
              <a:rPr lang="zh-CN" altLang="en-US" dirty="0"/>
              <a:t>显式封锁和隐式封锁的效果是一样的</a:t>
            </a:r>
            <a:endParaRPr lang="zh-CN" altLang="en-US" dirty="0"/>
          </a:p>
        </p:txBody>
      </p:sp>
    </p:spTree>
  </p:cSld>
  <p:clrMapOvr>
    <a:masterClrMapping/>
  </p:clrMapOvr>
  <p:transition advClick="0"/>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Rectangle 2"/>
          <p:cNvSpPr>
            <a:spLocks noGrp="1"/>
          </p:cNvSpPr>
          <p:nvPr>
            <p:ph type="title"/>
          </p:nvPr>
        </p:nvSpPr>
        <p:spPr>
          <a:ln/>
        </p:spPr>
        <p:txBody>
          <a:bodyPr vert="horz" wrap="square" lIns="91440" tIns="45720" rIns="91440" bIns="45720" anchor="b" anchorCtr="0"/>
          <a:p>
            <a:pPr eaLnBrk="1" hangingPunct="1"/>
            <a:r>
              <a:rPr lang="zh-CN" altLang="en-US" sz="3200" dirty="0"/>
              <a:t>显式封锁和隐式封锁（续）</a:t>
            </a:r>
            <a:endParaRPr lang="zh-CN" altLang="en-US" sz="3200" dirty="0"/>
          </a:p>
        </p:txBody>
      </p:sp>
      <p:sp>
        <p:nvSpPr>
          <p:cNvPr id="95234" name="Rectangle 3"/>
          <p:cNvSpPr>
            <a:spLocks noGrp="1"/>
          </p:cNvSpPr>
          <p:nvPr>
            <p:ph idx="1"/>
          </p:nvPr>
        </p:nvSpPr>
        <p:spPr>
          <a:xfrm>
            <a:off x="357188" y="928688"/>
            <a:ext cx="8429625" cy="5214937"/>
          </a:xfrm>
          <a:ln/>
        </p:spPr>
        <p:txBody>
          <a:bodyPr vert="horz" wrap="square" lIns="91440" tIns="45720" rIns="91440" bIns="45720" anchor="t" anchorCtr="0"/>
          <a:p>
            <a:pPr eaLnBrk="1" hangingPunct="1">
              <a:lnSpc>
                <a:spcPct val="160000"/>
              </a:lnSpc>
            </a:pPr>
            <a:r>
              <a:rPr lang="zh-CN" altLang="en-US" sz="2800" dirty="0"/>
              <a:t>系统检查封锁冲突时</a:t>
            </a:r>
            <a:endParaRPr lang="zh-CN" altLang="en-US" sz="2800" dirty="0"/>
          </a:p>
          <a:p>
            <a:pPr lvl="1" indent="-436245" eaLnBrk="1" hangingPunct="1">
              <a:lnSpc>
                <a:spcPct val="160000"/>
              </a:lnSpc>
              <a:buFont typeface="Wingdings" panose="05000000000000000000" pitchFamily="2" charset="2"/>
              <a:buChar char="n"/>
            </a:pPr>
            <a:r>
              <a:rPr lang="zh-CN" altLang="en-US" sz="2400" dirty="0"/>
              <a:t>要检查显式封锁</a:t>
            </a:r>
            <a:endParaRPr lang="zh-CN" altLang="en-US" sz="2400" dirty="0"/>
          </a:p>
          <a:p>
            <a:pPr lvl="1" indent="-436245" eaLnBrk="1" hangingPunct="1">
              <a:lnSpc>
                <a:spcPct val="160000"/>
              </a:lnSpc>
              <a:buFont typeface="Wingdings" panose="05000000000000000000" pitchFamily="2" charset="2"/>
              <a:buChar char="n"/>
            </a:pPr>
            <a:r>
              <a:rPr lang="zh-CN" altLang="en-US" sz="2400" dirty="0"/>
              <a:t>还要检查隐式封锁</a:t>
            </a:r>
            <a:endParaRPr lang="zh-CN" altLang="en-US" sz="2400" dirty="0"/>
          </a:p>
          <a:p>
            <a:pPr eaLnBrk="1" hangingPunct="1">
              <a:lnSpc>
                <a:spcPct val="160000"/>
              </a:lnSpc>
            </a:pPr>
            <a:r>
              <a:rPr lang="zh-CN" altLang="en-US" sz="2800" dirty="0"/>
              <a:t>例如事务</a:t>
            </a:r>
            <a:r>
              <a:rPr lang="en-US" altLang="zh-CN" sz="2800" dirty="0"/>
              <a:t>T</a:t>
            </a:r>
            <a:r>
              <a:rPr lang="zh-CN" altLang="en-US" sz="2800" dirty="0"/>
              <a:t>要对关系</a:t>
            </a:r>
            <a:r>
              <a:rPr lang="en-US" altLang="zh-CN" sz="2800" i="1" dirty="0"/>
              <a:t>R</a:t>
            </a:r>
            <a:r>
              <a:rPr lang="en-US" altLang="zh-CN" sz="2800" dirty="0"/>
              <a:t>1</a:t>
            </a:r>
            <a:r>
              <a:rPr lang="zh-CN" altLang="en-US" sz="2800" dirty="0"/>
              <a:t>加</a:t>
            </a:r>
            <a:r>
              <a:rPr lang="en-US" altLang="zh-CN" sz="2800" dirty="0"/>
              <a:t>X</a:t>
            </a:r>
            <a:r>
              <a:rPr lang="zh-CN" altLang="en-US" sz="2800" dirty="0"/>
              <a:t>锁</a:t>
            </a:r>
            <a:endParaRPr lang="zh-CN" altLang="en-US" sz="2800" dirty="0"/>
          </a:p>
          <a:p>
            <a:pPr lvl="1" indent="-436245" eaLnBrk="1" hangingPunct="1">
              <a:lnSpc>
                <a:spcPct val="160000"/>
              </a:lnSpc>
            </a:pPr>
            <a:r>
              <a:rPr lang="zh-CN" altLang="en-US" sz="2400" dirty="0"/>
              <a:t>系统必须搜索其上级结点数据库、关系</a:t>
            </a:r>
            <a:r>
              <a:rPr lang="en-US" altLang="zh-CN" sz="2400" i="1" dirty="0"/>
              <a:t>R</a:t>
            </a:r>
            <a:r>
              <a:rPr lang="en-US" altLang="zh-CN" sz="2400" dirty="0"/>
              <a:t>1</a:t>
            </a:r>
            <a:endParaRPr lang="en-US" altLang="zh-CN" sz="2400" dirty="0"/>
          </a:p>
          <a:p>
            <a:pPr lvl="1" indent="-436245" eaLnBrk="1" hangingPunct="1">
              <a:lnSpc>
                <a:spcPct val="160000"/>
              </a:lnSpc>
            </a:pPr>
            <a:r>
              <a:rPr lang="zh-CN" altLang="en-US" sz="2400" dirty="0"/>
              <a:t>还要搜索</a:t>
            </a:r>
            <a:r>
              <a:rPr lang="en-US" altLang="zh-CN" sz="2400" i="1" dirty="0"/>
              <a:t>R</a:t>
            </a:r>
            <a:r>
              <a:rPr lang="en-US" altLang="zh-CN" sz="2400" dirty="0"/>
              <a:t>1</a:t>
            </a:r>
            <a:r>
              <a:rPr lang="zh-CN" altLang="en-US" sz="2400" dirty="0"/>
              <a:t>的下级结点，即</a:t>
            </a:r>
            <a:r>
              <a:rPr lang="en-US" altLang="zh-CN" sz="2400" i="1" dirty="0"/>
              <a:t>R</a:t>
            </a:r>
            <a:r>
              <a:rPr lang="en-US" altLang="zh-CN" sz="2400" dirty="0"/>
              <a:t>1</a:t>
            </a:r>
            <a:r>
              <a:rPr lang="zh-CN" altLang="en-US" sz="2400" dirty="0"/>
              <a:t>中的每一个元组</a:t>
            </a:r>
            <a:endParaRPr lang="zh-CN" altLang="en-US" sz="2400" dirty="0"/>
          </a:p>
          <a:p>
            <a:pPr lvl="1" indent="-436245" eaLnBrk="1" hangingPunct="1">
              <a:lnSpc>
                <a:spcPct val="160000"/>
              </a:lnSpc>
            </a:pPr>
            <a:r>
              <a:rPr lang="zh-CN" altLang="en-US" sz="2400" dirty="0"/>
              <a:t>如果其中某一个数据对象已经加了不相容锁，则</a:t>
            </a:r>
            <a:r>
              <a:rPr lang="en-US" altLang="zh-CN" sz="2400" dirty="0"/>
              <a:t>T</a:t>
            </a:r>
            <a:r>
              <a:rPr lang="zh-CN" altLang="en-US" sz="2400" dirty="0"/>
              <a:t>必须等待 </a:t>
            </a:r>
            <a:endParaRPr lang="zh-CN" altLang="en-US" sz="2400" dirty="0"/>
          </a:p>
        </p:txBody>
      </p:sp>
    </p:spTree>
  </p:cSld>
  <p:clrMapOvr>
    <a:masterClrMapping/>
  </p:clrMapOvr>
  <p:transition advClick="0"/>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Rectangle 2"/>
          <p:cNvSpPr>
            <a:spLocks noGrp="1"/>
          </p:cNvSpPr>
          <p:nvPr>
            <p:ph type="title"/>
          </p:nvPr>
        </p:nvSpPr>
        <p:spPr>
          <a:ln/>
        </p:spPr>
        <p:txBody>
          <a:bodyPr vert="horz" wrap="square" lIns="91440" tIns="45720" rIns="91440" bIns="45720" anchor="b" anchorCtr="0"/>
          <a:p>
            <a:pPr eaLnBrk="1" hangingPunct="1"/>
            <a:r>
              <a:rPr lang="zh-CN" altLang="en-US" sz="3200" dirty="0"/>
              <a:t>显式封锁和隐式封锁（续）</a:t>
            </a:r>
            <a:endParaRPr lang="zh-CN" altLang="en-US" sz="3200" dirty="0"/>
          </a:p>
        </p:txBody>
      </p:sp>
      <p:sp>
        <p:nvSpPr>
          <p:cNvPr id="96258" name="Rectangle 3"/>
          <p:cNvSpPr>
            <a:spLocks noGrp="1"/>
          </p:cNvSpPr>
          <p:nvPr>
            <p:ph idx="1"/>
          </p:nvPr>
        </p:nvSpPr>
        <p:spPr>
          <a:xfrm>
            <a:off x="428625" y="1357313"/>
            <a:ext cx="8229600" cy="4857750"/>
          </a:xfrm>
          <a:ln/>
        </p:spPr>
        <p:txBody>
          <a:bodyPr vert="horz" wrap="square" lIns="91440" tIns="45720" rIns="91440" bIns="45720" anchor="t" anchorCtr="0"/>
          <a:p>
            <a:pPr eaLnBrk="1" hangingPunct="1">
              <a:spcBef>
                <a:spcPct val="60000"/>
              </a:spcBef>
            </a:pPr>
            <a:r>
              <a:rPr lang="zh-CN" altLang="en-US" sz="2400" dirty="0"/>
              <a:t>对某个数据对象加锁，系统要检查</a:t>
            </a:r>
            <a:endParaRPr lang="zh-CN" altLang="en-US" sz="2400" dirty="0"/>
          </a:p>
          <a:p>
            <a:pPr lvl="1" indent="-436245" eaLnBrk="1" hangingPunct="1">
              <a:lnSpc>
                <a:spcPct val="130000"/>
              </a:lnSpc>
              <a:spcBef>
                <a:spcPct val="60000"/>
              </a:spcBef>
            </a:pPr>
            <a:r>
              <a:rPr lang="zh-CN" altLang="en-US" sz="2200" dirty="0"/>
              <a:t> </a:t>
            </a:r>
            <a:r>
              <a:rPr lang="zh-CN" altLang="en-US" sz="2200" dirty="0">
                <a:solidFill>
                  <a:srgbClr val="0000FF"/>
                </a:solidFill>
              </a:rPr>
              <a:t>该数据对象</a:t>
            </a:r>
            <a:endParaRPr lang="zh-CN" altLang="en-US" sz="2200" dirty="0">
              <a:solidFill>
                <a:srgbClr val="0000FF"/>
              </a:solidFill>
            </a:endParaRPr>
          </a:p>
          <a:p>
            <a:pPr lvl="2" indent="-394970" eaLnBrk="1" hangingPunct="1">
              <a:lnSpc>
                <a:spcPct val="130000"/>
              </a:lnSpc>
              <a:buFont typeface="Wingdings" panose="05000000000000000000" pitchFamily="2" charset="2"/>
              <a:buChar char="Ø"/>
            </a:pPr>
            <a:r>
              <a:rPr lang="zh-CN" altLang="en-US" dirty="0"/>
              <a:t>有无显式封锁与之冲突</a:t>
            </a:r>
            <a:endParaRPr lang="zh-CN" altLang="en-US" dirty="0"/>
          </a:p>
          <a:p>
            <a:pPr lvl="1" indent="-436245" eaLnBrk="1" hangingPunct="1">
              <a:lnSpc>
                <a:spcPct val="130000"/>
              </a:lnSpc>
              <a:spcBef>
                <a:spcPct val="40000"/>
              </a:spcBef>
            </a:pPr>
            <a:r>
              <a:rPr lang="zh-CN" altLang="en-US" sz="2200" dirty="0"/>
              <a:t> </a:t>
            </a:r>
            <a:r>
              <a:rPr lang="zh-CN" altLang="en-US" sz="2200" dirty="0">
                <a:solidFill>
                  <a:srgbClr val="0000FF"/>
                </a:solidFill>
              </a:rPr>
              <a:t>所有上级结点</a:t>
            </a:r>
            <a:endParaRPr lang="zh-CN" altLang="en-US" sz="2200" dirty="0"/>
          </a:p>
          <a:p>
            <a:pPr lvl="2" indent="-394970" eaLnBrk="1" hangingPunct="1">
              <a:lnSpc>
                <a:spcPct val="130000"/>
              </a:lnSpc>
              <a:buFont typeface="Wingdings" panose="05000000000000000000" pitchFamily="2" charset="2"/>
              <a:buChar char="Ø"/>
            </a:pPr>
            <a:r>
              <a:rPr lang="zh-CN" altLang="en-US" dirty="0"/>
              <a:t>检查本事务的显式封锁是否与该数据对象上的隐式封锁冲突：</a:t>
            </a:r>
            <a:r>
              <a:rPr lang="en-US" altLang="zh-CN" dirty="0">
                <a:solidFill>
                  <a:srgbClr val="0000FF"/>
                </a:solidFill>
              </a:rPr>
              <a:t>(</a:t>
            </a:r>
            <a:r>
              <a:rPr lang="zh-CN" altLang="en-US" dirty="0">
                <a:solidFill>
                  <a:srgbClr val="0000FF"/>
                </a:solidFill>
              </a:rPr>
              <a:t>由上级结点已加的封锁造成的）</a:t>
            </a:r>
            <a:endParaRPr lang="zh-CN" altLang="en-US" dirty="0"/>
          </a:p>
          <a:p>
            <a:pPr lvl="1" indent="-436245" eaLnBrk="1" hangingPunct="1">
              <a:lnSpc>
                <a:spcPct val="130000"/>
              </a:lnSpc>
              <a:spcBef>
                <a:spcPct val="40000"/>
              </a:spcBef>
            </a:pPr>
            <a:r>
              <a:rPr lang="zh-CN" altLang="en-US" sz="2200" dirty="0">
                <a:solidFill>
                  <a:srgbClr val="0000FF"/>
                </a:solidFill>
              </a:rPr>
              <a:t>所有下级结点</a:t>
            </a:r>
            <a:endParaRPr lang="zh-CN" altLang="en-US" sz="2200" dirty="0"/>
          </a:p>
          <a:p>
            <a:pPr lvl="2" indent="-394970" eaLnBrk="1" hangingPunct="1">
              <a:lnSpc>
                <a:spcPct val="130000"/>
              </a:lnSpc>
              <a:buFont typeface="Wingdings" panose="05000000000000000000" pitchFamily="2" charset="2"/>
              <a:buChar char="Ø"/>
            </a:pPr>
            <a:r>
              <a:rPr lang="zh-CN" altLang="en-US" dirty="0"/>
              <a:t>看上面的显式封锁是否与本事务的隐式封锁</a:t>
            </a:r>
            <a:r>
              <a:rPr lang="zh-CN" altLang="en-US" dirty="0">
                <a:solidFill>
                  <a:srgbClr val="0000FF"/>
                </a:solidFill>
              </a:rPr>
              <a:t>（将加到下级结点的封锁）</a:t>
            </a:r>
            <a:r>
              <a:rPr lang="zh-CN" altLang="en-US" dirty="0"/>
              <a:t>冲突</a:t>
            </a:r>
            <a:endParaRPr lang="zh-CN" altLang="en-US" dirty="0"/>
          </a:p>
        </p:txBody>
      </p:sp>
    </p:spTree>
  </p:cSld>
  <p:clrMapOvr>
    <a:masterClrMapping/>
  </p:clrMapOvr>
  <p:transition advClick="0"/>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Rectangle 2"/>
          <p:cNvSpPr>
            <a:spLocks noGrp="1"/>
          </p:cNvSpPr>
          <p:nvPr>
            <p:ph type="title"/>
          </p:nvPr>
        </p:nvSpPr>
        <p:spPr>
          <a:ln/>
        </p:spPr>
        <p:txBody>
          <a:bodyPr vert="horz" wrap="square" lIns="91440" tIns="45720" rIns="91440" bIns="45720" anchor="b" anchorCtr="0"/>
          <a:p>
            <a:pPr eaLnBrk="1" hangingPunct="1"/>
            <a:r>
              <a:rPr lang="en-US" altLang="zh-CN" dirty="0"/>
              <a:t>11.7.2 </a:t>
            </a:r>
            <a:r>
              <a:rPr lang="zh-CN" altLang="en-US" dirty="0"/>
              <a:t>意向锁</a:t>
            </a:r>
            <a:endParaRPr lang="zh-CN" altLang="en-US" dirty="0"/>
          </a:p>
        </p:txBody>
      </p:sp>
      <p:sp>
        <p:nvSpPr>
          <p:cNvPr id="97282" name="Rectangle 3"/>
          <p:cNvSpPr>
            <a:spLocks noGrp="1"/>
          </p:cNvSpPr>
          <p:nvPr>
            <p:ph idx="1"/>
          </p:nvPr>
        </p:nvSpPr>
        <p:spPr>
          <a:xfrm>
            <a:off x="566738" y="1143000"/>
            <a:ext cx="8220075" cy="5072063"/>
          </a:xfrm>
          <a:ln/>
        </p:spPr>
        <p:txBody>
          <a:bodyPr vert="horz" wrap="square" lIns="91440" tIns="45720" rIns="91440" bIns="45720" anchor="t" anchorCtr="0"/>
          <a:p>
            <a:pPr eaLnBrk="1" hangingPunct="1">
              <a:lnSpc>
                <a:spcPct val="120000"/>
              </a:lnSpc>
            </a:pPr>
            <a:r>
              <a:rPr lang="zh-CN" altLang="en-US" dirty="0"/>
              <a:t>引进意向锁（</a:t>
            </a:r>
            <a:r>
              <a:rPr lang="en-US" altLang="zh-CN" dirty="0"/>
              <a:t>intention lock</a:t>
            </a:r>
            <a:r>
              <a:rPr lang="zh-CN" altLang="en-US" dirty="0"/>
              <a:t>）目的</a:t>
            </a:r>
            <a:endParaRPr lang="zh-CN" altLang="en-US" sz="2400" dirty="0"/>
          </a:p>
          <a:p>
            <a:pPr lvl="1" indent="-436245" eaLnBrk="1" hangingPunct="1">
              <a:lnSpc>
                <a:spcPct val="150000"/>
              </a:lnSpc>
            </a:pPr>
            <a:r>
              <a:rPr lang="zh-CN" altLang="en-US" dirty="0"/>
              <a:t>提高对某个数据对象</a:t>
            </a:r>
            <a:r>
              <a:rPr lang="zh-CN" altLang="en-US" b="1" dirty="0">
                <a:solidFill>
                  <a:srgbClr val="FF0000"/>
                </a:solidFill>
              </a:rPr>
              <a:t>加锁时系统的检查效率</a:t>
            </a:r>
            <a:endParaRPr lang="en-US" altLang="zh-CN" b="1" dirty="0">
              <a:solidFill>
                <a:srgbClr val="FF0000"/>
              </a:solidFill>
            </a:endParaRPr>
          </a:p>
          <a:p>
            <a:pPr eaLnBrk="1" hangingPunct="1">
              <a:lnSpc>
                <a:spcPct val="160000"/>
              </a:lnSpc>
            </a:pPr>
            <a:r>
              <a:rPr lang="zh-CN" altLang="en-US" dirty="0"/>
              <a:t>具有意向锁的多粒度封锁方法</a:t>
            </a:r>
            <a:endParaRPr lang="zh-CN" altLang="en-US" dirty="0"/>
          </a:p>
          <a:p>
            <a:pPr lvl="1" indent="-436245" eaLnBrk="1" hangingPunct="1">
              <a:lnSpc>
                <a:spcPct val="160000"/>
              </a:lnSpc>
            </a:pPr>
            <a:r>
              <a:rPr lang="zh-CN" altLang="en-US" dirty="0"/>
              <a:t>提高了系统的并发度</a:t>
            </a:r>
            <a:endParaRPr lang="zh-CN" altLang="en-US" dirty="0"/>
          </a:p>
          <a:p>
            <a:pPr lvl="1" indent="-436245" eaLnBrk="1" hangingPunct="1">
              <a:lnSpc>
                <a:spcPct val="160000"/>
              </a:lnSpc>
            </a:pPr>
            <a:r>
              <a:rPr lang="zh-CN" altLang="en-US" dirty="0"/>
              <a:t>减少了加锁和解锁的开销</a:t>
            </a:r>
            <a:endParaRPr lang="zh-CN" altLang="en-US" dirty="0"/>
          </a:p>
          <a:p>
            <a:pPr lvl="1" indent="-436245" eaLnBrk="1" hangingPunct="1">
              <a:lnSpc>
                <a:spcPct val="160000"/>
              </a:lnSpc>
            </a:pPr>
            <a:r>
              <a:rPr lang="zh-CN" altLang="en-US" dirty="0"/>
              <a:t>在实际的数据库管理系统产品中得到广泛应用 </a:t>
            </a:r>
            <a:endParaRPr lang="zh-CN" altLang="en-US" dirty="0"/>
          </a:p>
        </p:txBody>
      </p:sp>
    </p:spTree>
  </p:cSld>
  <p:clrMapOvr>
    <a:masterClrMapping/>
  </p:clrMapOvr>
  <p:transition advClick="0"/>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Rectangle 2"/>
          <p:cNvSpPr>
            <a:spLocks noGrp="1"/>
          </p:cNvSpPr>
          <p:nvPr>
            <p:ph type="title"/>
          </p:nvPr>
        </p:nvSpPr>
        <p:spPr>
          <a:ln/>
        </p:spPr>
        <p:txBody>
          <a:bodyPr vert="horz" wrap="square" lIns="91440" tIns="45720" rIns="91440" bIns="45720" anchor="b" anchorCtr="0"/>
          <a:p>
            <a:pPr eaLnBrk="1" hangingPunct="1"/>
            <a:r>
              <a:rPr lang="zh-CN" altLang="en-US" dirty="0"/>
              <a:t>意向锁</a:t>
            </a:r>
            <a:r>
              <a:rPr lang="en-US" altLang="zh-CN" dirty="0"/>
              <a:t>(</a:t>
            </a:r>
            <a:r>
              <a:rPr lang="zh-CN" altLang="en-US" dirty="0"/>
              <a:t>续</a:t>
            </a:r>
            <a:r>
              <a:rPr lang="en-US" altLang="zh-CN" dirty="0"/>
              <a:t>)</a:t>
            </a:r>
            <a:endParaRPr lang="en-US" altLang="zh-CN" dirty="0"/>
          </a:p>
        </p:txBody>
      </p:sp>
      <p:sp>
        <p:nvSpPr>
          <p:cNvPr id="98306" name="Rectangle 3"/>
          <p:cNvSpPr>
            <a:spLocks noGrp="1"/>
          </p:cNvSpPr>
          <p:nvPr>
            <p:ph idx="1"/>
          </p:nvPr>
        </p:nvSpPr>
        <p:spPr>
          <a:ln/>
        </p:spPr>
        <p:txBody>
          <a:bodyPr vert="horz" wrap="square" lIns="91440" tIns="45720" rIns="91440" bIns="45720" anchor="t" anchorCtr="0"/>
          <a:p>
            <a:pPr eaLnBrk="1" hangingPunct="1">
              <a:lnSpc>
                <a:spcPct val="190000"/>
              </a:lnSpc>
              <a:spcBef>
                <a:spcPct val="60000"/>
              </a:spcBef>
            </a:pPr>
            <a:r>
              <a:rPr lang="zh-CN" altLang="en-US" sz="2800" dirty="0"/>
              <a:t>如果对一个结点加意向锁，则说明该结点的</a:t>
            </a:r>
            <a:r>
              <a:rPr lang="zh-CN" altLang="en-US" sz="2800" b="1" dirty="0">
                <a:solidFill>
                  <a:srgbClr val="FF0000"/>
                </a:solidFill>
              </a:rPr>
              <a:t>下层结点</a:t>
            </a:r>
            <a:r>
              <a:rPr lang="zh-CN" altLang="en-US" sz="2800" dirty="0"/>
              <a:t>正在被加锁</a:t>
            </a:r>
            <a:endParaRPr lang="zh-CN" altLang="en-US" sz="2800" dirty="0"/>
          </a:p>
          <a:p>
            <a:pPr eaLnBrk="1" hangingPunct="1">
              <a:lnSpc>
                <a:spcPct val="190000"/>
              </a:lnSpc>
            </a:pPr>
            <a:r>
              <a:rPr lang="zh-CN" altLang="en-US" sz="2800" dirty="0"/>
              <a:t>对任一结点加基本锁，必须</a:t>
            </a:r>
            <a:r>
              <a:rPr lang="zh-CN" altLang="en-US" sz="2800" dirty="0">
                <a:solidFill>
                  <a:srgbClr val="FF66FF"/>
                </a:solidFill>
              </a:rPr>
              <a:t>先</a:t>
            </a:r>
            <a:r>
              <a:rPr lang="zh-CN" altLang="en-US" sz="2800" dirty="0"/>
              <a:t>对它的上层结点</a:t>
            </a:r>
            <a:r>
              <a:rPr lang="zh-CN" altLang="en-US" sz="2800" b="1" dirty="0">
                <a:solidFill>
                  <a:srgbClr val="FF0000"/>
                </a:solidFill>
              </a:rPr>
              <a:t>加意向锁</a:t>
            </a:r>
            <a:endParaRPr lang="zh-CN" altLang="en-US" sz="2800" b="1" dirty="0">
              <a:solidFill>
                <a:srgbClr val="FF0000"/>
              </a:solidFill>
            </a:endParaRPr>
          </a:p>
          <a:p>
            <a:pPr eaLnBrk="1" hangingPunct="1">
              <a:lnSpc>
                <a:spcPct val="190000"/>
              </a:lnSpc>
            </a:pPr>
            <a:r>
              <a:rPr lang="zh-CN" altLang="en-US" sz="2800" dirty="0"/>
              <a:t>例如，对任一元组加锁时，必须先对它所在的数据库和关系加意向锁 </a:t>
            </a:r>
            <a:endParaRPr lang="zh-CN" altLang="en-US" sz="2800" dirty="0">
              <a:solidFill>
                <a:srgbClr val="FF66FF"/>
              </a:solidFill>
            </a:endParaRPr>
          </a:p>
          <a:p>
            <a:pPr lvl="1" indent="-436245" eaLnBrk="1" hangingPunct="1">
              <a:lnSpc>
                <a:spcPct val="90000"/>
              </a:lnSpc>
              <a:buNone/>
            </a:pPr>
            <a:endParaRPr lang="en-US" altLang="zh-CN" sz="1800" dirty="0">
              <a:solidFill>
                <a:srgbClr val="FF66FF"/>
              </a:solidFill>
            </a:endParaRPr>
          </a:p>
        </p:txBody>
      </p:sp>
    </p:spTree>
  </p:cSld>
  <p:clrMapOvr>
    <a:masterClrMapping/>
  </p:clrMapOvr>
  <p:transition advClick="0"/>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Rectangle 2"/>
          <p:cNvSpPr>
            <a:spLocks noGrp="1"/>
          </p:cNvSpPr>
          <p:nvPr>
            <p:ph type="title"/>
          </p:nvPr>
        </p:nvSpPr>
        <p:spPr>
          <a:ln/>
        </p:spPr>
        <p:txBody>
          <a:bodyPr vert="horz" wrap="square" lIns="91440" tIns="45720" rIns="91440" bIns="45720" anchor="b" anchorCtr="0"/>
          <a:p>
            <a:pPr eaLnBrk="1" hangingPunct="1"/>
            <a:r>
              <a:rPr lang="zh-CN" altLang="en-US" dirty="0"/>
              <a:t>常用意向锁</a:t>
            </a:r>
            <a:endParaRPr lang="zh-CN" altLang="en-US" dirty="0"/>
          </a:p>
        </p:txBody>
      </p:sp>
      <p:sp>
        <p:nvSpPr>
          <p:cNvPr id="99330" name="Rectangle 3"/>
          <p:cNvSpPr>
            <a:spLocks noGrp="1"/>
          </p:cNvSpPr>
          <p:nvPr>
            <p:ph idx="1"/>
          </p:nvPr>
        </p:nvSpPr>
        <p:spPr>
          <a:xfrm>
            <a:off x="500063" y="1214438"/>
            <a:ext cx="7986712" cy="4929187"/>
          </a:xfrm>
          <a:ln/>
        </p:spPr>
        <p:txBody>
          <a:bodyPr vert="horz" wrap="square" lIns="91440" tIns="45720" rIns="91440" bIns="45720" anchor="t" anchorCtr="0"/>
          <a:p>
            <a:pPr eaLnBrk="1" hangingPunct="1">
              <a:lnSpc>
                <a:spcPct val="160000"/>
              </a:lnSpc>
            </a:pPr>
            <a:r>
              <a:rPr lang="zh-CN" altLang="en-US" dirty="0"/>
              <a:t>意向共享锁</a:t>
            </a:r>
            <a:r>
              <a:rPr lang="en-US" altLang="zh-CN" dirty="0"/>
              <a:t>(Intent Share Lock</a:t>
            </a:r>
            <a:r>
              <a:rPr lang="zh-CN" altLang="en-US" dirty="0"/>
              <a:t>，简称</a:t>
            </a:r>
            <a:r>
              <a:rPr lang="en-US" altLang="zh-CN" dirty="0"/>
              <a:t>IS</a:t>
            </a:r>
            <a:r>
              <a:rPr lang="zh-CN" altLang="en-US" dirty="0"/>
              <a:t>锁</a:t>
            </a:r>
            <a:r>
              <a:rPr lang="en-US" altLang="zh-CN" dirty="0"/>
              <a:t>)</a:t>
            </a:r>
            <a:endParaRPr lang="en-US" altLang="zh-CN" dirty="0"/>
          </a:p>
          <a:p>
            <a:pPr eaLnBrk="1" hangingPunct="1">
              <a:lnSpc>
                <a:spcPct val="160000"/>
              </a:lnSpc>
              <a:spcBef>
                <a:spcPct val="60000"/>
              </a:spcBef>
            </a:pPr>
            <a:r>
              <a:rPr lang="zh-CN" altLang="en-US" dirty="0"/>
              <a:t>意向排它锁</a:t>
            </a:r>
            <a:r>
              <a:rPr lang="en-US" altLang="zh-CN" dirty="0"/>
              <a:t>(Intent Exclusive Lock</a:t>
            </a:r>
            <a:r>
              <a:rPr lang="zh-CN" altLang="en-US" dirty="0"/>
              <a:t>，简称</a:t>
            </a:r>
            <a:r>
              <a:rPr lang="en-US" altLang="zh-CN" dirty="0"/>
              <a:t>IX</a:t>
            </a:r>
            <a:r>
              <a:rPr lang="zh-CN" altLang="en-US" dirty="0"/>
              <a:t>锁</a:t>
            </a:r>
            <a:r>
              <a:rPr lang="en-US" altLang="zh-CN" dirty="0"/>
              <a:t>)</a:t>
            </a:r>
            <a:endParaRPr lang="en-US" altLang="zh-CN" dirty="0"/>
          </a:p>
          <a:p>
            <a:pPr eaLnBrk="1" hangingPunct="1">
              <a:lnSpc>
                <a:spcPct val="160000"/>
              </a:lnSpc>
              <a:spcBef>
                <a:spcPct val="60000"/>
              </a:spcBef>
            </a:pPr>
            <a:r>
              <a:rPr lang="zh-CN" altLang="en-US" dirty="0"/>
              <a:t>共享意向排它锁</a:t>
            </a:r>
            <a:r>
              <a:rPr lang="en-US" altLang="zh-CN" dirty="0"/>
              <a:t>(Share Intent Exclusive Lock</a:t>
            </a:r>
            <a:r>
              <a:rPr lang="zh-CN" altLang="en-US" dirty="0"/>
              <a:t>，简称</a:t>
            </a:r>
            <a:r>
              <a:rPr lang="en-US" altLang="zh-CN" dirty="0"/>
              <a:t>SIX</a:t>
            </a:r>
            <a:r>
              <a:rPr lang="zh-CN" altLang="en-US" dirty="0"/>
              <a:t>锁</a:t>
            </a:r>
            <a:r>
              <a:rPr lang="en-US" altLang="zh-CN" dirty="0"/>
              <a:t>)</a:t>
            </a:r>
            <a:endParaRPr lang="en-US" altLang="zh-CN" dirty="0"/>
          </a:p>
        </p:txBody>
      </p:sp>
    </p:spTree>
  </p:cSld>
  <p:clrMapOvr>
    <a:masterClrMapping/>
  </p:clrMapOvr>
  <p:transition advClick="0"/>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Rectangle 2"/>
          <p:cNvSpPr>
            <a:spLocks noGrp="1"/>
          </p:cNvSpPr>
          <p:nvPr>
            <p:ph type="title"/>
          </p:nvPr>
        </p:nvSpPr>
        <p:spPr>
          <a:ln/>
        </p:spPr>
        <p:txBody>
          <a:bodyPr vert="horz" wrap="square" lIns="91440" tIns="45720" rIns="91440" bIns="45720" anchor="b" anchorCtr="0"/>
          <a:p>
            <a:pPr eaLnBrk="1" hangingPunct="1"/>
            <a:r>
              <a:rPr lang="zh-CN" altLang="en-US" dirty="0"/>
              <a:t>意向锁（续）</a:t>
            </a:r>
            <a:endParaRPr lang="zh-CN" altLang="en-US" dirty="0"/>
          </a:p>
        </p:txBody>
      </p:sp>
      <p:sp>
        <p:nvSpPr>
          <p:cNvPr id="100354" name="Rectangle 3"/>
          <p:cNvSpPr>
            <a:spLocks noGrp="1"/>
          </p:cNvSpPr>
          <p:nvPr>
            <p:ph idx="1"/>
          </p:nvPr>
        </p:nvSpPr>
        <p:spPr>
          <a:ln/>
        </p:spPr>
        <p:txBody>
          <a:bodyPr vert="horz" wrap="square" lIns="91440" tIns="45720" rIns="91440" bIns="45720" anchor="t" anchorCtr="0"/>
          <a:p>
            <a:pPr algn="just" eaLnBrk="1" hangingPunct="1"/>
            <a:r>
              <a:rPr lang="en-US" altLang="zh-CN" dirty="0"/>
              <a:t>IS</a:t>
            </a:r>
            <a:r>
              <a:rPr lang="zh-CN" altLang="en-US" dirty="0"/>
              <a:t>锁</a:t>
            </a:r>
            <a:endParaRPr lang="zh-CN" altLang="en-US" dirty="0"/>
          </a:p>
          <a:p>
            <a:pPr lvl="1" indent="-436245" algn="just" eaLnBrk="1" hangingPunct="1">
              <a:lnSpc>
                <a:spcPct val="180000"/>
              </a:lnSpc>
            </a:pPr>
            <a:r>
              <a:rPr lang="zh-CN" altLang="en-US" dirty="0"/>
              <a:t>如果对一个数据对象加</a:t>
            </a:r>
            <a:r>
              <a:rPr lang="en-US" altLang="zh-CN" dirty="0"/>
              <a:t>IS</a:t>
            </a:r>
            <a:r>
              <a:rPr lang="zh-CN" altLang="en-US" dirty="0"/>
              <a:t>锁，表示它的后裔结点拟（意向）加</a:t>
            </a:r>
            <a:r>
              <a:rPr lang="en-US" altLang="zh-CN" dirty="0"/>
              <a:t>S</a:t>
            </a:r>
            <a:r>
              <a:rPr lang="zh-CN" altLang="en-US" dirty="0"/>
              <a:t>锁。</a:t>
            </a:r>
            <a:endParaRPr lang="zh-CN" altLang="en-US" dirty="0"/>
          </a:p>
          <a:p>
            <a:pPr lvl="1" indent="-436245" algn="just" eaLnBrk="1" hangingPunct="1">
              <a:lnSpc>
                <a:spcPct val="180000"/>
              </a:lnSpc>
              <a:buNone/>
            </a:pPr>
            <a:r>
              <a:rPr lang="zh-CN" altLang="en-US" dirty="0"/>
              <a:t>  例如：事务</a:t>
            </a:r>
            <a:r>
              <a:rPr lang="en-US" altLang="zh-CN" dirty="0"/>
              <a:t>T1</a:t>
            </a:r>
            <a:r>
              <a:rPr lang="zh-CN" altLang="en-US" dirty="0"/>
              <a:t>要对</a:t>
            </a:r>
            <a:r>
              <a:rPr lang="en-US" altLang="zh-CN" i="1" dirty="0"/>
              <a:t>R</a:t>
            </a:r>
            <a:r>
              <a:rPr lang="en-US" altLang="zh-CN" dirty="0"/>
              <a:t>1</a:t>
            </a:r>
            <a:r>
              <a:rPr lang="zh-CN" altLang="en-US" dirty="0"/>
              <a:t>中某个元组加</a:t>
            </a:r>
            <a:r>
              <a:rPr lang="en-US" altLang="zh-CN" dirty="0"/>
              <a:t>S</a:t>
            </a:r>
            <a:r>
              <a:rPr lang="zh-CN" altLang="en-US" dirty="0"/>
              <a:t>锁，则要首先对关系</a:t>
            </a:r>
            <a:r>
              <a:rPr lang="en-US" altLang="zh-CN" i="1" dirty="0"/>
              <a:t>R</a:t>
            </a:r>
            <a:r>
              <a:rPr lang="en-US" altLang="zh-CN" dirty="0"/>
              <a:t>1</a:t>
            </a:r>
            <a:r>
              <a:rPr lang="zh-CN" altLang="en-US" dirty="0"/>
              <a:t>和数据库加</a:t>
            </a:r>
            <a:r>
              <a:rPr lang="en-US" altLang="zh-CN" dirty="0"/>
              <a:t>IS</a:t>
            </a:r>
            <a:r>
              <a:rPr lang="zh-CN" altLang="en-US" dirty="0"/>
              <a:t>锁 </a:t>
            </a:r>
            <a:endParaRPr lang="zh-CN" altLang="en-US" dirty="0"/>
          </a:p>
        </p:txBody>
      </p:sp>
    </p:spTree>
  </p:cSld>
  <p:clrMapOvr>
    <a:masterClrMapping/>
  </p:clrMapOvr>
  <p:transition advClick="0"/>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Rectangle 2"/>
          <p:cNvSpPr>
            <a:spLocks noGrp="1"/>
          </p:cNvSpPr>
          <p:nvPr>
            <p:ph type="title"/>
          </p:nvPr>
        </p:nvSpPr>
        <p:spPr>
          <a:ln/>
        </p:spPr>
        <p:txBody>
          <a:bodyPr vert="horz" wrap="square" lIns="91440" tIns="45720" rIns="91440" bIns="45720" anchor="b" anchorCtr="0"/>
          <a:p>
            <a:pPr eaLnBrk="1" hangingPunct="1"/>
            <a:r>
              <a:rPr lang="zh-CN" altLang="en-US" dirty="0"/>
              <a:t>意向锁（续）</a:t>
            </a:r>
            <a:endParaRPr lang="zh-CN" altLang="en-US" dirty="0"/>
          </a:p>
        </p:txBody>
      </p:sp>
      <p:sp>
        <p:nvSpPr>
          <p:cNvPr id="101378" name="Rectangle 3"/>
          <p:cNvSpPr>
            <a:spLocks noGrp="1"/>
          </p:cNvSpPr>
          <p:nvPr>
            <p:ph idx="1"/>
          </p:nvPr>
        </p:nvSpPr>
        <p:spPr>
          <a:ln/>
        </p:spPr>
        <p:txBody>
          <a:bodyPr vert="horz" wrap="square" lIns="91440" tIns="45720" rIns="91440" bIns="45720" anchor="t" anchorCtr="0"/>
          <a:p>
            <a:pPr eaLnBrk="1" hangingPunct="1">
              <a:lnSpc>
                <a:spcPct val="150000"/>
              </a:lnSpc>
            </a:pPr>
            <a:r>
              <a:rPr lang="en-US" altLang="zh-CN" dirty="0"/>
              <a:t>IX</a:t>
            </a:r>
            <a:r>
              <a:rPr lang="zh-CN" altLang="en-US" dirty="0"/>
              <a:t>锁</a:t>
            </a:r>
            <a:endParaRPr lang="zh-CN" altLang="en-US" dirty="0"/>
          </a:p>
          <a:p>
            <a:pPr lvl="1" indent="-436245" eaLnBrk="1" hangingPunct="1">
              <a:lnSpc>
                <a:spcPct val="150000"/>
              </a:lnSpc>
            </a:pPr>
            <a:r>
              <a:rPr lang="zh-CN" altLang="en-US" dirty="0"/>
              <a:t>如果对一个数据对象加</a:t>
            </a:r>
            <a:r>
              <a:rPr lang="en-US" altLang="zh-CN" dirty="0"/>
              <a:t>IX</a:t>
            </a:r>
            <a:r>
              <a:rPr lang="zh-CN" altLang="en-US" dirty="0"/>
              <a:t>锁，表示它的后裔结点拟（意向）加</a:t>
            </a:r>
            <a:r>
              <a:rPr lang="en-US" altLang="zh-CN" dirty="0"/>
              <a:t>X</a:t>
            </a:r>
            <a:r>
              <a:rPr lang="zh-CN" altLang="en-US" dirty="0"/>
              <a:t>锁。</a:t>
            </a:r>
            <a:endParaRPr lang="zh-CN" altLang="en-US" dirty="0"/>
          </a:p>
          <a:p>
            <a:pPr eaLnBrk="1" hangingPunct="1">
              <a:lnSpc>
                <a:spcPct val="150000"/>
              </a:lnSpc>
              <a:buNone/>
            </a:pPr>
            <a:r>
              <a:rPr lang="zh-CN" altLang="en-US" sz="2400" dirty="0"/>
              <a:t>      例如：事务</a:t>
            </a:r>
            <a:r>
              <a:rPr lang="en-US" altLang="zh-CN" sz="2400" dirty="0"/>
              <a:t>T1</a:t>
            </a:r>
            <a:r>
              <a:rPr lang="zh-CN" altLang="en-US" sz="2400" dirty="0"/>
              <a:t>要对</a:t>
            </a:r>
            <a:r>
              <a:rPr lang="en-US" altLang="zh-CN" sz="2400" i="1" dirty="0"/>
              <a:t>R</a:t>
            </a:r>
            <a:r>
              <a:rPr lang="en-US" altLang="zh-CN" sz="2400" dirty="0"/>
              <a:t>1</a:t>
            </a:r>
            <a:r>
              <a:rPr lang="zh-CN" altLang="en-US" sz="2400" dirty="0"/>
              <a:t>中某个元组加</a:t>
            </a:r>
            <a:r>
              <a:rPr lang="en-US" altLang="zh-CN" sz="2400" dirty="0"/>
              <a:t>X</a:t>
            </a:r>
            <a:r>
              <a:rPr lang="zh-CN" altLang="en-US" sz="2400" dirty="0"/>
              <a:t>锁，则要首先对关 系</a:t>
            </a:r>
            <a:r>
              <a:rPr lang="en-US" altLang="zh-CN" sz="2400" i="1" dirty="0"/>
              <a:t>R</a:t>
            </a:r>
            <a:r>
              <a:rPr lang="en-US" altLang="zh-CN" sz="2400" dirty="0"/>
              <a:t>1</a:t>
            </a:r>
            <a:r>
              <a:rPr lang="zh-CN" altLang="en-US" sz="2400" dirty="0"/>
              <a:t>和数据库加</a:t>
            </a:r>
            <a:r>
              <a:rPr lang="en-US" altLang="zh-CN" sz="2400" dirty="0"/>
              <a:t>IX</a:t>
            </a:r>
            <a:r>
              <a:rPr lang="zh-CN" altLang="en-US" sz="2400" dirty="0"/>
              <a:t>锁 </a:t>
            </a:r>
            <a:endParaRPr lang="zh-CN" altLang="en-US" sz="2400" dirty="0"/>
          </a:p>
        </p:txBody>
      </p:sp>
    </p:spTree>
  </p:cSld>
  <p:clrMapOvr>
    <a:masterClrMapping/>
  </p:clrMapOvr>
  <p:transition advClick="0"/>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Rectangle 2"/>
          <p:cNvSpPr>
            <a:spLocks noGrp="1"/>
          </p:cNvSpPr>
          <p:nvPr>
            <p:ph type="title"/>
          </p:nvPr>
        </p:nvSpPr>
        <p:spPr>
          <a:ln/>
        </p:spPr>
        <p:txBody>
          <a:bodyPr vert="horz" wrap="square" lIns="91440" tIns="45720" rIns="91440" bIns="45720" anchor="b" anchorCtr="0"/>
          <a:p>
            <a:pPr eaLnBrk="1" hangingPunct="1"/>
            <a:r>
              <a:rPr lang="zh-CN" altLang="en-US" dirty="0"/>
              <a:t>意向锁（续）</a:t>
            </a:r>
            <a:endParaRPr lang="zh-CN" altLang="en-US" dirty="0"/>
          </a:p>
        </p:txBody>
      </p:sp>
      <p:sp>
        <p:nvSpPr>
          <p:cNvPr id="102402" name="Rectangle 3"/>
          <p:cNvSpPr>
            <a:spLocks noGrp="1"/>
          </p:cNvSpPr>
          <p:nvPr>
            <p:ph idx="1"/>
          </p:nvPr>
        </p:nvSpPr>
        <p:spPr>
          <a:ln/>
        </p:spPr>
        <p:txBody>
          <a:bodyPr vert="horz" wrap="square" lIns="91440" tIns="45720" rIns="91440" bIns="45720" anchor="t" anchorCtr="0"/>
          <a:p>
            <a:pPr eaLnBrk="1" hangingPunct="1">
              <a:lnSpc>
                <a:spcPct val="90000"/>
              </a:lnSpc>
            </a:pPr>
            <a:r>
              <a:rPr lang="en-US" altLang="zh-CN" dirty="0"/>
              <a:t>SIX</a:t>
            </a:r>
            <a:r>
              <a:rPr lang="zh-CN" altLang="en-US" dirty="0"/>
              <a:t>锁</a:t>
            </a:r>
            <a:endParaRPr lang="zh-CN" altLang="en-US" dirty="0"/>
          </a:p>
          <a:p>
            <a:pPr lvl="1" indent="-436245" eaLnBrk="1" hangingPunct="1">
              <a:lnSpc>
                <a:spcPct val="110000"/>
              </a:lnSpc>
            </a:pPr>
            <a:r>
              <a:rPr lang="zh-CN" altLang="en-US" dirty="0"/>
              <a:t>如果对一个数据对象加</a:t>
            </a:r>
            <a:r>
              <a:rPr lang="en-US" altLang="zh-CN" dirty="0"/>
              <a:t>SIX</a:t>
            </a:r>
            <a:r>
              <a:rPr lang="zh-CN" altLang="en-US" dirty="0"/>
              <a:t>锁，表示对它加</a:t>
            </a:r>
            <a:r>
              <a:rPr lang="en-US" altLang="zh-CN" dirty="0"/>
              <a:t>S</a:t>
            </a:r>
            <a:r>
              <a:rPr lang="zh-CN" altLang="en-US" dirty="0"/>
              <a:t>锁，再加</a:t>
            </a:r>
            <a:r>
              <a:rPr lang="en-US" altLang="zh-CN" dirty="0"/>
              <a:t>IX</a:t>
            </a:r>
            <a:r>
              <a:rPr lang="zh-CN" altLang="en-US" dirty="0"/>
              <a:t>锁，即</a:t>
            </a:r>
            <a:r>
              <a:rPr lang="en-US" altLang="zh-CN" dirty="0"/>
              <a:t>SIX = S + IX</a:t>
            </a:r>
            <a:r>
              <a:rPr lang="zh-CN" altLang="en-US" dirty="0"/>
              <a:t>。</a:t>
            </a:r>
            <a:endParaRPr lang="zh-CN" altLang="en-US" dirty="0"/>
          </a:p>
          <a:p>
            <a:pPr lvl="1" indent="-436245" eaLnBrk="1" hangingPunct="1">
              <a:lnSpc>
                <a:spcPct val="110000"/>
              </a:lnSpc>
            </a:pPr>
            <a:endParaRPr lang="zh-CN" altLang="en-US" dirty="0"/>
          </a:p>
          <a:p>
            <a:pPr eaLnBrk="1" hangingPunct="1">
              <a:lnSpc>
                <a:spcPct val="110000"/>
              </a:lnSpc>
              <a:buNone/>
            </a:pPr>
            <a:r>
              <a:rPr lang="zh-CN" altLang="en-US" sz="2400" dirty="0"/>
              <a:t>    例：对某个表加</a:t>
            </a:r>
            <a:r>
              <a:rPr lang="en-US" altLang="zh-CN" sz="2400" dirty="0"/>
              <a:t>SIX</a:t>
            </a:r>
            <a:r>
              <a:rPr lang="zh-CN" altLang="en-US" sz="2400" dirty="0"/>
              <a:t>锁，则表示该事务要读整个表（所以要对该表加</a:t>
            </a:r>
            <a:r>
              <a:rPr lang="en-US" altLang="zh-CN" sz="2400" dirty="0"/>
              <a:t>S</a:t>
            </a:r>
            <a:r>
              <a:rPr lang="zh-CN" altLang="en-US" sz="2400" dirty="0"/>
              <a:t>锁），同时会更新个别元组（所以要对该表加</a:t>
            </a:r>
            <a:r>
              <a:rPr lang="en-US" altLang="zh-CN" sz="2400" dirty="0"/>
              <a:t>IX</a:t>
            </a:r>
            <a:r>
              <a:rPr lang="zh-CN" altLang="en-US" sz="2400" dirty="0"/>
              <a:t>锁）。</a:t>
            </a:r>
            <a:endParaRPr lang="zh-CN" altLang="en-US" dirty="0"/>
          </a:p>
        </p:txBody>
      </p:sp>
    </p:spTree>
  </p:cSld>
  <p:clrMapOvr>
    <a:masterClrMapping/>
  </p:clrMapOvr>
  <p:transition advClick="0"/>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Rectangle 2"/>
          <p:cNvSpPr>
            <a:spLocks noGrp="1"/>
          </p:cNvSpPr>
          <p:nvPr>
            <p:ph type="title"/>
          </p:nvPr>
        </p:nvSpPr>
        <p:spPr>
          <a:ln/>
        </p:spPr>
        <p:txBody>
          <a:bodyPr vert="horz" wrap="square" lIns="91440" tIns="45720" rIns="91440" bIns="45720" anchor="b" anchorCtr="0"/>
          <a:p>
            <a:pPr eaLnBrk="1" hangingPunct="1"/>
            <a:r>
              <a:rPr lang="zh-CN" altLang="en-US" dirty="0"/>
              <a:t>意向锁（续）</a:t>
            </a:r>
            <a:endParaRPr lang="zh-CN" altLang="en-US" dirty="0"/>
          </a:p>
        </p:txBody>
      </p:sp>
      <p:pic>
        <p:nvPicPr>
          <p:cNvPr id="103426" name="Picture 11" descr="未标题-3"/>
          <p:cNvPicPr>
            <a:picLocks noChangeAspect="1"/>
          </p:cNvPicPr>
          <p:nvPr/>
        </p:nvPicPr>
        <p:blipFill>
          <a:blip r:embed="rId1"/>
          <a:stretch>
            <a:fillRect/>
          </a:stretch>
        </p:blipFill>
        <p:spPr>
          <a:xfrm>
            <a:off x="755650" y="2276475"/>
            <a:ext cx="7704138" cy="3940175"/>
          </a:xfrm>
          <a:prstGeom prst="rect">
            <a:avLst/>
          </a:prstGeom>
          <a:noFill/>
          <a:ln w="9525">
            <a:noFill/>
          </a:ln>
        </p:spPr>
      </p:pic>
      <p:sp>
        <p:nvSpPr>
          <p:cNvPr id="103427" name="Text Box 12"/>
          <p:cNvSpPr txBox="1"/>
          <p:nvPr/>
        </p:nvSpPr>
        <p:spPr>
          <a:xfrm>
            <a:off x="808038" y="1417638"/>
            <a:ext cx="184150" cy="366712"/>
          </a:xfrm>
          <a:prstGeom prst="rect">
            <a:avLst/>
          </a:prstGeom>
          <a:noFill/>
          <a:ln w="25400">
            <a:noFill/>
          </a:ln>
        </p:spPr>
        <p:txBody>
          <a:bodyPr wrap="none" anchor="t" anchorCtr="0">
            <a:spAutoFit/>
          </a:bodyPr>
          <a:p>
            <a:pPr marL="342900" indent="-342900"/>
            <a:endParaRPr lang="zh-CN" altLang="zh-CN" dirty="0">
              <a:latin typeface="Verdana" panose="020B0604030504040204" pitchFamily="34" charset="0"/>
              <a:ea typeface="宋体" panose="02010600030101010101" pitchFamily="2" charset="-122"/>
            </a:endParaRPr>
          </a:p>
        </p:txBody>
      </p:sp>
      <p:sp>
        <p:nvSpPr>
          <p:cNvPr id="103428" name="Text Box 13"/>
          <p:cNvSpPr txBox="1"/>
          <p:nvPr/>
        </p:nvSpPr>
        <p:spPr>
          <a:xfrm>
            <a:off x="539750" y="1628775"/>
            <a:ext cx="2635250" cy="457200"/>
          </a:xfrm>
          <a:prstGeom prst="rect">
            <a:avLst/>
          </a:prstGeom>
          <a:noFill/>
          <a:ln w="25400">
            <a:noFill/>
          </a:ln>
        </p:spPr>
        <p:txBody>
          <a:bodyPr wrap="none" anchor="t" anchorCtr="0">
            <a:spAutoFit/>
          </a:bodyPr>
          <a:p>
            <a:pPr marL="342900" indent="-342900"/>
            <a:r>
              <a:rPr lang="zh-CN" altLang="en-US" sz="2400" dirty="0">
                <a:solidFill>
                  <a:srgbClr val="3333FF"/>
                </a:solidFill>
                <a:latin typeface="Verdana" panose="020B0604030504040204" pitchFamily="34" charset="0"/>
                <a:ea typeface="宋体" panose="02010600030101010101" pitchFamily="2" charset="-122"/>
              </a:rPr>
              <a:t>意向锁的相容矩阵</a:t>
            </a:r>
            <a:endParaRPr lang="zh-CN" altLang="en-US" sz="2400" dirty="0">
              <a:solidFill>
                <a:srgbClr val="3333FF"/>
              </a:solidFill>
              <a:latin typeface="Verdana" panose="020B0604030504040204" pitchFamily="34" charset="0"/>
              <a:ea typeface="宋体" panose="02010600030101010101" pitchFamily="2" charset="-122"/>
            </a:endParaRPr>
          </a:p>
        </p:txBody>
      </p:sp>
    </p:spTree>
  </p:cSld>
  <p:clrMapOvr>
    <a:masterClrMapping/>
  </p:clrMapOvr>
  <p:transition advClick="0"/>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Rectangle 2"/>
          <p:cNvSpPr>
            <a:spLocks noGrp="1"/>
          </p:cNvSpPr>
          <p:nvPr>
            <p:ph type="title"/>
          </p:nvPr>
        </p:nvSpPr>
        <p:spPr>
          <a:ln/>
        </p:spPr>
        <p:txBody>
          <a:bodyPr vert="horz" wrap="square" lIns="91440" tIns="45720" rIns="91440" bIns="45720" anchor="b" anchorCtr="0"/>
          <a:p>
            <a:pPr eaLnBrk="1" hangingPunct="1"/>
            <a:r>
              <a:rPr lang="zh-CN" altLang="en-US" dirty="0"/>
              <a:t>意向锁（续）</a:t>
            </a:r>
            <a:endParaRPr lang="zh-CN" altLang="en-US" dirty="0"/>
          </a:p>
        </p:txBody>
      </p:sp>
      <p:sp>
        <p:nvSpPr>
          <p:cNvPr id="104450" name="Rectangle 3"/>
          <p:cNvSpPr>
            <a:spLocks noGrp="1"/>
          </p:cNvSpPr>
          <p:nvPr>
            <p:ph idx="1"/>
          </p:nvPr>
        </p:nvSpPr>
        <p:spPr>
          <a:ln/>
        </p:spPr>
        <p:txBody>
          <a:bodyPr vert="horz" wrap="square" lIns="91440" tIns="45720" rIns="91440" bIns="45720" anchor="t" anchorCtr="0"/>
          <a:p>
            <a:pPr eaLnBrk="1" hangingPunct="1">
              <a:lnSpc>
                <a:spcPct val="130000"/>
              </a:lnSpc>
            </a:pPr>
            <a:r>
              <a:rPr lang="zh-CN" altLang="en-US" sz="2400" dirty="0"/>
              <a:t>具有意向锁的多粒度封锁方法</a:t>
            </a:r>
            <a:endParaRPr lang="zh-CN" altLang="en-US" sz="2400" dirty="0"/>
          </a:p>
          <a:p>
            <a:pPr marL="819150" lvl="1" indent="-436245" eaLnBrk="1" hangingPunct="1">
              <a:lnSpc>
                <a:spcPct val="130000"/>
              </a:lnSpc>
              <a:spcBef>
                <a:spcPct val="60000"/>
              </a:spcBef>
            </a:pPr>
            <a:r>
              <a:rPr lang="zh-CN" altLang="en-US" sz="2200" dirty="0">
                <a:solidFill>
                  <a:srgbClr val="FF0000"/>
                </a:solidFill>
              </a:rPr>
              <a:t>申请封锁</a:t>
            </a:r>
            <a:r>
              <a:rPr lang="zh-CN" altLang="en-US" sz="2200" dirty="0"/>
              <a:t>时应该按</a:t>
            </a:r>
            <a:r>
              <a:rPr lang="zh-CN" altLang="en-US" sz="2200" dirty="0">
                <a:solidFill>
                  <a:srgbClr val="FF0000"/>
                </a:solidFill>
              </a:rPr>
              <a:t>自上而下</a:t>
            </a:r>
            <a:r>
              <a:rPr lang="zh-CN" altLang="en-US" sz="2200" dirty="0"/>
              <a:t>的次序进行</a:t>
            </a:r>
            <a:endParaRPr lang="zh-CN" altLang="en-US" sz="2200" dirty="0"/>
          </a:p>
          <a:p>
            <a:pPr marL="819150" lvl="1" indent="-436245" eaLnBrk="1" hangingPunct="1">
              <a:lnSpc>
                <a:spcPct val="130000"/>
              </a:lnSpc>
              <a:spcBef>
                <a:spcPct val="60000"/>
              </a:spcBef>
            </a:pPr>
            <a:r>
              <a:rPr lang="zh-CN" altLang="en-US" sz="2200" dirty="0">
                <a:solidFill>
                  <a:srgbClr val="FF0000"/>
                </a:solidFill>
              </a:rPr>
              <a:t>释放封锁</a:t>
            </a:r>
            <a:r>
              <a:rPr lang="zh-CN" altLang="en-US" sz="2200" dirty="0"/>
              <a:t>时则应该按</a:t>
            </a:r>
            <a:r>
              <a:rPr lang="zh-CN" altLang="en-US" sz="2200" dirty="0">
                <a:solidFill>
                  <a:srgbClr val="FF0000"/>
                </a:solidFill>
              </a:rPr>
              <a:t>自下而上</a:t>
            </a:r>
            <a:r>
              <a:rPr lang="zh-CN" altLang="en-US" sz="2200" dirty="0"/>
              <a:t>的次序进行</a:t>
            </a:r>
            <a:endParaRPr lang="zh-CN" altLang="en-US" sz="2200" dirty="0"/>
          </a:p>
          <a:p>
            <a:pPr eaLnBrk="1" hangingPunct="1">
              <a:lnSpc>
                <a:spcPct val="130000"/>
              </a:lnSpc>
              <a:spcBef>
                <a:spcPct val="60000"/>
              </a:spcBef>
              <a:buNone/>
            </a:pPr>
            <a:r>
              <a:rPr lang="zh-CN" altLang="en-US" sz="2400" dirty="0"/>
              <a:t>   例如：事务</a:t>
            </a:r>
            <a:r>
              <a:rPr lang="en-US" altLang="zh-CN" sz="2400" dirty="0"/>
              <a:t>T1</a:t>
            </a:r>
            <a:r>
              <a:rPr lang="zh-CN" altLang="en-US" sz="2400" dirty="0"/>
              <a:t>要对关系</a:t>
            </a:r>
            <a:r>
              <a:rPr lang="en-US" altLang="zh-CN" sz="2400" i="1" dirty="0"/>
              <a:t>R</a:t>
            </a:r>
            <a:r>
              <a:rPr lang="en-US" altLang="zh-CN" sz="2400" dirty="0"/>
              <a:t>1</a:t>
            </a:r>
            <a:r>
              <a:rPr lang="zh-CN" altLang="en-US" sz="2400" dirty="0"/>
              <a:t>加</a:t>
            </a:r>
            <a:r>
              <a:rPr lang="en-US" altLang="zh-CN" sz="2400" dirty="0"/>
              <a:t>S</a:t>
            </a:r>
            <a:r>
              <a:rPr lang="zh-CN" altLang="en-US" sz="2400" dirty="0"/>
              <a:t>锁</a:t>
            </a:r>
            <a:endParaRPr lang="zh-CN" altLang="en-US" sz="2400" dirty="0"/>
          </a:p>
          <a:p>
            <a:pPr marL="819150" lvl="1" indent="-436245" eaLnBrk="1" hangingPunct="1">
              <a:lnSpc>
                <a:spcPct val="130000"/>
              </a:lnSpc>
              <a:spcBef>
                <a:spcPct val="60000"/>
              </a:spcBef>
              <a:buFont typeface="Wingdings" panose="05000000000000000000" pitchFamily="2" charset="2"/>
              <a:buChar char="n"/>
            </a:pPr>
            <a:r>
              <a:rPr lang="zh-CN" altLang="en-US" sz="2200" dirty="0"/>
              <a:t>要首先对数据库加</a:t>
            </a:r>
            <a:r>
              <a:rPr lang="en-US" altLang="zh-CN" sz="2200" dirty="0"/>
              <a:t>IS</a:t>
            </a:r>
            <a:r>
              <a:rPr lang="zh-CN" altLang="en-US" sz="2200" dirty="0"/>
              <a:t>锁</a:t>
            </a:r>
            <a:endParaRPr lang="zh-CN" altLang="en-US" sz="2200" dirty="0"/>
          </a:p>
          <a:p>
            <a:pPr marL="819150" lvl="1" indent="-436245" eaLnBrk="1" hangingPunct="1">
              <a:lnSpc>
                <a:spcPct val="130000"/>
              </a:lnSpc>
              <a:spcBef>
                <a:spcPct val="60000"/>
              </a:spcBef>
              <a:buFont typeface="Wingdings" panose="05000000000000000000" pitchFamily="2" charset="2"/>
              <a:buChar char="n"/>
            </a:pPr>
            <a:r>
              <a:rPr lang="zh-CN" altLang="en-US" sz="2200" dirty="0"/>
              <a:t>检查数据库和</a:t>
            </a:r>
            <a:r>
              <a:rPr lang="en-US" altLang="zh-CN" sz="2200" i="1" dirty="0"/>
              <a:t>R</a:t>
            </a:r>
            <a:r>
              <a:rPr lang="en-US" altLang="zh-CN" sz="2200" dirty="0"/>
              <a:t>1</a:t>
            </a:r>
            <a:r>
              <a:rPr lang="zh-CN" altLang="en-US" sz="2200" dirty="0"/>
              <a:t>是否已加了不相容的锁</a:t>
            </a:r>
            <a:r>
              <a:rPr lang="en-US" altLang="zh-CN" sz="2200" dirty="0"/>
              <a:t>(X</a:t>
            </a:r>
            <a:r>
              <a:rPr lang="zh-CN" altLang="en-US" sz="2200" dirty="0"/>
              <a:t>或</a:t>
            </a:r>
            <a:r>
              <a:rPr lang="en-US" altLang="zh-CN" sz="2200" dirty="0"/>
              <a:t>IX)</a:t>
            </a:r>
            <a:endParaRPr lang="en-US" altLang="zh-CN" sz="2200" dirty="0"/>
          </a:p>
          <a:p>
            <a:pPr marL="819150" lvl="1" indent="-436245" eaLnBrk="1" hangingPunct="1">
              <a:lnSpc>
                <a:spcPct val="130000"/>
              </a:lnSpc>
              <a:spcBef>
                <a:spcPct val="60000"/>
              </a:spcBef>
              <a:buFont typeface="Wingdings" panose="05000000000000000000" pitchFamily="2" charset="2"/>
              <a:buChar char="n"/>
            </a:pPr>
            <a:r>
              <a:rPr lang="zh-CN" altLang="en-US" sz="2200" dirty="0">
                <a:solidFill>
                  <a:srgbClr val="FF0000"/>
                </a:solidFill>
              </a:rPr>
              <a:t>不再需要</a:t>
            </a:r>
            <a:r>
              <a:rPr lang="zh-CN" altLang="en-US" sz="2200" dirty="0"/>
              <a:t>搜索和检查</a:t>
            </a:r>
            <a:r>
              <a:rPr lang="en-US" altLang="zh-CN" sz="2200" i="1" dirty="0"/>
              <a:t>R</a:t>
            </a:r>
            <a:r>
              <a:rPr lang="en-US" altLang="zh-CN" sz="2200" dirty="0"/>
              <a:t>1</a:t>
            </a:r>
            <a:r>
              <a:rPr lang="zh-CN" altLang="en-US" sz="2200" dirty="0"/>
              <a:t>中的元组是否加了不相容的锁</a:t>
            </a:r>
            <a:r>
              <a:rPr lang="en-US" altLang="zh-CN" sz="2200" dirty="0"/>
              <a:t>(X</a:t>
            </a:r>
            <a:r>
              <a:rPr lang="zh-CN" altLang="en-US" sz="2200" dirty="0"/>
              <a:t>锁</a:t>
            </a:r>
            <a:r>
              <a:rPr lang="en-US" altLang="zh-CN" sz="2200" dirty="0"/>
              <a:t>)</a:t>
            </a:r>
            <a:r>
              <a:rPr lang="en-US" altLang="zh-CN" sz="2000" dirty="0"/>
              <a:t> </a:t>
            </a:r>
            <a:endParaRPr lang="en-US" altLang="zh-CN" sz="2000" dirty="0"/>
          </a:p>
        </p:txBody>
      </p:sp>
    </p:spTree>
  </p:cSld>
  <p:clrMapOvr>
    <a:masterClrMapping/>
  </p:clrMapOvr>
  <p:transition advClick="0"/>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Rectangle 2"/>
          <p:cNvSpPr>
            <a:spLocks noGrp="1"/>
          </p:cNvSpPr>
          <p:nvPr>
            <p:ph type="title"/>
          </p:nvPr>
        </p:nvSpPr>
        <p:spPr>
          <a:ln/>
        </p:spPr>
        <p:txBody>
          <a:bodyPr vert="horz" wrap="square" lIns="91440" tIns="45720" rIns="91440" bIns="45720" anchor="b" anchorCtr="0"/>
          <a:p>
            <a:pPr eaLnBrk="1" hangingPunct="1"/>
            <a:r>
              <a:rPr lang="zh-CN" altLang="en-US" dirty="0"/>
              <a:t>第十一章  并发控制</a:t>
            </a:r>
            <a:endParaRPr lang="zh-CN" altLang="en-US" dirty="0"/>
          </a:p>
        </p:txBody>
      </p:sp>
      <p:sp>
        <p:nvSpPr>
          <p:cNvPr id="105474" name="Rectangle 3"/>
          <p:cNvSpPr>
            <a:spLocks noGrp="1"/>
          </p:cNvSpPr>
          <p:nvPr>
            <p:ph idx="1"/>
          </p:nvPr>
        </p:nvSpPr>
        <p:spPr>
          <a:xfrm>
            <a:off x="642938" y="1214438"/>
            <a:ext cx="7715250" cy="4857750"/>
          </a:xfrm>
          <a:ln/>
        </p:spPr>
        <p:txBody>
          <a:bodyPr vert="horz" wrap="square" lIns="91440" tIns="45720" rIns="91440" bIns="45720" anchor="t" anchorCtr="0"/>
          <a:p>
            <a:pPr algn="just" eaLnBrk="1" hangingPunct="1">
              <a:lnSpc>
                <a:spcPct val="130000"/>
              </a:lnSpc>
              <a:buNone/>
            </a:pPr>
            <a:r>
              <a:rPr lang="en-US" altLang="zh-CN" b="1" dirty="0"/>
              <a:t>11.1  </a:t>
            </a:r>
            <a:r>
              <a:rPr lang="zh-CN" altLang="en-US" b="1" dirty="0"/>
              <a:t>并发控制概述</a:t>
            </a:r>
            <a:endParaRPr lang="zh-CN" altLang="en-US" b="1" dirty="0"/>
          </a:p>
          <a:p>
            <a:pPr algn="just" eaLnBrk="1" hangingPunct="1">
              <a:lnSpc>
                <a:spcPct val="130000"/>
              </a:lnSpc>
              <a:buNone/>
            </a:pPr>
            <a:r>
              <a:rPr lang="en-US" altLang="zh-CN" b="1" dirty="0"/>
              <a:t>11.2  </a:t>
            </a:r>
            <a:r>
              <a:rPr lang="zh-CN" altLang="en-US" b="1" dirty="0"/>
              <a:t>封锁</a:t>
            </a:r>
            <a:endParaRPr lang="zh-CN" altLang="en-US" b="1" dirty="0"/>
          </a:p>
          <a:p>
            <a:pPr algn="just" eaLnBrk="1" hangingPunct="1">
              <a:lnSpc>
                <a:spcPct val="130000"/>
              </a:lnSpc>
              <a:buNone/>
            </a:pPr>
            <a:r>
              <a:rPr lang="en-US" altLang="zh-CN" b="1" dirty="0"/>
              <a:t>11.3  </a:t>
            </a:r>
            <a:r>
              <a:rPr lang="zh-CN" altLang="en-US" b="1" dirty="0"/>
              <a:t>活锁和死锁</a:t>
            </a:r>
            <a:endParaRPr lang="zh-CN" altLang="en-US" b="1" dirty="0"/>
          </a:p>
          <a:p>
            <a:pPr algn="just" eaLnBrk="1" hangingPunct="1">
              <a:lnSpc>
                <a:spcPct val="130000"/>
              </a:lnSpc>
              <a:buNone/>
            </a:pPr>
            <a:r>
              <a:rPr lang="en-US" altLang="zh-CN" b="1" dirty="0"/>
              <a:t>11.4  </a:t>
            </a:r>
            <a:r>
              <a:rPr lang="zh-CN" altLang="en-US" b="1" dirty="0"/>
              <a:t>并发调度的可串行性</a:t>
            </a:r>
            <a:endParaRPr lang="zh-CN" altLang="en-US" b="1" dirty="0"/>
          </a:p>
          <a:p>
            <a:pPr algn="just" eaLnBrk="1" hangingPunct="1">
              <a:lnSpc>
                <a:spcPct val="130000"/>
              </a:lnSpc>
              <a:buNone/>
            </a:pPr>
            <a:r>
              <a:rPr lang="en-US" altLang="zh-CN" b="1" dirty="0"/>
              <a:t>11.5   </a:t>
            </a:r>
            <a:r>
              <a:rPr lang="zh-CN" altLang="en-US" b="1" dirty="0"/>
              <a:t>两段锁协议</a:t>
            </a:r>
            <a:endParaRPr lang="zh-CN" altLang="en-US" b="1" dirty="0"/>
          </a:p>
          <a:p>
            <a:pPr algn="just" eaLnBrk="1" hangingPunct="1">
              <a:lnSpc>
                <a:spcPct val="130000"/>
              </a:lnSpc>
              <a:buNone/>
            </a:pPr>
            <a:r>
              <a:rPr lang="en-US" altLang="zh-CN" b="1" dirty="0"/>
              <a:t>11.6   </a:t>
            </a:r>
            <a:r>
              <a:rPr lang="zh-CN" altLang="en-US" b="1" dirty="0"/>
              <a:t>封锁的粒度</a:t>
            </a:r>
            <a:endParaRPr lang="zh-CN" altLang="en-US" b="1" dirty="0"/>
          </a:p>
          <a:p>
            <a:pPr algn="just" eaLnBrk="1" hangingPunct="1">
              <a:lnSpc>
                <a:spcPct val="130000"/>
              </a:lnSpc>
              <a:buNone/>
            </a:pPr>
            <a:r>
              <a:rPr lang="en-US" altLang="zh-CN" b="1" dirty="0">
                <a:solidFill>
                  <a:srgbClr val="FF0000"/>
                </a:solidFill>
              </a:rPr>
              <a:t>11.7   </a:t>
            </a:r>
            <a:r>
              <a:rPr lang="zh-CN" altLang="en-US" b="1" dirty="0">
                <a:solidFill>
                  <a:srgbClr val="FF0000"/>
                </a:solidFill>
              </a:rPr>
              <a:t>小结</a:t>
            </a:r>
            <a:endParaRPr lang="zh-CN" altLang="en-US" b="1" dirty="0">
              <a:solidFill>
                <a:srgbClr val="FF0000"/>
              </a:solidFill>
            </a:endParaRPr>
          </a:p>
        </p:txBody>
      </p:sp>
    </p:spTree>
  </p:cSld>
  <p:clrMapOvr>
    <a:masterClrMapping/>
  </p:clrMapOvr>
  <p:transition advClick="0"/>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Rectangle 2"/>
          <p:cNvSpPr>
            <a:spLocks noGrp="1"/>
          </p:cNvSpPr>
          <p:nvPr>
            <p:ph type="title"/>
          </p:nvPr>
        </p:nvSpPr>
        <p:spPr>
          <a:ln/>
        </p:spPr>
        <p:txBody>
          <a:bodyPr vert="horz" wrap="square" lIns="91440" tIns="45720" rIns="91440" bIns="45720" anchor="b" anchorCtr="0"/>
          <a:p>
            <a:pPr eaLnBrk="1" hangingPunct="1"/>
            <a:r>
              <a:rPr lang="zh-CN" altLang="en-US" dirty="0"/>
              <a:t>小结</a:t>
            </a:r>
            <a:endParaRPr lang="zh-CN" altLang="en-US" dirty="0"/>
          </a:p>
        </p:txBody>
      </p:sp>
      <p:sp>
        <p:nvSpPr>
          <p:cNvPr id="106498" name="Rectangle 3"/>
          <p:cNvSpPr>
            <a:spLocks noGrp="1"/>
          </p:cNvSpPr>
          <p:nvPr>
            <p:ph idx="1"/>
          </p:nvPr>
        </p:nvSpPr>
        <p:spPr>
          <a:ln/>
        </p:spPr>
        <p:txBody>
          <a:bodyPr vert="horz" wrap="square" lIns="91440" tIns="45720" rIns="91440" bIns="45720" anchor="t" anchorCtr="0"/>
          <a:p>
            <a:pPr eaLnBrk="1" hangingPunct="1">
              <a:lnSpc>
                <a:spcPct val="130000"/>
              </a:lnSpc>
            </a:pPr>
            <a:r>
              <a:rPr lang="zh-CN" altLang="en-US" sz="2400" dirty="0">
                <a:solidFill>
                  <a:srgbClr val="FF0000"/>
                </a:solidFill>
              </a:rPr>
              <a:t>数据共享</a:t>
            </a:r>
            <a:r>
              <a:rPr lang="zh-CN" altLang="en-US" sz="2400" dirty="0"/>
              <a:t>与</a:t>
            </a:r>
            <a:r>
              <a:rPr lang="zh-CN" altLang="en-US" sz="2400" dirty="0">
                <a:solidFill>
                  <a:srgbClr val="FF0000"/>
                </a:solidFill>
              </a:rPr>
              <a:t>数据一致性</a:t>
            </a:r>
            <a:r>
              <a:rPr lang="zh-CN" altLang="en-US" sz="2400" dirty="0"/>
              <a:t>是一对矛盾</a:t>
            </a:r>
            <a:endParaRPr lang="zh-CN" altLang="en-US" sz="2400" dirty="0"/>
          </a:p>
          <a:p>
            <a:pPr eaLnBrk="1" hangingPunct="1">
              <a:lnSpc>
                <a:spcPct val="130000"/>
              </a:lnSpc>
            </a:pPr>
            <a:r>
              <a:rPr lang="zh-CN" altLang="en-US" sz="2400" dirty="0">
                <a:solidFill>
                  <a:srgbClr val="FF0000"/>
                </a:solidFill>
              </a:rPr>
              <a:t>数据库的价值</a:t>
            </a:r>
            <a:r>
              <a:rPr lang="zh-CN" altLang="en-US" sz="2400" dirty="0"/>
              <a:t>在很大程度上取决于它所能提供的数据共享度</a:t>
            </a:r>
            <a:endParaRPr lang="zh-CN" altLang="en-US" sz="2400" dirty="0"/>
          </a:p>
          <a:p>
            <a:pPr eaLnBrk="1" hangingPunct="1">
              <a:lnSpc>
                <a:spcPct val="130000"/>
              </a:lnSpc>
              <a:spcBef>
                <a:spcPct val="40000"/>
              </a:spcBef>
            </a:pPr>
            <a:r>
              <a:rPr lang="zh-CN" altLang="en-US" sz="2400" dirty="0">
                <a:solidFill>
                  <a:srgbClr val="FF0000"/>
                </a:solidFill>
              </a:rPr>
              <a:t>数据共享</a:t>
            </a:r>
            <a:r>
              <a:rPr lang="zh-CN" altLang="en-US" sz="2400" dirty="0"/>
              <a:t>在很大程度上取决于系统允许对数据并发操作的程度</a:t>
            </a:r>
            <a:endParaRPr lang="zh-CN" altLang="en-US" sz="2400" dirty="0"/>
          </a:p>
          <a:p>
            <a:pPr eaLnBrk="1" hangingPunct="1">
              <a:lnSpc>
                <a:spcPct val="130000"/>
              </a:lnSpc>
              <a:spcBef>
                <a:spcPct val="40000"/>
              </a:spcBef>
            </a:pPr>
            <a:r>
              <a:rPr lang="zh-CN" altLang="en-US" sz="2400" dirty="0">
                <a:solidFill>
                  <a:srgbClr val="FF0000"/>
                </a:solidFill>
              </a:rPr>
              <a:t>数据并发程度</a:t>
            </a:r>
            <a:r>
              <a:rPr lang="zh-CN" altLang="en-US" sz="2400" dirty="0"/>
              <a:t>又取决于数据库中的</a:t>
            </a:r>
            <a:r>
              <a:rPr lang="zh-CN" altLang="en-US" sz="2400" dirty="0">
                <a:solidFill>
                  <a:srgbClr val="FF0000"/>
                </a:solidFill>
              </a:rPr>
              <a:t>并发控制机制</a:t>
            </a:r>
            <a:endParaRPr lang="zh-CN" altLang="en-US" sz="2400" dirty="0">
              <a:solidFill>
                <a:srgbClr val="FF0000"/>
              </a:solidFill>
            </a:endParaRPr>
          </a:p>
          <a:p>
            <a:pPr eaLnBrk="1" hangingPunct="1">
              <a:lnSpc>
                <a:spcPct val="130000"/>
              </a:lnSpc>
              <a:spcBef>
                <a:spcPct val="40000"/>
              </a:spcBef>
            </a:pPr>
            <a:r>
              <a:rPr lang="zh-CN" altLang="en-US" sz="2400" dirty="0">
                <a:solidFill>
                  <a:srgbClr val="FF0000"/>
                </a:solidFill>
              </a:rPr>
              <a:t>数据的一致性</a:t>
            </a:r>
            <a:r>
              <a:rPr lang="zh-CN" altLang="en-US" sz="2400" dirty="0"/>
              <a:t>也取决于并发控制的程度。施加的并发控制愈多，数据的一致性往往愈好</a:t>
            </a:r>
            <a:endParaRPr lang="zh-CN" altLang="en-US" sz="2400" dirty="0"/>
          </a:p>
        </p:txBody>
      </p:sp>
    </p:spTree>
  </p:cSld>
  <p:clrMapOvr>
    <a:masterClrMapping/>
  </p:clrMapOvr>
  <p:transition advClick="0"/>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Rectangle 2"/>
          <p:cNvSpPr>
            <a:spLocks noGrp="1"/>
          </p:cNvSpPr>
          <p:nvPr>
            <p:ph type="title"/>
          </p:nvPr>
        </p:nvSpPr>
        <p:spPr>
          <a:ln/>
        </p:spPr>
        <p:txBody>
          <a:bodyPr vert="horz" wrap="square" lIns="91440" tIns="45720" rIns="91440" bIns="45720" anchor="b" anchorCtr="0"/>
          <a:p>
            <a:pPr eaLnBrk="1" hangingPunct="1"/>
            <a:r>
              <a:rPr lang="zh-CN" altLang="en-US" dirty="0"/>
              <a:t>小结（续）</a:t>
            </a:r>
            <a:endParaRPr lang="zh-CN" altLang="en-US" dirty="0"/>
          </a:p>
        </p:txBody>
      </p:sp>
      <p:sp>
        <p:nvSpPr>
          <p:cNvPr id="107522" name="Rectangle 3"/>
          <p:cNvSpPr>
            <a:spLocks noGrp="1"/>
          </p:cNvSpPr>
          <p:nvPr>
            <p:ph idx="1"/>
          </p:nvPr>
        </p:nvSpPr>
        <p:spPr>
          <a:ln/>
        </p:spPr>
        <p:txBody>
          <a:bodyPr vert="horz" wrap="square" lIns="91440" tIns="45720" rIns="91440" bIns="45720" anchor="t" anchorCtr="0"/>
          <a:p>
            <a:pPr eaLnBrk="1" hangingPunct="1">
              <a:lnSpc>
                <a:spcPct val="190000"/>
              </a:lnSpc>
            </a:pPr>
            <a:r>
              <a:rPr lang="zh-CN" altLang="en-US" sz="2800" dirty="0"/>
              <a:t>数据库的并发控制以</a:t>
            </a:r>
            <a:r>
              <a:rPr lang="zh-CN" altLang="en-US" sz="2800" dirty="0">
                <a:solidFill>
                  <a:srgbClr val="FF0000"/>
                </a:solidFill>
              </a:rPr>
              <a:t>事务</a:t>
            </a:r>
            <a:r>
              <a:rPr lang="zh-CN" altLang="en-US" sz="2800" dirty="0"/>
              <a:t>为单位</a:t>
            </a:r>
            <a:endParaRPr lang="zh-CN" altLang="en-US" sz="2800" dirty="0"/>
          </a:p>
          <a:p>
            <a:pPr eaLnBrk="1" hangingPunct="1">
              <a:lnSpc>
                <a:spcPct val="190000"/>
              </a:lnSpc>
            </a:pPr>
            <a:r>
              <a:rPr lang="zh-CN" altLang="en-US" sz="2800" dirty="0"/>
              <a:t>数据库的并发控制通常使用</a:t>
            </a:r>
            <a:r>
              <a:rPr lang="zh-CN" altLang="en-US" sz="2800" dirty="0">
                <a:solidFill>
                  <a:srgbClr val="FF0000"/>
                </a:solidFill>
              </a:rPr>
              <a:t>封锁机制</a:t>
            </a:r>
            <a:endParaRPr lang="zh-CN" altLang="en-US" sz="2800" dirty="0">
              <a:solidFill>
                <a:srgbClr val="FF0000"/>
              </a:solidFill>
            </a:endParaRPr>
          </a:p>
          <a:p>
            <a:pPr eaLnBrk="1" hangingPunct="1"/>
            <a:endParaRPr lang="en-US" altLang="zh-CN" sz="2400" dirty="0"/>
          </a:p>
        </p:txBody>
      </p:sp>
    </p:spTree>
  </p:cSld>
  <p:clrMapOvr>
    <a:masterClrMapping/>
  </p:clrMapOvr>
  <p:transition advClick="0"/>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Rectangle 2"/>
          <p:cNvSpPr>
            <a:spLocks noGrp="1"/>
          </p:cNvSpPr>
          <p:nvPr>
            <p:ph type="title"/>
          </p:nvPr>
        </p:nvSpPr>
        <p:spPr>
          <a:ln/>
        </p:spPr>
        <p:txBody>
          <a:bodyPr vert="horz" wrap="square" lIns="91440" tIns="45720" rIns="91440" bIns="45720" anchor="b" anchorCtr="0"/>
          <a:p>
            <a:pPr eaLnBrk="1" hangingPunct="1"/>
            <a:r>
              <a:rPr lang="zh-CN" altLang="en-US" dirty="0"/>
              <a:t>小结（续）</a:t>
            </a:r>
            <a:endParaRPr lang="zh-CN" altLang="en-US" dirty="0"/>
          </a:p>
        </p:txBody>
      </p:sp>
      <p:sp>
        <p:nvSpPr>
          <p:cNvPr id="108546" name="Rectangle 3"/>
          <p:cNvSpPr>
            <a:spLocks noGrp="1"/>
          </p:cNvSpPr>
          <p:nvPr>
            <p:ph idx="1"/>
          </p:nvPr>
        </p:nvSpPr>
        <p:spPr>
          <a:xfrm>
            <a:off x="566738" y="1143000"/>
            <a:ext cx="8001000" cy="5072063"/>
          </a:xfrm>
          <a:ln/>
        </p:spPr>
        <p:txBody>
          <a:bodyPr vert="horz" wrap="square" lIns="91440" tIns="45720" rIns="91440" bIns="45720" anchor="t" anchorCtr="0"/>
          <a:p>
            <a:pPr eaLnBrk="1" hangingPunct="1">
              <a:lnSpc>
                <a:spcPct val="190000"/>
              </a:lnSpc>
            </a:pPr>
            <a:r>
              <a:rPr lang="zh-CN" altLang="en-US" sz="2800" dirty="0"/>
              <a:t>并发控制机制调度并发事务操作</a:t>
            </a:r>
            <a:r>
              <a:rPr lang="zh-CN" altLang="en-US" sz="2800" dirty="0">
                <a:solidFill>
                  <a:srgbClr val="FF0000"/>
                </a:solidFill>
              </a:rPr>
              <a:t>是否正确</a:t>
            </a:r>
            <a:r>
              <a:rPr lang="zh-CN" altLang="en-US" sz="2800" dirty="0"/>
              <a:t>的判别准则是</a:t>
            </a:r>
            <a:r>
              <a:rPr lang="zh-CN" altLang="en-US" sz="2800" dirty="0">
                <a:solidFill>
                  <a:srgbClr val="FF0000"/>
                </a:solidFill>
              </a:rPr>
              <a:t>可串行性</a:t>
            </a:r>
            <a:endParaRPr lang="zh-CN" altLang="en-US" sz="2800" dirty="0">
              <a:solidFill>
                <a:srgbClr val="FF0000"/>
              </a:solidFill>
            </a:endParaRPr>
          </a:p>
          <a:p>
            <a:pPr lvl="1" indent="-436245" eaLnBrk="1" hangingPunct="1">
              <a:lnSpc>
                <a:spcPct val="190000"/>
              </a:lnSpc>
              <a:spcBef>
                <a:spcPct val="60000"/>
              </a:spcBef>
            </a:pPr>
            <a:r>
              <a:rPr lang="zh-CN" altLang="en-US" sz="2400" dirty="0"/>
              <a:t>并发操作的正确性则通常由</a:t>
            </a:r>
            <a:r>
              <a:rPr lang="zh-CN" altLang="en-US" sz="2400" dirty="0">
                <a:solidFill>
                  <a:srgbClr val="FF0000"/>
                </a:solidFill>
              </a:rPr>
              <a:t>两段锁协议</a:t>
            </a:r>
            <a:r>
              <a:rPr lang="zh-CN" altLang="en-US" sz="2400" dirty="0"/>
              <a:t>来保证。</a:t>
            </a:r>
            <a:endParaRPr lang="zh-CN" altLang="en-US" sz="2400" dirty="0"/>
          </a:p>
          <a:p>
            <a:pPr lvl="1" indent="-436245" eaLnBrk="1" hangingPunct="1">
              <a:lnSpc>
                <a:spcPct val="190000"/>
              </a:lnSpc>
              <a:spcBef>
                <a:spcPct val="60000"/>
              </a:spcBef>
            </a:pPr>
            <a:r>
              <a:rPr lang="zh-CN" altLang="en-US" sz="2400" dirty="0"/>
              <a:t>两段锁协议是可串行化调度的充分条件，但不是必要条件</a:t>
            </a:r>
            <a:endParaRPr lang="zh-CN" altLang="en-US" sz="2400" dirty="0"/>
          </a:p>
        </p:txBody>
      </p:sp>
    </p:spTree>
  </p:cSld>
  <p:clrMapOvr>
    <a:masterClrMapping/>
  </p:clrMapOvr>
  <p:transition advClick="0"/>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Rectangle 2"/>
          <p:cNvSpPr>
            <a:spLocks noGrp="1"/>
          </p:cNvSpPr>
          <p:nvPr>
            <p:ph type="title"/>
          </p:nvPr>
        </p:nvSpPr>
        <p:spPr>
          <a:ln/>
        </p:spPr>
        <p:txBody>
          <a:bodyPr vert="horz" wrap="square" lIns="91440" tIns="45720" rIns="91440" bIns="45720" anchor="b" anchorCtr="0"/>
          <a:p>
            <a:pPr eaLnBrk="1" hangingPunct="1"/>
            <a:r>
              <a:rPr lang="zh-CN" altLang="en-US" dirty="0"/>
              <a:t>小结（续）</a:t>
            </a:r>
            <a:endParaRPr lang="zh-CN" altLang="en-US" dirty="0"/>
          </a:p>
        </p:txBody>
      </p:sp>
      <p:sp>
        <p:nvSpPr>
          <p:cNvPr id="109570" name="Rectangle 3"/>
          <p:cNvSpPr>
            <a:spLocks noGrp="1"/>
          </p:cNvSpPr>
          <p:nvPr>
            <p:ph idx="1"/>
          </p:nvPr>
        </p:nvSpPr>
        <p:spPr>
          <a:xfrm>
            <a:off x="571500" y="1428750"/>
            <a:ext cx="7993063" cy="4572000"/>
          </a:xfrm>
          <a:ln/>
        </p:spPr>
        <p:txBody>
          <a:bodyPr vert="horz" wrap="square" lIns="91440" tIns="45720" rIns="91440" bIns="45720" anchor="t" anchorCtr="0"/>
          <a:p>
            <a:pPr eaLnBrk="1" hangingPunct="1">
              <a:lnSpc>
                <a:spcPct val="110000"/>
              </a:lnSpc>
            </a:pPr>
            <a:r>
              <a:rPr lang="zh-CN" altLang="en-US" sz="2800" dirty="0"/>
              <a:t>对数据对象施加封锁，带来问题</a:t>
            </a:r>
            <a:endParaRPr lang="zh-CN" altLang="en-US" sz="2800" dirty="0"/>
          </a:p>
          <a:p>
            <a:pPr eaLnBrk="1" hangingPunct="1">
              <a:lnSpc>
                <a:spcPct val="110000"/>
              </a:lnSpc>
            </a:pPr>
            <a:r>
              <a:rPr lang="zh-CN" altLang="en-US" sz="2800" dirty="0"/>
              <a:t>活锁： 先来先服务</a:t>
            </a:r>
            <a:endParaRPr lang="zh-CN" altLang="en-US" sz="2800" dirty="0"/>
          </a:p>
          <a:p>
            <a:pPr eaLnBrk="1" hangingPunct="1">
              <a:lnSpc>
                <a:spcPct val="110000"/>
              </a:lnSpc>
            </a:pPr>
            <a:r>
              <a:rPr lang="zh-CN" altLang="en-US" sz="2800" dirty="0"/>
              <a:t>死锁：</a:t>
            </a:r>
            <a:endParaRPr lang="zh-CN" altLang="en-US" sz="2800" dirty="0"/>
          </a:p>
          <a:p>
            <a:pPr lvl="1" indent="-436245" eaLnBrk="1" hangingPunct="1">
              <a:lnSpc>
                <a:spcPct val="110000"/>
              </a:lnSpc>
            </a:pPr>
            <a:r>
              <a:rPr lang="zh-CN" altLang="en-US" dirty="0"/>
              <a:t>预防方法</a:t>
            </a:r>
            <a:endParaRPr lang="zh-CN" altLang="en-US" dirty="0"/>
          </a:p>
          <a:p>
            <a:pPr lvl="2" indent="-394970" eaLnBrk="1" hangingPunct="1">
              <a:lnSpc>
                <a:spcPct val="110000"/>
              </a:lnSpc>
              <a:buFont typeface="Wingdings" panose="05000000000000000000" pitchFamily="2" charset="2"/>
              <a:buChar char="Ø"/>
            </a:pPr>
            <a:r>
              <a:rPr lang="zh-CN" altLang="en-US" dirty="0"/>
              <a:t>一次封锁法</a:t>
            </a:r>
            <a:endParaRPr lang="zh-CN" altLang="en-US" dirty="0"/>
          </a:p>
          <a:p>
            <a:pPr lvl="2" indent="-394970" eaLnBrk="1" hangingPunct="1">
              <a:lnSpc>
                <a:spcPct val="110000"/>
              </a:lnSpc>
              <a:buFont typeface="Wingdings" panose="05000000000000000000" pitchFamily="2" charset="2"/>
              <a:buChar char="Ø"/>
            </a:pPr>
            <a:r>
              <a:rPr lang="zh-CN" altLang="en-US" dirty="0"/>
              <a:t>顺序封锁法</a:t>
            </a:r>
            <a:endParaRPr lang="zh-CN" altLang="en-US" dirty="0"/>
          </a:p>
          <a:p>
            <a:pPr lvl="1" indent="-436245" eaLnBrk="1" hangingPunct="1">
              <a:lnSpc>
                <a:spcPct val="110000"/>
              </a:lnSpc>
            </a:pPr>
            <a:r>
              <a:rPr lang="zh-CN" altLang="en-US" dirty="0"/>
              <a:t> 死锁的诊断与解除</a:t>
            </a:r>
            <a:endParaRPr lang="zh-CN" altLang="en-US" dirty="0"/>
          </a:p>
          <a:p>
            <a:pPr lvl="2" indent="-394970" eaLnBrk="1" hangingPunct="1">
              <a:lnSpc>
                <a:spcPct val="110000"/>
              </a:lnSpc>
              <a:buFont typeface="Wingdings" panose="05000000000000000000" pitchFamily="2" charset="2"/>
              <a:buChar char="Ø"/>
            </a:pPr>
            <a:r>
              <a:rPr lang="zh-CN" altLang="en-US" dirty="0"/>
              <a:t>超时法</a:t>
            </a:r>
            <a:endParaRPr lang="zh-CN" altLang="en-US" dirty="0"/>
          </a:p>
          <a:p>
            <a:pPr lvl="2" indent="-394970" eaLnBrk="1" hangingPunct="1">
              <a:lnSpc>
                <a:spcPct val="110000"/>
              </a:lnSpc>
              <a:buFont typeface="Wingdings" panose="05000000000000000000" pitchFamily="2" charset="2"/>
              <a:buChar char="Ø"/>
            </a:pPr>
            <a:r>
              <a:rPr lang="zh-CN" altLang="en-US" dirty="0"/>
              <a:t>等待图法</a:t>
            </a:r>
            <a:endParaRPr lang="zh-CN" altLang="en-US" dirty="0"/>
          </a:p>
        </p:txBody>
      </p:sp>
    </p:spTree>
  </p:cSld>
  <p:clrMapOvr>
    <a:masterClrMapping/>
  </p:clrMapOvr>
  <p:transition advClick="0"/>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0</TotalTime>
  <Words>11283</Words>
  <Application>WPS 演示</Application>
  <PresentationFormat>全屏显示(4:3)</PresentationFormat>
  <Paragraphs>1294</Paragraphs>
  <Slides>101</Slides>
  <Notes>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101</vt:i4>
      </vt:variant>
    </vt:vector>
  </HeadingPairs>
  <TitlesOfParts>
    <vt:vector size="113" baseType="lpstr">
      <vt:lpstr>Arial</vt:lpstr>
      <vt:lpstr>宋体</vt:lpstr>
      <vt:lpstr>Wingdings</vt:lpstr>
      <vt:lpstr>Verdana</vt:lpstr>
      <vt:lpstr>Calibri</vt:lpstr>
      <vt:lpstr>楷体_GB2312</vt:lpstr>
      <vt:lpstr>新宋体</vt:lpstr>
      <vt:lpstr>Times New Roman</vt:lpstr>
      <vt:lpstr>微软雅黑</vt:lpstr>
      <vt:lpstr>Arial Unicode MS</vt:lpstr>
      <vt:lpstr>Profile</vt:lpstr>
      <vt:lpstr>Word.Picture.8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补充知识</dc:title>
  <dc:creator>微软用户</dc:creator>
  <cp:lastModifiedBy>shr</cp:lastModifiedBy>
  <cp:revision>91</cp:revision>
  <dcterms:created xsi:type="dcterms:W3CDTF">2014-03-04T01:24:19Z</dcterms:created>
  <dcterms:modified xsi:type="dcterms:W3CDTF">2026-05-31T08:26:50Z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871C28096F474CC9834759B558E323D8_12</vt:lpwstr>
  </property>
  <property fmtid="{D5CDD505-2E9C-101B-9397-08002B2CF9AE}" pid="3" name="KSOProductBuildVer">
    <vt:lpwstr>2052-12.1.0.26375</vt:lpwstr>
  </property>
</Properties>
</file>