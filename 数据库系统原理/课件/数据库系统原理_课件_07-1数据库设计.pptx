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6"/>
  </p:notesMasterIdLst>
  <p:sldIdLst>
    <p:sldId id="580" r:id="rId4"/>
    <p:sldId id="472" r:id="rId5"/>
    <p:sldId id="474" r:id="rId7"/>
    <p:sldId id="473" r:id="rId8"/>
    <p:sldId id="614" r:id="rId9"/>
    <p:sldId id="475" r:id="rId10"/>
    <p:sldId id="476" r:id="rId11"/>
    <p:sldId id="477" r:id="rId12"/>
    <p:sldId id="478" r:id="rId13"/>
    <p:sldId id="479" r:id="rId14"/>
    <p:sldId id="480" r:id="rId15"/>
    <p:sldId id="481" r:id="rId16"/>
    <p:sldId id="482" r:id="rId17"/>
    <p:sldId id="483" r:id="rId18"/>
    <p:sldId id="484" r:id="rId19"/>
    <p:sldId id="485" r:id="rId20"/>
    <p:sldId id="486" r:id="rId21"/>
    <p:sldId id="487" r:id="rId22"/>
    <p:sldId id="488" r:id="rId23"/>
    <p:sldId id="489" r:id="rId24"/>
    <p:sldId id="490" r:id="rId25"/>
    <p:sldId id="493" r:id="rId26"/>
    <p:sldId id="494" r:id="rId27"/>
    <p:sldId id="496" r:id="rId28"/>
    <p:sldId id="498" r:id="rId29"/>
    <p:sldId id="499" r:id="rId30"/>
    <p:sldId id="500" r:id="rId31"/>
    <p:sldId id="501" r:id="rId32"/>
    <p:sldId id="502" r:id="rId33"/>
    <p:sldId id="503" r:id="rId34"/>
    <p:sldId id="504" r:id="rId35"/>
    <p:sldId id="505" r:id="rId36"/>
    <p:sldId id="506" r:id="rId37"/>
    <p:sldId id="507" r:id="rId38"/>
    <p:sldId id="508" r:id="rId39"/>
    <p:sldId id="509" r:id="rId40"/>
    <p:sldId id="510" r:id="rId41"/>
    <p:sldId id="512" r:id="rId42"/>
    <p:sldId id="513" r:id="rId43"/>
    <p:sldId id="515" r:id="rId44"/>
    <p:sldId id="516" r:id="rId45"/>
    <p:sldId id="517" r:id="rId46"/>
    <p:sldId id="575" r:id="rId47"/>
    <p:sldId id="518" r:id="rId48"/>
    <p:sldId id="576" r:id="rId49"/>
    <p:sldId id="519" r:id="rId50"/>
    <p:sldId id="577" r:id="rId51"/>
    <p:sldId id="578" r:id="rId52"/>
    <p:sldId id="520" r:id="rId53"/>
    <p:sldId id="579" r:id="rId54"/>
    <p:sldId id="521" r:id="rId55"/>
    <p:sldId id="522" r:id="rId56"/>
    <p:sldId id="527" r:id="rId57"/>
    <p:sldId id="626" r:id="rId58"/>
    <p:sldId id="637" r:id="rId59"/>
    <p:sldId id="638" r:id="rId60"/>
    <p:sldId id="639" r:id="rId61"/>
    <p:sldId id="640" r:id="rId62"/>
    <p:sldId id="641" r:id="rId63"/>
    <p:sldId id="642" r:id="rId64"/>
    <p:sldId id="643" r:id="rId65"/>
    <p:sldId id="644" r:id="rId66"/>
    <p:sldId id="645" r:id="rId67"/>
    <p:sldId id="646" r:id="rId68"/>
    <p:sldId id="647" r:id="rId69"/>
    <p:sldId id="648" r:id="rId70"/>
    <p:sldId id="649" r:id="rId71"/>
    <p:sldId id="650" r:id="rId72"/>
    <p:sldId id="651" r:id="rId73"/>
    <p:sldId id="652" r:id="rId74"/>
    <p:sldId id="653" r:id="rId75"/>
    <p:sldId id="654" r:id="rId76"/>
    <p:sldId id="655" r:id="rId77"/>
    <p:sldId id="656" r:id="rId78"/>
    <p:sldId id="657" r:id="rId79"/>
    <p:sldId id="658" r:id="rId80"/>
    <p:sldId id="659" r:id="rId81"/>
    <p:sldId id="660" r:id="rId82"/>
    <p:sldId id="528" r:id="rId83"/>
    <p:sldId id="529" r:id="rId84"/>
    <p:sldId id="530" r:id="rId85"/>
    <p:sldId id="567" r:id="rId86"/>
    <p:sldId id="561" r:id="rId87"/>
    <p:sldId id="562" r:id="rId88"/>
    <p:sldId id="563" r:id="rId89"/>
    <p:sldId id="564" r:id="rId90"/>
    <p:sldId id="565" r:id="rId91"/>
    <p:sldId id="628" r:id="rId92"/>
    <p:sldId id="566" r:id="rId93"/>
    <p:sldId id="568" r:id="rId94"/>
    <p:sldId id="569" r:id="rId95"/>
    <p:sldId id="570" r:id="rId96"/>
    <p:sldId id="571" r:id="rId97"/>
    <p:sldId id="629" r:id="rId98"/>
    <p:sldId id="573" r:id="rId99"/>
    <p:sldId id="630" r:id="rId100"/>
    <p:sldId id="631" r:id="rId101"/>
    <p:sldId id="632" r:id="rId102"/>
    <p:sldId id="574" r:id="rId103"/>
    <p:sldId id="634" r:id="rId104"/>
    <p:sldId id="633" r:id="rId105"/>
    <p:sldId id="635" r:id="rId106"/>
    <p:sldId id="636" r:id="rId107"/>
    <p:sldId id="661" r:id="rId108"/>
    <p:sldId id="604" r:id="rId109"/>
    <p:sldId id="605" r:id="rId110"/>
    <p:sldId id="606" r:id="rId111"/>
    <p:sldId id="607" r:id="rId112"/>
    <p:sldId id="608" r:id="rId113"/>
    <p:sldId id="609" r:id="rId114"/>
    <p:sldId id="610" r:id="rId115"/>
    <p:sldId id="623" r:id="rId116"/>
    <p:sldId id="612" r:id="rId117"/>
    <p:sldId id="613" r:id="rId118"/>
    <p:sldId id="611" r:id="rId119"/>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3"/>
    <p:restoredTop sz="88740"/>
  </p:normalViewPr>
  <p:slideViewPr>
    <p:cSldViewPr showGuides="1">
      <p:cViewPr varScale="1">
        <p:scale>
          <a:sx n="79" d="100"/>
          <a:sy n="79" d="100"/>
        </p:scale>
        <p:origin x="-1068" y="-84"/>
      </p:cViewPr>
      <p:guideLst>
        <p:guide orient="horz" pos="2172"/>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24FF1101-EAE4-462A-A8A0-103B325BF8A0}" type="datetimeFigureOut">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4C878C65-35A1-4F70-B928-DB5821400C07}"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solidFill>
                  <a:srgbClr val="000000"/>
                </a:solidFill>
                <a:latin typeface="Arial" panose="020B0604020202020204" pitchFamily="34" charset="0"/>
              </a:rPr>
            </a:fld>
            <a:endParaRPr lang="en-US" altLang="zh-CN" sz="1200" dirty="0">
              <a:solidFill>
                <a:srgbClr val="000000"/>
              </a:solidFill>
              <a:latin typeface="Arial" panose="020B0604020202020204" pitchFamily="34" charset="0"/>
            </a:endParaRPr>
          </a:p>
        </p:txBody>
      </p:sp>
      <p:sp>
        <p:nvSpPr>
          <p:cNvPr id="10242" name="Rectangle 2"/>
          <p:cNvSpPr>
            <a:spLocks noGrp="1" noRot="1" noChangeAspect="1" noTextEdit="1"/>
          </p:cNvSpPr>
          <p:nvPr>
            <p:ph type="sldImg"/>
          </p:nvPr>
        </p:nvSpPr>
        <p:spPr>
          <a:ln>
            <a:solidFill>
              <a:srgbClr val="000000"/>
            </a:solidFill>
            <a:miter/>
          </a:ln>
        </p:spPr>
      </p:sp>
      <p:sp>
        <p:nvSpPr>
          <p:cNvPr id="10243" name="Rectangle 3"/>
          <p:cNvSpPr>
            <a:spLocks noGrp="1"/>
          </p:cNvSpPr>
          <p:nvPr>
            <p:ph type="body"/>
          </p:nvPr>
        </p:nvSpPr>
        <p:spPr>
          <a:noFill/>
          <a:ln>
            <a:noFill/>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noTextEdit="1"/>
          </p:cNvSpPr>
          <p:nvPr>
            <p:ph type="sldImg"/>
          </p:nvPr>
        </p:nvSpPr>
        <p:spPr>
          <a:ln>
            <a:solidFill>
              <a:srgbClr val="000000"/>
            </a:solidFill>
            <a:miter/>
          </a:ln>
        </p:spPr>
      </p:sp>
      <p:sp>
        <p:nvSpPr>
          <p:cNvPr id="26626"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26627"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TextEdit="1"/>
          </p:cNvSpPr>
          <p:nvPr>
            <p:ph type="sldImg"/>
          </p:nvPr>
        </p:nvSpPr>
        <p:spPr>
          <a:ln>
            <a:solidFill>
              <a:srgbClr val="000000"/>
            </a:solidFill>
            <a:miter/>
          </a:ln>
        </p:spPr>
      </p:sp>
      <p:sp>
        <p:nvSpPr>
          <p:cNvPr id="28674" name="备注占位符 2"/>
          <p:cNvSpPr>
            <a:spLocks noGrp="1"/>
          </p:cNvSpPr>
          <p:nvPr>
            <p:ph type="body"/>
          </p:nvPr>
        </p:nvSpPr>
        <p:spPr>
          <a:noFill/>
          <a:ln>
            <a:noFill/>
          </a:ln>
        </p:spPr>
        <p:txBody>
          <a:bodyPr wrap="square" lIns="91440" tIns="45720" rIns="91440" bIns="45720" anchor="t" anchorCtr="0"/>
          <a:lstStyle/>
          <a:p>
            <a:pPr lvl="0"/>
            <a:r>
              <a:rPr lang="zh-CN" altLang="en-US" dirty="0"/>
              <a:t>需求分析阶段：综合各个用户的应用需求。据库设计过程中的各级模式（续） 数据库设计不同阶段形成的数据库各级模式概念设计阶段：形成独立于机器特点，独立于各个数据库管理系统产品的概念模式（</a:t>
            </a:r>
            <a:r>
              <a:rPr lang="en-US" altLang="zh-CN" dirty="0"/>
              <a:t>E-R</a:t>
            </a:r>
            <a:r>
              <a:rPr lang="zh-CN" altLang="en-US" dirty="0"/>
              <a:t>图）</a:t>
            </a:r>
            <a:endParaRPr lang="en-US" altLang="zh-CN" dirty="0"/>
          </a:p>
          <a:p>
            <a:pPr lvl="0"/>
            <a:r>
              <a:rPr lang="zh-CN" altLang="en-US" dirty="0"/>
              <a:t>逻辑设计阶段：</a:t>
            </a:r>
            <a:r>
              <a:rPr lang="en-US" altLang="zh-CN" dirty="0"/>
              <a:t>1. </a:t>
            </a:r>
            <a:r>
              <a:rPr lang="zh-CN" altLang="en-US" dirty="0"/>
              <a:t>首先将</a:t>
            </a:r>
            <a:r>
              <a:rPr lang="en-US" altLang="zh-CN" dirty="0"/>
              <a:t>E-R</a:t>
            </a:r>
            <a:r>
              <a:rPr lang="zh-CN" altLang="en-US" dirty="0"/>
              <a:t>图转换成具体的数据库产品支持的数据模型，如关系模型，形成数据库逻辑模式</a:t>
            </a:r>
            <a:r>
              <a:rPr lang="en-US" altLang="zh-CN" dirty="0"/>
              <a:t>2. </a:t>
            </a:r>
            <a:r>
              <a:rPr lang="zh-CN" altLang="en-US" dirty="0"/>
              <a:t>然后根据用户处理的要求、安全性的考虑，在基本表的基础上再建立必要的视图（</a:t>
            </a:r>
            <a:r>
              <a:rPr lang="en-US" altLang="zh-CN" dirty="0"/>
              <a:t>View</a:t>
            </a:r>
            <a:r>
              <a:rPr lang="zh-CN" altLang="en-US" dirty="0"/>
              <a:t>），形成数据的外模式</a:t>
            </a:r>
            <a:endParaRPr lang="en-US" altLang="zh-CN" dirty="0"/>
          </a:p>
          <a:p>
            <a:pPr lvl="0"/>
            <a:r>
              <a:rPr lang="zh-CN" altLang="en-US" dirty="0"/>
              <a:t>阶段形成的数据库各级模式物理设计阶段：根据数据库管理系统特点和处理的需要，进行物理存储安排，建立索引，形成数据库内模式</a:t>
            </a:r>
            <a:endParaRPr lang="zh-CN" altLang="en-US" dirty="0"/>
          </a:p>
        </p:txBody>
      </p:sp>
      <p:sp>
        <p:nvSpPr>
          <p:cNvPr id="2867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a:ln>
            <a:solidFill>
              <a:srgbClr val="000000"/>
            </a:solidFill>
            <a:miter/>
          </a:ln>
        </p:spPr>
      </p:sp>
      <p:sp>
        <p:nvSpPr>
          <p:cNvPr id="30722"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3072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a:noFill/>
          <a:ln>
            <a:noFill/>
          </a:ln>
        </p:spPr>
        <p:txBody>
          <a:bodyPr wrap="square" lIns="91440" tIns="45720" rIns="91440" bIns="45720" anchor="t" anchorCtr="0"/>
          <a:lstStyle/>
          <a:p>
            <a:pPr lvl="0"/>
            <a:r>
              <a:rPr lang="zh-CN" altLang="en-US" dirty="0"/>
              <a:t>这学期要考试的课程，参加监考的老师的信息。</a:t>
            </a:r>
            <a:endParaRPr lang="zh-CN" altLang="en-US" dirty="0"/>
          </a:p>
        </p:txBody>
      </p:sp>
      <p:sp>
        <p:nvSpPr>
          <p:cNvPr id="4301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TextEdit="1"/>
          </p:cNvSpPr>
          <p:nvPr>
            <p:ph type="sldImg"/>
          </p:nvPr>
        </p:nvSpPr>
        <p:spPr>
          <a:ln>
            <a:solidFill>
              <a:srgbClr val="000000"/>
            </a:solidFill>
            <a:miter/>
          </a:ln>
        </p:spPr>
      </p:sp>
      <p:sp>
        <p:nvSpPr>
          <p:cNvPr id="49154"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4915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074" name="AutoShape 7"/>
          <p:cNvSpPr/>
          <p:nvPr/>
        </p:nvSpPr>
        <p:spPr>
          <a:xfrm>
            <a:off x="914400" y="2393950"/>
            <a:ext cx="103632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sp>
        <p:nvSpPr>
          <p:cNvPr id="21506" name="Rectangle 2"/>
          <p:cNvSpPr>
            <a:spLocks noGrp="1" noChangeArrowheads="1"/>
          </p:cNvSpPr>
          <p:nvPr>
            <p:ph type="ctrTitle"/>
          </p:nvPr>
        </p:nvSpPr>
        <p:spPr>
          <a:xfrm>
            <a:off x="914400" y="990600"/>
            <a:ext cx="103632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21507"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941D514F-8983-4510-B771-E83D90B95A94}"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7" y="304800"/>
            <a:ext cx="2669116"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55651" y="304800"/>
            <a:ext cx="7806267"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graphicFrame>
        <p:nvGraphicFramePr>
          <p:cNvPr id="4100" name="Object 1026"/>
          <p:cNvGraphicFramePr>
            <a:graphicFrameLocks noChangeAspect="1"/>
          </p:cNvGraphicFramePr>
          <p:nvPr/>
        </p:nvGraphicFramePr>
        <p:xfrm>
          <a:off x="0" y="0"/>
          <a:ext cx="12192000" cy="1200150"/>
        </p:xfrm>
        <a:graphic>
          <a:graphicData uri="http://schemas.openxmlformats.org/presentationml/2006/ole">
            <mc:AlternateContent xmlns:mc="http://schemas.openxmlformats.org/markup-compatibility/2006">
              <mc:Choice xmlns:v="urn:schemas-microsoft-com:vml" Requires="v">
                <p:oleObj spid="_x0000_s3092" name="" r:id="rId2" imgW="9563100" imgH="1600200" progId="">
                  <p:embed/>
                </p:oleObj>
              </mc:Choice>
              <mc:Fallback>
                <p:oleObj name="" r:id="rId2" imgW="9563100" imgH="1600200" progId="">
                  <p:embed/>
                  <p:pic>
                    <p:nvPicPr>
                      <p:cNvPr id="0" name="图片 3075"/>
                      <p:cNvPicPr/>
                      <p:nvPr/>
                    </p:nvPicPr>
                    <p:blipFill>
                      <a:blip r:embed="rId3"/>
                      <a:stretch>
                        <a:fillRect/>
                      </a:stretch>
                    </p:blipFill>
                    <p:spPr>
                      <a:xfrm>
                        <a:off x="0" y="0"/>
                        <a:ext cx="12192000" cy="1200150"/>
                      </a:xfrm>
                      <a:prstGeom prst="rect">
                        <a:avLst/>
                      </a:prstGeom>
                      <a:noFill/>
                      <a:ln w="38100">
                        <a:noFill/>
                        <a:miter/>
                      </a:ln>
                    </p:spPr>
                  </p:pic>
                </p:oleObj>
              </mc:Fallback>
            </mc:AlternateContent>
          </a:graphicData>
        </a:graphic>
      </p:graphicFrame>
      <p:sp>
        <p:nvSpPr>
          <p:cNvPr id="4101" name="Freeform 1027"/>
          <p:cNvSpPr/>
          <p:nvPr/>
        </p:nvSpPr>
        <p:spPr>
          <a:xfrm>
            <a:off x="-14816" y="280988"/>
            <a:ext cx="12206816" cy="1620837"/>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Lst>
            <a:rect l="0" t="0" r="0" b="0"/>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w="9525">
            <a:noFill/>
          </a:ln>
        </p:spPr>
        <p:txBody>
          <a:bodyPr/>
          <a:lstStyle/>
          <a:p>
            <a:endParaRPr lang="zh-CN" altLang="en-US"/>
          </a:p>
        </p:txBody>
      </p:sp>
      <p:sp>
        <p:nvSpPr>
          <p:cNvPr id="4102" name="Freeform 1028"/>
          <p:cNvSpPr/>
          <p:nvPr/>
        </p:nvSpPr>
        <p:spPr>
          <a:xfrm>
            <a:off x="-27516" y="533400"/>
            <a:ext cx="12215283" cy="10064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ln>
        </p:spPr>
        <p:txBody>
          <a:bodyPr/>
          <a:lstStyle/>
          <a:p>
            <a:endParaRPr lang="zh-CN" altLang="en-US"/>
          </a:p>
        </p:txBody>
      </p:sp>
      <p:grpSp>
        <p:nvGrpSpPr>
          <p:cNvPr id="4103" name="Group 1029"/>
          <p:cNvGrpSpPr/>
          <p:nvPr/>
        </p:nvGrpSpPr>
        <p:grpSpPr>
          <a:xfrm>
            <a:off x="10320867" y="347663"/>
            <a:ext cx="516467" cy="366712"/>
            <a:chOff x="4752" y="1200"/>
            <a:chExt cx="288" cy="288"/>
          </a:xfrm>
        </p:grpSpPr>
        <p:sp>
          <p:nvSpPr>
            <p:cNvPr id="13" name="Oval 1030"/>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Oval 1031"/>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6" name="Group 1032"/>
          <p:cNvGrpSpPr/>
          <p:nvPr/>
        </p:nvGrpSpPr>
        <p:grpSpPr>
          <a:xfrm>
            <a:off x="10871200" y="53975"/>
            <a:ext cx="812800" cy="592138"/>
            <a:chOff x="4992" y="816"/>
            <a:chExt cx="576" cy="576"/>
          </a:xfrm>
        </p:grpSpPr>
        <p:sp>
          <p:nvSpPr>
            <p:cNvPr id="16" name="Oval 1033"/>
            <p:cNvSpPr>
              <a:spLocks noChangeArrowheads="1"/>
            </p:cNvSpPr>
            <p:nvPr/>
          </p:nvSpPr>
          <p:spPr bwMode="gray">
            <a:xfrm>
              <a:off x="4992" y="816"/>
              <a:ext cx="576" cy="576"/>
            </a:xfrm>
            <a:prstGeom prst="ellipse">
              <a:avLst/>
            </a:prstGeom>
            <a:solidFill>
              <a:schemeClr val="accent1">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Oval 1034"/>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9" name="Group 1035"/>
          <p:cNvGrpSpPr/>
          <p:nvPr/>
        </p:nvGrpSpPr>
        <p:grpSpPr>
          <a:xfrm>
            <a:off x="228600" y="819150"/>
            <a:ext cx="960967" cy="762000"/>
            <a:chOff x="4992" y="816"/>
            <a:chExt cx="576" cy="576"/>
          </a:xfrm>
        </p:grpSpPr>
        <p:sp>
          <p:nvSpPr>
            <p:cNvPr id="19" name="Oval 1036"/>
            <p:cNvSpPr>
              <a:spLocks noChangeArrowheads="1"/>
            </p:cNvSpPr>
            <p:nvPr/>
          </p:nvSpPr>
          <p:spPr bwMode="gray">
            <a:xfrm>
              <a:off x="4992" y="816"/>
              <a:ext cx="576" cy="576"/>
            </a:xfrm>
            <a:prstGeom prst="ellipse">
              <a:avLst/>
            </a:prstGeom>
            <a:solidFill>
              <a:schemeClr val="tx2">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 name="Oval 1037"/>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标题 1"/>
          <p:cNvSpPr>
            <a:spLocks noGrp="1"/>
          </p:cNvSpPr>
          <p:nvPr>
            <p:ph type="title"/>
          </p:nvPr>
        </p:nvSpPr>
        <p:spPr>
          <a:xfrm>
            <a:off x="1422400" y="533400"/>
            <a:ext cx="10261600" cy="4873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11200" y="1536700"/>
            <a:ext cx="5359400" cy="49403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273800" y="1536700"/>
            <a:ext cx="535940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73800" y="4083050"/>
            <a:ext cx="535940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21" name="灯片编号占位符 5"/>
          <p:cNvSpPr>
            <a:spLocks noGrp="1"/>
          </p:cNvSpPr>
          <p:nvPr>
            <p:ph type="sldNum" sz="quarter" idx="4"/>
          </p:nvPr>
        </p:nvSpPr>
        <p:spPr bwMode="auto">
          <a:xfrm>
            <a:off x="5588000" y="6534150"/>
            <a:ext cx="1117600" cy="261938"/>
          </a:xfrm>
          <a:prstGeom prst="rect">
            <a:avLst/>
          </a:prstGeom>
          <a:noFill/>
          <a:ln w="9525">
            <a:noFill/>
            <a:miter lim="800000"/>
          </a:ln>
          <a:effectLst/>
        </p:spPr>
        <p:txBody>
          <a:bodyPr vert="horz" wrap="square" lIns="91440" tIns="45720" rIns="91440" bIns="45720" numCol="1" anchor="t" anchorCtr="0" compatLnSpc="1"/>
          <a:lstStyle>
            <a:lvl1pPr algn="ct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fld id="{188AE2FB-BBD2-4699-AE5E-F02DBAEB0450}"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2" name="日期占位符 6"/>
          <p:cNvSpPr>
            <a:spLocks noGrp="1"/>
          </p:cNvSpPr>
          <p:nvPr>
            <p:ph type="dt" sz="half" idx="12"/>
          </p:nvPr>
        </p:nvSpPr>
        <p:spPr bwMode="auto">
          <a:xfrm>
            <a:off x="508000" y="6534150"/>
            <a:ext cx="2540000" cy="261938"/>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3"/>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074" name="AutoShape 7"/>
          <p:cNvSpPr/>
          <p:nvPr/>
        </p:nvSpPr>
        <p:spPr>
          <a:xfrm>
            <a:off x="914400" y="2393950"/>
            <a:ext cx="10363200"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sz="1800"/>
          </a:p>
        </p:txBody>
      </p:sp>
      <p:sp>
        <p:nvSpPr>
          <p:cNvPr id="21506" name="Rectangle 2"/>
          <p:cNvSpPr>
            <a:spLocks noGrp="1" noChangeArrowheads="1"/>
          </p:cNvSpPr>
          <p:nvPr>
            <p:ph type="ctrTitle"/>
          </p:nvPr>
        </p:nvSpPr>
        <p:spPr>
          <a:xfrm>
            <a:off x="914400" y="990600"/>
            <a:ext cx="103632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21507"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941D514F-8983-4510-B771-E83D90B95A94}"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7" y="304800"/>
            <a:ext cx="2669116"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55651" y="304800"/>
            <a:ext cx="7806267"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graphicFrame>
        <p:nvGraphicFramePr>
          <p:cNvPr id="4100" name="Object 1026"/>
          <p:cNvGraphicFramePr>
            <a:graphicFrameLocks noChangeAspect="1"/>
          </p:cNvGraphicFramePr>
          <p:nvPr/>
        </p:nvGraphicFramePr>
        <p:xfrm>
          <a:off x="0" y="0"/>
          <a:ext cx="12192000" cy="1200150"/>
        </p:xfrm>
        <a:graphic>
          <a:graphicData uri="http://schemas.openxmlformats.org/presentationml/2006/ole">
            <mc:AlternateContent xmlns:mc="http://schemas.openxmlformats.org/markup-compatibility/2006">
              <mc:Choice xmlns:v="urn:schemas-microsoft-com:vml" Requires="v">
                <p:oleObj spid="_x0000_s5135" name="" r:id="rId2" imgW="9563100" imgH="1600200" progId="">
                  <p:embed/>
                </p:oleObj>
              </mc:Choice>
              <mc:Fallback>
                <p:oleObj name="" r:id="rId2" imgW="9563100" imgH="1600200" progId="">
                  <p:embed/>
                  <p:pic>
                    <p:nvPicPr>
                      <p:cNvPr id="0" name="图片 3075"/>
                      <p:cNvPicPr/>
                      <p:nvPr/>
                    </p:nvPicPr>
                    <p:blipFill>
                      <a:blip r:embed="rId3"/>
                      <a:stretch>
                        <a:fillRect/>
                      </a:stretch>
                    </p:blipFill>
                    <p:spPr>
                      <a:xfrm>
                        <a:off x="0" y="0"/>
                        <a:ext cx="12192000" cy="1200150"/>
                      </a:xfrm>
                      <a:prstGeom prst="rect">
                        <a:avLst/>
                      </a:prstGeom>
                      <a:noFill/>
                      <a:ln w="38100">
                        <a:noFill/>
                        <a:miter/>
                      </a:ln>
                    </p:spPr>
                  </p:pic>
                </p:oleObj>
              </mc:Fallback>
            </mc:AlternateContent>
          </a:graphicData>
        </a:graphic>
      </p:graphicFrame>
      <p:sp>
        <p:nvSpPr>
          <p:cNvPr id="4101" name="Freeform 1027"/>
          <p:cNvSpPr/>
          <p:nvPr/>
        </p:nvSpPr>
        <p:spPr>
          <a:xfrm>
            <a:off x="-14816" y="280988"/>
            <a:ext cx="12206816" cy="1620837"/>
          </a:xfrm>
          <a:custGeom>
            <a:avLst/>
            <a:gdLst/>
            <a:ahLst/>
            <a:cxnLst>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Lst>
            <a:rect l="0" t="0" r="0" b="0"/>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176"/>
            </a:schemeClr>
          </a:solidFill>
          <a:ln w="9525">
            <a:noFill/>
          </a:ln>
        </p:spPr>
        <p:txBody>
          <a:bodyPr/>
          <a:lstStyle/>
          <a:p>
            <a:endParaRPr lang="zh-CN" altLang="en-US" sz="1800"/>
          </a:p>
        </p:txBody>
      </p:sp>
      <p:sp>
        <p:nvSpPr>
          <p:cNvPr id="4102" name="Freeform 1028"/>
          <p:cNvSpPr/>
          <p:nvPr/>
        </p:nvSpPr>
        <p:spPr>
          <a:xfrm>
            <a:off x="-27516" y="533400"/>
            <a:ext cx="12215283" cy="100647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w="9525">
            <a:noFill/>
          </a:ln>
        </p:spPr>
        <p:txBody>
          <a:bodyPr/>
          <a:lstStyle/>
          <a:p>
            <a:endParaRPr lang="zh-CN" altLang="en-US" sz="1800"/>
          </a:p>
        </p:txBody>
      </p:sp>
      <p:grpSp>
        <p:nvGrpSpPr>
          <p:cNvPr id="4103" name="Group 1029"/>
          <p:cNvGrpSpPr/>
          <p:nvPr/>
        </p:nvGrpSpPr>
        <p:grpSpPr>
          <a:xfrm>
            <a:off x="10320867" y="347663"/>
            <a:ext cx="516467" cy="366712"/>
            <a:chOff x="4752" y="1200"/>
            <a:chExt cx="288" cy="288"/>
          </a:xfrm>
        </p:grpSpPr>
        <p:sp>
          <p:nvSpPr>
            <p:cNvPr id="13" name="Oval 1030"/>
            <p:cNvSpPr>
              <a:spLocks noChangeArrowheads="1"/>
            </p:cNvSpPr>
            <p:nvPr/>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 name="Oval 1031"/>
            <p:cNvSpPr>
              <a:spLocks noChangeArrowheads="1"/>
            </p:cNvSpPr>
            <p:nvPr/>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6" name="Group 1032"/>
          <p:cNvGrpSpPr/>
          <p:nvPr/>
        </p:nvGrpSpPr>
        <p:grpSpPr>
          <a:xfrm>
            <a:off x="10871200" y="53975"/>
            <a:ext cx="812800" cy="592138"/>
            <a:chOff x="4992" y="816"/>
            <a:chExt cx="576" cy="576"/>
          </a:xfrm>
        </p:grpSpPr>
        <p:sp>
          <p:nvSpPr>
            <p:cNvPr id="16" name="Oval 1033"/>
            <p:cNvSpPr>
              <a:spLocks noChangeArrowheads="1"/>
            </p:cNvSpPr>
            <p:nvPr/>
          </p:nvSpPr>
          <p:spPr bwMode="gray">
            <a:xfrm>
              <a:off x="4992" y="816"/>
              <a:ext cx="576" cy="576"/>
            </a:xfrm>
            <a:prstGeom prst="ellipse">
              <a:avLst/>
            </a:prstGeom>
            <a:solidFill>
              <a:schemeClr val="accent1">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Oval 1034"/>
            <p:cNvSpPr>
              <a:spLocks noChangeArrowheads="1"/>
            </p:cNvSpPr>
            <p:nvPr/>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grpSp>
        <p:nvGrpSpPr>
          <p:cNvPr id="4109" name="Group 1035"/>
          <p:cNvGrpSpPr/>
          <p:nvPr/>
        </p:nvGrpSpPr>
        <p:grpSpPr>
          <a:xfrm>
            <a:off x="228600" y="819150"/>
            <a:ext cx="960967" cy="762000"/>
            <a:chOff x="4992" y="816"/>
            <a:chExt cx="576" cy="576"/>
          </a:xfrm>
        </p:grpSpPr>
        <p:sp>
          <p:nvSpPr>
            <p:cNvPr id="19" name="Oval 1036"/>
            <p:cNvSpPr>
              <a:spLocks noChangeArrowheads="1"/>
            </p:cNvSpPr>
            <p:nvPr/>
          </p:nvSpPr>
          <p:spPr bwMode="gray">
            <a:xfrm>
              <a:off x="4992" y="816"/>
              <a:ext cx="576" cy="576"/>
            </a:xfrm>
            <a:prstGeom prst="ellipse">
              <a:avLst/>
            </a:prstGeom>
            <a:solidFill>
              <a:schemeClr val="tx2">
                <a:alpha val="52940"/>
              </a:scheme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 name="Oval 1037"/>
            <p:cNvSpPr>
              <a:spLocks noChangeArrowheads="1"/>
            </p:cNvSpPr>
            <p:nvPr/>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标题 1"/>
          <p:cNvSpPr>
            <a:spLocks noGrp="1"/>
          </p:cNvSpPr>
          <p:nvPr>
            <p:ph type="title"/>
          </p:nvPr>
        </p:nvSpPr>
        <p:spPr>
          <a:xfrm>
            <a:off x="1422400" y="533400"/>
            <a:ext cx="10261600" cy="4873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11200" y="1536700"/>
            <a:ext cx="5359400" cy="49403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273800" y="1536700"/>
            <a:ext cx="535940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73800" y="4083050"/>
            <a:ext cx="5359400" cy="23939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21" name="灯片编号占位符 5"/>
          <p:cNvSpPr>
            <a:spLocks noGrp="1"/>
          </p:cNvSpPr>
          <p:nvPr>
            <p:ph type="sldNum" sz="quarter" idx="4"/>
          </p:nvPr>
        </p:nvSpPr>
        <p:spPr bwMode="auto">
          <a:xfrm>
            <a:off x="5588000" y="6534150"/>
            <a:ext cx="1117600" cy="261938"/>
          </a:xfrm>
          <a:prstGeom prst="rect">
            <a:avLst/>
          </a:prstGeom>
          <a:noFill/>
          <a:ln w="9525">
            <a:noFill/>
            <a:miter lim="800000"/>
          </a:ln>
          <a:effectLst/>
        </p:spPr>
        <p:txBody>
          <a:bodyPr vert="horz" wrap="square" lIns="91440" tIns="45720" rIns="91440" bIns="45720" numCol="1" anchor="t" anchorCtr="0" compatLnSpc="1"/>
          <a:lstStyle>
            <a:lvl1pPr algn="ctr">
              <a:defRPr smtClean="0"/>
            </a:lvl1pPr>
          </a:lstStyle>
          <a:p>
            <a:pPr marL="0" marR="0" lvl="0" indent="0" algn="ctr" defTabSz="914400" rtl="0" eaLnBrk="1" fontAlgn="base" latinLnBrk="0" hangingPunct="1">
              <a:lnSpc>
                <a:spcPct val="100000"/>
              </a:lnSpc>
              <a:spcBef>
                <a:spcPct val="0"/>
              </a:spcBef>
              <a:spcAft>
                <a:spcPct val="0"/>
              </a:spcAft>
              <a:buClrTx/>
              <a:buSzTx/>
              <a:buFontTx/>
              <a:buNone/>
              <a:defRPr/>
            </a:pPr>
            <a:fld id="{188AE2FB-BBD2-4699-AE5E-F02DBAEB0450}"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2" name="日期占位符 6"/>
          <p:cNvSpPr>
            <a:spLocks noGrp="1"/>
          </p:cNvSpPr>
          <p:nvPr>
            <p:ph type="dt" sz="half" idx="12"/>
          </p:nvPr>
        </p:nvSpPr>
        <p:spPr bwMode="auto">
          <a:xfrm>
            <a:off x="508000" y="6534150"/>
            <a:ext cx="2540000" cy="261938"/>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3"/>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62000" y="214313"/>
            <a:ext cx="10668000" cy="735012"/>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755651" y="1143000"/>
            <a:ext cx="10668000" cy="48768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762000" y="1000125"/>
            <a:ext cx="10610851"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sp>
        <p:nvSpPr>
          <p:cNvPr id="1029" name="Line 5"/>
          <p:cNvSpPr/>
          <p:nvPr/>
        </p:nvSpPr>
        <p:spPr>
          <a:xfrm flipV="1">
            <a:off x="812800" y="6172200"/>
            <a:ext cx="105664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62000" y="214313"/>
            <a:ext cx="10668000" cy="735012"/>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755651" y="1143000"/>
            <a:ext cx="10668000" cy="48768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762000" y="1000125"/>
            <a:ext cx="10610851" cy="109538"/>
          </a:xfrm>
          <a:custGeom>
            <a:avLst/>
            <a:gdLst/>
            <a:ahLst/>
            <a:cxnLst>
              <a:cxn ang="0">
                <a:pos x="0" y="0"/>
              </a:cxn>
              <a:cxn ang="0">
                <a:pos x="2147483646" y="0"/>
              </a:cxn>
              <a:cxn ang="0">
                <a:pos x="2147483646" y="2147483646"/>
              </a:cxn>
              <a:cxn ang="0">
                <a:pos x="0" y="2147483646"/>
              </a:cxn>
              <a:cxn ang="0">
                <a:pos x="0" y="0"/>
              </a:cxn>
              <a:cxn ang="0">
                <a:pos x="2147483646"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sz="1800"/>
          </a:p>
        </p:txBody>
      </p:sp>
      <p:sp>
        <p:nvSpPr>
          <p:cNvPr id="1029" name="Line 5"/>
          <p:cNvSpPr/>
          <p:nvPr/>
        </p:nvSpPr>
        <p:spPr>
          <a:xfrm flipV="1">
            <a:off x="812800" y="6172200"/>
            <a:ext cx="105664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B5CBA081-7F6E-4E17-989A-B92D48AB47EC}" type="slidenum">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3" Type="http://schemas.openxmlformats.org/officeDocument/2006/relationships/slideLayout" Target="../slideLayouts/slideLayout1.xml"/><Relationship Id="rId22" Type="http://schemas.openxmlformats.org/officeDocument/2006/relationships/tags" Target="../tags/tag34.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2" Type="http://schemas.openxmlformats.org/officeDocument/2006/relationships/slideLayout" Target="../slideLayouts/slideLayout1.xml"/><Relationship Id="rId21" Type="http://schemas.openxmlformats.org/officeDocument/2006/relationships/tags" Target="../tags/tag55.xml"/><Relationship Id="rId20" Type="http://schemas.openxmlformats.org/officeDocument/2006/relationships/tags" Target="../tags/tag54.xml"/><Relationship Id="rId2" Type="http://schemas.openxmlformats.org/officeDocument/2006/relationships/tags" Target="../tags/tag36.xml"/><Relationship Id="rId19" Type="http://schemas.openxmlformats.org/officeDocument/2006/relationships/tags" Target="../tags/tag53.xml"/><Relationship Id="rId18" Type="http://schemas.openxmlformats.org/officeDocument/2006/relationships/tags" Target="../tags/tag52.xml"/><Relationship Id="rId17" Type="http://schemas.openxmlformats.org/officeDocument/2006/relationships/tags" Target="../tags/tag51.xml"/><Relationship Id="rId16" Type="http://schemas.openxmlformats.org/officeDocument/2006/relationships/tags" Target="../tags/tag50.xml"/><Relationship Id="rId15" Type="http://schemas.openxmlformats.org/officeDocument/2006/relationships/tags" Target="../tags/tag49.xml"/><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tags" Target="../tags/tag3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hdphoto" Target="../media/image12.wdp"/><Relationship Id="rId1" Type="http://schemas.openxmlformats.org/officeDocument/2006/relationships/image" Target="../media/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93.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5" Type="http://schemas.openxmlformats.org/officeDocument/2006/relationships/slideLayout" Target="../slideLayouts/slideLayout1.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p:cNvSpPr>
          <p:nvPr>
            <p:ph type="title"/>
          </p:nvPr>
        </p:nvSpPr>
        <p:spPr>
          <a:xfrm>
            <a:off x="695325" y="1196023"/>
            <a:ext cx="10668000" cy="735012"/>
          </a:xfrm>
        </p:spPr>
        <p:txBody>
          <a:bodyPr vert="horz" wrap="square" lIns="91440" tIns="45720" rIns="91440" bIns="45720" anchor="b" anchorCtr="0"/>
          <a:lstStyle/>
          <a:p>
            <a:r>
              <a:rPr lang="zh-CN" altLang="en-US" dirty="0"/>
              <a:t>数据库设计选题</a:t>
            </a:r>
            <a:endParaRPr lang="zh-CN" altLang="en-US" dirty="0"/>
          </a:p>
        </p:txBody>
      </p:sp>
      <p:sp>
        <p:nvSpPr>
          <p:cNvPr id="8194" name="内容占位符 2"/>
          <p:cNvSpPr>
            <a:spLocks noGrp="1"/>
          </p:cNvSpPr>
          <p:nvPr>
            <p:ph idx="1"/>
          </p:nvPr>
        </p:nvSpPr>
        <p:spPr>
          <a:xfrm>
            <a:off x="695325" y="2060575"/>
            <a:ext cx="10668000" cy="3507105"/>
          </a:xfrm>
        </p:spPr>
        <p:txBody>
          <a:bodyPr vert="horz" wrap="square" lIns="91440" tIns="45720" rIns="91440" bIns="45720" anchor="t" anchorCtr="0"/>
          <a:lstStyle/>
          <a:p>
            <a:r>
              <a:rPr lang="zh-CN" altLang="en-US" dirty="0"/>
              <a:t>每个小组确定一个题目</a:t>
            </a:r>
            <a:endParaRPr lang="en-US" altLang="zh-CN" dirty="0"/>
          </a:p>
          <a:p>
            <a:r>
              <a:rPr lang="zh-CN" altLang="en-US" dirty="0"/>
              <a:t>题目自定，需求自定。</a:t>
            </a:r>
            <a:endParaRPr lang="en-US" altLang="zh-CN" dirty="0"/>
          </a:p>
          <a:p>
            <a:r>
              <a:rPr lang="zh-CN" altLang="en-US" dirty="0"/>
              <a:t>形成实验报告文档。</a:t>
            </a:r>
            <a:endParaRPr lang="en-US" altLang="zh-CN" dirty="0"/>
          </a:p>
          <a:p>
            <a:r>
              <a:rPr lang="en-US" altLang="zh-CN" dirty="0"/>
              <a:t>E-R</a:t>
            </a:r>
            <a:r>
              <a:rPr lang="zh-CN" altLang="en-US" dirty="0"/>
              <a:t>图，尽量和我沟通。</a:t>
            </a:r>
            <a:endParaRPr lang="en-US" altLang="zh-CN" dirty="0"/>
          </a:p>
          <a:p>
            <a:r>
              <a:rPr lang="zh-CN" altLang="en-US" dirty="0"/>
              <a:t>至少包含一个一对多的关系和一个多对多的关系，至少平均每个人负责</a:t>
            </a:r>
            <a:r>
              <a:rPr lang="en-US" altLang="zh-CN" dirty="0"/>
              <a:t>3</a:t>
            </a:r>
            <a:r>
              <a:rPr lang="zh-CN" altLang="en-US" dirty="0"/>
              <a:t>个表。</a:t>
            </a:r>
            <a:endParaRPr lang="en-US" altLang="zh-CN" dirty="0"/>
          </a:p>
        </p:txBody>
      </p:sp>
      <p:sp>
        <p:nvSpPr>
          <p:cNvPr id="9218" name="Rectangle 2"/>
          <p:cNvSpPr>
            <a:spLocks noGrp="1"/>
          </p:cNvSpPr>
          <p:nvPr/>
        </p:nvSpPr>
        <p:spPr>
          <a:xfrm>
            <a:off x="762000" y="214313"/>
            <a:ext cx="10668000" cy="735012"/>
          </a:xfrm>
          <a:prstGeom prst="rect">
            <a:avLst/>
          </a:prstGeom>
          <a:noFill/>
          <a:ln w="9525">
            <a:noFill/>
          </a:ln>
        </p:spPr>
        <p:txBody>
          <a:bodyPr vert="horz" wrap="square" lIns="91440" tIns="45720" rIns="91440" bIns="45720" anchor="b" anchorCtr="0"/>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4000" dirty="0"/>
              <a:t>第七章  数据库设计</a:t>
            </a:r>
            <a:endParaRPr lang="zh-CN" altLang="en-US" sz="4000" dirty="0">
              <a:ea typeface="黑体" panose="02010609060101010101" pitchFamily="49" charset="-122"/>
            </a:endParaRPr>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t>An Introduction to Database System</a:t>
            </a:r>
            <a:endParaRPr lang="en-US" altLang="zh-CN" sz="1200" dirty="0"/>
          </a:p>
        </p:txBody>
      </p:sp>
      <p:sp>
        <p:nvSpPr>
          <p:cNvPr id="9218" name="Rectangle 2"/>
          <p:cNvSpPr>
            <a:spLocks noGrp="1"/>
          </p:cNvSpPr>
          <p:nvPr>
            <p:ph type="title"/>
          </p:nvPr>
        </p:nvSpPr>
        <p:spPr/>
        <p:txBody>
          <a:bodyPr vert="horz" wrap="square" lIns="91440" tIns="45720" rIns="91440" bIns="45720" anchor="b" anchorCtr="0"/>
          <a:lstStyle/>
          <a:p>
            <a:pPr eaLnBrk="1" hangingPunct="1"/>
            <a:r>
              <a:rPr lang="zh-CN" altLang="en-US" sz="4000" dirty="0"/>
              <a:t>第七章  数据库设计</a:t>
            </a:r>
            <a:endParaRPr lang="zh-CN" altLang="en-US" sz="4000" dirty="0">
              <a:ea typeface="黑体" panose="02010609060101010101" pitchFamily="49" charset="-122"/>
            </a:endParaRPr>
          </a:p>
        </p:txBody>
      </p:sp>
      <p:sp>
        <p:nvSpPr>
          <p:cNvPr id="9219" name="Rectangle 3"/>
          <p:cNvSpPr>
            <a:spLocks noGrp="1"/>
          </p:cNvSpPr>
          <p:nvPr>
            <p:ph idx="1"/>
          </p:nvPr>
        </p:nvSpPr>
        <p:spPr>
          <a:xfrm>
            <a:off x="2495550" y="1341438"/>
            <a:ext cx="6508750" cy="4464050"/>
          </a:xfrm>
        </p:spPr>
        <p:txBody>
          <a:bodyPr vert="horz" wrap="square" lIns="91440" tIns="45720" rIns="91440" bIns="45720" anchor="t" anchorCtr="0"/>
          <a:lstStyle/>
          <a:p>
            <a:pPr>
              <a:buNone/>
            </a:pPr>
            <a:r>
              <a:rPr lang="en-US" altLang="zh-CN" sz="3200" b="1" dirty="0">
                <a:solidFill>
                  <a:srgbClr val="FF0000"/>
                </a:solidFill>
              </a:rPr>
              <a:t>7.1  </a:t>
            </a:r>
            <a:r>
              <a:rPr lang="zh-CN" altLang="en-US" sz="3200" b="1" dirty="0">
                <a:solidFill>
                  <a:srgbClr val="FF0000"/>
                </a:solidFill>
              </a:rPr>
              <a:t>数据库设计概述</a:t>
            </a:r>
            <a:endParaRPr lang="zh-CN" altLang="en-US" sz="3200" b="1" dirty="0">
              <a:solidFill>
                <a:srgbClr val="FF0000"/>
              </a:solidFill>
            </a:endParaRPr>
          </a:p>
          <a:p>
            <a:pPr>
              <a:buNone/>
            </a:pPr>
            <a:r>
              <a:rPr lang="en-US" altLang="zh-CN" sz="3200" dirty="0">
                <a:solidFill>
                  <a:srgbClr val="0000FF"/>
                </a:solidFill>
              </a:rPr>
              <a:t>7.2  </a:t>
            </a:r>
            <a:r>
              <a:rPr lang="zh-CN" altLang="en-US" sz="3200" dirty="0">
                <a:solidFill>
                  <a:srgbClr val="0000FF"/>
                </a:solidFill>
              </a:rPr>
              <a:t>需求分析</a:t>
            </a:r>
            <a:endParaRPr lang="zh-CN" altLang="en-US" sz="3200" dirty="0">
              <a:solidFill>
                <a:srgbClr val="0000FF"/>
              </a:solidFill>
            </a:endParaRPr>
          </a:p>
          <a:p>
            <a:pPr>
              <a:buNone/>
            </a:pPr>
            <a:r>
              <a:rPr lang="en-US" altLang="zh-CN" sz="3200" dirty="0">
                <a:solidFill>
                  <a:srgbClr val="0000FF"/>
                </a:solidFill>
              </a:rPr>
              <a:t>7.3  </a:t>
            </a:r>
            <a:r>
              <a:rPr lang="zh-CN" altLang="en-US" sz="3200" dirty="0">
                <a:solidFill>
                  <a:srgbClr val="0000FF"/>
                </a:solidFill>
              </a:rPr>
              <a:t>概念结构设计</a:t>
            </a:r>
            <a:endParaRPr lang="zh-CN" altLang="en-US" sz="3200" dirty="0">
              <a:solidFill>
                <a:srgbClr val="0000FF"/>
              </a:solidFill>
            </a:endParaRPr>
          </a:p>
          <a:p>
            <a:pPr>
              <a:buNone/>
            </a:pPr>
            <a:r>
              <a:rPr lang="en-US" altLang="zh-CN" sz="3200" dirty="0">
                <a:solidFill>
                  <a:srgbClr val="0000FF"/>
                </a:solidFill>
              </a:rPr>
              <a:t>7.4  </a:t>
            </a:r>
            <a:r>
              <a:rPr lang="zh-CN" altLang="en-US" sz="3200" dirty="0">
                <a:solidFill>
                  <a:srgbClr val="0000FF"/>
                </a:solidFill>
              </a:rPr>
              <a:t>逻辑结构设计</a:t>
            </a:r>
            <a:endParaRPr lang="zh-CN" altLang="en-US" sz="3200" dirty="0">
              <a:solidFill>
                <a:srgbClr val="0000FF"/>
              </a:solidFill>
            </a:endParaRPr>
          </a:p>
          <a:p>
            <a:pPr>
              <a:buNone/>
            </a:pPr>
            <a:r>
              <a:rPr lang="en-US" altLang="zh-CN" sz="3200" dirty="0"/>
              <a:t>7.5  </a:t>
            </a:r>
            <a:r>
              <a:rPr lang="zh-CN" altLang="en-US" sz="3200" dirty="0"/>
              <a:t>物理结构设计</a:t>
            </a:r>
            <a:endParaRPr lang="zh-CN" altLang="en-US" sz="3200" dirty="0"/>
          </a:p>
          <a:p>
            <a:pPr>
              <a:buNone/>
            </a:pPr>
            <a:r>
              <a:rPr lang="en-US" altLang="zh-CN" sz="3200" dirty="0"/>
              <a:t>7.6  </a:t>
            </a:r>
            <a:r>
              <a:rPr lang="zh-CN" altLang="en-US" sz="3200" dirty="0"/>
              <a:t>数据库的实施和维护</a:t>
            </a:r>
            <a:endParaRPr lang="zh-CN" altLang="en-US" sz="3200" dirty="0"/>
          </a:p>
          <a:p>
            <a:pPr>
              <a:buNone/>
            </a:pPr>
            <a:r>
              <a:rPr lang="en-US" altLang="zh-CN" sz="3200" dirty="0"/>
              <a:t>7.7  </a:t>
            </a:r>
            <a:r>
              <a:rPr lang="zh-CN" altLang="en-US" sz="3200" dirty="0"/>
              <a:t>小结</a:t>
            </a:r>
            <a:endParaRPr lang="zh-CN" altLang="en-US" sz="3200" dirty="0"/>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p:cNvSpPr>
          <p:nvPr>
            <p:ph type="title"/>
          </p:nvPr>
        </p:nvSpPr>
        <p:spPr/>
        <p:txBody>
          <a:bodyPr vert="horz" wrap="square" lIns="91440" tIns="45720" rIns="91440" bIns="45720" anchor="b" anchorCtr="0"/>
          <a:lstStyle/>
          <a:p>
            <a:r>
              <a:rPr lang="en-US" altLang="zh-CN" dirty="0"/>
              <a:t>7.1 </a:t>
            </a:r>
            <a:r>
              <a:rPr lang="zh-CN" altLang="en-US" dirty="0"/>
              <a:t>数据库设计概述</a:t>
            </a:r>
            <a:endParaRPr lang="zh-CN" altLang="en-US" dirty="0"/>
          </a:p>
        </p:txBody>
      </p:sp>
      <p:sp>
        <p:nvSpPr>
          <p:cNvPr id="12290" name="内容占位符 2"/>
          <p:cNvSpPr>
            <a:spLocks noGrp="1"/>
          </p:cNvSpPr>
          <p:nvPr>
            <p:ph idx="1"/>
          </p:nvPr>
        </p:nvSpPr>
        <p:spPr>
          <a:xfrm>
            <a:off x="762000" y="1143000"/>
            <a:ext cx="11280775" cy="5165725"/>
          </a:xfrm>
        </p:spPr>
        <p:txBody>
          <a:bodyPr vert="horz" wrap="square" lIns="91440" tIns="45720" rIns="91440" bIns="45720" anchor="t" anchorCtr="0"/>
          <a:lstStyle/>
          <a:p>
            <a:r>
              <a:rPr lang="zh-CN" altLang="en-US" dirty="0"/>
              <a:t>数据库设计 </a:t>
            </a:r>
            <a:endParaRPr lang="en-US" altLang="zh-CN" dirty="0"/>
          </a:p>
          <a:p>
            <a:pPr lvl="1" indent="-436245"/>
            <a:r>
              <a:rPr lang="zh-CN" altLang="en-US" dirty="0"/>
              <a:t>广义的：整个数据库应用系统的设计，狭义的：数据库本身的设计。</a:t>
            </a:r>
            <a:endParaRPr lang="en-US" altLang="zh-CN" dirty="0"/>
          </a:p>
          <a:p>
            <a:pPr lvl="1" indent="-436245"/>
            <a:r>
              <a:rPr lang="zh-CN" altLang="en-US" dirty="0"/>
              <a:t>设计一个</a:t>
            </a:r>
            <a:r>
              <a:rPr lang="zh-CN" altLang="en-US" b="1" dirty="0">
                <a:solidFill>
                  <a:srgbClr val="FF0000"/>
                </a:solidFill>
              </a:rPr>
              <a:t>好的数据库</a:t>
            </a:r>
            <a:r>
              <a:rPr lang="zh-CN" altLang="en-US" dirty="0"/>
              <a:t>与设计一个</a:t>
            </a:r>
            <a:r>
              <a:rPr lang="zh-CN" altLang="en-US" b="1" dirty="0">
                <a:solidFill>
                  <a:srgbClr val="FF0000"/>
                </a:solidFill>
              </a:rPr>
              <a:t>好的数据库应用系统</a:t>
            </a:r>
            <a:r>
              <a:rPr lang="zh-CN" altLang="en-US" dirty="0"/>
              <a:t>密不可分。</a:t>
            </a:r>
            <a:endParaRPr lang="en-US" altLang="zh-CN" dirty="0"/>
          </a:p>
          <a:p>
            <a:pPr lvl="1" indent="-436245"/>
            <a:r>
              <a:rPr lang="zh-CN" altLang="en-US" dirty="0"/>
              <a:t>数据库设计的</a:t>
            </a:r>
            <a:r>
              <a:rPr lang="zh-CN" altLang="en-US" b="1" dirty="0">
                <a:solidFill>
                  <a:srgbClr val="FF0000"/>
                </a:solidFill>
              </a:rPr>
              <a:t>目标</a:t>
            </a:r>
            <a:r>
              <a:rPr lang="zh-CN" altLang="en-US" dirty="0"/>
              <a:t>是为用户和各种应用系统提供一个</a:t>
            </a:r>
            <a:r>
              <a:rPr lang="zh-CN" altLang="en-US" b="1" dirty="0">
                <a:solidFill>
                  <a:srgbClr val="FF0000"/>
                </a:solidFill>
              </a:rPr>
              <a:t>信息基础设施和高效率的运行环境 </a:t>
            </a:r>
            <a:endParaRPr lang="en-US" altLang="zh-CN" b="1" dirty="0">
              <a:solidFill>
                <a:srgbClr val="FF0000"/>
              </a:solidFill>
            </a:endParaRPr>
          </a:p>
          <a:p>
            <a:r>
              <a:rPr lang="zh-CN" altLang="en-US" dirty="0"/>
              <a:t>高效率的运行环境 </a:t>
            </a:r>
            <a:endParaRPr lang="en-US" altLang="zh-CN" dirty="0"/>
          </a:p>
          <a:p>
            <a:pPr lvl="1" indent="-436245"/>
            <a:r>
              <a:rPr lang="zh-CN" altLang="en-US" dirty="0"/>
              <a:t>数据库数据的</a:t>
            </a:r>
            <a:r>
              <a:rPr lang="zh-CN" altLang="en-US" b="1" dirty="0">
                <a:solidFill>
                  <a:srgbClr val="FF0000"/>
                </a:solidFill>
              </a:rPr>
              <a:t>存取效率</a:t>
            </a:r>
            <a:r>
              <a:rPr lang="zh-CN" altLang="en-US" dirty="0"/>
              <a:t>高 </a:t>
            </a:r>
            <a:endParaRPr lang="en-US" altLang="zh-CN" dirty="0"/>
          </a:p>
          <a:p>
            <a:pPr lvl="1" indent="-436245"/>
            <a:r>
              <a:rPr lang="zh-CN" altLang="en-US" dirty="0"/>
              <a:t>数据库</a:t>
            </a:r>
            <a:r>
              <a:rPr lang="zh-CN" altLang="en-US" b="1" dirty="0">
                <a:solidFill>
                  <a:srgbClr val="FF0000"/>
                </a:solidFill>
              </a:rPr>
              <a:t>存储空间的利用率</a:t>
            </a:r>
            <a:r>
              <a:rPr lang="zh-CN" altLang="en-US" dirty="0"/>
              <a:t>高 </a:t>
            </a:r>
            <a:endParaRPr lang="en-US" altLang="zh-CN" dirty="0"/>
          </a:p>
          <a:p>
            <a:pPr lvl="1" indent="-436245"/>
            <a:r>
              <a:rPr lang="zh-CN" altLang="en-US" dirty="0"/>
              <a:t>数据库</a:t>
            </a:r>
            <a:r>
              <a:rPr lang="zh-CN" altLang="en-US" b="1" dirty="0">
                <a:solidFill>
                  <a:srgbClr val="FF0000"/>
                </a:solidFill>
              </a:rPr>
              <a:t>系统运行管理</a:t>
            </a:r>
            <a:r>
              <a:rPr lang="zh-CN" altLang="en-US" dirty="0"/>
              <a:t>的效率高</a:t>
            </a:r>
            <a:endParaRPr lang="zh-CN" altLang="en-US" dirty="0"/>
          </a:p>
        </p:txBody>
      </p: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p:cNvSpPr>
          <p:nvPr>
            <p:ph type="title"/>
          </p:nvPr>
        </p:nvSpPr>
        <p:spPr/>
        <p:txBody>
          <a:bodyPr vert="horz" wrap="square" lIns="91440" tIns="45720" rIns="91440" bIns="45720" anchor="b" anchorCtr="0"/>
          <a:lstStyle/>
          <a:p>
            <a:r>
              <a:rPr lang="en-US" altLang="zh-CN" dirty="0"/>
              <a:t>7.1 </a:t>
            </a:r>
            <a:r>
              <a:rPr lang="zh-CN" altLang="en-US" dirty="0"/>
              <a:t>数据库设计概述</a:t>
            </a:r>
            <a:endParaRPr lang="zh-CN" altLang="en-US" dirty="0"/>
          </a:p>
        </p:txBody>
      </p:sp>
      <p:sp>
        <p:nvSpPr>
          <p:cNvPr id="11266" name="内容占位符 2"/>
          <p:cNvSpPr>
            <a:spLocks noGrp="1"/>
          </p:cNvSpPr>
          <p:nvPr>
            <p:ph idx="1"/>
          </p:nvPr>
        </p:nvSpPr>
        <p:spPr>
          <a:xfrm>
            <a:off x="937260" y="1143000"/>
            <a:ext cx="10735945" cy="4876800"/>
          </a:xfrm>
        </p:spPr>
        <p:txBody>
          <a:bodyPr vert="horz" wrap="square" lIns="91440" tIns="45720" rIns="91440" bIns="45720" anchor="t" anchorCtr="0"/>
          <a:lstStyle/>
          <a:p>
            <a:r>
              <a:rPr lang="zh-CN" altLang="en-US" dirty="0"/>
              <a:t> 数据库设计：数据库设计是指对于一个给定的应用环境，构造（设计）优化的数据库</a:t>
            </a:r>
            <a:r>
              <a:rPr lang="zh-CN" altLang="en-US" dirty="0">
                <a:solidFill>
                  <a:srgbClr val="FF0000"/>
                </a:solidFill>
              </a:rPr>
              <a:t>模式、外模式</a:t>
            </a:r>
            <a:r>
              <a:rPr lang="zh-CN" altLang="en-US" dirty="0"/>
              <a:t>和</a:t>
            </a:r>
            <a:r>
              <a:rPr lang="zh-CN" altLang="en-US" dirty="0">
                <a:solidFill>
                  <a:srgbClr val="FF0000"/>
                </a:solidFill>
              </a:rPr>
              <a:t>内模式</a:t>
            </a:r>
            <a:r>
              <a:rPr lang="zh-CN" altLang="en-US" dirty="0"/>
              <a:t>（</a:t>
            </a:r>
            <a:r>
              <a:rPr lang="zh-CN" altLang="en-US" b="1" dirty="0">
                <a:solidFill>
                  <a:srgbClr val="FF0000"/>
                </a:solidFill>
              </a:rPr>
              <a:t>逻辑模式</a:t>
            </a:r>
            <a:r>
              <a:rPr lang="zh-CN" altLang="en-US" dirty="0"/>
              <a:t>和</a:t>
            </a:r>
            <a:r>
              <a:rPr lang="zh-CN" altLang="en-US" b="1" dirty="0">
                <a:solidFill>
                  <a:srgbClr val="FF0000"/>
                </a:solidFill>
              </a:rPr>
              <a:t>物理结构）</a:t>
            </a:r>
            <a:r>
              <a:rPr lang="zh-CN" altLang="en-US" dirty="0"/>
              <a:t>，并据此建立数据库及其应用系统，使之能够有效地</a:t>
            </a:r>
            <a:r>
              <a:rPr lang="zh-CN" altLang="en-US" b="1" dirty="0">
                <a:solidFill>
                  <a:srgbClr val="FF0000"/>
                </a:solidFill>
              </a:rPr>
              <a:t>存储和管理</a:t>
            </a:r>
            <a:r>
              <a:rPr lang="zh-CN" altLang="en-US" dirty="0"/>
              <a:t>数据，</a:t>
            </a:r>
            <a:r>
              <a:rPr lang="zh-CN" altLang="en-US" b="1" dirty="0">
                <a:solidFill>
                  <a:srgbClr val="0000FF"/>
                </a:solidFill>
              </a:rPr>
              <a:t>满足各种用户的应用需求</a:t>
            </a:r>
            <a:r>
              <a:rPr lang="zh-CN" altLang="en-US" dirty="0"/>
              <a:t>，包括信息管理要求和数据操作要求。 </a:t>
            </a:r>
            <a:endParaRPr lang="en-US" altLang="zh-CN" dirty="0"/>
          </a:p>
          <a:p>
            <a:r>
              <a:rPr lang="zh-CN" altLang="en-US" b="1" dirty="0">
                <a:solidFill>
                  <a:srgbClr val="FF0000"/>
                </a:solidFill>
              </a:rPr>
              <a:t>信息管理</a:t>
            </a:r>
            <a:r>
              <a:rPr lang="zh-CN" altLang="en-US" dirty="0"/>
              <a:t>要求：在数据库中应该</a:t>
            </a:r>
            <a:r>
              <a:rPr lang="zh-CN" altLang="en-US" b="1" dirty="0">
                <a:solidFill>
                  <a:srgbClr val="0000FF"/>
                </a:solidFill>
              </a:rPr>
              <a:t>存储</a:t>
            </a:r>
            <a:r>
              <a:rPr lang="zh-CN" altLang="en-US" dirty="0"/>
              <a:t>和</a:t>
            </a:r>
            <a:r>
              <a:rPr lang="zh-CN" altLang="en-US" b="1" dirty="0">
                <a:solidFill>
                  <a:srgbClr val="0000FF"/>
                </a:solidFill>
              </a:rPr>
              <a:t>管理</a:t>
            </a:r>
            <a:r>
              <a:rPr lang="zh-CN" altLang="en-US" dirty="0"/>
              <a:t>哪些数据对象 。</a:t>
            </a:r>
            <a:endParaRPr lang="en-US" altLang="zh-CN" dirty="0"/>
          </a:p>
          <a:p>
            <a:r>
              <a:rPr lang="zh-CN" altLang="en-US" b="1" dirty="0">
                <a:solidFill>
                  <a:srgbClr val="FF0000"/>
                </a:solidFill>
              </a:rPr>
              <a:t>数据操作</a:t>
            </a:r>
            <a:r>
              <a:rPr lang="zh-CN" altLang="en-US" dirty="0"/>
              <a:t>要求：如</a:t>
            </a:r>
            <a:r>
              <a:rPr lang="zh-CN" altLang="en-US" b="1" dirty="0">
                <a:solidFill>
                  <a:srgbClr val="0000FF"/>
                </a:solidFill>
              </a:rPr>
              <a:t>查询、增、删、改、统计</a:t>
            </a:r>
            <a:r>
              <a:rPr lang="zh-CN" altLang="en-US" dirty="0"/>
              <a:t>等操作。</a:t>
            </a:r>
            <a:endParaRPr lang="zh-CN" altLang="en-US" dirty="0"/>
          </a:p>
        </p:txBody>
      </p:sp>
    </p:spTree>
  </p:cSld>
  <p:clrMapOvr>
    <a:masterClrMapping/>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内容占位符 2"/>
          <p:cNvSpPr>
            <a:spLocks noGrp="1"/>
          </p:cNvSpPr>
          <p:nvPr>
            <p:ph idx="1"/>
          </p:nvPr>
        </p:nvSpPr>
        <p:spPr/>
        <p:txBody>
          <a:bodyPr vert="horz" wrap="square" lIns="91440" tIns="45720" rIns="91440" bIns="45720" anchor="t" anchorCtr="0"/>
          <a:lstStyle/>
          <a:p>
            <a:r>
              <a:rPr lang="en-US" altLang="zh-CN" b="1" dirty="0"/>
              <a:t>7.1.1 </a:t>
            </a:r>
            <a:r>
              <a:rPr lang="zh-CN" altLang="en-US" b="1" dirty="0"/>
              <a:t>数据库设计的特点</a:t>
            </a:r>
            <a:endParaRPr lang="en-US" altLang="zh-CN" b="1" dirty="0"/>
          </a:p>
          <a:p>
            <a:r>
              <a:rPr lang="en-US" altLang="zh-CN" b="1" dirty="0"/>
              <a:t>7.1.2 </a:t>
            </a:r>
            <a:r>
              <a:rPr lang="zh-CN" altLang="en-US" b="1" dirty="0"/>
              <a:t>数据库设计方法</a:t>
            </a:r>
            <a:endParaRPr lang="en-US" altLang="zh-CN" b="1" dirty="0"/>
          </a:p>
          <a:p>
            <a:r>
              <a:rPr lang="en-US" altLang="zh-CN" b="1" dirty="0"/>
              <a:t>7.1.3 </a:t>
            </a:r>
            <a:r>
              <a:rPr lang="zh-CN" altLang="en-US" b="1" dirty="0"/>
              <a:t>数据库设计的基本步骤</a:t>
            </a:r>
            <a:endParaRPr lang="zh-CN" altLang="en-US" b="1" dirty="0"/>
          </a:p>
        </p:txBody>
      </p:sp>
      <p:sp>
        <p:nvSpPr>
          <p:cNvPr id="13314" name="标题 1"/>
          <p:cNvSpPr>
            <a:spLocks noGrp="1"/>
          </p:cNvSpPr>
          <p:nvPr>
            <p:ph type="title"/>
          </p:nvPr>
        </p:nvSpPr>
        <p:spPr/>
        <p:txBody>
          <a:bodyPr vert="horz" wrap="square" lIns="91440" tIns="45720" rIns="91440" bIns="45720" anchor="b" anchorCtr="0"/>
          <a:lstStyle/>
          <a:p>
            <a:r>
              <a:rPr lang="en-US" altLang="zh-CN" dirty="0"/>
              <a:t>7.1 </a:t>
            </a:r>
            <a:r>
              <a:rPr lang="zh-CN" altLang="en-US" dirty="0"/>
              <a:t>数据库设计概述</a:t>
            </a:r>
            <a:endParaRPr lang="zh-CN" altLang="en-US" dirty="0"/>
          </a:p>
        </p:txBody>
      </p: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title"/>
          </p:nvPr>
        </p:nvSpPr>
        <p:spPr/>
        <p:txBody>
          <a:bodyPr vert="horz" wrap="square" lIns="91440" tIns="45720" rIns="91440" bIns="45720" anchor="b" anchorCtr="0"/>
          <a:lstStyle/>
          <a:p>
            <a:r>
              <a:rPr lang="en-US" altLang="zh-CN" dirty="0"/>
              <a:t>7.1.1 </a:t>
            </a:r>
            <a:r>
              <a:rPr lang="zh-CN" altLang="en-US" dirty="0"/>
              <a:t>数据库设计的特点</a:t>
            </a:r>
            <a:endParaRPr lang="zh-CN" altLang="en-US" dirty="0"/>
          </a:p>
        </p:txBody>
      </p:sp>
      <p:sp>
        <p:nvSpPr>
          <p:cNvPr id="14338" name="内容占位符 2"/>
          <p:cNvSpPr>
            <a:spLocks noGrp="1"/>
          </p:cNvSpPr>
          <p:nvPr>
            <p:ph idx="1"/>
          </p:nvPr>
        </p:nvSpPr>
        <p:spPr/>
        <p:txBody>
          <a:bodyPr vert="horz" wrap="square" lIns="91440" tIns="45720" rIns="91440" bIns="45720" anchor="t" anchorCtr="0"/>
          <a:lstStyle/>
          <a:p>
            <a:r>
              <a:rPr lang="en-US" altLang="zh-CN" dirty="0"/>
              <a:t>1. </a:t>
            </a:r>
            <a:r>
              <a:rPr lang="zh-CN" altLang="en-US" dirty="0"/>
              <a:t>数据库建设的基本规律 </a:t>
            </a:r>
            <a:endParaRPr lang="en-US" altLang="zh-CN" dirty="0"/>
          </a:p>
          <a:p>
            <a:r>
              <a:rPr lang="zh-CN" altLang="en-US" dirty="0">
                <a:solidFill>
                  <a:srgbClr val="FF0000"/>
                </a:solidFill>
              </a:rPr>
              <a:t>三分技术，七分管理，十二分基础数据 </a:t>
            </a:r>
            <a:endParaRPr lang="en-US" altLang="zh-CN" dirty="0">
              <a:solidFill>
                <a:srgbClr val="FF0000"/>
              </a:solidFill>
            </a:endParaRPr>
          </a:p>
          <a:p>
            <a:pPr lvl="1" indent="-436245"/>
            <a:r>
              <a:rPr lang="zh-CN" altLang="en-US" dirty="0"/>
              <a:t>技术：其次。</a:t>
            </a:r>
            <a:endParaRPr lang="en-US" altLang="zh-CN" dirty="0"/>
          </a:p>
          <a:p>
            <a:pPr lvl="1" indent="-436245"/>
            <a:r>
              <a:rPr lang="zh-CN" altLang="en-US" dirty="0"/>
              <a:t>管理 ：数据库建设项目管理，企业（即应用部门）的业务管理 。</a:t>
            </a:r>
            <a:endParaRPr lang="en-US" altLang="zh-CN" dirty="0"/>
          </a:p>
          <a:p>
            <a:pPr lvl="1" indent="-436245"/>
            <a:r>
              <a:rPr lang="zh-CN" altLang="en-US" dirty="0"/>
              <a:t>基础数据： 数据的收集、整理、组织和不断更新。</a:t>
            </a:r>
            <a:r>
              <a:rPr lang="zh-CN" altLang="en-US" dirty="0">
                <a:solidFill>
                  <a:srgbClr val="FF0000"/>
                </a:solidFill>
              </a:rPr>
              <a:t>工作量大</a:t>
            </a:r>
            <a:r>
              <a:rPr lang="zh-CN" altLang="en-US" dirty="0"/>
              <a:t>，繁琐，细致。对数据分析挖掘，改进业务管理。</a:t>
            </a:r>
            <a:endParaRPr lang="zh-CN" altLang="en-US" dirty="0"/>
          </a:p>
        </p:txBody>
      </p:sp>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2"/>
          <p:cNvSpPr>
            <a:spLocks noGrp="1"/>
          </p:cNvSpPr>
          <p:nvPr>
            <p:ph idx="1"/>
          </p:nvPr>
        </p:nvSpPr>
        <p:spPr/>
        <p:txBody>
          <a:bodyPr vert="horz" wrap="square" lIns="91440" tIns="45720" rIns="91440" bIns="45720" anchor="t" anchorCtr="0"/>
          <a:lstStyle/>
          <a:p>
            <a:r>
              <a:rPr lang="en-US" altLang="zh-CN" dirty="0"/>
              <a:t>2. </a:t>
            </a:r>
            <a:r>
              <a:rPr lang="zh-CN" altLang="en-US" dirty="0"/>
              <a:t>数据库</a:t>
            </a:r>
            <a:r>
              <a:rPr lang="zh-CN" altLang="en-US" b="1" dirty="0">
                <a:solidFill>
                  <a:srgbClr val="FF0000"/>
                </a:solidFill>
              </a:rPr>
              <a:t>结构（数据）设计</a:t>
            </a:r>
            <a:r>
              <a:rPr lang="zh-CN" altLang="en-US" dirty="0"/>
              <a:t>和数据</a:t>
            </a:r>
            <a:r>
              <a:rPr lang="zh-CN" altLang="en-US" b="1" dirty="0">
                <a:solidFill>
                  <a:srgbClr val="FF0000"/>
                </a:solidFill>
              </a:rPr>
              <a:t>行为（处理）设计</a:t>
            </a:r>
            <a:r>
              <a:rPr lang="zh-CN" altLang="en-US" dirty="0"/>
              <a:t>相结合 </a:t>
            </a:r>
            <a:endParaRPr lang="en-US" altLang="zh-CN" dirty="0"/>
          </a:p>
          <a:p>
            <a:pPr lvl="1" indent="-436245"/>
            <a:r>
              <a:rPr lang="zh-CN" altLang="en-US" dirty="0"/>
              <a:t>将数据库</a:t>
            </a:r>
            <a:r>
              <a:rPr lang="zh-CN" altLang="en-US" b="1" dirty="0">
                <a:solidFill>
                  <a:srgbClr val="FF0000"/>
                </a:solidFill>
              </a:rPr>
              <a:t>结构设计</a:t>
            </a:r>
            <a:r>
              <a:rPr lang="zh-CN" altLang="en-US" dirty="0"/>
              <a:t>和</a:t>
            </a:r>
            <a:r>
              <a:rPr lang="zh-CN" altLang="en-US" b="1" dirty="0">
                <a:solidFill>
                  <a:srgbClr val="FF0000"/>
                </a:solidFill>
              </a:rPr>
              <a:t>数据处理设计</a:t>
            </a:r>
            <a:r>
              <a:rPr lang="zh-CN" altLang="en-US" dirty="0"/>
              <a:t>密切结合</a:t>
            </a:r>
            <a:endParaRPr lang="zh-CN" altLang="en-US" dirty="0"/>
          </a:p>
          <a:p>
            <a:pPr lvl="1" indent="-436245"/>
            <a:r>
              <a:rPr lang="zh-CN" altLang="en-US" dirty="0"/>
              <a:t>数据库设计与</a:t>
            </a:r>
            <a:r>
              <a:rPr lang="zh-CN" altLang="en-US" b="1" dirty="0">
                <a:solidFill>
                  <a:srgbClr val="FF0000"/>
                </a:solidFill>
              </a:rPr>
              <a:t>应用系统设计</a:t>
            </a:r>
            <a:r>
              <a:rPr lang="zh-CN" altLang="en-US" dirty="0"/>
              <a:t>相结合 </a:t>
            </a:r>
            <a:endParaRPr lang="en-US" altLang="zh-CN" dirty="0"/>
          </a:p>
          <a:p>
            <a:r>
              <a:rPr lang="zh-CN" altLang="en-US" dirty="0"/>
              <a:t>结构和行为分离的设计 </a:t>
            </a:r>
            <a:endParaRPr lang="en-US" altLang="zh-CN" dirty="0"/>
          </a:p>
          <a:p>
            <a:pPr lvl="1" indent="-436245"/>
            <a:r>
              <a:rPr lang="zh-CN" altLang="en-US" dirty="0"/>
              <a:t>传统的软件工程：重行为设计，忽视对应用中数据语义的分析和抽象。结构化设计和逐步求精的方法。</a:t>
            </a:r>
            <a:endParaRPr lang="en-US" altLang="zh-CN" dirty="0"/>
          </a:p>
          <a:p>
            <a:pPr lvl="1" indent="-436245"/>
            <a:r>
              <a:rPr lang="zh-CN" altLang="en-US" dirty="0"/>
              <a:t>早期的数据库设计：重结构设计，致力于数据模型和数据库建模方法研究，忽视了行为设计对结构设计的影响</a:t>
            </a:r>
            <a:endParaRPr lang="zh-CN" altLang="en-US" dirty="0"/>
          </a:p>
        </p:txBody>
      </p:sp>
      <p:sp>
        <p:nvSpPr>
          <p:cNvPr id="15362" name="标题 1"/>
          <p:cNvSpPr>
            <a:spLocks noGrp="1"/>
          </p:cNvSpPr>
          <p:nvPr>
            <p:ph type="title"/>
          </p:nvPr>
        </p:nvSpPr>
        <p:spPr/>
        <p:txBody>
          <a:bodyPr vert="horz" wrap="square" lIns="91440" tIns="45720" rIns="91440" bIns="45720" anchor="b" anchorCtr="0"/>
          <a:lstStyle/>
          <a:p>
            <a:r>
              <a:rPr lang="en-US" altLang="zh-CN" dirty="0"/>
              <a:t>7.1.1 </a:t>
            </a:r>
            <a:r>
              <a:rPr lang="zh-CN" altLang="en-US" dirty="0"/>
              <a:t>数据库设计的特点</a:t>
            </a:r>
            <a:endParaRPr lang="zh-CN" altLang="en-US" dirty="0"/>
          </a:p>
        </p:txBody>
      </p:sp>
    </p:spTree>
  </p:cSld>
  <p:clrMapOvr>
    <a:masterClrMapping/>
  </p:clrMapOvr>
  <p:transition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p:cNvSpPr>
          <p:nvPr>
            <p:ph type="title"/>
          </p:nvPr>
        </p:nvSpPr>
        <p:spPr/>
        <p:txBody>
          <a:bodyPr vert="horz" wrap="square" lIns="91440" tIns="45720" rIns="91440" bIns="45720" anchor="b" anchorCtr="0"/>
          <a:lstStyle/>
          <a:p>
            <a:endParaRPr lang="zh-CN" altLang="en-US" dirty="0"/>
          </a:p>
        </p:txBody>
      </p:sp>
      <p:sp>
        <p:nvSpPr>
          <p:cNvPr id="16386" name="内容占位符 2"/>
          <p:cNvSpPr>
            <a:spLocks noGrp="1"/>
          </p:cNvSpPr>
          <p:nvPr>
            <p:ph idx="1"/>
          </p:nvPr>
        </p:nvSpPr>
        <p:spPr/>
        <p:txBody>
          <a:bodyPr vert="horz" wrap="square" lIns="91440" tIns="45720" rIns="91440" bIns="45720" anchor="t" anchorCtr="0"/>
          <a:lstStyle/>
          <a:p>
            <a:endParaRPr lang="zh-CN" altLang="en-US" dirty="0"/>
          </a:p>
        </p:txBody>
      </p:sp>
      <p:pic>
        <p:nvPicPr>
          <p:cNvPr id="16387" name="Picture 2"/>
          <p:cNvPicPr>
            <a:picLocks noChangeAspect="1"/>
          </p:cNvPicPr>
          <p:nvPr/>
        </p:nvPicPr>
        <p:blipFill>
          <a:blip r:embed="rId1"/>
          <a:stretch>
            <a:fillRect/>
          </a:stretch>
        </p:blipFill>
        <p:spPr>
          <a:xfrm>
            <a:off x="2711450" y="260350"/>
            <a:ext cx="7305040" cy="6008370"/>
          </a:xfrm>
          <a:prstGeom prst="rect">
            <a:avLst/>
          </a:prstGeom>
          <a:noFill/>
          <a:ln w="9525">
            <a:noFill/>
          </a:ln>
        </p:spPr>
      </p:pic>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vert="horz" wrap="square" lIns="91440" tIns="45720" rIns="91440" bIns="45720" anchor="b" anchorCtr="0"/>
          <a:lstStyle/>
          <a:p>
            <a:r>
              <a:rPr lang="en-US" altLang="zh-CN" b="1" dirty="0"/>
              <a:t>7.1.2 </a:t>
            </a:r>
            <a:r>
              <a:rPr lang="zh-CN" altLang="en-US" b="1" dirty="0"/>
              <a:t>数据库设计方法</a:t>
            </a:r>
            <a:endParaRPr lang="zh-CN" altLang="en-US" b="1" dirty="0"/>
          </a:p>
        </p:txBody>
      </p:sp>
      <p:sp>
        <p:nvSpPr>
          <p:cNvPr id="17410" name="内容占位符 2"/>
          <p:cNvSpPr>
            <a:spLocks noGrp="1"/>
          </p:cNvSpPr>
          <p:nvPr>
            <p:ph idx="1"/>
          </p:nvPr>
        </p:nvSpPr>
        <p:spPr/>
        <p:txBody>
          <a:bodyPr vert="horz" wrap="square" lIns="91440" tIns="45720" rIns="91440" bIns="45720" anchor="t" anchorCtr="0"/>
          <a:lstStyle/>
          <a:p>
            <a:r>
              <a:rPr lang="zh-CN" altLang="en-US" dirty="0"/>
              <a:t>大型数据库设计是涉及多学科的综合性技术，又是一项庞大的工程项目。它要求多方面的知识和技术。</a:t>
            </a:r>
            <a:endParaRPr lang="en-US" altLang="zh-CN" dirty="0"/>
          </a:p>
          <a:p>
            <a:r>
              <a:rPr lang="zh-CN" altLang="en-US" dirty="0"/>
              <a:t>主要包括： </a:t>
            </a:r>
            <a:endParaRPr lang="en-US" altLang="zh-CN" dirty="0"/>
          </a:p>
          <a:p>
            <a:pPr lvl="1" indent="-436245"/>
            <a:r>
              <a:rPr lang="zh-CN" altLang="en-US" b="1" dirty="0">
                <a:solidFill>
                  <a:srgbClr val="FF0000"/>
                </a:solidFill>
              </a:rPr>
              <a:t>计算机</a:t>
            </a:r>
            <a:r>
              <a:rPr lang="zh-CN" altLang="en-US" dirty="0"/>
              <a:t>的基础知识，</a:t>
            </a:r>
            <a:r>
              <a:rPr lang="zh-CN" altLang="en-US" b="1" dirty="0">
                <a:solidFill>
                  <a:srgbClr val="FF0000"/>
                </a:solidFill>
              </a:rPr>
              <a:t>软件工程</a:t>
            </a:r>
            <a:r>
              <a:rPr lang="zh-CN" altLang="en-US" dirty="0"/>
              <a:t>的原理和方法 </a:t>
            </a:r>
            <a:endParaRPr lang="en-US" altLang="zh-CN" dirty="0"/>
          </a:p>
          <a:p>
            <a:pPr lvl="1" indent="-436245"/>
            <a:r>
              <a:rPr lang="zh-CN" altLang="en-US" b="1" dirty="0">
                <a:solidFill>
                  <a:srgbClr val="FF0000"/>
                </a:solidFill>
              </a:rPr>
              <a:t>程序设计</a:t>
            </a:r>
            <a:r>
              <a:rPr lang="zh-CN" altLang="en-US" dirty="0"/>
              <a:t>的方法和技巧，数据库的基本知识</a:t>
            </a:r>
            <a:endParaRPr lang="en-US" altLang="zh-CN" dirty="0"/>
          </a:p>
          <a:p>
            <a:pPr lvl="1" indent="-436245"/>
            <a:r>
              <a:rPr lang="zh-CN" altLang="en-US" b="1" dirty="0">
                <a:solidFill>
                  <a:srgbClr val="FF0000"/>
                </a:solidFill>
              </a:rPr>
              <a:t>数据库设计</a:t>
            </a:r>
            <a:r>
              <a:rPr lang="zh-CN" altLang="en-US" dirty="0"/>
              <a:t>技术，应用领域的知识</a:t>
            </a:r>
            <a:endParaRPr lang="zh-CN" altLang="en-US" dirty="0"/>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内容占位符 2"/>
          <p:cNvSpPr>
            <a:spLocks noGrp="1"/>
          </p:cNvSpPr>
          <p:nvPr>
            <p:ph idx="1"/>
          </p:nvPr>
        </p:nvSpPr>
        <p:spPr>
          <a:xfrm>
            <a:off x="653415" y="1196975"/>
            <a:ext cx="10835005" cy="4800600"/>
          </a:xfrm>
        </p:spPr>
        <p:txBody>
          <a:bodyPr vert="horz" wrap="square" lIns="91440" tIns="45720" rIns="91440" bIns="45720" anchor="t" anchorCtr="0"/>
          <a:lstStyle/>
          <a:p>
            <a:r>
              <a:rPr lang="zh-CN" altLang="en-US" sz="2800" b="1" dirty="0">
                <a:solidFill>
                  <a:srgbClr val="FF0000"/>
                </a:solidFill>
              </a:rPr>
              <a:t>手工试凑法 </a:t>
            </a:r>
            <a:endParaRPr lang="en-US" altLang="zh-CN" sz="2800" b="1" dirty="0">
              <a:solidFill>
                <a:srgbClr val="FF0000"/>
              </a:solidFill>
            </a:endParaRPr>
          </a:p>
          <a:p>
            <a:r>
              <a:rPr lang="zh-CN" altLang="en-US" sz="2400" dirty="0"/>
              <a:t>设计质量与设计人员的经验和水平有直接关系 缺乏科学理论和工程方法的支持，工程的质量难以保证 。</a:t>
            </a:r>
            <a:endParaRPr lang="en-US" altLang="zh-CN" sz="2400" dirty="0"/>
          </a:p>
          <a:p>
            <a:r>
              <a:rPr lang="zh-CN" altLang="en-US" sz="2400" dirty="0"/>
              <a:t>数据库运行一段时间后常常又不同程度地发现各种问题，增加了维护代价。</a:t>
            </a:r>
            <a:endParaRPr lang="en-US" altLang="zh-CN" sz="2400" dirty="0"/>
          </a:p>
          <a:p>
            <a:r>
              <a:rPr lang="zh-CN" altLang="en-US" sz="2800" b="1" dirty="0">
                <a:solidFill>
                  <a:srgbClr val="FF0000"/>
                </a:solidFill>
              </a:rPr>
              <a:t>规范设计法</a:t>
            </a:r>
            <a:endParaRPr lang="en-US" altLang="zh-CN" sz="2800" b="1" dirty="0">
              <a:solidFill>
                <a:srgbClr val="FF0000"/>
              </a:solidFill>
            </a:endParaRPr>
          </a:p>
          <a:p>
            <a:r>
              <a:rPr lang="zh-CN" altLang="en-US" sz="2400" dirty="0"/>
              <a:t>新奥尔良（</a:t>
            </a:r>
            <a:r>
              <a:rPr lang="en-US" altLang="zh-CN" sz="2400" dirty="0"/>
              <a:t>New Orleans</a:t>
            </a:r>
            <a:r>
              <a:rPr lang="zh-CN" altLang="en-US" sz="2400" dirty="0"/>
              <a:t>）方法 </a:t>
            </a:r>
            <a:endParaRPr lang="en-US" altLang="zh-CN" sz="2400" dirty="0"/>
          </a:p>
          <a:p>
            <a:r>
              <a:rPr lang="zh-CN" altLang="en-US" sz="2400" dirty="0"/>
              <a:t>基于</a:t>
            </a:r>
            <a:r>
              <a:rPr lang="en-US" altLang="zh-CN" sz="2400" b="1" dirty="0">
                <a:solidFill>
                  <a:srgbClr val="FF0000"/>
                </a:solidFill>
              </a:rPr>
              <a:t>E-R</a:t>
            </a:r>
            <a:r>
              <a:rPr lang="zh-CN" altLang="en-US" sz="2400" b="1" dirty="0">
                <a:solidFill>
                  <a:srgbClr val="FF0000"/>
                </a:solidFill>
              </a:rPr>
              <a:t>模型的数据库设计方法 </a:t>
            </a:r>
            <a:endParaRPr lang="en-US" altLang="zh-CN" sz="2400" b="1" dirty="0">
              <a:solidFill>
                <a:srgbClr val="FF0000"/>
              </a:solidFill>
            </a:endParaRPr>
          </a:p>
          <a:p>
            <a:r>
              <a:rPr lang="en-US" altLang="zh-CN" sz="2400" dirty="0"/>
              <a:t>3NF</a:t>
            </a:r>
            <a:r>
              <a:rPr lang="zh-CN" altLang="en-US" sz="2400" dirty="0"/>
              <a:t>（第三范式）的设计方法 </a:t>
            </a:r>
            <a:endParaRPr lang="en-US" altLang="zh-CN" sz="2400" dirty="0"/>
          </a:p>
          <a:p>
            <a:r>
              <a:rPr lang="zh-CN" altLang="en-US" sz="2400" dirty="0"/>
              <a:t>面向对象的数据库设计方法 </a:t>
            </a:r>
            <a:endParaRPr lang="en-US" altLang="zh-CN" sz="2400" dirty="0"/>
          </a:p>
          <a:p>
            <a:r>
              <a:rPr lang="zh-CN" altLang="en-US" sz="2400" dirty="0"/>
              <a:t>统一建模语言（</a:t>
            </a:r>
            <a:r>
              <a:rPr lang="en-US" altLang="zh-CN" sz="2400" dirty="0"/>
              <a:t>UML</a:t>
            </a:r>
            <a:r>
              <a:rPr lang="zh-CN" altLang="en-US" sz="2400" dirty="0"/>
              <a:t>）方法</a:t>
            </a:r>
            <a:endParaRPr lang="zh-CN" altLang="en-US" sz="2400" dirty="0"/>
          </a:p>
        </p:txBody>
      </p:sp>
      <p:sp>
        <p:nvSpPr>
          <p:cNvPr id="18434" name="标题 1"/>
          <p:cNvSpPr>
            <a:spLocks noGrp="1"/>
          </p:cNvSpPr>
          <p:nvPr>
            <p:ph type="title"/>
          </p:nvPr>
        </p:nvSpPr>
        <p:spPr/>
        <p:txBody>
          <a:bodyPr vert="horz" wrap="square" lIns="91440" tIns="45720" rIns="91440" bIns="45720" anchor="b" anchorCtr="0"/>
          <a:lstStyle/>
          <a:p>
            <a:r>
              <a:rPr lang="en-US" altLang="zh-CN" b="1" dirty="0"/>
              <a:t>7.1.2 </a:t>
            </a:r>
            <a:r>
              <a:rPr lang="zh-CN" altLang="en-US" b="1" dirty="0"/>
              <a:t>数据库设计方法</a:t>
            </a:r>
            <a:endParaRPr lang="zh-CN" altLang="en-US" b="1" dirty="0"/>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p:cNvSpPr>
          <p:nvPr>
            <p:ph type="title"/>
          </p:nvPr>
        </p:nvSpPr>
        <p:spPr/>
        <p:txBody>
          <a:bodyPr vert="horz" wrap="square" lIns="91440" tIns="45720" rIns="91440" bIns="45720" anchor="b" anchorCtr="0"/>
          <a:lstStyle/>
          <a:p>
            <a:r>
              <a:rPr lang="en-US" altLang="zh-CN" dirty="0"/>
              <a:t>7.1.3 </a:t>
            </a:r>
            <a:r>
              <a:rPr lang="zh-CN" altLang="en-US" dirty="0"/>
              <a:t>数据库设计的基本步骤</a:t>
            </a:r>
            <a:endParaRPr lang="zh-CN" altLang="en-US" dirty="0"/>
          </a:p>
        </p:txBody>
      </p:sp>
      <p:sp>
        <p:nvSpPr>
          <p:cNvPr id="19458" name="内容占位符 2"/>
          <p:cNvSpPr>
            <a:spLocks noGrp="1"/>
          </p:cNvSpPr>
          <p:nvPr>
            <p:ph idx="1"/>
          </p:nvPr>
        </p:nvSpPr>
        <p:spPr>
          <a:xfrm>
            <a:off x="1268730" y="1143000"/>
            <a:ext cx="9291320" cy="5000625"/>
          </a:xfrm>
        </p:spPr>
        <p:txBody>
          <a:bodyPr vert="horz" wrap="square" lIns="91440" tIns="45720" rIns="91440" bIns="45720" anchor="t" anchorCtr="0"/>
          <a:lstStyle/>
          <a:p>
            <a:r>
              <a:rPr lang="zh-CN" altLang="en-US" dirty="0"/>
              <a:t>数据库设计分</a:t>
            </a:r>
            <a:r>
              <a:rPr lang="en-US" altLang="zh-CN" dirty="0"/>
              <a:t>6</a:t>
            </a:r>
            <a:r>
              <a:rPr lang="zh-CN" altLang="en-US" dirty="0"/>
              <a:t>个阶段</a:t>
            </a:r>
            <a:endParaRPr lang="en-US" altLang="zh-CN" dirty="0"/>
          </a:p>
          <a:p>
            <a:pPr lvl="1" indent="-436245"/>
            <a:r>
              <a:rPr lang="zh-CN" altLang="en-US" b="1" dirty="0">
                <a:solidFill>
                  <a:srgbClr val="FF0000"/>
                </a:solidFill>
              </a:rPr>
              <a:t>需求分析 </a:t>
            </a:r>
            <a:endParaRPr lang="en-US" altLang="zh-CN" b="1" dirty="0">
              <a:solidFill>
                <a:srgbClr val="FF0000"/>
              </a:solidFill>
            </a:endParaRPr>
          </a:p>
          <a:p>
            <a:pPr lvl="1" indent="-436245"/>
            <a:r>
              <a:rPr lang="zh-CN" altLang="en-US" b="1" dirty="0">
                <a:solidFill>
                  <a:srgbClr val="FF0000"/>
                </a:solidFill>
              </a:rPr>
              <a:t>概念结构设计 </a:t>
            </a:r>
            <a:endParaRPr lang="en-US" altLang="zh-CN" b="1" dirty="0">
              <a:solidFill>
                <a:srgbClr val="FF0000"/>
              </a:solidFill>
            </a:endParaRPr>
          </a:p>
          <a:p>
            <a:pPr lvl="1" indent="-436245"/>
            <a:r>
              <a:rPr lang="zh-CN" altLang="en-US" b="1" dirty="0">
                <a:solidFill>
                  <a:srgbClr val="0000FF"/>
                </a:solidFill>
              </a:rPr>
              <a:t>逻辑结构设计 </a:t>
            </a:r>
            <a:endParaRPr lang="en-US" altLang="zh-CN" b="1" dirty="0">
              <a:solidFill>
                <a:srgbClr val="0000FF"/>
              </a:solidFill>
            </a:endParaRPr>
          </a:p>
          <a:p>
            <a:pPr lvl="1" indent="-436245"/>
            <a:r>
              <a:rPr lang="zh-CN" altLang="en-US" b="1" dirty="0">
                <a:solidFill>
                  <a:srgbClr val="0000FF"/>
                </a:solidFill>
              </a:rPr>
              <a:t>物理结构设计 </a:t>
            </a:r>
            <a:endParaRPr lang="en-US" altLang="zh-CN" b="1" dirty="0">
              <a:solidFill>
                <a:srgbClr val="0000FF"/>
              </a:solidFill>
            </a:endParaRPr>
          </a:p>
          <a:p>
            <a:pPr lvl="1" indent="-436245"/>
            <a:r>
              <a:rPr lang="zh-CN" altLang="en-US" dirty="0"/>
              <a:t>数据库实施 </a:t>
            </a:r>
            <a:endParaRPr lang="en-US" altLang="zh-CN" dirty="0"/>
          </a:p>
          <a:p>
            <a:pPr lvl="1" indent="-436245"/>
            <a:r>
              <a:rPr lang="zh-CN" altLang="en-US" dirty="0"/>
              <a:t>数据库运行和维护 </a:t>
            </a:r>
            <a:endParaRPr lang="en-US" altLang="zh-CN" dirty="0"/>
          </a:p>
          <a:p>
            <a:r>
              <a:rPr lang="zh-CN" altLang="en-US" b="1" dirty="0">
                <a:solidFill>
                  <a:srgbClr val="FF0000"/>
                </a:solidFill>
              </a:rPr>
              <a:t>需求分析和概念设计</a:t>
            </a:r>
            <a:r>
              <a:rPr lang="zh-CN" altLang="en-US" dirty="0"/>
              <a:t>独立于任何数据库管理系统，</a:t>
            </a:r>
            <a:r>
              <a:rPr lang="zh-CN" altLang="en-US" b="1" dirty="0">
                <a:solidFill>
                  <a:srgbClr val="FF0000"/>
                </a:solidFill>
              </a:rPr>
              <a:t>逻辑设计和物理设计</a:t>
            </a:r>
            <a:r>
              <a:rPr lang="zh-CN" altLang="en-US" dirty="0"/>
              <a:t>与选用的数据库管理系统密切相关</a:t>
            </a:r>
            <a:endParaRPr lang="zh-CN" altLang="en-US" dirty="0"/>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p:txBody>
          <a:bodyPr vert="horz" wrap="square" lIns="91440" tIns="45720" rIns="91440" bIns="45720" anchor="b" anchorCtr="0"/>
          <a:lstStyle/>
          <a:p>
            <a:endParaRPr lang="zh-CN" altLang="en-US" dirty="0"/>
          </a:p>
        </p:txBody>
      </p:sp>
      <p:sp>
        <p:nvSpPr>
          <p:cNvPr id="20482" name="内容占位符 2"/>
          <p:cNvSpPr>
            <a:spLocks noGrp="1"/>
          </p:cNvSpPr>
          <p:nvPr>
            <p:ph idx="1"/>
          </p:nvPr>
        </p:nvSpPr>
        <p:spPr/>
        <p:txBody>
          <a:bodyPr vert="horz" wrap="square" lIns="91440" tIns="45720" rIns="91440" bIns="45720" anchor="t" anchorCtr="0"/>
          <a:lstStyle/>
          <a:p>
            <a:endParaRPr lang="zh-CN" altLang="en-US" dirty="0"/>
          </a:p>
        </p:txBody>
      </p:sp>
      <p:pic>
        <p:nvPicPr>
          <p:cNvPr id="20483" name="Picture 2"/>
          <p:cNvPicPr>
            <a:picLocks noChangeAspect="1"/>
          </p:cNvPicPr>
          <p:nvPr/>
        </p:nvPicPr>
        <p:blipFill>
          <a:blip r:embed="rId1"/>
          <a:stretch>
            <a:fillRect/>
          </a:stretch>
        </p:blipFill>
        <p:spPr>
          <a:xfrm>
            <a:off x="2024063" y="142875"/>
            <a:ext cx="5643562" cy="6411913"/>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vert="horz" wrap="square" lIns="91440" tIns="45720" rIns="91440" bIns="45720" anchor="b" anchorCtr="0"/>
          <a:lstStyle/>
          <a:p>
            <a:r>
              <a:rPr lang="zh-CN" altLang="en-US" dirty="0"/>
              <a:t>参加数据库设计的人员 </a:t>
            </a:r>
            <a:endParaRPr lang="zh-CN" altLang="en-US" dirty="0"/>
          </a:p>
        </p:txBody>
      </p:sp>
      <p:sp>
        <p:nvSpPr>
          <p:cNvPr id="21506" name="内容占位符 2"/>
          <p:cNvSpPr>
            <a:spLocks noGrp="1"/>
          </p:cNvSpPr>
          <p:nvPr>
            <p:ph idx="1"/>
          </p:nvPr>
        </p:nvSpPr>
        <p:spPr/>
        <p:txBody>
          <a:bodyPr vert="horz" wrap="square" lIns="91440" tIns="45720" rIns="91440" bIns="45720" anchor="t" anchorCtr="0"/>
          <a:lstStyle/>
          <a:p>
            <a:r>
              <a:rPr lang="zh-CN" altLang="en-US" b="1" dirty="0">
                <a:solidFill>
                  <a:srgbClr val="FF0000"/>
                </a:solidFill>
              </a:rPr>
              <a:t>系统分析人员和数据库设计人员</a:t>
            </a:r>
            <a:r>
              <a:rPr lang="zh-CN" altLang="en-US" dirty="0"/>
              <a:t>：自始至终参与数据库设计，其水平决定了数据库系统的质量 </a:t>
            </a:r>
            <a:endParaRPr lang="en-US" altLang="zh-CN" dirty="0"/>
          </a:p>
          <a:p>
            <a:r>
              <a:rPr lang="zh-CN" altLang="en-US" b="1" dirty="0">
                <a:solidFill>
                  <a:srgbClr val="FF0000"/>
                </a:solidFill>
              </a:rPr>
              <a:t>数据库管理员和用户代表</a:t>
            </a:r>
            <a:r>
              <a:rPr lang="zh-CN" altLang="en-US" dirty="0"/>
              <a:t>：主要参加需求分析与数据库的运行和维护</a:t>
            </a:r>
            <a:endParaRPr lang="en-US" altLang="zh-CN" dirty="0"/>
          </a:p>
          <a:p>
            <a:r>
              <a:rPr lang="zh-CN" altLang="en-US" b="1" dirty="0">
                <a:solidFill>
                  <a:srgbClr val="FF0000"/>
                </a:solidFill>
              </a:rPr>
              <a:t>应用开发人员 </a:t>
            </a:r>
            <a:r>
              <a:rPr lang="zh-CN" altLang="en-US" dirty="0"/>
              <a:t>：包括程序员和操作员。 在实施阶段参与进来，分别负责编制程序和准备软硬件环境</a:t>
            </a:r>
            <a:endParaRPr lang="zh-CN" altLang="en-US" dirty="0"/>
          </a:p>
        </p:txBody>
      </p:sp>
    </p:spTree>
  </p:cSld>
  <p:clrMapOvr>
    <a:masterClrMapping/>
  </p:clrMapOvr>
  <p:transition advClick="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p:txBody>
          <a:bodyPr vert="horz" wrap="square" lIns="91440" tIns="45720" rIns="91440" bIns="45720" anchor="b" anchorCtr="0"/>
          <a:lstStyle/>
          <a:p>
            <a:r>
              <a:rPr lang="zh-CN" altLang="en-US" dirty="0"/>
              <a:t>数据库设计的基本步骤</a:t>
            </a:r>
            <a:endParaRPr lang="zh-CN" altLang="en-US" dirty="0"/>
          </a:p>
        </p:txBody>
      </p:sp>
      <p:sp>
        <p:nvSpPr>
          <p:cNvPr id="22530" name="内容占位符 2"/>
          <p:cNvSpPr>
            <a:spLocks noGrp="1"/>
          </p:cNvSpPr>
          <p:nvPr>
            <p:ph idx="1"/>
          </p:nvPr>
        </p:nvSpPr>
        <p:spPr/>
        <p:txBody>
          <a:bodyPr vert="horz" wrap="square" lIns="91440" tIns="45720" rIns="91440" bIns="45720" anchor="t" anchorCtr="0"/>
          <a:lstStyle/>
          <a:p>
            <a:r>
              <a:rPr lang="en-US" altLang="zh-CN" dirty="0"/>
              <a:t>1. </a:t>
            </a:r>
            <a:r>
              <a:rPr lang="zh-CN" altLang="en-US" b="1" dirty="0">
                <a:solidFill>
                  <a:srgbClr val="FF0000"/>
                </a:solidFill>
              </a:rPr>
              <a:t>需求分析阶段 </a:t>
            </a:r>
            <a:r>
              <a:rPr lang="zh-CN" altLang="en-US" dirty="0"/>
              <a:t>是否做得充分与准确，决定了构建数据库的速度和质量</a:t>
            </a:r>
            <a:endParaRPr lang="en-US" altLang="zh-CN" dirty="0"/>
          </a:p>
          <a:p>
            <a:r>
              <a:rPr lang="en-US" altLang="zh-CN" dirty="0"/>
              <a:t>2. </a:t>
            </a:r>
            <a:r>
              <a:rPr lang="zh-CN" altLang="en-US" dirty="0"/>
              <a:t>概念结构设计阶段 通过对用户需求进行综合、归纳与抽象，形成一个独立于具体数据库管理系统的概念模型</a:t>
            </a:r>
            <a:endParaRPr lang="en-US" altLang="zh-CN" dirty="0"/>
          </a:p>
          <a:p>
            <a:r>
              <a:rPr lang="en-US" altLang="zh-CN" dirty="0"/>
              <a:t>3. </a:t>
            </a:r>
            <a:r>
              <a:rPr lang="zh-CN" altLang="en-US" dirty="0"/>
              <a:t>逻辑结构设计阶段 将概念结构转换为某个数据库管理系统所支持的数据模型，并对其进行优化</a:t>
            </a:r>
            <a:endParaRPr lang="zh-CN" altLang="en-US" dirty="0"/>
          </a:p>
        </p:txBody>
      </p:sp>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p:txBody>
          <a:bodyPr vert="horz" wrap="square" lIns="91440" tIns="45720" rIns="91440" bIns="45720" anchor="b" anchorCtr="0"/>
          <a:lstStyle/>
          <a:p>
            <a:r>
              <a:rPr lang="zh-CN" altLang="en-US" dirty="0"/>
              <a:t>数据库设计的基本步骤（续）</a:t>
            </a:r>
            <a:endParaRPr lang="zh-CN" altLang="en-US" dirty="0"/>
          </a:p>
        </p:txBody>
      </p:sp>
      <p:sp>
        <p:nvSpPr>
          <p:cNvPr id="23554" name="内容占位符 2"/>
          <p:cNvSpPr>
            <a:spLocks noGrp="1"/>
          </p:cNvSpPr>
          <p:nvPr>
            <p:ph idx="1"/>
          </p:nvPr>
        </p:nvSpPr>
        <p:spPr/>
        <p:txBody>
          <a:bodyPr vert="horz" wrap="square" lIns="91440" tIns="45720" rIns="91440" bIns="45720" anchor="t" anchorCtr="0"/>
          <a:lstStyle/>
          <a:p>
            <a:r>
              <a:rPr lang="en-US" altLang="zh-CN" dirty="0"/>
              <a:t>4. </a:t>
            </a:r>
            <a:r>
              <a:rPr lang="zh-CN" altLang="en-US" dirty="0"/>
              <a:t>物理结构设计阶段：为逻辑数据结构选取一个最适合应用环境的物理结构 包括存储结构和存取方法</a:t>
            </a:r>
            <a:endParaRPr lang="en-US" altLang="zh-CN" dirty="0"/>
          </a:p>
          <a:p>
            <a:r>
              <a:rPr lang="en-US" altLang="zh-CN" dirty="0"/>
              <a:t>5. </a:t>
            </a:r>
            <a:r>
              <a:rPr lang="zh-CN" altLang="en-US" dirty="0"/>
              <a:t>数据库实施阶段：根据逻辑设计和物理设计的结果构建数据库 编写与调试应用程序 组织数据入库并进行试运行</a:t>
            </a:r>
            <a:endParaRPr lang="en-US" altLang="zh-CN" dirty="0"/>
          </a:p>
          <a:p>
            <a:r>
              <a:rPr lang="en-US" altLang="zh-CN" dirty="0"/>
              <a:t>6. </a:t>
            </a:r>
            <a:r>
              <a:rPr lang="zh-CN" altLang="en-US" dirty="0"/>
              <a:t>数据库运行和维护阶段：经过试运行后即可投入正式运行 在运行过程中必须不断对其进行评估、调整与修改</a:t>
            </a:r>
            <a:endParaRPr lang="zh-CN" altLang="en-US" dirty="0"/>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内容占位符 2"/>
          <p:cNvSpPr>
            <a:spLocks noGrp="1"/>
          </p:cNvSpPr>
          <p:nvPr>
            <p:ph idx="1"/>
          </p:nvPr>
        </p:nvSpPr>
        <p:spPr/>
        <p:txBody>
          <a:bodyPr vert="horz" wrap="square" lIns="91440" tIns="45720" rIns="91440" bIns="45720" anchor="t" anchorCtr="0"/>
          <a:lstStyle/>
          <a:p>
            <a:r>
              <a:rPr lang="zh-CN" altLang="en-US" dirty="0"/>
              <a:t>设计一个完善的数据库应用系统 往往是上述</a:t>
            </a:r>
            <a:r>
              <a:rPr lang="en-US" altLang="zh-CN" dirty="0"/>
              <a:t>6</a:t>
            </a:r>
            <a:r>
              <a:rPr lang="zh-CN" altLang="en-US" dirty="0"/>
              <a:t>个阶段的</a:t>
            </a:r>
            <a:r>
              <a:rPr lang="zh-CN" altLang="en-US" b="1" dirty="0">
                <a:solidFill>
                  <a:srgbClr val="FF0000"/>
                </a:solidFill>
              </a:rPr>
              <a:t>不断反复 </a:t>
            </a:r>
            <a:endParaRPr lang="en-US" altLang="zh-CN" b="1" dirty="0">
              <a:solidFill>
                <a:srgbClr val="FF0000"/>
              </a:solidFill>
            </a:endParaRPr>
          </a:p>
          <a:p>
            <a:r>
              <a:rPr lang="zh-CN" altLang="en-US" dirty="0"/>
              <a:t>这个设计步骤既是数据库设计的过程，也包括了数据库应用系统的设计过程 </a:t>
            </a:r>
            <a:endParaRPr lang="en-US" altLang="zh-CN" dirty="0"/>
          </a:p>
          <a:p>
            <a:r>
              <a:rPr lang="zh-CN" altLang="en-US" dirty="0"/>
              <a:t>把</a:t>
            </a:r>
            <a:r>
              <a:rPr lang="zh-CN" altLang="en-US" b="1" dirty="0">
                <a:solidFill>
                  <a:srgbClr val="0000FF"/>
                </a:solidFill>
              </a:rPr>
              <a:t>数据库的设计</a:t>
            </a:r>
            <a:r>
              <a:rPr lang="zh-CN" altLang="en-US" dirty="0"/>
              <a:t>和对</a:t>
            </a:r>
            <a:r>
              <a:rPr lang="zh-CN" altLang="en-US" b="1" dirty="0">
                <a:solidFill>
                  <a:srgbClr val="0000FF"/>
                </a:solidFill>
              </a:rPr>
              <a:t>数据库中数据处理的设计</a:t>
            </a:r>
            <a:r>
              <a:rPr lang="zh-CN" altLang="en-US" dirty="0"/>
              <a:t>紧密结合起来，将这两个方面的需求分析、抽象、设计、实现在各个阶段同时进行，相互参照，相互补充，以完善两方面的设计</a:t>
            </a:r>
            <a:endParaRPr lang="zh-CN" altLang="en-US" dirty="0"/>
          </a:p>
        </p:txBody>
      </p:sp>
      <p:sp>
        <p:nvSpPr>
          <p:cNvPr id="24578" name="标题 1"/>
          <p:cNvSpPr>
            <a:spLocks noGrp="1"/>
          </p:cNvSpPr>
          <p:nvPr>
            <p:ph type="title"/>
          </p:nvPr>
        </p:nvSpPr>
        <p:spPr/>
        <p:txBody>
          <a:bodyPr vert="horz" wrap="square" lIns="91440" tIns="45720" rIns="91440" bIns="45720" anchor="b" anchorCtr="0"/>
          <a:lstStyle/>
          <a:p>
            <a:r>
              <a:rPr lang="zh-CN" altLang="en-US" dirty="0"/>
              <a:t>数据库设计的基本步骤（续）</a:t>
            </a:r>
            <a:endParaRPr lang="zh-CN" altLang="en-US" dirty="0"/>
          </a:p>
        </p:txBody>
      </p:sp>
    </p:spTree>
  </p:cSld>
  <p:clrMapOvr>
    <a:masterClrMapping/>
  </p:clrMapOvr>
  <p:transition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2"/>
          <p:cNvPicPr>
            <a:picLocks noGrp="1" noChangeAspect="1"/>
          </p:cNvPicPr>
          <p:nvPr>
            <p:ph idx="4294967295"/>
          </p:nvPr>
        </p:nvPicPr>
        <p:blipFill rotWithShape="1">
          <a:blip r:embed="rId1"/>
          <a:srcRect l="-1080" r="-1" b="6406"/>
          <a:stretch>
            <a:fillRect/>
          </a:stretch>
        </p:blipFill>
        <p:spPr>
          <a:xfrm>
            <a:off x="2351405" y="331788"/>
            <a:ext cx="6264875" cy="6196368"/>
          </a:xfrm>
        </p:spPr>
      </p:pic>
    </p:spTree>
  </p:cSld>
  <p:clrMapOvr>
    <a:masterClrMapping/>
  </p:clrMapOvr>
  <p:transition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vert="horz" wrap="square" lIns="91440" tIns="45720" rIns="91440" bIns="45720" anchor="b" anchorCtr="0"/>
          <a:lstStyle/>
          <a:p>
            <a:r>
              <a:rPr lang="zh-CN" altLang="en-US" dirty="0"/>
              <a:t>数据库设计过程中的各级模式</a:t>
            </a:r>
            <a:endParaRPr lang="zh-CN" altLang="en-US" dirty="0"/>
          </a:p>
        </p:txBody>
      </p:sp>
      <p:sp>
        <p:nvSpPr>
          <p:cNvPr id="27650" name="内容占位符 2"/>
          <p:cNvSpPr>
            <a:spLocks noGrp="1"/>
          </p:cNvSpPr>
          <p:nvPr>
            <p:ph idx="1"/>
          </p:nvPr>
        </p:nvSpPr>
        <p:spPr/>
        <p:txBody>
          <a:bodyPr vert="horz" wrap="square" lIns="91440" tIns="45720" rIns="91440" bIns="45720" anchor="t" anchorCtr="0"/>
          <a:lstStyle/>
          <a:p>
            <a:r>
              <a:rPr lang="zh-CN" altLang="en-US" dirty="0"/>
              <a:t>数据库设计不同阶段形成的数据库各级模式</a:t>
            </a:r>
            <a:endParaRPr lang="zh-CN" altLang="en-US" dirty="0"/>
          </a:p>
        </p:txBody>
      </p:sp>
      <p:pic>
        <p:nvPicPr>
          <p:cNvPr id="27651" name="Picture 2"/>
          <p:cNvPicPr>
            <a:picLocks noChangeAspect="1"/>
          </p:cNvPicPr>
          <p:nvPr/>
        </p:nvPicPr>
        <p:blipFill rotWithShape="1">
          <a:blip r:embed="rId1"/>
          <a:srcRect l="2189" t="2859" r="3097"/>
          <a:stretch>
            <a:fillRect/>
          </a:stretch>
        </p:blipFill>
        <p:spPr>
          <a:xfrm>
            <a:off x="2743200" y="1695499"/>
            <a:ext cx="6953200" cy="4310014"/>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3"/>
          <p:cNvSpPr>
            <a:spLocks noGrp="1"/>
          </p:cNvSpPr>
          <p:nvPr>
            <p:ph idx="1"/>
          </p:nvPr>
        </p:nvSpPr>
        <p:spPr/>
        <p:txBody>
          <a:bodyPr vert="horz" wrap="square" lIns="91440" tIns="45720" rIns="91440" bIns="45720" anchor="t" anchorCtr="0"/>
          <a:lstStyle/>
          <a:p>
            <a:pPr>
              <a:buNone/>
            </a:pPr>
            <a:r>
              <a:rPr lang="en-US" altLang="zh-CN" sz="2800" dirty="0"/>
              <a:t>7.1  </a:t>
            </a:r>
            <a:r>
              <a:rPr lang="zh-CN" altLang="en-US" sz="2800" dirty="0"/>
              <a:t>数据库设计概述</a:t>
            </a:r>
            <a:endParaRPr lang="zh-CN" altLang="en-US" sz="2800" dirty="0"/>
          </a:p>
          <a:p>
            <a:pPr>
              <a:buNone/>
            </a:pPr>
            <a:r>
              <a:rPr lang="en-US" altLang="zh-CN" sz="2800" b="1" dirty="0">
                <a:solidFill>
                  <a:srgbClr val="FF0000"/>
                </a:solidFill>
              </a:rPr>
              <a:t>7.2  </a:t>
            </a:r>
            <a:r>
              <a:rPr lang="zh-CN" altLang="en-US" sz="2800" b="1" dirty="0">
                <a:solidFill>
                  <a:srgbClr val="FF0000"/>
                </a:solidFill>
              </a:rPr>
              <a:t>需求分析（不讲）</a:t>
            </a:r>
            <a:endParaRPr lang="zh-CN" altLang="en-US" sz="2800" b="1" dirty="0">
              <a:solidFill>
                <a:srgbClr val="FF0000"/>
              </a:solidFill>
            </a:endParaRPr>
          </a:p>
          <a:p>
            <a:pPr>
              <a:buNone/>
            </a:pPr>
            <a:r>
              <a:rPr lang="en-US" altLang="zh-CN" sz="2800" dirty="0"/>
              <a:t>7.3  </a:t>
            </a:r>
            <a:r>
              <a:rPr lang="zh-CN" altLang="en-US" sz="2800" dirty="0"/>
              <a:t>概念结构设计</a:t>
            </a:r>
            <a:endParaRPr lang="zh-CN" altLang="en-US" sz="2800" dirty="0"/>
          </a:p>
          <a:p>
            <a:pPr>
              <a:buNone/>
            </a:pPr>
            <a:r>
              <a:rPr lang="en-US" altLang="zh-CN" sz="2800" dirty="0"/>
              <a:t>7.4  </a:t>
            </a:r>
            <a:r>
              <a:rPr lang="zh-CN" altLang="en-US" sz="2800" dirty="0"/>
              <a:t>逻辑结构设计</a:t>
            </a:r>
            <a:endParaRPr lang="zh-CN" altLang="en-US" sz="2800" dirty="0"/>
          </a:p>
          <a:p>
            <a:pPr>
              <a:buNone/>
            </a:pPr>
            <a:r>
              <a:rPr lang="en-US" altLang="zh-CN" sz="2800" dirty="0"/>
              <a:t>7.5  </a:t>
            </a:r>
            <a:r>
              <a:rPr lang="zh-CN" altLang="en-US" sz="2800" dirty="0"/>
              <a:t>数据库的物理设计</a:t>
            </a:r>
            <a:endParaRPr lang="zh-CN" altLang="en-US" sz="2800" dirty="0"/>
          </a:p>
          <a:p>
            <a:pPr>
              <a:buNone/>
            </a:pPr>
            <a:r>
              <a:rPr lang="en-US" altLang="zh-CN" sz="2800" dirty="0"/>
              <a:t>7.6  </a:t>
            </a:r>
            <a:r>
              <a:rPr lang="zh-CN" altLang="en-US" sz="2800" dirty="0"/>
              <a:t>数据库的实施和维护</a:t>
            </a:r>
            <a:endParaRPr lang="zh-CN" altLang="en-US" sz="2800" dirty="0"/>
          </a:p>
          <a:p>
            <a:pPr>
              <a:buNone/>
            </a:pPr>
            <a:r>
              <a:rPr lang="en-US" altLang="zh-CN" sz="2800" dirty="0"/>
              <a:t>7.7  </a:t>
            </a:r>
            <a:r>
              <a:rPr lang="zh-CN" altLang="en-US" sz="2800" dirty="0"/>
              <a:t>小结</a:t>
            </a:r>
            <a:endParaRPr lang="zh-CN" altLang="en-US" sz="2800" dirty="0"/>
          </a:p>
        </p:txBody>
      </p:sp>
      <p:sp>
        <p:nvSpPr>
          <p:cNvPr id="29698" name="Rectangle 2"/>
          <p:cNvSpPr>
            <a:spLocks noGrp="1"/>
          </p:cNvSpPr>
          <p:nvPr>
            <p:ph type="title"/>
          </p:nvPr>
        </p:nvSpPr>
        <p:spPr/>
        <p:txBody>
          <a:bodyPr vert="horz" wrap="square" lIns="91440" tIns="45720" rIns="91440" bIns="45720" anchor="b" anchorCtr="0"/>
          <a:lstStyle/>
          <a:p>
            <a:r>
              <a:rPr lang="zh-CN" altLang="en-US" dirty="0"/>
              <a:t>第七章  数据库设计</a:t>
            </a:r>
            <a:endParaRPr lang="zh-CN" altLang="en-US"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p:cNvSpPr>
            <a:spLocks noGrp="1"/>
          </p:cNvSpPr>
          <p:nvPr>
            <p:ph idx="1"/>
          </p:nvPr>
        </p:nvSpPr>
        <p:spPr/>
        <p:txBody>
          <a:bodyPr vert="horz" wrap="square" lIns="91440" tIns="45720" rIns="91440" bIns="45720" anchor="t" anchorCtr="0"/>
          <a:lstStyle/>
          <a:p>
            <a:pPr>
              <a:lnSpc>
                <a:spcPct val="140000"/>
              </a:lnSpc>
              <a:buNone/>
            </a:pPr>
            <a:r>
              <a:rPr lang="en-US" altLang="zh-CN" dirty="0">
                <a:solidFill>
                  <a:srgbClr val="0000FF"/>
                </a:solidFill>
              </a:rPr>
              <a:t>7.2.1  </a:t>
            </a:r>
            <a:r>
              <a:rPr lang="zh-CN" altLang="en-US" dirty="0">
                <a:solidFill>
                  <a:srgbClr val="0000FF"/>
                </a:solidFill>
              </a:rPr>
              <a:t>需求分析的任务</a:t>
            </a:r>
            <a:endParaRPr lang="zh-CN" altLang="en-US" dirty="0">
              <a:solidFill>
                <a:srgbClr val="0000FF"/>
              </a:solidFill>
            </a:endParaRPr>
          </a:p>
          <a:p>
            <a:pPr>
              <a:lnSpc>
                <a:spcPct val="140000"/>
              </a:lnSpc>
              <a:buNone/>
            </a:pPr>
            <a:r>
              <a:rPr lang="en-US" altLang="zh-CN" dirty="0"/>
              <a:t>7.2.2  </a:t>
            </a:r>
            <a:r>
              <a:rPr lang="zh-CN" altLang="en-US" dirty="0"/>
              <a:t>需求分析的方法</a:t>
            </a:r>
            <a:endParaRPr lang="zh-CN" altLang="en-US" dirty="0"/>
          </a:p>
          <a:p>
            <a:pPr>
              <a:lnSpc>
                <a:spcPct val="140000"/>
              </a:lnSpc>
              <a:buNone/>
            </a:pPr>
            <a:r>
              <a:rPr lang="en-US" altLang="zh-CN" dirty="0"/>
              <a:t>7.2.3  </a:t>
            </a:r>
            <a:r>
              <a:rPr lang="zh-CN" altLang="en-US" dirty="0"/>
              <a:t>数据字典</a:t>
            </a:r>
            <a:endParaRPr lang="zh-CN" altLang="en-US" dirty="0"/>
          </a:p>
        </p:txBody>
      </p:sp>
      <p:sp>
        <p:nvSpPr>
          <p:cNvPr id="31746" name="Rectangle 2"/>
          <p:cNvSpPr>
            <a:spLocks noGrp="1"/>
          </p:cNvSpPr>
          <p:nvPr>
            <p:ph type="title"/>
          </p:nvPr>
        </p:nvSpPr>
        <p:spPr/>
        <p:txBody>
          <a:bodyPr vert="horz" wrap="square" lIns="91440" tIns="45720" rIns="91440" bIns="45720" anchor="b" anchorCtr="0"/>
          <a:lstStyle/>
          <a:p>
            <a:r>
              <a:rPr lang="en-US" altLang="zh-CN" dirty="0"/>
              <a:t>7.2  </a:t>
            </a:r>
            <a:r>
              <a:rPr lang="zh-CN" altLang="en-US" dirty="0"/>
              <a:t>需求分析</a:t>
            </a:r>
            <a:endParaRPr lang="zh-CN" altLang="en-US"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p:cNvSpPr>
          <p:nvPr>
            <p:ph idx="1"/>
          </p:nvPr>
        </p:nvSpPr>
        <p:spPr>
          <a:xfrm>
            <a:off x="983615" y="1285875"/>
            <a:ext cx="9765665" cy="4714875"/>
          </a:xfrm>
        </p:spPr>
        <p:txBody>
          <a:bodyPr vert="horz" wrap="square" lIns="91440" tIns="45720" rIns="91440" bIns="45720" anchor="t" anchorCtr="0"/>
          <a:lstStyle/>
          <a:p>
            <a:pPr>
              <a:lnSpc>
                <a:spcPct val="150000"/>
              </a:lnSpc>
            </a:pPr>
            <a:r>
              <a:rPr lang="zh-CN" altLang="en-US" sz="3600" dirty="0"/>
              <a:t>需求分析就是分析用户的</a:t>
            </a:r>
            <a:r>
              <a:rPr lang="zh-CN" altLang="en-US" sz="3600" dirty="0">
                <a:solidFill>
                  <a:srgbClr val="FF0000"/>
                </a:solidFill>
              </a:rPr>
              <a:t>需要与要求</a:t>
            </a:r>
            <a:endParaRPr lang="zh-CN" altLang="en-US" sz="3600" dirty="0">
              <a:solidFill>
                <a:srgbClr val="FF0000"/>
              </a:solidFill>
            </a:endParaRPr>
          </a:p>
          <a:p>
            <a:pPr lvl="1" indent="-436245">
              <a:lnSpc>
                <a:spcPct val="150000"/>
              </a:lnSpc>
            </a:pPr>
            <a:r>
              <a:rPr lang="zh-CN" altLang="en-US" dirty="0"/>
              <a:t>需求分析是设计数据库的</a:t>
            </a:r>
            <a:r>
              <a:rPr lang="zh-CN" altLang="en-US" dirty="0">
                <a:solidFill>
                  <a:srgbClr val="FF0000"/>
                </a:solidFill>
              </a:rPr>
              <a:t>起点。</a:t>
            </a:r>
            <a:endParaRPr lang="zh-CN" altLang="en-US" dirty="0">
              <a:solidFill>
                <a:srgbClr val="FF0000"/>
              </a:solidFill>
            </a:endParaRPr>
          </a:p>
          <a:p>
            <a:pPr lvl="1" indent="-436245">
              <a:lnSpc>
                <a:spcPct val="150000"/>
              </a:lnSpc>
            </a:pPr>
            <a:r>
              <a:rPr lang="zh-CN" altLang="en-US" dirty="0"/>
              <a:t>需求分析的结果是否准确地反映了用户的实际要求，将直接影响到后面各个阶段的设计，并影响到设计结果是否合理和实用。</a:t>
            </a:r>
            <a:endParaRPr lang="zh-CN" altLang="en-US" dirty="0"/>
          </a:p>
        </p:txBody>
      </p:sp>
      <p:sp>
        <p:nvSpPr>
          <p:cNvPr id="32770" name="Rectangle 2"/>
          <p:cNvSpPr>
            <a:spLocks noGrp="1"/>
          </p:cNvSpPr>
          <p:nvPr>
            <p:ph type="title"/>
          </p:nvPr>
        </p:nvSpPr>
        <p:spPr/>
        <p:txBody>
          <a:bodyPr vert="horz" wrap="square" lIns="91440" tIns="45720" rIns="91440" bIns="45720" anchor="b" anchorCtr="0"/>
          <a:lstStyle/>
          <a:p>
            <a:r>
              <a:rPr lang="zh-CN" altLang="en-US" dirty="0"/>
              <a:t>需求分析（续）</a:t>
            </a:r>
            <a:endParaRPr lang="zh-CN" altLang="en-US"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Grp="1"/>
          </p:cNvSpPr>
          <p:nvPr>
            <p:ph idx="1"/>
          </p:nvPr>
        </p:nvSpPr>
        <p:spPr/>
        <p:txBody>
          <a:bodyPr vert="horz" wrap="square" lIns="91440" tIns="45720" rIns="91440" bIns="45720" anchor="t" anchorCtr="0"/>
          <a:lstStyle/>
          <a:p>
            <a:pPr>
              <a:lnSpc>
                <a:spcPct val="90000"/>
              </a:lnSpc>
            </a:pPr>
            <a:r>
              <a:rPr lang="en-US" altLang="zh-CN" sz="2800" dirty="0"/>
              <a:t> </a:t>
            </a:r>
            <a:r>
              <a:rPr lang="zh-CN" altLang="en-US" sz="2800" dirty="0"/>
              <a:t>需求分析的任务：</a:t>
            </a:r>
            <a:r>
              <a:rPr lang="zh-CN" altLang="en-US" dirty="0"/>
              <a:t>通过详细调查现实世界要处理的对象（组织、部门、企业等），充分了解</a:t>
            </a:r>
            <a:r>
              <a:rPr lang="zh-CN" altLang="en-US" b="1" dirty="0">
                <a:solidFill>
                  <a:srgbClr val="2355F3"/>
                </a:solidFill>
              </a:rPr>
              <a:t>原系统</a:t>
            </a:r>
            <a:r>
              <a:rPr lang="zh-CN" altLang="en-US" dirty="0"/>
              <a:t>（手工系统或计算机系统）工作概况，明确用户的各种需求。</a:t>
            </a:r>
            <a:endParaRPr lang="zh-CN" altLang="en-US" dirty="0">
              <a:solidFill>
                <a:srgbClr val="2355F3"/>
              </a:solidFill>
            </a:endParaRPr>
          </a:p>
          <a:p>
            <a:pPr>
              <a:lnSpc>
                <a:spcPct val="90000"/>
              </a:lnSpc>
            </a:pPr>
            <a:r>
              <a:rPr lang="zh-CN" altLang="en-US" sz="2800" dirty="0"/>
              <a:t> </a:t>
            </a:r>
            <a:r>
              <a:rPr lang="zh-CN" altLang="en-US" dirty="0"/>
              <a:t>在此基础上确定</a:t>
            </a:r>
            <a:r>
              <a:rPr lang="zh-CN" altLang="en-US" b="1" dirty="0">
                <a:solidFill>
                  <a:srgbClr val="0000FF"/>
                </a:solidFill>
              </a:rPr>
              <a:t>新系统</a:t>
            </a:r>
            <a:r>
              <a:rPr lang="zh-CN" altLang="en-US" dirty="0"/>
              <a:t>的功能。新系统必须充分考虑今后可能的</a:t>
            </a:r>
            <a:r>
              <a:rPr lang="zh-CN" altLang="en-US" dirty="0">
                <a:solidFill>
                  <a:srgbClr val="FF0000"/>
                </a:solidFill>
              </a:rPr>
              <a:t>扩充和改变</a:t>
            </a:r>
            <a:r>
              <a:rPr lang="zh-CN" altLang="en-US" dirty="0"/>
              <a:t>，不能仅仅按当前应用需求来设计数据库。</a:t>
            </a:r>
            <a:endParaRPr lang="zh-CN" altLang="en-US" dirty="0"/>
          </a:p>
        </p:txBody>
      </p:sp>
      <p:sp>
        <p:nvSpPr>
          <p:cNvPr id="33794" name="Rectangle 2"/>
          <p:cNvSpPr>
            <a:spLocks noGrp="1"/>
          </p:cNvSpPr>
          <p:nvPr>
            <p:ph type="title"/>
          </p:nvPr>
        </p:nvSpPr>
        <p:spPr/>
        <p:txBody>
          <a:bodyPr vert="horz" wrap="square" lIns="91440" tIns="45720" rIns="91440" bIns="45720" anchor="b" anchorCtr="0"/>
          <a:lstStyle/>
          <a:p>
            <a:r>
              <a:rPr lang="zh-CN" altLang="en-US" dirty="0"/>
              <a:t>一、需求分析的任务</a:t>
            </a:r>
            <a:endParaRPr lang="zh-CN" altLang="en-US"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需求分析的重点：调查、收集与分析用户在数据管理中的</a:t>
            </a:r>
            <a:r>
              <a:rPr kumimoji="0" lang="zh-CN" altLang="en-US" sz="2800" b="1" i="0" u="none" strike="noStrike" kern="0" cap="none" spc="0" normalizeH="0" baseline="0" noProof="0" dirty="0" smtClean="0">
                <a:ln>
                  <a:noFill/>
                </a:ln>
                <a:solidFill>
                  <a:srgbClr val="2355F3"/>
                </a:solidFill>
                <a:effectLst/>
                <a:uLnTx/>
                <a:uFillTx/>
                <a:latin typeface="+mn-lt"/>
                <a:ea typeface="+mn-ea"/>
                <a:cs typeface="+mn-cs"/>
              </a:rPr>
              <a:t>信息要求、处理要求、安全性与完整性要求</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 信息要求：</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用户需要从数据库中获得信息的内容与性质</a:t>
            </a: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a:p>
            <a:pPr marL="908050" marR="0" lvl="1" indent="-43688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p"/>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由用户的信息要求可以导出数据要求，即在数据库中需要存储哪些数据。</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ea"/>
            </a:endParaRPr>
          </a:p>
          <a:p>
            <a:pPr marL="469900" marR="0" lvl="1"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ea"/>
              </a:rPr>
              <a:t>处理要求：对处理功能的要求和性能的要求。</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ea"/>
            </a:endParaRPr>
          </a:p>
          <a:p>
            <a:pPr marL="469900" marR="0" lvl="0" indent="-46990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uLnTx/>
                <a:uFillTx/>
                <a:latin typeface="+mn-lt"/>
                <a:ea typeface="+mn-ea"/>
                <a:cs typeface="+mn-cs"/>
              </a:rPr>
              <a:t>安全性与完整性要求。</a:t>
            </a:r>
            <a:endParaRPr kumimoji="0" lang="zh-CN" altLang="en-US" sz="3000" b="0" i="0" u="none" strike="noStrike" kern="0" cap="none" spc="0" normalizeH="0" baseline="0" noProof="0" dirty="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10000"/>
              </a:lnSpc>
              <a:spcBef>
                <a:spcPct val="20000"/>
              </a:spcBef>
              <a:spcAft>
                <a:spcPct val="0"/>
              </a:spcAft>
              <a:buClr>
                <a:schemeClr val="accent2"/>
              </a:buClr>
              <a:buSzTx/>
              <a:buFont typeface="Wingdings" panose="05000000000000000000" pitchFamily="2" charset="2"/>
              <a:buChar char="p"/>
              <a:defRPr/>
            </a:pPr>
            <a:endParaRPr kumimoji="0" lang="zh-CN" altLang="en-US" sz="2800" b="0" i="0" u="none" strike="noStrike" kern="0" cap="none" spc="0" normalizeH="0" baseline="0" noProof="0" dirty="0" smtClean="0">
              <a:ln>
                <a:noFill/>
              </a:ln>
              <a:solidFill>
                <a:schemeClr val="tx1"/>
              </a:solidFill>
              <a:effectLst/>
              <a:uLnTx/>
              <a:uFillTx/>
              <a:latin typeface="+mn-lt"/>
              <a:ea typeface="+mn-ea"/>
              <a:cs typeface="+mn-ea"/>
            </a:endParaRPr>
          </a:p>
        </p:txBody>
      </p:sp>
      <p:sp>
        <p:nvSpPr>
          <p:cNvPr id="34818" name="Rectangle 2"/>
          <p:cNvSpPr>
            <a:spLocks noGrp="1"/>
          </p:cNvSpPr>
          <p:nvPr>
            <p:ph type="title"/>
          </p:nvPr>
        </p:nvSpPr>
        <p:spPr/>
        <p:txBody>
          <a:bodyPr vert="horz" wrap="square" lIns="91440" tIns="45720" rIns="91440" bIns="45720" anchor="b" anchorCtr="0"/>
          <a:lstStyle/>
          <a:p>
            <a:r>
              <a:rPr lang="zh-CN" altLang="en-US" dirty="0"/>
              <a:t>二、需求分析的重点</a:t>
            </a:r>
            <a:endParaRPr lang="zh-CN" altLang="en-US"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p:cNvSpPr>
          <p:nvPr>
            <p:ph idx="1"/>
          </p:nvPr>
        </p:nvSpPr>
        <p:spPr>
          <a:xfrm>
            <a:off x="854075" y="1285875"/>
            <a:ext cx="9944735" cy="4806950"/>
          </a:xfrm>
        </p:spPr>
        <p:txBody>
          <a:bodyPr vert="horz" wrap="square" lIns="91440" tIns="45720" rIns="91440" bIns="45720" anchor="t" anchorCtr="0"/>
          <a:lstStyle/>
          <a:p>
            <a:pPr>
              <a:lnSpc>
                <a:spcPct val="110000"/>
              </a:lnSpc>
            </a:pPr>
            <a:r>
              <a:rPr lang="zh-CN" altLang="en-US" sz="2800" dirty="0"/>
              <a:t>确定用户最终需求的难点</a:t>
            </a:r>
            <a:endParaRPr lang="zh-CN" altLang="en-US" dirty="0"/>
          </a:p>
          <a:p>
            <a:pPr lvl="1" indent="-436245">
              <a:lnSpc>
                <a:spcPct val="110000"/>
              </a:lnSpc>
            </a:pPr>
            <a:r>
              <a:rPr lang="zh-CN" altLang="en-US" sz="2400" dirty="0">
                <a:solidFill>
                  <a:srgbClr val="2355F3"/>
                </a:solidFill>
              </a:rPr>
              <a:t>用户</a:t>
            </a:r>
            <a:r>
              <a:rPr lang="zh-CN" altLang="en-US" sz="2400" dirty="0"/>
              <a:t>缺少计算机知识，开始时无法确定计算机究竟能为自己做什么，不能做什么，因此无法一下子准确地表达自己的需求，他们所提出的需求往往不断地变化。</a:t>
            </a:r>
            <a:endParaRPr lang="zh-CN" altLang="en-US" sz="2400" dirty="0"/>
          </a:p>
          <a:p>
            <a:pPr lvl="1" indent="-436245">
              <a:lnSpc>
                <a:spcPct val="110000"/>
              </a:lnSpc>
            </a:pPr>
            <a:r>
              <a:rPr lang="zh-CN" altLang="en-US" sz="2400" dirty="0">
                <a:solidFill>
                  <a:srgbClr val="2355F3"/>
                </a:solidFill>
              </a:rPr>
              <a:t>设计人员</a:t>
            </a:r>
            <a:r>
              <a:rPr lang="zh-CN" altLang="en-US" sz="2400" dirty="0"/>
              <a:t>缺少用户的专业知识，不易理解用户的真正需求，甚至误解用户的需求。</a:t>
            </a:r>
            <a:endParaRPr lang="zh-CN" altLang="en-US" sz="2400" dirty="0"/>
          </a:p>
          <a:p>
            <a:pPr>
              <a:lnSpc>
                <a:spcPct val="150000"/>
              </a:lnSpc>
            </a:pPr>
            <a:r>
              <a:rPr lang="zh-CN" altLang="en-US" dirty="0"/>
              <a:t>解决方法</a:t>
            </a:r>
            <a:endParaRPr lang="zh-CN" altLang="en-US" dirty="0"/>
          </a:p>
          <a:p>
            <a:pPr lvl="1" indent="-436245">
              <a:lnSpc>
                <a:spcPct val="150000"/>
              </a:lnSpc>
            </a:pPr>
            <a:r>
              <a:rPr lang="zh-CN" altLang="en-US" sz="2400" dirty="0"/>
              <a:t>与用户不断深入地进行交流</a:t>
            </a:r>
            <a:endParaRPr lang="en-US" altLang="zh-CN" sz="2400" dirty="0"/>
          </a:p>
        </p:txBody>
      </p:sp>
      <p:sp>
        <p:nvSpPr>
          <p:cNvPr id="35842" name="Rectangle 2"/>
          <p:cNvSpPr>
            <a:spLocks noGrp="1"/>
          </p:cNvSpPr>
          <p:nvPr>
            <p:ph type="title"/>
          </p:nvPr>
        </p:nvSpPr>
        <p:spPr/>
        <p:txBody>
          <a:bodyPr vert="horz" wrap="square" lIns="91440" tIns="45720" rIns="91440" bIns="45720" anchor="b" anchorCtr="0"/>
          <a:lstStyle/>
          <a:p>
            <a:r>
              <a:rPr lang="zh-CN" altLang="en-US" dirty="0"/>
              <a:t>三、需求分析的难点</a:t>
            </a:r>
            <a:endParaRPr lang="zh-CN" altLang="en-US"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p:cNvSpPr>
            <a:spLocks noGrp="1"/>
          </p:cNvSpPr>
          <p:nvPr>
            <p:ph idx="1"/>
          </p:nvPr>
        </p:nvSpPr>
        <p:spPr/>
        <p:txBody>
          <a:bodyPr vert="horz" wrap="square" lIns="91440" tIns="45720" rIns="91440" bIns="45720" anchor="t" anchorCtr="0"/>
          <a:lstStyle/>
          <a:p>
            <a:pPr>
              <a:lnSpc>
                <a:spcPct val="150000"/>
              </a:lnSpc>
              <a:buNone/>
            </a:pPr>
            <a:r>
              <a:rPr lang="en-US" altLang="zh-CN" dirty="0"/>
              <a:t>7.2.1  </a:t>
            </a:r>
            <a:r>
              <a:rPr lang="zh-CN" altLang="en-US" dirty="0"/>
              <a:t>需求分析的任务</a:t>
            </a:r>
            <a:endParaRPr lang="zh-CN" altLang="en-US" dirty="0"/>
          </a:p>
          <a:p>
            <a:pPr>
              <a:lnSpc>
                <a:spcPct val="150000"/>
              </a:lnSpc>
              <a:buNone/>
            </a:pPr>
            <a:r>
              <a:rPr lang="en-US" altLang="zh-CN" dirty="0">
                <a:solidFill>
                  <a:schemeClr val="accent2"/>
                </a:solidFill>
              </a:rPr>
              <a:t>7.2.2  </a:t>
            </a:r>
            <a:r>
              <a:rPr lang="zh-CN" altLang="en-US" dirty="0">
                <a:solidFill>
                  <a:schemeClr val="accent2"/>
                </a:solidFill>
              </a:rPr>
              <a:t>需求分析的方法</a:t>
            </a:r>
            <a:endParaRPr lang="zh-CN" altLang="en-US" dirty="0">
              <a:solidFill>
                <a:schemeClr val="accent2"/>
              </a:solidFill>
            </a:endParaRPr>
          </a:p>
          <a:p>
            <a:pPr>
              <a:lnSpc>
                <a:spcPct val="150000"/>
              </a:lnSpc>
              <a:buNone/>
            </a:pPr>
            <a:r>
              <a:rPr lang="en-US" altLang="zh-CN" dirty="0"/>
              <a:t>7.2.3  </a:t>
            </a:r>
            <a:r>
              <a:rPr lang="zh-CN" altLang="en-US" dirty="0"/>
              <a:t>数据字典</a:t>
            </a:r>
            <a:endParaRPr lang="zh-CN" altLang="en-US" dirty="0"/>
          </a:p>
        </p:txBody>
      </p:sp>
      <p:sp>
        <p:nvSpPr>
          <p:cNvPr id="36866" name="Rectangle 2"/>
          <p:cNvSpPr>
            <a:spLocks noGrp="1"/>
          </p:cNvSpPr>
          <p:nvPr>
            <p:ph type="title"/>
          </p:nvPr>
        </p:nvSpPr>
        <p:spPr/>
        <p:txBody>
          <a:bodyPr vert="horz" wrap="square" lIns="91440" tIns="45720" rIns="91440" bIns="45720" anchor="b" anchorCtr="0"/>
          <a:lstStyle/>
          <a:p>
            <a:r>
              <a:rPr lang="en-US" altLang="zh-CN" dirty="0"/>
              <a:t>7.2  </a:t>
            </a:r>
            <a:r>
              <a:rPr lang="zh-CN" altLang="en-US" dirty="0"/>
              <a:t>需求分析</a:t>
            </a:r>
            <a:endParaRPr lang="zh-CN" altLang="en-US" dirty="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p:cNvSpPr>
            <a:spLocks noGrp="1"/>
          </p:cNvSpPr>
          <p:nvPr>
            <p:ph idx="1"/>
          </p:nvPr>
        </p:nvSpPr>
        <p:spPr>
          <a:xfrm>
            <a:off x="983298" y="1268730"/>
            <a:ext cx="8153400" cy="4114800"/>
          </a:xfrm>
        </p:spPr>
        <p:txBody>
          <a:bodyPr vert="horz" wrap="square" lIns="91440" tIns="45720" rIns="91440" bIns="45720" anchor="t" anchorCtr="0"/>
          <a:lstStyle/>
          <a:p>
            <a:pPr>
              <a:lnSpc>
                <a:spcPct val="180000"/>
              </a:lnSpc>
            </a:pPr>
            <a:r>
              <a:rPr lang="zh-CN" altLang="en-US" dirty="0"/>
              <a:t>调查清楚用户的实际需求并进行初步分析</a:t>
            </a:r>
            <a:endParaRPr lang="zh-CN" altLang="en-US" dirty="0"/>
          </a:p>
          <a:p>
            <a:pPr>
              <a:lnSpc>
                <a:spcPct val="180000"/>
              </a:lnSpc>
            </a:pPr>
            <a:r>
              <a:rPr lang="zh-CN" altLang="en-US" dirty="0"/>
              <a:t>与用户达成共识</a:t>
            </a:r>
            <a:endParaRPr lang="zh-CN" altLang="en-US" dirty="0"/>
          </a:p>
          <a:p>
            <a:pPr>
              <a:lnSpc>
                <a:spcPct val="180000"/>
              </a:lnSpc>
            </a:pPr>
            <a:r>
              <a:rPr lang="zh-CN" altLang="en-US" dirty="0"/>
              <a:t>进一步分析与表达这些需求</a:t>
            </a:r>
            <a:endParaRPr lang="zh-CN" altLang="en-US" dirty="0"/>
          </a:p>
          <a:p>
            <a:pPr>
              <a:lnSpc>
                <a:spcPct val="180000"/>
              </a:lnSpc>
            </a:pPr>
            <a:endParaRPr lang="en-US" altLang="zh-CN" sz="3600" dirty="0"/>
          </a:p>
        </p:txBody>
      </p:sp>
      <p:sp>
        <p:nvSpPr>
          <p:cNvPr id="37890" name="Rectangle 2"/>
          <p:cNvSpPr>
            <a:spLocks noGrp="1"/>
          </p:cNvSpPr>
          <p:nvPr>
            <p:ph type="title"/>
          </p:nvPr>
        </p:nvSpPr>
        <p:spPr/>
        <p:txBody>
          <a:bodyPr vert="horz" wrap="square" lIns="91440" tIns="45720" rIns="91440" bIns="45720" anchor="b" anchorCtr="0"/>
          <a:lstStyle/>
          <a:p>
            <a:r>
              <a:rPr lang="en-US" altLang="zh-CN" dirty="0"/>
              <a:t>7.2.2  </a:t>
            </a:r>
            <a:r>
              <a:rPr lang="zh-CN" altLang="en-US" dirty="0"/>
              <a:t>需求分析的方法</a:t>
            </a:r>
            <a:endParaRPr lang="zh-CN" altLang="en-US"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Grp="1"/>
          </p:cNvSpPr>
          <p:nvPr>
            <p:ph idx="1"/>
          </p:nvPr>
        </p:nvSpPr>
        <p:spPr/>
        <p:txBody>
          <a:bodyPr vert="horz" wrap="square" lIns="91440" tIns="45720" rIns="91440" bIns="45720" anchor="t" anchorCtr="0"/>
          <a:lstStyle/>
          <a:p>
            <a:pPr>
              <a:lnSpc>
                <a:spcPct val="190000"/>
              </a:lnSpc>
              <a:buNone/>
            </a:pPr>
            <a:r>
              <a:rPr lang="en-US" altLang="zh-CN" sz="2800" dirty="0"/>
              <a:t>⑴ </a:t>
            </a:r>
            <a:r>
              <a:rPr lang="zh-CN" altLang="en-US" sz="2800" dirty="0"/>
              <a:t>调查组织机构情况</a:t>
            </a:r>
            <a:endParaRPr lang="zh-CN" altLang="en-US" sz="2800" dirty="0"/>
          </a:p>
          <a:p>
            <a:pPr lvl="1" indent="-436245">
              <a:lnSpc>
                <a:spcPct val="190000"/>
              </a:lnSpc>
            </a:pPr>
            <a:r>
              <a:rPr lang="zh-CN" altLang="en-US" dirty="0"/>
              <a:t> 组织部门的组成情况</a:t>
            </a:r>
            <a:endParaRPr lang="zh-CN" altLang="en-US" dirty="0"/>
          </a:p>
          <a:p>
            <a:pPr lvl="1" indent="-436245">
              <a:lnSpc>
                <a:spcPct val="190000"/>
              </a:lnSpc>
            </a:pPr>
            <a:r>
              <a:rPr lang="zh-CN" altLang="en-US" dirty="0"/>
              <a:t> 各部门的职责等</a:t>
            </a:r>
            <a:endParaRPr lang="zh-CN" altLang="en-US" dirty="0"/>
          </a:p>
        </p:txBody>
      </p:sp>
      <p:sp>
        <p:nvSpPr>
          <p:cNvPr id="38914" name="Rectangle 2"/>
          <p:cNvSpPr>
            <a:spLocks noGrp="1"/>
          </p:cNvSpPr>
          <p:nvPr>
            <p:ph type="title"/>
          </p:nvPr>
        </p:nvSpPr>
        <p:spPr/>
        <p:txBody>
          <a:bodyPr vert="horz" wrap="square" lIns="91440" tIns="45720" rIns="91440" bIns="45720" anchor="b" anchorCtr="0"/>
          <a:lstStyle/>
          <a:p>
            <a:r>
              <a:rPr lang="zh-CN" altLang="en-US" dirty="0"/>
              <a:t>一、 调查与初步分析用户需求</a:t>
            </a:r>
            <a:endParaRPr lang="zh-CN" altLang="en-US"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p:txBody>
          <a:bodyPr vert="horz" wrap="square" lIns="91440" tIns="45720" rIns="91440" bIns="45720" anchor="t" anchorCtr="0"/>
          <a:lstStyle/>
          <a:p>
            <a:pPr>
              <a:lnSpc>
                <a:spcPct val="160000"/>
              </a:lnSpc>
              <a:buNone/>
            </a:pPr>
            <a:r>
              <a:rPr lang="en-US" altLang="zh-CN" sz="2800" dirty="0"/>
              <a:t>⑵ </a:t>
            </a:r>
            <a:r>
              <a:rPr lang="zh-CN" altLang="en-US" sz="2800" dirty="0"/>
              <a:t>调查各部门的业务活动情况。调查重点之一。</a:t>
            </a:r>
            <a:endParaRPr lang="zh-CN" altLang="en-US" sz="2800" dirty="0"/>
          </a:p>
          <a:p>
            <a:pPr lvl="1" indent="-436245">
              <a:lnSpc>
                <a:spcPct val="160000"/>
              </a:lnSpc>
            </a:pPr>
            <a:r>
              <a:rPr lang="zh-CN" altLang="en-US" sz="2400" dirty="0"/>
              <a:t> 各个部门输入和使用什么数据</a:t>
            </a:r>
            <a:endParaRPr lang="zh-CN" altLang="en-US" sz="2400" dirty="0"/>
          </a:p>
          <a:p>
            <a:pPr lvl="1" indent="-436245">
              <a:lnSpc>
                <a:spcPct val="160000"/>
              </a:lnSpc>
            </a:pPr>
            <a:r>
              <a:rPr lang="zh-CN" altLang="en-US" sz="2400" dirty="0"/>
              <a:t> 如何加工处理这些数据</a:t>
            </a:r>
            <a:endParaRPr lang="zh-CN" altLang="en-US" sz="2400" dirty="0"/>
          </a:p>
          <a:p>
            <a:pPr lvl="1" indent="-436245">
              <a:lnSpc>
                <a:spcPct val="160000"/>
              </a:lnSpc>
            </a:pPr>
            <a:r>
              <a:rPr lang="zh-CN" altLang="en-US" sz="2400" dirty="0"/>
              <a:t> 输出什么信息</a:t>
            </a:r>
            <a:endParaRPr lang="zh-CN" altLang="en-US" sz="2400" dirty="0"/>
          </a:p>
          <a:p>
            <a:pPr lvl="1" indent="-436245">
              <a:lnSpc>
                <a:spcPct val="160000"/>
              </a:lnSpc>
            </a:pPr>
            <a:r>
              <a:rPr lang="zh-CN" altLang="en-US" sz="2400" dirty="0"/>
              <a:t> 输出到什么部门</a:t>
            </a:r>
            <a:endParaRPr lang="zh-CN" altLang="en-US" sz="2400" dirty="0"/>
          </a:p>
          <a:p>
            <a:pPr lvl="1" indent="-436245">
              <a:lnSpc>
                <a:spcPct val="160000"/>
              </a:lnSpc>
            </a:pPr>
            <a:r>
              <a:rPr lang="zh-CN" altLang="en-US" sz="2400" dirty="0"/>
              <a:t> </a:t>
            </a:r>
            <a:r>
              <a:rPr lang="zh-CN" altLang="en-US" sz="2400" dirty="0">
                <a:solidFill>
                  <a:srgbClr val="FF0000"/>
                </a:solidFill>
              </a:rPr>
              <a:t>输出结果的格式</a:t>
            </a:r>
            <a:r>
              <a:rPr lang="zh-CN" altLang="en-US" sz="2400" dirty="0"/>
              <a:t>是什么</a:t>
            </a:r>
            <a:endParaRPr lang="zh-CN" altLang="en-US" sz="2400" dirty="0"/>
          </a:p>
        </p:txBody>
      </p:sp>
      <p:sp>
        <p:nvSpPr>
          <p:cNvPr id="39938" name="Rectangle 2"/>
          <p:cNvSpPr>
            <a:spLocks noGrp="1"/>
          </p:cNvSpPr>
          <p:nvPr>
            <p:ph type="title"/>
          </p:nvPr>
        </p:nvSpPr>
        <p:spPr/>
        <p:txBody>
          <a:bodyPr vert="horz" wrap="square" lIns="91440" tIns="45720" rIns="91440" bIns="45720" anchor="b" anchorCtr="0"/>
          <a:lstStyle/>
          <a:p>
            <a:r>
              <a:rPr lang="zh-CN" altLang="en-US" dirty="0"/>
              <a:t>调查与初步分析用户需求（续）</a:t>
            </a:r>
            <a:endParaRPr lang="zh-CN" altLang="en-US" dirty="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p:cNvSpPr>
          <p:nvPr>
            <p:ph idx="1"/>
          </p:nvPr>
        </p:nvSpPr>
        <p:spPr/>
        <p:txBody>
          <a:bodyPr vert="horz" wrap="square" lIns="91440" tIns="45720" rIns="91440" bIns="45720" anchor="t" anchorCtr="0"/>
          <a:lstStyle/>
          <a:p>
            <a:pPr>
              <a:lnSpc>
                <a:spcPct val="140000"/>
              </a:lnSpc>
              <a:buNone/>
            </a:pPr>
            <a:r>
              <a:rPr lang="en-US" altLang="zh-CN" sz="2800" dirty="0"/>
              <a:t>⑶ </a:t>
            </a:r>
            <a:r>
              <a:rPr lang="zh-CN" altLang="en-US" sz="2800" dirty="0"/>
              <a:t>在熟悉业务活动的基础上，协助用户明确对新系统的各种要求。调查重点之二。</a:t>
            </a:r>
            <a:endParaRPr lang="zh-CN" altLang="en-US" sz="2800" dirty="0"/>
          </a:p>
          <a:p>
            <a:pPr lvl="1" indent="-436245">
              <a:lnSpc>
                <a:spcPct val="180000"/>
              </a:lnSpc>
            </a:pPr>
            <a:r>
              <a:rPr lang="zh-CN" altLang="en-US" sz="2400" dirty="0"/>
              <a:t> 信息要求</a:t>
            </a:r>
            <a:endParaRPr lang="zh-CN" altLang="en-US" sz="2400" dirty="0"/>
          </a:p>
          <a:p>
            <a:pPr lvl="1" indent="-436245">
              <a:lnSpc>
                <a:spcPct val="180000"/>
              </a:lnSpc>
            </a:pPr>
            <a:r>
              <a:rPr lang="zh-CN" altLang="en-US" sz="2400" dirty="0"/>
              <a:t> 处理要求</a:t>
            </a:r>
            <a:endParaRPr lang="zh-CN" altLang="en-US" sz="2400" dirty="0"/>
          </a:p>
          <a:p>
            <a:pPr lvl="1" indent="-436245">
              <a:lnSpc>
                <a:spcPct val="180000"/>
              </a:lnSpc>
            </a:pPr>
            <a:r>
              <a:rPr lang="zh-CN" altLang="en-US" sz="2400" dirty="0"/>
              <a:t> 完全性与完整性要求</a:t>
            </a:r>
            <a:endParaRPr lang="zh-CN" altLang="en-US" sz="2400" dirty="0"/>
          </a:p>
          <a:p>
            <a:pPr>
              <a:lnSpc>
                <a:spcPct val="180000"/>
              </a:lnSpc>
              <a:buNone/>
            </a:pPr>
            <a:endParaRPr lang="en-US" altLang="zh-CN" dirty="0"/>
          </a:p>
        </p:txBody>
      </p:sp>
      <p:sp>
        <p:nvSpPr>
          <p:cNvPr id="40962" name="Rectangle 2"/>
          <p:cNvSpPr>
            <a:spLocks noGrp="1"/>
          </p:cNvSpPr>
          <p:nvPr>
            <p:ph type="title"/>
          </p:nvPr>
        </p:nvSpPr>
        <p:spPr/>
        <p:txBody>
          <a:bodyPr vert="horz" wrap="square" lIns="91440" tIns="45720" rIns="91440" bIns="45720" anchor="b" anchorCtr="0"/>
          <a:lstStyle/>
          <a:p>
            <a:r>
              <a:rPr lang="zh-CN" altLang="en-US" dirty="0"/>
              <a:t>调查与初步分析用户需求（续）</a:t>
            </a:r>
            <a:endParaRPr lang="zh-CN" altLang="en-US"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p:cNvSpPr>
          <p:nvPr>
            <p:ph idx="1"/>
          </p:nvPr>
        </p:nvSpPr>
        <p:spPr/>
        <p:txBody>
          <a:bodyPr vert="horz" wrap="square" lIns="91440" tIns="45720" rIns="91440" bIns="45720" anchor="t" anchorCtr="0"/>
          <a:lstStyle/>
          <a:p>
            <a:pPr>
              <a:lnSpc>
                <a:spcPct val="170000"/>
              </a:lnSpc>
              <a:buNone/>
            </a:pPr>
            <a:r>
              <a:rPr lang="en-US" altLang="zh-CN" sz="2800" dirty="0"/>
              <a:t>⑷ </a:t>
            </a:r>
            <a:r>
              <a:rPr lang="zh-CN" altLang="en-US" sz="2800" dirty="0"/>
              <a:t>对前面调查的结果进行初步分析</a:t>
            </a:r>
            <a:endParaRPr lang="zh-CN" altLang="en-US" sz="2800" dirty="0"/>
          </a:p>
          <a:p>
            <a:pPr lvl="1" indent="-436245">
              <a:lnSpc>
                <a:spcPct val="170000"/>
              </a:lnSpc>
            </a:pPr>
            <a:r>
              <a:rPr lang="zh-CN" altLang="en-US" dirty="0">
                <a:solidFill>
                  <a:srgbClr val="FF0000"/>
                </a:solidFill>
              </a:rPr>
              <a:t>确定新系统的边界</a:t>
            </a:r>
            <a:endParaRPr lang="zh-CN" altLang="en-US" sz="2400" dirty="0">
              <a:solidFill>
                <a:srgbClr val="FF0000"/>
              </a:solidFill>
            </a:endParaRPr>
          </a:p>
          <a:p>
            <a:pPr lvl="2" indent="-394970">
              <a:lnSpc>
                <a:spcPct val="170000"/>
              </a:lnSpc>
            </a:pPr>
            <a:r>
              <a:rPr lang="zh-CN" altLang="en-US" dirty="0"/>
              <a:t>确定哪些功能由计算机完成或将来准备让计算机完成</a:t>
            </a:r>
            <a:endParaRPr lang="zh-CN" altLang="en-US" dirty="0"/>
          </a:p>
          <a:p>
            <a:pPr lvl="2" indent="-394970">
              <a:lnSpc>
                <a:spcPct val="170000"/>
              </a:lnSpc>
            </a:pPr>
            <a:r>
              <a:rPr lang="zh-CN" altLang="en-US" dirty="0"/>
              <a:t>确定哪些活动由人工完成</a:t>
            </a:r>
            <a:endParaRPr lang="zh-CN" altLang="en-US" dirty="0"/>
          </a:p>
          <a:p>
            <a:pPr>
              <a:lnSpc>
                <a:spcPct val="110000"/>
              </a:lnSpc>
              <a:buNone/>
            </a:pPr>
            <a:r>
              <a:rPr lang="zh-CN" altLang="en-US" sz="2800" dirty="0"/>
              <a:t>          </a:t>
            </a:r>
            <a:r>
              <a:rPr lang="zh-CN" altLang="en-US" dirty="0"/>
              <a:t>由计算机完成的功能就是新系统应该实现的功能。</a:t>
            </a:r>
            <a:endParaRPr lang="zh-CN" altLang="en-US" dirty="0"/>
          </a:p>
        </p:txBody>
      </p:sp>
      <p:sp>
        <p:nvSpPr>
          <p:cNvPr id="41986" name="Rectangle 2"/>
          <p:cNvSpPr>
            <a:spLocks noGrp="1"/>
          </p:cNvSpPr>
          <p:nvPr>
            <p:ph type="title"/>
          </p:nvPr>
        </p:nvSpPr>
        <p:spPr/>
        <p:txBody>
          <a:bodyPr vert="horz" wrap="square" lIns="91440" tIns="45720" rIns="91440" bIns="45720" anchor="b" anchorCtr="0"/>
          <a:lstStyle/>
          <a:p>
            <a:r>
              <a:rPr lang="zh-CN" altLang="en-US" dirty="0"/>
              <a:t>调查与初步分析用户需求（续）</a:t>
            </a:r>
            <a:endParaRPr lang="zh-CN" altLang="en-US"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p:cNvSpPr>
          <p:nvPr>
            <p:ph idx="1"/>
          </p:nvPr>
        </p:nvSpPr>
        <p:spPr/>
        <p:txBody>
          <a:bodyPr vert="horz" wrap="square" lIns="91440" tIns="45720" rIns="91440" bIns="45720" anchor="t" anchorCtr="0"/>
          <a:lstStyle/>
          <a:p>
            <a:pPr>
              <a:lnSpc>
                <a:spcPct val="120000"/>
              </a:lnSpc>
            </a:pPr>
            <a:r>
              <a:rPr lang="zh-CN" altLang="en-US" dirty="0"/>
              <a:t>做需求调查时，往往需要同时采用多种方法</a:t>
            </a:r>
            <a:endParaRPr lang="zh-CN" altLang="en-US" dirty="0"/>
          </a:p>
          <a:p>
            <a:pPr lvl="1" indent="-436245">
              <a:lnSpc>
                <a:spcPct val="120000"/>
              </a:lnSpc>
            </a:pPr>
            <a:r>
              <a:rPr lang="zh-CN" altLang="en-US" dirty="0"/>
              <a:t>无论使用何种调查方法，都</a:t>
            </a:r>
            <a:r>
              <a:rPr lang="zh-CN" altLang="en-US" dirty="0">
                <a:solidFill>
                  <a:srgbClr val="FF0000"/>
                </a:solidFill>
              </a:rPr>
              <a:t>必须有用户的积极参与和配合。</a:t>
            </a:r>
            <a:endParaRPr lang="zh-CN" altLang="en-US" dirty="0">
              <a:solidFill>
                <a:srgbClr val="FF0000"/>
              </a:solidFill>
            </a:endParaRPr>
          </a:p>
          <a:p>
            <a:pPr lvl="1" indent="-436245">
              <a:lnSpc>
                <a:spcPct val="120000"/>
              </a:lnSpc>
            </a:pPr>
            <a:r>
              <a:rPr lang="zh-CN" altLang="en-US" dirty="0">
                <a:solidFill>
                  <a:srgbClr val="FF0000"/>
                </a:solidFill>
              </a:rPr>
              <a:t>设计人员</a:t>
            </a:r>
            <a:r>
              <a:rPr lang="zh-CN" altLang="en-US" dirty="0"/>
              <a:t>应该和用户取得共同的语言，帮助不熟悉计算机的用户建立数据库环境下的共同概念，并对设计工作的最后结果共同承担责任。</a:t>
            </a:r>
            <a:endParaRPr lang="zh-CN" altLang="en-US" dirty="0"/>
          </a:p>
        </p:txBody>
      </p:sp>
      <p:sp>
        <p:nvSpPr>
          <p:cNvPr id="44034" name="Rectangle 2"/>
          <p:cNvSpPr>
            <a:spLocks noGrp="1"/>
          </p:cNvSpPr>
          <p:nvPr>
            <p:ph type="title"/>
          </p:nvPr>
        </p:nvSpPr>
        <p:spPr/>
        <p:txBody>
          <a:bodyPr vert="horz" wrap="square" lIns="91440" tIns="45720" rIns="91440" bIns="45720" anchor="b" anchorCtr="0"/>
          <a:lstStyle/>
          <a:p>
            <a:r>
              <a:rPr lang="zh-CN" altLang="en-US" dirty="0"/>
              <a:t>二、常用调查方法</a:t>
            </a:r>
            <a:endParaRPr lang="zh-CN" altLang="en-US" dirty="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p:cNvSpPr>
          <p:nvPr>
            <p:ph idx="1"/>
          </p:nvPr>
        </p:nvSpPr>
        <p:spPr/>
        <p:txBody>
          <a:bodyPr vert="horz" wrap="square" lIns="91440" tIns="45720" rIns="91440" bIns="45720" anchor="t" anchorCtr="0"/>
          <a:lstStyle/>
          <a:p>
            <a:r>
              <a:rPr lang="zh-CN" altLang="en-US" dirty="0"/>
              <a:t>常用调查方法</a:t>
            </a:r>
            <a:endParaRPr lang="zh-CN" altLang="en-US" sz="2800" dirty="0"/>
          </a:p>
          <a:p>
            <a:pPr lvl="1" indent="-436245">
              <a:spcBef>
                <a:spcPct val="50000"/>
              </a:spcBef>
              <a:buNone/>
            </a:pPr>
            <a:r>
              <a:rPr lang="zh-CN" altLang="en-US" dirty="0"/>
              <a:t>⑴跟班作业</a:t>
            </a:r>
            <a:endParaRPr lang="zh-CN" altLang="en-US" dirty="0"/>
          </a:p>
          <a:p>
            <a:pPr lvl="1" indent="-436245"/>
            <a:r>
              <a:rPr lang="zh-CN" altLang="en-US" dirty="0"/>
              <a:t>通过亲身参加业务工作了解业务活动的情况</a:t>
            </a:r>
            <a:endParaRPr lang="zh-CN" altLang="en-US" dirty="0"/>
          </a:p>
          <a:p>
            <a:pPr lvl="1" indent="-436245"/>
            <a:r>
              <a:rPr lang="zh-CN" altLang="en-US" dirty="0"/>
              <a:t>能比较准确地理解用户的需求，但比较耗时</a:t>
            </a:r>
            <a:endParaRPr lang="zh-CN" altLang="en-US" dirty="0"/>
          </a:p>
          <a:p>
            <a:pPr lvl="1" indent="-436245">
              <a:spcBef>
                <a:spcPct val="50000"/>
              </a:spcBef>
              <a:buNone/>
            </a:pPr>
            <a:r>
              <a:rPr lang="zh-CN" altLang="en-US" dirty="0"/>
              <a:t>⑵开调查会</a:t>
            </a:r>
            <a:endParaRPr lang="zh-CN" altLang="en-US" dirty="0"/>
          </a:p>
          <a:p>
            <a:pPr lvl="1" indent="-436245"/>
            <a:r>
              <a:rPr lang="zh-CN" altLang="en-US" dirty="0"/>
              <a:t>通过与用户座谈来了解业务活动情况及用户需求</a:t>
            </a:r>
            <a:endParaRPr lang="zh-CN" altLang="en-US" dirty="0"/>
          </a:p>
          <a:p>
            <a:pPr lvl="1" indent="-436245">
              <a:spcBef>
                <a:spcPct val="50000"/>
              </a:spcBef>
              <a:buNone/>
            </a:pPr>
            <a:r>
              <a:rPr lang="zh-CN" altLang="en-US" dirty="0"/>
              <a:t>⑶请专人介绍</a:t>
            </a:r>
            <a:endParaRPr lang="zh-CN" altLang="en-US" dirty="0"/>
          </a:p>
        </p:txBody>
      </p:sp>
      <p:sp>
        <p:nvSpPr>
          <p:cNvPr id="45058" name="Rectangle 2"/>
          <p:cNvSpPr>
            <a:spLocks noGrp="1"/>
          </p:cNvSpPr>
          <p:nvPr>
            <p:ph type="title"/>
          </p:nvPr>
        </p:nvSpPr>
        <p:spPr/>
        <p:txBody>
          <a:bodyPr vert="horz" wrap="square" lIns="91440" tIns="45720" rIns="91440" bIns="45720" anchor="b" anchorCtr="0"/>
          <a:lstStyle/>
          <a:p>
            <a:r>
              <a:rPr lang="zh-CN" altLang="en-US" dirty="0"/>
              <a:t>常用调查方法（续）</a:t>
            </a:r>
            <a:endParaRPr lang="zh-CN" altLang="en-US" dirty="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p:cNvSpPr>
          <p:nvPr>
            <p:ph idx="1"/>
          </p:nvPr>
        </p:nvSpPr>
        <p:spPr/>
        <p:txBody>
          <a:bodyPr vert="horz" wrap="square" lIns="91440" tIns="45720" rIns="91440" bIns="45720" anchor="t" anchorCtr="0"/>
          <a:lstStyle/>
          <a:p>
            <a:pPr lvl="1" indent="-436245">
              <a:lnSpc>
                <a:spcPct val="110000"/>
              </a:lnSpc>
              <a:spcBef>
                <a:spcPct val="50000"/>
              </a:spcBef>
              <a:buNone/>
            </a:pPr>
            <a:r>
              <a:rPr lang="en-US" altLang="zh-CN" dirty="0"/>
              <a:t>⑷</a:t>
            </a:r>
            <a:r>
              <a:rPr lang="zh-CN" altLang="en-US" dirty="0"/>
              <a:t>询问</a:t>
            </a:r>
            <a:endParaRPr lang="zh-CN" altLang="en-US" dirty="0"/>
          </a:p>
          <a:p>
            <a:pPr lvl="1" indent="-436245">
              <a:lnSpc>
                <a:spcPct val="110000"/>
              </a:lnSpc>
            </a:pPr>
            <a:r>
              <a:rPr lang="zh-CN" altLang="en-US" dirty="0"/>
              <a:t>对某些调查中的问题，可以找专人询问</a:t>
            </a:r>
            <a:endParaRPr lang="zh-CN" altLang="en-US" dirty="0"/>
          </a:p>
          <a:p>
            <a:pPr lvl="1" indent="-436245">
              <a:lnSpc>
                <a:spcPct val="110000"/>
              </a:lnSpc>
              <a:spcBef>
                <a:spcPct val="50000"/>
              </a:spcBef>
              <a:buNone/>
            </a:pPr>
            <a:r>
              <a:rPr lang="zh-CN" altLang="en-US" dirty="0"/>
              <a:t>⑸设计调查表请用户填写</a:t>
            </a:r>
            <a:endParaRPr lang="zh-CN" altLang="en-US" dirty="0"/>
          </a:p>
          <a:p>
            <a:pPr lvl="1" indent="-436245">
              <a:lnSpc>
                <a:spcPct val="110000"/>
              </a:lnSpc>
            </a:pPr>
            <a:r>
              <a:rPr lang="zh-CN" altLang="en-US" dirty="0"/>
              <a:t>如果调查表设计合理，则很有效，且易于为用户接受</a:t>
            </a:r>
            <a:endParaRPr lang="zh-CN" altLang="en-US" dirty="0"/>
          </a:p>
          <a:p>
            <a:pPr lvl="1" indent="-436245">
              <a:lnSpc>
                <a:spcPct val="110000"/>
              </a:lnSpc>
              <a:spcBef>
                <a:spcPct val="50000"/>
              </a:spcBef>
              <a:buNone/>
            </a:pPr>
            <a:r>
              <a:rPr lang="zh-CN" altLang="en-US" dirty="0"/>
              <a:t>⑹查阅记录</a:t>
            </a:r>
            <a:endParaRPr lang="zh-CN" altLang="en-US" dirty="0"/>
          </a:p>
          <a:p>
            <a:pPr lvl="1" indent="-436245">
              <a:lnSpc>
                <a:spcPct val="110000"/>
              </a:lnSpc>
            </a:pPr>
            <a:r>
              <a:rPr lang="zh-CN" altLang="en-US" dirty="0"/>
              <a:t>查阅与原系统有关的数据记录</a:t>
            </a:r>
            <a:endParaRPr lang="zh-CN" altLang="en-US" dirty="0"/>
          </a:p>
        </p:txBody>
      </p:sp>
      <p:sp>
        <p:nvSpPr>
          <p:cNvPr id="46082" name="Rectangle 2"/>
          <p:cNvSpPr>
            <a:spLocks noGrp="1"/>
          </p:cNvSpPr>
          <p:nvPr>
            <p:ph type="title"/>
          </p:nvPr>
        </p:nvSpPr>
        <p:spPr/>
        <p:txBody>
          <a:bodyPr vert="horz" wrap="square" lIns="91440" tIns="45720" rIns="91440" bIns="45720" anchor="b" anchorCtr="0"/>
          <a:lstStyle/>
          <a:p>
            <a:r>
              <a:rPr lang="zh-CN" altLang="en-US" dirty="0"/>
              <a:t>常用调查方法（续）</a:t>
            </a:r>
            <a:endParaRPr lang="zh-CN" altLang="en-US"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p:cNvSpPr>
            <a:spLocks noGrp="1"/>
          </p:cNvSpPr>
          <p:nvPr>
            <p:ph idx="1"/>
          </p:nvPr>
        </p:nvSpPr>
        <p:spPr/>
        <p:txBody>
          <a:bodyPr vert="horz" wrap="square" lIns="91440" tIns="45720" rIns="91440" bIns="45720" anchor="t" anchorCtr="0"/>
          <a:lstStyle/>
          <a:p>
            <a:r>
              <a:rPr lang="zh-CN" altLang="en-US" sz="2800" dirty="0"/>
              <a:t>分析和表达用户的需求</a:t>
            </a:r>
            <a:r>
              <a:rPr lang="zh-CN" altLang="zh-CN" sz="2800" dirty="0"/>
              <a:t>的常用方法（软件工程中已经讲解，此处可以不讲）</a:t>
            </a:r>
            <a:endParaRPr lang="zh-CN" altLang="zh-CN" sz="2800" dirty="0"/>
          </a:p>
          <a:p>
            <a:pPr lvl="1" indent="-436245"/>
            <a:r>
              <a:rPr lang="zh-CN" altLang="en-US" b="1" dirty="0">
                <a:solidFill>
                  <a:srgbClr val="FF0000"/>
                </a:solidFill>
              </a:rPr>
              <a:t>自顶向下的结构化分析方法</a:t>
            </a:r>
            <a:r>
              <a:rPr lang="zh-CN" altLang="en-US" dirty="0"/>
              <a:t>（</a:t>
            </a:r>
            <a:r>
              <a:rPr lang="en-US" altLang="zh-CN" dirty="0"/>
              <a:t>Structured Analysis</a:t>
            </a:r>
            <a:r>
              <a:rPr lang="zh-CN" altLang="en-US" dirty="0"/>
              <a:t>，简称</a:t>
            </a:r>
            <a:r>
              <a:rPr lang="en-US" altLang="zh-CN" dirty="0"/>
              <a:t>SA</a:t>
            </a:r>
            <a:r>
              <a:rPr lang="zh-CN" altLang="en-US" dirty="0"/>
              <a:t>方法）</a:t>
            </a:r>
            <a:endParaRPr lang="zh-CN" altLang="en-US" dirty="0"/>
          </a:p>
          <a:p>
            <a:r>
              <a:rPr lang="zh-CN" altLang="en-US" sz="2800" b="1" dirty="0">
                <a:solidFill>
                  <a:srgbClr val="FF0000"/>
                </a:solidFill>
              </a:rPr>
              <a:t>自顶向下</a:t>
            </a:r>
            <a:r>
              <a:rPr lang="zh-CN" altLang="en-US" sz="2800" dirty="0"/>
              <a:t>，逐步分解</a:t>
            </a:r>
            <a:endParaRPr lang="zh-CN" altLang="en-US" sz="2800" dirty="0"/>
          </a:p>
          <a:p>
            <a:r>
              <a:rPr lang="en-US" altLang="zh-CN" sz="2800" dirty="0"/>
              <a:t>SA</a:t>
            </a:r>
            <a:r>
              <a:rPr lang="zh-CN" altLang="en-US" sz="2800" dirty="0"/>
              <a:t>方法从最上层的系统组织机构入手，采用逐层分解的方式分析系统，并用</a:t>
            </a:r>
            <a:r>
              <a:rPr lang="zh-CN" altLang="en-US" sz="2800" b="1" dirty="0">
                <a:solidFill>
                  <a:srgbClr val="0000FF"/>
                </a:solidFill>
              </a:rPr>
              <a:t>数据流图</a:t>
            </a:r>
            <a:r>
              <a:rPr lang="zh-CN" altLang="en-US" sz="2800" dirty="0"/>
              <a:t>和</a:t>
            </a:r>
            <a:r>
              <a:rPr lang="zh-CN" altLang="en-US" sz="2800" b="1" dirty="0">
                <a:solidFill>
                  <a:srgbClr val="0000FF"/>
                </a:solidFill>
              </a:rPr>
              <a:t>数据字典</a:t>
            </a:r>
            <a:r>
              <a:rPr lang="zh-CN" altLang="en-US" sz="2800" dirty="0"/>
              <a:t>描述系统。</a:t>
            </a:r>
            <a:endParaRPr lang="zh-CN" altLang="en-US" sz="2800" dirty="0"/>
          </a:p>
        </p:txBody>
      </p:sp>
      <p:sp>
        <p:nvSpPr>
          <p:cNvPr id="47106" name="Rectangle 2"/>
          <p:cNvSpPr>
            <a:spLocks noGrp="1"/>
          </p:cNvSpPr>
          <p:nvPr>
            <p:ph type="title"/>
          </p:nvPr>
        </p:nvSpPr>
        <p:spPr/>
        <p:txBody>
          <a:bodyPr vert="horz" wrap="square" lIns="91440" tIns="45720" rIns="91440" bIns="45720" anchor="b" anchorCtr="0"/>
          <a:lstStyle/>
          <a:p>
            <a:r>
              <a:rPr lang="zh-CN" altLang="en-US" sz="3200" dirty="0"/>
              <a:t>三、进一步分析和表达用户需求</a:t>
            </a:r>
            <a:endParaRPr lang="zh-CN" altLang="en-US" sz="3200"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3"/>
          <p:cNvSpPr>
            <a:spLocks noGrp="1"/>
          </p:cNvSpPr>
          <p:nvPr>
            <p:ph idx="1"/>
          </p:nvPr>
        </p:nvSpPr>
        <p:spPr/>
        <p:txBody>
          <a:bodyPr vert="horz" wrap="square" lIns="91440" tIns="45720" rIns="91440" bIns="45720" anchor="t" anchorCtr="0"/>
          <a:lstStyle/>
          <a:p>
            <a:pPr>
              <a:buNone/>
            </a:pPr>
            <a:r>
              <a:rPr lang="en-US" altLang="zh-CN" dirty="0"/>
              <a:t>1</a:t>
            </a:r>
            <a:r>
              <a:rPr lang="zh-CN" altLang="en-US" dirty="0"/>
              <a:t>．首先把任何一个系统都抽象为：</a:t>
            </a:r>
            <a:endParaRPr lang="zh-CN" altLang="en-US" dirty="0"/>
          </a:p>
        </p:txBody>
      </p:sp>
      <p:sp>
        <p:nvSpPr>
          <p:cNvPr id="48130" name="Rectangle 2"/>
          <p:cNvSpPr>
            <a:spLocks noGrp="1"/>
          </p:cNvSpPr>
          <p:nvPr>
            <p:ph type="title"/>
          </p:nvPr>
        </p:nvSpPr>
        <p:spPr/>
        <p:txBody>
          <a:bodyPr vert="horz" wrap="square" lIns="91440" tIns="45720" rIns="91440" bIns="45720" anchor="b" anchorCtr="0"/>
          <a:lstStyle/>
          <a:p>
            <a:r>
              <a:rPr lang="zh-CN" altLang="en-US" sz="3200" dirty="0"/>
              <a:t>进一步分析和表达用户需求（续）</a:t>
            </a:r>
            <a:endParaRPr lang="zh-CN" altLang="en-US" sz="3200" dirty="0"/>
          </a:p>
        </p:txBody>
      </p:sp>
      <p:grpSp>
        <p:nvGrpSpPr>
          <p:cNvPr id="48131" name="Group 4"/>
          <p:cNvGrpSpPr/>
          <p:nvPr/>
        </p:nvGrpSpPr>
        <p:grpSpPr>
          <a:xfrm>
            <a:off x="2819400" y="2895600"/>
            <a:ext cx="7315200" cy="2286000"/>
            <a:chOff x="768" y="1824"/>
            <a:chExt cx="4608" cy="1440"/>
          </a:xfrm>
        </p:grpSpPr>
        <p:sp>
          <p:nvSpPr>
            <p:cNvPr id="48132" name="Text Box 5"/>
            <p:cNvSpPr txBox="1"/>
            <p:nvPr/>
          </p:nvSpPr>
          <p:spPr>
            <a:xfrm>
              <a:off x="2621" y="2544"/>
              <a:ext cx="642" cy="411"/>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数据流</a:t>
              </a:r>
              <a:endParaRPr lang="zh-CN" altLang="en-US" b="1" dirty="0">
                <a:latin typeface="Verdana" panose="020B0604030504040204" pitchFamily="34" charset="0"/>
                <a:ea typeface="宋体" panose="02010600030101010101" pitchFamily="2" charset="-122"/>
              </a:endParaRPr>
            </a:p>
          </p:txBody>
        </p:sp>
        <p:sp>
          <p:nvSpPr>
            <p:cNvPr id="48133" name="Text Box 6"/>
            <p:cNvSpPr txBox="1"/>
            <p:nvPr/>
          </p:nvSpPr>
          <p:spPr>
            <a:xfrm>
              <a:off x="1481" y="2544"/>
              <a:ext cx="570" cy="411"/>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数据流</a:t>
              </a:r>
              <a:endParaRPr lang="zh-CN" altLang="en-US" dirty="0">
                <a:latin typeface="Verdana" panose="020B0604030504040204" pitchFamily="34" charset="0"/>
                <a:ea typeface="宋体" panose="02010600030101010101" pitchFamily="2" charset="-122"/>
              </a:endParaRPr>
            </a:p>
          </p:txBody>
        </p:sp>
        <p:sp>
          <p:nvSpPr>
            <p:cNvPr id="48134" name="Oval 7"/>
            <p:cNvSpPr/>
            <p:nvPr/>
          </p:nvSpPr>
          <p:spPr>
            <a:xfrm>
              <a:off x="2051" y="2647"/>
              <a:ext cx="570" cy="617"/>
            </a:xfrm>
            <a:prstGeom prst="ellipse">
              <a:avLst/>
            </a:prstGeom>
            <a:noFill/>
            <a:ln w="9525" cap="flat" cmpd="sng">
              <a:solidFill>
                <a:srgbClr val="000000"/>
              </a:solidFill>
              <a:prstDash val="solid"/>
              <a:round/>
              <a:headEnd type="none" w="med" len="med"/>
              <a:tailEnd type="none" w="med" len="med"/>
            </a:ln>
          </p:spPr>
          <p:txBody>
            <a:bodyPr lIns="0" rIns="0" anchor="t" anchorCtr="0"/>
            <a:lstStyle/>
            <a:p>
              <a:pPr eaLnBrk="0" hangingPunct="0"/>
              <a:endParaRPr lang="zh-CN" altLang="en-US" dirty="0">
                <a:latin typeface="Verdana" panose="020B0604030504040204" pitchFamily="34" charset="0"/>
                <a:ea typeface="宋体" panose="02010600030101010101" pitchFamily="2" charset="-122"/>
              </a:endParaRPr>
            </a:p>
          </p:txBody>
        </p:sp>
        <p:sp>
          <p:nvSpPr>
            <p:cNvPr id="48135" name="Text Box 8"/>
            <p:cNvSpPr txBox="1"/>
            <p:nvPr/>
          </p:nvSpPr>
          <p:spPr>
            <a:xfrm>
              <a:off x="1980" y="1824"/>
              <a:ext cx="712" cy="411"/>
            </a:xfrm>
            <a:prstGeom prst="rect">
              <a:avLst/>
            </a:prstGeom>
            <a:noFill/>
            <a:ln w="9525" cap="flat" cmpd="sng">
              <a:solidFill>
                <a:srgbClr val="000000"/>
              </a:solidFill>
              <a:prstDash val="solid"/>
              <a:miter/>
              <a:headEnd type="none" w="med" len="med"/>
              <a:tailEnd type="none" w="med" len="med"/>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a:t>
              </a:r>
              <a:endParaRPr lang="zh-CN" altLang="en-US" sz="2000" b="1" dirty="0">
                <a:latin typeface="Verdana" panose="020B0604030504040204" pitchFamily="34" charset="0"/>
                <a:ea typeface="宋体" panose="02010600030101010101" pitchFamily="2" charset="-122"/>
              </a:endParaRPr>
            </a:p>
            <a:p>
              <a:pPr algn="ctr" eaLnBrk="0" hangingPunct="0"/>
              <a:r>
                <a:rPr lang="zh-CN" altLang="en-US" sz="2000" b="1" dirty="0">
                  <a:latin typeface="Verdana" panose="020B0604030504040204" pitchFamily="34" charset="0"/>
                  <a:ea typeface="宋体" panose="02010600030101010101" pitchFamily="2" charset="-122"/>
                </a:rPr>
                <a:t>存储</a:t>
              </a:r>
              <a:endParaRPr lang="zh-CN" altLang="en-US" sz="2000" b="1" dirty="0">
                <a:latin typeface="Verdana" panose="020B0604030504040204" pitchFamily="34" charset="0"/>
                <a:ea typeface="宋体" panose="02010600030101010101" pitchFamily="2" charset="-122"/>
              </a:endParaRPr>
            </a:p>
          </p:txBody>
        </p:sp>
        <p:sp>
          <p:nvSpPr>
            <p:cNvPr id="48136" name="Text Box 9"/>
            <p:cNvSpPr txBox="1"/>
            <p:nvPr/>
          </p:nvSpPr>
          <p:spPr>
            <a:xfrm>
              <a:off x="4656" y="2016"/>
              <a:ext cx="713" cy="418"/>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信息要求</a:t>
              </a:r>
              <a:endParaRPr lang="zh-CN" altLang="en-US" dirty="0">
                <a:latin typeface="Verdana" panose="020B0604030504040204" pitchFamily="34" charset="0"/>
                <a:ea typeface="宋体" panose="02010600030101010101" pitchFamily="2" charset="-122"/>
              </a:endParaRPr>
            </a:p>
          </p:txBody>
        </p:sp>
        <p:sp>
          <p:nvSpPr>
            <p:cNvPr id="48137" name="Line 10"/>
            <p:cNvSpPr/>
            <p:nvPr/>
          </p:nvSpPr>
          <p:spPr>
            <a:xfrm flipH="1">
              <a:off x="4224" y="2112"/>
              <a:ext cx="356" cy="0"/>
            </a:xfrm>
            <a:prstGeom prst="line">
              <a:avLst/>
            </a:prstGeom>
            <a:ln w="9525" cap="flat" cmpd="sng">
              <a:solidFill>
                <a:srgbClr val="000000"/>
              </a:solidFill>
              <a:prstDash val="solid"/>
              <a:round/>
              <a:headEnd type="none" w="med" len="med"/>
              <a:tailEnd type="triangle" w="med" len="med"/>
            </a:ln>
          </p:spPr>
        </p:sp>
        <p:sp>
          <p:nvSpPr>
            <p:cNvPr id="48138" name="Text Box 11"/>
            <p:cNvSpPr txBox="1"/>
            <p:nvPr/>
          </p:nvSpPr>
          <p:spPr>
            <a:xfrm>
              <a:off x="768" y="2750"/>
              <a:ext cx="713" cy="514"/>
            </a:xfrm>
            <a:prstGeom prst="rect">
              <a:avLst/>
            </a:prstGeom>
            <a:noFill/>
            <a:ln w="9525" cap="flat" cmpd="sng">
              <a:solidFill>
                <a:srgbClr val="000000"/>
              </a:solidFill>
              <a:prstDash val="solid"/>
              <a:miter/>
              <a:headEnd type="none" w="med" len="med"/>
              <a:tailEnd type="none" w="med" len="med"/>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a:t>
              </a:r>
              <a:endParaRPr lang="zh-CN" altLang="en-US" b="1" dirty="0">
                <a:latin typeface="Verdana" panose="020B0604030504040204" pitchFamily="34" charset="0"/>
                <a:ea typeface="宋体" panose="02010600030101010101" pitchFamily="2" charset="-122"/>
              </a:endParaRPr>
            </a:p>
            <a:p>
              <a:pPr algn="ctr" eaLnBrk="0" hangingPunct="0"/>
              <a:r>
                <a:rPr lang="zh-CN" altLang="en-US" sz="2000" b="1" dirty="0">
                  <a:latin typeface="Verdana" panose="020B0604030504040204" pitchFamily="34" charset="0"/>
                  <a:ea typeface="宋体" panose="02010600030101010101" pitchFamily="2" charset="-122"/>
                </a:rPr>
                <a:t>来源</a:t>
              </a:r>
              <a:endParaRPr lang="zh-CN" altLang="en-US" b="1" dirty="0">
                <a:latin typeface="Verdana" panose="020B0604030504040204" pitchFamily="34" charset="0"/>
                <a:ea typeface="宋体" panose="02010600030101010101" pitchFamily="2" charset="-122"/>
              </a:endParaRPr>
            </a:p>
          </p:txBody>
        </p:sp>
        <p:sp>
          <p:nvSpPr>
            <p:cNvPr id="48139" name="Line 12"/>
            <p:cNvSpPr/>
            <p:nvPr/>
          </p:nvSpPr>
          <p:spPr>
            <a:xfrm>
              <a:off x="1481" y="2955"/>
              <a:ext cx="499" cy="0"/>
            </a:xfrm>
            <a:prstGeom prst="line">
              <a:avLst/>
            </a:prstGeom>
            <a:ln w="9525" cap="flat" cmpd="sng">
              <a:solidFill>
                <a:srgbClr val="000000"/>
              </a:solidFill>
              <a:prstDash val="solid"/>
              <a:round/>
              <a:headEnd type="none" w="med" len="med"/>
              <a:tailEnd type="triangle" w="med" len="med"/>
            </a:ln>
          </p:spPr>
        </p:sp>
        <p:sp>
          <p:nvSpPr>
            <p:cNvPr id="48140" name="Text Box 13"/>
            <p:cNvSpPr txBox="1"/>
            <p:nvPr/>
          </p:nvSpPr>
          <p:spPr>
            <a:xfrm>
              <a:off x="2122" y="2750"/>
              <a:ext cx="428" cy="308"/>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处理</a:t>
              </a:r>
              <a:endParaRPr lang="zh-CN" altLang="en-US" b="1" dirty="0">
                <a:latin typeface="Verdana" panose="020B0604030504040204" pitchFamily="34" charset="0"/>
                <a:ea typeface="宋体" panose="02010600030101010101" pitchFamily="2" charset="-122"/>
              </a:endParaRPr>
            </a:p>
          </p:txBody>
        </p:sp>
        <p:sp>
          <p:nvSpPr>
            <p:cNvPr id="48141" name="Line 14"/>
            <p:cNvSpPr/>
            <p:nvPr/>
          </p:nvSpPr>
          <p:spPr>
            <a:xfrm>
              <a:off x="2692" y="2955"/>
              <a:ext cx="571" cy="0"/>
            </a:xfrm>
            <a:prstGeom prst="line">
              <a:avLst/>
            </a:prstGeom>
            <a:ln w="9525" cap="flat" cmpd="sng">
              <a:solidFill>
                <a:srgbClr val="000000"/>
              </a:solidFill>
              <a:prstDash val="solid"/>
              <a:round/>
              <a:headEnd type="none" w="med" len="med"/>
              <a:tailEnd type="triangle" w="med" len="med"/>
            </a:ln>
          </p:spPr>
        </p:sp>
        <p:sp>
          <p:nvSpPr>
            <p:cNvPr id="48142" name="Text Box 15"/>
            <p:cNvSpPr txBox="1"/>
            <p:nvPr/>
          </p:nvSpPr>
          <p:spPr>
            <a:xfrm>
              <a:off x="3263" y="2750"/>
              <a:ext cx="855" cy="514"/>
            </a:xfrm>
            <a:prstGeom prst="rect">
              <a:avLst/>
            </a:prstGeom>
            <a:noFill/>
            <a:ln w="9525" cap="flat" cmpd="sng">
              <a:solidFill>
                <a:srgbClr val="000000"/>
              </a:solidFill>
              <a:prstDash val="solid"/>
              <a:miter/>
              <a:headEnd type="none" w="med" len="med"/>
              <a:tailEnd type="none" w="med" len="med"/>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数据</a:t>
              </a:r>
              <a:endParaRPr lang="zh-CN" altLang="en-US" b="1" dirty="0">
                <a:latin typeface="Verdana" panose="020B0604030504040204" pitchFamily="34" charset="0"/>
                <a:ea typeface="宋体" panose="02010600030101010101" pitchFamily="2" charset="-122"/>
              </a:endParaRPr>
            </a:p>
            <a:p>
              <a:pPr algn="ctr" eaLnBrk="0" hangingPunct="0"/>
              <a:r>
                <a:rPr lang="zh-CN" altLang="en-US" sz="2000" b="1" dirty="0">
                  <a:latin typeface="Verdana" panose="020B0604030504040204" pitchFamily="34" charset="0"/>
                  <a:ea typeface="宋体" panose="02010600030101010101" pitchFamily="2" charset="-122"/>
                </a:rPr>
                <a:t>输出</a:t>
              </a:r>
              <a:endParaRPr lang="zh-CN" altLang="en-US" sz="2000" b="1" dirty="0">
                <a:latin typeface="Verdana" panose="020B0604030504040204" pitchFamily="34" charset="0"/>
                <a:ea typeface="宋体" panose="02010600030101010101" pitchFamily="2" charset="-122"/>
              </a:endParaRPr>
            </a:p>
          </p:txBody>
        </p:sp>
        <p:sp>
          <p:nvSpPr>
            <p:cNvPr id="48143" name="Line 16"/>
            <p:cNvSpPr/>
            <p:nvPr/>
          </p:nvSpPr>
          <p:spPr>
            <a:xfrm flipH="1">
              <a:off x="4320" y="2976"/>
              <a:ext cx="285" cy="0"/>
            </a:xfrm>
            <a:prstGeom prst="line">
              <a:avLst/>
            </a:prstGeom>
            <a:ln w="9525" cap="flat" cmpd="sng">
              <a:solidFill>
                <a:srgbClr val="000000"/>
              </a:solidFill>
              <a:prstDash val="solid"/>
              <a:round/>
              <a:headEnd type="none" w="med" len="med"/>
              <a:tailEnd type="triangle" w="med" len="med"/>
            </a:ln>
          </p:spPr>
        </p:sp>
        <p:sp>
          <p:nvSpPr>
            <p:cNvPr id="48144" name="Text Box 17"/>
            <p:cNvSpPr txBox="1"/>
            <p:nvPr/>
          </p:nvSpPr>
          <p:spPr>
            <a:xfrm>
              <a:off x="4663" y="2832"/>
              <a:ext cx="713" cy="329"/>
            </a:xfrm>
            <a:prstGeom prst="rect">
              <a:avLst/>
            </a:prstGeom>
            <a:noFill/>
            <a:ln w="9525">
              <a:noFill/>
            </a:ln>
          </p:spPr>
          <p:txBody>
            <a:bodyPr lIns="0" rIns="0" anchor="t" anchorCtr="0"/>
            <a:lstStyle/>
            <a:p>
              <a:pPr algn="ctr" eaLnBrk="0" hangingPunct="0"/>
              <a:r>
                <a:rPr lang="zh-CN" altLang="en-US" sz="2000" b="1" dirty="0">
                  <a:latin typeface="Verdana" panose="020B0604030504040204" pitchFamily="34" charset="0"/>
                  <a:ea typeface="宋体" panose="02010600030101010101" pitchFamily="2" charset="-122"/>
                </a:rPr>
                <a:t>处理要求</a:t>
              </a:r>
              <a:endParaRPr lang="zh-CN" altLang="en-US" dirty="0">
                <a:latin typeface="Verdana" panose="020B0604030504040204" pitchFamily="34" charset="0"/>
                <a:ea typeface="宋体" panose="02010600030101010101" pitchFamily="2" charset="-122"/>
              </a:endParaRPr>
            </a:p>
          </p:txBody>
        </p:sp>
        <p:sp>
          <p:nvSpPr>
            <p:cNvPr id="48145" name="Line 18"/>
            <p:cNvSpPr/>
            <p:nvPr/>
          </p:nvSpPr>
          <p:spPr>
            <a:xfrm>
              <a:off x="2336" y="2235"/>
              <a:ext cx="0" cy="412"/>
            </a:xfrm>
            <a:prstGeom prst="line">
              <a:avLst/>
            </a:prstGeom>
            <a:ln w="9525" cap="flat" cmpd="sng">
              <a:solidFill>
                <a:srgbClr val="000000"/>
              </a:solidFill>
              <a:prstDash val="solid"/>
              <a:round/>
              <a:headEnd type="triangle" w="med" len="med"/>
              <a:tailEnd type="triangle" w="med" len="med"/>
            </a:ln>
          </p:spPr>
        </p:sp>
      </p:gr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p:cNvSpPr>
          <p:nvPr>
            <p:ph idx="1"/>
          </p:nvPr>
        </p:nvSpPr>
        <p:spPr/>
        <p:txBody>
          <a:bodyPr vert="horz" wrap="square" lIns="91440" tIns="45720" rIns="91440" bIns="45720" anchor="t" anchorCtr="0"/>
          <a:lstStyle/>
          <a:p>
            <a:pPr>
              <a:buNone/>
            </a:pPr>
            <a:r>
              <a:rPr lang="en-US" altLang="zh-CN" dirty="0"/>
              <a:t>2</a:t>
            </a:r>
            <a:r>
              <a:rPr lang="zh-CN" altLang="en-US" dirty="0"/>
              <a:t>．分解处理功能和数据</a:t>
            </a:r>
            <a:endParaRPr lang="zh-CN" altLang="en-US" dirty="0"/>
          </a:p>
          <a:p>
            <a:pPr>
              <a:buNone/>
            </a:pPr>
            <a:r>
              <a:rPr lang="zh-CN" altLang="en-US" sz="2800" dirty="0"/>
              <a:t>（</a:t>
            </a:r>
            <a:r>
              <a:rPr lang="en-US" altLang="zh-CN" sz="2800" dirty="0"/>
              <a:t>1</a:t>
            </a:r>
            <a:r>
              <a:rPr lang="zh-CN" altLang="en-US" sz="2800" dirty="0"/>
              <a:t>）分解处理功能</a:t>
            </a:r>
            <a:endParaRPr lang="zh-CN" altLang="en-US" sz="2800" dirty="0"/>
          </a:p>
          <a:p>
            <a:pPr marL="1162050" lvl="2" indent="-394970"/>
            <a:r>
              <a:rPr lang="zh-CN" altLang="en-US" dirty="0"/>
              <a:t>将处理功能的具体内容分解为若干子功能，再将每个子功能继续分解，直到把系统的工作过程表达清楚为止。</a:t>
            </a:r>
            <a:endParaRPr lang="zh-CN" altLang="en-US" dirty="0"/>
          </a:p>
          <a:p>
            <a:pPr>
              <a:buNone/>
            </a:pPr>
            <a:r>
              <a:rPr lang="zh-CN" altLang="en-US" sz="2800" dirty="0"/>
              <a:t>（</a:t>
            </a:r>
            <a:r>
              <a:rPr lang="en-US" altLang="zh-CN" sz="2800" dirty="0"/>
              <a:t>2</a:t>
            </a:r>
            <a:r>
              <a:rPr lang="zh-CN" altLang="en-US" sz="2800" dirty="0"/>
              <a:t>）分解数据</a:t>
            </a:r>
            <a:endParaRPr lang="zh-CN" altLang="en-US" sz="2800" dirty="0"/>
          </a:p>
          <a:p>
            <a:pPr marL="1162050" lvl="2" indent="-394970"/>
            <a:r>
              <a:rPr lang="zh-CN" altLang="en-US" dirty="0"/>
              <a:t>在处理功能逐步分解的同时，其所用的数据也逐级分解，形成若干层次的</a:t>
            </a:r>
            <a:r>
              <a:rPr lang="zh-CN" altLang="en-US" dirty="0">
                <a:solidFill>
                  <a:srgbClr val="FF0000"/>
                </a:solidFill>
              </a:rPr>
              <a:t>数据流图</a:t>
            </a:r>
            <a:endParaRPr lang="zh-CN" altLang="en-US" dirty="0">
              <a:solidFill>
                <a:srgbClr val="FF0000"/>
              </a:solidFill>
            </a:endParaRPr>
          </a:p>
          <a:p>
            <a:pPr marL="1162050" lvl="2" indent="-394970"/>
            <a:r>
              <a:rPr lang="zh-CN" altLang="en-US" dirty="0"/>
              <a:t> 数据流图表达了数据和处理过程的关系</a:t>
            </a:r>
            <a:endParaRPr lang="zh-CN" altLang="en-US" dirty="0"/>
          </a:p>
          <a:p>
            <a:pPr>
              <a:buNone/>
            </a:pPr>
            <a:endParaRPr lang="en-US" altLang="zh-CN" sz="2800" dirty="0"/>
          </a:p>
        </p:txBody>
      </p:sp>
      <p:sp>
        <p:nvSpPr>
          <p:cNvPr id="50178" name="Rectangle 2"/>
          <p:cNvSpPr>
            <a:spLocks noGrp="1"/>
          </p:cNvSpPr>
          <p:nvPr>
            <p:ph type="title"/>
          </p:nvPr>
        </p:nvSpPr>
        <p:spPr/>
        <p:txBody>
          <a:bodyPr vert="horz" wrap="square" lIns="91440" tIns="45720" rIns="91440" bIns="45720" anchor="b" anchorCtr="0"/>
          <a:lstStyle/>
          <a:p>
            <a:r>
              <a:rPr lang="zh-CN" altLang="en-US" sz="3200" dirty="0"/>
              <a:t>进一步分析和表达用户需求（续）</a:t>
            </a:r>
            <a:endParaRPr lang="zh-CN" altLang="en-US" sz="3200"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p:cNvSpPr>
          <p:nvPr>
            <p:ph idx="1"/>
          </p:nvPr>
        </p:nvSpPr>
        <p:spPr/>
        <p:txBody>
          <a:bodyPr vert="horz" wrap="square" lIns="91440" tIns="45720" rIns="91440" bIns="45720" anchor="t" anchorCtr="0"/>
          <a:lstStyle/>
          <a:p>
            <a:pPr>
              <a:lnSpc>
                <a:spcPct val="160000"/>
              </a:lnSpc>
              <a:buNone/>
            </a:pPr>
            <a:r>
              <a:rPr lang="zh-CN" altLang="en-US" sz="2800" dirty="0"/>
              <a:t>（</a:t>
            </a:r>
            <a:r>
              <a:rPr lang="en-US" altLang="zh-CN" sz="2800" dirty="0"/>
              <a:t>3</a:t>
            </a:r>
            <a:r>
              <a:rPr lang="zh-CN" altLang="en-US" sz="2800" dirty="0"/>
              <a:t>）表达方法</a:t>
            </a:r>
            <a:endParaRPr lang="zh-CN" altLang="en-US" dirty="0"/>
          </a:p>
          <a:p>
            <a:pPr lvl="2" indent="-394970">
              <a:lnSpc>
                <a:spcPct val="150000"/>
              </a:lnSpc>
            </a:pPr>
            <a:r>
              <a:rPr lang="zh-CN" altLang="en-US" dirty="0"/>
              <a:t> </a:t>
            </a:r>
            <a:r>
              <a:rPr lang="zh-CN" altLang="en-US" sz="2800" dirty="0"/>
              <a:t>处理过程：用判定表或判定树来描述</a:t>
            </a:r>
            <a:endParaRPr lang="zh-CN" altLang="en-US" sz="2800" dirty="0"/>
          </a:p>
          <a:p>
            <a:pPr lvl="2" indent="-394970">
              <a:lnSpc>
                <a:spcPct val="150000"/>
              </a:lnSpc>
            </a:pPr>
            <a:r>
              <a:rPr lang="zh-CN" altLang="en-US" sz="2800" dirty="0"/>
              <a:t> 数据：用数据字典来描述</a:t>
            </a:r>
            <a:endParaRPr lang="zh-CN" altLang="en-US" sz="2800" dirty="0"/>
          </a:p>
          <a:p>
            <a:pPr>
              <a:lnSpc>
                <a:spcPct val="150000"/>
              </a:lnSpc>
              <a:buNone/>
            </a:pPr>
            <a:r>
              <a:rPr lang="zh-CN" altLang="en-US" sz="3200" dirty="0"/>
              <a:t> </a:t>
            </a:r>
            <a:r>
              <a:rPr lang="en-US" altLang="zh-CN" sz="3200" dirty="0"/>
              <a:t>3</a:t>
            </a:r>
            <a:r>
              <a:rPr lang="zh-CN" altLang="en-US" sz="3200" dirty="0"/>
              <a:t>．将分析结果再次提交给用户，征得用户的认可</a:t>
            </a:r>
            <a:endParaRPr lang="zh-CN" altLang="en-US" sz="3200" dirty="0"/>
          </a:p>
          <a:p>
            <a:pPr>
              <a:lnSpc>
                <a:spcPct val="150000"/>
              </a:lnSpc>
              <a:buNone/>
            </a:pPr>
            <a:endParaRPr lang="zh-CN" altLang="en-US" sz="3600" dirty="0"/>
          </a:p>
        </p:txBody>
      </p:sp>
      <p:sp>
        <p:nvSpPr>
          <p:cNvPr id="51202" name="Rectangle 2"/>
          <p:cNvSpPr>
            <a:spLocks noGrp="1"/>
          </p:cNvSpPr>
          <p:nvPr>
            <p:ph type="title"/>
          </p:nvPr>
        </p:nvSpPr>
        <p:spPr/>
        <p:txBody>
          <a:bodyPr vert="horz" wrap="square" lIns="91440" tIns="45720" rIns="91440" bIns="45720" anchor="b" anchorCtr="0"/>
          <a:lstStyle/>
          <a:p>
            <a:r>
              <a:rPr lang="zh-CN" altLang="en-US" sz="3200" dirty="0"/>
              <a:t>进一步分析和表达用户需求（续）</a:t>
            </a:r>
            <a:endParaRPr lang="zh-CN" altLang="en-US" sz="3200"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p:txBody>
          <a:bodyPr vert="horz" wrap="square" lIns="91440" tIns="45720" rIns="91440" bIns="45720" anchor="b" anchorCtr="0"/>
          <a:lstStyle/>
          <a:p>
            <a:r>
              <a:rPr lang="zh-CN" altLang="en-US" dirty="0"/>
              <a:t>四、需求分析过程</a:t>
            </a:r>
            <a:endParaRPr lang="zh-CN" altLang="en-US" dirty="0"/>
          </a:p>
        </p:txBody>
      </p:sp>
      <p:pic>
        <p:nvPicPr>
          <p:cNvPr id="52226" name="Picture 4" descr="6"/>
          <p:cNvPicPr>
            <a:picLocks noChangeAspect="1"/>
          </p:cNvPicPr>
          <p:nvPr/>
        </p:nvPicPr>
        <p:blipFill>
          <a:blip r:embed="rId1">
            <a:clrChange>
              <a:clrFrom>
                <a:srgbClr val="FFFFFF"/>
              </a:clrFrom>
              <a:clrTo>
                <a:srgbClr val="FFFFFF">
                  <a:alpha val="0"/>
                </a:srgbClr>
              </a:clrTo>
            </a:clrChange>
          </a:blip>
          <a:stretch>
            <a:fillRect/>
          </a:stretch>
        </p:blipFill>
        <p:spPr>
          <a:xfrm>
            <a:off x="2452688" y="1214438"/>
            <a:ext cx="7162800" cy="4895850"/>
          </a:xfrm>
          <a:prstGeom prst="rect">
            <a:avLst/>
          </a:prstGeom>
          <a:noFill/>
          <a:ln w="9525">
            <a:noFill/>
          </a:ln>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p:cNvSpPr>
          <p:nvPr>
            <p:ph idx="1"/>
          </p:nvPr>
        </p:nvSpPr>
        <p:spPr/>
        <p:txBody>
          <a:bodyPr vert="horz" wrap="square" lIns="91440" tIns="45720" rIns="91440" bIns="45720" anchor="t" anchorCtr="0"/>
          <a:lstStyle/>
          <a:p>
            <a:pPr>
              <a:lnSpc>
                <a:spcPct val="160000"/>
              </a:lnSpc>
              <a:buNone/>
            </a:pPr>
            <a:r>
              <a:rPr lang="en-US" altLang="zh-CN" dirty="0"/>
              <a:t>7.2.1  </a:t>
            </a:r>
            <a:r>
              <a:rPr lang="zh-CN" altLang="en-US" dirty="0"/>
              <a:t>需求分析的任务</a:t>
            </a:r>
            <a:endParaRPr lang="zh-CN" altLang="en-US" dirty="0"/>
          </a:p>
          <a:p>
            <a:pPr>
              <a:lnSpc>
                <a:spcPct val="160000"/>
              </a:lnSpc>
              <a:buNone/>
            </a:pPr>
            <a:r>
              <a:rPr lang="en-US" altLang="zh-CN" dirty="0"/>
              <a:t>7.2.2  </a:t>
            </a:r>
            <a:r>
              <a:rPr lang="zh-CN" altLang="en-US" dirty="0"/>
              <a:t>需求分析的方法</a:t>
            </a:r>
            <a:endParaRPr lang="zh-CN" altLang="en-US" dirty="0"/>
          </a:p>
          <a:p>
            <a:pPr>
              <a:lnSpc>
                <a:spcPct val="160000"/>
              </a:lnSpc>
              <a:buNone/>
            </a:pPr>
            <a:r>
              <a:rPr lang="en-US" altLang="zh-CN" dirty="0">
                <a:solidFill>
                  <a:schemeClr val="accent2"/>
                </a:solidFill>
              </a:rPr>
              <a:t>7.2.3  </a:t>
            </a:r>
            <a:r>
              <a:rPr lang="zh-CN" altLang="en-US" dirty="0">
                <a:solidFill>
                  <a:schemeClr val="accent2"/>
                </a:solidFill>
              </a:rPr>
              <a:t>数据字典（软件工程中已经讲解，此处可以不再讲解）</a:t>
            </a:r>
            <a:endParaRPr lang="zh-CN" altLang="en-US" dirty="0">
              <a:solidFill>
                <a:schemeClr val="accent2"/>
              </a:solidFill>
            </a:endParaRPr>
          </a:p>
        </p:txBody>
      </p:sp>
      <p:sp>
        <p:nvSpPr>
          <p:cNvPr id="53250" name="Rectangle 2"/>
          <p:cNvSpPr>
            <a:spLocks noGrp="1"/>
          </p:cNvSpPr>
          <p:nvPr>
            <p:ph type="title"/>
          </p:nvPr>
        </p:nvSpPr>
        <p:spPr/>
        <p:txBody>
          <a:bodyPr vert="horz" wrap="square" lIns="91440" tIns="45720" rIns="91440" bIns="45720" anchor="b" anchorCtr="0"/>
          <a:lstStyle/>
          <a:p>
            <a:r>
              <a:rPr lang="en-US" altLang="zh-CN" dirty="0"/>
              <a:t>7.2  </a:t>
            </a:r>
            <a:r>
              <a:rPr lang="zh-CN" altLang="en-US" dirty="0"/>
              <a:t>需求分析</a:t>
            </a:r>
            <a:endParaRPr lang="zh-CN" altLang="en-US"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p:cNvSpPr>
            <a:spLocks noGrp="1"/>
          </p:cNvSpPr>
          <p:nvPr>
            <p:ph idx="1"/>
          </p:nvPr>
        </p:nvSpPr>
        <p:spPr/>
        <p:txBody>
          <a:bodyPr vert="horz" wrap="square" lIns="91440" tIns="45720" rIns="91440" bIns="45720" anchor="t" anchorCtr="0"/>
          <a:lstStyle/>
          <a:p>
            <a:pPr>
              <a:lnSpc>
                <a:spcPct val="180000"/>
              </a:lnSpc>
            </a:pPr>
            <a:r>
              <a:rPr lang="zh-CN" altLang="en-US" sz="2800" dirty="0"/>
              <a:t> 数据字典是关于</a:t>
            </a:r>
            <a:r>
              <a:rPr lang="zh-CN" altLang="en-US" sz="2800" b="1" dirty="0">
                <a:solidFill>
                  <a:srgbClr val="FF0000"/>
                </a:solidFill>
              </a:rPr>
              <a:t>数据库中数据的描述</a:t>
            </a:r>
            <a:r>
              <a:rPr lang="zh-CN" altLang="en-US" sz="2800" dirty="0"/>
              <a:t>，即元数据，不是数据本身 </a:t>
            </a:r>
            <a:endParaRPr lang="en-US" altLang="zh-CN" sz="2800" dirty="0"/>
          </a:p>
          <a:p>
            <a:pPr>
              <a:lnSpc>
                <a:spcPct val="180000"/>
              </a:lnSpc>
            </a:pPr>
            <a:r>
              <a:rPr lang="zh-CN" altLang="en-US" sz="2800" dirty="0">
                <a:solidFill>
                  <a:srgbClr val="FF0000"/>
                </a:solidFill>
              </a:rPr>
              <a:t>数据字典</a:t>
            </a:r>
            <a:r>
              <a:rPr lang="zh-CN" altLang="en-US" sz="2800" dirty="0"/>
              <a:t>在</a:t>
            </a:r>
            <a:r>
              <a:rPr lang="zh-CN" altLang="en-US" sz="2800" dirty="0">
                <a:solidFill>
                  <a:srgbClr val="FF0000"/>
                </a:solidFill>
              </a:rPr>
              <a:t>需求分析阶段</a:t>
            </a:r>
            <a:r>
              <a:rPr lang="zh-CN" altLang="en-US" sz="2800" dirty="0"/>
              <a:t>建立，在数据库设计过程中不断修改、充实、完善 </a:t>
            </a:r>
            <a:endParaRPr lang="en-US" altLang="zh-CN" sz="2800" dirty="0"/>
          </a:p>
          <a:p>
            <a:pPr>
              <a:lnSpc>
                <a:spcPct val="180000"/>
              </a:lnSpc>
            </a:pPr>
            <a:r>
              <a:rPr lang="zh-CN" altLang="en-US" sz="2800" dirty="0"/>
              <a:t>数据字典是进行详细的数据收集和数据分析所获得的主要结果</a:t>
            </a:r>
            <a:endParaRPr lang="en-US" altLang="zh-CN" dirty="0"/>
          </a:p>
        </p:txBody>
      </p:sp>
      <p:sp>
        <p:nvSpPr>
          <p:cNvPr id="54274" name="Rectangle 2"/>
          <p:cNvSpPr>
            <a:spLocks noGrp="1"/>
          </p:cNvSpPr>
          <p:nvPr>
            <p:ph type="title"/>
          </p:nvPr>
        </p:nvSpPr>
        <p:spPr/>
        <p:txBody>
          <a:bodyPr vert="horz" wrap="square" lIns="91440" tIns="45720" rIns="91440" bIns="45720" anchor="b" anchorCtr="0"/>
          <a:lstStyle/>
          <a:p>
            <a:r>
              <a:rPr lang="zh-CN" altLang="en-US" dirty="0"/>
              <a:t>一、数据字典</a:t>
            </a:r>
            <a:endParaRPr lang="zh-CN" altLang="en-US"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p:cNvSpPr>
          <p:nvPr>
            <p:ph idx="1"/>
          </p:nvPr>
        </p:nvSpPr>
        <p:spPr>
          <a:xfrm>
            <a:off x="817880" y="1214755"/>
            <a:ext cx="9516745" cy="4500245"/>
          </a:xfrm>
        </p:spPr>
        <p:txBody>
          <a:bodyPr vert="horz" wrap="square" lIns="91440" tIns="45720" rIns="91440" bIns="45720" anchor="t" anchorCtr="0"/>
          <a:lstStyle/>
          <a:p>
            <a:pPr>
              <a:lnSpc>
                <a:spcPct val="90000"/>
              </a:lnSpc>
            </a:pPr>
            <a:r>
              <a:rPr lang="zh-CN" altLang="en-US" sz="2800" dirty="0"/>
              <a:t>数据字典的内容</a:t>
            </a:r>
            <a:endParaRPr lang="zh-CN" altLang="en-US" sz="2800" dirty="0"/>
          </a:p>
          <a:p>
            <a:pPr marL="469900" lvl="1" indent="0">
              <a:lnSpc>
                <a:spcPct val="90000"/>
              </a:lnSpc>
              <a:buNone/>
            </a:pPr>
            <a:r>
              <a:rPr lang="en-US" altLang="zh-CN" sz="2400" dirty="0"/>
              <a:t>1.</a:t>
            </a:r>
            <a:r>
              <a:rPr lang="zh-CN" altLang="en-US" sz="2400" dirty="0"/>
              <a:t>数据项</a:t>
            </a:r>
            <a:endParaRPr lang="zh-CN" altLang="en-US" sz="2400" dirty="0"/>
          </a:p>
          <a:p>
            <a:pPr marL="469900" lvl="1" indent="0">
              <a:lnSpc>
                <a:spcPct val="90000"/>
              </a:lnSpc>
              <a:buNone/>
            </a:pPr>
            <a:r>
              <a:rPr lang="en-US" altLang="zh-CN" sz="2400" dirty="0"/>
              <a:t>2.</a:t>
            </a:r>
            <a:r>
              <a:rPr lang="zh-CN" altLang="en-US" sz="2400" dirty="0"/>
              <a:t>数据结构</a:t>
            </a:r>
            <a:endParaRPr lang="zh-CN" altLang="en-US" sz="2400" dirty="0"/>
          </a:p>
          <a:p>
            <a:pPr marL="469900" lvl="1" indent="0">
              <a:lnSpc>
                <a:spcPct val="90000"/>
              </a:lnSpc>
              <a:buNone/>
            </a:pPr>
            <a:r>
              <a:rPr lang="en-US" altLang="zh-CN" sz="2400" dirty="0"/>
              <a:t>3.</a:t>
            </a:r>
            <a:r>
              <a:rPr lang="zh-CN" altLang="en-US" sz="2400" dirty="0"/>
              <a:t>数据流</a:t>
            </a:r>
            <a:endParaRPr lang="zh-CN" altLang="en-US" sz="2400" dirty="0"/>
          </a:p>
          <a:p>
            <a:pPr marL="469900" lvl="1" indent="0">
              <a:lnSpc>
                <a:spcPct val="90000"/>
              </a:lnSpc>
              <a:buNone/>
            </a:pPr>
            <a:r>
              <a:rPr lang="en-US" altLang="zh-CN" sz="2400" dirty="0"/>
              <a:t>4.</a:t>
            </a:r>
            <a:r>
              <a:rPr lang="zh-CN" altLang="en-US" sz="2400" dirty="0"/>
              <a:t>数据存储</a:t>
            </a:r>
            <a:endParaRPr lang="zh-CN" altLang="en-US" sz="2400" dirty="0"/>
          </a:p>
          <a:p>
            <a:pPr marL="469900" lvl="1" indent="0">
              <a:lnSpc>
                <a:spcPct val="90000"/>
              </a:lnSpc>
              <a:buNone/>
            </a:pPr>
            <a:r>
              <a:rPr lang="en-US" altLang="zh-CN" sz="2400" dirty="0"/>
              <a:t>5.</a:t>
            </a:r>
            <a:r>
              <a:rPr lang="zh-CN" altLang="en-US" sz="2400" dirty="0"/>
              <a:t>处理过程</a:t>
            </a:r>
            <a:endParaRPr lang="zh-CN" altLang="en-US" sz="2400" dirty="0"/>
          </a:p>
          <a:p>
            <a:pPr>
              <a:lnSpc>
                <a:spcPct val="90000"/>
              </a:lnSpc>
            </a:pPr>
            <a:r>
              <a:rPr lang="zh-CN" altLang="en-US" sz="2800" dirty="0"/>
              <a:t> 数据项是数据的最小组成单位</a:t>
            </a:r>
            <a:endParaRPr lang="zh-CN" altLang="en-US" sz="2800" dirty="0"/>
          </a:p>
          <a:p>
            <a:pPr>
              <a:lnSpc>
                <a:spcPct val="90000"/>
              </a:lnSpc>
            </a:pPr>
            <a:r>
              <a:rPr lang="zh-CN" altLang="en-US" sz="2800" dirty="0"/>
              <a:t> 若干个数据项可以组成一个数据结构</a:t>
            </a:r>
            <a:endParaRPr lang="zh-CN" altLang="en-US" sz="2800" dirty="0"/>
          </a:p>
          <a:p>
            <a:pPr>
              <a:lnSpc>
                <a:spcPct val="90000"/>
              </a:lnSpc>
            </a:pPr>
            <a:r>
              <a:rPr lang="zh-CN" altLang="en-US" sz="2800" dirty="0"/>
              <a:t> 数据字典通过对</a:t>
            </a:r>
            <a:r>
              <a:rPr lang="zh-CN" altLang="en-US" sz="2800" b="1" dirty="0">
                <a:solidFill>
                  <a:srgbClr val="0000FF"/>
                </a:solidFill>
              </a:rPr>
              <a:t>数据项和数据结构</a:t>
            </a:r>
            <a:r>
              <a:rPr lang="zh-CN" altLang="en-US" sz="2800" dirty="0"/>
              <a:t>的定义来描述</a:t>
            </a:r>
            <a:r>
              <a:rPr lang="zh-CN" altLang="en-US" sz="2800" b="1" dirty="0">
                <a:solidFill>
                  <a:srgbClr val="0000FF"/>
                </a:solidFill>
              </a:rPr>
              <a:t>数据流、数据存储</a:t>
            </a:r>
            <a:r>
              <a:rPr lang="zh-CN" altLang="en-US" sz="2800" dirty="0"/>
              <a:t>的逻辑内容。</a:t>
            </a:r>
            <a:endParaRPr lang="zh-CN" altLang="en-US" sz="2800" dirty="0"/>
          </a:p>
        </p:txBody>
      </p:sp>
      <p:sp>
        <p:nvSpPr>
          <p:cNvPr id="55298" name="Rectangle 2"/>
          <p:cNvSpPr>
            <a:spLocks noGrp="1"/>
          </p:cNvSpPr>
          <p:nvPr>
            <p:ph type="title"/>
          </p:nvPr>
        </p:nvSpPr>
        <p:spPr/>
        <p:txBody>
          <a:bodyPr vert="horz" wrap="square" lIns="91440" tIns="45720" rIns="91440" bIns="45720" anchor="b" anchorCtr="0"/>
          <a:lstStyle/>
          <a:p>
            <a:r>
              <a:rPr lang="zh-CN" altLang="en-US" dirty="0"/>
              <a:t>二、数据字典的内容</a:t>
            </a:r>
            <a:endParaRPr lang="zh-CN" altLang="en-US"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p:cNvSpPr>
          <p:nvPr>
            <p:ph idx="1"/>
          </p:nvPr>
        </p:nvSpPr>
        <p:spPr/>
        <p:txBody>
          <a:bodyPr vert="horz" wrap="square" lIns="91440" tIns="45720" rIns="91440" bIns="45720" anchor="t" anchorCtr="0"/>
          <a:lstStyle/>
          <a:p>
            <a:pPr>
              <a:lnSpc>
                <a:spcPct val="90000"/>
              </a:lnSpc>
            </a:pPr>
            <a:r>
              <a:rPr lang="zh-CN" altLang="en-US" dirty="0"/>
              <a:t>数据项是不可再分的数据单位</a:t>
            </a:r>
            <a:endParaRPr lang="zh-CN" altLang="en-US" dirty="0"/>
          </a:p>
          <a:p>
            <a:pPr>
              <a:lnSpc>
                <a:spcPct val="90000"/>
              </a:lnSpc>
              <a:spcBef>
                <a:spcPct val="60000"/>
              </a:spcBef>
            </a:pPr>
            <a:r>
              <a:rPr lang="zh-CN" altLang="en-US" dirty="0"/>
              <a:t> 对数据项的描述</a:t>
            </a:r>
            <a:endParaRPr lang="zh-CN" altLang="en-US" sz="3600" dirty="0"/>
          </a:p>
          <a:p>
            <a:pPr>
              <a:lnSpc>
                <a:spcPct val="80000"/>
              </a:lnSpc>
              <a:buNone/>
            </a:pPr>
            <a:r>
              <a:rPr lang="zh-CN" altLang="en-US" sz="2800" dirty="0"/>
              <a:t>	</a:t>
            </a:r>
            <a:r>
              <a:rPr lang="zh-CN" altLang="en-US" sz="2800" b="1" dirty="0">
                <a:solidFill>
                  <a:srgbClr val="FF0000"/>
                </a:solidFill>
              </a:rPr>
              <a:t>数据项描述＝｛数据项名，数据项含义说明，   </a:t>
            </a:r>
            <a:endParaRPr lang="zh-CN" altLang="en-US" sz="2800" b="1" dirty="0">
              <a:solidFill>
                <a:srgbClr val="FF0000"/>
              </a:solidFill>
            </a:endParaRPr>
          </a:p>
          <a:p>
            <a:pPr>
              <a:lnSpc>
                <a:spcPct val="80000"/>
              </a:lnSpc>
              <a:buNone/>
            </a:pPr>
            <a:r>
              <a:rPr lang="zh-CN" altLang="en-US" sz="2800" b="1" dirty="0">
                <a:solidFill>
                  <a:srgbClr val="FF0000"/>
                </a:solidFill>
              </a:rPr>
              <a:t>    别名，数据类型，长度，取值范围，取值含义，与其他数据项的逻辑关系｝</a:t>
            </a:r>
            <a:endParaRPr lang="zh-CN" altLang="en-US" sz="2800" b="1" dirty="0">
              <a:solidFill>
                <a:srgbClr val="FF0000"/>
              </a:solidFill>
            </a:endParaRPr>
          </a:p>
          <a:p>
            <a:pPr lvl="1" indent="-436245">
              <a:lnSpc>
                <a:spcPct val="90000"/>
              </a:lnSpc>
            </a:pPr>
            <a:r>
              <a:rPr lang="zh-CN" altLang="en-US" dirty="0"/>
              <a:t>取值范围、与其他数据项的逻辑关系定义了数据的完整性约束条件是设计数据检验功能的依据 </a:t>
            </a:r>
            <a:endParaRPr lang="en-US" altLang="zh-CN" dirty="0"/>
          </a:p>
          <a:p>
            <a:pPr lvl="1" indent="-436245">
              <a:lnSpc>
                <a:spcPct val="90000"/>
              </a:lnSpc>
            </a:pPr>
            <a:r>
              <a:rPr lang="zh-CN" altLang="en-US" dirty="0"/>
              <a:t>可以用关系规范化理论为指导，用数据依赖的概念分析和表示数据项之间的联系</a:t>
            </a:r>
            <a:endParaRPr lang="zh-CN" altLang="en-US" dirty="0"/>
          </a:p>
        </p:txBody>
      </p:sp>
      <p:sp>
        <p:nvSpPr>
          <p:cNvPr id="56322" name="Rectangle 2"/>
          <p:cNvSpPr>
            <a:spLocks noGrp="1"/>
          </p:cNvSpPr>
          <p:nvPr>
            <p:ph type="title"/>
          </p:nvPr>
        </p:nvSpPr>
        <p:spPr/>
        <p:txBody>
          <a:bodyPr vert="horz" wrap="square" lIns="91440" tIns="45720" rIns="91440" bIns="45720" anchor="b" anchorCtr="0"/>
          <a:lstStyle/>
          <a:p>
            <a:r>
              <a:rPr lang="en-US" altLang="zh-CN" dirty="0"/>
              <a:t>⒈ </a:t>
            </a:r>
            <a:r>
              <a:rPr lang="zh-CN" altLang="en-US" dirty="0"/>
              <a:t>数据项</a:t>
            </a:r>
            <a:endParaRPr lang="zh-CN" altLang="en-US"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p:cNvSpPr>
            <a:spLocks noGrp="1"/>
          </p:cNvSpPr>
          <p:nvPr>
            <p:ph idx="1"/>
          </p:nvPr>
        </p:nvSpPr>
        <p:spPr>
          <a:xfrm>
            <a:off x="1118235" y="1285875"/>
            <a:ext cx="8964295" cy="4714875"/>
          </a:xfrm>
        </p:spPr>
        <p:txBody>
          <a:bodyPr vert="horz" wrap="square" lIns="91440" tIns="45720" rIns="91440" bIns="45720" anchor="t" anchorCtr="0"/>
          <a:lstStyle/>
          <a:p>
            <a:pPr>
              <a:lnSpc>
                <a:spcPct val="75000"/>
              </a:lnSpc>
              <a:buNone/>
            </a:pPr>
            <a:r>
              <a:rPr lang="zh-CN" altLang="en-US" sz="2800" dirty="0">
                <a:solidFill>
                  <a:srgbClr val="0066FF"/>
                </a:solidFill>
              </a:rPr>
              <a:t>数据项</a:t>
            </a:r>
            <a:r>
              <a:rPr lang="zh-CN" altLang="en-US" sz="2800" dirty="0"/>
              <a:t>，以</a:t>
            </a:r>
            <a:r>
              <a:rPr lang="zh-CN" altLang="en-US" sz="2800" dirty="0">
                <a:latin typeface="Times New Roman" panose="02020603050405020304" pitchFamily="18" charset="0"/>
              </a:rPr>
              <a:t>“</a:t>
            </a:r>
            <a:r>
              <a:rPr lang="zh-CN" altLang="en-US" sz="2800" dirty="0"/>
              <a:t>学号</a:t>
            </a:r>
            <a:r>
              <a:rPr lang="zh-CN" altLang="en-US" sz="2800" dirty="0">
                <a:latin typeface="Times New Roman" panose="02020603050405020304" pitchFamily="18" charset="0"/>
              </a:rPr>
              <a:t>”</a:t>
            </a:r>
            <a:r>
              <a:rPr lang="zh-CN" altLang="en-US" sz="2800" dirty="0"/>
              <a:t>为例：</a:t>
            </a:r>
            <a:endParaRPr lang="zh-CN" altLang="en-US" sz="2800" dirty="0"/>
          </a:p>
          <a:p>
            <a:pPr>
              <a:lnSpc>
                <a:spcPct val="75000"/>
              </a:lnSpc>
              <a:buNone/>
            </a:pPr>
            <a:r>
              <a:rPr lang="zh-CN" altLang="en-US" sz="2800" dirty="0"/>
              <a:t>    数据项：　学号</a:t>
            </a:r>
            <a:endParaRPr lang="zh-CN" altLang="en-US" sz="2800" dirty="0"/>
          </a:p>
          <a:p>
            <a:pPr>
              <a:lnSpc>
                <a:spcPct val="75000"/>
              </a:lnSpc>
              <a:buNone/>
            </a:pPr>
            <a:r>
              <a:rPr lang="zh-CN" altLang="en-US" sz="2800" dirty="0"/>
              <a:t>    含义说明：唯一标识每个学生</a:t>
            </a:r>
            <a:endParaRPr lang="zh-CN" altLang="en-US" sz="2800" dirty="0"/>
          </a:p>
          <a:p>
            <a:pPr>
              <a:lnSpc>
                <a:spcPct val="75000"/>
              </a:lnSpc>
              <a:buNone/>
            </a:pPr>
            <a:r>
              <a:rPr lang="zh-CN" altLang="en-US" sz="2800" dirty="0"/>
              <a:t>　别名：　　学生编号</a:t>
            </a:r>
            <a:endParaRPr lang="zh-CN" altLang="en-US" sz="2800" dirty="0"/>
          </a:p>
          <a:p>
            <a:pPr>
              <a:lnSpc>
                <a:spcPct val="75000"/>
              </a:lnSpc>
              <a:buNone/>
            </a:pPr>
            <a:r>
              <a:rPr lang="zh-CN" altLang="en-US" sz="2800" dirty="0"/>
              <a:t>    类型：　　字符型</a:t>
            </a:r>
            <a:endParaRPr lang="zh-CN" altLang="en-US" sz="2800" dirty="0"/>
          </a:p>
          <a:p>
            <a:pPr>
              <a:lnSpc>
                <a:spcPct val="75000"/>
              </a:lnSpc>
              <a:buNone/>
            </a:pPr>
            <a:r>
              <a:rPr lang="zh-CN" altLang="en-US" sz="2800" dirty="0"/>
              <a:t>    长度：　　 </a:t>
            </a:r>
            <a:r>
              <a:rPr lang="en-US" altLang="zh-CN" sz="2800" dirty="0"/>
              <a:t>8</a:t>
            </a:r>
            <a:endParaRPr lang="en-US" altLang="zh-CN" sz="2800" dirty="0"/>
          </a:p>
          <a:p>
            <a:pPr>
              <a:lnSpc>
                <a:spcPct val="75000"/>
              </a:lnSpc>
              <a:buNone/>
            </a:pPr>
            <a:r>
              <a:rPr lang="en-US" altLang="zh-CN" sz="2800" dirty="0"/>
              <a:t>    </a:t>
            </a:r>
            <a:r>
              <a:rPr lang="zh-CN" altLang="en-US" sz="2800" dirty="0"/>
              <a:t>取值范围：</a:t>
            </a:r>
            <a:r>
              <a:rPr lang="en-US" altLang="zh-CN" sz="2800" dirty="0"/>
              <a:t>00000000</a:t>
            </a:r>
            <a:r>
              <a:rPr lang="zh-CN" altLang="en-US" sz="2800" dirty="0"/>
              <a:t>至</a:t>
            </a:r>
            <a:r>
              <a:rPr lang="en-US" altLang="zh-CN" sz="2800" dirty="0"/>
              <a:t>99999999</a:t>
            </a:r>
            <a:endParaRPr lang="en-US" altLang="zh-CN" sz="2800" dirty="0"/>
          </a:p>
          <a:p>
            <a:pPr>
              <a:lnSpc>
                <a:spcPct val="75000"/>
              </a:lnSpc>
              <a:buNone/>
            </a:pPr>
            <a:r>
              <a:rPr lang="zh-CN" altLang="en-US" sz="2800" dirty="0"/>
              <a:t>　取值含义：前两位标别该学生所在年级，</a:t>
            </a:r>
            <a:endParaRPr lang="zh-CN" altLang="en-US" sz="2800" dirty="0"/>
          </a:p>
          <a:p>
            <a:pPr>
              <a:lnSpc>
                <a:spcPct val="75000"/>
              </a:lnSpc>
              <a:buNone/>
            </a:pPr>
            <a:r>
              <a:rPr lang="zh-CN" altLang="en-US" sz="2800" dirty="0"/>
              <a:t>                        后六位按顺序编号</a:t>
            </a:r>
            <a:endParaRPr lang="zh-CN" altLang="en-US" sz="2800" dirty="0"/>
          </a:p>
          <a:p>
            <a:pPr>
              <a:lnSpc>
                <a:spcPct val="75000"/>
              </a:lnSpc>
              <a:buNone/>
            </a:pPr>
            <a:r>
              <a:rPr lang="zh-CN" altLang="en-US" sz="2800" dirty="0"/>
              <a:t>　与其他数据项的逻辑关系：</a:t>
            </a:r>
            <a:endParaRPr lang="zh-CN" altLang="en-US" sz="2800" dirty="0"/>
          </a:p>
          <a:p>
            <a:pPr>
              <a:lnSpc>
                <a:spcPct val="80000"/>
              </a:lnSpc>
              <a:buNone/>
            </a:pPr>
            <a:endParaRPr lang="en-US" altLang="zh-CN" sz="2800" dirty="0"/>
          </a:p>
        </p:txBody>
      </p:sp>
      <p:sp>
        <p:nvSpPr>
          <p:cNvPr id="57346" name="Rectangle 2"/>
          <p:cNvSpPr>
            <a:spLocks noGrp="1"/>
          </p:cNvSpPr>
          <p:nvPr>
            <p:ph type="title"/>
          </p:nvPr>
        </p:nvSpPr>
        <p:spPr/>
        <p:txBody>
          <a:bodyPr vert="horz" wrap="square" lIns="91440" tIns="45720" rIns="91440" bIns="45720" anchor="b" anchorCtr="0"/>
          <a:lstStyle/>
          <a:p>
            <a:r>
              <a:rPr lang="zh-CN" altLang="en-US" dirty="0"/>
              <a:t>数据项举例</a:t>
            </a:r>
            <a:endParaRPr lang="zh-CN" altLang="en-US"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p:cNvSpPr>
          <p:nvPr>
            <p:ph idx="1"/>
          </p:nvPr>
        </p:nvSpPr>
        <p:spPr/>
        <p:txBody>
          <a:bodyPr vert="horz" wrap="square" lIns="91440" tIns="45720" rIns="91440" bIns="45720" anchor="t" anchorCtr="0"/>
          <a:lstStyle/>
          <a:p>
            <a:pPr>
              <a:spcBef>
                <a:spcPct val="60000"/>
              </a:spcBef>
            </a:pPr>
            <a:r>
              <a:rPr lang="zh-CN" altLang="en-US" sz="2800" dirty="0"/>
              <a:t>数据结构反映了数据之间的组合关系。</a:t>
            </a:r>
            <a:endParaRPr lang="zh-CN" altLang="en-US" sz="2800" dirty="0"/>
          </a:p>
          <a:p>
            <a:pPr>
              <a:spcBef>
                <a:spcPct val="60000"/>
              </a:spcBef>
            </a:pPr>
            <a:r>
              <a:rPr lang="zh-CN" altLang="en-US" sz="2800" dirty="0"/>
              <a:t> 一个数据结构可以由若干个数据项组成，也可以由若干个数据结构组成，或由若干个数据项和数据结构混合组成。</a:t>
            </a:r>
            <a:endParaRPr lang="zh-CN" altLang="en-US" sz="2800" dirty="0"/>
          </a:p>
          <a:p>
            <a:pPr>
              <a:spcBef>
                <a:spcPct val="60000"/>
              </a:spcBef>
            </a:pPr>
            <a:r>
              <a:rPr lang="zh-CN" altLang="en-US" sz="2800" dirty="0"/>
              <a:t> 对数据结构的描述</a:t>
            </a:r>
            <a:endParaRPr lang="zh-CN" altLang="en-US" sz="2800" dirty="0"/>
          </a:p>
          <a:p>
            <a:pPr>
              <a:lnSpc>
                <a:spcPct val="90000"/>
              </a:lnSpc>
              <a:buNone/>
            </a:pPr>
            <a:r>
              <a:rPr lang="zh-CN" altLang="en-US" sz="2800" dirty="0"/>
              <a:t>	</a:t>
            </a:r>
            <a:r>
              <a:rPr lang="zh-CN" altLang="en-US" sz="2800" dirty="0">
                <a:solidFill>
                  <a:srgbClr val="2355F3"/>
                </a:solidFill>
              </a:rPr>
              <a:t>数据结构描述＝｛数据结构名，含义说明，</a:t>
            </a:r>
            <a:endParaRPr lang="zh-CN" altLang="en-US" sz="2800" dirty="0">
              <a:solidFill>
                <a:srgbClr val="2355F3"/>
              </a:solidFill>
            </a:endParaRPr>
          </a:p>
          <a:p>
            <a:pPr>
              <a:lnSpc>
                <a:spcPct val="90000"/>
              </a:lnSpc>
              <a:buNone/>
            </a:pPr>
            <a:r>
              <a:rPr lang="zh-CN" altLang="en-US" sz="2800" dirty="0">
                <a:solidFill>
                  <a:srgbClr val="2355F3"/>
                </a:solidFill>
              </a:rPr>
              <a:t>      组成</a:t>
            </a:r>
            <a:r>
              <a:rPr lang="en-US" altLang="zh-CN" sz="2800" dirty="0">
                <a:solidFill>
                  <a:srgbClr val="2355F3"/>
                </a:solidFill>
              </a:rPr>
              <a:t>:</a:t>
            </a:r>
            <a:r>
              <a:rPr lang="zh-CN" altLang="en-US" sz="2800" dirty="0">
                <a:solidFill>
                  <a:srgbClr val="2355F3"/>
                </a:solidFill>
              </a:rPr>
              <a:t>｛数据项或数据结构｝｝</a:t>
            </a:r>
            <a:endParaRPr lang="zh-CN" altLang="en-US" sz="2800" dirty="0">
              <a:solidFill>
                <a:srgbClr val="2355F3"/>
              </a:solidFill>
            </a:endParaRPr>
          </a:p>
        </p:txBody>
      </p:sp>
      <p:sp>
        <p:nvSpPr>
          <p:cNvPr id="58370" name="Rectangle 2"/>
          <p:cNvSpPr>
            <a:spLocks noGrp="1"/>
          </p:cNvSpPr>
          <p:nvPr>
            <p:ph type="title"/>
          </p:nvPr>
        </p:nvSpPr>
        <p:spPr/>
        <p:txBody>
          <a:bodyPr vert="horz" wrap="square" lIns="91440" tIns="45720" rIns="91440" bIns="45720" anchor="b" anchorCtr="0"/>
          <a:lstStyle/>
          <a:p>
            <a:r>
              <a:rPr lang="en-US" altLang="zh-CN" dirty="0"/>
              <a:t>⒉ </a:t>
            </a:r>
            <a:r>
              <a:rPr lang="zh-CN" altLang="en-US" dirty="0"/>
              <a:t>数据结构</a:t>
            </a:r>
            <a:endParaRPr lang="zh-CN" altLang="en-US" dirty="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p:cNvSpPr>
            <a:spLocks noGrp="1"/>
          </p:cNvSpPr>
          <p:nvPr>
            <p:ph idx="1"/>
          </p:nvPr>
        </p:nvSpPr>
        <p:spPr>
          <a:xfrm>
            <a:off x="793750" y="1428750"/>
            <a:ext cx="9540875" cy="4114800"/>
          </a:xfrm>
        </p:spPr>
        <p:txBody>
          <a:bodyPr vert="horz" wrap="square" lIns="91440" tIns="45720" rIns="91440" bIns="45720" anchor="t" anchorCtr="0"/>
          <a:lstStyle/>
          <a:p>
            <a:pPr>
              <a:lnSpc>
                <a:spcPct val="90000"/>
              </a:lnSpc>
              <a:buNone/>
            </a:pPr>
            <a:r>
              <a:rPr lang="zh-CN" altLang="en-US" sz="2800" dirty="0">
                <a:solidFill>
                  <a:srgbClr val="0066FF"/>
                </a:solidFill>
              </a:rPr>
              <a:t>数据结构     </a:t>
            </a:r>
            <a:r>
              <a:rPr lang="zh-CN" altLang="en-US" sz="2800" dirty="0"/>
              <a:t>以</a:t>
            </a:r>
            <a:r>
              <a:rPr lang="zh-CN" altLang="en-US" sz="2800" dirty="0">
                <a:latin typeface="Times New Roman" panose="02020603050405020304" pitchFamily="18" charset="0"/>
              </a:rPr>
              <a:t>“</a:t>
            </a:r>
            <a:r>
              <a:rPr lang="zh-CN" altLang="en-US" sz="2800" dirty="0"/>
              <a:t>学生</a:t>
            </a:r>
            <a:r>
              <a:rPr lang="zh-CN" altLang="en-US" sz="2800" dirty="0">
                <a:latin typeface="Times New Roman" panose="02020603050405020304" pitchFamily="18" charset="0"/>
              </a:rPr>
              <a:t>”</a:t>
            </a:r>
            <a:r>
              <a:rPr lang="zh-CN" altLang="en-US" sz="2800" dirty="0"/>
              <a:t>为例</a:t>
            </a:r>
            <a:endParaRPr lang="zh-CN" altLang="en-US" sz="2800" dirty="0"/>
          </a:p>
          <a:p>
            <a:pPr>
              <a:lnSpc>
                <a:spcPct val="90000"/>
              </a:lnSpc>
              <a:buNone/>
            </a:pPr>
            <a:r>
              <a:rPr lang="zh-CN" altLang="en-US" sz="2800" dirty="0"/>
              <a:t> 	</a:t>
            </a:r>
            <a:r>
              <a:rPr lang="zh-CN" altLang="en-US" sz="2800" dirty="0">
                <a:latin typeface="Times New Roman" panose="02020603050405020304" pitchFamily="18" charset="0"/>
              </a:rPr>
              <a:t>“</a:t>
            </a:r>
            <a:r>
              <a:rPr lang="zh-CN" altLang="en-US" sz="2800" dirty="0"/>
              <a:t>学生</a:t>
            </a:r>
            <a:r>
              <a:rPr lang="zh-CN" altLang="en-US" sz="2800" dirty="0">
                <a:latin typeface="Times New Roman" panose="02020603050405020304" pitchFamily="18" charset="0"/>
              </a:rPr>
              <a:t>”</a:t>
            </a:r>
            <a:r>
              <a:rPr lang="zh-CN" altLang="en-US" sz="2800" dirty="0"/>
              <a:t>是该系统中的一个核心数据结构：</a:t>
            </a:r>
            <a:endParaRPr lang="zh-CN" altLang="en-US" sz="2800" dirty="0"/>
          </a:p>
          <a:p>
            <a:pPr>
              <a:lnSpc>
                <a:spcPct val="90000"/>
              </a:lnSpc>
              <a:buNone/>
            </a:pPr>
            <a:r>
              <a:rPr lang="zh-CN" altLang="en-US" sz="2800" dirty="0"/>
              <a:t>    数据结构：　学生</a:t>
            </a:r>
            <a:endParaRPr lang="zh-CN" altLang="en-US" sz="2800" dirty="0"/>
          </a:p>
          <a:p>
            <a:pPr>
              <a:lnSpc>
                <a:spcPct val="80000"/>
              </a:lnSpc>
              <a:buNone/>
            </a:pPr>
            <a:r>
              <a:rPr lang="zh-CN" altLang="en-US" sz="2800" dirty="0"/>
              <a:t>    含义说明：　是学籍管理子系统的主体数据结构，定义了一个学生的有关信息</a:t>
            </a:r>
            <a:endParaRPr lang="zh-CN" altLang="en-US" sz="2800" dirty="0"/>
          </a:p>
          <a:p>
            <a:pPr>
              <a:lnSpc>
                <a:spcPct val="90000"/>
              </a:lnSpc>
              <a:buNone/>
            </a:pPr>
            <a:r>
              <a:rPr lang="zh-CN" altLang="en-US" sz="2800" dirty="0"/>
              <a:t>    组成：学号，姓名，性别，年龄，所在系，年级</a:t>
            </a:r>
            <a:endParaRPr lang="zh-CN" altLang="en-US" sz="2800" dirty="0"/>
          </a:p>
          <a:p>
            <a:pPr>
              <a:lnSpc>
                <a:spcPct val="90000"/>
              </a:lnSpc>
              <a:buNone/>
            </a:pPr>
            <a:r>
              <a:rPr lang="zh-CN" altLang="en-US" sz="2800" dirty="0"/>
              <a:t>　　</a:t>
            </a:r>
            <a:endParaRPr lang="zh-CN" altLang="en-US" sz="2800" dirty="0"/>
          </a:p>
        </p:txBody>
      </p:sp>
      <p:sp>
        <p:nvSpPr>
          <p:cNvPr id="59394" name="Rectangle 2"/>
          <p:cNvSpPr>
            <a:spLocks noGrp="1"/>
          </p:cNvSpPr>
          <p:nvPr>
            <p:ph type="title"/>
          </p:nvPr>
        </p:nvSpPr>
        <p:spPr/>
        <p:txBody>
          <a:bodyPr vert="horz" wrap="square" lIns="91440" tIns="45720" rIns="91440" bIns="45720" anchor="b" anchorCtr="0"/>
          <a:lstStyle/>
          <a:p>
            <a:r>
              <a:rPr lang="zh-CN" altLang="en-US" dirty="0"/>
              <a:t>数据结构举例</a:t>
            </a:r>
            <a:endParaRPr lang="zh-CN" altLang="en-US"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3"/>
          <p:cNvSpPr>
            <a:spLocks noGrp="1"/>
          </p:cNvSpPr>
          <p:nvPr>
            <p:ph idx="1"/>
          </p:nvPr>
        </p:nvSpPr>
        <p:spPr>
          <a:xfrm>
            <a:off x="762635" y="1214755"/>
            <a:ext cx="9662795" cy="5000625"/>
          </a:xfrm>
        </p:spPr>
        <p:txBody>
          <a:bodyPr vert="horz" wrap="square" lIns="91440" tIns="45720" rIns="91440" bIns="45720" anchor="t" anchorCtr="0"/>
          <a:lstStyle/>
          <a:p>
            <a:pPr>
              <a:lnSpc>
                <a:spcPct val="90000"/>
              </a:lnSpc>
            </a:pPr>
            <a:r>
              <a:rPr lang="en-US" altLang="zh-CN" sz="2800" dirty="0"/>
              <a:t> </a:t>
            </a:r>
            <a:r>
              <a:rPr lang="zh-CN" altLang="en-US" sz="2800" dirty="0"/>
              <a:t>数据流是数据结构在系统内传输的路径。</a:t>
            </a:r>
            <a:r>
              <a:rPr lang="zh-CN" altLang="en-US" sz="2800" b="1" dirty="0">
                <a:solidFill>
                  <a:srgbClr val="FF0000"/>
                </a:solidFill>
              </a:rPr>
              <a:t>数据流图中流线的说明。</a:t>
            </a:r>
            <a:endParaRPr lang="zh-CN" altLang="en-US" sz="2800" b="1" dirty="0">
              <a:solidFill>
                <a:srgbClr val="FF0000"/>
              </a:solidFill>
            </a:endParaRPr>
          </a:p>
          <a:p>
            <a:pPr>
              <a:lnSpc>
                <a:spcPct val="90000"/>
              </a:lnSpc>
              <a:spcBef>
                <a:spcPct val="60000"/>
              </a:spcBef>
            </a:pPr>
            <a:r>
              <a:rPr lang="zh-CN" altLang="en-US" sz="2800" dirty="0"/>
              <a:t> 对数据流的描述</a:t>
            </a:r>
            <a:endParaRPr lang="zh-CN" altLang="en-US" sz="2800" dirty="0"/>
          </a:p>
          <a:p>
            <a:pPr>
              <a:lnSpc>
                <a:spcPct val="80000"/>
              </a:lnSpc>
              <a:buNone/>
            </a:pPr>
            <a:r>
              <a:rPr lang="zh-CN" altLang="en-US" sz="2800" dirty="0"/>
              <a:t>　</a:t>
            </a:r>
            <a:r>
              <a:rPr lang="zh-CN" altLang="en-US" sz="2800" dirty="0">
                <a:solidFill>
                  <a:srgbClr val="2355F3"/>
                </a:solidFill>
              </a:rPr>
              <a:t>数据流描述＝｛数据流名，说明，数据流来源，数据流去向，组成</a:t>
            </a:r>
            <a:r>
              <a:rPr lang="en-US" altLang="zh-CN" sz="2800" dirty="0">
                <a:solidFill>
                  <a:srgbClr val="2355F3"/>
                </a:solidFill>
              </a:rPr>
              <a:t>:</a:t>
            </a:r>
            <a:r>
              <a:rPr lang="zh-CN" altLang="en-US" sz="2800" dirty="0">
                <a:solidFill>
                  <a:srgbClr val="2355F3"/>
                </a:solidFill>
              </a:rPr>
              <a:t>｛数据结构｝，平均流量，高峰期流量｝</a:t>
            </a:r>
            <a:endParaRPr lang="zh-CN" altLang="en-US" sz="2800" dirty="0">
              <a:solidFill>
                <a:srgbClr val="2355F3"/>
              </a:solidFill>
            </a:endParaRPr>
          </a:p>
          <a:p>
            <a:pPr lvl="1" indent="-436245">
              <a:lnSpc>
                <a:spcPct val="90000"/>
              </a:lnSpc>
            </a:pPr>
            <a:r>
              <a:rPr lang="zh-CN" altLang="en-US" dirty="0"/>
              <a:t>数据流</a:t>
            </a:r>
            <a:r>
              <a:rPr lang="zh-CN" altLang="en-US" dirty="0">
                <a:solidFill>
                  <a:srgbClr val="FF0000"/>
                </a:solidFill>
              </a:rPr>
              <a:t>来源</a:t>
            </a:r>
            <a:r>
              <a:rPr lang="zh-CN" altLang="en-US" dirty="0"/>
              <a:t>是说明该数据流来自哪个过程</a:t>
            </a:r>
            <a:endParaRPr lang="zh-CN" altLang="en-US" dirty="0"/>
          </a:p>
          <a:p>
            <a:pPr lvl="1" indent="-436245">
              <a:lnSpc>
                <a:spcPct val="90000"/>
              </a:lnSpc>
            </a:pPr>
            <a:r>
              <a:rPr lang="zh-CN" altLang="en-US" dirty="0"/>
              <a:t>数据流</a:t>
            </a:r>
            <a:r>
              <a:rPr lang="zh-CN" altLang="en-US" dirty="0">
                <a:solidFill>
                  <a:srgbClr val="FF0000"/>
                </a:solidFill>
              </a:rPr>
              <a:t>去向</a:t>
            </a:r>
            <a:r>
              <a:rPr lang="zh-CN" altLang="en-US" dirty="0"/>
              <a:t>是说明该数据流将到哪个过程去</a:t>
            </a:r>
            <a:endParaRPr lang="zh-CN" altLang="en-US" dirty="0"/>
          </a:p>
          <a:p>
            <a:pPr lvl="1" indent="-436245">
              <a:lnSpc>
                <a:spcPct val="90000"/>
              </a:lnSpc>
            </a:pPr>
            <a:r>
              <a:rPr lang="zh-CN" altLang="en-US" dirty="0">
                <a:solidFill>
                  <a:srgbClr val="FF0000"/>
                </a:solidFill>
              </a:rPr>
              <a:t>平均流量</a:t>
            </a:r>
            <a:r>
              <a:rPr lang="zh-CN" altLang="en-US" dirty="0"/>
              <a:t>是指在单位时间（每天、每周、每月等）里的传输次数</a:t>
            </a:r>
            <a:endParaRPr lang="zh-CN" altLang="en-US" dirty="0"/>
          </a:p>
          <a:p>
            <a:pPr lvl="1" indent="-436245">
              <a:lnSpc>
                <a:spcPct val="90000"/>
              </a:lnSpc>
            </a:pPr>
            <a:r>
              <a:rPr lang="zh-CN" altLang="en-US" dirty="0">
                <a:solidFill>
                  <a:srgbClr val="FF0000"/>
                </a:solidFill>
              </a:rPr>
              <a:t>高峰期流量</a:t>
            </a:r>
            <a:r>
              <a:rPr lang="zh-CN" altLang="en-US" dirty="0"/>
              <a:t>则是指在高峰时期的数据流量</a:t>
            </a:r>
            <a:endParaRPr lang="zh-CN" altLang="en-US" sz="2400" dirty="0"/>
          </a:p>
        </p:txBody>
      </p:sp>
      <p:sp>
        <p:nvSpPr>
          <p:cNvPr id="60418" name="Rectangle 2"/>
          <p:cNvSpPr>
            <a:spLocks noGrp="1"/>
          </p:cNvSpPr>
          <p:nvPr>
            <p:ph type="title"/>
          </p:nvPr>
        </p:nvSpPr>
        <p:spPr/>
        <p:txBody>
          <a:bodyPr vert="horz" wrap="square" lIns="91440" tIns="45720" rIns="91440" bIns="45720" anchor="b" anchorCtr="0"/>
          <a:lstStyle/>
          <a:p>
            <a:r>
              <a:rPr lang="en-US" altLang="zh-CN" dirty="0"/>
              <a:t>⒊ </a:t>
            </a:r>
            <a:r>
              <a:rPr lang="zh-CN" altLang="en-US" dirty="0"/>
              <a:t>数据流</a:t>
            </a:r>
            <a:endParaRPr lang="zh-CN" altLang="en-US" dirty="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a:spLocks noGrp="1"/>
          </p:cNvSpPr>
          <p:nvPr>
            <p:ph idx="1"/>
          </p:nvPr>
        </p:nvSpPr>
        <p:spPr/>
        <p:txBody>
          <a:bodyPr vert="horz" wrap="square" lIns="91440" tIns="45720" rIns="91440" bIns="45720" anchor="t" anchorCtr="0"/>
          <a:lstStyle/>
          <a:p>
            <a:pPr>
              <a:buNone/>
            </a:pPr>
            <a:r>
              <a:rPr lang="zh-CN" altLang="en-US" sz="2800" dirty="0"/>
              <a:t>登记注册 </a:t>
            </a:r>
            <a:endParaRPr lang="en-US" altLang="zh-CN" sz="2800" dirty="0"/>
          </a:p>
          <a:p>
            <a:pPr>
              <a:buNone/>
            </a:pPr>
            <a:r>
              <a:rPr lang="zh-CN" altLang="en-US" sz="2800" dirty="0"/>
              <a:t>名 称： 登记注册 </a:t>
            </a:r>
            <a:endParaRPr lang="en-US" altLang="zh-CN" sz="2800" dirty="0"/>
          </a:p>
          <a:p>
            <a:pPr>
              <a:buNone/>
            </a:pPr>
            <a:r>
              <a:rPr lang="zh-CN" altLang="en-US" sz="2800" dirty="0"/>
              <a:t>简 述： 管理员登记入住客户信息 </a:t>
            </a:r>
            <a:endParaRPr lang="en-US" altLang="zh-CN" sz="2800" dirty="0"/>
          </a:p>
          <a:p>
            <a:pPr>
              <a:buNone/>
            </a:pPr>
            <a:r>
              <a:rPr lang="zh-CN" altLang="en-US" sz="2800" dirty="0"/>
              <a:t>数据来源： 入住客户 </a:t>
            </a:r>
            <a:endParaRPr lang="en-US" altLang="zh-CN" sz="2800" dirty="0"/>
          </a:p>
          <a:p>
            <a:pPr>
              <a:buNone/>
            </a:pPr>
            <a:r>
              <a:rPr lang="zh-CN" altLang="en-US" sz="2800" dirty="0"/>
              <a:t>数据去向： 开房登记表 数据组成： 客户姓名</a:t>
            </a:r>
            <a:r>
              <a:rPr lang="en-US" altLang="zh-CN" sz="2800" dirty="0"/>
              <a:t>+</a:t>
            </a:r>
            <a:r>
              <a:rPr lang="zh-CN" altLang="en-US" sz="2800" dirty="0"/>
              <a:t>性别</a:t>
            </a:r>
            <a:r>
              <a:rPr lang="en-US" altLang="zh-CN" sz="2800" dirty="0"/>
              <a:t>+</a:t>
            </a:r>
            <a:r>
              <a:rPr lang="zh-CN" altLang="en-US" sz="2800" dirty="0"/>
              <a:t>年龄</a:t>
            </a:r>
            <a:r>
              <a:rPr lang="en-US" altLang="zh-CN" sz="2800" dirty="0"/>
              <a:t>+</a:t>
            </a:r>
            <a:r>
              <a:rPr lang="zh-CN" altLang="en-US" sz="2800" dirty="0"/>
              <a:t>房号</a:t>
            </a:r>
            <a:r>
              <a:rPr lang="en-US" altLang="zh-CN" sz="2800" dirty="0"/>
              <a:t>+</a:t>
            </a:r>
            <a:r>
              <a:rPr lang="zh-CN" altLang="en-US" sz="2800" dirty="0"/>
              <a:t>订餐密码</a:t>
            </a:r>
            <a:r>
              <a:rPr lang="en-US" altLang="zh-CN" sz="2800" dirty="0"/>
              <a:t>+</a:t>
            </a:r>
            <a:r>
              <a:rPr lang="zh-CN" altLang="en-US" sz="2800" dirty="0"/>
              <a:t>证件类型</a:t>
            </a:r>
            <a:r>
              <a:rPr lang="en-US" altLang="zh-CN" sz="2800" dirty="0"/>
              <a:t>+</a:t>
            </a:r>
            <a:r>
              <a:rPr lang="zh-CN" altLang="en-US" sz="2800" dirty="0"/>
              <a:t>证件号码</a:t>
            </a:r>
            <a:r>
              <a:rPr lang="en-US" altLang="zh-CN" sz="2800" dirty="0"/>
              <a:t>+</a:t>
            </a:r>
            <a:r>
              <a:rPr lang="zh-CN" altLang="en-US" sz="2800" dirty="0"/>
              <a:t>详细地址</a:t>
            </a:r>
            <a:r>
              <a:rPr lang="en-US" altLang="zh-CN" sz="2800" dirty="0"/>
              <a:t>+</a:t>
            </a:r>
            <a:r>
              <a:rPr lang="zh-CN" altLang="en-US" sz="2800" dirty="0"/>
              <a:t>电话</a:t>
            </a:r>
            <a:r>
              <a:rPr lang="en-US" altLang="zh-CN" sz="2800" dirty="0"/>
              <a:t>+</a:t>
            </a:r>
            <a:r>
              <a:rPr lang="zh-CN" altLang="en-US" sz="2800" dirty="0"/>
              <a:t>入住时间</a:t>
            </a:r>
            <a:r>
              <a:rPr lang="en-US" altLang="zh-CN" sz="2800" dirty="0"/>
              <a:t>+</a:t>
            </a:r>
            <a:r>
              <a:rPr lang="zh-CN" altLang="en-US" sz="2800" dirty="0"/>
              <a:t>入住天数</a:t>
            </a:r>
            <a:r>
              <a:rPr lang="en-US" altLang="zh-CN" sz="2800" dirty="0"/>
              <a:t>+</a:t>
            </a:r>
            <a:r>
              <a:rPr lang="zh-CN" altLang="en-US" sz="2800" dirty="0"/>
              <a:t>离店时间</a:t>
            </a:r>
            <a:endParaRPr lang="en-US" altLang="zh-CN" sz="2800" dirty="0"/>
          </a:p>
        </p:txBody>
      </p:sp>
      <p:sp>
        <p:nvSpPr>
          <p:cNvPr id="61442" name="Rectangle 2"/>
          <p:cNvSpPr>
            <a:spLocks noGrp="1"/>
          </p:cNvSpPr>
          <p:nvPr>
            <p:ph type="title"/>
          </p:nvPr>
        </p:nvSpPr>
        <p:spPr/>
        <p:txBody>
          <a:bodyPr vert="horz" wrap="square" lIns="91440" tIns="45720" rIns="91440" bIns="45720" anchor="b" anchorCtr="0"/>
          <a:lstStyle/>
          <a:p>
            <a:r>
              <a:rPr lang="zh-CN" altLang="en-US" dirty="0"/>
              <a:t>数据流举例</a:t>
            </a:r>
            <a:r>
              <a:rPr lang="en-US" altLang="zh-CN" dirty="0"/>
              <a:t>1</a:t>
            </a:r>
            <a:endParaRPr lang="zh-CN" altLang="en-US" dirty="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p:cNvSpPr>
          <p:nvPr>
            <p:ph type="title"/>
          </p:nvPr>
        </p:nvSpPr>
        <p:spPr/>
        <p:txBody>
          <a:bodyPr vert="horz" wrap="square" lIns="91440" tIns="45720" rIns="91440" bIns="45720" anchor="b" anchorCtr="0"/>
          <a:lstStyle/>
          <a:p>
            <a:r>
              <a:rPr lang="zh-CN" altLang="en-US" dirty="0"/>
              <a:t>数据流举例</a:t>
            </a:r>
            <a:r>
              <a:rPr lang="en-US" altLang="zh-CN" dirty="0"/>
              <a:t>2</a:t>
            </a:r>
            <a:endParaRPr lang="zh-CN" altLang="en-US" dirty="0"/>
          </a:p>
        </p:txBody>
      </p:sp>
      <p:sp>
        <p:nvSpPr>
          <p:cNvPr id="62466" name="内容占位符 2"/>
          <p:cNvSpPr>
            <a:spLocks noGrp="1"/>
          </p:cNvSpPr>
          <p:nvPr>
            <p:ph idx="1"/>
          </p:nvPr>
        </p:nvSpPr>
        <p:spPr/>
        <p:txBody>
          <a:bodyPr vert="horz" wrap="square" lIns="91440" tIns="45720" rIns="91440" bIns="45720" anchor="t" anchorCtr="0"/>
          <a:lstStyle/>
          <a:p>
            <a:r>
              <a:rPr lang="zh-CN" altLang="en-US" sz="3200" dirty="0"/>
              <a:t>浏览选购 </a:t>
            </a:r>
            <a:endParaRPr lang="en-US" altLang="zh-CN" sz="3200" dirty="0"/>
          </a:p>
          <a:p>
            <a:r>
              <a:rPr lang="zh-CN" altLang="en-US" sz="3200" dirty="0"/>
              <a:t>名 称： 浏览选购 简 述： </a:t>
            </a:r>
            <a:endParaRPr lang="en-US" altLang="zh-CN" sz="3200" dirty="0"/>
          </a:p>
          <a:p>
            <a:r>
              <a:rPr lang="zh-CN" altLang="en-US" sz="3200" dirty="0"/>
              <a:t>客户选购菜品并将其加入餐车 </a:t>
            </a:r>
            <a:endParaRPr lang="en-US" altLang="zh-CN" sz="3200" dirty="0"/>
          </a:p>
          <a:p>
            <a:r>
              <a:rPr lang="zh-CN" altLang="en-US" sz="3200" dirty="0"/>
              <a:t>数据来源： 客户根据菜单选购的餐品 </a:t>
            </a:r>
            <a:endParaRPr lang="en-US" altLang="zh-CN" sz="3200" dirty="0"/>
          </a:p>
          <a:p>
            <a:r>
              <a:rPr lang="zh-CN" altLang="en-US" sz="3200" dirty="0"/>
              <a:t>数据去向： 放入餐车 </a:t>
            </a:r>
            <a:endParaRPr lang="en-US" altLang="zh-CN" sz="3200" dirty="0"/>
          </a:p>
          <a:p>
            <a:r>
              <a:rPr lang="zh-CN" altLang="en-US" sz="3200" dirty="0"/>
              <a:t>数据组成： 菜名</a:t>
            </a:r>
            <a:r>
              <a:rPr lang="en-US" altLang="zh-CN" sz="3200" dirty="0"/>
              <a:t>+</a:t>
            </a:r>
            <a:r>
              <a:rPr lang="zh-CN" altLang="en-US" sz="3200" dirty="0"/>
              <a:t>价格</a:t>
            </a:r>
            <a:r>
              <a:rPr lang="en-US" altLang="zh-CN" sz="3200" dirty="0"/>
              <a:t>+</a:t>
            </a:r>
            <a:r>
              <a:rPr lang="zh-CN" altLang="en-US" sz="3200" dirty="0"/>
              <a:t>数量</a:t>
            </a:r>
            <a:endParaRPr lang="zh-CN" altLang="en-US" dirty="0"/>
          </a:p>
        </p:txBody>
      </p:sp>
    </p:spTree>
  </p:cSld>
  <p:clrMapOvr>
    <a:masterClrMapping/>
  </p:clrMapOvr>
  <p:transition advClick="0"/>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p:cNvSpPr>
            <a:spLocks noGrp="1"/>
          </p:cNvSpPr>
          <p:nvPr>
            <p:ph idx="1"/>
          </p:nvPr>
        </p:nvSpPr>
        <p:spPr>
          <a:xfrm>
            <a:off x="697865" y="1285875"/>
            <a:ext cx="9762490" cy="4929505"/>
          </a:xfrm>
        </p:spPr>
        <p:txBody>
          <a:bodyPr vert="horz" wrap="square" lIns="91440" tIns="45720" rIns="91440" bIns="45720" anchor="t" anchorCtr="0"/>
          <a:lstStyle/>
          <a:p>
            <a:pPr>
              <a:lnSpc>
                <a:spcPct val="90000"/>
              </a:lnSpc>
            </a:pPr>
            <a:r>
              <a:rPr lang="zh-CN" altLang="en-US" sz="2800" dirty="0"/>
              <a:t>数据存储是数据结构停留或保存的地方，也是数据流的来源和去向之一。</a:t>
            </a:r>
            <a:endParaRPr lang="zh-CN" altLang="en-US" sz="2800" dirty="0"/>
          </a:p>
          <a:p>
            <a:pPr>
              <a:lnSpc>
                <a:spcPct val="90000"/>
              </a:lnSpc>
            </a:pPr>
            <a:r>
              <a:rPr lang="zh-CN" altLang="en-US" sz="2800" dirty="0"/>
              <a:t>对数据存储的描述</a:t>
            </a:r>
            <a:endParaRPr lang="zh-CN" altLang="en-US" sz="2800" dirty="0"/>
          </a:p>
          <a:p>
            <a:pPr>
              <a:lnSpc>
                <a:spcPct val="80000"/>
              </a:lnSpc>
              <a:buNone/>
            </a:pPr>
            <a:r>
              <a:rPr lang="zh-CN" altLang="en-US" sz="2800" dirty="0"/>
              <a:t>　</a:t>
            </a:r>
            <a:r>
              <a:rPr lang="zh-CN" altLang="en-US" dirty="0">
                <a:solidFill>
                  <a:srgbClr val="2355F3"/>
                </a:solidFill>
              </a:rPr>
              <a:t>数据存储描述＝｛数据存储名，说明，编号，</a:t>
            </a:r>
            <a:endParaRPr lang="zh-CN" altLang="en-US" dirty="0">
              <a:solidFill>
                <a:srgbClr val="2355F3"/>
              </a:solidFill>
            </a:endParaRPr>
          </a:p>
          <a:p>
            <a:pPr>
              <a:lnSpc>
                <a:spcPct val="80000"/>
              </a:lnSpc>
              <a:buNone/>
            </a:pPr>
            <a:r>
              <a:rPr lang="zh-CN" altLang="en-US" dirty="0">
                <a:solidFill>
                  <a:srgbClr val="2355F3"/>
                </a:solidFill>
              </a:rPr>
              <a:t>流入的数据流 ，流出的数据流 ，</a:t>
            </a:r>
            <a:endParaRPr lang="zh-CN" altLang="en-US" dirty="0">
              <a:solidFill>
                <a:srgbClr val="2355F3"/>
              </a:solidFill>
            </a:endParaRPr>
          </a:p>
          <a:p>
            <a:pPr>
              <a:lnSpc>
                <a:spcPct val="80000"/>
              </a:lnSpc>
              <a:buNone/>
            </a:pPr>
            <a:r>
              <a:rPr lang="zh-CN" altLang="en-US" dirty="0">
                <a:solidFill>
                  <a:srgbClr val="2355F3"/>
                </a:solidFill>
              </a:rPr>
              <a:t>组成</a:t>
            </a:r>
            <a:r>
              <a:rPr lang="en-US" altLang="zh-CN" dirty="0">
                <a:solidFill>
                  <a:srgbClr val="2355F3"/>
                </a:solidFill>
              </a:rPr>
              <a:t>:</a:t>
            </a:r>
            <a:r>
              <a:rPr lang="zh-CN" altLang="en-US" dirty="0">
                <a:solidFill>
                  <a:srgbClr val="2355F3"/>
                </a:solidFill>
              </a:rPr>
              <a:t>｛数据结构｝，数据量，存取方式｝</a:t>
            </a:r>
            <a:endParaRPr lang="zh-CN" altLang="en-US" dirty="0"/>
          </a:p>
          <a:p>
            <a:pPr lvl="1" indent="-436245">
              <a:lnSpc>
                <a:spcPct val="90000"/>
              </a:lnSpc>
            </a:pPr>
            <a:r>
              <a:rPr lang="zh-CN" altLang="en-US" sz="2400" dirty="0"/>
              <a:t>流入的数据流：指出数据来源</a:t>
            </a:r>
            <a:endParaRPr lang="zh-CN" altLang="en-US" sz="2400" dirty="0"/>
          </a:p>
          <a:p>
            <a:pPr lvl="1" indent="-436245">
              <a:lnSpc>
                <a:spcPct val="90000"/>
              </a:lnSpc>
            </a:pPr>
            <a:r>
              <a:rPr lang="zh-CN" altLang="en-US" sz="2400" dirty="0"/>
              <a:t>流出的数据流：指出数据去向</a:t>
            </a:r>
            <a:endParaRPr lang="zh-CN" altLang="en-US" sz="2400" dirty="0"/>
          </a:p>
          <a:p>
            <a:pPr lvl="1" indent="-436245">
              <a:lnSpc>
                <a:spcPct val="90000"/>
              </a:lnSpc>
            </a:pPr>
            <a:r>
              <a:rPr lang="zh-CN" altLang="en-US" sz="2400" dirty="0"/>
              <a:t>数据量：每次存取多少数据，每天（或每小时、每周等）存取几次等信息</a:t>
            </a:r>
            <a:endParaRPr lang="zh-CN" altLang="en-US" sz="2400" dirty="0"/>
          </a:p>
        </p:txBody>
      </p:sp>
      <p:sp>
        <p:nvSpPr>
          <p:cNvPr id="63490" name="Rectangle 2"/>
          <p:cNvSpPr>
            <a:spLocks noGrp="1"/>
          </p:cNvSpPr>
          <p:nvPr>
            <p:ph type="title"/>
          </p:nvPr>
        </p:nvSpPr>
        <p:spPr/>
        <p:txBody>
          <a:bodyPr vert="horz" wrap="square" lIns="91440" tIns="45720" rIns="91440" bIns="45720" anchor="b" anchorCtr="0"/>
          <a:lstStyle/>
          <a:p>
            <a:r>
              <a:rPr lang="en-US" altLang="zh-CN" dirty="0"/>
              <a:t>⒋ </a:t>
            </a:r>
            <a:r>
              <a:rPr lang="zh-CN" altLang="en-US" dirty="0"/>
              <a:t>数据存储</a:t>
            </a:r>
            <a:endParaRPr lang="zh-CN" altLang="en-US"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3"/>
          <p:cNvSpPr>
            <a:spLocks noGrp="1"/>
          </p:cNvSpPr>
          <p:nvPr>
            <p:ph idx="1"/>
          </p:nvPr>
        </p:nvSpPr>
        <p:spPr/>
        <p:txBody>
          <a:bodyPr vert="horz" wrap="square" lIns="91440" tIns="45720" rIns="91440" bIns="45720" anchor="t" anchorCtr="0"/>
          <a:lstStyle/>
          <a:p>
            <a:pPr>
              <a:lnSpc>
                <a:spcPct val="90000"/>
              </a:lnSpc>
              <a:buNone/>
            </a:pPr>
            <a:r>
              <a:rPr lang="zh-CN" altLang="en-US" sz="2800" dirty="0">
                <a:solidFill>
                  <a:srgbClr val="0066FF"/>
                </a:solidFill>
              </a:rPr>
              <a:t>数据存储</a:t>
            </a:r>
            <a:r>
              <a:rPr lang="zh-CN" altLang="en-US" sz="2800" dirty="0">
                <a:latin typeface="Times New Roman" panose="02020603050405020304" pitchFamily="18" charset="0"/>
              </a:rPr>
              <a:t>“</a:t>
            </a:r>
            <a:r>
              <a:rPr lang="zh-CN" altLang="en-US" sz="2800" dirty="0"/>
              <a:t>学生登记表</a:t>
            </a:r>
            <a:r>
              <a:rPr lang="zh-CN" altLang="en-US" sz="2800" dirty="0">
                <a:latin typeface="Times New Roman" panose="02020603050405020304" pitchFamily="18" charset="0"/>
              </a:rPr>
              <a:t>”</a:t>
            </a:r>
            <a:r>
              <a:rPr lang="zh-CN" altLang="en-US" sz="2800" dirty="0"/>
              <a:t>可如下描述：</a:t>
            </a:r>
            <a:endParaRPr lang="zh-CN" altLang="en-US" sz="2800" dirty="0"/>
          </a:p>
          <a:p>
            <a:pPr>
              <a:lnSpc>
                <a:spcPct val="90000"/>
              </a:lnSpc>
              <a:buNone/>
            </a:pPr>
            <a:r>
              <a:rPr lang="zh-CN" altLang="en-US" sz="2800" dirty="0"/>
              <a:t>    数据存储：　学生登记表</a:t>
            </a:r>
            <a:endParaRPr lang="zh-CN" altLang="en-US" sz="2800" dirty="0"/>
          </a:p>
          <a:p>
            <a:pPr>
              <a:lnSpc>
                <a:spcPct val="90000"/>
              </a:lnSpc>
              <a:buNone/>
            </a:pPr>
            <a:r>
              <a:rPr lang="zh-CN" altLang="en-US" sz="2800" dirty="0"/>
              <a:t>    说明：　　　记录学生的基本情况</a:t>
            </a:r>
            <a:endParaRPr lang="zh-CN" altLang="en-US" sz="2800" dirty="0"/>
          </a:p>
          <a:p>
            <a:pPr>
              <a:lnSpc>
                <a:spcPct val="90000"/>
              </a:lnSpc>
              <a:buNone/>
            </a:pPr>
            <a:r>
              <a:rPr lang="zh-CN" altLang="en-US" sz="2800" dirty="0"/>
              <a:t>　流入数据流：</a:t>
            </a:r>
            <a:r>
              <a:rPr lang="en-US" altLang="zh-CN" sz="2800" dirty="0">
                <a:latin typeface="Times New Roman" panose="02020603050405020304" pitchFamily="18" charset="0"/>
              </a:rPr>
              <a:t>……</a:t>
            </a:r>
            <a:endParaRPr lang="en-US" altLang="zh-CN" sz="2800" dirty="0"/>
          </a:p>
          <a:p>
            <a:pPr>
              <a:lnSpc>
                <a:spcPct val="90000"/>
              </a:lnSpc>
              <a:buNone/>
            </a:pPr>
            <a:r>
              <a:rPr lang="en-US" altLang="zh-CN" sz="2800" dirty="0"/>
              <a:t>    </a:t>
            </a:r>
            <a:r>
              <a:rPr lang="zh-CN" altLang="en-US" sz="2800" dirty="0"/>
              <a:t>流出数据流：</a:t>
            </a:r>
            <a:r>
              <a:rPr lang="en-US" altLang="zh-CN" sz="2800" dirty="0">
                <a:latin typeface="Times New Roman" panose="02020603050405020304" pitchFamily="18" charset="0"/>
              </a:rPr>
              <a:t>……</a:t>
            </a:r>
            <a:endParaRPr lang="en-US" altLang="zh-CN" sz="2800" dirty="0"/>
          </a:p>
          <a:p>
            <a:pPr>
              <a:lnSpc>
                <a:spcPct val="90000"/>
              </a:lnSpc>
              <a:buNone/>
            </a:pPr>
            <a:r>
              <a:rPr lang="en-US" altLang="zh-CN" sz="2800" dirty="0"/>
              <a:t>    </a:t>
            </a:r>
            <a:r>
              <a:rPr lang="zh-CN" altLang="en-US" sz="2800" dirty="0"/>
              <a:t>组成：　　　</a:t>
            </a:r>
            <a:r>
              <a:rPr lang="en-US" altLang="zh-CN" sz="2800" dirty="0">
                <a:latin typeface="Times New Roman" panose="02020603050405020304" pitchFamily="18" charset="0"/>
              </a:rPr>
              <a:t>……</a:t>
            </a:r>
            <a:endParaRPr lang="en-US" altLang="zh-CN" sz="2800" dirty="0"/>
          </a:p>
          <a:p>
            <a:pPr>
              <a:lnSpc>
                <a:spcPct val="90000"/>
              </a:lnSpc>
              <a:buNone/>
            </a:pPr>
            <a:r>
              <a:rPr lang="en-US" altLang="zh-CN" sz="2800" dirty="0"/>
              <a:t>    </a:t>
            </a:r>
            <a:r>
              <a:rPr lang="zh-CN" altLang="en-US" sz="2800" dirty="0"/>
              <a:t>数据量：　　每年</a:t>
            </a:r>
            <a:r>
              <a:rPr lang="en-US" altLang="zh-CN" sz="2800" dirty="0"/>
              <a:t>3000</a:t>
            </a:r>
            <a:r>
              <a:rPr lang="zh-CN" altLang="en-US" sz="2800" dirty="0"/>
              <a:t>张</a:t>
            </a:r>
            <a:endParaRPr lang="zh-CN" altLang="en-US" sz="2800" dirty="0"/>
          </a:p>
          <a:p>
            <a:pPr>
              <a:lnSpc>
                <a:spcPct val="90000"/>
              </a:lnSpc>
              <a:buNone/>
            </a:pPr>
            <a:r>
              <a:rPr lang="zh-CN" altLang="en-US" sz="2800" dirty="0"/>
              <a:t>    存取方式：　随机存取</a:t>
            </a:r>
            <a:endParaRPr lang="zh-CN" altLang="en-US" sz="2800" dirty="0"/>
          </a:p>
          <a:p>
            <a:pPr>
              <a:lnSpc>
                <a:spcPct val="90000"/>
              </a:lnSpc>
              <a:buNone/>
            </a:pPr>
            <a:r>
              <a:rPr lang="zh-CN" altLang="en-US" sz="2800" dirty="0"/>
              <a:t>    </a:t>
            </a:r>
            <a:endParaRPr lang="zh-CN" altLang="en-US" sz="2800" dirty="0"/>
          </a:p>
        </p:txBody>
      </p:sp>
      <p:sp>
        <p:nvSpPr>
          <p:cNvPr id="64514" name="Rectangle 2"/>
          <p:cNvSpPr>
            <a:spLocks noGrp="1"/>
          </p:cNvSpPr>
          <p:nvPr>
            <p:ph type="title"/>
          </p:nvPr>
        </p:nvSpPr>
        <p:spPr/>
        <p:txBody>
          <a:bodyPr vert="horz" wrap="square" lIns="91440" tIns="45720" rIns="91440" bIns="45720" anchor="b" anchorCtr="0"/>
          <a:lstStyle/>
          <a:p>
            <a:r>
              <a:rPr lang="zh-CN" altLang="en-US" dirty="0"/>
              <a:t>数据存储举例</a:t>
            </a:r>
            <a:endParaRPr lang="zh-CN" altLang="en-US" dirty="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
          <p:cNvSpPr>
            <a:spLocks noGrp="1"/>
          </p:cNvSpPr>
          <p:nvPr>
            <p:ph idx="1"/>
          </p:nvPr>
        </p:nvSpPr>
        <p:spPr>
          <a:xfrm>
            <a:off x="767398" y="1340485"/>
            <a:ext cx="8839200" cy="4114800"/>
          </a:xfrm>
        </p:spPr>
        <p:txBody>
          <a:bodyPr vert="horz" wrap="square" lIns="91440" tIns="45720" rIns="91440" bIns="45720" anchor="t" anchorCtr="0"/>
          <a:lstStyle/>
          <a:p>
            <a:r>
              <a:rPr lang="zh-CN" altLang="en-US" sz="2800" dirty="0"/>
              <a:t>处理过程的具体处理逻辑一般用判定表或判定树来描述。数据字典中只需要描述处理过程的说明性信息</a:t>
            </a:r>
            <a:endParaRPr lang="zh-CN" altLang="en-US" sz="2800" dirty="0"/>
          </a:p>
          <a:p>
            <a:pPr>
              <a:spcBef>
                <a:spcPct val="60000"/>
              </a:spcBef>
            </a:pPr>
            <a:r>
              <a:rPr lang="zh-CN" altLang="en-US" sz="2800" dirty="0"/>
              <a:t>处理过程说明性信息的描述</a:t>
            </a:r>
            <a:endParaRPr lang="zh-CN" altLang="en-US" sz="2800" dirty="0"/>
          </a:p>
          <a:p>
            <a:pPr>
              <a:lnSpc>
                <a:spcPct val="90000"/>
              </a:lnSpc>
              <a:buNone/>
            </a:pPr>
            <a:r>
              <a:rPr lang="zh-CN" altLang="en-US" sz="2800" dirty="0"/>
              <a:t>　</a:t>
            </a:r>
            <a:r>
              <a:rPr lang="zh-CN" altLang="en-US" sz="2800" dirty="0">
                <a:solidFill>
                  <a:srgbClr val="2355F3"/>
                </a:solidFill>
              </a:rPr>
              <a:t>处理过程描述＝｛处理过程名，说明，</a:t>
            </a:r>
            <a:endParaRPr lang="zh-CN" altLang="en-US" sz="2800" dirty="0">
              <a:solidFill>
                <a:srgbClr val="2355F3"/>
              </a:solidFill>
            </a:endParaRPr>
          </a:p>
          <a:p>
            <a:pPr>
              <a:lnSpc>
                <a:spcPct val="90000"/>
              </a:lnSpc>
              <a:buNone/>
            </a:pPr>
            <a:r>
              <a:rPr lang="zh-CN" altLang="en-US" sz="2800" dirty="0">
                <a:solidFill>
                  <a:srgbClr val="2355F3"/>
                </a:solidFill>
              </a:rPr>
              <a:t>                      输入</a:t>
            </a:r>
            <a:r>
              <a:rPr lang="en-US" altLang="zh-CN" sz="2800" dirty="0">
                <a:solidFill>
                  <a:srgbClr val="2355F3"/>
                </a:solidFill>
              </a:rPr>
              <a:t>:</a:t>
            </a:r>
            <a:r>
              <a:rPr lang="zh-CN" altLang="en-US" sz="2800" dirty="0">
                <a:solidFill>
                  <a:srgbClr val="2355F3"/>
                </a:solidFill>
              </a:rPr>
              <a:t>｛数据流｝，输出</a:t>
            </a:r>
            <a:r>
              <a:rPr lang="en-US" altLang="zh-CN" sz="2800" dirty="0">
                <a:solidFill>
                  <a:srgbClr val="2355F3"/>
                </a:solidFill>
              </a:rPr>
              <a:t>:</a:t>
            </a:r>
            <a:r>
              <a:rPr lang="zh-CN" altLang="en-US" sz="2800" dirty="0">
                <a:solidFill>
                  <a:srgbClr val="2355F3"/>
                </a:solidFill>
              </a:rPr>
              <a:t>｛数据流｝，</a:t>
            </a:r>
            <a:endParaRPr lang="zh-CN" altLang="en-US" sz="2800" dirty="0">
              <a:solidFill>
                <a:srgbClr val="2355F3"/>
              </a:solidFill>
            </a:endParaRPr>
          </a:p>
          <a:p>
            <a:pPr>
              <a:lnSpc>
                <a:spcPct val="90000"/>
              </a:lnSpc>
              <a:buNone/>
            </a:pPr>
            <a:r>
              <a:rPr lang="zh-CN" altLang="en-US" sz="2800" dirty="0">
                <a:solidFill>
                  <a:srgbClr val="2355F3"/>
                </a:solidFill>
              </a:rPr>
              <a:t>                      处理</a:t>
            </a:r>
            <a:r>
              <a:rPr lang="en-US" altLang="zh-CN" sz="2800" dirty="0">
                <a:solidFill>
                  <a:srgbClr val="2355F3"/>
                </a:solidFill>
              </a:rPr>
              <a:t>:</a:t>
            </a:r>
            <a:r>
              <a:rPr lang="zh-CN" altLang="en-US" sz="2800" dirty="0">
                <a:solidFill>
                  <a:srgbClr val="2355F3"/>
                </a:solidFill>
              </a:rPr>
              <a:t>｛简要说明｝｝</a:t>
            </a:r>
            <a:endParaRPr lang="zh-CN" altLang="en-US" sz="2800" dirty="0">
              <a:solidFill>
                <a:srgbClr val="2355F3"/>
              </a:solidFill>
            </a:endParaRPr>
          </a:p>
          <a:p>
            <a:pPr lvl="1" indent="-436245">
              <a:lnSpc>
                <a:spcPct val="90000"/>
              </a:lnSpc>
              <a:buNone/>
            </a:pPr>
            <a:endParaRPr lang="en-US" altLang="zh-CN" sz="2400" dirty="0"/>
          </a:p>
        </p:txBody>
      </p:sp>
      <p:sp>
        <p:nvSpPr>
          <p:cNvPr id="65538" name="Rectangle 2"/>
          <p:cNvSpPr>
            <a:spLocks noGrp="1"/>
          </p:cNvSpPr>
          <p:nvPr>
            <p:ph type="title"/>
          </p:nvPr>
        </p:nvSpPr>
        <p:spPr/>
        <p:txBody>
          <a:bodyPr vert="horz" wrap="square" lIns="91440" tIns="45720" rIns="91440" bIns="45720" anchor="b" anchorCtr="0"/>
          <a:lstStyle/>
          <a:p>
            <a:r>
              <a:rPr lang="en-US" altLang="zh-CN" dirty="0"/>
              <a:t>⒌ </a:t>
            </a:r>
            <a:r>
              <a:rPr lang="zh-CN" altLang="en-US" dirty="0"/>
              <a:t>处理过程</a:t>
            </a:r>
            <a:endParaRPr lang="zh-CN" altLang="en-US" dirty="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3"/>
          <p:cNvSpPr>
            <a:spLocks noGrp="1"/>
          </p:cNvSpPr>
          <p:nvPr>
            <p:ph idx="1"/>
          </p:nvPr>
        </p:nvSpPr>
        <p:spPr>
          <a:xfrm>
            <a:off x="695325" y="1340168"/>
            <a:ext cx="8839200" cy="4114800"/>
          </a:xfrm>
        </p:spPr>
        <p:txBody>
          <a:bodyPr vert="horz" wrap="square" lIns="91440" tIns="45720" rIns="91440" bIns="45720" anchor="t" anchorCtr="0"/>
          <a:lstStyle/>
          <a:p>
            <a:pPr lvl="1" indent="-436245">
              <a:spcBef>
                <a:spcPct val="60000"/>
              </a:spcBef>
            </a:pPr>
            <a:r>
              <a:rPr lang="zh-CN" altLang="en-US" dirty="0"/>
              <a:t>简要说明：主要说明该处理过程的功能及处理要求</a:t>
            </a:r>
            <a:endParaRPr lang="zh-CN" altLang="en-US" dirty="0"/>
          </a:p>
          <a:p>
            <a:pPr lvl="2" indent="-394970">
              <a:spcBef>
                <a:spcPct val="60000"/>
              </a:spcBef>
            </a:pPr>
            <a:r>
              <a:rPr lang="zh-CN" altLang="en-US" sz="2800" dirty="0"/>
              <a:t>功能：该处理过程用来做什么</a:t>
            </a:r>
            <a:endParaRPr lang="zh-CN" altLang="en-US" sz="2800" dirty="0"/>
          </a:p>
          <a:p>
            <a:pPr lvl="2" indent="-394970">
              <a:spcBef>
                <a:spcPct val="60000"/>
              </a:spcBef>
            </a:pPr>
            <a:r>
              <a:rPr lang="zh-CN" altLang="en-US" sz="2800" dirty="0"/>
              <a:t>处理要求：处理频度要求（如单位时间里处理多少事务，多少数据量）；响应时间要求等</a:t>
            </a:r>
            <a:endParaRPr lang="zh-CN" altLang="en-US" sz="2800" dirty="0"/>
          </a:p>
          <a:p>
            <a:pPr lvl="2" indent="-394970">
              <a:spcBef>
                <a:spcPct val="60000"/>
              </a:spcBef>
            </a:pPr>
            <a:r>
              <a:rPr lang="zh-CN" altLang="en-US" sz="2800" dirty="0"/>
              <a:t>处理要求是后面物理设计的输入及性能评价的标准</a:t>
            </a:r>
            <a:endParaRPr lang="zh-CN" altLang="en-US" sz="2000" dirty="0"/>
          </a:p>
        </p:txBody>
      </p:sp>
      <p:sp>
        <p:nvSpPr>
          <p:cNvPr id="66562" name="Rectangle 2"/>
          <p:cNvSpPr>
            <a:spLocks noGrp="1"/>
          </p:cNvSpPr>
          <p:nvPr>
            <p:ph type="title"/>
          </p:nvPr>
        </p:nvSpPr>
        <p:spPr/>
        <p:txBody>
          <a:bodyPr vert="horz" wrap="square" lIns="91440" tIns="45720" rIns="91440" bIns="45720" anchor="b" anchorCtr="0"/>
          <a:lstStyle/>
          <a:p>
            <a:r>
              <a:rPr lang="zh-CN" altLang="en-US" dirty="0"/>
              <a:t>处理过程（续）</a:t>
            </a:r>
            <a:endParaRPr lang="zh-CN" altLang="en-US" dirty="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p:cNvSpPr>
            <a:spLocks noGrp="1"/>
          </p:cNvSpPr>
          <p:nvPr>
            <p:ph idx="1"/>
          </p:nvPr>
        </p:nvSpPr>
        <p:spPr>
          <a:xfrm>
            <a:off x="839153" y="1268413"/>
            <a:ext cx="8534400" cy="4786312"/>
          </a:xfrm>
        </p:spPr>
        <p:txBody>
          <a:bodyPr vert="horz" wrap="square" lIns="91440" tIns="45720" rIns="91440" bIns="45720" anchor="t" anchorCtr="0"/>
          <a:lstStyle/>
          <a:p>
            <a:pPr>
              <a:lnSpc>
                <a:spcPct val="90000"/>
              </a:lnSpc>
              <a:buNone/>
            </a:pPr>
            <a:r>
              <a:rPr lang="zh-CN" altLang="en-US" sz="2800" dirty="0">
                <a:latin typeface="Times New Roman" panose="02020603050405020304" pitchFamily="18" charset="0"/>
              </a:rPr>
              <a:t>“</a:t>
            </a:r>
            <a:r>
              <a:rPr lang="zh-CN" altLang="en-US" sz="2800" dirty="0"/>
              <a:t>分配宿舍</a:t>
            </a:r>
            <a:r>
              <a:rPr lang="zh-CN" altLang="en-US" sz="2800" dirty="0">
                <a:latin typeface="Times New Roman" panose="02020603050405020304" pitchFamily="18" charset="0"/>
              </a:rPr>
              <a:t>”</a:t>
            </a:r>
            <a:r>
              <a:rPr lang="zh-CN" altLang="en-US" sz="2800" dirty="0"/>
              <a:t>可如下描述：</a:t>
            </a:r>
            <a:endParaRPr lang="zh-CN" altLang="en-US" sz="2800" dirty="0"/>
          </a:p>
          <a:p>
            <a:pPr>
              <a:lnSpc>
                <a:spcPct val="90000"/>
              </a:lnSpc>
              <a:buNone/>
            </a:pPr>
            <a:r>
              <a:rPr lang="zh-CN" altLang="en-US" sz="2800" dirty="0"/>
              <a:t>　处理过程：分配宿舍</a:t>
            </a:r>
            <a:endParaRPr lang="zh-CN" altLang="en-US" sz="2800" dirty="0"/>
          </a:p>
          <a:p>
            <a:pPr>
              <a:lnSpc>
                <a:spcPct val="90000"/>
              </a:lnSpc>
              <a:buNone/>
            </a:pPr>
            <a:r>
              <a:rPr lang="zh-CN" altLang="en-US" sz="2800" dirty="0"/>
              <a:t>　说明：　　为所有新生分配学生宿舍</a:t>
            </a:r>
            <a:endParaRPr lang="zh-CN" altLang="en-US" sz="2800" dirty="0"/>
          </a:p>
          <a:p>
            <a:pPr>
              <a:lnSpc>
                <a:spcPct val="90000"/>
              </a:lnSpc>
              <a:buNone/>
            </a:pPr>
            <a:r>
              <a:rPr lang="zh-CN" altLang="en-US" sz="2800" dirty="0"/>
              <a:t>　输入：　　学生，宿舍，</a:t>
            </a:r>
            <a:endParaRPr lang="zh-CN" altLang="en-US" sz="2800" dirty="0"/>
          </a:p>
          <a:p>
            <a:pPr>
              <a:lnSpc>
                <a:spcPct val="90000"/>
              </a:lnSpc>
              <a:buNone/>
            </a:pPr>
            <a:r>
              <a:rPr lang="zh-CN" altLang="en-US" sz="2800" dirty="0"/>
              <a:t>　输出：　　宿舍安排</a:t>
            </a:r>
            <a:endParaRPr lang="zh-CN" altLang="en-US" sz="2800" dirty="0"/>
          </a:p>
          <a:p>
            <a:pPr>
              <a:lnSpc>
                <a:spcPct val="70000"/>
              </a:lnSpc>
              <a:buNone/>
            </a:pPr>
            <a:r>
              <a:rPr lang="zh-CN" altLang="en-US" sz="2800" dirty="0"/>
              <a:t>　处理：　　在新生报到后，为所有新生分配学</a:t>
            </a:r>
            <a:endParaRPr lang="zh-CN" altLang="en-US" sz="2800" dirty="0"/>
          </a:p>
          <a:p>
            <a:pPr>
              <a:lnSpc>
                <a:spcPct val="70000"/>
              </a:lnSpc>
              <a:buNone/>
            </a:pPr>
            <a:r>
              <a:rPr lang="zh-CN" altLang="en-US" sz="2800" dirty="0"/>
              <a:t>                        生宿舍。要求同一间宿舍只能安排</a:t>
            </a:r>
            <a:endParaRPr lang="zh-CN" altLang="en-US" sz="2800" dirty="0"/>
          </a:p>
          <a:p>
            <a:pPr>
              <a:lnSpc>
                <a:spcPct val="70000"/>
              </a:lnSpc>
              <a:buNone/>
            </a:pPr>
            <a:r>
              <a:rPr lang="zh-CN" altLang="en-US" sz="2800" dirty="0"/>
              <a:t>                        同一性别的学生，同一个学生只能</a:t>
            </a:r>
            <a:endParaRPr lang="zh-CN" altLang="en-US" sz="2800" dirty="0"/>
          </a:p>
          <a:p>
            <a:pPr>
              <a:lnSpc>
                <a:spcPct val="70000"/>
              </a:lnSpc>
              <a:buNone/>
            </a:pPr>
            <a:r>
              <a:rPr lang="zh-CN" altLang="en-US" sz="2800" dirty="0"/>
              <a:t>                        安排在一个宿舍中。每个学生的居 </a:t>
            </a:r>
            <a:endParaRPr lang="zh-CN" altLang="en-US" sz="2800" dirty="0"/>
          </a:p>
          <a:p>
            <a:pPr>
              <a:lnSpc>
                <a:spcPct val="70000"/>
              </a:lnSpc>
              <a:buNone/>
            </a:pPr>
            <a:r>
              <a:rPr lang="zh-CN" altLang="en-US" sz="2800" dirty="0"/>
              <a:t>                        住面积不小于</a:t>
            </a:r>
            <a:r>
              <a:rPr lang="en-US" altLang="zh-CN" sz="2800" dirty="0"/>
              <a:t>3</a:t>
            </a:r>
            <a:r>
              <a:rPr lang="zh-CN" altLang="en-US" sz="2800" dirty="0"/>
              <a:t>平方米。    </a:t>
            </a:r>
            <a:endParaRPr lang="zh-CN" altLang="en-US" sz="2800" dirty="0"/>
          </a:p>
        </p:txBody>
      </p:sp>
      <p:sp>
        <p:nvSpPr>
          <p:cNvPr id="67586" name="Rectangle 2"/>
          <p:cNvSpPr>
            <a:spLocks noGrp="1"/>
          </p:cNvSpPr>
          <p:nvPr>
            <p:ph type="title"/>
          </p:nvPr>
        </p:nvSpPr>
        <p:spPr/>
        <p:txBody>
          <a:bodyPr vert="horz" wrap="square" lIns="91440" tIns="45720" rIns="91440" bIns="45720" anchor="b" anchorCtr="0"/>
          <a:lstStyle/>
          <a:p>
            <a:r>
              <a:rPr lang="zh-CN" altLang="en-US" sz="4000" dirty="0">
                <a:solidFill>
                  <a:srgbClr val="0066FF"/>
                </a:solidFill>
              </a:rPr>
              <a:t>处理过程举例</a:t>
            </a:r>
            <a:endParaRPr lang="zh-CN" altLang="en-US" dirty="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p:cNvSpPr>
          <p:nvPr>
            <p:ph type="title"/>
          </p:nvPr>
        </p:nvSpPr>
        <p:spPr/>
        <p:txBody>
          <a:bodyPr vert="horz" wrap="square" lIns="91440" tIns="45720" rIns="91440" bIns="45720" anchor="b" anchorCtr="0"/>
          <a:lstStyle/>
          <a:p>
            <a:pPr>
              <a:buNone/>
            </a:pPr>
            <a:r>
              <a:rPr lang="zh-CN" altLang="en-US" dirty="0"/>
              <a:t>强调两点</a:t>
            </a:r>
            <a:endParaRPr lang="zh-CN" altLang="en-US" dirty="0"/>
          </a:p>
        </p:txBody>
      </p:sp>
      <p:sp>
        <p:nvSpPr>
          <p:cNvPr id="68610" name="内容占位符 2"/>
          <p:cNvSpPr>
            <a:spLocks noGrp="1"/>
          </p:cNvSpPr>
          <p:nvPr>
            <p:ph idx="1"/>
          </p:nvPr>
        </p:nvSpPr>
        <p:spPr/>
        <p:txBody>
          <a:bodyPr vert="horz" wrap="square" lIns="91440" tIns="45720" rIns="91440" bIns="45720" anchor="t" anchorCtr="0"/>
          <a:lstStyle/>
          <a:p>
            <a:r>
              <a:rPr lang="zh-CN" altLang="en-US" dirty="0"/>
              <a:t>需求分析阶段的任务是：收集将来应用所涉及的数据，设计人员要充分考虑可能的扩展和改变，使设计已更改，易扩展。</a:t>
            </a:r>
            <a:endParaRPr lang="en-US" altLang="zh-CN" dirty="0"/>
          </a:p>
          <a:p>
            <a:r>
              <a:rPr lang="zh-CN" altLang="en-US" dirty="0"/>
              <a:t>必须强调用户的参与。设计人员和用户取得共同语言，充分沟通。</a:t>
            </a:r>
            <a:endParaRPr lang="zh-CN" altLang="en-US" dirty="0"/>
          </a:p>
        </p:txBody>
      </p:sp>
    </p:spTree>
  </p:cSld>
  <p:clrMapOvr>
    <a:masterClrMapping/>
  </p:clrMapOvr>
  <p:transition advClick="0"/>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p:cNvSpPr>
          <p:nvPr>
            <p:ph type="title"/>
          </p:nvPr>
        </p:nvSpPr>
        <p:spPr/>
        <p:txBody>
          <a:bodyPr vert="horz" wrap="square" lIns="91440" tIns="45720" rIns="91440" bIns="45720" anchor="b" anchorCtr="0"/>
          <a:lstStyle/>
          <a:p>
            <a:br>
              <a:rPr lang="zh-CN" altLang="en-US" dirty="0"/>
            </a:br>
            <a:r>
              <a:rPr lang="zh-CN" altLang="en-US" b="1" dirty="0"/>
              <a:t>第七章 数据库设计 </a:t>
            </a:r>
            <a:endParaRPr lang="zh-CN" altLang="en-US" dirty="0"/>
          </a:p>
        </p:txBody>
      </p:sp>
      <p:sp>
        <p:nvSpPr>
          <p:cNvPr id="88066" name="内容占位符 2"/>
          <p:cNvSpPr>
            <a:spLocks noGrp="1"/>
          </p:cNvSpPr>
          <p:nvPr>
            <p:ph idx="1"/>
          </p:nvPr>
        </p:nvSpPr>
        <p:spPr/>
        <p:txBody>
          <a:bodyPr vert="horz" wrap="square" lIns="91440" tIns="45720" rIns="91440" bIns="45720" anchor="t" anchorCtr="0"/>
          <a:lstStyle/>
          <a:p>
            <a:r>
              <a:rPr lang="en-US" altLang="zh-CN" b="1" dirty="0"/>
              <a:t>7.1 </a:t>
            </a:r>
            <a:r>
              <a:rPr lang="zh-CN" altLang="en-US" b="1" dirty="0"/>
              <a:t>数据库设计概述 </a:t>
            </a:r>
            <a:endParaRPr lang="zh-CN" altLang="en-US" b="1" dirty="0"/>
          </a:p>
          <a:p>
            <a:r>
              <a:rPr lang="en-US" altLang="zh-CN" b="1" dirty="0"/>
              <a:t>7.2 </a:t>
            </a:r>
            <a:r>
              <a:rPr lang="zh-CN" altLang="en-US" b="1" dirty="0"/>
              <a:t>需求分析 </a:t>
            </a:r>
            <a:endParaRPr lang="zh-CN" altLang="en-US" b="1" dirty="0"/>
          </a:p>
          <a:p>
            <a:r>
              <a:rPr lang="en-US" altLang="zh-CN" b="1" dirty="0"/>
              <a:t>7.3 </a:t>
            </a:r>
            <a:r>
              <a:rPr lang="zh-CN" altLang="en-US" b="1" dirty="0"/>
              <a:t>概念结构设计 </a:t>
            </a:r>
            <a:endParaRPr lang="zh-CN" altLang="en-US" b="1" dirty="0"/>
          </a:p>
          <a:p>
            <a:r>
              <a:rPr lang="en-US" altLang="zh-CN" b="1" dirty="0"/>
              <a:t>7.4 </a:t>
            </a:r>
            <a:r>
              <a:rPr lang="zh-CN" altLang="en-US" b="1" dirty="0">
                <a:solidFill>
                  <a:srgbClr val="FF0000"/>
                </a:solidFill>
              </a:rPr>
              <a:t>逻辑结构设计 </a:t>
            </a:r>
            <a:endParaRPr lang="zh-CN" altLang="en-US" b="1" dirty="0">
              <a:solidFill>
                <a:srgbClr val="FF0000"/>
              </a:solidFill>
            </a:endParaRPr>
          </a:p>
          <a:p>
            <a:r>
              <a:rPr lang="en-US" altLang="zh-CN" b="1" dirty="0"/>
              <a:t>7.5 </a:t>
            </a:r>
            <a:r>
              <a:rPr lang="zh-CN" altLang="en-US" b="1" dirty="0"/>
              <a:t>物理结构设计 </a:t>
            </a:r>
            <a:endParaRPr lang="zh-CN" altLang="en-US" b="1" dirty="0"/>
          </a:p>
          <a:p>
            <a:r>
              <a:rPr lang="en-US" altLang="zh-CN" b="1" dirty="0"/>
              <a:t>7.6 </a:t>
            </a:r>
            <a:r>
              <a:rPr lang="zh-CN" altLang="en-US" b="1" dirty="0"/>
              <a:t>数据库的实施和维护 </a:t>
            </a:r>
            <a:endParaRPr lang="zh-CN" altLang="en-US" dirty="0"/>
          </a:p>
        </p:txBody>
      </p:sp>
    </p:spTree>
  </p:cSld>
  <p:clrMapOvr>
    <a:masterClrMapping/>
  </p:clrMapOvr>
  <p:transition advClick="0"/>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570"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b="1" dirty="0">
                <a:sym typeface="+mn-ea"/>
              </a:rPr>
              <a:t>7.4 </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逻辑结构设计</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
        <p:nvSpPr>
          <p:cNvPr id="89090" name="内容占位符 2"/>
          <p:cNvSpPr>
            <a:spLocks noGrp="1"/>
          </p:cNvSpPr>
          <p:nvPr>
            <p:ph idx="1"/>
          </p:nvPr>
        </p:nvSpPr>
        <p:spPr>
          <a:xfrm>
            <a:off x="755650" y="1143000"/>
            <a:ext cx="11137900" cy="4876800"/>
          </a:xfrm>
        </p:spPr>
        <p:txBody>
          <a:bodyPr vert="horz" wrap="square" lIns="91440" tIns="45720" rIns="91440" bIns="45720" anchor="t" anchorCtr="0"/>
          <a:lstStyle/>
          <a:p>
            <a:r>
              <a:rPr lang="zh-CN" altLang="en-US" dirty="0"/>
              <a:t>任务：把</a:t>
            </a:r>
            <a:r>
              <a:rPr lang="zh-CN" altLang="en-US" b="1" dirty="0">
                <a:solidFill>
                  <a:srgbClr val="FF0000"/>
                </a:solidFill>
              </a:rPr>
              <a:t>概念结构设计阶段</a:t>
            </a:r>
            <a:r>
              <a:rPr lang="zh-CN" altLang="en-US" dirty="0"/>
              <a:t>设计好的</a:t>
            </a:r>
            <a:r>
              <a:rPr lang="zh-CN" altLang="en-US" b="1" dirty="0">
                <a:solidFill>
                  <a:srgbClr val="FF0000"/>
                </a:solidFill>
              </a:rPr>
              <a:t>基本</a:t>
            </a:r>
            <a:r>
              <a:rPr lang="en-US" altLang="zh-CN" b="1" dirty="0">
                <a:solidFill>
                  <a:srgbClr val="FF0000"/>
                </a:solidFill>
              </a:rPr>
              <a:t>E-R</a:t>
            </a:r>
            <a:r>
              <a:rPr lang="zh-CN" altLang="en-US" b="1" dirty="0">
                <a:solidFill>
                  <a:srgbClr val="FF0000"/>
                </a:solidFill>
              </a:rPr>
              <a:t>图</a:t>
            </a:r>
            <a:r>
              <a:rPr lang="zh-CN" altLang="en-US" dirty="0"/>
              <a:t>转换为与选用数据库管理系统产品所支持的数据模型相符合的</a:t>
            </a:r>
            <a:r>
              <a:rPr lang="zh-CN" altLang="en-US" b="1" dirty="0">
                <a:solidFill>
                  <a:srgbClr val="FF0000"/>
                </a:solidFill>
              </a:rPr>
              <a:t>逻辑结构 </a:t>
            </a:r>
            <a:r>
              <a:rPr lang="zh-CN" altLang="en-US" dirty="0"/>
              <a:t>。</a:t>
            </a:r>
            <a:endParaRPr lang="zh-CN" altLang="en-US" dirty="0"/>
          </a:p>
          <a:p>
            <a:r>
              <a:rPr lang="zh-CN" altLang="en-US" dirty="0"/>
              <a:t>简单说就是：</a:t>
            </a:r>
            <a:r>
              <a:rPr lang="en-US" altLang="zh-CN" dirty="0"/>
              <a:t>E-R</a:t>
            </a:r>
            <a:r>
              <a:rPr lang="zh-CN" altLang="en-US" dirty="0"/>
              <a:t>图转成表</a:t>
            </a:r>
            <a:endParaRPr lang="zh-CN" altLang="en-US" dirty="0"/>
          </a:p>
          <a:p>
            <a:r>
              <a:rPr lang="en-US" altLang="zh-CN" b="1" dirty="0">
                <a:solidFill>
                  <a:srgbClr val="FF0000"/>
                </a:solidFill>
              </a:rPr>
              <a:t>7.4.1 E-R</a:t>
            </a:r>
            <a:r>
              <a:rPr lang="zh-CN" altLang="en-US" b="1" dirty="0">
                <a:solidFill>
                  <a:srgbClr val="FF0000"/>
                </a:solidFill>
              </a:rPr>
              <a:t>图向关系模型的转换 </a:t>
            </a:r>
            <a:endParaRPr lang="zh-CN" altLang="en-US" b="1" dirty="0">
              <a:solidFill>
                <a:srgbClr val="FF0000"/>
              </a:solidFill>
            </a:endParaRPr>
          </a:p>
          <a:p>
            <a:r>
              <a:rPr lang="en-US" altLang="zh-CN" b="1" dirty="0"/>
              <a:t>7.4.2 </a:t>
            </a:r>
            <a:r>
              <a:rPr lang="zh-CN" altLang="en-US" b="1" dirty="0"/>
              <a:t>数据模型的优化 </a:t>
            </a:r>
            <a:endParaRPr lang="zh-CN" altLang="en-US" b="1" dirty="0"/>
          </a:p>
          <a:p>
            <a:r>
              <a:rPr lang="en-US" altLang="zh-CN" b="1" dirty="0"/>
              <a:t>7.4.3 </a:t>
            </a:r>
            <a:r>
              <a:rPr lang="zh-CN" altLang="en-US" b="1" dirty="0"/>
              <a:t>设计用户子模式 </a:t>
            </a:r>
            <a:endParaRPr lang="zh-CN" altLang="en-US" dirty="0"/>
          </a:p>
        </p:txBody>
      </p:sp>
    </p:spTree>
  </p:cSld>
  <p:clrMapOvr>
    <a:masterClrMapping/>
  </p:clrMapOvr>
  <p:transition advClick="0"/>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转换内容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
        <p:nvSpPr>
          <p:cNvPr id="90114" name="内容占位符 2"/>
          <p:cNvSpPr>
            <a:spLocks noGrp="1"/>
          </p:cNvSpPr>
          <p:nvPr>
            <p:ph idx="1"/>
          </p:nvPr>
        </p:nvSpPr>
        <p:spPr/>
        <p:txBody>
          <a:bodyPr vert="horz" wrap="square" lIns="91440" tIns="45720" rIns="91440" bIns="45720" anchor="t" anchorCtr="0"/>
          <a:lstStyle/>
          <a:p>
            <a:r>
              <a:rPr lang="en-US" altLang="zh-CN" b="1" dirty="0"/>
              <a:t>E-R</a:t>
            </a:r>
            <a:r>
              <a:rPr lang="zh-CN" altLang="en-US" b="1" dirty="0"/>
              <a:t>图由实体型、实体的属性和实体型之间的联系</a:t>
            </a:r>
            <a:r>
              <a:rPr lang="zh-CN" altLang="en-US" b="1" dirty="0">
                <a:solidFill>
                  <a:srgbClr val="FF0000"/>
                </a:solidFill>
              </a:rPr>
              <a:t>三个要素</a:t>
            </a:r>
            <a:r>
              <a:rPr lang="zh-CN" altLang="en-US" b="1" dirty="0"/>
              <a:t>组成 </a:t>
            </a:r>
            <a:endParaRPr lang="zh-CN" altLang="en-US" b="1" dirty="0"/>
          </a:p>
          <a:p>
            <a:r>
              <a:rPr lang="zh-CN" altLang="en-US" dirty="0"/>
              <a:t>将</a:t>
            </a:r>
            <a:r>
              <a:rPr lang="en-US" altLang="zh-CN" b="1" dirty="0"/>
              <a:t>E-R</a:t>
            </a:r>
            <a:r>
              <a:rPr lang="zh-CN" altLang="en-US" b="1" dirty="0"/>
              <a:t>图转换为关系模型：将</a:t>
            </a:r>
            <a:r>
              <a:rPr lang="zh-CN" altLang="en-US" b="1" dirty="0">
                <a:solidFill>
                  <a:srgbClr val="FF0000"/>
                </a:solidFill>
              </a:rPr>
              <a:t>实体型</a:t>
            </a:r>
            <a:r>
              <a:rPr lang="zh-CN" altLang="en-US" b="1" dirty="0"/>
              <a:t>、</a:t>
            </a:r>
            <a:r>
              <a:rPr lang="zh-CN" altLang="en-US" b="1" dirty="0">
                <a:solidFill>
                  <a:srgbClr val="FF0000"/>
                </a:solidFill>
              </a:rPr>
              <a:t>实体的属性</a:t>
            </a:r>
            <a:r>
              <a:rPr lang="zh-CN" altLang="en-US" b="1" dirty="0"/>
              <a:t>和</a:t>
            </a:r>
            <a:r>
              <a:rPr lang="zh-CN" altLang="en-US" b="1" dirty="0">
                <a:solidFill>
                  <a:srgbClr val="FF0000"/>
                </a:solidFill>
              </a:rPr>
              <a:t>实体型之间的联系</a:t>
            </a:r>
            <a:r>
              <a:rPr lang="zh-CN" altLang="en-US" b="1" dirty="0"/>
              <a:t>转化为关系模式 </a:t>
            </a:r>
            <a:endParaRPr lang="zh-CN" altLang="en-US" b="1" dirty="0"/>
          </a:p>
          <a:p>
            <a:endParaRPr lang="zh-CN" altLang="en-US" dirty="0"/>
          </a:p>
        </p:txBody>
      </p:sp>
    </p:spTree>
  </p:cSld>
  <p:clrMapOvr>
    <a:masterClrMapping/>
  </p:clrMapOvr>
  <p:transition advClick="0"/>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5325"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转换原则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
        <p:nvSpPr>
          <p:cNvPr id="91138" name="内容占位符 2"/>
          <p:cNvSpPr>
            <a:spLocks noGrp="1"/>
          </p:cNvSpPr>
          <p:nvPr>
            <p:ph idx="1"/>
          </p:nvPr>
        </p:nvSpPr>
        <p:spPr/>
        <p:txBody>
          <a:bodyPr vert="horz" wrap="square" lIns="91440" tIns="45720" rIns="91440" bIns="45720" anchor="t" anchorCtr="0"/>
          <a:lstStyle/>
          <a:p>
            <a:r>
              <a:rPr lang="en-US" altLang="zh-CN" b="1" dirty="0"/>
              <a:t>1. </a:t>
            </a:r>
            <a:r>
              <a:rPr lang="zh-CN" altLang="en-US" b="1" dirty="0"/>
              <a:t>一个实体型转换为一个关系模式。 </a:t>
            </a:r>
            <a:endParaRPr lang="zh-CN" altLang="en-US" b="1" dirty="0"/>
          </a:p>
          <a:p>
            <a:pPr marL="0" indent="0">
              <a:buNone/>
            </a:pPr>
            <a:r>
              <a:rPr lang="zh-CN" altLang="en-US" dirty="0" smtClean="0"/>
              <a:t></a:t>
            </a:r>
            <a:r>
              <a:rPr lang="en-US" altLang="zh-CN" dirty="0" smtClean="0"/>
              <a:t>	</a:t>
            </a:r>
            <a:r>
              <a:rPr lang="zh-CN" altLang="en-US" dirty="0" smtClean="0"/>
              <a:t>关系</a:t>
            </a:r>
            <a:r>
              <a:rPr lang="zh-CN" altLang="en-US" dirty="0"/>
              <a:t>的属性：实体的属性 </a:t>
            </a:r>
            <a:endParaRPr lang="zh-CN" altLang="en-US" dirty="0"/>
          </a:p>
          <a:p>
            <a:pPr marL="0" indent="0">
              <a:buNone/>
            </a:pPr>
            <a:r>
              <a:rPr lang="zh-CN" altLang="en-US" dirty="0" smtClean="0"/>
              <a:t></a:t>
            </a:r>
            <a:r>
              <a:rPr lang="en-US" altLang="zh-CN" dirty="0" smtClean="0"/>
              <a:t>	</a:t>
            </a:r>
            <a:r>
              <a:rPr lang="zh-CN" altLang="en-US" dirty="0" smtClean="0"/>
              <a:t>关系</a:t>
            </a:r>
            <a:r>
              <a:rPr lang="zh-CN" altLang="en-US" dirty="0"/>
              <a:t>的码：实体的码 </a:t>
            </a:r>
            <a:endParaRPr lang="zh-CN" altLang="en-US" dirty="0"/>
          </a:p>
          <a:p>
            <a:r>
              <a:rPr lang="en-US" altLang="zh-CN" b="1" dirty="0"/>
              <a:t>2. </a:t>
            </a:r>
            <a:r>
              <a:rPr lang="zh-CN" altLang="en-US" b="1" dirty="0"/>
              <a:t>实体型间的联系有以下不同情况 </a:t>
            </a:r>
            <a:endParaRPr lang="zh-CN" altLang="en-US" b="1" dirty="0"/>
          </a:p>
          <a:p>
            <a:pPr marL="0" indent="0">
              <a:buNone/>
            </a:pPr>
            <a:r>
              <a:rPr lang="en-US" altLang="zh-CN" dirty="0" smtClean="0"/>
              <a:t>	</a:t>
            </a:r>
            <a:r>
              <a:rPr lang="zh-CN" altLang="en-US" dirty="0" smtClean="0"/>
              <a:t>（</a:t>
            </a:r>
            <a:r>
              <a:rPr lang="en-US" altLang="zh-CN" dirty="0"/>
              <a:t>1</a:t>
            </a:r>
            <a:r>
              <a:rPr lang="zh-CN" altLang="en-US" dirty="0"/>
              <a:t>）</a:t>
            </a:r>
            <a:r>
              <a:rPr lang="en-US" altLang="zh-CN" sz="2800" b="1" dirty="0"/>
              <a:t> 1:1</a:t>
            </a:r>
            <a:r>
              <a:rPr lang="zh-CN" altLang="en-US" sz="2800" b="1" dirty="0"/>
              <a:t>联系</a:t>
            </a:r>
            <a:endParaRPr lang="en-US" altLang="zh-CN" dirty="0"/>
          </a:p>
          <a:p>
            <a:pPr marL="0" indent="0">
              <a:buNone/>
            </a:pPr>
            <a:r>
              <a:rPr lang="en-US" altLang="zh-CN" dirty="0" smtClean="0"/>
              <a:t>	</a:t>
            </a:r>
            <a:r>
              <a:rPr lang="zh-CN" altLang="en-US" dirty="0" smtClean="0"/>
              <a:t>（</a:t>
            </a:r>
            <a:r>
              <a:rPr lang="en-US" altLang="zh-CN" dirty="0"/>
              <a:t>2</a:t>
            </a:r>
            <a:r>
              <a:rPr lang="zh-CN" altLang="en-US" dirty="0"/>
              <a:t>）</a:t>
            </a:r>
            <a:r>
              <a:rPr lang="en-US" altLang="zh-CN" sz="2800" b="1" dirty="0"/>
              <a:t> 1:m</a:t>
            </a:r>
            <a:r>
              <a:rPr lang="zh-CN" altLang="en-US" sz="2800" b="1" dirty="0"/>
              <a:t>联系</a:t>
            </a:r>
            <a:endParaRPr lang="en-US" altLang="zh-CN" dirty="0"/>
          </a:p>
          <a:p>
            <a:pPr marL="0" indent="0">
              <a:buNone/>
            </a:pPr>
            <a:r>
              <a:rPr lang="en-US" altLang="zh-CN" dirty="0" smtClean="0"/>
              <a:t>	</a:t>
            </a:r>
            <a:r>
              <a:rPr lang="zh-CN" altLang="en-US" dirty="0" smtClean="0"/>
              <a:t>（</a:t>
            </a:r>
            <a:r>
              <a:rPr lang="en-US" altLang="zh-CN" dirty="0"/>
              <a:t>3</a:t>
            </a:r>
            <a:r>
              <a:rPr lang="zh-CN" altLang="en-US" dirty="0"/>
              <a:t>）</a:t>
            </a:r>
            <a:r>
              <a:rPr lang="en-US" altLang="zh-CN" sz="2800" b="1" dirty="0"/>
              <a:t> m:n</a:t>
            </a:r>
            <a:r>
              <a:rPr lang="zh-CN" altLang="en-US" sz="2800" b="1" dirty="0"/>
              <a:t>联系</a:t>
            </a:r>
            <a:endParaRPr lang="zh-CN" altLang="en-US" dirty="0"/>
          </a:p>
        </p:txBody>
      </p:sp>
    </p:spTree>
  </p:cSld>
  <p:clrMapOvr>
    <a:masterClrMapping/>
  </p:clrMapOvr>
  <p:transition advClick="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内容占位符 2"/>
          <p:cNvSpPr>
            <a:spLocks noGrp="1"/>
          </p:cNvSpPr>
          <p:nvPr>
            <p:ph idx="1"/>
          </p:nvPr>
        </p:nvSpPr>
        <p:spPr>
          <a:xfrm>
            <a:off x="695400" y="1216025"/>
            <a:ext cx="10657184" cy="4876800"/>
          </a:xfrm>
        </p:spPr>
        <p:txBody>
          <a:bodyPr vert="horz" wrap="square" lIns="91440" tIns="45720" rIns="91440" bIns="45720" anchor="t" anchorCtr="0"/>
          <a:lstStyle/>
          <a:p>
            <a:r>
              <a:rPr lang="zh-CN" altLang="en-US" sz="3200" b="1" dirty="0"/>
              <a:t>一个</a:t>
            </a:r>
            <a:r>
              <a:rPr lang="en-US" altLang="zh-CN" sz="3200" b="1" dirty="0"/>
              <a:t>1:1</a:t>
            </a:r>
            <a:r>
              <a:rPr lang="zh-CN" altLang="en-US" sz="3200" b="1" dirty="0"/>
              <a:t>联系可以转换为一个独立的关系模式，也可以与任意一端对应的关系模式合并。 </a:t>
            </a:r>
            <a:endParaRPr lang="zh-CN" altLang="en-US" sz="3200" b="1" dirty="0"/>
          </a:p>
          <a:p>
            <a:pPr marL="0" indent="0">
              <a:buNone/>
            </a:pPr>
            <a:r>
              <a:rPr lang="en-US" altLang="zh-CN" sz="2400" dirty="0" smtClean="0"/>
              <a:t>	</a:t>
            </a:r>
            <a:r>
              <a:rPr lang="zh-CN" altLang="en-US" sz="2800" dirty="0" smtClean="0"/>
              <a:t>① </a:t>
            </a:r>
            <a:r>
              <a:rPr lang="zh-CN" altLang="en-US" sz="2800" dirty="0"/>
              <a:t>转换为一个独立的关系模式 </a:t>
            </a:r>
            <a:endParaRPr lang="zh-CN" altLang="en-US" sz="2800" dirty="0"/>
          </a:p>
          <a:p>
            <a:r>
              <a:rPr lang="zh-CN" altLang="en-US" sz="2800" dirty="0"/>
              <a:t>关系的属性：与该联系相连的各实体的码以及联系本身的属性 </a:t>
            </a:r>
            <a:endParaRPr lang="zh-CN" altLang="en-US" sz="2800" dirty="0"/>
          </a:p>
          <a:p>
            <a:r>
              <a:rPr lang="zh-CN" altLang="en-US" sz="2800" dirty="0"/>
              <a:t>关系的候选码：每个实体的码均是该关系的候选码 </a:t>
            </a:r>
            <a:endParaRPr lang="zh-CN" altLang="en-US" sz="3200" dirty="0"/>
          </a:p>
          <a:p>
            <a:pPr marL="0" indent="0">
              <a:buNone/>
            </a:pPr>
            <a:r>
              <a:rPr lang="en-US" altLang="zh-CN" sz="2800" dirty="0" smtClean="0"/>
              <a:t>	</a:t>
            </a:r>
            <a:r>
              <a:rPr lang="zh-CN" altLang="en-US" sz="2800" dirty="0" smtClean="0"/>
              <a:t>②</a:t>
            </a:r>
            <a:r>
              <a:rPr lang="zh-CN" altLang="en-US" sz="2800" dirty="0"/>
              <a:t>与某一端实体对应的关系模式合并 </a:t>
            </a:r>
            <a:endParaRPr lang="zh-CN" altLang="en-US" sz="2800" dirty="0"/>
          </a:p>
          <a:p>
            <a:r>
              <a:rPr lang="zh-CN" altLang="en-US" sz="2800" dirty="0"/>
              <a:t>合并后关系的属性：加入对应关系的码和联系本身的属性 </a:t>
            </a:r>
            <a:endParaRPr lang="zh-CN" altLang="en-US" sz="2800" dirty="0"/>
          </a:p>
          <a:p>
            <a:r>
              <a:rPr lang="zh-CN" altLang="en-US" sz="2800" dirty="0"/>
              <a:t>合并后关系的码：不变 </a:t>
            </a:r>
            <a:endParaRPr lang="zh-CN" altLang="en-US" sz="2800" dirty="0"/>
          </a:p>
        </p:txBody>
      </p:sp>
      <p:sp>
        <p:nvSpPr>
          <p:cNvPr id="3" name="标题 1"/>
          <p:cNvSpPr>
            <a:spLocks noGrp="1"/>
          </p:cNvSpPr>
          <p:nvPr>
            <p:ph type="title"/>
          </p:nvPr>
        </p:nvSpPr>
        <p:spPr>
          <a:xfrm>
            <a:off x="767715" y="213678"/>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1:1</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的联系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advClick="0"/>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p:cNvSpPr>
          <p:nvPr>
            <p:ph type="title"/>
          </p:nvPr>
        </p:nvSpPr>
        <p:spPr/>
        <p:txBody>
          <a:bodyPr vert="horz" wrap="square" lIns="91440" tIns="45720" rIns="91440" bIns="45720" anchor="b" anchorCtr="0"/>
          <a:lstStyle/>
          <a:p>
            <a:r>
              <a:rPr lang="zh-CN" altLang="en-US" dirty="0"/>
              <a:t>例题：</a:t>
            </a:r>
            <a:endParaRPr lang="zh-CN" altLang="en-US" dirty="0"/>
          </a:p>
        </p:txBody>
      </p:sp>
      <p:sp>
        <p:nvSpPr>
          <p:cNvPr id="81923" name="内容占位符 2"/>
          <p:cNvSpPr>
            <a:spLocks noGrp="1"/>
          </p:cNvSpPr>
          <p:nvPr>
            <p:ph idx="1"/>
          </p:nvPr>
        </p:nvSpPr>
        <p:spPr>
          <a:xfrm>
            <a:off x="708025" y="1143000"/>
            <a:ext cx="7908925" cy="4876800"/>
          </a:xfrm>
        </p:spPr>
        <p:txBody>
          <a:bodyPr vert="horz" wrap="square" lIns="91440" tIns="45720" rIns="91440" bIns="45720" anchor="t" anchorCtr="0"/>
          <a:lstStyle/>
          <a:p>
            <a:r>
              <a:rPr lang="en-US" altLang="zh-CN" sz="2400" dirty="0"/>
              <a:t>1.</a:t>
            </a:r>
            <a:r>
              <a:rPr lang="zh-CN" altLang="en-US" sz="2400" dirty="0"/>
              <a:t>转成三个表</a:t>
            </a:r>
            <a:endParaRPr lang="en-US" altLang="zh-CN" sz="2400" dirty="0"/>
          </a:p>
          <a:p>
            <a:pPr marL="0" indent="0">
              <a:buNone/>
            </a:pPr>
            <a:r>
              <a:rPr lang="zh-CN" altLang="en-US" sz="2400" dirty="0"/>
              <a:t>院系（</a:t>
            </a:r>
            <a:r>
              <a:rPr lang="zh-CN" altLang="en-US" sz="2400" u="sng" dirty="0"/>
              <a:t>院系编号</a:t>
            </a:r>
            <a:r>
              <a:rPr lang="zh-CN" altLang="en-US" sz="2400" dirty="0"/>
              <a:t>，院系名称，院系地址，</a:t>
            </a:r>
            <a:r>
              <a:rPr lang="en-US" altLang="zh-CN" sz="2400" dirty="0"/>
              <a:t>…</a:t>
            </a:r>
            <a:r>
              <a:rPr lang="zh-CN" altLang="en-US" sz="2400" dirty="0"/>
              <a:t>）</a:t>
            </a:r>
            <a:endParaRPr lang="en-US" altLang="zh-CN" sz="2400" dirty="0"/>
          </a:p>
          <a:p>
            <a:pPr marL="0" indent="0">
              <a:buNone/>
            </a:pPr>
            <a:r>
              <a:rPr lang="zh-CN" altLang="en-US" sz="2400" dirty="0"/>
              <a:t>院长（</a:t>
            </a:r>
            <a:r>
              <a:rPr lang="zh-CN" altLang="en-US" sz="2400" u="sng" dirty="0"/>
              <a:t>院长工号</a:t>
            </a:r>
            <a:r>
              <a:rPr lang="zh-CN" altLang="en-US" sz="2400" dirty="0"/>
              <a:t>，姓名，性别</a:t>
            </a:r>
            <a:r>
              <a:rPr lang="en-US" altLang="zh-CN" sz="2400" dirty="0"/>
              <a:t>…..</a:t>
            </a:r>
            <a:r>
              <a:rPr lang="zh-CN" altLang="en-US" sz="2400" dirty="0"/>
              <a:t>）</a:t>
            </a:r>
            <a:endParaRPr lang="en-US" altLang="zh-CN" sz="2400" dirty="0"/>
          </a:p>
          <a:p>
            <a:pPr marL="0" indent="0">
              <a:buNone/>
            </a:pPr>
            <a:r>
              <a:rPr lang="zh-CN" altLang="en-US" sz="2400" dirty="0"/>
              <a:t>院系</a:t>
            </a:r>
            <a:r>
              <a:rPr lang="en-US" altLang="zh-CN" sz="2400" dirty="0"/>
              <a:t>-</a:t>
            </a:r>
            <a:r>
              <a:rPr lang="zh-CN" altLang="en-US" sz="2400" dirty="0"/>
              <a:t>院长（院系编号，院长工号，任期）</a:t>
            </a:r>
            <a:endParaRPr lang="en-US" altLang="zh-CN" sz="2400" dirty="0"/>
          </a:p>
          <a:p>
            <a:pPr marL="0" indent="0">
              <a:buNone/>
            </a:pPr>
            <a:r>
              <a:rPr lang="zh-CN" altLang="en-US" sz="2400" dirty="0">
                <a:sym typeface="+mn-ea"/>
              </a:rPr>
              <a:t>主码：院系编号</a:t>
            </a:r>
            <a:r>
              <a:rPr lang="zh-CN" altLang="en-US" sz="2400" dirty="0">
                <a:sym typeface="+mn-ea"/>
              </a:rPr>
              <a:t>或者院长工号</a:t>
            </a:r>
            <a:endParaRPr lang="en-US" altLang="zh-CN" sz="2400" dirty="0"/>
          </a:p>
          <a:p>
            <a:r>
              <a:rPr lang="en-US" altLang="zh-CN" sz="2400" dirty="0"/>
              <a:t>2.</a:t>
            </a:r>
            <a:r>
              <a:rPr lang="zh-CN" altLang="en-US" sz="2400" dirty="0"/>
              <a:t>转成两个表</a:t>
            </a:r>
            <a:endParaRPr lang="en-US" altLang="zh-CN" sz="2400" dirty="0"/>
          </a:p>
          <a:p>
            <a:pPr marL="0" indent="0">
              <a:buNone/>
            </a:pPr>
            <a:r>
              <a:rPr lang="zh-CN" altLang="en-US" sz="2400" dirty="0"/>
              <a:t>院系（</a:t>
            </a:r>
            <a:r>
              <a:rPr lang="zh-CN" altLang="en-US" sz="2400" u="sng" dirty="0"/>
              <a:t>院系编号</a:t>
            </a:r>
            <a:r>
              <a:rPr lang="zh-CN" altLang="en-US" sz="2400" dirty="0"/>
              <a:t>，院系名称，院系地址，</a:t>
            </a:r>
            <a:r>
              <a:rPr lang="en-US" altLang="zh-CN" sz="2400" dirty="0"/>
              <a:t>…</a:t>
            </a:r>
            <a:r>
              <a:rPr lang="zh-CN" altLang="en-US" sz="2400" dirty="0"/>
              <a:t>）</a:t>
            </a:r>
            <a:endParaRPr lang="en-US" altLang="zh-CN" sz="2400" dirty="0"/>
          </a:p>
          <a:p>
            <a:pPr marL="0" indent="0">
              <a:buNone/>
            </a:pPr>
            <a:r>
              <a:rPr lang="zh-CN" altLang="en-US" sz="2400" dirty="0"/>
              <a:t>院长（</a:t>
            </a:r>
            <a:r>
              <a:rPr lang="zh-CN" altLang="en-US" sz="2400" u="sng" dirty="0"/>
              <a:t>院长工号</a:t>
            </a:r>
            <a:r>
              <a:rPr lang="zh-CN" altLang="en-US" sz="2400" dirty="0"/>
              <a:t>，</a:t>
            </a:r>
            <a:r>
              <a:rPr lang="zh-CN" altLang="en-US" sz="2400" b="1" dirty="0">
                <a:solidFill>
                  <a:srgbClr val="0000FF"/>
                </a:solidFill>
              </a:rPr>
              <a:t>院系编号，任期，</a:t>
            </a:r>
            <a:r>
              <a:rPr lang="zh-CN" altLang="en-US" sz="2400" dirty="0"/>
              <a:t>姓名，性别</a:t>
            </a:r>
            <a:r>
              <a:rPr lang="en-US" altLang="zh-CN" sz="2400" dirty="0"/>
              <a:t>…..</a:t>
            </a:r>
            <a:r>
              <a:rPr lang="zh-CN" altLang="en-US" sz="2400" dirty="0"/>
              <a:t>）</a:t>
            </a:r>
            <a:endParaRPr lang="en-US" altLang="zh-CN" sz="2400" dirty="0"/>
          </a:p>
          <a:p>
            <a:endParaRPr lang="zh-CN" altLang="en-US" sz="2400" dirty="0"/>
          </a:p>
        </p:txBody>
      </p:sp>
      <p:grpSp>
        <p:nvGrpSpPr>
          <p:cNvPr id="93187" name="组合 31"/>
          <p:cNvGrpSpPr/>
          <p:nvPr/>
        </p:nvGrpSpPr>
        <p:grpSpPr>
          <a:xfrm>
            <a:off x="7319963" y="1844675"/>
            <a:ext cx="3786187" cy="4000500"/>
            <a:chOff x="2500298" y="1785926"/>
            <a:chExt cx="3786214" cy="4000528"/>
          </a:xfrm>
        </p:grpSpPr>
        <p:grpSp>
          <p:nvGrpSpPr>
            <p:cNvPr id="93188" name="Group 5"/>
            <p:cNvGrpSpPr/>
            <p:nvPr/>
          </p:nvGrpSpPr>
          <p:grpSpPr>
            <a:xfrm>
              <a:off x="3643306" y="2571744"/>
              <a:ext cx="1368425" cy="2841076"/>
              <a:chOff x="1056" y="1344"/>
              <a:chExt cx="1008" cy="2736"/>
            </a:xfrm>
          </p:grpSpPr>
          <p:sp>
            <p:nvSpPr>
              <p:cNvPr id="93189"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院系</a:t>
                </a:r>
                <a:endParaRPr lang="zh-CN" altLang="en-US" sz="2400" dirty="0">
                  <a:latin typeface="Times New Roman" panose="02020603050405020304" pitchFamily="18" charset="0"/>
                  <a:ea typeface="楷体_GB2312" pitchFamily="49" charset="-122"/>
                </a:endParaRPr>
              </a:p>
            </p:txBody>
          </p:sp>
          <p:sp>
            <p:nvSpPr>
              <p:cNvPr id="93190"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院系</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院长</a:t>
                </a:r>
                <a:endParaRPr lang="zh-CN" altLang="en-US" sz="2000" dirty="0">
                  <a:latin typeface="楷体_GB2312" pitchFamily="49" charset="-122"/>
                  <a:ea typeface="楷体_GB2312" pitchFamily="49" charset="-122"/>
                </a:endParaRPr>
              </a:p>
            </p:txBody>
          </p:sp>
          <p:sp>
            <p:nvSpPr>
              <p:cNvPr id="93191"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正院长</a:t>
                </a:r>
                <a:endParaRPr lang="zh-CN" altLang="en-US" sz="2400" dirty="0">
                  <a:latin typeface="Times New Roman" panose="02020603050405020304" pitchFamily="18" charset="0"/>
                  <a:ea typeface="楷体_GB2312" pitchFamily="49" charset="-122"/>
                </a:endParaRPr>
              </a:p>
            </p:txBody>
          </p:sp>
          <p:sp>
            <p:nvSpPr>
              <p:cNvPr id="93192"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3193"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3194"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3195"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3196"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19" name="椭圆 18"/>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院系号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20" name="椭圆 19"/>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院系名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21" name="椭圆 2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工号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22" name="椭圆 2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23" name="椭圆 2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性别</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cxnSp>
          <p:nvCxnSpPr>
            <p:cNvPr id="24" name="直接连接符 23"/>
            <p:cNvCxnSpPr>
              <a:stCxn id="19" idx="5"/>
            </p:cNvCxnSpPr>
            <p:nvPr/>
          </p:nvCxnSpPr>
          <p:spPr>
            <a:xfrm rot="16200000" flipH="1">
              <a:off x="3746493" y="2176453"/>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0" idx="4"/>
            </p:cNvCxnSpPr>
            <p:nvPr/>
          </p:nvCxnSpPr>
          <p:spPr>
            <a:xfrm rot="5400000">
              <a:off x="4590255" y="2196297"/>
              <a:ext cx="357191"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93191" idx="2"/>
            </p:cNvCxnSpPr>
            <p:nvPr/>
          </p:nvCxnSpPr>
          <p:spPr>
            <a:xfrm rot="5400000">
              <a:off x="3557422" y="4572166"/>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22" idx="0"/>
            </p:cNvCxnSpPr>
            <p:nvPr/>
          </p:nvCxnSpPr>
          <p:spPr>
            <a:xfrm rot="16200000" flipH="1">
              <a:off x="4196552"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965703" y="3617914"/>
              <a:ext cx="534992" cy="793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椭圆 30"/>
          <p:cNvSpPr/>
          <p:nvPr/>
        </p:nvSpPr>
        <p:spPr bwMode="auto">
          <a:xfrm>
            <a:off x="10033953" y="3416300"/>
            <a:ext cx="1071563" cy="428625"/>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任期</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23">
                                            <p:txEl>
                                              <p:pRg st="1" end="1"/>
                                            </p:txEl>
                                          </p:spTgt>
                                        </p:tgtEl>
                                        <p:attrNameLst>
                                          <p:attrName>style.visibility</p:attrName>
                                        </p:attrNameLst>
                                      </p:cBhvr>
                                      <p:to>
                                        <p:strVal val="visible"/>
                                      </p:to>
                                    </p:set>
                                    <p:anim calcmode="lin" valueType="num">
                                      <p:cBhvr additive="base">
                                        <p:cTn id="13" dur="500" fill="hold"/>
                                        <p:tgtEl>
                                          <p:spTgt spid="819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23">
                                            <p:txEl>
                                              <p:pRg st="2" end="2"/>
                                            </p:txEl>
                                          </p:spTgt>
                                        </p:tgtEl>
                                        <p:attrNameLst>
                                          <p:attrName>style.visibility</p:attrName>
                                        </p:attrNameLst>
                                      </p:cBhvr>
                                      <p:to>
                                        <p:strVal val="visible"/>
                                      </p:to>
                                    </p:set>
                                    <p:anim calcmode="lin" valueType="num">
                                      <p:cBhvr additive="base">
                                        <p:cTn id="19" dur="5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23">
                                            <p:txEl>
                                              <p:pRg st="3" end="3"/>
                                            </p:txEl>
                                          </p:spTgt>
                                        </p:tgtEl>
                                        <p:attrNameLst>
                                          <p:attrName>style.visibility</p:attrName>
                                        </p:attrNameLst>
                                      </p:cBhvr>
                                      <p:to>
                                        <p:strVal val="visible"/>
                                      </p:to>
                                    </p:set>
                                    <p:anim calcmode="lin" valueType="num">
                                      <p:cBhvr additive="base">
                                        <p:cTn id="25" dur="5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23">
                                            <p:txEl>
                                              <p:pRg st="4" end="4"/>
                                            </p:txEl>
                                          </p:spTgt>
                                        </p:tgtEl>
                                        <p:attrNameLst>
                                          <p:attrName>style.visibility</p:attrName>
                                        </p:attrNameLst>
                                      </p:cBhvr>
                                      <p:to>
                                        <p:strVal val="visible"/>
                                      </p:to>
                                    </p:set>
                                    <p:anim calcmode="lin" valueType="num">
                                      <p:cBhvr additive="base">
                                        <p:cTn id="31" dur="500" fill="hold"/>
                                        <p:tgtEl>
                                          <p:spTgt spid="819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23">
                                            <p:txEl>
                                              <p:pRg st="5" end="5"/>
                                            </p:txEl>
                                          </p:spTgt>
                                        </p:tgtEl>
                                        <p:attrNameLst>
                                          <p:attrName>style.visibility</p:attrName>
                                        </p:attrNameLst>
                                      </p:cBhvr>
                                      <p:to>
                                        <p:strVal val="visible"/>
                                      </p:to>
                                    </p:set>
                                    <p:anim calcmode="lin" valueType="num">
                                      <p:cBhvr additive="base">
                                        <p:cTn id="37" dur="500" fill="hold"/>
                                        <p:tgtEl>
                                          <p:spTgt spid="819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1923">
                                            <p:txEl>
                                              <p:pRg st="6" end="6"/>
                                            </p:txEl>
                                          </p:spTgt>
                                        </p:tgtEl>
                                        <p:attrNameLst>
                                          <p:attrName>style.visibility</p:attrName>
                                        </p:attrNameLst>
                                      </p:cBhvr>
                                      <p:to>
                                        <p:strVal val="visible"/>
                                      </p:to>
                                    </p:set>
                                    <p:anim calcmode="lin" valueType="num">
                                      <p:cBhvr additive="base">
                                        <p:cTn id="43" dur="500" fill="hold"/>
                                        <p:tgtEl>
                                          <p:spTgt spid="8192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2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1923">
                                            <p:txEl>
                                              <p:pRg st="7" end="7"/>
                                            </p:txEl>
                                          </p:spTgt>
                                        </p:tgtEl>
                                        <p:attrNameLst>
                                          <p:attrName>style.visibility</p:attrName>
                                        </p:attrNameLst>
                                      </p:cBhvr>
                                      <p:to>
                                        <p:strVal val="visible"/>
                                      </p:to>
                                    </p:set>
                                    <p:anim calcmode="lin" valueType="num">
                                      <p:cBhvr additive="base">
                                        <p:cTn id="49" dur="500" fill="hold"/>
                                        <p:tgtEl>
                                          <p:spTgt spid="8192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192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p:cNvSpPr>
          <p:nvPr>
            <p:ph type="title"/>
          </p:nvPr>
        </p:nvSpPr>
        <p:spPr/>
        <p:txBody>
          <a:bodyPr vert="horz" wrap="square" lIns="91440" tIns="45720" rIns="91440" bIns="45720" anchor="b" anchorCtr="0"/>
          <a:lstStyle/>
          <a:p>
            <a:r>
              <a:rPr lang="zh-CN" altLang="en-US" dirty="0"/>
              <a:t>提问：</a:t>
            </a:r>
            <a:endParaRPr lang="zh-CN" altLang="en-US" dirty="0"/>
          </a:p>
        </p:txBody>
      </p:sp>
      <p:grpSp>
        <p:nvGrpSpPr>
          <p:cNvPr id="94210" name="组合 31"/>
          <p:cNvGrpSpPr/>
          <p:nvPr/>
        </p:nvGrpSpPr>
        <p:grpSpPr>
          <a:xfrm>
            <a:off x="4013200" y="1674813"/>
            <a:ext cx="3786188" cy="4000500"/>
            <a:chOff x="2500298" y="1785926"/>
            <a:chExt cx="3786214" cy="4000528"/>
          </a:xfrm>
        </p:grpSpPr>
        <p:grpSp>
          <p:nvGrpSpPr>
            <p:cNvPr id="94211" name="Group 5"/>
            <p:cNvGrpSpPr/>
            <p:nvPr/>
          </p:nvGrpSpPr>
          <p:grpSpPr>
            <a:xfrm>
              <a:off x="3643306" y="2571744"/>
              <a:ext cx="1368425" cy="2841076"/>
              <a:chOff x="1056" y="1344"/>
              <a:chExt cx="1008" cy="2736"/>
            </a:xfrm>
          </p:grpSpPr>
          <p:sp>
            <p:nvSpPr>
              <p:cNvPr id="94212"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经理</a:t>
                </a:r>
                <a:endParaRPr lang="zh-CN" altLang="en-US" sz="2400" dirty="0">
                  <a:latin typeface="Times New Roman" panose="02020603050405020304" pitchFamily="18" charset="0"/>
                  <a:ea typeface="楷体_GB2312" pitchFamily="49" charset="-122"/>
                </a:endParaRPr>
              </a:p>
            </p:txBody>
          </p:sp>
          <p:sp>
            <p:nvSpPr>
              <p:cNvPr id="94213"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管理</a:t>
                </a:r>
                <a:endParaRPr lang="zh-CN" altLang="en-US" sz="2000" dirty="0">
                  <a:latin typeface="楷体_GB2312" pitchFamily="49" charset="-122"/>
                  <a:ea typeface="楷体_GB2312" pitchFamily="49" charset="-122"/>
                </a:endParaRPr>
              </a:p>
            </p:txBody>
          </p:sp>
          <p:sp>
            <p:nvSpPr>
              <p:cNvPr id="94214"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商店</a:t>
                </a:r>
                <a:endParaRPr lang="zh-CN" altLang="en-US" sz="2400" dirty="0">
                  <a:latin typeface="Times New Roman" panose="02020603050405020304" pitchFamily="18" charset="0"/>
                  <a:ea typeface="楷体_GB2312" pitchFamily="49" charset="-122"/>
                </a:endParaRPr>
              </a:p>
            </p:txBody>
          </p:sp>
          <p:sp>
            <p:nvSpPr>
              <p:cNvPr id="94215"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4216"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4217"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4218"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4219"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17" name="椭圆 16"/>
            <p:cNvSpPr/>
            <p:nvPr/>
          </p:nvSpPr>
          <p:spPr>
            <a:xfrm>
              <a:off x="2857488"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经理号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8" name="椭圆 17"/>
            <p:cNvSpPr/>
            <p:nvPr/>
          </p:nvSpPr>
          <p:spPr>
            <a:xfrm>
              <a:off x="4429124"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经理名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9" name="椭圆 18"/>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20" name="椭圆 19"/>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21" name="椭圆 20"/>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地址</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cxnSp>
          <p:nvCxnSpPr>
            <p:cNvPr id="22" name="直接连接符 21"/>
            <p:cNvCxnSpPr>
              <a:stCxn id="17" idx="5"/>
            </p:cNvCxnSpPr>
            <p:nvPr/>
          </p:nvCxnSpPr>
          <p:spPr>
            <a:xfrm rot="16200000" flipH="1">
              <a:off x="3746495" y="2176453"/>
              <a:ext cx="412753" cy="361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8"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94214" idx="2"/>
            </p:cNvCxnSpPr>
            <p:nvPr/>
          </p:nvCxnSpPr>
          <p:spPr>
            <a:xfrm rot="5400000">
              <a:off x="3557421" y="4571530"/>
              <a:ext cx="419103" cy="11223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21" idx="0"/>
            </p:cNvCxnSpPr>
            <p:nvPr/>
          </p:nvCxnSpPr>
          <p:spPr>
            <a:xfrm>
              <a:off x="4857752" y="4929198"/>
              <a:ext cx="893768"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0" idx="0"/>
            </p:cNvCxnSpPr>
            <p:nvPr/>
          </p:nvCxnSpPr>
          <p:spPr>
            <a:xfrm rot="16200000" flipH="1">
              <a:off x="4196554" y="5090330"/>
              <a:ext cx="428628" cy="106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flipV="1">
              <a:off x="4945065" y="3608389"/>
              <a:ext cx="587379" cy="95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椭圆 27"/>
          <p:cNvSpPr/>
          <p:nvPr/>
        </p:nvSpPr>
        <p:spPr bwMode="auto">
          <a:xfrm>
            <a:off x="7032625" y="3287713"/>
            <a:ext cx="1071563" cy="428625"/>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任职时间</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内容占位符 2"/>
          <p:cNvSpPr>
            <a:spLocks noGrp="1"/>
          </p:cNvSpPr>
          <p:nvPr>
            <p:ph idx="1"/>
          </p:nvPr>
        </p:nvSpPr>
        <p:spPr>
          <a:xfrm>
            <a:off x="908685" y="1025525"/>
            <a:ext cx="10618470" cy="5643880"/>
          </a:xfrm>
        </p:spPr>
        <p:txBody>
          <a:bodyPr vert="horz" wrap="square" lIns="91440" tIns="45720" rIns="91440" bIns="45720" anchor="t" anchorCtr="0"/>
          <a:lstStyle/>
          <a:p>
            <a:r>
              <a:rPr lang="zh-CN" altLang="en-US" b="1" dirty="0"/>
              <a:t>一个</a:t>
            </a:r>
            <a:r>
              <a:rPr lang="en-US" altLang="zh-CN" b="1" dirty="0"/>
              <a:t>1:n</a:t>
            </a:r>
            <a:r>
              <a:rPr lang="zh-CN" altLang="en-US" b="1" dirty="0"/>
              <a:t>联系可以转换为一个独立的关系模式，也可以与</a:t>
            </a:r>
            <a:r>
              <a:rPr lang="en-US" altLang="zh-CN" b="1" dirty="0"/>
              <a:t>n</a:t>
            </a:r>
            <a:r>
              <a:rPr lang="zh-CN" altLang="en-US" b="1" dirty="0"/>
              <a:t>端对应的关系模式合并。 </a:t>
            </a:r>
            <a:endParaRPr lang="zh-CN" altLang="en-US" b="1" dirty="0"/>
          </a:p>
          <a:p>
            <a:pPr marL="0" indent="0">
              <a:buNone/>
            </a:pPr>
            <a:r>
              <a:rPr lang="en-US" altLang="zh-CN" sz="2400" dirty="0" smtClean="0"/>
              <a:t>	</a:t>
            </a:r>
            <a:r>
              <a:rPr lang="zh-CN" altLang="en-US" sz="2400" dirty="0" smtClean="0"/>
              <a:t>①</a:t>
            </a:r>
            <a:r>
              <a:rPr lang="zh-CN" altLang="en-US" sz="2400" dirty="0"/>
              <a:t>转换为一个独立的关系模式 </a:t>
            </a:r>
            <a:endParaRPr lang="zh-CN" altLang="en-US" sz="2400" dirty="0"/>
          </a:p>
          <a:p>
            <a:r>
              <a:rPr lang="zh-CN" altLang="en-US" sz="2400" dirty="0"/>
              <a:t>关系的属性：与该联系相连的各实体的码以及联系本身的属性 </a:t>
            </a:r>
            <a:endParaRPr lang="zh-CN" altLang="en-US" sz="2400" dirty="0"/>
          </a:p>
          <a:p>
            <a:r>
              <a:rPr lang="zh-CN" altLang="en-US" sz="2400" dirty="0"/>
              <a:t>关系的码：</a:t>
            </a:r>
            <a:r>
              <a:rPr lang="en-US" altLang="zh-CN" sz="2400" b="1" dirty="0">
                <a:solidFill>
                  <a:srgbClr val="0000FF"/>
                </a:solidFill>
              </a:rPr>
              <a:t>n</a:t>
            </a:r>
            <a:r>
              <a:rPr lang="zh-CN" altLang="en-US" sz="2400" b="1" dirty="0">
                <a:solidFill>
                  <a:srgbClr val="0000FF"/>
                </a:solidFill>
              </a:rPr>
              <a:t>端实体的码 </a:t>
            </a:r>
            <a:endParaRPr lang="zh-CN" altLang="en-US" sz="2400" b="1" dirty="0">
              <a:solidFill>
                <a:srgbClr val="0000FF"/>
              </a:solidFill>
            </a:endParaRPr>
          </a:p>
          <a:p>
            <a:pPr marL="0" indent="0">
              <a:buNone/>
            </a:pPr>
            <a:r>
              <a:rPr lang="en-US" altLang="zh-CN" sz="2400" dirty="0" smtClean="0"/>
              <a:t>	</a:t>
            </a:r>
            <a:r>
              <a:rPr lang="zh-CN" altLang="en-US" sz="2400" dirty="0" smtClean="0"/>
              <a:t>②</a:t>
            </a:r>
            <a:r>
              <a:rPr lang="zh-CN" altLang="en-US" sz="2400" dirty="0"/>
              <a:t>与</a:t>
            </a:r>
            <a:r>
              <a:rPr lang="en-US" altLang="zh-CN" sz="2400" b="1" dirty="0"/>
              <a:t>n</a:t>
            </a:r>
            <a:r>
              <a:rPr lang="zh-CN" altLang="en-US" sz="2400" b="1" dirty="0"/>
              <a:t>端对应的关系模式合并 </a:t>
            </a:r>
            <a:endParaRPr lang="zh-CN" altLang="en-US" sz="2400" b="1" dirty="0"/>
          </a:p>
          <a:p>
            <a:r>
              <a:rPr lang="zh-CN" altLang="en-US" sz="2400" dirty="0"/>
              <a:t>合并后关系的属性：在</a:t>
            </a:r>
            <a:r>
              <a:rPr lang="en-US" altLang="zh-CN" sz="2400" b="1" dirty="0"/>
              <a:t>n</a:t>
            </a:r>
            <a:r>
              <a:rPr lang="zh-CN" altLang="en-US" sz="2400" b="1" dirty="0"/>
              <a:t>端关系中加入</a:t>
            </a:r>
            <a:r>
              <a:rPr lang="en-US" altLang="zh-CN" sz="2400" b="1" dirty="0"/>
              <a:t>1</a:t>
            </a:r>
            <a:r>
              <a:rPr lang="zh-CN" altLang="en-US" sz="2400" b="1" dirty="0"/>
              <a:t>端关系的码和联系本身的属性 </a:t>
            </a:r>
            <a:endParaRPr lang="zh-CN" altLang="en-US" sz="2400" b="1" dirty="0"/>
          </a:p>
          <a:p>
            <a:r>
              <a:rPr lang="zh-CN" altLang="en-US" sz="2400" dirty="0"/>
              <a:t>合并后关系的码：不变 </a:t>
            </a:r>
            <a:endParaRPr lang="zh-CN" altLang="en-US" sz="2400" dirty="0"/>
          </a:p>
          <a:p>
            <a:r>
              <a:rPr lang="zh-CN" altLang="en-US" sz="2400" dirty="0"/>
              <a:t>可以减少系统中的关系个数，一般情况下更倾向于采用这种方法 </a:t>
            </a:r>
            <a:endParaRPr lang="zh-CN" altLang="en-US" sz="2400" dirty="0"/>
          </a:p>
        </p:txBody>
      </p:sp>
      <p:sp>
        <p:nvSpPr>
          <p:cNvPr id="3" name="标题 1"/>
          <p:cNvSpPr>
            <a:spLocks noGrp="1"/>
          </p:cNvSpPr>
          <p:nvPr>
            <p:ph type="title"/>
          </p:nvPr>
        </p:nvSpPr>
        <p:spPr>
          <a:xfrm>
            <a:off x="695325" y="214313"/>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2</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1:n</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的联系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advClick="0"/>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p:cNvSpPr>
          <p:nvPr>
            <p:ph type="title"/>
          </p:nvPr>
        </p:nvSpPr>
        <p:spPr/>
        <p:txBody>
          <a:bodyPr vert="horz" wrap="square" lIns="91440" tIns="45720" rIns="91440" bIns="45720" anchor="b" anchorCtr="0"/>
          <a:lstStyle/>
          <a:p>
            <a:r>
              <a:rPr lang="zh-CN" altLang="en-US" dirty="0"/>
              <a:t>例题：</a:t>
            </a:r>
            <a:endParaRPr lang="zh-CN" altLang="en-US" dirty="0"/>
          </a:p>
        </p:txBody>
      </p:sp>
      <p:sp>
        <p:nvSpPr>
          <p:cNvPr id="87043" name="TextBox 15"/>
          <p:cNvSpPr txBox="1"/>
          <p:nvPr/>
        </p:nvSpPr>
        <p:spPr>
          <a:xfrm>
            <a:off x="5006975" y="1556385"/>
            <a:ext cx="6939280" cy="3415030"/>
          </a:xfrm>
          <a:prstGeom prst="rect">
            <a:avLst/>
          </a:prstGeom>
          <a:noFill/>
          <a:ln w="9525">
            <a:noFill/>
          </a:ln>
        </p:spPr>
        <p:txBody>
          <a:bodyPr wrap="square" anchor="t" anchorCtr="0">
            <a:spAutoFit/>
          </a:bodyPr>
          <a:lstStyle/>
          <a:p>
            <a:pPr eaLnBrk="0" hangingPunct="0"/>
            <a:r>
              <a:rPr lang="zh-CN" altLang="en-US" sz="2400" dirty="0">
                <a:latin typeface="Verdana" panose="020B0604030504040204" pitchFamily="34" charset="0"/>
                <a:ea typeface="宋体" panose="02010600030101010101" pitchFamily="2" charset="-122"/>
              </a:rPr>
              <a:t>方法</a:t>
            </a:r>
            <a:r>
              <a:rPr lang="en-US" altLang="zh-CN" sz="2400" dirty="0">
                <a:latin typeface="Verdana" panose="020B0604030504040204" pitchFamily="34" charset="0"/>
                <a:ea typeface="宋体" panose="02010600030101010101" pitchFamily="2" charset="-122"/>
              </a:rPr>
              <a:t>1</a:t>
            </a:r>
            <a:r>
              <a:rPr lang="zh-CN" altLang="en-US" sz="2400" dirty="0">
                <a:latin typeface="Verdana" panose="020B0604030504040204" pitchFamily="34" charset="0"/>
                <a:ea typeface="宋体" panose="02010600030101010101" pitchFamily="2" charset="-122"/>
              </a:rPr>
              <a:t>：转成三个表</a:t>
            </a:r>
            <a:endParaRPr lang="en-US" altLang="zh-CN" sz="2400"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班级（</a:t>
            </a:r>
            <a:r>
              <a:rPr lang="zh-CN" altLang="en-US" sz="2400" b="1" u="sng" dirty="0">
                <a:latin typeface="Verdana" panose="020B0604030504040204" pitchFamily="34" charset="0"/>
                <a:ea typeface="宋体" panose="02010600030101010101" pitchFamily="2" charset="-122"/>
              </a:rPr>
              <a:t>班级号</a:t>
            </a:r>
            <a:r>
              <a:rPr lang="zh-CN" altLang="en-US" sz="2400" b="1" dirty="0">
                <a:latin typeface="Verdana" panose="020B0604030504040204" pitchFamily="34" charset="0"/>
                <a:ea typeface="宋体" panose="02010600030101010101" pitchFamily="2" charset="-122"/>
              </a:rPr>
              <a:t>，班级名称，</a:t>
            </a:r>
            <a:r>
              <a:rPr lang="en-US" altLang="zh-CN" sz="2400" b="1" dirty="0">
                <a:latin typeface="Verdana" panose="020B0604030504040204" pitchFamily="34"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a:t>
            </a:r>
            <a:endParaRPr lang="en-US" altLang="zh-CN" sz="2400" b="1"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学生（</a:t>
            </a:r>
            <a:r>
              <a:rPr lang="zh-CN" altLang="en-US" sz="2400" b="1" u="sng" dirty="0">
                <a:latin typeface="Verdana" panose="020B0604030504040204" pitchFamily="34" charset="0"/>
                <a:ea typeface="宋体" panose="02010600030101010101" pitchFamily="2" charset="-122"/>
              </a:rPr>
              <a:t>学号</a:t>
            </a:r>
            <a:r>
              <a:rPr lang="zh-CN" altLang="en-US" sz="2400" b="1" dirty="0">
                <a:latin typeface="Verdana" panose="020B0604030504040204" pitchFamily="34" charset="0"/>
                <a:ea typeface="宋体" panose="02010600030101010101" pitchFamily="2" charset="-122"/>
              </a:rPr>
              <a:t>，姓名，性别，</a:t>
            </a:r>
            <a:r>
              <a:rPr lang="en-US" altLang="zh-CN" sz="2400" b="1" dirty="0">
                <a:latin typeface="Verdana" panose="020B0604030504040204" pitchFamily="34"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a:t>
            </a:r>
            <a:endParaRPr lang="en-US" altLang="zh-CN" sz="2400" b="1"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学生</a:t>
            </a:r>
            <a:r>
              <a:rPr lang="en-US" altLang="zh-CN" sz="2400" b="1" dirty="0">
                <a:latin typeface="Verdana" panose="020B0604030504040204" pitchFamily="34" charset="0"/>
                <a:ea typeface="宋体" panose="02010600030101010101" pitchFamily="2" charset="-122"/>
              </a:rPr>
              <a:t>-</a:t>
            </a:r>
            <a:r>
              <a:rPr lang="zh-CN" altLang="en-US" sz="2400" b="1" dirty="0">
                <a:latin typeface="Verdana" panose="020B0604030504040204" pitchFamily="34" charset="0"/>
                <a:ea typeface="宋体" panose="02010600030101010101" pitchFamily="2" charset="-122"/>
              </a:rPr>
              <a:t>班级（</a:t>
            </a:r>
            <a:r>
              <a:rPr lang="zh-CN" altLang="en-US" sz="2400" b="1" u="sng" dirty="0">
                <a:solidFill>
                  <a:srgbClr val="FF0000"/>
                </a:solidFill>
                <a:latin typeface="Verdana" panose="020B0604030504040204" pitchFamily="34" charset="0"/>
                <a:ea typeface="宋体" panose="02010600030101010101" pitchFamily="2" charset="-122"/>
              </a:rPr>
              <a:t>学号</a:t>
            </a:r>
            <a:r>
              <a:rPr lang="zh-CN" altLang="en-US" sz="2400" b="1" dirty="0">
                <a:latin typeface="Verdana" panose="020B0604030504040204" pitchFamily="34" charset="0"/>
                <a:ea typeface="宋体" panose="02010600030101010101" pitchFamily="2" charset="-122"/>
              </a:rPr>
              <a:t>，班级号，加入时间）</a:t>
            </a:r>
            <a:endParaRPr lang="en-US" altLang="zh-CN" sz="2400" b="1" dirty="0">
              <a:latin typeface="Verdana" panose="020B0604030504040204" pitchFamily="34" charset="0"/>
              <a:ea typeface="宋体" panose="02010600030101010101" pitchFamily="2" charset="-122"/>
            </a:endParaRPr>
          </a:p>
          <a:p>
            <a:pPr eaLnBrk="0" hangingPunct="0"/>
            <a:endParaRPr lang="en-US" altLang="zh-CN" sz="2400" b="1" dirty="0">
              <a:latin typeface="Verdana" panose="020B0604030504040204" pitchFamily="34" charset="0"/>
              <a:ea typeface="宋体" panose="02010600030101010101" pitchFamily="2" charset="-122"/>
            </a:endParaRPr>
          </a:p>
          <a:p>
            <a:pPr eaLnBrk="0" hangingPunct="0"/>
            <a:r>
              <a:rPr lang="zh-CN" altLang="en-US" sz="2400" dirty="0">
                <a:latin typeface="Verdana" panose="020B0604030504040204" pitchFamily="34" charset="0"/>
                <a:ea typeface="宋体" panose="02010600030101010101" pitchFamily="2" charset="-122"/>
              </a:rPr>
              <a:t>方法</a:t>
            </a:r>
            <a:r>
              <a:rPr lang="en-US" altLang="zh-CN" sz="2400" dirty="0">
                <a:latin typeface="Verdana" panose="020B0604030504040204" pitchFamily="34" charset="0"/>
                <a:ea typeface="宋体" panose="02010600030101010101" pitchFamily="2" charset="-122"/>
              </a:rPr>
              <a:t>2</a:t>
            </a:r>
            <a:r>
              <a:rPr lang="zh-CN" altLang="en-US" sz="2400" dirty="0">
                <a:latin typeface="Verdana" panose="020B0604030504040204" pitchFamily="34" charset="0"/>
                <a:ea typeface="宋体" panose="02010600030101010101" pitchFamily="2" charset="-122"/>
              </a:rPr>
              <a:t>：转成两个表</a:t>
            </a:r>
            <a:endParaRPr lang="en-US" altLang="zh-CN" sz="2400"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班级（</a:t>
            </a:r>
            <a:r>
              <a:rPr lang="zh-CN" altLang="en-US" sz="2400" b="1" u="sng" dirty="0">
                <a:latin typeface="Verdana" panose="020B0604030504040204" pitchFamily="34" charset="0"/>
                <a:ea typeface="宋体" panose="02010600030101010101" pitchFamily="2" charset="-122"/>
              </a:rPr>
              <a:t>班级号</a:t>
            </a:r>
            <a:r>
              <a:rPr lang="zh-CN" altLang="en-US" sz="2400" b="1" dirty="0">
                <a:latin typeface="Verdana" panose="020B0604030504040204" pitchFamily="34" charset="0"/>
                <a:ea typeface="宋体" panose="02010600030101010101" pitchFamily="2" charset="-122"/>
              </a:rPr>
              <a:t>，班级名称，</a:t>
            </a:r>
            <a:r>
              <a:rPr lang="en-US" altLang="zh-CN" sz="2400" b="1" dirty="0">
                <a:latin typeface="Verdana" panose="020B0604030504040204" pitchFamily="34" charset="0"/>
                <a:ea typeface="宋体" panose="02010600030101010101" pitchFamily="2" charset="-122"/>
              </a:rPr>
              <a:t>… </a:t>
            </a:r>
            <a:r>
              <a:rPr lang="zh-CN" altLang="en-US" sz="2400" b="1" dirty="0">
                <a:latin typeface="Verdana" panose="020B0604030504040204" pitchFamily="34" charset="0"/>
                <a:ea typeface="宋体" panose="02010600030101010101" pitchFamily="2" charset="-122"/>
              </a:rPr>
              <a:t>）</a:t>
            </a:r>
            <a:endParaRPr lang="en-US" altLang="zh-CN" sz="2400" b="1" dirty="0">
              <a:latin typeface="Verdana" panose="020B0604030504040204" pitchFamily="34" charset="0"/>
              <a:ea typeface="宋体" panose="02010600030101010101" pitchFamily="2" charset="-122"/>
            </a:endParaRPr>
          </a:p>
          <a:p>
            <a:pPr eaLnBrk="0" hangingPunct="0"/>
            <a:r>
              <a:rPr lang="zh-CN" altLang="en-US" sz="2400" b="1" dirty="0">
                <a:latin typeface="Verdana" panose="020B0604030504040204" pitchFamily="34" charset="0"/>
                <a:ea typeface="宋体" panose="02010600030101010101" pitchFamily="2" charset="-122"/>
              </a:rPr>
              <a:t>学生（</a:t>
            </a:r>
            <a:r>
              <a:rPr lang="zh-CN" altLang="en-US" sz="2400" b="1" u="sng" dirty="0">
                <a:latin typeface="Verdana" panose="020B0604030504040204" pitchFamily="34" charset="0"/>
                <a:ea typeface="宋体" panose="02010600030101010101" pitchFamily="2" charset="-122"/>
              </a:rPr>
              <a:t>学号</a:t>
            </a:r>
            <a:r>
              <a:rPr lang="zh-CN" altLang="en-US" sz="2400" b="1" dirty="0">
                <a:latin typeface="Verdana" panose="020B0604030504040204" pitchFamily="34" charset="0"/>
                <a:ea typeface="宋体" panose="02010600030101010101" pitchFamily="2" charset="-122"/>
              </a:rPr>
              <a:t>，</a:t>
            </a:r>
            <a:r>
              <a:rPr lang="zh-CN" altLang="en-US" sz="2400" b="1" dirty="0">
                <a:solidFill>
                  <a:srgbClr val="FF0000"/>
                </a:solidFill>
                <a:latin typeface="Verdana" panose="020B0604030504040204" pitchFamily="34" charset="0"/>
                <a:ea typeface="宋体" panose="02010600030101010101" pitchFamily="2" charset="-122"/>
              </a:rPr>
              <a:t>班级号</a:t>
            </a:r>
            <a:r>
              <a:rPr lang="zh-CN" altLang="en-US" sz="2400" b="1" dirty="0">
                <a:latin typeface="Verdana" panose="020B0604030504040204" pitchFamily="34" charset="0"/>
                <a:ea typeface="宋体" panose="02010600030101010101" pitchFamily="2" charset="-122"/>
              </a:rPr>
              <a:t>，</a:t>
            </a:r>
            <a:r>
              <a:rPr lang="zh-CN" altLang="en-US" sz="2400" b="1" dirty="0">
                <a:solidFill>
                  <a:srgbClr val="FF0000"/>
                </a:solidFill>
                <a:latin typeface="Verdana" panose="020B0604030504040204" pitchFamily="34" charset="0"/>
                <a:ea typeface="宋体" panose="02010600030101010101" pitchFamily="2" charset="-122"/>
              </a:rPr>
              <a:t>加入时间</a:t>
            </a:r>
            <a:r>
              <a:rPr lang="zh-CN" altLang="en-US" sz="2400" b="1" dirty="0">
                <a:latin typeface="Verdana" panose="020B0604030504040204" pitchFamily="34" charset="0"/>
                <a:ea typeface="宋体" panose="02010600030101010101" pitchFamily="2" charset="-122"/>
              </a:rPr>
              <a:t>，姓名，性别，</a:t>
            </a:r>
            <a:r>
              <a:rPr lang="en-US" altLang="zh-CN" sz="2400" b="1" dirty="0">
                <a:latin typeface="Verdana" panose="020B0604030504040204" pitchFamily="34" charset="0"/>
                <a:ea typeface="宋体" panose="02010600030101010101" pitchFamily="2" charset="-122"/>
              </a:rPr>
              <a:t>…. </a:t>
            </a:r>
            <a:r>
              <a:rPr lang="zh-CN" altLang="en-US" sz="2400" b="1" dirty="0">
                <a:latin typeface="Verdana" panose="020B0604030504040204" pitchFamily="34" charset="0"/>
                <a:ea typeface="宋体" panose="02010600030101010101" pitchFamily="2" charset="-122"/>
              </a:rPr>
              <a:t>）</a:t>
            </a:r>
            <a:endParaRPr lang="zh-CN" altLang="en-US" sz="2400" b="1" dirty="0">
              <a:latin typeface="Verdana" panose="020B0604030504040204" pitchFamily="34" charset="0"/>
              <a:ea typeface="宋体" panose="02010600030101010101" pitchFamily="2" charset="-122"/>
            </a:endParaRPr>
          </a:p>
        </p:txBody>
      </p:sp>
      <p:grpSp>
        <p:nvGrpSpPr>
          <p:cNvPr id="96259" name="组合 31"/>
          <p:cNvGrpSpPr/>
          <p:nvPr/>
        </p:nvGrpSpPr>
        <p:grpSpPr>
          <a:xfrm>
            <a:off x="469265" y="1516063"/>
            <a:ext cx="3786188" cy="4000500"/>
            <a:chOff x="2500298" y="1785926"/>
            <a:chExt cx="3786214" cy="4000528"/>
          </a:xfrm>
        </p:grpSpPr>
        <p:grpSp>
          <p:nvGrpSpPr>
            <p:cNvPr id="96260" name="Group 5"/>
            <p:cNvGrpSpPr/>
            <p:nvPr/>
          </p:nvGrpSpPr>
          <p:grpSpPr>
            <a:xfrm>
              <a:off x="3643306" y="2571744"/>
              <a:ext cx="1368425" cy="2841076"/>
              <a:chOff x="1056" y="1344"/>
              <a:chExt cx="1008" cy="2736"/>
            </a:xfrm>
          </p:grpSpPr>
          <p:sp>
            <p:nvSpPr>
              <p:cNvPr id="96261"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班级</a:t>
                </a:r>
                <a:endParaRPr lang="zh-CN" altLang="en-US" sz="2400" dirty="0">
                  <a:latin typeface="Times New Roman" panose="02020603050405020304" pitchFamily="18" charset="0"/>
                  <a:ea typeface="楷体_GB2312" pitchFamily="49" charset="-122"/>
                </a:endParaRPr>
              </a:p>
            </p:txBody>
          </p:sp>
          <p:sp>
            <p:nvSpPr>
              <p:cNvPr id="96262"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班级</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学生</a:t>
                </a:r>
                <a:endParaRPr lang="zh-CN" altLang="en-US" sz="2000" dirty="0">
                  <a:latin typeface="楷体_GB2312" pitchFamily="49" charset="-122"/>
                  <a:ea typeface="楷体_GB2312" pitchFamily="49" charset="-122"/>
                </a:endParaRPr>
              </a:p>
            </p:txBody>
          </p:sp>
          <p:sp>
            <p:nvSpPr>
              <p:cNvPr id="96263"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学生</a:t>
                </a:r>
                <a:endParaRPr lang="zh-CN" altLang="en-US" sz="2400" dirty="0">
                  <a:latin typeface="Times New Roman" panose="02020603050405020304" pitchFamily="18" charset="0"/>
                  <a:ea typeface="楷体_GB2312" pitchFamily="49" charset="-122"/>
                </a:endParaRPr>
              </a:p>
            </p:txBody>
          </p:sp>
          <p:sp>
            <p:nvSpPr>
              <p:cNvPr id="96264"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6265"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6266"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6267"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sp>
            <p:nvSpPr>
              <p:cNvPr id="96268"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15" name="椭圆 14"/>
            <p:cNvSpPr/>
            <p:nvPr/>
          </p:nvSpPr>
          <p:spPr>
            <a:xfrm>
              <a:off x="2857488"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班号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6" name="椭圆 15"/>
            <p:cNvSpPr/>
            <p:nvPr/>
          </p:nvSpPr>
          <p:spPr>
            <a:xfrm>
              <a:off x="4429124" y="1785926"/>
              <a:ext cx="1071569"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班名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7" name="椭圆 16"/>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学号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8" name="椭圆 17"/>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9" name="椭圆 18"/>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性别</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cxnSp>
          <p:nvCxnSpPr>
            <p:cNvPr id="20" name="直接连接符 19"/>
            <p:cNvCxnSpPr>
              <a:stCxn id="15" idx="5"/>
            </p:cNvCxnSpPr>
            <p:nvPr/>
          </p:nvCxnSpPr>
          <p:spPr>
            <a:xfrm rot="16200000" flipH="1">
              <a:off x="3746495" y="2176453"/>
              <a:ext cx="412753" cy="361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96263" idx="2"/>
            </p:cNvCxnSpPr>
            <p:nvPr/>
          </p:nvCxnSpPr>
          <p:spPr>
            <a:xfrm rot="5400000">
              <a:off x="3557421" y="4571530"/>
              <a:ext cx="419103" cy="11223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9" idx="0"/>
            </p:cNvCxnSpPr>
            <p:nvPr/>
          </p:nvCxnSpPr>
          <p:spPr>
            <a:xfrm>
              <a:off x="4857752" y="4929198"/>
              <a:ext cx="893768"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8" idx="0"/>
            </p:cNvCxnSpPr>
            <p:nvPr/>
          </p:nvCxnSpPr>
          <p:spPr>
            <a:xfrm rot="16200000" flipH="1">
              <a:off x="4196554" y="5090330"/>
              <a:ext cx="428628" cy="106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4921253" y="3633789"/>
              <a:ext cx="506415" cy="14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椭圆 25"/>
          <p:cNvSpPr/>
          <p:nvPr/>
        </p:nvSpPr>
        <p:spPr bwMode="auto">
          <a:xfrm>
            <a:off x="3291840" y="3144838"/>
            <a:ext cx="1071563" cy="428625"/>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加入时间</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additive="base">
                                        <p:cTn id="7" dur="500" fill="hold"/>
                                        <p:tgtEl>
                                          <p:spTgt spid="87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0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7043">
                                            <p:txEl>
                                              <p:pRg st="1" end="1"/>
                                            </p:txEl>
                                          </p:spTgt>
                                        </p:tgtEl>
                                        <p:attrNameLst>
                                          <p:attrName>style.visibility</p:attrName>
                                        </p:attrNameLst>
                                      </p:cBhvr>
                                      <p:to>
                                        <p:strVal val="visible"/>
                                      </p:to>
                                    </p:set>
                                    <p:anim calcmode="lin" valueType="num">
                                      <p:cBhvr additive="base">
                                        <p:cTn id="13" dur="500" fill="hold"/>
                                        <p:tgtEl>
                                          <p:spTgt spid="870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7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7043">
                                            <p:txEl>
                                              <p:pRg st="2" end="2"/>
                                            </p:txEl>
                                          </p:spTgt>
                                        </p:tgtEl>
                                        <p:attrNameLst>
                                          <p:attrName>style.visibility</p:attrName>
                                        </p:attrNameLst>
                                      </p:cBhvr>
                                      <p:to>
                                        <p:strVal val="visible"/>
                                      </p:to>
                                    </p:set>
                                    <p:anim calcmode="lin" valueType="num">
                                      <p:cBhvr additive="base">
                                        <p:cTn id="19" dur="500" fill="hold"/>
                                        <p:tgtEl>
                                          <p:spTgt spid="870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70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7043">
                                            <p:txEl>
                                              <p:pRg st="3" end="3"/>
                                            </p:txEl>
                                          </p:spTgt>
                                        </p:tgtEl>
                                        <p:attrNameLst>
                                          <p:attrName>style.visibility</p:attrName>
                                        </p:attrNameLst>
                                      </p:cBhvr>
                                      <p:to>
                                        <p:strVal val="visible"/>
                                      </p:to>
                                    </p:set>
                                    <p:anim calcmode="lin" valueType="num">
                                      <p:cBhvr additive="base">
                                        <p:cTn id="25" dur="500" fill="hold"/>
                                        <p:tgtEl>
                                          <p:spTgt spid="870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70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7043">
                                            <p:txEl>
                                              <p:pRg st="5" end="5"/>
                                            </p:txEl>
                                          </p:spTgt>
                                        </p:tgtEl>
                                        <p:attrNameLst>
                                          <p:attrName>style.visibility</p:attrName>
                                        </p:attrNameLst>
                                      </p:cBhvr>
                                      <p:to>
                                        <p:strVal val="visible"/>
                                      </p:to>
                                    </p:set>
                                    <p:anim calcmode="lin" valueType="num">
                                      <p:cBhvr additive="base">
                                        <p:cTn id="31" dur="500" fill="hold"/>
                                        <p:tgtEl>
                                          <p:spTgt spid="8704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70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7043">
                                            <p:txEl>
                                              <p:pRg st="6" end="6"/>
                                            </p:txEl>
                                          </p:spTgt>
                                        </p:tgtEl>
                                        <p:attrNameLst>
                                          <p:attrName>style.visibility</p:attrName>
                                        </p:attrNameLst>
                                      </p:cBhvr>
                                      <p:to>
                                        <p:strVal val="visible"/>
                                      </p:to>
                                    </p:set>
                                    <p:anim calcmode="lin" valueType="num">
                                      <p:cBhvr additive="base">
                                        <p:cTn id="37" dur="500" fill="hold"/>
                                        <p:tgtEl>
                                          <p:spTgt spid="8704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70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7043">
                                            <p:txEl>
                                              <p:pRg st="7" end="7"/>
                                            </p:txEl>
                                          </p:spTgt>
                                        </p:tgtEl>
                                        <p:attrNameLst>
                                          <p:attrName>style.visibility</p:attrName>
                                        </p:attrNameLst>
                                      </p:cBhvr>
                                      <p:to>
                                        <p:strVal val="visible"/>
                                      </p:to>
                                    </p:set>
                                    <p:anim calcmode="lin" valueType="num">
                                      <p:cBhvr additive="base">
                                        <p:cTn id="43" dur="500" fill="hold"/>
                                        <p:tgtEl>
                                          <p:spTgt spid="8704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704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p:cNvSpPr>
          <p:nvPr>
            <p:ph type="title"/>
          </p:nvPr>
        </p:nvSpPr>
        <p:spPr/>
        <p:txBody>
          <a:bodyPr vert="horz" wrap="square" lIns="91440" tIns="45720" rIns="91440" bIns="45720" anchor="b" anchorCtr="0"/>
          <a:lstStyle/>
          <a:p>
            <a:r>
              <a:rPr lang="zh-CN" altLang="en-US" dirty="0"/>
              <a:t>提问：</a:t>
            </a:r>
            <a:endParaRPr lang="zh-CN" altLang="en-US" dirty="0"/>
          </a:p>
        </p:txBody>
      </p:sp>
      <p:sp>
        <p:nvSpPr>
          <p:cNvPr id="97282" name="内容占位符 2"/>
          <p:cNvSpPr>
            <a:spLocks noGrp="1"/>
          </p:cNvSpPr>
          <p:nvPr>
            <p:ph idx="1"/>
          </p:nvPr>
        </p:nvSpPr>
        <p:spPr>
          <a:xfrm>
            <a:off x="656590" y="1143000"/>
            <a:ext cx="4375150" cy="4876800"/>
          </a:xfrm>
        </p:spPr>
        <p:txBody>
          <a:bodyPr vert="horz" wrap="square" lIns="91440" tIns="45720" rIns="91440" bIns="45720" anchor="t" anchorCtr="0"/>
          <a:lstStyle/>
          <a:p>
            <a:r>
              <a:rPr lang="zh-CN" altLang="en-US" sz="2800" dirty="0"/>
              <a:t>商家（外卖）</a:t>
            </a:r>
            <a:endParaRPr lang="en-US" altLang="zh-CN" sz="2800" dirty="0"/>
          </a:p>
          <a:p>
            <a:r>
              <a:rPr lang="zh-CN" altLang="en-US" sz="2800" dirty="0"/>
              <a:t>商品</a:t>
            </a:r>
            <a:endParaRPr lang="en-US" altLang="zh-CN" sz="2800" dirty="0"/>
          </a:p>
          <a:p>
            <a:r>
              <a:rPr lang="zh-CN" altLang="en-US" sz="2800" dirty="0"/>
              <a:t>月销售量</a:t>
            </a:r>
            <a:endParaRPr lang="en-US" altLang="zh-CN" sz="2800" dirty="0"/>
          </a:p>
          <a:p>
            <a:endParaRPr lang="en-US" altLang="zh-CN" sz="2800" dirty="0"/>
          </a:p>
          <a:p>
            <a:r>
              <a:rPr lang="zh-CN" altLang="en-US" sz="2800" dirty="0"/>
              <a:t>队员</a:t>
            </a:r>
            <a:endParaRPr lang="en-US" altLang="zh-CN" sz="2800" dirty="0"/>
          </a:p>
          <a:p>
            <a:r>
              <a:rPr lang="zh-CN" altLang="en-US" sz="2800" dirty="0"/>
              <a:t>战队</a:t>
            </a:r>
            <a:endParaRPr lang="en-US" altLang="zh-CN" sz="2800" dirty="0"/>
          </a:p>
          <a:p>
            <a:r>
              <a:rPr lang="zh-CN" altLang="en-US" sz="2800" dirty="0"/>
              <a:t>参加时间</a:t>
            </a:r>
            <a:endParaRPr lang="en-US" altLang="zh-CN" sz="2800" dirty="0"/>
          </a:p>
          <a:p>
            <a:endParaRPr lang="en-US" altLang="zh-CN" sz="2800" dirty="0"/>
          </a:p>
          <a:p>
            <a:r>
              <a:rPr lang="zh-CN" altLang="en-US" sz="2800" dirty="0"/>
              <a:t>导游</a:t>
            </a:r>
            <a:endParaRPr lang="en-US" altLang="zh-CN" sz="2800" dirty="0"/>
          </a:p>
          <a:p>
            <a:r>
              <a:rPr lang="zh-CN" altLang="en-US" sz="2800" dirty="0"/>
              <a:t>旅游团</a:t>
            </a:r>
            <a:endParaRPr lang="en-US" altLang="zh-CN" sz="2800" dirty="0"/>
          </a:p>
        </p:txBody>
      </p:sp>
      <p:grpSp>
        <p:nvGrpSpPr>
          <p:cNvPr id="97283" name="组合 31"/>
          <p:cNvGrpSpPr/>
          <p:nvPr/>
        </p:nvGrpSpPr>
        <p:grpSpPr>
          <a:xfrm>
            <a:off x="4667250" y="1745956"/>
            <a:ext cx="3606800" cy="3984625"/>
            <a:chOff x="2782267" y="1785926"/>
            <a:chExt cx="3606489" cy="3985117"/>
          </a:xfrm>
        </p:grpSpPr>
        <p:grpSp>
          <p:nvGrpSpPr>
            <p:cNvPr id="97284" name="Group 5"/>
            <p:cNvGrpSpPr/>
            <p:nvPr/>
          </p:nvGrpSpPr>
          <p:grpSpPr>
            <a:xfrm>
              <a:off x="3641949" y="2571744"/>
              <a:ext cx="1369783" cy="2841076"/>
              <a:chOff x="1055" y="1344"/>
              <a:chExt cx="1009" cy="2736"/>
            </a:xfrm>
          </p:grpSpPr>
          <p:sp>
            <p:nvSpPr>
              <p:cNvPr id="97285"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队员</a:t>
                </a:r>
                <a:endParaRPr lang="zh-CN" altLang="en-US" sz="2400" dirty="0">
                  <a:latin typeface="Times New Roman" panose="02020603050405020304" pitchFamily="18" charset="0"/>
                  <a:ea typeface="楷体_GB2312" pitchFamily="49" charset="-122"/>
                </a:endParaRPr>
              </a:p>
            </p:txBody>
          </p:sp>
          <p:sp>
            <p:nvSpPr>
              <p:cNvPr id="97286"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战队</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队员</a:t>
                </a:r>
                <a:endParaRPr lang="zh-CN" altLang="en-US" sz="2000" dirty="0">
                  <a:latin typeface="楷体_GB2312" pitchFamily="49" charset="-122"/>
                  <a:ea typeface="楷体_GB2312" pitchFamily="49" charset="-122"/>
                </a:endParaRPr>
              </a:p>
            </p:txBody>
          </p:sp>
          <p:sp>
            <p:nvSpPr>
              <p:cNvPr id="97287"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战队</a:t>
                </a:r>
                <a:endParaRPr lang="zh-CN" altLang="en-US" sz="2400" dirty="0">
                  <a:latin typeface="Times New Roman" panose="02020603050405020304" pitchFamily="18" charset="0"/>
                  <a:ea typeface="楷体_GB2312" pitchFamily="49" charset="-122"/>
                </a:endParaRPr>
              </a:p>
            </p:txBody>
          </p:sp>
          <p:sp>
            <p:nvSpPr>
              <p:cNvPr id="97288"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7289"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7290" name="Text Box 11"/>
              <p:cNvSpPr txBox="1"/>
              <p:nvPr/>
            </p:nvSpPr>
            <p:spPr>
              <a:xfrm>
                <a:off x="1162" y="268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97291" name="Text Box 12"/>
              <p:cNvSpPr txBox="1"/>
              <p:nvPr/>
            </p:nvSpPr>
            <p:spPr>
              <a:xfrm>
                <a:off x="1055" y="1730"/>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sp>
            <p:nvSpPr>
              <p:cNvPr id="97292"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6" name="椭圆 5"/>
            <p:cNvSpPr/>
            <p:nvPr/>
          </p:nvSpPr>
          <p:spPr>
            <a:xfrm>
              <a:off x="2856874" y="1785926"/>
              <a:ext cx="1071470"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编号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7" name="椭圆 6"/>
            <p:cNvSpPr/>
            <p:nvPr/>
          </p:nvSpPr>
          <p:spPr>
            <a:xfrm>
              <a:off x="4428363" y="1785926"/>
              <a:ext cx="1073057"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8" name="椭圆 7"/>
            <p:cNvSpPr/>
            <p:nvPr/>
          </p:nvSpPr>
          <p:spPr>
            <a:xfrm>
              <a:off x="2782267" y="5269331"/>
              <a:ext cx="1071471"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编号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9" name="椭圆 8"/>
            <p:cNvSpPr/>
            <p:nvPr/>
          </p:nvSpPr>
          <p:spPr>
            <a:xfrm>
              <a:off x="4571226" y="5342365"/>
              <a:ext cx="1073057" cy="42867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名称</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cxnSp>
          <p:nvCxnSpPr>
            <p:cNvPr id="11" name="直接连接符 10"/>
            <p:cNvCxnSpPr>
              <a:stCxn id="6" idx="5"/>
            </p:cNvCxnSpPr>
            <p:nvPr/>
          </p:nvCxnSpPr>
          <p:spPr>
            <a:xfrm rot="16200000" flipH="1">
              <a:off x="3745753" y="2176536"/>
              <a:ext cx="412801" cy="3619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7" idx="4"/>
            </p:cNvCxnSpPr>
            <p:nvPr/>
          </p:nvCxnSpPr>
          <p:spPr>
            <a:xfrm rot="5400000">
              <a:off x="4590236" y="2195593"/>
              <a:ext cx="357232" cy="3952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7287" idx="2"/>
            </p:cNvCxnSpPr>
            <p:nvPr/>
          </p:nvCxnSpPr>
          <p:spPr>
            <a:xfrm flipH="1">
              <a:off x="3571822" y="4923214"/>
              <a:ext cx="755585" cy="363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52193" y="3613365"/>
              <a:ext cx="896860" cy="111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9" idx="0"/>
            </p:cNvCxnSpPr>
            <p:nvPr/>
          </p:nvCxnSpPr>
          <p:spPr>
            <a:xfrm>
              <a:off x="4625196" y="4894635"/>
              <a:ext cx="482558" cy="4477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5309349" y="3418078"/>
              <a:ext cx="1079407" cy="576334"/>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加入时间</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grpSp>
    </p:spTree>
  </p:cSld>
  <p:clrMapOvr>
    <a:masterClrMapping/>
  </p:clrMapOvr>
  <p:transition advClick="0"/>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内容占位符 2"/>
          <p:cNvSpPr>
            <a:spLocks noGrp="1"/>
          </p:cNvSpPr>
          <p:nvPr>
            <p:ph idx="1"/>
          </p:nvPr>
        </p:nvSpPr>
        <p:spPr>
          <a:xfrm>
            <a:off x="503555" y="1028700"/>
            <a:ext cx="7260590" cy="5568950"/>
          </a:xfrm>
        </p:spPr>
        <p:txBody>
          <a:bodyPr vert="horz" wrap="square" lIns="91440" tIns="45720" rIns="91440" bIns="45720" anchor="t" anchorCtr="0"/>
          <a:lstStyle/>
          <a:p>
            <a:r>
              <a:rPr lang="zh-CN" altLang="en-US" b="1" dirty="0"/>
              <a:t>一个</a:t>
            </a:r>
            <a:r>
              <a:rPr lang="en-US" altLang="zh-CN" b="1" i="1" dirty="0"/>
              <a:t>m:n</a:t>
            </a:r>
            <a:r>
              <a:rPr lang="zh-CN" altLang="en-US" b="1" i="1" dirty="0"/>
              <a:t>联系转换为一个关系模式 </a:t>
            </a:r>
            <a:endParaRPr lang="zh-CN" altLang="en-US" b="1" i="1" dirty="0"/>
          </a:p>
          <a:p>
            <a:r>
              <a:rPr lang="zh-CN" altLang="en-US" dirty="0"/>
              <a:t>关系的属性：与该联系相连的各实体的码以及联系本身的属性 </a:t>
            </a:r>
            <a:endParaRPr lang="zh-CN" altLang="en-US" dirty="0"/>
          </a:p>
          <a:p>
            <a:r>
              <a:rPr lang="zh-CN" altLang="en-US" dirty="0"/>
              <a:t>关系的码：各实体码的组合 </a:t>
            </a:r>
            <a:endParaRPr lang="zh-CN" altLang="en-US" dirty="0"/>
          </a:p>
          <a:p>
            <a:r>
              <a:rPr lang="en-US" altLang="zh-CN" b="1" dirty="0"/>
              <a:t>[</a:t>
            </a:r>
            <a:r>
              <a:rPr lang="zh-CN" altLang="en-US" b="1" dirty="0"/>
              <a:t>例</a:t>
            </a:r>
            <a:r>
              <a:rPr lang="en-US" altLang="zh-CN" b="1" dirty="0"/>
              <a:t>]</a:t>
            </a:r>
            <a:r>
              <a:rPr lang="zh-CN" altLang="en-US" b="1" dirty="0"/>
              <a:t>“选修”联系是一个</a:t>
            </a:r>
            <a:r>
              <a:rPr lang="en-US" altLang="zh-CN" b="1" dirty="0"/>
              <a:t>m:n</a:t>
            </a:r>
            <a:r>
              <a:rPr lang="zh-CN" altLang="en-US" b="1" dirty="0"/>
              <a:t>联系，可以将它转换为如下关系模式，其中学号与课程号为关系的组合码： </a:t>
            </a:r>
            <a:endParaRPr lang="en-US" altLang="zh-CN" b="1" dirty="0"/>
          </a:p>
          <a:p>
            <a:r>
              <a:rPr lang="zh-CN" altLang="en-US" b="1" dirty="0"/>
              <a:t>学生（</a:t>
            </a:r>
            <a:r>
              <a:rPr lang="zh-CN" altLang="en-US" b="1" u="sng" dirty="0"/>
              <a:t>学号</a:t>
            </a:r>
            <a:r>
              <a:rPr lang="zh-CN" altLang="en-US" b="1" dirty="0"/>
              <a:t>，姓名，</a:t>
            </a:r>
            <a:r>
              <a:rPr lang="en-US" altLang="zh-CN" b="1" dirty="0"/>
              <a:t>…</a:t>
            </a:r>
            <a:r>
              <a:rPr lang="zh-CN" altLang="en-US" b="1" dirty="0"/>
              <a:t>）</a:t>
            </a:r>
            <a:endParaRPr lang="en-US" altLang="zh-CN" b="1" dirty="0"/>
          </a:p>
          <a:p>
            <a:r>
              <a:rPr lang="zh-CN" altLang="en-US" b="1" dirty="0"/>
              <a:t>课程（</a:t>
            </a:r>
            <a:r>
              <a:rPr lang="zh-CN" altLang="en-US" b="1" u="sng" dirty="0"/>
              <a:t>课号</a:t>
            </a:r>
            <a:r>
              <a:rPr lang="zh-CN" altLang="en-US" b="1" dirty="0"/>
              <a:t>，课程名，</a:t>
            </a:r>
            <a:r>
              <a:rPr lang="en-US" altLang="zh-CN" b="1" dirty="0"/>
              <a:t>…</a:t>
            </a:r>
            <a:r>
              <a:rPr lang="zh-CN" altLang="en-US" b="1" dirty="0"/>
              <a:t>）</a:t>
            </a:r>
            <a:endParaRPr lang="zh-CN" altLang="en-US" b="1" dirty="0"/>
          </a:p>
          <a:p>
            <a:r>
              <a:rPr lang="zh-CN" altLang="en-US" b="1" dirty="0">
                <a:solidFill>
                  <a:srgbClr val="FF0000"/>
                </a:solidFill>
              </a:rPr>
              <a:t>选修（</a:t>
            </a:r>
            <a:r>
              <a:rPr lang="zh-CN" altLang="en-US" b="1" u="sng" dirty="0">
                <a:solidFill>
                  <a:srgbClr val="FF0000"/>
                </a:solidFill>
              </a:rPr>
              <a:t>学号，课程号</a:t>
            </a:r>
            <a:r>
              <a:rPr lang="zh-CN" altLang="en-US" b="1" dirty="0">
                <a:solidFill>
                  <a:srgbClr val="FF0000"/>
                </a:solidFill>
              </a:rPr>
              <a:t>，成绩）</a:t>
            </a:r>
            <a:endParaRPr lang="zh-CN" altLang="en-US" b="1" dirty="0">
              <a:solidFill>
                <a:srgbClr val="FF0000"/>
              </a:solidFill>
            </a:endParaRPr>
          </a:p>
        </p:txBody>
      </p:sp>
      <p:sp>
        <p:nvSpPr>
          <p:cNvPr id="3" name="标题 1"/>
          <p:cNvSpPr>
            <a:spLocks noGrp="1"/>
          </p:cNvSpPr>
          <p:nvPr>
            <p:ph type="title"/>
          </p:nvPr>
        </p:nvSpPr>
        <p:spPr>
          <a:xfrm>
            <a:off x="746125" y="202248"/>
            <a:ext cx="80010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0" i="0" u="none" strike="noStrike" kern="0" cap="none" spc="0" normalizeH="0" baseline="0" noProof="0" dirty="0">
                <a:ln>
                  <a:noFill/>
                </a:ln>
                <a:solidFill>
                  <a:schemeClr val="tx2"/>
                </a:solidFill>
                <a:effectLst/>
                <a:uLnTx/>
                <a:uFillTx/>
                <a:latin typeface="+mj-lt"/>
                <a:ea typeface="+mj-ea"/>
                <a:cs typeface="+mj-cs"/>
              </a:rPr>
              <a:t>（</a:t>
            </a:r>
            <a:r>
              <a:rPr kumimoji="0" lang="en-US" altLang="zh-CN" sz="3800" b="1" i="0" u="none" strike="noStrike" kern="0" cap="none" spc="0" normalizeH="0" baseline="0" noProof="0" dirty="0">
                <a:ln>
                  <a:noFill/>
                </a:ln>
                <a:solidFill>
                  <a:schemeClr val="tx2"/>
                </a:solidFill>
                <a:effectLst/>
                <a:uLnTx/>
                <a:uFillTx/>
                <a:latin typeface="+mj-lt"/>
                <a:ea typeface="+mj-ea"/>
                <a:cs typeface="+mj-cs"/>
              </a:rPr>
              <a:t>3</a:t>
            </a:r>
            <a:r>
              <a:rPr kumimoji="0" lang="zh-CN" altLang="en-US" sz="3800" b="1" i="0" u="none" strike="noStrike" kern="0" cap="none" spc="0" normalizeH="0" baseline="0" noProof="0" dirty="0">
                <a:ln>
                  <a:noFill/>
                </a:ln>
                <a:solidFill>
                  <a:schemeClr val="tx2"/>
                </a:solidFill>
                <a:effectLst/>
                <a:uLnTx/>
                <a:uFillTx/>
                <a:latin typeface="+mj-lt"/>
                <a:ea typeface="+mj-ea"/>
                <a:cs typeface="+mj-cs"/>
              </a:rPr>
              <a:t>） </a:t>
            </a:r>
            <a:r>
              <a:rPr kumimoji="0" lang="en-US" altLang="zh-CN" sz="3800" b="0" i="0" u="none" strike="noStrike" kern="0" cap="none" spc="0" normalizeH="0" baseline="0" noProof="0" dirty="0" smtClean="0">
                <a:ln>
                  <a:noFill/>
                </a:ln>
                <a:solidFill>
                  <a:schemeClr val="tx1"/>
                </a:solidFill>
                <a:effectLst/>
                <a:uLnTx/>
                <a:uFillTx/>
                <a:latin typeface="+mn-lt"/>
                <a:ea typeface="+mn-ea"/>
                <a:cs typeface="+mn-cs"/>
              </a:rPr>
              <a:t>m:n</a:t>
            </a:r>
            <a:r>
              <a:rPr kumimoji="0" lang="zh-CN" altLang="en-US" sz="3800" b="0" i="0" u="none" strike="noStrike" kern="0" cap="none" spc="0" normalizeH="0" baseline="0" noProof="0" dirty="0" smtClean="0">
                <a:ln>
                  <a:noFill/>
                </a:ln>
                <a:solidFill>
                  <a:schemeClr val="tx1"/>
                </a:solidFill>
                <a:effectLst/>
                <a:uLnTx/>
                <a:uFillTx/>
                <a:latin typeface="+mn-lt"/>
                <a:ea typeface="+mn-ea"/>
                <a:cs typeface="+mn-cs"/>
              </a:rPr>
              <a:t>的联系 </a:t>
            </a:r>
            <a:endParaRPr kumimoji="0" lang="zh-CN" altLang="en-US" sz="3800" b="0" i="0" u="none" strike="noStrike" kern="0" cap="none" spc="0" normalizeH="0" baseline="0" noProof="0" dirty="0">
              <a:ln>
                <a:noFill/>
              </a:ln>
              <a:solidFill>
                <a:schemeClr val="tx2"/>
              </a:solidFill>
              <a:effectLst/>
              <a:uLnTx/>
              <a:uFillTx/>
              <a:latin typeface="+mj-lt"/>
              <a:ea typeface="+mj-ea"/>
              <a:cs typeface="+mj-cs"/>
            </a:endParaRPr>
          </a:p>
        </p:txBody>
      </p:sp>
      <p:grpSp>
        <p:nvGrpSpPr>
          <p:cNvPr id="4" name="组合 27"/>
          <p:cNvGrpSpPr/>
          <p:nvPr/>
        </p:nvGrpSpPr>
        <p:grpSpPr>
          <a:xfrm>
            <a:off x="7408863" y="1775778"/>
            <a:ext cx="4071937" cy="4000500"/>
            <a:chOff x="2500298" y="1785926"/>
            <a:chExt cx="4071966" cy="4000528"/>
          </a:xfrm>
        </p:grpSpPr>
        <p:grpSp>
          <p:nvGrpSpPr>
            <p:cNvPr id="98308" name="组合 31"/>
            <p:cNvGrpSpPr/>
            <p:nvPr/>
          </p:nvGrpSpPr>
          <p:grpSpPr>
            <a:xfrm>
              <a:off x="2500298" y="1785926"/>
              <a:ext cx="3786214" cy="4000528"/>
              <a:chOff x="2500298" y="1785926"/>
              <a:chExt cx="3786214" cy="4000528"/>
            </a:xfrm>
          </p:grpSpPr>
          <p:grpSp>
            <p:nvGrpSpPr>
              <p:cNvPr id="98309" name="Group 5"/>
              <p:cNvGrpSpPr/>
              <p:nvPr/>
            </p:nvGrpSpPr>
            <p:grpSpPr>
              <a:xfrm>
                <a:off x="3643306" y="2571744"/>
                <a:ext cx="1368425" cy="2841076"/>
                <a:chOff x="1056" y="1344"/>
                <a:chExt cx="1008" cy="2736"/>
              </a:xfrm>
            </p:grpSpPr>
            <p:sp>
              <p:nvSpPr>
                <p:cNvPr id="98310"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课程</a:t>
                  </a:r>
                  <a:endParaRPr lang="zh-CN" altLang="en-US" sz="2400" dirty="0">
                    <a:latin typeface="Times New Roman" panose="02020603050405020304" pitchFamily="18" charset="0"/>
                    <a:ea typeface="楷体_GB2312" pitchFamily="49" charset="-122"/>
                  </a:endParaRPr>
                </a:p>
              </p:txBody>
            </p:sp>
            <p:sp>
              <p:nvSpPr>
                <p:cNvPr id="98311"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选修</a:t>
                  </a:r>
                  <a:endParaRPr lang="zh-CN" altLang="en-US" sz="2000" dirty="0">
                    <a:latin typeface="楷体_GB2312" pitchFamily="49" charset="-122"/>
                    <a:ea typeface="楷体_GB2312" pitchFamily="49" charset="-122"/>
                  </a:endParaRPr>
                </a:p>
              </p:txBody>
            </p:sp>
            <p:sp>
              <p:nvSpPr>
                <p:cNvPr id="98312"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学生</a:t>
                  </a:r>
                  <a:endParaRPr lang="zh-CN" altLang="en-US" sz="2400" dirty="0">
                    <a:latin typeface="Times New Roman" panose="02020603050405020304" pitchFamily="18" charset="0"/>
                    <a:ea typeface="楷体_GB2312" pitchFamily="49" charset="-122"/>
                  </a:endParaRPr>
                </a:p>
              </p:txBody>
            </p:sp>
            <p:sp>
              <p:nvSpPr>
                <p:cNvPr id="98313"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8314"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8315"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sp>
              <p:nvSpPr>
                <p:cNvPr id="98316"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98317"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9" name="椭圆 8"/>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课号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0" name="椭圆 9"/>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课名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1" name="椭圆 1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学号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2" name="椭圆 1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姓名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3" name="椭圆 1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性别</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cxnSp>
            <p:nvCxnSpPr>
              <p:cNvPr id="14" name="直接连接符 13"/>
              <p:cNvCxnSpPr>
                <a:stCxn id="9" idx="5"/>
              </p:cNvCxnSpPr>
              <p:nvPr/>
            </p:nvCxnSpPr>
            <p:spPr>
              <a:xfrm rot="16200000" flipH="1">
                <a:off x="3746493" y="2176453"/>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8312" idx="2"/>
              </p:cNvCxnSpPr>
              <p:nvPr/>
            </p:nvCxnSpPr>
            <p:spPr>
              <a:xfrm rot="5400000">
                <a:off x="3557422" y="4571530"/>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13"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2" idx="0"/>
              </p:cNvCxnSpPr>
              <p:nvPr/>
            </p:nvCxnSpPr>
            <p:spPr>
              <a:xfrm rot="16200000" flipH="1">
                <a:off x="4196552"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4929190" y="3643314"/>
              <a:ext cx="5715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5500694" y="3428999"/>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成绩</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9090">
                                            <p:txEl>
                                              <p:pRg st="0" end="0"/>
                                            </p:txEl>
                                          </p:spTgt>
                                        </p:tgtEl>
                                        <p:attrNameLst>
                                          <p:attrName>style.visibility</p:attrName>
                                        </p:attrNameLst>
                                      </p:cBhvr>
                                      <p:to>
                                        <p:strVal val="visible"/>
                                      </p:to>
                                    </p:set>
                                    <p:anim calcmode="lin" valueType="num">
                                      <p:cBhvr additive="base">
                                        <p:cTn id="13" dur="500" fill="hold"/>
                                        <p:tgtEl>
                                          <p:spTgt spid="89090">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90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9090">
                                            <p:txEl>
                                              <p:pRg st="1" end="1"/>
                                            </p:txEl>
                                          </p:spTgt>
                                        </p:tgtEl>
                                        <p:attrNameLst>
                                          <p:attrName>style.visibility</p:attrName>
                                        </p:attrNameLst>
                                      </p:cBhvr>
                                      <p:to>
                                        <p:strVal val="visible"/>
                                      </p:to>
                                    </p:set>
                                    <p:anim calcmode="lin" valueType="num">
                                      <p:cBhvr additive="base">
                                        <p:cTn id="19" dur="500" fill="hold"/>
                                        <p:tgtEl>
                                          <p:spTgt spid="89090">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90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9090">
                                            <p:txEl>
                                              <p:pRg st="2" end="2"/>
                                            </p:txEl>
                                          </p:spTgt>
                                        </p:tgtEl>
                                        <p:attrNameLst>
                                          <p:attrName>style.visibility</p:attrName>
                                        </p:attrNameLst>
                                      </p:cBhvr>
                                      <p:to>
                                        <p:strVal val="visible"/>
                                      </p:to>
                                    </p:set>
                                    <p:anim calcmode="lin" valueType="num">
                                      <p:cBhvr additive="base">
                                        <p:cTn id="25" dur="500" fill="hold"/>
                                        <p:tgtEl>
                                          <p:spTgt spid="8909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90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9090">
                                            <p:txEl>
                                              <p:pRg st="3" end="3"/>
                                            </p:txEl>
                                          </p:spTgt>
                                        </p:tgtEl>
                                        <p:attrNameLst>
                                          <p:attrName>style.visibility</p:attrName>
                                        </p:attrNameLst>
                                      </p:cBhvr>
                                      <p:to>
                                        <p:strVal val="visible"/>
                                      </p:to>
                                    </p:set>
                                    <p:anim calcmode="lin" valueType="num">
                                      <p:cBhvr additive="base">
                                        <p:cTn id="31" dur="500" fill="hold"/>
                                        <p:tgtEl>
                                          <p:spTgt spid="8909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909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9090">
                                            <p:txEl>
                                              <p:pRg st="4" end="4"/>
                                            </p:txEl>
                                          </p:spTgt>
                                        </p:tgtEl>
                                        <p:attrNameLst>
                                          <p:attrName>style.visibility</p:attrName>
                                        </p:attrNameLst>
                                      </p:cBhvr>
                                      <p:to>
                                        <p:strVal val="visible"/>
                                      </p:to>
                                    </p:set>
                                    <p:anim calcmode="lin" valueType="num">
                                      <p:cBhvr additive="base">
                                        <p:cTn id="37" dur="500" fill="hold"/>
                                        <p:tgtEl>
                                          <p:spTgt spid="89090">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90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9090">
                                            <p:txEl>
                                              <p:pRg st="5" end="5"/>
                                            </p:txEl>
                                          </p:spTgt>
                                        </p:tgtEl>
                                        <p:attrNameLst>
                                          <p:attrName>style.visibility</p:attrName>
                                        </p:attrNameLst>
                                      </p:cBhvr>
                                      <p:to>
                                        <p:strVal val="visible"/>
                                      </p:to>
                                    </p:set>
                                    <p:anim calcmode="lin" valueType="num">
                                      <p:cBhvr additive="base">
                                        <p:cTn id="43" dur="500" fill="hold"/>
                                        <p:tgtEl>
                                          <p:spTgt spid="89090">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909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9090">
                                            <p:txEl>
                                              <p:pRg st="6" end="6"/>
                                            </p:txEl>
                                          </p:spTgt>
                                        </p:tgtEl>
                                        <p:attrNameLst>
                                          <p:attrName>style.visibility</p:attrName>
                                        </p:attrNameLst>
                                      </p:cBhvr>
                                      <p:to>
                                        <p:strVal val="visible"/>
                                      </p:to>
                                    </p:set>
                                    <p:anim calcmode="lin" valueType="num">
                                      <p:cBhvr additive="base">
                                        <p:cTn id="49" dur="500" fill="hold"/>
                                        <p:tgtEl>
                                          <p:spTgt spid="89090">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909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p:cNvSpPr>
          <p:nvPr>
            <p:ph type="title"/>
          </p:nvPr>
        </p:nvSpPr>
        <p:spPr/>
        <p:txBody>
          <a:bodyPr vert="horz" wrap="square" lIns="91440" tIns="45720" rIns="91440" bIns="45720" anchor="b" anchorCtr="0"/>
          <a:lstStyle/>
          <a:p>
            <a:r>
              <a:rPr lang="zh-CN" altLang="en-US" dirty="0"/>
              <a:t>提问</a:t>
            </a:r>
            <a:endParaRPr lang="zh-CN" altLang="en-US" dirty="0"/>
          </a:p>
        </p:txBody>
      </p:sp>
      <p:sp>
        <p:nvSpPr>
          <p:cNvPr id="99330" name="内容占位符 2"/>
          <p:cNvSpPr>
            <a:spLocks noGrp="1"/>
          </p:cNvSpPr>
          <p:nvPr>
            <p:ph idx="1"/>
          </p:nvPr>
        </p:nvSpPr>
        <p:spPr/>
        <p:txBody>
          <a:bodyPr vert="horz" wrap="square" lIns="91440" tIns="45720" rIns="91440" bIns="45720" anchor="t" anchorCtr="0"/>
          <a:lstStyle/>
          <a:p>
            <a:r>
              <a:rPr lang="zh-CN" altLang="en-US" dirty="0"/>
              <a:t>商店</a:t>
            </a:r>
            <a:endParaRPr lang="en-US" altLang="zh-CN" dirty="0"/>
          </a:p>
          <a:p>
            <a:r>
              <a:rPr lang="zh-CN" altLang="en-US" dirty="0"/>
              <a:t>商品</a:t>
            </a:r>
            <a:endParaRPr lang="en-US" altLang="zh-CN" dirty="0"/>
          </a:p>
          <a:p>
            <a:r>
              <a:rPr lang="zh-CN" altLang="en-US" dirty="0"/>
              <a:t>销售量</a:t>
            </a:r>
            <a:endParaRPr lang="en-US" altLang="zh-CN" dirty="0"/>
          </a:p>
          <a:p>
            <a:endParaRPr lang="en-US" altLang="zh-CN" dirty="0"/>
          </a:p>
          <a:p>
            <a:r>
              <a:rPr lang="zh-CN" altLang="en-US" dirty="0"/>
              <a:t>医生</a:t>
            </a:r>
            <a:endParaRPr lang="en-US" altLang="zh-CN" dirty="0"/>
          </a:p>
          <a:p>
            <a:r>
              <a:rPr lang="zh-CN" altLang="en-US" dirty="0"/>
              <a:t>病人</a:t>
            </a:r>
            <a:endParaRPr lang="en-US" altLang="zh-CN" dirty="0"/>
          </a:p>
          <a:p>
            <a:r>
              <a:rPr lang="zh-CN" altLang="en-US" dirty="0"/>
              <a:t>看病时间，诊断结果</a:t>
            </a:r>
            <a:endParaRPr lang="en-US" altLang="zh-CN" dirty="0"/>
          </a:p>
          <a:p>
            <a:endParaRPr lang="en-US" altLang="zh-CN" dirty="0"/>
          </a:p>
        </p:txBody>
      </p:sp>
      <p:grpSp>
        <p:nvGrpSpPr>
          <p:cNvPr id="4" name="组合 27"/>
          <p:cNvGrpSpPr/>
          <p:nvPr/>
        </p:nvGrpSpPr>
        <p:grpSpPr>
          <a:xfrm>
            <a:off x="5735638" y="1484313"/>
            <a:ext cx="4071937" cy="4000500"/>
            <a:chOff x="2500298" y="1785926"/>
            <a:chExt cx="4071966" cy="4000528"/>
          </a:xfrm>
        </p:grpSpPr>
        <p:grpSp>
          <p:nvGrpSpPr>
            <p:cNvPr id="99332" name="组合 31"/>
            <p:cNvGrpSpPr/>
            <p:nvPr/>
          </p:nvGrpSpPr>
          <p:grpSpPr>
            <a:xfrm>
              <a:off x="2500298" y="1785926"/>
              <a:ext cx="3786214" cy="4000528"/>
              <a:chOff x="2500298" y="1785926"/>
              <a:chExt cx="3786214" cy="4000528"/>
            </a:xfrm>
          </p:grpSpPr>
          <p:grpSp>
            <p:nvGrpSpPr>
              <p:cNvPr id="99333" name="Group 5"/>
              <p:cNvGrpSpPr/>
              <p:nvPr/>
            </p:nvGrpSpPr>
            <p:grpSpPr>
              <a:xfrm>
                <a:off x="3643306" y="2571744"/>
                <a:ext cx="1368425" cy="2841076"/>
                <a:chOff x="1056" y="1344"/>
                <a:chExt cx="1008" cy="2736"/>
              </a:xfrm>
            </p:grpSpPr>
            <p:sp>
              <p:nvSpPr>
                <p:cNvPr id="99334" name="Text Box 6"/>
                <p:cNvSpPr txBox="1"/>
                <p:nvPr/>
              </p:nvSpPr>
              <p:spPr>
                <a:xfrm>
                  <a:off x="1105" y="1344"/>
                  <a:ext cx="815"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商品</a:t>
                  </a:r>
                  <a:endParaRPr lang="zh-CN" altLang="en-US" sz="2400" dirty="0">
                    <a:latin typeface="Times New Roman" panose="02020603050405020304" pitchFamily="18" charset="0"/>
                    <a:ea typeface="楷体_GB2312" pitchFamily="49" charset="-122"/>
                  </a:endParaRPr>
                </a:p>
              </p:txBody>
            </p:sp>
            <p:sp>
              <p:nvSpPr>
                <p:cNvPr id="99335" name="AutoShape 7"/>
                <p:cNvSpPr/>
                <p:nvPr/>
              </p:nvSpPr>
              <p:spPr>
                <a:xfrm>
                  <a:off x="1056" y="2112"/>
                  <a:ext cx="960" cy="480"/>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dirty="0">
                      <a:latin typeface="楷体_GB2312" pitchFamily="49" charset="-122"/>
                      <a:ea typeface="楷体_GB2312" pitchFamily="49" charset="-122"/>
                    </a:rPr>
                    <a:t>销售</a:t>
                  </a:r>
                  <a:endParaRPr lang="zh-CN" altLang="en-US" sz="2000" dirty="0">
                    <a:latin typeface="楷体_GB2312" pitchFamily="49" charset="-122"/>
                    <a:ea typeface="楷体_GB2312" pitchFamily="49" charset="-122"/>
                  </a:endParaRPr>
                </a:p>
              </p:txBody>
            </p:sp>
            <p:sp>
              <p:nvSpPr>
                <p:cNvPr id="99336" name="Text Box 8"/>
                <p:cNvSpPr txBox="1"/>
                <p:nvPr/>
              </p:nvSpPr>
              <p:spPr>
                <a:xfrm>
                  <a:off x="1152" y="3166"/>
                  <a:ext cx="816" cy="443"/>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a:spcBef>
                      <a:spcPct val="50000"/>
                    </a:spcBef>
                  </a:pPr>
                  <a:r>
                    <a:rPr lang="zh-CN" altLang="en-US" sz="2400" dirty="0">
                      <a:latin typeface="Times New Roman" panose="02020603050405020304" pitchFamily="18" charset="0"/>
                      <a:ea typeface="楷体_GB2312" pitchFamily="49" charset="-122"/>
                    </a:rPr>
                    <a:t>商店</a:t>
                  </a:r>
                  <a:endParaRPr lang="zh-CN" altLang="en-US" sz="2400" dirty="0">
                    <a:latin typeface="Times New Roman" panose="02020603050405020304" pitchFamily="18" charset="0"/>
                    <a:ea typeface="楷体_GB2312" pitchFamily="49" charset="-122"/>
                  </a:endParaRPr>
                </a:p>
              </p:txBody>
            </p:sp>
            <p:sp>
              <p:nvSpPr>
                <p:cNvPr id="99337" name="Line 9"/>
                <p:cNvSpPr/>
                <p:nvPr/>
              </p:nvSpPr>
              <p:spPr>
                <a:xfrm flipV="1">
                  <a:off x="1536" y="1632"/>
                  <a:ext cx="0" cy="480"/>
                </a:xfrm>
                <a:prstGeom prst="line">
                  <a:avLst/>
                </a:prstGeom>
                <a:ln w="9525" cap="flat" cmpd="sng">
                  <a:solidFill>
                    <a:schemeClr val="tx1"/>
                  </a:solidFill>
                  <a:prstDash val="solid"/>
                  <a:round/>
                  <a:headEnd type="none" w="med" len="med"/>
                  <a:tailEnd type="none" w="med" len="med"/>
                </a:ln>
              </p:spPr>
            </p:sp>
            <p:sp>
              <p:nvSpPr>
                <p:cNvPr id="99338" name="Line 10"/>
                <p:cNvSpPr/>
                <p:nvPr/>
              </p:nvSpPr>
              <p:spPr>
                <a:xfrm>
                  <a:off x="1536" y="2592"/>
                  <a:ext cx="0" cy="576"/>
                </a:xfrm>
                <a:prstGeom prst="line">
                  <a:avLst/>
                </a:prstGeom>
                <a:ln w="9525" cap="flat" cmpd="sng">
                  <a:solidFill>
                    <a:schemeClr val="tx1"/>
                  </a:solidFill>
                  <a:prstDash val="solid"/>
                  <a:round/>
                  <a:headEnd type="none" w="med" len="med"/>
                  <a:tailEnd type="none" w="med" len="med"/>
                </a:ln>
              </p:spPr>
            </p:sp>
            <p:sp>
              <p:nvSpPr>
                <p:cNvPr id="99339" name="Text Box 11"/>
                <p:cNvSpPr txBox="1"/>
                <p:nvPr/>
              </p:nvSpPr>
              <p:spPr>
                <a:xfrm>
                  <a:off x="1152" y="177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sp>
              <p:nvSpPr>
                <p:cNvPr id="99340" name="Text Box 12"/>
                <p:cNvSpPr txBox="1"/>
                <p:nvPr/>
              </p:nvSpPr>
              <p:spPr>
                <a:xfrm>
                  <a:off x="1200" y="2737"/>
                  <a:ext cx="240" cy="443"/>
                </a:xfrm>
                <a:prstGeom prst="rect">
                  <a:avLst/>
                </a:prstGeom>
                <a:noFill/>
                <a:ln w="9525">
                  <a:noFill/>
                </a:ln>
              </p:spPr>
              <p:txBody>
                <a:bodyPr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99341" name="Text Box 13"/>
                <p:cNvSpPr txBox="1"/>
                <p:nvPr/>
              </p:nvSpPr>
              <p:spPr>
                <a:xfrm>
                  <a:off x="1200" y="3696"/>
                  <a:ext cx="864" cy="384"/>
                </a:xfrm>
                <a:prstGeom prst="rect">
                  <a:avLst/>
                </a:prstGeom>
                <a:noFill/>
                <a:ln w="9525">
                  <a:noFill/>
                </a:ln>
              </p:spPr>
              <p:txBody>
                <a:bodyPr anchor="t" anchorCtr="0">
                  <a:spAutoFit/>
                </a:bodyPr>
                <a:lstStyle/>
                <a:p>
                  <a:pPr>
                    <a:spcBef>
                      <a:spcPct val="50000"/>
                    </a:spcBef>
                  </a:pPr>
                  <a:endParaRPr lang="zh-CN" altLang="en-US" sz="2000" b="1" dirty="0">
                    <a:latin typeface="楷体_GB2312" pitchFamily="49" charset="-122"/>
                    <a:ea typeface="楷体_GB2312" pitchFamily="49" charset="-122"/>
                  </a:endParaRPr>
                </a:p>
              </p:txBody>
            </p:sp>
          </p:grpSp>
          <p:sp>
            <p:nvSpPr>
              <p:cNvPr id="9" name="椭圆 8"/>
              <p:cNvSpPr/>
              <p:nvPr/>
            </p:nvSpPr>
            <p:spPr>
              <a:xfrm>
                <a:off x="2857488"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商品号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0" name="椭圆 9"/>
              <p:cNvSpPr/>
              <p:nvPr/>
            </p:nvSpPr>
            <p:spPr>
              <a:xfrm>
                <a:off x="4429124" y="1785926"/>
                <a:ext cx="1071571"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商品名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1" name="椭圆 10"/>
              <p:cNvSpPr/>
              <p:nvPr/>
            </p:nvSpPr>
            <p:spPr>
              <a:xfrm>
                <a:off x="250029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商店号</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2" name="椭圆 11"/>
              <p:cNvSpPr/>
              <p:nvPr/>
            </p:nvSpPr>
            <p:spPr>
              <a:xfrm>
                <a:off x="3929058"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商店名</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sp>
            <p:nvSpPr>
              <p:cNvPr id="13" name="椭圆 12"/>
              <p:cNvSpPr/>
              <p:nvPr/>
            </p:nvSpPr>
            <p:spPr>
              <a:xfrm>
                <a:off x="5214942" y="5357826"/>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地址</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cxnSp>
            <p:nvCxnSpPr>
              <p:cNvPr id="14" name="直接连接符 13"/>
              <p:cNvCxnSpPr>
                <a:stCxn id="9" idx="5"/>
              </p:cNvCxnSpPr>
              <p:nvPr/>
            </p:nvCxnSpPr>
            <p:spPr>
              <a:xfrm rot="16200000" flipH="1">
                <a:off x="3746493" y="2176453"/>
                <a:ext cx="412753" cy="3619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4"/>
              </p:cNvCxnSpPr>
              <p:nvPr/>
            </p:nvCxnSpPr>
            <p:spPr>
              <a:xfrm rot="5400000">
                <a:off x="4590255" y="2196297"/>
                <a:ext cx="357189" cy="3937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9336" idx="2"/>
              </p:cNvCxnSpPr>
              <p:nvPr/>
            </p:nvCxnSpPr>
            <p:spPr>
              <a:xfrm rot="5400000">
                <a:off x="3557422" y="4571530"/>
                <a:ext cx="419103" cy="11223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13" idx="0"/>
              </p:cNvCxnSpPr>
              <p:nvPr/>
            </p:nvCxnSpPr>
            <p:spPr>
              <a:xfrm>
                <a:off x="4857752" y="4929198"/>
                <a:ext cx="893769" cy="4286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2" idx="0"/>
              </p:cNvCxnSpPr>
              <p:nvPr/>
            </p:nvCxnSpPr>
            <p:spPr>
              <a:xfrm rot="16200000" flipH="1">
                <a:off x="4196552" y="5090331"/>
                <a:ext cx="428628" cy="106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a:xfrm>
              <a:off x="4929190" y="3643314"/>
              <a:ext cx="5715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5500694" y="3428999"/>
              <a:ext cx="1071570" cy="428628"/>
            </a:xfrm>
            <a:prstGeom prst="ellipse">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FF"/>
                  </a:solidFill>
                  <a:effectLst/>
                  <a:uLnTx/>
                  <a:uFillTx/>
                  <a:latin typeface="+mn-lt"/>
                  <a:ea typeface="+mn-ea"/>
                  <a:cs typeface="+mn-cs"/>
                </a:rPr>
                <a:t>销售量</a:t>
              </a:r>
              <a:endParaRPr kumimoji="0" lang="zh-CN" altLang="en-US" sz="1800" b="1" i="0" u="none" strike="noStrike" kern="1200" cap="none" spc="0" normalizeH="0" baseline="0" noProof="0" dirty="0">
                <a:ln>
                  <a:noFill/>
                </a:ln>
                <a:solidFill>
                  <a:srgbClr val="0000FF"/>
                </a:solidFill>
                <a:effectLst/>
                <a:uLnTx/>
                <a:uFillTx/>
                <a:latin typeface="+mn-lt"/>
                <a:ea typeface="+mn-ea"/>
                <a:cs typeface="+mn-cs"/>
              </a:endParaRP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p:cNvSpPr>
          <p:nvPr>
            <p:ph type="title"/>
          </p:nvPr>
        </p:nvSpPr>
        <p:spPr/>
        <p:txBody>
          <a:bodyPr vert="horz" wrap="square" lIns="91440" tIns="45720" rIns="91440" bIns="45720" anchor="b" anchorCtr="0"/>
          <a:lstStyle/>
          <a:p>
            <a:r>
              <a:rPr lang="zh-CN" altLang="en-US" dirty="0"/>
              <a:t>（</a:t>
            </a:r>
            <a:r>
              <a:rPr lang="en-US" altLang="zh-CN" b="1" dirty="0"/>
              <a:t>4</a:t>
            </a:r>
            <a:r>
              <a:rPr lang="zh-CN" altLang="en-US" b="1" dirty="0"/>
              <a:t>）三个或三个以上实体间联系</a:t>
            </a:r>
            <a:endParaRPr lang="zh-CN" altLang="en-US" dirty="0"/>
          </a:p>
        </p:txBody>
      </p:sp>
      <p:sp>
        <p:nvSpPr>
          <p:cNvPr id="100354" name="内容占位符 2"/>
          <p:cNvSpPr>
            <a:spLocks noGrp="1"/>
          </p:cNvSpPr>
          <p:nvPr>
            <p:ph idx="1"/>
          </p:nvPr>
        </p:nvSpPr>
        <p:spPr>
          <a:xfrm>
            <a:off x="728345" y="1143000"/>
            <a:ext cx="11047095" cy="4876800"/>
          </a:xfrm>
        </p:spPr>
        <p:txBody>
          <a:bodyPr vert="horz" wrap="square" lIns="91440" tIns="45720" rIns="91440" bIns="45720" anchor="t" anchorCtr="0"/>
          <a:lstStyle/>
          <a:p>
            <a:r>
              <a:rPr lang="zh-CN" altLang="en-US" b="1" dirty="0"/>
              <a:t>三个或三个以上实体间的一个多元联系转换为一个关系模式。 </a:t>
            </a:r>
            <a:endParaRPr lang="zh-CN" altLang="en-US" b="1" dirty="0"/>
          </a:p>
          <a:p>
            <a:r>
              <a:rPr lang="zh-CN" altLang="en-US" dirty="0"/>
              <a:t>关系的属性：与该多元联系相连的各实体的码以及联系本身的属性。</a:t>
            </a:r>
            <a:endParaRPr lang="zh-CN" altLang="en-US" dirty="0"/>
          </a:p>
          <a:p>
            <a:r>
              <a:rPr lang="zh-CN" altLang="en-US" dirty="0"/>
              <a:t>关系的码：各实体码的组合 。</a:t>
            </a:r>
            <a:endParaRPr lang="zh-CN" altLang="en-US" dirty="0"/>
          </a:p>
          <a:p>
            <a:endParaRPr lang="zh-CN" altLang="en-US" dirty="0"/>
          </a:p>
        </p:txBody>
      </p:sp>
      <p:grpSp>
        <p:nvGrpSpPr>
          <p:cNvPr id="2" name="Group 16"/>
          <p:cNvGrpSpPr/>
          <p:nvPr>
            <p:custDataLst>
              <p:tags r:id="rId1"/>
            </p:custDataLst>
          </p:nvPr>
        </p:nvGrpSpPr>
        <p:grpSpPr>
          <a:xfrm>
            <a:off x="7206933" y="2898140"/>
            <a:ext cx="4206875" cy="3048983"/>
            <a:chOff x="3424" y="1117"/>
            <a:chExt cx="2404" cy="2617"/>
          </a:xfrm>
        </p:grpSpPr>
        <p:sp>
          <p:nvSpPr>
            <p:cNvPr id="100356" name="Text Box 5"/>
            <p:cNvSpPr txBox="1"/>
            <p:nvPr>
              <p:custDataLst>
                <p:tags r:id="rId2"/>
              </p:custDataLst>
            </p:nvPr>
          </p:nvSpPr>
          <p:spPr>
            <a:xfrm>
              <a:off x="4151" y="1117"/>
              <a:ext cx="746"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sz="2400" dirty="0">
                  <a:latin typeface="Times New Roman" panose="02020603050405020304" pitchFamily="18" charset="0"/>
                  <a:ea typeface="楷体_GB2312" pitchFamily="49" charset="-122"/>
                </a:rPr>
                <a:t>供应商</a:t>
              </a:r>
              <a:endParaRPr lang="zh-CN" altLang="en-US" sz="2400" dirty="0">
                <a:latin typeface="Times New Roman" panose="02020603050405020304" pitchFamily="18" charset="0"/>
                <a:ea typeface="楷体_GB2312" pitchFamily="49" charset="-122"/>
              </a:endParaRPr>
            </a:p>
          </p:txBody>
        </p:sp>
        <p:sp>
          <p:nvSpPr>
            <p:cNvPr id="100357" name="AutoShape 6"/>
            <p:cNvSpPr/>
            <p:nvPr>
              <p:custDataLst>
                <p:tags r:id="rId3"/>
              </p:custDataLst>
            </p:nvPr>
          </p:nvSpPr>
          <p:spPr>
            <a:xfrm>
              <a:off x="4106" y="1870"/>
              <a:ext cx="877" cy="471"/>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400" dirty="0">
                  <a:latin typeface="Times New Roman" panose="02020603050405020304" pitchFamily="18" charset="0"/>
                  <a:ea typeface="楷体_GB2312" pitchFamily="49" charset="-122"/>
                </a:rPr>
                <a:t>供应</a:t>
              </a:r>
              <a:endParaRPr lang="zh-CN" altLang="en-US" sz="2400" dirty="0">
                <a:latin typeface="Times New Roman" panose="02020603050405020304" pitchFamily="18" charset="0"/>
                <a:ea typeface="楷体_GB2312" pitchFamily="49" charset="-122"/>
              </a:endParaRPr>
            </a:p>
          </p:txBody>
        </p:sp>
        <p:sp>
          <p:nvSpPr>
            <p:cNvPr id="100358" name="Text Box 7"/>
            <p:cNvSpPr txBox="1"/>
            <p:nvPr>
              <p:custDataLst>
                <p:tags r:id="rId4"/>
              </p:custDataLst>
            </p:nvPr>
          </p:nvSpPr>
          <p:spPr>
            <a:xfrm>
              <a:off x="3767" y="2952"/>
              <a:ext cx="565"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sz="2400" dirty="0">
                  <a:latin typeface="Times New Roman" panose="02020603050405020304" pitchFamily="18" charset="0"/>
                  <a:ea typeface="楷体_GB2312" pitchFamily="49" charset="-122"/>
                </a:rPr>
                <a:t>项目</a:t>
              </a:r>
              <a:endParaRPr lang="zh-CN" altLang="en-US" sz="2400" dirty="0">
                <a:latin typeface="Times New Roman" panose="02020603050405020304" pitchFamily="18" charset="0"/>
                <a:ea typeface="楷体_GB2312" pitchFamily="49" charset="-122"/>
              </a:endParaRPr>
            </a:p>
          </p:txBody>
        </p:sp>
        <p:sp>
          <p:nvSpPr>
            <p:cNvPr id="100359" name="Line 8"/>
            <p:cNvSpPr/>
            <p:nvPr>
              <p:custDataLst>
                <p:tags r:id="rId5"/>
              </p:custDataLst>
            </p:nvPr>
          </p:nvSpPr>
          <p:spPr>
            <a:xfrm flipV="1">
              <a:off x="4545" y="1377"/>
              <a:ext cx="0" cy="471"/>
            </a:xfrm>
            <a:prstGeom prst="line">
              <a:avLst/>
            </a:prstGeom>
            <a:ln w="9525" cap="flat" cmpd="sng">
              <a:solidFill>
                <a:schemeClr val="tx1"/>
              </a:solidFill>
              <a:prstDash val="solid"/>
              <a:round/>
              <a:headEnd type="none" w="med" len="med"/>
              <a:tailEnd type="none" w="med" len="med"/>
            </a:ln>
          </p:spPr>
        </p:sp>
        <p:sp>
          <p:nvSpPr>
            <p:cNvPr id="100360" name="Line 9"/>
            <p:cNvSpPr/>
            <p:nvPr>
              <p:custDataLst>
                <p:tags r:id="rId6"/>
              </p:custDataLst>
            </p:nvPr>
          </p:nvSpPr>
          <p:spPr>
            <a:xfrm flipH="1">
              <a:off x="4059" y="2105"/>
              <a:ext cx="47" cy="826"/>
            </a:xfrm>
            <a:prstGeom prst="line">
              <a:avLst/>
            </a:prstGeom>
            <a:ln w="9525" cap="flat" cmpd="sng">
              <a:solidFill>
                <a:schemeClr val="tx1"/>
              </a:solidFill>
              <a:prstDash val="solid"/>
              <a:round/>
              <a:headEnd type="none" w="med" len="med"/>
              <a:tailEnd type="none" w="med" len="med"/>
            </a:ln>
          </p:spPr>
        </p:sp>
        <p:sp>
          <p:nvSpPr>
            <p:cNvPr id="100361" name="Text Box 10"/>
            <p:cNvSpPr txBox="1"/>
            <p:nvPr>
              <p:custDataLst>
                <p:tags r:id="rId7"/>
              </p:custDataLst>
            </p:nvPr>
          </p:nvSpPr>
          <p:spPr>
            <a:xfrm>
              <a:off x="4194" y="1541"/>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100362" name="Text Box 11"/>
            <p:cNvSpPr txBox="1"/>
            <p:nvPr>
              <p:custDataLst>
                <p:tags r:id="rId8"/>
              </p:custDataLst>
            </p:nvPr>
          </p:nvSpPr>
          <p:spPr>
            <a:xfrm>
              <a:off x="5203" y="2491"/>
              <a:ext cx="220"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p</a:t>
              </a:r>
              <a:endParaRPr lang="en-US" altLang="zh-CN" sz="2400" dirty="0">
                <a:latin typeface="Times New Roman" panose="02020603050405020304" pitchFamily="18" charset="0"/>
                <a:ea typeface="宋体" panose="02010600030101010101" pitchFamily="2" charset="-122"/>
              </a:endParaRPr>
            </a:p>
          </p:txBody>
        </p:sp>
        <p:sp>
          <p:nvSpPr>
            <p:cNvPr id="100363" name="Text Box 12"/>
            <p:cNvSpPr txBox="1"/>
            <p:nvPr>
              <p:custDataLst>
                <p:tags r:id="rId9"/>
              </p:custDataLst>
            </p:nvPr>
          </p:nvSpPr>
          <p:spPr>
            <a:xfrm>
              <a:off x="3424" y="3339"/>
              <a:ext cx="2404" cy="395"/>
            </a:xfrm>
            <a:prstGeom prst="rect">
              <a:avLst/>
            </a:prstGeom>
            <a:noFill/>
            <a:ln w="9525">
              <a:noFill/>
            </a:ln>
          </p:spPr>
          <p:txBody>
            <a:bodyPr anchor="t" anchorCtr="0">
              <a:spAutoFit/>
            </a:bodyPr>
            <a:lstStyle/>
            <a:p>
              <a:pPr algn="ctr" eaLnBrk="0" hangingPunct="0">
                <a:spcBef>
                  <a:spcPct val="50000"/>
                </a:spcBef>
              </a:pPr>
              <a:r>
                <a:rPr lang="zh-CN" altLang="en-US" sz="2400" b="1" dirty="0">
                  <a:solidFill>
                    <a:srgbClr val="0000FF"/>
                  </a:solidFill>
                  <a:latin typeface="Times New Roman" panose="02020603050405020304" pitchFamily="18" charset="0"/>
                  <a:ea typeface="楷体_GB2312" pitchFamily="49" charset="-122"/>
                </a:rPr>
                <a:t>两个以上实体型间</a:t>
              </a:r>
              <a:r>
                <a:rPr lang="en-US" altLang="zh-CN" sz="2400" b="1" dirty="0">
                  <a:solidFill>
                    <a:srgbClr val="0000FF"/>
                  </a:solidFill>
                  <a:latin typeface="Times New Roman" panose="02020603050405020304" pitchFamily="18" charset="0"/>
                  <a:ea typeface="楷体_GB2312" pitchFamily="49" charset="-122"/>
                </a:rPr>
                <a:t>m:n</a:t>
              </a:r>
              <a:r>
                <a:rPr lang="zh-CN" altLang="en-US" sz="2400" b="1" dirty="0">
                  <a:solidFill>
                    <a:srgbClr val="0000FF"/>
                  </a:solidFill>
                  <a:latin typeface="Times New Roman" panose="02020603050405020304" pitchFamily="18" charset="0"/>
                  <a:ea typeface="楷体_GB2312" pitchFamily="49" charset="-122"/>
                </a:rPr>
                <a:t>联系</a:t>
              </a:r>
              <a:endParaRPr lang="zh-CN" altLang="en-US" sz="2400" b="1" dirty="0">
                <a:solidFill>
                  <a:srgbClr val="0000FF"/>
                </a:solidFill>
                <a:latin typeface="Times New Roman" panose="02020603050405020304" pitchFamily="18" charset="0"/>
                <a:ea typeface="楷体_GB2312" pitchFamily="49" charset="-122"/>
              </a:endParaRPr>
            </a:p>
          </p:txBody>
        </p:sp>
        <p:sp>
          <p:nvSpPr>
            <p:cNvPr id="100364" name="Text Box 13"/>
            <p:cNvSpPr txBox="1"/>
            <p:nvPr>
              <p:custDataLst>
                <p:tags r:id="rId10"/>
              </p:custDataLst>
            </p:nvPr>
          </p:nvSpPr>
          <p:spPr>
            <a:xfrm>
              <a:off x="4785" y="2952"/>
              <a:ext cx="544"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sz="2400" dirty="0">
                  <a:latin typeface="Times New Roman" panose="02020603050405020304" pitchFamily="18" charset="0"/>
                  <a:ea typeface="楷体_GB2312" pitchFamily="49" charset="-122"/>
                </a:rPr>
                <a:t>零件</a:t>
              </a:r>
              <a:endParaRPr lang="zh-CN" altLang="en-US" sz="2400" dirty="0">
                <a:latin typeface="Times New Roman" panose="02020603050405020304" pitchFamily="18" charset="0"/>
                <a:ea typeface="楷体_GB2312" pitchFamily="49" charset="-122"/>
              </a:endParaRPr>
            </a:p>
          </p:txBody>
        </p:sp>
        <p:sp>
          <p:nvSpPr>
            <p:cNvPr id="100365" name="Line 14"/>
            <p:cNvSpPr/>
            <p:nvPr>
              <p:custDataLst>
                <p:tags r:id="rId11"/>
              </p:custDataLst>
            </p:nvPr>
          </p:nvSpPr>
          <p:spPr>
            <a:xfrm>
              <a:off x="4983" y="2105"/>
              <a:ext cx="120" cy="871"/>
            </a:xfrm>
            <a:prstGeom prst="line">
              <a:avLst/>
            </a:prstGeom>
            <a:ln w="9525" cap="flat" cmpd="sng">
              <a:solidFill>
                <a:schemeClr val="tx1"/>
              </a:solidFill>
              <a:prstDash val="solid"/>
              <a:round/>
              <a:headEnd type="none" w="med" len="med"/>
              <a:tailEnd type="none" w="med" len="med"/>
            </a:ln>
          </p:spPr>
        </p:sp>
        <p:sp>
          <p:nvSpPr>
            <p:cNvPr id="100366" name="Text Box 15"/>
            <p:cNvSpPr txBox="1"/>
            <p:nvPr>
              <p:custDataLst>
                <p:tags r:id="rId12"/>
              </p:custDataLst>
            </p:nvPr>
          </p:nvSpPr>
          <p:spPr>
            <a:xfrm>
              <a:off x="3711" y="2447"/>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grpSp>
      <p:sp>
        <p:nvSpPr>
          <p:cNvPr id="100367" name="TextBox 15"/>
          <p:cNvSpPr txBox="1"/>
          <p:nvPr/>
        </p:nvSpPr>
        <p:spPr>
          <a:xfrm>
            <a:off x="1092200" y="3500438"/>
            <a:ext cx="4002088" cy="2676525"/>
          </a:xfrm>
          <a:prstGeom prst="rect">
            <a:avLst/>
          </a:prstGeom>
          <a:noFill/>
          <a:ln w="9525">
            <a:noFill/>
          </a:ln>
        </p:spPr>
        <p:txBody>
          <a:bodyPr anchor="t" anchorCtr="0">
            <a:spAutoFit/>
          </a:bodyPr>
          <a:lstStyle/>
          <a:p>
            <a:pPr eaLnBrk="0" hangingPunct="0">
              <a:lnSpc>
                <a:spcPct val="150000"/>
              </a:lnSpc>
            </a:pPr>
            <a:r>
              <a:rPr lang="en-US" altLang="zh-CN" sz="2800" dirty="0">
                <a:latin typeface="Verdana" panose="020B0604030504040204" pitchFamily="34" charset="0"/>
                <a:ea typeface="宋体" panose="02010600030101010101" pitchFamily="2" charset="-122"/>
              </a:rPr>
              <a:t>S(sno,sname,…)</a:t>
            </a:r>
            <a:endParaRPr lang="en-US" altLang="zh-CN" sz="2800" dirty="0">
              <a:latin typeface="Verdana" panose="020B0604030504040204" pitchFamily="34" charset="0"/>
              <a:ea typeface="宋体" panose="02010600030101010101" pitchFamily="2" charset="-122"/>
            </a:endParaRPr>
          </a:p>
          <a:p>
            <a:pPr eaLnBrk="0" hangingPunct="0">
              <a:lnSpc>
                <a:spcPct val="150000"/>
              </a:lnSpc>
            </a:pPr>
            <a:r>
              <a:rPr lang="en-US" altLang="zh-CN" sz="2800" dirty="0">
                <a:latin typeface="Verdana" panose="020B0604030504040204" pitchFamily="34" charset="0"/>
                <a:ea typeface="宋体" panose="02010600030101010101" pitchFamily="2" charset="-122"/>
              </a:rPr>
              <a:t>P(pno,pname,…)</a:t>
            </a:r>
            <a:endParaRPr lang="en-US" altLang="zh-CN" sz="2800" dirty="0">
              <a:latin typeface="Verdana" panose="020B0604030504040204" pitchFamily="34" charset="0"/>
              <a:ea typeface="宋体" panose="02010600030101010101" pitchFamily="2" charset="-122"/>
            </a:endParaRPr>
          </a:p>
          <a:p>
            <a:pPr eaLnBrk="0" hangingPunct="0">
              <a:lnSpc>
                <a:spcPct val="150000"/>
              </a:lnSpc>
            </a:pPr>
            <a:r>
              <a:rPr lang="en-US" altLang="zh-CN" sz="2800" dirty="0">
                <a:latin typeface="Verdana" panose="020B0604030504040204" pitchFamily="34" charset="0"/>
                <a:ea typeface="宋体" panose="02010600030101010101" pitchFamily="2" charset="-122"/>
              </a:rPr>
              <a:t>J(jno,jname,…)</a:t>
            </a:r>
            <a:endParaRPr lang="en-US" altLang="zh-CN" sz="2800" dirty="0">
              <a:latin typeface="Verdana" panose="020B0604030504040204" pitchFamily="34" charset="0"/>
              <a:ea typeface="宋体" panose="02010600030101010101" pitchFamily="2" charset="-122"/>
            </a:endParaRPr>
          </a:p>
          <a:p>
            <a:pPr eaLnBrk="0" hangingPunct="0">
              <a:lnSpc>
                <a:spcPct val="150000"/>
              </a:lnSpc>
            </a:pPr>
            <a:r>
              <a:rPr lang="en-US" altLang="zh-CN" sz="2800" dirty="0">
                <a:latin typeface="Verdana" panose="020B0604030504040204" pitchFamily="34" charset="0"/>
                <a:ea typeface="宋体" panose="02010600030101010101" pitchFamily="2" charset="-122"/>
              </a:rPr>
              <a:t>Spj(sno,pno,jno,qty)</a:t>
            </a:r>
            <a:endParaRPr lang="zh-CN" altLang="en-US" sz="28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p:cNvSpPr>
          <p:nvPr>
            <p:ph type="title"/>
          </p:nvPr>
        </p:nvSpPr>
        <p:spPr/>
        <p:txBody>
          <a:bodyPr vert="horz" wrap="square" lIns="91440" tIns="45720" rIns="91440" bIns="45720" anchor="b" anchorCtr="0"/>
          <a:lstStyle/>
          <a:p>
            <a:r>
              <a:rPr lang="zh-CN" altLang="en-US" dirty="0"/>
              <a:t>提问：</a:t>
            </a:r>
            <a:endParaRPr lang="zh-CN" altLang="en-US" dirty="0"/>
          </a:p>
        </p:txBody>
      </p:sp>
      <p:sp>
        <p:nvSpPr>
          <p:cNvPr id="101378" name="内容占位符 2"/>
          <p:cNvSpPr>
            <a:spLocks noGrp="1"/>
          </p:cNvSpPr>
          <p:nvPr>
            <p:ph idx="1"/>
          </p:nvPr>
        </p:nvSpPr>
        <p:spPr/>
        <p:txBody>
          <a:bodyPr vert="horz" wrap="square" lIns="91440" tIns="45720" rIns="91440" bIns="45720" anchor="t" anchorCtr="0"/>
          <a:lstStyle/>
          <a:p>
            <a:r>
              <a:rPr lang="zh-CN" altLang="en-US" dirty="0"/>
              <a:t>中介职工</a:t>
            </a:r>
            <a:endParaRPr lang="en-US" altLang="zh-CN" dirty="0"/>
          </a:p>
          <a:p>
            <a:r>
              <a:rPr lang="zh-CN" altLang="en-US" dirty="0"/>
              <a:t>买房人</a:t>
            </a:r>
            <a:endParaRPr lang="en-US" altLang="zh-CN" dirty="0"/>
          </a:p>
          <a:p>
            <a:r>
              <a:rPr lang="zh-CN" altLang="en-US" dirty="0"/>
              <a:t>卖房人</a:t>
            </a:r>
            <a:endParaRPr lang="en-US" altLang="zh-CN" dirty="0"/>
          </a:p>
          <a:p>
            <a:r>
              <a:rPr lang="zh-CN" altLang="en-US" dirty="0"/>
              <a:t>房屋</a:t>
            </a:r>
            <a:endParaRPr lang="en-US" altLang="zh-CN" dirty="0"/>
          </a:p>
          <a:p>
            <a:r>
              <a:rPr lang="zh-CN" altLang="en-US" dirty="0"/>
              <a:t>交易时间、成交金额</a:t>
            </a:r>
            <a:endParaRPr lang="zh-CN" altLang="en-US" dirty="0"/>
          </a:p>
          <a:p>
            <a:endParaRPr lang="zh-CN" altLang="en-US" dirty="0"/>
          </a:p>
        </p:txBody>
      </p:sp>
    </p:spTree>
  </p:cSld>
  <p:clrMapOvr>
    <a:masterClrMapping/>
  </p:clrMapOvr>
  <p:transition advClick="0"/>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p:cNvSpPr>
          <p:nvPr>
            <p:ph type="title"/>
          </p:nvPr>
        </p:nvSpPr>
        <p:spPr/>
        <p:txBody>
          <a:bodyPr vert="horz" wrap="square" lIns="91440" tIns="45720" rIns="91440" bIns="45720" anchor="b" anchorCtr="0"/>
          <a:lstStyle/>
          <a:p>
            <a:r>
              <a:rPr lang="zh-CN" altLang="en-US" dirty="0"/>
              <a:t>（</a:t>
            </a:r>
            <a:r>
              <a:rPr lang="en-US" altLang="zh-CN" b="1" dirty="0"/>
              <a:t>5</a:t>
            </a:r>
            <a:r>
              <a:rPr lang="zh-CN" altLang="en-US" b="1" dirty="0"/>
              <a:t>）一个实体内部的联系</a:t>
            </a:r>
            <a:endParaRPr lang="zh-CN" altLang="en-US" dirty="0"/>
          </a:p>
        </p:txBody>
      </p:sp>
      <p:sp>
        <p:nvSpPr>
          <p:cNvPr id="97283" name="内容占位符 2"/>
          <p:cNvSpPr>
            <a:spLocks noGrp="1"/>
          </p:cNvSpPr>
          <p:nvPr>
            <p:ph idx="1"/>
          </p:nvPr>
        </p:nvSpPr>
        <p:spPr>
          <a:xfrm>
            <a:off x="757555" y="1143000"/>
            <a:ext cx="9091295" cy="4876800"/>
          </a:xfrm>
        </p:spPr>
        <p:txBody>
          <a:bodyPr vert="horz" wrap="square" lIns="91440" tIns="45720" rIns="91440" bIns="45720" anchor="t" anchorCtr="0"/>
          <a:lstStyle/>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r>
              <a:rPr kumimoji="0" lang="zh-CN" altLang="en-US" sz="3000" b="1" i="0" u="none" strike="noStrike" kern="0" cap="none" spc="0" normalizeH="0" baseline="0" noProof="1">
                <a:solidFill>
                  <a:schemeClr val="tx1"/>
                </a:solidFill>
                <a:latin typeface="+mn-lt"/>
                <a:ea typeface="+mn-ea"/>
                <a:cs typeface="+mn-cs"/>
              </a:rPr>
              <a:t>一对多：一方的主码加入到多方。 </a:t>
            </a:r>
            <a:endParaRPr kumimoji="0" lang="zh-CN" altLang="en-US" sz="3000" b="1"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endParaRPr kumimoji="0" lang="zh-CN" altLang="en-US" sz="3000" b="0"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endParaRPr kumimoji="0" lang="zh-CN" altLang="en-US" sz="3000" b="0"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endParaRPr kumimoji="0" lang="zh-CN" altLang="en-US" sz="3000" b="0" i="0" u="none" strike="noStrike" kern="0" cap="none" spc="0" normalizeH="0" baseline="0" noProof="1">
              <a:solidFill>
                <a:schemeClr val="tx1"/>
              </a:solidFill>
              <a:latin typeface="+mn-lt"/>
              <a:ea typeface="+mn-ea"/>
              <a:cs typeface="+mn-cs"/>
            </a:endParaRPr>
          </a:p>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pPr>
            <a:r>
              <a:rPr kumimoji="0" lang="zh-CN" altLang="en-US" sz="3000" b="0" i="0" u="none" strike="noStrike" kern="0" cap="none" spc="0" normalizeH="0" baseline="0" noProof="1">
                <a:solidFill>
                  <a:schemeClr val="tx1"/>
                </a:solidFill>
                <a:latin typeface="+mn-lt"/>
                <a:ea typeface="+mn-ea"/>
                <a:cs typeface="+mn-cs"/>
              </a:rPr>
              <a:t>多对多：联系转换成一个表</a:t>
            </a:r>
            <a:endParaRPr kumimoji="0" lang="zh-CN" altLang="en-US" sz="3000" b="0" i="0" u="none" strike="noStrike" kern="0" cap="none" spc="0" normalizeH="0" baseline="0" noProof="1">
              <a:solidFill>
                <a:schemeClr val="tx1"/>
              </a:solidFill>
              <a:latin typeface="+mn-lt"/>
              <a:ea typeface="+mn-ea"/>
              <a:cs typeface="+mn-cs"/>
            </a:endParaRPr>
          </a:p>
        </p:txBody>
      </p:sp>
      <p:grpSp>
        <p:nvGrpSpPr>
          <p:cNvPr id="4" name="Group 16"/>
          <p:cNvGrpSpPr/>
          <p:nvPr/>
        </p:nvGrpSpPr>
        <p:grpSpPr>
          <a:xfrm>
            <a:off x="9638665" y="4508183"/>
            <a:ext cx="1535113" cy="1425575"/>
            <a:chOff x="4106" y="1117"/>
            <a:chExt cx="877" cy="1224"/>
          </a:xfrm>
        </p:grpSpPr>
        <p:sp>
          <p:nvSpPr>
            <p:cNvPr id="102404" name="Line 8"/>
            <p:cNvSpPr/>
            <p:nvPr/>
          </p:nvSpPr>
          <p:spPr>
            <a:xfrm flipV="1">
              <a:off x="4635" y="1490"/>
              <a:ext cx="0" cy="471"/>
            </a:xfrm>
            <a:prstGeom prst="line">
              <a:avLst/>
            </a:prstGeom>
            <a:ln w="9525" cap="flat" cmpd="sng">
              <a:solidFill>
                <a:schemeClr val="tx1"/>
              </a:solidFill>
              <a:prstDash val="solid"/>
              <a:round/>
              <a:headEnd type="none" w="med" len="med"/>
              <a:tailEnd type="none" w="med" len="med"/>
            </a:ln>
          </p:spPr>
        </p:sp>
        <p:sp>
          <p:nvSpPr>
            <p:cNvPr id="102405" name="Line 8"/>
            <p:cNvSpPr/>
            <p:nvPr/>
          </p:nvSpPr>
          <p:spPr>
            <a:xfrm flipV="1">
              <a:off x="4429" y="1461"/>
              <a:ext cx="0" cy="471"/>
            </a:xfrm>
            <a:prstGeom prst="line">
              <a:avLst/>
            </a:prstGeom>
            <a:ln w="9525" cap="flat" cmpd="sng">
              <a:solidFill>
                <a:schemeClr val="tx1"/>
              </a:solidFill>
              <a:prstDash val="solid"/>
              <a:round/>
              <a:headEnd type="none" w="med" len="med"/>
              <a:tailEnd type="none" w="med" len="med"/>
            </a:ln>
          </p:spPr>
        </p:sp>
        <p:sp>
          <p:nvSpPr>
            <p:cNvPr id="102406" name="Text Box 5"/>
            <p:cNvSpPr txBox="1"/>
            <p:nvPr/>
          </p:nvSpPr>
          <p:spPr>
            <a:xfrm>
              <a:off x="4151" y="1117"/>
              <a:ext cx="746"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eaLnBrk="0" hangingPunct="0">
                <a:spcBef>
                  <a:spcPct val="50000"/>
                </a:spcBef>
              </a:pPr>
              <a:r>
                <a:rPr lang="zh-CN" altLang="en-US" sz="2400" dirty="0">
                  <a:latin typeface="Times New Roman" panose="02020603050405020304" pitchFamily="18" charset="0"/>
                  <a:ea typeface="楷体_GB2312" pitchFamily="49" charset="-122"/>
                </a:rPr>
                <a:t>用户</a:t>
              </a:r>
              <a:endParaRPr lang="zh-CN" altLang="en-US" sz="2400" dirty="0">
                <a:latin typeface="Times New Roman" panose="02020603050405020304" pitchFamily="18" charset="0"/>
                <a:ea typeface="楷体_GB2312" pitchFamily="49" charset="-122"/>
              </a:endParaRPr>
            </a:p>
          </p:txBody>
        </p:sp>
        <p:sp>
          <p:nvSpPr>
            <p:cNvPr id="102407" name="AutoShape 6"/>
            <p:cNvSpPr/>
            <p:nvPr/>
          </p:nvSpPr>
          <p:spPr>
            <a:xfrm>
              <a:off x="4106" y="1870"/>
              <a:ext cx="877" cy="471"/>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400" dirty="0">
                  <a:latin typeface="Times New Roman" panose="02020603050405020304" pitchFamily="18" charset="0"/>
                  <a:ea typeface="楷体_GB2312" pitchFamily="49" charset="-122"/>
                </a:rPr>
                <a:t>关注</a:t>
              </a:r>
              <a:endParaRPr lang="zh-CN" altLang="en-US" sz="2400" dirty="0">
                <a:latin typeface="Times New Roman" panose="02020603050405020304" pitchFamily="18" charset="0"/>
                <a:ea typeface="楷体_GB2312" pitchFamily="49" charset="-122"/>
              </a:endParaRPr>
            </a:p>
          </p:txBody>
        </p:sp>
        <p:sp>
          <p:nvSpPr>
            <p:cNvPr id="102408" name="Text Box 10"/>
            <p:cNvSpPr txBox="1"/>
            <p:nvPr/>
          </p:nvSpPr>
          <p:spPr>
            <a:xfrm>
              <a:off x="4153" y="1541"/>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102409" name="Text Box 15"/>
            <p:cNvSpPr txBox="1"/>
            <p:nvPr/>
          </p:nvSpPr>
          <p:spPr>
            <a:xfrm>
              <a:off x="4717" y="1506"/>
              <a:ext cx="219" cy="260"/>
            </a:xfrm>
            <a:prstGeom prst="rect">
              <a:avLst/>
            </a:prstGeom>
            <a:noFill/>
            <a:ln w="9525">
              <a:noFill/>
            </a:ln>
          </p:spPr>
          <p:txBody>
            <a:bodyPr anchor="t" anchorCtr="0"/>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grpSp>
      <p:grpSp>
        <p:nvGrpSpPr>
          <p:cNvPr id="17" name="Group 16"/>
          <p:cNvGrpSpPr/>
          <p:nvPr/>
        </p:nvGrpSpPr>
        <p:grpSpPr>
          <a:xfrm>
            <a:off x="9480550" y="1844358"/>
            <a:ext cx="1535113" cy="1425575"/>
            <a:chOff x="4106" y="1117"/>
            <a:chExt cx="877" cy="1224"/>
          </a:xfrm>
        </p:grpSpPr>
        <p:sp>
          <p:nvSpPr>
            <p:cNvPr id="102411" name="Line 8"/>
            <p:cNvSpPr/>
            <p:nvPr/>
          </p:nvSpPr>
          <p:spPr>
            <a:xfrm flipV="1">
              <a:off x="4635" y="1490"/>
              <a:ext cx="0" cy="471"/>
            </a:xfrm>
            <a:prstGeom prst="line">
              <a:avLst/>
            </a:prstGeom>
            <a:ln w="9525" cap="flat" cmpd="sng">
              <a:solidFill>
                <a:schemeClr val="tx1"/>
              </a:solidFill>
              <a:prstDash val="solid"/>
              <a:round/>
              <a:headEnd type="none" w="med" len="med"/>
              <a:tailEnd type="none" w="med" len="med"/>
            </a:ln>
          </p:spPr>
        </p:sp>
        <p:sp>
          <p:nvSpPr>
            <p:cNvPr id="102412" name="Line 8"/>
            <p:cNvSpPr/>
            <p:nvPr/>
          </p:nvSpPr>
          <p:spPr>
            <a:xfrm flipV="1">
              <a:off x="4429" y="1461"/>
              <a:ext cx="0" cy="471"/>
            </a:xfrm>
            <a:prstGeom prst="line">
              <a:avLst/>
            </a:prstGeom>
            <a:ln w="9525" cap="flat" cmpd="sng">
              <a:solidFill>
                <a:schemeClr val="tx1"/>
              </a:solidFill>
              <a:prstDash val="solid"/>
              <a:round/>
              <a:headEnd type="none" w="med" len="med"/>
              <a:tailEnd type="none" w="med" len="med"/>
            </a:ln>
          </p:spPr>
        </p:sp>
        <p:sp>
          <p:nvSpPr>
            <p:cNvPr id="102413" name="Text Box 5"/>
            <p:cNvSpPr txBox="1"/>
            <p:nvPr/>
          </p:nvSpPr>
          <p:spPr>
            <a:xfrm>
              <a:off x="4151" y="1117"/>
              <a:ext cx="746" cy="395"/>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spAutoFit/>
            </a:bodyPr>
            <a:lstStyle/>
            <a:p>
              <a:pPr algn="ctr" eaLnBrk="0" hangingPunct="0">
                <a:spcBef>
                  <a:spcPct val="50000"/>
                </a:spcBef>
              </a:pPr>
              <a:r>
                <a:rPr lang="zh-CN" altLang="en-US" sz="2400" dirty="0">
                  <a:latin typeface="Times New Roman" panose="02020603050405020304" pitchFamily="18" charset="0"/>
                  <a:ea typeface="楷体_GB2312" pitchFamily="49" charset="-122"/>
                </a:rPr>
                <a:t>职工</a:t>
              </a:r>
              <a:endParaRPr lang="zh-CN" altLang="en-US" sz="2400" dirty="0">
                <a:latin typeface="Times New Roman" panose="02020603050405020304" pitchFamily="18" charset="0"/>
                <a:ea typeface="楷体_GB2312" pitchFamily="49" charset="-122"/>
              </a:endParaRPr>
            </a:p>
          </p:txBody>
        </p:sp>
        <p:sp>
          <p:nvSpPr>
            <p:cNvPr id="102414" name="AutoShape 6"/>
            <p:cNvSpPr/>
            <p:nvPr/>
          </p:nvSpPr>
          <p:spPr>
            <a:xfrm>
              <a:off x="4106" y="1870"/>
              <a:ext cx="877" cy="471"/>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2400" dirty="0">
                  <a:latin typeface="Times New Roman" panose="02020603050405020304" pitchFamily="18" charset="0"/>
                  <a:ea typeface="楷体_GB2312" pitchFamily="49" charset="-122"/>
                </a:rPr>
                <a:t>领导</a:t>
              </a:r>
              <a:endParaRPr lang="zh-CN" altLang="en-US" sz="2400" dirty="0">
                <a:latin typeface="Times New Roman" panose="02020603050405020304" pitchFamily="18" charset="0"/>
                <a:ea typeface="楷体_GB2312" pitchFamily="49" charset="-122"/>
              </a:endParaRPr>
            </a:p>
          </p:txBody>
        </p:sp>
        <p:sp>
          <p:nvSpPr>
            <p:cNvPr id="102415" name="Text Box 10"/>
            <p:cNvSpPr txBox="1"/>
            <p:nvPr/>
          </p:nvSpPr>
          <p:spPr>
            <a:xfrm>
              <a:off x="4153" y="1541"/>
              <a:ext cx="219" cy="395"/>
            </a:xfrm>
            <a:prstGeom prst="rect">
              <a:avLst/>
            </a:prstGeom>
            <a:noFill/>
            <a:ln w="9525">
              <a:noFill/>
            </a:ln>
          </p:spPr>
          <p:txBody>
            <a:bodyPr anchor="t" anchorCtr="0">
              <a:spAutoFit/>
            </a:bodyPr>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102416" name="Text Box 15"/>
            <p:cNvSpPr txBox="1"/>
            <p:nvPr/>
          </p:nvSpPr>
          <p:spPr>
            <a:xfrm>
              <a:off x="4717" y="1506"/>
              <a:ext cx="219" cy="260"/>
            </a:xfrm>
            <a:prstGeom prst="rect">
              <a:avLst/>
            </a:prstGeom>
            <a:noFill/>
            <a:ln w="9525">
              <a:noFill/>
            </a:ln>
          </p:spPr>
          <p:txBody>
            <a:bodyPr anchor="t" anchorCtr="0"/>
            <a:lstStyle/>
            <a:p>
              <a:pPr eaLnBrk="0" hangingPunct="0">
                <a:spcBef>
                  <a:spcPct val="50000"/>
                </a:spcBef>
              </a:pP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grpSp>
      <p:sp>
        <p:nvSpPr>
          <p:cNvPr id="24" name="TextBox 15"/>
          <p:cNvSpPr txBox="1"/>
          <p:nvPr/>
        </p:nvSpPr>
        <p:spPr>
          <a:xfrm>
            <a:off x="1384300" y="1717675"/>
            <a:ext cx="7142480" cy="1383665"/>
          </a:xfrm>
          <a:prstGeom prst="rect">
            <a:avLst/>
          </a:prstGeom>
          <a:noFill/>
          <a:ln w="9525">
            <a:noFill/>
          </a:ln>
        </p:spPr>
        <p:txBody>
          <a:bodyPr wrap="square" anchor="t" anchorCtr="0">
            <a:spAutoFit/>
          </a:bodyPr>
          <a:lstStyle/>
          <a:p>
            <a:pPr eaLnBrk="0" hangingPunct="0"/>
            <a:r>
              <a:rPr lang="zh-CN" altLang="en-US" sz="2800" dirty="0">
                <a:latin typeface="Verdana" panose="020B0604030504040204" pitchFamily="34" charset="0"/>
                <a:ea typeface="宋体" panose="02010600030101010101" pitchFamily="2" charset="-122"/>
              </a:rPr>
              <a:t>职工属性：职工号，姓名，性别</a:t>
            </a:r>
            <a:endParaRPr lang="zh-CN" altLang="en-US" sz="2800" dirty="0">
              <a:latin typeface="Verdana" panose="020B0604030504040204" pitchFamily="34" charset="0"/>
              <a:ea typeface="宋体" panose="02010600030101010101" pitchFamily="2" charset="-122"/>
            </a:endParaRPr>
          </a:p>
          <a:p>
            <a:pPr eaLnBrk="0" hangingPunct="0"/>
            <a:endParaRPr lang="zh-CN" altLang="en-US" sz="2800" dirty="0">
              <a:latin typeface="Verdana" panose="020B0604030504040204" pitchFamily="34" charset="0"/>
              <a:ea typeface="宋体" panose="02010600030101010101" pitchFamily="2" charset="-122"/>
            </a:endParaRPr>
          </a:p>
          <a:p>
            <a:pPr eaLnBrk="0" hangingPunct="0"/>
            <a:r>
              <a:rPr lang="zh-CN" altLang="en-US" sz="2800" dirty="0">
                <a:latin typeface="Verdana" panose="020B0604030504040204" pitchFamily="34" charset="0"/>
                <a:ea typeface="宋体" panose="02010600030101010101" pitchFamily="2" charset="-122"/>
              </a:rPr>
              <a:t>职工表（</a:t>
            </a:r>
            <a:r>
              <a:rPr lang="zh-CN" altLang="en-US" sz="2800" u="sng" dirty="0">
                <a:latin typeface="Verdana" panose="020B0604030504040204" pitchFamily="34" charset="0"/>
                <a:ea typeface="宋体" panose="02010600030101010101" pitchFamily="2" charset="-122"/>
              </a:rPr>
              <a:t>职工号</a:t>
            </a:r>
            <a:r>
              <a:rPr lang="zh-CN" altLang="en-US" sz="2800" dirty="0">
                <a:latin typeface="Verdana" panose="020B0604030504040204" pitchFamily="34" charset="0"/>
                <a:ea typeface="宋体" panose="02010600030101010101" pitchFamily="2" charset="-122"/>
              </a:rPr>
              <a:t>，姓名，性别，</a:t>
            </a:r>
            <a:r>
              <a:rPr lang="zh-CN" altLang="en-US" sz="2800" dirty="0">
                <a:solidFill>
                  <a:srgbClr val="FF0000"/>
                </a:solidFill>
                <a:latin typeface="Verdana" panose="020B0604030504040204" pitchFamily="34" charset="0"/>
                <a:ea typeface="宋体" panose="02010600030101010101" pitchFamily="2" charset="-122"/>
              </a:rPr>
              <a:t>领导工号</a:t>
            </a:r>
            <a:r>
              <a:rPr lang="zh-CN" altLang="en-US" sz="2800" dirty="0">
                <a:latin typeface="Verdana" panose="020B0604030504040204" pitchFamily="34" charset="0"/>
                <a:ea typeface="宋体" panose="02010600030101010101" pitchFamily="2" charset="-122"/>
              </a:rPr>
              <a:t>）</a:t>
            </a:r>
            <a:endParaRPr lang="zh-CN" altLang="en-US" sz="2800" dirty="0">
              <a:latin typeface="Verdana" panose="020B0604030504040204" pitchFamily="34" charset="0"/>
              <a:ea typeface="宋体" panose="02010600030101010101" pitchFamily="2" charset="-122"/>
            </a:endParaRPr>
          </a:p>
        </p:txBody>
      </p:sp>
      <p:sp>
        <p:nvSpPr>
          <p:cNvPr id="25" name="TextBox 15"/>
          <p:cNvSpPr txBox="1"/>
          <p:nvPr/>
        </p:nvSpPr>
        <p:spPr>
          <a:xfrm>
            <a:off x="1343660" y="3990340"/>
            <a:ext cx="7691755" cy="2245360"/>
          </a:xfrm>
          <a:prstGeom prst="rect">
            <a:avLst/>
          </a:prstGeom>
          <a:noFill/>
          <a:ln w="9525">
            <a:noFill/>
          </a:ln>
        </p:spPr>
        <p:txBody>
          <a:bodyPr wrap="square" anchor="t" anchorCtr="0">
            <a:spAutoFit/>
          </a:bodyPr>
          <a:lstStyle/>
          <a:p>
            <a:pPr eaLnBrk="0" hangingPunct="0"/>
            <a:r>
              <a:rPr lang="zh-CN" altLang="en-US" sz="2800" dirty="0">
                <a:latin typeface="Verdana" panose="020B0604030504040204" pitchFamily="34" charset="0"/>
                <a:ea typeface="宋体" panose="02010600030101010101" pitchFamily="2" charset="-122"/>
              </a:rPr>
              <a:t>用户属性：用户工号，姓名，性别</a:t>
            </a:r>
            <a:endParaRPr lang="zh-CN" altLang="en-US" sz="2800" dirty="0">
              <a:latin typeface="Verdana" panose="020B0604030504040204" pitchFamily="34" charset="0"/>
              <a:ea typeface="宋体" panose="02010600030101010101" pitchFamily="2" charset="-122"/>
            </a:endParaRPr>
          </a:p>
          <a:p>
            <a:pPr eaLnBrk="0" hangingPunct="0"/>
            <a:r>
              <a:rPr lang="zh-CN" altLang="en-US" sz="2800" dirty="0">
                <a:latin typeface="Verdana" panose="020B0604030504040204" pitchFamily="34" charset="0"/>
                <a:ea typeface="宋体" panose="02010600030101010101" pitchFamily="2" charset="-122"/>
              </a:rPr>
              <a:t>关注属性：关注时间</a:t>
            </a:r>
            <a:endParaRPr lang="zh-CN" altLang="en-US" sz="2800" dirty="0">
              <a:latin typeface="Verdana" panose="020B0604030504040204" pitchFamily="34" charset="0"/>
              <a:ea typeface="宋体" panose="02010600030101010101" pitchFamily="2" charset="-122"/>
            </a:endParaRPr>
          </a:p>
          <a:p>
            <a:pPr eaLnBrk="0" hangingPunct="0"/>
            <a:endParaRPr lang="zh-CN" altLang="en-US" sz="2800" dirty="0">
              <a:latin typeface="Verdana" panose="020B0604030504040204" pitchFamily="34" charset="0"/>
              <a:ea typeface="宋体" panose="02010600030101010101" pitchFamily="2" charset="-122"/>
            </a:endParaRPr>
          </a:p>
          <a:p>
            <a:pPr eaLnBrk="0" hangingPunct="0"/>
            <a:r>
              <a:rPr lang="zh-CN" altLang="en-US" sz="2800" dirty="0">
                <a:latin typeface="Verdana" panose="020B0604030504040204" pitchFamily="34" charset="0"/>
                <a:ea typeface="宋体" panose="02010600030101010101" pitchFamily="2" charset="-122"/>
              </a:rPr>
              <a:t>用户表（</a:t>
            </a:r>
            <a:r>
              <a:rPr lang="zh-CN" altLang="en-US" sz="2800" u="sng" dirty="0">
                <a:latin typeface="Verdana" panose="020B0604030504040204" pitchFamily="34" charset="0"/>
                <a:ea typeface="宋体" panose="02010600030101010101" pitchFamily="2" charset="-122"/>
              </a:rPr>
              <a:t>用户工号</a:t>
            </a:r>
            <a:r>
              <a:rPr lang="zh-CN" altLang="en-US" sz="2800" dirty="0">
                <a:latin typeface="Verdana" panose="020B0604030504040204" pitchFamily="34" charset="0"/>
                <a:ea typeface="宋体" panose="02010600030101010101" pitchFamily="2" charset="-122"/>
              </a:rPr>
              <a:t>，姓名，性别）</a:t>
            </a:r>
            <a:endParaRPr lang="zh-CN" altLang="en-US" sz="2800" dirty="0">
              <a:latin typeface="Verdana" panose="020B0604030504040204" pitchFamily="34" charset="0"/>
              <a:ea typeface="宋体" panose="02010600030101010101" pitchFamily="2" charset="-122"/>
            </a:endParaRPr>
          </a:p>
          <a:p>
            <a:pPr eaLnBrk="0" hangingPunct="0"/>
            <a:r>
              <a:rPr lang="zh-CN" altLang="en-US" sz="2800" dirty="0">
                <a:latin typeface="Verdana" panose="020B0604030504040204" pitchFamily="34" charset="0"/>
                <a:ea typeface="宋体" panose="02010600030101010101" pitchFamily="2" charset="-122"/>
              </a:rPr>
              <a:t>关注表（</a:t>
            </a:r>
            <a:r>
              <a:rPr lang="zh-CN" altLang="en-US" sz="2800" u="sng" dirty="0">
                <a:latin typeface="Verdana" panose="020B0604030504040204" pitchFamily="34" charset="0"/>
                <a:ea typeface="宋体" panose="02010600030101010101" pitchFamily="2" charset="-122"/>
              </a:rPr>
              <a:t>关注者</a:t>
            </a:r>
            <a:r>
              <a:rPr lang="zh-CN" altLang="en-US" sz="2800" u="sng" dirty="0">
                <a:latin typeface="Verdana" panose="020B0604030504040204" pitchFamily="34" charset="0"/>
                <a:ea typeface="宋体" panose="02010600030101010101" pitchFamily="2" charset="-122"/>
                <a:sym typeface="宋体" panose="02010600030101010101" pitchFamily="2" charset="-122"/>
              </a:rPr>
              <a:t>工号，</a:t>
            </a:r>
            <a:r>
              <a:rPr lang="zh-CN" altLang="en-US" sz="2800" u="sng" dirty="0">
                <a:latin typeface="Verdana" panose="020B0604030504040204" pitchFamily="34" charset="0"/>
                <a:ea typeface="宋体" panose="02010600030101010101" pitchFamily="2" charset="-122"/>
              </a:rPr>
              <a:t>被注者</a:t>
            </a:r>
            <a:r>
              <a:rPr lang="zh-CN" altLang="en-US" sz="2800" u="sng" dirty="0">
                <a:latin typeface="Verdana" panose="020B0604030504040204" pitchFamily="34" charset="0"/>
                <a:ea typeface="宋体" panose="02010600030101010101" pitchFamily="2" charset="-122"/>
                <a:sym typeface="宋体" panose="02010600030101010101" pitchFamily="2" charset="-122"/>
              </a:rPr>
              <a:t>工号</a:t>
            </a:r>
            <a:r>
              <a:rPr lang="zh-CN" altLang="en-US" sz="2800" dirty="0">
                <a:latin typeface="Verdana" panose="020B0604030504040204" pitchFamily="34" charset="0"/>
                <a:ea typeface="宋体" panose="02010600030101010101" pitchFamily="2" charset="-122"/>
                <a:sym typeface="宋体" panose="02010600030101010101" pitchFamily="2" charset="-122"/>
              </a:rPr>
              <a:t>，关注时间</a:t>
            </a:r>
            <a:r>
              <a:rPr lang="zh-CN" altLang="en-US" sz="2800" dirty="0">
                <a:latin typeface="Verdana" panose="020B0604030504040204" pitchFamily="34" charset="0"/>
                <a:ea typeface="宋体" panose="02010600030101010101" pitchFamily="2" charset="-122"/>
              </a:rPr>
              <a:t>）</a:t>
            </a:r>
            <a:endParaRPr lang="zh-CN" altLang="en-US" sz="2800"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ppt_w*0.05"/>
                                          </p:val>
                                        </p:tav>
                                        <p:tav tm="100000">
                                          <p:val>
                                            <p:strVal val="#ppt_w"/>
                                          </p:val>
                                        </p:tav>
                                      </p:tavLst>
                                    </p:anim>
                                    <p:anim calcmode="lin" valueType="num">
                                      <p:cBhvr>
                                        <p:cTn id="8" dur="500" fill="hold"/>
                                        <p:tgtEl>
                                          <p:spTgt spid="17"/>
                                        </p:tgtEl>
                                        <p:attrNameLst>
                                          <p:attrName>ppt_h</p:attrName>
                                        </p:attrNameLst>
                                      </p:cBhvr>
                                      <p:tavLst>
                                        <p:tav tm="0">
                                          <p:val>
                                            <p:strVal val="#ppt_h"/>
                                          </p:val>
                                        </p:tav>
                                        <p:tav tm="100000">
                                          <p:val>
                                            <p:strVal val="#ppt_h"/>
                                          </p:val>
                                        </p:tav>
                                      </p:tavLst>
                                    </p:anim>
                                    <p:anim calcmode="lin" valueType="num">
                                      <p:cBhvr>
                                        <p:cTn id="9" dur="500" fill="hold"/>
                                        <p:tgtEl>
                                          <p:spTgt spid="17"/>
                                        </p:tgtEl>
                                        <p:attrNameLst>
                                          <p:attrName>ppt_x</p:attrName>
                                        </p:attrNameLst>
                                      </p:cBhvr>
                                      <p:tavLst>
                                        <p:tav tm="0">
                                          <p:val>
                                            <p:strVal val="#ppt_x-.2"/>
                                          </p:val>
                                        </p:tav>
                                        <p:tav tm="100000">
                                          <p:val>
                                            <p:strVal val="#ppt_x"/>
                                          </p:val>
                                        </p:tav>
                                      </p:tavLst>
                                    </p:anim>
                                    <p:anim calcmode="lin" valueType="num">
                                      <p:cBhvr>
                                        <p:cTn id="10" dur="500" fill="hold"/>
                                        <p:tgtEl>
                                          <p:spTgt spid="17"/>
                                        </p:tgtEl>
                                        <p:attrNameLst>
                                          <p:attrName>ppt_y</p:attrName>
                                        </p:attrNameLst>
                                      </p:cBhvr>
                                      <p:tavLst>
                                        <p:tav tm="0">
                                          <p:val>
                                            <p:strVal val="#ppt_y"/>
                                          </p:val>
                                        </p:tav>
                                        <p:tav tm="100000">
                                          <p:val>
                                            <p:strVal val="#ppt_y"/>
                                          </p:val>
                                        </p:tav>
                                      </p:tavLst>
                                    </p:anim>
                                    <p:animEffect transition="in" filter="fad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blinds(horizontal)">
                                      <p:cBhvr>
                                        <p:cTn id="16" dur="500"/>
                                        <p:tgtEl>
                                          <p:spTgt spid="2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4">
                                            <p:txEl>
                                              <p:pRg st="2" end="2"/>
                                            </p:txEl>
                                          </p:spTgt>
                                        </p:tgtEl>
                                        <p:attrNameLst>
                                          <p:attrName>style.visibility</p:attrName>
                                        </p:attrNameLst>
                                      </p:cBhvr>
                                      <p:to>
                                        <p:strVal val="visible"/>
                                      </p:to>
                                    </p:set>
                                    <p:animEffect transition="in" filter="blinds(horizontal)">
                                      <p:cBhvr>
                                        <p:cTn id="21" dur="500"/>
                                        <p:tgtEl>
                                          <p:spTgt spid="2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4" presetClass="entr" presetSubtype="0" accel="10000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strVal val="#ppt_w*0.05"/>
                                          </p:val>
                                        </p:tav>
                                        <p:tav tm="100000">
                                          <p:val>
                                            <p:strVal val="#ppt_w"/>
                                          </p:val>
                                        </p:tav>
                                      </p:tavLst>
                                    </p:anim>
                                    <p:anim calcmode="lin" valueType="num">
                                      <p:cBhvr>
                                        <p:cTn id="27" dur="500" fill="hold"/>
                                        <p:tgtEl>
                                          <p:spTgt spid="4"/>
                                        </p:tgtEl>
                                        <p:attrNameLst>
                                          <p:attrName>ppt_h</p:attrName>
                                        </p:attrNameLst>
                                      </p:cBhvr>
                                      <p:tavLst>
                                        <p:tav tm="0">
                                          <p:val>
                                            <p:strVal val="#ppt_h"/>
                                          </p:val>
                                        </p:tav>
                                        <p:tav tm="100000">
                                          <p:val>
                                            <p:strVal val="#ppt_h"/>
                                          </p:val>
                                        </p:tav>
                                      </p:tavLst>
                                    </p:anim>
                                    <p:anim calcmode="lin" valueType="num">
                                      <p:cBhvr>
                                        <p:cTn id="28" dur="500" fill="hold"/>
                                        <p:tgtEl>
                                          <p:spTgt spid="4"/>
                                        </p:tgtEl>
                                        <p:attrNameLst>
                                          <p:attrName>ppt_x</p:attrName>
                                        </p:attrNameLst>
                                      </p:cBhvr>
                                      <p:tavLst>
                                        <p:tav tm="0">
                                          <p:val>
                                            <p:strVal val="#ppt_x-.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5">
                                            <p:txEl>
                                              <p:pRg st="0" end="0"/>
                                            </p:txEl>
                                          </p:spTgt>
                                        </p:tgtEl>
                                        <p:attrNameLst>
                                          <p:attrName>style.visibility</p:attrName>
                                        </p:attrNameLst>
                                      </p:cBhvr>
                                      <p:to>
                                        <p:strVal val="visible"/>
                                      </p:to>
                                    </p:set>
                                    <p:animEffect transition="in" filter="blinds(horizontal)">
                                      <p:cBhvr>
                                        <p:cTn id="35" dur="500"/>
                                        <p:tgtEl>
                                          <p:spTgt spid="2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5">
                                            <p:txEl>
                                              <p:pRg st="1" end="1"/>
                                            </p:txEl>
                                          </p:spTgt>
                                        </p:tgtEl>
                                        <p:attrNameLst>
                                          <p:attrName>style.visibility</p:attrName>
                                        </p:attrNameLst>
                                      </p:cBhvr>
                                      <p:to>
                                        <p:strVal val="visible"/>
                                      </p:to>
                                    </p:set>
                                    <p:animEffect transition="in" filter="blinds(horizontal)">
                                      <p:cBhvr>
                                        <p:cTn id="40" dur="500"/>
                                        <p:tgtEl>
                                          <p:spTgt spid="25">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5">
                                            <p:txEl>
                                              <p:pRg st="3" end="3"/>
                                            </p:txEl>
                                          </p:spTgt>
                                        </p:tgtEl>
                                        <p:attrNameLst>
                                          <p:attrName>style.visibility</p:attrName>
                                        </p:attrNameLst>
                                      </p:cBhvr>
                                      <p:to>
                                        <p:strVal val="visible"/>
                                      </p:to>
                                    </p:set>
                                    <p:animEffect transition="in" filter="blinds(horizontal)">
                                      <p:cBhvr>
                                        <p:cTn id="45" dur="500"/>
                                        <p:tgtEl>
                                          <p:spTgt spid="25">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5">
                                            <p:txEl>
                                              <p:pRg st="4" end="4"/>
                                            </p:txEl>
                                          </p:spTgt>
                                        </p:tgtEl>
                                        <p:attrNameLst>
                                          <p:attrName>style.visibility</p:attrName>
                                        </p:attrNameLst>
                                      </p:cBhvr>
                                      <p:to>
                                        <p:strVal val="visible"/>
                                      </p:to>
                                    </p:set>
                                    <p:animEffect transition="in" filter="blinds(horizontal)">
                                      <p:cBhvr>
                                        <p:cTn id="50" dur="500"/>
                                        <p:tgtEl>
                                          <p:spTgt spid="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4" grpId="1"/>
      <p:bldP spid="25" grpId="0" build="p"/>
      <p:bldP spid="25"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6"/>
          <p:cNvSpPr>
            <a:spLocks noGrp="1"/>
          </p:cNvSpPr>
          <p:nvPr>
            <p:ph type="sldNum" sz="quarter" idx="12"/>
          </p:nvPr>
        </p:nvSpPr>
        <p:spPr>
          <a:xfrm>
            <a:off x="2133600" y="6245225"/>
            <a:ext cx="1981200" cy="476250"/>
          </a:xfrm>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9A0DB2DC-4C9A-4742-B13C-FB6460FD3503}" type="slidenum">
              <a:rPr lang="en-US" altLang="zh-CN" sz="1200" dirty="0"/>
            </a:fld>
            <a:endParaRPr lang="en-US" altLang="zh-CN" sz="1200" dirty="0"/>
          </a:p>
        </p:txBody>
      </p:sp>
      <p:sp>
        <p:nvSpPr>
          <p:cNvPr id="103426" name="Rectangle 2"/>
          <p:cNvSpPr>
            <a:spLocks noGrp="1"/>
          </p:cNvSpPr>
          <p:nvPr>
            <p:ph type="title"/>
          </p:nvPr>
        </p:nvSpPr>
        <p:spPr>
          <a:xfrm>
            <a:off x="1905000" y="214313"/>
            <a:ext cx="8382000" cy="700087"/>
          </a:xfrm>
        </p:spPr>
        <p:txBody>
          <a:bodyPr vert="horz" wrap="square" lIns="91440" tIns="45720" rIns="91440" bIns="45720" anchor="b" anchorCtr="0"/>
          <a:lstStyle/>
          <a:p>
            <a:pPr eaLnBrk="1" hangingPunct="1"/>
            <a:r>
              <a:rPr lang="zh-CN" altLang="en-US" b="1" dirty="0"/>
              <a:t>一个实例</a:t>
            </a:r>
            <a:endParaRPr lang="zh-CN" altLang="en-US" b="1" dirty="0"/>
          </a:p>
        </p:txBody>
      </p:sp>
      <p:pic>
        <p:nvPicPr>
          <p:cNvPr id="51204" name="Picture 4" descr="实例2"/>
          <p:cNvPicPr>
            <a:picLocks noChangeAspect="1"/>
          </p:cNvPicPr>
          <p:nvPr/>
        </p:nvPicPr>
        <p:blipFill>
          <a:blip r:embed="rId1"/>
          <a:srcRect b="6998"/>
          <a:stretch>
            <a:fillRect/>
          </a:stretch>
        </p:blipFill>
        <p:spPr>
          <a:xfrm>
            <a:off x="1543050" y="1123950"/>
            <a:ext cx="8702040" cy="5150485"/>
          </a:xfrm>
          <a:prstGeom prst="rect">
            <a:avLst/>
          </a:prstGeom>
          <a:noFill/>
          <a:ln w="9525">
            <a:noFill/>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p:cNvSpPr>
          <p:nvPr>
            <p:ph type="title"/>
          </p:nvPr>
        </p:nvSpPr>
        <p:spPr/>
        <p:txBody>
          <a:bodyPr vert="horz" wrap="square" lIns="91440" tIns="45720" rIns="91440" bIns="45720" anchor="b" anchorCtr="0"/>
          <a:lstStyle/>
          <a:p>
            <a:r>
              <a:rPr lang="zh-CN" altLang="en-US" dirty="0"/>
              <a:t>（</a:t>
            </a:r>
            <a:r>
              <a:rPr lang="en-US" altLang="zh-CN" b="1" dirty="0"/>
              <a:t>5</a:t>
            </a:r>
            <a:r>
              <a:rPr lang="zh-CN" altLang="en-US" b="1" dirty="0"/>
              <a:t>）具有相同码的关系</a:t>
            </a:r>
            <a:endParaRPr lang="zh-CN" altLang="en-US" dirty="0"/>
          </a:p>
        </p:txBody>
      </p:sp>
      <p:sp>
        <p:nvSpPr>
          <p:cNvPr id="93187"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000" b="1" i="0" u="none" strike="noStrike" kern="0" cap="none" spc="0" normalizeH="0" baseline="0" noProof="0" dirty="0" smtClean="0">
                <a:ln>
                  <a:noFill/>
                </a:ln>
                <a:solidFill>
                  <a:schemeClr val="tx1"/>
                </a:solidFill>
                <a:effectLst/>
                <a:uLnTx/>
                <a:uFillTx/>
                <a:latin typeface="+mn-lt"/>
                <a:ea typeface="+mn-ea"/>
                <a:cs typeface="+mn-cs"/>
              </a:rPr>
              <a:t>具有相同码的关系模式可</a:t>
            </a:r>
            <a:r>
              <a:rPr kumimoji="0" lang="zh-CN" altLang="en-US" sz="3000" b="1" i="0" u="none" strike="noStrike" kern="0" cap="none" spc="0" normalizeH="0" baseline="0" noProof="0" dirty="0" smtClean="0">
                <a:ln>
                  <a:noFill/>
                </a:ln>
                <a:solidFill>
                  <a:srgbClr val="FF0000"/>
                </a:solidFill>
                <a:effectLst/>
                <a:uLnTx/>
                <a:uFillTx/>
                <a:latin typeface="+mn-lt"/>
                <a:ea typeface="+mn-ea"/>
                <a:cs typeface="+mn-cs"/>
              </a:rPr>
              <a:t>合并 </a:t>
            </a:r>
            <a:endParaRPr kumimoji="0" lang="zh-CN" altLang="en-US" sz="3000" b="1" i="0" u="none" strike="noStrike" kern="0" cap="none" spc="0" normalizeH="0" baseline="0" noProof="0" dirty="0" smtClean="0">
              <a:ln>
                <a:noFill/>
              </a:ln>
              <a:solidFill>
                <a:srgbClr val="FF0000"/>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目的：减少系统中的关系个数 </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合并方法： </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 将其中一个关系模式的全部属性加入到另一个关系模式中 </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 然后去掉其中的同义属性（可能同名也可能不同名） </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0" i="0" u="none" strike="noStrike" kern="0" cap="none" spc="0" normalizeH="0" baseline="0" noProof="0" dirty="0" smtClean="0">
                <a:ln>
                  <a:noFill/>
                </a:ln>
                <a:solidFill>
                  <a:schemeClr val="tx1"/>
                </a:solidFill>
                <a:effectLst/>
                <a:uLnTx/>
                <a:uFillTx/>
                <a:latin typeface="+mn-lt"/>
                <a:ea typeface="+mn-ea"/>
                <a:cs typeface="+mn-cs"/>
              </a:rPr>
              <a:t> 适当调整属性的次序 </a:t>
            </a: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p:cNvSpPr>
          <p:nvPr>
            <p:ph type="title"/>
          </p:nvPr>
        </p:nvSpPr>
        <p:spPr/>
        <p:txBody>
          <a:bodyPr vert="horz" wrap="square" lIns="91440" tIns="45720" rIns="91440" bIns="45720" anchor="b" anchorCtr="0"/>
          <a:lstStyle/>
          <a:p>
            <a:r>
              <a:rPr lang="zh-CN" altLang="en-US" dirty="0"/>
              <a:t>综合例题</a:t>
            </a:r>
            <a:endParaRPr lang="zh-CN" altLang="en-US" dirty="0"/>
          </a:p>
        </p:txBody>
      </p:sp>
      <p:sp>
        <p:nvSpPr>
          <p:cNvPr id="105474" name="内容占位符 2"/>
          <p:cNvSpPr>
            <a:spLocks noGrp="1"/>
          </p:cNvSpPr>
          <p:nvPr>
            <p:ph idx="1"/>
          </p:nvPr>
        </p:nvSpPr>
        <p:spPr>
          <a:xfrm>
            <a:off x="839153" y="1412240"/>
            <a:ext cx="4868862" cy="1925638"/>
          </a:xfrm>
        </p:spPr>
        <p:txBody>
          <a:bodyPr vert="horz" wrap="square" lIns="91440" tIns="45720" rIns="91440" bIns="45720" anchor="t" anchorCtr="0"/>
          <a:lstStyle/>
          <a:p>
            <a:r>
              <a:rPr lang="zh-CN" altLang="en-US" dirty="0"/>
              <a:t>第七章作业</a:t>
            </a:r>
            <a:endParaRPr lang="en-US" altLang="zh-CN" dirty="0"/>
          </a:p>
          <a:p>
            <a:r>
              <a:rPr lang="zh-CN" altLang="en-US" dirty="0"/>
              <a:t>三个</a:t>
            </a:r>
            <a:r>
              <a:rPr lang="en-US" altLang="zh-CN" dirty="0"/>
              <a:t>E-R</a:t>
            </a:r>
            <a:r>
              <a:rPr lang="zh-CN" altLang="en-US" dirty="0"/>
              <a:t>图转换成表</a:t>
            </a:r>
            <a:endParaRPr lang="en-US" altLang="zh-CN" dirty="0"/>
          </a:p>
          <a:p>
            <a:r>
              <a:rPr lang="zh-CN" altLang="en-US" dirty="0"/>
              <a:t>表转换成</a:t>
            </a:r>
            <a:r>
              <a:rPr lang="en-US" altLang="zh-CN" dirty="0"/>
              <a:t>E-R</a:t>
            </a:r>
            <a:r>
              <a:rPr lang="zh-CN" altLang="en-US" dirty="0"/>
              <a:t>图也要会</a:t>
            </a:r>
            <a:endParaRPr lang="zh-CN" altLang="en-US" dirty="0"/>
          </a:p>
        </p:txBody>
      </p:sp>
    </p:spTree>
  </p:cSld>
  <p:clrMapOvr>
    <a:masterClrMapping/>
  </p:clrMapOvr>
  <p:transition advClick="0"/>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p:cNvSpPr>
          <p:nvPr>
            <p:ph type="title"/>
          </p:nvPr>
        </p:nvSpPr>
        <p:spPr/>
        <p:txBody>
          <a:bodyPr vert="horz" wrap="square" lIns="91440" tIns="45720" rIns="91440" bIns="45720" anchor="b" anchorCtr="0"/>
          <a:lstStyle/>
          <a:p>
            <a:r>
              <a:rPr lang="en-US" altLang="zh-CN" dirty="0"/>
              <a:t>7.4 </a:t>
            </a:r>
            <a:r>
              <a:rPr lang="zh-CN" altLang="en-US" dirty="0"/>
              <a:t>逻辑结构设计</a:t>
            </a:r>
            <a:endParaRPr lang="zh-CN" altLang="en-US" dirty="0"/>
          </a:p>
        </p:txBody>
      </p:sp>
      <p:sp>
        <p:nvSpPr>
          <p:cNvPr id="106498" name="内容占位符 2"/>
          <p:cNvSpPr>
            <a:spLocks noGrp="1"/>
          </p:cNvSpPr>
          <p:nvPr>
            <p:ph idx="1"/>
          </p:nvPr>
        </p:nvSpPr>
        <p:spPr/>
        <p:txBody>
          <a:bodyPr vert="horz" wrap="square" lIns="91440" tIns="45720" rIns="91440" bIns="45720" anchor="t" anchorCtr="0"/>
          <a:lstStyle/>
          <a:p>
            <a:r>
              <a:rPr lang="en-US" altLang="zh-CN" dirty="0"/>
              <a:t>7.4.1 E-R</a:t>
            </a:r>
            <a:r>
              <a:rPr lang="zh-CN" altLang="en-US" dirty="0"/>
              <a:t>图向关系模型的转换</a:t>
            </a:r>
            <a:endParaRPr lang="en-US" altLang="zh-CN" dirty="0"/>
          </a:p>
          <a:p>
            <a:r>
              <a:rPr lang="en-US" altLang="zh-CN" dirty="0">
                <a:solidFill>
                  <a:srgbClr val="FF0000"/>
                </a:solidFill>
              </a:rPr>
              <a:t>7.4.2 </a:t>
            </a:r>
            <a:r>
              <a:rPr lang="zh-CN" altLang="en-US" dirty="0">
                <a:solidFill>
                  <a:srgbClr val="FF0000"/>
                </a:solidFill>
              </a:rPr>
              <a:t>数据模型的优化</a:t>
            </a:r>
            <a:endParaRPr lang="en-US" altLang="zh-CN" dirty="0">
              <a:solidFill>
                <a:srgbClr val="FF0000"/>
              </a:solidFill>
            </a:endParaRPr>
          </a:p>
          <a:p>
            <a:r>
              <a:rPr lang="en-US" altLang="zh-CN" dirty="0"/>
              <a:t>7.4.3 </a:t>
            </a:r>
            <a:r>
              <a:rPr lang="zh-CN" altLang="en-US" dirty="0"/>
              <a:t>设计用户子模式</a:t>
            </a:r>
            <a:endParaRPr lang="zh-CN" altLang="en-US" dirty="0"/>
          </a:p>
        </p:txBody>
      </p:sp>
    </p:spTree>
  </p:cSld>
  <p:clrMapOvr>
    <a:masterClrMapping/>
  </p:clrMapOvr>
  <p:transition advClick="0"/>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p:cNvSpPr>
          <p:nvPr>
            <p:ph type="title"/>
          </p:nvPr>
        </p:nvSpPr>
        <p:spPr/>
        <p:txBody>
          <a:bodyPr vert="horz" wrap="square" lIns="91440" tIns="45720" rIns="91440" bIns="45720" anchor="b" anchorCtr="0"/>
          <a:lstStyle/>
          <a:p>
            <a:r>
              <a:rPr lang="zh-CN" altLang="en-US" dirty="0"/>
              <a:t>数据模型的优化</a:t>
            </a:r>
            <a:endParaRPr lang="zh-CN" altLang="en-US" dirty="0"/>
          </a:p>
        </p:txBody>
      </p:sp>
      <p:sp>
        <p:nvSpPr>
          <p:cNvPr id="107522" name="内容占位符 2"/>
          <p:cNvSpPr>
            <a:spLocks noGrp="1"/>
          </p:cNvSpPr>
          <p:nvPr>
            <p:ph idx="1"/>
          </p:nvPr>
        </p:nvSpPr>
        <p:spPr/>
        <p:txBody>
          <a:bodyPr vert="horz" wrap="square" lIns="91440" tIns="45720" rIns="91440" bIns="45720" anchor="t" anchorCtr="0"/>
          <a:lstStyle/>
          <a:p>
            <a:r>
              <a:rPr lang="zh-CN" altLang="en-US" dirty="0"/>
              <a:t>数据库逻辑设计的</a:t>
            </a:r>
            <a:r>
              <a:rPr lang="zh-CN" altLang="en-US" b="1" dirty="0">
                <a:solidFill>
                  <a:srgbClr val="FF0000"/>
                </a:solidFill>
              </a:rPr>
              <a:t>结果不是唯一</a:t>
            </a:r>
            <a:r>
              <a:rPr lang="zh-CN" altLang="en-US" dirty="0"/>
              <a:t>的。 </a:t>
            </a:r>
            <a:endParaRPr lang="en-US" altLang="zh-CN" dirty="0"/>
          </a:p>
          <a:p>
            <a:r>
              <a:rPr lang="zh-CN" altLang="en-US" dirty="0"/>
              <a:t>得到初步数据模型后，还应该适当地</a:t>
            </a:r>
            <a:r>
              <a:rPr lang="zh-CN" altLang="en-US" b="1" dirty="0">
                <a:solidFill>
                  <a:srgbClr val="FF0000"/>
                </a:solidFill>
              </a:rPr>
              <a:t>修改、调整</a:t>
            </a:r>
            <a:r>
              <a:rPr lang="zh-CN" altLang="en-US" dirty="0"/>
              <a:t>数据模型的结构，以进一步提高数据库应用系统的性能，这就是数据模型的</a:t>
            </a:r>
            <a:r>
              <a:rPr lang="zh-CN" altLang="en-US" b="1" dirty="0">
                <a:solidFill>
                  <a:srgbClr val="FF0000"/>
                </a:solidFill>
              </a:rPr>
              <a:t>优化</a:t>
            </a:r>
            <a:r>
              <a:rPr lang="zh-CN" altLang="en-US" dirty="0"/>
              <a:t>。 </a:t>
            </a:r>
            <a:endParaRPr lang="en-US" altLang="zh-CN" dirty="0"/>
          </a:p>
          <a:p>
            <a:r>
              <a:rPr lang="zh-CN" altLang="en-US" dirty="0"/>
              <a:t>关系数据模型的优化通常以</a:t>
            </a:r>
            <a:r>
              <a:rPr lang="zh-CN" altLang="en-US" b="1" dirty="0">
                <a:solidFill>
                  <a:srgbClr val="FF0000"/>
                </a:solidFill>
              </a:rPr>
              <a:t>规范化理论</a:t>
            </a:r>
            <a:r>
              <a:rPr lang="zh-CN" altLang="en-US" dirty="0"/>
              <a:t>为指导。</a:t>
            </a:r>
            <a:endParaRPr lang="zh-CN" altLang="en-US" dirty="0"/>
          </a:p>
        </p:txBody>
      </p:sp>
    </p:spTree>
  </p:cSld>
  <p:clrMapOvr>
    <a:masterClrMapping/>
  </p:clrMapOvr>
  <p:transition advClick="0"/>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108546" name="内容占位符 2"/>
          <p:cNvSpPr>
            <a:spLocks noGrp="1"/>
          </p:cNvSpPr>
          <p:nvPr>
            <p:ph idx="1"/>
          </p:nvPr>
        </p:nvSpPr>
        <p:spPr/>
        <p:txBody>
          <a:bodyPr vert="horz" wrap="square" lIns="91440" tIns="45720" rIns="91440" bIns="45720" anchor="t" anchorCtr="0"/>
          <a:lstStyle/>
          <a:p>
            <a:pPr marL="0" indent="0">
              <a:buNone/>
            </a:pPr>
            <a:r>
              <a:rPr lang="zh-CN" altLang="en-US" b="1" dirty="0"/>
              <a:t>（</a:t>
            </a:r>
            <a:r>
              <a:rPr lang="en-US" altLang="zh-CN" b="1" dirty="0"/>
              <a:t>1</a:t>
            </a:r>
            <a:r>
              <a:rPr lang="zh-CN" altLang="en-US" b="1" dirty="0"/>
              <a:t>）</a:t>
            </a:r>
            <a:r>
              <a:rPr lang="zh-CN" altLang="en-US" b="1" dirty="0">
                <a:solidFill>
                  <a:srgbClr val="FF0000"/>
                </a:solidFill>
              </a:rPr>
              <a:t>确定数据依赖 </a:t>
            </a:r>
            <a:r>
              <a:rPr lang="zh-CN" altLang="en-US" b="1" dirty="0"/>
              <a:t>按需求分析阶段所得到的语义，分别写出每个关系模式内部各属性之间的数据依赖以及不同关系模式属性之间数据依赖。</a:t>
            </a:r>
            <a:endParaRPr lang="en-US" altLang="zh-CN" b="1" dirty="0"/>
          </a:p>
          <a:p>
            <a:pPr marL="0" indent="0">
              <a:buNone/>
            </a:pPr>
            <a:r>
              <a:rPr lang="zh-CN" altLang="en-US" b="1" dirty="0"/>
              <a:t>（</a:t>
            </a:r>
            <a:r>
              <a:rPr lang="en-US" altLang="zh-CN" b="1" dirty="0"/>
              <a:t>2</a:t>
            </a:r>
            <a:r>
              <a:rPr lang="zh-CN" altLang="en-US" b="1" dirty="0"/>
              <a:t>）对于各个关系模式之间的数据依赖进行极小化处理，</a:t>
            </a:r>
            <a:r>
              <a:rPr lang="zh-CN" altLang="en-US" b="1" dirty="0">
                <a:solidFill>
                  <a:srgbClr val="FF0000"/>
                </a:solidFill>
              </a:rPr>
              <a:t>消除冗余</a:t>
            </a:r>
            <a:r>
              <a:rPr lang="zh-CN" altLang="en-US" b="1" dirty="0"/>
              <a:t>的联系。</a:t>
            </a:r>
            <a:endParaRPr lang="zh-CN" altLang="en-US" b="1" dirty="0"/>
          </a:p>
        </p:txBody>
      </p:sp>
    </p:spTree>
  </p:cSld>
  <p:clrMapOvr>
    <a:masterClrMapping/>
  </p:clrMapOvr>
  <p:transition advClick="0"/>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109570" name="内容占位符 2"/>
          <p:cNvSpPr>
            <a:spLocks noGrp="1"/>
          </p:cNvSpPr>
          <p:nvPr>
            <p:ph idx="1"/>
          </p:nvPr>
        </p:nvSpPr>
        <p:spPr/>
        <p:txBody>
          <a:bodyPr vert="horz" wrap="square" lIns="91440" tIns="45720" rIns="91440" bIns="45720" anchor="t" anchorCtr="0"/>
          <a:lstStyle/>
          <a:p>
            <a:pPr marL="0" indent="0">
              <a:buNone/>
            </a:pPr>
            <a:r>
              <a:rPr lang="zh-CN" altLang="en-US" b="1" dirty="0"/>
              <a:t>（</a:t>
            </a:r>
            <a:r>
              <a:rPr lang="en-US" altLang="zh-CN" b="1" dirty="0"/>
              <a:t>3</a:t>
            </a:r>
            <a:r>
              <a:rPr lang="zh-CN" altLang="en-US" b="1" dirty="0"/>
              <a:t>）按照数据依赖的理论</a:t>
            </a:r>
            <a:r>
              <a:rPr lang="zh-CN" altLang="en-US" b="1" dirty="0">
                <a:solidFill>
                  <a:srgbClr val="FF0000"/>
                </a:solidFill>
              </a:rPr>
              <a:t>对关系模式进行分析</a:t>
            </a:r>
            <a:r>
              <a:rPr lang="zh-CN" altLang="en-US" b="1" dirty="0"/>
              <a:t>，考察是否存在</a:t>
            </a:r>
            <a:r>
              <a:rPr lang="zh-CN" altLang="en-US" b="1" dirty="0">
                <a:solidFill>
                  <a:srgbClr val="FF0000"/>
                </a:solidFill>
              </a:rPr>
              <a:t>部分函数依赖、传递函数依赖、多值依赖</a:t>
            </a:r>
            <a:r>
              <a:rPr lang="zh-CN" altLang="en-US" b="1" dirty="0"/>
              <a:t>等，确定各关系模式分别属于第几范式。</a:t>
            </a:r>
            <a:endParaRPr lang="en-US" altLang="zh-CN" b="1" dirty="0"/>
          </a:p>
          <a:p>
            <a:pPr marL="0" indent="0">
              <a:buNone/>
            </a:pPr>
            <a:r>
              <a:rPr lang="zh-CN" altLang="en-US" b="1" dirty="0"/>
              <a:t>（</a:t>
            </a:r>
            <a:r>
              <a:rPr lang="en-US" altLang="zh-CN" b="1" dirty="0"/>
              <a:t>4</a:t>
            </a:r>
            <a:r>
              <a:rPr lang="zh-CN" altLang="en-US" b="1" dirty="0"/>
              <a:t>）按照</a:t>
            </a:r>
            <a:r>
              <a:rPr lang="zh-CN" altLang="en-US" b="1" dirty="0">
                <a:solidFill>
                  <a:srgbClr val="FF0000"/>
                </a:solidFill>
              </a:rPr>
              <a:t>需求分析阶段</a:t>
            </a:r>
            <a:r>
              <a:rPr lang="zh-CN" altLang="en-US" b="1" dirty="0"/>
              <a:t>得到的各种应用对数据处理的要求，分析对于这样的应用环境这些模式是否合适，确定是否要对它们进行</a:t>
            </a:r>
            <a:r>
              <a:rPr lang="zh-CN" altLang="en-US" b="1" dirty="0">
                <a:solidFill>
                  <a:srgbClr val="FF0000"/>
                </a:solidFill>
              </a:rPr>
              <a:t>合并或分解</a:t>
            </a:r>
            <a:r>
              <a:rPr lang="zh-CN" altLang="en-US" b="1" dirty="0"/>
              <a:t>。</a:t>
            </a:r>
            <a:endParaRPr lang="zh-CN" altLang="en-US" b="1" dirty="0"/>
          </a:p>
        </p:txBody>
      </p:sp>
    </p:spTree>
  </p:cSld>
  <p:clrMapOvr>
    <a:masterClrMapping/>
  </p:clrMapOvr>
  <p:transition advClick="0"/>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110594" name="内容占位符 2"/>
          <p:cNvSpPr>
            <a:spLocks noGrp="1"/>
          </p:cNvSpPr>
          <p:nvPr>
            <p:ph idx="1"/>
          </p:nvPr>
        </p:nvSpPr>
        <p:spPr>
          <a:xfrm>
            <a:off x="884555" y="1143000"/>
            <a:ext cx="10126345" cy="4676140"/>
          </a:xfrm>
        </p:spPr>
        <p:txBody>
          <a:bodyPr vert="horz" wrap="square" lIns="91440" tIns="45720" rIns="91440" bIns="45720" anchor="t" anchorCtr="0"/>
          <a:lstStyle/>
          <a:p>
            <a:r>
              <a:rPr lang="zh-CN" altLang="en-US" sz="2800" b="1" dirty="0"/>
              <a:t>并不是规范化程度越高的关系就越优</a:t>
            </a:r>
            <a:endParaRPr lang="en-US" altLang="zh-CN" sz="2800" b="1" dirty="0"/>
          </a:p>
          <a:p>
            <a:r>
              <a:rPr lang="zh-CN" altLang="en-US" sz="2800" b="1" dirty="0"/>
              <a:t> </a:t>
            </a:r>
            <a:r>
              <a:rPr lang="zh-CN" altLang="en-US" sz="2800" b="1" dirty="0">
                <a:solidFill>
                  <a:srgbClr val="FF0000"/>
                </a:solidFill>
              </a:rPr>
              <a:t>当查询</a:t>
            </a:r>
            <a:r>
              <a:rPr lang="zh-CN" altLang="en-US" sz="2800" b="1" dirty="0"/>
              <a:t>经常涉及两个或多个关系模式的属性时，系统必须经常地进行</a:t>
            </a:r>
            <a:r>
              <a:rPr lang="zh-CN" altLang="en-US" sz="2800" b="1" dirty="0">
                <a:solidFill>
                  <a:srgbClr val="FF0000"/>
                </a:solidFill>
              </a:rPr>
              <a:t>连接运算 </a:t>
            </a:r>
            <a:r>
              <a:rPr lang="zh-CN" altLang="en-US" sz="2800" b="1" dirty="0"/>
              <a:t>，</a:t>
            </a:r>
            <a:r>
              <a:rPr lang="zh-CN" altLang="en-US" sz="2800" b="1" dirty="0" smtClean="0"/>
              <a:t>连接</a:t>
            </a:r>
            <a:r>
              <a:rPr lang="zh-CN" altLang="en-US" sz="2800" b="1" dirty="0"/>
              <a:t>运算的代价是相当高的，因此在这种情况下，第二范式甚至第一范式也许是适合的。</a:t>
            </a:r>
            <a:endParaRPr lang="en-US" altLang="zh-CN" sz="2800" b="1" dirty="0"/>
          </a:p>
          <a:p>
            <a:r>
              <a:rPr lang="zh-CN" altLang="en-US" sz="2800" b="1" dirty="0"/>
              <a:t>非</a:t>
            </a:r>
            <a:r>
              <a:rPr lang="en-US" altLang="zh-CN" sz="2800" b="1" dirty="0"/>
              <a:t>BCNF</a:t>
            </a:r>
            <a:r>
              <a:rPr lang="zh-CN" altLang="en-US" sz="2800" b="1" dirty="0"/>
              <a:t>的关系模式虽然会存在不同程度的更新异常，但如果在实际应用中对此关系模式</a:t>
            </a:r>
            <a:r>
              <a:rPr lang="zh-CN" altLang="en-US" sz="2800" b="1" dirty="0">
                <a:solidFill>
                  <a:srgbClr val="FF0000"/>
                </a:solidFill>
              </a:rPr>
              <a:t>只是查询</a:t>
            </a:r>
            <a:r>
              <a:rPr lang="zh-CN" altLang="en-US" sz="2800" b="1" dirty="0"/>
              <a:t>，</a:t>
            </a:r>
            <a:r>
              <a:rPr lang="zh-CN" altLang="en-US" sz="2800" b="1" dirty="0">
                <a:solidFill>
                  <a:srgbClr val="FF0000"/>
                </a:solidFill>
              </a:rPr>
              <a:t>并不执行更新操作</a:t>
            </a:r>
            <a:r>
              <a:rPr lang="zh-CN" altLang="en-US" sz="2800" b="1" dirty="0"/>
              <a:t>，就不会产生实际影响。 </a:t>
            </a:r>
            <a:endParaRPr lang="zh-CN" altLang="en-US" sz="2800" b="1" dirty="0"/>
          </a:p>
          <a:p>
            <a:r>
              <a:rPr lang="zh-CN" altLang="en-US" sz="2800" b="1" noProof="0" dirty="0" smtClean="0">
                <a:ln>
                  <a:noFill/>
                </a:ln>
                <a:effectLst/>
                <a:uLnTx/>
                <a:uFillTx/>
                <a:sym typeface="+mn-ea"/>
              </a:rPr>
              <a:t>对于一个具体应用来说，到底规范化进行到什么程度，需要权衡</a:t>
            </a:r>
            <a:r>
              <a:rPr lang="zh-CN" altLang="en-US" sz="2800" b="1" noProof="0" dirty="0" smtClean="0">
                <a:ln>
                  <a:noFill/>
                </a:ln>
                <a:solidFill>
                  <a:srgbClr val="FF0000"/>
                </a:solidFill>
                <a:effectLst/>
                <a:uLnTx/>
                <a:uFillTx/>
                <a:sym typeface="+mn-ea"/>
              </a:rPr>
              <a:t>响应时间</a:t>
            </a:r>
            <a:r>
              <a:rPr lang="zh-CN" altLang="en-US" sz="2800" b="1" noProof="0" dirty="0" smtClean="0">
                <a:ln>
                  <a:noFill/>
                </a:ln>
                <a:effectLst/>
                <a:uLnTx/>
                <a:uFillTx/>
                <a:sym typeface="+mn-ea"/>
              </a:rPr>
              <a:t>和</a:t>
            </a:r>
            <a:r>
              <a:rPr lang="zh-CN" altLang="en-US" sz="2800" b="1" noProof="0" dirty="0" smtClean="0">
                <a:ln>
                  <a:noFill/>
                </a:ln>
                <a:solidFill>
                  <a:srgbClr val="FF0000"/>
                </a:solidFill>
                <a:effectLst/>
                <a:uLnTx/>
                <a:uFillTx/>
                <a:sym typeface="+mn-ea"/>
              </a:rPr>
              <a:t>潜在问题</a:t>
            </a:r>
            <a:r>
              <a:rPr lang="zh-CN" altLang="en-US" sz="2800" b="1" noProof="0" dirty="0" smtClean="0">
                <a:ln>
                  <a:noFill/>
                </a:ln>
                <a:effectLst/>
                <a:uLnTx/>
                <a:uFillTx/>
                <a:sym typeface="+mn-ea"/>
              </a:rPr>
              <a:t>两者的利弊才能</a:t>
            </a:r>
            <a:r>
              <a:rPr lang="zh-CN" altLang="en-US" sz="2800" b="1" noProof="0" dirty="0" smtClean="0">
                <a:ln>
                  <a:noFill/>
                </a:ln>
                <a:effectLst/>
                <a:uLnTx/>
                <a:uFillTx/>
                <a:sym typeface="+mn-ea"/>
              </a:rPr>
              <a:t>决定。</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endParaRPr lang="en-US" altLang="zh-CN" sz="2800" b="1" dirty="0"/>
          </a:p>
        </p:txBody>
      </p:sp>
    </p:spTree>
  </p:cSld>
  <p:clrMapOvr>
    <a:masterClrMapping/>
  </p:clrMapOvr>
  <p:transition advClick="0"/>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p:cNvSpPr>
          <p:nvPr>
            <p:ph type="title"/>
          </p:nvPr>
        </p:nvSpPr>
        <p:spPr/>
        <p:txBody>
          <a:bodyPr vert="horz" wrap="square" lIns="91440" tIns="45720" rIns="91440" bIns="45720" anchor="b" anchorCtr="0"/>
          <a:lstStyle/>
          <a:p>
            <a:r>
              <a:rPr lang="zh-CN" altLang="en-US" dirty="0"/>
              <a:t>优化数据模型的方法</a:t>
            </a:r>
            <a:r>
              <a:rPr lang="en-US" altLang="zh-CN" dirty="0"/>
              <a:t>:</a:t>
            </a:r>
            <a:endParaRPr lang="zh-CN" altLang="en-US" dirty="0"/>
          </a:p>
        </p:txBody>
      </p:sp>
      <p:sp>
        <p:nvSpPr>
          <p:cNvPr id="99331" name="内容占位符 2"/>
          <p:cNvSpPr>
            <a:spLocks noGrp="1"/>
          </p:cNvSpPr>
          <p:nvPr>
            <p:ph idx="1"/>
          </p:nvPr>
        </p:nvSpPr>
        <p:spPr>
          <a:xfrm>
            <a:off x="572770" y="1143000"/>
            <a:ext cx="10762615" cy="51657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5</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）对关系模式</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进行必要分解</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，提高数据操作效率和存储空间的利用率。</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常用分解方法</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水平分解和垂直分解</a:t>
            </a:r>
            <a:endParaRPr kumimoji="0" lang="en-US" altLang="zh-CN" sz="2800" b="1" i="0" u="none" strike="noStrike" kern="0" cap="none" spc="0" normalizeH="0" baseline="0" noProof="0" dirty="0" smtClean="0">
              <a:ln>
                <a:noFill/>
              </a:ln>
              <a:solidFill>
                <a:srgbClr val="FF0000"/>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一个大关系中，经常使用的数据只是关系的一部分，约</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20%</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，可以把经常使用的水平分解出来</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垂直分解，确保无损连接和保持函数依赖</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ea typeface="PMingLiU" panose="02020500000000000000" pitchFamily="18" charset="-120"/>
              </a:rPr>
              <a:t>An Introduction to Database System</a:t>
            </a:r>
            <a:endParaRPr lang="en-US" altLang="zh-CN" sz="1200" dirty="0">
              <a:ea typeface="PMingLiU" panose="02020500000000000000" pitchFamily="18" charset="-120"/>
            </a:endParaRPr>
          </a:p>
        </p:txBody>
      </p:sp>
      <p:sp>
        <p:nvSpPr>
          <p:cNvPr id="69634" name="Rectangle 2"/>
          <p:cNvSpPr>
            <a:spLocks noGrp="1"/>
          </p:cNvSpPr>
          <p:nvPr>
            <p:ph type="title"/>
          </p:nvPr>
        </p:nvSpPr>
        <p:spPr/>
        <p:txBody>
          <a:bodyPr vert="horz" wrap="square" lIns="91440" tIns="45720" rIns="91440" bIns="45720" anchor="b" anchorCtr="0"/>
          <a:lstStyle/>
          <a:p>
            <a:r>
              <a:rPr lang="en-US" altLang="zh-CN" dirty="0"/>
              <a:t>7.3  </a:t>
            </a:r>
            <a:r>
              <a:rPr lang="zh-CN" altLang="en-US" dirty="0"/>
              <a:t>概念结构设计</a:t>
            </a:r>
            <a:endParaRPr lang="zh-CN" altLang="en-US" dirty="0"/>
          </a:p>
        </p:txBody>
      </p:sp>
      <p:sp>
        <p:nvSpPr>
          <p:cNvPr id="69635" name="Rectangle 3"/>
          <p:cNvSpPr>
            <a:spLocks noGrp="1"/>
          </p:cNvSpPr>
          <p:nvPr>
            <p:ph idx="1"/>
          </p:nvPr>
        </p:nvSpPr>
        <p:spPr/>
        <p:txBody>
          <a:bodyPr vert="horz" wrap="square" lIns="91440" tIns="45720" rIns="91440" bIns="45720" anchor="t" anchorCtr="0"/>
          <a:lstStyle/>
          <a:p>
            <a:pPr>
              <a:lnSpc>
                <a:spcPct val="140000"/>
              </a:lnSpc>
              <a:buNone/>
            </a:pPr>
            <a:r>
              <a:rPr lang="en-US" altLang="zh-CN" dirty="0">
                <a:solidFill>
                  <a:srgbClr val="FF0000"/>
                </a:solidFill>
              </a:rPr>
              <a:t>7.3.1 </a:t>
            </a:r>
            <a:r>
              <a:rPr lang="zh-CN" altLang="en-US" dirty="0">
                <a:solidFill>
                  <a:srgbClr val="FF0000"/>
                </a:solidFill>
              </a:rPr>
              <a:t>概念模型</a:t>
            </a:r>
            <a:endParaRPr lang="en-US" altLang="zh-CN" dirty="0">
              <a:solidFill>
                <a:srgbClr val="FF0000"/>
              </a:solidFill>
            </a:endParaRPr>
          </a:p>
          <a:p>
            <a:pPr>
              <a:lnSpc>
                <a:spcPct val="140000"/>
              </a:lnSpc>
              <a:buNone/>
            </a:pPr>
            <a:r>
              <a:rPr lang="en-US" altLang="zh-CN" dirty="0"/>
              <a:t>7.3.2 E-R</a:t>
            </a:r>
            <a:r>
              <a:rPr lang="zh-CN" altLang="en-US" dirty="0"/>
              <a:t>模型</a:t>
            </a:r>
            <a:endParaRPr lang="en-US" altLang="zh-CN" dirty="0"/>
          </a:p>
          <a:p>
            <a:pPr>
              <a:lnSpc>
                <a:spcPct val="140000"/>
              </a:lnSpc>
              <a:buNone/>
            </a:pPr>
            <a:r>
              <a:rPr lang="zh-CN" altLang="en-US" dirty="0"/>
              <a:t>*</a:t>
            </a:r>
            <a:r>
              <a:rPr lang="en-US" altLang="zh-CN" dirty="0"/>
              <a:t>7.3.3 </a:t>
            </a:r>
            <a:r>
              <a:rPr lang="zh-CN" altLang="en-US" dirty="0"/>
              <a:t>扩展的</a:t>
            </a:r>
            <a:r>
              <a:rPr lang="en-US" altLang="zh-CN" dirty="0"/>
              <a:t>E-R</a:t>
            </a:r>
            <a:r>
              <a:rPr lang="zh-CN" altLang="en-US" dirty="0"/>
              <a:t>模型</a:t>
            </a:r>
            <a:endParaRPr lang="en-US" altLang="zh-CN" dirty="0"/>
          </a:p>
          <a:p>
            <a:pPr>
              <a:lnSpc>
                <a:spcPct val="140000"/>
              </a:lnSpc>
              <a:buNone/>
            </a:pPr>
            <a:r>
              <a:rPr lang="zh-CN" altLang="en-US" dirty="0"/>
              <a:t>*</a:t>
            </a:r>
            <a:r>
              <a:rPr lang="en-US" altLang="zh-CN" dirty="0"/>
              <a:t>7.3.4 UML</a:t>
            </a:r>
            <a:endParaRPr lang="en-US" altLang="zh-CN" dirty="0"/>
          </a:p>
          <a:p>
            <a:pPr>
              <a:lnSpc>
                <a:spcPct val="140000"/>
              </a:lnSpc>
              <a:buNone/>
            </a:pPr>
            <a:r>
              <a:rPr lang="en-US" altLang="zh-CN" dirty="0"/>
              <a:t>7.3.5 </a:t>
            </a:r>
            <a:r>
              <a:rPr lang="zh-CN" altLang="en-US" dirty="0"/>
              <a:t>概念结构设计</a:t>
            </a:r>
            <a:endParaRPr lang="en-US" altLang="zh-CN" dirty="0"/>
          </a:p>
        </p:txBody>
      </p:sp>
    </p:spTree>
  </p:cSld>
  <p:clrMapOvr>
    <a:masterClrMapping/>
  </p:clrMapOvr>
  <p:transition advClick="0"/>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ea typeface="PMingLiU" panose="02020500000000000000" pitchFamily="18" charset="-120"/>
              </a:rPr>
              <a:t>An Introduction to Database System</a:t>
            </a:r>
            <a:endParaRPr lang="en-US" altLang="zh-CN" sz="1200" dirty="0">
              <a:ea typeface="PMingLiU" panose="02020500000000000000" pitchFamily="18" charset="-120"/>
            </a:endParaRPr>
          </a:p>
        </p:txBody>
      </p:sp>
      <p:sp>
        <p:nvSpPr>
          <p:cNvPr id="70658" name="Rectangle 2"/>
          <p:cNvSpPr>
            <a:spLocks noGrp="1"/>
          </p:cNvSpPr>
          <p:nvPr>
            <p:ph type="title"/>
          </p:nvPr>
        </p:nvSpPr>
        <p:spPr/>
        <p:txBody>
          <a:bodyPr vert="horz" wrap="square" lIns="91440" tIns="45720" rIns="91440" bIns="45720" anchor="b" anchorCtr="0"/>
          <a:lstStyle/>
          <a:p>
            <a:r>
              <a:rPr lang="en-US" altLang="zh-CN" dirty="0"/>
              <a:t>7.3.1  </a:t>
            </a:r>
            <a:r>
              <a:rPr lang="zh-CN" altLang="en-US" dirty="0"/>
              <a:t>概念结构</a:t>
            </a:r>
            <a:endParaRPr lang="zh-CN" altLang="en-US" dirty="0"/>
          </a:p>
        </p:txBody>
      </p:sp>
      <p:sp>
        <p:nvSpPr>
          <p:cNvPr id="70659" name="Rectangle 3"/>
          <p:cNvSpPr>
            <a:spLocks noGrp="1"/>
          </p:cNvSpPr>
          <p:nvPr>
            <p:ph idx="1"/>
          </p:nvPr>
        </p:nvSpPr>
        <p:spPr/>
        <p:txBody>
          <a:bodyPr vert="horz" wrap="square" lIns="91440" tIns="45720" rIns="91440" bIns="45720" anchor="t" anchorCtr="0"/>
          <a:lstStyle/>
          <a:p>
            <a:pPr>
              <a:lnSpc>
                <a:spcPct val="90000"/>
              </a:lnSpc>
            </a:pPr>
            <a:r>
              <a:rPr lang="zh-CN" altLang="en-US" sz="2800" dirty="0"/>
              <a:t>将需求分析得到的用户需求抽象为</a:t>
            </a:r>
            <a:r>
              <a:rPr lang="zh-CN" altLang="en-US" sz="2800" b="1" dirty="0">
                <a:solidFill>
                  <a:srgbClr val="0000FF"/>
                </a:solidFill>
              </a:rPr>
              <a:t>信息结构</a:t>
            </a:r>
            <a:r>
              <a:rPr lang="zh-CN" altLang="en-US" sz="2800" dirty="0"/>
              <a:t>（即概念模型）的过程就是概念结构设计 </a:t>
            </a:r>
            <a:endParaRPr lang="en-US" altLang="zh-CN" sz="2800" dirty="0"/>
          </a:p>
          <a:p>
            <a:pPr>
              <a:lnSpc>
                <a:spcPct val="90000"/>
              </a:lnSpc>
            </a:pPr>
            <a:r>
              <a:rPr lang="zh-CN" altLang="en-US" sz="2800" dirty="0"/>
              <a:t>概念模型的特点</a:t>
            </a:r>
            <a:endParaRPr lang="en-US" altLang="zh-CN" sz="2800" dirty="0"/>
          </a:p>
          <a:p>
            <a:pPr marL="469900" lvl="1" indent="0">
              <a:lnSpc>
                <a:spcPct val="90000"/>
              </a:lnSpc>
              <a:buNone/>
            </a:pPr>
            <a:r>
              <a:rPr lang="zh-CN" altLang="en-US" sz="2600" dirty="0"/>
              <a:t>（</a:t>
            </a:r>
            <a:r>
              <a:rPr lang="en-US" altLang="zh-CN" sz="2600" dirty="0"/>
              <a:t>1</a:t>
            </a:r>
            <a:r>
              <a:rPr lang="zh-CN" altLang="en-US" sz="2600" dirty="0"/>
              <a:t>）能真实、充分地反映现实世界，是现实世界的一个真实模型。</a:t>
            </a:r>
            <a:endParaRPr lang="en-US" altLang="zh-CN" sz="2600" dirty="0"/>
          </a:p>
          <a:p>
            <a:pPr marL="469900" lvl="1" indent="0">
              <a:lnSpc>
                <a:spcPct val="90000"/>
              </a:lnSpc>
              <a:buNone/>
            </a:pPr>
            <a:r>
              <a:rPr lang="zh-CN" altLang="en-US" sz="2600" dirty="0"/>
              <a:t>（</a:t>
            </a:r>
            <a:r>
              <a:rPr lang="en-US" altLang="zh-CN" sz="2600" dirty="0"/>
              <a:t>2</a:t>
            </a:r>
            <a:r>
              <a:rPr lang="zh-CN" altLang="en-US" sz="2600" dirty="0"/>
              <a:t>）易于理解，从而可以用它和不熟悉计算机的用户交换意见。</a:t>
            </a:r>
            <a:endParaRPr lang="en-US" altLang="zh-CN" sz="2600" dirty="0"/>
          </a:p>
          <a:p>
            <a:pPr marL="469900" lvl="1" indent="0">
              <a:lnSpc>
                <a:spcPct val="90000"/>
              </a:lnSpc>
              <a:buNone/>
            </a:pPr>
            <a:r>
              <a:rPr lang="zh-CN" altLang="en-US" sz="2600" dirty="0"/>
              <a:t>（</a:t>
            </a:r>
            <a:r>
              <a:rPr lang="en-US" altLang="zh-CN" sz="2600" dirty="0"/>
              <a:t>3</a:t>
            </a:r>
            <a:r>
              <a:rPr lang="zh-CN" altLang="en-US" sz="2600" dirty="0"/>
              <a:t>）易于更改，当应用环境和应用要求改变时，容易对概念模型修改和扩充。</a:t>
            </a:r>
            <a:endParaRPr lang="en-US" altLang="zh-CN" sz="2600" dirty="0"/>
          </a:p>
          <a:p>
            <a:pPr marL="469900" lvl="1" indent="0">
              <a:lnSpc>
                <a:spcPct val="90000"/>
              </a:lnSpc>
              <a:buNone/>
            </a:pPr>
            <a:r>
              <a:rPr lang="zh-CN" altLang="en-US" sz="2600" dirty="0"/>
              <a:t>（</a:t>
            </a:r>
            <a:r>
              <a:rPr lang="en-US" altLang="zh-CN" sz="2600" dirty="0"/>
              <a:t>4</a:t>
            </a:r>
            <a:r>
              <a:rPr lang="zh-CN" altLang="en-US" sz="2600" dirty="0"/>
              <a:t>）易于向关系、网状、层次等各种数据模型转换 </a:t>
            </a:r>
            <a:endParaRPr lang="en-US" altLang="zh-CN" sz="2600" dirty="0"/>
          </a:p>
          <a:p>
            <a:pPr>
              <a:lnSpc>
                <a:spcPct val="90000"/>
              </a:lnSpc>
            </a:pPr>
            <a:r>
              <a:rPr lang="zh-CN" altLang="en-US" sz="2800" dirty="0"/>
              <a:t>描述概念模型的工具 </a:t>
            </a:r>
            <a:r>
              <a:rPr lang="en-US" altLang="zh-CN" sz="2800" b="1" dirty="0">
                <a:solidFill>
                  <a:srgbClr val="FF0000"/>
                </a:solidFill>
              </a:rPr>
              <a:t>E-R</a:t>
            </a:r>
            <a:r>
              <a:rPr lang="zh-CN" altLang="en-US" sz="2800" b="1" dirty="0">
                <a:solidFill>
                  <a:srgbClr val="FF0000"/>
                </a:solidFill>
              </a:rPr>
              <a:t>模型</a:t>
            </a:r>
            <a:endParaRPr lang="zh-CN" altLang="en-US" sz="2400" b="1" dirty="0">
              <a:solidFill>
                <a:srgbClr val="FF0000"/>
              </a:solidFill>
            </a:endParaRPr>
          </a:p>
        </p:txBody>
      </p:sp>
    </p:spTree>
  </p:cSld>
  <p:clrMapOvr>
    <a:masterClrMapping/>
  </p:clrMapOvr>
  <p:transition advClick="0"/>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ctr" eaLnBrk="1" hangingPunct="1">
              <a:buSzTx/>
            </a:pPr>
            <a:r>
              <a:rPr lang="en-US" altLang="zh-CN" sz="1200" dirty="0">
                <a:ea typeface="PMingLiU" panose="02020500000000000000" pitchFamily="18" charset="-120"/>
              </a:rPr>
              <a:t>An Introduction to Database System</a:t>
            </a:r>
            <a:endParaRPr lang="en-US" altLang="zh-CN" sz="1200" dirty="0">
              <a:ea typeface="PMingLiU" panose="02020500000000000000" pitchFamily="18" charset="-120"/>
            </a:endParaRPr>
          </a:p>
        </p:txBody>
      </p:sp>
      <p:sp>
        <p:nvSpPr>
          <p:cNvPr id="71682" name="Rectangle 2"/>
          <p:cNvSpPr>
            <a:spLocks noGrp="1"/>
          </p:cNvSpPr>
          <p:nvPr>
            <p:ph type="title"/>
          </p:nvPr>
        </p:nvSpPr>
        <p:spPr/>
        <p:txBody>
          <a:bodyPr vert="horz" wrap="square" lIns="91440" tIns="45720" rIns="91440" bIns="45720" anchor="b" anchorCtr="0"/>
          <a:lstStyle/>
          <a:p>
            <a:r>
              <a:rPr lang="zh-CN" altLang="en-US" dirty="0"/>
              <a:t>概念结构（续）</a:t>
            </a:r>
            <a:endParaRPr lang="zh-CN" altLang="en-US" dirty="0"/>
          </a:p>
        </p:txBody>
      </p:sp>
      <p:grpSp>
        <p:nvGrpSpPr>
          <p:cNvPr id="71683" name="Group 3"/>
          <p:cNvGrpSpPr/>
          <p:nvPr/>
        </p:nvGrpSpPr>
        <p:grpSpPr>
          <a:xfrm>
            <a:off x="2999740" y="1844675"/>
            <a:ext cx="5867400" cy="3124200"/>
            <a:chOff x="2400" y="6840"/>
            <a:chExt cx="4440" cy="2760"/>
          </a:xfrm>
        </p:grpSpPr>
        <p:sp>
          <p:nvSpPr>
            <p:cNvPr id="71684" name="Text Box 4"/>
            <p:cNvSpPr txBox="1"/>
            <p:nvPr/>
          </p:nvSpPr>
          <p:spPr>
            <a:xfrm>
              <a:off x="2400" y="6840"/>
              <a:ext cx="1440" cy="600"/>
            </a:xfrm>
            <a:prstGeom prst="rect">
              <a:avLst/>
            </a:prstGeom>
            <a:no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800" b="1" dirty="0">
                  <a:latin typeface="Verdana" panose="020B0604030504040204" pitchFamily="34" charset="0"/>
                  <a:ea typeface="宋体" panose="02010600030101010101" pitchFamily="2" charset="-122"/>
                </a:rPr>
                <a:t>现实世界</a:t>
              </a:r>
              <a:endParaRPr lang="zh-CN" altLang="en-US" sz="2800" b="1" dirty="0">
                <a:latin typeface="Verdana" panose="020B0604030504040204" pitchFamily="34" charset="0"/>
                <a:ea typeface="宋体" panose="02010600030101010101" pitchFamily="2" charset="-122"/>
              </a:endParaRPr>
            </a:p>
          </p:txBody>
        </p:sp>
        <p:sp>
          <p:nvSpPr>
            <p:cNvPr id="71685" name="Text Box 5"/>
            <p:cNvSpPr txBox="1"/>
            <p:nvPr/>
          </p:nvSpPr>
          <p:spPr>
            <a:xfrm>
              <a:off x="2400" y="9000"/>
              <a:ext cx="1440" cy="600"/>
            </a:xfrm>
            <a:prstGeom prst="rect">
              <a:avLst/>
            </a:prstGeom>
            <a:no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800" b="1" dirty="0">
                  <a:latin typeface="Verdana" panose="020B0604030504040204" pitchFamily="34" charset="0"/>
                  <a:ea typeface="宋体" panose="02010600030101010101" pitchFamily="2" charset="-122"/>
                </a:rPr>
                <a:t>机器世界</a:t>
              </a:r>
              <a:endParaRPr lang="zh-CN" altLang="en-US" dirty="0">
                <a:latin typeface="Verdana" panose="020B0604030504040204" pitchFamily="34" charset="0"/>
                <a:ea typeface="宋体" panose="02010600030101010101" pitchFamily="2" charset="-122"/>
              </a:endParaRPr>
            </a:p>
          </p:txBody>
        </p:sp>
        <p:sp>
          <p:nvSpPr>
            <p:cNvPr id="71686" name="Text Box 6"/>
            <p:cNvSpPr txBox="1"/>
            <p:nvPr/>
          </p:nvSpPr>
          <p:spPr>
            <a:xfrm>
              <a:off x="2400" y="7920"/>
              <a:ext cx="1440" cy="600"/>
            </a:xfrm>
            <a:prstGeom prst="rect">
              <a:avLst/>
            </a:prstGeom>
            <a:no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800" b="1" dirty="0">
                  <a:latin typeface="Verdana" panose="020B0604030504040204" pitchFamily="34" charset="0"/>
                  <a:ea typeface="宋体" panose="02010600030101010101" pitchFamily="2" charset="-122"/>
                </a:rPr>
                <a:t>信息世界</a:t>
              </a:r>
              <a:endParaRPr lang="zh-CN" altLang="en-US" dirty="0">
                <a:latin typeface="Verdana" panose="020B0604030504040204" pitchFamily="34" charset="0"/>
                <a:ea typeface="宋体" panose="02010600030101010101" pitchFamily="2" charset="-122"/>
              </a:endParaRPr>
            </a:p>
          </p:txBody>
        </p:sp>
        <p:sp>
          <p:nvSpPr>
            <p:cNvPr id="71687" name="Line 7"/>
            <p:cNvSpPr/>
            <p:nvPr/>
          </p:nvSpPr>
          <p:spPr>
            <a:xfrm>
              <a:off x="3000" y="7440"/>
              <a:ext cx="0" cy="480"/>
            </a:xfrm>
            <a:prstGeom prst="line">
              <a:avLst/>
            </a:prstGeom>
            <a:ln w="9525" cap="flat" cmpd="sng">
              <a:solidFill>
                <a:srgbClr val="000000"/>
              </a:solidFill>
              <a:prstDash val="solid"/>
              <a:round/>
              <a:headEnd type="none" w="med" len="med"/>
              <a:tailEnd type="triangle" w="med" len="med"/>
            </a:ln>
          </p:spPr>
        </p:sp>
        <p:sp>
          <p:nvSpPr>
            <p:cNvPr id="71688" name="Line 8"/>
            <p:cNvSpPr/>
            <p:nvPr/>
          </p:nvSpPr>
          <p:spPr>
            <a:xfrm>
              <a:off x="3000" y="8520"/>
              <a:ext cx="0" cy="480"/>
            </a:xfrm>
            <a:prstGeom prst="line">
              <a:avLst/>
            </a:prstGeom>
            <a:ln w="9525" cap="flat" cmpd="sng">
              <a:solidFill>
                <a:srgbClr val="000000"/>
              </a:solidFill>
              <a:prstDash val="solid"/>
              <a:round/>
              <a:headEnd type="none" w="med" len="med"/>
              <a:tailEnd type="triangle" w="med" len="med"/>
            </a:ln>
          </p:spPr>
        </p:sp>
        <p:sp>
          <p:nvSpPr>
            <p:cNvPr id="71689" name="Text Box 9"/>
            <p:cNvSpPr txBox="1"/>
            <p:nvPr/>
          </p:nvSpPr>
          <p:spPr>
            <a:xfrm>
              <a:off x="4800" y="6840"/>
              <a:ext cx="1320" cy="480"/>
            </a:xfrm>
            <a:prstGeom prst="rect">
              <a:avLst/>
            </a:prstGeom>
            <a:noFill/>
            <a:ln w="9525">
              <a:noFill/>
            </a:ln>
          </p:spPr>
          <p:txBody>
            <a:bodyPr anchor="t" anchorCtr="0"/>
            <a:lstStyle/>
            <a:p>
              <a:pPr algn="just" eaLnBrk="0" hangingPunct="0"/>
              <a:r>
                <a:rPr lang="zh-CN" altLang="en-US" sz="2800" b="1" dirty="0">
                  <a:latin typeface="Verdana" panose="020B0604030504040204" pitchFamily="34" charset="0"/>
                  <a:ea typeface="宋体" panose="02010600030101010101" pitchFamily="2" charset="-122"/>
                </a:rPr>
                <a:t>需求分析</a:t>
              </a:r>
              <a:endParaRPr lang="zh-CN" altLang="en-US" b="1" dirty="0">
                <a:latin typeface="Verdana" panose="020B0604030504040204" pitchFamily="34" charset="0"/>
                <a:ea typeface="宋体" panose="02010600030101010101" pitchFamily="2" charset="-122"/>
              </a:endParaRPr>
            </a:p>
          </p:txBody>
        </p:sp>
        <p:sp>
          <p:nvSpPr>
            <p:cNvPr id="71690" name="Text Box 10"/>
            <p:cNvSpPr txBox="1"/>
            <p:nvPr/>
          </p:nvSpPr>
          <p:spPr>
            <a:xfrm>
              <a:off x="4800" y="7920"/>
              <a:ext cx="2040" cy="480"/>
            </a:xfrm>
            <a:prstGeom prst="rect">
              <a:avLst/>
            </a:prstGeom>
            <a:noFill/>
            <a:ln w="9525">
              <a:noFill/>
            </a:ln>
          </p:spPr>
          <p:txBody>
            <a:bodyPr anchor="t" anchorCtr="0"/>
            <a:lstStyle/>
            <a:p>
              <a:pPr algn="just" eaLnBrk="0" hangingPunct="0"/>
              <a:r>
                <a:rPr lang="zh-CN" altLang="en-US" sz="2800" b="1" dirty="0">
                  <a:latin typeface="Verdana" panose="020B0604030504040204" pitchFamily="34" charset="0"/>
                  <a:ea typeface="宋体" panose="02010600030101010101" pitchFamily="2" charset="-122"/>
                </a:rPr>
                <a:t>概念结构设计</a:t>
              </a:r>
              <a:endParaRPr lang="zh-CN" altLang="en-US" b="1" dirty="0">
                <a:latin typeface="Verdana" panose="020B0604030504040204" pitchFamily="34" charset="0"/>
                <a:ea typeface="宋体" panose="02010600030101010101" pitchFamily="2" charset="-122"/>
              </a:endParaRPr>
            </a:p>
          </p:txBody>
        </p:sp>
      </p:grpSp>
      <p:sp>
        <p:nvSpPr>
          <p:cNvPr id="71691" name="Text Box 10"/>
          <p:cNvSpPr txBox="1"/>
          <p:nvPr/>
        </p:nvSpPr>
        <p:spPr>
          <a:xfrm>
            <a:off x="6238558" y="4129405"/>
            <a:ext cx="2695575" cy="1000125"/>
          </a:xfrm>
          <a:prstGeom prst="rect">
            <a:avLst/>
          </a:prstGeom>
          <a:noFill/>
          <a:ln w="9525">
            <a:noFill/>
          </a:ln>
        </p:spPr>
        <p:txBody>
          <a:bodyPr anchor="t" anchorCtr="0"/>
          <a:lstStyle/>
          <a:p>
            <a:pPr algn="just" eaLnBrk="0" hangingPunct="0"/>
            <a:r>
              <a:rPr lang="zh-CN" altLang="en-US" sz="2800" b="1" dirty="0">
                <a:latin typeface="Verdana" panose="020B0604030504040204" pitchFamily="34" charset="0"/>
                <a:ea typeface="宋体" panose="02010600030101010101" pitchFamily="2" charset="-122"/>
              </a:rPr>
              <a:t>逻辑结构设计</a:t>
            </a:r>
            <a:endParaRPr lang="en-US" altLang="zh-CN" sz="2800" b="1" dirty="0">
              <a:latin typeface="Verdana" panose="020B0604030504040204" pitchFamily="34" charset="0"/>
              <a:ea typeface="宋体" panose="02010600030101010101" pitchFamily="2" charset="-122"/>
            </a:endParaRPr>
          </a:p>
          <a:p>
            <a:pPr algn="just" eaLnBrk="0" hangingPunct="0"/>
            <a:r>
              <a:rPr lang="zh-CN" altLang="en-US" sz="2800" b="1" dirty="0">
                <a:latin typeface="Verdana" panose="020B0604030504040204" pitchFamily="34" charset="0"/>
                <a:ea typeface="宋体" panose="02010600030101010101" pitchFamily="2" charset="-122"/>
              </a:rPr>
              <a:t>物理结构设计</a:t>
            </a:r>
            <a:endParaRPr lang="zh-CN" altLang="en-US" b="1"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vert="horz" wrap="square" lIns="91440" tIns="45720" rIns="91440" bIns="45720" anchor="b" anchorCtr="0"/>
          <a:lstStyle/>
          <a:p>
            <a:r>
              <a:rPr lang="en-US" altLang="zh-CN" dirty="0"/>
              <a:t>7.3 </a:t>
            </a:r>
            <a:r>
              <a:rPr lang="zh-CN" altLang="en-US" dirty="0"/>
              <a:t>概念结构设计</a:t>
            </a:r>
            <a:endParaRPr lang="zh-CN" altLang="en-US" dirty="0"/>
          </a:p>
        </p:txBody>
      </p:sp>
      <p:sp>
        <p:nvSpPr>
          <p:cNvPr id="72706" name="内容占位符 2"/>
          <p:cNvSpPr>
            <a:spLocks noGrp="1"/>
          </p:cNvSpPr>
          <p:nvPr>
            <p:ph idx="1"/>
          </p:nvPr>
        </p:nvSpPr>
        <p:spPr/>
        <p:txBody>
          <a:bodyPr vert="horz" wrap="square" lIns="91440" tIns="45720" rIns="91440" bIns="45720" anchor="t" anchorCtr="0"/>
          <a:lstStyle/>
          <a:p>
            <a:r>
              <a:rPr lang="en-US" altLang="zh-CN" dirty="0"/>
              <a:t>7.3.1 </a:t>
            </a:r>
            <a:r>
              <a:rPr lang="zh-CN" altLang="en-US" dirty="0"/>
              <a:t>概念结构</a:t>
            </a:r>
            <a:endParaRPr lang="en-US" altLang="zh-CN" dirty="0"/>
          </a:p>
          <a:p>
            <a:r>
              <a:rPr lang="en-US" altLang="zh-CN" b="1" dirty="0">
                <a:solidFill>
                  <a:srgbClr val="FF0000"/>
                </a:solidFill>
              </a:rPr>
              <a:t>7.3.2 E-R</a:t>
            </a:r>
            <a:r>
              <a:rPr lang="zh-CN" altLang="en-US" b="1" dirty="0">
                <a:solidFill>
                  <a:srgbClr val="FF0000"/>
                </a:solidFill>
              </a:rPr>
              <a:t>模型</a:t>
            </a:r>
            <a:endParaRPr lang="en-US" altLang="zh-CN" b="1" dirty="0">
              <a:solidFill>
                <a:srgbClr val="FF0000"/>
              </a:solidFill>
            </a:endParaRPr>
          </a:p>
          <a:p>
            <a:r>
              <a:rPr lang="zh-CN" altLang="en-US" dirty="0"/>
              <a:t>*</a:t>
            </a:r>
            <a:r>
              <a:rPr lang="en-US" altLang="zh-CN" dirty="0"/>
              <a:t>7.3.3 </a:t>
            </a:r>
            <a:r>
              <a:rPr lang="zh-CN" altLang="en-US" dirty="0"/>
              <a:t>扩展的</a:t>
            </a:r>
            <a:r>
              <a:rPr lang="en-US" altLang="zh-CN" dirty="0"/>
              <a:t>E-R</a:t>
            </a:r>
            <a:r>
              <a:rPr lang="zh-CN" altLang="en-US" dirty="0"/>
              <a:t>模型</a:t>
            </a:r>
            <a:endParaRPr lang="en-US" altLang="zh-CN" dirty="0"/>
          </a:p>
          <a:p>
            <a:r>
              <a:rPr lang="zh-CN" altLang="en-US" dirty="0"/>
              <a:t>*</a:t>
            </a:r>
            <a:r>
              <a:rPr lang="en-US" altLang="zh-CN" dirty="0"/>
              <a:t>7.3.4 UML</a:t>
            </a:r>
            <a:endParaRPr lang="en-US" altLang="zh-CN" dirty="0"/>
          </a:p>
          <a:p>
            <a:r>
              <a:rPr lang="en-US" altLang="zh-CN" b="1" dirty="0"/>
              <a:t>7.3.5 </a:t>
            </a:r>
            <a:r>
              <a:rPr lang="zh-CN" altLang="en-US" b="1" dirty="0"/>
              <a:t>概念结构设计</a:t>
            </a:r>
            <a:endParaRPr lang="zh-CN" altLang="en-US" b="1" dirty="0"/>
          </a:p>
        </p:txBody>
      </p:sp>
    </p:spTree>
  </p:cSld>
  <p:clrMapOvr>
    <a:masterClrMapping/>
  </p:clrMapOvr>
  <p:transition advClick="0"/>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p:cNvSpPr>
          <p:nvPr>
            <p:ph type="title"/>
          </p:nvPr>
        </p:nvSpPr>
        <p:spPr/>
        <p:txBody>
          <a:bodyPr vert="horz" wrap="square" lIns="91440" tIns="45720" rIns="91440" bIns="45720" anchor="b" anchorCtr="0"/>
          <a:lstStyle/>
          <a:p>
            <a:r>
              <a:rPr lang="en-US" altLang="zh-CN" dirty="0"/>
              <a:t>7.3.2 E-R</a:t>
            </a:r>
            <a:r>
              <a:rPr lang="zh-CN" altLang="en-US" dirty="0"/>
              <a:t>模型</a:t>
            </a:r>
            <a:endParaRPr lang="zh-CN" altLang="en-US" dirty="0"/>
          </a:p>
        </p:txBody>
      </p:sp>
      <p:sp>
        <p:nvSpPr>
          <p:cNvPr id="73730" name="内容占位符 2"/>
          <p:cNvSpPr>
            <a:spLocks noGrp="1"/>
          </p:cNvSpPr>
          <p:nvPr>
            <p:ph idx="1"/>
          </p:nvPr>
        </p:nvSpPr>
        <p:spPr/>
        <p:txBody>
          <a:bodyPr vert="horz" wrap="square" lIns="91440" tIns="45720" rIns="91440" bIns="45720" anchor="t" anchorCtr="0"/>
          <a:lstStyle/>
          <a:p>
            <a:r>
              <a:rPr lang="zh-CN" altLang="en-US" sz="4000" dirty="0"/>
              <a:t>实体之间的联系</a:t>
            </a:r>
            <a:endParaRPr lang="en-US" altLang="zh-CN" sz="4000" dirty="0"/>
          </a:p>
          <a:p>
            <a:r>
              <a:rPr lang="en-US" altLang="zh-CN" dirty="0"/>
              <a:t>1</a:t>
            </a:r>
            <a:r>
              <a:rPr lang="zh-CN" altLang="en-US" dirty="0"/>
              <a:t>）两个实体型之间的联系：</a:t>
            </a:r>
            <a:endParaRPr lang="en-US" altLang="zh-CN" dirty="0"/>
          </a:p>
          <a:p>
            <a:r>
              <a:rPr lang="zh-CN" altLang="en-US" dirty="0"/>
              <a:t>①一对一联系（</a:t>
            </a:r>
            <a:r>
              <a:rPr lang="en-US" altLang="zh-CN" dirty="0"/>
              <a:t>1∶1</a:t>
            </a:r>
            <a:r>
              <a:rPr lang="zh-CN" altLang="en-US" dirty="0"/>
              <a:t>）</a:t>
            </a:r>
            <a:endParaRPr lang="en-US" altLang="zh-CN" dirty="0"/>
          </a:p>
          <a:p>
            <a:r>
              <a:rPr lang="zh-CN" altLang="en-US" dirty="0"/>
              <a:t>②一对多联系（</a:t>
            </a:r>
            <a:r>
              <a:rPr lang="en-US" altLang="zh-CN" dirty="0"/>
              <a:t>1∶n</a:t>
            </a:r>
            <a:r>
              <a:rPr lang="zh-CN" altLang="en-US" dirty="0"/>
              <a:t>）</a:t>
            </a:r>
            <a:endParaRPr lang="en-US" altLang="zh-CN" dirty="0"/>
          </a:p>
          <a:p>
            <a:r>
              <a:rPr lang="zh-CN" altLang="en-US" dirty="0"/>
              <a:t>③多对多联系（</a:t>
            </a:r>
            <a:r>
              <a:rPr lang="en-US" altLang="zh-CN" dirty="0"/>
              <a:t>m∶n</a:t>
            </a:r>
            <a:r>
              <a:rPr lang="zh-CN" altLang="en-US" dirty="0"/>
              <a:t>）</a:t>
            </a:r>
            <a:endParaRPr lang="zh-CN" altLang="en-US" dirty="0"/>
          </a:p>
        </p:txBody>
      </p:sp>
      <p:pic>
        <p:nvPicPr>
          <p:cNvPr id="24" name="图片 23"/>
          <p:cNvPicPr>
            <a:picLocks noChangeAspect="1"/>
          </p:cNvPicPr>
          <p:nvPr/>
        </p:nvPicPr>
        <p:blipFill>
          <a:blip r:embed="rId1"/>
          <a:stretch>
            <a:fillRect/>
          </a:stretch>
        </p:blipFill>
        <p:spPr>
          <a:xfrm>
            <a:off x="6887845" y="44450"/>
            <a:ext cx="3205480" cy="3083560"/>
          </a:xfrm>
          <a:prstGeom prst="rect">
            <a:avLst/>
          </a:prstGeom>
        </p:spPr>
      </p:pic>
      <p:pic>
        <p:nvPicPr>
          <p:cNvPr id="26" name="图片 25"/>
          <p:cNvPicPr>
            <a:picLocks noChangeAspect="1"/>
          </p:cNvPicPr>
          <p:nvPr/>
        </p:nvPicPr>
        <p:blipFill>
          <a:blip r:embed="rId2"/>
          <a:stretch>
            <a:fillRect/>
          </a:stretch>
        </p:blipFill>
        <p:spPr>
          <a:xfrm>
            <a:off x="8904605" y="3428365"/>
            <a:ext cx="2726690" cy="3091180"/>
          </a:xfrm>
          <a:prstGeom prst="rect">
            <a:avLst/>
          </a:prstGeom>
        </p:spPr>
      </p:pic>
      <p:pic>
        <p:nvPicPr>
          <p:cNvPr id="28" name="图片 27"/>
          <p:cNvPicPr>
            <a:picLocks noChangeAspect="1"/>
          </p:cNvPicPr>
          <p:nvPr/>
        </p:nvPicPr>
        <p:blipFill>
          <a:blip r:embed="rId3"/>
          <a:stretch>
            <a:fillRect/>
          </a:stretch>
        </p:blipFill>
        <p:spPr>
          <a:xfrm>
            <a:off x="5088255" y="3284855"/>
            <a:ext cx="3133725" cy="3299460"/>
          </a:xfrm>
          <a:prstGeom prst="rect">
            <a:avLst/>
          </a:prstGeom>
        </p:spPr>
      </p:pic>
    </p:spTree>
  </p:cSld>
  <p:clrMapOvr>
    <a:masterClrMapping/>
  </p:clrMapOvr>
  <p:transition advClick="0"/>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p:cNvSpPr>
          <p:nvPr>
            <p:ph type="title"/>
          </p:nvPr>
        </p:nvSpPr>
        <p:spPr/>
        <p:txBody>
          <a:bodyPr vert="horz" wrap="square" lIns="91440" tIns="45720" rIns="91440" bIns="45720" anchor="b" anchorCtr="0"/>
          <a:lstStyle/>
          <a:p>
            <a:r>
              <a:rPr lang="zh-CN" altLang="en-US" sz="3600" dirty="0"/>
              <a:t>实体之间的联系</a:t>
            </a:r>
            <a:endParaRPr lang="zh-CN" altLang="en-US" dirty="0"/>
          </a:p>
        </p:txBody>
      </p:sp>
      <p:sp>
        <p:nvSpPr>
          <p:cNvPr id="74754" name="内容占位符 2"/>
          <p:cNvSpPr>
            <a:spLocks noGrp="1"/>
          </p:cNvSpPr>
          <p:nvPr>
            <p:ph idx="1"/>
          </p:nvPr>
        </p:nvSpPr>
        <p:spPr/>
        <p:txBody>
          <a:bodyPr vert="horz" wrap="square" lIns="91440" tIns="45720" rIns="91440" bIns="45720" anchor="t" anchorCtr="0"/>
          <a:lstStyle/>
          <a:p>
            <a:r>
              <a:rPr lang="en-US" altLang="zh-CN" dirty="0"/>
              <a:t>2</a:t>
            </a:r>
            <a:r>
              <a:rPr lang="zh-CN" altLang="en-US" dirty="0"/>
              <a:t>）两个以上的实体型之间的联系 </a:t>
            </a:r>
            <a:endParaRPr lang="en-US" altLang="zh-CN" dirty="0"/>
          </a:p>
          <a:p>
            <a:r>
              <a:rPr lang="zh-CN" altLang="en-US" dirty="0"/>
              <a:t>一般地，两个以上的实体型之间也存在着一对一、一对多、</a:t>
            </a:r>
            <a:r>
              <a:rPr lang="zh-CN" altLang="en-US" dirty="0">
                <a:solidFill>
                  <a:srgbClr val="FF0000"/>
                </a:solidFill>
              </a:rPr>
              <a:t>多对多</a:t>
            </a:r>
            <a:r>
              <a:rPr lang="zh-CN" altLang="en-US" dirty="0"/>
              <a:t>联系。 </a:t>
            </a:r>
            <a:endParaRPr lang="en-US" altLang="zh-CN" dirty="0"/>
          </a:p>
          <a:p>
            <a:endParaRPr lang="zh-CN" altLang="en-US" dirty="0"/>
          </a:p>
        </p:txBody>
      </p:sp>
      <p:grpSp>
        <p:nvGrpSpPr>
          <p:cNvPr id="7" name="Group 16"/>
          <p:cNvGrpSpPr/>
          <p:nvPr>
            <p:custDataLst>
              <p:tags r:id="rId1"/>
            </p:custDataLst>
          </p:nvPr>
        </p:nvGrpSpPr>
        <p:grpSpPr bwMode="auto">
          <a:xfrm>
            <a:off x="1415415" y="2996565"/>
            <a:ext cx="2588895" cy="2888619"/>
            <a:chOff x="3711" y="1117"/>
            <a:chExt cx="1712" cy="2183"/>
          </a:xfrm>
        </p:grpSpPr>
        <p:sp>
          <p:nvSpPr>
            <p:cNvPr id="56326" name="Text Box 5"/>
            <p:cNvSpPr txBox="1">
              <a:spLocks noChangeArrowheads="1"/>
            </p:cNvSpPr>
            <p:nvPr>
              <p:custDataLst>
                <p:tags r:id="rId2"/>
              </p:custDataLst>
            </p:nvPr>
          </p:nvSpPr>
          <p:spPr bwMode="auto">
            <a:xfrm>
              <a:off x="4151" y="1117"/>
              <a:ext cx="746"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供应商</a:t>
              </a:r>
              <a:endParaRPr kumimoji="1" lang="zh-CN" altLang="en-US" sz="2400">
                <a:latin typeface="Times New Roman" panose="02020603050405020304" pitchFamily="18" charset="0"/>
                <a:ea typeface="楷体_GB2312" pitchFamily="49" charset="-122"/>
              </a:endParaRPr>
            </a:p>
          </p:txBody>
        </p:sp>
        <p:sp>
          <p:nvSpPr>
            <p:cNvPr id="56327" name="AutoShape 6"/>
            <p:cNvSpPr>
              <a:spLocks noChangeArrowheads="1"/>
            </p:cNvSpPr>
            <p:nvPr>
              <p:custDataLst>
                <p:tags r:id="rId3"/>
              </p:custDataLst>
            </p:nvPr>
          </p:nvSpPr>
          <p:spPr bwMode="auto">
            <a:xfrm>
              <a:off x="4106" y="1870"/>
              <a:ext cx="877" cy="471"/>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供应</a:t>
              </a:r>
              <a:endParaRPr kumimoji="1" lang="zh-CN" altLang="en-US" sz="2400">
                <a:latin typeface="Times New Roman" panose="02020603050405020304" pitchFamily="18" charset="0"/>
                <a:ea typeface="楷体_GB2312" pitchFamily="49" charset="-122"/>
              </a:endParaRPr>
            </a:p>
          </p:txBody>
        </p:sp>
        <p:sp>
          <p:nvSpPr>
            <p:cNvPr id="56328" name="Text Box 7"/>
            <p:cNvSpPr txBox="1">
              <a:spLocks noChangeArrowheads="1"/>
            </p:cNvSpPr>
            <p:nvPr>
              <p:custDataLst>
                <p:tags r:id="rId4"/>
              </p:custDataLst>
            </p:nvPr>
          </p:nvSpPr>
          <p:spPr bwMode="auto">
            <a:xfrm>
              <a:off x="3767" y="2952"/>
              <a:ext cx="565"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项目</a:t>
              </a:r>
              <a:endParaRPr kumimoji="1" lang="zh-CN" altLang="en-US" sz="2400">
                <a:latin typeface="Times New Roman" panose="02020603050405020304" pitchFamily="18" charset="0"/>
                <a:ea typeface="楷体_GB2312" pitchFamily="49" charset="-122"/>
              </a:endParaRPr>
            </a:p>
          </p:txBody>
        </p:sp>
        <p:sp>
          <p:nvSpPr>
            <p:cNvPr id="56329" name="Line 8"/>
            <p:cNvSpPr>
              <a:spLocks noChangeShapeType="1"/>
            </p:cNvSpPr>
            <p:nvPr>
              <p:custDataLst>
                <p:tags r:id="rId5"/>
              </p:custDataLst>
            </p:nvPr>
          </p:nvSpPr>
          <p:spPr bwMode="auto">
            <a:xfrm flipH="1" flipV="1">
              <a:off x="4544" y="1453"/>
              <a:ext cx="1" cy="4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0" name="Line 9"/>
            <p:cNvSpPr>
              <a:spLocks noChangeShapeType="1"/>
            </p:cNvSpPr>
            <p:nvPr>
              <p:custDataLst>
                <p:tags r:id="rId6"/>
              </p:custDataLst>
            </p:nvPr>
          </p:nvSpPr>
          <p:spPr bwMode="auto">
            <a:xfrm flipH="1">
              <a:off x="4059" y="2105"/>
              <a:ext cx="47" cy="8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1" name="Text Box 10"/>
            <p:cNvSpPr txBox="1">
              <a:spLocks noChangeArrowheads="1"/>
            </p:cNvSpPr>
            <p:nvPr>
              <p:custDataLst>
                <p:tags r:id="rId7"/>
              </p:custDataLst>
            </p:nvPr>
          </p:nvSpPr>
          <p:spPr bwMode="auto">
            <a:xfrm>
              <a:off x="4194" y="1541"/>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endParaRPr kumimoji="1" lang="en-US" altLang="zh-CN" sz="2400">
                <a:latin typeface="Times New Roman" panose="02020603050405020304" pitchFamily="18" charset="0"/>
              </a:endParaRPr>
            </a:p>
          </p:txBody>
        </p:sp>
        <p:sp>
          <p:nvSpPr>
            <p:cNvPr id="56332" name="Text Box 11"/>
            <p:cNvSpPr txBox="1">
              <a:spLocks noChangeArrowheads="1"/>
            </p:cNvSpPr>
            <p:nvPr>
              <p:custDataLst>
                <p:tags r:id="rId8"/>
              </p:custDataLst>
            </p:nvPr>
          </p:nvSpPr>
          <p:spPr bwMode="auto">
            <a:xfrm>
              <a:off x="5203" y="2491"/>
              <a:ext cx="2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p</a:t>
              </a:r>
              <a:endParaRPr kumimoji="1" lang="en-US" altLang="zh-CN" sz="2400">
                <a:latin typeface="Times New Roman" panose="02020603050405020304" pitchFamily="18" charset="0"/>
              </a:endParaRPr>
            </a:p>
          </p:txBody>
        </p:sp>
        <p:sp>
          <p:nvSpPr>
            <p:cNvPr id="56334" name="Text Box 13"/>
            <p:cNvSpPr txBox="1">
              <a:spLocks noChangeArrowheads="1"/>
            </p:cNvSpPr>
            <p:nvPr>
              <p:custDataLst>
                <p:tags r:id="rId9"/>
              </p:custDataLst>
            </p:nvPr>
          </p:nvSpPr>
          <p:spPr bwMode="auto">
            <a:xfrm>
              <a:off x="4785" y="2952"/>
              <a:ext cx="544"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零件</a:t>
              </a:r>
              <a:endParaRPr kumimoji="1" lang="zh-CN" altLang="en-US" sz="2400">
                <a:latin typeface="Times New Roman" panose="02020603050405020304" pitchFamily="18" charset="0"/>
                <a:ea typeface="楷体_GB2312" pitchFamily="49" charset="-122"/>
              </a:endParaRPr>
            </a:p>
          </p:txBody>
        </p:sp>
        <p:sp>
          <p:nvSpPr>
            <p:cNvPr id="56335" name="Line 14"/>
            <p:cNvSpPr>
              <a:spLocks noChangeShapeType="1"/>
            </p:cNvSpPr>
            <p:nvPr>
              <p:custDataLst>
                <p:tags r:id="rId10"/>
              </p:custDataLst>
            </p:nvPr>
          </p:nvSpPr>
          <p:spPr bwMode="auto">
            <a:xfrm>
              <a:off x="4983" y="2105"/>
              <a:ext cx="120" cy="8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6" name="Text Box 15"/>
            <p:cNvSpPr txBox="1">
              <a:spLocks noChangeArrowheads="1"/>
            </p:cNvSpPr>
            <p:nvPr>
              <p:custDataLst>
                <p:tags r:id="rId11"/>
              </p:custDataLst>
            </p:nvPr>
          </p:nvSpPr>
          <p:spPr bwMode="auto">
            <a:xfrm>
              <a:off x="3711" y="2447"/>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grpSp>
        <p:nvGrpSpPr>
          <p:cNvPr id="8" name="Group 16"/>
          <p:cNvGrpSpPr/>
          <p:nvPr>
            <p:custDataLst>
              <p:tags r:id="rId12"/>
            </p:custDataLst>
          </p:nvPr>
        </p:nvGrpSpPr>
        <p:grpSpPr bwMode="auto">
          <a:xfrm>
            <a:off x="5160010" y="2996565"/>
            <a:ext cx="2588895" cy="2888619"/>
            <a:chOff x="3711" y="1117"/>
            <a:chExt cx="1712" cy="2183"/>
          </a:xfrm>
        </p:grpSpPr>
        <p:sp>
          <p:nvSpPr>
            <p:cNvPr id="9" name="Text Box 5"/>
            <p:cNvSpPr txBox="1">
              <a:spLocks noChangeArrowheads="1"/>
            </p:cNvSpPr>
            <p:nvPr>
              <p:custDataLst>
                <p:tags r:id="rId13"/>
              </p:custDataLst>
            </p:nvPr>
          </p:nvSpPr>
          <p:spPr bwMode="auto">
            <a:xfrm>
              <a:off x="4151" y="1117"/>
              <a:ext cx="746"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endParaRPr kumimoji="1" lang="zh-CN" altLang="en-US" sz="2400">
                <a:latin typeface="Times New Roman" panose="02020603050405020304" pitchFamily="18" charset="0"/>
                <a:ea typeface="楷体_GB2312" pitchFamily="49" charset="-122"/>
              </a:endParaRPr>
            </a:p>
          </p:txBody>
        </p:sp>
        <p:sp>
          <p:nvSpPr>
            <p:cNvPr id="10" name="AutoShape 6"/>
            <p:cNvSpPr>
              <a:spLocks noChangeArrowheads="1"/>
            </p:cNvSpPr>
            <p:nvPr>
              <p:custDataLst>
                <p:tags r:id="rId14"/>
              </p:custDataLst>
            </p:nvPr>
          </p:nvSpPr>
          <p:spPr bwMode="auto">
            <a:xfrm>
              <a:off x="4106" y="1870"/>
              <a:ext cx="877" cy="471"/>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评价</a:t>
              </a:r>
              <a:endParaRPr kumimoji="1" lang="zh-CN" altLang="en-US" sz="2400">
                <a:latin typeface="Times New Roman" panose="02020603050405020304" pitchFamily="18" charset="0"/>
                <a:ea typeface="楷体_GB2312" pitchFamily="49" charset="-122"/>
              </a:endParaRPr>
            </a:p>
          </p:txBody>
        </p:sp>
        <p:sp>
          <p:nvSpPr>
            <p:cNvPr id="11" name="Text Box 7"/>
            <p:cNvSpPr txBox="1">
              <a:spLocks noChangeArrowheads="1"/>
            </p:cNvSpPr>
            <p:nvPr>
              <p:custDataLst>
                <p:tags r:id="rId15"/>
              </p:custDataLst>
            </p:nvPr>
          </p:nvSpPr>
          <p:spPr bwMode="auto">
            <a:xfrm>
              <a:off x="3767" y="2952"/>
              <a:ext cx="565"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教师</a:t>
              </a:r>
              <a:endParaRPr kumimoji="1" lang="zh-CN" altLang="en-US" sz="2400">
                <a:latin typeface="Times New Roman" panose="02020603050405020304" pitchFamily="18" charset="0"/>
                <a:ea typeface="楷体_GB2312" pitchFamily="49" charset="-122"/>
              </a:endParaRPr>
            </a:p>
          </p:txBody>
        </p:sp>
        <p:sp>
          <p:nvSpPr>
            <p:cNvPr id="12" name="Line 8"/>
            <p:cNvSpPr>
              <a:spLocks noChangeShapeType="1"/>
            </p:cNvSpPr>
            <p:nvPr>
              <p:custDataLst>
                <p:tags r:id="rId16"/>
              </p:custDataLst>
            </p:nvPr>
          </p:nvSpPr>
          <p:spPr bwMode="auto">
            <a:xfrm flipV="1">
              <a:off x="4545" y="1453"/>
              <a:ext cx="6" cy="41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9"/>
            <p:cNvSpPr>
              <a:spLocks noChangeShapeType="1"/>
            </p:cNvSpPr>
            <p:nvPr>
              <p:custDataLst>
                <p:tags r:id="rId17"/>
              </p:custDataLst>
            </p:nvPr>
          </p:nvSpPr>
          <p:spPr bwMode="auto">
            <a:xfrm flipH="1">
              <a:off x="4059" y="2105"/>
              <a:ext cx="47" cy="8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10"/>
            <p:cNvSpPr txBox="1">
              <a:spLocks noChangeArrowheads="1"/>
            </p:cNvSpPr>
            <p:nvPr>
              <p:custDataLst>
                <p:tags r:id="rId18"/>
              </p:custDataLst>
            </p:nvPr>
          </p:nvSpPr>
          <p:spPr bwMode="auto">
            <a:xfrm>
              <a:off x="4194" y="1541"/>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endParaRPr kumimoji="1" lang="en-US" altLang="zh-CN" sz="2400">
                <a:latin typeface="Times New Roman" panose="02020603050405020304" pitchFamily="18" charset="0"/>
              </a:endParaRPr>
            </a:p>
          </p:txBody>
        </p:sp>
        <p:sp>
          <p:nvSpPr>
            <p:cNvPr id="15" name="Text Box 11"/>
            <p:cNvSpPr txBox="1">
              <a:spLocks noChangeArrowheads="1"/>
            </p:cNvSpPr>
            <p:nvPr>
              <p:custDataLst>
                <p:tags r:id="rId19"/>
              </p:custDataLst>
            </p:nvPr>
          </p:nvSpPr>
          <p:spPr bwMode="auto">
            <a:xfrm>
              <a:off x="5203" y="2491"/>
              <a:ext cx="22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p</a:t>
              </a:r>
              <a:endParaRPr kumimoji="1" lang="en-US" altLang="zh-CN" sz="2400">
                <a:latin typeface="Times New Roman" panose="02020603050405020304" pitchFamily="18" charset="0"/>
              </a:endParaRPr>
            </a:p>
          </p:txBody>
        </p:sp>
        <p:sp>
          <p:nvSpPr>
            <p:cNvPr id="16" name="Text Box 13"/>
            <p:cNvSpPr txBox="1">
              <a:spLocks noChangeArrowheads="1"/>
            </p:cNvSpPr>
            <p:nvPr>
              <p:custDataLst>
                <p:tags r:id="rId20"/>
              </p:custDataLst>
            </p:nvPr>
          </p:nvSpPr>
          <p:spPr bwMode="auto">
            <a:xfrm>
              <a:off x="4785" y="2952"/>
              <a:ext cx="544" cy="348"/>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楷体_GB2312" pitchFamily="49" charset="-122"/>
                </a:rPr>
                <a:t>学生</a:t>
              </a:r>
              <a:endParaRPr kumimoji="1" lang="zh-CN" altLang="en-US" sz="2400">
                <a:latin typeface="Times New Roman" panose="02020603050405020304" pitchFamily="18" charset="0"/>
                <a:ea typeface="楷体_GB2312" pitchFamily="49" charset="-122"/>
              </a:endParaRPr>
            </a:p>
          </p:txBody>
        </p:sp>
        <p:sp>
          <p:nvSpPr>
            <p:cNvPr id="17" name="Line 14"/>
            <p:cNvSpPr>
              <a:spLocks noChangeShapeType="1"/>
            </p:cNvSpPr>
            <p:nvPr>
              <p:custDataLst>
                <p:tags r:id="rId21"/>
              </p:custDataLst>
            </p:nvPr>
          </p:nvSpPr>
          <p:spPr bwMode="auto">
            <a:xfrm>
              <a:off x="4983" y="2105"/>
              <a:ext cx="120" cy="8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Text Box 15"/>
            <p:cNvSpPr txBox="1">
              <a:spLocks noChangeArrowheads="1"/>
            </p:cNvSpPr>
            <p:nvPr>
              <p:custDataLst>
                <p:tags r:id="rId22"/>
              </p:custDataLst>
            </p:nvPr>
          </p:nvSpPr>
          <p:spPr bwMode="auto">
            <a:xfrm>
              <a:off x="3711" y="2447"/>
              <a:ext cx="21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0.05"/>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 calcmode="lin" valueType="num">
                                      <p:cBhvr>
                                        <p:cTn id="9" dur="500" fill="hold"/>
                                        <p:tgtEl>
                                          <p:spTgt spid="7"/>
                                        </p:tgtEl>
                                        <p:attrNameLst>
                                          <p:attrName>ppt_x</p:attrName>
                                        </p:attrNameLst>
                                      </p:cBhvr>
                                      <p:tavLst>
                                        <p:tav tm="0">
                                          <p:val>
                                            <p:strVal val="#ppt_x-.2"/>
                                          </p:val>
                                        </p:tav>
                                        <p:tav tm="100000">
                                          <p:val>
                                            <p:strVal val="#ppt_x"/>
                                          </p:val>
                                        </p:tav>
                                      </p:tavLst>
                                    </p:anim>
                                    <p:anim calcmode="lin" valueType="num">
                                      <p:cBhvr>
                                        <p:cTn id="10" dur="500" fill="hold"/>
                                        <p:tgtEl>
                                          <p:spTgt spid="7"/>
                                        </p:tgtEl>
                                        <p:attrNameLst>
                                          <p:attrName>ppt_y</p:attrName>
                                        </p:attrNameLst>
                                      </p:cBhvr>
                                      <p:tavLst>
                                        <p:tav tm="0">
                                          <p:val>
                                            <p:strVal val="#ppt_y"/>
                                          </p:val>
                                        </p:tav>
                                        <p:tav tm="100000">
                                          <p:val>
                                            <p:strVal val="#ppt_y"/>
                                          </p:val>
                                        </p:tav>
                                      </p:tavLst>
                                    </p:anim>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strVal val="#ppt_w*0.05"/>
                                          </p:val>
                                        </p:tav>
                                        <p:tav tm="100000">
                                          <p:val>
                                            <p:strVal val="#ppt_w"/>
                                          </p:val>
                                        </p:tav>
                                      </p:tavLst>
                                    </p:anim>
                                    <p:anim calcmode="lin" valueType="num">
                                      <p:cBhvr>
                                        <p:cTn id="17" dur="500" fill="hold"/>
                                        <p:tgtEl>
                                          <p:spTgt spid="8"/>
                                        </p:tgtEl>
                                        <p:attrNameLst>
                                          <p:attrName>ppt_h</p:attrName>
                                        </p:attrNameLst>
                                      </p:cBhvr>
                                      <p:tavLst>
                                        <p:tav tm="0">
                                          <p:val>
                                            <p:strVal val="#ppt_h"/>
                                          </p:val>
                                        </p:tav>
                                        <p:tav tm="100000">
                                          <p:val>
                                            <p:strVal val="#ppt_h"/>
                                          </p:val>
                                        </p:tav>
                                      </p:tavLst>
                                    </p:anim>
                                    <p:anim calcmode="lin" valueType="num">
                                      <p:cBhvr>
                                        <p:cTn id="18" dur="500" fill="hold"/>
                                        <p:tgtEl>
                                          <p:spTgt spid="8"/>
                                        </p:tgtEl>
                                        <p:attrNameLst>
                                          <p:attrName>ppt_x</p:attrName>
                                        </p:attrNameLst>
                                      </p:cBhvr>
                                      <p:tavLst>
                                        <p:tav tm="0">
                                          <p:val>
                                            <p:strVal val="#ppt_x-.2"/>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39470" y="1196340"/>
            <a:ext cx="9732645" cy="1198880"/>
          </a:xfrm>
          <a:prstGeom prst="rect">
            <a:avLst/>
          </a:prstGeom>
          <a:noFill/>
        </p:spPr>
        <p:txBody>
          <a:bodyPr wrap="square" rtlCol="0" anchor="t">
            <a:spAutoFit/>
          </a:bodyPr>
          <a:lstStyle/>
          <a:p>
            <a:r>
              <a:rPr lang="zh-CN" altLang="en-US" sz="2400" dirty="0">
                <a:sym typeface="+mn-ea"/>
              </a:rPr>
              <a:t>对于课程、教师与参考书</a:t>
            </a:r>
            <a:r>
              <a:rPr lang="en-US" altLang="zh-CN" sz="2400" dirty="0">
                <a:sym typeface="+mn-ea"/>
              </a:rPr>
              <a:t>3</a:t>
            </a:r>
            <a:r>
              <a:rPr lang="zh-CN" altLang="en-US" sz="2400" dirty="0">
                <a:sym typeface="+mn-ea"/>
              </a:rPr>
              <a:t>个实体型，如果一门课程可以有若干个教师讲授，使用若干本参考书，而每一个教师</a:t>
            </a:r>
            <a:r>
              <a:rPr lang="en-US" altLang="zh-CN" sz="2400" dirty="0">
                <a:sym typeface="+mn-ea"/>
              </a:rPr>
              <a:t>+</a:t>
            </a:r>
            <a:r>
              <a:rPr lang="zh-CN" altLang="en-US" sz="2400" dirty="0">
                <a:sym typeface="+mn-ea"/>
              </a:rPr>
              <a:t>每一本参考书只对应一门课程使用，则课程与教师、参考书之间的联系是</a:t>
            </a:r>
            <a:r>
              <a:rPr lang="zh-CN" altLang="en-US" sz="2400" dirty="0">
                <a:solidFill>
                  <a:srgbClr val="FF0000"/>
                </a:solidFill>
                <a:sym typeface="+mn-ea"/>
              </a:rPr>
              <a:t>一对多</a:t>
            </a:r>
            <a:r>
              <a:rPr lang="zh-CN" altLang="en-US" sz="2400" dirty="0">
                <a:sym typeface="+mn-ea"/>
              </a:rPr>
              <a:t>的。</a:t>
            </a:r>
            <a:endParaRPr lang="zh-CN" altLang="en-US" sz="2400" dirty="0">
              <a:sym typeface="+mn-ea"/>
            </a:endParaRPr>
          </a:p>
        </p:txBody>
      </p:sp>
      <p:grpSp>
        <p:nvGrpSpPr>
          <p:cNvPr id="54277" name="Group 17"/>
          <p:cNvGrpSpPr/>
          <p:nvPr/>
        </p:nvGrpSpPr>
        <p:grpSpPr bwMode="auto">
          <a:xfrm>
            <a:off x="1212533" y="2561273"/>
            <a:ext cx="2873375" cy="3290887"/>
            <a:chOff x="3610" y="1200"/>
            <a:chExt cx="1810" cy="2073"/>
          </a:xfrm>
        </p:grpSpPr>
        <p:sp>
          <p:nvSpPr>
            <p:cNvPr id="54278" name="Text Box 6"/>
            <p:cNvSpPr txBox="1">
              <a:spLocks noChangeArrowheads="1"/>
            </p:cNvSpPr>
            <p:nvPr/>
          </p:nvSpPr>
          <p:spPr bwMode="auto">
            <a:xfrm>
              <a:off x="4115" y="1200"/>
              <a:ext cx="573"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endParaRPr kumimoji="1" lang="zh-CN" altLang="en-US" sz="2400">
                <a:latin typeface="Times New Roman" panose="02020603050405020304" pitchFamily="18" charset="0"/>
                <a:ea typeface="楷体_GB2312" pitchFamily="49" charset="-122"/>
              </a:endParaRPr>
            </a:p>
          </p:txBody>
        </p:sp>
        <p:sp>
          <p:nvSpPr>
            <p:cNvPr id="54279" name="AutoShape 7"/>
            <p:cNvSpPr>
              <a:spLocks noChangeArrowheads="1"/>
            </p:cNvSpPr>
            <p:nvPr/>
          </p:nvSpPr>
          <p:spPr bwMode="auto">
            <a:xfrm>
              <a:off x="4081" y="1930"/>
              <a:ext cx="674" cy="456"/>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讲授</a:t>
              </a:r>
              <a:endParaRPr kumimoji="1" lang="zh-CN" altLang="en-US" sz="2400">
                <a:latin typeface="Times New Roman" panose="02020603050405020304" pitchFamily="18" charset="0"/>
                <a:ea typeface="楷体_GB2312" pitchFamily="49" charset="-122"/>
              </a:endParaRPr>
            </a:p>
          </p:txBody>
        </p:sp>
        <p:sp>
          <p:nvSpPr>
            <p:cNvPr id="54280" name="Text Box 8"/>
            <p:cNvSpPr txBox="1">
              <a:spLocks noChangeArrowheads="1"/>
            </p:cNvSpPr>
            <p:nvPr/>
          </p:nvSpPr>
          <p:spPr bwMode="auto">
            <a:xfrm>
              <a:off x="3610" y="2979"/>
              <a:ext cx="573"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教师</a:t>
              </a:r>
              <a:endParaRPr kumimoji="1" lang="zh-CN" altLang="en-US" sz="2400">
                <a:latin typeface="Times New Roman" panose="02020603050405020304" pitchFamily="18" charset="0"/>
                <a:ea typeface="楷体_GB2312" pitchFamily="49" charset="-122"/>
              </a:endParaRPr>
            </a:p>
          </p:txBody>
        </p:sp>
        <p:sp>
          <p:nvSpPr>
            <p:cNvPr id="54281" name="Line 9"/>
            <p:cNvSpPr>
              <a:spLocks noChangeShapeType="1"/>
            </p:cNvSpPr>
            <p:nvPr/>
          </p:nvSpPr>
          <p:spPr bwMode="auto">
            <a:xfrm flipV="1">
              <a:off x="4418" y="1474"/>
              <a:ext cx="0" cy="4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2" name="Line 10"/>
            <p:cNvSpPr>
              <a:spLocks noChangeShapeType="1"/>
            </p:cNvSpPr>
            <p:nvPr/>
          </p:nvSpPr>
          <p:spPr bwMode="auto">
            <a:xfrm flipH="1">
              <a:off x="3992" y="2158"/>
              <a:ext cx="92" cy="8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Text Box 11"/>
            <p:cNvSpPr txBox="1">
              <a:spLocks noChangeArrowheads="1"/>
            </p:cNvSpPr>
            <p:nvPr/>
          </p:nvSpPr>
          <p:spPr bwMode="auto">
            <a:xfrm>
              <a:off x="4149" y="1611"/>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endParaRPr kumimoji="1" lang="en-US" altLang="zh-CN" sz="2400">
                <a:latin typeface="Times New Roman" panose="02020603050405020304" pitchFamily="18" charset="0"/>
              </a:endParaRPr>
            </a:p>
          </p:txBody>
        </p:sp>
        <p:sp>
          <p:nvSpPr>
            <p:cNvPr id="54284" name="Text Box 12"/>
            <p:cNvSpPr txBox="1">
              <a:spLocks noChangeArrowheads="1"/>
            </p:cNvSpPr>
            <p:nvPr/>
          </p:nvSpPr>
          <p:spPr bwMode="auto">
            <a:xfrm>
              <a:off x="3812"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endParaRPr kumimoji="1" lang="en-US" altLang="zh-CN" sz="2400">
                <a:latin typeface="Times New Roman" panose="02020603050405020304" pitchFamily="18" charset="0"/>
              </a:endParaRPr>
            </a:p>
          </p:txBody>
        </p:sp>
        <p:sp>
          <p:nvSpPr>
            <p:cNvPr id="54286" name="Text Box 14"/>
            <p:cNvSpPr txBox="1">
              <a:spLocks noChangeArrowheads="1"/>
            </p:cNvSpPr>
            <p:nvPr/>
          </p:nvSpPr>
          <p:spPr bwMode="auto">
            <a:xfrm>
              <a:off x="4694" y="2976"/>
              <a:ext cx="726"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参考书</a:t>
              </a:r>
              <a:endParaRPr kumimoji="1" lang="zh-CN" altLang="en-US" sz="2400">
                <a:latin typeface="Times New Roman" panose="02020603050405020304" pitchFamily="18" charset="0"/>
                <a:ea typeface="楷体_GB2312" pitchFamily="49" charset="-122"/>
              </a:endParaRPr>
            </a:p>
          </p:txBody>
        </p:sp>
        <p:sp>
          <p:nvSpPr>
            <p:cNvPr id="54287" name="Line 15"/>
            <p:cNvSpPr>
              <a:spLocks noChangeShapeType="1"/>
            </p:cNvSpPr>
            <p:nvPr/>
          </p:nvSpPr>
          <p:spPr bwMode="auto">
            <a:xfrm>
              <a:off x="4755" y="2158"/>
              <a:ext cx="225" cy="8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Text Box 16"/>
            <p:cNvSpPr txBox="1">
              <a:spLocks noChangeArrowheads="1"/>
            </p:cNvSpPr>
            <p:nvPr/>
          </p:nvSpPr>
          <p:spPr bwMode="auto">
            <a:xfrm>
              <a:off x="4890"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sp>
        <p:nvSpPr>
          <p:cNvPr id="74753" name="标题 1"/>
          <p:cNvSpPr>
            <a:spLocks noGrp="1"/>
          </p:cNvSpPr>
          <p:nvPr>
            <p:ph type="title"/>
          </p:nvPr>
        </p:nvSpPr>
        <p:spPr/>
        <p:txBody>
          <a:bodyPr vert="horz" wrap="square" lIns="91440" tIns="45720" rIns="91440" bIns="45720" anchor="b" anchorCtr="0"/>
          <a:lstStyle/>
          <a:p>
            <a:r>
              <a:rPr lang="zh-CN" altLang="en-US" sz="3600" dirty="0"/>
              <a:t>实体之间的联系</a:t>
            </a:r>
            <a:endParaRPr lang="zh-CN" altLang="en-US" dirty="0"/>
          </a:p>
        </p:txBody>
      </p:sp>
      <p:grpSp>
        <p:nvGrpSpPr>
          <p:cNvPr id="3" name="Group 17"/>
          <p:cNvGrpSpPr/>
          <p:nvPr/>
        </p:nvGrpSpPr>
        <p:grpSpPr bwMode="auto">
          <a:xfrm>
            <a:off x="4600575" y="2567623"/>
            <a:ext cx="2873375" cy="3284537"/>
            <a:chOff x="3610" y="1200"/>
            <a:chExt cx="1810" cy="2069"/>
          </a:xfrm>
        </p:grpSpPr>
        <p:sp>
          <p:nvSpPr>
            <p:cNvPr id="4" name="Text Box 6"/>
            <p:cNvSpPr txBox="1">
              <a:spLocks noChangeArrowheads="1"/>
            </p:cNvSpPr>
            <p:nvPr/>
          </p:nvSpPr>
          <p:spPr bwMode="auto">
            <a:xfrm>
              <a:off x="4115" y="1200"/>
              <a:ext cx="573"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教室</a:t>
              </a:r>
              <a:endParaRPr kumimoji="1" lang="zh-CN" altLang="en-US" sz="2400">
                <a:latin typeface="Times New Roman" panose="02020603050405020304" pitchFamily="18" charset="0"/>
                <a:ea typeface="楷体_GB2312" pitchFamily="49" charset="-122"/>
              </a:endParaRPr>
            </a:p>
          </p:txBody>
        </p:sp>
        <p:sp>
          <p:nvSpPr>
            <p:cNvPr id="5" name="AutoShape 7"/>
            <p:cNvSpPr>
              <a:spLocks noChangeArrowheads="1"/>
            </p:cNvSpPr>
            <p:nvPr/>
          </p:nvSpPr>
          <p:spPr bwMode="auto">
            <a:xfrm>
              <a:off x="4081" y="1930"/>
              <a:ext cx="674" cy="456"/>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讲授</a:t>
              </a:r>
              <a:endParaRPr kumimoji="1" lang="zh-CN" altLang="en-US" sz="2400">
                <a:latin typeface="Times New Roman" panose="02020603050405020304" pitchFamily="18" charset="0"/>
                <a:ea typeface="楷体_GB2312" pitchFamily="49" charset="-122"/>
              </a:endParaRPr>
            </a:p>
          </p:txBody>
        </p:sp>
        <p:sp>
          <p:nvSpPr>
            <p:cNvPr id="6" name="Text Box 8"/>
            <p:cNvSpPr txBox="1">
              <a:spLocks noChangeArrowheads="1"/>
            </p:cNvSpPr>
            <p:nvPr/>
          </p:nvSpPr>
          <p:spPr bwMode="auto">
            <a:xfrm>
              <a:off x="3610" y="2979"/>
              <a:ext cx="710" cy="290"/>
            </a:xfrm>
            <a:prstGeom prst="rect">
              <a:avLst/>
            </a:prstGeom>
            <a:solidFill>
              <a:schemeClr val="accent1"/>
            </a:solidFill>
            <a:ln w="9525">
              <a:solidFill>
                <a:schemeClr val="tx1"/>
              </a:solidFill>
              <a:miter lim="800000"/>
            </a:ln>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教学班</a:t>
              </a:r>
              <a:endParaRPr kumimoji="1" lang="zh-CN" altLang="en-US" sz="2400">
                <a:latin typeface="Times New Roman" panose="02020603050405020304" pitchFamily="18" charset="0"/>
                <a:ea typeface="楷体_GB2312" pitchFamily="49" charset="-122"/>
              </a:endParaRPr>
            </a:p>
          </p:txBody>
        </p:sp>
        <p:sp>
          <p:nvSpPr>
            <p:cNvPr id="7" name="Line 9"/>
            <p:cNvSpPr>
              <a:spLocks noChangeShapeType="1"/>
            </p:cNvSpPr>
            <p:nvPr/>
          </p:nvSpPr>
          <p:spPr bwMode="auto">
            <a:xfrm flipV="1">
              <a:off x="4418" y="1474"/>
              <a:ext cx="0" cy="4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10"/>
            <p:cNvSpPr>
              <a:spLocks noChangeShapeType="1"/>
            </p:cNvSpPr>
            <p:nvPr/>
          </p:nvSpPr>
          <p:spPr bwMode="auto">
            <a:xfrm flipH="1">
              <a:off x="3992" y="2158"/>
              <a:ext cx="88" cy="82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11"/>
            <p:cNvSpPr txBox="1">
              <a:spLocks noChangeArrowheads="1"/>
            </p:cNvSpPr>
            <p:nvPr/>
          </p:nvSpPr>
          <p:spPr bwMode="auto">
            <a:xfrm>
              <a:off x="4149" y="1611"/>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endParaRPr kumimoji="1" lang="en-US" altLang="zh-CN" sz="2400">
                <a:latin typeface="Times New Roman" panose="02020603050405020304" pitchFamily="18" charset="0"/>
              </a:endParaRPr>
            </a:p>
          </p:txBody>
        </p:sp>
        <p:sp>
          <p:nvSpPr>
            <p:cNvPr id="10" name="Text Box 12"/>
            <p:cNvSpPr txBox="1">
              <a:spLocks noChangeArrowheads="1"/>
            </p:cNvSpPr>
            <p:nvPr/>
          </p:nvSpPr>
          <p:spPr bwMode="auto">
            <a:xfrm>
              <a:off x="3812"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endParaRPr kumimoji="1" lang="en-US" altLang="zh-CN" sz="2400">
                <a:latin typeface="Times New Roman" panose="02020603050405020304" pitchFamily="18" charset="0"/>
              </a:endParaRPr>
            </a:p>
          </p:txBody>
        </p:sp>
        <p:sp>
          <p:nvSpPr>
            <p:cNvPr id="11" name="Text Box 14"/>
            <p:cNvSpPr txBox="1">
              <a:spLocks noChangeArrowheads="1"/>
            </p:cNvSpPr>
            <p:nvPr/>
          </p:nvSpPr>
          <p:spPr bwMode="auto">
            <a:xfrm>
              <a:off x="4694" y="2976"/>
              <a:ext cx="72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时间片</a:t>
              </a:r>
              <a:endParaRPr kumimoji="1" lang="zh-CN" altLang="en-US" sz="2400">
                <a:latin typeface="Times New Roman" panose="02020603050405020304" pitchFamily="18" charset="0"/>
                <a:ea typeface="楷体_GB2312" pitchFamily="49" charset="-122"/>
              </a:endParaRPr>
            </a:p>
          </p:txBody>
        </p:sp>
        <p:sp>
          <p:nvSpPr>
            <p:cNvPr id="12" name="Line 15"/>
            <p:cNvSpPr>
              <a:spLocks noChangeShapeType="1"/>
            </p:cNvSpPr>
            <p:nvPr/>
          </p:nvSpPr>
          <p:spPr bwMode="auto">
            <a:xfrm>
              <a:off x="4755" y="2158"/>
              <a:ext cx="192" cy="81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16"/>
            <p:cNvSpPr txBox="1">
              <a:spLocks noChangeArrowheads="1"/>
            </p:cNvSpPr>
            <p:nvPr/>
          </p:nvSpPr>
          <p:spPr bwMode="auto">
            <a:xfrm>
              <a:off x="4890" y="2477"/>
              <a:ext cx="1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sp>
        <p:nvSpPr>
          <p:cNvPr id="14" name="矩形 13"/>
          <p:cNvSpPr/>
          <p:nvPr/>
        </p:nvSpPr>
        <p:spPr>
          <a:xfrm>
            <a:off x="7896200" y="4851157"/>
            <a:ext cx="3816424" cy="954107"/>
          </a:xfrm>
          <a:prstGeom prst="rect">
            <a:avLst/>
          </a:prstGeom>
        </p:spPr>
        <p:txBody>
          <a:bodyPr wrap="square">
            <a:spAutoFit/>
          </a:bodyPr>
          <a:lstStyle/>
          <a:p>
            <a:r>
              <a:rPr lang="zh-CN" altLang="en-US" sz="2800" dirty="0">
                <a:sym typeface="+mn-ea"/>
              </a:rPr>
              <a:t>每一</a:t>
            </a:r>
            <a:r>
              <a:rPr lang="zh-CN" altLang="en-US" sz="2800" dirty="0" smtClean="0">
                <a:sym typeface="+mn-ea"/>
              </a:rPr>
              <a:t>个教学班</a:t>
            </a:r>
            <a:r>
              <a:rPr lang="en-US" altLang="zh-CN" sz="2800" dirty="0" smtClean="0">
                <a:sym typeface="+mn-ea"/>
              </a:rPr>
              <a:t>+</a:t>
            </a:r>
            <a:r>
              <a:rPr lang="zh-CN" altLang="en-US" sz="2800" dirty="0" smtClean="0">
                <a:sym typeface="+mn-ea"/>
              </a:rPr>
              <a:t>一个时间片只</a:t>
            </a:r>
            <a:r>
              <a:rPr lang="zh-CN" altLang="en-US" sz="2800" dirty="0">
                <a:sym typeface="+mn-ea"/>
              </a:rPr>
              <a:t>对应</a:t>
            </a:r>
            <a:r>
              <a:rPr lang="zh-CN" altLang="en-US" sz="2800" dirty="0" smtClean="0">
                <a:sym typeface="+mn-ea"/>
              </a:rPr>
              <a:t>一个教室。</a:t>
            </a:r>
            <a:endParaRPr lang="zh-CN" altLang="en-US" sz="2800"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p:cNvSpPr>
          <p:nvPr>
            <p:ph type="title"/>
          </p:nvPr>
        </p:nvSpPr>
        <p:spPr/>
        <p:txBody>
          <a:bodyPr vert="horz" wrap="square" lIns="91440" tIns="45720" rIns="91440" bIns="45720" anchor="b" anchorCtr="0"/>
          <a:lstStyle/>
          <a:p>
            <a:r>
              <a:rPr lang="zh-CN" altLang="en-US" sz="3600" dirty="0"/>
              <a:t>实体之间的联系</a:t>
            </a:r>
            <a:endParaRPr lang="zh-CN" altLang="en-US" dirty="0"/>
          </a:p>
        </p:txBody>
      </p:sp>
      <p:sp>
        <p:nvSpPr>
          <p:cNvPr id="76802" name="内容占位符 2"/>
          <p:cNvSpPr>
            <a:spLocks noGrp="1"/>
          </p:cNvSpPr>
          <p:nvPr>
            <p:ph idx="1"/>
          </p:nvPr>
        </p:nvSpPr>
        <p:spPr/>
        <p:txBody>
          <a:bodyPr vert="horz" wrap="square" lIns="91440" tIns="45720" rIns="91440" bIns="45720" anchor="t" anchorCtr="0"/>
          <a:lstStyle/>
          <a:p>
            <a:r>
              <a:rPr lang="en-US" altLang="zh-CN" dirty="0"/>
              <a:t>3</a:t>
            </a:r>
            <a:r>
              <a:rPr lang="zh-CN" altLang="en-US" dirty="0"/>
              <a:t>）单个实体型内的联系 同一个实体集内的各实体之间也可以存在一对一、一对多、多对多的联系。 </a:t>
            </a:r>
            <a:endParaRPr lang="en-US" altLang="zh-CN" dirty="0"/>
          </a:p>
          <a:p>
            <a:r>
              <a:rPr lang="zh-CN" altLang="en-US" dirty="0"/>
              <a:t>例如，职工实体型内部具有领导与被领导的联系，即某一职工（干部）“领导”若干名职工，而一个职工仅被另外一个职工直接领导，因此这是一对多的联系。</a:t>
            </a:r>
            <a:endParaRPr lang="zh-CN" altLang="en-US" dirty="0"/>
          </a:p>
        </p:txBody>
      </p:sp>
      <p:grpSp>
        <p:nvGrpSpPr>
          <p:cNvPr id="7" name="Group 5"/>
          <p:cNvGrpSpPr/>
          <p:nvPr>
            <p:custDataLst>
              <p:tags r:id="rId1"/>
            </p:custDataLst>
          </p:nvPr>
        </p:nvGrpSpPr>
        <p:grpSpPr bwMode="auto">
          <a:xfrm>
            <a:off x="1950085" y="3716655"/>
            <a:ext cx="1524000" cy="1981200"/>
            <a:chOff x="4080" y="1152"/>
            <a:chExt cx="960" cy="1248"/>
          </a:xfrm>
        </p:grpSpPr>
        <p:sp>
          <p:nvSpPr>
            <p:cNvPr id="58426" name="Text Box 6"/>
            <p:cNvSpPr txBox="1">
              <a:spLocks noChangeArrowheads="1"/>
            </p:cNvSpPr>
            <p:nvPr>
              <p:custDataLst>
                <p:tags r:id="rId2"/>
              </p:custDataLst>
            </p:nvPr>
          </p:nvSpPr>
          <p:spPr bwMode="auto">
            <a:xfrm>
              <a:off x="4128" y="1152"/>
              <a:ext cx="816" cy="294"/>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职工</a:t>
              </a:r>
              <a:endParaRPr kumimoji="1" lang="zh-CN" altLang="en-US" sz="2400">
                <a:latin typeface="Times New Roman" panose="02020603050405020304" pitchFamily="18" charset="0"/>
                <a:ea typeface="楷体_GB2312" pitchFamily="49" charset="-122"/>
              </a:endParaRPr>
            </a:p>
          </p:txBody>
        </p:sp>
        <p:sp>
          <p:nvSpPr>
            <p:cNvPr id="58427" name="AutoShape 7"/>
            <p:cNvSpPr>
              <a:spLocks noChangeArrowheads="1"/>
            </p:cNvSpPr>
            <p:nvPr>
              <p:custDataLst>
                <p:tags r:id="rId3"/>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领导</a:t>
              </a:r>
              <a:endParaRPr kumimoji="1" lang="zh-CN" altLang="en-US" sz="2400">
                <a:latin typeface="Times New Roman" panose="02020603050405020304" pitchFamily="18" charset="0"/>
                <a:ea typeface="楷体_GB2312" pitchFamily="49" charset="-122"/>
              </a:endParaRPr>
            </a:p>
          </p:txBody>
        </p:sp>
        <p:sp>
          <p:nvSpPr>
            <p:cNvPr id="58428" name="Line 8"/>
            <p:cNvSpPr>
              <a:spLocks noChangeShapeType="1"/>
            </p:cNvSpPr>
            <p:nvPr>
              <p:custDataLst>
                <p:tags r:id="rId4"/>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29" name="Line 9"/>
            <p:cNvSpPr>
              <a:spLocks noChangeShapeType="1"/>
            </p:cNvSpPr>
            <p:nvPr>
              <p:custDataLst>
                <p:tags r:id="rId5"/>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30" name="Text Box 10"/>
            <p:cNvSpPr txBox="1">
              <a:spLocks noChangeArrowheads="1"/>
            </p:cNvSpPr>
            <p:nvPr>
              <p:custDataLst>
                <p:tags r:id="rId6"/>
              </p:custDataLst>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endParaRPr kumimoji="1" lang="en-US" altLang="zh-CN" sz="2400">
                <a:latin typeface="Times New Roman" panose="02020603050405020304" pitchFamily="18" charset="0"/>
              </a:endParaRPr>
            </a:p>
          </p:txBody>
        </p:sp>
        <p:sp>
          <p:nvSpPr>
            <p:cNvPr id="58431" name="Text Box 11"/>
            <p:cNvSpPr txBox="1">
              <a:spLocks noChangeArrowheads="1"/>
            </p:cNvSpPr>
            <p:nvPr>
              <p:custDataLst>
                <p:tags r:id="rId7"/>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grpSp>
        <p:nvGrpSpPr>
          <p:cNvPr id="8" name="Group 5"/>
          <p:cNvGrpSpPr/>
          <p:nvPr>
            <p:custDataLst>
              <p:tags r:id="rId8"/>
            </p:custDataLst>
          </p:nvPr>
        </p:nvGrpSpPr>
        <p:grpSpPr bwMode="auto">
          <a:xfrm>
            <a:off x="5088255" y="3716655"/>
            <a:ext cx="1524000" cy="1981200"/>
            <a:chOff x="4080" y="1152"/>
            <a:chExt cx="960" cy="1248"/>
          </a:xfrm>
        </p:grpSpPr>
        <p:sp>
          <p:nvSpPr>
            <p:cNvPr id="9" name="Text Box 6"/>
            <p:cNvSpPr txBox="1">
              <a:spLocks noChangeArrowheads="1"/>
            </p:cNvSpPr>
            <p:nvPr>
              <p:custDataLst>
                <p:tags r:id="rId9"/>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endParaRPr kumimoji="1" lang="zh-CN" altLang="en-US" sz="2400">
                <a:latin typeface="Times New Roman" panose="02020603050405020304" pitchFamily="18" charset="0"/>
                <a:ea typeface="楷体_GB2312" pitchFamily="49" charset="-122"/>
              </a:endParaRPr>
            </a:p>
          </p:txBody>
        </p:sp>
        <p:sp>
          <p:nvSpPr>
            <p:cNvPr id="10" name="AutoShape 7"/>
            <p:cNvSpPr>
              <a:spLocks noChangeArrowheads="1"/>
            </p:cNvSpPr>
            <p:nvPr>
              <p:custDataLst>
                <p:tags r:id="rId10"/>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endParaRPr kumimoji="1" lang="zh-CN" altLang="en-US" sz="2400">
                <a:latin typeface="Times New Roman" panose="02020603050405020304" pitchFamily="18" charset="0"/>
                <a:ea typeface="楷体_GB2312" pitchFamily="49" charset="-122"/>
              </a:endParaRPr>
            </a:p>
          </p:txBody>
        </p:sp>
        <p:sp>
          <p:nvSpPr>
            <p:cNvPr id="11" name="Line 8"/>
            <p:cNvSpPr>
              <a:spLocks noChangeShapeType="1"/>
            </p:cNvSpPr>
            <p:nvPr>
              <p:custDataLst>
                <p:tags r:id="rId11"/>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9"/>
            <p:cNvSpPr>
              <a:spLocks noChangeShapeType="1"/>
            </p:cNvSpPr>
            <p:nvPr>
              <p:custDataLst>
                <p:tags r:id="rId12"/>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10"/>
            <p:cNvSpPr txBox="1">
              <a:spLocks noChangeArrowheads="1"/>
            </p:cNvSpPr>
            <p:nvPr>
              <p:custDataLst>
                <p:tags r:id="rId13"/>
              </p:custDataLst>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endParaRPr kumimoji="1" lang="en-US" altLang="zh-CN" sz="2400">
                <a:latin typeface="Times New Roman" panose="02020603050405020304" pitchFamily="18" charset="0"/>
              </a:endParaRPr>
            </a:p>
          </p:txBody>
        </p:sp>
        <p:sp>
          <p:nvSpPr>
            <p:cNvPr id="14" name="Text Box 11"/>
            <p:cNvSpPr txBox="1">
              <a:spLocks noChangeArrowheads="1"/>
            </p:cNvSpPr>
            <p:nvPr>
              <p:custDataLst>
                <p:tags r:id="rId14"/>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grpSp>
        <p:nvGrpSpPr>
          <p:cNvPr id="15" name="Group 5"/>
          <p:cNvGrpSpPr/>
          <p:nvPr>
            <p:custDataLst>
              <p:tags r:id="rId15"/>
            </p:custDataLst>
          </p:nvPr>
        </p:nvGrpSpPr>
        <p:grpSpPr bwMode="auto">
          <a:xfrm>
            <a:off x="8040370" y="3640455"/>
            <a:ext cx="1524000" cy="1981200"/>
            <a:chOff x="4080" y="1152"/>
            <a:chExt cx="960" cy="1248"/>
          </a:xfrm>
        </p:grpSpPr>
        <p:sp>
          <p:nvSpPr>
            <p:cNvPr id="16" name="Text Box 6"/>
            <p:cNvSpPr txBox="1">
              <a:spLocks noChangeArrowheads="1"/>
            </p:cNvSpPr>
            <p:nvPr>
              <p:custDataLst>
                <p:tags r:id="rId16"/>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endParaRPr kumimoji="1" lang="zh-CN" altLang="en-US" sz="2400">
                <a:latin typeface="Times New Roman" panose="02020603050405020304" pitchFamily="18" charset="0"/>
                <a:ea typeface="楷体_GB2312" pitchFamily="49" charset="-122"/>
              </a:endParaRPr>
            </a:p>
          </p:txBody>
        </p:sp>
        <p:sp>
          <p:nvSpPr>
            <p:cNvPr id="17" name="AutoShape 7"/>
            <p:cNvSpPr>
              <a:spLocks noChangeArrowheads="1"/>
            </p:cNvSpPr>
            <p:nvPr>
              <p:custDataLst>
                <p:tags r:id="rId17"/>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endParaRPr kumimoji="1" lang="zh-CN" altLang="en-US" sz="2400">
                <a:latin typeface="Times New Roman" panose="02020603050405020304" pitchFamily="18" charset="0"/>
                <a:ea typeface="楷体_GB2312" pitchFamily="49" charset="-122"/>
              </a:endParaRPr>
            </a:p>
          </p:txBody>
        </p:sp>
        <p:sp>
          <p:nvSpPr>
            <p:cNvPr id="18" name="Line 8"/>
            <p:cNvSpPr>
              <a:spLocks noChangeShapeType="1"/>
            </p:cNvSpPr>
            <p:nvPr>
              <p:custDataLst>
                <p:tags r:id="rId18"/>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9"/>
            <p:cNvSpPr>
              <a:spLocks noChangeShapeType="1"/>
            </p:cNvSpPr>
            <p:nvPr>
              <p:custDataLst>
                <p:tags r:id="rId19"/>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0"/>
            <p:cNvSpPr txBox="1">
              <a:spLocks noChangeArrowheads="1"/>
            </p:cNvSpPr>
            <p:nvPr>
              <p:custDataLst>
                <p:tags r:id="rId20"/>
              </p:custDataLst>
            </p:nvPr>
          </p:nvSpPr>
          <p:spPr bwMode="auto">
            <a:xfrm>
              <a:off x="4080" y="1584"/>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endParaRPr kumimoji="1" lang="en-US" altLang="zh-CN" sz="2400">
                <a:latin typeface="Times New Roman" panose="02020603050405020304" pitchFamily="18" charset="0"/>
              </a:endParaRPr>
            </a:p>
          </p:txBody>
        </p:sp>
        <p:sp>
          <p:nvSpPr>
            <p:cNvPr id="21" name="Text Box 11"/>
            <p:cNvSpPr txBox="1">
              <a:spLocks noChangeArrowheads="1"/>
            </p:cNvSpPr>
            <p:nvPr>
              <p:custDataLst>
                <p:tags r:id="rId21"/>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0.05"/>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 calcmode="lin" valueType="num">
                                      <p:cBhvr>
                                        <p:cTn id="9" dur="500" fill="hold"/>
                                        <p:tgtEl>
                                          <p:spTgt spid="7"/>
                                        </p:tgtEl>
                                        <p:attrNameLst>
                                          <p:attrName>ppt_x</p:attrName>
                                        </p:attrNameLst>
                                      </p:cBhvr>
                                      <p:tavLst>
                                        <p:tav tm="0">
                                          <p:val>
                                            <p:strVal val="#ppt_x-.2"/>
                                          </p:val>
                                        </p:tav>
                                        <p:tav tm="100000">
                                          <p:val>
                                            <p:strVal val="#ppt_x"/>
                                          </p:val>
                                        </p:tav>
                                      </p:tavLst>
                                    </p:anim>
                                    <p:anim calcmode="lin" valueType="num">
                                      <p:cBhvr>
                                        <p:cTn id="10" dur="500" fill="hold"/>
                                        <p:tgtEl>
                                          <p:spTgt spid="7"/>
                                        </p:tgtEl>
                                        <p:attrNameLst>
                                          <p:attrName>ppt_y</p:attrName>
                                        </p:attrNameLst>
                                      </p:cBhvr>
                                      <p:tavLst>
                                        <p:tav tm="0">
                                          <p:val>
                                            <p:strVal val="#ppt_y"/>
                                          </p:val>
                                        </p:tav>
                                        <p:tav tm="100000">
                                          <p:val>
                                            <p:strVal val="#ppt_y"/>
                                          </p:val>
                                        </p:tav>
                                      </p:tavLst>
                                    </p:anim>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strVal val="#ppt_w*0.05"/>
                                          </p:val>
                                        </p:tav>
                                        <p:tav tm="100000">
                                          <p:val>
                                            <p:strVal val="#ppt_w"/>
                                          </p:val>
                                        </p:tav>
                                      </p:tavLst>
                                    </p:anim>
                                    <p:anim calcmode="lin" valueType="num">
                                      <p:cBhvr>
                                        <p:cTn id="17" dur="500" fill="hold"/>
                                        <p:tgtEl>
                                          <p:spTgt spid="8"/>
                                        </p:tgtEl>
                                        <p:attrNameLst>
                                          <p:attrName>ppt_h</p:attrName>
                                        </p:attrNameLst>
                                      </p:cBhvr>
                                      <p:tavLst>
                                        <p:tav tm="0">
                                          <p:val>
                                            <p:strVal val="#ppt_h"/>
                                          </p:val>
                                        </p:tav>
                                        <p:tav tm="100000">
                                          <p:val>
                                            <p:strVal val="#ppt_h"/>
                                          </p:val>
                                        </p:tav>
                                      </p:tavLst>
                                    </p:anim>
                                    <p:anim calcmode="lin" valueType="num">
                                      <p:cBhvr>
                                        <p:cTn id="18" dur="500" fill="hold"/>
                                        <p:tgtEl>
                                          <p:spTgt spid="8"/>
                                        </p:tgtEl>
                                        <p:attrNameLst>
                                          <p:attrName>ppt_x</p:attrName>
                                        </p:attrNameLst>
                                      </p:cBhvr>
                                      <p:tavLst>
                                        <p:tav tm="0">
                                          <p:val>
                                            <p:strVal val="#ppt_x-.2"/>
                                          </p:val>
                                        </p:tav>
                                        <p:tav tm="100000">
                                          <p:val>
                                            <p:strVal val="#ppt_x"/>
                                          </p:val>
                                        </p:tav>
                                      </p:tavLst>
                                    </p:anim>
                                    <p:anim calcmode="lin" valueType="num">
                                      <p:cBhvr>
                                        <p:cTn id="19" dur="500" fill="hold"/>
                                        <p:tgtEl>
                                          <p:spTgt spid="8"/>
                                        </p:tgtEl>
                                        <p:attrNameLst>
                                          <p:attrName>ppt_y</p:attrName>
                                        </p:attrNameLst>
                                      </p:cBhvr>
                                      <p:tavLst>
                                        <p:tav tm="0">
                                          <p:val>
                                            <p:strVal val="#ppt_y"/>
                                          </p:val>
                                        </p:tav>
                                        <p:tav tm="100000">
                                          <p:val>
                                            <p:strVal val="#ppt_y"/>
                                          </p:val>
                                        </p:tav>
                                      </p:tavLst>
                                    </p:anim>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strVal val="#ppt_w*0.05"/>
                                          </p:val>
                                        </p:tav>
                                        <p:tav tm="100000">
                                          <p:val>
                                            <p:strVal val="#ppt_w"/>
                                          </p:val>
                                        </p:tav>
                                      </p:tavLst>
                                    </p:anim>
                                    <p:anim calcmode="lin" valueType="num">
                                      <p:cBhvr>
                                        <p:cTn id="26" dur="500" fill="hold"/>
                                        <p:tgtEl>
                                          <p:spTgt spid="15"/>
                                        </p:tgtEl>
                                        <p:attrNameLst>
                                          <p:attrName>ppt_h</p:attrName>
                                        </p:attrNameLst>
                                      </p:cBhvr>
                                      <p:tavLst>
                                        <p:tav tm="0">
                                          <p:val>
                                            <p:strVal val="#ppt_h"/>
                                          </p:val>
                                        </p:tav>
                                        <p:tav tm="100000">
                                          <p:val>
                                            <p:strVal val="#ppt_h"/>
                                          </p:val>
                                        </p:tav>
                                      </p:tavLst>
                                    </p:anim>
                                    <p:anim calcmode="lin" valueType="num">
                                      <p:cBhvr>
                                        <p:cTn id="27" dur="500" fill="hold"/>
                                        <p:tgtEl>
                                          <p:spTgt spid="15"/>
                                        </p:tgtEl>
                                        <p:attrNameLst>
                                          <p:attrName>ppt_x</p:attrName>
                                        </p:attrNameLst>
                                      </p:cBhvr>
                                      <p:tavLst>
                                        <p:tav tm="0">
                                          <p:val>
                                            <p:strVal val="#ppt_x-.2"/>
                                          </p:val>
                                        </p:tav>
                                        <p:tav tm="100000">
                                          <p:val>
                                            <p:strVal val="#ppt_x"/>
                                          </p:val>
                                        </p:tav>
                                      </p:tavLst>
                                    </p:anim>
                                    <p:anim calcmode="lin" valueType="num">
                                      <p:cBhvr>
                                        <p:cTn id="28" dur="500" fill="hold"/>
                                        <p:tgtEl>
                                          <p:spTgt spid="15"/>
                                        </p:tgtEl>
                                        <p:attrNameLst>
                                          <p:attrName>ppt_y</p:attrName>
                                        </p:attrNameLst>
                                      </p:cBhvr>
                                      <p:tavLst>
                                        <p:tav tm="0">
                                          <p:val>
                                            <p:strVal val="#ppt_y"/>
                                          </p:val>
                                        </p:tav>
                                        <p:tav tm="100000">
                                          <p:val>
                                            <p:strVal val="#ppt_y"/>
                                          </p:val>
                                        </p:tav>
                                      </p:tavLst>
                                    </p:anim>
                                    <p:animEffect transition="in" filter="fade">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p:txBody>
          <a:bodyPr vert="horz" wrap="square" lIns="91440" tIns="45720" rIns="91440" bIns="45720" anchor="b" anchorCtr="0"/>
          <a:lstStyle/>
          <a:p>
            <a:r>
              <a:rPr lang="zh-CN" altLang="en-US" dirty="0"/>
              <a:t>一个实例</a:t>
            </a:r>
            <a:endParaRPr lang="zh-CN" altLang="en-US" dirty="0"/>
          </a:p>
        </p:txBody>
      </p:sp>
      <p:pic>
        <p:nvPicPr>
          <p:cNvPr id="51204" name="Picture 4" descr="实例2"/>
          <p:cNvPicPr>
            <a:picLocks noChangeAspect="1"/>
          </p:cNvPicPr>
          <p:nvPr/>
        </p:nvPicPr>
        <p:blipFill>
          <a:blip r:embed="rId1"/>
          <a:srcRect b="6998"/>
          <a:stretch>
            <a:fillRect/>
          </a:stretch>
        </p:blipFill>
        <p:spPr>
          <a:xfrm>
            <a:off x="1543050" y="1124585"/>
            <a:ext cx="8599805" cy="5090160"/>
          </a:xfrm>
          <a:prstGeom prst="rect">
            <a:avLst/>
          </a:prstGeom>
          <a:noFill/>
          <a:ln w="9525">
            <a:noFill/>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3820199" y="368388"/>
            <a:ext cx="7722235" cy="6062980"/>
          </a:xfrm>
          <a:prstGeom prst="rect">
            <a:avLst/>
          </a:prstGeom>
        </p:spPr>
      </p:pic>
      <p:sp>
        <p:nvSpPr>
          <p:cNvPr id="3" name="标题 1"/>
          <p:cNvSpPr>
            <a:spLocks noGrp="1"/>
          </p:cNvSpPr>
          <p:nvPr>
            <p:ph type="title"/>
          </p:nvPr>
        </p:nvSpPr>
        <p:spPr>
          <a:xfrm>
            <a:off x="762000" y="214313"/>
            <a:ext cx="10668000" cy="735012"/>
          </a:xfrm>
        </p:spPr>
        <p:txBody>
          <a:bodyPr vert="horz" wrap="square" lIns="91440" tIns="45720" rIns="91440" bIns="45720" anchor="b" anchorCtr="0"/>
          <a:lstStyle/>
          <a:p>
            <a:r>
              <a:rPr lang="zh-CN" altLang="en-US" dirty="0" smtClean="0"/>
              <a:t>学籍管理系统实例</a:t>
            </a:r>
            <a:endParaRPr lang="zh-CN" altLang="en-US" dirty="0"/>
          </a:p>
        </p:txBody>
      </p:sp>
    </p:spTree>
  </p:cSld>
  <p:clrMapOvr>
    <a:masterClrMapping/>
  </p:clrMapOvr>
  <p:transition advClick="0"/>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p:cNvSpPr>
          <p:nvPr>
            <p:ph type="title"/>
          </p:nvPr>
        </p:nvSpPr>
        <p:spPr/>
        <p:txBody>
          <a:bodyPr vert="horz" wrap="square" lIns="91440" tIns="45720" rIns="91440" bIns="45720" anchor="b" anchorCtr="0"/>
          <a:lstStyle/>
          <a:p>
            <a:r>
              <a:rPr lang="en-US" altLang="zh-CN" dirty="0"/>
              <a:t>7.3 </a:t>
            </a:r>
            <a:r>
              <a:rPr lang="zh-CN" altLang="en-US" dirty="0"/>
              <a:t>概念结构设计</a:t>
            </a:r>
            <a:endParaRPr lang="zh-CN" altLang="en-US" dirty="0"/>
          </a:p>
        </p:txBody>
      </p:sp>
      <p:sp>
        <p:nvSpPr>
          <p:cNvPr id="78850" name="内容占位符 2"/>
          <p:cNvSpPr>
            <a:spLocks noGrp="1"/>
          </p:cNvSpPr>
          <p:nvPr>
            <p:ph idx="1"/>
          </p:nvPr>
        </p:nvSpPr>
        <p:spPr/>
        <p:txBody>
          <a:bodyPr vert="horz" wrap="square" lIns="91440" tIns="45720" rIns="91440" bIns="45720" anchor="t" anchorCtr="0"/>
          <a:lstStyle/>
          <a:p>
            <a:r>
              <a:rPr lang="en-US" altLang="zh-CN" dirty="0"/>
              <a:t>7.3.1 </a:t>
            </a:r>
            <a:r>
              <a:rPr lang="zh-CN" altLang="en-US" dirty="0"/>
              <a:t>概念结构</a:t>
            </a:r>
            <a:endParaRPr lang="en-US" altLang="zh-CN" dirty="0"/>
          </a:p>
          <a:p>
            <a:r>
              <a:rPr lang="en-US" altLang="zh-CN" dirty="0"/>
              <a:t>7.3.2 E-R</a:t>
            </a:r>
            <a:r>
              <a:rPr lang="zh-CN" altLang="en-US" dirty="0"/>
              <a:t>模型</a:t>
            </a:r>
            <a:endParaRPr lang="en-US" altLang="zh-CN" dirty="0"/>
          </a:p>
          <a:p>
            <a:r>
              <a:rPr lang="zh-CN" altLang="en-US" dirty="0"/>
              <a:t>*</a:t>
            </a:r>
            <a:r>
              <a:rPr lang="en-US" altLang="zh-CN" dirty="0"/>
              <a:t>7.3.3 </a:t>
            </a:r>
            <a:r>
              <a:rPr lang="zh-CN" altLang="en-US" dirty="0"/>
              <a:t>扩展的</a:t>
            </a:r>
            <a:r>
              <a:rPr lang="en-US" altLang="zh-CN" dirty="0"/>
              <a:t>E-R</a:t>
            </a:r>
            <a:r>
              <a:rPr lang="zh-CN" altLang="en-US" dirty="0"/>
              <a:t>模型</a:t>
            </a:r>
            <a:endParaRPr lang="en-US" altLang="zh-CN" dirty="0"/>
          </a:p>
          <a:p>
            <a:r>
              <a:rPr lang="zh-CN" altLang="en-US" dirty="0"/>
              <a:t>*</a:t>
            </a:r>
            <a:r>
              <a:rPr lang="en-US" altLang="zh-CN" dirty="0"/>
              <a:t>7.3.4 UML</a:t>
            </a:r>
            <a:endParaRPr lang="en-US" altLang="zh-CN" dirty="0"/>
          </a:p>
          <a:p>
            <a:r>
              <a:rPr lang="en-US" altLang="zh-CN" b="1" dirty="0">
                <a:solidFill>
                  <a:srgbClr val="FF0000"/>
                </a:solidFill>
              </a:rPr>
              <a:t>7.3.5 </a:t>
            </a:r>
            <a:r>
              <a:rPr lang="zh-CN" altLang="en-US" b="1" dirty="0">
                <a:solidFill>
                  <a:srgbClr val="FF0000"/>
                </a:solidFill>
              </a:rPr>
              <a:t>概念结构设计</a:t>
            </a:r>
            <a:endParaRPr lang="zh-CN" altLang="en-US" b="1" dirty="0">
              <a:solidFill>
                <a:srgbClr val="FF0000"/>
              </a:solidFill>
            </a:endParaRPr>
          </a:p>
        </p:txBody>
      </p:sp>
    </p:spTree>
  </p:cSld>
  <p:clrMapOvr>
    <a:masterClrMapping/>
  </p:clrMapOvr>
  <p:transition advClick="0"/>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endParaRPr lang="zh-CN" altLang="en-US" dirty="0"/>
          </a:p>
        </p:txBody>
      </p:sp>
      <p:sp>
        <p:nvSpPr>
          <p:cNvPr id="79874" name="内容占位符 2"/>
          <p:cNvSpPr>
            <a:spLocks noGrp="1"/>
          </p:cNvSpPr>
          <p:nvPr>
            <p:ph idx="1"/>
          </p:nvPr>
        </p:nvSpPr>
        <p:spPr/>
        <p:txBody>
          <a:bodyPr vert="horz" wrap="square" lIns="91440" tIns="45720" rIns="91440" bIns="45720" anchor="t" anchorCtr="0"/>
          <a:lstStyle/>
          <a:p>
            <a:r>
              <a:rPr lang="zh-CN" altLang="en-US" dirty="0"/>
              <a:t>为了简化</a:t>
            </a:r>
            <a:r>
              <a:rPr lang="en-US" altLang="zh-CN" dirty="0"/>
              <a:t>E-R</a:t>
            </a:r>
            <a:r>
              <a:rPr lang="zh-CN" altLang="en-US" dirty="0"/>
              <a:t>图的处置，现实世界的事物能作为属性对待的，尽量作为属性对待。 </a:t>
            </a:r>
            <a:endParaRPr lang="en-US" altLang="zh-CN" dirty="0"/>
          </a:p>
          <a:p>
            <a:r>
              <a:rPr lang="zh-CN" altLang="en-US" dirty="0">
                <a:solidFill>
                  <a:srgbClr val="FF0000"/>
                </a:solidFill>
              </a:rPr>
              <a:t>两条准则：</a:t>
            </a:r>
            <a:endParaRPr lang="en-US" altLang="zh-CN" dirty="0">
              <a:solidFill>
                <a:srgbClr val="FF0000"/>
              </a:solidFill>
            </a:endParaRPr>
          </a:p>
          <a:p>
            <a:r>
              <a:rPr lang="zh-CN" altLang="en-US" dirty="0"/>
              <a:t>（</a:t>
            </a:r>
            <a:r>
              <a:rPr lang="en-US" altLang="zh-CN" dirty="0"/>
              <a:t>1</a:t>
            </a:r>
            <a:r>
              <a:rPr lang="zh-CN" altLang="en-US" dirty="0"/>
              <a:t>）作为属性，不能再具有需要描述的性质。属性必须是不可分的数据项，不能包含其他属性。</a:t>
            </a:r>
            <a:endParaRPr lang="en-US" altLang="zh-CN" dirty="0"/>
          </a:p>
          <a:p>
            <a:r>
              <a:rPr lang="zh-CN" altLang="en-US" dirty="0"/>
              <a:t>（</a:t>
            </a:r>
            <a:r>
              <a:rPr lang="en-US" altLang="zh-CN" dirty="0"/>
              <a:t>2</a:t>
            </a:r>
            <a:r>
              <a:rPr lang="zh-CN" altLang="en-US" dirty="0"/>
              <a:t>）属性不能与其他实体具有联系，即</a:t>
            </a:r>
            <a:r>
              <a:rPr lang="en-US" altLang="zh-CN" dirty="0"/>
              <a:t>E-R</a:t>
            </a:r>
            <a:r>
              <a:rPr lang="zh-CN" altLang="en-US" dirty="0"/>
              <a:t>图中所表示的联系是实体之间的联系。</a:t>
            </a:r>
            <a:endParaRPr lang="zh-CN" altLang="en-US"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Effect transition="in" filter="wipe(down)">
                                      <p:cBhvr>
                                        <p:cTn id="7" dur="500"/>
                                        <p:tgtEl>
                                          <p:spTgt spid="798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9874">
                                            <p:txEl>
                                              <p:pRg st="1" end="1"/>
                                            </p:txEl>
                                          </p:spTgt>
                                        </p:tgtEl>
                                        <p:attrNameLst>
                                          <p:attrName>style.visibility</p:attrName>
                                        </p:attrNameLst>
                                      </p:cBhvr>
                                      <p:to>
                                        <p:strVal val="visible"/>
                                      </p:to>
                                    </p:set>
                                    <p:animEffect transition="in" filter="wipe(down)">
                                      <p:cBhvr>
                                        <p:cTn id="12" dur="500"/>
                                        <p:tgtEl>
                                          <p:spTgt spid="798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9874">
                                            <p:txEl>
                                              <p:pRg st="2" end="2"/>
                                            </p:txEl>
                                          </p:spTgt>
                                        </p:tgtEl>
                                        <p:attrNameLst>
                                          <p:attrName>style.visibility</p:attrName>
                                        </p:attrNameLst>
                                      </p:cBhvr>
                                      <p:to>
                                        <p:strVal val="visible"/>
                                      </p:to>
                                    </p:set>
                                    <p:animEffect transition="in" filter="wipe(down)">
                                      <p:cBhvr>
                                        <p:cTn id="17" dur="500"/>
                                        <p:tgtEl>
                                          <p:spTgt spid="798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9874">
                                            <p:txEl>
                                              <p:pRg st="3" end="3"/>
                                            </p:txEl>
                                          </p:spTgt>
                                        </p:tgtEl>
                                        <p:attrNameLst>
                                          <p:attrName>style.visibility</p:attrName>
                                        </p:attrNameLst>
                                      </p:cBhvr>
                                      <p:to>
                                        <p:strVal val="visible"/>
                                      </p:to>
                                    </p:set>
                                    <p:animEffect transition="in" filter="wipe(down)">
                                      <p:cBhvr>
                                        <p:cTn id="22" dur="500"/>
                                        <p:tgtEl>
                                          <p:spTgt spid="7987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内容占位符 2"/>
          <p:cNvSpPr>
            <a:spLocks noGrp="1"/>
          </p:cNvSpPr>
          <p:nvPr>
            <p:ph idx="1"/>
          </p:nvPr>
        </p:nvSpPr>
        <p:spPr>
          <a:xfrm>
            <a:off x="543560" y="1146175"/>
            <a:ext cx="11267440" cy="2714625"/>
          </a:xfrm>
        </p:spPr>
        <p:txBody>
          <a:bodyPr vert="horz" wrap="square" lIns="91440" tIns="45720" rIns="91440" bIns="45720" anchor="t" anchorCtr="0"/>
          <a:lstStyle/>
          <a:p>
            <a:r>
              <a:rPr lang="en-US" altLang="zh-CN" sz="2400" dirty="0"/>
              <a:t>[</a:t>
            </a:r>
            <a:r>
              <a:rPr lang="zh-CN" altLang="en-US" sz="2400" dirty="0"/>
              <a:t>例</a:t>
            </a:r>
            <a:r>
              <a:rPr lang="en-US" altLang="zh-CN" sz="2400" dirty="0"/>
              <a:t>1] </a:t>
            </a:r>
            <a:r>
              <a:rPr lang="zh-CN" altLang="en-US" sz="2400" dirty="0"/>
              <a:t>教师是一个实体，职工号、姓名、出生日期是职工的属性。  </a:t>
            </a:r>
            <a:endParaRPr lang="en-US" altLang="zh-CN" sz="2400" dirty="0"/>
          </a:p>
          <a:p>
            <a:pPr lvl="1" indent="-436245"/>
            <a:r>
              <a:rPr lang="zh-CN" altLang="en-US" sz="2400" b="1" dirty="0">
                <a:solidFill>
                  <a:srgbClr val="0000FF"/>
                </a:solidFill>
              </a:rPr>
              <a:t>职称</a:t>
            </a:r>
            <a:r>
              <a:rPr lang="zh-CN" altLang="en-US" sz="2400" dirty="0"/>
              <a:t>如果没有与工资、福利挂钩，没有进一步描述的必要，根据准则（</a:t>
            </a:r>
            <a:r>
              <a:rPr lang="en-US" altLang="zh-CN" sz="2400" dirty="0"/>
              <a:t>1</a:t>
            </a:r>
            <a:r>
              <a:rPr lang="zh-CN" altLang="en-US" sz="2400" dirty="0"/>
              <a:t>）可以作为职工实体的属性  </a:t>
            </a:r>
            <a:endParaRPr lang="en-US" altLang="zh-CN" sz="2400" dirty="0"/>
          </a:p>
          <a:p>
            <a:pPr lvl="1" indent="-436245"/>
            <a:r>
              <a:rPr lang="zh-CN" altLang="en-US" sz="2400" dirty="0"/>
              <a:t>如果不同的职称有不同的工资、住房标准和不同的附加福利，则职称作为一个实体更恰当</a:t>
            </a:r>
            <a:endParaRPr lang="zh-CN" altLang="en-US" sz="2400" dirty="0"/>
          </a:p>
        </p:txBody>
      </p:sp>
      <p:sp>
        <p:nvSpPr>
          <p:cNvPr id="80899"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endParaRPr lang="zh-CN" altLang="en-US" dirty="0"/>
          </a:p>
        </p:txBody>
      </p:sp>
      <p:pic>
        <p:nvPicPr>
          <p:cNvPr id="9" name="图片 8"/>
          <p:cNvPicPr>
            <a:picLocks noChangeAspect="1"/>
          </p:cNvPicPr>
          <p:nvPr/>
        </p:nvPicPr>
        <p:blipFill>
          <a:blip r:embed="rId1"/>
          <a:stretch>
            <a:fillRect/>
          </a:stretch>
        </p:blipFill>
        <p:spPr>
          <a:xfrm>
            <a:off x="3647440" y="2780665"/>
            <a:ext cx="6928485" cy="3496945"/>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0897">
                                            <p:txEl>
                                              <p:pRg st="0" end="0"/>
                                            </p:txEl>
                                          </p:spTgt>
                                        </p:tgtEl>
                                        <p:attrNameLst>
                                          <p:attrName>style.visibility</p:attrName>
                                        </p:attrNameLst>
                                      </p:cBhvr>
                                      <p:to>
                                        <p:strVal val="visible"/>
                                      </p:to>
                                    </p:set>
                                    <p:animEffect transition="in" filter="wipe(down)">
                                      <p:cBhvr>
                                        <p:cTn id="7" dur="500"/>
                                        <p:tgtEl>
                                          <p:spTgt spid="808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0897">
                                            <p:txEl>
                                              <p:pRg st="1" end="1"/>
                                            </p:txEl>
                                          </p:spTgt>
                                        </p:tgtEl>
                                        <p:attrNameLst>
                                          <p:attrName>style.visibility</p:attrName>
                                        </p:attrNameLst>
                                      </p:cBhvr>
                                      <p:to>
                                        <p:strVal val="visible"/>
                                      </p:to>
                                    </p:set>
                                    <p:animEffect transition="in" filter="wipe(down)">
                                      <p:cBhvr>
                                        <p:cTn id="12" dur="500"/>
                                        <p:tgtEl>
                                          <p:spTgt spid="808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0897">
                                            <p:txEl>
                                              <p:pRg st="2" end="2"/>
                                            </p:txEl>
                                          </p:spTgt>
                                        </p:tgtEl>
                                        <p:attrNameLst>
                                          <p:attrName>style.visibility</p:attrName>
                                        </p:attrNameLst>
                                      </p:cBhvr>
                                      <p:to>
                                        <p:strVal val="visible"/>
                                      </p:to>
                                    </p:set>
                                    <p:animEffect transition="in" filter="wipe(down)">
                                      <p:cBhvr>
                                        <p:cTn id="17" dur="500"/>
                                        <p:tgtEl>
                                          <p:spTgt spid="808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7"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2"/>
          <p:cNvSpPr>
            <a:spLocks noGrp="1"/>
          </p:cNvSpPr>
          <p:nvPr>
            <p:ph idx="1"/>
          </p:nvPr>
        </p:nvSpPr>
        <p:spPr>
          <a:xfrm>
            <a:off x="414655" y="1079500"/>
            <a:ext cx="11304905" cy="1828800"/>
          </a:xfrm>
        </p:spPr>
        <p:txBody>
          <a:bodyPr vert="horz" wrap="square" lIns="91440" tIns="45720" rIns="91440" bIns="45720" anchor="t" anchorCtr="0"/>
          <a:lstStyle/>
          <a:p>
            <a:pPr>
              <a:buFont typeface="Wingdings" panose="05000000000000000000" pitchFamily="2" charset="2"/>
              <a:buChar char="l"/>
            </a:pPr>
            <a:r>
              <a:rPr lang="en-US" altLang="zh-CN" sz="2400" dirty="0"/>
              <a:t>[</a:t>
            </a:r>
            <a:r>
              <a:rPr lang="zh-CN" altLang="en-US" sz="2400" dirty="0"/>
              <a:t>例</a:t>
            </a:r>
            <a:r>
              <a:rPr lang="en-US" altLang="zh-CN" sz="2400" dirty="0"/>
              <a:t>2] </a:t>
            </a:r>
            <a:r>
              <a:rPr lang="zh-CN" altLang="en-US" sz="2400" dirty="0"/>
              <a:t>一个学生只能选一个专业，</a:t>
            </a:r>
            <a:r>
              <a:rPr lang="zh-CN" altLang="en-US" sz="2400" b="1" dirty="0">
                <a:solidFill>
                  <a:srgbClr val="0000FF"/>
                </a:solidFill>
              </a:rPr>
              <a:t>专业</a:t>
            </a:r>
            <a:r>
              <a:rPr lang="zh-CN" altLang="en-US" sz="2400" dirty="0"/>
              <a:t>没有和专业类别、专业年限等相关联，则把主修专业作为属性；</a:t>
            </a:r>
            <a:endParaRPr lang="zh-CN" altLang="en-US" sz="2400" dirty="0"/>
          </a:p>
          <a:p>
            <a:pPr>
              <a:buFont typeface="Wingdings" panose="05000000000000000000" pitchFamily="2" charset="2"/>
              <a:buChar char="l"/>
            </a:pPr>
            <a:r>
              <a:rPr lang="zh-CN" altLang="en-US" sz="2400" dirty="0"/>
              <a:t>如果一个学生能选多个专业，一个主修专业，其他为辅修专业，则把专业作为实体。</a:t>
            </a:r>
            <a:endParaRPr lang="zh-CN" altLang="en-US" sz="2400" dirty="0"/>
          </a:p>
        </p:txBody>
      </p:sp>
      <p:sp>
        <p:nvSpPr>
          <p:cNvPr id="81923"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endParaRPr lang="zh-CN" altLang="en-US" dirty="0"/>
          </a:p>
        </p:txBody>
      </p:sp>
      <p:pic>
        <p:nvPicPr>
          <p:cNvPr id="8" name="图片 7"/>
          <p:cNvPicPr>
            <a:picLocks noChangeAspect="1"/>
          </p:cNvPicPr>
          <p:nvPr/>
        </p:nvPicPr>
        <p:blipFill>
          <a:blip r:embed="rId1"/>
          <a:stretch>
            <a:fillRect/>
          </a:stretch>
        </p:blipFill>
        <p:spPr>
          <a:xfrm>
            <a:off x="1703070" y="2420620"/>
            <a:ext cx="9076690" cy="3509010"/>
          </a:xfrm>
          <a:prstGeom prst="rect">
            <a:avLst/>
          </a:prstGeom>
        </p:spPr>
      </p:pic>
    </p:spTree>
  </p:cSld>
  <p:clrMapOvr>
    <a:masterClrMapping/>
  </p:clrMapOvr>
  <p:transition advClick="0"/>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p:cNvSpPr>
          <p:nvPr>
            <p:ph idx="1"/>
          </p:nvPr>
        </p:nvSpPr>
        <p:spPr>
          <a:xfrm>
            <a:off x="474980" y="1196975"/>
            <a:ext cx="11049635" cy="4281805"/>
          </a:xfrm>
        </p:spPr>
        <p:txBody>
          <a:bodyPr vert="horz" wrap="square" lIns="91440" tIns="45720" rIns="91440" bIns="45720" anchor="t" anchorCtr="0"/>
          <a:lstStyle/>
          <a:p>
            <a:r>
              <a:rPr lang="en-US" altLang="zh-CN" sz="2400" dirty="0"/>
              <a:t>[</a:t>
            </a:r>
            <a:r>
              <a:rPr lang="zh-CN" altLang="en-US" sz="2400" dirty="0"/>
              <a:t>例</a:t>
            </a:r>
            <a:r>
              <a:rPr lang="en-US" altLang="zh-CN" sz="2400" dirty="0"/>
              <a:t>3] </a:t>
            </a:r>
            <a:r>
              <a:rPr lang="zh-CN" altLang="en-US" sz="2400" dirty="0"/>
              <a:t>如果一门课程如果只存在一门直接的先修课，则可以把先修课的课程号作属性，属性名为</a:t>
            </a:r>
            <a:r>
              <a:rPr lang="zh-CN" altLang="en-US" sz="2400" dirty="0" smtClean="0"/>
              <a:t>“先修课”；但</a:t>
            </a:r>
            <a:r>
              <a:rPr lang="zh-CN" altLang="en-US" sz="2400" dirty="0"/>
              <a:t>如果一门课程存在多门先修课，先修课作为单独的一类实体。由于“先修课”实体型也是“课程"实体型。</a:t>
            </a:r>
            <a:endParaRPr lang="zh-CN" altLang="en-US" sz="2400" dirty="0"/>
          </a:p>
          <a:p>
            <a:r>
              <a:rPr lang="zh-CN" altLang="en-US" sz="2400" dirty="0"/>
              <a:t>“先修课”与“课程”之间实际上是单个实体型内的多对多联系。</a:t>
            </a:r>
            <a:endParaRPr lang="zh-CN" altLang="en-US" sz="2400" dirty="0"/>
          </a:p>
          <a:p>
            <a:endParaRPr lang="zh-CN" altLang="en-US" sz="2400" dirty="0">
              <a:sym typeface="+mn-ea"/>
            </a:endParaRPr>
          </a:p>
          <a:p>
            <a:endParaRPr lang="zh-CN" altLang="en-US" sz="2400" dirty="0">
              <a:sym typeface="+mn-ea"/>
            </a:endParaRPr>
          </a:p>
          <a:p>
            <a:endParaRPr lang="zh-CN" altLang="en-US" sz="2400" dirty="0">
              <a:sym typeface="+mn-ea"/>
            </a:endParaRPr>
          </a:p>
          <a:p>
            <a:endParaRPr lang="zh-CN" altLang="en-US" sz="2400" dirty="0"/>
          </a:p>
        </p:txBody>
      </p:sp>
      <p:sp>
        <p:nvSpPr>
          <p:cNvPr id="82947"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endParaRPr lang="zh-CN" altLang="en-US" dirty="0"/>
          </a:p>
        </p:txBody>
      </p:sp>
      <p:grpSp>
        <p:nvGrpSpPr>
          <p:cNvPr id="15" name="Group 5"/>
          <p:cNvGrpSpPr/>
          <p:nvPr>
            <p:custDataLst>
              <p:tags r:id="rId1"/>
            </p:custDataLst>
          </p:nvPr>
        </p:nvGrpSpPr>
        <p:grpSpPr bwMode="auto">
          <a:xfrm>
            <a:off x="5960110" y="3411855"/>
            <a:ext cx="1524000" cy="1981200"/>
            <a:chOff x="4080" y="1152"/>
            <a:chExt cx="960" cy="1248"/>
          </a:xfrm>
        </p:grpSpPr>
        <p:sp>
          <p:nvSpPr>
            <p:cNvPr id="16" name="Text Box 6"/>
            <p:cNvSpPr txBox="1">
              <a:spLocks noChangeArrowheads="1"/>
            </p:cNvSpPr>
            <p:nvPr>
              <p:custDataLst>
                <p:tags r:id="rId2"/>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endParaRPr kumimoji="1" lang="zh-CN" altLang="en-US" sz="2400">
                <a:latin typeface="Times New Roman" panose="02020603050405020304" pitchFamily="18" charset="0"/>
                <a:ea typeface="楷体_GB2312" pitchFamily="49" charset="-122"/>
              </a:endParaRPr>
            </a:p>
          </p:txBody>
        </p:sp>
        <p:sp>
          <p:nvSpPr>
            <p:cNvPr id="17" name="AutoShape 7"/>
            <p:cNvSpPr>
              <a:spLocks noChangeArrowheads="1"/>
            </p:cNvSpPr>
            <p:nvPr>
              <p:custDataLst>
                <p:tags r:id="rId3"/>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endParaRPr kumimoji="1" lang="zh-CN" altLang="en-US" sz="2400">
                <a:latin typeface="Times New Roman" panose="02020603050405020304" pitchFamily="18" charset="0"/>
                <a:ea typeface="楷体_GB2312" pitchFamily="49" charset="-122"/>
              </a:endParaRPr>
            </a:p>
          </p:txBody>
        </p:sp>
        <p:sp>
          <p:nvSpPr>
            <p:cNvPr id="18" name="Line 8"/>
            <p:cNvSpPr>
              <a:spLocks noChangeShapeType="1"/>
            </p:cNvSpPr>
            <p:nvPr>
              <p:custDataLst>
                <p:tags r:id="rId4"/>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9"/>
            <p:cNvSpPr>
              <a:spLocks noChangeShapeType="1"/>
            </p:cNvSpPr>
            <p:nvPr>
              <p:custDataLst>
                <p:tags r:id="rId5"/>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0"/>
            <p:cNvSpPr txBox="1">
              <a:spLocks noChangeArrowheads="1"/>
            </p:cNvSpPr>
            <p:nvPr>
              <p:custDataLst>
                <p:tags r:id="rId6"/>
              </p:custDataLst>
            </p:nvPr>
          </p:nvSpPr>
          <p:spPr bwMode="auto">
            <a:xfrm>
              <a:off x="4080" y="1584"/>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m</a:t>
              </a:r>
              <a:endParaRPr kumimoji="1" lang="en-US" altLang="zh-CN" sz="2400">
                <a:latin typeface="Times New Roman" panose="02020603050405020304" pitchFamily="18" charset="0"/>
              </a:endParaRPr>
            </a:p>
          </p:txBody>
        </p:sp>
        <p:sp>
          <p:nvSpPr>
            <p:cNvPr id="21" name="Text Box 11"/>
            <p:cNvSpPr txBox="1">
              <a:spLocks noChangeArrowheads="1"/>
            </p:cNvSpPr>
            <p:nvPr>
              <p:custDataLst>
                <p:tags r:id="rId7"/>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grpSp>
        <p:nvGrpSpPr>
          <p:cNvPr id="11" name="Group 5"/>
          <p:cNvGrpSpPr/>
          <p:nvPr>
            <p:custDataLst>
              <p:tags r:id="rId8"/>
            </p:custDataLst>
          </p:nvPr>
        </p:nvGrpSpPr>
        <p:grpSpPr bwMode="auto">
          <a:xfrm>
            <a:off x="2567608" y="3411855"/>
            <a:ext cx="1524000" cy="1981200"/>
            <a:chOff x="4080" y="1152"/>
            <a:chExt cx="960" cy="1248"/>
          </a:xfrm>
        </p:grpSpPr>
        <p:sp>
          <p:nvSpPr>
            <p:cNvPr id="12" name="Text Box 6"/>
            <p:cNvSpPr txBox="1">
              <a:spLocks noChangeArrowheads="1"/>
            </p:cNvSpPr>
            <p:nvPr>
              <p:custDataLst>
                <p:tags r:id="rId9"/>
              </p:custDataLst>
            </p:nvPr>
          </p:nvSpPr>
          <p:spPr bwMode="auto">
            <a:xfrm>
              <a:off x="4128" y="1152"/>
              <a:ext cx="816" cy="290"/>
            </a:xfrm>
            <a:prstGeom prst="rect">
              <a:avLst/>
            </a:prstGeom>
            <a:solidFill>
              <a:schemeClr val="accent1"/>
            </a:solidFill>
            <a:ln w="9525">
              <a:solidFill>
                <a:schemeClr val="tx1"/>
              </a:solidFill>
              <a:miter lim="800000"/>
            </a:ln>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2400">
                  <a:latin typeface="Times New Roman" panose="02020603050405020304" pitchFamily="18" charset="0"/>
                  <a:ea typeface="楷体_GB2312" pitchFamily="49" charset="-122"/>
                </a:rPr>
                <a:t>课程</a:t>
              </a:r>
              <a:endParaRPr kumimoji="1" lang="zh-CN" altLang="en-US" sz="2400">
                <a:latin typeface="Times New Roman" panose="02020603050405020304" pitchFamily="18" charset="0"/>
                <a:ea typeface="楷体_GB2312" pitchFamily="49" charset="-122"/>
              </a:endParaRPr>
            </a:p>
          </p:txBody>
        </p:sp>
        <p:sp>
          <p:nvSpPr>
            <p:cNvPr id="13" name="AutoShape 7"/>
            <p:cNvSpPr>
              <a:spLocks noChangeArrowheads="1"/>
            </p:cNvSpPr>
            <p:nvPr>
              <p:custDataLst>
                <p:tags r:id="rId10"/>
              </p:custDataLst>
            </p:nvPr>
          </p:nvSpPr>
          <p:spPr bwMode="auto">
            <a:xfrm>
              <a:off x="4080" y="1920"/>
              <a:ext cx="960" cy="480"/>
            </a:xfrm>
            <a:prstGeom prst="diamond">
              <a:avLst/>
            </a:prstGeom>
            <a:solidFill>
              <a:schemeClr val="accent1"/>
            </a:solidFill>
            <a:ln w="9525">
              <a:solidFill>
                <a:schemeClr val="tx1"/>
              </a:solidFill>
              <a:miter lim="800000"/>
            </a:ln>
          </p:spPr>
          <p:txBody>
            <a:bodyPr wrap="none" anchor="ctr"/>
            <a:lstStyle/>
            <a:p>
              <a:pPr algn="ctr"/>
              <a:r>
                <a:rPr kumimoji="1" lang="zh-CN" altLang="en-US" sz="2400">
                  <a:latin typeface="Times New Roman" panose="02020603050405020304" pitchFamily="18" charset="0"/>
                  <a:ea typeface="楷体_GB2312" pitchFamily="49" charset="-122"/>
                </a:rPr>
                <a:t>先修</a:t>
              </a:r>
              <a:endParaRPr kumimoji="1" lang="zh-CN" altLang="en-US" sz="2400">
                <a:latin typeface="Times New Roman" panose="02020603050405020304" pitchFamily="18" charset="0"/>
                <a:ea typeface="楷体_GB2312" pitchFamily="49" charset="-122"/>
              </a:endParaRPr>
            </a:p>
          </p:txBody>
        </p:sp>
        <p:sp>
          <p:nvSpPr>
            <p:cNvPr id="14" name="Line 8"/>
            <p:cNvSpPr>
              <a:spLocks noChangeShapeType="1"/>
            </p:cNvSpPr>
            <p:nvPr>
              <p:custDataLst>
                <p:tags r:id="rId11"/>
              </p:custDataLst>
            </p:nvPr>
          </p:nvSpPr>
          <p:spPr bwMode="auto">
            <a:xfrm flipV="1">
              <a:off x="4368"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9"/>
            <p:cNvSpPr>
              <a:spLocks noChangeShapeType="1"/>
            </p:cNvSpPr>
            <p:nvPr>
              <p:custDataLst>
                <p:tags r:id="rId12"/>
              </p:custDataLst>
            </p:nvPr>
          </p:nvSpPr>
          <p:spPr bwMode="auto">
            <a:xfrm>
              <a:off x="4704" y="1440"/>
              <a:ext cx="0"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10"/>
            <p:cNvSpPr txBox="1">
              <a:spLocks noChangeArrowheads="1"/>
            </p:cNvSpPr>
            <p:nvPr>
              <p:custDataLst>
                <p:tags r:id="rId13"/>
              </p:custDataLst>
            </p:nvPr>
          </p:nvSpPr>
          <p:spPr bwMode="auto">
            <a:xfrm>
              <a:off x="4080"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1</a:t>
              </a:r>
              <a:endParaRPr kumimoji="1" lang="en-US" altLang="zh-CN" sz="2400">
                <a:latin typeface="Times New Roman" panose="02020603050405020304" pitchFamily="18" charset="0"/>
              </a:endParaRPr>
            </a:p>
          </p:txBody>
        </p:sp>
        <p:sp>
          <p:nvSpPr>
            <p:cNvPr id="24" name="Text Box 11"/>
            <p:cNvSpPr txBox="1">
              <a:spLocks noChangeArrowheads="1"/>
            </p:cNvSpPr>
            <p:nvPr>
              <p:custDataLst>
                <p:tags r:id="rId14"/>
              </p:custDataLst>
            </p:nvPr>
          </p:nvSpPr>
          <p:spPr bwMode="auto">
            <a:xfrm>
              <a:off x="4752" y="15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n</a:t>
              </a:r>
              <a:endParaRPr kumimoji="1" lang="en-US" altLang="zh-CN" sz="2400">
                <a:latin typeface="Times New Roman" panose="02020603050405020304" pitchFamily="18" charset="0"/>
              </a:endParaRP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strVal val="#ppt_w*0.05"/>
                                          </p:val>
                                        </p:tav>
                                        <p:tav tm="100000">
                                          <p:val>
                                            <p:strVal val="#ppt_w"/>
                                          </p:val>
                                        </p:tav>
                                      </p:tavLst>
                                    </p:anim>
                                    <p:anim calcmode="lin" valueType="num">
                                      <p:cBhvr>
                                        <p:cTn id="8" dur="500" fill="hold"/>
                                        <p:tgtEl>
                                          <p:spTgt spid="11"/>
                                        </p:tgtEl>
                                        <p:attrNameLst>
                                          <p:attrName>ppt_h</p:attrName>
                                        </p:attrNameLst>
                                      </p:cBhvr>
                                      <p:tavLst>
                                        <p:tav tm="0">
                                          <p:val>
                                            <p:strVal val="#ppt_h"/>
                                          </p:val>
                                        </p:tav>
                                        <p:tav tm="100000">
                                          <p:val>
                                            <p:strVal val="#ppt_h"/>
                                          </p:val>
                                        </p:tav>
                                      </p:tavLst>
                                    </p:anim>
                                    <p:anim calcmode="lin" valueType="num">
                                      <p:cBhvr>
                                        <p:cTn id="9" dur="500" fill="hold"/>
                                        <p:tgtEl>
                                          <p:spTgt spid="11"/>
                                        </p:tgtEl>
                                        <p:attrNameLst>
                                          <p:attrName>ppt_x</p:attrName>
                                        </p:attrNameLst>
                                      </p:cBhvr>
                                      <p:tavLst>
                                        <p:tav tm="0">
                                          <p:val>
                                            <p:strVal val="#ppt_x-.2"/>
                                          </p:val>
                                        </p:tav>
                                        <p:tav tm="100000">
                                          <p:val>
                                            <p:strVal val="#ppt_x"/>
                                          </p:val>
                                        </p:tav>
                                      </p:tavLst>
                                    </p:anim>
                                    <p:anim calcmode="lin" valueType="num">
                                      <p:cBhvr>
                                        <p:cTn id="10" dur="500" fill="hold"/>
                                        <p:tgtEl>
                                          <p:spTgt spid="11"/>
                                        </p:tgtEl>
                                        <p:attrNameLst>
                                          <p:attrName>ppt_y</p:attrName>
                                        </p:attrNameLst>
                                      </p:cBhvr>
                                      <p:tavLst>
                                        <p:tav tm="0">
                                          <p:val>
                                            <p:strVal val="#ppt_y"/>
                                          </p:val>
                                        </p:tav>
                                        <p:tav tm="100000">
                                          <p:val>
                                            <p:strVal val="#ppt_y"/>
                                          </p:val>
                                        </p:tav>
                                      </p:tavLst>
                                    </p:anim>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strVal val="#ppt_w*0.05"/>
                                          </p:val>
                                        </p:tav>
                                        <p:tav tm="100000">
                                          <p:val>
                                            <p:strVal val="#ppt_w"/>
                                          </p:val>
                                        </p:tav>
                                      </p:tavLst>
                                    </p:anim>
                                    <p:anim calcmode="lin" valueType="num">
                                      <p:cBhvr>
                                        <p:cTn id="17" dur="500" fill="hold"/>
                                        <p:tgtEl>
                                          <p:spTgt spid="15"/>
                                        </p:tgtEl>
                                        <p:attrNameLst>
                                          <p:attrName>ppt_h</p:attrName>
                                        </p:attrNameLst>
                                      </p:cBhvr>
                                      <p:tavLst>
                                        <p:tav tm="0">
                                          <p:val>
                                            <p:strVal val="#ppt_h"/>
                                          </p:val>
                                        </p:tav>
                                        <p:tav tm="100000">
                                          <p:val>
                                            <p:strVal val="#ppt_h"/>
                                          </p:val>
                                        </p:tav>
                                      </p:tavLst>
                                    </p:anim>
                                    <p:anim calcmode="lin" valueType="num">
                                      <p:cBhvr>
                                        <p:cTn id="18" dur="500" fill="hold"/>
                                        <p:tgtEl>
                                          <p:spTgt spid="15"/>
                                        </p:tgtEl>
                                        <p:attrNameLst>
                                          <p:attrName>ppt_x</p:attrName>
                                        </p:attrNameLst>
                                      </p:cBhvr>
                                      <p:tavLst>
                                        <p:tav tm="0">
                                          <p:val>
                                            <p:strVal val="#ppt_x-.2"/>
                                          </p:val>
                                        </p:tav>
                                        <p:tav tm="100000">
                                          <p:val>
                                            <p:strVal val="#ppt_x"/>
                                          </p:val>
                                        </p:tav>
                                      </p:tavLst>
                                    </p:anim>
                                    <p:anim calcmode="lin" valueType="num">
                                      <p:cBhvr>
                                        <p:cTn id="19" dur="500" fill="hold"/>
                                        <p:tgtEl>
                                          <p:spTgt spid="15"/>
                                        </p:tgtEl>
                                        <p:attrNameLst>
                                          <p:attrName>ppt_y</p:attrName>
                                        </p:attrNameLst>
                                      </p:cBhvr>
                                      <p:tavLst>
                                        <p:tav tm="0">
                                          <p:val>
                                            <p:strVal val="#ppt_y"/>
                                          </p:val>
                                        </p:tav>
                                        <p:tav tm="100000">
                                          <p:val>
                                            <p:strVal val="#ppt_y"/>
                                          </p:val>
                                        </p:tav>
                                      </p:tavLst>
                                    </p:anim>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p:cNvSpPr>
          <p:nvPr>
            <p:ph idx="1"/>
          </p:nvPr>
        </p:nvSpPr>
        <p:spPr>
          <a:xfrm>
            <a:off x="474980" y="1196975"/>
            <a:ext cx="11049635" cy="4281805"/>
          </a:xfrm>
        </p:spPr>
        <p:txBody>
          <a:bodyPr vert="horz" wrap="square" lIns="91440" tIns="45720" rIns="91440" bIns="45720" anchor="t" anchorCtr="0"/>
          <a:lstStyle/>
          <a:p>
            <a:r>
              <a:rPr lang="en-US" altLang="zh-CN" sz="2400" dirty="0">
                <a:sym typeface="+mn-ea"/>
              </a:rPr>
              <a:t>[</a:t>
            </a:r>
            <a:r>
              <a:rPr lang="zh-CN" altLang="en-US" sz="2400" dirty="0">
                <a:sym typeface="+mn-ea"/>
              </a:rPr>
              <a:t>例</a:t>
            </a:r>
            <a:r>
              <a:rPr lang="en-US" altLang="zh-CN" sz="2400" dirty="0">
                <a:sym typeface="+mn-ea"/>
              </a:rPr>
              <a:t>4]</a:t>
            </a:r>
            <a:r>
              <a:rPr lang="zh-CN" altLang="en-US" sz="2400" dirty="0"/>
              <a:t>如果</a:t>
            </a:r>
            <a:r>
              <a:rPr lang="zh-CN" altLang="en-US" sz="2400" b="1" dirty="0">
                <a:solidFill>
                  <a:srgbClr val="FF0000"/>
                </a:solidFill>
              </a:rPr>
              <a:t>一门课程只设一个教学班</a:t>
            </a:r>
            <a:r>
              <a:rPr lang="zh-CN" altLang="en-US" sz="2400" dirty="0"/>
              <a:t>，则可以把教学班号作为“选课”联系的属性，属性为“教学班”。但在实际的教学活动中，</a:t>
            </a:r>
            <a:r>
              <a:rPr lang="zh-CN" altLang="en-US" sz="2400" b="1" dirty="0">
                <a:solidFill>
                  <a:srgbClr val="FF0000"/>
                </a:solidFill>
              </a:rPr>
              <a:t>一门课程通常可以开设多个</a:t>
            </a:r>
            <a:r>
              <a:rPr lang="zh-CN" altLang="en-US" sz="2400" b="1" dirty="0" smtClean="0">
                <a:solidFill>
                  <a:srgbClr val="FF0000"/>
                </a:solidFill>
              </a:rPr>
              <a:t>教学班</a:t>
            </a:r>
            <a:r>
              <a:rPr lang="zh-CN" altLang="en-US" sz="2400" dirty="0" smtClean="0"/>
              <a:t>则</a:t>
            </a:r>
            <a:r>
              <a:rPr lang="zh-CN" altLang="en-US" sz="2400" dirty="0"/>
              <a:t>应把“教学班”作为一类实体。</a:t>
            </a:r>
            <a:endParaRPr lang="zh-CN" altLang="en-US" sz="2400" dirty="0"/>
          </a:p>
          <a:p>
            <a:endParaRPr lang="zh-CN" altLang="en-US" sz="2400" dirty="0"/>
          </a:p>
        </p:txBody>
      </p:sp>
      <p:sp>
        <p:nvSpPr>
          <p:cNvPr id="82947" name="标题 1"/>
          <p:cNvSpPr>
            <a:spLocks noGrp="1"/>
          </p:cNvSpPr>
          <p:nvPr>
            <p:ph type="title"/>
          </p:nvPr>
        </p:nvSpPr>
        <p:spPr/>
        <p:txBody>
          <a:bodyPr vert="horz" wrap="square" lIns="91440" tIns="45720" rIns="91440" bIns="45720" anchor="b" anchorCtr="0"/>
          <a:lstStyle/>
          <a:p>
            <a:r>
              <a:rPr lang="en-US" altLang="zh-CN" dirty="0"/>
              <a:t>1. </a:t>
            </a:r>
            <a:r>
              <a:rPr lang="zh-CN" altLang="en-US" dirty="0"/>
              <a:t>实体与属性的划分原则 </a:t>
            </a:r>
            <a:endParaRPr lang="zh-CN" altLang="en-US" dirty="0"/>
          </a:p>
        </p:txBody>
      </p:sp>
      <p:pic>
        <p:nvPicPr>
          <p:cNvPr id="3" name="图片 2"/>
          <p:cNvPicPr>
            <a:picLocks noChangeAspect="1"/>
          </p:cNvPicPr>
          <p:nvPr/>
        </p:nvPicPr>
        <p:blipFill rotWithShape="1">
          <a:blip r:embed="rId1"/>
          <a:srcRect r="4381"/>
          <a:stretch>
            <a:fillRect/>
          </a:stretch>
        </p:blipFill>
        <p:spPr>
          <a:xfrm rot="16200000">
            <a:off x="3918669" y="239477"/>
            <a:ext cx="3884128" cy="8314055"/>
          </a:xfrm>
          <a:prstGeom prst="rect">
            <a:avLst/>
          </a:prstGeom>
        </p:spPr>
      </p:pic>
    </p:spTree>
  </p:cSld>
  <p:clrMapOvr>
    <a:masterClrMapping/>
  </p:clrMapOvr>
  <p:transition advClick="0"/>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p:cNvSpPr>
          <p:nvPr>
            <p:ph type="title"/>
          </p:nvPr>
        </p:nvSpPr>
        <p:spPr/>
        <p:txBody>
          <a:bodyPr vert="horz" wrap="square" lIns="91440" tIns="45720" rIns="91440" bIns="45720" anchor="b" anchorCtr="0"/>
          <a:lstStyle/>
          <a:p>
            <a:r>
              <a:rPr lang="en-US" altLang="zh-CN" dirty="0"/>
              <a:t>2.E-R</a:t>
            </a:r>
            <a:r>
              <a:rPr lang="zh-CN" altLang="en-US" dirty="0"/>
              <a:t>图的集成</a:t>
            </a:r>
            <a:endParaRPr lang="zh-CN" altLang="en-US" dirty="0"/>
          </a:p>
        </p:txBody>
      </p:sp>
      <p:sp>
        <p:nvSpPr>
          <p:cNvPr id="83970" name="内容占位符 2"/>
          <p:cNvSpPr>
            <a:spLocks noGrp="1"/>
          </p:cNvSpPr>
          <p:nvPr>
            <p:ph idx="1"/>
          </p:nvPr>
        </p:nvSpPr>
        <p:spPr>
          <a:xfrm>
            <a:off x="477520" y="1143000"/>
            <a:ext cx="11217910" cy="4962525"/>
          </a:xfrm>
        </p:spPr>
        <p:txBody>
          <a:bodyPr vert="horz" wrap="square" lIns="91440" tIns="45720" rIns="91440" bIns="45720" anchor="t" anchorCtr="0"/>
          <a:lstStyle/>
          <a:p>
            <a:r>
              <a:rPr lang="zh-CN" altLang="en-US" dirty="0"/>
              <a:t>在开发一个大型信息系统时，经常采用的方法是自顶向下进行需求分析，然后自底向上设计概念结构。即：</a:t>
            </a:r>
            <a:r>
              <a:rPr lang="zh-CN" altLang="en-US" b="1" dirty="0">
                <a:solidFill>
                  <a:srgbClr val="FF0000"/>
                </a:solidFill>
              </a:rPr>
              <a:t>首先设计各个子系统</a:t>
            </a:r>
            <a:r>
              <a:rPr lang="zh-CN" altLang="en-US" dirty="0"/>
              <a:t>的</a:t>
            </a:r>
            <a:r>
              <a:rPr lang="en-US" altLang="zh-CN" dirty="0"/>
              <a:t>E-R</a:t>
            </a:r>
            <a:r>
              <a:rPr lang="zh-CN" altLang="en-US" dirty="0"/>
              <a:t>图，</a:t>
            </a:r>
            <a:r>
              <a:rPr lang="zh-CN" altLang="en-US" b="1" dirty="0">
                <a:solidFill>
                  <a:srgbClr val="FF0000"/>
                </a:solidFill>
              </a:rPr>
              <a:t>然后把他们集成起来</a:t>
            </a:r>
            <a:r>
              <a:rPr lang="zh-CN" altLang="en-US" dirty="0"/>
              <a:t>，得到全局的</a:t>
            </a:r>
            <a:r>
              <a:rPr lang="en-US" altLang="zh-CN" dirty="0"/>
              <a:t>E-R</a:t>
            </a:r>
            <a:r>
              <a:rPr lang="zh-CN" altLang="en-US" dirty="0"/>
              <a:t>图。</a:t>
            </a:r>
            <a:endParaRPr lang="zh-CN" altLang="en-US" dirty="0"/>
          </a:p>
          <a:p>
            <a:r>
              <a:rPr lang="zh-CN" altLang="en-US" b="1" dirty="0">
                <a:solidFill>
                  <a:srgbClr val="FF0000"/>
                </a:solidFill>
              </a:rPr>
              <a:t>例题：</a:t>
            </a:r>
            <a:endParaRPr lang="zh-CN" altLang="en-US" dirty="0"/>
          </a:p>
          <a:p>
            <a:r>
              <a:rPr lang="zh-CN" altLang="en-US" dirty="0"/>
              <a:t>某高校教务处开发</a:t>
            </a:r>
            <a:r>
              <a:rPr lang="zh-CN" altLang="en-US" b="1" dirty="0">
                <a:solidFill>
                  <a:srgbClr val="0000FF"/>
                </a:solidFill>
              </a:rPr>
              <a:t>“高校本科教务管理”</a:t>
            </a:r>
            <a:r>
              <a:rPr lang="zh-CN" altLang="en-US" dirty="0"/>
              <a:t>信息系统，经过可行性分析，详细调查确定了该统由</a:t>
            </a:r>
            <a:r>
              <a:rPr lang="zh-CN" altLang="en-US" dirty="0">
                <a:solidFill>
                  <a:srgbClr val="FF0000"/>
                </a:solidFill>
              </a:rPr>
              <a:t>“学生学籍管理”“教师教学管理”“学生选课管理”</a:t>
            </a:r>
            <a:r>
              <a:rPr lang="zh-CN" altLang="en-US" dirty="0"/>
              <a:t>等子系统组成。每个子系统均成立了发小组，设计该子系统的分</a:t>
            </a:r>
            <a:r>
              <a:rPr lang="en-US" altLang="zh-CN" dirty="0"/>
              <a:t>E-R</a:t>
            </a:r>
            <a:r>
              <a:rPr lang="zh-CN" altLang="en-US" dirty="0"/>
              <a:t>图。前面已给出了</a:t>
            </a:r>
            <a:r>
              <a:rPr lang="zh-CN" altLang="en-US" dirty="0">
                <a:solidFill>
                  <a:schemeClr val="tx1"/>
                </a:solidFill>
                <a:sym typeface="+mn-ea"/>
              </a:rPr>
              <a:t>“学生学籍管理”、</a:t>
            </a:r>
            <a:r>
              <a:rPr lang="zh-CN" altLang="en-US" dirty="0"/>
              <a:t>“学生选课管理”子系统的分</a:t>
            </a:r>
            <a:r>
              <a:rPr lang="en-US" altLang="zh-CN" dirty="0"/>
              <a:t>E-R</a:t>
            </a:r>
            <a:r>
              <a:rPr lang="zh-CN" altLang="en-US" dirty="0"/>
              <a:t>图。</a:t>
            </a:r>
            <a:endParaRPr lang="zh-CN" altLang="en-US" dirty="0"/>
          </a:p>
          <a:p>
            <a:r>
              <a:rPr lang="zh-CN" altLang="en-US" dirty="0">
                <a:solidFill>
                  <a:schemeClr val="tx1"/>
                </a:solidFill>
                <a:sym typeface="+mn-ea"/>
              </a:rPr>
              <a:t>下面介绍：</a:t>
            </a:r>
            <a:r>
              <a:rPr lang="zh-CN" altLang="en-US" dirty="0">
                <a:solidFill>
                  <a:srgbClr val="FF0000"/>
                </a:solidFill>
                <a:sym typeface="+mn-ea"/>
              </a:rPr>
              <a:t>“教师教学管理”。</a:t>
            </a:r>
            <a:endParaRPr lang="zh-CN" altLang="en-US" dirty="0"/>
          </a:p>
        </p:txBody>
      </p:sp>
    </p:spTree>
  </p:cSld>
  <p:clrMapOvr>
    <a:masterClrMapping/>
  </p:clrMapOvr>
  <p:transition advClick="0"/>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教师，教学班，学生</a:t>
            </a:r>
            <a:endParaRPr lang="zh-CN" altLang="en-US"/>
          </a:p>
        </p:txBody>
      </p:sp>
      <p:pic>
        <p:nvPicPr>
          <p:cNvPr id="4" name="内容占位符 3"/>
          <p:cNvPicPr>
            <a:picLocks noGrp="1" noChangeAspect="1"/>
          </p:cNvPicPr>
          <p:nvPr>
            <p:ph idx="1"/>
          </p:nvPr>
        </p:nvPicPr>
        <p:blipFill>
          <a:blip r:embed="rId1"/>
          <a:stretch>
            <a:fillRect/>
          </a:stretch>
        </p:blipFill>
        <p:spPr>
          <a:xfrm>
            <a:off x="407035" y="1412240"/>
            <a:ext cx="5465445" cy="3906520"/>
          </a:xfrm>
          <a:prstGeom prst="rect">
            <a:avLst/>
          </a:prstGeom>
        </p:spPr>
      </p:pic>
      <p:pic>
        <p:nvPicPr>
          <p:cNvPr id="5" name="图片 4"/>
          <p:cNvPicPr>
            <a:picLocks noChangeAspect="1"/>
          </p:cNvPicPr>
          <p:nvPr/>
        </p:nvPicPr>
        <p:blipFill>
          <a:blip r:embed="rId2"/>
          <a:stretch>
            <a:fillRect/>
          </a:stretch>
        </p:blipFill>
        <p:spPr>
          <a:xfrm>
            <a:off x="6036945" y="1412240"/>
            <a:ext cx="5835015" cy="3902075"/>
          </a:xfrm>
          <a:prstGeom prst="rect">
            <a:avLst/>
          </a:prstGeom>
        </p:spPr>
      </p:pic>
    </p:spTree>
  </p:cSld>
  <p:clrMapOvr>
    <a:masterClrMapping/>
  </p:clrMapOvr>
  <p:transition advClick="0"/>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排课：教学班，时间片，教室</a:t>
            </a:r>
            <a:endParaRPr lang="zh-CN" altLang="en-US"/>
          </a:p>
        </p:txBody>
      </p:sp>
      <p:pic>
        <p:nvPicPr>
          <p:cNvPr id="4" name="内容占位符 3"/>
          <p:cNvPicPr>
            <a:picLocks noGrp="1" noChangeAspect="1"/>
          </p:cNvPicPr>
          <p:nvPr>
            <p:ph idx="1"/>
          </p:nvPr>
        </p:nvPicPr>
        <p:blipFill>
          <a:blip r:embed="rId1"/>
          <a:stretch>
            <a:fillRect/>
          </a:stretch>
        </p:blipFill>
        <p:spPr>
          <a:xfrm>
            <a:off x="762000" y="1412240"/>
            <a:ext cx="10377805" cy="4465320"/>
          </a:xfrm>
          <a:prstGeom prst="rect">
            <a:avLst/>
          </a:prstGeom>
        </p:spPr>
      </p:pic>
    </p:spTree>
  </p:cSld>
  <p:clrMapOvr>
    <a:masterClrMapping/>
  </p:clrMapOvr>
  <p:transition advClick="0"/>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汇总</a:t>
            </a:r>
            <a:endParaRPr lang="zh-CN" altLang="en-US"/>
          </a:p>
        </p:txBody>
      </p:sp>
      <p:pic>
        <p:nvPicPr>
          <p:cNvPr id="4" name="内容占位符 3"/>
          <p:cNvPicPr>
            <a:picLocks noGrp="1" noChangeAspect="1"/>
          </p:cNvPicPr>
          <p:nvPr>
            <p:ph idx="1"/>
          </p:nvPr>
        </p:nvPicPr>
        <p:blipFill>
          <a:blip r:embed="rId1"/>
          <a:stretch>
            <a:fillRect/>
          </a:stretch>
        </p:blipFill>
        <p:spPr>
          <a:xfrm>
            <a:off x="2279650" y="1123950"/>
            <a:ext cx="6384290" cy="4872355"/>
          </a:xfrm>
          <a:prstGeom prst="rect">
            <a:avLst/>
          </a:prstGeom>
        </p:spPr>
      </p:pic>
    </p:spTree>
  </p:cSld>
  <p:clrMapOvr>
    <a:masterClrMapping/>
  </p:clrMapOvr>
  <p:transition advClick="0"/>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p:cNvSpPr>
          <p:nvPr>
            <p:ph type="title"/>
          </p:nvPr>
        </p:nvSpPr>
        <p:spPr/>
        <p:txBody>
          <a:bodyPr vert="horz" wrap="square" lIns="91440" tIns="45720" rIns="91440" bIns="45720" anchor="b" anchorCtr="0"/>
          <a:lstStyle/>
          <a:p>
            <a:r>
              <a:rPr lang="zh-CN" altLang="en-US" dirty="0"/>
              <a:t>集成两步走</a:t>
            </a:r>
            <a:endParaRPr lang="zh-CN" altLang="en-US" dirty="0"/>
          </a:p>
        </p:txBody>
      </p:sp>
      <p:sp>
        <p:nvSpPr>
          <p:cNvPr id="84994" name="内容占位符 2"/>
          <p:cNvSpPr>
            <a:spLocks noGrp="1"/>
          </p:cNvSpPr>
          <p:nvPr>
            <p:ph idx="1"/>
          </p:nvPr>
        </p:nvSpPr>
        <p:spPr>
          <a:xfrm>
            <a:off x="755650" y="1071245"/>
            <a:ext cx="10668000" cy="5283200"/>
          </a:xfrm>
        </p:spPr>
        <p:txBody>
          <a:bodyPr vert="horz" wrap="square" lIns="91440" tIns="45720" rIns="91440" bIns="45720" anchor="t" anchorCtr="0"/>
          <a:lstStyle/>
          <a:p>
            <a:pPr>
              <a:buNone/>
            </a:pPr>
            <a:r>
              <a:rPr lang="zh-CN" altLang="en-US" sz="2800" dirty="0"/>
              <a:t>第一步：</a:t>
            </a:r>
            <a:r>
              <a:rPr lang="zh-CN" altLang="en-US" sz="2800" b="1" dirty="0">
                <a:solidFill>
                  <a:srgbClr val="FF0000"/>
                </a:solidFill>
              </a:rPr>
              <a:t>合并，消除冲突，</a:t>
            </a:r>
            <a:r>
              <a:rPr lang="zh-CN" altLang="en-US" sz="2800" dirty="0"/>
              <a:t>生成初步</a:t>
            </a:r>
            <a:r>
              <a:rPr lang="en-US" altLang="zh-CN" sz="2800" dirty="0"/>
              <a:t>E-R</a:t>
            </a:r>
            <a:r>
              <a:rPr lang="zh-CN" altLang="en-US" sz="2800" dirty="0"/>
              <a:t>图</a:t>
            </a:r>
            <a:endParaRPr lang="en-US" altLang="zh-CN" sz="2800" dirty="0"/>
          </a:p>
          <a:p>
            <a:pPr latinLnBrk="0">
              <a:lnSpc>
                <a:spcPct val="150000"/>
              </a:lnSpc>
              <a:spcBef>
                <a:spcPts val="0"/>
              </a:spcBef>
            </a:pPr>
            <a:r>
              <a:rPr lang="zh-CN" altLang="en-US" sz="2800" dirty="0">
                <a:solidFill>
                  <a:srgbClr val="FF0000"/>
                </a:solidFill>
              </a:rPr>
              <a:t>属性冲突</a:t>
            </a:r>
            <a:r>
              <a:rPr lang="zh-CN" altLang="en-US" sz="2800" dirty="0"/>
              <a:t>：属性域，取值单位</a:t>
            </a:r>
            <a:endParaRPr lang="en-US" altLang="zh-CN" sz="2800" dirty="0"/>
          </a:p>
          <a:p>
            <a:pPr latinLnBrk="0">
              <a:lnSpc>
                <a:spcPct val="150000"/>
              </a:lnSpc>
              <a:spcBef>
                <a:spcPts val="0"/>
              </a:spcBef>
            </a:pPr>
            <a:r>
              <a:rPr lang="zh-CN" altLang="en-US" sz="2800" dirty="0">
                <a:solidFill>
                  <a:srgbClr val="FF0000"/>
                </a:solidFill>
              </a:rPr>
              <a:t>命名冲突</a:t>
            </a:r>
            <a:r>
              <a:rPr lang="zh-CN" altLang="en-US" sz="2800" dirty="0"/>
              <a:t>：命名不一致</a:t>
            </a:r>
            <a:endParaRPr lang="en-US" altLang="zh-CN" sz="2800" dirty="0"/>
          </a:p>
          <a:p>
            <a:pPr latinLnBrk="0">
              <a:lnSpc>
                <a:spcPct val="150000"/>
              </a:lnSpc>
              <a:spcBef>
                <a:spcPts val="0"/>
              </a:spcBef>
            </a:pPr>
            <a:r>
              <a:rPr lang="zh-CN" altLang="en-US" sz="2800" dirty="0">
                <a:solidFill>
                  <a:srgbClr val="FF0000"/>
                </a:solidFill>
              </a:rPr>
              <a:t>结构冲突</a:t>
            </a:r>
            <a:r>
              <a:rPr lang="zh-CN" altLang="en-US" sz="2800" dirty="0"/>
              <a:t>：</a:t>
            </a:r>
            <a:endParaRPr lang="en-US" altLang="zh-CN" sz="2800" dirty="0"/>
          </a:p>
          <a:p>
            <a:pPr lvl="1" indent="-436245" latinLnBrk="0">
              <a:lnSpc>
                <a:spcPct val="150000"/>
              </a:lnSpc>
              <a:spcBef>
                <a:spcPts val="0"/>
              </a:spcBef>
            </a:pPr>
            <a:r>
              <a:rPr lang="zh-CN" altLang="en-US" sz="2400" dirty="0"/>
              <a:t>同一对象被当成实体还是属性</a:t>
            </a:r>
            <a:endParaRPr lang="en-US" altLang="zh-CN" sz="2400" dirty="0"/>
          </a:p>
          <a:p>
            <a:pPr lvl="1" indent="-436245" latinLnBrk="0">
              <a:lnSpc>
                <a:spcPct val="150000"/>
              </a:lnSpc>
              <a:spcBef>
                <a:spcPts val="0"/>
              </a:spcBef>
            </a:pPr>
            <a:r>
              <a:rPr lang="zh-CN" altLang="en-US" sz="2400" dirty="0"/>
              <a:t>同一实体的属性个数或者属性顺序不同</a:t>
            </a:r>
            <a:endParaRPr lang="en-US" altLang="zh-CN" sz="2400" dirty="0"/>
          </a:p>
          <a:p>
            <a:pPr lvl="1" indent="-436245" latinLnBrk="0">
              <a:lnSpc>
                <a:spcPct val="150000"/>
              </a:lnSpc>
              <a:spcBef>
                <a:spcPts val="0"/>
              </a:spcBef>
            </a:pPr>
            <a:r>
              <a:rPr lang="zh-CN" altLang="en-US" sz="2400" dirty="0"/>
              <a:t>实体间的联系不同</a:t>
            </a:r>
            <a:endParaRPr lang="zh-CN" altLang="en-US" sz="2400" dirty="0"/>
          </a:p>
          <a:p>
            <a:pPr marL="0" marR="0" lvl="0" indent="0" algn="l" defTabSz="914400" rtl="0" latinLnBrk="0">
              <a:lnSpc>
                <a:spcPct val="150000"/>
              </a:lnSpc>
              <a:spcBef>
                <a:spcPct val="20000"/>
              </a:spcBef>
              <a:spcAft>
                <a:spcPct val="0"/>
              </a:spcAft>
              <a:buClr>
                <a:schemeClr val="accent2"/>
              </a:buClr>
              <a:buSzTx/>
              <a:buFont typeface="Wingdings" panose="05000000000000000000" pitchFamily="2" charset="2"/>
              <a:buNone/>
              <a:defRPr/>
            </a:pPr>
            <a:endParaRPr lang="zh-CN" altLang="en-US" sz="2800" noProof="0" dirty="0" smtClean="0">
              <a:ln>
                <a:noFill/>
              </a:ln>
              <a:effectLst/>
              <a:uLnTx/>
              <a:uFillTx/>
              <a:cs typeface="+mn-cs"/>
              <a:sym typeface="+mn-ea"/>
            </a:endParaRPr>
          </a:p>
        </p:txBody>
      </p:sp>
    </p:spTree>
  </p:cSld>
  <p:clrMapOvr>
    <a:masterClrMapping/>
  </p:clrMapOvr>
  <p:transition advClick="0"/>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sym typeface="+mn-ea"/>
              </a:rPr>
              <a:t>“教师教学管理”，“学生选课系统”合并</a:t>
            </a:r>
            <a:endParaRPr lang="zh-CN" altLang="en-US"/>
          </a:p>
        </p:txBody>
      </p:sp>
      <p:pic>
        <p:nvPicPr>
          <p:cNvPr id="5" name="内容占位符 4"/>
          <p:cNvPicPr>
            <a:picLocks noGrp="1" noChangeAspect="1"/>
          </p:cNvPicPr>
          <p:nvPr>
            <p:ph idx="1"/>
          </p:nvPr>
        </p:nvPicPr>
        <p:blipFill>
          <a:blip r:embed="rId1"/>
          <a:stretch>
            <a:fillRect/>
          </a:stretch>
        </p:blipFill>
        <p:spPr>
          <a:xfrm>
            <a:off x="119380" y="1137920"/>
            <a:ext cx="5489575" cy="2317750"/>
          </a:xfrm>
          <a:prstGeom prst="rect">
            <a:avLst/>
          </a:prstGeom>
        </p:spPr>
      </p:pic>
      <p:pic>
        <p:nvPicPr>
          <p:cNvPr id="6" name="图片 5"/>
          <p:cNvPicPr>
            <a:picLocks noChangeAspect="1"/>
          </p:cNvPicPr>
          <p:nvPr/>
        </p:nvPicPr>
        <p:blipFill>
          <a:blip r:embed="rId2"/>
          <a:srcRect r="698"/>
          <a:stretch>
            <a:fillRect/>
          </a:stretch>
        </p:blipFill>
        <p:spPr>
          <a:xfrm>
            <a:off x="5735955" y="1052195"/>
            <a:ext cx="6048375" cy="2893060"/>
          </a:xfrm>
          <a:prstGeom prst="rect">
            <a:avLst/>
          </a:prstGeom>
        </p:spPr>
      </p:pic>
      <p:pic>
        <p:nvPicPr>
          <p:cNvPr id="7" name="图片 6"/>
          <p:cNvPicPr>
            <a:picLocks noChangeAspect="1"/>
          </p:cNvPicPr>
          <p:nvPr/>
        </p:nvPicPr>
        <p:blipFill>
          <a:blip r:embed="rId3"/>
          <a:stretch>
            <a:fillRect/>
          </a:stretch>
        </p:blipFill>
        <p:spPr>
          <a:xfrm>
            <a:off x="335280" y="3517900"/>
            <a:ext cx="6290310" cy="3291205"/>
          </a:xfrm>
          <a:prstGeom prst="rect">
            <a:avLst/>
          </a:prstGeom>
        </p:spPr>
      </p:pic>
      <p:sp>
        <p:nvSpPr>
          <p:cNvPr id="8" name="文本框 7"/>
          <p:cNvSpPr txBox="1"/>
          <p:nvPr/>
        </p:nvSpPr>
        <p:spPr>
          <a:xfrm>
            <a:off x="7031990" y="4652645"/>
            <a:ext cx="4269105" cy="1198880"/>
          </a:xfrm>
          <a:prstGeom prst="rect">
            <a:avLst/>
          </a:prstGeom>
          <a:noFill/>
        </p:spPr>
        <p:txBody>
          <a:bodyPr wrap="square" rtlCol="0" anchor="t">
            <a:spAutoFit/>
          </a:bodyPr>
          <a:lstStyle/>
          <a:p>
            <a:pPr lvl="1" indent="-436245" latinLnBrk="0">
              <a:lnSpc>
                <a:spcPct val="150000"/>
              </a:lnSpc>
              <a:spcBef>
                <a:spcPts val="0"/>
              </a:spcBef>
            </a:pPr>
            <a:r>
              <a:rPr lang="zh-CN" altLang="en-US" sz="2400" dirty="0">
                <a:sym typeface="+mn-ea"/>
              </a:rPr>
              <a:t>联系：选修和课程评价，都不能消除。</a:t>
            </a:r>
            <a:endParaRPr lang="zh-CN" altLang="en-US" sz="2400" dirty="0">
              <a:sym typeface="+mn-ea"/>
            </a:endParaRPr>
          </a:p>
        </p:txBody>
      </p:sp>
    </p:spTree>
  </p:cSld>
  <p:clrMapOvr>
    <a:masterClrMapping/>
  </p:clrMapOvr>
  <p:transition advClick="0"/>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p:cNvSpPr>
          <p:nvPr>
            <p:ph type="title"/>
          </p:nvPr>
        </p:nvSpPr>
        <p:spPr/>
        <p:txBody>
          <a:bodyPr vert="horz" wrap="square" lIns="91440" tIns="45720" rIns="91440" bIns="45720" anchor="b" anchorCtr="0"/>
          <a:lstStyle/>
          <a:p>
            <a:r>
              <a:rPr lang="zh-CN" altLang="en-US" dirty="0"/>
              <a:t>集成两步走</a:t>
            </a:r>
            <a:endParaRPr lang="zh-CN" altLang="en-US" dirty="0"/>
          </a:p>
        </p:txBody>
      </p:sp>
      <p:sp>
        <p:nvSpPr>
          <p:cNvPr id="84994" name="内容占位符 2"/>
          <p:cNvSpPr>
            <a:spLocks noGrp="1"/>
          </p:cNvSpPr>
          <p:nvPr>
            <p:ph idx="1"/>
          </p:nvPr>
        </p:nvSpPr>
        <p:spPr>
          <a:xfrm>
            <a:off x="755650" y="1071245"/>
            <a:ext cx="10668000" cy="5283200"/>
          </a:xfrm>
        </p:spPr>
        <p:txBody>
          <a:bodyPr vert="horz" wrap="square" lIns="91440" tIns="45720" rIns="91440" bIns="45720" anchor="t" anchorCtr="0"/>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lang="zh-CN" altLang="en-US" sz="2800" noProof="0" dirty="0" smtClean="0">
                <a:ln>
                  <a:noFill/>
                </a:ln>
                <a:effectLst/>
                <a:uLnTx/>
                <a:uFillTx/>
                <a:cs typeface="+mn-cs"/>
                <a:sym typeface="+mn-ea"/>
              </a:rPr>
              <a:t>第二步：</a:t>
            </a:r>
            <a:r>
              <a:rPr lang="zh-CN" altLang="en-US" sz="2800" noProof="0" dirty="0" smtClean="0">
                <a:ln>
                  <a:noFill/>
                </a:ln>
                <a:solidFill>
                  <a:srgbClr val="FF0000"/>
                </a:solidFill>
                <a:effectLst/>
                <a:uLnTx/>
                <a:uFillTx/>
                <a:cs typeface="+mn-cs"/>
                <a:sym typeface="+mn-ea"/>
              </a:rPr>
              <a:t>修改和重构，消除冗余</a:t>
            </a:r>
            <a:r>
              <a:rPr lang="zh-CN" altLang="en-US" sz="2800" noProof="0" dirty="0" smtClean="0">
                <a:ln>
                  <a:noFill/>
                </a:ln>
                <a:effectLst/>
                <a:uLnTx/>
                <a:uFillTx/>
                <a:cs typeface="+mn-cs"/>
                <a:sym typeface="+mn-ea"/>
              </a:rPr>
              <a:t>，生成基本</a:t>
            </a:r>
            <a:r>
              <a:rPr lang="en-US" altLang="zh-CN" sz="2800" noProof="0" dirty="0" smtClean="0">
                <a:ln>
                  <a:noFill/>
                </a:ln>
                <a:effectLst/>
                <a:uLnTx/>
                <a:uFillTx/>
                <a:cs typeface="+mn-cs"/>
                <a:sym typeface="+mn-ea"/>
              </a:rPr>
              <a:t>E-R</a:t>
            </a:r>
            <a:r>
              <a:rPr lang="zh-CN" altLang="en-US" sz="2800" noProof="0" dirty="0" smtClean="0">
                <a:ln>
                  <a:noFill/>
                </a:ln>
                <a:effectLst/>
                <a:uLnTx/>
                <a:uFillTx/>
                <a:cs typeface="+mn-cs"/>
                <a:sym typeface="+mn-ea"/>
              </a:rPr>
              <a:t>图</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latinLnBrk="0">
              <a:lnSpc>
                <a:spcPct val="150000"/>
              </a:lnSpc>
              <a:spcBef>
                <a:spcPts val="0"/>
              </a:spcBef>
              <a:spcAft>
                <a:spcPct val="0"/>
              </a:spcAft>
              <a:buClr>
                <a:schemeClr val="accent2"/>
              </a:buClr>
              <a:buSzTx/>
              <a:buFont typeface="Wingdings" panose="05000000000000000000" pitchFamily="2" charset="2"/>
              <a:buChar char="n"/>
              <a:defRPr/>
            </a:pPr>
            <a:r>
              <a:rPr lang="zh-CN" altLang="en-US" sz="2800" noProof="0" dirty="0" smtClean="0">
                <a:ln>
                  <a:noFill/>
                </a:ln>
                <a:effectLst/>
                <a:uLnTx/>
                <a:uFillTx/>
                <a:cs typeface="+mn-cs"/>
                <a:sym typeface="+mn-ea"/>
              </a:rPr>
              <a:t>数据的冗余（冗余属性等）</a:t>
            </a:r>
            <a:endParaRPr kumimoji="0" lang="en-US" altLang="zh-CN" sz="2800" b="0" i="0" u="none" strike="noStrike" kern="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latinLnBrk="0">
              <a:lnSpc>
                <a:spcPct val="150000"/>
              </a:lnSpc>
              <a:spcBef>
                <a:spcPts val="0"/>
              </a:spcBef>
              <a:spcAft>
                <a:spcPct val="0"/>
              </a:spcAft>
              <a:buClr>
                <a:schemeClr val="accent2"/>
              </a:buClr>
              <a:buSzTx/>
              <a:buFont typeface="Wingdings" panose="05000000000000000000" pitchFamily="2" charset="2"/>
              <a:buChar char="n"/>
              <a:defRPr/>
            </a:pPr>
            <a:r>
              <a:rPr lang="zh-CN" altLang="en-US" sz="2800" noProof="0" dirty="0" smtClean="0">
                <a:ln>
                  <a:noFill/>
                </a:ln>
                <a:effectLst/>
                <a:uLnTx/>
                <a:uFillTx/>
                <a:cs typeface="+mn-cs"/>
                <a:sym typeface="+mn-ea"/>
              </a:rPr>
              <a:t>实体间</a:t>
            </a:r>
            <a:r>
              <a:rPr lang="zh-CN" altLang="en-US" sz="2800" noProof="0" dirty="0" smtClean="0">
                <a:ln>
                  <a:noFill/>
                </a:ln>
                <a:solidFill>
                  <a:srgbClr val="FF0000"/>
                </a:solidFill>
                <a:effectLst/>
                <a:uLnTx/>
                <a:uFillTx/>
                <a:cs typeface="+mn-cs"/>
                <a:sym typeface="+mn-ea"/>
              </a:rPr>
              <a:t>冗余的联系</a:t>
            </a:r>
            <a:endParaRPr kumimoji="0" lang="en-US" altLang="zh-CN" sz="2800" b="0" i="0" u="none" strike="noStrike" kern="0" cap="none" spc="0" normalizeH="0" baseline="0" noProof="0" dirty="0" smtClean="0">
              <a:ln>
                <a:noFill/>
              </a:ln>
              <a:solidFill>
                <a:srgbClr val="FF0000"/>
              </a:solidFill>
              <a:effectLst/>
              <a:uLnTx/>
              <a:uFillTx/>
              <a:latin typeface="+mn-lt"/>
              <a:ea typeface="+mn-ea"/>
              <a:cs typeface="+mn-cs"/>
            </a:endParaRPr>
          </a:p>
          <a:p>
            <a:pPr marL="0" marR="0" lvl="0" indent="0" algn="l" defTabSz="914400" rtl="0" latinLnBrk="0">
              <a:lnSpc>
                <a:spcPct val="150000"/>
              </a:lnSpc>
              <a:spcBef>
                <a:spcPts val="0"/>
              </a:spcBef>
              <a:spcAft>
                <a:spcPct val="0"/>
              </a:spcAft>
              <a:buClr>
                <a:schemeClr val="accent2"/>
              </a:buClr>
              <a:buSzTx/>
              <a:buFont typeface="Wingdings" panose="05000000000000000000" pitchFamily="2" charset="2"/>
              <a:buNone/>
              <a:defRPr/>
            </a:pPr>
            <a:r>
              <a:rPr lang="zh-CN" altLang="en-US" sz="2800" b="1" noProof="0" dirty="0" smtClean="0">
                <a:ln>
                  <a:noFill/>
                </a:ln>
                <a:solidFill>
                  <a:srgbClr val="FF0000"/>
                </a:solidFill>
                <a:effectLst/>
                <a:uLnTx/>
                <a:uFillTx/>
                <a:cs typeface="+mn-cs"/>
                <a:sym typeface="+mn-ea"/>
              </a:rPr>
              <a:t>注</a:t>
            </a:r>
            <a:r>
              <a:rPr lang="zh-CN" altLang="en-US" sz="2800" noProof="0" dirty="0" smtClean="0">
                <a:ln>
                  <a:noFill/>
                </a:ln>
                <a:effectLst/>
                <a:uLnTx/>
                <a:uFillTx/>
                <a:cs typeface="+mn-cs"/>
                <a:sym typeface="+mn-ea"/>
              </a:rPr>
              <a:t>：并不是所有的冗余数据和冗余联系都必须消除，有时为了</a:t>
            </a:r>
            <a:r>
              <a:rPr lang="zh-CN" altLang="en-US" sz="2800" b="1" noProof="0" dirty="0" smtClean="0">
                <a:ln>
                  <a:noFill/>
                </a:ln>
                <a:solidFill>
                  <a:srgbClr val="FF0000"/>
                </a:solidFill>
                <a:effectLst/>
                <a:uLnTx/>
                <a:uFillTx/>
                <a:cs typeface="+mn-cs"/>
                <a:sym typeface="+mn-ea"/>
              </a:rPr>
              <a:t>效率</a:t>
            </a:r>
            <a:r>
              <a:rPr lang="zh-CN" altLang="en-US" sz="2800" noProof="0" dirty="0" smtClean="0">
                <a:ln>
                  <a:noFill/>
                </a:ln>
                <a:effectLst/>
                <a:uLnTx/>
                <a:uFillTx/>
                <a:cs typeface="+mn-cs"/>
                <a:sym typeface="+mn-ea"/>
              </a:rPr>
              <a:t>，不得不</a:t>
            </a:r>
            <a:r>
              <a:rPr lang="zh-CN" altLang="en-US" sz="2800" b="1" noProof="0" dirty="0" smtClean="0">
                <a:ln>
                  <a:noFill/>
                </a:ln>
                <a:solidFill>
                  <a:srgbClr val="FF0000"/>
                </a:solidFill>
                <a:effectLst/>
                <a:uLnTx/>
                <a:uFillTx/>
                <a:cs typeface="+mn-cs"/>
                <a:sym typeface="+mn-ea"/>
              </a:rPr>
              <a:t>以冗余信息作为代价</a:t>
            </a:r>
            <a:r>
              <a:rPr lang="zh-CN" altLang="en-US" sz="2800" noProof="0" dirty="0" smtClean="0">
                <a:ln>
                  <a:noFill/>
                </a:ln>
                <a:effectLst/>
                <a:uLnTx/>
                <a:uFillTx/>
                <a:cs typeface="+mn-cs"/>
                <a:sym typeface="+mn-ea"/>
              </a:rPr>
              <a:t>。</a:t>
            </a:r>
            <a:endParaRPr lang="zh-CN" altLang="en-US" sz="2800" noProof="0" dirty="0" smtClean="0">
              <a:ln>
                <a:noFill/>
              </a:ln>
              <a:effectLst/>
              <a:uLnTx/>
              <a:uFillTx/>
              <a:cs typeface="+mn-cs"/>
              <a:sym typeface="+mn-ea"/>
            </a:endParaRPr>
          </a:p>
        </p:txBody>
      </p:sp>
    </p:spTree>
  </p:cSld>
  <p:clrMapOvr>
    <a:masterClrMapping/>
  </p:clrMapOvr>
  <p:transition advClick="0"/>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p:cNvSpPr>
          <p:nvPr>
            <p:ph type="title"/>
          </p:nvPr>
        </p:nvSpPr>
        <p:spPr/>
        <p:txBody>
          <a:bodyPr vert="horz" wrap="square" lIns="91440" tIns="45720" rIns="91440" bIns="45720" anchor="b" anchorCtr="0"/>
          <a:lstStyle/>
          <a:p>
            <a:r>
              <a:rPr lang="zh-CN" altLang="en-US" dirty="0" smtClean="0"/>
              <a:t>冗余举例：</a:t>
            </a:r>
            <a:endParaRPr lang="zh-CN" altLang="en-US" dirty="0"/>
          </a:p>
        </p:txBody>
      </p:sp>
      <p:pic>
        <p:nvPicPr>
          <p:cNvPr id="3" name="内容占位符 2"/>
          <p:cNvPicPr>
            <a:picLocks noGrp="1" noChangeAspect="1"/>
          </p:cNvPicPr>
          <p:nvPr>
            <p:ph idx="1"/>
          </p:nvPr>
        </p:nvPicPr>
        <p:blipFill>
          <a:blip r:embed="rId1"/>
          <a:stretch>
            <a:fillRect/>
          </a:stretch>
        </p:blipFill>
        <p:spPr>
          <a:xfrm>
            <a:off x="622935" y="1196340"/>
            <a:ext cx="5693410" cy="4912995"/>
          </a:xfrm>
          <a:prstGeom prst="rect">
            <a:avLst/>
          </a:prstGeom>
        </p:spPr>
      </p:pic>
      <p:sp>
        <p:nvSpPr>
          <p:cNvPr id="4" name="文本框 3"/>
          <p:cNvSpPr txBox="1"/>
          <p:nvPr/>
        </p:nvSpPr>
        <p:spPr>
          <a:xfrm>
            <a:off x="5087888" y="4293096"/>
            <a:ext cx="6624736" cy="1384995"/>
          </a:xfrm>
          <a:prstGeom prst="rect">
            <a:avLst/>
          </a:prstGeom>
          <a:noFill/>
        </p:spPr>
        <p:txBody>
          <a:bodyPr wrap="square" rtlCol="0" anchor="t">
            <a:spAutoFit/>
          </a:bodyPr>
          <a:lstStyle/>
          <a:p>
            <a:pPr>
              <a:lnSpc>
                <a:spcPct val="150000"/>
              </a:lnSpc>
            </a:pPr>
            <a:r>
              <a:rPr lang="zh-CN" altLang="en-US" sz="2800" noProof="0" dirty="0" smtClean="0">
                <a:ln>
                  <a:noFill/>
                </a:ln>
                <a:solidFill>
                  <a:srgbClr val="FF0000"/>
                </a:solidFill>
                <a:effectLst/>
                <a:uLnTx/>
                <a:uFillTx/>
                <a:sym typeface="+mn-ea"/>
              </a:rPr>
              <a:t>冗余联系</a:t>
            </a:r>
            <a:r>
              <a:rPr lang="zh-CN" altLang="en-US" sz="2800" noProof="0" dirty="0" smtClean="0">
                <a:ln>
                  <a:noFill/>
                </a:ln>
                <a:effectLst/>
                <a:uLnTx/>
                <a:uFillTx/>
                <a:sym typeface="+mn-ea"/>
              </a:rPr>
              <a:t>：已修，可以删除</a:t>
            </a:r>
            <a:r>
              <a:rPr lang="zh-CN" altLang="en-US" sz="2800" noProof="0" dirty="0" smtClean="0">
                <a:ln>
                  <a:noFill/>
                </a:ln>
                <a:effectLst/>
                <a:uLnTx/>
                <a:uFillTx/>
                <a:sym typeface="+mn-ea"/>
              </a:rPr>
              <a:t>；也可以保留。</a:t>
            </a:r>
            <a:endParaRPr lang="zh-CN" altLang="en-US" sz="2800" noProof="0" dirty="0" smtClean="0">
              <a:ln>
                <a:noFill/>
              </a:ln>
              <a:effectLst/>
              <a:uLnTx/>
              <a:uFillTx/>
              <a:sym typeface="+mn-ea"/>
            </a:endParaRPr>
          </a:p>
          <a:p>
            <a:pPr>
              <a:lnSpc>
                <a:spcPct val="150000"/>
              </a:lnSpc>
            </a:pPr>
            <a:r>
              <a:rPr lang="zh-CN" altLang="en-US" sz="2800" noProof="0" dirty="0" smtClean="0">
                <a:ln>
                  <a:noFill/>
                </a:ln>
                <a:solidFill>
                  <a:srgbClr val="FF0000"/>
                </a:solidFill>
                <a:effectLst/>
                <a:uLnTx/>
                <a:uFillTx/>
                <a:sym typeface="+mn-ea"/>
              </a:rPr>
              <a:t>冗余属性</a:t>
            </a:r>
            <a:r>
              <a:rPr lang="zh-CN" altLang="en-US" sz="2800" noProof="0" dirty="0" smtClean="0">
                <a:ln>
                  <a:noFill/>
                </a:ln>
                <a:effectLst/>
                <a:uLnTx/>
                <a:uFillTx/>
                <a:sym typeface="+mn-ea"/>
              </a:rPr>
              <a:t>：已修课程学分，可以保留。</a:t>
            </a:r>
            <a:endParaRPr lang="zh-CN" altLang="en-US" sz="2800" noProof="0" dirty="0" smtClean="0">
              <a:ln>
                <a:noFill/>
              </a:ln>
              <a:effectLst/>
              <a:uLnTx/>
              <a:uFillTx/>
              <a:sym typeface="+mn-ea"/>
            </a:endParaRPr>
          </a:p>
        </p:txBody>
      </p:sp>
    </p:spTree>
  </p:cSld>
  <p:clrMapOvr>
    <a:masterClrMapping/>
  </p:clrMapOvr>
  <p:transition advClick="0"/>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p:cNvSpPr>
          <p:nvPr>
            <p:ph type="title"/>
          </p:nvPr>
        </p:nvSpPr>
        <p:spPr/>
        <p:txBody>
          <a:bodyPr vert="horz" wrap="square" lIns="91440" tIns="45720" rIns="91440" bIns="45720" anchor="b" anchorCtr="0"/>
          <a:lstStyle/>
          <a:p>
            <a:r>
              <a:rPr lang="zh-CN" altLang="en-US" dirty="0"/>
              <a:t>合并</a:t>
            </a:r>
            <a:endParaRPr lang="zh-CN" altLang="en-US" dirty="0"/>
          </a:p>
        </p:txBody>
      </p:sp>
      <p:pic>
        <p:nvPicPr>
          <p:cNvPr id="5" name="图片 4"/>
          <p:cNvPicPr>
            <a:picLocks noChangeAspect="1"/>
          </p:cNvPicPr>
          <p:nvPr/>
        </p:nvPicPr>
        <p:blipFill>
          <a:blip r:embed="rId1"/>
          <a:stretch>
            <a:fillRect/>
          </a:stretch>
        </p:blipFill>
        <p:spPr>
          <a:xfrm>
            <a:off x="3215640" y="188595"/>
            <a:ext cx="7319010" cy="6512560"/>
          </a:xfrm>
          <a:prstGeom prst="rect">
            <a:avLst/>
          </a:prstGeom>
        </p:spPr>
      </p:pic>
    </p:spTree>
  </p:cSld>
  <p:clrMapOvr>
    <a:masterClrMapping/>
  </p:clrMapOvr>
  <p:transition advClick="0"/>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7408" y="1083468"/>
            <a:ext cx="10441159" cy="5081836"/>
            <a:chOff x="1050925" y="879872"/>
            <a:chExt cx="7018338" cy="2616994"/>
          </a:xfrm>
        </p:grpSpPr>
        <p:sp>
          <p:nvSpPr>
            <p:cNvPr id="3" name="Line 73"/>
            <p:cNvSpPr/>
            <p:nvPr/>
          </p:nvSpPr>
          <p:spPr>
            <a:xfrm>
              <a:off x="1651000" y="2888456"/>
              <a:ext cx="0" cy="215504"/>
            </a:xfrm>
            <a:prstGeom prst="line">
              <a:avLst/>
            </a:prstGeom>
            <a:ln w="9525" cap="flat" cmpd="sng">
              <a:solidFill>
                <a:schemeClr val="tx1"/>
              </a:solidFill>
              <a:prstDash val="solid"/>
              <a:headEnd type="none" w="med" len="med"/>
              <a:tailEnd type="none" w="med" len="med"/>
            </a:ln>
          </p:spPr>
        </p:sp>
        <p:sp>
          <p:nvSpPr>
            <p:cNvPr id="4" name="Line 65"/>
            <p:cNvSpPr/>
            <p:nvPr/>
          </p:nvSpPr>
          <p:spPr>
            <a:xfrm>
              <a:off x="4818063" y="1760934"/>
              <a:ext cx="0" cy="403622"/>
            </a:xfrm>
            <a:prstGeom prst="line">
              <a:avLst/>
            </a:prstGeom>
            <a:ln w="9525" cap="flat" cmpd="sng">
              <a:solidFill>
                <a:schemeClr val="tx1"/>
              </a:solidFill>
              <a:prstDash val="solid"/>
              <a:headEnd type="none" w="med" len="med"/>
              <a:tailEnd type="none" w="med" len="med"/>
            </a:ln>
          </p:spPr>
        </p:sp>
        <p:sp>
          <p:nvSpPr>
            <p:cNvPr id="5" name="Rectangle 9"/>
            <p:cNvSpPr/>
            <p:nvPr/>
          </p:nvSpPr>
          <p:spPr>
            <a:xfrm>
              <a:off x="4481513" y="2055019"/>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商品</a:t>
              </a:r>
              <a:endParaRPr lang="zh-CN" altLang="en-US" sz="1600" dirty="0">
                <a:latin typeface="Helvetica" charset="0"/>
              </a:endParaRPr>
            </a:p>
          </p:txBody>
        </p:sp>
        <p:sp>
          <p:nvSpPr>
            <p:cNvPr id="6" name="Rectangle 10"/>
            <p:cNvSpPr/>
            <p:nvPr/>
          </p:nvSpPr>
          <p:spPr>
            <a:xfrm>
              <a:off x="1385888" y="2055019"/>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客户</a:t>
              </a:r>
              <a:endParaRPr lang="zh-CN" altLang="en-US" sz="1600" dirty="0">
                <a:latin typeface="Helvetica" charset="0"/>
              </a:endParaRPr>
            </a:p>
          </p:txBody>
        </p:sp>
        <p:sp>
          <p:nvSpPr>
            <p:cNvPr id="7" name="Rectangle 12"/>
            <p:cNvSpPr/>
            <p:nvPr/>
          </p:nvSpPr>
          <p:spPr>
            <a:xfrm>
              <a:off x="4410076" y="3189685"/>
              <a:ext cx="936625"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商品类别</a:t>
              </a:r>
              <a:endParaRPr lang="zh-CN" altLang="en-US" sz="1600" dirty="0">
                <a:latin typeface="Helvetica" charset="0"/>
              </a:endParaRPr>
            </a:p>
          </p:txBody>
        </p:sp>
        <p:sp>
          <p:nvSpPr>
            <p:cNvPr id="8" name="AutoShape 26"/>
            <p:cNvSpPr/>
            <p:nvPr/>
          </p:nvSpPr>
          <p:spPr>
            <a:xfrm>
              <a:off x="4359276" y="2595562"/>
              <a:ext cx="1058863"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分类</a:t>
              </a:r>
              <a:endParaRPr lang="zh-CN" altLang="en-US" sz="1600" dirty="0">
                <a:latin typeface="Helvetica" charset="0"/>
              </a:endParaRPr>
            </a:p>
          </p:txBody>
        </p:sp>
        <p:sp>
          <p:nvSpPr>
            <p:cNvPr id="9" name="Line 27"/>
            <p:cNvSpPr/>
            <p:nvPr/>
          </p:nvSpPr>
          <p:spPr>
            <a:xfrm>
              <a:off x="4873625" y="2972991"/>
              <a:ext cx="0" cy="215503"/>
            </a:xfrm>
            <a:prstGeom prst="line">
              <a:avLst/>
            </a:prstGeom>
            <a:ln w="9525" cap="flat" cmpd="sng">
              <a:solidFill>
                <a:schemeClr val="tx1"/>
              </a:solidFill>
              <a:prstDash val="solid"/>
              <a:headEnd type="none" w="med" len="med"/>
              <a:tailEnd type="none" w="med" len="med"/>
            </a:ln>
          </p:spPr>
        </p:sp>
        <p:sp>
          <p:nvSpPr>
            <p:cNvPr id="10" name="Line 28"/>
            <p:cNvSpPr/>
            <p:nvPr/>
          </p:nvSpPr>
          <p:spPr>
            <a:xfrm>
              <a:off x="4902200" y="2325292"/>
              <a:ext cx="0" cy="269081"/>
            </a:xfrm>
            <a:prstGeom prst="line">
              <a:avLst/>
            </a:prstGeom>
            <a:ln w="9525" cap="flat" cmpd="sng">
              <a:solidFill>
                <a:schemeClr val="tx1"/>
              </a:solidFill>
              <a:prstDash val="solid"/>
              <a:headEnd type="none" w="med" len="med"/>
              <a:tailEnd type="none" w="med" len="med"/>
            </a:ln>
          </p:spPr>
        </p:sp>
        <p:sp>
          <p:nvSpPr>
            <p:cNvPr id="11" name="Text Box 29"/>
            <p:cNvSpPr txBox="1"/>
            <p:nvPr/>
          </p:nvSpPr>
          <p:spPr>
            <a:xfrm>
              <a:off x="4913314" y="2378869"/>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12" name="Text Box 30"/>
            <p:cNvSpPr txBox="1"/>
            <p:nvPr/>
          </p:nvSpPr>
          <p:spPr>
            <a:xfrm>
              <a:off x="4913314" y="2918222"/>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13" name="Line 37"/>
            <p:cNvSpPr/>
            <p:nvPr/>
          </p:nvSpPr>
          <p:spPr>
            <a:xfrm>
              <a:off x="3854451" y="2165747"/>
              <a:ext cx="720725" cy="0"/>
            </a:xfrm>
            <a:prstGeom prst="line">
              <a:avLst/>
            </a:prstGeom>
            <a:ln w="9525" cap="flat" cmpd="sng">
              <a:solidFill>
                <a:schemeClr val="tx1"/>
              </a:solidFill>
              <a:prstDash val="solid"/>
              <a:headEnd type="none" w="med" len="med"/>
              <a:tailEnd type="none" w="med" len="med"/>
            </a:ln>
          </p:spPr>
        </p:sp>
        <p:sp>
          <p:nvSpPr>
            <p:cNvPr id="14" name="Text Box 39"/>
            <p:cNvSpPr txBox="1"/>
            <p:nvPr/>
          </p:nvSpPr>
          <p:spPr>
            <a:xfrm>
              <a:off x="4797425" y="1185862"/>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endParaRPr lang="en-US" altLang="zh-CN" sz="1600" dirty="0">
                <a:latin typeface="Helvetica" charset="0"/>
              </a:endParaRPr>
            </a:p>
          </p:txBody>
        </p:sp>
        <p:sp>
          <p:nvSpPr>
            <p:cNvPr id="15" name="Text Box 40"/>
            <p:cNvSpPr txBox="1"/>
            <p:nvPr/>
          </p:nvSpPr>
          <p:spPr>
            <a:xfrm>
              <a:off x="6786564" y="1947862"/>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16" name="AutoShape 54"/>
            <p:cNvSpPr/>
            <p:nvPr/>
          </p:nvSpPr>
          <p:spPr>
            <a:xfrm>
              <a:off x="5651501" y="2014537"/>
              <a:ext cx="1135063"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供应</a:t>
              </a:r>
              <a:endParaRPr lang="zh-CN" altLang="en-US" sz="1600" dirty="0">
                <a:latin typeface="Helvetica" charset="0"/>
              </a:endParaRPr>
            </a:p>
          </p:txBody>
        </p:sp>
        <p:sp>
          <p:nvSpPr>
            <p:cNvPr id="17" name="Rectangle 55"/>
            <p:cNvSpPr/>
            <p:nvPr/>
          </p:nvSpPr>
          <p:spPr>
            <a:xfrm>
              <a:off x="7078663" y="2055019"/>
              <a:ext cx="990600"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生产厂商</a:t>
              </a:r>
              <a:endParaRPr lang="zh-CN" altLang="en-US" sz="1600" dirty="0">
                <a:latin typeface="Helvetica" charset="0"/>
              </a:endParaRPr>
            </a:p>
          </p:txBody>
        </p:sp>
        <p:sp>
          <p:nvSpPr>
            <p:cNvPr id="18" name="Line 56"/>
            <p:cNvSpPr/>
            <p:nvPr/>
          </p:nvSpPr>
          <p:spPr>
            <a:xfrm flipH="1">
              <a:off x="5273676" y="2208610"/>
              <a:ext cx="377825" cy="9525"/>
            </a:xfrm>
            <a:prstGeom prst="line">
              <a:avLst/>
            </a:prstGeom>
            <a:ln w="9525" cap="flat" cmpd="sng">
              <a:solidFill>
                <a:schemeClr val="tx1"/>
              </a:solidFill>
              <a:prstDash val="solid"/>
              <a:headEnd type="none" w="med" len="med"/>
              <a:tailEnd type="none" w="med" len="med"/>
            </a:ln>
          </p:spPr>
        </p:sp>
        <p:sp>
          <p:nvSpPr>
            <p:cNvPr id="19" name="Line 57"/>
            <p:cNvSpPr/>
            <p:nvPr/>
          </p:nvSpPr>
          <p:spPr>
            <a:xfrm flipH="1">
              <a:off x="6786564" y="2208610"/>
              <a:ext cx="287337" cy="0"/>
            </a:xfrm>
            <a:prstGeom prst="line">
              <a:avLst/>
            </a:prstGeom>
            <a:ln w="9525" cap="flat" cmpd="sng">
              <a:solidFill>
                <a:schemeClr val="tx1"/>
              </a:solidFill>
              <a:prstDash val="solid"/>
              <a:headEnd type="none" w="med" len="med"/>
              <a:tailEnd type="none" w="med" len="med"/>
            </a:ln>
          </p:spPr>
        </p:sp>
        <p:sp>
          <p:nvSpPr>
            <p:cNvPr id="20" name="Text Box 58"/>
            <p:cNvSpPr txBox="1"/>
            <p:nvPr/>
          </p:nvSpPr>
          <p:spPr>
            <a:xfrm>
              <a:off x="5273675" y="1947862"/>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endParaRPr lang="en-US" altLang="zh-CN" sz="1600" dirty="0">
                <a:latin typeface="Helvetica" charset="0"/>
              </a:endParaRPr>
            </a:p>
          </p:txBody>
        </p:sp>
        <p:sp>
          <p:nvSpPr>
            <p:cNvPr id="21" name="Line 59"/>
            <p:cNvSpPr/>
            <p:nvPr/>
          </p:nvSpPr>
          <p:spPr>
            <a:xfrm flipH="1">
              <a:off x="2184401" y="1077516"/>
              <a:ext cx="385763" cy="0"/>
            </a:xfrm>
            <a:prstGeom prst="line">
              <a:avLst/>
            </a:prstGeom>
            <a:ln w="9525" cap="flat" cmpd="sng">
              <a:solidFill>
                <a:schemeClr val="tx1"/>
              </a:solidFill>
              <a:prstDash val="solid"/>
              <a:headEnd type="none" w="med" len="med"/>
              <a:tailEnd type="none" w="med" len="med"/>
            </a:ln>
          </p:spPr>
        </p:sp>
        <p:sp>
          <p:nvSpPr>
            <p:cNvPr id="22" name="Line 62"/>
            <p:cNvSpPr/>
            <p:nvPr/>
          </p:nvSpPr>
          <p:spPr>
            <a:xfrm flipV="1">
              <a:off x="3522663" y="1151335"/>
              <a:ext cx="912812" cy="475059"/>
            </a:xfrm>
            <a:prstGeom prst="line">
              <a:avLst/>
            </a:prstGeom>
            <a:ln w="9525" cap="flat" cmpd="sng">
              <a:solidFill>
                <a:schemeClr val="tx1"/>
              </a:solidFill>
              <a:prstDash val="solid"/>
              <a:headEnd type="none" w="med" len="med"/>
              <a:tailEnd type="none" w="med" len="med"/>
            </a:ln>
          </p:spPr>
        </p:sp>
        <p:sp>
          <p:nvSpPr>
            <p:cNvPr id="23" name="Line 63"/>
            <p:cNvSpPr/>
            <p:nvPr/>
          </p:nvSpPr>
          <p:spPr>
            <a:xfrm flipV="1">
              <a:off x="2159000" y="1618060"/>
              <a:ext cx="331788" cy="456009"/>
            </a:xfrm>
            <a:prstGeom prst="line">
              <a:avLst/>
            </a:prstGeom>
            <a:ln w="9525" cap="flat" cmpd="sng">
              <a:solidFill>
                <a:schemeClr val="tx1"/>
              </a:solidFill>
              <a:prstDash val="solid"/>
              <a:headEnd type="none" w="med" len="med"/>
              <a:tailEnd type="none" w="med" len="med"/>
            </a:ln>
          </p:spPr>
        </p:sp>
        <p:sp>
          <p:nvSpPr>
            <p:cNvPr id="24" name="AutoShape 64"/>
            <p:cNvSpPr/>
            <p:nvPr/>
          </p:nvSpPr>
          <p:spPr>
            <a:xfrm>
              <a:off x="2735264" y="1977629"/>
              <a:ext cx="1152525" cy="37742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评论</a:t>
              </a:r>
              <a:endParaRPr lang="zh-CN" altLang="en-US" sz="1600" dirty="0">
                <a:latin typeface="Helvetica" charset="0"/>
              </a:endParaRPr>
            </a:p>
          </p:txBody>
        </p:sp>
        <p:sp>
          <p:nvSpPr>
            <p:cNvPr id="25" name="Line 66"/>
            <p:cNvSpPr/>
            <p:nvPr/>
          </p:nvSpPr>
          <p:spPr>
            <a:xfrm>
              <a:off x="2178051" y="2164556"/>
              <a:ext cx="588963" cy="0"/>
            </a:xfrm>
            <a:prstGeom prst="line">
              <a:avLst/>
            </a:prstGeom>
            <a:ln w="9525" cap="flat" cmpd="sng">
              <a:solidFill>
                <a:schemeClr val="tx1"/>
              </a:solidFill>
              <a:prstDash val="solid"/>
              <a:headEnd type="none" w="med" len="med"/>
              <a:tailEnd type="none" w="med" len="med"/>
            </a:ln>
          </p:spPr>
        </p:sp>
        <p:sp>
          <p:nvSpPr>
            <p:cNvPr id="26" name="Text Box 68"/>
            <p:cNvSpPr txBox="1"/>
            <p:nvPr/>
          </p:nvSpPr>
          <p:spPr>
            <a:xfrm>
              <a:off x="3944939" y="881062"/>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27" name="Text Box 69"/>
            <p:cNvSpPr txBox="1"/>
            <p:nvPr/>
          </p:nvSpPr>
          <p:spPr>
            <a:xfrm>
              <a:off x="4816476" y="1781175"/>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28" name="Text Box 70"/>
            <p:cNvSpPr txBox="1"/>
            <p:nvPr/>
          </p:nvSpPr>
          <p:spPr>
            <a:xfrm>
              <a:off x="2205039" y="879872"/>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29" name="Rectangle 71"/>
            <p:cNvSpPr/>
            <p:nvPr/>
          </p:nvSpPr>
          <p:spPr>
            <a:xfrm>
              <a:off x="1385888" y="975122"/>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地址</a:t>
              </a:r>
              <a:endParaRPr lang="zh-CN" altLang="en-US" sz="1600" dirty="0">
                <a:latin typeface="Helvetica" charset="0"/>
              </a:endParaRPr>
            </a:p>
          </p:txBody>
        </p:sp>
        <p:sp>
          <p:nvSpPr>
            <p:cNvPr id="30" name="AutoShape 72"/>
            <p:cNvSpPr/>
            <p:nvPr/>
          </p:nvSpPr>
          <p:spPr>
            <a:xfrm>
              <a:off x="1125539" y="1460898"/>
              <a:ext cx="1157287" cy="377428"/>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所在</a:t>
              </a:r>
              <a:endParaRPr lang="zh-CN" altLang="en-US" sz="1600" dirty="0">
                <a:latin typeface="Helvetica" charset="0"/>
              </a:endParaRPr>
            </a:p>
          </p:txBody>
        </p:sp>
        <p:sp>
          <p:nvSpPr>
            <p:cNvPr id="31" name="Line 73"/>
            <p:cNvSpPr/>
            <p:nvPr/>
          </p:nvSpPr>
          <p:spPr>
            <a:xfrm>
              <a:off x="1744663" y="1839516"/>
              <a:ext cx="0" cy="215503"/>
            </a:xfrm>
            <a:prstGeom prst="line">
              <a:avLst/>
            </a:prstGeom>
            <a:ln w="9525" cap="flat" cmpd="sng">
              <a:solidFill>
                <a:schemeClr val="tx1"/>
              </a:solidFill>
              <a:prstDash val="solid"/>
              <a:headEnd type="none" w="med" len="med"/>
              <a:tailEnd type="none" w="med" len="med"/>
            </a:ln>
          </p:spPr>
        </p:sp>
        <p:sp>
          <p:nvSpPr>
            <p:cNvPr id="32" name="Text Box 74"/>
            <p:cNvSpPr txBox="1"/>
            <p:nvPr/>
          </p:nvSpPr>
          <p:spPr>
            <a:xfrm flipH="1">
              <a:off x="1817689" y="1208485"/>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33" name="Line 75"/>
            <p:cNvSpPr/>
            <p:nvPr/>
          </p:nvSpPr>
          <p:spPr>
            <a:xfrm>
              <a:off x="1744663" y="1245394"/>
              <a:ext cx="0" cy="215504"/>
            </a:xfrm>
            <a:prstGeom prst="line">
              <a:avLst/>
            </a:prstGeom>
            <a:ln w="9525" cap="flat" cmpd="sng">
              <a:solidFill>
                <a:schemeClr val="tx1"/>
              </a:solidFill>
              <a:prstDash val="solid"/>
              <a:headEnd type="none" w="med" len="med"/>
              <a:tailEnd type="none" w="med" len="med"/>
            </a:ln>
          </p:spPr>
        </p:sp>
        <p:sp>
          <p:nvSpPr>
            <p:cNvPr id="34" name="Text Box 76"/>
            <p:cNvSpPr txBox="1"/>
            <p:nvPr/>
          </p:nvSpPr>
          <p:spPr>
            <a:xfrm flipH="1">
              <a:off x="1817689" y="1785937"/>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35" name="Rectangle 77"/>
            <p:cNvSpPr/>
            <p:nvPr/>
          </p:nvSpPr>
          <p:spPr>
            <a:xfrm>
              <a:off x="4481513" y="2055019"/>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商品</a:t>
              </a:r>
              <a:endParaRPr lang="zh-CN" altLang="en-US" sz="1600" dirty="0">
                <a:latin typeface="Helvetica" charset="0"/>
              </a:endParaRPr>
            </a:p>
          </p:txBody>
        </p:sp>
        <p:sp>
          <p:nvSpPr>
            <p:cNvPr id="36" name="Text Box 78"/>
            <p:cNvSpPr txBox="1"/>
            <p:nvPr/>
          </p:nvSpPr>
          <p:spPr>
            <a:xfrm>
              <a:off x="5273675" y="1947862"/>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endParaRPr lang="en-US" altLang="zh-CN" sz="1600" dirty="0">
                <a:latin typeface="Helvetica" charset="0"/>
              </a:endParaRPr>
            </a:p>
          </p:txBody>
        </p:sp>
        <p:sp>
          <p:nvSpPr>
            <p:cNvPr id="37" name="Text Box 85"/>
            <p:cNvSpPr txBox="1"/>
            <p:nvPr/>
          </p:nvSpPr>
          <p:spPr>
            <a:xfrm flipH="1">
              <a:off x="1817689" y="1785937"/>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38" name="Text Box 39"/>
            <p:cNvSpPr txBox="1"/>
            <p:nvPr/>
          </p:nvSpPr>
          <p:spPr>
            <a:xfrm>
              <a:off x="2349500" y="2102644"/>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endParaRPr lang="en-US" altLang="zh-CN" sz="1600" dirty="0">
                <a:latin typeface="Helvetica" charset="0"/>
              </a:endParaRPr>
            </a:p>
          </p:txBody>
        </p:sp>
        <p:sp>
          <p:nvSpPr>
            <p:cNvPr id="39" name="Line 65"/>
            <p:cNvSpPr/>
            <p:nvPr/>
          </p:nvSpPr>
          <p:spPr>
            <a:xfrm>
              <a:off x="4797425" y="1151335"/>
              <a:ext cx="0" cy="232172"/>
            </a:xfrm>
            <a:prstGeom prst="line">
              <a:avLst/>
            </a:prstGeom>
            <a:ln w="9525" cap="flat" cmpd="sng">
              <a:solidFill>
                <a:schemeClr val="tx1"/>
              </a:solidFill>
              <a:prstDash val="solid"/>
              <a:headEnd type="none" w="med" len="med"/>
              <a:tailEnd type="none" w="med" len="med"/>
            </a:ln>
          </p:spPr>
        </p:sp>
        <p:sp>
          <p:nvSpPr>
            <p:cNvPr id="40" name="Text Box 68"/>
            <p:cNvSpPr txBox="1"/>
            <p:nvPr/>
          </p:nvSpPr>
          <p:spPr>
            <a:xfrm>
              <a:off x="4070351" y="2102644"/>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41" name="Line 73"/>
            <p:cNvSpPr/>
            <p:nvPr/>
          </p:nvSpPr>
          <p:spPr>
            <a:xfrm>
              <a:off x="1614488" y="2324100"/>
              <a:ext cx="0" cy="215504"/>
            </a:xfrm>
            <a:prstGeom prst="line">
              <a:avLst/>
            </a:prstGeom>
            <a:ln w="9525" cap="flat" cmpd="sng">
              <a:solidFill>
                <a:schemeClr val="tx1"/>
              </a:solidFill>
              <a:prstDash val="solid"/>
              <a:headEnd type="none" w="med" len="med"/>
              <a:tailEnd type="none" w="med" len="med"/>
            </a:ln>
          </p:spPr>
        </p:sp>
        <p:sp>
          <p:nvSpPr>
            <p:cNvPr id="42" name="Rectangle 71"/>
            <p:cNvSpPr/>
            <p:nvPr/>
          </p:nvSpPr>
          <p:spPr>
            <a:xfrm>
              <a:off x="1265238" y="3071813"/>
              <a:ext cx="935037"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客户类别</a:t>
              </a:r>
              <a:endParaRPr lang="zh-CN" altLang="en-US" sz="1600" dirty="0">
                <a:latin typeface="Helvetica" charset="0"/>
              </a:endParaRPr>
            </a:p>
          </p:txBody>
        </p:sp>
        <p:sp>
          <p:nvSpPr>
            <p:cNvPr id="43" name="AutoShape 72"/>
            <p:cNvSpPr/>
            <p:nvPr/>
          </p:nvSpPr>
          <p:spPr>
            <a:xfrm>
              <a:off x="1050925" y="2533650"/>
              <a:ext cx="1149350"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分类</a:t>
              </a:r>
              <a:endParaRPr lang="zh-CN" altLang="en-US" sz="1600" dirty="0">
                <a:latin typeface="Helvetica" charset="0"/>
              </a:endParaRPr>
            </a:p>
          </p:txBody>
        </p:sp>
        <p:sp>
          <p:nvSpPr>
            <p:cNvPr id="44" name="Text Box 85"/>
            <p:cNvSpPr txBox="1"/>
            <p:nvPr/>
          </p:nvSpPr>
          <p:spPr>
            <a:xfrm flipH="1">
              <a:off x="1765300" y="2872978"/>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45" name="Text Box 74"/>
            <p:cNvSpPr txBox="1"/>
            <p:nvPr/>
          </p:nvSpPr>
          <p:spPr>
            <a:xfrm flipH="1">
              <a:off x="1765300" y="2337197"/>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46" name="AutoShape 72"/>
            <p:cNvSpPr/>
            <p:nvPr/>
          </p:nvSpPr>
          <p:spPr>
            <a:xfrm>
              <a:off x="4219576" y="1383506"/>
              <a:ext cx="1223963"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包含</a:t>
              </a:r>
              <a:endParaRPr lang="zh-CN" altLang="en-US" sz="1600" dirty="0">
                <a:latin typeface="Helvetica" charset="0"/>
              </a:endParaRPr>
            </a:p>
          </p:txBody>
        </p:sp>
        <p:sp>
          <p:nvSpPr>
            <p:cNvPr id="47" name="AutoShape 72"/>
            <p:cNvSpPr/>
            <p:nvPr/>
          </p:nvSpPr>
          <p:spPr>
            <a:xfrm>
              <a:off x="2490789" y="1438275"/>
              <a:ext cx="1031875"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拥有</a:t>
              </a:r>
              <a:endParaRPr lang="zh-CN" altLang="en-US" sz="1600" dirty="0">
                <a:latin typeface="Helvetica" charset="0"/>
              </a:endParaRPr>
            </a:p>
          </p:txBody>
        </p:sp>
        <p:sp>
          <p:nvSpPr>
            <p:cNvPr id="48" name="Line 59"/>
            <p:cNvSpPr/>
            <p:nvPr/>
          </p:nvSpPr>
          <p:spPr>
            <a:xfrm flipH="1">
              <a:off x="3522663" y="1066800"/>
              <a:ext cx="958850" cy="0"/>
            </a:xfrm>
            <a:prstGeom prst="line">
              <a:avLst/>
            </a:prstGeom>
            <a:ln w="9525" cap="flat" cmpd="sng">
              <a:solidFill>
                <a:schemeClr val="tx1"/>
              </a:solidFill>
              <a:prstDash val="solid"/>
              <a:headEnd type="none" w="med" len="med"/>
              <a:tailEnd type="none" w="med" len="med"/>
            </a:ln>
          </p:spPr>
        </p:sp>
        <p:sp>
          <p:nvSpPr>
            <p:cNvPr id="49" name="AutoShape 72"/>
            <p:cNvSpPr/>
            <p:nvPr/>
          </p:nvSpPr>
          <p:spPr>
            <a:xfrm>
              <a:off x="2563813" y="881062"/>
              <a:ext cx="1223962" cy="37742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对应</a:t>
              </a:r>
              <a:endParaRPr lang="zh-CN" altLang="en-US" sz="1600" dirty="0">
                <a:latin typeface="Helvetica" charset="0"/>
              </a:endParaRPr>
            </a:p>
          </p:txBody>
        </p:sp>
        <p:sp>
          <p:nvSpPr>
            <p:cNvPr id="50" name="Rectangle 71"/>
            <p:cNvSpPr/>
            <p:nvPr/>
          </p:nvSpPr>
          <p:spPr>
            <a:xfrm>
              <a:off x="4435476" y="881063"/>
              <a:ext cx="792163"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订单</a:t>
              </a:r>
              <a:endParaRPr lang="zh-CN" altLang="en-US" sz="1600" dirty="0">
                <a:latin typeface="Helvetica" charset="0"/>
              </a:endParaRPr>
            </a:p>
          </p:txBody>
        </p:sp>
        <p:sp>
          <p:nvSpPr>
            <p:cNvPr id="51" name="Text Box 39"/>
            <p:cNvSpPr txBox="1"/>
            <p:nvPr/>
          </p:nvSpPr>
          <p:spPr>
            <a:xfrm>
              <a:off x="2282825" y="1781175"/>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52" name="Text Box 69"/>
            <p:cNvSpPr txBox="1"/>
            <p:nvPr/>
          </p:nvSpPr>
          <p:spPr>
            <a:xfrm>
              <a:off x="3708401" y="1245394"/>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53" name="Rectangle 71"/>
            <p:cNvSpPr/>
            <p:nvPr/>
          </p:nvSpPr>
          <p:spPr>
            <a:xfrm>
              <a:off x="2779713" y="3226594"/>
              <a:ext cx="792162" cy="270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sz="1600" dirty="0">
                  <a:latin typeface="Helvetica" charset="0"/>
                </a:rPr>
                <a:t>购物车</a:t>
              </a:r>
              <a:endParaRPr lang="zh-CN" altLang="en-US" sz="1600" dirty="0">
                <a:latin typeface="Helvetica" charset="0"/>
              </a:endParaRPr>
            </a:p>
          </p:txBody>
        </p:sp>
        <p:sp>
          <p:nvSpPr>
            <p:cNvPr id="54" name="AutoShape 72"/>
            <p:cNvSpPr/>
            <p:nvPr/>
          </p:nvSpPr>
          <p:spPr>
            <a:xfrm>
              <a:off x="2284413" y="2557463"/>
              <a:ext cx="965200" cy="36195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属于</a:t>
              </a:r>
              <a:endParaRPr lang="zh-CN" altLang="en-US" sz="1600" dirty="0">
                <a:latin typeface="Helvetica" charset="0"/>
              </a:endParaRPr>
            </a:p>
          </p:txBody>
        </p:sp>
        <p:sp>
          <p:nvSpPr>
            <p:cNvPr id="55" name="AutoShape 72"/>
            <p:cNvSpPr/>
            <p:nvPr/>
          </p:nvSpPr>
          <p:spPr>
            <a:xfrm>
              <a:off x="3371850" y="2547938"/>
              <a:ext cx="965200" cy="361950"/>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lIns="0" tIns="0" rIns="0" bIns="0" anchor="ctr" anchorCtr="0"/>
            <a:lstStyle/>
            <a:p>
              <a:pPr algn="ctr" eaLnBrk="0" hangingPunct="0"/>
              <a:r>
                <a:rPr lang="zh-CN" altLang="en-US" sz="1600" dirty="0">
                  <a:latin typeface="Helvetica" charset="0"/>
                </a:rPr>
                <a:t>包含</a:t>
              </a:r>
              <a:endParaRPr lang="zh-CN" altLang="en-US" sz="1600" dirty="0">
                <a:latin typeface="Helvetica" charset="0"/>
              </a:endParaRPr>
            </a:p>
          </p:txBody>
        </p:sp>
        <p:sp>
          <p:nvSpPr>
            <p:cNvPr id="56" name="Line 63"/>
            <p:cNvSpPr/>
            <p:nvPr/>
          </p:nvSpPr>
          <p:spPr>
            <a:xfrm flipH="1" flipV="1">
              <a:off x="2187575" y="2324100"/>
              <a:ext cx="579438" cy="233363"/>
            </a:xfrm>
            <a:prstGeom prst="line">
              <a:avLst/>
            </a:prstGeom>
            <a:ln w="9525" cap="flat" cmpd="sng">
              <a:solidFill>
                <a:schemeClr val="tx1"/>
              </a:solidFill>
              <a:prstDash val="solid"/>
              <a:headEnd type="none" w="med" len="med"/>
              <a:tailEnd type="none" w="med" len="med"/>
            </a:ln>
          </p:spPr>
        </p:sp>
        <p:sp>
          <p:nvSpPr>
            <p:cNvPr id="57" name="Line 63"/>
            <p:cNvSpPr/>
            <p:nvPr/>
          </p:nvSpPr>
          <p:spPr>
            <a:xfrm flipH="1" flipV="1">
              <a:off x="2735263" y="2902744"/>
              <a:ext cx="271462" cy="323850"/>
            </a:xfrm>
            <a:prstGeom prst="line">
              <a:avLst/>
            </a:prstGeom>
            <a:ln w="9525" cap="flat" cmpd="sng">
              <a:solidFill>
                <a:schemeClr val="tx1"/>
              </a:solidFill>
              <a:prstDash val="solid"/>
              <a:headEnd type="none" w="med" len="med"/>
              <a:tailEnd type="none" w="med" len="med"/>
            </a:ln>
          </p:spPr>
        </p:sp>
        <p:sp>
          <p:nvSpPr>
            <p:cNvPr id="58" name="Line 63"/>
            <p:cNvSpPr/>
            <p:nvPr/>
          </p:nvSpPr>
          <p:spPr>
            <a:xfrm flipH="1">
              <a:off x="3862389" y="2325291"/>
              <a:ext cx="712787" cy="244078"/>
            </a:xfrm>
            <a:prstGeom prst="line">
              <a:avLst/>
            </a:prstGeom>
            <a:ln w="9525" cap="flat" cmpd="sng">
              <a:solidFill>
                <a:schemeClr val="tx1"/>
              </a:solidFill>
              <a:prstDash val="solid"/>
              <a:headEnd type="none" w="med" len="med"/>
              <a:tailEnd type="none" w="med" len="med"/>
            </a:ln>
          </p:spPr>
        </p:sp>
        <p:sp>
          <p:nvSpPr>
            <p:cNvPr id="59" name="Line 63"/>
            <p:cNvSpPr/>
            <p:nvPr/>
          </p:nvSpPr>
          <p:spPr>
            <a:xfrm flipH="1">
              <a:off x="3557589" y="2902744"/>
              <a:ext cx="295275" cy="323850"/>
            </a:xfrm>
            <a:prstGeom prst="line">
              <a:avLst/>
            </a:prstGeom>
            <a:ln w="9525" cap="flat" cmpd="sng">
              <a:solidFill>
                <a:schemeClr val="tx1"/>
              </a:solidFill>
              <a:prstDash val="solid"/>
              <a:headEnd type="none" w="med" len="med"/>
              <a:tailEnd type="none" w="med" len="med"/>
            </a:ln>
          </p:spPr>
        </p:sp>
        <p:sp>
          <p:nvSpPr>
            <p:cNvPr id="60" name="Text Box 39"/>
            <p:cNvSpPr txBox="1"/>
            <p:nvPr/>
          </p:nvSpPr>
          <p:spPr>
            <a:xfrm>
              <a:off x="2276475" y="2355056"/>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61" name="Text Box 39"/>
            <p:cNvSpPr txBox="1"/>
            <p:nvPr/>
          </p:nvSpPr>
          <p:spPr>
            <a:xfrm>
              <a:off x="2627314" y="2938462"/>
              <a:ext cx="287337"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1</a:t>
              </a:r>
              <a:endParaRPr lang="en-US" altLang="zh-CN" sz="1600" dirty="0">
                <a:latin typeface="Helvetica" charset="0"/>
              </a:endParaRPr>
            </a:p>
          </p:txBody>
        </p:sp>
        <p:sp>
          <p:nvSpPr>
            <p:cNvPr id="62" name="Text Box 39"/>
            <p:cNvSpPr txBox="1"/>
            <p:nvPr/>
          </p:nvSpPr>
          <p:spPr>
            <a:xfrm>
              <a:off x="4098925" y="2390775"/>
              <a:ext cx="287338"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m</a:t>
              </a:r>
              <a:endParaRPr lang="en-US" altLang="zh-CN" sz="1600" dirty="0">
                <a:latin typeface="Helvetica" charset="0"/>
              </a:endParaRPr>
            </a:p>
          </p:txBody>
        </p:sp>
        <p:sp>
          <p:nvSpPr>
            <p:cNvPr id="63" name="Text Box 68"/>
            <p:cNvSpPr txBox="1"/>
            <p:nvPr/>
          </p:nvSpPr>
          <p:spPr>
            <a:xfrm>
              <a:off x="3598864" y="3007519"/>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n</a:t>
              </a:r>
              <a:endParaRPr lang="en-US" altLang="zh-CN" sz="1600" dirty="0">
                <a:latin typeface="Helvetica" charset="0"/>
              </a:endParaRPr>
            </a:p>
          </p:txBody>
        </p:sp>
        <p:sp>
          <p:nvSpPr>
            <p:cNvPr id="64" name="Line 62"/>
            <p:cNvSpPr/>
            <p:nvPr/>
          </p:nvSpPr>
          <p:spPr>
            <a:xfrm flipV="1">
              <a:off x="3286761" y="1151573"/>
              <a:ext cx="1386205" cy="843915"/>
            </a:xfrm>
            <a:prstGeom prst="line">
              <a:avLst/>
            </a:prstGeom>
            <a:ln w="9525" cap="flat" cmpd="sng">
              <a:solidFill>
                <a:schemeClr val="tx1"/>
              </a:solidFill>
              <a:prstDash val="solid"/>
              <a:headEnd type="none" w="med" len="med"/>
              <a:tailEnd type="none" w="med" len="med"/>
            </a:ln>
          </p:spPr>
        </p:sp>
        <p:sp>
          <p:nvSpPr>
            <p:cNvPr id="65" name="Text Box 69"/>
            <p:cNvSpPr txBox="1"/>
            <p:nvPr/>
          </p:nvSpPr>
          <p:spPr>
            <a:xfrm>
              <a:off x="3708401" y="1618298"/>
              <a:ext cx="288925" cy="338554"/>
            </a:xfrm>
            <a:prstGeom prst="rect">
              <a:avLst/>
            </a:prstGeom>
            <a:noFill/>
            <a:ln w="9525">
              <a:noFill/>
            </a:ln>
          </p:spPr>
          <p:txBody>
            <a:bodyPr>
              <a:spAutoFit/>
            </a:bodyPr>
            <a:lstStyle/>
            <a:p>
              <a:pPr eaLnBrk="0" hangingPunct="0">
                <a:spcBef>
                  <a:spcPct val="50000"/>
                </a:spcBef>
              </a:pPr>
              <a:r>
                <a:rPr lang="en-US" altLang="zh-CN" sz="1600" dirty="0">
                  <a:latin typeface="Helvetica" charset="0"/>
                </a:rPr>
                <a:t>p</a:t>
              </a:r>
              <a:endParaRPr lang="en-US" altLang="zh-CN" sz="1600" dirty="0">
                <a:latin typeface="Helvetica" charset="0"/>
              </a:endParaRPr>
            </a:p>
          </p:txBody>
        </p:sp>
      </p:grpSp>
      <p:sp>
        <p:nvSpPr>
          <p:cNvPr id="66" name="标题 1"/>
          <p:cNvSpPr txBox="1"/>
          <p:nvPr/>
        </p:nvSpPr>
        <p:spPr>
          <a:xfrm>
            <a:off x="762000" y="214313"/>
            <a:ext cx="10668000" cy="735012"/>
          </a:xfrm>
          <a:prstGeom prst="rect">
            <a:avLst/>
          </a:prstGeom>
        </p:spPr>
        <p:txBody>
          <a:bodyPr vert="horz" wrap="square" lIns="91440" tIns="45720" rIns="91440" bIns="45720" anchor="b" anchorCtr="0"/>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dirty="0" smtClean="0"/>
              <a:t>购物系统示例</a:t>
            </a:r>
            <a:endParaRPr lang="zh-CN" altLang="en-US" dirty="0"/>
          </a:p>
        </p:txBody>
      </p:sp>
    </p:spTree>
  </p:cSld>
  <p:clrMapOvr>
    <a:masterClrMapping/>
  </p:clrMapOvr>
  <p:transition advClick="0"/>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p:cNvSpPr>
            <a:spLocks noGrp="1"/>
          </p:cNvSpPr>
          <p:nvPr>
            <p:ph type="title"/>
          </p:nvPr>
        </p:nvSpPr>
        <p:spPr/>
        <p:txBody>
          <a:bodyPr vert="horz" wrap="square" lIns="91440" tIns="45720" rIns="91440" bIns="45720" anchor="b" anchorCtr="0"/>
          <a:lstStyle/>
          <a:p>
            <a:r>
              <a:rPr lang="en-US" altLang="zh-CN" dirty="0"/>
              <a:t>7.4 </a:t>
            </a:r>
            <a:r>
              <a:rPr lang="zh-CN" altLang="en-US" dirty="0"/>
              <a:t>逻辑结构设计</a:t>
            </a:r>
            <a:endParaRPr lang="zh-CN" altLang="en-US" dirty="0"/>
          </a:p>
        </p:txBody>
      </p:sp>
      <p:sp>
        <p:nvSpPr>
          <p:cNvPr id="112642" name="内容占位符 2"/>
          <p:cNvSpPr>
            <a:spLocks noGrp="1"/>
          </p:cNvSpPr>
          <p:nvPr>
            <p:ph idx="1"/>
          </p:nvPr>
        </p:nvSpPr>
        <p:spPr/>
        <p:txBody>
          <a:bodyPr vert="horz" wrap="square" lIns="91440" tIns="45720" rIns="91440" bIns="45720" anchor="t" anchorCtr="0"/>
          <a:lstStyle/>
          <a:p>
            <a:r>
              <a:rPr lang="en-US" altLang="zh-CN" dirty="0"/>
              <a:t>7.4.1 E-R</a:t>
            </a:r>
            <a:r>
              <a:rPr lang="zh-CN" altLang="en-US" dirty="0"/>
              <a:t>图向关系模型的转换</a:t>
            </a:r>
            <a:endParaRPr lang="en-US" altLang="zh-CN" dirty="0"/>
          </a:p>
          <a:p>
            <a:r>
              <a:rPr lang="en-US" altLang="zh-CN" dirty="0"/>
              <a:t>7.4.2 </a:t>
            </a:r>
            <a:r>
              <a:rPr lang="zh-CN" altLang="en-US" dirty="0"/>
              <a:t>数据模型的优化</a:t>
            </a:r>
            <a:endParaRPr lang="en-US" altLang="zh-CN" dirty="0"/>
          </a:p>
          <a:p>
            <a:r>
              <a:rPr lang="en-US" altLang="zh-CN" b="1" dirty="0">
                <a:solidFill>
                  <a:srgbClr val="FF0000"/>
                </a:solidFill>
              </a:rPr>
              <a:t>7.4.3 </a:t>
            </a:r>
            <a:r>
              <a:rPr lang="zh-CN" altLang="en-US" b="1" dirty="0">
                <a:solidFill>
                  <a:srgbClr val="FF0000"/>
                </a:solidFill>
              </a:rPr>
              <a:t>设计用户子模式</a:t>
            </a:r>
            <a:endParaRPr lang="zh-CN" altLang="en-US" b="1" dirty="0">
              <a:solidFill>
                <a:srgbClr val="FF0000"/>
              </a:solidFill>
            </a:endParaRPr>
          </a:p>
          <a:p>
            <a:endParaRPr lang="zh-CN" altLang="en-US" dirty="0"/>
          </a:p>
        </p:txBody>
      </p:sp>
    </p:spTree>
  </p:cSld>
  <p:clrMapOvr>
    <a:masterClrMapping/>
  </p:clrMapOvr>
  <p:transition advClick="0"/>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内容占位符 2"/>
          <p:cNvSpPr>
            <a:spLocks noGrp="1"/>
          </p:cNvSpPr>
          <p:nvPr>
            <p:ph idx="1"/>
          </p:nvPr>
        </p:nvSpPr>
        <p:spPr>
          <a:xfrm>
            <a:off x="701040" y="1196340"/>
            <a:ext cx="10643235" cy="5066665"/>
          </a:xfrm>
        </p:spPr>
        <p:txBody>
          <a:bodyPr vert="horz" wrap="square" lIns="91440" tIns="45720" rIns="91440" bIns="45720" anchor="t" anchorCtr="0"/>
          <a:lstStyle/>
          <a:p>
            <a:r>
              <a:rPr lang="zh-CN" altLang="en-US" sz="2800" dirty="0"/>
              <a:t>定义数据库模式主要是从系统的</a:t>
            </a:r>
            <a:r>
              <a:rPr lang="zh-CN" altLang="en-US" sz="2800" b="1" dirty="0">
                <a:solidFill>
                  <a:srgbClr val="FF0000"/>
                </a:solidFill>
              </a:rPr>
              <a:t>时间效率、空间效率、易维护</a:t>
            </a:r>
            <a:r>
              <a:rPr lang="zh-CN" altLang="en-US" sz="2800" dirty="0"/>
              <a:t>等角度出发。</a:t>
            </a:r>
            <a:endParaRPr lang="en-US" altLang="zh-CN" sz="2800" dirty="0"/>
          </a:p>
          <a:p>
            <a:r>
              <a:rPr lang="zh-CN" altLang="en-US" sz="2800" dirty="0"/>
              <a:t> 定义用户</a:t>
            </a:r>
            <a:r>
              <a:rPr lang="zh-CN" altLang="en-US" sz="2800" b="1" dirty="0">
                <a:solidFill>
                  <a:srgbClr val="FF0000"/>
                </a:solidFill>
              </a:rPr>
              <a:t>外模式</a:t>
            </a:r>
            <a:r>
              <a:rPr lang="zh-CN" altLang="en-US" sz="2800" dirty="0"/>
              <a:t>时应该更注重考虑用户的习惯与方便。包括三个方面：</a:t>
            </a:r>
            <a:endParaRPr lang="en-US" altLang="zh-CN" sz="2800" dirty="0"/>
          </a:p>
          <a:p>
            <a:r>
              <a:rPr lang="zh-CN" altLang="en-US" sz="2400" dirty="0"/>
              <a:t>（</a:t>
            </a:r>
            <a:r>
              <a:rPr lang="en-US" altLang="zh-CN" sz="2400" dirty="0"/>
              <a:t>1</a:t>
            </a:r>
            <a:r>
              <a:rPr lang="zh-CN" altLang="en-US" sz="2400" dirty="0"/>
              <a:t>）使用更符合用户习惯的别名：用</a:t>
            </a:r>
            <a:r>
              <a:rPr lang="zh-CN" altLang="en-US" sz="2400" b="1" dirty="0">
                <a:solidFill>
                  <a:srgbClr val="FF0000"/>
                </a:solidFill>
              </a:rPr>
              <a:t>视图</a:t>
            </a:r>
            <a:r>
              <a:rPr lang="zh-CN" altLang="en-US" sz="2400" dirty="0"/>
              <a:t>机制可以在设计用户视图时可以重新定义某些属性名，使其与用户习惯一致，以方便使用。</a:t>
            </a:r>
            <a:endParaRPr lang="en-US" altLang="zh-CN" sz="2400" dirty="0"/>
          </a:p>
          <a:p>
            <a:r>
              <a:rPr lang="zh-CN" altLang="en-US" sz="2400" dirty="0"/>
              <a:t>（</a:t>
            </a:r>
            <a:r>
              <a:rPr lang="en-US" altLang="zh-CN" sz="2400" dirty="0"/>
              <a:t>2</a:t>
            </a:r>
            <a:r>
              <a:rPr lang="zh-CN" altLang="en-US" sz="2400" dirty="0"/>
              <a:t>）针对不同级别的用户定义不同的视图，以保证系统的安全性。</a:t>
            </a:r>
            <a:endParaRPr lang="en-US" altLang="zh-CN" sz="2400" dirty="0"/>
          </a:p>
          <a:p>
            <a:r>
              <a:rPr lang="zh-CN" altLang="en-US" sz="2400" dirty="0"/>
              <a:t>（</a:t>
            </a:r>
            <a:r>
              <a:rPr lang="en-US" altLang="zh-CN" sz="2400" dirty="0"/>
              <a:t>3</a:t>
            </a:r>
            <a:r>
              <a:rPr lang="zh-CN" altLang="en-US" sz="2400" dirty="0"/>
              <a:t>）简化用户对系统的使用 如果某些局部应用中经常要使用某些很复杂的查询，为了方便用户，可以将这些复杂查询定义为视图。</a:t>
            </a:r>
            <a:endParaRPr lang="zh-CN" altLang="en-US" sz="2400" dirty="0"/>
          </a:p>
        </p:txBody>
      </p:sp>
      <p:sp>
        <p:nvSpPr>
          <p:cNvPr id="113666" name="标题 1"/>
          <p:cNvSpPr>
            <a:spLocks noGrp="1"/>
          </p:cNvSpPr>
          <p:nvPr>
            <p:ph type="title"/>
          </p:nvPr>
        </p:nvSpPr>
        <p:spPr/>
        <p:txBody>
          <a:bodyPr vert="horz" wrap="square" lIns="91440" tIns="45720" rIns="91440" bIns="45720" anchor="b" anchorCtr="0"/>
          <a:lstStyle/>
          <a:p>
            <a:r>
              <a:rPr lang="en-US" altLang="zh-CN" b="1" dirty="0">
                <a:solidFill>
                  <a:srgbClr val="FF0000"/>
                </a:solidFill>
              </a:rPr>
              <a:t>7.4.3 </a:t>
            </a:r>
            <a:r>
              <a:rPr lang="zh-CN" altLang="en-US" b="1" dirty="0">
                <a:solidFill>
                  <a:srgbClr val="FF0000"/>
                </a:solidFill>
              </a:rPr>
              <a:t>设计用户子模式</a:t>
            </a:r>
            <a:endParaRPr lang="zh-CN" altLang="en-US" b="1" dirty="0">
              <a:solidFill>
                <a:srgbClr val="FF0000"/>
              </a:solidFill>
            </a:endParaRPr>
          </a:p>
        </p:txBody>
      </p:sp>
    </p:spTree>
  </p:cSld>
  <p:clrMapOvr>
    <a:masterClrMapping/>
  </p:clrMapOvr>
  <p:transition advClick="0"/>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1"/>
          <p:cNvSpPr>
            <a:spLocks noGrp="1"/>
          </p:cNvSpPr>
          <p:nvPr>
            <p:ph type="title"/>
          </p:nvPr>
        </p:nvSpPr>
        <p:spPr/>
        <p:txBody>
          <a:bodyPr vert="horz" wrap="square" lIns="91440" tIns="45720" rIns="91440" bIns="45720" anchor="b" anchorCtr="0"/>
          <a:lstStyle/>
          <a:p>
            <a:r>
              <a:rPr lang="zh-CN" altLang="en-US" dirty="0"/>
              <a:t>第七章 数据库设计</a:t>
            </a:r>
            <a:endParaRPr lang="zh-CN" altLang="en-US" dirty="0"/>
          </a:p>
        </p:txBody>
      </p:sp>
      <p:sp>
        <p:nvSpPr>
          <p:cNvPr id="114690" name="内容占位符 2"/>
          <p:cNvSpPr>
            <a:spLocks noGrp="1"/>
          </p:cNvSpPr>
          <p:nvPr>
            <p:ph idx="1"/>
          </p:nvPr>
        </p:nvSpPr>
        <p:spPr/>
        <p:txBody>
          <a:bodyPr vert="horz" wrap="square" lIns="91440" tIns="45720" rIns="91440" bIns="45720" anchor="t" anchorCtr="0"/>
          <a:lstStyle/>
          <a:p>
            <a:r>
              <a:rPr lang="en-US" altLang="zh-CN" dirty="0"/>
              <a:t>7.1 </a:t>
            </a:r>
            <a:r>
              <a:rPr lang="zh-CN" altLang="en-US" dirty="0"/>
              <a:t>数据库设计概述</a:t>
            </a:r>
            <a:endParaRPr lang="en-US" altLang="zh-CN" dirty="0"/>
          </a:p>
          <a:p>
            <a:r>
              <a:rPr lang="en-US" altLang="zh-CN" dirty="0"/>
              <a:t>7.2 </a:t>
            </a:r>
            <a:r>
              <a:rPr lang="zh-CN" altLang="en-US" dirty="0"/>
              <a:t>需求分析</a:t>
            </a:r>
            <a:endParaRPr lang="en-US" altLang="zh-CN" dirty="0"/>
          </a:p>
          <a:p>
            <a:r>
              <a:rPr lang="en-US" altLang="zh-CN" dirty="0"/>
              <a:t>7.3 </a:t>
            </a:r>
            <a:r>
              <a:rPr lang="zh-CN" altLang="en-US" dirty="0"/>
              <a:t>概念结构设计</a:t>
            </a:r>
            <a:endParaRPr lang="en-US" altLang="zh-CN" dirty="0"/>
          </a:p>
          <a:p>
            <a:r>
              <a:rPr lang="en-US" altLang="zh-CN" dirty="0"/>
              <a:t>7.4 </a:t>
            </a:r>
            <a:r>
              <a:rPr lang="zh-CN" altLang="en-US" dirty="0"/>
              <a:t>逻辑结构设计</a:t>
            </a:r>
            <a:endParaRPr lang="en-US" altLang="zh-CN" dirty="0"/>
          </a:p>
          <a:p>
            <a:r>
              <a:rPr lang="en-US" altLang="zh-CN" b="1" dirty="0">
                <a:solidFill>
                  <a:srgbClr val="FF0000"/>
                </a:solidFill>
              </a:rPr>
              <a:t>7.5 </a:t>
            </a:r>
            <a:r>
              <a:rPr lang="zh-CN" altLang="en-US" b="1" dirty="0">
                <a:solidFill>
                  <a:srgbClr val="FF0000"/>
                </a:solidFill>
              </a:rPr>
              <a:t>物理结构设计（不讲）</a:t>
            </a:r>
            <a:endParaRPr lang="en-US" altLang="zh-CN" b="1" dirty="0">
              <a:solidFill>
                <a:srgbClr val="FF0000"/>
              </a:solidFill>
            </a:endParaRPr>
          </a:p>
          <a:p>
            <a:r>
              <a:rPr lang="en-US" altLang="zh-CN" dirty="0"/>
              <a:t>7.6 </a:t>
            </a:r>
            <a:r>
              <a:rPr lang="zh-CN" altLang="en-US" dirty="0"/>
              <a:t>数据库的实施和维护</a:t>
            </a:r>
            <a:r>
              <a:rPr lang="zh-CN" altLang="en-US" b="1" dirty="0">
                <a:solidFill>
                  <a:srgbClr val="FF0000"/>
                </a:solidFill>
                <a:sym typeface="+mn-ea"/>
              </a:rPr>
              <a:t>（不讲）</a:t>
            </a:r>
            <a:endParaRPr lang="en-US" altLang="zh-CN" b="1" dirty="0">
              <a:solidFill>
                <a:srgbClr val="FF0000"/>
              </a:solidFill>
            </a:endParaRPr>
          </a:p>
          <a:p>
            <a:endParaRPr lang="zh-CN" altLang="en-US" dirty="0"/>
          </a:p>
        </p:txBody>
      </p:sp>
    </p:spTree>
  </p:cSld>
  <p:clrMapOvr>
    <a:masterClrMapping/>
  </p:clrMapOvr>
  <p:transition advClick="0"/>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p:cNvSpPr>
          <p:nvPr>
            <p:ph type="title"/>
          </p:nvPr>
        </p:nvSpPr>
        <p:spPr/>
        <p:txBody>
          <a:bodyPr vert="horz" wrap="square" lIns="91440" tIns="45720" rIns="91440" bIns="45720" anchor="b" anchorCtr="0"/>
          <a:lstStyle/>
          <a:p>
            <a:r>
              <a:rPr lang="zh-CN" altLang="en-US" dirty="0"/>
              <a:t>什么是数据库的物理设计 </a:t>
            </a:r>
            <a:endParaRPr lang="zh-CN" altLang="en-US" dirty="0"/>
          </a:p>
        </p:txBody>
      </p:sp>
      <p:sp>
        <p:nvSpPr>
          <p:cNvPr id="115714" name="内容占位符 2"/>
          <p:cNvSpPr>
            <a:spLocks noGrp="1"/>
          </p:cNvSpPr>
          <p:nvPr>
            <p:ph idx="1"/>
          </p:nvPr>
        </p:nvSpPr>
        <p:spPr/>
        <p:txBody>
          <a:bodyPr vert="horz" wrap="square" lIns="91440" tIns="45720" rIns="91440" bIns="45720" anchor="t" anchorCtr="0"/>
          <a:lstStyle/>
          <a:p>
            <a:r>
              <a:rPr lang="zh-CN" altLang="en-US" dirty="0"/>
              <a:t>数据库在物理设备上的</a:t>
            </a:r>
            <a:r>
              <a:rPr lang="zh-CN" altLang="en-US" b="1" dirty="0">
                <a:solidFill>
                  <a:srgbClr val="FF0000"/>
                </a:solidFill>
              </a:rPr>
              <a:t>存储结构</a:t>
            </a:r>
            <a:r>
              <a:rPr lang="zh-CN" altLang="en-US" dirty="0"/>
              <a:t>与</a:t>
            </a:r>
            <a:r>
              <a:rPr lang="zh-CN" altLang="en-US" b="1" dirty="0">
                <a:solidFill>
                  <a:srgbClr val="FF0000"/>
                </a:solidFill>
              </a:rPr>
              <a:t>存取方法</a:t>
            </a:r>
            <a:r>
              <a:rPr lang="zh-CN" altLang="en-US" dirty="0"/>
              <a:t>称为数据库的物理结构，它依赖于选定的数据库管理系统。 </a:t>
            </a:r>
            <a:endParaRPr lang="en-US" altLang="zh-CN" dirty="0"/>
          </a:p>
          <a:p>
            <a:r>
              <a:rPr lang="zh-CN" altLang="en-US" dirty="0"/>
              <a:t>为一个给定的逻辑数据模型选取一个最适合应用要求的物理结构的过程，就是数据库的物理设计。</a:t>
            </a:r>
            <a:endParaRPr lang="zh-CN" altLang="en-US" dirty="0"/>
          </a:p>
        </p:txBody>
      </p:sp>
    </p:spTree>
  </p:cSld>
  <p:clrMapOvr>
    <a:masterClrMapping/>
  </p:clrMapOvr>
  <p:transition advClick="0"/>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1"/>
          <p:cNvSpPr>
            <a:spLocks noGrp="1"/>
          </p:cNvSpPr>
          <p:nvPr>
            <p:ph type="title"/>
          </p:nvPr>
        </p:nvSpPr>
        <p:spPr/>
        <p:txBody>
          <a:bodyPr vert="horz" wrap="square" lIns="91440" tIns="45720" rIns="91440" bIns="45720" anchor="b" anchorCtr="0"/>
          <a:lstStyle/>
          <a:p>
            <a:r>
              <a:rPr lang="zh-CN" altLang="en-US" dirty="0"/>
              <a:t>数据库物理设计的步骤  </a:t>
            </a:r>
            <a:endParaRPr lang="zh-CN" altLang="en-US" dirty="0"/>
          </a:p>
        </p:txBody>
      </p:sp>
      <p:sp>
        <p:nvSpPr>
          <p:cNvPr id="116738" name="内容占位符 2"/>
          <p:cNvSpPr>
            <a:spLocks noGrp="1"/>
          </p:cNvSpPr>
          <p:nvPr>
            <p:ph idx="1"/>
          </p:nvPr>
        </p:nvSpPr>
        <p:spPr/>
        <p:txBody>
          <a:bodyPr vert="horz" wrap="square" lIns="91440" tIns="45720" rIns="91440" bIns="45720" anchor="t" anchorCtr="0"/>
          <a:lstStyle/>
          <a:p>
            <a:r>
              <a:rPr lang="zh-CN" altLang="en-US" dirty="0"/>
              <a:t>（</a:t>
            </a:r>
            <a:r>
              <a:rPr lang="en-US" altLang="zh-CN" dirty="0"/>
              <a:t>1</a:t>
            </a:r>
            <a:r>
              <a:rPr lang="zh-CN" altLang="en-US" dirty="0"/>
              <a:t>）确定数据库的物理结构 在关系数据库中主要指</a:t>
            </a:r>
            <a:r>
              <a:rPr lang="zh-CN" altLang="en-US" b="1" dirty="0">
                <a:solidFill>
                  <a:srgbClr val="FF0000"/>
                </a:solidFill>
              </a:rPr>
              <a:t>存取方法</a:t>
            </a:r>
            <a:r>
              <a:rPr lang="zh-CN" altLang="en-US" dirty="0"/>
              <a:t>和</a:t>
            </a:r>
            <a:r>
              <a:rPr lang="zh-CN" altLang="en-US" b="1" dirty="0">
                <a:solidFill>
                  <a:srgbClr val="FF0000"/>
                </a:solidFill>
              </a:rPr>
              <a:t>存储结构</a:t>
            </a:r>
            <a:endParaRPr lang="en-US" altLang="zh-CN" dirty="0">
              <a:solidFill>
                <a:srgbClr val="FF0000"/>
              </a:solidFill>
            </a:endParaRPr>
          </a:p>
          <a:p>
            <a:r>
              <a:rPr lang="zh-CN" altLang="en-US" dirty="0"/>
              <a:t>（</a:t>
            </a:r>
            <a:r>
              <a:rPr lang="en-US" altLang="zh-CN" dirty="0"/>
              <a:t>2</a:t>
            </a:r>
            <a:r>
              <a:rPr lang="zh-CN" altLang="en-US" dirty="0"/>
              <a:t>）对物理结构进行评价 评价的重点是</a:t>
            </a:r>
            <a:r>
              <a:rPr lang="zh-CN" altLang="en-US" b="1" dirty="0">
                <a:solidFill>
                  <a:srgbClr val="FF0000"/>
                </a:solidFill>
              </a:rPr>
              <a:t>时间和空间效率</a:t>
            </a:r>
            <a:r>
              <a:rPr lang="zh-CN" altLang="en-US" dirty="0"/>
              <a:t>  </a:t>
            </a:r>
            <a:endParaRPr lang="en-US" altLang="zh-CN" dirty="0"/>
          </a:p>
          <a:p>
            <a:r>
              <a:rPr lang="zh-CN" altLang="en-US" dirty="0"/>
              <a:t>若评价结果满足原设计要求，则可进入到物理实施阶段。否则，就需要</a:t>
            </a:r>
            <a:r>
              <a:rPr lang="zh-CN" altLang="en-US" dirty="0">
                <a:solidFill>
                  <a:srgbClr val="FF0000"/>
                </a:solidFill>
              </a:rPr>
              <a:t>重新设计或修改物理结构</a:t>
            </a:r>
            <a:r>
              <a:rPr lang="zh-CN" altLang="en-US" dirty="0"/>
              <a:t>，有时甚至要</a:t>
            </a:r>
            <a:r>
              <a:rPr lang="zh-CN" altLang="en-US" dirty="0">
                <a:solidFill>
                  <a:srgbClr val="FF0000"/>
                </a:solidFill>
              </a:rPr>
              <a:t>返回逻辑设计阶段</a:t>
            </a:r>
            <a:r>
              <a:rPr lang="zh-CN" altLang="en-US" dirty="0"/>
              <a:t>修改数据模型。</a:t>
            </a:r>
            <a:endParaRPr lang="zh-CN" altLang="en-US" dirty="0"/>
          </a:p>
        </p:txBody>
      </p:sp>
    </p:spTree>
  </p:cSld>
  <p:clrMapOvr>
    <a:masterClrMapping/>
  </p:clrMapOvr>
  <p:transition advClick="0"/>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p:cNvSpPr>
          <p:nvPr>
            <p:ph type="title"/>
          </p:nvPr>
        </p:nvSpPr>
        <p:spPr/>
        <p:txBody>
          <a:bodyPr vert="horz" wrap="square" lIns="91440" tIns="45720" rIns="91440" bIns="45720" anchor="b" anchorCtr="0"/>
          <a:lstStyle/>
          <a:p>
            <a:r>
              <a:rPr lang="zh-CN" altLang="en-US" dirty="0"/>
              <a:t>存取方法</a:t>
            </a:r>
            <a:endParaRPr lang="zh-CN" altLang="en-US" dirty="0"/>
          </a:p>
        </p:txBody>
      </p:sp>
      <p:sp>
        <p:nvSpPr>
          <p:cNvPr id="117762" name="内容占位符 2"/>
          <p:cNvSpPr>
            <a:spLocks noGrp="1"/>
          </p:cNvSpPr>
          <p:nvPr>
            <p:ph idx="1"/>
          </p:nvPr>
        </p:nvSpPr>
        <p:spPr/>
        <p:txBody>
          <a:bodyPr vert="horz" wrap="square" lIns="91440" tIns="45720" rIns="91440" bIns="45720" anchor="t" anchorCtr="0"/>
          <a:lstStyle/>
          <a:p>
            <a:r>
              <a:rPr lang="zh-CN" altLang="en-US" dirty="0"/>
              <a:t>存取方法是快速存取数据库中数据的技术。常用的方法：</a:t>
            </a:r>
            <a:r>
              <a:rPr lang="zh-CN" altLang="en-US" dirty="0">
                <a:solidFill>
                  <a:srgbClr val="FF0000"/>
                </a:solidFill>
              </a:rPr>
              <a:t>索引和聚簇</a:t>
            </a:r>
            <a:endParaRPr lang="en-US" altLang="zh-CN" dirty="0">
              <a:solidFill>
                <a:srgbClr val="FF0000"/>
              </a:solidFill>
            </a:endParaRPr>
          </a:p>
          <a:p>
            <a:r>
              <a:rPr lang="zh-CN" altLang="en-US" dirty="0"/>
              <a:t>数据库管理系统常用存取方法</a:t>
            </a:r>
            <a:endParaRPr lang="en-US" altLang="zh-CN" dirty="0"/>
          </a:p>
          <a:p>
            <a:r>
              <a:rPr lang="en-US" altLang="zh-CN" dirty="0"/>
              <a:t>1. B+</a:t>
            </a:r>
            <a:r>
              <a:rPr lang="zh-CN" altLang="en-US" dirty="0"/>
              <a:t>树索引存取方法</a:t>
            </a:r>
            <a:endParaRPr lang="en-US" altLang="zh-CN" dirty="0"/>
          </a:p>
          <a:p>
            <a:r>
              <a:rPr lang="en-US" altLang="zh-CN" dirty="0"/>
              <a:t>2. Hash</a:t>
            </a:r>
            <a:r>
              <a:rPr lang="zh-CN" altLang="en-US" dirty="0"/>
              <a:t>索引存取方法</a:t>
            </a:r>
            <a:endParaRPr lang="en-US" altLang="zh-CN" dirty="0"/>
          </a:p>
          <a:p>
            <a:r>
              <a:rPr lang="en-US" altLang="zh-CN" dirty="0"/>
              <a:t>3. </a:t>
            </a:r>
            <a:r>
              <a:rPr lang="zh-CN" altLang="en-US" dirty="0"/>
              <a:t>聚簇存取方法</a:t>
            </a:r>
            <a:endParaRPr lang="en-US" altLang="zh-CN" dirty="0"/>
          </a:p>
          <a:p>
            <a:endParaRPr lang="zh-CN" altLang="en-US" dirty="0"/>
          </a:p>
        </p:txBody>
      </p:sp>
    </p:spTree>
  </p:cSld>
  <p:clrMapOvr>
    <a:masterClrMapping/>
  </p:clrMapOvr>
  <p:transition advClick="0"/>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标题 1"/>
          <p:cNvSpPr>
            <a:spLocks noGrp="1"/>
          </p:cNvSpPr>
          <p:nvPr>
            <p:ph type="title"/>
          </p:nvPr>
        </p:nvSpPr>
        <p:spPr/>
        <p:txBody>
          <a:bodyPr vert="horz" wrap="square" lIns="91440" tIns="45720" rIns="91440" bIns="45720" anchor="b" anchorCtr="0"/>
          <a:lstStyle/>
          <a:p>
            <a:r>
              <a:rPr lang="zh-CN" altLang="en-US" dirty="0"/>
              <a:t>存放位置和存储结构</a:t>
            </a:r>
            <a:endParaRPr lang="zh-CN" altLang="en-US" dirty="0"/>
          </a:p>
        </p:txBody>
      </p:sp>
      <p:sp>
        <p:nvSpPr>
          <p:cNvPr id="118786" name="内容占位符 2"/>
          <p:cNvSpPr>
            <a:spLocks noGrp="1"/>
          </p:cNvSpPr>
          <p:nvPr>
            <p:ph idx="1"/>
          </p:nvPr>
        </p:nvSpPr>
        <p:spPr/>
        <p:txBody>
          <a:bodyPr vert="horz" wrap="square" lIns="91440" tIns="45720" rIns="91440" bIns="45720" anchor="t" anchorCtr="0"/>
          <a:lstStyle/>
          <a:p>
            <a:r>
              <a:rPr lang="zh-CN" altLang="en-US" dirty="0"/>
              <a:t>确定数据库</a:t>
            </a:r>
            <a:r>
              <a:rPr lang="zh-CN" altLang="en-US" b="1" dirty="0">
                <a:solidFill>
                  <a:srgbClr val="FF0000"/>
                </a:solidFill>
              </a:rPr>
              <a:t>物理结构</a:t>
            </a:r>
            <a:r>
              <a:rPr lang="zh-CN" altLang="en-US" dirty="0"/>
              <a:t>主要指确定数据的</a:t>
            </a:r>
            <a:r>
              <a:rPr lang="zh-CN" altLang="en-US" b="1" dirty="0">
                <a:solidFill>
                  <a:srgbClr val="FF0000"/>
                </a:solidFill>
              </a:rPr>
              <a:t>存放位置和存储结构</a:t>
            </a:r>
            <a:r>
              <a:rPr lang="zh-CN" altLang="en-US" dirty="0">
                <a:solidFill>
                  <a:srgbClr val="FF0000"/>
                </a:solidFill>
              </a:rPr>
              <a:t>，</a:t>
            </a:r>
            <a:r>
              <a:rPr lang="zh-CN" altLang="en-US" dirty="0"/>
              <a:t>包括：确定关系、索引、聚簇、日志、备份等的存储安排和存储结构，确定系统配置等。 </a:t>
            </a:r>
            <a:endParaRPr lang="en-US" altLang="zh-CN" dirty="0"/>
          </a:p>
          <a:p>
            <a:r>
              <a:rPr lang="zh-CN" altLang="en-US" dirty="0"/>
              <a:t>确定数据的存放位置和存储结构要综合考虑</a:t>
            </a:r>
            <a:r>
              <a:rPr lang="zh-CN" altLang="en-US" b="1" dirty="0">
                <a:solidFill>
                  <a:srgbClr val="FF0000"/>
                </a:solidFill>
              </a:rPr>
              <a:t>存取时间、存储空间利用率和维护代价</a:t>
            </a:r>
            <a:r>
              <a:rPr lang="en-US" altLang="zh-CN" dirty="0"/>
              <a:t>3</a:t>
            </a:r>
            <a:r>
              <a:rPr lang="zh-CN" altLang="en-US" dirty="0"/>
              <a:t>个方面的因素。</a:t>
            </a:r>
            <a:endParaRPr lang="zh-CN" altLang="en-US" dirty="0"/>
          </a:p>
        </p:txBody>
      </p:sp>
    </p:spTree>
  </p:cSld>
  <p:clrMapOvr>
    <a:masterClrMapping/>
  </p:clrMapOvr>
  <p:transition advClick="0"/>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标题 1"/>
          <p:cNvSpPr>
            <a:spLocks noGrp="1"/>
          </p:cNvSpPr>
          <p:nvPr>
            <p:ph type="title"/>
          </p:nvPr>
        </p:nvSpPr>
        <p:spPr/>
        <p:txBody>
          <a:bodyPr vert="horz" wrap="square" lIns="91440" tIns="45720" rIns="91440" bIns="45720" anchor="b" anchorCtr="0"/>
          <a:lstStyle/>
          <a:p>
            <a:r>
              <a:rPr lang="en-US" altLang="zh-CN" dirty="0"/>
              <a:t>7.6 </a:t>
            </a:r>
            <a:r>
              <a:rPr lang="zh-CN" altLang="en-US" dirty="0"/>
              <a:t>数据库的实施和维护</a:t>
            </a:r>
            <a:endParaRPr lang="zh-CN" altLang="en-US" dirty="0"/>
          </a:p>
        </p:txBody>
      </p:sp>
      <p:sp>
        <p:nvSpPr>
          <p:cNvPr id="119810" name="内容占位符 2"/>
          <p:cNvSpPr>
            <a:spLocks noGrp="1"/>
          </p:cNvSpPr>
          <p:nvPr>
            <p:ph idx="1"/>
          </p:nvPr>
        </p:nvSpPr>
        <p:spPr/>
        <p:txBody>
          <a:bodyPr vert="horz" wrap="square" lIns="91440" tIns="45720" rIns="91440" bIns="45720" anchor="t" anchorCtr="0"/>
          <a:lstStyle/>
          <a:p>
            <a:r>
              <a:rPr lang="zh-CN" altLang="en-US" dirty="0"/>
              <a:t>用关系数据库管理系统（</a:t>
            </a:r>
            <a:r>
              <a:rPr lang="en-US" altLang="zh-CN" dirty="0"/>
              <a:t>DBMS</a:t>
            </a:r>
            <a:r>
              <a:rPr lang="zh-CN" altLang="en-US" dirty="0"/>
              <a:t>），如</a:t>
            </a:r>
            <a:r>
              <a:rPr lang="en-US" altLang="zh-CN" dirty="0"/>
              <a:t>MySQL</a:t>
            </a:r>
            <a:r>
              <a:rPr lang="zh-CN" altLang="en-US" dirty="0"/>
              <a:t>，提供的数据定义语言，创建表，载入数据，然后使用高级程序设计语言进行应用程序的编程和调试。</a:t>
            </a:r>
            <a:endParaRPr lang="en-US" altLang="zh-CN" dirty="0"/>
          </a:p>
          <a:p>
            <a:r>
              <a:rPr lang="zh-CN" altLang="en-US" b="1" dirty="0"/>
              <a:t>程序的设计</a:t>
            </a:r>
            <a:r>
              <a:rPr lang="zh-CN" altLang="en-US" dirty="0"/>
              <a:t>和</a:t>
            </a:r>
            <a:r>
              <a:rPr lang="zh-CN" altLang="en-US" b="1" dirty="0"/>
              <a:t>数据库的设计</a:t>
            </a:r>
            <a:r>
              <a:rPr lang="zh-CN" altLang="en-US" dirty="0"/>
              <a:t>同时进行</a:t>
            </a:r>
            <a:endParaRPr lang="en-US" altLang="zh-CN" dirty="0"/>
          </a:p>
          <a:p>
            <a:r>
              <a:rPr lang="zh-CN" altLang="en-US" dirty="0"/>
              <a:t>数据库的试运行：</a:t>
            </a:r>
            <a:r>
              <a:rPr lang="zh-CN" altLang="en-US" b="1" dirty="0"/>
              <a:t>先载入少量数据</a:t>
            </a:r>
            <a:r>
              <a:rPr lang="zh-CN" altLang="en-US" dirty="0"/>
              <a:t>，做好备份，</a:t>
            </a:r>
            <a:r>
              <a:rPr lang="zh-CN" altLang="en-US" b="1" dirty="0"/>
              <a:t>万一发生故障</a:t>
            </a:r>
            <a:r>
              <a:rPr lang="zh-CN" altLang="en-US" dirty="0"/>
              <a:t>需要恢复。</a:t>
            </a:r>
            <a:endParaRPr lang="en-US" altLang="zh-CN" dirty="0"/>
          </a:p>
          <a:p>
            <a:r>
              <a:rPr lang="zh-CN" altLang="en-US" dirty="0"/>
              <a:t>数据库的运行和维护：备份工作，完整性、安全性，系统性能，重组织重构造等。</a:t>
            </a:r>
            <a:endParaRPr lang="zh-CN" altLang="en-US" dirty="0"/>
          </a:p>
        </p:txBody>
      </p:sp>
    </p:spTree>
  </p:cSld>
  <p:clrMapOvr>
    <a:masterClrMapping/>
  </p:clrMapOvr>
  <p:transition advClick="0"/>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p:cNvSpPr>
            <a:spLocks noGrp="1"/>
          </p:cNvSpPr>
          <p:nvPr>
            <p:ph type="title"/>
          </p:nvPr>
        </p:nvSpPr>
        <p:spPr/>
        <p:txBody>
          <a:bodyPr vert="horz" wrap="square" lIns="91440" tIns="45720" rIns="91440" bIns="45720" anchor="b" anchorCtr="0"/>
          <a:lstStyle/>
          <a:p>
            <a:r>
              <a:rPr lang="zh-CN" altLang="en-US" dirty="0"/>
              <a:t>数据库各级模式的形成 ：</a:t>
            </a:r>
            <a:endParaRPr lang="zh-CN" altLang="en-US" dirty="0"/>
          </a:p>
        </p:txBody>
      </p:sp>
      <p:sp>
        <p:nvSpPr>
          <p:cNvPr id="121858" name="内容占位符 2"/>
          <p:cNvSpPr>
            <a:spLocks noGrp="1"/>
          </p:cNvSpPr>
          <p:nvPr>
            <p:ph idx="1"/>
          </p:nvPr>
        </p:nvSpPr>
        <p:spPr/>
        <p:txBody>
          <a:bodyPr vert="horz" wrap="square" lIns="91440" tIns="45720" rIns="91440" bIns="45720" anchor="t" anchorCtr="0"/>
          <a:lstStyle/>
          <a:p>
            <a:pPr marL="514350" indent="-514350">
              <a:buFont typeface="Verdana" panose="020B0604030504040204" pitchFamily="34" charset="0"/>
              <a:buAutoNum type="arabicPeriod"/>
            </a:pPr>
            <a:r>
              <a:rPr lang="zh-CN" altLang="en-US" dirty="0"/>
              <a:t>需求分析阶段：综合各个用户的应用需求（现实世界的需求）。 </a:t>
            </a:r>
            <a:endParaRPr lang="en-US" altLang="zh-CN" dirty="0"/>
          </a:p>
          <a:p>
            <a:pPr marL="514350" indent="-514350">
              <a:buFont typeface="Verdana" panose="020B0604030504040204" pitchFamily="34" charset="0"/>
              <a:buAutoNum type="arabicPeriod"/>
            </a:pPr>
            <a:r>
              <a:rPr lang="zh-CN" altLang="en-US" dirty="0"/>
              <a:t>概念设计阶段：概念模式（信息世界模型），用</a:t>
            </a:r>
            <a:r>
              <a:rPr lang="en-US" altLang="zh-CN" dirty="0"/>
              <a:t>E-R</a:t>
            </a:r>
            <a:r>
              <a:rPr lang="zh-CN" altLang="en-US" dirty="0"/>
              <a:t>图来描述。 </a:t>
            </a:r>
            <a:endParaRPr lang="en-US" altLang="zh-CN" dirty="0"/>
          </a:p>
          <a:p>
            <a:pPr marL="514350" indent="-514350">
              <a:buFont typeface="Verdana" panose="020B0604030504040204" pitchFamily="34" charset="0"/>
              <a:buAutoNum type="arabicPeriod"/>
            </a:pPr>
            <a:r>
              <a:rPr lang="zh-CN" altLang="en-US" dirty="0"/>
              <a:t>逻辑设计阶段：模式、外模式。</a:t>
            </a:r>
            <a:endParaRPr lang="en-US" altLang="zh-CN" dirty="0"/>
          </a:p>
          <a:p>
            <a:pPr marL="514350" indent="-514350">
              <a:buFont typeface="Verdana" panose="020B0604030504040204" pitchFamily="34" charset="0"/>
              <a:buAutoNum type="arabicPeriod"/>
            </a:pPr>
            <a:r>
              <a:rPr lang="zh-CN" altLang="en-US" dirty="0"/>
              <a:t>物理设计阶段：内模式。</a:t>
            </a:r>
            <a:endParaRPr lang="zh-CN" altLang="en-US" dirty="0"/>
          </a:p>
        </p:txBody>
      </p:sp>
    </p:spTree>
  </p:cSld>
  <p:clrMapOvr>
    <a:masterClrMapping/>
  </p:clrMapOvr>
  <p:transition advClick="0"/>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1"/>
          <p:cNvSpPr>
            <a:spLocks noGrp="1"/>
          </p:cNvSpPr>
          <p:nvPr>
            <p:ph type="title"/>
          </p:nvPr>
        </p:nvSpPr>
        <p:spPr/>
        <p:txBody>
          <a:bodyPr vert="horz" wrap="square" lIns="91440" tIns="45720" rIns="91440" bIns="45720" anchor="b" anchorCtr="0"/>
          <a:lstStyle/>
          <a:p>
            <a:r>
              <a:rPr lang="zh-CN" altLang="en-US" dirty="0"/>
              <a:t>数据库设计的关键步骤</a:t>
            </a:r>
            <a:endParaRPr lang="zh-CN" altLang="en-US" dirty="0"/>
          </a:p>
        </p:txBody>
      </p:sp>
      <p:sp>
        <p:nvSpPr>
          <p:cNvPr id="122882" name="内容占位符 2"/>
          <p:cNvSpPr>
            <a:spLocks noGrp="1"/>
          </p:cNvSpPr>
          <p:nvPr>
            <p:ph idx="1"/>
          </p:nvPr>
        </p:nvSpPr>
        <p:spPr/>
        <p:txBody>
          <a:bodyPr vert="horz" wrap="square" lIns="91440" tIns="45720" rIns="91440" bIns="45720" anchor="t" anchorCtr="0"/>
          <a:lstStyle/>
          <a:p>
            <a:pPr marL="514350" indent="-514350">
              <a:buFont typeface="Verdana" panose="020B0604030504040204" pitchFamily="34" charset="0"/>
              <a:buAutoNum type="arabicPeriod"/>
            </a:pPr>
            <a:r>
              <a:rPr lang="zh-CN" altLang="en-US" sz="2800" dirty="0"/>
              <a:t>概念结构设计 ：</a:t>
            </a:r>
            <a:r>
              <a:rPr lang="en-US" altLang="zh-CN" sz="2800" b="1" dirty="0">
                <a:solidFill>
                  <a:srgbClr val="FF0000"/>
                </a:solidFill>
              </a:rPr>
              <a:t>E-R</a:t>
            </a:r>
            <a:r>
              <a:rPr lang="zh-CN" altLang="en-US" sz="2800" b="1" dirty="0">
                <a:solidFill>
                  <a:srgbClr val="FF0000"/>
                </a:solidFill>
              </a:rPr>
              <a:t>模型</a:t>
            </a:r>
            <a:r>
              <a:rPr lang="zh-CN" altLang="en-US" sz="2800" dirty="0"/>
              <a:t>的设计 </a:t>
            </a:r>
            <a:endParaRPr lang="en-US" altLang="zh-CN" sz="2800" dirty="0"/>
          </a:p>
          <a:p>
            <a:pPr marL="514350" indent="-514350">
              <a:buFont typeface="Verdana" panose="020B0604030504040204" pitchFamily="34" charset="0"/>
              <a:buAutoNum type="arabicPeriod"/>
            </a:pPr>
            <a:r>
              <a:rPr lang="zh-CN" altLang="en-US" sz="2800" dirty="0"/>
              <a:t>在逻辑设计阶段：将</a:t>
            </a:r>
            <a:r>
              <a:rPr lang="en-US" altLang="zh-CN" sz="2800" dirty="0"/>
              <a:t>E-R</a:t>
            </a:r>
            <a:r>
              <a:rPr lang="zh-CN" altLang="en-US" sz="2800" dirty="0"/>
              <a:t>图转换成具体的数据库产品支持的数据模型如关系模型，形成数据库逻辑</a:t>
            </a:r>
            <a:r>
              <a:rPr lang="zh-CN" altLang="en-US" sz="2800" b="1" dirty="0">
                <a:solidFill>
                  <a:srgbClr val="FF0000"/>
                </a:solidFill>
              </a:rPr>
              <a:t>模式</a:t>
            </a:r>
            <a:r>
              <a:rPr lang="zh-CN" altLang="en-US" sz="2800" dirty="0"/>
              <a:t>。 然后根据用户处理的要求，安全性的考虑，在基本表的基础上再建立必要的视图，形成数据的</a:t>
            </a:r>
            <a:r>
              <a:rPr lang="zh-CN" altLang="en-US" sz="2800" b="1" dirty="0">
                <a:solidFill>
                  <a:srgbClr val="FF0000"/>
                </a:solidFill>
              </a:rPr>
              <a:t>外模式</a:t>
            </a:r>
            <a:r>
              <a:rPr lang="zh-CN" altLang="en-US" sz="2800" dirty="0">
                <a:solidFill>
                  <a:srgbClr val="FF0000"/>
                </a:solidFill>
              </a:rPr>
              <a:t> </a:t>
            </a:r>
            <a:endParaRPr lang="en-US" altLang="zh-CN" sz="2800" dirty="0">
              <a:solidFill>
                <a:srgbClr val="FF0000"/>
              </a:solidFill>
            </a:endParaRPr>
          </a:p>
          <a:p>
            <a:pPr marL="514350" indent="-514350">
              <a:buFont typeface="Verdana" panose="020B0604030504040204" pitchFamily="34" charset="0"/>
              <a:buAutoNum type="arabicPeriod"/>
            </a:pPr>
            <a:r>
              <a:rPr lang="zh-CN" altLang="en-US" sz="2800" dirty="0"/>
              <a:t>在物理设计阶段：根据</a:t>
            </a:r>
            <a:r>
              <a:rPr lang="en-US" altLang="zh-CN" sz="2800" dirty="0"/>
              <a:t>DBMS</a:t>
            </a:r>
            <a:r>
              <a:rPr lang="zh-CN" altLang="en-US" sz="2800" dirty="0"/>
              <a:t>特点和处理的需要，进行物理存储安排，设计索引，形成数据库</a:t>
            </a:r>
            <a:r>
              <a:rPr lang="zh-CN" altLang="en-US" sz="2800" b="1" dirty="0">
                <a:solidFill>
                  <a:srgbClr val="FF0000"/>
                </a:solidFill>
              </a:rPr>
              <a:t>内模式</a:t>
            </a:r>
            <a:endParaRPr lang="zh-CN" altLang="en-US" sz="2800" b="1" dirty="0">
              <a:solidFill>
                <a:srgbClr val="FF0000"/>
              </a:solidFill>
            </a:endParaRPr>
          </a:p>
        </p:txBody>
      </p:sp>
    </p:spTree>
  </p:cSld>
  <p:clrMapOvr>
    <a:masterClrMapping/>
  </p:clrMapOvr>
  <p:transition advClick="0"/>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1"/>
          <p:cNvSpPr>
            <a:spLocks noGrp="1"/>
          </p:cNvSpPr>
          <p:nvPr>
            <p:ph type="title"/>
          </p:nvPr>
        </p:nvSpPr>
        <p:spPr/>
        <p:txBody>
          <a:bodyPr vert="horz" wrap="square" lIns="91440" tIns="45720" rIns="91440" bIns="45720" anchor="b" anchorCtr="0"/>
          <a:lstStyle/>
          <a:p>
            <a:r>
              <a:rPr lang="zh-CN" altLang="en-US" dirty="0"/>
              <a:t>小结</a:t>
            </a:r>
            <a:endParaRPr lang="zh-CN" altLang="en-US" dirty="0"/>
          </a:p>
        </p:txBody>
      </p:sp>
      <p:sp>
        <p:nvSpPr>
          <p:cNvPr id="120834" name="内容占位符 2"/>
          <p:cNvSpPr>
            <a:spLocks noGrp="1"/>
          </p:cNvSpPr>
          <p:nvPr>
            <p:ph idx="1"/>
          </p:nvPr>
        </p:nvSpPr>
        <p:spPr/>
        <p:txBody>
          <a:bodyPr vert="horz" wrap="square" lIns="91440" tIns="45720" rIns="91440" bIns="45720" anchor="t" anchorCtr="0"/>
          <a:lstStyle/>
          <a:p>
            <a:r>
              <a:rPr lang="zh-CN" altLang="en-US" dirty="0"/>
              <a:t>数据库的设计过程 ：</a:t>
            </a:r>
            <a:endParaRPr lang="en-US" altLang="zh-CN" dirty="0"/>
          </a:p>
          <a:p>
            <a:r>
              <a:rPr lang="zh-CN" altLang="en-US" dirty="0"/>
              <a:t>需求分析 </a:t>
            </a:r>
            <a:endParaRPr lang="en-US" altLang="zh-CN" dirty="0"/>
          </a:p>
          <a:p>
            <a:r>
              <a:rPr lang="zh-CN" altLang="en-US" dirty="0"/>
              <a:t>概念结构设计 </a:t>
            </a:r>
            <a:endParaRPr lang="en-US" altLang="zh-CN" dirty="0"/>
          </a:p>
          <a:p>
            <a:r>
              <a:rPr lang="zh-CN" altLang="en-US" dirty="0"/>
              <a:t>逻辑结构设计 </a:t>
            </a:r>
            <a:endParaRPr lang="en-US" altLang="zh-CN" dirty="0"/>
          </a:p>
          <a:p>
            <a:r>
              <a:rPr lang="zh-CN" altLang="en-US" dirty="0"/>
              <a:t>物理结构设计 </a:t>
            </a:r>
            <a:endParaRPr lang="en-US" altLang="zh-CN" dirty="0"/>
          </a:p>
          <a:p>
            <a:r>
              <a:rPr lang="zh-CN" altLang="en-US" dirty="0"/>
              <a:t>数据库实施 </a:t>
            </a:r>
            <a:endParaRPr lang="en-US" altLang="zh-CN" dirty="0"/>
          </a:p>
          <a:p>
            <a:r>
              <a:rPr lang="zh-CN" altLang="en-US" dirty="0"/>
              <a:t>数据库运行维护 </a:t>
            </a:r>
            <a:endParaRPr lang="en-US" altLang="zh-CN" dirty="0"/>
          </a:p>
          <a:p>
            <a:r>
              <a:rPr lang="zh-CN" altLang="en-US" dirty="0"/>
              <a:t>设计过程中往往还会有许多反复</a:t>
            </a:r>
            <a:endParaRPr lang="zh-CN" altLang="en-US" dirty="0"/>
          </a:p>
        </p:txBody>
      </p:sp>
    </p:spTree>
  </p:cSld>
  <p:clrMapOvr>
    <a:masterClrMapping/>
  </p:clrMapOvr>
  <p:transition advClick="0"/>
  <p:timing>
    <p:tnLst>
      <p:par>
        <p:cTn id="1" dur="indefinite" restart="never" nodeType="tmRoot"/>
      </p:par>
    </p:tnLst>
  </p:timing>
</p:sld>
</file>

<file path=ppt/tags/tag1.xml><?xml version="1.0" encoding="utf-8"?>
<p:tagLst xmlns:p="http://schemas.openxmlformats.org/presentationml/2006/main">
  <p:tag name="KSO_WM_DIAGRAM_VIRTUALLY_FRAME" val="{&quot;height&quot;:242.12742759795566,&quot;left&quot;:374.62503937007875,&quot;top&quot;:228.2,&quot;width&quot;:524.1}"/>
</p:tagLst>
</file>

<file path=ppt/tags/tag2.xml><?xml version="1.0" encoding="utf-8"?>
<p:tagLst xmlns:p="http://schemas.openxmlformats.org/presentationml/2006/main">
  <p:tag name="KSO_WM_DIAGRAM_VIRTUALLY_FRAME" val="{&quot;height&quot;:242.12742759795566,&quot;left&quot;:374.62503937007875,&quot;top&quot;:228.2,&quot;width&quot;:524.1}"/>
</p:tagLst>
</file>

<file path=ppt/tags/tag3.xml><?xml version="1.0" encoding="utf-8"?>
<p:tagLst xmlns:p="http://schemas.openxmlformats.org/presentationml/2006/main">
  <p:tag name="KSO_WM_DIAGRAM_VIRTUALLY_FRAME" val="{&quot;height&quot;:242.12742759795566,&quot;left&quot;:374.62503937007875,&quot;top&quot;:228.2,&quot;width&quot;:524.1}"/>
</p:tagLst>
</file>

<file path=ppt/tags/tag4.xml><?xml version="1.0" encoding="utf-8"?>
<p:tagLst xmlns:p="http://schemas.openxmlformats.org/presentationml/2006/main">
  <p:tag name="KSO_WM_DIAGRAM_VIRTUALLY_FRAME" val="{&quot;height&quot;:242.12742759795566,&quot;left&quot;:374.62503937007875,&quot;top&quot;:228.2,&quot;width&quot;:524.1}"/>
</p:tagLst>
</file>

<file path=ppt/tags/tag5.xml><?xml version="1.0" encoding="utf-8"?>
<p:tagLst xmlns:p="http://schemas.openxmlformats.org/presentationml/2006/main">
  <p:tag name="KSO_WM_DIAGRAM_VIRTUALLY_FRAME" val="{&quot;height&quot;:242.12742759795566,&quot;left&quot;:374.62503937007875,&quot;top&quot;:228.2,&quot;width&quot;:524.1}"/>
</p:tagLst>
</file>

<file path=ppt/tags/tag6.xml><?xml version="1.0" encoding="utf-8"?>
<p:tagLst xmlns:p="http://schemas.openxmlformats.org/presentationml/2006/main">
  <p:tag name="KSO_WM_DIAGRAM_VIRTUALLY_FRAME" val="{&quot;height&quot;:242.12742759795566,&quot;left&quot;:374.62503937007875,&quot;top&quot;:228.2,&quot;width&quot;:524.1}"/>
</p:tagLst>
</file>

<file path=ppt/tags/tag7.xml><?xml version="1.0" encoding="utf-8"?>
<p:tagLst xmlns:p="http://schemas.openxmlformats.org/presentationml/2006/main">
  <p:tag name="KSO_WM_DIAGRAM_VIRTUALLY_FRAME" val="{&quot;height&quot;:242.12742759795566,&quot;left&quot;:374.62503937007875,&quot;top&quot;:228.2,&quot;width&quot;:524.1}"/>
</p:tagLst>
</file>

<file path=ppt/tags/tag8.xml><?xml version="1.0" encoding="utf-8"?>
<p:tagLst xmlns:p="http://schemas.openxmlformats.org/presentationml/2006/main">
  <p:tag name="KSO_WM_DIAGRAM_VIRTUALLY_FRAME" val="{&quot;height&quot;:242.12742759795566,&quot;left&quot;:374.62503937007875,&quot;top&quot;:228.2,&quot;width&quot;:524.1}"/>
</p:tagLst>
</file>

<file path=ppt/tags/tag9.xml><?xml version="1.0" encoding="utf-8"?>
<p:tagLst xmlns:p="http://schemas.openxmlformats.org/presentationml/2006/main">
  <p:tag name="KSO_WM_DIAGRAM_VIRTUALLY_FRAME" val="{&quot;height&quot;:242.12742759795566,&quot;left&quot;:374.62503937007875,&quot;top&quot;:228.2,&quot;width&quot;:524.1}"/>
</p:tagLst>
</file>

<file path=ppt/tags/tag10.xml><?xml version="1.0" encoding="utf-8"?>
<p:tagLst xmlns:p="http://schemas.openxmlformats.org/presentationml/2006/main">
  <p:tag name="KSO_WM_DIAGRAM_VIRTUALLY_FRAME" val="{&quot;height&quot;:242.12742759795566,&quot;left&quot;:374.62503937007875,&quot;top&quot;:228.2,&quot;width&quot;:524.1}"/>
</p:tagLst>
</file>

<file path=ppt/tags/tag11.xml><?xml version="1.0" encoding="utf-8"?>
<p:tagLst xmlns:p="http://schemas.openxmlformats.org/presentationml/2006/main">
  <p:tag name="KSO_WM_DIAGRAM_VIRTUALLY_FRAME" val="{&quot;height&quot;:242.12742759795566,&quot;left&quot;:374.62503937007875,&quot;top&quot;:228.2,&quot;width&quot;:524.1}"/>
</p:tagLst>
</file>

<file path=ppt/tags/tag12.xml><?xml version="1.0" encoding="utf-8"?>
<p:tagLst xmlns:p="http://schemas.openxmlformats.org/presentationml/2006/main">
  <p:tag name="KSO_WM_DIAGRAM_VIRTUALLY_FRAME" val="{&quot;height&quot;:242.12742759795566,&quot;left&quot;:374.62503937007875,&quot;top&quot;:228.2,&quot;width&quot;:524.1}"/>
</p:tagLst>
</file>

<file path=ppt/tags/tag13.xml><?xml version="1.0" encoding="utf-8"?>
<p:tagLst xmlns:p="http://schemas.openxmlformats.org/presentationml/2006/main">
  <p:tag name="KSO_WM_DIAGRAM_VIRTUALLY_FRAME" val="{&quot;height&quot;:313.75000000000006,&quot;left&quot;:405,&quot;top&quot;:153.12503937007872,&quot;width&quot;:303.12503937007875}"/>
</p:tagLst>
</file>

<file path=ppt/tags/tag14.xml><?xml version="1.0" encoding="utf-8"?>
<p:tagLst xmlns:p="http://schemas.openxmlformats.org/presentationml/2006/main">
  <p:tag name="KSO_WM_DIAGRAM_VIRTUALLY_FRAME" val="{&quot;height&quot;:313.75000000000006,&quot;left&quot;:405,&quot;top&quot;:153.12503937007872,&quot;width&quot;:303.12503937007875}"/>
</p:tagLst>
</file>

<file path=ppt/tags/tag15.xml><?xml version="1.0" encoding="utf-8"?>
<p:tagLst xmlns:p="http://schemas.openxmlformats.org/presentationml/2006/main">
  <p:tag name="KSO_WM_DIAGRAM_VIRTUALLY_FRAME" val="{&quot;height&quot;:313.75000000000006,&quot;left&quot;:405,&quot;top&quot;:153.12503937007872,&quot;width&quot;:303.12503937007875}"/>
</p:tagLst>
</file>

<file path=ppt/tags/tag16.xml><?xml version="1.0" encoding="utf-8"?>
<p:tagLst xmlns:p="http://schemas.openxmlformats.org/presentationml/2006/main">
  <p:tag name="KSO_WM_DIAGRAM_VIRTUALLY_FRAME" val="{&quot;height&quot;:313.75000000000006,&quot;left&quot;:405,&quot;top&quot;:153.12503937007872,&quot;width&quot;:303.12503937007875}"/>
</p:tagLst>
</file>

<file path=ppt/tags/tag17.xml><?xml version="1.0" encoding="utf-8"?>
<p:tagLst xmlns:p="http://schemas.openxmlformats.org/presentationml/2006/main">
  <p:tag name="KSO_WM_DIAGRAM_VIRTUALLY_FRAME" val="{&quot;height&quot;:313.75000000000006,&quot;left&quot;:405,&quot;top&quot;:153.12503937007872,&quot;width&quot;:303.12503937007875}"/>
</p:tagLst>
</file>

<file path=ppt/tags/tag18.xml><?xml version="1.0" encoding="utf-8"?>
<p:tagLst xmlns:p="http://schemas.openxmlformats.org/presentationml/2006/main">
  <p:tag name="KSO_WM_DIAGRAM_VIRTUALLY_FRAME" val="{&quot;height&quot;:313.75000000000006,&quot;left&quot;:405,&quot;top&quot;:153.12503937007872,&quot;width&quot;:303.12503937007875}"/>
</p:tagLst>
</file>

<file path=ppt/tags/tag19.xml><?xml version="1.0" encoding="utf-8"?>
<p:tagLst xmlns:p="http://schemas.openxmlformats.org/presentationml/2006/main">
  <p:tag name="KSO_WM_DIAGRAM_VIRTUALLY_FRAME" val="{&quot;height&quot;:313.75000000000006,&quot;left&quot;:405,&quot;top&quot;:153.12503937007872,&quot;width&quot;:303.12503937007875}"/>
</p:tagLst>
</file>

<file path=ppt/tags/tag20.xml><?xml version="1.0" encoding="utf-8"?>
<p:tagLst xmlns:p="http://schemas.openxmlformats.org/presentationml/2006/main">
  <p:tag name="KSO_WM_DIAGRAM_VIRTUALLY_FRAME" val="{&quot;height&quot;:313.75000000000006,&quot;left&quot;:405,&quot;top&quot;:153.12503937007872,&quot;width&quot;:303.12503937007875}"/>
</p:tagLst>
</file>

<file path=ppt/tags/tag21.xml><?xml version="1.0" encoding="utf-8"?>
<p:tagLst xmlns:p="http://schemas.openxmlformats.org/presentationml/2006/main">
  <p:tag name="KSO_WM_DIAGRAM_VIRTUALLY_FRAME" val="{&quot;height&quot;:313.75000000000006,&quot;left&quot;:405,&quot;top&quot;:153.12503937007872,&quot;width&quot;:303.12503937007875}"/>
</p:tagLst>
</file>

<file path=ppt/tags/tag22.xml><?xml version="1.0" encoding="utf-8"?>
<p:tagLst xmlns:p="http://schemas.openxmlformats.org/presentationml/2006/main">
  <p:tag name="KSO_WM_DIAGRAM_VIRTUALLY_FRAME" val="{&quot;height&quot;:313.75000000000006,&quot;left&quot;:405,&quot;top&quot;:153.12503937007872,&quot;width&quot;:303.12503937007875}"/>
</p:tagLst>
</file>

<file path=ppt/tags/tag23.xml><?xml version="1.0" encoding="utf-8"?>
<p:tagLst xmlns:p="http://schemas.openxmlformats.org/presentationml/2006/main">
  <p:tag name="KSO_WM_DIAGRAM_VIRTUALLY_FRAME" val="{&quot;height&quot;:313.75000000000006,&quot;left&quot;:405,&quot;top&quot;:153.12503937007872,&quot;width&quot;:303.12503937007875}"/>
</p:tagLst>
</file>

<file path=ppt/tags/tag24.xml><?xml version="1.0" encoding="utf-8"?>
<p:tagLst xmlns:p="http://schemas.openxmlformats.org/presentationml/2006/main">
  <p:tag name="KSO_WM_DIAGRAM_VIRTUALLY_FRAME" val="{&quot;height&quot;:313.75000000000006,&quot;left&quot;:405,&quot;top&quot;:153.12503937007872,&quot;width&quot;:303.12503937007875}"/>
</p:tagLst>
</file>

<file path=ppt/tags/tag25.xml><?xml version="1.0" encoding="utf-8"?>
<p:tagLst xmlns:p="http://schemas.openxmlformats.org/presentationml/2006/main">
  <p:tag name="KSO_WM_DIAGRAM_VIRTUALLY_FRAME" val="{&quot;height&quot;:313.75000000000006,&quot;left&quot;:405,&quot;top&quot;:153.12503937007872,&quot;width&quot;:303.12503937007875}"/>
</p:tagLst>
</file>

<file path=ppt/tags/tag26.xml><?xml version="1.0" encoding="utf-8"?>
<p:tagLst xmlns:p="http://schemas.openxmlformats.org/presentationml/2006/main">
  <p:tag name="KSO_WM_DIAGRAM_VIRTUALLY_FRAME" val="{&quot;height&quot;:313.75000000000006,&quot;left&quot;:405,&quot;top&quot;:153.12503937007872,&quot;width&quot;:303.12503937007875}"/>
</p:tagLst>
</file>

<file path=ppt/tags/tag27.xml><?xml version="1.0" encoding="utf-8"?>
<p:tagLst xmlns:p="http://schemas.openxmlformats.org/presentationml/2006/main">
  <p:tag name="KSO_WM_DIAGRAM_VIRTUALLY_FRAME" val="{&quot;height&quot;:313.75000000000006,&quot;left&quot;:405,&quot;top&quot;:153.12503937007872,&quot;width&quot;:303.12503937007875}"/>
</p:tagLst>
</file>

<file path=ppt/tags/tag28.xml><?xml version="1.0" encoding="utf-8"?>
<p:tagLst xmlns:p="http://schemas.openxmlformats.org/presentationml/2006/main">
  <p:tag name="KSO_WM_DIAGRAM_VIRTUALLY_FRAME" val="{&quot;height&quot;:313.75000000000006,&quot;left&quot;:405,&quot;top&quot;:153.12503937007872,&quot;width&quot;:303.12503937007875}"/>
</p:tagLst>
</file>

<file path=ppt/tags/tag29.xml><?xml version="1.0" encoding="utf-8"?>
<p:tagLst xmlns:p="http://schemas.openxmlformats.org/presentationml/2006/main">
  <p:tag name="KSO_WM_DIAGRAM_VIRTUALLY_FRAME" val="{&quot;height&quot;:313.75000000000006,&quot;left&quot;:405,&quot;top&quot;:153.12503937007872,&quot;width&quot;:303.12503937007875}"/>
</p:tagLst>
</file>

<file path=ppt/tags/tag30.xml><?xml version="1.0" encoding="utf-8"?>
<p:tagLst xmlns:p="http://schemas.openxmlformats.org/presentationml/2006/main">
  <p:tag name="KSO_WM_DIAGRAM_VIRTUALLY_FRAME" val="{&quot;height&quot;:313.75000000000006,&quot;left&quot;:405,&quot;top&quot;:153.12503937007872,&quot;width&quot;:303.12503937007875}"/>
</p:tagLst>
</file>

<file path=ppt/tags/tag31.xml><?xml version="1.0" encoding="utf-8"?>
<p:tagLst xmlns:p="http://schemas.openxmlformats.org/presentationml/2006/main">
  <p:tag name="KSO_WM_DIAGRAM_VIRTUALLY_FRAME" val="{&quot;height&quot;:313.75000000000006,&quot;left&quot;:405,&quot;top&quot;:153.12503937007872,&quot;width&quot;:303.12503937007875}"/>
</p:tagLst>
</file>

<file path=ppt/tags/tag32.xml><?xml version="1.0" encoding="utf-8"?>
<p:tagLst xmlns:p="http://schemas.openxmlformats.org/presentationml/2006/main">
  <p:tag name="KSO_WM_DIAGRAM_VIRTUALLY_FRAME" val="{&quot;height&quot;:313.75000000000006,&quot;left&quot;:405,&quot;top&quot;:153.12503937007872,&quot;width&quot;:303.12503937007875}"/>
</p:tagLst>
</file>

<file path=ppt/tags/tag33.xml><?xml version="1.0" encoding="utf-8"?>
<p:tagLst xmlns:p="http://schemas.openxmlformats.org/presentationml/2006/main">
  <p:tag name="KSO_WM_DIAGRAM_VIRTUALLY_FRAME" val="{&quot;height&quot;:313.75000000000006,&quot;left&quot;:405,&quot;top&quot;:153.12503937007872,&quot;width&quot;:303.12503937007875}"/>
</p:tagLst>
</file>

<file path=ppt/tags/tag34.xml><?xml version="1.0" encoding="utf-8"?>
<p:tagLst xmlns:p="http://schemas.openxmlformats.org/presentationml/2006/main">
  <p:tag name="KSO_WM_DIAGRAM_VIRTUALLY_FRAME" val="{&quot;height&quot;:313.75000000000006,&quot;left&quot;:405,&quot;top&quot;:153.12503937007872,&quot;width&quot;:303.12503937007875}"/>
</p:tagLst>
</file>

<file path=ppt/tags/tag35.xml><?xml version="1.0" encoding="utf-8"?>
<p:tagLst xmlns:p="http://schemas.openxmlformats.org/presentationml/2006/main">
  <p:tag name="KSO_WM_DIAGRAM_VIRTUALLY_FRAME" val="{&quot;height&quot;:162,&quot;left&quot;:153.55,&quot;top&quot;:286.65,&quot;width&quot;:599.55}"/>
</p:tagLst>
</file>

<file path=ppt/tags/tag36.xml><?xml version="1.0" encoding="utf-8"?>
<p:tagLst xmlns:p="http://schemas.openxmlformats.org/presentationml/2006/main">
  <p:tag name="KSO_WM_DIAGRAM_VIRTUALLY_FRAME" val="{&quot;height&quot;:162,&quot;left&quot;:153.55,&quot;top&quot;:286.65,&quot;width&quot;:599.55}"/>
</p:tagLst>
</file>

<file path=ppt/tags/tag37.xml><?xml version="1.0" encoding="utf-8"?>
<p:tagLst xmlns:p="http://schemas.openxmlformats.org/presentationml/2006/main">
  <p:tag name="KSO_WM_DIAGRAM_VIRTUALLY_FRAME" val="{&quot;height&quot;:162,&quot;left&quot;:153.55,&quot;top&quot;:286.65,&quot;width&quot;:599.55}"/>
</p:tagLst>
</file>

<file path=ppt/tags/tag38.xml><?xml version="1.0" encoding="utf-8"?>
<p:tagLst xmlns:p="http://schemas.openxmlformats.org/presentationml/2006/main">
  <p:tag name="KSO_WM_DIAGRAM_VIRTUALLY_FRAME" val="{&quot;height&quot;:162,&quot;left&quot;:153.55,&quot;top&quot;:286.65,&quot;width&quot;:599.55}"/>
</p:tagLst>
</file>

<file path=ppt/tags/tag39.xml><?xml version="1.0" encoding="utf-8"?>
<p:tagLst xmlns:p="http://schemas.openxmlformats.org/presentationml/2006/main">
  <p:tag name="KSO_WM_DIAGRAM_VIRTUALLY_FRAME" val="{&quot;height&quot;:162,&quot;left&quot;:153.55,&quot;top&quot;:286.65,&quot;width&quot;:599.55}"/>
</p:tagLst>
</file>

<file path=ppt/tags/tag40.xml><?xml version="1.0" encoding="utf-8"?>
<p:tagLst xmlns:p="http://schemas.openxmlformats.org/presentationml/2006/main">
  <p:tag name="KSO_WM_DIAGRAM_VIRTUALLY_FRAME" val="{&quot;height&quot;:162,&quot;left&quot;:153.55,&quot;top&quot;:286.65,&quot;width&quot;:599.55}"/>
</p:tagLst>
</file>

<file path=ppt/tags/tag41.xml><?xml version="1.0" encoding="utf-8"?>
<p:tagLst xmlns:p="http://schemas.openxmlformats.org/presentationml/2006/main">
  <p:tag name="KSO_WM_DIAGRAM_VIRTUALLY_FRAME" val="{&quot;height&quot;:162,&quot;left&quot;:153.55,&quot;top&quot;:286.65,&quot;width&quot;:599.55}"/>
</p:tagLst>
</file>

<file path=ppt/tags/tag42.xml><?xml version="1.0" encoding="utf-8"?>
<p:tagLst xmlns:p="http://schemas.openxmlformats.org/presentationml/2006/main">
  <p:tag name="KSO_WM_DIAGRAM_VIRTUALLY_FRAME" val="{&quot;height&quot;:162,&quot;left&quot;:153.55,&quot;top&quot;:286.65,&quot;width&quot;:599.55}"/>
</p:tagLst>
</file>

<file path=ppt/tags/tag43.xml><?xml version="1.0" encoding="utf-8"?>
<p:tagLst xmlns:p="http://schemas.openxmlformats.org/presentationml/2006/main">
  <p:tag name="KSO_WM_DIAGRAM_VIRTUALLY_FRAME" val="{&quot;height&quot;:162,&quot;left&quot;:153.55,&quot;top&quot;:286.65,&quot;width&quot;:599.55}"/>
</p:tagLst>
</file>

<file path=ppt/tags/tag44.xml><?xml version="1.0" encoding="utf-8"?>
<p:tagLst xmlns:p="http://schemas.openxmlformats.org/presentationml/2006/main">
  <p:tag name="KSO_WM_DIAGRAM_VIRTUALLY_FRAME" val="{&quot;height&quot;:162,&quot;left&quot;:153.55,&quot;top&quot;:286.65,&quot;width&quot;:599.55}"/>
</p:tagLst>
</file>

<file path=ppt/tags/tag45.xml><?xml version="1.0" encoding="utf-8"?>
<p:tagLst xmlns:p="http://schemas.openxmlformats.org/presentationml/2006/main">
  <p:tag name="KSO_WM_DIAGRAM_VIRTUALLY_FRAME" val="{&quot;height&quot;:162,&quot;left&quot;:153.55,&quot;top&quot;:286.65,&quot;width&quot;:599.55}"/>
</p:tagLst>
</file>

<file path=ppt/tags/tag46.xml><?xml version="1.0" encoding="utf-8"?>
<p:tagLst xmlns:p="http://schemas.openxmlformats.org/presentationml/2006/main">
  <p:tag name="KSO_WM_DIAGRAM_VIRTUALLY_FRAME" val="{&quot;height&quot;:162,&quot;left&quot;:153.55,&quot;top&quot;:286.65,&quot;width&quot;:599.55}"/>
</p:tagLst>
</file>

<file path=ppt/tags/tag47.xml><?xml version="1.0" encoding="utf-8"?>
<p:tagLst xmlns:p="http://schemas.openxmlformats.org/presentationml/2006/main">
  <p:tag name="KSO_WM_DIAGRAM_VIRTUALLY_FRAME" val="{&quot;height&quot;:162,&quot;left&quot;:153.55,&quot;top&quot;:286.65,&quot;width&quot;:599.55}"/>
</p:tagLst>
</file>

<file path=ppt/tags/tag48.xml><?xml version="1.0" encoding="utf-8"?>
<p:tagLst xmlns:p="http://schemas.openxmlformats.org/presentationml/2006/main">
  <p:tag name="KSO_WM_DIAGRAM_VIRTUALLY_FRAME" val="{&quot;height&quot;:162,&quot;left&quot;:153.55,&quot;top&quot;:286.65,&quot;width&quot;:599.55}"/>
</p:tagLst>
</file>

<file path=ppt/tags/tag49.xml><?xml version="1.0" encoding="utf-8"?>
<p:tagLst xmlns:p="http://schemas.openxmlformats.org/presentationml/2006/main">
  <p:tag name="KSO_WM_DIAGRAM_VIRTUALLY_FRAME" val="{&quot;height&quot;:162,&quot;left&quot;:153.55,&quot;top&quot;:286.65,&quot;width&quot;:599.55}"/>
</p:tagLst>
</file>

<file path=ppt/tags/tag50.xml><?xml version="1.0" encoding="utf-8"?>
<p:tagLst xmlns:p="http://schemas.openxmlformats.org/presentationml/2006/main">
  <p:tag name="KSO_WM_DIAGRAM_VIRTUALLY_FRAME" val="{&quot;height&quot;:162,&quot;left&quot;:153.55,&quot;top&quot;:286.65,&quot;width&quot;:599.55}"/>
</p:tagLst>
</file>

<file path=ppt/tags/tag51.xml><?xml version="1.0" encoding="utf-8"?>
<p:tagLst xmlns:p="http://schemas.openxmlformats.org/presentationml/2006/main">
  <p:tag name="KSO_WM_DIAGRAM_VIRTUALLY_FRAME" val="{&quot;height&quot;:162,&quot;left&quot;:153.55,&quot;top&quot;:286.65,&quot;width&quot;:599.55}"/>
</p:tagLst>
</file>

<file path=ppt/tags/tag52.xml><?xml version="1.0" encoding="utf-8"?>
<p:tagLst xmlns:p="http://schemas.openxmlformats.org/presentationml/2006/main">
  <p:tag name="KSO_WM_DIAGRAM_VIRTUALLY_FRAME" val="{&quot;height&quot;:162,&quot;left&quot;:153.55,&quot;top&quot;:286.65,&quot;width&quot;:599.55}"/>
</p:tagLst>
</file>

<file path=ppt/tags/tag53.xml><?xml version="1.0" encoding="utf-8"?>
<p:tagLst xmlns:p="http://schemas.openxmlformats.org/presentationml/2006/main">
  <p:tag name="KSO_WM_DIAGRAM_VIRTUALLY_FRAME" val="{&quot;height&quot;:162,&quot;left&quot;:153.55,&quot;top&quot;:286.65,&quot;width&quot;:599.55}"/>
</p:tagLst>
</file>

<file path=ppt/tags/tag54.xml><?xml version="1.0" encoding="utf-8"?>
<p:tagLst xmlns:p="http://schemas.openxmlformats.org/presentationml/2006/main">
  <p:tag name="KSO_WM_DIAGRAM_VIRTUALLY_FRAME" val="{&quot;height&quot;:162,&quot;left&quot;:153.55,&quot;top&quot;:286.65,&quot;width&quot;:599.55}"/>
</p:tagLst>
</file>

<file path=ppt/tags/tag55.xml><?xml version="1.0" encoding="utf-8"?>
<p:tagLst xmlns:p="http://schemas.openxmlformats.org/presentationml/2006/main">
  <p:tag name="KSO_WM_DIAGRAM_VIRTUALLY_FRAME" val="{&quot;height&quot;:162,&quot;left&quot;:153.55,&quot;top&quot;:286.65,&quot;width&quot;:599.55}"/>
</p:tagLst>
</file>

<file path=ppt/tags/tag56.xml><?xml version="1.0" encoding="utf-8"?>
<p:tagLst xmlns:p="http://schemas.openxmlformats.org/presentationml/2006/main">
  <p:tag name="KSO_WM_DIAGRAM_VIRTUALLY_FRAME" val="{&quot;height&quot;:162,&quot;left&quot;:153.55,&quot;top&quot;:286.65,&quot;width&quot;:599.55}"/>
</p:tagLst>
</file>

<file path=ppt/tags/tag57.xml><?xml version="1.0" encoding="utf-8"?>
<p:tagLst xmlns:p="http://schemas.openxmlformats.org/presentationml/2006/main">
  <p:tag name="KSO_WM_DIAGRAM_VIRTUALLY_FRAME" val="{&quot;height&quot;:162,&quot;left&quot;:153.55,&quot;top&quot;:286.65,&quot;width&quot;:599.55}"/>
</p:tagLst>
</file>

<file path=ppt/tags/tag58.xml><?xml version="1.0" encoding="utf-8"?>
<p:tagLst xmlns:p="http://schemas.openxmlformats.org/presentationml/2006/main">
  <p:tag name="KSO_WM_DIAGRAM_VIRTUALLY_FRAME" val="{&quot;height&quot;:162,&quot;left&quot;:153.55,&quot;top&quot;:286.65,&quot;width&quot;:599.55}"/>
</p:tagLst>
</file>

<file path=ppt/tags/tag59.xml><?xml version="1.0" encoding="utf-8"?>
<p:tagLst xmlns:p="http://schemas.openxmlformats.org/presentationml/2006/main">
  <p:tag name="KSO_WM_DIAGRAM_VIRTUALLY_FRAME" val="{&quot;height&quot;:162,&quot;left&quot;:153.55,&quot;top&quot;:286.65,&quot;width&quot;:599.55}"/>
</p:tagLst>
</file>

<file path=ppt/tags/tag60.xml><?xml version="1.0" encoding="utf-8"?>
<p:tagLst xmlns:p="http://schemas.openxmlformats.org/presentationml/2006/main">
  <p:tag name="KSO_WM_DIAGRAM_VIRTUALLY_FRAME" val="{&quot;height&quot;:162,&quot;left&quot;:153.55,&quot;top&quot;:286.65,&quot;width&quot;:599.55}"/>
</p:tagLst>
</file>

<file path=ppt/tags/tag61.xml><?xml version="1.0" encoding="utf-8"?>
<p:tagLst xmlns:p="http://schemas.openxmlformats.org/presentationml/2006/main">
  <p:tag name="KSO_WM_DIAGRAM_VIRTUALLY_FRAME" val="{&quot;height&quot;:162,&quot;left&quot;:153.55,&quot;top&quot;:286.65,&quot;width&quot;:599.55}"/>
</p:tagLst>
</file>

<file path=ppt/tags/tag62.xml><?xml version="1.0" encoding="utf-8"?>
<p:tagLst xmlns:p="http://schemas.openxmlformats.org/presentationml/2006/main">
  <p:tag name="KSO_WM_DIAGRAM_VIRTUALLY_FRAME" val="{&quot;height&quot;:162,&quot;left&quot;:153.55,&quot;top&quot;:286.65,&quot;width&quot;:599.55}"/>
</p:tagLst>
</file>

<file path=ppt/tags/tag63.xml><?xml version="1.0" encoding="utf-8"?>
<p:tagLst xmlns:p="http://schemas.openxmlformats.org/presentationml/2006/main">
  <p:tag name="KSO_WM_DIAGRAM_VIRTUALLY_FRAME" val="{&quot;height&quot;:162,&quot;left&quot;:153.55,&quot;top&quot;:286.65,&quot;width&quot;:599.55}"/>
</p:tagLst>
</file>

<file path=ppt/tags/tag64.xml><?xml version="1.0" encoding="utf-8"?>
<p:tagLst xmlns:p="http://schemas.openxmlformats.org/presentationml/2006/main">
  <p:tag name="KSO_WM_DIAGRAM_VIRTUALLY_FRAME" val="{&quot;height&quot;:162,&quot;left&quot;:153.55,&quot;top&quot;:286.65,&quot;width&quot;:599.55}"/>
</p:tagLst>
</file>

<file path=ppt/tags/tag65.xml><?xml version="1.0" encoding="utf-8"?>
<p:tagLst xmlns:p="http://schemas.openxmlformats.org/presentationml/2006/main">
  <p:tag name="KSO_WM_DIAGRAM_VIRTUALLY_FRAME" val="{&quot;height&quot;:162,&quot;left&quot;:153.55,&quot;top&quot;:286.65,&quot;width&quot;:599.55}"/>
</p:tagLst>
</file>

<file path=ppt/tags/tag66.xml><?xml version="1.0" encoding="utf-8"?>
<p:tagLst xmlns:p="http://schemas.openxmlformats.org/presentationml/2006/main">
  <p:tag name="KSO_WM_DIAGRAM_VIRTUALLY_FRAME" val="{&quot;height&quot;:162,&quot;left&quot;:153.55,&quot;top&quot;:286.65,&quot;width&quot;:599.55}"/>
</p:tagLst>
</file>

<file path=ppt/tags/tag67.xml><?xml version="1.0" encoding="utf-8"?>
<p:tagLst xmlns:p="http://schemas.openxmlformats.org/presentationml/2006/main">
  <p:tag name="KSO_WM_DIAGRAM_VIRTUALLY_FRAME" val="{&quot;height&quot;:162,&quot;left&quot;:153.55,&quot;top&quot;:286.65,&quot;width&quot;:599.55}"/>
</p:tagLst>
</file>

<file path=ppt/tags/tag68.xml><?xml version="1.0" encoding="utf-8"?>
<p:tagLst xmlns:p="http://schemas.openxmlformats.org/presentationml/2006/main">
  <p:tag name="KSO_WM_DIAGRAM_VIRTUALLY_FRAME" val="{&quot;height&quot;:162,&quot;left&quot;:153.55,&quot;top&quot;:286.65,&quot;width&quot;:599.55}"/>
</p:tagLst>
</file>

<file path=ppt/tags/tag69.xml><?xml version="1.0" encoding="utf-8"?>
<p:tagLst xmlns:p="http://schemas.openxmlformats.org/presentationml/2006/main">
  <p:tag name="KSO_WM_DIAGRAM_VIRTUALLY_FRAME" val="{&quot;height&quot;:162,&quot;left&quot;:153.55,&quot;top&quot;:286.65,&quot;width&quot;:599.55}"/>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11857</Words>
  <Application>WPS 演示</Application>
  <PresentationFormat>自定义</PresentationFormat>
  <Paragraphs>1225</Paragraphs>
  <Slides>115</Slides>
  <Notes>6</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0</vt:i4>
      </vt:variant>
      <vt:variant>
        <vt:lpstr>幻灯片标题</vt:lpstr>
      </vt:variant>
      <vt:variant>
        <vt:i4>115</vt:i4>
      </vt:variant>
    </vt:vector>
  </HeadingPairs>
  <TitlesOfParts>
    <vt:vector size="131" baseType="lpstr">
      <vt:lpstr>Arial</vt:lpstr>
      <vt:lpstr>宋体</vt:lpstr>
      <vt:lpstr>Wingdings</vt:lpstr>
      <vt:lpstr>Verdana</vt:lpstr>
      <vt:lpstr>黑体</vt:lpstr>
      <vt:lpstr>微软雅黑</vt:lpstr>
      <vt:lpstr>Arial Unicode MS</vt:lpstr>
      <vt:lpstr>Calibri</vt:lpstr>
      <vt:lpstr>Times New Roman</vt:lpstr>
      <vt:lpstr>楷体_GB2312</vt:lpstr>
      <vt:lpstr>新宋体</vt:lpstr>
      <vt:lpstr>PMingLiU</vt:lpstr>
      <vt:lpstr>PMingLiU-ExtB</vt:lpstr>
      <vt:lpstr>Helvetica</vt:lpstr>
      <vt:lpstr>Profile</vt:lpstr>
      <vt:lpstr>2_Profile</vt:lpstr>
      <vt:lpstr>数据库设计选题</vt:lpstr>
      <vt:lpstr>第七章  数据库设计</vt:lpstr>
      <vt:lpstr>7.1 数据库设计概述</vt:lpstr>
      <vt:lpstr>7.1 数据库设计概述</vt:lpstr>
      <vt:lpstr>7.1 数据库设计概述</vt:lpstr>
      <vt:lpstr>7.1.1 数据库设计的特点</vt:lpstr>
      <vt:lpstr>7.1.1 数据库设计的特点</vt:lpstr>
      <vt:lpstr>PowerPoint 演示文稿</vt:lpstr>
      <vt:lpstr>7.1.2 数据库设计方法</vt:lpstr>
      <vt:lpstr>7.1.2 数据库设计方法</vt:lpstr>
      <vt:lpstr>7.1.3 数据库设计的基本步骤</vt:lpstr>
      <vt:lpstr>PowerPoint 演示文稿</vt:lpstr>
      <vt:lpstr>参加数据库设计的人员 </vt:lpstr>
      <vt:lpstr>数据库设计的基本步骤</vt:lpstr>
      <vt:lpstr>数据库设计的基本步骤（续）</vt:lpstr>
      <vt:lpstr>数据库设计的基本步骤（续）</vt:lpstr>
      <vt:lpstr>PowerPoint 演示文稿</vt:lpstr>
      <vt:lpstr>数据库设计过程中的各级模式</vt:lpstr>
      <vt:lpstr>第七章  数据库设计</vt:lpstr>
      <vt:lpstr>7.2  需求分析</vt:lpstr>
      <vt:lpstr>需求分析（续）</vt:lpstr>
      <vt:lpstr>一、需求分析的任务</vt:lpstr>
      <vt:lpstr>二、需求分析的重点</vt:lpstr>
      <vt:lpstr>三、需求分析的难点</vt:lpstr>
      <vt:lpstr>7.2  需求分析</vt:lpstr>
      <vt:lpstr>7.2.2  需求分析的方法</vt:lpstr>
      <vt:lpstr>一、 调查与初步分析用户需求</vt:lpstr>
      <vt:lpstr>调查与初步分析用户需求（续）</vt:lpstr>
      <vt:lpstr>调查与初步分析用户需求（续）</vt:lpstr>
      <vt:lpstr>调查与初步分析用户需求（续）</vt:lpstr>
      <vt:lpstr>二、常用调查方法</vt:lpstr>
      <vt:lpstr>常用调查方法（续）</vt:lpstr>
      <vt:lpstr>常用调查方法（续）</vt:lpstr>
      <vt:lpstr>三、进一步分析和表达用户需求</vt:lpstr>
      <vt:lpstr>进一步分析和表达用户需求（续）</vt:lpstr>
      <vt:lpstr>进一步分析和表达用户需求（续）</vt:lpstr>
      <vt:lpstr>进一步分析和表达用户需求（续）</vt:lpstr>
      <vt:lpstr>四、需求分析过程</vt:lpstr>
      <vt:lpstr>7.2  需求分析</vt:lpstr>
      <vt:lpstr>一、数据字典</vt:lpstr>
      <vt:lpstr>二、数据字典的内容</vt:lpstr>
      <vt:lpstr>⒈ 数据项</vt:lpstr>
      <vt:lpstr>数据项举例</vt:lpstr>
      <vt:lpstr>⒉ 数据结构</vt:lpstr>
      <vt:lpstr>数据结构举例</vt:lpstr>
      <vt:lpstr>⒊ 数据流</vt:lpstr>
      <vt:lpstr>数据流举例1</vt:lpstr>
      <vt:lpstr>数据流举例2</vt:lpstr>
      <vt:lpstr>⒋ 数据存储</vt:lpstr>
      <vt:lpstr>数据存储举例</vt:lpstr>
      <vt:lpstr>⒌ 处理过程</vt:lpstr>
      <vt:lpstr>处理过程（续）</vt:lpstr>
      <vt:lpstr>处理过程举例</vt:lpstr>
      <vt:lpstr>强调两点</vt:lpstr>
      <vt:lpstr> 第七章 数据库设计 </vt:lpstr>
      <vt:lpstr>7.4 逻辑结构设计</vt:lpstr>
      <vt:lpstr>转换内容 </vt:lpstr>
      <vt:lpstr>转换原则 </vt:lpstr>
      <vt:lpstr>（1）1:1的联系 </vt:lpstr>
      <vt:lpstr>例题：</vt:lpstr>
      <vt:lpstr>提问：</vt:lpstr>
      <vt:lpstr>（2）1:n的联系 </vt:lpstr>
      <vt:lpstr>例题：</vt:lpstr>
      <vt:lpstr>提问：</vt:lpstr>
      <vt:lpstr>（3） m:n的联系 </vt:lpstr>
      <vt:lpstr>提问</vt:lpstr>
      <vt:lpstr>（4）三个或三个以上实体间联系</vt:lpstr>
      <vt:lpstr>提问：</vt:lpstr>
      <vt:lpstr>（5）一个实体内部的联系</vt:lpstr>
      <vt:lpstr>一个实例</vt:lpstr>
      <vt:lpstr>（5）具有相同码的关系</vt:lpstr>
      <vt:lpstr>综合例题</vt:lpstr>
      <vt:lpstr>7.4 逻辑结构设计</vt:lpstr>
      <vt:lpstr>数据模型的优化</vt:lpstr>
      <vt:lpstr>优化数据模型的方法:</vt:lpstr>
      <vt:lpstr>优化数据模型的方法:</vt:lpstr>
      <vt:lpstr>优化数据模型的方法:</vt:lpstr>
      <vt:lpstr>优化数据模型的方法:</vt:lpstr>
      <vt:lpstr>7.3  概念结构设计</vt:lpstr>
      <vt:lpstr>7.3.1  概念结构</vt:lpstr>
      <vt:lpstr>概念结构（续）</vt:lpstr>
      <vt:lpstr>7.3 概念结构设计</vt:lpstr>
      <vt:lpstr>7.3.2 E-R模型</vt:lpstr>
      <vt:lpstr>实体之间的联系</vt:lpstr>
      <vt:lpstr>实体之间的联系</vt:lpstr>
      <vt:lpstr>实体之间的联系</vt:lpstr>
      <vt:lpstr>一个实例</vt:lpstr>
      <vt:lpstr>学籍管理系统实例</vt:lpstr>
      <vt:lpstr>7.3 概念结构设计</vt:lpstr>
      <vt:lpstr>1. 实体与属性的划分原则 </vt:lpstr>
      <vt:lpstr>1. 实体与属性的划分原则 </vt:lpstr>
      <vt:lpstr>1. 实体与属性的划分原则 </vt:lpstr>
      <vt:lpstr>1. 实体与属性的划分原则 </vt:lpstr>
      <vt:lpstr>1. 实体与属性的划分原则 </vt:lpstr>
      <vt:lpstr>2.E-R图的集成</vt:lpstr>
      <vt:lpstr>教师，教学班，学生</vt:lpstr>
      <vt:lpstr>排课：教学班，时间片，教室</vt:lpstr>
      <vt:lpstr>汇总</vt:lpstr>
      <vt:lpstr>集成两步走</vt:lpstr>
      <vt:lpstr>“教师教学管理”，“学生选课系统”合并</vt:lpstr>
      <vt:lpstr>集成两步走</vt:lpstr>
      <vt:lpstr>冗余举例：</vt:lpstr>
      <vt:lpstr>合并</vt:lpstr>
      <vt:lpstr>PowerPoint 演示文稿</vt:lpstr>
      <vt:lpstr>7.4 逻辑结构设计</vt:lpstr>
      <vt:lpstr>7.4.3 设计用户子模式</vt:lpstr>
      <vt:lpstr>第七章 数据库设计</vt:lpstr>
      <vt:lpstr>什么是数据库的物理设计 </vt:lpstr>
      <vt:lpstr>数据库物理设计的步骤  </vt:lpstr>
      <vt:lpstr>存取方法</vt:lpstr>
      <vt:lpstr>存放位置和存储结构</vt:lpstr>
      <vt:lpstr>7.6 数据库的实施和维护</vt:lpstr>
      <vt:lpstr>数据库各级模式的形成 ：</vt:lpstr>
      <vt:lpstr>数据库设计的关键步骤</vt:lpstr>
      <vt:lpstr>小结</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admin</cp:lastModifiedBy>
  <cp:revision>308</cp:revision>
  <dcterms:created xsi:type="dcterms:W3CDTF">2014-03-04T01:24:00Z</dcterms:created>
  <dcterms:modified xsi:type="dcterms:W3CDTF">2026-06-09T08:51:48Z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A4A5E6F1EF674154852693CBB75A7CA5_12</vt:lpwstr>
  </property>
  <property fmtid="{D5CDD505-2E9C-101B-9397-08002B2CF9AE}" pid="3" name="KSOProductBuildVer">
    <vt:lpwstr>2052-12.1.0.25225</vt:lpwstr>
  </property>
</Properties>
</file>