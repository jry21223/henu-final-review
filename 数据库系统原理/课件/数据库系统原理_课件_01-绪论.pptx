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01"/>
  </p:notesMasterIdLst>
  <p:sldIdLst>
    <p:sldId id="307" r:id="rId2"/>
    <p:sldId id="308" r:id="rId3"/>
    <p:sldId id="309" r:id="rId4"/>
    <p:sldId id="310" r:id="rId5"/>
    <p:sldId id="311" r:id="rId6"/>
    <p:sldId id="312" r:id="rId7"/>
    <p:sldId id="313" r:id="rId8"/>
    <p:sldId id="314" r:id="rId9"/>
    <p:sldId id="315" r:id="rId10"/>
    <p:sldId id="316" r:id="rId11"/>
    <p:sldId id="318" r:id="rId12"/>
    <p:sldId id="319" r:id="rId13"/>
    <p:sldId id="408" r:id="rId14"/>
    <p:sldId id="322" r:id="rId15"/>
    <p:sldId id="324" r:id="rId16"/>
    <p:sldId id="327" r:id="rId17"/>
    <p:sldId id="462" r:id="rId18"/>
    <p:sldId id="334" r:id="rId19"/>
    <p:sldId id="335" r:id="rId20"/>
    <p:sldId id="336" r:id="rId21"/>
    <p:sldId id="337" r:id="rId22"/>
    <p:sldId id="431" r:id="rId23"/>
    <p:sldId id="433" r:id="rId24"/>
    <p:sldId id="434" r:id="rId25"/>
    <p:sldId id="435" r:id="rId26"/>
    <p:sldId id="464" r:id="rId27"/>
    <p:sldId id="453" r:id="rId28"/>
    <p:sldId id="454" r:id="rId29"/>
    <p:sldId id="455" r:id="rId30"/>
    <p:sldId id="472" r:id="rId31"/>
    <p:sldId id="436" r:id="rId32"/>
    <p:sldId id="437" r:id="rId33"/>
    <p:sldId id="465" r:id="rId34"/>
    <p:sldId id="438" r:id="rId35"/>
    <p:sldId id="466" r:id="rId36"/>
    <p:sldId id="439" r:id="rId37"/>
    <p:sldId id="467" r:id="rId38"/>
    <p:sldId id="470" r:id="rId39"/>
    <p:sldId id="440" r:id="rId40"/>
    <p:sldId id="441" r:id="rId41"/>
    <p:sldId id="442" r:id="rId42"/>
    <p:sldId id="460" r:id="rId43"/>
    <p:sldId id="443" r:id="rId44"/>
    <p:sldId id="444" r:id="rId45"/>
    <p:sldId id="448" r:id="rId46"/>
    <p:sldId id="449" r:id="rId47"/>
    <p:sldId id="450" r:id="rId48"/>
    <p:sldId id="461" r:id="rId49"/>
    <p:sldId id="451" r:id="rId50"/>
    <p:sldId id="475" r:id="rId51"/>
    <p:sldId id="476" r:id="rId52"/>
    <p:sldId id="477" r:id="rId53"/>
    <p:sldId id="478" r:id="rId54"/>
    <p:sldId id="479" r:id="rId55"/>
    <p:sldId id="480" r:id="rId56"/>
    <p:sldId id="358" r:id="rId57"/>
    <p:sldId id="359" r:id="rId58"/>
    <p:sldId id="360" r:id="rId59"/>
    <p:sldId id="362" r:id="rId60"/>
    <p:sldId id="363" r:id="rId61"/>
    <p:sldId id="364" r:id="rId62"/>
    <p:sldId id="366" r:id="rId63"/>
    <p:sldId id="367" r:id="rId64"/>
    <p:sldId id="368" r:id="rId65"/>
    <p:sldId id="369" r:id="rId66"/>
    <p:sldId id="370" r:id="rId67"/>
    <p:sldId id="371" r:id="rId68"/>
    <p:sldId id="372" r:id="rId69"/>
    <p:sldId id="374" r:id="rId70"/>
    <p:sldId id="375" r:id="rId71"/>
    <p:sldId id="376" r:id="rId72"/>
    <p:sldId id="377" r:id="rId73"/>
    <p:sldId id="378" r:id="rId74"/>
    <p:sldId id="379" r:id="rId75"/>
    <p:sldId id="381" r:id="rId76"/>
    <p:sldId id="409" r:id="rId77"/>
    <p:sldId id="474" r:id="rId78"/>
    <p:sldId id="382" r:id="rId79"/>
    <p:sldId id="383" r:id="rId80"/>
    <p:sldId id="384" r:id="rId81"/>
    <p:sldId id="473" r:id="rId82"/>
    <p:sldId id="385" r:id="rId83"/>
    <p:sldId id="386" r:id="rId84"/>
    <p:sldId id="387" r:id="rId85"/>
    <p:sldId id="388" r:id="rId86"/>
    <p:sldId id="389" r:id="rId87"/>
    <p:sldId id="390" r:id="rId88"/>
    <p:sldId id="391" r:id="rId89"/>
    <p:sldId id="392" r:id="rId90"/>
    <p:sldId id="394" r:id="rId91"/>
    <p:sldId id="396" r:id="rId92"/>
    <p:sldId id="397" r:id="rId93"/>
    <p:sldId id="398" r:id="rId94"/>
    <p:sldId id="399" r:id="rId95"/>
    <p:sldId id="400" r:id="rId96"/>
    <p:sldId id="401" r:id="rId97"/>
    <p:sldId id="402" r:id="rId98"/>
    <p:sldId id="403" r:id="rId99"/>
    <p:sldId id="404" r:id="rId100"/>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ern="1200">
        <a:solidFill>
          <a:schemeClr val="tx1"/>
        </a:solidFill>
        <a:latin typeface="Verdana" pitchFamily="34" charset="0"/>
        <a:ea typeface="宋体" pitchFamily="2" charset="-122"/>
        <a:cs typeface="+mn-cs"/>
      </a:defRPr>
    </a:lvl5pPr>
    <a:lvl6pPr marL="2286000" algn="l" defTabSz="914400" rtl="0" eaLnBrk="1" latinLnBrk="0" hangingPunct="1">
      <a:defRPr kern="1200">
        <a:solidFill>
          <a:schemeClr val="tx1"/>
        </a:solidFill>
        <a:latin typeface="Verdana" pitchFamily="34" charset="0"/>
        <a:ea typeface="宋体" pitchFamily="2" charset="-122"/>
        <a:cs typeface="+mn-cs"/>
      </a:defRPr>
    </a:lvl6pPr>
    <a:lvl7pPr marL="2743200" algn="l" defTabSz="914400" rtl="0" eaLnBrk="1" latinLnBrk="0" hangingPunct="1">
      <a:defRPr kern="1200">
        <a:solidFill>
          <a:schemeClr val="tx1"/>
        </a:solidFill>
        <a:latin typeface="Verdana" pitchFamily="34" charset="0"/>
        <a:ea typeface="宋体" pitchFamily="2" charset="-122"/>
        <a:cs typeface="+mn-cs"/>
      </a:defRPr>
    </a:lvl7pPr>
    <a:lvl8pPr marL="3200400" algn="l" defTabSz="914400" rtl="0" eaLnBrk="1" latinLnBrk="0" hangingPunct="1">
      <a:defRPr kern="1200">
        <a:solidFill>
          <a:schemeClr val="tx1"/>
        </a:solidFill>
        <a:latin typeface="Verdana" pitchFamily="34" charset="0"/>
        <a:ea typeface="宋体" pitchFamily="2" charset="-122"/>
        <a:cs typeface="+mn-cs"/>
      </a:defRPr>
    </a:lvl8pPr>
    <a:lvl9pPr marL="3657600" algn="l" defTabSz="914400" rtl="0" eaLnBrk="1" latinLnBrk="0" hangingPunct="1">
      <a:defRPr kern="1200">
        <a:solidFill>
          <a:schemeClr val="tx1"/>
        </a:solidFill>
        <a:latin typeface="Verdana"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A143"/>
    <a:srgbClr val="FFCC99"/>
    <a:srgbClr val="DCC088"/>
    <a:srgbClr val="9EE084"/>
    <a:srgbClr val="07E72C"/>
    <a:srgbClr val="FF99CC"/>
    <a:srgbClr val="AFFD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73" autoAdjust="0"/>
    <p:restoredTop sz="94222" autoAdjust="0"/>
  </p:normalViewPr>
  <p:slideViewPr>
    <p:cSldViewPr>
      <p:cViewPr varScale="1">
        <p:scale>
          <a:sx n="84" d="100"/>
          <a:sy n="84" d="100"/>
        </p:scale>
        <p:origin x="-1572"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91D9C6-9937-47E4-912C-970E2DE84238}" type="doc">
      <dgm:prSet loTypeId="urn:microsoft.com/office/officeart/2005/8/layout/orgChart1" loCatId="hierarchy" qsTypeId="urn:microsoft.com/office/officeart/2005/8/quickstyle/simple1" qsCatId="simple" csTypeId="urn:microsoft.com/office/officeart/2005/8/colors/accent1_2" csCatId="accent1" phldr="1"/>
      <dgm:spPr/>
    </dgm:pt>
    <dgm:pt modelId="{39FE2DE6-EBFB-4A0C-898B-C446D5008D74}">
      <dgm:prSet custT="1"/>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2"/>
              </a:solidFill>
              <a:effectLst/>
              <a:latin typeface="楷体_GB2312" pitchFamily="49" charset="-122"/>
              <a:ea typeface="楷体_GB2312" pitchFamily="49" charset="-122"/>
            </a:rPr>
            <a:t>DBMS</a:t>
          </a:r>
          <a:r>
            <a:rPr kumimoji="0" lang="zh-CN" altLang="en-US" sz="2000" b="1" i="0" u="none" strike="noStrike" cap="none" normalizeH="0" baseline="0" dirty="0" smtClean="0">
              <a:ln>
                <a:noFill/>
              </a:ln>
              <a:solidFill>
                <a:schemeClr val="tx2"/>
              </a:solidFill>
              <a:effectLst/>
              <a:latin typeface="楷体_GB2312" pitchFamily="49" charset="-122"/>
              <a:ea typeface="楷体_GB2312" pitchFamily="49" charset="-122"/>
            </a:rPr>
            <a:t>的主要功能</a:t>
          </a:r>
        </a:p>
      </dgm:t>
    </dgm:pt>
    <dgm:pt modelId="{58EA0E94-170E-4191-9DD1-0E77B2A0614C}" type="parTrans" cxnId="{0A850080-77B5-4EA2-BDFE-C8255950D07E}">
      <dgm:prSet/>
      <dgm:spPr/>
      <dgm:t>
        <a:bodyPr/>
        <a:lstStyle/>
        <a:p>
          <a:endParaRPr lang="zh-CN" altLang="en-US" sz="3600"/>
        </a:p>
      </dgm:t>
    </dgm:pt>
    <dgm:pt modelId="{A666819D-57D5-4330-9988-FE0648C32E21}" type="sibTrans" cxnId="{0A850080-77B5-4EA2-BDFE-C8255950D07E}">
      <dgm:prSet/>
      <dgm:spPr/>
      <dgm:t>
        <a:bodyPr/>
        <a:lstStyle/>
        <a:p>
          <a:endParaRPr lang="zh-CN" altLang="en-US" sz="3600"/>
        </a:p>
      </dgm:t>
    </dgm:pt>
    <dgm:pt modelId="{263C832A-B163-4534-ABFE-E416BCB95A5C}">
      <dgm:prSet custT="1"/>
      <dgm:spPr/>
      <dgm:t>
        <a:bodyPr/>
        <a:lstStyle/>
        <a:p>
          <a:pPr marL="0" marR="0" lvl="0" indent="0" algn="l" defTabSz="914400" rtl="0" eaLnBrk="1" fontAlgn="base" latinLnBrk="0" hangingPunct="1">
            <a:lnSpc>
              <a:spcPct val="120000"/>
            </a:lnSpc>
            <a:spcBef>
              <a:spcPct val="20000"/>
            </a:spcBef>
            <a:spcAft>
              <a:spcPct val="0"/>
            </a:spcAft>
            <a:buClr>
              <a:srgbClr val="669900"/>
            </a:buClr>
            <a:buSzPct val="75000"/>
            <a:buFont typeface="Wingdings" pitchFamily="2" charset="2"/>
            <a:buNone/>
            <a:tabLst/>
          </a:pPr>
          <a:r>
            <a:rPr kumimoji="0" lang="zh-CN" altLang="en-US" sz="2000" b="1" i="0" u="none" strike="noStrike" cap="none" normalizeH="0" baseline="0" dirty="0" smtClean="0">
              <a:ln>
                <a:noFill/>
              </a:ln>
              <a:solidFill>
                <a:schemeClr val="tx1"/>
              </a:solidFill>
              <a:effectLst/>
              <a:latin typeface="Arial" charset="0"/>
              <a:ea typeface="楷体_GB2312" pitchFamily="49" charset="-122"/>
            </a:rPr>
            <a:t>   数据定义功能</a:t>
          </a:r>
          <a:endParaRPr kumimoji="0" lang="zh-CN" altLang="en-US" sz="2000" b="1" i="0" u="none" strike="noStrike" cap="none" normalizeH="0" baseline="0" dirty="0" smtClean="0">
            <a:ln>
              <a:noFill/>
            </a:ln>
            <a:solidFill>
              <a:schemeClr val="tx1"/>
            </a:solidFill>
            <a:effectLst/>
            <a:latin typeface="Arial" charset="0"/>
            <a:ea typeface="宋体" pitchFamily="2" charset="-122"/>
          </a:endParaRPr>
        </a:p>
      </dgm:t>
    </dgm:pt>
    <dgm:pt modelId="{E3E81A2A-A8FB-4E16-B367-9F19E20FF2AC}" type="parTrans" cxnId="{D05FF1D3-1433-415C-BB03-AFBD3B133898}">
      <dgm:prSet/>
      <dgm:spPr/>
      <dgm:t>
        <a:bodyPr/>
        <a:lstStyle/>
        <a:p>
          <a:endParaRPr lang="zh-CN" altLang="en-US" sz="3600"/>
        </a:p>
      </dgm:t>
    </dgm:pt>
    <dgm:pt modelId="{67DF1979-E889-4379-BFD3-BD60322F9887}" type="sibTrans" cxnId="{D05FF1D3-1433-415C-BB03-AFBD3B133898}">
      <dgm:prSet/>
      <dgm:spPr/>
      <dgm:t>
        <a:bodyPr/>
        <a:lstStyle/>
        <a:p>
          <a:endParaRPr lang="zh-CN" altLang="en-US" sz="3600"/>
        </a:p>
      </dgm:t>
    </dgm:pt>
    <dgm:pt modelId="{527B4522-9F3E-4582-8D38-B3267721946D}">
      <dgm:prSet custT="1"/>
      <dgm:spPr/>
      <dgm:t>
        <a:bodyPr/>
        <a:lstStyle/>
        <a:p>
          <a:pPr marL="0" marR="0" lvl="0" indent="0" algn="l" defTabSz="914400" rtl="0" eaLnBrk="1" fontAlgn="base" latinLnBrk="0" hangingPunct="1">
            <a:lnSpc>
              <a:spcPct val="120000"/>
            </a:lnSpc>
            <a:spcBef>
              <a:spcPct val="20000"/>
            </a:spcBef>
            <a:spcAft>
              <a:spcPct val="0"/>
            </a:spcAft>
            <a:buClr>
              <a:srgbClr val="669900"/>
            </a:buClr>
            <a:buSzPct val="75000"/>
            <a:buFont typeface="Wingdings" pitchFamily="2" charset="2"/>
            <a:buNone/>
            <a:tabLst/>
          </a:pPr>
          <a:r>
            <a:rPr kumimoji="0" lang="zh-CN" altLang="en-US" sz="2000" b="1" i="0" u="none" strike="noStrike" cap="none" normalizeH="0" baseline="0" dirty="0" smtClean="0">
              <a:ln>
                <a:noFill/>
              </a:ln>
              <a:solidFill>
                <a:schemeClr val="tx1"/>
              </a:solidFill>
              <a:effectLst/>
              <a:latin typeface="Arial" charset="0"/>
              <a:ea typeface="楷体_GB2312" pitchFamily="49" charset="-122"/>
            </a:rPr>
            <a:t>   数据组织、存储和管理</a:t>
          </a:r>
        </a:p>
      </dgm:t>
    </dgm:pt>
    <dgm:pt modelId="{0C45D59D-3D1D-4686-9B5A-B7F8751CCC04}" type="parTrans" cxnId="{83356B50-27C6-4D8D-BFE5-2C57B4AA3054}">
      <dgm:prSet/>
      <dgm:spPr/>
      <dgm:t>
        <a:bodyPr/>
        <a:lstStyle/>
        <a:p>
          <a:endParaRPr lang="zh-CN" altLang="en-US" sz="3600"/>
        </a:p>
      </dgm:t>
    </dgm:pt>
    <dgm:pt modelId="{DB5F61B9-6CAC-486E-8E79-03B09535325D}" type="sibTrans" cxnId="{83356B50-27C6-4D8D-BFE5-2C57B4AA3054}">
      <dgm:prSet/>
      <dgm:spPr/>
      <dgm:t>
        <a:bodyPr/>
        <a:lstStyle/>
        <a:p>
          <a:endParaRPr lang="zh-CN" altLang="en-US" sz="3600"/>
        </a:p>
      </dgm:t>
    </dgm:pt>
    <dgm:pt modelId="{5201C357-BCC8-4A3D-868F-1D0B0401674C}">
      <dgm:prSet custT="1"/>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Arial" charset="0"/>
              <a:ea typeface="楷体_GB2312" pitchFamily="49" charset="-122"/>
            </a:rPr>
            <a:t>   数据操纵功能</a:t>
          </a:r>
        </a:p>
      </dgm:t>
    </dgm:pt>
    <dgm:pt modelId="{7F3C9FFD-68F8-4A3D-A2B9-416238B37E75}" type="parTrans" cxnId="{6FDDE0C4-B039-47DD-B577-CFB2214F9BDC}">
      <dgm:prSet/>
      <dgm:spPr/>
      <dgm:t>
        <a:bodyPr/>
        <a:lstStyle/>
        <a:p>
          <a:endParaRPr lang="zh-CN" altLang="en-US" sz="3600"/>
        </a:p>
      </dgm:t>
    </dgm:pt>
    <dgm:pt modelId="{DB694726-14EC-424B-8AB3-C49D57196D90}" type="sibTrans" cxnId="{6FDDE0C4-B039-47DD-B577-CFB2214F9BDC}">
      <dgm:prSet/>
      <dgm:spPr/>
      <dgm:t>
        <a:bodyPr/>
        <a:lstStyle/>
        <a:p>
          <a:endParaRPr lang="zh-CN" altLang="en-US" sz="3600"/>
        </a:p>
      </dgm:t>
    </dgm:pt>
    <dgm:pt modelId="{2622EB4D-EBFE-4AB6-B2BA-4D773BFF4CE0}">
      <dgm:prSet custT="1"/>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Arial" charset="0"/>
              <a:ea typeface="楷体_GB2312" pitchFamily="49" charset="-122"/>
            </a:rPr>
            <a:t>数据库的事务管理和运行管理</a:t>
          </a:r>
        </a:p>
      </dgm:t>
    </dgm:pt>
    <dgm:pt modelId="{9B1FAF0E-E721-4DC3-AAF6-CCBA01CF294E}" type="parTrans" cxnId="{61EA49A6-9D31-4167-AA70-1C7B77D7631C}">
      <dgm:prSet/>
      <dgm:spPr/>
      <dgm:t>
        <a:bodyPr/>
        <a:lstStyle/>
        <a:p>
          <a:endParaRPr lang="zh-CN" altLang="en-US" sz="3600"/>
        </a:p>
      </dgm:t>
    </dgm:pt>
    <dgm:pt modelId="{FE913110-7130-4291-8BD2-0A73027FF7AE}" type="sibTrans" cxnId="{61EA49A6-9D31-4167-AA70-1C7B77D7631C}">
      <dgm:prSet/>
      <dgm:spPr/>
      <dgm:t>
        <a:bodyPr/>
        <a:lstStyle/>
        <a:p>
          <a:endParaRPr lang="zh-CN" altLang="en-US" sz="3600"/>
        </a:p>
      </dgm:t>
    </dgm:pt>
    <dgm:pt modelId="{8E5ABCB1-EA91-4C54-99B1-1EC60764E734}">
      <dgm:prSet custT="1"/>
      <dgm:spPr/>
      <dgm:t>
        <a:bodyPr/>
        <a:lstStyle/>
        <a:p>
          <a:pPr marL="0" marR="0" lvl="0" indent="0" algn="l" defTabSz="914400" rtl="0" eaLnBrk="1" fontAlgn="base" latinLnBrk="0" hangingPunct="1">
            <a:lnSpc>
              <a:spcPct val="130000"/>
            </a:lnSpc>
            <a:spcBef>
              <a:spcPct val="20000"/>
            </a:spcBef>
            <a:spcAft>
              <a:spcPct val="0"/>
            </a:spcAft>
            <a:buClr>
              <a:srgbClr val="669900"/>
            </a:buClr>
            <a:buSzPct val="75000"/>
            <a:buFont typeface="Wingdings" pitchFamily="2" charset="2"/>
            <a:buNone/>
            <a:tabLst/>
          </a:pPr>
          <a:r>
            <a:rPr kumimoji="0" lang="zh-CN" altLang="en-US" sz="2000" b="1" i="0" u="none" strike="noStrike" cap="none" normalizeH="0" baseline="0" dirty="0" smtClean="0">
              <a:ln>
                <a:noFill/>
              </a:ln>
              <a:solidFill>
                <a:schemeClr val="tx1"/>
              </a:solidFill>
              <a:effectLst/>
              <a:latin typeface="Arial" charset="0"/>
              <a:ea typeface="楷体_GB2312" pitchFamily="49" charset="-122"/>
            </a:rPr>
            <a:t>   数据库的建立和维护功能</a:t>
          </a:r>
          <a:endParaRPr kumimoji="0" lang="zh-CN" altLang="en-US" sz="2000" b="1" i="0" u="none" strike="noStrike" cap="none" normalizeH="0" baseline="0" dirty="0" smtClean="0">
            <a:ln>
              <a:noFill/>
            </a:ln>
            <a:solidFill>
              <a:schemeClr val="tx1"/>
            </a:solidFill>
            <a:effectLst/>
            <a:latin typeface="Arial" charset="0"/>
            <a:ea typeface="宋体" pitchFamily="2" charset="-122"/>
          </a:endParaRPr>
        </a:p>
      </dgm:t>
    </dgm:pt>
    <dgm:pt modelId="{A748F1CB-9CE4-4282-BF45-E81DC459A103}" type="parTrans" cxnId="{B3144CE6-5BEC-490A-B974-0581BAE1E90F}">
      <dgm:prSet/>
      <dgm:spPr/>
      <dgm:t>
        <a:bodyPr/>
        <a:lstStyle/>
        <a:p>
          <a:endParaRPr lang="zh-CN" altLang="en-US" sz="3600"/>
        </a:p>
      </dgm:t>
    </dgm:pt>
    <dgm:pt modelId="{1A18FBD6-84F3-4B4D-9AB9-7D643B7DAE4B}" type="sibTrans" cxnId="{B3144CE6-5BEC-490A-B974-0581BAE1E90F}">
      <dgm:prSet/>
      <dgm:spPr/>
      <dgm:t>
        <a:bodyPr/>
        <a:lstStyle/>
        <a:p>
          <a:endParaRPr lang="zh-CN" altLang="en-US" sz="3600"/>
        </a:p>
      </dgm:t>
    </dgm:pt>
    <dgm:pt modelId="{A89F5979-B89A-423D-92CB-5137BD8AA846}">
      <dgm:prSet custT="1"/>
      <dgm:spPr/>
      <dgm: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Arial" charset="0"/>
              <a:ea typeface="楷体_GB2312" pitchFamily="49" charset="-122"/>
            </a:rPr>
            <a:t>   其它功能</a:t>
          </a:r>
        </a:p>
      </dgm:t>
    </dgm:pt>
    <dgm:pt modelId="{732F794F-2171-4AC7-B67E-7EFF84AF0A21}" type="parTrans" cxnId="{8F63F6D0-3AEA-47E8-A538-578B8F29DFF6}">
      <dgm:prSet/>
      <dgm:spPr/>
      <dgm:t>
        <a:bodyPr/>
        <a:lstStyle/>
        <a:p>
          <a:endParaRPr lang="zh-CN" altLang="en-US" sz="3600"/>
        </a:p>
      </dgm:t>
    </dgm:pt>
    <dgm:pt modelId="{DCBFEFA3-DFD8-4B73-B384-0734C5783E8C}" type="sibTrans" cxnId="{8F63F6D0-3AEA-47E8-A538-578B8F29DFF6}">
      <dgm:prSet/>
      <dgm:spPr/>
      <dgm:t>
        <a:bodyPr/>
        <a:lstStyle/>
        <a:p>
          <a:endParaRPr lang="zh-CN" altLang="en-US" sz="3600"/>
        </a:p>
      </dgm:t>
    </dgm:pt>
    <dgm:pt modelId="{BA3D6DAE-00A9-440B-AAC2-D5E887F43C4C}" type="pres">
      <dgm:prSet presAssocID="{E891D9C6-9937-47E4-912C-970E2DE84238}" presName="hierChild1" presStyleCnt="0">
        <dgm:presLayoutVars>
          <dgm:orgChart val="1"/>
          <dgm:chPref val="1"/>
          <dgm:dir/>
          <dgm:animOne val="branch"/>
          <dgm:animLvl val="lvl"/>
          <dgm:resizeHandles/>
        </dgm:presLayoutVars>
      </dgm:prSet>
      <dgm:spPr/>
    </dgm:pt>
    <dgm:pt modelId="{30C7B328-6C3A-48FB-8D2F-2BECF2BD25CD}" type="pres">
      <dgm:prSet presAssocID="{39FE2DE6-EBFB-4A0C-898B-C446D5008D74}" presName="hierRoot1" presStyleCnt="0">
        <dgm:presLayoutVars>
          <dgm:hierBranch val="r"/>
        </dgm:presLayoutVars>
      </dgm:prSet>
      <dgm:spPr/>
    </dgm:pt>
    <dgm:pt modelId="{5E01129D-11FC-445A-9AE2-A568FB033074}" type="pres">
      <dgm:prSet presAssocID="{39FE2DE6-EBFB-4A0C-898B-C446D5008D74}" presName="rootComposite1" presStyleCnt="0"/>
      <dgm:spPr/>
    </dgm:pt>
    <dgm:pt modelId="{2545F3F6-71F4-4085-9992-12A798289E92}" type="pres">
      <dgm:prSet presAssocID="{39FE2DE6-EBFB-4A0C-898B-C446D5008D74}" presName="rootText1" presStyleLbl="node0" presStyleIdx="0" presStyleCnt="1" custScaleX="366114">
        <dgm:presLayoutVars>
          <dgm:chPref val="3"/>
        </dgm:presLayoutVars>
      </dgm:prSet>
      <dgm:spPr/>
      <dgm:t>
        <a:bodyPr/>
        <a:lstStyle/>
        <a:p>
          <a:endParaRPr lang="zh-CN" altLang="en-US"/>
        </a:p>
      </dgm:t>
    </dgm:pt>
    <dgm:pt modelId="{A1D3951D-5FB4-45E1-90E5-7F683F44615C}" type="pres">
      <dgm:prSet presAssocID="{39FE2DE6-EBFB-4A0C-898B-C446D5008D74}" presName="rootConnector1" presStyleLbl="node1" presStyleIdx="0" presStyleCnt="0"/>
      <dgm:spPr/>
      <dgm:t>
        <a:bodyPr/>
        <a:lstStyle/>
        <a:p>
          <a:endParaRPr lang="zh-CN" altLang="en-US"/>
        </a:p>
      </dgm:t>
    </dgm:pt>
    <dgm:pt modelId="{E1A41533-A47A-4616-A7DE-1CB49A061EB5}" type="pres">
      <dgm:prSet presAssocID="{39FE2DE6-EBFB-4A0C-898B-C446D5008D74}" presName="hierChild2" presStyleCnt="0"/>
      <dgm:spPr/>
    </dgm:pt>
    <dgm:pt modelId="{4BCFA6C3-2977-4944-835F-D2CEA024DE7E}" type="pres">
      <dgm:prSet presAssocID="{E3E81A2A-A8FB-4E16-B367-9F19E20FF2AC}" presName="Name50" presStyleLbl="parChTrans1D2" presStyleIdx="0" presStyleCnt="6"/>
      <dgm:spPr/>
    </dgm:pt>
    <dgm:pt modelId="{F5BD1957-CBBC-468F-9CCB-B07D0A6408D8}" type="pres">
      <dgm:prSet presAssocID="{263C832A-B163-4534-ABFE-E416BCB95A5C}" presName="hierRoot2" presStyleCnt="0">
        <dgm:presLayoutVars>
          <dgm:hierBranch/>
        </dgm:presLayoutVars>
      </dgm:prSet>
      <dgm:spPr/>
    </dgm:pt>
    <dgm:pt modelId="{6C2C77C5-A60A-4338-9A59-F340E2AD3FFF}" type="pres">
      <dgm:prSet presAssocID="{263C832A-B163-4534-ABFE-E416BCB95A5C}" presName="rootComposite" presStyleCnt="0"/>
      <dgm:spPr/>
    </dgm:pt>
    <dgm:pt modelId="{DFAEAE23-F91A-4A1E-A1C8-F88444A394E4}" type="pres">
      <dgm:prSet presAssocID="{263C832A-B163-4534-ABFE-E416BCB95A5C}" presName="rootText" presStyleLbl="node2" presStyleIdx="0" presStyleCnt="6" custScaleX="381529">
        <dgm:presLayoutVars>
          <dgm:chPref val="3"/>
        </dgm:presLayoutVars>
      </dgm:prSet>
      <dgm:spPr/>
      <dgm:t>
        <a:bodyPr/>
        <a:lstStyle/>
        <a:p>
          <a:endParaRPr lang="zh-CN" altLang="en-US"/>
        </a:p>
      </dgm:t>
    </dgm:pt>
    <dgm:pt modelId="{A9029175-FC12-4ED4-8FAC-2CED22BA6139}" type="pres">
      <dgm:prSet presAssocID="{263C832A-B163-4534-ABFE-E416BCB95A5C}" presName="rootConnector" presStyleLbl="node2" presStyleIdx="0" presStyleCnt="6"/>
      <dgm:spPr/>
      <dgm:t>
        <a:bodyPr/>
        <a:lstStyle/>
        <a:p>
          <a:endParaRPr lang="zh-CN" altLang="en-US"/>
        </a:p>
      </dgm:t>
    </dgm:pt>
    <dgm:pt modelId="{864558D7-62C2-4DB0-BDEE-0E56F21337DF}" type="pres">
      <dgm:prSet presAssocID="{263C832A-B163-4534-ABFE-E416BCB95A5C}" presName="hierChild4" presStyleCnt="0"/>
      <dgm:spPr/>
    </dgm:pt>
    <dgm:pt modelId="{A3496540-511B-4D05-857E-3B47214C1922}" type="pres">
      <dgm:prSet presAssocID="{263C832A-B163-4534-ABFE-E416BCB95A5C}" presName="hierChild5" presStyleCnt="0"/>
      <dgm:spPr/>
    </dgm:pt>
    <dgm:pt modelId="{92933270-100B-4451-8ECC-EE9A435854F6}" type="pres">
      <dgm:prSet presAssocID="{0C45D59D-3D1D-4686-9B5A-B7F8751CCC04}" presName="Name50" presStyleLbl="parChTrans1D2" presStyleIdx="1" presStyleCnt="6"/>
      <dgm:spPr/>
    </dgm:pt>
    <dgm:pt modelId="{8B8D6626-B098-4969-8B89-A172CAAD6A9D}" type="pres">
      <dgm:prSet presAssocID="{527B4522-9F3E-4582-8D38-B3267721946D}" presName="hierRoot2" presStyleCnt="0">
        <dgm:presLayoutVars>
          <dgm:hierBranch/>
        </dgm:presLayoutVars>
      </dgm:prSet>
      <dgm:spPr/>
    </dgm:pt>
    <dgm:pt modelId="{DCA2736C-0911-45B8-BEBD-15B1495046F3}" type="pres">
      <dgm:prSet presAssocID="{527B4522-9F3E-4582-8D38-B3267721946D}" presName="rootComposite" presStyleCnt="0"/>
      <dgm:spPr/>
    </dgm:pt>
    <dgm:pt modelId="{85CC5E81-7E19-4944-81D4-4E1CFA443E6A}" type="pres">
      <dgm:prSet presAssocID="{527B4522-9F3E-4582-8D38-B3267721946D}" presName="rootText" presStyleLbl="node2" presStyleIdx="1" presStyleCnt="6" custScaleX="348032">
        <dgm:presLayoutVars>
          <dgm:chPref val="3"/>
        </dgm:presLayoutVars>
      </dgm:prSet>
      <dgm:spPr/>
      <dgm:t>
        <a:bodyPr/>
        <a:lstStyle/>
        <a:p>
          <a:endParaRPr lang="zh-CN" altLang="en-US"/>
        </a:p>
      </dgm:t>
    </dgm:pt>
    <dgm:pt modelId="{D170B235-3F6A-4FE3-BA9F-28105723CC49}" type="pres">
      <dgm:prSet presAssocID="{527B4522-9F3E-4582-8D38-B3267721946D}" presName="rootConnector" presStyleLbl="node2" presStyleIdx="1" presStyleCnt="6"/>
      <dgm:spPr/>
      <dgm:t>
        <a:bodyPr/>
        <a:lstStyle/>
        <a:p>
          <a:endParaRPr lang="zh-CN" altLang="en-US"/>
        </a:p>
      </dgm:t>
    </dgm:pt>
    <dgm:pt modelId="{62A1305D-F991-4BD7-A480-104352952C24}" type="pres">
      <dgm:prSet presAssocID="{527B4522-9F3E-4582-8D38-B3267721946D}" presName="hierChild4" presStyleCnt="0"/>
      <dgm:spPr/>
    </dgm:pt>
    <dgm:pt modelId="{8BF7B178-5F4A-48F4-B760-746929E4C7C6}" type="pres">
      <dgm:prSet presAssocID="{527B4522-9F3E-4582-8D38-B3267721946D}" presName="hierChild5" presStyleCnt="0"/>
      <dgm:spPr/>
    </dgm:pt>
    <dgm:pt modelId="{A05D6CB0-ACB9-47DD-B462-B07D3EC3AC94}" type="pres">
      <dgm:prSet presAssocID="{7F3C9FFD-68F8-4A3D-A2B9-416238B37E75}" presName="Name50" presStyleLbl="parChTrans1D2" presStyleIdx="2" presStyleCnt="6"/>
      <dgm:spPr/>
    </dgm:pt>
    <dgm:pt modelId="{AD4A107E-BBC5-4888-BC9E-D3E54F4D6419}" type="pres">
      <dgm:prSet presAssocID="{5201C357-BCC8-4A3D-868F-1D0B0401674C}" presName="hierRoot2" presStyleCnt="0">
        <dgm:presLayoutVars>
          <dgm:hierBranch/>
        </dgm:presLayoutVars>
      </dgm:prSet>
      <dgm:spPr/>
    </dgm:pt>
    <dgm:pt modelId="{0834BD43-D764-4D04-BC12-C8510179944D}" type="pres">
      <dgm:prSet presAssocID="{5201C357-BCC8-4A3D-868F-1D0B0401674C}" presName="rootComposite" presStyleCnt="0"/>
      <dgm:spPr/>
    </dgm:pt>
    <dgm:pt modelId="{13582600-31D4-474B-81D4-77E15DFE18EB}" type="pres">
      <dgm:prSet presAssocID="{5201C357-BCC8-4A3D-868F-1D0B0401674C}" presName="rootText" presStyleLbl="node2" presStyleIdx="2" presStyleCnt="6" custScaleX="417402">
        <dgm:presLayoutVars>
          <dgm:chPref val="3"/>
        </dgm:presLayoutVars>
      </dgm:prSet>
      <dgm:spPr/>
      <dgm:t>
        <a:bodyPr/>
        <a:lstStyle/>
        <a:p>
          <a:endParaRPr lang="zh-CN" altLang="en-US"/>
        </a:p>
      </dgm:t>
    </dgm:pt>
    <dgm:pt modelId="{A79F778A-8288-485C-BDF9-404FC37AA33E}" type="pres">
      <dgm:prSet presAssocID="{5201C357-BCC8-4A3D-868F-1D0B0401674C}" presName="rootConnector" presStyleLbl="node2" presStyleIdx="2" presStyleCnt="6"/>
      <dgm:spPr/>
      <dgm:t>
        <a:bodyPr/>
        <a:lstStyle/>
        <a:p>
          <a:endParaRPr lang="zh-CN" altLang="en-US"/>
        </a:p>
      </dgm:t>
    </dgm:pt>
    <dgm:pt modelId="{7B5DCCFA-6A4B-4A7D-A53F-117020FBEF8C}" type="pres">
      <dgm:prSet presAssocID="{5201C357-BCC8-4A3D-868F-1D0B0401674C}" presName="hierChild4" presStyleCnt="0"/>
      <dgm:spPr/>
    </dgm:pt>
    <dgm:pt modelId="{03F33E52-4490-441C-BAB5-9C1C10CB5CB2}" type="pres">
      <dgm:prSet presAssocID="{5201C357-BCC8-4A3D-868F-1D0B0401674C}" presName="hierChild5" presStyleCnt="0"/>
      <dgm:spPr/>
    </dgm:pt>
    <dgm:pt modelId="{C9F6D2BA-0BB7-4138-8AE4-E46143880300}" type="pres">
      <dgm:prSet presAssocID="{9B1FAF0E-E721-4DC3-AAF6-CCBA01CF294E}" presName="Name50" presStyleLbl="parChTrans1D2" presStyleIdx="3" presStyleCnt="6"/>
      <dgm:spPr/>
    </dgm:pt>
    <dgm:pt modelId="{C136293C-716C-4439-8D02-848A48304B13}" type="pres">
      <dgm:prSet presAssocID="{2622EB4D-EBFE-4AB6-B2BA-4D773BFF4CE0}" presName="hierRoot2" presStyleCnt="0">
        <dgm:presLayoutVars>
          <dgm:hierBranch/>
        </dgm:presLayoutVars>
      </dgm:prSet>
      <dgm:spPr/>
    </dgm:pt>
    <dgm:pt modelId="{64DE5C8C-C774-4FCB-95C9-9F51B228251E}" type="pres">
      <dgm:prSet presAssocID="{2622EB4D-EBFE-4AB6-B2BA-4D773BFF4CE0}" presName="rootComposite" presStyleCnt="0"/>
      <dgm:spPr/>
    </dgm:pt>
    <dgm:pt modelId="{3BDA4D51-A38B-449B-98FD-DCEBA749449A}" type="pres">
      <dgm:prSet presAssocID="{2622EB4D-EBFE-4AB6-B2BA-4D773BFF4CE0}" presName="rootText" presStyleLbl="node2" presStyleIdx="3" presStyleCnt="6" custScaleX="405702">
        <dgm:presLayoutVars>
          <dgm:chPref val="3"/>
        </dgm:presLayoutVars>
      </dgm:prSet>
      <dgm:spPr/>
      <dgm:t>
        <a:bodyPr/>
        <a:lstStyle/>
        <a:p>
          <a:endParaRPr lang="zh-CN" altLang="en-US"/>
        </a:p>
      </dgm:t>
    </dgm:pt>
    <dgm:pt modelId="{999D7AB0-F486-429A-B7BD-74C67F705BBC}" type="pres">
      <dgm:prSet presAssocID="{2622EB4D-EBFE-4AB6-B2BA-4D773BFF4CE0}" presName="rootConnector" presStyleLbl="node2" presStyleIdx="3" presStyleCnt="6"/>
      <dgm:spPr/>
      <dgm:t>
        <a:bodyPr/>
        <a:lstStyle/>
        <a:p>
          <a:endParaRPr lang="zh-CN" altLang="en-US"/>
        </a:p>
      </dgm:t>
    </dgm:pt>
    <dgm:pt modelId="{B4F52F05-DF69-482A-8665-659B704EDE3E}" type="pres">
      <dgm:prSet presAssocID="{2622EB4D-EBFE-4AB6-B2BA-4D773BFF4CE0}" presName="hierChild4" presStyleCnt="0"/>
      <dgm:spPr/>
    </dgm:pt>
    <dgm:pt modelId="{10432CCE-C3AB-4150-A587-29921F1726F0}" type="pres">
      <dgm:prSet presAssocID="{2622EB4D-EBFE-4AB6-B2BA-4D773BFF4CE0}" presName="hierChild5" presStyleCnt="0"/>
      <dgm:spPr/>
    </dgm:pt>
    <dgm:pt modelId="{3A2B6077-B609-4D35-970E-8C611688ADD3}" type="pres">
      <dgm:prSet presAssocID="{A748F1CB-9CE4-4282-BF45-E81DC459A103}" presName="Name50" presStyleLbl="parChTrans1D2" presStyleIdx="4" presStyleCnt="6"/>
      <dgm:spPr/>
    </dgm:pt>
    <dgm:pt modelId="{D62E0EBF-EBA5-4B6D-867C-A219AE7FE3BE}" type="pres">
      <dgm:prSet presAssocID="{8E5ABCB1-EA91-4C54-99B1-1EC60764E734}" presName="hierRoot2" presStyleCnt="0">
        <dgm:presLayoutVars>
          <dgm:hierBranch/>
        </dgm:presLayoutVars>
      </dgm:prSet>
      <dgm:spPr/>
    </dgm:pt>
    <dgm:pt modelId="{E513E52C-6080-46BE-B879-3113682AC2C3}" type="pres">
      <dgm:prSet presAssocID="{8E5ABCB1-EA91-4C54-99B1-1EC60764E734}" presName="rootComposite" presStyleCnt="0"/>
      <dgm:spPr/>
    </dgm:pt>
    <dgm:pt modelId="{3DEF2466-AA2A-4E0A-900C-D1DDF308DB7C}" type="pres">
      <dgm:prSet presAssocID="{8E5ABCB1-EA91-4C54-99B1-1EC60764E734}" presName="rootText" presStyleLbl="node2" presStyleIdx="4" presStyleCnt="6" custScaleX="420689">
        <dgm:presLayoutVars>
          <dgm:chPref val="3"/>
        </dgm:presLayoutVars>
      </dgm:prSet>
      <dgm:spPr/>
      <dgm:t>
        <a:bodyPr/>
        <a:lstStyle/>
        <a:p>
          <a:endParaRPr lang="zh-CN" altLang="en-US"/>
        </a:p>
      </dgm:t>
    </dgm:pt>
    <dgm:pt modelId="{FAB112F9-BCA8-42D2-AC6E-28D49228B4F6}" type="pres">
      <dgm:prSet presAssocID="{8E5ABCB1-EA91-4C54-99B1-1EC60764E734}" presName="rootConnector" presStyleLbl="node2" presStyleIdx="4" presStyleCnt="6"/>
      <dgm:spPr/>
      <dgm:t>
        <a:bodyPr/>
        <a:lstStyle/>
        <a:p>
          <a:endParaRPr lang="zh-CN" altLang="en-US"/>
        </a:p>
      </dgm:t>
    </dgm:pt>
    <dgm:pt modelId="{3947935A-E762-4A57-BE06-B9E549D6AABD}" type="pres">
      <dgm:prSet presAssocID="{8E5ABCB1-EA91-4C54-99B1-1EC60764E734}" presName="hierChild4" presStyleCnt="0"/>
      <dgm:spPr/>
    </dgm:pt>
    <dgm:pt modelId="{0186B345-402F-4E33-898C-A85A76C1B90D}" type="pres">
      <dgm:prSet presAssocID="{8E5ABCB1-EA91-4C54-99B1-1EC60764E734}" presName="hierChild5" presStyleCnt="0"/>
      <dgm:spPr/>
    </dgm:pt>
    <dgm:pt modelId="{E695E42F-8DFF-471C-82AF-C87C0CCB8F4C}" type="pres">
      <dgm:prSet presAssocID="{732F794F-2171-4AC7-B67E-7EFF84AF0A21}" presName="Name50" presStyleLbl="parChTrans1D2" presStyleIdx="5" presStyleCnt="6"/>
      <dgm:spPr/>
    </dgm:pt>
    <dgm:pt modelId="{A0024E65-7EF3-4E4F-8C48-EE35FC6BD568}" type="pres">
      <dgm:prSet presAssocID="{A89F5979-B89A-423D-92CB-5137BD8AA846}" presName="hierRoot2" presStyleCnt="0">
        <dgm:presLayoutVars>
          <dgm:hierBranch/>
        </dgm:presLayoutVars>
      </dgm:prSet>
      <dgm:spPr/>
    </dgm:pt>
    <dgm:pt modelId="{C1F04A58-0EA7-4BFE-8C8C-43F1775766A2}" type="pres">
      <dgm:prSet presAssocID="{A89F5979-B89A-423D-92CB-5137BD8AA846}" presName="rootComposite" presStyleCnt="0"/>
      <dgm:spPr/>
    </dgm:pt>
    <dgm:pt modelId="{2275E2E3-37F9-4B18-9AFA-64728A7F78EE}" type="pres">
      <dgm:prSet presAssocID="{A89F5979-B89A-423D-92CB-5137BD8AA846}" presName="rootText" presStyleLbl="node2" presStyleIdx="5" presStyleCnt="6" custScaleX="349788">
        <dgm:presLayoutVars>
          <dgm:chPref val="3"/>
        </dgm:presLayoutVars>
      </dgm:prSet>
      <dgm:spPr/>
      <dgm:t>
        <a:bodyPr/>
        <a:lstStyle/>
        <a:p>
          <a:endParaRPr lang="zh-CN" altLang="en-US"/>
        </a:p>
      </dgm:t>
    </dgm:pt>
    <dgm:pt modelId="{70C43FD9-EE1A-4564-8ED1-8043D28F7A1D}" type="pres">
      <dgm:prSet presAssocID="{A89F5979-B89A-423D-92CB-5137BD8AA846}" presName="rootConnector" presStyleLbl="node2" presStyleIdx="5" presStyleCnt="6"/>
      <dgm:spPr/>
      <dgm:t>
        <a:bodyPr/>
        <a:lstStyle/>
        <a:p>
          <a:endParaRPr lang="zh-CN" altLang="en-US"/>
        </a:p>
      </dgm:t>
    </dgm:pt>
    <dgm:pt modelId="{1DA00411-F30A-479C-B8F0-7F801B9253B5}" type="pres">
      <dgm:prSet presAssocID="{A89F5979-B89A-423D-92CB-5137BD8AA846}" presName="hierChild4" presStyleCnt="0"/>
      <dgm:spPr/>
    </dgm:pt>
    <dgm:pt modelId="{DE17F0C6-1FBD-4322-95E2-A01064220AF9}" type="pres">
      <dgm:prSet presAssocID="{A89F5979-B89A-423D-92CB-5137BD8AA846}" presName="hierChild5" presStyleCnt="0"/>
      <dgm:spPr/>
    </dgm:pt>
    <dgm:pt modelId="{86C06119-2FB3-4762-B0EF-35AAD30275C8}" type="pres">
      <dgm:prSet presAssocID="{39FE2DE6-EBFB-4A0C-898B-C446D5008D74}" presName="hierChild3" presStyleCnt="0"/>
      <dgm:spPr/>
    </dgm:pt>
  </dgm:ptLst>
  <dgm:cxnLst>
    <dgm:cxn modelId="{216DC8EC-DC07-48A9-948A-43CA49662F7C}" type="presOf" srcId="{39FE2DE6-EBFB-4A0C-898B-C446D5008D74}" destId="{2545F3F6-71F4-4085-9992-12A798289E92}" srcOrd="0" destOrd="0" presId="urn:microsoft.com/office/officeart/2005/8/layout/orgChart1"/>
    <dgm:cxn modelId="{626078A0-557B-48CF-9B5B-6B156028F33F}" type="presOf" srcId="{732F794F-2171-4AC7-B67E-7EFF84AF0A21}" destId="{E695E42F-8DFF-471C-82AF-C87C0CCB8F4C}" srcOrd="0" destOrd="0" presId="urn:microsoft.com/office/officeart/2005/8/layout/orgChart1"/>
    <dgm:cxn modelId="{3819ACDE-D549-4928-B458-E52AFA57C722}" type="presOf" srcId="{7F3C9FFD-68F8-4A3D-A2B9-416238B37E75}" destId="{A05D6CB0-ACB9-47DD-B462-B07D3EC3AC94}" srcOrd="0" destOrd="0" presId="urn:microsoft.com/office/officeart/2005/8/layout/orgChart1"/>
    <dgm:cxn modelId="{9863AD02-80F9-46BD-BCC4-2EF0AD50234D}" type="presOf" srcId="{A89F5979-B89A-423D-92CB-5137BD8AA846}" destId="{2275E2E3-37F9-4B18-9AFA-64728A7F78EE}" srcOrd="0" destOrd="0" presId="urn:microsoft.com/office/officeart/2005/8/layout/orgChart1"/>
    <dgm:cxn modelId="{83356B50-27C6-4D8D-BFE5-2C57B4AA3054}" srcId="{39FE2DE6-EBFB-4A0C-898B-C446D5008D74}" destId="{527B4522-9F3E-4582-8D38-B3267721946D}" srcOrd="1" destOrd="0" parTransId="{0C45D59D-3D1D-4686-9B5A-B7F8751CCC04}" sibTransId="{DB5F61B9-6CAC-486E-8E79-03B09535325D}"/>
    <dgm:cxn modelId="{57CDA21B-BB89-4178-BE14-F20A855486D5}" type="presOf" srcId="{527B4522-9F3E-4582-8D38-B3267721946D}" destId="{85CC5E81-7E19-4944-81D4-4E1CFA443E6A}" srcOrd="0" destOrd="0" presId="urn:microsoft.com/office/officeart/2005/8/layout/orgChart1"/>
    <dgm:cxn modelId="{8ACF55A4-97E0-4635-ACAC-56036862748A}" type="presOf" srcId="{2622EB4D-EBFE-4AB6-B2BA-4D773BFF4CE0}" destId="{3BDA4D51-A38B-449B-98FD-DCEBA749449A}" srcOrd="0" destOrd="0" presId="urn:microsoft.com/office/officeart/2005/8/layout/orgChart1"/>
    <dgm:cxn modelId="{E247CA5E-8FD5-484F-BBEE-8452C5EF87E2}" type="presOf" srcId="{263C832A-B163-4534-ABFE-E416BCB95A5C}" destId="{DFAEAE23-F91A-4A1E-A1C8-F88444A394E4}" srcOrd="0" destOrd="0" presId="urn:microsoft.com/office/officeart/2005/8/layout/orgChart1"/>
    <dgm:cxn modelId="{D29B6592-E0BF-491A-800E-D57DE97D0831}" type="presOf" srcId="{8E5ABCB1-EA91-4C54-99B1-1EC60764E734}" destId="{FAB112F9-BCA8-42D2-AC6E-28D49228B4F6}" srcOrd="1" destOrd="0" presId="urn:microsoft.com/office/officeart/2005/8/layout/orgChart1"/>
    <dgm:cxn modelId="{B3144CE6-5BEC-490A-B974-0581BAE1E90F}" srcId="{39FE2DE6-EBFB-4A0C-898B-C446D5008D74}" destId="{8E5ABCB1-EA91-4C54-99B1-1EC60764E734}" srcOrd="4" destOrd="0" parTransId="{A748F1CB-9CE4-4282-BF45-E81DC459A103}" sibTransId="{1A18FBD6-84F3-4B4D-9AB9-7D643B7DAE4B}"/>
    <dgm:cxn modelId="{C4C1AC88-7C42-486E-8598-1CD88EC898C3}" type="presOf" srcId="{E891D9C6-9937-47E4-912C-970E2DE84238}" destId="{BA3D6DAE-00A9-440B-AAC2-D5E887F43C4C}" srcOrd="0" destOrd="0" presId="urn:microsoft.com/office/officeart/2005/8/layout/orgChart1"/>
    <dgm:cxn modelId="{D7E2081C-06DF-427C-AD4A-2240E88D3463}" type="presOf" srcId="{9B1FAF0E-E721-4DC3-AAF6-CCBA01CF294E}" destId="{C9F6D2BA-0BB7-4138-8AE4-E46143880300}" srcOrd="0" destOrd="0" presId="urn:microsoft.com/office/officeart/2005/8/layout/orgChart1"/>
    <dgm:cxn modelId="{6FDDE0C4-B039-47DD-B577-CFB2214F9BDC}" srcId="{39FE2DE6-EBFB-4A0C-898B-C446D5008D74}" destId="{5201C357-BCC8-4A3D-868F-1D0B0401674C}" srcOrd="2" destOrd="0" parTransId="{7F3C9FFD-68F8-4A3D-A2B9-416238B37E75}" sibTransId="{DB694726-14EC-424B-8AB3-C49D57196D90}"/>
    <dgm:cxn modelId="{38C4AAB5-2D48-4FA9-A90F-E2B099B0B8A9}" type="presOf" srcId="{5201C357-BCC8-4A3D-868F-1D0B0401674C}" destId="{13582600-31D4-474B-81D4-77E15DFE18EB}" srcOrd="0" destOrd="0" presId="urn:microsoft.com/office/officeart/2005/8/layout/orgChart1"/>
    <dgm:cxn modelId="{CDE1EC76-5299-4146-AA8D-83426CD8CC28}" type="presOf" srcId="{263C832A-B163-4534-ABFE-E416BCB95A5C}" destId="{A9029175-FC12-4ED4-8FAC-2CED22BA6139}" srcOrd="1" destOrd="0" presId="urn:microsoft.com/office/officeart/2005/8/layout/orgChart1"/>
    <dgm:cxn modelId="{0A850080-77B5-4EA2-BDFE-C8255950D07E}" srcId="{E891D9C6-9937-47E4-912C-970E2DE84238}" destId="{39FE2DE6-EBFB-4A0C-898B-C446D5008D74}" srcOrd="0" destOrd="0" parTransId="{58EA0E94-170E-4191-9DD1-0E77B2A0614C}" sibTransId="{A666819D-57D5-4330-9988-FE0648C32E21}"/>
    <dgm:cxn modelId="{61EA49A6-9D31-4167-AA70-1C7B77D7631C}" srcId="{39FE2DE6-EBFB-4A0C-898B-C446D5008D74}" destId="{2622EB4D-EBFE-4AB6-B2BA-4D773BFF4CE0}" srcOrd="3" destOrd="0" parTransId="{9B1FAF0E-E721-4DC3-AAF6-CCBA01CF294E}" sibTransId="{FE913110-7130-4291-8BD2-0A73027FF7AE}"/>
    <dgm:cxn modelId="{E265E5DD-B314-40FC-A81E-3D1597E0B452}" type="presOf" srcId="{A89F5979-B89A-423D-92CB-5137BD8AA846}" destId="{70C43FD9-EE1A-4564-8ED1-8043D28F7A1D}" srcOrd="1" destOrd="0" presId="urn:microsoft.com/office/officeart/2005/8/layout/orgChart1"/>
    <dgm:cxn modelId="{98B8D5C5-6A25-4780-AF97-A864FD45E5CF}" type="presOf" srcId="{527B4522-9F3E-4582-8D38-B3267721946D}" destId="{D170B235-3F6A-4FE3-BA9F-28105723CC49}" srcOrd="1" destOrd="0" presId="urn:microsoft.com/office/officeart/2005/8/layout/orgChart1"/>
    <dgm:cxn modelId="{B864B21F-6003-4416-BE9E-6615A98B92EE}" type="presOf" srcId="{A748F1CB-9CE4-4282-BF45-E81DC459A103}" destId="{3A2B6077-B609-4D35-970E-8C611688ADD3}" srcOrd="0" destOrd="0" presId="urn:microsoft.com/office/officeart/2005/8/layout/orgChart1"/>
    <dgm:cxn modelId="{8A0CAE58-D473-4843-B0CF-BD2DE9F6FFEC}" type="presOf" srcId="{5201C357-BCC8-4A3D-868F-1D0B0401674C}" destId="{A79F778A-8288-485C-BDF9-404FC37AA33E}" srcOrd="1" destOrd="0" presId="urn:microsoft.com/office/officeart/2005/8/layout/orgChart1"/>
    <dgm:cxn modelId="{D05FF1D3-1433-415C-BB03-AFBD3B133898}" srcId="{39FE2DE6-EBFB-4A0C-898B-C446D5008D74}" destId="{263C832A-B163-4534-ABFE-E416BCB95A5C}" srcOrd="0" destOrd="0" parTransId="{E3E81A2A-A8FB-4E16-B367-9F19E20FF2AC}" sibTransId="{67DF1979-E889-4379-BFD3-BD60322F9887}"/>
    <dgm:cxn modelId="{D36FF79E-E3BE-48EA-85B2-18B1B9249E84}" type="presOf" srcId="{2622EB4D-EBFE-4AB6-B2BA-4D773BFF4CE0}" destId="{999D7AB0-F486-429A-B7BD-74C67F705BBC}" srcOrd="1" destOrd="0" presId="urn:microsoft.com/office/officeart/2005/8/layout/orgChart1"/>
    <dgm:cxn modelId="{8F63F6D0-3AEA-47E8-A538-578B8F29DFF6}" srcId="{39FE2DE6-EBFB-4A0C-898B-C446D5008D74}" destId="{A89F5979-B89A-423D-92CB-5137BD8AA846}" srcOrd="5" destOrd="0" parTransId="{732F794F-2171-4AC7-B67E-7EFF84AF0A21}" sibTransId="{DCBFEFA3-DFD8-4B73-B384-0734C5783E8C}"/>
    <dgm:cxn modelId="{5363DF3E-28B5-4D47-AC7B-1827DD921B14}" type="presOf" srcId="{8E5ABCB1-EA91-4C54-99B1-1EC60764E734}" destId="{3DEF2466-AA2A-4E0A-900C-D1DDF308DB7C}" srcOrd="0" destOrd="0" presId="urn:microsoft.com/office/officeart/2005/8/layout/orgChart1"/>
    <dgm:cxn modelId="{3E29E423-8FC3-4226-AA60-3717C17C7DE6}" type="presOf" srcId="{39FE2DE6-EBFB-4A0C-898B-C446D5008D74}" destId="{A1D3951D-5FB4-45E1-90E5-7F683F44615C}" srcOrd="1" destOrd="0" presId="urn:microsoft.com/office/officeart/2005/8/layout/orgChart1"/>
    <dgm:cxn modelId="{86CD2757-B57B-4FD9-A8A0-6C38AE68C25F}" type="presOf" srcId="{0C45D59D-3D1D-4686-9B5A-B7F8751CCC04}" destId="{92933270-100B-4451-8ECC-EE9A435854F6}" srcOrd="0" destOrd="0" presId="urn:microsoft.com/office/officeart/2005/8/layout/orgChart1"/>
    <dgm:cxn modelId="{A38D388A-49D9-4DF3-87A6-5CF91FC440FD}" type="presOf" srcId="{E3E81A2A-A8FB-4E16-B367-9F19E20FF2AC}" destId="{4BCFA6C3-2977-4944-835F-D2CEA024DE7E}" srcOrd="0" destOrd="0" presId="urn:microsoft.com/office/officeart/2005/8/layout/orgChart1"/>
    <dgm:cxn modelId="{66EFB0EA-9F98-4F9D-A682-1318FFF86B0B}" type="presParOf" srcId="{BA3D6DAE-00A9-440B-AAC2-D5E887F43C4C}" destId="{30C7B328-6C3A-48FB-8D2F-2BECF2BD25CD}" srcOrd="0" destOrd="0" presId="urn:microsoft.com/office/officeart/2005/8/layout/orgChart1"/>
    <dgm:cxn modelId="{37C9A319-9278-4FE8-8A4B-4C0B0EFC5F85}" type="presParOf" srcId="{30C7B328-6C3A-48FB-8D2F-2BECF2BD25CD}" destId="{5E01129D-11FC-445A-9AE2-A568FB033074}" srcOrd="0" destOrd="0" presId="urn:microsoft.com/office/officeart/2005/8/layout/orgChart1"/>
    <dgm:cxn modelId="{077C288E-31F4-499F-AED1-CC7AA6AE4316}" type="presParOf" srcId="{5E01129D-11FC-445A-9AE2-A568FB033074}" destId="{2545F3F6-71F4-4085-9992-12A798289E92}" srcOrd="0" destOrd="0" presId="urn:microsoft.com/office/officeart/2005/8/layout/orgChart1"/>
    <dgm:cxn modelId="{EECB2F17-54A7-4137-9DB6-230CC2BCDC5D}" type="presParOf" srcId="{5E01129D-11FC-445A-9AE2-A568FB033074}" destId="{A1D3951D-5FB4-45E1-90E5-7F683F44615C}" srcOrd="1" destOrd="0" presId="urn:microsoft.com/office/officeart/2005/8/layout/orgChart1"/>
    <dgm:cxn modelId="{C581FBF8-58DC-40A5-8849-7B27FFDB0062}" type="presParOf" srcId="{30C7B328-6C3A-48FB-8D2F-2BECF2BD25CD}" destId="{E1A41533-A47A-4616-A7DE-1CB49A061EB5}" srcOrd="1" destOrd="0" presId="urn:microsoft.com/office/officeart/2005/8/layout/orgChart1"/>
    <dgm:cxn modelId="{165B1A0C-41CE-450E-AF54-059EC36E8FEC}" type="presParOf" srcId="{E1A41533-A47A-4616-A7DE-1CB49A061EB5}" destId="{4BCFA6C3-2977-4944-835F-D2CEA024DE7E}" srcOrd="0" destOrd="0" presId="urn:microsoft.com/office/officeart/2005/8/layout/orgChart1"/>
    <dgm:cxn modelId="{2F03788A-A129-4805-9A32-5CF582CF3055}" type="presParOf" srcId="{E1A41533-A47A-4616-A7DE-1CB49A061EB5}" destId="{F5BD1957-CBBC-468F-9CCB-B07D0A6408D8}" srcOrd="1" destOrd="0" presId="urn:microsoft.com/office/officeart/2005/8/layout/orgChart1"/>
    <dgm:cxn modelId="{F398E4BF-C18C-4810-A7C1-004D421BEAFB}" type="presParOf" srcId="{F5BD1957-CBBC-468F-9CCB-B07D0A6408D8}" destId="{6C2C77C5-A60A-4338-9A59-F340E2AD3FFF}" srcOrd="0" destOrd="0" presId="urn:microsoft.com/office/officeart/2005/8/layout/orgChart1"/>
    <dgm:cxn modelId="{5A67FD26-D009-4014-ABE2-A7E9493AA193}" type="presParOf" srcId="{6C2C77C5-A60A-4338-9A59-F340E2AD3FFF}" destId="{DFAEAE23-F91A-4A1E-A1C8-F88444A394E4}" srcOrd="0" destOrd="0" presId="urn:microsoft.com/office/officeart/2005/8/layout/orgChart1"/>
    <dgm:cxn modelId="{4D3D7377-F0C1-41B3-804D-889F4F8F0316}" type="presParOf" srcId="{6C2C77C5-A60A-4338-9A59-F340E2AD3FFF}" destId="{A9029175-FC12-4ED4-8FAC-2CED22BA6139}" srcOrd="1" destOrd="0" presId="urn:microsoft.com/office/officeart/2005/8/layout/orgChart1"/>
    <dgm:cxn modelId="{CBCE5166-5F24-4DEA-BE5A-C82DDCFFD1D5}" type="presParOf" srcId="{F5BD1957-CBBC-468F-9CCB-B07D0A6408D8}" destId="{864558D7-62C2-4DB0-BDEE-0E56F21337DF}" srcOrd="1" destOrd="0" presId="urn:microsoft.com/office/officeart/2005/8/layout/orgChart1"/>
    <dgm:cxn modelId="{C9DA0721-21C5-43D6-91DF-DB50A9F350C0}" type="presParOf" srcId="{F5BD1957-CBBC-468F-9CCB-B07D0A6408D8}" destId="{A3496540-511B-4D05-857E-3B47214C1922}" srcOrd="2" destOrd="0" presId="urn:microsoft.com/office/officeart/2005/8/layout/orgChart1"/>
    <dgm:cxn modelId="{D376AFB3-F906-4979-A788-5343EEB2C448}" type="presParOf" srcId="{E1A41533-A47A-4616-A7DE-1CB49A061EB5}" destId="{92933270-100B-4451-8ECC-EE9A435854F6}" srcOrd="2" destOrd="0" presId="urn:microsoft.com/office/officeart/2005/8/layout/orgChart1"/>
    <dgm:cxn modelId="{2A2C6AC8-42F7-4789-B963-B80D8AC0FDC8}" type="presParOf" srcId="{E1A41533-A47A-4616-A7DE-1CB49A061EB5}" destId="{8B8D6626-B098-4969-8B89-A172CAAD6A9D}" srcOrd="3" destOrd="0" presId="urn:microsoft.com/office/officeart/2005/8/layout/orgChart1"/>
    <dgm:cxn modelId="{174E2783-6EE8-42CD-B3CF-77ACE672A209}" type="presParOf" srcId="{8B8D6626-B098-4969-8B89-A172CAAD6A9D}" destId="{DCA2736C-0911-45B8-BEBD-15B1495046F3}" srcOrd="0" destOrd="0" presId="urn:microsoft.com/office/officeart/2005/8/layout/orgChart1"/>
    <dgm:cxn modelId="{EEC2C200-19AA-4C0D-9684-BAA0639E9AB6}" type="presParOf" srcId="{DCA2736C-0911-45B8-BEBD-15B1495046F3}" destId="{85CC5E81-7E19-4944-81D4-4E1CFA443E6A}" srcOrd="0" destOrd="0" presId="urn:microsoft.com/office/officeart/2005/8/layout/orgChart1"/>
    <dgm:cxn modelId="{32988F23-DD37-4403-965C-E3894820C06A}" type="presParOf" srcId="{DCA2736C-0911-45B8-BEBD-15B1495046F3}" destId="{D170B235-3F6A-4FE3-BA9F-28105723CC49}" srcOrd="1" destOrd="0" presId="urn:microsoft.com/office/officeart/2005/8/layout/orgChart1"/>
    <dgm:cxn modelId="{E584B989-0B01-48CB-A8A7-CDD6504288B2}" type="presParOf" srcId="{8B8D6626-B098-4969-8B89-A172CAAD6A9D}" destId="{62A1305D-F991-4BD7-A480-104352952C24}" srcOrd="1" destOrd="0" presId="urn:microsoft.com/office/officeart/2005/8/layout/orgChart1"/>
    <dgm:cxn modelId="{8A9DAB20-25B5-46BF-A437-50FCDEE28C89}" type="presParOf" srcId="{8B8D6626-B098-4969-8B89-A172CAAD6A9D}" destId="{8BF7B178-5F4A-48F4-B760-746929E4C7C6}" srcOrd="2" destOrd="0" presId="urn:microsoft.com/office/officeart/2005/8/layout/orgChart1"/>
    <dgm:cxn modelId="{96DB0547-E17F-4180-B3EB-3EAB39B04F6D}" type="presParOf" srcId="{E1A41533-A47A-4616-A7DE-1CB49A061EB5}" destId="{A05D6CB0-ACB9-47DD-B462-B07D3EC3AC94}" srcOrd="4" destOrd="0" presId="urn:microsoft.com/office/officeart/2005/8/layout/orgChart1"/>
    <dgm:cxn modelId="{75127547-F42E-46FA-80AC-C4E593AD7352}" type="presParOf" srcId="{E1A41533-A47A-4616-A7DE-1CB49A061EB5}" destId="{AD4A107E-BBC5-4888-BC9E-D3E54F4D6419}" srcOrd="5" destOrd="0" presId="urn:microsoft.com/office/officeart/2005/8/layout/orgChart1"/>
    <dgm:cxn modelId="{FA2D233C-71B4-4F8C-A831-9831AE1637DF}" type="presParOf" srcId="{AD4A107E-BBC5-4888-BC9E-D3E54F4D6419}" destId="{0834BD43-D764-4D04-BC12-C8510179944D}" srcOrd="0" destOrd="0" presId="urn:microsoft.com/office/officeart/2005/8/layout/orgChart1"/>
    <dgm:cxn modelId="{CCD4F947-B572-4AD3-915F-F2E04571510D}" type="presParOf" srcId="{0834BD43-D764-4D04-BC12-C8510179944D}" destId="{13582600-31D4-474B-81D4-77E15DFE18EB}" srcOrd="0" destOrd="0" presId="urn:microsoft.com/office/officeart/2005/8/layout/orgChart1"/>
    <dgm:cxn modelId="{3AFFC446-F3A9-474C-B199-EB02FE7823ED}" type="presParOf" srcId="{0834BD43-D764-4D04-BC12-C8510179944D}" destId="{A79F778A-8288-485C-BDF9-404FC37AA33E}" srcOrd="1" destOrd="0" presId="urn:microsoft.com/office/officeart/2005/8/layout/orgChart1"/>
    <dgm:cxn modelId="{B706ABD6-E979-4B8B-8B4B-174CC3E830B9}" type="presParOf" srcId="{AD4A107E-BBC5-4888-BC9E-D3E54F4D6419}" destId="{7B5DCCFA-6A4B-4A7D-A53F-117020FBEF8C}" srcOrd="1" destOrd="0" presId="urn:microsoft.com/office/officeart/2005/8/layout/orgChart1"/>
    <dgm:cxn modelId="{EE7E8575-0582-4C1A-AC57-ED23F7809A03}" type="presParOf" srcId="{AD4A107E-BBC5-4888-BC9E-D3E54F4D6419}" destId="{03F33E52-4490-441C-BAB5-9C1C10CB5CB2}" srcOrd="2" destOrd="0" presId="urn:microsoft.com/office/officeart/2005/8/layout/orgChart1"/>
    <dgm:cxn modelId="{80A5BC87-2E77-4655-B28B-36E976E24796}" type="presParOf" srcId="{E1A41533-A47A-4616-A7DE-1CB49A061EB5}" destId="{C9F6D2BA-0BB7-4138-8AE4-E46143880300}" srcOrd="6" destOrd="0" presId="urn:microsoft.com/office/officeart/2005/8/layout/orgChart1"/>
    <dgm:cxn modelId="{D1A70A6E-C0E8-4F82-B729-C58D3859AA79}" type="presParOf" srcId="{E1A41533-A47A-4616-A7DE-1CB49A061EB5}" destId="{C136293C-716C-4439-8D02-848A48304B13}" srcOrd="7" destOrd="0" presId="urn:microsoft.com/office/officeart/2005/8/layout/orgChart1"/>
    <dgm:cxn modelId="{9CBADD0F-FBED-423E-A407-7A47A288FEB4}" type="presParOf" srcId="{C136293C-716C-4439-8D02-848A48304B13}" destId="{64DE5C8C-C774-4FCB-95C9-9F51B228251E}" srcOrd="0" destOrd="0" presId="urn:microsoft.com/office/officeart/2005/8/layout/orgChart1"/>
    <dgm:cxn modelId="{5F8DEDBF-59FD-4B67-808F-FDBA1927EEA7}" type="presParOf" srcId="{64DE5C8C-C774-4FCB-95C9-9F51B228251E}" destId="{3BDA4D51-A38B-449B-98FD-DCEBA749449A}" srcOrd="0" destOrd="0" presId="urn:microsoft.com/office/officeart/2005/8/layout/orgChart1"/>
    <dgm:cxn modelId="{646B71DB-7B9A-4593-B2B2-1AD094E5BF88}" type="presParOf" srcId="{64DE5C8C-C774-4FCB-95C9-9F51B228251E}" destId="{999D7AB0-F486-429A-B7BD-74C67F705BBC}" srcOrd="1" destOrd="0" presId="urn:microsoft.com/office/officeart/2005/8/layout/orgChart1"/>
    <dgm:cxn modelId="{006BC234-3330-4F70-BF9C-F883D16568DC}" type="presParOf" srcId="{C136293C-716C-4439-8D02-848A48304B13}" destId="{B4F52F05-DF69-482A-8665-659B704EDE3E}" srcOrd="1" destOrd="0" presId="urn:microsoft.com/office/officeart/2005/8/layout/orgChart1"/>
    <dgm:cxn modelId="{62C4C3DA-EBE5-4EBC-9535-C63757EA9C89}" type="presParOf" srcId="{C136293C-716C-4439-8D02-848A48304B13}" destId="{10432CCE-C3AB-4150-A587-29921F1726F0}" srcOrd="2" destOrd="0" presId="urn:microsoft.com/office/officeart/2005/8/layout/orgChart1"/>
    <dgm:cxn modelId="{620CCE1A-7339-4E32-9222-5FB77FB586C0}" type="presParOf" srcId="{E1A41533-A47A-4616-A7DE-1CB49A061EB5}" destId="{3A2B6077-B609-4D35-970E-8C611688ADD3}" srcOrd="8" destOrd="0" presId="urn:microsoft.com/office/officeart/2005/8/layout/orgChart1"/>
    <dgm:cxn modelId="{98D00B9B-6E32-4BC3-91A5-F407ED27BE40}" type="presParOf" srcId="{E1A41533-A47A-4616-A7DE-1CB49A061EB5}" destId="{D62E0EBF-EBA5-4B6D-867C-A219AE7FE3BE}" srcOrd="9" destOrd="0" presId="urn:microsoft.com/office/officeart/2005/8/layout/orgChart1"/>
    <dgm:cxn modelId="{5B84F985-B223-442D-8039-7DAC26BE6444}" type="presParOf" srcId="{D62E0EBF-EBA5-4B6D-867C-A219AE7FE3BE}" destId="{E513E52C-6080-46BE-B879-3113682AC2C3}" srcOrd="0" destOrd="0" presId="urn:microsoft.com/office/officeart/2005/8/layout/orgChart1"/>
    <dgm:cxn modelId="{CEC7EEDA-157A-4DB5-A8B2-BF93D44864DA}" type="presParOf" srcId="{E513E52C-6080-46BE-B879-3113682AC2C3}" destId="{3DEF2466-AA2A-4E0A-900C-D1DDF308DB7C}" srcOrd="0" destOrd="0" presId="urn:microsoft.com/office/officeart/2005/8/layout/orgChart1"/>
    <dgm:cxn modelId="{953E119C-CE44-48A7-BBBB-FBC3F84C31C3}" type="presParOf" srcId="{E513E52C-6080-46BE-B879-3113682AC2C3}" destId="{FAB112F9-BCA8-42D2-AC6E-28D49228B4F6}" srcOrd="1" destOrd="0" presId="urn:microsoft.com/office/officeart/2005/8/layout/orgChart1"/>
    <dgm:cxn modelId="{43A3E1FC-BDD7-46C8-A404-5E227DB5D128}" type="presParOf" srcId="{D62E0EBF-EBA5-4B6D-867C-A219AE7FE3BE}" destId="{3947935A-E762-4A57-BE06-B9E549D6AABD}" srcOrd="1" destOrd="0" presId="urn:microsoft.com/office/officeart/2005/8/layout/orgChart1"/>
    <dgm:cxn modelId="{7D7ED100-19AD-4406-B2B3-4F13D3E86EFC}" type="presParOf" srcId="{D62E0EBF-EBA5-4B6D-867C-A219AE7FE3BE}" destId="{0186B345-402F-4E33-898C-A85A76C1B90D}" srcOrd="2" destOrd="0" presId="urn:microsoft.com/office/officeart/2005/8/layout/orgChart1"/>
    <dgm:cxn modelId="{2819DF9F-EBF6-4379-99DB-89482D533B06}" type="presParOf" srcId="{E1A41533-A47A-4616-A7DE-1CB49A061EB5}" destId="{E695E42F-8DFF-471C-82AF-C87C0CCB8F4C}" srcOrd="10" destOrd="0" presId="urn:microsoft.com/office/officeart/2005/8/layout/orgChart1"/>
    <dgm:cxn modelId="{0B13D4A9-5BB7-4257-B4EB-C5D6CE2DA871}" type="presParOf" srcId="{E1A41533-A47A-4616-A7DE-1CB49A061EB5}" destId="{A0024E65-7EF3-4E4F-8C48-EE35FC6BD568}" srcOrd="11" destOrd="0" presId="urn:microsoft.com/office/officeart/2005/8/layout/orgChart1"/>
    <dgm:cxn modelId="{194D2318-B8D8-41C2-B709-D19EF72DCDDD}" type="presParOf" srcId="{A0024E65-7EF3-4E4F-8C48-EE35FC6BD568}" destId="{C1F04A58-0EA7-4BFE-8C8C-43F1775766A2}" srcOrd="0" destOrd="0" presId="urn:microsoft.com/office/officeart/2005/8/layout/orgChart1"/>
    <dgm:cxn modelId="{98CDA3BA-F979-4D46-9820-AA9B32E27D17}" type="presParOf" srcId="{C1F04A58-0EA7-4BFE-8C8C-43F1775766A2}" destId="{2275E2E3-37F9-4B18-9AFA-64728A7F78EE}" srcOrd="0" destOrd="0" presId="urn:microsoft.com/office/officeart/2005/8/layout/orgChart1"/>
    <dgm:cxn modelId="{EC66AD01-772B-46D2-925B-A9B41B10A0F6}" type="presParOf" srcId="{C1F04A58-0EA7-4BFE-8C8C-43F1775766A2}" destId="{70C43FD9-EE1A-4564-8ED1-8043D28F7A1D}" srcOrd="1" destOrd="0" presId="urn:microsoft.com/office/officeart/2005/8/layout/orgChart1"/>
    <dgm:cxn modelId="{E52C5478-C1FB-4B7D-8A71-B5F5F7A8D17C}" type="presParOf" srcId="{A0024E65-7EF3-4E4F-8C48-EE35FC6BD568}" destId="{1DA00411-F30A-479C-B8F0-7F801B9253B5}" srcOrd="1" destOrd="0" presId="urn:microsoft.com/office/officeart/2005/8/layout/orgChart1"/>
    <dgm:cxn modelId="{54EA1733-BF78-4D51-8D2B-21DB8B0F7ED4}" type="presParOf" srcId="{A0024E65-7EF3-4E4F-8C48-EE35FC6BD568}" destId="{DE17F0C6-1FBD-4322-95E2-A01064220AF9}" srcOrd="2" destOrd="0" presId="urn:microsoft.com/office/officeart/2005/8/layout/orgChart1"/>
    <dgm:cxn modelId="{735AC173-CF75-4F06-85A5-181CFCBE390D}" type="presParOf" srcId="{30C7B328-6C3A-48FB-8D2F-2BECF2BD25CD}" destId="{86C06119-2FB3-4762-B0EF-35AAD30275C8}"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5E42F-8DFF-471C-82AF-C87C0CCB8F4C}">
      <dsp:nvSpPr>
        <dsp:cNvPr id="0" name=""/>
        <dsp:cNvSpPr/>
      </dsp:nvSpPr>
      <dsp:spPr>
        <a:xfrm>
          <a:off x="352393" y="617209"/>
          <a:ext cx="524409" cy="3829191"/>
        </a:xfrm>
        <a:custGeom>
          <a:avLst/>
          <a:gdLst/>
          <a:ahLst/>
          <a:cxnLst/>
          <a:rect l="0" t="0" r="0" b="0"/>
          <a:pathLst>
            <a:path>
              <a:moveTo>
                <a:pt x="0" y="0"/>
              </a:moveTo>
              <a:lnTo>
                <a:pt x="0" y="3829191"/>
              </a:lnTo>
              <a:lnTo>
                <a:pt x="524409" y="382919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2B6077-B609-4D35-970E-8C611688ADD3}">
      <dsp:nvSpPr>
        <dsp:cNvPr id="0" name=""/>
        <dsp:cNvSpPr/>
      </dsp:nvSpPr>
      <dsp:spPr>
        <a:xfrm>
          <a:off x="352393" y="617209"/>
          <a:ext cx="524409" cy="3151204"/>
        </a:xfrm>
        <a:custGeom>
          <a:avLst/>
          <a:gdLst/>
          <a:ahLst/>
          <a:cxnLst/>
          <a:rect l="0" t="0" r="0" b="0"/>
          <a:pathLst>
            <a:path>
              <a:moveTo>
                <a:pt x="0" y="0"/>
              </a:moveTo>
              <a:lnTo>
                <a:pt x="0" y="3151204"/>
              </a:lnTo>
              <a:lnTo>
                <a:pt x="524409" y="315120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9F6D2BA-0BB7-4138-8AE4-E46143880300}">
      <dsp:nvSpPr>
        <dsp:cNvPr id="0" name=""/>
        <dsp:cNvSpPr/>
      </dsp:nvSpPr>
      <dsp:spPr>
        <a:xfrm>
          <a:off x="352393" y="617209"/>
          <a:ext cx="524409" cy="2473218"/>
        </a:xfrm>
        <a:custGeom>
          <a:avLst/>
          <a:gdLst/>
          <a:ahLst/>
          <a:cxnLst/>
          <a:rect l="0" t="0" r="0" b="0"/>
          <a:pathLst>
            <a:path>
              <a:moveTo>
                <a:pt x="0" y="0"/>
              </a:moveTo>
              <a:lnTo>
                <a:pt x="0" y="2473218"/>
              </a:lnTo>
              <a:lnTo>
                <a:pt x="524409" y="247321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05D6CB0-ACB9-47DD-B462-B07D3EC3AC94}">
      <dsp:nvSpPr>
        <dsp:cNvPr id="0" name=""/>
        <dsp:cNvSpPr/>
      </dsp:nvSpPr>
      <dsp:spPr>
        <a:xfrm>
          <a:off x="352393" y="617209"/>
          <a:ext cx="524409" cy="1795231"/>
        </a:xfrm>
        <a:custGeom>
          <a:avLst/>
          <a:gdLst/>
          <a:ahLst/>
          <a:cxnLst/>
          <a:rect l="0" t="0" r="0" b="0"/>
          <a:pathLst>
            <a:path>
              <a:moveTo>
                <a:pt x="0" y="0"/>
              </a:moveTo>
              <a:lnTo>
                <a:pt x="0" y="1795231"/>
              </a:lnTo>
              <a:lnTo>
                <a:pt x="524409" y="179523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933270-100B-4451-8ECC-EE9A435854F6}">
      <dsp:nvSpPr>
        <dsp:cNvPr id="0" name=""/>
        <dsp:cNvSpPr/>
      </dsp:nvSpPr>
      <dsp:spPr>
        <a:xfrm>
          <a:off x="352393" y="617209"/>
          <a:ext cx="524409" cy="1117245"/>
        </a:xfrm>
        <a:custGeom>
          <a:avLst/>
          <a:gdLst/>
          <a:ahLst/>
          <a:cxnLst/>
          <a:rect l="0" t="0" r="0" b="0"/>
          <a:pathLst>
            <a:path>
              <a:moveTo>
                <a:pt x="0" y="0"/>
              </a:moveTo>
              <a:lnTo>
                <a:pt x="0" y="1117245"/>
              </a:lnTo>
              <a:lnTo>
                <a:pt x="524409" y="111724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CFA6C3-2977-4944-835F-D2CEA024DE7E}">
      <dsp:nvSpPr>
        <dsp:cNvPr id="0" name=""/>
        <dsp:cNvSpPr/>
      </dsp:nvSpPr>
      <dsp:spPr>
        <a:xfrm>
          <a:off x="352393" y="617209"/>
          <a:ext cx="524409" cy="439258"/>
        </a:xfrm>
        <a:custGeom>
          <a:avLst/>
          <a:gdLst/>
          <a:ahLst/>
          <a:cxnLst/>
          <a:rect l="0" t="0" r="0" b="0"/>
          <a:pathLst>
            <a:path>
              <a:moveTo>
                <a:pt x="0" y="0"/>
              </a:moveTo>
              <a:lnTo>
                <a:pt x="0" y="439258"/>
              </a:lnTo>
              <a:lnTo>
                <a:pt x="524409" y="43925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545F3F6-71F4-4085-9992-12A798289E92}">
      <dsp:nvSpPr>
        <dsp:cNvPr id="0" name=""/>
        <dsp:cNvSpPr/>
      </dsp:nvSpPr>
      <dsp:spPr>
        <a:xfrm>
          <a:off x="2787" y="139754"/>
          <a:ext cx="3496061" cy="47745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smtClean="0">
              <a:ln>
                <a:noFill/>
              </a:ln>
              <a:solidFill>
                <a:schemeClr val="tx2"/>
              </a:solidFill>
              <a:effectLst/>
              <a:latin typeface="楷体_GB2312" pitchFamily="49" charset="-122"/>
              <a:ea typeface="楷体_GB2312" pitchFamily="49" charset="-122"/>
            </a:rPr>
            <a:t>DBMS</a:t>
          </a:r>
          <a:r>
            <a:rPr kumimoji="0" lang="zh-CN" altLang="en-US" sz="2000" b="1" i="0" u="none" strike="noStrike" kern="1200" cap="none" normalizeH="0" baseline="0" dirty="0" smtClean="0">
              <a:ln>
                <a:noFill/>
              </a:ln>
              <a:solidFill>
                <a:schemeClr val="tx2"/>
              </a:solidFill>
              <a:effectLst/>
              <a:latin typeface="楷体_GB2312" pitchFamily="49" charset="-122"/>
              <a:ea typeface="楷体_GB2312" pitchFamily="49" charset="-122"/>
            </a:rPr>
            <a:t>的主要功能</a:t>
          </a:r>
        </a:p>
      </dsp:txBody>
      <dsp:txXfrm>
        <a:off x="2787" y="139754"/>
        <a:ext cx="3496061" cy="477455"/>
      </dsp:txXfrm>
    </dsp:sp>
    <dsp:sp modelId="{DFAEAE23-F91A-4A1E-A1C8-F88444A394E4}">
      <dsp:nvSpPr>
        <dsp:cNvPr id="0" name=""/>
        <dsp:cNvSpPr/>
      </dsp:nvSpPr>
      <dsp:spPr>
        <a:xfrm>
          <a:off x="876802" y="817740"/>
          <a:ext cx="3643260" cy="47745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l" defTabSz="914400" rtl="0" eaLnBrk="1" fontAlgn="base" latinLnBrk="0" hangingPunct="1">
            <a:lnSpc>
              <a:spcPct val="120000"/>
            </a:lnSpc>
            <a:spcBef>
              <a:spcPct val="0"/>
            </a:spcBef>
            <a:spcAft>
              <a:spcPct val="0"/>
            </a:spcAft>
            <a:buClr>
              <a:srgbClr val="669900"/>
            </a:buClr>
            <a:buSzPct val="75000"/>
            <a:buFont typeface="Wingdings" pitchFamily="2" charset="2"/>
            <a:buNone/>
            <a:tabLst/>
          </a:pPr>
          <a:r>
            <a:rPr kumimoji="0" lang="zh-CN" altLang="en-US" sz="2000" b="1" i="0" u="none" strike="noStrike" kern="1200" cap="none" normalizeH="0" baseline="0" dirty="0" smtClean="0">
              <a:ln>
                <a:noFill/>
              </a:ln>
              <a:solidFill>
                <a:schemeClr val="tx1"/>
              </a:solidFill>
              <a:effectLst/>
              <a:latin typeface="Arial" charset="0"/>
              <a:ea typeface="楷体_GB2312" pitchFamily="49" charset="-122"/>
            </a:rPr>
            <a:t>   数据定义功能</a:t>
          </a:r>
          <a:endParaRPr kumimoji="0" lang="zh-CN" altLang="en-US" sz="2000" b="1" i="0" u="none" strike="noStrike" kern="1200" cap="none" normalizeH="0" baseline="0" dirty="0" smtClean="0">
            <a:ln>
              <a:noFill/>
            </a:ln>
            <a:solidFill>
              <a:schemeClr val="tx1"/>
            </a:solidFill>
            <a:effectLst/>
            <a:latin typeface="Arial" charset="0"/>
            <a:ea typeface="宋体" pitchFamily="2" charset="-122"/>
          </a:endParaRPr>
        </a:p>
      </dsp:txBody>
      <dsp:txXfrm>
        <a:off x="876802" y="817740"/>
        <a:ext cx="3643260" cy="477455"/>
      </dsp:txXfrm>
    </dsp:sp>
    <dsp:sp modelId="{85CC5E81-7E19-4944-81D4-4E1CFA443E6A}">
      <dsp:nvSpPr>
        <dsp:cNvPr id="0" name=""/>
        <dsp:cNvSpPr/>
      </dsp:nvSpPr>
      <dsp:spPr>
        <a:xfrm>
          <a:off x="876802" y="1495727"/>
          <a:ext cx="3323394" cy="47745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l" defTabSz="914400" rtl="0" eaLnBrk="1" fontAlgn="base" latinLnBrk="0" hangingPunct="1">
            <a:lnSpc>
              <a:spcPct val="120000"/>
            </a:lnSpc>
            <a:spcBef>
              <a:spcPct val="0"/>
            </a:spcBef>
            <a:spcAft>
              <a:spcPct val="0"/>
            </a:spcAft>
            <a:buClr>
              <a:srgbClr val="669900"/>
            </a:buClr>
            <a:buSzPct val="75000"/>
            <a:buFont typeface="Wingdings" pitchFamily="2" charset="2"/>
            <a:buNone/>
            <a:tabLst/>
          </a:pPr>
          <a:r>
            <a:rPr kumimoji="0" lang="zh-CN" altLang="en-US" sz="2000" b="1" i="0" u="none" strike="noStrike" kern="1200" cap="none" normalizeH="0" baseline="0" dirty="0" smtClean="0">
              <a:ln>
                <a:noFill/>
              </a:ln>
              <a:solidFill>
                <a:schemeClr val="tx1"/>
              </a:solidFill>
              <a:effectLst/>
              <a:latin typeface="Arial" charset="0"/>
              <a:ea typeface="楷体_GB2312" pitchFamily="49" charset="-122"/>
            </a:rPr>
            <a:t>   数据组织、存储和管理</a:t>
          </a:r>
        </a:p>
      </dsp:txBody>
      <dsp:txXfrm>
        <a:off x="876802" y="1495727"/>
        <a:ext cx="3323394" cy="477455"/>
      </dsp:txXfrm>
    </dsp:sp>
    <dsp:sp modelId="{13582600-31D4-474B-81D4-77E15DFE18EB}">
      <dsp:nvSpPr>
        <dsp:cNvPr id="0" name=""/>
        <dsp:cNvSpPr/>
      </dsp:nvSpPr>
      <dsp:spPr>
        <a:xfrm>
          <a:off x="876802" y="2173713"/>
          <a:ext cx="3985815" cy="47745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kern="1200" cap="none" normalizeH="0" baseline="0" dirty="0" smtClean="0">
              <a:ln>
                <a:noFill/>
              </a:ln>
              <a:solidFill>
                <a:schemeClr val="tx1"/>
              </a:solidFill>
              <a:effectLst/>
              <a:latin typeface="Arial" charset="0"/>
              <a:ea typeface="楷体_GB2312" pitchFamily="49" charset="-122"/>
            </a:rPr>
            <a:t>   数据操纵功能</a:t>
          </a:r>
        </a:p>
      </dsp:txBody>
      <dsp:txXfrm>
        <a:off x="876802" y="2173713"/>
        <a:ext cx="3985815" cy="477455"/>
      </dsp:txXfrm>
    </dsp:sp>
    <dsp:sp modelId="{3BDA4D51-A38B-449B-98FD-DCEBA749449A}">
      <dsp:nvSpPr>
        <dsp:cNvPr id="0" name=""/>
        <dsp:cNvSpPr/>
      </dsp:nvSpPr>
      <dsp:spPr>
        <a:xfrm>
          <a:off x="876802" y="2851700"/>
          <a:ext cx="3874090" cy="47745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kern="1200" cap="none" normalizeH="0" baseline="0" dirty="0" smtClean="0">
              <a:ln>
                <a:noFill/>
              </a:ln>
              <a:solidFill>
                <a:schemeClr val="tx1"/>
              </a:solidFill>
              <a:effectLst/>
              <a:latin typeface="Arial" charset="0"/>
              <a:ea typeface="楷体_GB2312" pitchFamily="49" charset="-122"/>
            </a:rPr>
            <a:t>数据库的事务管理和运行管理</a:t>
          </a:r>
        </a:p>
      </dsp:txBody>
      <dsp:txXfrm>
        <a:off x="876802" y="2851700"/>
        <a:ext cx="3874090" cy="477455"/>
      </dsp:txXfrm>
    </dsp:sp>
    <dsp:sp modelId="{3DEF2466-AA2A-4E0A-900C-D1DDF308DB7C}">
      <dsp:nvSpPr>
        <dsp:cNvPr id="0" name=""/>
        <dsp:cNvSpPr/>
      </dsp:nvSpPr>
      <dsp:spPr>
        <a:xfrm>
          <a:off x="876802" y="3529686"/>
          <a:ext cx="4017203" cy="47745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l" defTabSz="914400" rtl="0" eaLnBrk="1" fontAlgn="base" latinLnBrk="0" hangingPunct="1">
            <a:lnSpc>
              <a:spcPct val="130000"/>
            </a:lnSpc>
            <a:spcBef>
              <a:spcPct val="0"/>
            </a:spcBef>
            <a:spcAft>
              <a:spcPct val="0"/>
            </a:spcAft>
            <a:buClr>
              <a:srgbClr val="669900"/>
            </a:buClr>
            <a:buSzPct val="75000"/>
            <a:buFont typeface="Wingdings" pitchFamily="2" charset="2"/>
            <a:buNone/>
            <a:tabLst/>
          </a:pPr>
          <a:r>
            <a:rPr kumimoji="0" lang="zh-CN" altLang="en-US" sz="2000" b="1" i="0" u="none" strike="noStrike" kern="1200" cap="none" normalizeH="0" baseline="0" dirty="0" smtClean="0">
              <a:ln>
                <a:noFill/>
              </a:ln>
              <a:solidFill>
                <a:schemeClr val="tx1"/>
              </a:solidFill>
              <a:effectLst/>
              <a:latin typeface="Arial" charset="0"/>
              <a:ea typeface="楷体_GB2312" pitchFamily="49" charset="-122"/>
            </a:rPr>
            <a:t>   数据库的建立和维护功能</a:t>
          </a:r>
          <a:endParaRPr kumimoji="0" lang="zh-CN" altLang="en-US" sz="2000" b="1" i="0" u="none" strike="noStrike" kern="1200" cap="none" normalizeH="0" baseline="0" dirty="0" smtClean="0">
            <a:ln>
              <a:noFill/>
            </a:ln>
            <a:solidFill>
              <a:schemeClr val="tx1"/>
            </a:solidFill>
            <a:effectLst/>
            <a:latin typeface="Arial" charset="0"/>
            <a:ea typeface="宋体" pitchFamily="2" charset="-122"/>
          </a:endParaRPr>
        </a:p>
      </dsp:txBody>
      <dsp:txXfrm>
        <a:off x="876802" y="3529686"/>
        <a:ext cx="4017203" cy="477455"/>
      </dsp:txXfrm>
    </dsp:sp>
    <dsp:sp modelId="{2275E2E3-37F9-4B18-9AFA-64728A7F78EE}">
      <dsp:nvSpPr>
        <dsp:cNvPr id="0" name=""/>
        <dsp:cNvSpPr/>
      </dsp:nvSpPr>
      <dsp:spPr>
        <a:xfrm>
          <a:off x="876802" y="4207673"/>
          <a:ext cx="3340162" cy="47745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kern="1200" cap="none" normalizeH="0" baseline="0" dirty="0" smtClean="0">
              <a:ln>
                <a:noFill/>
              </a:ln>
              <a:solidFill>
                <a:schemeClr val="tx1"/>
              </a:solidFill>
              <a:effectLst/>
              <a:latin typeface="Arial" charset="0"/>
              <a:ea typeface="楷体_GB2312" pitchFamily="49" charset="-122"/>
            </a:rPr>
            <a:t>   其它功能</a:t>
          </a:r>
        </a:p>
      </dsp:txBody>
      <dsp:txXfrm>
        <a:off x="876802" y="4207673"/>
        <a:ext cx="3340162" cy="47745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pitchFamily="2" charset="-122"/>
              </a:defRPr>
            </a:lvl1pPr>
          </a:lstStyle>
          <a:p>
            <a:pPr>
              <a:defRPr/>
            </a:pPr>
            <a:fld id="{7CF7150E-7093-4025-9C4C-883405C44972}" type="datetimeFigureOut">
              <a:rPr lang="zh-CN" altLang="en-US"/>
              <a:pPr>
                <a:defRPr/>
              </a:pPr>
              <a:t>2026/3/8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宋体" pitchFamily="2" charset="-122"/>
              </a:defRPr>
            </a:lvl1pPr>
          </a:lstStyle>
          <a:p>
            <a:pPr>
              <a:defRPr/>
            </a:pPr>
            <a:fld id="{B11D4FE9-2370-4488-83FC-CC480661ACB1}" type="slidenum">
              <a:rPr lang="zh-CN" altLang="en-US"/>
              <a:pPr>
                <a:defRPr/>
              </a:pPr>
              <a:t>‹#›</a:t>
            </a:fld>
            <a:endParaRPr lang="zh-CN" altLang="en-US"/>
          </a:p>
        </p:txBody>
      </p:sp>
    </p:spTree>
    <p:extLst>
      <p:ext uri="{BB962C8B-B14F-4D97-AF65-F5344CB8AC3E}">
        <p14:creationId xmlns:p14="http://schemas.microsoft.com/office/powerpoint/2010/main" val="1625628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r" eaLnBrk="1" hangingPunct="1"/>
            <a:fld id="{C8BCAE63-BC0E-4BA4-9C00-BFBFDB9E49E1}" type="slidenum">
              <a:rPr kumimoji="1" lang="en-US" altLang="zh-CN" sz="1200">
                <a:latin typeface="Times New Roman" pitchFamily="18" charset="0"/>
              </a:rPr>
              <a:pPr algn="r" eaLnBrk="1" hangingPunct="1"/>
              <a:t>1</a:t>
            </a:fld>
            <a:endParaRPr kumimoji="1" lang="en-US" altLang="zh-CN" sz="1200">
              <a:latin typeface="Times New Roman" pitchFamily="18" charset="0"/>
            </a:endParaRPr>
          </a:p>
        </p:txBody>
      </p:sp>
      <p:sp>
        <p:nvSpPr>
          <p:cNvPr id="1105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1FC44097-92EE-427F-A306-F7813AF94E88}" type="slidenum">
              <a:rPr lang="en-US" altLang="zh-CN" smtClean="0"/>
              <a:pPr eaLnBrk="1" hangingPunct="1"/>
              <a:t>2</a:t>
            </a:fld>
            <a:endParaRPr lang="en-US" altLang="zh-CN" smtClean="0"/>
          </a:p>
        </p:txBody>
      </p:sp>
      <p:sp>
        <p:nvSpPr>
          <p:cNvPr id="1116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DADC8A8C-5D5A-4AF4-97E6-747FABBA7385}" type="slidenum">
              <a:rPr lang="en-US" altLang="zh-CN" smtClean="0"/>
              <a:pPr eaLnBrk="1" hangingPunct="1"/>
              <a:t>3</a:t>
            </a:fld>
            <a:endParaRPr lang="en-US" altLang="zh-CN" smtClean="0"/>
          </a:p>
        </p:txBody>
      </p:sp>
      <p:sp>
        <p:nvSpPr>
          <p:cNvPr id="112643"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12644"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A2686EA4-E683-4B68-9ADA-87C4C6DF2156}" type="slidenum">
              <a:rPr lang="en-US" altLang="zh-CN" smtClean="0"/>
              <a:pPr eaLnBrk="1" hangingPunct="1"/>
              <a:t>4</a:t>
            </a:fld>
            <a:endParaRPr lang="en-US" altLang="zh-CN" smtClean="0"/>
          </a:p>
        </p:txBody>
      </p:sp>
      <p:sp>
        <p:nvSpPr>
          <p:cNvPr id="113667"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13668"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F2314AF7-8F3B-47FF-9FEB-826E367F97E5}" type="slidenum">
              <a:rPr lang="en-US" altLang="zh-CN" smtClean="0"/>
              <a:pPr eaLnBrk="1" hangingPunct="1"/>
              <a:t>6</a:t>
            </a:fld>
            <a:endParaRPr lang="en-US" altLang="zh-CN" smtClean="0"/>
          </a:p>
        </p:txBody>
      </p:sp>
      <p:sp>
        <p:nvSpPr>
          <p:cNvPr id="114691"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14692"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C8A2DB63-EA8D-4320-BDF5-7968D8BC7D0E}" type="slidenum">
              <a:rPr lang="en-US" altLang="zh-CN" smtClean="0"/>
              <a:pPr eaLnBrk="1" hangingPunct="1"/>
              <a:t>7</a:t>
            </a:fld>
            <a:endParaRPr lang="en-US" altLang="zh-CN" smtClean="0"/>
          </a:p>
        </p:txBody>
      </p:sp>
      <p:sp>
        <p:nvSpPr>
          <p:cNvPr id="115715"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15716"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C9BEC976-900E-4474-8003-B4245A59261B}" type="slidenum">
              <a:rPr lang="en-US" altLang="zh-CN" smtClean="0"/>
              <a:pPr eaLnBrk="1" hangingPunct="1"/>
              <a:t>8</a:t>
            </a:fld>
            <a:endParaRPr lang="en-US" altLang="zh-CN" smtClean="0"/>
          </a:p>
        </p:txBody>
      </p:sp>
      <p:sp>
        <p:nvSpPr>
          <p:cNvPr id="116739"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16740"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marL="742950" lvl="1" indent="-285750" eaLnBrk="1" hangingPunct="1">
              <a:lnSpc>
                <a:spcPct val="120000"/>
              </a:lnSpc>
            </a:pPr>
            <a:endParaRPr lang="en-US" altLang="zh-CN" b="1" smtClean="0">
              <a:ea typeface="楷体_GB2312" pitchFamily="49" charset="-122"/>
            </a:endParaRPr>
          </a:p>
          <a:p>
            <a:pPr eaLnBrk="1" hangingPunct="1"/>
            <a:r>
              <a:rPr lang="zh-CN" altLang="en-US" smtClean="0"/>
              <a:t>这些涵盖了数据库要学习的大部分重点内容，我们只有掌握了</a:t>
            </a:r>
            <a:r>
              <a:rPr lang="en-US" altLang="zh-CN" smtClean="0"/>
              <a:t>DBMS</a:t>
            </a:r>
            <a:r>
              <a:rPr lang="zh-CN" altLang="en-US" smtClean="0"/>
              <a:t>给我们提供的这些功能，才能灵活的使用它，让它帮我们实现具体的应用。</a:t>
            </a:r>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80E2F680-1695-499D-8556-0EB8D8055F33}" type="slidenum">
              <a:rPr lang="en-US" altLang="zh-CN" smtClean="0"/>
              <a:pPr eaLnBrk="1" hangingPunct="1"/>
              <a:t>9</a:t>
            </a:fld>
            <a:endParaRPr lang="en-US" altLang="zh-CN" smtClean="0"/>
          </a:p>
        </p:txBody>
      </p:sp>
      <p:sp>
        <p:nvSpPr>
          <p:cNvPr id="117763"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17764"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49E5ECD6-584F-4353-8DE3-1873D2B66E28}" type="slidenum">
              <a:rPr lang="en-US" altLang="zh-CN" smtClean="0"/>
              <a:pPr eaLnBrk="1" hangingPunct="1"/>
              <a:t>10</a:t>
            </a:fld>
            <a:endParaRPr lang="en-US" altLang="zh-CN" smtClean="0"/>
          </a:p>
        </p:txBody>
      </p:sp>
      <p:sp>
        <p:nvSpPr>
          <p:cNvPr id="118787"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18788"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67CE74CF-0E58-4C7C-A57C-BD78087B1A1E}" type="slidenum">
              <a:rPr lang="en-US" altLang="zh-CN" smtClean="0"/>
              <a:pPr eaLnBrk="1" hangingPunct="1"/>
              <a:t>12</a:t>
            </a:fld>
            <a:endParaRPr lang="en-US" altLang="zh-CN" smtClean="0"/>
          </a:p>
        </p:txBody>
      </p:sp>
      <p:sp>
        <p:nvSpPr>
          <p:cNvPr id="1208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5623AA6E-5B75-4E9F-B39E-335B357BABC2}" type="slidenum">
              <a:rPr lang="en-US" altLang="zh-CN" smtClean="0"/>
              <a:pPr eaLnBrk="1" hangingPunct="1"/>
              <a:t>14</a:t>
            </a:fld>
            <a:endParaRPr lang="en-US" altLang="zh-CN" smtClean="0"/>
          </a:p>
        </p:txBody>
      </p:sp>
      <p:sp>
        <p:nvSpPr>
          <p:cNvPr id="1218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DB655E52-1469-4F64-AFC6-54E636A07679}" type="slidenum">
              <a:rPr lang="en-US" altLang="zh-CN" smtClean="0"/>
              <a:pPr eaLnBrk="1" hangingPunct="1"/>
              <a:t>15</a:t>
            </a:fld>
            <a:endParaRPr lang="en-US" altLang="zh-CN" smtClean="0"/>
          </a:p>
        </p:txBody>
      </p:sp>
      <p:sp>
        <p:nvSpPr>
          <p:cNvPr id="122883"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22884"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7841CF03-B4A0-4D3D-AD82-08F6EB676804}" type="slidenum">
              <a:rPr lang="en-US" altLang="zh-CN" smtClean="0"/>
              <a:pPr eaLnBrk="1" hangingPunct="1"/>
              <a:t>17</a:t>
            </a:fld>
            <a:endParaRPr lang="en-US" altLang="zh-CN" smtClean="0"/>
          </a:p>
        </p:txBody>
      </p:sp>
      <p:sp>
        <p:nvSpPr>
          <p:cNvPr id="1249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259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257C5C7D-F6A4-462D-ACF5-CD2885341F86}" type="slidenum">
              <a:rPr lang="zh-CN" altLang="en-US" smtClean="0"/>
              <a:pPr eaLnBrk="1" hangingPunct="1"/>
              <a:t>24</a:t>
            </a:fld>
            <a:endParaRPr lang="zh-CN"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648AF4BA-1973-4E91-AA6D-A1FD21C3C798}" type="slidenum">
              <a:rPr lang="en-US" altLang="zh-CN" smtClean="0"/>
              <a:pPr eaLnBrk="1" hangingPunct="1"/>
              <a:t>26</a:t>
            </a:fld>
            <a:endParaRPr lang="en-US" altLang="zh-CN" smtClean="0"/>
          </a:p>
        </p:txBody>
      </p:sp>
      <p:sp>
        <p:nvSpPr>
          <p:cNvPr id="1269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239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EB4D545E-E6A1-45C0-8943-8681C902A5E9}" type="slidenum">
              <a:rPr lang="zh-CN" altLang="en-US" smtClean="0"/>
              <a:pPr eaLnBrk="1" hangingPunct="1"/>
              <a:t>50</a:t>
            </a:fld>
            <a:endParaRPr lang="zh-CN"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290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9CF0106F-D086-40AF-AD29-1AED35B009C1}" type="slidenum">
              <a:rPr lang="zh-CN" altLang="en-US" smtClean="0"/>
              <a:pPr eaLnBrk="1" hangingPunct="1"/>
              <a:t>76</a:t>
            </a:fld>
            <a:endParaRPr lang="zh-CN"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0A1EFDEE-A761-484E-AB8C-7B6BE724499A}" type="slidenum">
              <a:rPr lang="en-US" altLang="zh-CN" smtClean="0"/>
              <a:pPr eaLnBrk="1" hangingPunct="1"/>
              <a:t>77</a:t>
            </a:fld>
            <a:endParaRPr lang="en-US" altLang="zh-CN" smtClean="0"/>
          </a:p>
        </p:txBody>
      </p:sp>
      <p:sp>
        <p:nvSpPr>
          <p:cNvPr id="1300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1" algn="just" eaLnBrk="1" hangingPunct="1">
              <a:lnSpc>
                <a:spcPct val="130000"/>
              </a:lnSpc>
            </a:pPr>
            <a:r>
              <a:rPr lang="zh-CN" altLang="en-US" b="1" smtClean="0">
                <a:ea typeface="楷体_GB2312" pitchFamily="49" charset="-122"/>
              </a:rPr>
              <a:t>面向具体的应用程序，定义在逻辑模式之上，但独立于存储模式和存储设备。</a:t>
            </a:r>
          </a:p>
          <a:p>
            <a:pPr lvl="1" algn="just" eaLnBrk="1" hangingPunct="1">
              <a:lnSpc>
                <a:spcPct val="130000"/>
              </a:lnSpc>
            </a:pPr>
            <a:r>
              <a:rPr lang="zh-CN" altLang="en-US" b="1" smtClean="0">
                <a:ea typeface="楷体_GB2312" pitchFamily="49" charset="-122"/>
              </a:rPr>
              <a:t>设计外模式时应充分考虑到应用的扩充性。当应用需求发生较大变化，相应外模式不能满足其视图要求时，该外模式就得做相应改动。</a:t>
            </a:r>
          </a:p>
          <a:p>
            <a:pPr lvl="1" algn="just" eaLnBrk="1" hangingPunct="1">
              <a:lnSpc>
                <a:spcPct val="150000"/>
              </a:lnSpc>
            </a:pPr>
            <a:r>
              <a:rPr lang="zh-CN" altLang="en-US" b="1" smtClean="0">
                <a:ea typeface="楷体_GB2312" pitchFamily="49" charset="-122"/>
              </a:rPr>
              <a:t>应用程序是在外模式描述的数据结构上编制的，它依赖于特定的外模式，与数据库的模式和存储结构独立。</a:t>
            </a:r>
          </a:p>
          <a:p>
            <a:pPr lvl="1" algn="just" eaLnBrk="1" hangingPunct="1">
              <a:lnSpc>
                <a:spcPct val="150000"/>
              </a:lnSpc>
            </a:pPr>
            <a:r>
              <a:rPr lang="zh-CN" altLang="en-US" b="1" smtClean="0">
                <a:ea typeface="楷体_GB2312" pitchFamily="49" charset="-122"/>
              </a:rPr>
              <a:t>不同的应用程序有时可以共用同一个外模式。</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08D354CE-FDFE-4DAF-AE84-09260C2E799D}" type="slidenum">
              <a:rPr lang="en-US" altLang="zh-CN" smtClean="0"/>
              <a:pPr eaLnBrk="1" hangingPunct="1"/>
              <a:t>79</a:t>
            </a:fld>
            <a:endParaRPr lang="en-US" altLang="zh-CN" smtClean="0"/>
          </a:p>
        </p:txBody>
      </p:sp>
      <p:sp>
        <p:nvSpPr>
          <p:cNvPr id="1310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1" algn="just" eaLnBrk="1" hangingPunct="1">
              <a:lnSpc>
                <a:spcPct val="150000"/>
              </a:lnSpc>
            </a:pPr>
            <a:r>
              <a:rPr lang="zh-CN" altLang="en-US" b="1" smtClean="0">
                <a:ea typeface="楷体_GB2312" pitchFamily="49" charset="-122"/>
              </a:rPr>
              <a:t>是数据库的中心与关键</a:t>
            </a:r>
          </a:p>
          <a:p>
            <a:pPr lvl="1" algn="just" eaLnBrk="1" hangingPunct="1">
              <a:lnSpc>
                <a:spcPct val="150000"/>
              </a:lnSpc>
            </a:pPr>
            <a:r>
              <a:rPr lang="zh-CN" altLang="en-US" b="1" smtClean="0">
                <a:ea typeface="楷体_GB2312" pitchFamily="49" charset="-122"/>
              </a:rPr>
              <a:t>独立于数据库的其它层次</a:t>
            </a:r>
          </a:p>
          <a:p>
            <a:pPr lvl="1" algn="just" eaLnBrk="1" hangingPunct="1">
              <a:lnSpc>
                <a:spcPct val="150000"/>
              </a:lnSpc>
            </a:pPr>
            <a:r>
              <a:rPr lang="zh-CN" altLang="en-US" b="1" smtClean="0">
                <a:ea typeface="楷体_GB2312" pitchFamily="49" charset="-122"/>
              </a:rPr>
              <a:t>设计数据库模式结构时应首先确定数据库的逻辑模式</a:t>
            </a:r>
          </a:p>
          <a:p>
            <a:pPr eaLnBrk="1" hangingPunct="1"/>
            <a:endParaRPr lang="en-US"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FD0FF073-ABCB-4588-AA3B-AB0BE6663A3F}" type="slidenum">
              <a:rPr lang="en-US" altLang="zh-CN" smtClean="0"/>
              <a:pPr eaLnBrk="1" hangingPunct="1"/>
              <a:t>80</a:t>
            </a:fld>
            <a:endParaRPr lang="en-US" altLang="zh-CN" smtClean="0"/>
          </a:p>
        </p:txBody>
      </p:sp>
      <p:sp>
        <p:nvSpPr>
          <p:cNvPr id="1320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1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1" algn="just" eaLnBrk="1" hangingPunct="1">
              <a:lnSpc>
                <a:spcPct val="130000"/>
              </a:lnSpc>
            </a:pPr>
            <a:r>
              <a:rPr lang="zh-CN" altLang="en-US" b="1" smtClean="0">
                <a:ea typeface="楷体_GB2312" pitchFamily="49" charset="-122"/>
              </a:rPr>
              <a:t>面向具体的应用程序，定义在逻辑模式之上，但独立于存储模式和存储设备。</a:t>
            </a:r>
          </a:p>
          <a:p>
            <a:pPr lvl="1" algn="just" eaLnBrk="1" hangingPunct="1">
              <a:lnSpc>
                <a:spcPct val="130000"/>
              </a:lnSpc>
            </a:pPr>
            <a:r>
              <a:rPr lang="zh-CN" altLang="en-US" b="1" smtClean="0">
                <a:ea typeface="楷体_GB2312" pitchFamily="49" charset="-122"/>
              </a:rPr>
              <a:t>设计外模式时应充分考虑到应用的扩充性。当应用需求发生较大变化，相应外模式不能满足其视图要求时，该外模式就得做相应改动。</a:t>
            </a:r>
          </a:p>
          <a:p>
            <a:pPr lvl="1" algn="just" eaLnBrk="1" hangingPunct="1">
              <a:lnSpc>
                <a:spcPct val="150000"/>
              </a:lnSpc>
            </a:pPr>
            <a:r>
              <a:rPr lang="zh-CN" altLang="en-US" b="1" smtClean="0">
                <a:ea typeface="楷体_GB2312" pitchFamily="49" charset="-122"/>
              </a:rPr>
              <a:t>应用程序是在外模式描述的数据结构上编制的，它依赖于特定的外模式，与数据库的模式和存储结构独立。</a:t>
            </a:r>
          </a:p>
          <a:p>
            <a:pPr lvl="1" algn="just" eaLnBrk="1" hangingPunct="1">
              <a:lnSpc>
                <a:spcPct val="150000"/>
              </a:lnSpc>
            </a:pPr>
            <a:r>
              <a:rPr lang="zh-CN" altLang="en-US" b="1" smtClean="0">
                <a:ea typeface="楷体_GB2312" pitchFamily="49" charset="-122"/>
              </a:rPr>
              <a:t>不同的应用程序有时可以共用同一个外模式。</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DB7BFD4E-0078-48DE-AC4F-27617A28AFED}" type="slidenum">
              <a:rPr lang="en-US" altLang="zh-CN" smtClean="0"/>
              <a:pPr eaLnBrk="1" hangingPunct="1"/>
              <a:t>81</a:t>
            </a:fld>
            <a:endParaRPr lang="en-US" altLang="zh-CN" smtClean="0"/>
          </a:p>
        </p:txBody>
      </p:sp>
      <p:sp>
        <p:nvSpPr>
          <p:cNvPr id="1331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1" algn="just" eaLnBrk="1" hangingPunct="1">
              <a:lnSpc>
                <a:spcPct val="130000"/>
              </a:lnSpc>
            </a:pPr>
            <a:r>
              <a:rPr lang="zh-CN" altLang="en-US" b="1" smtClean="0">
                <a:ea typeface="楷体_GB2312" pitchFamily="49" charset="-122"/>
              </a:rPr>
              <a:t>面向具体的应用程序，定义在逻辑模式之上，但独立于存储模式和存储设备。</a:t>
            </a:r>
          </a:p>
          <a:p>
            <a:pPr lvl="1" algn="just" eaLnBrk="1" hangingPunct="1">
              <a:lnSpc>
                <a:spcPct val="130000"/>
              </a:lnSpc>
            </a:pPr>
            <a:r>
              <a:rPr lang="zh-CN" altLang="en-US" b="1" smtClean="0">
                <a:ea typeface="楷体_GB2312" pitchFamily="49" charset="-122"/>
              </a:rPr>
              <a:t>设计外模式时应充分考虑到应用的扩充性。当应用需求发生较大变化，相应外模式不能满足其视图要求时，该外模式就得做相应改动。</a:t>
            </a:r>
          </a:p>
          <a:p>
            <a:pPr lvl="1" algn="just" eaLnBrk="1" hangingPunct="1">
              <a:lnSpc>
                <a:spcPct val="150000"/>
              </a:lnSpc>
            </a:pPr>
            <a:r>
              <a:rPr lang="zh-CN" altLang="en-US" b="1" smtClean="0">
                <a:ea typeface="楷体_GB2312" pitchFamily="49" charset="-122"/>
              </a:rPr>
              <a:t>应用程序是在外模式描述的数据结构上编制的，它依赖于特定的外模式，与数据库的模式和存储结构独立。</a:t>
            </a:r>
          </a:p>
          <a:p>
            <a:pPr lvl="1" algn="just" eaLnBrk="1" hangingPunct="1">
              <a:lnSpc>
                <a:spcPct val="150000"/>
              </a:lnSpc>
            </a:pPr>
            <a:r>
              <a:rPr lang="zh-CN" altLang="en-US" b="1" smtClean="0">
                <a:ea typeface="楷体_GB2312" pitchFamily="49" charset="-122"/>
              </a:rPr>
              <a:t>不同的应用程序有时可以共用同一个外模式。</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935B5C19-994B-4651-8CF0-2ED5668C47EA}" type="slidenum">
              <a:rPr lang="en-US" altLang="zh-CN" smtClean="0"/>
              <a:pPr eaLnBrk="1" hangingPunct="1"/>
              <a:t>84</a:t>
            </a:fld>
            <a:endParaRPr lang="en-US" altLang="zh-CN" smtClean="0"/>
          </a:p>
        </p:txBody>
      </p:sp>
      <p:sp>
        <p:nvSpPr>
          <p:cNvPr id="1341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1" algn="just" eaLnBrk="1" hangingPunct="1">
              <a:lnSpc>
                <a:spcPct val="150000"/>
              </a:lnSpc>
            </a:pPr>
            <a:r>
              <a:rPr lang="zh-CN" altLang="en-US" b="1" smtClean="0">
                <a:ea typeface="楷体_GB2312" pitchFamily="49" charset="-122"/>
              </a:rPr>
              <a:t>依赖于全局逻辑结构，但独立于数据库的用户视图即外模式，也独立于具体的存储设备。</a:t>
            </a:r>
          </a:p>
          <a:p>
            <a:pPr lvl="1" algn="just" eaLnBrk="1" hangingPunct="1">
              <a:lnSpc>
                <a:spcPct val="150000"/>
              </a:lnSpc>
            </a:pPr>
            <a:r>
              <a:rPr lang="zh-CN" altLang="en-US" b="1" smtClean="0">
                <a:ea typeface="楷体_GB2312" pitchFamily="49" charset="-122"/>
              </a:rPr>
              <a:t>它将全局逻辑结构中所定义的数据结构及其联系按照一定的物理存储策略进行组织，以达到较好的时间与空间效率。</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52FCA86A-069F-4233-8572-B4D8FE4473D4}" type="slidenum">
              <a:rPr lang="en-US" altLang="zh-CN" smtClean="0"/>
              <a:pPr eaLnBrk="1" hangingPunct="1"/>
              <a:t>89</a:t>
            </a:fld>
            <a:endParaRPr lang="en-US" altLang="zh-CN" smtClean="0"/>
          </a:p>
        </p:txBody>
      </p:sp>
      <p:sp>
        <p:nvSpPr>
          <p:cNvPr id="1351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eaLnBrk="1" hangingPunct="1"/>
            <a:r>
              <a:rPr lang="zh-CN" altLang="en-US" sz="1000" b="1" smtClean="0">
                <a:ea typeface="楷体_GB2312" pitchFamily="49" charset="-122"/>
              </a:rPr>
              <a:t>二级映像</a:t>
            </a:r>
          </a:p>
          <a:p>
            <a:pPr lvl="1" algn="just" eaLnBrk="1" hangingPunct="1">
              <a:lnSpc>
                <a:spcPct val="120000"/>
              </a:lnSpc>
            </a:pPr>
            <a:r>
              <a:rPr lang="zh-CN" altLang="en-US" b="1" smtClean="0">
                <a:ea typeface="楷体_GB2312" pitchFamily="49" charset="-122"/>
              </a:rPr>
              <a:t>保证了数据库外模式的稳定性，从而从底层保证了应用程序的稳定性，除非应用需求本身发生变化，否则应用程序一般不需要修改。</a:t>
            </a:r>
          </a:p>
          <a:p>
            <a:pPr lvl="1" algn="just" eaLnBrk="1" hangingPunct="1">
              <a:lnSpc>
                <a:spcPct val="120000"/>
              </a:lnSpc>
            </a:pPr>
            <a:r>
              <a:rPr lang="zh-CN" altLang="en-US" b="1" smtClean="0">
                <a:ea typeface="楷体_GB2312" pitchFamily="49" charset="-122"/>
              </a:rPr>
              <a:t>数据与程序之间的独立性，使得数据的定义和描述可以从应用程序中分离出去。</a:t>
            </a:r>
          </a:p>
          <a:p>
            <a:pPr eaLnBrk="1" hangingPunct="1"/>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31B9EE51-0C95-4045-9D20-AA8F1E2C5616}" type="slidenum">
              <a:rPr lang="en-US" altLang="zh-CN"/>
              <a:pPr>
                <a:defRPr/>
              </a:pPr>
              <a:t>‹#›</a:t>
            </a:fld>
            <a:endParaRPr lang="en-US" altLang="zh-CN"/>
          </a:p>
        </p:txBody>
      </p:sp>
    </p:spTree>
    <p:extLst>
      <p:ext uri="{BB962C8B-B14F-4D97-AF65-F5344CB8AC3E}">
        <p14:creationId xmlns:p14="http://schemas.microsoft.com/office/powerpoint/2010/main" val="2319027272"/>
      </p:ext>
    </p:extLst>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21506" name="Rectangle 2"/>
          <p:cNvSpPr>
            <a:spLocks noGrp="1" noChangeArrowheads="1"/>
          </p:cNvSpPr>
          <p:nvPr>
            <p:ph type="ctrTitle"/>
          </p:nvPr>
        </p:nvSpPr>
        <p:spPr>
          <a:xfrm>
            <a:off x="685800" y="990600"/>
            <a:ext cx="7772400" cy="1371600"/>
          </a:xfrm>
        </p:spPr>
        <p:txBody>
          <a:bodyPr/>
          <a:lstStyle>
            <a:lvl1pPr>
              <a:defRPr sz="4000"/>
            </a:lvl1pPr>
          </a:lstStyle>
          <a:p>
            <a:r>
              <a:rPr lang="zh-CN" altLang="en-US"/>
              <a:t>单击此处编辑母版标题样式</a:t>
            </a:r>
          </a:p>
        </p:txBody>
      </p:sp>
      <p:sp>
        <p:nvSpPr>
          <p:cNvPr id="21507"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zh-CN" altLang="en-US"/>
              <a:t>单击此处编辑母版副标题样式</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pPr>
              <a:defRPr/>
            </a:pPr>
            <a:fld id="{23E4DCC0-2C41-4496-8132-E49542AD0401}" type="slidenum">
              <a:rPr lang="en-US" altLang="zh-CN"/>
              <a:pPr>
                <a:defRPr/>
              </a:pPr>
              <a:t>‹#›</a:t>
            </a:fld>
            <a:endParaRPr lang="en-US" altLang="zh-CN"/>
          </a:p>
        </p:txBody>
      </p:sp>
    </p:spTree>
    <p:extLst>
      <p:ext uri="{BB962C8B-B14F-4D97-AF65-F5344CB8AC3E}">
        <p14:creationId xmlns:p14="http://schemas.microsoft.com/office/powerpoint/2010/main" val="152545098"/>
      </p:ext>
    </p:extLst>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8E851A0A-54E5-482E-90BB-0FFB51405CDA}" type="slidenum">
              <a:rPr lang="en-US" altLang="zh-CN"/>
              <a:pPr>
                <a:defRPr/>
              </a:pPr>
              <a:t>‹#›</a:t>
            </a:fld>
            <a:endParaRPr lang="en-US" altLang="zh-CN"/>
          </a:p>
        </p:txBody>
      </p:sp>
    </p:spTree>
    <p:extLst>
      <p:ext uri="{BB962C8B-B14F-4D97-AF65-F5344CB8AC3E}">
        <p14:creationId xmlns:p14="http://schemas.microsoft.com/office/powerpoint/2010/main" val="2520616582"/>
      </p:ext>
    </p:extLst>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4775CBA7-CB1E-42F3-8CEC-8F9A33625A78}" type="slidenum">
              <a:rPr lang="en-US" altLang="zh-CN"/>
              <a:pPr>
                <a:defRPr/>
              </a:pPr>
              <a:t>‹#›</a:t>
            </a:fld>
            <a:endParaRPr lang="en-US" altLang="zh-CN"/>
          </a:p>
        </p:txBody>
      </p:sp>
    </p:spTree>
    <p:extLst>
      <p:ext uri="{BB962C8B-B14F-4D97-AF65-F5344CB8AC3E}">
        <p14:creationId xmlns:p14="http://schemas.microsoft.com/office/powerpoint/2010/main" val="3026545997"/>
      </p:ext>
    </p:extLst>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8"/>
          <p:cNvSpPr>
            <a:spLocks noGrp="1" noChangeArrowheads="1"/>
          </p:cNvSpPr>
          <p:nvPr>
            <p:ph type="sldNum" sz="quarter" idx="12"/>
          </p:nvPr>
        </p:nvSpPr>
        <p:spPr>
          <a:ln/>
        </p:spPr>
        <p:txBody>
          <a:bodyPr/>
          <a:lstStyle>
            <a:lvl1pPr>
              <a:defRPr/>
            </a:lvl1pPr>
          </a:lstStyle>
          <a:p>
            <a:pPr>
              <a:defRPr/>
            </a:pPr>
            <a:fld id="{2B439E18-6CFB-4C18-8439-C9BBE93CE3EC}" type="slidenum">
              <a:rPr lang="en-US" altLang="zh-CN"/>
              <a:pPr>
                <a:defRPr/>
              </a:pPr>
              <a:t>‹#›</a:t>
            </a:fld>
            <a:endParaRPr lang="en-US" altLang="zh-CN"/>
          </a:p>
        </p:txBody>
      </p:sp>
    </p:spTree>
    <p:extLst>
      <p:ext uri="{BB962C8B-B14F-4D97-AF65-F5344CB8AC3E}">
        <p14:creationId xmlns:p14="http://schemas.microsoft.com/office/powerpoint/2010/main" val="3545821175"/>
      </p:ext>
    </p:extLst>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a:ln/>
        </p:spPr>
        <p:txBody>
          <a:bodyPr/>
          <a:lstStyle>
            <a:lvl1pPr>
              <a:defRPr/>
            </a:lvl1pPr>
          </a:lstStyle>
          <a:p>
            <a:pPr>
              <a:defRPr/>
            </a:pPr>
            <a:fld id="{6D4A840E-B033-4B61-B644-0B319D1E1D98}" type="slidenum">
              <a:rPr lang="en-US" altLang="zh-CN"/>
              <a:pPr>
                <a:defRPr/>
              </a:pPr>
              <a:t>‹#›</a:t>
            </a:fld>
            <a:endParaRPr lang="en-US" altLang="zh-CN"/>
          </a:p>
        </p:txBody>
      </p:sp>
    </p:spTree>
    <p:extLst>
      <p:ext uri="{BB962C8B-B14F-4D97-AF65-F5344CB8AC3E}">
        <p14:creationId xmlns:p14="http://schemas.microsoft.com/office/powerpoint/2010/main" val="4209720686"/>
      </p:ext>
    </p:extLst>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8"/>
          <p:cNvSpPr>
            <a:spLocks noGrp="1" noChangeArrowheads="1"/>
          </p:cNvSpPr>
          <p:nvPr>
            <p:ph type="sldNum" sz="quarter" idx="12"/>
          </p:nvPr>
        </p:nvSpPr>
        <p:spPr>
          <a:ln/>
        </p:spPr>
        <p:txBody>
          <a:bodyPr/>
          <a:lstStyle>
            <a:lvl1pPr>
              <a:defRPr/>
            </a:lvl1pPr>
          </a:lstStyle>
          <a:p>
            <a:pPr>
              <a:defRPr/>
            </a:pPr>
            <a:fld id="{A8A8612A-F161-4312-9BCB-F86E16E84079}" type="slidenum">
              <a:rPr lang="en-US" altLang="zh-CN"/>
              <a:pPr>
                <a:defRPr/>
              </a:pPr>
              <a:t>‹#›</a:t>
            </a:fld>
            <a:endParaRPr lang="en-US" altLang="zh-CN"/>
          </a:p>
        </p:txBody>
      </p:sp>
    </p:spTree>
    <p:extLst>
      <p:ext uri="{BB962C8B-B14F-4D97-AF65-F5344CB8AC3E}">
        <p14:creationId xmlns:p14="http://schemas.microsoft.com/office/powerpoint/2010/main" val="2983329417"/>
      </p:ext>
    </p:extLst>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D397E591-E9F3-4113-A8AF-88B38A6D0247}" type="slidenum">
              <a:rPr lang="en-US" altLang="zh-CN"/>
              <a:pPr>
                <a:defRPr/>
              </a:pPr>
              <a:t>‹#›</a:t>
            </a:fld>
            <a:endParaRPr lang="en-US" altLang="zh-CN"/>
          </a:p>
        </p:txBody>
      </p:sp>
    </p:spTree>
    <p:extLst>
      <p:ext uri="{BB962C8B-B14F-4D97-AF65-F5344CB8AC3E}">
        <p14:creationId xmlns:p14="http://schemas.microsoft.com/office/powerpoint/2010/main" val="2837744127"/>
      </p:ext>
    </p:extLst>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6C98D5F6-A719-495C-8034-3CDACB616A57}" type="slidenum">
              <a:rPr lang="en-US" altLang="zh-CN"/>
              <a:pPr>
                <a:defRPr/>
              </a:pPr>
              <a:t>‹#›</a:t>
            </a:fld>
            <a:endParaRPr lang="en-US" altLang="zh-CN"/>
          </a:p>
        </p:txBody>
      </p:sp>
    </p:spTree>
    <p:extLst>
      <p:ext uri="{BB962C8B-B14F-4D97-AF65-F5344CB8AC3E}">
        <p14:creationId xmlns:p14="http://schemas.microsoft.com/office/powerpoint/2010/main" val="3916022884"/>
      </p:ext>
    </p:extLst>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3279F6D9-E8E6-44BF-8604-4428D0605139}" type="slidenum">
              <a:rPr lang="en-US" altLang="zh-CN"/>
              <a:pPr>
                <a:defRPr/>
              </a:pPr>
              <a:t>‹#›</a:t>
            </a:fld>
            <a:endParaRPr lang="en-US" altLang="zh-CN"/>
          </a:p>
        </p:txBody>
      </p:sp>
    </p:spTree>
    <p:extLst>
      <p:ext uri="{BB962C8B-B14F-4D97-AF65-F5344CB8AC3E}">
        <p14:creationId xmlns:p14="http://schemas.microsoft.com/office/powerpoint/2010/main" val="659725434"/>
      </p:ext>
    </p:extLst>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FAF6A13A-F25B-4B2D-8641-79D9A3D78DAB}" type="slidenum">
              <a:rPr lang="en-US" altLang="zh-CN"/>
              <a:pPr>
                <a:defRPr/>
              </a:pPr>
              <a:t>‹#›</a:t>
            </a:fld>
            <a:endParaRPr lang="en-US" altLang="zh-CN"/>
          </a:p>
        </p:txBody>
      </p:sp>
    </p:spTree>
    <p:extLst>
      <p:ext uri="{BB962C8B-B14F-4D97-AF65-F5344CB8AC3E}">
        <p14:creationId xmlns:p14="http://schemas.microsoft.com/office/powerpoint/2010/main" val="2692286472"/>
      </p:ext>
    </p:extLst>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SmartArt 占位符 2"/>
          <p:cNvSpPr>
            <a:spLocks noGrp="1"/>
          </p:cNvSpPr>
          <p:nvPr>
            <p:ph type="dgm" idx="1"/>
          </p:nvPr>
        </p:nvSpPr>
        <p:spPr>
          <a:xfrm>
            <a:off x="457200" y="1600200"/>
            <a:ext cx="8229600" cy="4525963"/>
          </a:xfrm>
        </p:spPr>
        <p:txBody>
          <a:bodyPr/>
          <a:lstStyle/>
          <a:p>
            <a:pPr lvl="0"/>
            <a:endParaRPr lang="zh-CN" altLang="en-US" noProof="0" smtClean="0"/>
          </a:p>
        </p:txBody>
      </p:sp>
      <p:sp>
        <p:nvSpPr>
          <p:cNvPr id="4" name="Rectangle 6"/>
          <p:cNvSpPr>
            <a:spLocks noGrp="1" noChangeArrowheads="1"/>
          </p:cNvSpPr>
          <p:nvPr>
            <p:ph type="sldNum" sz="quarter" idx="10"/>
          </p:nvPr>
        </p:nvSpPr>
        <p:spPr/>
        <p:txBody>
          <a:bodyPr/>
          <a:lstStyle>
            <a:lvl1pPr>
              <a:defRPr/>
            </a:lvl1pPr>
          </a:lstStyle>
          <a:p>
            <a:pPr>
              <a:defRPr/>
            </a:pPr>
            <a:fld id="{8FAC6727-2C55-494C-BC2C-073A8D378B6E}" type="slidenum">
              <a:rPr lang="en-US" altLang="zh-CN"/>
              <a:pPr>
                <a:defRPr/>
              </a:pPr>
              <a:t>‹#›</a:t>
            </a:fld>
            <a:endParaRPr lang="en-US" altLang="zh-CN" dirty="0"/>
          </a:p>
        </p:txBody>
      </p:sp>
    </p:spTree>
    <p:extLst>
      <p:ext uri="{BB962C8B-B14F-4D97-AF65-F5344CB8AC3E}">
        <p14:creationId xmlns:p14="http://schemas.microsoft.com/office/powerpoint/2010/main" val="31774554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15888"/>
            <a:ext cx="8147050" cy="8509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CB7B2FB3-B182-47CB-A89E-D349628B3F76}" type="slidenum">
              <a:rPr lang="en-US" altLang="zh-CN"/>
              <a:pPr>
                <a:defRPr/>
              </a:pPr>
              <a:t>‹#›</a:t>
            </a:fld>
            <a:endParaRPr lang="en-US" altLang="zh-CN" dirty="0"/>
          </a:p>
        </p:txBody>
      </p:sp>
    </p:spTree>
    <p:extLst>
      <p:ext uri="{BB962C8B-B14F-4D97-AF65-F5344CB8AC3E}">
        <p14:creationId xmlns:p14="http://schemas.microsoft.com/office/powerpoint/2010/main" val="5648194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6"/>
          <p:cNvSpPr>
            <a:spLocks noGrp="1" noChangeArrowheads="1"/>
          </p:cNvSpPr>
          <p:nvPr>
            <p:ph type="sldNum" sz="quarter" idx="10"/>
          </p:nvPr>
        </p:nvSpPr>
        <p:spPr/>
        <p:txBody>
          <a:bodyPr/>
          <a:lstStyle>
            <a:lvl1pPr>
              <a:defRPr/>
            </a:lvl1pPr>
          </a:lstStyle>
          <a:p>
            <a:pPr>
              <a:defRPr/>
            </a:pPr>
            <a:fld id="{D84FCBAD-288D-4209-A121-A9BB76F8881D}" type="slidenum">
              <a:rPr lang="en-US" altLang="zh-CN"/>
              <a:pPr>
                <a:defRPr/>
              </a:pPr>
              <a:t>‹#›</a:t>
            </a:fld>
            <a:endParaRPr lang="en-US" altLang="zh-CN" dirty="0"/>
          </a:p>
        </p:txBody>
      </p:sp>
    </p:spTree>
    <p:extLst>
      <p:ext uri="{BB962C8B-B14F-4D97-AF65-F5344CB8AC3E}">
        <p14:creationId xmlns:p14="http://schemas.microsoft.com/office/powerpoint/2010/main" val="39867365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15888"/>
            <a:ext cx="8147050" cy="8509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smtClean="0"/>
          </a:p>
        </p:txBody>
      </p:sp>
      <p:sp>
        <p:nvSpPr>
          <p:cNvPr id="4" name="Rectangle 6"/>
          <p:cNvSpPr>
            <a:spLocks noGrp="1" noChangeArrowheads="1"/>
          </p:cNvSpPr>
          <p:nvPr>
            <p:ph type="sldNum" sz="quarter" idx="10"/>
          </p:nvPr>
        </p:nvSpPr>
        <p:spPr/>
        <p:txBody>
          <a:bodyPr/>
          <a:lstStyle>
            <a:lvl1pPr>
              <a:defRPr/>
            </a:lvl1pPr>
          </a:lstStyle>
          <a:p>
            <a:pPr>
              <a:defRPr/>
            </a:pPr>
            <a:fld id="{8D30C6C9-3AC1-4029-A50A-99E942D7637D}" type="slidenum">
              <a:rPr lang="en-US" altLang="zh-CN"/>
              <a:pPr>
                <a:defRPr/>
              </a:pPr>
              <a:t>‹#›</a:t>
            </a:fld>
            <a:endParaRPr lang="en-US" altLang="zh-CN" dirty="0"/>
          </a:p>
        </p:txBody>
      </p:sp>
    </p:spTree>
    <p:extLst>
      <p:ext uri="{BB962C8B-B14F-4D97-AF65-F5344CB8AC3E}">
        <p14:creationId xmlns:p14="http://schemas.microsoft.com/office/powerpoint/2010/main" val="1323131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571500" y="214313"/>
            <a:ext cx="8001000"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2051" name="Rectangle 3"/>
          <p:cNvSpPr>
            <a:spLocks noGrp="1" noChangeArrowheads="1"/>
          </p:cNvSpPr>
          <p:nvPr>
            <p:ph type="body" idx="1"/>
          </p:nvPr>
        </p:nvSpPr>
        <p:spPr bwMode="auto">
          <a:xfrm>
            <a:off x="566738" y="1143000"/>
            <a:ext cx="8001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052" name="AutoShape 4"/>
          <p:cNvSpPr>
            <a:spLocks noChangeArrowheads="1"/>
          </p:cNvSpPr>
          <p:nvPr/>
        </p:nvSpPr>
        <p:spPr bwMode="auto">
          <a:xfrm>
            <a:off x="571500" y="1000125"/>
            <a:ext cx="7958138"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2053" name="Line 5"/>
          <p:cNvSpPr>
            <a:spLocks noChangeShapeType="1"/>
          </p:cNvSpPr>
          <p:nvPr/>
        </p:nvSpPr>
        <p:spPr bwMode="auto">
          <a:xfrm flipV="1">
            <a:off x="609600" y="6172200"/>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6" name="Rectangle 6"/>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20487" name="Rectangle 7"/>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ea typeface="宋体" pitchFamily="2" charset="-122"/>
              </a:defRPr>
            </a:lvl1pPr>
          </a:lstStyle>
          <a:p>
            <a:pPr>
              <a:defRPr/>
            </a:pPr>
            <a:endParaRPr lang="en-US" altLang="zh-CN"/>
          </a:p>
        </p:txBody>
      </p:sp>
      <p:sp>
        <p:nvSpPr>
          <p:cNvPr id="20488"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fld id="{2C4F97D6-9054-415C-B9C4-1CDE044ECB2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518" r:id="rId1"/>
    <p:sldLayoutId id="2147484528" r:id="rId2"/>
    <p:sldLayoutId id="2147484519" r:id="rId3"/>
    <p:sldLayoutId id="2147484520" r:id="rId4"/>
    <p:sldLayoutId id="2147484521" r:id="rId5"/>
    <p:sldLayoutId id="2147484522" r:id="rId6"/>
    <p:sldLayoutId id="2147484523" r:id="rId7"/>
    <p:sldLayoutId id="2147484524" r:id="rId8"/>
    <p:sldLayoutId id="2147484525" r:id="rId9"/>
    <p:sldLayoutId id="2147484526" r:id="rId10"/>
    <p:sldLayoutId id="2147484527" r:id="rId11"/>
    <p:sldLayoutId id="2147484529" r:id="rId12"/>
    <p:sldLayoutId id="2147484530" r:id="rId13"/>
    <p:sldLayoutId id="2147484531" r:id="rId14"/>
    <p:sldLayoutId id="2147484532" r:id="rId15"/>
  </p:sldLayoutIdLst>
  <p:transition advClick="0"/>
  <p:timing>
    <p:tnLst>
      <p:par>
        <p:cTn id="1" dur="indefinite" restart="never" nodeType="tmRoot"/>
      </p:par>
    </p:tnLst>
  </p:timing>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0" fontAlgn="base" hangingPunct="0">
        <a:spcBef>
          <a:spcPct val="20000"/>
        </a:spcBef>
        <a:spcAft>
          <a:spcPct val="0"/>
        </a:spcAft>
        <a:buClr>
          <a:schemeClr val="accent2"/>
        </a:buClr>
        <a:buFont typeface="Wingdings" pitchFamily="2" charset="2"/>
        <a:buChar char="n"/>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itchFamily="2" charset="2"/>
        <a:buChar char="p"/>
        <a:defRPr sz="28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15.xml"/><Relationship Id="rId1" Type="http://schemas.openxmlformats.org/officeDocument/2006/relationships/slideLayout" Target="../slideLayouts/slideLayout1.xml"/><Relationship Id="rId6" Type="http://schemas.openxmlformats.org/officeDocument/2006/relationships/slide" Target="slide26.xml"/><Relationship Id="rId5" Type="http://schemas.openxmlformats.org/officeDocument/2006/relationships/slide" Target="slide25.xml"/><Relationship Id="rId4" Type="http://schemas.openxmlformats.org/officeDocument/2006/relationships/slide" Target="slide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slide" Target="slide89.xml"/><Relationship Id="rId4" Type="http://schemas.openxmlformats.org/officeDocument/2006/relationships/slide" Target="slide87.xml"/></Relationships>
</file>

<file path=ppt/slides/_rels/slide7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slide" Target="slide4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p:txBody>
          <a:bodyPr/>
          <a:lstStyle/>
          <a:p>
            <a:pPr eaLnBrk="1" hangingPunct="1"/>
            <a:r>
              <a:rPr lang="zh-CN" altLang="en-US" b="1" smtClean="0"/>
              <a:t>第一章 绪论</a:t>
            </a:r>
          </a:p>
        </p:txBody>
      </p:sp>
      <p:sp>
        <p:nvSpPr>
          <p:cNvPr id="8195" name="Rectangle 3"/>
          <p:cNvSpPr>
            <a:spLocks noGrp="1" noChangeArrowheads="1"/>
          </p:cNvSpPr>
          <p:nvPr>
            <p:ph type="subTitle" idx="1"/>
          </p:nvPr>
        </p:nvSpPr>
        <p:spPr>
          <a:xfrm>
            <a:off x="1447800" y="2643188"/>
            <a:ext cx="7010400" cy="3143250"/>
          </a:xfrm>
        </p:spPr>
        <p:txBody>
          <a:bodyPr/>
          <a:lstStyle/>
          <a:p>
            <a:pPr lvl="1" eaLnBrk="1" hangingPunct="1">
              <a:buFont typeface="Wingdings" pitchFamily="2" charset="2"/>
              <a:buNone/>
            </a:pPr>
            <a:r>
              <a:rPr lang="en-US" altLang="zh-CN" sz="3200" b="1" smtClean="0">
                <a:ea typeface="楷体_GB2312" pitchFamily="49" charset="-122"/>
              </a:rPr>
              <a:t>1.1  </a:t>
            </a:r>
            <a:r>
              <a:rPr lang="zh-CN" altLang="en-US" sz="3200" b="1" smtClean="0">
                <a:ea typeface="楷体_GB2312" pitchFamily="49" charset="-122"/>
              </a:rPr>
              <a:t>数据库系统概述</a:t>
            </a:r>
          </a:p>
          <a:p>
            <a:pPr lvl="1" eaLnBrk="1" hangingPunct="1">
              <a:buFont typeface="Wingdings" pitchFamily="2" charset="2"/>
              <a:buNone/>
            </a:pPr>
            <a:r>
              <a:rPr lang="en-US" altLang="zh-CN" sz="3200" b="1" smtClean="0">
                <a:ea typeface="楷体_GB2312" pitchFamily="49" charset="-122"/>
              </a:rPr>
              <a:t>1.2  </a:t>
            </a:r>
            <a:r>
              <a:rPr lang="zh-CN" altLang="en-US" sz="3200" b="1" smtClean="0">
                <a:ea typeface="楷体_GB2312" pitchFamily="49" charset="-122"/>
              </a:rPr>
              <a:t>数据模型</a:t>
            </a:r>
          </a:p>
          <a:p>
            <a:pPr lvl="1" eaLnBrk="1" hangingPunct="1">
              <a:buFont typeface="Wingdings" pitchFamily="2" charset="2"/>
              <a:buNone/>
            </a:pPr>
            <a:r>
              <a:rPr lang="en-US" altLang="zh-CN" sz="3200" b="1" smtClean="0">
                <a:ea typeface="楷体_GB2312" pitchFamily="49" charset="-122"/>
              </a:rPr>
              <a:t>1.3  </a:t>
            </a:r>
            <a:r>
              <a:rPr lang="zh-CN" altLang="en-US" sz="3200" b="1" smtClean="0">
                <a:ea typeface="楷体_GB2312" pitchFamily="49" charset="-122"/>
              </a:rPr>
              <a:t>数据库系统结构</a:t>
            </a:r>
          </a:p>
          <a:p>
            <a:pPr lvl="1" eaLnBrk="1" hangingPunct="1">
              <a:buFont typeface="Wingdings" pitchFamily="2" charset="2"/>
              <a:buNone/>
            </a:pPr>
            <a:r>
              <a:rPr lang="en-US" altLang="zh-CN" sz="3200" b="1" smtClean="0">
                <a:ea typeface="楷体_GB2312" pitchFamily="49" charset="-122"/>
              </a:rPr>
              <a:t>1.4  </a:t>
            </a:r>
            <a:r>
              <a:rPr lang="zh-CN" altLang="en-US" sz="3200" b="1" smtClean="0">
                <a:ea typeface="楷体_GB2312" pitchFamily="49" charset="-122"/>
              </a:rPr>
              <a:t>数据库系统的组成</a:t>
            </a:r>
          </a:p>
          <a:p>
            <a:pPr lvl="1" eaLnBrk="1" hangingPunct="1">
              <a:buFont typeface="Wingdings" pitchFamily="2" charset="2"/>
              <a:buNone/>
            </a:pPr>
            <a:r>
              <a:rPr lang="en-US" altLang="zh-CN" sz="3200" b="1" smtClean="0">
                <a:ea typeface="楷体_GB2312" pitchFamily="49" charset="-122"/>
              </a:rPr>
              <a:t>1.5  </a:t>
            </a:r>
            <a:r>
              <a:rPr lang="zh-CN" altLang="en-US" sz="3200" b="1" smtClean="0">
                <a:ea typeface="楷体_GB2312" pitchFamily="49" charset="-122"/>
              </a:rPr>
              <a:t>小结</a:t>
            </a:r>
          </a:p>
        </p:txBody>
      </p:sp>
      <p:sp>
        <p:nvSpPr>
          <p:cNvPr id="8196"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FFE948C3-0E2C-4BD6-AB1E-42F80788CB14}" type="slidenum">
              <a:rPr lang="en-US" altLang="zh-CN" smtClean="0"/>
              <a:pPr algn="l" eaLnBrk="1" hangingPunct="1"/>
              <a:t>1</a:t>
            </a:fld>
            <a:endParaRPr lang="en-US" altLang="zh-CN" smtClean="0"/>
          </a:p>
        </p:txBody>
      </p:sp>
    </p:spTree>
  </p:cSld>
  <p:clrMapOvr>
    <a:masterClrMapping/>
  </p:clrMapOvr>
  <p:transition spd="slow"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30BEAB73-A80A-4423-940E-C4CF38BF1B87}" type="slidenum">
              <a:rPr lang="en-US" altLang="zh-CN" smtClean="0"/>
              <a:pPr algn="l" eaLnBrk="1" hangingPunct="1"/>
              <a:t>2</a:t>
            </a:fld>
            <a:endParaRPr lang="en-US" altLang="zh-CN" smtClean="0"/>
          </a:p>
        </p:txBody>
      </p:sp>
      <p:sp>
        <p:nvSpPr>
          <p:cNvPr id="9219" name="Rectangle 2"/>
          <p:cNvSpPr>
            <a:spLocks noGrp="1" noChangeArrowheads="1"/>
          </p:cNvSpPr>
          <p:nvPr>
            <p:ph type="title"/>
          </p:nvPr>
        </p:nvSpPr>
        <p:spPr>
          <a:xfrm>
            <a:off x="381000" y="188913"/>
            <a:ext cx="8382000" cy="914400"/>
          </a:xfrm>
        </p:spPr>
        <p:txBody>
          <a:bodyPr/>
          <a:lstStyle/>
          <a:p>
            <a:pPr eaLnBrk="1" hangingPunct="1"/>
            <a:r>
              <a:rPr lang="en-US" altLang="zh-CN" b="1" smtClean="0"/>
              <a:t>1.1  </a:t>
            </a:r>
            <a:r>
              <a:rPr lang="zh-CN" altLang="en-US" b="1" smtClean="0"/>
              <a:t>数据库系统概述</a:t>
            </a:r>
          </a:p>
        </p:txBody>
      </p:sp>
      <p:sp>
        <p:nvSpPr>
          <p:cNvPr id="9220" name="Rectangle 3"/>
          <p:cNvSpPr>
            <a:spLocks noGrp="1" noChangeArrowheads="1"/>
          </p:cNvSpPr>
          <p:nvPr>
            <p:ph type="body" idx="1"/>
          </p:nvPr>
        </p:nvSpPr>
        <p:spPr>
          <a:xfrm>
            <a:off x="1022350" y="1484313"/>
            <a:ext cx="7437438" cy="3021012"/>
          </a:xfrm>
        </p:spPr>
        <p:txBody>
          <a:bodyPr/>
          <a:lstStyle/>
          <a:p>
            <a:pPr lvl="1" eaLnBrk="1" hangingPunct="1">
              <a:lnSpc>
                <a:spcPct val="140000"/>
              </a:lnSpc>
              <a:buFont typeface="Wingdings" pitchFamily="2" charset="2"/>
              <a:buNone/>
            </a:pPr>
            <a:r>
              <a:rPr lang="en-US" altLang="zh-CN" sz="3200" b="1" smtClean="0">
                <a:solidFill>
                  <a:srgbClr val="0000FF"/>
                </a:solidFill>
                <a:ea typeface="楷体_GB2312" pitchFamily="49" charset="-122"/>
              </a:rPr>
              <a:t>1.1.1  </a:t>
            </a:r>
            <a:r>
              <a:rPr lang="zh-CN" altLang="en-US" sz="3200" b="1" smtClean="0">
                <a:solidFill>
                  <a:srgbClr val="0000FF"/>
                </a:solidFill>
                <a:ea typeface="楷体_GB2312" pitchFamily="49" charset="-122"/>
              </a:rPr>
              <a:t>四个基本概念</a:t>
            </a:r>
          </a:p>
          <a:p>
            <a:pPr lvl="1" eaLnBrk="1" hangingPunct="1">
              <a:lnSpc>
                <a:spcPct val="140000"/>
              </a:lnSpc>
              <a:buFont typeface="Wingdings" pitchFamily="2" charset="2"/>
              <a:buNone/>
            </a:pPr>
            <a:r>
              <a:rPr lang="en-US" altLang="zh-CN" sz="3200" b="1" smtClean="0">
                <a:solidFill>
                  <a:srgbClr val="0000FF"/>
                </a:solidFill>
                <a:ea typeface="楷体_GB2312" pitchFamily="49" charset="-122"/>
              </a:rPr>
              <a:t>1.1.2  </a:t>
            </a:r>
            <a:r>
              <a:rPr lang="zh-CN" altLang="en-US" sz="3200" b="1" smtClean="0">
                <a:solidFill>
                  <a:srgbClr val="0000FF"/>
                </a:solidFill>
                <a:ea typeface="楷体_GB2312" pitchFamily="49" charset="-122"/>
              </a:rPr>
              <a:t>数据管理技术的产生和发展</a:t>
            </a:r>
          </a:p>
          <a:p>
            <a:pPr lvl="1" eaLnBrk="1" hangingPunct="1">
              <a:lnSpc>
                <a:spcPct val="140000"/>
              </a:lnSpc>
              <a:buFont typeface="Wingdings" pitchFamily="2" charset="2"/>
              <a:buNone/>
            </a:pPr>
            <a:r>
              <a:rPr lang="en-US" altLang="zh-CN" sz="3200" b="1" smtClean="0">
                <a:solidFill>
                  <a:srgbClr val="0000FF"/>
                </a:solidFill>
                <a:ea typeface="楷体_GB2312" pitchFamily="49" charset="-122"/>
              </a:rPr>
              <a:t>1.1.3  </a:t>
            </a:r>
            <a:r>
              <a:rPr lang="zh-CN" altLang="en-US" sz="3200" b="1" smtClean="0">
                <a:solidFill>
                  <a:srgbClr val="0000FF"/>
                </a:solidFill>
                <a:ea typeface="楷体_GB2312" pitchFamily="49" charset="-122"/>
              </a:rPr>
              <a:t>数据库系统的特点</a:t>
            </a:r>
            <a:r>
              <a:rPr lang="zh-CN" altLang="en-US" b="1" smtClean="0">
                <a:solidFill>
                  <a:srgbClr val="0000FF"/>
                </a:solidFill>
                <a:ea typeface="楷体_GB2312" pitchFamily="49" charset="-122"/>
              </a:rPr>
              <a:t> </a:t>
            </a:r>
          </a:p>
        </p:txBody>
      </p:sp>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EDEBA442-EA5A-4A4F-BBA2-C3B72D593D08}" type="slidenum">
              <a:rPr lang="en-US" altLang="zh-CN" smtClean="0"/>
              <a:pPr algn="l" eaLnBrk="1" hangingPunct="1"/>
              <a:t>3</a:t>
            </a:fld>
            <a:endParaRPr lang="en-US" altLang="zh-CN" smtClean="0"/>
          </a:p>
        </p:txBody>
      </p:sp>
      <p:sp>
        <p:nvSpPr>
          <p:cNvPr id="10243" name="Rectangle 2"/>
          <p:cNvSpPr>
            <a:spLocks noGrp="1" noChangeArrowheads="1"/>
          </p:cNvSpPr>
          <p:nvPr>
            <p:ph type="title"/>
          </p:nvPr>
        </p:nvSpPr>
        <p:spPr>
          <a:xfrm>
            <a:off x="381000" y="188913"/>
            <a:ext cx="8382000" cy="914400"/>
          </a:xfrm>
        </p:spPr>
        <p:txBody>
          <a:bodyPr/>
          <a:lstStyle/>
          <a:p>
            <a:pPr eaLnBrk="1" hangingPunct="1"/>
            <a:r>
              <a:rPr lang="en-US" altLang="zh-CN" b="1" smtClean="0"/>
              <a:t>1.1.1  </a:t>
            </a:r>
            <a:r>
              <a:rPr lang="zh-CN" altLang="en-US" b="1" smtClean="0"/>
              <a:t>四个基本概念</a:t>
            </a:r>
            <a:endParaRPr lang="zh-CN" altLang="en-US" sz="5500" b="1" smtClean="0">
              <a:latin typeface="宋体" pitchFamily="2" charset="-122"/>
            </a:endParaRPr>
          </a:p>
        </p:txBody>
      </p:sp>
      <p:sp>
        <p:nvSpPr>
          <p:cNvPr id="10244" name="AutoShape 8"/>
          <p:cNvSpPr>
            <a:spLocks noChangeArrowheads="1"/>
          </p:cNvSpPr>
          <p:nvPr/>
        </p:nvSpPr>
        <p:spPr bwMode="auto">
          <a:xfrm>
            <a:off x="5651500" y="1917700"/>
            <a:ext cx="1728788" cy="1439863"/>
          </a:xfrm>
          <a:prstGeom prst="can">
            <a:avLst>
              <a:gd name="adj" fmla="val 26144"/>
            </a:avLst>
          </a:prstGeom>
          <a:solidFill>
            <a:schemeClr val="accent1"/>
          </a:solidFill>
          <a:ln w="9525">
            <a:solidFill>
              <a:schemeClr val="tx1"/>
            </a:solidFill>
            <a:round/>
            <a:headEnd/>
            <a:tailEnd/>
          </a:ln>
        </p:spPr>
        <p:txBody>
          <a:bodyPr wrap="none" anchor="ctr"/>
          <a:lstStyle/>
          <a:p>
            <a:pPr algn="ctr" eaLnBrk="0" hangingPunct="0"/>
            <a:r>
              <a:rPr lang="zh-CN" altLang="en-US" sz="2400">
                <a:ea typeface="华文中宋" pitchFamily="2" charset="-122"/>
              </a:rPr>
              <a:t>数据库</a:t>
            </a:r>
          </a:p>
          <a:p>
            <a:pPr algn="ctr" eaLnBrk="0" hangingPunct="0"/>
            <a:r>
              <a:rPr lang="zh-CN" altLang="en-US" sz="2400">
                <a:ea typeface="华文中宋" pitchFamily="2" charset="-122"/>
              </a:rPr>
              <a:t>（</a:t>
            </a:r>
            <a:r>
              <a:rPr lang="en-US" altLang="zh-CN" sz="2400">
                <a:ea typeface="华文中宋" pitchFamily="2" charset="-122"/>
              </a:rPr>
              <a:t>Database</a:t>
            </a:r>
            <a:r>
              <a:rPr lang="zh-CN" altLang="en-US" sz="2400">
                <a:ea typeface="华文中宋" pitchFamily="2" charset="-122"/>
              </a:rPr>
              <a:t>）</a:t>
            </a:r>
          </a:p>
        </p:txBody>
      </p:sp>
      <p:sp>
        <p:nvSpPr>
          <p:cNvPr id="10245" name="AutoShape 9"/>
          <p:cNvSpPr>
            <a:spLocks noChangeArrowheads="1"/>
          </p:cNvSpPr>
          <p:nvPr/>
        </p:nvSpPr>
        <p:spPr bwMode="auto">
          <a:xfrm>
            <a:off x="1979613" y="2060575"/>
            <a:ext cx="2232025" cy="1081088"/>
          </a:xfrm>
          <a:prstGeom prst="roundRect">
            <a:avLst>
              <a:gd name="adj" fmla="val 16667"/>
            </a:avLst>
          </a:prstGeom>
          <a:solidFill>
            <a:srgbClr val="FFCC99"/>
          </a:solidFill>
          <a:ln w="12700" cap="sq">
            <a:solidFill>
              <a:schemeClr val="tx1"/>
            </a:solidFill>
            <a:round/>
            <a:headEnd type="none" w="sm" len="sm"/>
            <a:tailEnd type="none" w="sm" len="sm"/>
          </a:ln>
        </p:spPr>
        <p:txBody>
          <a:bodyPr wrap="none" anchor="ctr"/>
          <a:lstStyle/>
          <a:p>
            <a:pPr algn="ctr"/>
            <a:r>
              <a:rPr lang="zh-CN" altLang="en-US" sz="2400"/>
              <a:t>数据</a:t>
            </a:r>
            <a:r>
              <a:rPr lang="en-US" altLang="zh-CN" sz="2400"/>
              <a:t>(Data)</a:t>
            </a:r>
            <a:endParaRPr lang="zh-CN" altLang="en-US" sz="2400"/>
          </a:p>
        </p:txBody>
      </p:sp>
      <p:sp>
        <p:nvSpPr>
          <p:cNvPr id="10246" name="AutoShape 10"/>
          <p:cNvSpPr>
            <a:spLocks noChangeArrowheads="1"/>
          </p:cNvSpPr>
          <p:nvPr/>
        </p:nvSpPr>
        <p:spPr bwMode="auto">
          <a:xfrm>
            <a:off x="1835150" y="4005263"/>
            <a:ext cx="2447925" cy="1223962"/>
          </a:xfrm>
          <a:prstGeom prst="bevel">
            <a:avLst>
              <a:gd name="adj" fmla="val 12500"/>
            </a:avLst>
          </a:prstGeom>
          <a:solidFill>
            <a:srgbClr val="C0C0C0"/>
          </a:solidFill>
          <a:ln w="12700" cap="sq">
            <a:solidFill>
              <a:schemeClr val="tx1"/>
            </a:solidFill>
            <a:miter lim="800000"/>
            <a:headEnd type="none" w="sm" len="sm"/>
            <a:tailEnd type="none" w="sm" len="sm"/>
          </a:ln>
        </p:spPr>
        <p:txBody>
          <a:bodyPr wrap="none" anchor="ctr"/>
          <a:lstStyle/>
          <a:p>
            <a:pPr algn="ctr"/>
            <a:r>
              <a:rPr lang="zh-CN" altLang="en-US" sz="2400"/>
              <a:t>数据库管理系统</a:t>
            </a:r>
          </a:p>
          <a:p>
            <a:pPr algn="ctr"/>
            <a:r>
              <a:rPr lang="en-US" altLang="zh-CN" sz="2400"/>
              <a:t>(DBMS)</a:t>
            </a:r>
            <a:endParaRPr lang="zh-CN" altLang="en-US" sz="2400"/>
          </a:p>
        </p:txBody>
      </p:sp>
      <p:sp>
        <p:nvSpPr>
          <p:cNvPr id="10247" name="AutoShape 11"/>
          <p:cNvSpPr>
            <a:spLocks noChangeArrowheads="1"/>
          </p:cNvSpPr>
          <p:nvPr/>
        </p:nvSpPr>
        <p:spPr bwMode="auto">
          <a:xfrm>
            <a:off x="5435600" y="4005263"/>
            <a:ext cx="2447925" cy="1152525"/>
          </a:xfrm>
          <a:prstGeom prst="cube">
            <a:avLst>
              <a:gd name="adj" fmla="val 25000"/>
            </a:avLst>
          </a:prstGeom>
          <a:solidFill>
            <a:srgbClr val="CCFFCC"/>
          </a:solidFill>
          <a:ln w="12700" cap="sq">
            <a:solidFill>
              <a:schemeClr val="tx1"/>
            </a:solidFill>
            <a:miter lim="800000"/>
            <a:headEnd type="none" w="sm" len="sm"/>
            <a:tailEnd type="none" w="sm" len="sm"/>
          </a:ln>
        </p:spPr>
        <p:txBody>
          <a:bodyPr wrap="none" anchor="ctr"/>
          <a:lstStyle/>
          <a:p>
            <a:pPr algn="ctr"/>
            <a:r>
              <a:rPr lang="zh-CN" altLang="en-US" sz="2400"/>
              <a:t>数据库系统</a:t>
            </a:r>
          </a:p>
          <a:p>
            <a:pPr algn="ctr"/>
            <a:r>
              <a:rPr lang="en-US" altLang="zh-CN" sz="2400"/>
              <a:t>(DBS)</a:t>
            </a:r>
            <a:endParaRPr lang="zh-CN" altLang="en-US" sz="2400"/>
          </a:p>
        </p:txBody>
      </p:sp>
    </p:spTree>
  </p:cSld>
  <p:clrMapOvr>
    <a:masterClrMapping/>
  </p:clrMapOvr>
  <p:transition advClick="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B9648369-DE9D-40DE-9343-A9616CC00E60}" type="slidenum">
              <a:rPr lang="en-US" altLang="zh-CN" smtClean="0"/>
              <a:pPr algn="l" eaLnBrk="1" hangingPunct="1"/>
              <a:t>4</a:t>
            </a:fld>
            <a:endParaRPr lang="en-US" altLang="zh-CN" smtClean="0"/>
          </a:p>
        </p:txBody>
      </p:sp>
      <p:sp>
        <p:nvSpPr>
          <p:cNvPr id="11267" name="Rectangle 1026"/>
          <p:cNvSpPr>
            <a:spLocks noGrp="1" noChangeArrowheads="1"/>
          </p:cNvSpPr>
          <p:nvPr>
            <p:ph type="title"/>
          </p:nvPr>
        </p:nvSpPr>
        <p:spPr>
          <a:xfrm>
            <a:off x="381000" y="115888"/>
            <a:ext cx="8382000" cy="914400"/>
          </a:xfrm>
        </p:spPr>
        <p:txBody>
          <a:bodyPr/>
          <a:lstStyle/>
          <a:p>
            <a:pPr eaLnBrk="1" hangingPunct="1"/>
            <a:r>
              <a:rPr lang="zh-CN" altLang="en-US" b="1" smtClean="0"/>
              <a:t>一、数据</a:t>
            </a:r>
          </a:p>
        </p:txBody>
      </p:sp>
      <p:sp>
        <p:nvSpPr>
          <p:cNvPr id="11268" name="Rectangle 1029"/>
          <p:cNvSpPr>
            <a:spLocks noGrp="1" noChangeArrowheads="1"/>
          </p:cNvSpPr>
          <p:nvPr>
            <p:ph type="body" idx="1"/>
          </p:nvPr>
        </p:nvSpPr>
        <p:spPr>
          <a:xfrm>
            <a:off x="323850" y="1092200"/>
            <a:ext cx="8439150" cy="1976438"/>
          </a:xfrm>
          <a:noFill/>
        </p:spPr>
        <p:txBody>
          <a:bodyPr/>
          <a:lstStyle/>
          <a:p>
            <a:pPr eaLnBrk="1" hangingPunct="1">
              <a:lnSpc>
                <a:spcPct val="130000"/>
              </a:lnSpc>
            </a:pPr>
            <a:r>
              <a:rPr lang="zh-CN" altLang="en-US" sz="2800" b="1" smtClean="0">
                <a:ea typeface="楷体_GB2312" pitchFamily="49" charset="-122"/>
              </a:rPr>
              <a:t>数据</a:t>
            </a:r>
            <a:r>
              <a:rPr lang="en-US" altLang="zh-CN" b="1" smtClean="0">
                <a:ea typeface="楷体_GB2312" pitchFamily="49" charset="-122"/>
              </a:rPr>
              <a:t>(</a:t>
            </a:r>
            <a:r>
              <a:rPr lang="en-US" altLang="zh-CN" b="1" smtClean="0">
                <a:solidFill>
                  <a:srgbClr val="0000FF"/>
                </a:solidFill>
                <a:ea typeface="楷体_GB2312" pitchFamily="49" charset="-122"/>
              </a:rPr>
              <a:t>Data</a:t>
            </a:r>
            <a:r>
              <a:rPr lang="en-US" altLang="zh-CN" b="1" smtClean="0">
                <a:ea typeface="楷体_GB2312" pitchFamily="49" charset="-122"/>
              </a:rPr>
              <a:t>)</a:t>
            </a:r>
            <a:r>
              <a:rPr lang="zh-CN" altLang="en-US" sz="2800" b="1" smtClean="0">
                <a:ea typeface="楷体_GB2312" pitchFamily="49" charset="-122"/>
              </a:rPr>
              <a:t>的定义</a:t>
            </a:r>
          </a:p>
          <a:p>
            <a:pPr lvl="1" eaLnBrk="1" hangingPunct="1">
              <a:lnSpc>
                <a:spcPct val="130000"/>
              </a:lnSpc>
            </a:pPr>
            <a:r>
              <a:rPr lang="zh-CN" altLang="en-US" b="1" smtClean="0">
                <a:ea typeface="楷体_GB2312" pitchFamily="49" charset="-122"/>
              </a:rPr>
              <a:t>数据是信息的具体表现形式</a:t>
            </a:r>
          </a:p>
          <a:p>
            <a:pPr lvl="1" eaLnBrk="1" hangingPunct="1">
              <a:lnSpc>
                <a:spcPct val="130000"/>
              </a:lnSpc>
            </a:pPr>
            <a:r>
              <a:rPr lang="zh-CN" altLang="en-US" b="1" smtClean="0">
                <a:ea typeface="楷体_GB2312" pitchFamily="49" charset="-122"/>
              </a:rPr>
              <a:t>描述事物的符号记录</a:t>
            </a:r>
          </a:p>
        </p:txBody>
      </p:sp>
      <p:sp>
        <p:nvSpPr>
          <p:cNvPr id="11269" name="Rectangle 1030"/>
          <p:cNvSpPr>
            <a:spLocks noChangeArrowheads="1"/>
          </p:cNvSpPr>
          <p:nvPr/>
        </p:nvSpPr>
        <p:spPr bwMode="auto">
          <a:xfrm>
            <a:off x="323850" y="3213100"/>
            <a:ext cx="8439150" cy="3024188"/>
          </a:xfrm>
          <a:prstGeom prst="rect">
            <a:avLst/>
          </a:prstGeom>
          <a:noFill/>
          <a:ln>
            <a:noFill/>
          </a:ln>
          <a:extLst/>
        </p:spPr>
        <p:txBody>
          <a:bodyPr/>
          <a:lstStyle/>
          <a:p>
            <a:pPr marL="457200" indent="-457200">
              <a:lnSpc>
                <a:spcPct val="130000"/>
              </a:lnSpc>
              <a:spcBef>
                <a:spcPct val="20000"/>
              </a:spcBef>
              <a:buClr>
                <a:schemeClr val="accent6"/>
              </a:buClr>
              <a:buSzPct val="75000"/>
              <a:buFont typeface="Wingdings" pitchFamily="2" charset="2"/>
              <a:buChar char="n"/>
              <a:defRPr/>
            </a:pPr>
            <a:r>
              <a:rPr lang="zh-CN" altLang="en-US" sz="2800" b="1" dirty="0">
                <a:latin typeface="+mn-lt"/>
                <a:ea typeface="楷体_GB2312" pitchFamily="49" charset="-122"/>
              </a:rPr>
              <a:t>数据的表现形式 ：</a:t>
            </a:r>
            <a:r>
              <a:rPr lang="zh-CN" altLang="en-US" sz="2800" b="1" dirty="0">
                <a:solidFill>
                  <a:srgbClr val="FF0000"/>
                </a:solidFill>
                <a:latin typeface="+mn-lt"/>
                <a:ea typeface="楷体_GB2312" pitchFamily="49" charset="-122"/>
              </a:rPr>
              <a:t>多样化</a:t>
            </a:r>
            <a:endParaRPr lang="en-US" altLang="zh-CN" sz="2800" b="1" dirty="0">
              <a:solidFill>
                <a:srgbClr val="FF0000"/>
              </a:solidFill>
              <a:latin typeface="+mn-lt"/>
              <a:ea typeface="楷体_GB2312" pitchFamily="49" charset="-122"/>
            </a:endParaRPr>
          </a:p>
          <a:p>
            <a:pPr lvl="1">
              <a:buClr>
                <a:schemeClr val="hlink"/>
              </a:buClr>
              <a:buFont typeface="Wingdings" pitchFamily="2" charset="2"/>
              <a:buChar char="Ø"/>
              <a:defRPr/>
            </a:pPr>
            <a:r>
              <a:rPr lang="zh-CN" altLang="en-US" sz="2800" b="1" dirty="0">
                <a:latin typeface="+mn-lt"/>
                <a:ea typeface="楷体_GB2312" pitchFamily="49" charset="-122"/>
              </a:rPr>
              <a:t>数字、文字、图形、图像、声音等</a:t>
            </a:r>
            <a:r>
              <a:rPr lang="en-US" altLang="zh-CN" sz="2800" b="1" dirty="0">
                <a:latin typeface="+mn-lt"/>
                <a:ea typeface="楷体_GB2312" pitchFamily="49" charset="-122"/>
              </a:rPr>
              <a:t>       </a:t>
            </a:r>
            <a:endParaRPr lang="zh-CN" altLang="en-US" sz="2800" b="1" dirty="0">
              <a:latin typeface="+mn-lt"/>
              <a:ea typeface="楷体_GB2312" pitchFamily="49" charset="-122"/>
            </a:endParaRPr>
          </a:p>
          <a:p>
            <a:pPr marL="457200" indent="-457200">
              <a:lnSpc>
                <a:spcPct val="130000"/>
              </a:lnSpc>
              <a:spcBef>
                <a:spcPct val="20000"/>
              </a:spcBef>
              <a:buClr>
                <a:srgbClr val="996600"/>
              </a:buClr>
              <a:buSzPct val="75000"/>
              <a:buFont typeface="Wingdings" pitchFamily="2" charset="2"/>
              <a:buChar char="n"/>
              <a:defRPr/>
            </a:pPr>
            <a:r>
              <a:rPr lang="zh-CN" altLang="en-US" sz="2800" b="1" dirty="0">
                <a:latin typeface="+mn-lt"/>
                <a:ea typeface="楷体_GB2312" pitchFamily="49" charset="-122"/>
              </a:rPr>
              <a:t>各类数据必须</a:t>
            </a:r>
            <a:r>
              <a:rPr lang="zh-CN" altLang="en-US" sz="2800" b="1" dirty="0">
                <a:solidFill>
                  <a:srgbClr val="FF0000"/>
                </a:solidFill>
                <a:latin typeface="+mn-lt"/>
                <a:ea typeface="楷体_GB2312" pitchFamily="49" charset="-122"/>
              </a:rPr>
              <a:t>数字化</a:t>
            </a:r>
            <a:r>
              <a:rPr lang="zh-CN" altLang="en-US" sz="2800" b="1" dirty="0">
                <a:latin typeface="+mn-lt"/>
                <a:ea typeface="楷体_GB2312" pitchFamily="49" charset="-122"/>
              </a:rPr>
              <a:t>后才能存入计算机，进行加工处理。</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9"/>
                                          </p:stCondLst>
                                        </p:cTn>
                                        <p:tgtEl>
                                          <p:spTgt spid="1126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268">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269">
                                            <p:txEl>
                                              <p:pRg st="0" end="0"/>
                                            </p:txEl>
                                          </p:spTgt>
                                        </p:tgtEl>
                                        <p:attrNameLst>
                                          <p:attrName>style.visibility</p:attrName>
                                        </p:attrNameLst>
                                      </p:cBhvr>
                                      <p:to>
                                        <p:strVal val="visible"/>
                                      </p:to>
                                    </p:set>
                                    <p:anim calcmode="lin" valueType="num">
                                      <p:cBhvr additive="base">
                                        <p:cTn id="17" dur="500" fill="hold"/>
                                        <p:tgtEl>
                                          <p:spTgt spid="11269">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269">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269">
                                            <p:txEl>
                                              <p:pRg st="1" end="1"/>
                                            </p:txEl>
                                          </p:spTgt>
                                        </p:tgtEl>
                                        <p:attrNameLst>
                                          <p:attrName>style.visibility</p:attrName>
                                        </p:attrNameLst>
                                      </p:cBhvr>
                                      <p:to>
                                        <p:strVal val="visible"/>
                                      </p:to>
                                    </p:set>
                                    <p:anim calcmode="lin" valueType="num">
                                      <p:cBhvr additive="base">
                                        <p:cTn id="21" dur="500" fill="hold"/>
                                        <p:tgtEl>
                                          <p:spTgt spid="11269">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26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269">
                                            <p:txEl>
                                              <p:pRg st="2" end="2"/>
                                            </p:txEl>
                                          </p:spTgt>
                                        </p:tgtEl>
                                        <p:attrNameLst>
                                          <p:attrName>style.visibility</p:attrName>
                                        </p:attrNameLst>
                                      </p:cBhvr>
                                      <p:to>
                                        <p:strVal val="visible"/>
                                      </p:to>
                                    </p:set>
                                    <p:anim calcmode="lin" valueType="num">
                                      <p:cBhvr additive="base">
                                        <p:cTn id="27" dur="500" fill="hold"/>
                                        <p:tgtEl>
                                          <p:spTgt spid="11269">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26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uild="p"/>
      <p:bldP spid="1126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3AECB71B-79AF-429B-83CC-1E4F7B033D66}" type="slidenum">
              <a:rPr lang="en-US" altLang="zh-CN" smtClean="0"/>
              <a:pPr algn="l" eaLnBrk="1" hangingPunct="1"/>
              <a:t>5</a:t>
            </a:fld>
            <a:endParaRPr lang="en-US" altLang="zh-CN" smtClean="0"/>
          </a:p>
        </p:txBody>
      </p:sp>
      <p:sp>
        <p:nvSpPr>
          <p:cNvPr id="12291" name="Rectangle 2"/>
          <p:cNvSpPr>
            <a:spLocks noGrp="1" noChangeArrowheads="1"/>
          </p:cNvSpPr>
          <p:nvPr>
            <p:ph type="title"/>
          </p:nvPr>
        </p:nvSpPr>
        <p:spPr>
          <a:xfrm>
            <a:off x="381000" y="115888"/>
            <a:ext cx="8382000" cy="914400"/>
          </a:xfrm>
        </p:spPr>
        <p:txBody>
          <a:bodyPr/>
          <a:lstStyle/>
          <a:p>
            <a:pPr eaLnBrk="1" hangingPunct="1"/>
            <a:r>
              <a:rPr lang="zh-CN" altLang="en-US" b="1" smtClean="0"/>
              <a:t>一、数据（续）</a:t>
            </a:r>
          </a:p>
        </p:txBody>
      </p:sp>
      <p:sp>
        <p:nvSpPr>
          <p:cNvPr id="12292" name="Rectangle 4"/>
          <p:cNvSpPr>
            <a:spLocks noGrp="1" noChangeArrowheads="1"/>
          </p:cNvSpPr>
          <p:nvPr>
            <p:ph type="body" idx="1"/>
          </p:nvPr>
        </p:nvSpPr>
        <p:spPr>
          <a:xfrm>
            <a:off x="468313" y="1268413"/>
            <a:ext cx="5759450" cy="935037"/>
          </a:xfrm>
          <a:noFill/>
        </p:spPr>
        <p:txBody>
          <a:bodyPr/>
          <a:lstStyle/>
          <a:p>
            <a:pPr eaLnBrk="1" hangingPunct="1">
              <a:lnSpc>
                <a:spcPct val="130000"/>
              </a:lnSpc>
            </a:pPr>
            <a:r>
              <a:rPr lang="zh-CN" altLang="en-US" sz="2800" b="1" smtClean="0">
                <a:ea typeface="楷体_GB2312" pitchFamily="49" charset="-122"/>
              </a:rPr>
              <a:t>数据与其语义是不可分的</a:t>
            </a:r>
          </a:p>
        </p:txBody>
      </p:sp>
      <p:sp>
        <p:nvSpPr>
          <p:cNvPr id="12293" name="Rectangle 5"/>
          <p:cNvSpPr>
            <a:spLocks noChangeArrowheads="1"/>
          </p:cNvSpPr>
          <p:nvPr/>
        </p:nvSpPr>
        <p:spPr bwMode="auto">
          <a:xfrm>
            <a:off x="468313" y="2133600"/>
            <a:ext cx="72009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30000"/>
              </a:lnSpc>
              <a:spcBef>
                <a:spcPct val="20000"/>
              </a:spcBef>
              <a:buClr>
                <a:srgbClr val="669900"/>
              </a:buClr>
              <a:buSzPct val="75000"/>
              <a:buFont typeface="Wingdings" pitchFamily="2" charset="2"/>
              <a:buNone/>
            </a:pPr>
            <a:endParaRPr lang="zh-CN" altLang="en-US" sz="3200">
              <a:ea typeface="楷体_GB2312" pitchFamily="49" charset="-122"/>
            </a:endParaRPr>
          </a:p>
        </p:txBody>
      </p:sp>
      <p:sp>
        <p:nvSpPr>
          <p:cNvPr id="12294" name="Rectangle 6"/>
          <p:cNvSpPr>
            <a:spLocks noChangeArrowheads="1"/>
          </p:cNvSpPr>
          <p:nvPr/>
        </p:nvSpPr>
        <p:spPr bwMode="auto">
          <a:xfrm>
            <a:off x="611188" y="1989138"/>
            <a:ext cx="7777162" cy="2735262"/>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742950" lvl="1" indent="-285750">
              <a:lnSpc>
                <a:spcPct val="130000"/>
              </a:lnSpc>
              <a:spcBef>
                <a:spcPct val="20000"/>
              </a:spcBef>
              <a:buClr>
                <a:srgbClr val="FF0000"/>
              </a:buClr>
              <a:buSzPct val="75000"/>
              <a:buFont typeface="Wingdings" pitchFamily="2" charset="2"/>
              <a:buChar char="R"/>
            </a:pPr>
            <a:r>
              <a:rPr lang="zh-CN" altLang="en-US" sz="2800">
                <a:ea typeface="楷体_GB2312" pitchFamily="49" charset="-122"/>
              </a:rPr>
              <a:t>例如：</a:t>
            </a:r>
            <a:r>
              <a:rPr lang="en-US" altLang="zh-CN" sz="2800">
                <a:ea typeface="楷体_GB2312" pitchFamily="49" charset="-122"/>
              </a:rPr>
              <a:t>1982</a:t>
            </a:r>
            <a:r>
              <a:rPr lang="zh-CN" altLang="en-US" sz="2800">
                <a:ea typeface="楷体_GB2312" pitchFamily="49" charset="-122"/>
              </a:rPr>
              <a:t>是一个数据，可以解释为：</a:t>
            </a:r>
          </a:p>
          <a:p>
            <a:pPr marL="1143000" lvl="2" indent="-228600">
              <a:lnSpc>
                <a:spcPct val="130000"/>
              </a:lnSpc>
              <a:spcBef>
                <a:spcPct val="20000"/>
              </a:spcBef>
              <a:buClr>
                <a:srgbClr val="FF0000"/>
              </a:buClr>
              <a:buSzPct val="75000"/>
              <a:buFont typeface="Wingdings" pitchFamily="2" charset="2"/>
              <a:buChar char="R"/>
            </a:pPr>
            <a:r>
              <a:rPr lang="zh-CN" altLang="en-US" sz="2800">
                <a:ea typeface="楷体_GB2312" pitchFamily="49" charset="-122"/>
              </a:rPr>
              <a:t>语义</a:t>
            </a:r>
            <a:r>
              <a:rPr lang="en-US" altLang="zh-CN" sz="2800">
                <a:ea typeface="楷体_GB2312" pitchFamily="49" charset="-122"/>
              </a:rPr>
              <a:t>1</a:t>
            </a:r>
            <a:r>
              <a:rPr lang="zh-CN" altLang="en-US" sz="2800">
                <a:ea typeface="楷体_GB2312" pitchFamily="49" charset="-122"/>
              </a:rPr>
              <a:t>：某人的出生年份</a:t>
            </a:r>
          </a:p>
          <a:p>
            <a:pPr marL="1143000" lvl="2" indent="-228600">
              <a:lnSpc>
                <a:spcPct val="130000"/>
              </a:lnSpc>
              <a:spcBef>
                <a:spcPct val="20000"/>
              </a:spcBef>
              <a:buClr>
                <a:srgbClr val="FF0000"/>
              </a:buClr>
              <a:buSzPct val="75000"/>
              <a:buFont typeface="Wingdings" pitchFamily="2" charset="2"/>
              <a:buChar char="R"/>
            </a:pPr>
            <a:r>
              <a:rPr lang="zh-CN" altLang="en-US" sz="2800">
                <a:ea typeface="楷体_GB2312" pitchFamily="49" charset="-122"/>
              </a:rPr>
              <a:t>语义</a:t>
            </a:r>
            <a:r>
              <a:rPr lang="en-US" altLang="zh-CN" sz="2800">
                <a:ea typeface="楷体_GB2312" pitchFamily="49" charset="-122"/>
              </a:rPr>
              <a:t>2</a:t>
            </a:r>
            <a:r>
              <a:rPr lang="zh-CN" altLang="en-US" sz="2800">
                <a:ea typeface="楷体_GB2312" pitchFamily="49" charset="-122"/>
              </a:rPr>
              <a:t>：某产品的销量</a:t>
            </a:r>
          </a:p>
          <a:p>
            <a:pPr marL="1143000" lvl="2" indent="-228600">
              <a:lnSpc>
                <a:spcPct val="130000"/>
              </a:lnSpc>
              <a:spcBef>
                <a:spcPct val="20000"/>
              </a:spcBef>
              <a:buClr>
                <a:srgbClr val="FF0000"/>
              </a:buClr>
              <a:buSzPct val="75000"/>
              <a:buFont typeface="Wingdings" pitchFamily="2" charset="2"/>
              <a:buChar char="R"/>
            </a:pPr>
            <a:r>
              <a:rPr lang="zh-CN" altLang="en-US" sz="2800">
                <a:ea typeface="楷体_GB2312" pitchFamily="49" charset="-122"/>
              </a:rPr>
              <a:t>语义</a:t>
            </a:r>
            <a:r>
              <a:rPr lang="en-US" altLang="zh-CN" sz="2800">
                <a:ea typeface="楷体_GB2312" pitchFamily="49" charset="-122"/>
              </a:rPr>
              <a:t>3</a:t>
            </a:r>
            <a:r>
              <a:rPr lang="zh-CN" altLang="en-US" sz="2800">
                <a:ea typeface="楷体_GB2312" pitchFamily="49" charset="-122"/>
              </a:rPr>
              <a:t>：某学校的在校教师人数</a:t>
            </a:r>
          </a:p>
        </p:txBody>
      </p:sp>
      <p:sp>
        <p:nvSpPr>
          <p:cNvPr id="12295" name="Rectangle 9"/>
          <p:cNvSpPr>
            <a:spLocks noChangeArrowheads="1"/>
          </p:cNvSpPr>
          <p:nvPr/>
        </p:nvSpPr>
        <p:spPr bwMode="auto">
          <a:xfrm>
            <a:off x="611188" y="4868863"/>
            <a:ext cx="7777162" cy="1600200"/>
          </a:xfrm>
          <a:prstGeom prst="rect">
            <a:avLst/>
          </a:prstGeom>
          <a:solidFill>
            <a:schemeClr val="accent1"/>
          </a:solidFill>
          <a:ln w="12700" cap="sq">
            <a:solidFill>
              <a:srgbClr val="008000"/>
            </a:solidFill>
            <a:miter lim="800000"/>
            <a:headEnd type="none" w="sm" len="sm"/>
            <a:tailEnd type="none" w="sm" len="sm"/>
          </a:ln>
        </p:spPr>
        <p:txBody>
          <a:bodyPr>
            <a:spAutoFit/>
          </a:bodyPr>
          <a:lstStyle/>
          <a:p>
            <a:r>
              <a:rPr lang="zh-CN" altLang="en-US" sz="2800">
                <a:latin typeface="楷体_GB2312" pitchFamily="49" charset="-122"/>
                <a:ea typeface="楷体_GB2312" pitchFamily="49" charset="-122"/>
              </a:rPr>
              <a:t>例如：学生档案中的一条记录：（是有结构的）</a:t>
            </a:r>
          </a:p>
          <a:p>
            <a:r>
              <a:rPr lang="zh-CN" altLang="en-US" sz="2800">
                <a:latin typeface="楷体_GB2312" pitchFamily="49" charset="-122"/>
                <a:ea typeface="楷体_GB2312" pitchFamily="49" charset="-122"/>
              </a:rPr>
              <a:t>（ 李明  男  </a:t>
            </a:r>
            <a:r>
              <a:rPr lang="en-US" altLang="zh-CN" sz="2800">
                <a:latin typeface="楷体_GB2312" pitchFamily="49" charset="-122"/>
                <a:ea typeface="楷体_GB2312" pitchFamily="49" charset="-122"/>
              </a:rPr>
              <a:t>1982  </a:t>
            </a:r>
            <a:r>
              <a:rPr lang="zh-CN" altLang="en-US" sz="2800">
                <a:latin typeface="楷体_GB2312" pitchFamily="49" charset="-122"/>
                <a:ea typeface="楷体_GB2312" pitchFamily="49" charset="-122"/>
              </a:rPr>
              <a:t>江苏  计算机系  </a:t>
            </a:r>
            <a:r>
              <a:rPr lang="en-US" altLang="zh-CN" sz="2800">
                <a:latin typeface="楷体_GB2312" pitchFamily="49" charset="-122"/>
                <a:ea typeface="楷体_GB2312" pitchFamily="49" charset="-122"/>
              </a:rPr>
              <a:t>2000</a:t>
            </a:r>
            <a:r>
              <a:rPr lang="zh-CN" altLang="en-US" sz="2800">
                <a:latin typeface="楷体_GB2312" pitchFamily="49" charset="-122"/>
                <a:ea typeface="楷体_GB2312" pitchFamily="49" charset="-122"/>
              </a:rPr>
              <a:t>）</a:t>
            </a:r>
            <a:endParaRPr lang="en-US" altLang="zh-CN" sz="2800">
              <a:latin typeface="楷体_GB2312" pitchFamily="49" charset="-122"/>
              <a:ea typeface="楷体_GB2312" pitchFamily="49" charset="-122"/>
            </a:endParaRPr>
          </a:p>
          <a:p>
            <a:pPr algn="ctr">
              <a:lnSpc>
                <a:spcPct val="150000"/>
              </a:lnSpc>
            </a:pPr>
            <a:r>
              <a:rPr lang="zh-CN" altLang="en-US" sz="2800" b="1">
                <a:solidFill>
                  <a:srgbClr val="FF0000"/>
                </a:solidFill>
                <a:ea typeface="楷体_GB2312" pitchFamily="49" charset="-122"/>
              </a:rPr>
              <a:t>记录</a:t>
            </a:r>
            <a:r>
              <a:rPr lang="zh-CN" altLang="en-US" sz="2800">
                <a:ea typeface="楷体_GB2312" pitchFamily="49" charset="-122"/>
              </a:rPr>
              <a:t>是表示数据的一种方法。</a:t>
            </a:r>
            <a:endParaRPr lang="zh-CN" altLang="en-US" sz="2800"/>
          </a:p>
        </p:txBody>
      </p:sp>
    </p:spTree>
  </p:cSld>
  <p:clrMapOvr>
    <a:masterClrMapping/>
  </p:clrMapOvr>
  <p:transition advClick="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891227B8-96C1-42CF-9720-3317510792AD}" type="slidenum">
              <a:rPr lang="en-US" altLang="zh-CN" smtClean="0"/>
              <a:pPr algn="l" eaLnBrk="1" hangingPunct="1"/>
              <a:t>6</a:t>
            </a:fld>
            <a:endParaRPr lang="en-US" altLang="zh-CN" smtClean="0"/>
          </a:p>
        </p:txBody>
      </p:sp>
      <p:sp>
        <p:nvSpPr>
          <p:cNvPr id="13315" name="Rectangle 2"/>
          <p:cNvSpPr>
            <a:spLocks noGrp="1" noChangeArrowheads="1"/>
          </p:cNvSpPr>
          <p:nvPr>
            <p:ph type="title"/>
          </p:nvPr>
        </p:nvSpPr>
        <p:spPr>
          <a:xfrm>
            <a:off x="381000" y="115888"/>
            <a:ext cx="8382000" cy="914400"/>
          </a:xfrm>
        </p:spPr>
        <p:txBody>
          <a:bodyPr/>
          <a:lstStyle/>
          <a:p>
            <a:pPr eaLnBrk="1" hangingPunct="1"/>
            <a:r>
              <a:rPr lang="zh-CN" altLang="en-US" b="1" smtClean="0"/>
              <a:t>二、数据库</a:t>
            </a:r>
            <a:endParaRPr lang="en-US" altLang="zh-CN" b="1" smtClean="0"/>
          </a:p>
        </p:txBody>
      </p:sp>
      <p:sp>
        <p:nvSpPr>
          <p:cNvPr id="13316" name="Rectangle 3"/>
          <p:cNvSpPr>
            <a:spLocks noGrp="1" noChangeArrowheads="1"/>
          </p:cNvSpPr>
          <p:nvPr>
            <p:ph type="body" idx="1"/>
          </p:nvPr>
        </p:nvSpPr>
        <p:spPr>
          <a:xfrm>
            <a:off x="395288" y="1196975"/>
            <a:ext cx="8497887" cy="4392613"/>
          </a:xfrm>
        </p:spPr>
        <p:txBody>
          <a:bodyPr/>
          <a:lstStyle/>
          <a:p>
            <a:pPr algn="just" eaLnBrk="1" hangingPunct="1">
              <a:lnSpc>
                <a:spcPct val="150000"/>
              </a:lnSpc>
            </a:pPr>
            <a:r>
              <a:rPr lang="zh-CN" altLang="en-US" sz="2800" b="1" smtClean="0">
                <a:ea typeface="楷体_GB2312" pitchFamily="49" charset="-122"/>
              </a:rPr>
              <a:t>数据库的定义</a:t>
            </a:r>
            <a:endParaRPr lang="zh-CN" altLang="en-US" b="1" smtClean="0">
              <a:ea typeface="楷体_GB2312" pitchFamily="49" charset="-122"/>
            </a:endParaRPr>
          </a:p>
          <a:p>
            <a:pPr lvl="1" algn="just" eaLnBrk="1" hangingPunct="1">
              <a:lnSpc>
                <a:spcPct val="150000"/>
              </a:lnSpc>
            </a:pPr>
            <a:r>
              <a:rPr lang="zh-CN" altLang="en-US" b="1" smtClean="0">
                <a:ea typeface="楷体_GB2312" pitchFamily="49" charset="-122"/>
              </a:rPr>
              <a:t>数据库是数据的仓库，这个仓库是？怎么存？有什么特点？</a:t>
            </a:r>
            <a:endParaRPr lang="en-US" altLang="zh-CN" b="1" smtClean="0">
              <a:ea typeface="楷体_GB2312" pitchFamily="49" charset="-122"/>
            </a:endParaRPr>
          </a:p>
          <a:p>
            <a:pPr lvl="1" algn="just" eaLnBrk="1" hangingPunct="1">
              <a:lnSpc>
                <a:spcPct val="150000"/>
              </a:lnSpc>
            </a:pPr>
            <a:r>
              <a:rPr lang="zh-CN" altLang="en-US" b="1" smtClean="0">
                <a:ea typeface="楷体_GB2312" pitchFamily="49" charset="-122"/>
              </a:rPr>
              <a:t>数据库</a:t>
            </a:r>
            <a:r>
              <a:rPr lang="en-US" altLang="zh-CN" b="1" smtClean="0">
                <a:ea typeface="楷体_GB2312" pitchFamily="49" charset="-122"/>
              </a:rPr>
              <a:t>(</a:t>
            </a:r>
            <a:r>
              <a:rPr lang="en-US" altLang="zh-CN" b="1" smtClean="0">
                <a:solidFill>
                  <a:srgbClr val="0000FF"/>
                </a:solidFill>
                <a:ea typeface="楷体_GB2312" pitchFamily="49" charset="-122"/>
              </a:rPr>
              <a:t>Database,</a:t>
            </a:r>
            <a:r>
              <a:rPr lang="zh-CN" altLang="en-US" b="1" smtClean="0">
                <a:solidFill>
                  <a:srgbClr val="0000FF"/>
                </a:solidFill>
                <a:ea typeface="楷体_GB2312" pitchFamily="49" charset="-122"/>
              </a:rPr>
              <a:t>简称</a:t>
            </a:r>
            <a:r>
              <a:rPr lang="en-US" altLang="zh-CN" b="1" smtClean="0">
                <a:solidFill>
                  <a:srgbClr val="0000FF"/>
                </a:solidFill>
                <a:ea typeface="楷体_GB2312" pitchFamily="49" charset="-122"/>
              </a:rPr>
              <a:t>DB</a:t>
            </a:r>
            <a:r>
              <a:rPr lang="en-US" altLang="zh-CN" b="1" smtClean="0">
                <a:ea typeface="楷体_GB2312" pitchFamily="49" charset="-122"/>
              </a:rPr>
              <a:t>)</a:t>
            </a:r>
            <a:r>
              <a:rPr lang="zh-CN" altLang="en-US" b="1" smtClean="0">
                <a:ea typeface="楷体_GB2312" pitchFamily="49" charset="-122"/>
              </a:rPr>
              <a:t>是</a:t>
            </a:r>
            <a:r>
              <a:rPr lang="zh-CN" altLang="en-US" b="1" smtClean="0">
                <a:solidFill>
                  <a:srgbClr val="0000FF"/>
                </a:solidFill>
                <a:ea typeface="楷体_GB2312" pitchFamily="49" charset="-122"/>
              </a:rPr>
              <a:t>长期储存</a:t>
            </a:r>
            <a:r>
              <a:rPr lang="zh-CN" altLang="en-US" b="1" smtClean="0">
                <a:ea typeface="楷体_GB2312" pitchFamily="49" charset="-122"/>
              </a:rPr>
              <a:t>在计算机内、</a:t>
            </a:r>
            <a:r>
              <a:rPr lang="zh-CN" altLang="en-US" b="1" smtClean="0">
                <a:solidFill>
                  <a:srgbClr val="0000FF"/>
                </a:solidFill>
                <a:ea typeface="楷体_GB2312" pitchFamily="49" charset="-122"/>
              </a:rPr>
              <a:t>有组织的</a:t>
            </a:r>
            <a:r>
              <a:rPr lang="zh-CN" altLang="en-US" b="1" smtClean="0">
                <a:ea typeface="楷体_GB2312" pitchFamily="49" charset="-122"/>
              </a:rPr>
              <a:t>、</a:t>
            </a:r>
            <a:r>
              <a:rPr lang="zh-CN" altLang="en-US" b="1" smtClean="0">
                <a:solidFill>
                  <a:srgbClr val="0000FF"/>
                </a:solidFill>
                <a:ea typeface="楷体_GB2312" pitchFamily="49" charset="-122"/>
              </a:rPr>
              <a:t>可共享</a:t>
            </a:r>
            <a:r>
              <a:rPr lang="zh-CN" altLang="en-US" b="1" smtClean="0">
                <a:ea typeface="楷体_GB2312" pitchFamily="49" charset="-122"/>
              </a:rPr>
              <a:t>的</a:t>
            </a:r>
            <a:r>
              <a:rPr lang="zh-CN" altLang="en-US" b="1" smtClean="0">
                <a:solidFill>
                  <a:srgbClr val="0000FF"/>
                </a:solidFill>
                <a:ea typeface="楷体_GB2312" pitchFamily="49" charset="-122"/>
              </a:rPr>
              <a:t>大量</a:t>
            </a:r>
            <a:r>
              <a:rPr lang="zh-CN" altLang="en-US" b="1" smtClean="0">
                <a:ea typeface="楷体_GB2312" pitchFamily="49" charset="-122"/>
              </a:rPr>
              <a:t>数据的集合。</a:t>
            </a:r>
            <a:endParaRPr lang="en-US" altLang="zh-CN" b="1" smtClean="0">
              <a:ea typeface="楷体_GB2312" pitchFamily="49" charset="-122"/>
            </a:endParaRPr>
          </a:p>
          <a:p>
            <a:pPr lvl="1" algn="just" eaLnBrk="1" hangingPunct="1">
              <a:lnSpc>
                <a:spcPct val="150000"/>
              </a:lnSpc>
            </a:pPr>
            <a:r>
              <a:rPr lang="zh-CN" altLang="en-US" b="1" smtClean="0">
                <a:ea typeface="楷体_GB2312" pitchFamily="49" charset="-122"/>
              </a:rPr>
              <a:t>给数据一个场景，数据就有了意义。</a:t>
            </a:r>
          </a:p>
        </p:txBody>
      </p:sp>
    </p:spTree>
  </p:cSld>
  <p:clrMapOvr>
    <a:masterClrMapping/>
  </p:clrMapOvr>
  <p:transition advClick="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6C161966-0577-4060-A68A-171111F1CB66}" type="slidenum">
              <a:rPr lang="en-US" altLang="zh-CN" smtClean="0"/>
              <a:pPr algn="l" eaLnBrk="1" hangingPunct="1"/>
              <a:t>7</a:t>
            </a:fld>
            <a:endParaRPr lang="en-US" altLang="zh-CN" smtClean="0"/>
          </a:p>
        </p:txBody>
      </p:sp>
      <p:sp>
        <p:nvSpPr>
          <p:cNvPr id="14339" name="Rectangle 2"/>
          <p:cNvSpPr>
            <a:spLocks noGrp="1" noChangeArrowheads="1"/>
          </p:cNvSpPr>
          <p:nvPr>
            <p:ph type="title"/>
          </p:nvPr>
        </p:nvSpPr>
        <p:spPr>
          <a:xfrm>
            <a:off x="381000" y="115888"/>
            <a:ext cx="8382000" cy="914400"/>
          </a:xfrm>
        </p:spPr>
        <p:txBody>
          <a:bodyPr/>
          <a:lstStyle/>
          <a:p>
            <a:pPr eaLnBrk="1" hangingPunct="1"/>
            <a:r>
              <a:rPr lang="zh-CN" altLang="en-US" b="1" smtClean="0"/>
              <a:t>三、数据库管理系统</a:t>
            </a:r>
            <a:endParaRPr lang="zh-CN" altLang="en-US" b="1" smtClean="0">
              <a:solidFill>
                <a:schemeClr val="tx1"/>
              </a:solidFill>
            </a:endParaRPr>
          </a:p>
        </p:txBody>
      </p:sp>
      <p:sp>
        <p:nvSpPr>
          <p:cNvPr id="836611" name="Rectangle 3"/>
          <p:cNvSpPr>
            <a:spLocks noGrp="1" noChangeArrowheads="1"/>
          </p:cNvSpPr>
          <p:nvPr>
            <p:ph type="body" idx="1"/>
          </p:nvPr>
        </p:nvSpPr>
        <p:spPr>
          <a:xfrm>
            <a:off x="179388" y="1196975"/>
            <a:ext cx="8785225" cy="2447925"/>
          </a:xfrm>
        </p:spPr>
        <p:txBody>
          <a:bodyPr/>
          <a:lstStyle/>
          <a:p>
            <a:pPr algn="just" eaLnBrk="1" hangingPunct="1"/>
            <a:r>
              <a:rPr lang="zh-CN" altLang="en-US" sz="2800" b="1" smtClean="0">
                <a:ea typeface="楷体_GB2312" pitchFamily="49" charset="-122"/>
              </a:rPr>
              <a:t>什么是</a:t>
            </a:r>
            <a:r>
              <a:rPr lang="en-US" altLang="zh-CN" sz="2800" b="1" smtClean="0">
                <a:ea typeface="楷体_GB2312" pitchFamily="49" charset="-122"/>
              </a:rPr>
              <a:t>DBMS</a:t>
            </a:r>
          </a:p>
          <a:p>
            <a:pPr lvl="1" algn="just" eaLnBrk="1" hangingPunct="1">
              <a:lnSpc>
                <a:spcPct val="120000"/>
              </a:lnSpc>
            </a:pPr>
            <a:r>
              <a:rPr lang="zh-CN" altLang="en-US" b="1" smtClean="0">
                <a:ea typeface="楷体_GB2312" pitchFamily="49" charset="-122"/>
              </a:rPr>
              <a:t>数据库管理系统（</a:t>
            </a:r>
            <a:r>
              <a:rPr lang="en-US" altLang="zh-CN" b="1" smtClean="0">
                <a:solidFill>
                  <a:srgbClr val="0000FF"/>
                </a:solidFill>
                <a:ea typeface="楷体_GB2312" pitchFamily="49" charset="-122"/>
              </a:rPr>
              <a:t>Database  Management System</a:t>
            </a:r>
            <a:r>
              <a:rPr lang="zh-CN" altLang="en-US" b="1" smtClean="0">
                <a:solidFill>
                  <a:srgbClr val="0000FF"/>
                </a:solidFill>
                <a:ea typeface="楷体_GB2312" pitchFamily="49" charset="-122"/>
              </a:rPr>
              <a:t>，简称</a:t>
            </a:r>
            <a:r>
              <a:rPr lang="en-US" altLang="zh-CN" b="1" smtClean="0">
                <a:solidFill>
                  <a:srgbClr val="0000FF"/>
                </a:solidFill>
                <a:ea typeface="楷体_GB2312" pitchFamily="49" charset="-122"/>
              </a:rPr>
              <a:t>DBMS</a:t>
            </a:r>
            <a:r>
              <a:rPr lang="zh-CN" altLang="en-US" b="1" smtClean="0">
                <a:ea typeface="楷体_GB2312" pitchFamily="49" charset="-122"/>
              </a:rPr>
              <a:t>）是位于用户与操作系统之间的一层</a:t>
            </a:r>
            <a:r>
              <a:rPr lang="zh-CN" altLang="en-US" b="1" smtClean="0">
                <a:solidFill>
                  <a:srgbClr val="FF0000"/>
                </a:solidFill>
                <a:ea typeface="楷体_GB2312" pitchFamily="49" charset="-122"/>
              </a:rPr>
              <a:t>数据管理软件</a:t>
            </a:r>
            <a:r>
              <a:rPr lang="zh-CN" altLang="en-US" b="1" smtClean="0">
                <a:ea typeface="楷体_GB2312" pitchFamily="49" charset="-122"/>
              </a:rPr>
              <a:t>。</a:t>
            </a:r>
          </a:p>
          <a:p>
            <a:pPr lvl="1" algn="just" eaLnBrk="1" hangingPunct="1">
              <a:lnSpc>
                <a:spcPct val="120000"/>
              </a:lnSpc>
              <a:buFont typeface="Wingdings" pitchFamily="2" charset="2"/>
              <a:buNone/>
            </a:pPr>
            <a:endParaRPr lang="en-US" altLang="zh-CN" sz="900" b="1" smtClean="0">
              <a:ea typeface="楷体_GB2312" pitchFamily="49" charset="-122"/>
            </a:endParaRPr>
          </a:p>
        </p:txBody>
      </p:sp>
      <p:sp>
        <p:nvSpPr>
          <p:cNvPr id="836614" name="Rectangle 6"/>
          <p:cNvSpPr>
            <a:spLocks noChangeArrowheads="1"/>
          </p:cNvSpPr>
          <p:nvPr/>
        </p:nvSpPr>
        <p:spPr bwMode="auto">
          <a:xfrm>
            <a:off x="323850" y="3357563"/>
            <a:ext cx="8461375"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42950" lvl="1" indent="-285750" algn="just">
              <a:lnSpc>
                <a:spcPct val="120000"/>
              </a:lnSpc>
              <a:spcBef>
                <a:spcPct val="20000"/>
              </a:spcBef>
              <a:buClr>
                <a:srgbClr val="996600"/>
              </a:buClr>
              <a:buSzPct val="75000"/>
              <a:buFont typeface="Wingdings" pitchFamily="2" charset="2"/>
              <a:buNone/>
            </a:pPr>
            <a:endParaRPr lang="en-US" altLang="zh-CN" sz="900" b="1">
              <a:ea typeface="楷体_GB2312" pitchFamily="49" charset="-122"/>
            </a:endParaRPr>
          </a:p>
          <a:p>
            <a:pPr marL="342900" indent="-342900" algn="just">
              <a:lnSpc>
                <a:spcPct val="120000"/>
              </a:lnSpc>
              <a:spcBef>
                <a:spcPct val="20000"/>
              </a:spcBef>
              <a:buClr>
                <a:srgbClr val="669900"/>
              </a:buClr>
              <a:buSzPct val="90000"/>
              <a:buFont typeface="Wingdings" pitchFamily="2" charset="2"/>
              <a:buChar char="n"/>
            </a:pPr>
            <a:r>
              <a:rPr lang="en-US" altLang="zh-CN" sz="2800" b="1">
                <a:ea typeface="楷体_GB2312" pitchFamily="49" charset="-122"/>
              </a:rPr>
              <a:t>DBMS</a:t>
            </a:r>
            <a:r>
              <a:rPr lang="zh-CN" altLang="en-US" sz="2800" b="1">
                <a:ea typeface="楷体_GB2312" pitchFamily="49" charset="-122"/>
              </a:rPr>
              <a:t>的用途</a:t>
            </a:r>
          </a:p>
          <a:p>
            <a:pPr marL="742950" lvl="1" indent="-285750" algn="just">
              <a:lnSpc>
                <a:spcPct val="120000"/>
              </a:lnSpc>
              <a:spcBef>
                <a:spcPct val="20000"/>
              </a:spcBef>
              <a:buClr>
                <a:srgbClr val="996600"/>
              </a:buClr>
              <a:buSzPct val="75000"/>
              <a:buFont typeface="Wingdings" pitchFamily="2" charset="2"/>
              <a:buChar char="Ø"/>
            </a:pPr>
            <a:r>
              <a:rPr lang="zh-CN" altLang="en-US" sz="2800" b="1">
                <a:solidFill>
                  <a:srgbClr val="0000FF"/>
                </a:solidFill>
                <a:ea typeface="楷体_GB2312" pitchFamily="49" charset="-122"/>
              </a:rPr>
              <a:t>组织</a:t>
            </a:r>
            <a:r>
              <a:rPr lang="zh-CN" altLang="en-US" sz="2800" b="1">
                <a:ea typeface="楷体_GB2312" pitchFamily="49" charset="-122"/>
              </a:rPr>
              <a:t>和</a:t>
            </a:r>
            <a:r>
              <a:rPr lang="zh-CN" altLang="en-US" sz="2800" b="1">
                <a:solidFill>
                  <a:srgbClr val="0000FF"/>
                </a:solidFill>
                <a:ea typeface="楷体_GB2312" pitchFamily="49" charset="-122"/>
              </a:rPr>
              <a:t>存储</a:t>
            </a:r>
            <a:r>
              <a:rPr lang="zh-CN" altLang="en-US" sz="2800" b="1">
                <a:ea typeface="楷体_GB2312" pitchFamily="49" charset="-122"/>
              </a:rPr>
              <a:t>大量的数据，并提供方便、高效地</a:t>
            </a:r>
            <a:r>
              <a:rPr lang="zh-CN" altLang="en-US" sz="2800" b="1">
                <a:solidFill>
                  <a:srgbClr val="0000FF"/>
                </a:solidFill>
                <a:ea typeface="楷体_GB2312" pitchFamily="49" charset="-122"/>
              </a:rPr>
              <a:t>检索</a:t>
            </a:r>
            <a:r>
              <a:rPr lang="zh-CN" altLang="en-US" sz="2800" b="1">
                <a:ea typeface="楷体_GB2312" pitchFamily="49" charset="-122"/>
              </a:rPr>
              <a:t>数据和</a:t>
            </a:r>
            <a:r>
              <a:rPr lang="zh-CN" altLang="en-US" sz="2800" b="1">
                <a:solidFill>
                  <a:srgbClr val="0000FF"/>
                </a:solidFill>
                <a:ea typeface="楷体_GB2312" pitchFamily="49" charset="-122"/>
              </a:rPr>
              <a:t>维护</a:t>
            </a:r>
            <a:r>
              <a:rPr lang="zh-CN" altLang="en-US" sz="2800" b="1">
                <a:ea typeface="楷体_GB2312" pitchFamily="49" charset="-122"/>
              </a:rPr>
              <a:t>数据的手段。</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36611">
                                            <p:txEl>
                                              <p:pRg st="0" end="0"/>
                                            </p:txEl>
                                          </p:spTgt>
                                        </p:tgtEl>
                                        <p:attrNameLst>
                                          <p:attrName>style.visibility</p:attrName>
                                        </p:attrNameLst>
                                      </p:cBhvr>
                                      <p:to>
                                        <p:strVal val="visible"/>
                                      </p:to>
                                    </p:set>
                                    <p:animEffect transition="in" filter="blinds(horizontal)">
                                      <p:cBhvr>
                                        <p:cTn id="7" dur="500"/>
                                        <p:tgtEl>
                                          <p:spTgt spid="83661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36611">
                                            <p:txEl>
                                              <p:pRg st="1" end="1"/>
                                            </p:txEl>
                                          </p:spTgt>
                                        </p:tgtEl>
                                        <p:attrNameLst>
                                          <p:attrName>style.visibility</p:attrName>
                                        </p:attrNameLst>
                                      </p:cBhvr>
                                      <p:to>
                                        <p:strVal val="visible"/>
                                      </p:to>
                                    </p:set>
                                    <p:animEffect transition="in" filter="blinds(horizontal)">
                                      <p:cBhvr>
                                        <p:cTn id="10" dur="500"/>
                                        <p:tgtEl>
                                          <p:spTgt spid="836611">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836614"/>
                                        </p:tgtEl>
                                        <p:attrNameLst>
                                          <p:attrName>style.visibility</p:attrName>
                                        </p:attrNameLst>
                                      </p:cBhvr>
                                      <p:to>
                                        <p:strVal val="visible"/>
                                      </p:to>
                                    </p:set>
                                    <p:anim calcmode="lin" valueType="num">
                                      <p:cBhvr additive="base">
                                        <p:cTn id="15" dur="500" fill="hold"/>
                                        <p:tgtEl>
                                          <p:spTgt spid="836614"/>
                                        </p:tgtEl>
                                        <p:attrNameLst>
                                          <p:attrName>ppt_x</p:attrName>
                                        </p:attrNameLst>
                                      </p:cBhvr>
                                      <p:tavLst>
                                        <p:tav tm="0">
                                          <p:val>
                                            <p:strVal val="#ppt_x"/>
                                          </p:val>
                                        </p:tav>
                                        <p:tav tm="100000">
                                          <p:val>
                                            <p:strVal val="#ppt_x"/>
                                          </p:val>
                                        </p:tav>
                                      </p:tavLst>
                                    </p:anim>
                                    <p:anim calcmode="lin" valueType="num">
                                      <p:cBhvr additive="base">
                                        <p:cTn id="16" dur="500" fill="hold"/>
                                        <p:tgtEl>
                                          <p:spTgt spid="8366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6611" grpId="0" build="p"/>
      <p:bldP spid="8366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7E68ECAA-52B1-47F3-8700-882DCEDCEE92}" type="slidenum">
              <a:rPr lang="en-US" altLang="zh-CN" smtClean="0"/>
              <a:pPr algn="l" eaLnBrk="1" hangingPunct="1"/>
              <a:t>8</a:t>
            </a:fld>
            <a:endParaRPr lang="en-US" altLang="zh-CN" smtClean="0"/>
          </a:p>
        </p:txBody>
      </p:sp>
      <p:sp>
        <p:nvSpPr>
          <p:cNvPr id="1042" name="Rectangle 2"/>
          <p:cNvSpPr>
            <a:spLocks noGrp="1" noChangeArrowheads="1"/>
          </p:cNvSpPr>
          <p:nvPr>
            <p:ph type="title"/>
          </p:nvPr>
        </p:nvSpPr>
        <p:spPr>
          <a:xfrm>
            <a:off x="381000" y="138113"/>
            <a:ext cx="8382000" cy="914400"/>
          </a:xfrm>
        </p:spPr>
        <p:txBody>
          <a:bodyPr/>
          <a:lstStyle/>
          <a:p>
            <a:pPr eaLnBrk="1" hangingPunct="1"/>
            <a:r>
              <a:rPr lang="en-US" altLang="zh-CN" b="1" smtClean="0"/>
              <a:t>DBMS</a:t>
            </a:r>
            <a:r>
              <a:rPr lang="zh-CN" altLang="en-US" b="1" smtClean="0"/>
              <a:t>的主要功能</a:t>
            </a:r>
          </a:p>
        </p:txBody>
      </p:sp>
      <p:graphicFrame>
        <p:nvGraphicFramePr>
          <p:cNvPr id="2" name="图示 1"/>
          <p:cNvGraphicFramePr/>
          <p:nvPr>
            <p:extLst>
              <p:ext uri="{D42A27DB-BD31-4B8C-83A1-F6EECF244321}">
                <p14:modId xmlns:p14="http://schemas.microsoft.com/office/powerpoint/2010/main" val="1420125988"/>
              </p:ext>
            </p:extLst>
          </p:nvPr>
        </p:nvGraphicFramePr>
        <p:xfrm>
          <a:off x="3851919" y="1268413"/>
          <a:ext cx="4896793" cy="482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43" name="矩形 5"/>
          <p:cNvSpPr>
            <a:spLocks noChangeArrowheads="1"/>
          </p:cNvSpPr>
          <p:nvPr/>
        </p:nvSpPr>
        <p:spPr bwMode="auto">
          <a:xfrm>
            <a:off x="683568" y="1484784"/>
            <a:ext cx="295275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t>常用</a:t>
            </a:r>
            <a:r>
              <a:rPr lang="en-US" altLang="zh-CN" sz="3200" b="1" dirty="0"/>
              <a:t>DBMS</a:t>
            </a:r>
            <a:r>
              <a:rPr lang="zh-CN" altLang="en-US" sz="3200" b="1" dirty="0"/>
              <a:t>有：</a:t>
            </a:r>
            <a:endParaRPr lang="en-US" altLang="zh-CN" sz="3200" b="1" dirty="0"/>
          </a:p>
          <a:p>
            <a:r>
              <a:rPr lang="en-US" altLang="zh-CN" sz="3200" dirty="0" err="1"/>
              <a:t>Acess</a:t>
            </a:r>
            <a:r>
              <a:rPr lang="en-US" altLang="zh-CN" sz="3200" dirty="0"/>
              <a:t>     </a:t>
            </a:r>
            <a:r>
              <a:rPr lang="en-US" altLang="zh-CN" sz="3200" dirty="0" err="1"/>
              <a:t>SyBase</a:t>
            </a:r>
            <a:r>
              <a:rPr lang="en-US" altLang="zh-CN" sz="3200" dirty="0"/>
              <a:t>    </a:t>
            </a:r>
          </a:p>
          <a:p>
            <a:r>
              <a:rPr lang="en-US" altLang="zh-CN" sz="3200" dirty="0"/>
              <a:t>SQL Server    </a:t>
            </a:r>
          </a:p>
          <a:p>
            <a:r>
              <a:rPr lang="en-US" altLang="zh-CN" sz="3200" dirty="0">
                <a:solidFill>
                  <a:srgbClr val="FF0000"/>
                </a:solidFill>
              </a:rPr>
              <a:t>MySQL</a:t>
            </a:r>
            <a:r>
              <a:rPr lang="en-US" altLang="zh-CN" sz="3200" dirty="0"/>
              <a:t>    Oracle</a:t>
            </a:r>
          </a:p>
          <a:p>
            <a:r>
              <a:rPr lang="en-US" altLang="zh-CN" sz="3200" dirty="0" err="1"/>
              <a:t>Opengauss</a:t>
            </a:r>
            <a:endParaRPr lang="en-US" altLang="zh-CN" sz="3200" dirty="0"/>
          </a:p>
          <a:p>
            <a:r>
              <a:rPr lang="en-US" altLang="zh-CN" sz="3200" dirty="0" err="1"/>
              <a:t>Kingbase</a:t>
            </a:r>
            <a:endParaRPr lang="en-US" altLang="zh-CN" sz="3200" dirty="0"/>
          </a:p>
        </p:txBody>
      </p:sp>
    </p:spTree>
  </p:cSld>
  <p:clrMapOvr>
    <a:masterClrMapping/>
  </p:clrMapOvr>
  <p:transition advClick="0"/>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F9134D81-5119-4474-BFC7-C9C9C32D8192}" type="slidenum">
              <a:rPr lang="en-US" altLang="zh-CN" smtClean="0"/>
              <a:pPr algn="l" eaLnBrk="1" hangingPunct="1"/>
              <a:t>9</a:t>
            </a:fld>
            <a:endParaRPr lang="en-US" altLang="zh-CN" smtClean="0"/>
          </a:p>
        </p:txBody>
      </p:sp>
      <p:sp>
        <p:nvSpPr>
          <p:cNvPr id="15363" name="Rectangle 2"/>
          <p:cNvSpPr>
            <a:spLocks noGrp="1" noChangeArrowheads="1"/>
          </p:cNvSpPr>
          <p:nvPr>
            <p:ph type="title"/>
          </p:nvPr>
        </p:nvSpPr>
        <p:spPr>
          <a:xfrm>
            <a:off x="381000" y="66675"/>
            <a:ext cx="8382000" cy="914400"/>
          </a:xfrm>
        </p:spPr>
        <p:txBody>
          <a:bodyPr/>
          <a:lstStyle/>
          <a:p>
            <a:pPr eaLnBrk="1" hangingPunct="1"/>
            <a:r>
              <a:rPr lang="zh-CN" altLang="en-US" b="1" smtClean="0"/>
              <a:t>四、数据库系统</a:t>
            </a:r>
            <a:endParaRPr lang="zh-CN" altLang="en-US" b="1" smtClean="0">
              <a:solidFill>
                <a:schemeClr val="tx1"/>
              </a:solidFill>
            </a:endParaRPr>
          </a:p>
        </p:txBody>
      </p:sp>
      <p:sp>
        <p:nvSpPr>
          <p:cNvPr id="15364" name="Rectangle 3"/>
          <p:cNvSpPr>
            <a:spLocks noGrp="1" noChangeArrowheads="1"/>
          </p:cNvSpPr>
          <p:nvPr>
            <p:ph type="body" idx="1"/>
          </p:nvPr>
        </p:nvSpPr>
        <p:spPr>
          <a:xfrm>
            <a:off x="107950" y="1125538"/>
            <a:ext cx="9036050" cy="1943100"/>
          </a:xfrm>
        </p:spPr>
        <p:txBody>
          <a:bodyPr/>
          <a:lstStyle/>
          <a:p>
            <a:pPr algn="just" eaLnBrk="1" hangingPunct="1">
              <a:lnSpc>
                <a:spcPct val="130000"/>
              </a:lnSpc>
              <a:spcBef>
                <a:spcPct val="0"/>
              </a:spcBef>
            </a:pPr>
            <a:r>
              <a:rPr lang="zh-CN" altLang="en-US" sz="2800" b="1" smtClean="0">
                <a:ea typeface="楷体_GB2312" pitchFamily="49" charset="-122"/>
              </a:rPr>
              <a:t>什么是数据库系统</a:t>
            </a:r>
          </a:p>
          <a:p>
            <a:pPr lvl="1" algn="just" eaLnBrk="1" hangingPunct="1">
              <a:lnSpc>
                <a:spcPct val="130000"/>
              </a:lnSpc>
              <a:spcBef>
                <a:spcPct val="0"/>
              </a:spcBef>
            </a:pPr>
            <a:r>
              <a:rPr lang="zh-CN" altLang="en-US" b="1" smtClean="0">
                <a:ea typeface="楷体_GB2312" pitchFamily="49" charset="-122"/>
              </a:rPr>
              <a:t>数据库系统（</a:t>
            </a:r>
            <a:r>
              <a:rPr lang="en-US" altLang="zh-CN" b="1" smtClean="0">
                <a:solidFill>
                  <a:srgbClr val="0000FF"/>
                </a:solidFill>
                <a:ea typeface="楷体_GB2312" pitchFamily="49" charset="-122"/>
              </a:rPr>
              <a:t>Database System</a:t>
            </a:r>
            <a:r>
              <a:rPr lang="zh-CN" altLang="en-US" b="1" smtClean="0">
                <a:solidFill>
                  <a:srgbClr val="0000FF"/>
                </a:solidFill>
                <a:ea typeface="楷体_GB2312" pitchFamily="49" charset="-122"/>
              </a:rPr>
              <a:t>，简称</a:t>
            </a:r>
            <a:r>
              <a:rPr lang="en-US" altLang="zh-CN" b="1" smtClean="0">
                <a:solidFill>
                  <a:srgbClr val="0000FF"/>
                </a:solidFill>
                <a:ea typeface="楷体_GB2312" pitchFamily="49" charset="-122"/>
              </a:rPr>
              <a:t>DBS</a:t>
            </a:r>
            <a:r>
              <a:rPr lang="zh-CN" altLang="en-US" b="1" smtClean="0">
                <a:ea typeface="楷体_GB2312" pitchFamily="49" charset="-122"/>
              </a:rPr>
              <a:t>）是指由下面几种对象组成的存储、管理、维护数据的系统。</a:t>
            </a:r>
          </a:p>
        </p:txBody>
      </p:sp>
      <p:sp>
        <p:nvSpPr>
          <p:cNvPr id="842756" name="Rectangle 4"/>
          <p:cNvSpPr>
            <a:spLocks noChangeArrowheads="1"/>
          </p:cNvSpPr>
          <p:nvPr/>
        </p:nvSpPr>
        <p:spPr bwMode="auto">
          <a:xfrm>
            <a:off x="1116013" y="3284538"/>
            <a:ext cx="7704137"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30000"/>
              </a:lnSpc>
              <a:buClr>
                <a:srgbClr val="669900"/>
              </a:buClr>
              <a:buSzPct val="90000"/>
              <a:buFont typeface="Wingdings" pitchFamily="2" charset="2"/>
              <a:buChar char="n"/>
            </a:pPr>
            <a:r>
              <a:rPr lang="zh-CN" altLang="en-US" sz="2800" b="1">
                <a:ea typeface="楷体_GB2312" pitchFamily="49" charset="-122"/>
              </a:rPr>
              <a:t>数据库系统的构成：</a:t>
            </a:r>
          </a:p>
          <a:p>
            <a:pPr marL="742950" lvl="1" indent="-285750" algn="just">
              <a:lnSpc>
                <a:spcPct val="130000"/>
              </a:lnSpc>
              <a:buClr>
                <a:srgbClr val="996600"/>
              </a:buClr>
              <a:buSzPct val="75000"/>
              <a:buFont typeface="Wingdings" pitchFamily="2" charset="2"/>
              <a:buChar char="Ø"/>
            </a:pPr>
            <a:r>
              <a:rPr lang="zh-CN" altLang="en-US" sz="2800" b="1">
                <a:solidFill>
                  <a:srgbClr val="FF0000"/>
                </a:solidFill>
                <a:ea typeface="楷体_GB2312" pitchFamily="49" charset="-122"/>
              </a:rPr>
              <a:t>数据库</a:t>
            </a:r>
            <a:endParaRPr lang="zh-CN" altLang="en-US" sz="2800" b="1">
              <a:ea typeface="楷体_GB2312" pitchFamily="49" charset="-122"/>
            </a:endParaRPr>
          </a:p>
          <a:p>
            <a:pPr marL="742950" lvl="1" indent="-285750" algn="just">
              <a:lnSpc>
                <a:spcPct val="130000"/>
              </a:lnSpc>
              <a:buClr>
                <a:srgbClr val="996600"/>
              </a:buClr>
              <a:buSzPct val="75000"/>
              <a:buFont typeface="Wingdings" pitchFamily="2" charset="2"/>
              <a:buChar char="Ø"/>
            </a:pPr>
            <a:r>
              <a:rPr lang="zh-CN" altLang="en-US" sz="2800" b="1">
                <a:solidFill>
                  <a:srgbClr val="FF0000"/>
                </a:solidFill>
                <a:ea typeface="楷体_GB2312" pitchFamily="49" charset="-122"/>
              </a:rPr>
              <a:t>数据库管理系统</a:t>
            </a:r>
            <a:r>
              <a:rPr lang="zh-CN" altLang="en-US" sz="2800" b="1">
                <a:ea typeface="楷体_GB2312" pitchFamily="49" charset="-122"/>
              </a:rPr>
              <a:t>（及其开发工具）</a:t>
            </a:r>
          </a:p>
          <a:p>
            <a:pPr marL="742950" lvl="1" indent="-285750" algn="just">
              <a:lnSpc>
                <a:spcPct val="130000"/>
              </a:lnSpc>
              <a:buClr>
                <a:srgbClr val="996600"/>
              </a:buClr>
              <a:buSzPct val="75000"/>
              <a:buFont typeface="Wingdings" pitchFamily="2" charset="2"/>
              <a:buChar char="Ø"/>
            </a:pPr>
            <a:r>
              <a:rPr lang="zh-CN" altLang="en-US" sz="2800" b="1">
                <a:ea typeface="楷体_GB2312" pitchFamily="49" charset="-122"/>
              </a:rPr>
              <a:t>应用系统</a:t>
            </a:r>
          </a:p>
          <a:p>
            <a:pPr marL="742950" lvl="1" indent="-285750" algn="just">
              <a:lnSpc>
                <a:spcPct val="130000"/>
              </a:lnSpc>
              <a:buClr>
                <a:srgbClr val="996600"/>
              </a:buClr>
              <a:buSzPct val="75000"/>
              <a:buFont typeface="Wingdings" pitchFamily="2" charset="2"/>
              <a:buChar char="Ø"/>
            </a:pPr>
            <a:r>
              <a:rPr lang="zh-CN" altLang="en-US" sz="2800" b="1">
                <a:ea typeface="楷体_GB2312" pitchFamily="49" charset="-122"/>
              </a:rPr>
              <a:t>数据库管理员（</a:t>
            </a:r>
            <a:r>
              <a:rPr lang="en-US" altLang="zh-CN" sz="2800" b="1">
                <a:ea typeface="楷体_GB2312" pitchFamily="49" charset="-122"/>
              </a:rPr>
              <a:t>DBA</a:t>
            </a:r>
            <a:r>
              <a:rPr lang="zh-CN" altLang="en-US" sz="2800" b="1">
                <a:ea typeface="楷体_GB2312" pitchFamily="49" charset="-122"/>
              </a:rPr>
              <a:t>）</a:t>
            </a:r>
          </a:p>
          <a:p>
            <a:pPr marL="742950" lvl="1" indent="-285750" algn="just">
              <a:lnSpc>
                <a:spcPct val="130000"/>
              </a:lnSpc>
              <a:buClr>
                <a:srgbClr val="996600"/>
              </a:buClr>
              <a:buSzPct val="75000"/>
              <a:buFont typeface="Wingdings" pitchFamily="2" charset="2"/>
              <a:buChar char="Ø"/>
            </a:pPr>
            <a:endParaRPr lang="zh-CN" altLang="en-US" sz="2800" b="1">
              <a:ea typeface="楷体_GB2312" pitchFamily="49"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842756"/>
                                        </p:tgtEl>
                                        <p:attrNameLst>
                                          <p:attrName>style.visibility</p:attrName>
                                        </p:attrNameLst>
                                      </p:cBhvr>
                                      <p:to>
                                        <p:strVal val="visible"/>
                                      </p:to>
                                    </p:set>
                                    <p:animEffect transition="in" filter="wheel(4)">
                                      <p:cBhvr>
                                        <p:cTn id="7" dur="2000"/>
                                        <p:tgtEl>
                                          <p:spTgt spid="842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275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6BF2FB0A-70ED-4E0C-A8C0-2085EBB719D5}" type="slidenum">
              <a:rPr lang="en-US" altLang="zh-CN" smtClean="0"/>
              <a:pPr algn="l" eaLnBrk="1" hangingPunct="1"/>
              <a:t>10</a:t>
            </a:fld>
            <a:endParaRPr lang="en-US" altLang="zh-CN" smtClean="0"/>
          </a:p>
        </p:txBody>
      </p:sp>
      <p:sp>
        <p:nvSpPr>
          <p:cNvPr id="16387" name="Rectangle 2"/>
          <p:cNvSpPr>
            <a:spLocks noGrp="1" noChangeArrowheads="1"/>
          </p:cNvSpPr>
          <p:nvPr>
            <p:ph type="title"/>
          </p:nvPr>
        </p:nvSpPr>
        <p:spPr>
          <a:xfrm>
            <a:off x="381000" y="115888"/>
            <a:ext cx="8382000" cy="914400"/>
          </a:xfrm>
        </p:spPr>
        <p:txBody>
          <a:bodyPr/>
          <a:lstStyle/>
          <a:p>
            <a:pPr eaLnBrk="1" hangingPunct="1"/>
            <a:r>
              <a:rPr lang="zh-CN" altLang="en-US" b="1" smtClean="0"/>
              <a:t>四、数据库系统</a:t>
            </a:r>
            <a:r>
              <a:rPr lang="en-US" altLang="zh-CN" b="1" smtClean="0"/>
              <a:t>(</a:t>
            </a:r>
            <a:r>
              <a:rPr lang="zh-CN" altLang="en-US" b="1" smtClean="0"/>
              <a:t>续</a:t>
            </a:r>
            <a:r>
              <a:rPr lang="en-US" altLang="zh-CN" b="1" smtClean="0"/>
              <a:t>)</a:t>
            </a:r>
            <a:endParaRPr lang="en-US" altLang="zh-CN" b="1" smtClean="0">
              <a:solidFill>
                <a:schemeClr val="tx1"/>
              </a:solidFill>
            </a:endParaRPr>
          </a:p>
        </p:txBody>
      </p:sp>
      <p:grpSp>
        <p:nvGrpSpPr>
          <p:cNvPr id="16388" name="组合 1"/>
          <p:cNvGrpSpPr>
            <a:grpSpLocks/>
          </p:cNvGrpSpPr>
          <p:nvPr/>
        </p:nvGrpSpPr>
        <p:grpSpPr bwMode="auto">
          <a:xfrm>
            <a:off x="1979613" y="1123950"/>
            <a:ext cx="6300787" cy="5041900"/>
            <a:chOff x="1979712" y="1123950"/>
            <a:chExt cx="6300787" cy="5041354"/>
          </a:xfrm>
        </p:grpSpPr>
        <p:sp>
          <p:nvSpPr>
            <p:cNvPr id="16389" name="AutoShape 2"/>
            <p:cNvSpPr>
              <a:spLocks noChangeArrowheads="1"/>
            </p:cNvSpPr>
            <p:nvPr/>
          </p:nvSpPr>
          <p:spPr bwMode="auto">
            <a:xfrm>
              <a:off x="3213199" y="5301208"/>
              <a:ext cx="1452563" cy="864096"/>
            </a:xfrm>
            <a:prstGeom prst="flowChartMagneticDisk">
              <a:avLst/>
            </a:prstGeom>
            <a:solidFill>
              <a:schemeClr val="accent1"/>
            </a:solidFill>
            <a:ln w="9525">
              <a:solidFill>
                <a:srgbClr val="000000"/>
              </a:solidFill>
              <a:round/>
              <a:headEnd/>
              <a:tailEnd/>
            </a:ln>
          </p:spPr>
          <p:txBody>
            <a:bodyPr/>
            <a:lstStyle/>
            <a:p>
              <a:pPr algn="just" eaLnBrk="0" hangingPunct="0">
                <a:lnSpc>
                  <a:spcPct val="96000"/>
                </a:lnSpc>
              </a:pPr>
              <a:endParaRPr lang="en-US" altLang="zh-CN" sz="2400" baseline="30000">
                <a:solidFill>
                  <a:srgbClr val="FD31C8"/>
                </a:solidFill>
                <a:latin typeface="Times New Roman" pitchFamily="18" charset="0"/>
              </a:endParaRPr>
            </a:p>
            <a:p>
              <a:pPr algn="just" eaLnBrk="0" hangingPunct="0">
                <a:lnSpc>
                  <a:spcPct val="96000"/>
                </a:lnSpc>
              </a:pPr>
              <a:r>
                <a:rPr lang="en-US" altLang="zh-CN" sz="2400" baseline="30000">
                  <a:solidFill>
                    <a:srgbClr val="FD31C8"/>
                  </a:solidFill>
                  <a:latin typeface="Times New Roman" pitchFamily="18" charset="0"/>
                </a:rPr>
                <a:t>     </a:t>
              </a:r>
              <a:r>
                <a:rPr lang="zh-CN" altLang="en-US" sz="2800" baseline="30000">
                  <a:solidFill>
                    <a:srgbClr val="FF3300"/>
                  </a:solidFill>
                  <a:latin typeface="Times New Roman" pitchFamily="18" charset="0"/>
                </a:rPr>
                <a:t>数据库</a:t>
              </a:r>
            </a:p>
          </p:txBody>
        </p:sp>
        <p:sp>
          <p:nvSpPr>
            <p:cNvPr id="16390" name="AutoShape 3"/>
            <p:cNvSpPr>
              <a:spLocks noChangeArrowheads="1"/>
            </p:cNvSpPr>
            <p:nvPr/>
          </p:nvSpPr>
          <p:spPr bwMode="auto">
            <a:xfrm>
              <a:off x="2492474" y="1992313"/>
              <a:ext cx="3024188" cy="568325"/>
            </a:xfrm>
            <a:prstGeom prst="hexagon">
              <a:avLst>
                <a:gd name="adj" fmla="val 133031"/>
                <a:gd name="vf" fmla="val 115470"/>
              </a:avLst>
            </a:prstGeom>
            <a:solidFill>
              <a:schemeClr val="accent1"/>
            </a:solidFill>
            <a:ln w="9525">
              <a:solidFill>
                <a:srgbClr val="000000"/>
              </a:solidFill>
              <a:miter lim="800000"/>
              <a:headEnd/>
              <a:tailEnd/>
            </a:ln>
          </p:spPr>
          <p:txBody>
            <a:bodyPr/>
            <a:lstStyle/>
            <a:p>
              <a:pPr algn="just" eaLnBrk="0" hangingPunct="0">
                <a:lnSpc>
                  <a:spcPct val="80000"/>
                </a:lnSpc>
              </a:pPr>
              <a:r>
                <a:rPr lang="en-US" altLang="zh-CN" sz="2400">
                  <a:solidFill>
                    <a:srgbClr val="FF3300"/>
                  </a:solidFill>
                  <a:latin typeface="Times New Roman" pitchFamily="18" charset="0"/>
                </a:rPr>
                <a:t> </a:t>
              </a:r>
              <a:r>
                <a:rPr lang="zh-CN" altLang="en-US" sz="2400">
                  <a:solidFill>
                    <a:srgbClr val="FF3300"/>
                  </a:solidFill>
                  <a:latin typeface="Times New Roman" pitchFamily="18" charset="0"/>
                </a:rPr>
                <a:t>应用系统</a:t>
              </a:r>
            </a:p>
          </p:txBody>
        </p:sp>
        <p:sp>
          <p:nvSpPr>
            <p:cNvPr id="16391" name="AutoShape 4"/>
            <p:cNvSpPr>
              <a:spLocks noChangeArrowheads="1"/>
            </p:cNvSpPr>
            <p:nvPr/>
          </p:nvSpPr>
          <p:spPr bwMode="auto">
            <a:xfrm>
              <a:off x="2276574" y="2808288"/>
              <a:ext cx="3384550" cy="548704"/>
            </a:xfrm>
            <a:prstGeom prst="hexagon">
              <a:avLst>
                <a:gd name="adj" fmla="val 127220"/>
                <a:gd name="vf" fmla="val 115470"/>
              </a:avLst>
            </a:prstGeom>
            <a:solidFill>
              <a:srgbClr val="FFFFFF"/>
            </a:solidFill>
            <a:ln w="9525">
              <a:solidFill>
                <a:srgbClr val="000000"/>
              </a:solidFill>
              <a:miter lim="800000"/>
              <a:headEnd/>
              <a:tailEnd/>
            </a:ln>
          </p:spPr>
          <p:txBody>
            <a:bodyPr/>
            <a:lstStyle/>
            <a:p>
              <a:pPr algn="just" eaLnBrk="0" hangingPunct="0">
                <a:lnSpc>
                  <a:spcPct val="80000"/>
                </a:lnSpc>
              </a:pPr>
              <a:r>
                <a:rPr lang="zh-CN" altLang="en-US" sz="2400">
                  <a:latin typeface="Times New Roman" pitchFamily="18" charset="0"/>
                </a:rPr>
                <a:t>应用开发工具</a:t>
              </a:r>
            </a:p>
          </p:txBody>
        </p:sp>
        <p:sp>
          <p:nvSpPr>
            <p:cNvPr id="16392" name="AutoShape 5"/>
            <p:cNvSpPr>
              <a:spLocks noChangeArrowheads="1"/>
            </p:cNvSpPr>
            <p:nvPr/>
          </p:nvSpPr>
          <p:spPr bwMode="auto">
            <a:xfrm>
              <a:off x="2555974" y="4437112"/>
              <a:ext cx="3178175" cy="608558"/>
            </a:xfrm>
            <a:prstGeom prst="hexagon">
              <a:avLst>
                <a:gd name="adj" fmla="val 107641"/>
                <a:gd name="vf" fmla="val 115470"/>
              </a:avLst>
            </a:prstGeom>
            <a:solidFill>
              <a:srgbClr val="FFFFFF"/>
            </a:solidFill>
            <a:ln w="9525">
              <a:solidFill>
                <a:srgbClr val="000000"/>
              </a:solidFill>
              <a:miter lim="800000"/>
              <a:headEnd/>
              <a:tailEnd/>
            </a:ln>
          </p:spPr>
          <p:txBody>
            <a:bodyPr/>
            <a:lstStyle/>
            <a:p>
              <a:pPr algn="just" eaLnBrk="0" hangingPunct="0">
                <a:lnSpc>
                  <a:spcPct val="80000"/>
                </a:lnSpc>
              </a:pPr>
              <a:r>
                <a:rPr lang="en-US" altLang="zh-CN" sz="2400">
                  <a:latin typeface="Times New Roman" pitchFamily="18" charset="0"/>
                </a:rPr>
                <a:t>   </a:t>
              </a:r>
              <a:r>
                <a:rPr lang="zh-CN" altLang="en-US" sz="2400">
                  <a:latin typeface="Times New Roman" pitchFamily="18" charset="0"/>
                </a:rPr>
                <a:t>操作系统</a:t>
              </a:r>
            </a:p>
          </p:txBody>
        </p:sp>
        <p:sp>
          <p:nvSpPr>
            <p:cNvPr id="16393" name="AutoShape 6"/>
            <p:cNvSpPr>
              <a:spLocks noChangeArrowheads="1"/>
            </p:cNvSpPr>
            <p:nvPr/>
          </p:nvSpPr>
          <p:spPr bwMode="auto">
            <a:xfrm>
              <a:off x="2276574" y="3645024"/>
              <a:ext cx="3529013" cy="576262"/>
            </a:xfrm>
            <a:prstGeom prst="hexagon">
              <a:avLst>
                <a:gd name="adj" fmla="val 119503"/>
                <a:gd name="vf" fmla="val 115470"/>
              </a:avLst>
            </a:prstGeom>
            <a:solidFill>
              <a:schemeClr val="accent1"/>
            </a:solidFill>
            <a:ln w="9525">
              <a:solidFill>
                <a:srgbClr val="000000"/>
              </a:solidFill>
              <a:miter lim="800000"/>
              <a:headEnd/>
              <a:tailEnd/>
            </a:ln>
          </p:spPr>
          <p:txBody>
            <a:bodyPr/>
            <a:lstStyle/>
            <a:p>
              <a:pPr algn="just" eaLnBrk="0" hangingPunct="0">
                <a:lnSpc>
                  <a:spcPct val="80000"/>
                </a:lnSpc>
              </a:pPr>
              <a:r>
                <a:rPr lang="en-US" altLang="zh-CN" sz="2400">
                  <a:solidFill>
                    <a:schemeClr val="accent2"/>
                  </a:solidFill>
                  <a:latin typeface="Times New Roman" pitchFamily="18" charset="0"/>
                </a:rPr>
                <a:t> </a:t>
              </a:r>
              <a:r>
                <a:rPr lang="zh-CN" altLang="en-US" sz="2400">
                  <a:solidFill>
                    <a:srgbClr val="FF3300"/>
                  </a:solidFill>
                  <a:latin typeface="Times New Roman" pitchFamily="18" charset="0"/>
                </a:rPr>
                <a:t>数据库管理系统</a:t>
              </a:r>
            </a:p>
          </p:txBody>
        </p:sp>
        <p:sp>
          <p:nvSpPr>
            <p:cNvPr id="16394" name="Line 7"/>
            <p:cNvSpPr>
              <a:spLocks noChangeShapeType="1"/>
            </p:cNvSpPr>
            <p:nvPr/>
          </p:nvSpPr>
          <p:spPr bwMode="auto">
            <a:xfrm flipH="1">
              <a:off x="5724624" y="4746352"/>
              <a:ext cx="1512888" cy="0"/>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16395" name="Line 8"/>
            <p:cNvSpPr>
              <a:spLocks noChangeShapeType="1"/>
            </p:cNvSpPr>
            <p:nvPr/>
          </p:nvSpPr>
          <p:spPr bwMode="auto">
            <a:xfrm>
              <a:off x="7231162" y="4060180"/>
              <a:ext cx="0" cy="70802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6" name="Line 9"/>
            <p:cNvSpPr>
              <a:spLocks noChangeShapeType="1"/>
            </p:cNvSpPr>
            <p:nvPr/>
          </p:nvSpPr>
          <p:spPr bwMode="auto">
            <a:xfrm flipH="1">
              <a:off x="5762724" y="3920356"/>
              <a:ext cx="495052" cy="4763"/>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16397" name="Line 10"/>
            <p:cNvSpPr>
              <a:spLocks noChangeShapeType="1"/>
            </p:cNvSpPr>
            <p:nvPr/>
          </p:nvSpPr>
          <p:spPr bwMode="auto">
            <a:xfrm>
              <a:off x="3860899" y="2563813"/>
              <a:ext cx="0" cy="22860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8" name="Line 11"/>
            <p:cNvSpPr>
              <a:spLocks noChangeShapeType="1"/>
            </p:cNvSpPr>
            <p:nvPr/>
          </p:nvSpPr>
          <p:spPr bwMode="auto">
            <a:xfrm>
              <a:off x="3851920" y="5013176"/>
              <a:ext cx="0" cy="30162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9" name="Line 12"/>
            <p:cNvSpPr>
              <a:spLocks noChangeShapeType="1"/>
            </p:cNvSpPr>
            <p:nvPr/>
          </p:nvSpPr>
          <p:spPr bwMode="auto">
            <a:xfrm>
              <a:off x="3860899" y="4221088"/>
              <a:ext cx="0" cy="24130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0" name="Line 13"/>
            <p:cNvSpPr>
              <a:spLocks noChangeShapeType="1"/>
            </p:cNvSpPr>
            <p:nvPr/>
          </p:nvSpPr>
          <p:spPr bwMode="auto">
            <a:xfrm flipH="1">
              <a:off x="3860899" y="3374232"/>
              <a:ext cx="0" cy="2524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1" name="Line 14"/>
            <p:cNvSpPr>
              <a:spLocks noChangeShapeType="1"/>
            </p:cNvSpPr>
            <p:nvPr/>
          </p:nvSpPr>
          <p:spPr bwMode="auto">
            <a:xfrm>
              <a:off x="2578199" y="1697038"/>
              <a:ext cx="312738" cy="455612"/>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16402" name="Line 15"/>
            <p:cNvSpPr>
              <a:spLocks noChangeShapeType="1"/>
            </p:cNvSpPr>
            <p:nvPr/>
          </p:nvSpPr>
          <p:spPr bwMode="auto">
            <a:xfrm flipH="1">
              <a:off x="4581624" y="1628775"/>
              <a:ext cx="320675" cy="358775"/>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16403" name="Line 16"/>
            <p:cNvSpPr>
              <a:spLocks noChangeShapeType="1"/>
            </p:cNvSpPr>
            <p:nvPr/>
          </p:nvSpPr>
          <p:spPr bwMode="auto">
            <a:xfrm>
              <a:off x="3789462" y="1555750"/>
              <a:ext cx="0" cy="449263"/>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16404" name="Rectangle 17"/>
            <p:cNvSpPr>
              <a:spLocks noChangeArrowheads="1"/>
            </p:cNvSpPr>
            <p:nvPr/>
          </p:nvSpPr>
          <p:spPr bwMode="auto">
            <a:xfrm>
              <a:off x="6156424" y="3789040"/>
              <a:ext cx="2124075" cy="425450"/>
            </a:xfrm>
            <a:prstGeom prst="rect">
              <a:avLst/>
            </a:prstGeom>
            <a:solidFill>
              <a:schemeClr val="accent1"/>
            </a:solidFill>
            <a:ln w="9525">
              <a:solidFill>
                <a:srgbClr val="000000"/>
              </a:solidFill>
              <a:miter lim="800000"/>
              <a:headEnd/>
              <a:tailEnd/>
            </a:ln>
          </p:spPr>
          <p:txBody>
            <a:bodyPr/>
            <a:lstStyle/>
            <a:p>
              <a:pPr algn="just" eaLnBrk="0" hangingPunct="0">
                <a:lnSpc>
                  <a:spcPct val="80000"/>
                </a:lnSpc>
              </a:pPr>
              <a:r>
                <a:rPr lang="zh-CN" altLang="en-US" sz="2400">
                  <a:solidFill>
                    <a:srgbClr val="FF3300"/>
                  </a:solidFill>
                  <a:latin typeface="Times New Roman" pitchFamily="18" charset="0"/>
                </a:rPr>
                <a:t>数据库管理员</a:t>
              </a:r>
            </a:p>
          </p:txBody>
        </p:sp>
        <p:sp>
          <p:nvSpPr>
            <p:cNvPr id="16405" name="Rectangle 18"/>
            <p:cNvSpPr>
              <a:spLocks noChangeArrowheads="1"/>
            </p:cNvSpPr>
            <p:nvPr/>
          </p:nvSpPr>
          <p:spPr bwMode="auto">
            <a:xfrm>
              <a:off x="4726087" y="1195388"/>
              <a:ext cx="820737" cy="442912"/>
            </a:xfrm>
            <a:prstGeom prst="rect">
              <a:avLst/>
            </a:prstGeom>
            <a:solidFill>
              <a:srgbClr val="FFFFFF"/>
            </a:solidFill>
            <a:ln w="9525">
              <a:solidFill>
                <a:srgbClr val="000000"/>
              </a:solidFill>
              <a:miter lim="800000"/>
              <a:headEnd/>
              <a:tailEnd/>
            </a:ln>
          </p:spPr>
          <p:txBody>
            <a:bodyPr/>
            <a:lstStyle/>
            <a:p>
              <a:pPr algn="ctr" eaLnBrk="0" hangingPunct="0">
                <a:lnSpc>
                  <a:spcPct val="80000"/>
                </a:lnSpc>
              </a:pPr>
              <a:r>
                <a:rPr lang="zh-CN" altLang="en-US" sz="2400">
                  <a:latin typeface="Times New Roman" pitchFamily="18" charset="0"/>
                </a:rPr>
                <a:t>用户</a:t>
              </a:r>
            </a:p>
          </p:txBody>
        </p:sp>
        <p:sp>
          <p:nvSpPr>
            <p:cNvPr id="16406" name="Rectangle 19"/>
            <p:cNvSpPr>
              <a:spLocks noChangeArrowheads="1"/>
            </p:cNvSpPr>
            <p:nvPr/>
          </p:nvSpPr>
          <p:spPr bwMode="auto">
            <a:xfrm>
              <a:off x="3357662" y="1123950"/>
              <a:ext cx="819150" cy="463550"/>
            </a:xfrm>
            <a:prstGeom prst="rect">
              <a:avLst/>
            </a:prstGeom>
            <a:solidFill>
              <a:srgbClr val="FFFFFF"/>
            </a:solidFill>
            <a:ln w="9525">
              <a:solidFill>
                <a:srgbClr val="000000"/>
              </a:solidFill>
              <a:miter lim="800000"/>
              <a:headEnd/>
              <a:tailEnd/>
            </a:ln>
          </p:spPr>
          <p:txBody>
            <a:bodyPr/>
            <a:lstStyle/>
            <a:p>
              <a:pPr algn="ctr" eaLnBrk="0" hangingPunct="0">
                <a:lnSpc>
                  <a:spcPct val="80000"/>
                </a:lnSpc>
              </a:pPr>
              <a:r>
                <a:rPr lang="zh-CN" altLang="en-US" sz="2400">
                  <a:latin typeface="Times New Roman" pitchFamily="18" charset="0"/>
                </a:rPr>
                <a:t>用户</a:t>
              </a:r>
            </a:p>
          </p:txBody>
        </p:sp>
        <p:sp>
          <p:nvSpPr>
            <p:cNvPr id="16407" name="Rectangle 20"/>
            <p:cNvSpPr>
              <a:spLocks noChangeArrowheads="1"/>
            </p:cNvSpPr>
            <p:nvPr/>
          </p:nvSpPr>
          <p:spPr bwMode="auto">
            <a:xfrm>
              <a:off x="1979712" y="1293813"/>
              <a:ext cx="819150" cy="469900"/>
            </a:xfrm>
            <a:prstGeom prst="rect">
              <a:avLst/>
            </a:prstGeom>
            <a:solidFill>
              <a:srgbClr val="FFFFFF"/>
            </a:solidFill>
            <a:ln w="9525">
              <a:solidFill>
                <a:srgbClr val="000000"/>
              </a:solidFill>
              <a:miter lim="800000"/>
              <a:headEnd/>
              <a:tailEnd/>
            </a:ln>
          </p:spPr>
          <p:txBody>
            <a:bodyPr/>
            <a:lstStyle/>
            <a:p>
              <a:pPr algn="ctr" eaLnBrk="0" hangingPunct="0">
                <a:lnSpc>
                  <a:spcPct val="80000"/>
                </a:lnSpc>
              </a:pPr>
              <a:r>
                <a:rPr lang="zh-CN" altLang="en-US" sz="2400">
                  <a:latin typeface="Times New Roman" pitchFamily="18" charset="0"/>
                </a:rPr>
                <a:t>用户</a:t>
              </a:r>
            </a:p>
          </p:txBody>
        </p:sp>
      </p:grpSp>
    </p:spTree>
  </p:cSld>
  <p:clrMapOvr>
    <a:masterClrMapping/>
  </p:clrMapOvr>
  <p:transition advClick="0"/>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693B0F59-4848-48EA-86CD-9EBDE0384691}" type="slidenum">
              <a:rPr lang="en-US" altLang="zh-CN" smtClean="0"/>
              <a:pPr algn="l" eaLnBrk="1" hangingPunct="1"/>
              <a:t>11</a:t>
            </a:fld>
            <a:endParaRPr lang="en-US" altLang="zh-CN" smtClean="0"/>
          </a:p>
        </p:txBody>
      </p:sp>
      <p:sp>
        <p:nvSpPr>
          <p:cNvPr id="18435" name="Rectangle 2"/>
          <p:cNvSpPr>
            <a:spLocks noGrp="1" noChangeArrowheads="1"/>
          </p:cNvSpPr>
          <p:nvPr>
            <p:ph type="title"/>
          </p:nvPr>
        </p:nvSpPr>
        <p:spPr>
          <a:xfrm>
            <a:off x="457200" y="71438"/>
            <a:ext cx="8229600" cy="973137"/>
          </a:xfrm>
        </p:spPr>
        <p:txBody>
          <a:bodyPr/>
          <a:lstStyle/>
          <a:p>
            <a:r>
              <a:rPr lang="en-US" altLang="zh-CN" sz="4000" b="1" smtClean="0"/>
              <a:t>1.1.2  </a:t>
            </a:r>
            <a:r>
              <a:rPr lang="zh-CN" altLang="en-US" sz="4000" b="1" smtClean="0">
                <a:solidFill>
                  <a:srgbClr val="FF0000"/>
                </a:solidFill>
              </a:rPr>
              <a:t>数据管理</a:t>
            </a:r>
            <a:r>
              <a:rPr lang="zh-CN" altLang="en-US" sz="4000" b="1" smtClean="0"/>
              <a:t>技术的产生和发展</a:t>
            </a:r>
          </a:p>
        </p:txBody>
      </p:sp>
      <p:sp>
        <p:nvSpPr>
          <p:cNvPr id="18436" name="TextBox 4"/>
          <p:cNvSpPr txBox="1">
            <a:spLocks noChangeArrowheads="1"/>
          </p:cNvSpPr>
          <p:nvPr/>
        </p:nvSpPr>
        <p:spPr bwMode="auto">
          <a:xfrm>
            <a:off x="969963" y="1341438"/>
            <a:ext cx="6786562" cy="954087"/>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800" dirty="0"/>
              <a:t>计算机是能够快速的、高效的、自动化的进行</a:t>
            </a:r>
            <a:r>
              <a:rPr lang="zh-CN" altLang="en-US" sz="2800" b="1" dirty="0">
                <a:solidFill>
                  <a:srgbClr val="0000FF"/>
                </a:solidFill>
              </a:rPr>
              <a:t>数据处理</a:t>
            </a:r>
            <a:r>
              <a:rPr lang="zh-CN" altLang="en-US" sz="2800" dirty="0"/>
              <a:t>的电子设备。</a:t>
            </a:r>
          </a:p>
        </p:txBody>
      </p:sp>
      <p:sp>
        <p:nvSpPr>
          <p:cNvPr id="18437" name="TextBox 5"/>
          <p:cNvSpPr txBox="1">
            <a:spLocks noChangeArrowheads="1"/>
          </p:cNvSpPr>
          <p:nvPr/>
        </p:nvSpPr>
        <p:spPr bwMode="auto">
          <a:xfrm>
            <a:off x="460375" y="2767013"/>
            <a:ext cx="8072438" cy="2678112"/>
          </a:xfrm>
          <a:prstGeom prst="rect">
            <a:avLst/>
          </a:prstGeom>
          <a:noFill/>
          <a:ln w="2857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800" b="1" dirty="0">
                <a:solidFill>
                  <a:srgbClr val="0000FF"/>
                </a:solidFill>
              </a:rPr>
              <a:t>数据处理：</a:t>
            </a:r>
            <a:r>
              <a:rPr lang="zh-CN" altLang="en-US" sz="2800" dirty="0"/>
              <a:t>对数据收集、组织、存储、加工、抽取和传播的一系列活动的总和。</a:t>
            </a:r>
            <a:endParaRPr lang="en-US" altLang="zh-CN" sz="2800" dirty="0"/>
          </a:p>
          <a:p>
            <a:pPr eaLnBrk="1" hangingPunct="1"/>
            <a:r>
              <a:rPr lang="zh-CN" altLang="en-US" sz="2800" b="1" dirty="0">
                <a:solidFill>
                  <a:srgbClr val="FF0000"/>
                </a:solidFill>
              </a:rPr>
              <a:t>数据管理：</a:t>
            </a:r>
            <a:r>
              <a:rPr lang="zh-CN" altLang="en-US" sz="2800" dirty="0"/>
              <a:t>数据的分类、组织、编码、存储、查询、维护等活动，是</a:t>
            </a:r>
            <a:r>
              <a:rPr lang="zh-CN" altLang="en-US" sz="2800" b="1" dirty="0">
                <a:solidFill>
                  <a:srgbClr val="0000FF"/>
                </a:solidFill>
              </a:rPr>
              <a:t>数据处理的中心环节</a:t>
            </a:r>
            <a:r>
              <a:rPr lang="zh-CN" altLang="en-US" sz="2800" dirty="0"/>
              <a:t>。</a:t>
            </a:r>
            <a:endParaRPr lang="en-US" altLang="zh-CN" sz="2800" dirty="0"/>
          </a:p>
          <a:p>
            <a:pPr eaLnBrk="1" hangingPunct="1"/>
            <a:r>
              <a:rPr lang="zh-CN" altLang="en-US" sz="2800" b="1" dirty="0">
                <a:solidFill>
                  <a:srgbClr val="0000FF"/>
                </a:solidFill>
              </a:rPr>
              <a:t>目的：</a:t>
            </a:r>
            <a:r>
              <a:rPr lang="zh-CN" altLang="en-US" sz="2800" dirty="0"/>
              <a:t>是从大量的原始数据中抽取和推导出对人们有价值的信息。</a:t>
            </a:r>
          </a:p>
        </p:txBody>
      </p:sp>
    </p:spTree>
  </p:cSld>
  <p:clrMapOvr>
    <a:masterClrMapping/>
  </p:clrMapOvr>
  <p:transition advClick="0"/>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29D4B0AF-801A-49C5-8FF1-B48D90E6A427}" type="slidenum">
              <a:rPr lang="en-US" altLang="zh-CN" smtClean="0"/>
              <a:pPr algn="l" eaLnBrk="1" hangingPunct="1"/>
              <a:t>12</a:t>
            </a:fld>
            <a:endParaRPr lang="en-US" altLang="zh-CN" smtClean="0"/>
          </a:p>
        </p:txBody>
      </p:sp>
      <p:sp>
        <p:nvSpPr>
          <p:cNvPr id="19459" name="AutoShape 8"/>
          <p:cNvSpPr>
            <a:spLocks noChangeArrowheads="1"/>
          </p:cNvSpPr>
          <p:nvPr/>
        </p:nvSpPr>
        <p:spPr bwMode="auto">
          <a:xfrm>
            <a:off x="912813" y="3587750"/>
            <a:ext cx="7058025" cy="1871663"/>
          </a:xfrm>
          <a:prstGeom prst="roundRect">
            <a:avLst>
              <a:gd name="adj" fmla="val 16667"/>
            </a:avLst>
          </a:prstGeom>
          <a:solidFill>
            <a:srgbClr val="AFFDE9"/>
          </a:solidFill>
          <a:ln w="12700" cap="sq">
            <a:solidFill>
              <a:schemeClr val="tx1"/>
            </a:solidFill>
            <a:round/>
            <a:headEnd type="none" w="sm" len="sm"/>
            <a:tailEnd type="none" w="sm" len="sm"/>
          </a:ln>
        </p:spPr>
        <p:txBody>
          <a:bodyPr wrap="none" anchor="ctr"/>
          <a:lstStyle/>
          <a:p>
            <a:pPr marL="742950" lvl="1" indent="-285750">
              <a:lnSpc>
                <a:spcPct val="150000"/>
              </a:lnSpc>
              <a:buClr>
                <a:srgbClr val="996600"/>
              </a:buClr>
              <a:buSzPct val="75000"/>
              <a:buFont typeface="Wingdings" pitchFamily="2" charset="2"/>
              <a:buChar char="Ø"/>
            </a:pPr>
            <a:r>
              <a:rPr lang="zh-CN" altLang="en-US" sz="2600">
                <a:ea typeface="楷体_GB2312" pitchFamily="49" charset="-122"/>
              </a:rPr>
              <a:t>人工管理阶段</a:t>
            </a:r>
            <a:r>
              <a:rPr lang="en-US" altLang="zh-CN" sz="2600">
                <a:ea typeface="楷体_GB2312" pitchFamily="49" charset="-122"/>
              </a:rPr>
              <a:t>(40</a:t>
            </a:r>
            <a:r>
              <a:rPr lang="zh-CN" altLang="en-US" sz="2600">
                <a:ea typeface="楷体_GB2312" pitchFamily="49" charset="-122"/>
              </a:rPr>
              <a:t>年代中</a:t>
            </a:r>
            <a:r>
              <a:rPr lang="en-US" altLang="zh-CN" sz="2600">
                <a:ea typeface="楷体_GB2312" pitchFamily="49" charset="-122"/>
              </a:rPr>
              <a:t>--50</a:t>
            </a:r>
            <a:r>
              <a:rPr lang="zh-CN" altLang="en-US" sz="2600">
                <a:ea typeface="楷体_GB2312" pitchFamily="49" charset="-122"/>
              </a:rPr>
              <a:t>年代中</a:t>
            </a:r>
            <a:r>
              <a:rPr lang="en-US" altLang="zh-CN" sz="2600">
                <a:ea typeface="楷体_GB2312" pitchFamily="49" charset="-122"/>
              </a:rPr>
              <a:t>)</a:t>
            </a:r>
          </a:p>
          <a:p>
            <a:pPr marL="742950" lvl="1" indent="-285750">
              <a:lnSpc>
                <a:spcPct val="150000"/>
              </a:lnSpc>
              <a:buClr>
                <a:srgbClr val="996600"/>
              </a:buClr>
              <a:buSzPct val="75000"/>
              <a:buFont typeface="Wingdings" pitchFamily="2" charset="2"/>
              <a:buChar char="Ø"/>
            </a:pPr>
            <a:r>
              <a:rPr lang="zh-CN" altLang="en-US" sz="2600">
                <a:ea typeface="楷体_GB2312" pitchFamily="49" charset="-122"/>
              </a:rPr>
              <a:t>文件系统阶段</a:t>
            </a:r>
            <a:r>
              <a:rPr lang="en-US" altLang="zh-CN" sz="2600">
                <a:ea typeface="楷体_GB2312" pitchFamily="49" charset="-122"/>
              </a:rPr>
              <a:t>(50</a:t>
            </a:r>
            <a:r>
              <a:rPr lang="zh-CN" altLang="en-US" sz="2600">
                <a:ea typeface="楷体_GB2312" pitchFamily="49" charset="-122"/>
              </a:rPr>
              <a:t>年代末</a:t>
            </a:r>
            <a:r>
              <a:rPr lang="en-US" altLang="zh-CN" sz="2600">
                <a:ea typeface="楷体_GB2312" pitchFamily="49" charset="-122"/>
              </a:rPr>
              <a:t>--60</a:t>
            </a:r>
            <a:r>
              <a:rPr lang="zh-CN" altLang="en-US" sz="2600">
                <a:ea typeface="楷体_GB2312" pitchFamily="49" charset="-122"/>
              </a:rPr>
              <a:t>年代中</a:t>
            </a:r>
            <a:r>
              <a:rPr lang="en-US" altLang="zh-CN" sz="2600">
                <a:ea typeface="楷体_GB2312" pitchFamily="49" charset="-122"/>
              </a:rPr>
              <a:t>)</a:t>
            </a:r>
          </a:p>
          <a:p>
            <a:pPr marL="742950" lvl="1" indent="-285750">
              <a:lnSpc>
                <a:spcPct val="150000"/>
              </a:lnSpc>
              <a:buClr>
                <a:srgbClr val="996600"/>
              </a:buClr>
              <a:buSzPct val="75000"/>
              <a:buFont typeface="Wingdings" pitchFamily="2" charset="2"/>
              <a:buChar char="Ø"/>
            </a:pPr>
            <a:r>
              <a:rPr lang="zh-CN" altLang="en-US" sz="2600">
                <a:ea typeface="楷体_GB2312" pitchFamily="49" charset="-122"/>
              </a:rPr>
              <a:t>数据库系统阶段</a:t>
            </a:r>
            <a:r>
              <a:rPr lang="en-US" altLang="zh-CN" sz="2600">
                <a:ea typeface="楷体_GB2312" pitchFamily="49" charset="-122"/>
              </a:rPr>
              <a:t>(60</a:t>
            </a:r>
            <a:r>
              <a:rPr lang="zh-CN" altLang="en-US" sz="2600">
                <a:ea typeface="楷体_GB2312" pitchFamily="49" charset="-122"/>
              </a:rPr>
              <a:t>年代末</a:t>
            </a:r>
            <a:r>
              <a:rPr lang="en-US" altLang="zh-CN" sz="2600">
                <a:ea typeface="楷体_GB2312" pitchFamily="49" charset="-122"/>
              </a:rPr>
              <a:t>--</a:t>
            </a:r>
            <a:r>
              <a:rPr lang="zh-CN" altLang="en-US" sz="2600">
                <a:ea typeface="楷体_GB2312" pitchFamily="49" charset="-122"/>
              </a:rPr>
              <a:t>现在</a:t>
            </a:r>
            <a:r>
              <a:rPr lang="en-US" altLang="zh-CN" sz="2600">
                <a:ea typeface="楷体_GB2312" pitchFamily="49" charset="-122"/>
              </a:rPr>
              <a:t>)</a:t>
            </a:r>
          </a:p>
          <a:p>
            <a:endParaRPr lang="zh-CN" altLang="en-US"/>
          </a:p>
        </p:txBody>
      </p:sp>
      <p:sp>
        <p:nvSpPr>
          <p:cNvPr id="1106948" name="Rectangle 4"/>
          <p:cNvSpPr>
            <a:spLocks noChangeArrowheads="1"/>
          </p:cNvSpPr>
          <p:nvPr/>
        </p:nvSpPr>
        <p:spPr bwMode="auto">
          <a:xfrm>
            <a:off x="684213" y="2708275"/>
            <a:ext cx="723741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514350" indent="-514350" algn="just">
              <a:lnSpc>
                <a:spcPct val="150000"/>
              </a:lnSpc>
              <a:buClr>
                <a:schemeClr val="accent2"/>
              </a:buClr>
              <a:buFont typeface="Wingdings" pitchFamily="2" charset="2"/>
              <a:buChar char="n"/>
            </a:pPr>
            <a:r>
              <a:rPr lang="zh-CN" altLang="en-US" sz="2800" b="1">
                <a:solidFill>
                  <a:srgbClr val="FF0000"/>
                </a:solidFill>
                <a:ea typeface="楷体_GB2312" pitchFamily="49" charset="-122"/>
              </a:rPr>
              <a:t>数据管理技术</a:t>
            </a:r>
            <a:r>
              <a:rPr lang="zh-CN" altLang="en-US" sz="2800">
                <a:ea typeface="楷体_GB2312" pitchFamily="49" charset="-122"/>
              </a:rPr>
              <a:t>的发展过程</a:t>
            </a:r>
          </a:p>
        </p:txBody>
      </p:sp>
      <p:sp>
        <p:nvSpPr>
          <p:cNvPr id="19461" name="Rectangle 6"/>
          <p:cNvSpPr>
            <a:spLocks noGrp="1" noChangeArrowheads="1"/>
          </p:cNvSpPr>
          <p:nvPr>
            <p:ph type="body" idx="1"/>
          </p:nvPr>
        </p:nvSpPr>
        <p:spPr>
          <a:xfrm>
            <a:off x="611188" y="1341438"/>
            <a:ext cx="7632700" cy="1439862"/>
          </a:xfrm>
          <a:noFill/>
        </p:spPr>
        <p:txBody>
          <a:bodyPr/>
          <a:lstStyle/>
          <a:p>
            <a:pPr algn="just" eaLnBrk="1" hangingPunct="1">
              <a:lnSpc>
                <a:spcPct val="150000"/>
              </a:lnSpc>
              <a:spcBef>
                <a:spcPct val="0"/>
              </a:spcBef>
            </a:pPr>
            <a:r>
              <a:rPr lang="zh-CN" altLang="en-US" sz="2800" b="1" smtClean="0">
                <a:ea typeface="楷体_GB2312" pitchFamily="49" charset="-122"/>
              </a:rPr>
              <a:t>数据管理技术的发展动力</a:t>
            </a:r>
          </a:p>
          <a:p>
            <a:pPr lvl="1" algn="just" eaLnBrk="1" hangingPunct="1">
              <a:lnSpc>
                <a:spcPct val="150000"/>
              </a:lnSpc>
              <a:spcBef>
                <a:spcPct val="0"/>
              </a:spcBef>
              <a:buFont typeface="Wingdings" pitchFamily="2" charset="2"/>
              <a:buNone/>
            </a:pPr>
            <a:r>
              <a:rPr lang="zh-CN" altLang="en-US" sz="2600" b="1" smtClean="0">
                <a:solidFill>
                  <a:srgbClr val="FF0000"/>
                </a:solidFill>
                <a:ea typeface="楷体_GB2312" pitchFamily="49" charset="-122"/>
              </a:rPr>
              <a:t>应用需求的推动</a:t>
            </a:r>
            <a:r>
              <a:rPr lang="zh-CN" altLang="en-US" sz="2600" b="1" smtClean="0">
                <a:ea typeface="楷体_GB2312" pitchFamily="49" charset="-122"/>
              </a:rPr>
              <a:t>、</a:t>
            </a:r>
            <a:r>
              <a:rPr lang="zh-CN" altLang="en-US" sz="2600" b="1" smtClean="0">
                <a:solidFill>
                  <a:srgbClr val="FF0000"/>
                </a:solidFill>
                <a:ea typeface="楷体_GB2312" pitchFamily="49" charset="-122"/>
              </a:rPr>
              <a:t>计算机软</a:t>
            </a:r>
            <a:r>
              <a:rPr lang="en-US" altLang="zh-CN" sz="2600" b="1" smtClean="0">
                <a:solidFill>
                  <a:srgbClr val="FF0000"/>
                </a:solidFill>
                <a:ea typeface="楷体_GB2312" pitchFamily="49" charset="-122"/>
              </a:rPr>
              <a:t>/</a:t>
            </a:r>
            <a:r>
              <a:rPr lang="zh-CN" altLang="en-US" sz="2600" b="1" smtClean="0">
                <a:solidFill>
                  <a:srgbClr val="FF0000"/>
                </a:solidFill>
                <a:ea typeface="楷体_GB2312" pitchFamily="49" charset="-122"/>
              </a:rPr>
              <a:t>硬件的发展</a:t>
            </a:r>
          </a:p>
        </p:txBody>
      </p:sp>
      <p:sp>
        <p:nvSpPr>
          <p:cNvPr id="19462" name="Rectangle 2"/>
          <p:cNvSpPr>
            <a:spLocks noGrp="1" noChangeArrowheads="1"/>
          </p:cNvSpPr>
          <p:nvPr>
            <p:ph type="title"/>
          </p:nvPr>
        </p:nvSpPr>
        <p:spPr>
          <a:xfrm>
            <a:off x="457200" y="71438"/>
            <a:ext cx="8229600" cy="973137"/>
          </a:xfrm>
        </p:spPr>
        <p:txBody>
          <a:bodyPr/>
          <a:lstStyle/>
          <a:p>
            <a:r>
              <a:rPr lang="en-US" altLang="zh-CN" sz="4000" b="1" smtClean="0"/>
              <a:t>1.1.2  </a:t>
            </a:r>
            <a:r>
              <a:rPr lang="zh-CN" altLang="en-US" sz="4000" b="1" smtClean="0">
                <a:solidFill>
                  <a:srgbClr val="FF0000"/>
                </a:solidFill>
              </a:rPr>
              <a:t>数据管理</a:t>
            </a:r>
            <a:r>
              <a:rPr lang="zh-CN" altLang="en-US" sz="4000" b="1" smtClean="0"/>
              <a:t>技术的产生和发展</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06948"/>
                                        </p:tgtEl>
                                        <p:attrNameLst>
                                          <p:attrName>style.visibility</p:attrName>
                                        </p:attrNameLst>
                                      </p:cBhvr>
                                      <p:to>
                                        <p:strVal val="visible"/>
                                      </p:to>
                                    </p:set>
                                    <p:anim calcmode="lin" valueType="num">
                                      <p:cBhvr additive="base">
                                        <p:cTn id="7" dur="500" fill="hold"/>
                                        <p:tgtEl>
                                          <p:spTgt spid="1106948"/>
                                        </p:tgtEl>
                                        <p:attrNameLst>
                                          <p:attrName>ppt_x</p:attrName>
                                        </p:attrNameLst>
                                      </p:cBhvr>
                                      <p:tavLst>
                                        <p:tav tm="0">
                                          <p:val>
                                            <p:strVal val="#ppt_x"/>
                                          </p:val>
                                        </p:tav>
                                        <p:tav tm="100000">
                                          <p:val>
                                            <p:strVal val="#ppt_x"/>
                                          </p:val>
                                        </p:tav>
                                      </p:tavLst>
                                    </p:anim>
                                    <p:anim calcmode="lin" valueType="num">
                                      <p:cBhvr additive="base">
                                        <p:cTn id="8" dur="500" fill="hold"/>
                                        <p:tgtEl>
                                          <p:spTgt spid="110694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gtEl>
                                        <p:attrNameLst>
                                          <p:attrName>style.visibility</p:attrName>
                                        </p:attrNameLst>
                                      </p:cBhvr>
                                      <p:to>
                                        <p:strVal val="visible"/>
                                      </p:to>
                                    </p:set>
                                    <p:anim calcmode="lin" valueType="num">
                                      <p:cBhvr additive="base">
                                        <p:cTn id="13" dur="500" fill="hold"/>
                                        <p:tgtEl>
                                          <p:spTgt spid="19459"/>
                                        </p:tgtEl>
                                        <p:attrNameLst>
                                          <p:attrName>ppt_x</p:attrName>
                                        </p:attrNameLst>
                                      </p:cBhvr>
                                      <p:tavLst>
                                        <p:tav tm="0">
                                          <p:val>
                                            <p:strVal val="#ppt_x"/>
                                          </p:val>
                                        </p:tav>
                                        <p:tav tm="100000">
                                          <p:val>
                                            <p:strVal val="#ppt_x"/>
                                          </p:val>
                                        </p:tav>
                                      </p:tavLst>
                                    </p:anim>
                                    <p:anim calcmode="lin" valueType="num">
                                      <p:cBhvr additive="base">
                                        <p:cTn id="14" dur="500" fill="hold"/>
                                        <p:tgtEl>
                                          <p:spTgt spid="19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animBg="1"/>
      <p:bldP spid="110694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smtClean="0"/>
              <a:t>三个程序对应数据文件</a:t>
            </a:r>
          </a:p>
        </p:txBody>
      </p:sp>
      <p:sp>
        <p:nvSpPr>
          <p:cNvPr id="20483" name="内容占位符 2"/>
          <p:cNvSpPr>
            <a:spLocks noGrp="1"/>
          </p:cNvSpPr>
          <p:nvPr>
            <p:ph idx="1"/>
          </p:nvPr>
        </p:nvSpPr>
        <p:spPr/>
        <p:txBody>
          <a:bodyPr/>
          <a:lstStyle/>
          <a:p>
            <a:pPr>
              <a:buFont typeface="Wingdings" pitchFamily="2" charset="2"/>
              <a:buNone/>
            </a:pPr>
            <a:r>
              <a:rPr lang="zh-CN" altLang="en-US" b="1" smtClean="0"/>
              <a:t>（</a:t>
            </a:r>
            <a:r>
              <a:rPr lang="en-US" altLang="zh-CN" b="1" smtClean="0"/>
              <a:t>1</a:t>
            </a:r>
            <a:r>
              <a:rPr lang="zh-CN" altLang="en-US" b="1" smtClean="0"/>
              <a:t>）学生处</a:t>
            </a:r>
            <a:endParaRPr lang="en-US" altLang="zh-CN" b="1" smtClean="0"/>
          </a:p>
          <a:p>
            <a:pPr>
              <a:buFont typeface="Wingdings" pitchFamily="2" charset="2"/>
              <a:buNone/>
            </a:pPr>
            <a:r>
              <a:rPr lang="zh-CN" altLang="en-US" b="1" smtClean="0"/>
              <a:t>学号，姓名，性别，院系，年级，专业，</a:t>
            </a:r>
            <a:r>
              <a:rPr lang="zh-CN" altLang="en-US" b="1" smtClean="0">
                <a:solidFill>
                  <a:srgbClr val="FF0000"/>
                </a:solidFill>
              </a:rPr>
              <a:t>年龄，籍贯，政治面貌，家庭住址，联系电话</a:t>
            </a:r>
            <a:endParaRPr lang="en-US" altLang="zh-CN" b="1" smtClean="0">
              <a:solidFill>
                <a:srgbClr val="FF0000"/>
              </a:solidFill>
            </a:endParaRPr>
          </a:p>
          <a:p>
            <a:pPr>
              <a:buFont typeface="Wingdings" pitchFamily="2" charset="2"/>
              <a:buNone/>
            </a:pPr>
            <a:r>
              <a:rPr lang="zh-CN" altLang="en-US" b="1" smtClean="0"/>
              <a:t>（</a:t>
            </a:r>
            <a:r>
              <a:rPr lang="en-US" altLang="zh-CN" b="1" smtClean="0"/>
              <a:t>2</a:t>
            </a:r>
            <a:r>
              <a:rPr lang="zh-CN" altLang="en-US" b="1" smtClean="0"/>
              <a:t>）教务处</a:t>
            </a:r>
            <a:endParaRPr lang="en-US" altLang="zh-CN" b="1" smtClean="0"/>
          </a:p>
          <a:p>
            <a:pPr>
              <a:buFont typeface="Wingdings" pitchFamily="2" charset="2"/>
              <a:buNone/>
            </a:pPr>
            <a:r>
              <a:rPr lang="zh-CN" altLang="en-US" b="1" smtClean="0"/>
              <a:t>学号，姓名，性别，院系，年级，专业，</a:t>
            </a:r>
            <a:r>
              <a:rPr lang="zh-CN" altLang="en-US" b="1" smtClean="0">
                <a:solidFill>
                  <a:srgbClr val="FF0000"/>
                </a:solidFill>
              </a:rPr>
              <a:t>课程名，分数</a:t>
            </a:r>
            <a:endParaRPr lang="en-US" altLang="zh-CN" b="1" smtClean="0">
              <a:solidFill>
                <a:srgbClr val="FF0000"/>
              </a:solidFill>
            </a:endParaRPr>
          </a:p>
          <a:p>
            <a:pPr>
              <a:buFont typeface="Wingdings" pitchFamily="2" charset="2"/>
              <a:buNone/>
            </a:pPr>
            <a:r>
              <a:rPr lang="zh-CN" altLang="en-US" b="1" smtClean="0"/>
              <a:t>（</a:t>
            </a:r>
            <a:r>
              <a:rPr lang="en-US" altLang="zh-CN" b="1" smtClean="0"/>
              <a:t>3</a:t>
            </a:r>
            <a:r>
              <a:rPr lang="zh-CN" altLang="en-US" b="1" smtClean="0"/>
              <a:t>）校医院</a:t>
            </a:r>
            <a:endParaRPr lang="en-US" altLang="zh-CN" b="1" smtClean="0"/>
          </a:p>
          <a:p>
            <a:pPr>
              <a:buFont typeface="Wingdings" pitchFamily="2" charset="2"/>
              <a:buNone/>
            </a:pPr>
            <a:r>
              <a:rPr lang="zh-CN" altLang="en-US" b="1" smtClean="0"/>
              <a:t>学号，姓名，性别，院系，年级，专业，</a:t>
            </a:r>
            <a:r>
              <a:rPr lang="zh-CN" altLang="en-US" b="1" smtClean="0">
                <a:solidFill>
                  <a:srgbClr val="FF0000"/>
                </a:solidFill>
              </a:rPr>
              <a:t>年龄，身高，体重，健康状况</a:t>
            </a:r>
          </a:p>
        </p:txBody>
      </p:sp>
    </p:spTree>
  </p:cSld>
  <p:clrMapOvr>
    <a:masterClrMapping/>
  </p:clrMapOvr>
  <p:transition advClick="0"/>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67B44244-B1BF-4D8D-ABC4-DC2537E1B7CC}" type="slidenum">
              <a:rPr lang="en-US" altLang="zh-CN" smtClean="0"/>
              <a:pPr algn="l" eaLnBrk="1" hangingPunct="1"/>
              <a:t>14</a:t>
            </a:fld>
            <a:endParaRPr lang="en-US" altLang="zh-CN" smtClean="0"/>
          </a:p>
        </p:txBody>
      </p:sp>
      <p:sp>
        <p:nvSpPr>
          <p:cNvPr id="21507" name="Rectangle 2"/>
          <p:cNvSpPr>
            <a:spLocks noGrp="1" noChangeArrowheads="1"/>
          </p:cNvSpPr>
          <p:nvPr>
            <p:ph type="title"/>
          </p:nvPr>
        </p:nvSpPr>
        <p:spPr>
          <a:xfrm>
            <a:off x="0" y="71438"/>
            <a:ext cx="8964613" cy="846137"/>
          </a:xfrm>
        </p:spPr>
        <p:txBody>
          <a:bodyPr/>
          <a:lstStyle/>
          <a:p>
            <a:pPr eaLnBrk="1" hangingPunct="1"/>
            <a:r>
              <a:rPr lang="zh-CN" altLang="en-US" sz="3600" b="1" smtClean="0"/>
              <a:t>应用程序与数据的对应关系</a:t>
            </a:r>
            <a:r>
              <a:rPr lang="en-US" altLang="zh-CN" sz="3600" b="1" smtClean="0"/>
              <a:t>(</a:t>
            </a:r>
            <a:r>
              <a:rPr lang="zh-CN" altLang="en-US" sz="3600" b="1" smtClean="0"/>
              <a:t>人工管理阶段</a:t>
            </a:r>
            <a:r>
              <a:rPr lang="en-US" altLang="zh-CN" sz="3600" b="1" smtClean="0"/>
              <a:t>)</a:t>
            </a:r>
          </a:p>
        </p:txBody>
      </p:sp>
      <p:grpSp>
        <p:nvGrpSpPr>
          <p:cNvPr id="21508" name="Group 4"/>
          <p:cNvGrpSpPr>
            <a:grpSpLocks/>
          </p:cNvGrpSpPr>
          <p:nvPr/>
        </p:nvGrpSpPr>
        <p:grpSpPr bwMode="auto">
          <a:xfrm>
            <a:off x="539750" y="1245096"/>
            <a:ext cx="5105400" cy="3048000"/>
            <a:chOff x="1632" y="1248"/>
            <a:chExt cx="3216" cy="1920"/>
          </a:xfrm>
        </p:grpSpPr>
        <p:grpSp>
          <p:nvGrpSpPr>
            <p:cNvPr id="21510" name="Group 5"/>
            <p:cNvGrpSpPr>
              <a:grpSpLocks/>
            </p:cNvGrpSpPr>
            <p:nvPr/>
          </p:nvGrpSpPr>
          <p:grpSpPr bwMode="auto">
            <a:xfrm>
              <a:off x="1632" y="1248"/>
              <a:ext cx="3168" cy="816"/>
              <a:chOff x="2854" y="10353"/>
              <a:chExt cx="3570" cy="1256"/>
            </a:xfrm>
          </p:grpSpPr>
          <p:sp>
            <p:nvSpPr>
              <p:cNvPr id="21517" name="Text Box 6"/>
              <p:cNvSpPr txBox="1">
                <a:spLocks noChangeArrowheads="1"/>
              </p:cNvSpPr>
              <p:nvPr/>
            </p:nvSpPr>
            <p:spPr bwMode="auto">
              <a:xfrm>
                <a:off x="2854" y="10353"/>
                <a:ext cx="1260" cy="47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kumimoji="1" lang="zh-CN" altLang="en-US" sz="2400" dirty="0">
                    <a:latin typeface="楷体_GB2312" pitchFamily="49" charset="-122"/>
                    <a:ea typeface="楷体_GB2312" pitchFamily="49" charset="-122"/>
                  </a:rPr>
                  <a:t>应用程序</a:t>
                </a:r>
                <a:r>
                  <a:rPr kumimoji="1" lang="en-US" altLang="zh-CN" sz="2400" dirty="0">
                    <a:latin typeface="楷体_GB2312" pitchFamily="49" charset="-122"/>
                    <a:ea typeface="楷体_GB2312" pitchFamily="49" charset="-122"/>
                  </a:rPr>
                  <a:t>1</a:t>
                </a:r>
                <a:endParaRPr kumimoji="1" lang="en-US" altLang="zh-CN" sz="2800" dirty="0">
                  <a:latin typeface="楷体_GB2312" pitchFamily="49" charset="-122"/>
                  <a:ea typeface="楷体_GB2312" pitchFamily="49" charset="-122"/>
                </a:endParaRPr>
              </a:p>
            </p:txBody>
          </p:sp>
          <p:sp>
            <p:nvSpPr>
              <p:cNvPr id="21518" name="Text Box 7"/>
              <p:cNvSpPr txBox="1">
                <a:spLocks noChangeArrowheads="1"/>
              </p:cNvSpPr>
              <p:nvPr/>
            </p:nvSpPr>
            <p:spPr bwMode="auto">
              <a:xfrm>
                <a:off x="5269" y="10353"/>
                <a:ext cx="1155" cy="47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kumimoji="1" lang="zh-CN" altLang="en-US" sz="2400">
                    <a:latin typeface="楷体_GB2312" pitchFamily="49" charset="-122"/>
                    <a:ea typeface="楷体_GB2312" pitchFamily="49" charset="-122"/>
                  </a:rPr>
                  <a:t>数据集</a:t>
                </a:r>
                <a:r>
                  <a:rPr kumimoji="1" lang="en-US" altLang="zh-CN" sz="2400">
                    <a:latin typeface="楷体_GB2312" pitchFamily="49" charset="-122"/>
                    <a:ea typeface="楷体_GB2312" pitchFamily="49" charset="-122"/>
                  </a:rPr>
                  <a:t>1</a:t>
                </a:r>
              </a:p>
            </p:txBody>
          </p:sp>
          <p:sp>
            <p:nvSpPr>
              <p:cNvPr id="21519" name="Line 8"/>
              <p:cNvSpPr>
                <a:spLocks noChangeShapeType="1"/>
              </p:cNvSpPr>
              <p:nvPr/>
            </p:nvSpPr>
            <p:spPr bwMode="auto">
              <a:xfrm>
                <a:off x="4114" y="10667"/>
                <a:ext cx="11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0" name="Text Box 9"/>
              <p:cNvSpPr txBox="1">
                <a:spLocks noChangeArrowheads="1"/>
              </p:cNvSpPr>
              <p:nvPr/>
            </p:nvSpPr>
            <p:spPr bwMode="auto">
              <a:xfrm>
                <a:off x="2854" y="11138"/>
                <a:ext cx="1260" cy="47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just" eaLnBrk="1" hangingPunct="1"/>
                <a:r>
                  <a:rPr kumimoji="1" lang="zh-CN" altLang="en-US" sz="2400">
                    <a:latin typeface="楷体_GB2312" pitchFamily="49" charset="-122"/>
                    <a:ea typeface="楷体_GB2312" pitchFamily="49" charset="-122"/>
                  </a:rPr>
                  <a:t>应用程序</a:t>
                </a:r>
                <a:r>
                  <a:rPr kumimoji="1" lang="en-US" altLang="zh-CN" sz="2400">
                    <a:latin typeface="楷体_GB2312" pitchFamily="49" charset="-122"/>
                    <a:ea typeface="楷体_GB2312" pitchFamily="49" charset="-122"/>
                  </a:rPr>
                  <a:t>2</a:t>
                </a:r>
                <a:endParaRPr kumimoji="1" lang="en-US" altLang="zh-CN" sz="1000">
                  <a:latin typeface="楷体_GB2312" pitchFamily="49" charset="-122"/>
                  <a:ea typeface="楷体_GB2312" pitchFamily="49" charset="-122"/>
                </a:endParaRPr>
              </a:p>
            </p:txBody>
          </p:sp>
          <p:sp>
            <p:nvSpPr>
              <p:cNvPr id="21521" name="Text Box 10"/>
              <p:cNvSpPr txBox="1">
                <a:spLocks noChangeArrowheads="1"/>
              </p:cNvSpPr>
              <p:nvPr/>
            </p:nvSpPr>
            <p:spPr bwMode="auto">
              <a:xfrm>
                <a:off x="5269" y="11138"/>
                <a:ext cx="1155" cy="47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kumimoji="1" lang="zh-CN" altLang="en-US" sz="2400">
                    <a:latin typeface="楷体_GB2312" pitchFamily="49" charset="-122"/>
                    <a:ea typeface="楷体_GB2312" pitchFamily="49" charset="-122"/>
                  </a:rPr>
                  <a:t>数据集</a:t>
                </a:r>
                <a:r>
                  <a:rPr kumimoji="1" lang="en-US" altLang="zh-CN" sz="2400">
                    <a:latin typeface="楷体_GB2312" pitchFamily="49" charset="-122"/>
                    <a:ea typeface="楷体_GB2312" pitchFamily="49" charset="-122"/>
                  </a:rPr>
                  <a:t>2</a:t>
                </a:r>
              </a:p>
            </p:txBody>
          </p:sp>
          <p:sp>
            <p:nvSpPr>
              <p:cNvPr id="21522" name="Line 11"/>
              <p:cNvSpPr>
                <a:spLocks noChangeShapeType="1"/>
              </p:cNvSpPr>
              <p:nvPr/>
            </p:nvSpPr>
            <p:spPr bwMode="auto">
              <a:xfrm>
                <a:off x="4114" y="11452"/>
                <a:ext cx="11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1511" name="Group 12"/>
            <p:cNvGrpSpPr>
              <a:grpSpLocks/>
            </p:cNvGrpSpPr>
            <p:nvPr/>
          </p:nvGrpSpPr>
          <p:grpSpPr bwMode="auto">
            <a:xfrm>
              <a:off x="1632" y="2832"/>
              <a:ext cx="3216" cy="336"/>
              <a:chOff x="2854" y="13022"/>
              <a:chExt cx="3570" cy="471"/>
            </a:xfrm>
          </p:grpSpPr>
          <p:sp>
            <p:nvSpPr>
              <p:cNvPr id="21514" name="Text Box 13"/>
              <p:cNvSpPr txBox="1">
                <a:spLocks noChangeArrowheads="1"/>
              </p:cNvSpPr>
              <p:nvPr/>
            </p:nvSpPr>
            <p:spPr bwMode="auto">
              <a:xfrm>
                <a:off x="2854" y="13022"/>
                <a:ext cx="1260" cy="47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kumimoji="1" lang="zh-CN" altLang="en-US" sz="2400">
                    <a:latin typeface="楷体_GB2312" pitchFamily="49" charset="-122"/>
                    <a:ea typeface="楷体_GB2312" pitchFamily="49" charset="-122"/>
                  </a:rPr>
                  <a:t>应用程序ｎ</a:t>
                </a:r>
              </a:p>
            </p:txBody>
          </p:sp>
          <p:sp>
            <p:nvSpPr>
              <p:cNvPr id="21515" name="Text Box 14"/>
              <p:cNvSpPr txBox="1">
                <a:spLocks noChangeArrowheads="1"/>
              </p:cNvSpPr>
              <p:nvPr/>
            </p:nvSpPr>
            <p:spPr bwMode="auto">
              <a:xfrm>
                <a:off x="5269" y="13022"/>
                <a:ext cx="1155" cy="47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kumimoji="1" lang="zh-CN" altLang="en-US" sz="2400">
                    <a:latin typeface="楷体_GB2312" pitchFamily="49" charset="-122"/>
                    <a:ea typeface="楷体_GB2312" pitchFamily="49" charset="-122"/>
                  </a:rPr>
                  <a:t>数据集</a:t>
                </a:r>
                <a:r>
                  <a:rPr kumimoji="1" lang="en-US" altLang="zh-CN" sz="2400">
                    <a:latin typeface="楷体_GB2312" pitchFamily="49" charset="-122"/>
                    <a:ea typeface="楷体_GB2312" pitchFamily="49" charset="-122"/>
                  </a:rPr>
                  <a:t>n</a:t>
                </a:r>
              </a:p>
            </p:txBody>
          </p:sp>
          <p:sp>
            <p:nvSpPr>
              <p:cNvPr id="21516" name="Line 15"/>
              <p:cNvSpPr>
                <a:spLocks noChangeShapeType="1"/>
              </p:cNvSpPr>
              <p:nvPr/>
            </p:nvSpPr>
            <p:spPr bwMode="auto">
              <a:xfrm>
                <a:off x="4114" y="13336"/>
                <a:ext cx="11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512" name="Text Box 16"/>
            <p:cNvSpPr txBox="1">
              <a:spLocks noChangeArrowheads="1"/>
            </p:cNvSpPr>
            <p:nvPr/>
          </p:nvSpPr>
          <p:spPr bwMode="auto">
            <a:xfrm>
              <a:off x="1872" y="2304"/>
              <a:ext cx="5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000">
                  <a:latin typeface="楷体_GB2312" pitchFamily="49" charset="-122"/>
                  <a:ea typeface="楷体_GB2312" pitchFamily="49" charset="-122"/>
                </a:rPr>
                <a:t>...</a:t>
              </a:r>
              <a:r>
                <a:rPr kumimoji="1" lang="en-US" altLang="zh-CN" sz="2000">
                  <a:latin typeface="Times New Roman" pitchFamily="18" charset="0"/>
                  <a:ea typeface="楷体_GB2312" pitchFamily="49" charset="-122"/>
                </a:rPr>
                <a:t>…</a:t>
              </a:r>
              <a:endParaRPr kumimoji="1" lang="en-US" altLang="zh-CN" sz="2000">
                <a:latin typeface="楷体_GB2312" pitchFamily="49" charset="-122"/>
                <a:ea typeface="楷体_GB2312" pitchFamily="49" charset="-122"/>
              </a:endParaRPr>
            </a:p>
          </p:txBody>
        </p:sp>
        <p:sp>
          <p:nvSpPr>
            <p:cNvPr id="21513" name="Text Box 17"/>
            <p:cNvSpPr txBox="1">
              <a:spLocks noChangeArrowheads="1"/>
            </p:cNvSpPr>
            <p:nvPr/>
          </p:nvSpPr>
          <p:spPr bwMode="auto">
            <a:xfrm>
              <a:off x="3936" y="2304"/>
              <a:ext cx="5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000">
                  <a:latin typeface="楷体_GB2312" pitchFamily="49" charset="-122"/>
                  <a:ea typeface="楷体_GB2312" pitchFamily="49" charset="-122"/>
                </a:rPr>
                <a:t>...</a:t>
              </a:r>
              <a:r>
                <a:rPr kumimoji="1" lang="en-US" altLang="zh-CN" sz="2000">
                  <a:latin typeface="Times New Roman" pitchFamily="18" charset="0"/>
                  <a:ea typeface="楷体_GB2312" pitchFamily="49" charset="-122"/>
                </a:rPr>
                <a:t>…</a:t>
              </a:r>
              <a:endParaRPr kumimoji="1" lang="en-US" altLang="zh-CN" sz="2000">
                <a:latin typeface="楷体_GB2312" pitchFamily="49" charset="-122"/>
                <a:ea typeface="楷体_GB2312" pitchFamily="49" charset="-122"/>
              </a:endParaRPr>
            </a:p>
          </p:txBody>
        </p:sp>
      </p:grpSp>
      <p:sp>
        <p:nvSpPr>
          <p:cNvPr id="21509" name="TextBox 1"/>
          <p:cNvSpPr txBox="1">
            <a:spLocks noChangeArrowheads="1"/>
          </p:cNvSpPr>
          <p:nvPr/>
        </p:nvSpPr>
        <p:spPr bwMode="auto">
          <a:xfrm>
            <a:off x="6084888" y="1052736"/>
            <a:ext cx="2590800" cy="513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lnSpc>
                <a:spcPct val="130000"/>
              </a:lnSpc>
            </a:pPr>
            <a:r>
              <a:rPr lang="en-US" altLang="zh-CN" sz="2800" b="1" dirty="0"/>
              <a:t>1.</a:t>
            </a:r>
            <a:r>
              <a:rPr lang="zh-CN" altLang="en-US" sz="2800" b="1" dirty="0"/>
              <a:t>数据</a:t>
            </a:r>
            <a:r>
              <a:rPr lang="zh-CN" altLang="en-US" sz="2800" b="1" dirty="0">
                <a:solidFill>
                  <a:srgbClr val="FF0000"/>
                </a:solidFill>
              </a:rPr>
              <a:t>不保存</a:t>
            </a:r>
            <a:endParaRPr lang="en-US" altLang="zh-CN" sz="2800" b="1" dirty="0">
              <a:solidFill>
                <a:srgbClr val="FF0000"/>
              </a:solidFill>
            </a:endParaRPr>
          </a:p>
          <a:p>
            <a:pPr eaLnBrk="1" hangingPunct="1">
              <a:lnSpc>
                <a:spcPct val="130000"/>
              </a:lnSpc>
            </a:pPr>
            <a:r>
              <a:rPr lang="en-US" altLang="zh-CN" sz="2800" b="1" dirty="0"/>
              <a:t>2.</a:t>
            </a:r>
            <a:r>
              <a:rPr lang="zh-CN" altLang="en-US" sz="2800" b="1" dirty="0"/>
              <a:t>应用程序管理数据，</a:t>
            </a:r>
            <a:r>
              <a:rPr lang="zh-CN" altLang="en-US" sz="2800" b="1" dirty="0">
                <a:solidFill>
                  <a:srgbClr val="FF0000"/>
                </a:solidFill>
              </a:rPr>
              <a:t>没有</a:t>
            </a:r>
            <a:r>
              <a:rPr lang="zh-CN" altLang="en-US" sz="2800" b="1" dirty="0"/>
              <a:t>相应的</a:t>
            </a:r>
            <a:r>
              <a:rPr lang="zh-CN" altLang="en-US" sz="2800" b="1" dirty="0">
                <a:solidFill>
                  <a:srgbClr val="FF0000"/>
                </a:solidFill>
              </a:rPr>
              <a:t>软件</a:t>
            </a:r>
            <a:r>
              <a:rPr lang="zh-CN" altLang="en-US" sz="2800" b="1" dirty="0"/>
              <a:t>管理数据</a:t>
            </a:r>
            <a:endParaRPr lang="en-US" altLang="zh-CN" sz="2800" b="1" dirty="0"/>
          </a:p>
          <a:p>
            <a:pPr eaLnBrk="1" hangingPunct="1">
              <a:lnSpc>
                <a:spcPct val="130000"/>
              </a:lnSpc>
            </a:pPr>
            <a:r>
              <a:rPr lang="en-US" altLang="zh-CN" sz="2800" b="1" dirty="0"/>
              <a:t>3.</a:t>
            </a:r>
            <a:r>
              <a:rPr lang="zh-CN" altLang="en-US" sz="2800" b="1" dirty="0"/>
              <a:t>数据</a:t>
            </a:r>
            <a:r>
              <a:rPr lang="zh-CN" altLang="en-US" sz="2800" b="1" dirty="0">
                <a:solidFill>
                  <a:srgbClr val="FF0000"/>
                </a:solidFill>
              </a:rPr>
              <a:t>不共享</a:t>
            </a:r>
            <a:endParaRPr lang="en-US" altLang="zh-CN" sz="2800" b="1" dirty="0">
              <a:solidFill>
                <a:srgbClr val="FF0000"/>
              </a:solidFill>
            </a:endParaRPr>
          </a:p>
          <a:p>
            <a:pPr eaLnBrk="1" hangingPunct="1">
              <a:lnSpc>
                <a:spcPct val="130000"/>
              </a:lnSpc>
            </a:pPr>
            <a:r>
              <a:rPr lang="en-US" altLang="zh-CN" sz="2800" b="1" dirty="0"/>
              <a:t>4.</a:t>
            </a:r>
            <a:r>
              <a:rPr lang="zh-CN" altLang="en-US" sz="2800" b="1" dirty="0"/>
              <a:t>数据</a:t>
            </a:r>
            <a:r>
              <a:rPr lang="zh-CN" altLang="en-US" sz="2800" b="1" dirty="0">
                <a:solidFill>
                  <a:srgbClr val="FF0000"/>
                </a:solidFill>
              </a:rPr>
              <a:t>不</a:t>
            </a:r>
            <a:r>
              <a:rPr lang="zh-CN" altLang="en-US" sz="2800" b="1" dirty="0"/>
              <a:t>具有</a:t>
            </a:r>
            <a:r>
              <a:rPr lang="zh-CN" altLang="en-US" sz="2800" b="1" dirty="0" smtClean="0">
                <a:solidFill>
                  <a:srgbClr val="FF0000"/>
                </a:solidFill>
              </a:rPr>
              <a:t>独立性。程序员负担大。</a:t>
            </a:r>
            <a:endParaRPr lang="en-US" altLang="zh-CN" sz="2800" b="1" dirty="0">
              <a:solidFill>
                <a:srgbClr val="FF0000"/>
              </a:solidFill>
            </a:endParaRPr>
          </a:p>
        </p:txBody>
      </p:sp>
      <p:sp>
        <p:nvSpPr>
          <p:cNvPr id="19" name="TextBox 22"/>
          <p:cNvSpPr txBox="1">
            <a:spLocks noChangeArrowheads="1"/>
          </p:cNvSpPr>
          <p:nvPr/>
        </p:nvSpPr>
        <p:spPr bwMode="auto">
          <a:xfrm>
            <a:off x="359241" y="4916112"/>
            <a:ext cx="5616575" cy="1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lnSpc>
                <a:spcPct val="130000"/>
              </a:lnSpc>
            </a:pPr>
            <a:r>
              <a:rPr lang="zh-CN" altLang="en-US" sz="2800" b="1" dirty="0" smtClean="0"/>
              <a:t>无磁盘，只有纸带、卡片、磁带；</a:t>
            </a:r>
            <a:endParaRPr lang="en-US" altLang="zh-CN" sz="2800" b="1" dirty="0" smtClean="0"/>
          </a:p>
          <a:p>
            <a:pPr eaLnBrk="1" hangingPunct="1">
              <a:lnSpc>
                <a:spcPct val="130000"/>
              </a:lnSpc>
            </a:pPr>
            <a:r>
              <a:rPr lang="zh-CN" altLang="en-US" sz="2800" b="1" dirty="0" smtClean="0"/>
              <a:t>无操作系统。</a:t>
            </a:r>
            <a:endParaRPr lang="en-US" altLang="zh-CN" sz="2800" b="1" dirty="0"/>
          </a:p>
        </p:txBody>
      </p:sp>
    </p:spTree>
  </p:cSld>
  <p:clrMapOvr>
    <a:masterClrMapping/>
  </p:clrMapOvr>
  <p:transition advClick="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48A24245-32C4-487B-9BDF-621E0C0CA966}" type="slidenum">
              <a:rPr lang="en-US" altLang="zh-CN" smtClean="0"/>
              <a:pPr eaLnBrk="1" hangingPunct="1"/>
              <a:t>15</a:t>
            </a:fld>
            <a:endParaRPr lang="en-US" altLang="zh-CN" smtClean="0"/>
          </a:p>
        </p:txBody>
      </p:sp>
      <p:sp>
        <p:nvSpPr>
          <p:cNvPr id="22531" name="Rectangle 2"/>
          <p:cNvSpPr>
            <a:spLocks noGrp="1" noChangeArrowheads="1"/>
          </p:cNvSpPr>
          <p:nvPr>
            <p:ph type="title"/>
          </p:nvPr>
        </p:nvSpPr>
        <p:spPr>
          <a:xfrm>
            <a:off x="684213" y="142875"/>
            <a:ext cx="7924800" cy="830263"/>
          </a:xfrm>
        </p:spPr>
        <p:txBody>
          <a:bodyPr/>
          <a:lstStyle/>
          <a:p>
            <a:pPr eaLnBrk="1" hangingPunct="1"/>
            <a:r>
              <a:rPr lang="zh-CN" altLang="en-US" sz="3600" b="1" smtClean="0"/>
              <a:t>应用程序与数据的对应关系</a:t>
            </a:r>
            <a:r>
              <a:rPr lang="en-US" altLang="zh-CN" sz="3600" b="1" smtClean="0"/>
              <a:t>(</a:t>
            </a:r>
            <a:r>
              <a:rPr lang="zh-CN" altLang="en-US" sz="3600" b="1" smtClean="0"/>
              <a:t>文件系统</a:t>
            </a:r>
            <a:r>
              <a:rPr lang="en-US" altLang="zh-CN" sz="3600" b="1" smtClean="0"/>
              <a:t>)</a:t>
            </a:r>
          </a:p>
        </p:txBody>
      </p:sp>
      <p:grpSp>
        <p:nvGrpSpPr>
          <p:cNvPr id="22532" name="Group 3"/>
          <p:cNvGrpSpPr>
            <a:grpSpLocks/>
          </p:cNvGrpSpPr>
          <p:nvPr/>
        </p:nvGrpSpPr>
        <p:grpSpPr bwMode="auto">
          <a:xfrm>
            <a:off x="395288" y="1628775"/>
            <a:ext cx="5410200" cy="4038600"/>
            <a:chOff x="1680" y="1152"/>
            <a:chExt cx="3216" cy="2544"/>
          </a:xfrm>
        </p:grpSpPr>
        <p:sp>
          <p:nvSpPr>
            <p:cNvPr id="22535" name="Text Box 4"/>
            <p:cNvSpPr txBox="1">
              <a:spLocks noChangeArrowheads="1"/>
            </p:cNvSpPr>
            <p:nvPr/>
          </p:nvSpPr>
          <p:spPr bwMode="auto">
            <a:xfrm>
              <a:off x="1680" y="1152"/>
              <a:ext cx="1072" cy="36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kumimoji="1" lang="zh-CN" altLang="en-US" sz="2400">
                  <a:latin typeface="Times New Roman" pitchFamily="18" charset="0"/>
                  <a:ea typeface="楷体_GB2312" pitchFamily="49" charset="-122"/>
                </a:rPr>
                <a:t>应用程序１</a:t>
              </a:r>
              <a:endParaRPr kumimoji="1" lang="zh-CN" altLang="en-US" sz="2800">
                <a:latin typeface="Times New Roman" pitchFamily="18" charset="0"/>
                <a:ea typeface="楷体_GB2312" pitchFamily="49" charset="-122"/>
              </a:endParaRPr>
            </a:p>
          </p:txBody>
        </p:sp>
        <p:sp>
          <p:nvSpPr>
            <p:cNvPr id="22536" name="Text Box 5"/>
            <p:cNvSpPr txBox="1">
              <a:spLocks noChangeArrowheads="1"/>
            </p:cNvSpPr>
            <p:nvPr/>
          </p:nvSpPr>
          <p:spPr bwMode="auto">
            <a:xfrm>
              <a:off x="3913" y="1160"/>
              <a:ext cx="983" cy="36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kumimoji="1" lang="zh-CN" altLang="en-US" sz="2400">
                  <a:latin typeface="Times New Roman" pitchFamily="18" charset="0"/>
                  <a:ea typeface="楷体_GB2312" pitchFamily="49" charset="-122"/>
                </a:rPr>
                <a:t>文件１</a:t>
              </a:r>
            </a:p>
          </p:txBody>
        </p:sp>
        <p:sp>
          <p:nvSpPr>
            <p:cNvPr id="22537" name="Line 6"/>
            <p:cNvSpPr>
              <a:spLocks noChangeShapeType="1"/>
            </p:cNvSpPr>
            <p:nvPr/>
          </p:nvSpPr>
          <p:spPr bwMode="auto">
            <a:xfrm>
              <a:off x="2752" y="1401"/>
              <a:ext cx="1161"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38" name="Text Box 7"/>
            <p:cNvSpPr txBox="1">
              <a:spLocks noChangeArrowheads="1"/>
            </p:cNvSpPr>
            <p:nvPr/>
          </p:nvSpPr>
          <p:spPr bwMode="auto">
            <a:xfrm>
              <a:off x="1680" y="1762"/>
              <a:ext cx="1072" cy="36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kumimoji="1" lang="zh-CN" altLang="en-US" sz="2400">
                  <a:latin typeface="Times New Roman" pitchFamily="18" charset="0"/>
                  <a:ea typeface="楷体_GB2312" pitchFamily="49" charset="-122"/>
                </a:rPr>
                <a:t>应用程序２</a:t>
              </a:r>
            </a:p>
          </p:txBody>
        </p:sp>
        <p:sp>
          <p:nvSpPr>
            <p:cNvPr id="22539" name="Text Box 8"/>
            <p:cNvSpPr txBox="1">
              <a:spLocks noChangeArrowheads="1"/>
            </p:cNvSpPr>
            <p:nvPr/>
          </p:nvSpPr>
          <p:spPr bwMode="auto">
            <a:xfrm>
              <a:off x="3913" y="1762"/>
              <a:ext cx="983" cy="36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kumimoji="1" lang="zh-CN" altLang="en-US" sz="2400">
                  <a:latin typeface="楷体_GB2312" pitchFamily="49" charset="-122"/>
                  <a:ea typeface="楷体_GB2312" pitchFamily="49" charset="-122"/>
                </a:rPr>
                <a:t>文件</a:t>
              </a:r>
              <a:r>
                <a:rPr kumimoji="1" lang="en-US" altLang="zh-CN" sz="2400">
                  <a:latin typeface="楷体_GB2312" pitchFamily="49" charset="-122"/>
                  <a:ea typeface="楷体_GB2312" pitchFamily="49" charset="-122"/>
                </a:rPr>
                <a:t>2</a:t>
              </a:r>
            </a:p>
          </p:txBody>
        </p:sp>
        <p:sp>
          <p:nvSpPr>
            <p:cNvPr id="22540" name="Line 9"/>
            <p:cNvSpPr>
              <a:spLocks noChangeShapeType="1"/>
            </p:cNvSpPr>
            <p:nvPr/>
          </p:nvSpPr>
          <p:spPr bwMode="auto">
            <a:xfrm>
              <a:off x="2752" y="2003"/>
              <a:ext cx="1161"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1" name="Text Box 10"/>
            <p:cNvSpPr txBox="1">
              <a:spLocks noChangeArrowheads="1"/>
            </p:cNvSpPr>
            <p:nvPr/>
          </p:nvSpPr>
          <p:spPr bwMode="auto">
            <a:xfrm>
              <a:off x="1680" y="3335"/>
              <a:ext cx="1072" cy="36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just" eaLnBrk="1" hangingPunct="1"/>
              <a:r>
                <a:rPr kumimoji="1" lang="zh-CN" altLang="en-US" sz="2400">
                  <a:latin typeface="Times New Roman" pitchFamily="18" charset="0"/>
                  <a:ea typeface="楷体_GB2312" pitchFamily="49" charset="-122"/>
                </a:rPr>
                <a:t>应用程序ｎ</a:t>
              </a:r>
              <a:endParaRPr kumimoji="1" lang="zh-CN" altLang="en-US" sz="1000">
                <a:latin typeface="Times New Roman" pitchFamily="18" charset="0"/>
                <a:ea typeface="楷体_GB2312" pitchFamily="49" charset="-122"/>
              </a:endParaRPr>
            </a:p>
          </p:txBody>
        </p:sp>
        <p:sp>
          <p:nvSpPr>
            <p:cNvPr id="22542" name="Text Box 11"/>
            <p:cNvSpPr txBox="1">
              <a:spLocks noChangeArrowheads="1"/>
            </p:cNvSpPr>
            <p:nvPr/>
          </p:nvSpPr>
          <p:spPr bwMode="auto">
            <a:xfrm>
              <a:off x="3913" y="3331"/>
              <a:ext cx="974" cy="36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kumimoji="1" lang="zh-CN" altLang="en-US" sz="2400">
                  <a:latin typeface="楷体_GB2312" pitchFamily="49" charset="-122"/>
                  <a:ea typeface="楷体_GB2312" pitchFamily="49" charset="-122"/>
                </a:rPr>
                <a:t>文件</a:t>
              </a:r>
              <a:r>
                <a:rPr kumimoji="1" lang="en-US" altLang="zh-CN" sz="2400">
                  <a:latin typeface="楷体_GB2312" pitchFamily="49" charset="-122"/>
                  <a:ea typeface="楷体_GB2312" pitchFamily="49" charset="-122"/>
                </a:rPr>
                <a:t>n</a:t>
              </a:r>
            </a:p>
          </p:txBody>
        </p:sp>
        <p:sp>
          <p:nvSpPr>
            <p:cNvPr id="22543" name="Line 12"/>
            <p:cNvSpPr>
              <a:spLocks noChangeShapeType="1"/>
            </p:cNvSpPr>
            <p:nvPr/>
          </p:nvSpPr>
          <p:spPr bwMode="auto">
            <a:xfrm flipV="1">
              <a:off x="2752" y="3572"/>
              <a:ext cx="1161" cy="4"/>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4" name="Oval 13"/>
            <p:cNvSpPr>
              <a:spLocks noChangeArrowheads="1"/>
            </p:cNvSpPr>
            <p:nvPr/>
          </p:nvSpPr>
          <p:spPr bwMode="auto">
            <a:xfrm>
              <a:off x="2931" y="2363"/>
              <a:ext cx="867" cy="744"/>
            </a:xfrm>
            <a:prstGeom prst="ellipse">
              <a:avLst/>
            </a:prstGeom>
            <a:solidFill>
              <a:srgbClr val="FFFFFF"/>
            </a:solidFill>
            <a:ln w="9525">
              <a:solidFill>
                <a:srgbClr val="000000"/>
              </a:solidFill>
              <a:round/>
              <a:headEnd/>
              <a:tailEnd/>
            </a:ln>
          </p:spPr>
          <p:txBody>
            <a:bodyPr/>
            <a:lstStyle/>
            <a:p>
              <a:pPr algn="ctr"/>
              <a:r>
                <a:rPr kumimoji="1" lang="zh-CN" altLang="en-US" sz="2400">
                  <a:latin typeface="Times New Roman" pitchFamily="18" charset="0"/>
                  <a:ea typeface="楷体_GB2312" pitchFamily="49" charset="-122"/>
                </a:rPr>
                <a:t>存取方法</a:t>
              </a:r>
            </a:p>
          </p:txBody>
        </p:sp>
        <p:sp>
          <p:nvSpPr>
            <p:cNvPr id="22545" name="Line 14"/>
            <p:cNvSpPr>
              <a:spLocks noChangeShapeType="1"/>
            </p:cNvSpPr>
            <p:nvPr/>
          </p:nvSpPr>
          <p:spPr bwMode="auto">
            <a:xfrm>
              <a:off x="2752" y="1520"/>
              <a:ext cx="447" cy="8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6" name="Line 15"/>
            <p:cNvSpPr>
              <a:spLocks noChangeShapeType="1"/>
            </p:cNvSpPr>
            <p:nvPr/>
          </p:nvSpPr>
          <p:spPr bwMode="auto">
            <a:xfrm flipH="1">
              <a:off x="3467" y="1520"/>
              <a:ext cx="446" cy="8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7" name="Line 16"/>
            <p:cNvSpPr>
              <a:spLocks noChangeShapeType="1"/>
            </p:cNvSpPr>
            <p:nvPr/>
          </p:nvSpPr>
          <p:spPr bwMode="auto">
            <a:xfrm>
              <a:off x="2752" y="2122"/>
              <a:ext cx="268" cy="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8" name="Line 17"/>
            <p:cNvSpPr>
              <a:spLocks noChangeShapeType="1"/>
            </p:cNvSpPr>
            <p:nvPr/>
          </p:nvSpPr>
          <p:spPr bwMode="auto">
            <a:xfrm flipH="1">
              <a:off x="3645" y="2122"/>
              <a:ext cx="268" cy="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9" name="Freeform 18"/>
            <p:cNvSpPr>
              <a:spLocks/>
            </p:cNvSpPr>
            <p:nvPr/>
          </p:nvSpPr>
          <p:spPr bwMode="auto">
            <a:xfrm>
              <a:off x="2752" y="3044"/>
              <a:ext cx="351" cy="287"/>
            </a:xfrm>
            <a:custGeom>
              <a:avLst/>
              <a:gdLst>
                <a:gd name="T0" fmla="*/ 0 w 413"/>
                <a:gd name="T1" fmla="*/ 2 h 374"/>
                <a:gd name="T2" fmla="*/ 3 w 413"/>
                <a:gd name="T3" fmla="*/ 0 h 374"/>
                <a:gd name="T4" fmla="*/ 0 60000 65536"/>
                <a:gd name="T5" fmla="*/ 0 60000 65536"/>
                <a:gd name="T6" fmla="*/ 0 w 413"/>
                <a:gd name="T7" fmla="*/ 0 h 374"/>
                <a:gd name="T8" fmla="*/ 413 w 413"/>
                <a:gd name="T9" fmla="*/ 374 h 374"/>
              </a:gdLst>
              <a:ahLst/>
              <a:cxnLst>
                <a:cxn ang="T4">
                  <a:pos x="T0" y="T1"/>
                </a:cxn>
                <a:cxn ang="T5">
                  <a:pos x="T2" y="T3"/>
                </a:cxn>
              </a:cxnLst>
              <a:rect l="T6" t="T7" r="T8" b="T9"/>
              <a:pathLst>
                <a:path w="413" h="374">
                  <a:moveTo>
                    <a:pt x="0" y="374"/>
                  </a:moveTo>
                  <a:lnTo>
                    <a:pt x="413"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0" name="Freeform 19"/>
            <p:cNvSpPr>
              <a:spLocks/>
            </p:cNvSpPr>
            <p:nvPr/>
          </p:nvSpPr>
          <p:spPr bwMode="auto">
            <a:xfrm>
              <a:off x="3647" y="3033"/>
              <a:ext cx="267" cy="295"/>
            </a:xfrm>
            <a:custGeom>
              <a:avLst/>
              <a:gdLst>
                <a:gd name="T0" fmla="*/ 3 w 314"/>
                <a:gd name="T1" fmla="*/ 2 h 384"/>
                <a:gd name="T2" fmla="*/ 0 w 314"/>
                <a:gd name="T3" fmla="*/ 0 h 384"/>
                <a:gd name="T4" fmla="*/ 0 60000 65536"/>
                <a:gd name="T5" fmla="*/ 0 60000 65536"/>
                <a:gd name="T6" fmla="*/ 0 w 314"/>
                <a:gd name="T7" fmla="*/ 0 h 384"/>
                <a:gd name="T8" fmla="*/ 314 w 314"/>
                <a:gd name="T9" fmla="*/ 384 h 384"/>
              </a:gdLst>
              <a:ahLst/>
              <a:cxnLst>
                <a:cxn ang="T4">
                  <a:pos x="T0" y="T1"/>
                </a:cxn>
                <a:cxn ang="T5">
                  <a:pos x="T2" y="T3"/>
                </a:cxn>
              </a:cxnLst>
              <a:rect l="T6" t="T7" r="T8" b="T9"/>
              <a:pathLst>
                <a:path w="314" h="384">
                  <a:moveTo>
                    <a:pt x="314" y="384"/>
                  </a:moveTo>
                  <a:lnTo>
                    <a:pt x="0"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1" name="Text Box 20"/>
            <p:cNvSpPr txBox="1">
              <a:spLocks noChangeArrowheads="1"/>
            </p:cNvSpPr>
            <p:nvPr/>
          </p:nvSpPr>
          <p:spPr bwMode="auto">
            <a:xfrm>
              <a:off x="2033" y="2448"/>
              <a:ext cx="29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000">
                  <a:latin typeface="Times New Roman" pitchFamily="18" charset="0"/>
                </a:rPr>
                <a:t>...…</a:t>
              </a:r>
            </a:p>
          </p:txBody>
        </p:sp>
        <p:sp>
          <p:nvSpPr>
            <p:cNvPr id="22552" name="Text Box 21"/>
            <p:cNvSpPr txBox="1">
              <a:spLocks noChangeArrowheads="1"/>
            </p:cNvSpPr>
            <p:nvPr/>
          </p:nvSpPr>
          <p:spPr bwMode="auto">
            <a:xfrm>
              <a:off x="4289" y="2448"/>
              <a:ext cx="29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000">
                  <a:latin typeface="Times New Roman" pitchFamily="18" charset="0"/>
                </a:rPr>
                <a:t>...…</a:t>
              </a:r>
            </a:p>
          </p:txBody>
        </p:sp>
      </p:grpSp>
      <p:sp>
        <p:nvSpPr>
          <p:cNvPr id="22533" name="TextBox 22"/>
          <p:cNvSpPr txBox="1">
            <a:spLocks noChangeArrowheads="1"/>
          </p:cNvSpPr>
          <p:nvPr/>
        </p:nvSpPr>
        <p:spPr bwMode="auto">
          <a:xfrm>
            <a:off x="6084888" y="1257300"/>
            <a:ext cx="2808287" cy="401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lnSpc>
                <a:spcPct val="130000"/>
              </a:lnSpc>
            </a:pPr>
            <a:r>
              <a:rPr lang="en-US" altLang="zh-CN" sz="2800" b="1" dirty="0"/>
              <a:t>1.</a:t>
            </a:r>
            <a:r>
              <a:rPr lang="zh-CN" altLang="en-US" sz="2800" b="1" dirty="0"/>
              <a:t>数据可以长期</a:t>
            </a:r>
            <a:r>
              <a:rPr lang="zh-CN" altLang="en-US" sz="2800" b="1" dirty="0">
                <a:solidFill>
                  <a:srgbClr val="FF0000"/>
                </a:solidFill>
              </a:rPr>
              <a:t>保存</a:t>
            </a:r>
            <a:endParaRPr lang="en-US" altLang="zh-CN" sz="2800" b="1" dirty="0">
              <a:solidFill>
                <a:srgbClr val="FF0000"/>
              </a:solidFill>
            </a:endParaRPr>
          </a:p>
          <a:p>
            <a:pPr eaLnBrk="1" hangingPunct="1">
              <a:lnSpc>
                <a:spcPct val="130000"/>
              </a:lnSpc>
            </a:pPr>
            <a:r>
              <a:rPr lang="en-US" altLang="zh-CN" sz="2800" b="1" dirty="0"/>
              <a:t>2.</a:t>
            </a:r>
            <a:r>
              <a:rPr lang="zh-CN" altLang="en-US" sz="2800" b="1" dirty="0"/>
              <a:t>由</a:t>
            </a:r>
            <a:r>
              <a:rPr lang="zh-CN" altLang="en-US" sz="2800" b="1" dirty="0">
                <a:solidFill>
                  <a:srgbClr val="FF0000"/>
                </a:solidFill>
              </a:rPr>
              <a:t>文件系统</a:t>
            </a:r>
            <a:r>
              <a:rPr lang="zh-CN" altLang="en-US" sz="2800" b="1" dirty="0"/>
              <a:t>管理数据</a:t>
            </a:r>
            <a:endParaRPr lang="en-US" altLang="zh-CN" sz="2800" b="1" dirty="0"/>
          </a:p>
          <a:p>
            <a:pPr eaLnBrk="1" hangingPunct="1">
              <a:lnSpc>
                <a:spcPct val="130000"/>
              </a:lnSpc>
            </a:pPr>
            <a:r>
              <a:rPr lang="en-US" altLang="zh-CN" sz="2800" b="1" dirty="0"/>
              <a:t>3.</a:t>
            </a:r>
            <a:r>
              <a:rPr lang="zh-CN" altLang="en-US" sz="2800" b="1" dirty="0"/>
              <a:t>数据</a:t>
            </a:r>
            <a:r>
              <a:rPr lang="zh-CN" altLang="en-US" sz="2800" b="1" dirty="0">
                <a:solidFill>
                  <a:srgbClr val="FF0000"/>
                </a:solidFill>
              </a:rPr>
              <a:t>共享性差</a:t>
            </a:r>
            <a:r>
              <a:rPr lang="zh-CN" altLang="en-US" sz="2800" b="1" dirty="0"/>
              <a:t>，</a:t>
            </a:r>
            <a:r>
              <a:rPr lang="zh-CN" altLang="en-US" sz="2800" b="1" dirty="0">
                <a:solidFill>
                  <a:srgbClr val="FF0000"/>
                </a:solidFill>
              </a:rPr>
              <a:t>冗余度大</a:t>
            </a:r>
            <a:endParaRPr lang="en-US" altLang="zh-CN" sz="2800" b="1" dirty="0">
              <a:solidFill>
                <a:srgbClr val="FF0000"/>
              </a:solidFill>
            </a:endParaRPr>
          </a:p>
          <a:p>
            <a:pPr eaLnBrk="1" hangingPunct="1">
              <a:lnSpc>
                <a:spcPct val="130000"/>
              </a:lnSpc>
            </a:pPr>
            <a:r>
              <a:rPr lang="en-US" altLang="zh-CN" sz="2800" b="1" dirty="0"/>
              <a:t>4.</a:t>
            </a:r>
            <a:r>
              <a:rPr lang="zh-CN" altLang="en-US" sz="2800" b="1" dirty="0">
                <a:solidFill>
                  <a:srgbClr val="FF0000"/>
                </a:solidFill>
              </a:rPr>
              <a:t>数据独立性差</a:t>
            </a:r>
            <a:endParaRPr lang="en-US" altLang="zh-CN" sz="2800" b="1" dirty="0">
              <a:solidFill>
                <a:srgbClr val="FF0000"/>
              </a:solidFill>
            </a:endParaRPr>
          </a:p>
        </p:txBody>
      </p:sp>
      <p:sp>
        <p:nvSpPr>
          <p:cNvPr id="22534" name="TextBox 22"/>
          <p:cNvSpPr txBox="1">
            <a:spLocks noChangeArrowheads="1"/>
          </p:cNvSpPr>
          <p:nvPr/>
        </p:nvSpPr>
        <p:spPr bwMode="auto">
          <a:xfrm>
            <a:off x="468313" y="5589588"/>
            <a:ext cx="85677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lnSpc>
                <a:spcPct val="130000"/>
              </a:lnSpc>
            </a:pPr>
            <a:r>
              <a:rPr lang="zh-CN" altLang="en-US" sz="2800" b="1" dirty="0">
                <a:solidFill>
                  <a:srgbClr val="FF0000"/>
                </a:solidFill>
              </a:rPr>
              <a:t>文件系统提供：</a:t>
            </a:r>
            <a:r>
              <a:rPr lang="en-US" altLang="zh-CN" sz="2800" b="1" dirty="0" err="1"/>
              <a:t>fopen</a:t>
            </a:r>
            <a:r>
              <a:rPr lang="zh-CN" altLang="en-US" sz="2800" b="1" dirty="0"/>
              <a:t>，</a:t>
            </a:r>
            <a:r>
              <a:rPr lang="en-US" altLang="zh-CN" sz="2800" b="1" dirty="0" err="1"/>
              <a:t>fread</a:t>
            </a:r>
            <a:r>
              <a:rPr lang="zh-CN" altLang="en-US" sz="2800" b="1" dirty="0"/>
              <a:t>，</a:t>
            </a:r>
            <a:r>
              <a:rPr lang="en-US" altLang="zh-CN" sz="2800" b="1" dirty="0" err="1"/>
              <a:t>fwrite</a:t>
            </a:r>
            <a:r>
              <a:rPr lang="zh-CN" altLang="en-US" sz="2800" b="1" dirty="0"/>
              <a:t>，</a:t>
            </a:r>
            <a:r>
              <a:rPr lang="en-US" altLang="zh-CN" sz="2800" b="1" dirty="0" err="1"/>
              <a:t>fclose</a:t>
            </a:r>
            <a:endParaRPr lang="en-US" altLang="zh-CN" sz="2800" b="1" dirty="0"/>
          </a:p>
        </p:txBody>
      </p:sp>
    </p:spTree>
  </p:cSld>
  <p:clrMapOvr>
    <a:masterClrMapping/>
  </p:clrMapOvr>
  <p:transition advClick="0"/>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C4B70269-DB51-4EBF-8301-738CC177725B}" type="slidenum">
              <a:rPr lang="en-US" altLang="zh-CN" smtClean="0"/>
              <a:pPr eaLnBrk="1" hangingPunct="1"/>
              <a:t>16</a:t>
            </a:fld>
            <a:endParaRPr lang="en-US" altLang="zh-CN" smtClean="0"/>
          </a:p>
        </p:txBody>
      </p:sp>
      <p:sp>
        <p:nvSpPr>
          <p:cNvPr id="23555" name="Rectangle 2"/>
          <p:cNvSpPr>
            <a:spLocks noGrp="1" noChangeArrowheads="1"/>
          </p:cNvSpPr>
          <p:nvPr>
            <p:ph type="title"/>
          </p:nvPr>
        </p:nvSpPr>
        <p:spPr>
          <a:xfrm>
            <a:off x="201613" y="115888"/>
            <a:ext cx="8763000" cy="914400"/>
          </a:xfrm>
        </p:spPr>
        <p:txBody>
          <a:bodyPr/>
          <a:lstStyle/>
          <a:p>
            <a:pPr eaLnBrk="1" hangingPunct="1"/>
            <a:r>
              <a:rPr lang="zh-CN" altLang="en-US" sz="3700" b="1" smtClean="0"/>
              <a:t>应用程序与数据的对应关系</a:t>
            </a:r>
            <a:r>
              <a:rPr lang="en-US" altLang="zh-CN" sz="3700" b="1" smtClean="0"/>
              <a:t>(</a:t>
            </a:r>
            <a:r>
              <a:rPr lang="zh-CN" altLang="en-US" sz="3700" b="1" smtClean="0"/>
              <a:t>数据库系统</a:t>
            </a:r>
            <a:r>
              <a:rPr lang="en-US" altLang="zh-CN" sz="3700" b="1" smtClean="0"/>
              <a:t>)</a:t>
            </a:r>
            <a:endParaRPr lang="en-US" altLang="zh-CN" sz="4000" b="1" smtClean="0"/>
          </a:p>
        </p:txBody>
      </p:sp>
      <p:grpSp>
        <p:nvGrpSpPr>
          <p:cNvPr id="23556" name="Group 4"/>
          <p:cNvGrpSpPr>
            <a:grpSpLocks/>
          </p:cNvGrpSpPr>
          <p:nvPr/>
        </p:nvGrpSpPr>
        <p:grpSpPr bwMode="auto">
          <a:xfrm>
            <a:off x="179388" y="1412875"/>
            <a:ext cx="6121400" cy="3657600"/>
            <a:chOff x="1152" y="1248"/>
            <a:chExt cx="3856" cy="2304"/>
          </a:xfrm>
        </p:grpSpPr>
        <p:sp>
          <p:nvSpPr>
            <p:cNvPr id="23560" name="Line 5"/>
            <p:cNvSpPr>
              <a:spLocks noChangeShapeType="1"/>
            </p:cNvSpPr>
            <p:nvPr/>
          </p:nvSpPr>
          <p:spPr bwMode="auto">
            <a:xfrm>
              <a:off x="1216" y="3425"/>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1" name="Line 6"/>
            <p:cNvSpPr>
              <a:spLocks noChangeShapeType="1"/>
            </p:cNvSpPr>
            <p:nvPr/>
          </p:nvSpPr>
          <p:spPr bwMode="auto">
            <a:xfrm>
              <a:off x="1279" y="3171"/>
              <a:ext cx="64" cy="12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562" name="Group 7"/>
            <p:cNvGrpSpPr>
              <a:grpSpLocks/>
            </p:cNvGrpSpPr>
            <p:nvPr/>
          </p:nvGrpSpPr>
          <p:grpSpPr bwMode="auto">
            <a:xfrm>
              <a:off x="1152" y="2917"/>
              <a:ext cx="889" cy="635"/>
              <a:chOff x="1909" y="7370"/>
              <a:chExt cx="1470" cy="785"/>
            </a:xfrm>
          </p:grpSpPr>
          <p:grpSp>
            <p:nvGrpSpPr>
              <p:cNvPr id="23581" name="Group 8"/>
              <p:cNvGrpSpPr>
                <a:grpSpLocks/>
              </p:cNvGrpSpPr>
              <p:nvPr/>
            </p:nvGrpSpPr>
            <p:grpSpPr bwMode="auto">
              <a:xfrm>
                <a:off x="2224" y="7370"/>
                <a:ext cx="1155" cy="471"/>
                <a:chOff x="2119" y="7370"/>
                <a:chExt cx="1155" cy="471"/>
              </a:xfrm>
            </p:grpSpPr>
            <p:sp>
              <p:nvSpPr>
                <p:cNvPr id="23589" name="Rectangle 9"/>
                <p:cNvSpPr>
                  <a:spLocks noChangeArrowheads="1"/>
                </p:cNvSpPr>
                <p:nvPr/>
              </p:nvSpPr>
              <p:spPr bwMode="auto">
                <a:xfrm>
                  <a:off x="2224" y="7370"/>
                  <a:ext cx="1050" cy="314"/>
                </a:xfrm>
                <a:prstGeom prst="rect">
                  <a:avLst/>
                </a:prstGeom>
                <a:solidFill>
                  <a:srgbClr val="FFFFFF"/>
                </a:solidFill>
                <a:ln w="9525">
                  <a:solidFill>
                    <a:srgbClr val="000000"/>
                  </a:solidFill>
                  <a:miter lim="800000"/>
                  <a:headEnd/>
                  <a:tailEnd/>
                </a:ln>
              </p:spPr>
              <p:txBody>
                <a:bodyPr/>
                <a:lstStyle/>
                <a:p>
                  <a:endParaRPr lang="zh-CN" altLang="en-US"/>
                </a:p>
              </p:txBody>
            </p:sp>
            <p:sp>
              <p:nvSpPr>
                <p:cNvPr id="23590" name="Line 10"/>
                <p:cNvSpPr>
                  <a:spLocks noChangeShapeType="1"/>
                </p:cNvSpPr>
                <p:nvPr/>
              </p:nvSpPr>
              <p:spPr bwMode="auto">
                <a:xfrm flipH="1">
                  <a:off x="2119" y="7684"/>
                  <a:ext cx="105"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1" name="Line 11"/>
                <p:cNvSpPr>
                  <a:spLocks noChangeShapeType="1"/>
                </p:cNvSpPr>
                <p:nvPr/>
              </p:nvSpPr>
              <p:spPr bwMode="auto">
                <a:xfrm flipH="1">
                  <a:off x="3169" y="7684"/>
                  <a:ext cx="105"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2" name="Line 12"/>
                <p:cNvSpPr>
                  <a:spLocks noChangeShapeType="1"/>
                </p:cNvSpPr>
                <p:nvPr/>
              </p:nvSpPr>
              <p:spPr bwMode="auto">
                <a:xfrm>
                  <a:off x="2119" y="7841"/>
                  <a:ext cx="10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3582" name="Group 13"/>
              <p:cNvGrpSpPr>
                <a:grpSpLocks/>
              </p:cNvGrpSpPr>
              <p:nvPr/>
            </p:nvGrpSpPr>
            <p:grpSpPr bwMode="auto">
              <a:xfrm>
                <a:off x="1909" y="7527"/>
                <a:ext cx="420" cy="628"/>
                <a:chOff x="1909" y="7527"/>
                <a:chExt cx="420" cy="628"/>
              </a:xfrm>
            </p:grpSpPr>
            <p:grpSp>
              <p:nvGrpSpPr>
                <p:cNvPr id="23583" name="Group 14"/>
                <p:cNvGrpSpPr>
                  <a:grpSpLocks/>
                </p:cNvGrpSpPr>
                <p:nvPr/>
              </p:nvGrpSpPr>
              <p:grpSpPr bwMode="auto">
                <a:xfrm>
                  <a:off x="1909" y="7527"/>
                  <a:ext cx="261" cy="628"/>
                  <a:chOff x="1909" y="7527"/>
                  <a:chExt cx="261" cy="628"/>
                </a:xfrm>
              </p:grpSpPr>
              <p:sp>
                <p:nvSpPr>
                  <p:cNvPr id="23585" name="AutoShape 15"/>
                  <p:cNvSpPr>
                    <a:spLocks noChangeArrowheads="1"/>
                  </p:cNvSpPr>
                  <p:nvPr/>
                </p:nvSpPr>
                <p:spPr bwMode="auto">
                  <a:xfrm>
                    <a:off x="2065" y="7527"/>
                    <a:ext cx="105" cy="142"/>
                  </a:xfrm>
                  <a:prstGeom prst="flowChartConnector">
                    <a:avLst/>
                  </a:prstGeom>
                  <a:solidFill>
                    <a:srgbClr val="FFFFFF"/>
                  </a:solidFill>
                  <a:ln w="9525">
                    <a:solidFill>
                      <a:srgbClr val="000000"/>
                    </a:solidFill>
                    <a:round/>
                    <a:headEnd/>
                    <a:tailEnd/>
                  </a:ln>
                </p:spPr>
                <p:txBody>
                  <a:bodyPr/>
                  <a:lstStyle/>
                  <a:p>
                    <a:endParaRPr lang="zh-CN" altLang="en-US"/>
                  </a:p>
                </p:txBody>
              </p:sp>
              <p:sp>
                <p:nvSpPr>
                  <p:cNvPr id="23586" name="Arc 16"/>
                  <p:cNvSpPr>
                    <a:spLocks/>
                  </p:cNvSpPr>
                  <p:nvPr/>
                </p:nvSpPr>
                <p:spPr bwMode="auto">
                  <a:xfrm flipH="1">
                    <a:off x="2008" y="7684"/>
                    <a:ext cx="105" cy="31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87" name="Line 17"/>
                  <p:cNvSpPr>
                    <a:spLocks noChangeShapeType="1"/>
                  </p:cNvSpPr>
                  <p:nvPr/>
                </p:nvSpPr>
                <p:spPr bwMode="auto">
                  <a:xfrm>
                    <a:off x="2014" y="7998"/>
                    <a:ext cx="105"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8" name="Line 18"/>
                  <p:cNvSpPr>
                    <a:spLocks noChangeShapeType="1"/>
                  </p:cNvSpPr>
                  <p:nvPr/>
                </p:nvSpPr>
                <p:spPr bwMode="auto">
                  <a:xfrm flipH="1">
                    <a:off x="1909" y="7998"/>
                    <a:ext cx="105"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3584" name="Line 19"/>
                <p:cNvSpPr>
                  <a:spLocks noChangeShapeType="1"/>
                </p:cNvSpPr>
                <p:nvPr/>
              </p:nvSpPr>
              <p:spPr bwMode="auto">
                <a:xfrm>
                  <a:off x="2119" y="7684"/>
                  <a:ext cx="21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3563" name="AutoShape 20"/>
            <p:cNvSpPr>
              <a:spLocks noChangeArrowheads="1"/>
            </p:cNvSpPr>
            <p:nvPr/>
          </p:nvSpPr>
          <p:spPr bwMode="auto">
            <a:xfrm>
              <a:off x="2803" y="1774"/>
              <a:ext cx="953" cy="762"/>
            </a:xfrm>
            <a:prstGeom prst="hexagon">
              <a:avLst>
                <a:gd name="adj" fmla="val 31266"/>
                <a:gd name="vf" fmla="val 115470"/>
              </a:avLst>
            </a:prstGeom>
            <a:solidFill>
              <a:srgbClr val="FFFFFF"/>
            </a:solidFill>
            <a:ln w="9525">
              <a:solidFill>
                <a:srgbClr val="000000"/>
              </a:solidFill>
              <a:miter lim="800000"/>
              <a:headEnd/>
              <a:tailEnd/>
            </a:ln>
          </p:spPr>
          <p:txBody>
            <a:bodyPr lIns="0" tIns="190800" rIns="0"/>
            <a:lstStyle/>
            <a:p>
              <a:pPr algn="ctr"/>
              <a:r>
                <a:rPr kumimoji="1" lang="en-US" altLang="zh-CN" sz="2000">
                  <a:latin typeface="Times New Roman" pitchFamily="18" charset="0"/>
                </a:rPr>
                <a:t>DBMS</a:t>
              </a:r>
            </a:p>
          </p:txBody>
        </p:sp>
        <p:sp>
          <p:nvSpPr>
            <p:cNvPr id="23564" name="AutoShape 21"/>
            <p:cNvSpPr>
              <a:spLocks noChangeArrowheads="1"/>
            </p:cNvSpPr>
            <p:nvPr/>
          </p:nvSpPr>
          <p:spPr bwMode="auto">
            <a:xfrm>
              <a:off x="4055" y="1393"/>
              <a:ext cx="953" cy="1778"/>
            </a:xfrm>
            <a:prstGeom prst="can">
              <a:avLst>
                <a:gd name="adj" fmla="val 46642"/>
              </a:avLst>
            </a:prstGeom>
            <a:solidFill>
              <a:srgbClr val="FFFFFF"/>
            </a:solidFill>
            <a:ln w="9525">
              <a:solidFill>
                <a:srgbClr val="000000"/>
              </a:solidFill>
              <a:round/>
              <a:headEnd/>
              <a:tailEnd/>
            </a:ln>
          </p:spPr>
          <p:txBody>
            <a:bodyPr/>
            <a:lstStyle/>
            <a:p>
              <a:endParaRPr lang="zh-CN" altLang="en-US"/>
            </a:p>
          </p:txBody>
        </p:sp>
        <p:grpSp>
          <p:nvGrpSpPr>
            <p:cNvPr id="23565" name="Group 22"/>
            <p:cNvGrpSpPr>
              <a:grpSpLocks/>
            </p:cNvGrpSpPr>
            <p:nvPr/>
          </p:nvGrpSpPr>
          <p:grpSpPr bwMode="auto">
            <a:xfrm>
              <a:off x="4281" y="2028"/>
              <a:ext cx="635" cy="889"/>
              <a:chOff x="7084" y="6271"/>
              <a:chExt cx="1050" cy="1099"/>
            </a:xfrm>
          </p:grpSpPr>
          <p:sp>
            <p:nvSpPr>
              <p:cNvPr id="23574" name="Rectangle 23"/>
              <p:cNvSpPr>
                <a:spLocks noChangeArrowheads="1"/>
              </p:cNvSpPr>
              <p:nvPr/>
            </p:nvSpPr>
            <p:spPr bwMode="auto">
              <a:xfrm>
                <a:off x="7084" y="6271"/>
                <a:ext cx="420" cy="157"/>
              </a:xfrm>
              <a:prstGeom prst="rect">
                <a:avLst/>
              </a:prstGeom>
              <a:solidFill>
                <a:srgbClr val="FFFFFF"/>
              </a:solidFill>
              <a:ln w="9525">
                <a:solidFill>
                  <a:srgbClr val="000000"/>
                </a:solidFill>
                <a:miter lim="800000"/>
                <a:headEnd/>
                <a:tailEnd/>
              </a:ln>
            </p:spPr>
            <p:txBody>
              <a:bodyPr/>
              <a:lstStyle/>
              <a:p>
                <a:endParaRPr lang="zh-CN" altLang="en-US"/>
              </a:p>
            </p:txBody>
          </p:sp>
          <p:sp>
            <p:nvSpPr>
              <p:cNvPr id="23575" name="Rectangle 24"/>
              <p:cNvSpPr>
                <a:spLocks noChangeArrowheads="1"/>
              </p:cNvSpPr>
              <p:nvPr/>
            </p:nvSpPr>
            <p:spPr bwMode="auto">
              <a:xfrm>
                <a:off x="7084" y="6742"/>
                <a:ext cx="420" cy="157"/>
              </a:xfrm>
              <a:prstGeom prst="rect">
                <a:avLst/>
              </a:prstGeom>
              <a:solidFill>
                <a:srgbClr val="FFFFFF"/>
              </a:solidFill>
              <a:ln w="9525">
                <a:solidFill>
                  <a:srgbClr val="000000"/>
                </a:solidFill>
                <a:miter lim="800000"/>
                <a:headEnd/>
                <a:tailEnd/>
              </a:ln>
            </p:spPr>
            <p:txBody>
              <a:bodyPr/>
              <a:lstStyle/>
              <a:p>
                <a:endParaRPr lang="zh-CN" altLang="en-US"/>
              </a:p>
            </p:txBody>
          </p:sp>
          <p:sp>
            <p:nvSpPr>
              <p:cNvPr id="23576" name="Rectangle 25"/>
              <p:cNvSpPr>
                <a:spLocks noChangeArrowheads="1"/>
              </p:cNvSpPr>
              <p:nvPr/>
            </p:nvSpPr>
            <p:spPr bwMode="auto">
              <a:xfrm>
                <a:off x="7714" y="6742"/>
                <a:ext cx="420" cy="157"/>
              </a:xfrm>
              <a:prstGeom prst="rect">
                <a:avLst/>
              </a:prstGeom>
              <a:solidFill>
                <a:srgbClr val="FFFFFF"/>
              </a:solidFill>
              <a:ln w="9525">
                <a:solidFill>
                  <a:srgbClr val="000000"/>
                </a:solidFill>
                <a:miter lim="800000"/>
                <a:headEnd/>
                <a:tailEnd/>
              </a:ln>
            </p:spPr>
            <p:txBody>
              <a:bodyPr/>
              <a:lstStyle/>
              <a:p>
                <a:endParaRPr lang="zh-CN" altLang="en-US"/>
              </a:p>
            </p:txBody>
          </p:sp>
          <p:sp>
            <p:nvSpPr>
              <p:cNvPr id="23577" name="Rectangle 26"/>
              <p:cNvSpPr>
                <a:spLocks noChangeArrowheads="1"/>
              </p:cNvSpPr>
              <p:nvPr/>
            </p:nvSpPr>
            <p:spPr bwMode="auto">
              <a:xfrm>
                <a:off x="7399" y="7213"/>
                <a:ext cx="420" cy="157"/>
              </a:xfrm>
              <a:prstGeom prst="rect">
                <a:avLst/>
              </a:prstGeom>
              <a:solidFill>
                <a:srgbClr val="FFFFFF"/>
              </a:solidFill>
              <a:ln w="9525">
                <a:solidFill>
                  <a:srgbClr val="000000"/>
                </a:solidFill>
                <a:miter lim="800000"/>
                <a:headEnd/>
                <a:tailEnd/>
              </a:ln>
            </p:spPr>
            <p:txBody>
              <a:bodyPr/>
              <a:lstStyle/>
              <a:p>
                <a:endParaRPr lang="zh-CN" altLang="en-US"/>
              </a:p>
            </p:txBody>
          </p:sp>
          <p:sp>
            <p:nvSpPr>
              <p:cNvPr id="23578" name="Line 27"/>
              <p:cNvSpPr>
                <a:spLocks noChangeShapeType="1"/>
              </p:cNvSpPr>
              <p:nvPr/>
            </p:nvSpPr>
            <p:spPr bwMode="auto">
              <a:xfrm>
                <a:off x="7294" y="6428"/>
                <a:ext cx="0" cy="31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9" name="Line 28"/>
              <p:cNvSpPr>
                <a:spLocks noChangeShapeType="1"/>
              </p:cNvSpPr>
              <p:nvPr/>
            </p:nvSpPr>
            <p:spPr bwMode="auto">
              <a:xfrm>
                <a:off x="7399" y="6899"/>
                <a:ext cx="105" cy="31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0" name="Line 29"/>
              <p:cNvSpPr>
                <a:spLocks noChangeShapeType="1"/>
              </p:cNvSpPr>
              <p:nvPr/>
            </p:nvSpPr>
            <p:spPr bwMode="auto">
              <a:xfrm flipH="1">
                <a:off x="7714" y="6899"/>
                <a:ext cx="105" cy="31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3566" name="Line 30"/>
            <p:cNvSpPr>
              <a:spLocks noChangeShapeType="1"/>
            </p:cNvSpPr>
            <p:nvPr/>
          </p:nvSpPr>
          <p:spPr bwMode="auto">
            <a:xfrm>
              <a:off x="3756" y="2155"/>
              <a:ext cx="28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7" name="Line 31"/>
            <p:cNvSpPr>
              <a:spLocks noChangeShapeType="1"/>
            </p:cNvSpPr>
            <p:nvPr/>
          </p:nvSpPr>
          <p:spPr bwMode="auto">
            <a:xfrm>
              <a:off x="2041" y="1393"/>
              <a:ext cx="889" cy="5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8" name="Line 32"/>
            <p:cNvSpPr>
              <a:spLocks noChangeShapeType="1"/>
            </p:cNvSpPr>
            <p:nvPr/>
          </p:nvSpPr>
          <p:spPr bwMode="auto">
            <a:xfrm>
              <a:off x="2041" y="1901"/>
              <a:ext cx="762" cy="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9" name="Line 33"/>
            <p:cNvSpPr>
              <a:spLocks noChangeShapeType="1"/>
            </p:cNvSpPr>
            <p:nvPr/>
          </p:nvSpPr>
          <p:spPr bwMode="auto">
            <a:xfrm flipV="1">
              <a:off x="2041" y="2409"/>
              <a:ext cx="889" cy="6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0" name="Text Box 34"/>
            <p:cNvSpPr txBox="1">
              <a:spLocks noChangeArrowheads="1"/>
            </p:cNvSpPr>
            <p:nvPr/>
          </p:nvSpPr>
          <p:spPr bwMode="auto">
            <a:xfrm>
              <a:off x="1195" y="1248"/>
              <a:ext cx="871" cy="379"/>
            </a:xfrm>
            <a:prstGeom prst="rect">
              <a:avLst/>
            </a:prstGeom>
            <a:solidFill>
              <a:srgbClr val="FFFFFF"/>
            </a:solidFill>
            <a:ln w="9525">
              <a:solidFill>
                <a:srgbClr val="000000"/>
              </a:solidFill>
              <a:miter lim="800000"/>
              <a:headEnd/>
              <a:tailEnd/>
            </a:ln>
          </p:spPr>
          <p:txBody>
            <a:bodyPr tIns="118800"/>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just" eaLnBrk="1" hangingPunct="1"/>
              <a:r>
                <a:rPr kumimoji="1" lang="zh-CN" altLang="en-US" sz="2000">
                  <a:latin typeface="Times New Roman" pitchFamily="18" charset="0"/>
                </a:rPr>
                <a:t>应用程序</a:t>
              </a:r>
              <a:r>
                <a:rPr kumimoji="1" lang="en-US" altLang="zh-CN" sz="2000">
                  <a:latin typeface="Times New Roman" pitchFamily="18" charset="0"/>
                </a:rPr>
                <a:t>1</a:t>
              </a:r>
            </a:p>
          </p:txBody>
        </p:sp>
        <p:sp>
          <p:nvSpPr>
            <p:cNvPr id="23571" name="Text Box 35"/>
            <p:cNvSpPr txBox="1">
              <a:spLocks noChangeArrowheads="1"/>
            </p:cNvSpPr>
            <p:nvPr/>
          </p:nvSpPr>
          <p:spPr bwMode="auto">
            <a:xfrm>
              <a:off x="1195" y="1753"/>
              <a:ext cx="871" cy="378"/>
            </a:xfrm>
            <a:prstGeom prst="rect">
              <a:avLst/>
            </a:prstGeom>
            <a:solidFill>
              <a:srgbClr val="FFFFFF"/>
            </a:solidFill>
            <a:ln w="9525">
              <a:solidFill>
                <a:srgbClr val="000000"/>
              </a:solidFill>
              <a:miter lim="800000"/>
              <a:headEnd/>
              <a:tailEnd/>
            </a:ln>
          </p:spPr>
          <p:txBody>
            <a:bodyPr tIns="118800"/>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just" eaLnBrk="1" hangingPunct="1"/>
              <a:r>
                <a:rPr kumimoji="1" lang="zh-CN" altLang="en-US" sz="2000">
                  <a:latin typeface="Times New Roman" pitchFamily="18" charset="0"/>
                </a:rPr>
                <a:t>应用程序</a:t>
              </a:r>
              <a:r>
                <a:rPr kumimoji="1" lang="en-US" altLang="zh-CN" sz="2000">
                  <a:latin typeface="Times New Roman" pitchFamily="18" charset="0"/>
                </a:rPr>
                <a:t>2</a:t>
              </a:r>
            </a:p>
          </p:txBody>
        </p:sp>
        <p:sp>
          <p:nvSpPr>
            <p:cNvPr id="23572" name="Text Box 36"/>
            <p:cNvSpPr txBox="1">
              <a:spLocks noChangeArrowheads="1"/>
            </p:cNvSpPr>
            <p:nvPr/>
          </p:nvSpPr>
          <p:spPr bwMode="auto">
            <a:xfrm>
              <a:off x="4236" y="1500"/>
              <a:ext cx="653" cy="25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kumimoji="1" lang="zh-CN" altLang="en-US" sz="2000">
                  <a:latin typeface="Times New Roman" pitchFamily="18" charset="0"/>
                </a:rPr>
                <a:t>数据库</a:t>
              </a:r>
            </a:p>
          </p:txBody>
        </p:sp>
        <p:sp>
          <p:nvSpPr>
            <p:cNvPr id="23573" name="Text Box 37"/>
            <p:cNvSpPr txBox="1">
              <a:spLocks noChangeArrowheads="1"/>
            </p:cNvSpPr>
            <p:nvPr/>
          </p:nvSpPr>
          <p:spPr bwMode="auto">
            <a:xfrm>
              <a:off x="1440" y="2304"/>
              <a:ext cx="500"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4000">
                  <a:latin typeface="Times New Roman" pitchFamily="18" charset="0"/>
                </a:rPr>
                <a:t>…</a:t>
              </a:r>
            </a:p>
          </p:txBody>
        </p:sp>
      </p:grpSp>
      <p:sp>
        <p:nvSpPr>
          <p:cNvPr id="23557" name="TextBox 37"/>
          <p:cNvSpPr txBox="1">
            <a:spLocks noChangeArrowheads="1"/>
          </p:cNvSpPr>
          <p:nvPr/>
        </p:nvSpPr>
        <p:spPr bwMode="auto">
          <a:xfrm>
            <a:off x="6337300" y="1616075"/>
            <a:ext cx="2735263" cy="3453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lnSpc>
                <a:spcPct val="130000"/>
              </a:lnSpc>
            </a:pPr>
            <a:r>
              <a:rPr lang="en-US" altLang="zh-CN" sz="2800" b="1" dirty="0"/>
              <a:t>1</a:t>
            </a:r>
            <a:r>
              <a:rPr lang="en-US" altLang="zh-CN" sz="2800" b="1" dirty="0" smtClean="0"/>
              <a:t>.</a:t>
            </a:r>
            <a:r>
              <a:rPr lang="zh-CN" altLang="en-US" sz="2800" b="1" dirty="0" smtClean="0"/>
              <a:t> </a:t>
            </a:r>
            <a:r>
              <a:rPr lang="zh-CN" altLang="en-US" sz="2800" b="1" dirty="0" smtClean="0">
                <a:solidFill>
                  <a:srgbClr val="FF0000"/>
                </a:solidFill>
              </a:rPr>
              <a:t>整体数据结构化</a:t>
            </a:r>
            <a:endParaRPr lang="en-US" altLang="zh-CN" sz="2800" b="1" dirty="0" smtClean="0">
              <a:solidFill>
                <a:srgbClr val="FF0000"/>
              </a:solidFill>
            </a:endParaRPr>
          </a:p>
          <a:p>
            <a:pPr eaLnBrk="1" hangingPunct="1">
              <a:lnSpc>
                <a:spcPct val="130000"/>
              </a:lnSpc>
            </a:pPr>
            <a:r>
              <a:rPr lang="en-US" altLang="zh-CN" sz="2800" b="1" dirty="0" smtClean="0"/>
              <a:t>2.</a:t>
            </a:r>
            <a:r>
              <a:rPr lang="en-US" altLang="zh-CN" sz="2800" b="1" dirty="0" smtClean="0">
                <a:solidFill>
                  <a:srgbClr val="FF0000"/>
                </a:solidFill>
              </a:rPr>
              <a:t>DBMS</a:t>
            </a:r>
            <a:r>
              <a:rPr lang="zh-CN" altLang="en-US" sz="2800" b="1" dirty="0" smtClean="0">
                <a:solidFill>
                  <a:srgbClr val="FF0000"/>
                </a:solidFill>
              </a:rPr>
              <a:t> </a:t>
            </a:r>
            <a:r>
              <a:rPr lang="zh-CN" altLang="en-US" sz="2800" b="1" dirty="0"/>
              <a:t>管理</a:t>
            </a:r>
            <a:r>
              <a:rPr lang="zh-CN" altLang="en-US" sz="2800" b="1" dirty="0" smtClean="0"/>
              <a:t>数据</a:t>
            </a:r>
            <a:endParaRPr lang="en-US" altLang="zh-CN" sz="2800" b="1" dirty="0"/>
          </a:p>
          <a:p>
            <a:pPr eaLnBrk="1" hangingPunct="1">
              <a:lnSpc>
                <a:spcPct val="130000"/>
              </a:lnSpc>
            </a:pPr>
            <a:r>
              <a:rPr lang="en-US" altLang="zh-CN" sz="2800" b="1" dirty="0"/>
              <a:t>3.</a:t>
            </a:r>
            <a:r>
              <a:rPr lang="zh-CN" altLang="en-US" sz="2800" b="1" dirty="0"/>
              <a:t>数据</a:t>
            </a:r>
            <a:r>
              <a:rPr lang="zh-CN" altLang="en-US" sz="2800" b="1" dirty="0">
                <a:solidFill>
                  <a:srgbClr val="FF0000"/>
                </a:solidFill>
              </a:rPr>
              <a:t>共享性高</a:t>
            </a:r>
            <a:endParaRPr lang="en-US" altLang="zh-CN" sz="2800" b="1" dirty="0">
              <a:solidFill>
                <a:srgbClr val="FF0000"/>
              </a:solidFill>
            </a:endParaRPr>
          </a:p>
          <a:p>
            <a:pPr eaLnBrk="1" hangingPunct="1">
              <a:lnSpc>
                <a:spcPct val="130000"/>
              </a:lnSpc>
            </a:pPr>
            <a:r>
              <a:rPr lang="en-US" altLang="zh-CN" sz="2800" b="1" dirty="0"/>
              <a:t>4.</a:t>
            </a:r>
            <a:r>
              <a:rPr lang="zh-CN" altLang="en-US" sz="2800" b="1" dirty="0"/>
              <a:t>数据</a:t>
            </a:r>
            <a:r>
              <a:rPr lang="zh-CN" altLang="en-US" sz="2800" b="1" dirty="0">
                <a:solidFill>
                  <a:srgbClr val="FF0000"/>
                </a:solidFill>
              </a:rPr>
              <a:t>独立性高</a:t>
            </a:r>
            <a:endParaRPr lang="en-US" altLang="zh-CN" sz="2800" b="1" dirty="0">
              <a:solidFill>
                <a:srgbClr val="FF0000"/>
              </a:solidFill>
            </a:endParaRPr>
          </a:p>
        </p:txBody>
      </p:sp>
      <p:sp>
        <p:nvSpPr>
          <p:cNvPr id="23558" name="TextBox 1"/>
          <p:cNvSpPr txBox="1">
            <a:spLocks noChangeArrowheads="1"/>
          </p:cNvSpPr>
          <p:nvPr/>
        </p:nvSpPr>
        <p:spPr bwMode="auto">
          <a:xfrm>
            <a:off x="1227138" y="5589588"/>
            <a:ext cx="66246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800" b="1" dirty="0"/>
              <a:t>三个阶段的对比，见</a:t>
            </a:r>
            <a:r>
              <a:rPr lang="zh-CN" altLang="en-US" sz="2800" b="1" dirty="0" smtClean="0"/>
              <a:t>课本</a:t>
            </a:r>
            <a:r>
              <a:rPr lang="en-US" altLang="zh-CN" sz="2800" b="1" dirty="0" smtClean="0"/>
              <a:t>P7</a:t>
            </a:r>
            <a:r>
              <a:rPr lang="zh-CN" altLang="en-US" sz="2800" b="1" dirty="0" smtClean="0"/>
              <a:t>。</a:t>
            </a:r>
            <a:endParaRPr lang="zh-CN" altLang="en-US" sz="2800" b="1" dirty="0"/>
          </a:p>
        </p:txBody>
      </p:sp>
      <p:sp>
        <p:nvSpPr>
          <p:cNvPr id="23559" name="TextBox 22"/>
          <p:cNvSpPr txBox="1">
            <a:spLocks noChangeArrowheads="1"/>
          </p:cNvSpPr>
          <p:nvPr/>
        </p:nvSpPr>
        <p:spPr bwMode="auto">
          <a:xfrm>
            <a:off x="1985169" y="4724399"/>
            <a:ext cx="4656137" cy="584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lnSpc>
                <a:spcPct val="130000"/>
              </a:lnSpc>
            </a:pPr>
            <a:r>
              <a:rPr lang="en-US" altLang="zh-CN" sz="2800" b="1" dirty="0">
                <a:solidFill>
                  <a:srgbClr val="FF0000"/>
                </a:solidFill>
              </a:rPr>
              <a:t>DBMS</a:t>
            </a:r>
            <a:r>
              <a:rPr lang="zh-CN" altLang="en-US" sz="2800" b="1" dirty="0">
                <a:solidFill>
                  <a:srgbClr val="FF0000"/>
                </a:solidFill>
              </a:rPr>
              <a:t>提供：</a:t>
            </a:r>
            <a:r>
              <a:rPr lang="en-US" altLang="zh-CN" sz="2800" b="1" dirty="0">
                <a:solidFill>
                  <a:srgbClr val="FF0000"/>
                </a:solidFill>
              </a:rPr>
              <a:t>SQL</a:t>
            </a:r>
            <a:r>
              <a:rPr lang="zh-CN" altLang="en-US" sz="2800" b="1" dirty="0">
                <a:solidFill>
                  <a:srgbClr val="FF0000"/>
                </a:solidFill>
              </a:rPr>
              <a:t>语句</a:t>
            </a:r>
            <a:endParaRPr lang="en-US" altLang="zh-CN" sz="2800" b="1" dirty="0">
              <a:solidFill>
                <a:srgbClr val="FF0000"/>
              </a:solidFill>
            </a:endParaRPr>
          </a:p>
        </p:txBody>
      </p:sp>
    </p:spTree>
  </p:cSld>
  <p:clrMapOvr>
    <a:masterClrMapping/>
  </p:clrMapOvr>
  <p:transition advClick="0"/>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E89AA6E4-3955-45ED-9647-A19ED9627F1C}" type="slidenum">
              <a:rPr lang="en-US" altLang="zh-CN" smtClean="0"/>
              <a:pPr algn="l" eaLnBrk="1" hangingPunct="1"/>
              <a:t>17</a:t>
            </a:fld>
            <a:endParaRPr lang="en-US" altLang="zh-CN" smtClean="0"/>
          </a:p>
        </p:txBody>
      </p:sp>
      <p:sp>
        <p:nvSpPr>
          <p:cNvPr id="30723" name="Rectangle 2"/>
          <p:cNvSpPr>
            <a:spLocks noGrp="1" noChangeArrowheads="1"/>
          </p:cNvSpPr>
          <p:nvPr>
            <p:ph type="title"/>
          </p:nvPr>
        </p:nvSpPr>
        <p:spPr>
          <a:xfrm>
            <a:off x="381000" y="211138"/>
            <a:ext cx="8382000" cy="914400"/>
          </a:xfrm>
        </p:spPr>
        <p:txBody>
          <a:bodyPr/>
          <a:lstStyle/>
          <a:p>
            <a:pPr eaLnBrk="1" hangingPunct="1"/>
            <a:r>
              <a:rPr lang="en-US" altLang="zh-CN" b="1" smtClean="0"/>
              <a:t>1.1  </a:t>
            </a:r>
            <a:r>
              <a:rPr lang="zh-CN" altLang="en-US" b="1" smtClean="0"/>
              <a:t>数据库系统概述</a:t>
            </a:r>
          </a:p>
        </p:txBody>
      </p:sp>
      <p:sp>
        <p:nvSpPr>
          <p:cNvPr id="9220" name="Rectangle 3"/>
          <p:cNvSpPr>
            <a:spLocks noGrp="1" noChangeArrowheads="1"/>
          </p:cNvSpPr>
          <p:nvPr>
            <p:ph type="body" idx="1"/>
          </p:nvPr>
        </p:nvSpPr>
        <p:spPr>
          <a:xfrm>
            <a:off x="250825" y="1176338"/>
            <a:ext cx="8642350" cy="4824412"/>
          </a:xfrm>
        </p:spPr>
        <p:txBody>
          <a:bodyPr/>
          <a:lstStyle/>
          <a:p>
            <a:pPr lvl="1" eaLnBrk="1" hangingPunct="1">
              <a:lnSpc>
                <a:spcPct val="140000"/>
              </a:lnSpc>
              <a:buFont typeface="Wingdings" pitchFamily="2" charset="2"/>
              <a:buNone/>
              <a:defRPr/>
            </a:pPr>
            <a:r>
              <a:rPr lang="en-US" altLang="zh-CN" sz="3200" b="1" dirty="0">
                <a:ea typeface="楷体_GB2312" pitchFamily="49" charset="-122"/>
              </a:rPr>
              <a:t>1.</a:t>
            </a:r>
            <a:r>
              <a:rPr lang="zh-CN" altLang="en-US" sz="3200" b="1" dirty="0">
                <a:ea typeface="楷体_GB2312" pitchFamily="49" charset="-122"/>
              </a:rPr>
              <a:t>四个基本概念</a:t>
            </a:r>
            <a:endParaRPr lang="en-US" altLang="zh-CN" sz="3200" b="1" dirty="0">
              <a:ea typeface="楷体_GB2312" pitchFamily="49" charset="-122"/>
            </a:endParaRPr>
          </a:p>
          <a:p>
            <a:pPr marL="471487" lvl="1" indent="0" eaLnBrk="1" hangingPunct="1">
              <a:lnSpc>
                <a:spcPct val="140000"/>
              </a:lnSpc>
              <a:buFont typeface="Wingdings" pitchFamily="2" charset="2"/>
              <a:buNone/>
              <a:defRPr/>
            </a:pPr>
            <a:r>
              <a:rPr lang="zh-CN" altLang="en-US" b="1" dirty="0" smtClean="0">
                <a:solidFill>
                  <a:srgbClr val="0000FF"/>
                </a:solidFill>
                <a:ea typeface="楷体_GB2312" pitchFamily="49" charset="-122"/>
              </a:rPr>
              <a:t>数据，数据库，数据库管理系统，数据库系统</a:t>
            </a:r>
          </a:p>
          <a:p>
            <a:pPr lvl="1" eaLnBrk="1" hangingPunct="1">
              <a:lnSpc>
                <a:spcPct val="140000"/>
              </a:lnSpc>
              <a:buFont typeface="Wingdings" pitchFamily="2" charset="2"/>
              <a:buNone/>
              <a:defRPr/>
            </a:pPr>
            <a:r>
              <a:rPr lang="en-US" altLang="zh-CN" sz="3200" b="1" dirty="0">
                <a:ea typeface="楷体_GB2312" pitchFamily="49" charset="-122"/>
              </a:rPr>
              <a:t>2.</a:t>
            </a:r>
            <a:r>
              <a:rPr lang="zh-CN" altLang="en-US" sz="3200" b="1" dirty="0">
                <a:ea typeface="楷体_GB2312" pitchFamily="49" charset="-122"/>
              </a:rPr>
              <a:t>数据管理技术的产生和发展</a:t>
            </a:r>
            <a:endParaRPr lang="en-US" altLang="zh-CN" sz="3200" b="1" dirty="0">
              <a:ea typeface="楷体_GB2312" pitchFamily="49" charset="-122"/>
            </a:endParaRPr>
          </a:p>
          <a:p>
            <a:pPr marL="471487" lvl="1" indent="0" eaLnBrk="1" hangingPunct="1">
              <a:lnSpc>
                <a:spcPct val="140000"/>
              </a:lnSpc>
              <a:buFont typeface="Wingdings" pitchFamily="2" charset="2"/>
              <a:buNone/>
              <a:defRPr/>
            </a:pPr>
            <a:r>
              <a:rPr lang="zh-CN" altLang="en-US" b="1" dirty="0">
                <a:solidFill>
                  <a:srgbClr val="0000FF"/>
                </a:solidFill>
                <a:ea typeface="楷体_GB2312" pitchFamily="49" charset="-122"/>
              </a:rPr>
              <a:t>人工管理阶段，文件系统阶段，</a:t>
            </a:r>
            <a:r>
              <a:rPr lang="zh-CN" altLang="en-US" b="1" dirty="0">
                <a:solidFill>
                  <a:srgbClr val="FF0000"/>
                </a:solidFill>
                <a:ea typeface="楷体_GB2312" pitchFamily="49" charset="-122"/>
              </a:rPr>
              <a:t>数据库系统阶段</a:t>
            </a:r>
          </a:p>
          <a:p>
            <a:pPr lvl="1" eaLnBrk="1" hangingPunct="1">
              <a:lnSpc>
                <a:spcPct val="140000"/>
              </a:lnSpc>
              <a:buFont typeface="Wingdings" pitchFamily="2" charset="2"/>
              <a:buNone/>
              <a:defRPr/>
            </a:pPr>
            <a:r>
              <a:rPr lang="en-US" altLang="zh-CN" sz="3200" b="1" dirty="0" smtClean="0">
                <a:ea typeface="楷体_GB2312" pitchFamily="49" charset="-122"/>
              </a:rPr>
              <a:t>3.</a:t>
            </a:r>
            <a:r>
              <a:rPr lang="zh-CN" altLang="en-US" sz="3200" b="1" dirty="0" smtClean="0">
                <a:ea typeface="楷体_GB2312" pitchFamily="49" charset="-122"/>
              </a:rPr>
              <a:t>数据库系统的特点</a:t>
            </a:r>
            <a:r>
              <a:rPr lang="zh-CN" altLang="en-US" b="1" dirty="0" smtClean="0">
                <a:ea typeface="楷体_GB2312" pitchFamily="49" charset="-122"/>
              </a:rPr>
              <a:t> </a:t>
            </a:r>
            <a:endParaRPr lang="en-US" altLang="zh-CN" b="1" dirty="0" smtClean="0">
              <a:ea typeface="楷体_GB2312" pitchFamily="49" charset="-122"/>
            </a:endParaRPr>
          </a:p>
          <a:p>
            <a:pPr marL="469900" lvl="1" indent="0" eaLnBrk="1" hangingPunct="1">
              <a:buFont typeface="Wingdings" pitchFamily="2" charset="2"/>
              <a:buNone/>
              <a:defRPr/>
            </a:pPr>
            <a:r>
              <a:rPr lang="zh-CN" altLang="en-US" b="1" dirty="0">
                <a:solidFill>
                  <a:srgbClr val="0000FF"/>
                </a:solidFill>
                <a:ea typeface="楷体_GB2312" pitchFamily="49" charset="-122"/>
              </a:rPr>
              <a:t>数据的结构化；数据的共享性高，冗余度低	；数据的独立性高，数据控制能力强</a:t>
            </a:r>
            <a:r>
              <a:rPr lang="zh-CN" altLang="en-US" b="1" dirty="0" smtClean="0">
                <a:solidFill>
                  <a:srgbClr val="0000FF"/>
                </a:solidFill>
                <a:ea typeface="楷体_GB2312" pitchFamily="49" charset="-122"/>
              </a:rPr>
              <a:t>。</a:t>
            </a:r>
            <a:endParaRPr lang="en-US" altLang="zh-CN" b="1" dirty="0">
              <a:solidFill>
                <a:srgbClr val="0000FF"/>
              </a:solidFill>
              <a:ea typeface="楷体_GB2312" pitchFamily="49" charset="-122"/>
            </a:endParaRPr>
          </a:p>
        </p:txBody>
      </p:sp>
    </p:spTree>
  </p:cSld>
  <p:clrMapOvr>
    <a:masterClrMapping/>
  </p:clrMapOvr>
  <p:transition advClick="0"/>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A2DFE584-28C0-4C3C-8CE2-764384CF72AB}" type="slidenum">
              <a:rPr lang="en-US" altLang="zh-CN" smtClean="0"/>
              <a:pPr algn="l" eaLnBrk="1" hangingPunct="1"/>
              <a:t>18</a:t>
            </a:fld>
            <a:endParaRPr lang="en-US" altLang="zh-CN" smtClean="0"/>
          </a:p>
        </p:txBody>
      </p:sp>
      <p:sp>
        <p:nvSpPr>
          <p:cNvPr id="31747" name="Rectangle 2"/>
          <p:cNvSpPr>
            <a:spLocks noGrp="1" noChangeArrowheads="1"/>
          </p:cNvSpPr>
          <p:nvPr>
            <p:ph type="title"/>
          </p:nvPr>
        </p:nvSpPr>
        <p:spPr>
          <a:xfrm>
            <a:off x="381000" y="188913"/>
            <a:ext cx="8382000" cy="914400"/>
          </a:xfrm>
        </p:spPr>
        <p:txBody>
          <a:bodyPr/>
          <a:lstStyle/>
          <a:p>
            <a:pPr eaLnBrk="1" hangingPunct="1"/>
            <a:r>
              <a:rPr lang="en-US" altLang="zh-CN" b="1" smtClean="0"/>
              <a:t>1.2  </a:t>
            </a:r>
            <a:r>
              <a:rPr lang="zh-CN" altLang="en-US" b="1" smtClean="0"/>
              <a:t>数据模型</a:t>
            </a:r>
          </a:p>
        </p:txBody>
      </p:sp>
      <p:sp>
        <p:nvSpPr>
          <p:cNvPr id="31748" name="Rectangle 3"/>
          <p:cNvSpPr>
            <a:spLocks noGrp="1" noChangeArrowheads="1"/>
          </p:cNvSpPr>
          <p:nvPr>
            <p:ph type="body" idx="1"/>
          </p:nvPr>
        </p:nvSpPr>
        <p:spPr>
          <a:xfrm>
            <a:off x="955675" y="1270000"/>
            <a:ext cx="6496050" cy="4679950"/>
          </a:xfrm>
        </p:spPr>
        <p:txBody>
          <a:bodyPr/>
          <a:lstStyle/>
          <a:p>
            <a:pPr eaLnBrk="1" hangingPunct="1">
              <a:lnSpc>
                <a:spcPct val="120000"/>
              </a:lnSpc>
              <a:buFont typeface="Wingdings" pitchFamily="2" charset="2"/>
              <a:buNone/>
            </a:pPr>
            <a:r>
              <a:rPr lang="en-US" altLang="zh-CN" sz="2800" b="1" dirty="0" smtClean="0">
                <a:ea typeface="楷体_GB2312" pitchFamily="49" charset="-122"/>
              </a:rPr>
              <a:t>  </a:t>
            </a:r>
            <a:r>
              <a:rPr lang="en-US" altLang="zh-CN" sz="2800" b="1" dirty="0">
                <a:ea typeface="楷体_GB2312" pitchFamily="49" charset="-122"/>
              </a:rPr>
              <a:t>1.2.1  </a:t>
            </a:r>
            <a:r>
              <a:rPr lang="zh-CN" altLang="en-US" sz="2800" b="1" dirty="0">
                <a:ea typeface="楷体_GB2312" pitchFamily="49" charset="-122"/>
              </a:rPr>
              <a:t>数据建模</a:t>
            </a:r>
          </a:p>
          <a:p>
            <a:pPr eaLnBrk="1" hangingPunct="1">
              <a:lnSpc>
                <a:spcPct val="120000"/>
              </a:lnSpc>
              <a:buFont typeface="Wingdings" pitchFamily="2" charset="2"/>
              <a:buNone/>
            </a:pPr>
            <a:r>
              <a:rPr lang="zh-CN" altLang="en-US" sz="2800" b="1" dirty="0" smtClean="0">
                <a:ea typeface="楷体_GB2312" pitchFamily="49" charset="-122"/>
              </a:rPr>
              <a:t>  </a:t>
            </a:r>
            <a:r>
              <a:rPr lang="en-US" altLang="zh-CN" sz="2800" b="1" dirty="0" smtClean="0">
                <a:ea typeface="楷体_GB2312" pitchFamily="49" charset="-122"/>
              </a:rPr>
              <a:t>1.2.2  </a:t>
            </a:r>
            <a:r>
              <a:rPr lang="zh-CN" altLang="en-US" sz="2800" b="1" dirty="0" smtClean="0">
                <a:ea typeface="楷体_GB2312" pitchFamily="49" charset="-122"/>
              </a:rPr>
              <a:t>概念模型（</a:t>
            </a:r>
            <a:r>
              <a:rPr lang="en-US" altLang="zh-CN" sz="2800" b="1" dirty="0" smtClean="0">
                <a:ea typeface="楷体_GB2312" pitchFamily="49" charset="-122"/>
              </a:rPr>
              <a:t>E-R</a:t>
            </a:r>
            <a:r>
              <a:rPr lang="zh-CN" altLang="en-US" sz="2800" b="1" dirty="0" smtClean="0">
                <a:ea typeface="楷体_GB2312" pitchFamily="49" charset="-122"/>
              </a:rPr>
              <a:t>图）</a:t>
            </a:r>
          </a:p>
          <a:p>
            <a:pPr eaLnBrk="1" hangingPunct="1">
              <a:lnSpc>
                <a:spcPct val="120000"/>
              </a:lnSpc>
              <a:buFont typeface="Wingdings" pitchFamily="2" charset="2"/>
              <a:buNone/>
            </a:pPr>
            <a:r>
              <a:rPr lang="zh-CN" altLang="en-US" sz="2800" b="1" dirty="0" smtClean="0">
                <a:solidFill>
                  <a:schemeClr val="hlink"/>
                </a:solidFill>
                <a:ea typeface="楷体_GB2312" pitchFamily="49" charset="-122"/>
              </a:rPr>
              <a:t>  </a:t>
            </a:r>
            <a:r>
              <a:rPr lang="en-US" altLang="zh-CN" sz="2800" b="1" dirty="0" smtClean="0">
                <a:ea typeface="楷体_GB2312" pitchFamily="49" charset="-122"/>
              </a:rPr>
              <a:t>1.2.3  </a:t>
            </a:r>
            <a:r>
              <a:rPr lang="zh-CN" altLang="en-US" sz="2800" b="1" dirty="0" smtClean="0">
                <a:ea typeface="楷体_GB2312" pitchFamily="49" charset="-122"/>
              </a:rPr>
              <a:t>数据模型的组成要素</a:t>
            </a:r>
          </a:p>
          <a:p>
            <a:pPr eaLnBrk="1" hangingPunct="1">
              <a:lnSpc>
                <a:spcPct val="120000"/>
              </a:lnSpc>
              <a:buFont typeface="Wingdings" pitchFamily="2" charset="2"/>
              <a:buNone/>
            </a:pPr>
            <a:r>
              <a:rPr lang="en-US" altLang="zh-CN" sz="2800" b="1" dirty="0" smtClean="0">
                <a:ea typeface="楷体_GB2312" pitchFamily="49" charset="-122"/>
              </a:rPr>
              <a:t>  1.2.4  </a:t>
            </a:r>
            <a:r>
              <a:rPr lang="zh-CN" altLang="en-US" sz="2800" b="1" dirty="0" smtClean="0">
                <a:ea typeface="楷体_GB2312" pitchFamily="49" charset="-122"/>
              </a:rPr>
              <a:t>层次模型</a:t>
            </a:r>
          </a:p>
          <a:p>
            <a:pPr eaLnBrk="1" hangingPunct="1">
              <a:lnSpc>
                <a:spcPct val="120000"/>
              </a:lnSpc>
              <a:buFont typeface="Wingdings" pitchFamily="2" charset="2"/>
              <a:buNone/>
            </a:pPr>
            <a:r>
              <a:rPr lang="zh-CN" altLang="en-US" sz="2800" b="1" dirty="0" smtClean="0">
                <a:ea typeface="楷体_GB2312" pitchFamily="49" charset="-122"/>
              </a:rPr>
              <a:t>  </a:t>
            </a:r>
            <a:r>
              <a:rPr lang="en-US" altLang="zh-CN" sz="2800" b="1" dirty="0" smtClean="0">
                <a:ea typeface="楷体_GB2312" pitchFamily="49" charset="-122"/>
              </a:rPr>
              <a:t>1.2.5  </a:t>
            </a:r>
            <a:r>
              <a:rPr lang="zh-CN" altLang="en-US" sz="2800" b="1" dirty="0" smtClean="0">
                <a:ea typeface="楷体_GB2312" pitchFamily="49" charset="-122"/>
              </a:rPr>
              <a:t>网状模型</a:t>
            </a:r>
          </a:p>
          <a:p>
            <a:pPr eaLnBrk="1" hangingPunct="1">
              <a:lnSpc>
                <a:spcPct val="120000"/>
              </a:lnSpc>
              <a:buFont typeface="Wingdings" pitchFamily="2" charset="2"/>
              <a:buNone/>
            </a:pPr>
            <a:r>
              <a:rPr lang="zh-CN" altLang="en-US" sz="2800" b="1" dirty="0" smtClean="0">
                <a:ea typeface="楷体_GB2312" pitchFamily="49" charset="-122"/>
              </a:rPr>
              <a:t>  </a:t>
            </a:r>
            <a:r>
              <a:rPr lang="en-US" altLang="zh-CN" sz="2800" b="1" dirty="0" smtClean="0">
                <a:ea typeface="楷体_GB2312" pitchFamily="49" charset="-122"/>
              </a:rPr>
              <a:t>1.2.6  </a:t>
            </a:r>
            <a:r>
              <a:rPr lang="zh-CN" altLang="en-US" sz="2800" b="1" dirty="0" smtClean="0">
                <a:ea typeface="楷体_GB2312" pitchFamily="49" charset="-122"/>
              </a:rPr>
              <a:t>关系模型</a:t>
            </a:r>
          </a:p>
        </p:txBody>
      </p:sp>
    </p:spTree>
  </p:cSld>
  <p:clrMapOvr>
    <a:masterClrMapping/>
  </p:clrMapOvr>
  <p:transition advClick="0"/>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09E27F90-6B1B-4249-BC65-87D66CC090DF}" type="slidenum">
              <a:rPr lang="en-US" altLang="zh-CN" smtClean="0"/>
              <a:pPr algn="l" eaLnBrk="1" hangingPunct="1"/>
              <a:t>19</a:t>
            </a:fld>
            <a:endParaRPr lang="en-US" altLang="zh-CN" smtClean="0"/>
          </a:p>
        </p:txBody>
      </p:sp>
      <p:sp>
        <p:nvSpPr>
          <p:cNvPr id="32771" name="Rectangle 2"/>
          <p:cNvSpPr>
            <a:spLocks noGrp="1" noChangeArrowheads="1"/>
          </p:cNvSpPr>
          <p:nvPr>
            <p:ph type="title"/>
          </p:nvPr>
        </p:nvSpPr>
        <p:spPr>
          <a:xfrm>
            <a:off x="381000" y="115888"/>
            <a:ext cx="8382000" cy="914400"/>
          </a:xfrm>
        </p:spPr>
        <p:txBody>
          <a:bodyPr/>
          <a:lstStyle/>
          <a:p>
            <a:pPr eaLnBrk="1" hangingPunct="1"/>
            <a:r>
              <a:rPr lang="en-US" altLang="zh-CN" b="1" dirty="0" smtClean="0"/>
              <a:t>1.2.1  </a:t>
            </a:r>
            <a:r>
              <a:rPr lang="zh-CN" altLang="en-US" b="1" dirty="0" smtClean="0"/>
              <a:t>数据建模</a:t>
            </a:r>
            <a:endParaRPr lang="zh-CN" altLang="en-US" b="1" dirty="0" smtClean="0"/>
          </a:p>
        </p:txBody>
      </p:sp>
      <p:sp>
        <p:nvSpPr>
          <p:cNvPr id="875526" name="Rectangle 6"/>
          <p:cNvSpPr>
            <a:spLocks noChangeArrowheads="1"/>
          </p:cNvSpPr>
          <p:nvPr/>
        </p:nvSpPr>
        <p:spPr bwMode="auto">
          <a:xfrm>
            <a:off x="107950" y="1268413"/>
            <a:ext cx="8928100"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30000"/>
              </a:lnSpc>
              <a:spcBef>
                <a:spcPct val="20000"/>
              </a:spcBef>
              <a:buClr>
                <a:srgbClr val="669900"/>
              </a:buClr>
              <a:buSzPct val="75000"/>
              <a:buFont typeface="Wingdings" pitchFamily="2" charset="2"/>
              <a:buChar char="n"/>
            </a:pPr>
            <a:r>
              <a:rPr lang="zh-CN" altLang="en-US" sz="2800" b="1">
                <a:solidFill>
                  <a:srgbClr val="FF0000"/>
                </a:solidFill>
                <a:ea typeface="楷体_GB2312" pitchFamily="49" charset="-122"/>
              </a:rPr>
              <a:t>数据模型：</a:t>
            </a:r>
            <a:r>
              <a:rPr lang="zh-CN" altLang="en-US" sz="2800" b="1">
                <a:ea typeface="楷体_GB2312" pitchFamily="49" charset="-122"/>
              </a:rPr>
              <a:t>对现实世界数据特征的抽象。</a:t>
            </a:r>
            <a:endParaRPr lang="en-US" altLang="zh-CN" sz="2800" b="1">
              <a:ea typeface="楷体_GB2312" pitchFamily="49" charset="-122"/>
            </a:endParaRPr>
          </a:p>
          <a:p>
            <a:pPr marL="342900" indent="-342900">
              <a:lnSpc>
                <a:spcPct val="130000"/>
              </a:lnSpc>
              <a:spcBef>
                <a:spcPct val="20000"/>
              </a:spcBef>
              <a:buClr>
                <a:srgbClr val="669900"/>
              </a:buClr>
              <a:buSzPct val="75000"/>
              <a:buFont typeface="Wingdings" pitchFamily="2" charset="2"/>
              <a:buChar char="n"/>
            </a:pPr>
            <a:r>
              <a:rPr lang="zh-CN" altLang="en-US" sz="2800" b="1">
                <a:solidFill>
                  <a:srgbClr val="0000FF"/>
                </a:solidFill>
                <a:ea typeface="楷体_GB2312" pitchFamily="49" charset="-122"/>
              </a:rPr>
              <a:t>数据模型</a:t>
            </a:r>
            <a:r>
              <a:rPr lang="zh-CN" altLang="en-US" sz="2800" b="1">
                <a:ea typeface="楷体_GB2312" pitchFamily="49" charset="-122"/>
              </a:rPr>
              <a:t>：是数据库系统的</a:t>
            </a:r>
            <a:r>
              <a:rPr lang="zh-CN" altLang="en-US" sz="2800" b="1">
                <a:solidFill>
                  <a:srgbClr val="0000FF"/>
                </a:solidFill>
                <a:ea typeface="楷体_GB2312" pitchFamily="49" charset="-122"/>
              </a:rPr>
              <a:t>核心和基础</a:t>
            </a:r>
            <a:r>
              <a:rPr lang="zh-CN" altLang="en-US" sz="2800" b="1">
                <a:solidFill>
                  <a:srgbClr val="FF0000"/>
                </a:solidFill>
                <a:ea typeface="楷体_GB2312" pitchFamily="49" charset="-122"/>
              </a:rPr>
              <a:t>，是学习数据库的基础。</a:t>
            </a:r>
          </a:p>
          <a:p>
            <a:pPr marL="742950" lvl="1" indent="-285750">
              <a:spcBef>
                <a:spcPct val="20000"/>
              </a:spcBef>
              <a:buClr>
                <a:srgbClr val="669900"/>
              </a:buClr>
              <a:buSzPct val="75000"/>
              <a:buFont typeface="Wingdings" pitchFamily="2" charset="2"/>
              <a:buChar char="Ø"/>
            </a:pPr>
            <a:r>
              <a:rPr lang="zh-CN" altLang="en-US" sz="2800" b="1">
                <a:ea typeface="楷体_GB2312" pitchFamily="49" charset="-122"/>
              </a:rPr>
              <a:t>数据模型是用来</a:t>
            </a:r>
            <a:r>
              <a:rPr lang="zh-CN" altLang="en-US" sz="2800" b="1">
                <a:solidFill>
                  <a:srgbClr val="FF0000"/>
                </a:solidFill>
                <a:ea typeface="楷体_GB2312" pitchFamily="49" charset="-122"/>
              </a:rPr>
              <a:t>描述数据</a:t>
            </a:r>
            <a:r>
              <a:rPr lang="zh-CN" altLang="en-US" sz="2800" b="1">
                <a:ea typeface="楷体_GB2312" pitchFamily="49" charset="-122"/>
              </a:rPr>
              <a:t>、</a:t>
            </a:r>
            <a:r>
              <a:rPr lang="zh-CN" altLang="en-US" sz="2800" b="1">
                <a:solidFill>
                  <a:srgbClr val="FF0000"/>
                </a:solidFill>
                <a:ea typeface="楷体_GB2312" pitchFamily="49" charset="-122"/>
              </a:rPr>
              <a:t>组织数据</a:t>
            </a:r>
            <a:r>
              <a:rPr lang="zh-CN" altLang="en-US" sz="2800" b="1">
                <a:ea typeface="楷体_GB2312" pitchFamily="49" charset="-122"/>
              </a:rPr>
              <a:t>和</a:t>
            </a:r>
            <a:r>
              <a:rPr lang="zh-CN" altLang="en-US" sz="2800" b="1">
                <a:solidFill>
                  <a:srgbClr val="FF0000"/>
                </a:solidFill>
                <a:ea typeface="楷体_GB2312" pitchFamily="49" charset="-122"/>
              </a:rPr>
              <a:t>操作数据</a:t>
            </a:r>
            <a:r>
              <a:rPr lang="zh-CN" altLang="en-US" sz="2800" b="1">
                <a:ea typeface="楷体_GB2312" pitchFamily="49" charset="-122"/>
              </a:rPr>
              <a:t>的。</a:t>
            </a:r>
          </a:p>
          <a:p>
            <a:pPr marL="742950" lvl="1" indent="-285750">
              <a:spcBef>
                <a:spcPct val="20000"/>
              </a:spcBef>
              <a:buClr>
                <a:srgbClr val="669900"/>
              </a:buClr>
              <a:buSzPct val="75000"/>
              <a:buFont typeface="Wingdings" pitchFamily="2" charset="2"/>
              <a:buChar char="Ø"/>
            </a:pPr>
            <a:r>
              <a:rPr lang="zh-CN" altLang="en-US" sz="2800" b="1">
                <a:ea typeface="楷体_GB2312" pitchFamily="49" charset="-122"/>
              </a:rPr>
              <a:t>应满足</a:t>
            </a:r>
            <a:r>
              <a:rPr lang="zh-CN" altLang="en-US" sz="2800" b="1">
                <a:solidFill>
                  <a:srgbClr val="FF0000"/>
                </a:solidFill>
                <a:ea typeface="楷体_GB2312" pitchFamily="49" charset="-122"/>
              </a:rPr>
              <a:t>三方面要求</a:t>
            </a:r>
          </a:p>
          <a:p>
            <a:pPr marL="1143000" lvl="2" indent="-228600">
              <a:spcBef>
                <a:spcPct val="20000"/>
              </a:spcBef>
              <a:buClr>
                <a:srgbClr val="996600"/>
              </a:buClr>
              <a:buSzPct val="75000"/>
              <a:buFont typeface="Wingdings" pitchFamily="2" charset="2"/>
              <a:buChar char="Ø"/>
            </a:pPr>
            <a:r>
              <a:rPr lang="zh-CN" altLang="en-US" sz="2600" b="1">
                <a:ea typeface="楷体_GB2312" pitchFamily="49" charset="-122"/>
              </a:rPr>
              <a:t>能比较真实地模拟现实世界</a:t>
            </a:r>
          </a:p>
          <a:p>
            <a:pPr marL="1143000" lvl="2" indent="-228600">
              <a:spcBef>
                <a:spcPct val="20000"/>
              </a:spcBef>
              <a:buClr>
                <a:srgbClr val="996600"/>
              </a:buClr>
              <a:buSzPct val="75000"/>
              <a:buFont typeface="Wingdings" pitchFamily="2" charset="2"/>
              <a:buChar char="Ø"/>
            </a:pPr>
            <a:r>
              <a:rPr lang="zh-CN" altLang="en-US" sz="2600" b="1">
                <a:ea typeface="楷体_GB2312" pitchFamily="49" charset="-122"/>
              </a:rPr>
              <a:t>容易为人所理解</a:t>
            </a:r>
            <a:endParaRPr lang="zh-CN" altLang="en-US" sz="2800" b="1">
              <a:ea typeface="楷体_GB2312" pitchFamily="49" charset="-122"/>
            </a:endParaRPr>
          </a:p>
          <a:p>
            <a:pPr marL="1143000" lvl="2" indent="-228600">
              <a:spcBef>
                <a:spcPct val="20000"/>
              </a:spcBef>
              <a:buClr>
                <a:srgbClr val="996600"/>
              </a:buClr>
              <a:buSzPct val="75000"/>
              <a:buFont typeface="Wingdings" pitchFamily="2" charset="2"/>
              <a:buChar char="Ø"/>
            </a:pPr>
            <a:r>
              <a:rPr lang="zh-CN" altLang="en-US" sz="2600" b="1">
                <a:ea typeface="楷体_GB2312" pitchFamily="49" charset="-122"/>
              </a:rPr>
              <a:t>便于在计算机上实现</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75526">
                                            <p:txEl>
                                              <p:pRg st="0" end="0"/>
                                            </p:txEl>
                                          </p:spTgt>
                                        </p:tgtEl>
                                        <p:attrNameLst>
                                          <p:attrName>style.visibility</p:attrName>
                                        </p:attrNameLst>
                                      </p:cBhvr>
                                      <p:to>
                                        <p:strVal val="visible"/>
                                      </p:to>
                                    </p:set>
                                    <p:anim calcmode="lin" valueType="num">
                                      <p:cBhvr additive="base">
                                        <p:cTn id="7" dur="500" fill="hold"/>
                                        <p:tgtEl>
                                          <p:spTgt spid="8755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7552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75526">
                                            <p:txEl>
                                              <p:pRg st="1" end="1"/>
                                            </p:txEl>
                                          </p:spTgt>
                                        </p:tgtEl>
                                        <p:attrNameLst>
                                          <p:attrName>style.visibility</p:attrName>
                                        </p:attrNameLst>
                                      </p:cBhvr>
                                      <p:to>
                                        <p:strVal val="visible"/>
                                      </p:to>
                                    </p:set>
                                    <p:anim calcmode="lin" valueType="num">
                                      <p:cBhvr additive="base">
                                        <p:cTn id="13" dur="500" fill="hold"/>
                                        <p:tgtEl>
                                          <p:spTgt spid="87552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755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75526">
                                            <p:txEl>
                                              <p:pRg st="2" end="2"/>
                                            </p:txEl>
                                          </p:spTgt>
                                        </p:tgtEl>
                                        <p:attrNameLst>
                                          <p:attrName>style.visibility</p:attrName>
                                        </p:attrNameLst>
                                      </p:cBhvr>
                                      <p:to>
                                        <p:strVal val="visible"/>
                                      </p:to>
                                    </p:set>
                                    <p:anim calcmode="lin" valueType="num">
                                      <p:cBhvr additive="base">
                                        <p:cTn id="19" dur="500" fill="hold"/>
                                        <p:tgtEl>
                                          <p:spTgt spid="87552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7552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75526">
                                            <p:txEl>
                                              <p:pRg st="3" end="3"/>
                                            </p:txEl>
                                          </p:spTgt>
                                        </p:tgtEl>
                                        <p:attrNameLst>
                                          <p:attrName>style.visibility</p:attrName>
                                        </p:attrNameLst>
                                      </p:cBhvr>
                                      <p:to>
                                        <p:strVal val="visible"/>
                                      </p:to>
                                    </p:set>
                                    <p:anim calcmode="lin" valueType="num">
                                      <p:cBhvr additive="base">
                                        <p:cTn id="25" dur="500" fill="hold"/>
                                        <p:tgtEl>
                                          <p:spTgt spid="87552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7552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75526">
                                            <p:txEl>
                                              <p:pRg st="4" end="4"/>
                                            </p:txEl>
                                          </p:spTgt>
                                        </p:tgtEl>
                                        <p:attrNameLst>
                                          <p:attrName>style.visibility</p:attrName>
                                        </p:attrNameLst>
                                      </p:cBhvr>
                                      <p:to>
                                        <p:strVal val="visible"/>
                                      </p:to>
                                    </p:set>
                                    <p:anim calcmode="lin" valueType="num">
                                      <p:cBhvr additive="base">
                                        <p:cTn id="31" dur="500" fill="hold"/>
                                        <p:tgtEl>
                                          <p:spTgt spid="87552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7552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75526">
                                            <p:txEl>
                                              <p:pRg st="5" end="5"/>
                                            </p:txEl>
                                          </p:spTgt>
                                        </p:tgtEl>
                                        <p:attrNameLst>
                                          <p:attrName>style.visibility</p:attrName>
                                        </p:attrNameLst>
                                      </p:cBhvr>
                                      <p:to>
                                        <p:strVal val="visible"/>
                                      </p:to>
                                    </p:set>
                                    <p:anim calcmode="lin" valueType="num">
                                      <p:cBhvr additive="base">
                                        <p:cTn id="37" dur="500" fill="hold"/>
                                        <p:tgtEl>
                                          <p:spTgt spid="87552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7552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75526">
                                            <p:txEl>
                                              <p:pRg st="6" end="6"/>
                                            </p:txEl>
                                          </p:spTgt>
                                        </p:tgtEl>
                                        <p:attrNameLst>
                                          <p:attrName>style.visibility</p:attrName>
                                        </p:attrNameLst>
                                      </p:cBhvr>
                                      <p:to>
                                        <p:strVal val="visible"/>
                                      </p:to>
                                    </p:set>
                                    <p:anim calcmode="lin" valueType="num">
                                      <p:cBhvr additive="base">
                                        <p:cTn id="43" dur="500" fill="hold"/>
                                        <p:tgtEl>
                                          <p:spTgt spid="87552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7552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552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DBA1AD7E-58E4-4266-AE7F-00F9C52E4352}" type="slidenum">
              <a:rPr lang="en-US" altLang="zh-CN" smtClean="0"/>
              <a:pPr algn="l" eaLnBrk="1" hangingPunct="1"/>
              <a:t>20</a:t>
            </a:fld>
            <a:endParaRPr lang="en-US" altLang="zh-CN" smtClean="0"/>
          </a:p>
        </p:txBody>
      </p:sp>
      <p:sp>
        <p:nvSpPr>
          <p:cNvPr id="33795" name="Rectangle 2"/>
          <p:cNvSpPr>
            <a:spLocks noGrp="1" noChangeArrowheads="1"/>
          </p:cNvSpPr>
          <p:nvPr>
            <p:ph type="title"/>
          </p:nvPr>
        </p:nvSpPr>
        <p:spPr>
          <a:xfrm>
            <a:off x="381000" y="115888"/>
            <a:ext cx="8382000" cy="914400"/>
          </a:xfrm>
        </p:spPr>
        <p:txBody>
          <a:bodyPr/>
          <a:lstStyle/>
          <a:p>
            <a:pPr eaLnBrk="1" hangingPunct="1"/>
            <a:r>
              <a:rPr lang="zh-CN" altLang="en-US" b="1" smtClean="0"/>
              <a:t>两大数据模型</a:t>
            </a:r>
            <a:r>
              <a:rPr lang="en-US" altLang="zh-CN" b="1" smtClean="0"/>
              <a:t>(</a:t>
            </a:r>
            <a:r>
              <a:rPr lang="zh-CN" altLang="en-US" b="1" smtClean="0"/>
              <a:t>续</a:t>
            </a:r>
            <a:r>
              <a:rPr lang="en-US" altLang="zh-CN" b="1" smtClean="0"/>
              <a:t>)</a:t>
            </a:r>
          </a:p>
        </p:txBody>
      </p:sp>
      <p:sp>
        <p:nvSpPr>
          <p:cNvPr id="33796" name="Rectangle 3"/>
          <p:cNvSpPr>
            <a:spLocks noGrp="1" noChangeArrowheads="1"/>
          </p:cNvSpPr>
          <p:nvPr>
            <p:ph type="body" idx="1"/>
          </p:nvPr>
        </p:nvSpPr>
        <p:spPr>
          <a:xfrm>
            <a:off x="323850" y="1268413"/>
            <a:ext cx="8280400" cy="792162"/>
          </a:xfrm>
        </p:spPr>
        <p:txBody>
          <a:bodyPr/>
          <a:lstStyle/>
          <a:p>
            <a:pPr eaLnBrk="1" hangingPunct="1">
              <a:lnSpc>
                <a:spcPct val="125000"/>
              </a:lnSpc>
            </a:pPr>
            <a:r>
              <a:rPr lang="zh-CN" altLang="en-US" sz="2800" b="1" dirty="0" smtClean="0">
                <a:latin typeface="楷体_GB2312" pitchFamily="49" charset="-122"/>
                <a:ea typeface="楷体_GB2312" pitchFamily="49" charset="-122"/>
              </a:rPr>
              <a:t>首先建立概念模型，概念模型转成数据模型。</a:t>
            </a:r>
            <a:endParaRPr lang="zh-CN" altLang="en-US" b="1" dirty="0" smtClean="0">
              <a:latin typeface="楷体_GB2312" pitchFamily="49" charset="-122"/>
              <a:ea typeface="楷体_GB2312" pitchFamily="49" charset="-122"/>
            </a:endParaRPr>
          </a:p>
        </p:txBody>
      </p:sp>
      <p:sp>
        <p:nvSpPr>
          <p:cNvPr id="876548" name="Rectangle 4"/>
          <p:cNvSpPr>
            <a:spLocks noChangeArrowheads="1"/>
          </p:cNvSpPr>
          <p:nvPr/>
        </p:nvSpPr>
        <p:spPr bwMode="auto">
          <a:xfrm>
            <a:off x="714375" y="1928813"/>
            <a:ext cx="8178800"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42950" lvl="1" indent="-285750">
              <a:lnSpc>
                <a:spcPct val="125000"/>
              </a:lnSpc>
              <a:spcBef>
                <a:spcPct val="20000"/>
              </a:spcBef>
              <a:buClr>
                <a:srgbClr val="996600"/>
              </a:buClr>
              <a:buSzPct val="75000"/>
              <a:buFont typeface="Wingdings" pitchFamily="2" charset="2"/>
              <a:buNone/>
            </a:pPr>
            <a:r>
              <a:rPr lang="en-US" altLang="zh-CN" sz="2800" b="1" dirty="0">
                <a:latin typeface="楷体_GB2312" pitchFamily="49" charset="-122"/>
                <a:ea typeface="楷体_GB2312" pitchFamily="49" charset="-122"/>
              </a:rPr>
              <a:t>(1) </a:t>
            </a:r>
            <a:r>
              <a:rPr lang="zh-CN" altLang="en-US" sz="2800" b="1" dirty="0">
                <a:solidFill>
                  <a:srgbClr val="0000FF"/>
                </a:solidFill>
                <a:latin typeface="楷体_GB2312" pitchFamily="49" charset="-122"/>
                <a:ea typeface="楷体_GB2312" pitchFamily="49" charset="-122"/>
              </a:rPr>
              <a:t>概念模型</a:t>
            </a:r>
            <a:r>
              <a:rPr lang="zh-CN" altLang="en-US" sz="2800" b="1" dirty="0">
                <a:latin typeface="楷体_GB2312" pitchFamily="49" charset="-122"/>
                <a:ea typeface="楷体_GB2312" pitchFamily="49" charset="-122"/>
              </a:rPr>
              <a:t>：也称信息模型，它是</a:t>
            </a:r>
            <a:r>
              <a:rPr lang="zh-CN" altLang="en-US" sz="2800" b="1" dirty="0">
                <a:solidFill>
                  <a:srgbClr val="0000FF"/>
                </a:solidFill>
                <a:latin typeface="楷体_GB2312" pitchFamily="49" charset="-122"/>
                <a:ea typeface="楷体_GB2312" pitchFamily="49" charset="-122"/>
              </a:rPr>
              <a:t>按用户的观点</a:t>
            </a:r>
            <a:r>
              <a:rPr lang="zh-CN" altLang="en-US" sz="2800" b="1" dirty="0">
                <a:latin typeface="楷体_GB2312" pitchFamily="49" charset="-122"/>
                <a:ea typeface="楷体_GB2312" pitchFamily="49" charset="-122"/>
              </a:rPr>
              <a:t>来对数据和信息建模，</a:t>
            </a:r>
            <a:r>
              <a:rPr lang="zh-CN" altLang="en-US" sz="2800" b="1" dirty="0">
                <a:solidFill>
                  <a:srgbClr val="FF0000"/>
                </a:solidFill>
                <a:latin typeface="楷体_GB2312" pitchFamily="49" charset="-122"/>
                <a:ea typeface="楷体_GB2312" pitchFamily="49" charset="-122"/>
              </a:rPr>
              <a:t>用于数据库设计</a:t>
            </a:r>
            <a:r>
              <a:rPr lang="zh-CN" altLang="en-US" sz="2800" b="1" dirty="0">
                <a:latin typeface="楷体_GB2312" pitchFamily="49" charset="-122"/>
                <a:ea typeface="楷体_GB2312" pitchFamily="49" charset="-122"/>
              </a:rPr>
              <a:t>。</a:t>
            </a:r>
          </a:p>
          <a:p>
            <a:pPr marL="742950" lvl="1" indent="-285750">
              <a:lnSpc>
                <a:spcPct val="125000"/>
              </a:lnSpc>
              <a:spcBef>
                <a:spcPct val="20000"/>
              </a:spcBef>
              <a:buClr>
                <a:srgbClr val="996600"/>
              </a:buClr>
              <a:buSzPct val="75000"/>
              <a:buFont typeface="Wingdings" pitchFamily="2" charset="2"/>
              <a:buNone/>
            </a:pPr>
            <a:r>
              <a:rPr lang="en-US" altLang="zh-CN" sz="2800" b="1" dirty="0">
                <a:latin typeface="楷体_GB2312" pitchFamily="49" charset="-122"/>
                <a:ea typeface="楷体_GB2312" pitchFamily="49" charset="-122"/>
              </a:rPr>
              <a:t>(2) </a:t>
            </a:r>
            <a:r>
              <a:rPr lang="zh-CN" altLang="en-US" sz="2800" b="1" dirty="0" smtClean="0">
                <a:latin typeface="楷体_GB2312" pitchFamily="49" charset="-122"/>
                <a:ea typeface="楷体_GB2312" pitchFamily="49" charset="-122"/>
              </a:rPr>
              <a:t>数据模型</a:t>
            </a:r>
            <a:r>
              <a:rPr lang="zh-CN" altLang="en-US" sz="2800" b="1" dirty="0" smtClean="0">
                <a:solidFill>
                  <a:srgbClr val="0000FF"/>
                </a:solidFill>
                <a:latin typeface="楷体_GB2312" pitchFamily="49" charset="-122"/>
                <a:ea typeface="楷体_GB2312" pitchFamily="49" charset="-122"/>
              </a:rPr>
              <a:t>：按照计算机的观点对数据建模，</a:t>
            </a:r>
            <a:r>
              <a:rPr lang="zh-CN" altLang="en-US" sz="2800" b="1" dirty="0" smtClean="0">
                <a:solidFill>
                  <a:srgbClr val="FF0000"/>
                </a:solidFill>
                <a:latin typeface="楷体_GB2312" pitchFamily="49" charset="-122"/>
                <a:ea typeface="楷体_GB2312" pitchFamily="49" charset="-122"/>
              </a:rPr>
              <a:t>用于</a:t>
            </a:r>
            <a:r>
              <a:rPr lang="en-US" altLang="zh-CN" sz="2800" b="1" dirty="0">
                <a:solidFill>
                  <a:srgbClr val="FF0000"/>
                </a:solidFill>
                <a:latin typeface="楷体_GB2312" pitchFamily="49" charset="-122"/>
                <a:ea typeface="楷体_GB2312" pitchFamily="49" charset="-122"/>
              </a:rPr>
              <a:t>DBMS</a:t>
            </a:r>
            <a:r>
              <a:rPr lang="zh-CN" altLang="en-US" sz="2800" b="1" dirty="0">
                <a:solidFill>
                  <a:srgbClr val="FF0000"/>
                </a:solidFill>
                <a:latin typeface="楷体_GB2312" pitchFamily="49" charset="-122"/>
                <a:ea typeface="楷体_GB2312" pitchFamily="49" charset="-122"/>
              </a:rPr>
              <a:t>实现。</a:t>
            </a:r>
            <a:endParaRPr lang="zh-CN" altLang="en-US" sz="2800" b="1" dirty="0">
              <a:solidFill>
                <a:srgbClr val="0000FF"/>
              </a:solidFill>
              <a:latin typeface="楷体_GB2312" pitchFamily="49" charset="-122"/>
              <a:ea typeface="楷体_GB2312" pitchFamily="49" charset="-122"/>
            </a:endParaRPr>
          </a:p>
          <a:p>
            <a:pPr marL="1143000" lvl="2" indent="-228600">
              <a:lnSpc>
                <a:spcPct val="125000"/>
              </a:lnSpc>
              <a:spcBef>
                <a:spcPct val="20000"/>
              </a:spcBef>
              <a:buClr>
                <a:srgbClr val="996600"/>
              </a:buClr>
              <a:buSzPct val="75000"/>
              <a:buFont typeface="Wingdings" pitchFamily="2" charset="2"/>
              <a:buChar char="Ø"/>
            </a:pPr>
            <a:r>
              <a:rPr lang="zh-CN" altLang="en-US" sz="2400" b="1" dirty="0">
                <a:solidFill>
                  <a:srgbClr val="0000FF"/>
                </a:solidFill>
                <a:latin typeface="楷体_GB2312" pitchFamily="49" charset="-122"/>
                <a:ea typeface="楷体_GB2312" pitchFamily="49" charset="-122"/>
              </a:rPr>
              <a:t>逻辑模型</a:t>
            </a:r>
            <a:r>
              <a:rPr lang="zh-CN" altLang="en-US" sz="2400" b="1" dirty="0">
                <a:latin typeface="楷体_GB2312" pitchFamily="49" charset="-122"/>
                <a:ea typeface="楷体_GB2312" pitchFamily="49" charset="-122"/>
              </a:rPr>
              <a:t>主要包括</a:t>
            </a:r>
            <a:r>
              <a:rPr lang="zh-CN" altLang="en-US" sz="2400" b="1" dirty="0">
                <a:solidFill>
                  <a:srgbClr val="0000FF"/>
                </a:solidFill>
                <a:latin typeface="楷体_GB2312" pitchFamily="49" charset="-122"/>
                <a:ea typeface="楷体_GB2312" pitchFamily="49" charset="-122"/>
              </a:rPr>
              <a:t>层次模型、网状模型、关系模型</a:t>
            </a:r>
            <a:r>
              <a:rPr lang="zh-CN" altLang="en-US" sz="2400" b="1" dirty="0">
                <a:latin typeface="楷体_GB2312" pitchFamily="49" charset="-122"/>
                <a:ea typeface="楷体_GB2312" pitchFamily="49" charset="-122"/>
              </a:rPr>
              <a:t>、面向对象模型等，按计算机系统的观点对数据建模。</a:t>
            </a:r>
          </a:p>
          <a:p>
            <a:pPr marL="1143000" lvl="2" indent="-228600">
              <a:lnSpc>
                <a:spcPct val="125000"/>
              </a:lnSpc>
              <a:spcBef>
                <a:spcPct val="20000"/>
              </a:spcBef>
              <a:buClr>
                <a:srgbClr val="996600"/>
              </a:buClr>
              <a:buSzPct val="75000"/>
              <a:buFont typeface="Wingdings" pitchFamily="2" charset="2"/>
              <a:buChar char="Ø"/>
            </a:pPr>
            <a:r>
              <a:rPr lang="zh-CN" altLang="en-US" sz="2400" b="1" dirty="0">
                <a:solidFill>
                  <a:srgbClr val="0000FF"/>
                </a:solidFill>
                <a:latin typeface="楷体_GB2312" pitchFamily="49" charset="-122"/>
                <a:ea typeface="楷体_GB2312" pitchFamily="49" charset="-122"/>
              </a:rPr>
              <a:t>物理模型</a:t>
            </a:r>
            <a:r>
              <a:rPr lang="zh-CN" altLang="en-US" sz="2400" b="1" dirty="0">
                <a:latin typeface="楷体_GB2312" pitchFamily="49" charset="-122"/>
                <a:ea typeface="楷体_GB2312" pitchFamily="49" charset="-122"/>
              </a:rPr>
              <a:t>描述数据在系统内部的</a:t>
            </a:r>
            <a:r>
              <a:rPr lang="zh-CN" altLang="en-US" sz="2400" b="1" dirty="0">
                <a:solidFill>
                  <a:srgbClr val="FF0000"/>
                </a:solidFill>
                <a:latin typeface="楷体_GB2312" pitchFamily="49" charset="-122"/>
                <a:ea typeface="楷体_GB2312" pitchFamily="49" charset="-122"/>
              </a:rPr>
              <a:t>表示方式和存取方法</a:t>
            </a:r>
            <a:r>
              <a:rPr lang="zh-CN" altLang="en-US" sz="2400" b="1" dirty="0">
                <a:latin typeface="楷体_GB2312" pitchFamily="49" charset="-122"/>
                <a:ea typeface="楷体_GB2312" pitchFamily="49" charset="-122"/>
              </a:rPr>
              <a:t>，在磁盘或磁带上的存储方式和存取方法。</a:t>
            </a:r>
          </a:p>
          <a:p>
            <a:pPr marL="742950" lvl="1" indent="-285750">
              <a:lnSpc>
                <a:spcPct val="125000"/>
              </a:lnSpc>
              <a:spcBef>
                <a:spcPct val="20000"/>
              </a:spcBef>
              <a:buClr>
                <a:srgbClr val="996600"/>
              </a:buClr>
              <a:buSzPct val="75000"/>
              <a:buFont typeface="Wingdings" pitchFamily="2" charset="2"/>
              <a:buNone/>
            </a:pPr>
            <a:endParaRPr lang="zh-CN" altLang="en-US" sz="24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876548"/>
                                        </p:tgtEl>
                                        <p:attrNameLst>
                                          <p:attrName>style.visibility</p:attrName>
                                        </p:attrNameLst>
                                      </p:cBhvr>
                                      <p:to>
                                        <p:strVal val="visible"/>
                                      </p:to>
                                    </p:set>
                                    <p:animEffect transition="in" filter="wheel(4)">
                                      <p:cBhvr>
                                        <p:cTn id="7" dur="2000"/>
                                        <p:tgtEl>
                                          <p:spTgt spid="876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54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4B2DCA66-08DB-48FA-A621-3BC0C48547DB}" type="slidenum">
              <a:rPr lang="en-US" altLang="zh-CN" smtClean="0"/>
              <a:pPr algn="l" eaLnBrk="1" hangingPunct="1"/>
              <a:t>21</a:t>
            </a:fld>
            <a:endParaRPr lang="en-US" altLang="zh-CN" smtClean="0"/>
          </a:p>
        </p:txBody>
      </p:sp>
      <p:sp>
        <p:nvSpPr>
          <p:cNvPr id="34819" name="Rectangle 2"/>
          <p:cNvSpPr>
            <a:spLocks noGrp="1" noChangeArrowheads="1"/>
          </p:cNvSpPr>
          <p:nvPr>
            <p:ph type="title"/>
          </p:nvPr>
        </p:nvSpPr>
        <p:spPr>
          <a:xfrm>
            <a:off x="381000" y="115888"/>
            <a:ext cx="8382000" cy="914400"/>
          </a:xfrm>
        </p:spPr>
        <p:txBody>
          <a:bodyPr/>
          <a:lstStyle/>
          <a:p>
            <a:pPr eaLnBrk="1" hangingPunct="1"/>
            <a:r>
              <a:rPr lang="zh-CN" altLang="en-US" sz="4300" b="1" smtClean="0"/>
              <a:t>两大类数据模型 </a:t>
            </a:r>
            <a:r>
              <a:rPr lang="en-US" altLang="zh-CN" sz="4300" b="1" smtClean="0"/>
              <a:t>(</a:t>
            </a:r>
            <a:r>
              <a:rPr lang="zh-CN" altLang="en-US" sz="4300" b="1" smtClean="0"/>
              <a:t>续</a:t>
            </a:r>
            <a:r>
              <a:rPr lang="en-US" altLang="zh-CN" sz="4300" b="1" smtClean="0"/>
              <a:t>)</a:t>
            </a:r>
          </a:p>
        </p:txBody>
      </p:sp>
      <p:sp>
        <p:nvSpPr>
          <p:cNvPr id="35848" name="Rectangle 5"/>
          <p:cNvSpPr>
            <a:spLocks noChangeArrowheads="1"/>
          </p:cNvSpPr>
          <p:nvPr/>
        </p:nvSpPr>
        <p:spPr bwMode="auto">
          <a:xfrm>
            <a:off x="1928813" y="4510088"/>
            <a:ext cx="3714750" cy="1347787"/>
          </a:xfrm>
          <a:prstGeom prst="rect">
            <a:avLst/>
          </a:prstGeom>
          <a:gradFill rotWithShape="0">
            <a:gsLst>
              <a:gs pos="0">
                <a:srgbClr val="FFFFFF"/>
              </a:gs>
              <a:gs pos="100000">
                <a:srgbClr val="BBBBBB"/>
              </a:gs>
            </a:gsLst>
            <a:lin ang="5400000" scaled="1"/>
          </a:gradFill>
          <a:ln w="25400" algn="ctr">
            <a:solidFill>
              <a:schemeClr val="tx1"/>
            </a:solidFill>
            <a:miter lim="800000"/>
            <a:headEnd/>
            <a:tailEnd/>
          </a:ln>
        </p:spPr>
        <p:txBody>
          <a:bodyPr wrap="none" anchor="ctr"/>
          <a:lstStyle/>
          <a:p>
            <a:pPr marL="342900" indent="-342900" algn="ctr"/>
            <a:r>
              <a:rPr lang="en-US" altLang="zh-CN" sz="2800">
                <a:latin typeface="楷体_GB2312" pitchFamily="49" charset="-122"/>
                <a:ea typeface="楷体_GB2312" pitchFamily="49" charset="-122"/>
              </a:rPr>
              <a:t>DBMS</a:t>
            </a:r>
            <a:r>
              <a:rPr lang="zh-CN" altLang="en-US" sz="2800">
                <a:latin typeface="楷体_GB2312" pitchFamily="49" charset="-122"/>
                <a:ea typeface="楷体_GB2312" pitchFamily="49" charset="-122"/>
              </a:rPr>
              <a:t>支持的数据模型</a:t>
            </a:r>
            <a:endParaRPr lang="en-US" altLang="zh-CN" sz="2800">
              <a:latin typeface="楷体_GB2312" pitchFamily="49" charset="-122"/>
              <a:ea typeface="楷体_GB2312" pitchFamily="49" charset="-122"/>
            </a:endParaRPr>
          </a:p>
          <a:p>
            <a:pPr marL="342900" indent="-342900" algn="ctr"/>
            <a:r>
              <a:rPr lang="zh-CN" altLang="en-US" sz="2800" b="1">
                <a:solidFill>
                  <a:srgbClr val="0000FF"/>
                </a:solidFill>
                <a:latin typeface="楷体_GB2312" pitchFamily="49" charset="-122"/>
                <a:ea typeface="楷体_GB2312" pitchFamily="49" charset="-122"/>
              </a:rPr>
              <a:t>逻辑模型</a:t>
            </a:r>
            <a:endParaRPr lang="en-US" altLang="zh-CN" sz="2800">
              <a:latin typeface="楷体_GB2312" pitchFamily="49" charset="-122"/>
              <a:ea typeface="楷体_GB2312" pitchFamily="49" charset="-122"/>
            </a:endParaRPr>
          </a:p>
          <a:p>
            <a:pPr marL="342900" indent="-342900" algn="ctr"/>
            <a:r>
              <a:rPr lang="zh-CN" altLang="en-US" sz="2800" b="1">
                <a:solidFill>
                  <a:srgbClr val="0000FF"/>
                </a:solidFill>
                <a:latin typeface="楷体_GB2312" pitchFamily="49" charset="-122"/>
                <a:ea typeface="楷体_GB2312" pitchFamily="49" charset="-122"/>
              </a:rPr>
              <a:t>物理模型</a:t>
            </a:r>
          </a:p>
        </p:txBody>
      </p:sp>
      <p:sp>
        <p:nvSpPr>
          <p:cNvPr id="35849" name="Rectangle 6"/>
          <p:cNvSpPr>
            <a:spLocks noChangeArrowheads="1"/>
          </p:cNvSpPr>
          <p:nvPr/>
        </p:nvSpPr>
        <p:spPr bwMode="auto">
          <a:xfrm>
            <a:off x="2644775" y="3502025"/>
            <a:ext cx="1943100" cy="576263"/>
          </a:xfrm>
          <a:prstGeom prst="rect">
            <a:avLst/>
          </a:prstGeom>
          <a:gradFill rotWithShape="0">
            <a:gsLst>
              <a:gs pos="0">
                <a:srgbClr val="FFFFFF"/>
              </a:gs>
              <a:gs pos="100000">
                <a:srgbClr val="BBBBBB"/>
              </a:gs>
            </a:gsLst>
            <a:lin ang="5400000" scaled="1"/>
          </a:gradFill>
          <a:ln w="25400" algn="ctr">
            <a:solidFill>
              <a:schemeClr val="tx1"/>
            </a:solidFill>
            <a:miter lim="800000"/>
            <a:headEnd/>
            <a:tailEnd/>
          </a:ln>
        </p:spPr>
        <p:txBody>
          <a:bodyPr wrap="none" anchor="ctr"/>
          <a:lstStyle/>
          <a:p>
            <a:pPr marL="342900" indent="-342900" algn="ctr"/>
            <a:r>
              <a:rPr lang="zh-CN" altLang="en-US" sz="2800" b="1">
                <a:solidFill>
                  <a:srgbClr val="0000FF"/>
                </a:solidFill>
                <a:latin typeface="Times New Roman" pitchFamily="18" charset="0"/>
                <a:ea typeface="楷体_GB2312" pitchFamily="49" charset="-122"/>
              </a:rPr>
              <a:t>概念模型</a:t>
            </a:r>
          </a:p>
        </p:txBody>
      </p:sp>
      <p:sp>
        <p:nvSpPr>
          <p:cNvPr id="35850" name="AutoShape 7"/>
          <p:cNvSpPr>
            <a:spLocks noChangeArrowheads="1"/>
          </p:cNvSpPr>
          <p:nvPr/>
        </p:nvSpPr>
        <p:spPr bwMode="auto">
          <a:xfrm>
            <a:off x="3082925" y="2420938"/>
            <a:ext cx="914400" cy="792162"/>
          </a:xfrm>
          <a:prstGeom prst="smileyFace">
            <a:avLst>
              <a:gd name="adj" fmla="val 4653"/>
            </a:avLst>
          </a:prstGeom>
          <a:gradFill rotWithShape="0">
            <a:gsLst>
              <a:gs pos="0">
                <a:srgbClr val="FFFFFF"/>
              </a:gs>
              <a:gs pos="100000">
                <a:srgbClr val="BBBBBB"/>
              </a:gs>
            </a:gsLst>
            <a:lin ang="5400000" scaled="1"/>
          </a:gradFill>
          <a:ln w="25400">
            <a:solidFill>
              <a:schemeClr val="tx1"/>
            </a:solidFill>
            <a:round/>
            <a:headEnd/>
            <a:tailEnd/>
          </a:ln>
        </p:spPr>
        <p:txBody>
          <a:bodyPr wrap="none" anchor="ctr"/>
          <a:lstStyle/>
          <a:p>
            <a:endParaRPr lang="zh-CN" altLang="en-US"/>
          </a:p>
        </p:txBody>
      </p:sp>
      <p:sp>
        <p:nvSpPr>
          <p:cNvPr id="35851" name="AutoShape 8"/>
          <p:cNvSpPr>
            <a:spLocks noChangeArrowheads="1"/>
          </p:cNvSpPr>
          <p:nvPr/>
        </p:nvSpPr>
        <p:spPr bwMode="auto">
          <a:xfrm flipH="1">
            <a:off x="1400175" y="1870075"/>
            <a:ext cx="1058863" cy="1006475"/>
          </a:xfrm>
          <a:prstGeom prst="wedgeEllipseCallout">
            <a:avLst>
              <a:gd name="adj1" fmla="val -104972"/>
              <a:gd name="adj2" fmla="val 25486"/>
            </a:avLst>
          </a:prstGeom>
          <a:gradFill rotWithShape="0">
            <a:gsLst>
              <a:gs pos="0">
                <a:srgbClr val="FFFFFF"/>
              </a:gs>
              <a:gs pos="100000">
                <a:srgbClr val="BBBBBB"/>
              </a:gs>
            </a:gsLst>
            <a:lin ang="5400000" scaled="1"/>
          </a:gradFill>
          <a:ln w="25400" algn="ctr">
            <a:solidFill>
              <a:schemeClr val="tx1"/>
            </a:solidFill>
            <a:miter lim="800000"/>
            <a:headEnd/>
            <a:tailEnd/>
          </a:ln>
        </p:spPr>
        <p:txBody>
          <a:bodyPr/>
          <a:lstStyle/>
          <a:p>
            <a:pPr marL="342900" indent="-342900"/>
            <a:r>
              <a:rPr lang="zh-CN" altLang="en-US" sz="2000">
                <a:latin typeface="Times New Roman" pitchFamily="18" charset="0"/>
                <a:ea typeface="楷体_GB2312" pitchFamily="49" charset="-122"/>
              </a:rPr>
              <a:t>认识</a:t>
            </a:r>
          </a:p>
          <a:p>
            <a:pPr marL="342900" indent="-342900"/>
            <a:r>
              <a:rPr lang="zh-CN" altLang="en-US" sz="2000">
                <a:latin typeface="Times New Roman" pitchFamily="18" charset="0"/>
                <a:ea typeface="楷体_GB2312" pitchFamily="49" charset="-122"/>
              </a:rPr>
              <a:t>抽象</a:t>
            </a:r>
          </a:p>
        </p:txBody>
      </p:sp>
      <p:sp>
        <p:nvSpPr>
          <p:cNvPr id="35852" name="Cloud"/>
          <p:cNvSpPr>
            <a:spLocks noChangeAspect="1" noEditPoints="1" noChangeArrowheads="1"/>
          </p:cNvSpPr>
          <p:nvPr/>
        </p:nvSpPr>
        <p:spPr bwMode="auto">
          <a:xfrm>
            <a:off x="2279650" y="1144588"/>
            <a:ext cx="2519363" cy="91757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81 w 21600"/>
              <a:gd name="T13" fmla="*/ 3251 h 21600"/>
              <a:gd name="T14" fmla="*/ 17081 w 21600"/>
              <a:gd name="T15" fmla="*/ 17340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pPr marL="342900" indent="-342900"/>
            <a:r>
              <a:rPr lang="zh-CN" altLang="en-US" sz="2800" b="1">
                <a:solidFill>
                  <a:srgbClr val="0000FF"/>
                </a:solidFill>
                <a:latin typeface="Times New Roman" pitchFamily="18" charset="0"/>
                <a:ea typeface="楷体_GB2312" pitchFamily="49" charset="-122"/>
              </a:rPr>
              <a:t>现实世界</a:t>
            </a:r>
          </a:p>
        </p:txBody>
      </p:sp>
      <p:sp>
        <p:nvSpPr>
          <p:cNvPr id="35853" name="Line 13"/>
          <p:cNvSpPr>
            <a:spLocks noChangeShapeType="1"/>
          </p:cNvSpPr>
          <p:nvPr/>
        </p:nvSpPr>
        <p:spPr bwMode="auto">
          <a:xfrm>
            <a:off x="3494088" y="2133600"/>
            <a:ext cx="0" cy="28733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4" name="Line 14"/>
          <p:cNvSpPr>
            <a:spLocks noChangeShapeType="1"/>
          </p:cNvSpPr>
          <p:nvPr/>
        </p:nvSpPr>
        <p:spPr bwMode="auto">
          <a:xfrm>
            <a:off x="3494088" y="3213100"/>
            <a:ext cx="0" cy="28733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5" name="Line 15"/>
          <p:cNvSpPr>
            <a:spLocks noChangeShapeType="1"/>
          </p:cNvSpPr>
          <p:nvPr/>
        </p:nvSpPr>
        <p:spPr bwMode="auto">
          <a:xfrm>
            <a:off x="3565525" y="4078288"/>
            <a:ext cx="0" cy="431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33"/>
          <p:cNvGrpSpPr>
            <a:grpSpLocks/>
          </p:cNvGrpSpPr>
          <p:nvPr/>
        </p:nvGrpSpPr>
        <p:grpSpPr bwMode="auto">
          <a:xfrm>
            <a:off x="5618163" y="2078038"/>
            <a:ext cx="3382962" cy="911225"/>
            <a:chOff x="3448" y="1338"/>
            <a:chExt cx="2131" cy="574"/>
          </a:xfrm>
        </p:grpSpPr>
        <p:sp>
          <p:nvSpPr>
            <p:cNvPr id="34838" name="Text Box 17"/>
            <p:cNvSpPr txBox="1">
              <a:spLocks noChangeArrowheads="1"/>
            </p:cNvSpPr>
            <p:nvPr/>
          </p:nvSpPr>
          <p:spPr bwMode="auto">
            <a:xfrm>
              <a:off x="3448" y="1338"/>
              <a:ext cx="2131" cy="574"/>
            </a:xfrm>
            <a:prstGeom prst="rect">
              <a:avLst/>
            </a:prstGeom>
            <a:noFill/>
            <a:ln w="25400" algn="ctr">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lang="zh-CN" altLang="en-US" sz="2600">
                  <a:latin typeface="楷体_GB2312" pitchFamily="49" charset="-122"/>
                  <a:ea typeface="楷体_GB2312" pitchFamily="49" charset="-122"/>
                </a:rPr>
                <a:t>现实世界   概念模型</a:t>
              </a:r>
            </a:p>
            <a:p>
              <a:pPr algn="ctr" eaLnBrk="1" hangingPunct="1"/>
              <a:r>
                <a:rPr lang="zh-CN" altLang="en-US" sz="2600">
                  <a:solidFill>
                    <a:srgbClr val="FF0000"/>
                  </a:solidFill>
                  <a:latin typeface="楷体_GB2312" pitchFamily="49" charset="-122"/>
                  <a:ea typeface="楷体_GB2312" pitchFamily="49" charset="-122"/>
                </a:rPr>
                <a:t>数据库设计人员</a:t>
              </a:r>
              <a:r>
                <a:rPr lang="zh-CN" altLang="en-US" sz="2600">
                  <a:latin typeface="楷体_GB2312" pitchFamily="49" charset="-122"/>
                  <a:ea typeface="楷体_GB2312" pitchFamily="49" charset="-122"/>
                </a:rPr>
                <a:t>完成</a:t>
              </a:r>
            </a:p>
          </p:txBody>
        </p:sp>
        <p:sp>
          <p:nvSpPr>
            <p:cNvPr id="34839" name="AutoShape 18"/>
            <p:cNvSpPr>
              <a:spLocks noChangeArrowheads="1"/>
            </p:cNvSpPr>
            <p:nvPr/>
          </p:nvSpPr>
          <p:spPr bwMode="auto">
            <a:xfrm>
              <a:off x="4409" y="1463"/>
              <a:ext cx="204" cy="90"/>
            </a:xfrm>
            <a:prstGeom prst="rightArrow">
              <a:avLst>
                <a:gd name="adj1" fmla="val 50000"/>
                <a:gd name="adj2" fmla="val 56667"/>
              </a:avLst>
            </a:prstGeom>
            <a:gradFill rotWithShape="0">
              <a:gsLst>
                <a:gs pos="0">
                  <a:srgbClr val="FFFFFF"/>
                </a:gs>
                <a:gs pos="100000">
                  <a:srgbClr val="BBBBBB"/>
                </a:gs>
              </a:gsLst>
              <a:lin ang="5400000" scaled="1"/>
            </a:gradFill>
            <a:ln w="25400" algn="ctr">
              <a:solidFill>
                <a:schemeClr val="tx1"/>
              </a:solidFill>
              <a:miter lim="800000"/>
              <a:headEnd/>
              <a:tailEnd/>
            </a:ln>
          </p:spPr>
          <p:txBody>
            <a:bodyPr wrap="none" anchor="ctr"/>
            <a:lstStyle/>
            <a:p>
              <a:pPr algn="ctr"/>
              <a:endParaRPr lang="zh-CN" altLang="zh-CN"/>
            </a:p>
          </p:txBody>
        </p:sp>
      </p:grpSp>
      <p:grpSp>
        <p:nvGrpSpPr>
          <p:cNvPr id="3" name="Group 35"/>
          <p:cNvGrpSpPr>
            <a:grpSpLocks/>
          </p:cNvGrpSpPr>
          <p:nvPr/>
        </p:nvGrpSpPr>
        <p:grpSpPr bwMode="auto">
          <a:xfrm>
            <a:off x="5689600" y="3352800"/>
            <a:ext cx="3382963" cy="911225"/>
            <a:chOff x="3493" y="2096"/>
            <a:chExt cx="2131" cy="574"/>
          </a:xfrm>
        </p:grpSpPr>
        <p:sp>
          <p:nvSpPr>
            <p:cNvPr id="34836" name="Text Box 23"/>
            <p:cNvSpPr txBox="1">
              <a:spLocks noChangeArrowheads="1"/>
            </p:cNvSpPr>
            <p:nvPr/>
          </p:nvSpPr>
          <p:spPr bwMode="auto">
            <a:xfrm>
              <a:off x="3493" y="2096"/>
              <a:ext cx="2131" cy="574"/>
            </a:xfrm>
            <a:prstGeom prst="rect">
              <a:avLst/>
            </a:prstGeom>
            <a:noFill/>
            <a:ln w="25400" algn="ctr">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lang="zh-CN" altLang="en-US" sz="2600">
                  <a:latin typeface="楷体_GB2312" pitchFamily="49" charset="-122"/>
                  <a:ea typeface="楷体_GB2312" pitchFamily="49" charset="-122"/>
                </a:rPr>
                <a:t>概念模型   逻辑模型</a:t>
              </a:r>
            </a:p>
            <a:p>
              <a:pPr algn="ctr" eaLnBrk="1" hangingPunct="1"/>
              <a:r>
                <a:rPr lang="zh-CN" altLang="en-US" sz="2600">
                  <a:solidFill>
                    <a:srgbClr val="FF0000"/>
                  </a:solidFill>
                  <a:latin typeface="楷体_GB2312" pitchFamily="49" charset="-122"/>
                  <a:ea typeface="楷体_GB2312" pitchFamily="49" charset="-122"/>
                </a:rPr>
                <a:t>数据库设计人员</a:t>
              </a:r>
              <a:r>
                <a:rPr lang="zh-CN" altLang="en-US" sz="2600">
                  <a:latin typeface="楷体_GB2312" pitchFamily="49" charset="-122"/>
                  <a:ea typeface="楷体_GB2312" pitchFamily="49" charset="-122"/>
                </a:rPr>
                <a:t>完成</a:t>
              </a:r>
            </a:p>
          </p:txBody>
        </p:sp>
        <p:sp>
          <p:nvSpPr>
            <p:cNvPr id="34837" name="AutoShape 24"/>
            <p:cNvSpPr>
              <a:spLocks noChangeArrowheads="1"/>
            </p:cNvSpPr>
            <p:nvPr/>
          </p:nvSpPr>
          <p:spPr bwMode="auto">
            <a:xfrm>
              <a:off x="4409" y="2236"/>
              <a:ext cx="218" cy="90"/>
            </a:xfrm>
            <a:prstGeom prst="rightArrow">
              <a:avLst>
                <a:gd name="adj1" fmla="val 50000"/>
                <a:gd name="adj2" fmla="val 60556"/>
              </a:avLst>
            </a:prstGeom>
            <a:gradFill rotWithShape="0">
              <a:gsLst>
                <a:gs pos="0">
                  <a:srgbClr val="FFFFFF"/>
                </a:gs>
                <a:gs pos="100000">
                  <a:srgbClr val="BBBBBB"/>
                </a:gs>
              </a:gsLst>
              <a:lin ang="5400000" scaled="1"/>
            </a:gradFill>
            <a:ln w="25400" algn="ctr">
              <a:solidFill>
                <a:schemeClr val="tx1"/>
              </a:solidFill>
              <a:miter lim="800000"/>
              <a:headEnd/>
              <a:tailEnd/>
            </a:ln>
          </p:spPr>
          <p:txBody>
            <a:bodyPr wrap="none" anchor="ctr"/>
            <a:lstStyle/>
            <a:p>
              <a:endParaRPr lang="zh-CN" altLang="en-US"/>
            </a:p>
          </p:txBody>
        </p:sp>
      </p:grpSp>
      <p:grpSp>
        <p:nvGrpSpPr>
          <p:cNvPr id="4" name="Group 34"/>
          <p:cNvGrpSpPr>
            <a:grpSpLocks/>
          </p:cNvGrpSpPr>
          <p:nvPr/>
        </p:nvGrpSpPr>
        <p:grpSpPr bwMode="auto">
          <a:xfrm>
            <a:off x="5724525" y="4510088"/>
            <a:ext cx="3384550" cy="911225"/>
            <a:chOff x="3515" y="3022"/>
            <a:chExt cx="2132" cy="574"/>
          </a:xfrm>
        </p:grpSpPr>
        <p:sp>
          <p:nvSpPr>
            <p:cNvPr id="34834" name="Text Box 31"/>
            <p:cNvSpPr txBox="1">
              <a:spLocks noChangeArrowheads="1"/>
            </p:cNvSpPr>
            <p:nvPr/>
          </p:nvSpPr>
          <p:spPr bwMode="auto">
            <a:xfrm>
              <a:off x="3515" y="3022"/>
              <a:ext cx="2132" cy="574"/>
            </a:xfrm>
            <a:prstGeom prst="rect">
              <a:avLst/>
            </a:prstGeom>
            <a:noFill/>
            <a:ln w="25400" algn="ctr">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lang="zh-CN" altLang="en-US" sz="2600">
                  <a:latin typeface="楷体_GB2312" pitchFamily="49" charset="-122"/>
                  <a:ea typeface="楷体_GB2312" pitchFamily="49" charset="-122"/>
                </a:rPr>
                <a:t>逻辑模型   物理模型</a:t>
              </a:r>
            </a:p>
            <a:p>
              <a:pPr algn="ctr" eaLnBrk="1" hangingPunct="1"/>
              <a:r>
                <a:rPr lang="zh-CN" altLang="en-US" sz="2600">
                  <a:solidFill>
                    <a:srgbClr val="0000FF"/>
                  </a:solidFill>
                  <a:latin typeface="楷体_GB2312" pitchFamily="49" charset="-122"/>
                  <a:ea typeface="楷体_GB2312" pitchFamily="49" charset="-122"/>
                </a:rPr>
                <a:t>由</a:t>
              </a:r>
              <a:r>
                <a:rPr lang="en-US" altLang="zh-CN" sz="2600">
                  <a:solidFill>
                    <a:srgbClr val="0000FF"/>
                  </a:solidFill>
                  <a:latin typeface="楷体_GB2312" pitchFamily="49" charset="-122"/>
                  <a:ea typeface="楷体_GB2312" pitchFamily="49" charset="-122"/>
                </a:rPr>
                <a:t>DBMS</a:t>
              </a:r>
              <a:r>
                <a:rPr lang="zh-CN" altLang="en-US" sz="2600">
                  <a:solidFill>
                    <a:srgbClr val="0000FF"/>
                  </a:solidFill>
                  <a:latin typeface="楷体_GB2312" pitchFamily="49" charset="-122"/>
                  <a:ea typeface="楷体_GB2312" pitchFamily="49" charset="-122"/>
                </a:rPr>
                <a:t>完成</a:t>
              </a:r>
            </a:p>
          </p:txBody>
        </p:sp>
        <p:sp>
          <p:nvSpPr>
            <p:cNvPr id="34835" name="AutoShape 32"/>
            <p:cNvSpPr>
              <a:spLocks noChangeArrowheads="1"/>
            </p:cNvSpPr>
            <p:nvPr/>
          </p:nvSpPr>
          <p:spPr bwMode="auto">
            <a:xfrm>
              <a:off x="4476" y="3159"/>
              <a:ext cx="218" cy="90"/>
            </a:xfrm>
            <a:prstGeom prst="rightArrow">
              <a:avLst>
                <a:gd name="adj1" fmla="val 50000"/>
                <a:gd name="adj2" fmla="val 60556"/>
              </a:avLst>
            </a:prstGeom>
            <a:gradFill rotWithShape="0">
              <a:gsLst>
                <a:gs pos="0">
                  <a:srgbClr val="FFFFFF"/>
                </a:gs>
                <a:gs pos="100000">
                  <a:srgbClr val="BBBBBB"/>
                </a:gs>
              </a:gsLst>
              <a:lin ang="5400000" scaled="1"/>
            </a:gradFill>
            <a:ln w="25400" algn="ctr">
              <a:solidFill>
                <a:schemeClr val="tx1"/>
              </a:solidFill>
              <a:miter lim="800000"/>
              <a:headEnd/>
              <a:tailEnd/>
            </a:ln>
          </p:spPr>
          <p:txBody>
            <a:bodyPr wrap="none" anchor="ctr"/>
            <a:lstStyle/>
            <a:p>
              <a:endParaRPr lang="zh-CN" altLang="en-US"/>
            </a:p>
          </p:txBody>
        </p:sp>
      </p:grpSp>
      <p:sp>
        <p:nvSpPr>
          <p:cNvPr id="35" name="椭圆形标注 34"/>
          <p:cNvSpPr/>
          <p:nvPr/>
        </p:nvSpPr>
        <p:spPr>
          <a:xfrm>
            <a:off x="7331075" y="1052513"/>
            <a:ext cx="1714500" cy="722312"/>
          </a:xfrm>
          <a:prstGeom prst="wedgeEllipseCallout">
            <a:avLst>
              <a:gd name="adj1" fmla="val -47947"/>
              <a:gd name="adj2" fmla="val 99385"/>
            </a:avLst>
          </a:prstGeom>
          <a:solidFill>
            <a:srgbClr val="FFA143"/>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chemeClr val="tx1"/>
                </a:solidFill>
              </a:rPr>
              <a:t>画</a:t>
            </a:r>
            <a:r>
              <a:rPr lang="en-US" altLang="zh-CN" b="1" dirty="0">
                <a:solidFill>
                  <a:schemeClr val="tx1"/>
                </a:solidFill>
              </a:rPr>
              <a:t>E-R</a:t>
            </a:r>
            <a:r>
              <a:rPr lang="zh-CN" altLang="en-US" b="1" dirty="0">
                <a:solidFill>
                  <a:schemeClr val="tx1"/>
                </a:solidFill>
              </a:rPr>
              <a:t>图</a:t>
            </a:r>
          </a:p>
        </p:txBody>
      </p:sp>
      <p:sp>
        <p:nvSpPr>
          <p:cNvPr id="25" name="云形标注 24"/>
          <p:cNvSpPr/>
          <p:nvPr/>
        </p:nvSpPr>
        <p:spPr>
          <a:xfrm>
            <a:off x="71438" y="3071813"/>
            <a:ext cx="2071687" cy="785812"/>
          </a:xfrm>
          <a:prstGeom prst="cloudCallout">
            <a:avLst>
              <a:gd name="adj1" fmla="val 74838"/>
              <a:gd name="adj2" fmla="val 41516"/>
            </a:avLst>
          </a:prstGeom>
          <a:solidFill>
            <a:srgbClr val="AFFDE9"/>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0000FF"/>
                </a:solidFill>
              </a:rPr>
              <a:t>信息世界</a:t>
            </a:r>
          </a:p>
        </p:txBody>
      </p:sp>
      <p:sp>
        <p:nvSpPr>
          <p:cNvPr id="26" name="云形标注 25"/>
          <p:cNvSpPr/>
          <p:nvPr/>
        </p:nvSpPr>
        <p:spPr>
          <a:xfrm>
            <a:off x="0" y="5429250"/>
            <a:ext cx="2000250" cy="1143000"/>
          </a:xfrm>
          <a:prstGeom prst="cloudCallout">
            <a:avLst>
              <a:gd name="adj1" fmla="val 64049"/>
              <a:gd name="adj2" fmla="val -87127"/>
            </a:avLst>
          </a:prstGeom>
          <a:solidFill>
            <a:srgbClr val="AFFDE9"/>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rgbClr val="0000FF"/>
                </a:solidFill>
              </a:rPr>
              <a:t>机器世界</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52"/>
                                        </p:tgtEl>
                                        <p:attrNameLst>
                                          <p:attrName>style.visibility</p:attrName>
                                        </p:attrNameLst>
                                      </p:cBhvr>
                                      <p:to>
                                        <p:strVal val="visible"/>
                                      </p:to>
                                    </p:set>
                                    <p:animEffect transition="in" filter="blinds(horizontal)">
                                      <p:cBhvr>
                                        <p:cTn id="7" dur="500"/>
                                        <p:tgtEl>
                                          <p:spTgt spid="358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853"/>
                                        </p:tgtEl>
                                        <p:attrNameLst>
                                          <p:attrName>style.visibility</p:attrName>
                                        </p:attrNameLst>
                                      </p:cBhvr>
                                      <p:to>
                                        <p:strVal val="visible"/>
                                      </p:to>
                                    </p:set>
                                    <p:animEffect transition="in" filter="blinds(horizontal)">
                                      <p:cBhvr>
                                        <p:cTn id="12" dur="500"/>
                                        <p:tgtEl>
                                          <p:spTgt spid="358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5850"/>
                                        </p:tgtEl>
                                        <p:attrNameLst>
                                          <p:attrName>style.visibility</p:attrName>
                                        </p:attrNameLst>
                                      </p:cBhvr>
                                      <p:to>
                                        <p:strVal val="visible"/>
                                      </p:to>
                                    </p:set>
                                    <p:animEffect transition="in" filter="box(in)">
                                      <p:cBhvr>
                                        <p:cTn id="17" dur="500"/>
                                        <p:tgtEl>
                                          <p:spTgt spid="358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35851"/>
                                        </p:tgtEl>
                                        <p:attrNameLst>
                                          <p:attrName>style.visibility</p:attrName>
                                        </p:attrNameLst>
                                      </p:cBhvr>
                                      <p:to>
                                        <p:strVal val="visible"/>
                                      </p:to>
                                    </p:set>
                                    <p:anim calcmode="lin" valueType="num">
                                      <p:cBhvr additive="base">
                                        <p:cTn id="22" dur="500" fill="hold"/>
                                        <p:tgtEl>
                                          <p:spTgt spid="35851"/>
                                        </p:tgtEl>
                                        <p:attrNameLst>
                                          <p:attrName>ppt_x</p:attrName>
                                        </p:attrNameLst>
                                      </p:cBhvr>
                                      <p:tavLst>
                                        <p:tav tm="0">
                                          <p:val>
                                            <p:strVal val="0-#ppt_w/2"/>
                                          </p:val>
                                        </p:tav>
                                        <p:tav tm="100000">
                                          <p:val>
                                            <p:strVal val="#ppt_x"/>
                                          </p:val>
                                        </p:tav>
                                      </p:tavLst>
                                    </p:anim>
                                    <p:anim calcmode="lin" valueType="num">
                                      <p:cBhvr additive="base">
                                        <p:cTn id="23" dur="500" fill="hold"/>
                                        <p:tgtEl>
                                          <p:spTgt spid="35851"/>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5854"/>
                                        </p:tgtEl>
                                        <p:attrNameLst>
                                          <p:attrName>style.visibility</p:attrName>
                                        </p:attrNameLst>
                                      </p:cBhvr>
                                      <p:to>
                                        <p:strVal val="visible"/>
                                      </p:to>
                                    </p:set>
                                    <p:animEffect transition="in" filter="blinds(horizontal)">
                                      <p:cBhvr>
                                        <p:cTn id="28" dur="500"/>
                                        <p:tgtEl>
                                          <p:spTgt spid="3585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35849"/>
                                        </p:tgtEl>
                                        <p:attrNameLst>
                                          <p:attrName>style.visibility</p:attrName>
                                        </p:attrNameLst>
                                      </p:cBhvr>
                                      <p:to>
                                        <p:strVal val="visible"/>
                                      </p:to>
                                    </p:set>
                                    <p:animEffect transition="in" filter="box(in)">
                                      <p:cBhvr>
                                        <p:cTn id="33" dur="500"/>
                                        <p:tgtEl>
                                          <p:spTgt spid="3584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500" fill="hold"/>
                                        <p:tgtEl>
                                          <p:spTgt spid="25"/>
                                        </p:tgtEl>
                                        <p:attrNameLst>
                                          <p:attrName>ppt_x</p:attrName>
                                        </p:attrNameLst>
                                      </p:cBhvr>
                                      <p:tavLst>
                                        <p:tav tm="0">
                                          <p:val>
                                            <p:strVal val="0-#ppt_w/2"/>
                                          </p:val>
                                        </p:tav>
                                        <p:tav tm="100000">
                                          <p:val>
                                            <p:strVal val="#ppt_x"/>
                                          </p:val>
                                        </p:tav>
                                      </p:tavLst>
                                    </p:anim>
                                    <p:anim calcmode="lin" valueType="num">
                                      <p:cBhvr additive="base">
                                        <p:cTn id="39"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5855"/>
                                        </p:tgtEl>
                                        <p:attrNameLst>
                                          <p:attrName>style.visibility</p:attrName>
                                        </p:attrNameLst>
                                      </p:cBhvr>
                                      <p:to>
                                        <p:strVal val="visible"/>
                                      </p:to>
                                    </p:set>
                                    <p:animEffect transition="in" filter="blinds(horizontal)">
                                      <p:cBhvr>
                                        <p:cTn id="44" dur="500"/>
                                        <p:tgtEl>
                                          <p:spTgt spid="3585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grpId="0" nodeType="clickEffect">
                                  <p:stCondLst>
                                    <p:cond delay="0"/>
                                  </p:stCondLst>
                                  <p:childTnLst>
                                    <p:set>
                                      <p:cBhvr>
                                        <p:cTn id="48" dur="1" fill="hold">
                                          <p:stCondLst>
                                            <p:cond delay="0"/>
                                          </p:stCondLst>
                                        </p:cTn>
                                        <p:tgtEl>
                                          <p:spTgt spid="35848"/>
                                        </p:tgtEl>
                                        <p:attrNameLst>
                                          <p:attrName>style.visibility</p:attrName>
                                        </p:attrNameLst>
                                      </p:cBhvr>
                                      <p:to>
                                        <p:strVal val="visible"/>
                                      </p:to>
                                    </p:set>
                                    <p:animEffect transition="in" filter="box(in)">
                                      <p:cBhvr>
                                        <p:cTn id="49" dur="500"/>
                                        <p:tgtEl>
                                          <p:spTgt spid="3584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26"/>
                                        </p:tgtEl>
                                        <p:attrNameLst>
                                          <p:attrName>style.visibility</p:attrName>
                                        </p:attrNameLst>
                                      </p:cBhvr>
                                      <p:to>
                                        <p:strVal val="visible"/>
                                      </p:to>
                                    </p:set>
                                    <p:anim calcmode="lin" valueType="num">
                                      <p:cBhvr additive="base">
                                        <p:cTn id="54" dur="500" fill="hold"/>
                                        <p:tgtEl>
                                          <p:spTgt spid="26"/>
                                        </p:tgtEl>
                                        <p:attrNameLst>
                                          <p:attrName>ppt_x</p:attrName>
                                        </p:attrNameLst>
                                      </p:cBhvr>
                                      <p:tavLst>
                                        <p:tav tm="0">
                                          <p:val>
                                            <p:strVal val="0-#ppt_w/2"/>
                                          </p:val>
                                        </p:tav>
                                        <p:tav tm="100000">
                                          <p:val>
                                            <p:strVal val="#ppt_x"/>
                                          </p:val>
                                        </p:tav>
                                      </p:tavLst>
                                    </p:anim>
                                    <p:anim calcmode="lin" valueType="num">
                                      <p:cBhvr additive="base">
                                        <p:cTn id="55"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nodeType="click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blinds(horizontal)">
                                      <p:cBhvr>
                                        <p:cTn id="60" dur="500"/>
                                        <p:tgtEl>
                                          <p:spTgt spid="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1"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anim calcmode="lin" valueType="num">
                                      <p:cBhvr additive="base">
                                        <p:cTn id="65" dur="500" fill="hold"/>
                                        <p:tgtEl>
                                          <p:spTgt spid="35"/>
                                        </p:tgtEl>
                                        <p:attrNameLst>
                                          <p:attrName>ppt_x</p:attrName>
                                        </p:attrNameLst>
                                      </p:cBhvr>
                                      <p:tavLst>
                                        <p:tav tm="0">
                                          <p:val>
                                            <p:strVal val="#ppt_x"/>
                                          </p:val>
                                        </p:tav>
                                        <p:tav tm="100000">
                                          <p:val>
                                            <p:strVal val="#ppt_x"/>
                                          </p:val>
                                        </p:tav>
                                      </p:tavLst>
                                    </p:anim>
                                    <p:anim calcmode="lin" valueType="num">
                                      <p:cBhvr additive="base">
                                        <p:cTn id="66" dur="500" fill="hold"/>
                                        <p:tgtEl>
                                          <p:spTgt spid="35"/>
                                        </p:tgtEl>
                                        <p:attrNameLst>
                                          <p:attrName>ppt_y</p:attrName>
                                        </p:attrNameLst>
                                      </p:cBhvr>
                                      <p:tavLst>
                                        <p:tav tm="0">
                                          <p:val>
                                            <p:strVal val="0-#ppt_h/2"/>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nodeType="clickEffect">
                                  <p:stCondLst>
                                    <p:cond delay="0"/>
                                  </p:stCondLst>
                                  <p:childTnLst>
                                    <p:set>
                                      <p:cBhvr>
                                        <p:cTn id="70" dur="1" fill="hold">
                                          <p:stCondLst>
                                            <p:cond delay="0"/>
                                          </p:stCondLst>
                                        </p:cTn>
                                        <p:tgtEl>
                                          <p:spTgt spid="3"/>
                                        </p:tgtEl>
                                        <p:attrNameLst>
                                          <p:attrName>style.visibility</p:attrName>
                                        </p:attrNameLst>
                                      </p:cBhvr>
                                      <p:to>
                                        <p:strVal val="visible"/>
                                      </p:to>
                                    </p:set>
                                    <p:animEffect transition="in" filter="blinds(horizontal)">
                                      <p:cBhvr>
                                        <p:cTn id="71" dur="500"/>
                                        <p:tgtEl>
                                          <p:spTgt spid="3"/>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nodeType="clickEffect">
                                  <p:stCondLst>
                                    <p:cond delay="0"/>
                                  </p:stCondLst>
                                  <p:childTnLst>
                                    <p:set>
                                      <p:cBhvr>
                                        <p:cTn id="75" dur="1" fill="hold">
                                          <p:stCondLst>
                                            <p:cond delay="0"/>
                                          </p:stCondLst>
                                        </p:cTn>
                                        <p:tgtEl>
                                          <p:spTgt spid="4"/>
                                        </p:tgtEl>
                                        <p:attrNameLst>
                                          <p:attrName>style.visibility</p:attrName>
                                        </p:attrNameLst>
                                      </p:cBhvr>
                                      <p:to>
                                        <p:strVal val="visible"/>
                                      </p:to>
                                    </p:set>
                                    <p:animEffect transition="in" filter="blinds(horizontal)">
                                      <p:cBhvr>
                                        <p:cTn id="7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8" grpId="0" animBg="1"/>
      <p:bldP spid="35849" grpId="0" animBg="1"/>
      <p:bldP spid="35850" grpId="0" animBg="1"/>
      <p:bldP spid="35851" grpId="0" animBg="1"/>
      <p:bldP spid="35852" grpId="0" animBg="1"/>
      <p:bldP spid="35853" grpId="0" animBg="1"/>
      <p:bldP spid="35854" grpId="0" animBg="1"/>
      <p:bldP spid="35855" grpId="0" animBg="1"/>
      <p:bldP spid="35" grpId="0" animBg="1"/>
      <p:bldP spid="25" grpId="0" animBg="1"/>
      <p:bldP spid="2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0A2A1800-8A36-40E6-B75D-6C9D4E34FCF7}" type="slidenum">
              <a:rPr lang="en-US" altLang="zh-CN" smtClean="0"/>
              <a:pPr algn="l" eaLnBrk="1" hangingPunct="1"/>
              <a:t>22</a:t>
            </a:fld>
            <a:endParaRPr lang="en-US" altLang="zh-CN" smtClean="0"/>
          </a:p>
        </p:txBody>
      </p:sp>
      <p:sp>
        <p:nvSpPr>
          <p:cNvPr id="35843" name="Rectangle 2"/>
          <p:cNvSpPr>
            <a:spLocks noGrp="1" noChangeArrowheads="1"/>
          </p:cNvSpPr>
          <p:nvPr>
            <p:ph type="title"/>
          </p:nvPr>
        </p:nvSpPr>
        <p:spPr>
          <a:xfrm>
            <a:off x="381000" y="115888"/>
            <a:ext cx="8382000" cy="914400"/>
          </a:xfrm>
        </p:spPr>
        <p:txBody>
          <a:bodyPr/>
          <a:lstStyle/>
          <a:p>
            <a:pPr eaLnBrk="1" hangingPunct="1"/>
            <a:r>
              <a:rPr lang="en-US" altLang="zh-CN" b="1" dirty="0" smtClean="0"/>
              <a:t>1.2.2  </a:t>
            </a:r>
            <a:r>
              <a:rPr lang="zh-CN" altLang="en-US" b="1" dirty="0" smtClean="0"/>
              <a:t>概念</a:t>
            </a:r>
            <a:r>
              <a:rPr lang="zh-CN" altLang="en-US" b="1" dirty="0" smtClean="0"/>
              <a:t>模型（重点）</a:t>
            </a:r>
            <a:endParaRPr lang="zh-CN" altLang="en-US" b="1" dirty="0" smtClean="0"/>
          </a:p>
        </p:txBody>
      </p:sp>
      <p:sp>
        <p:nvSpPr>
          <p:cNvPr id="35844" name="Rectangle 5"/>
          <p:cNvSpPr>
            <a:spLocks noGrp="1" noChangeArrowheads="1"/>
          </p:cNvSpPr>
          <p:nvPr>
            <p:ph type="body" idx="1"/>
          </p:nvPr>
        </p:nvSpPr>
        <p:spPr>
          <a:xfrm>
            <a:off x="1476375" y="1268413"/>
            <a:ext cx="6983413" cy="4525962"/>
          </a:xfrm>
          <a:noFill/>
        </p:spPr>
        <p:txBody>
          <a:bodyPr/>
          <a:lstStyle/>
          <a:p>
            <a:pPr eaLnBrk="1" hangingPunct="1">
              <a:lnSpc>
                <a:spcPct val="150000"/>
              </a:lnSpc>
            </a:pPr>
            <a:r>
              <a:rPr lang="zh-CN" altLang="en-US" sz="2800" b="1" smtClean="0">
                <a:ea typeface="楷体_GB2312" pitchFamily="49" charset="-122"/>
              </a:rPr>
              <a:t>信息世界中的基本概念</a:t>
            </a:r>
          </a:p>
          <a:p>
            <a:pPr eaLnBrk="1" hangingPunct="1">
              <a:lnSpc>
                <a:spcPct val="150000"/>
              </a:lnSpc>
            </a:pPr>
            <a:r>
              <a:rPr lang="zh-CN" altLang="en-US" sz="2800" b="1" smtClean="0">
                <a:ea typeface="楷体_GB2312" pitchFamily="49" charset="-122"/>
              </a:rPr>
              <a:t>概念模型的一种表示方法</a:t>
            </a:r>
            <a:endParaRPr lang="en-US" altLang="zh-CN" sz="2800" b="1" smtClean="0">
              <a:ea typeface="楷体_GB2312" pitchFamily="49" charset="-122"/>
            </a:endParaRPr>
          </a:p>
          <a:p>
            <a:pPr lvl="1" eaLnBrk="1" hangingPunct="1">
              <a:lnSpc>
                <a:spcPct val="150000"/>
              </a:lnSpc>
            </a:pPr>
            <a:r>
              <a:rPr lang="zh-CN" altLang="en-US" sz="2600" b="1" smtClean="0">
                <a:ea typeface="楷体_GB2312" pitchFamily="49" charset="-122"/>
              </a:rPr>
              <a:t>实体</a:t>
            </a:r>
            <a:r>
              <a:rPr lang="en-US" altLang="zh-CN" sz="2600" b="1" smtClean="0">
                <a:ea typeface="楷体_GB2312" pitchFamily="49" charset="-122"/>
              </a:rPr>
              <a:t>-</a:t>
            </a:r>
            <a:r>
              <a:rPr lang="zh-CN" altLang="en-US" sz="2600" b="1" smtClean="0">
                <a:ea typeface="楷体_GB2312" pitchFamily="49" charset="-122"/>
              </a:rPr>
              <a:t>联系方法，即：画</a:t>
            </a:r>
            <a:r>
              <a:rPr lang="en-US" altLang="zh-CN" sz="2600" b="1" smtClean="0">
                <a:ea typeface="楷体_GB2312" pitchFamily="49" charset="-122"/>
              </a:rPr>
              <a:t>E-R</a:t>
            </a:r>
            <a:r>
              <a:rPr lang="zh-CN" altLang="en-US" sz="2600" b="1" smtClean="0">
                <a:ea typeface="楷体_GB2312" pitchFamily="49" charset="-122"/>
              </a:rPr>
              <a:t>图的方法</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C2471D8D-F87A-4F37-9A78-5F1E393BBFA5}" type="slidenum">
              <a:rPr lang="en-US" altLang="zh-CN" smtClean="0"/>
              <a:pPr algn="l" eaLnBrk="1" hangingPunct="1"/>
              <a:t>23</a:t>
            </a:fld>
            <a:endParaRPr lang="en-US" altLang="zh-CN" smtClean="0"/>
          </a:p>
        </p:txBody>
      </p:sp>
      <p:sp>
        <p:nvSpPr>
          <p:cNvPr id="36867" name="Rectangle 2"/>
          <p:cNvSpPr>
            <a:spLocks noGrp="1" noChangeArrowheads="1"/>
          </p:cNvSpPr>
          <p:nvPr>
            <p:ph type="title"/>
          </p:nvPr>
        </p:nvSpPr>
        <p:spPr>
          <a:xfrm>
            <a:off x="381000" y="115888"/>
            <a:ext cx="8382000" cy="914400"/>
          </a:xfrm>
        </p:spPr>
        <p:txBody>
          <a:bodyPr/>
          <a:lstStyle/>
          <a:p>
            <a:pPr eaLnBrk="1" hangingPunct="1"/>
            <a:r>
              <a:rPr lang="zh-CN" altLang="en-US" b="1" smtClean="0"/>
              <a:t>一、信息世界中的基本概念</a:t>
            </a:r>
          </a:p>
        </p:txBody>
      </p:sp>
      <p:sp>
        <p:nvSpPr>
          <p:cNvPr id="37892" name="Rectangle 3"/>
          <p:cNvSpPr>
            <a:spLocks noGrp="1" noChangeArrowheads="1"/>
          </p:cNvSpPr>
          <p:nvPr>
            <p:ph type="body" idx="1"/>
          </p:nvPr>
        </p:nvSpPr>
        <p:spPr>
          <a:xfrm>
            <a:off x="468313" y="1196975"/>
            <a:ext cx="8367712" cy="2732088"/>
          </a:xfrm>
        </p:spPr>
        <p:txBody>
          <a:bodyPr/>
          <a:lstStyle/>
          <a:p>
            <a:pPr algn="just" eaLnBrk="1" hangingPunct="1">
              <a:buFont typeface="Wingdings" pitchFamily="2" charset="2"/>
              <a:buNone/>
            </a:pPr>
            <a:r>
              <a:rPr lang="en-US" altLang="zh-CN" sz="2800" b="1" smtClean="0">
                <a:ea typeface="楷体_GB2312" pitchFamily="49" charset="-122"/>
              </a:rPr>
              <a:t>(1) </a:t>
            </a:r>
            <a:r>
              <a:rPr lang="zh-CN" altLang="en-US" sz="2800" b="1" smtClean="0">
                <a:solidFill>
                  <a:srgbClr val="0000FF"/>
                </a:solidFill>
                <a:ea typeface="楷体_GB2312" pitchFamily="49" charset="-122"/>
              </a:rPr>
              <a:t>实体（</a:t>
            </a:r>
            <a:r>
              <a:rPr lang="en-US" altLang="zh-CN" sz="2800" b="1" smtClean="0">
                <a:solidFill>
                  <a:srgbClr val="0000FF"/>
                </a:solidFill>
                <a:ea typeface="楷体_GB2312" pitchFamily="49" charset="-122"/>
              </a:rPr>
              <a:t>Entity</a:t>
            </a:r>
            <a:r>
              <a:rPr lang="zh-CN" altLang="en-US" sz="2800" b="1" smtClean="0">
                <a:solidFill>
                  <a:srgbClr val="0000FF"/>
                </a:solidFill>
                <a:ea typeface="楷体_GB2312" pitchFamily="49" charset="-122"/>
              </a:rPr>
              <a:t>）</a:t>
            </a:r>
            <a:r>
              <a:rPr lang="zh-CN" altLang="en-US" sz="2800" b="1" smtClean="0">
                <a:ea typeface="楷体_GB2312" pitchFamily="49" charset="-122"/>
              </a:rPr>
              <a:t> </a:t>
            </a:r>
          </a:p>
          <a:p>
            <a:pPr lvl="1" algn="just" eaLnBrk="1" hangingPunct="1">
              <a:lnSpc>
                <a:spcPct val="130000"/>
              </a:lnSpc>
              <a:buClrTx/>
              <a:buSzPct val="75000"/>
            </a:pPr>
            <a:r>
              <a:rPr lang="zh-CN" altLang="en-US" sz="2600" b="1" smtClean="0">
                <a:ea typeface="楷体_GB2312" pitchFamily="49" charset="-122"/>
              </a:rPr>
              <a:t>客观存在并可相互区别的事物称为实体。可以是具体的人、事、物抽象的概念。</a:t>
            </a:r>
            <a:endParaRPr lang="en-US" altLang="zh-CN" sz="2600" b="1" smtClean="0">
              <a:ea typeface="楷体_GB2312" pitchFamily="49" charset="-122"/>
            </a:endParaRPr>
          </a:p>
          <a:p>
            <a:pPr lvl="1" algn="just" eaLnBrk="1" hangingPunct="1">
              <a:lnSpc>
                <a:spcPct val="130000"/>
              </a:lnSpc>
              <a:buClrTx/>
              <a:buSzPct val="75000"/>
            </a:pPr>
            <a:r>
              <a:rPr lang="zh-CN" altLang="en-US" sz="2600" b="1" smtClean="0">
                <a:ea typeface="楷体_GB2312" pitchFamily="49" charset="-122"/>
              </a:rPr>
              <a:t>一个学生，一门课，学生的一次选课，用户的一次购物，教师和院系的工作关系。</a:t>
            </a:r>
          </a:p>
        </p:txBody>
      </p:sp>
      <p:sp>
        <p:nvSpPr>
          <p:cNvPr id="887812" name="Rectangle 4"/>
          <p:cNvSpPr>
            <a:spLocks noChangeArrowheads="1"/>
          </p:cNvSpPr>
          <p:nvPr/>
        </p:nvSpPr>
        <p:spPr bwMode="auto">
          <a:xfrm>
            <a:off x="500063" y="4000500"/>
            <a:ext cx="8429625" cy="2214563"/>
          </a:xfrm>
          <a:prstGeom prst="rect">
            <a:avLst/>
          </a:prstGeom>
          <a:noFill/>
          <a:ln w="9525">
            <a:noFill/>
            <a:miter lim="800000"/>
            <a:headEnd/>
            <a:tailEnd/>
          </a:ln>
        </p:spPr>
        <p:txBody>
          <a:bodyPr/>
          <a:lstStyle/>
          <a:p>
            <a:pPr marL="342900" indent="-342900" algn="just">
              <a:spcBef>
                <a:spcPct val="20000"/>
              </a:spcBef>
              <a:buClr>
                <a:srgbClr val="669900"/>
              </a:buClr>
              <a:buSzPct val="75000"/>
              <a:buFont typeface="Wingdings" pitchFamily="2" charset="2"/>
              <a:buNone/>
              <a:defRPr/>
            </a:pPr>
            <a:r>
              <a:rPr lang="en-US" altLang="zh-CN" sz="2800" b="1" dirty="0">
                <a:latin typeface="+mn-lt"/>
                <a:ea typeface="楷体_GB2312" pitchFamily="49" charset="-122"/>
              </a:rPr>
              <a:t>(2) </a:t>
            </a:r>
            <a:r>
              <a:rPr lang="zh-CN" altLang="en-US" sz="2800" b="1" dirty="0">
                <a:solidFill>
                  <a:srgbClr val="0000FF"/>
                </a:solidFill>
                <a:latin typeface="+mn-lt"/>
                <a:ea typeface="楷体_GB2312" pitchFamily="49" charset="-122"/>
              </a:rPr>
              <a:t>属性（</a:t>
            </a:r>
            <a:r>
              <a:rPr lang="en-US" altLang="zh-CN" sz="2800" b="1" dirty="0">
                <a:solidFill>
                  <a:srgbClr val="0000FF"/>
                </a:solidFill>
                <a:latin typeface="+mn-lt"/>
                <a:ea typeface="楷体_GB2312" pitchFamily="49" charset="-122"/>
              </a:rPr>
              <a:t>Attribute</a:t>
            </a:r>
            <a:r>
              <a:rPr lang="zh-CN" altLang="en-US" sz="2800" b="1" dirty="0">
                <a:solidFill>
                  <a:srgbClr val="0000FF"/>
                </a:solidFill>
                <a:latin typeface="+mn-lt"/>
                <a:ea typeface="楷体_GB2312" pitchFamily="49" charset="-122"/>
              </a:rPr>
              <a:t>） </a:t>
            </a:r>
          </a:p>
          <a:p>
            <a:pPr marL="742950" lvl="1" indent="-285750" algn="just">
              <a:lnSpc>
                <a:spcPct val="120000"/>
              </a:lnSpc>
              <a:spcBef>
                <a:spcPct val="20000"/>
              </a:spcBef>
              <a:buSzPct val="75000"/>
              <a:buFont typeface="Wingdings" pitchFamily="2" charset="2"/>
              <a:buChar char="p"/>
              <a:defRPr/>
            </a:pPr>
            <a:r>
              <a:rPr lang="zh-CN" altLang="en-US" sz="2600" b="1" dirty="0">
                <a:ea typeface="楷体_GB2312" pitchFamily="49" charset="-122"/>
              </a:rPr>
              <a:t>实体所具有的某一特性称为属性。一个实体可以由若干个属性来刻画。</a:t>
            </a:r>
            <a:endParaRPr lang="en-US" altLang="zh-CN" sz="2600" b="1" dirty="0">
              <a:ea typeface="楷体_GB2312" pitchFamily="49" charset="-122"/>
            </a:endParaRPr>
          </a:p>
          <a:p>
            <a:pPr marL="742950" lvl="1" indent="-285750" algn="just">
              <a:lnSpc>
                <a:spcPct val="120000"/>
              </a:lnSpc>
              <a:spcBef>
                <a:spcPct val="20000"/>
              </a:spcBef>
              <a:buSzPct val="75000"/>
              <a:buFont typeface="Wingdings" pitchFamily="2" charset="2"/>
              <a:buChar char="p"/>
              <a:defRPr/>
            </a:pPr>
            <a:r>
              <a:rPr lang="zh-CN" altLang="en-US" sz="2800" b="1" dirty="0">
                <a:ea typeface="楷体_GB2312" pitchFamily="49" charset="-122"/>
              </a:rPr>
              <a:t>学生（学号，姓名，性别，年龄，所在系）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2">
                                            <p:txEl>
                                              <p:pRg st="0" end="0"/>
                                            </p:txEl>
                                          </p:spTgt>
                                        </p:tgtEl>
                                        <p:attrNameLst>
                                          <p:attrName>style.visibility</p:attrName>
                                        </p:attrNameLst>
                                      </p:cBhvr>
                                      <p:to>
                                        <p:strVal val="visible"/>
                                      </p:to>
                                    </p:set>
                                    <p:anim calcmode="lin" valueType="num">
                                      <p:cBhvr additive="base">
                                        <p:cTn id="7" dur="500" fill="hold"/>
                                        <p:tgtEl>
                                          <p:spTgt spid="378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7892">
                                            <p:txEl>
                                              <p:pRg st="1" end="1"/>
                                            </p:txEl>
                                          </p:spTgt>
                                        </p:tgtEl>
                                        <p:attrNameLst>
                                          <p:attrName>style.visibility</p:attrName>
                                        </p:attrNameLst>
                                      </p:cBhvr>
                                      <p:to>
                                        <p:strVal val="visible"/>
                                      </p:to>
                                    </p:set>
                                    <p:anim calcmode="lin" valueType="num">
                                      <p:cBhvr additive="base">
                                        <p:cTn id="11" dur="500" fill="hold"/>
                                        <p:tgtEl>
                                          <p:spTgt spid="3789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89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7892">
                                            <p:txEl>
                                              <p:pRg st="2" end="2"/>
                                            </p:txEl>
                                          </p:spTgt>
                                        </p:tgtEl>
                                        <p:attrNameLst>
                                          <p:attrName>style.visibility</p:attrName>
                                        </p:attrNameLst>
                                      </p:cBhvr>
                                      <p:to>
                                        <p:strVal val="visible"/>
                                      </p:to>
                                    </p:set>
                                    <p:anim calcmode="lin" valueType="num">
                                      <p:cBhvr additive="base">
                                        <p:cTn id="15" dur="500" fill="hold"/>
                                        <p:tgtEl>
                                          <p:spTgt spid="3789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78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87812"/>
                                        </p:tgtEl>
                                        <p:attrNameLst>
                                          <p:attrName>style.visibility</p:attrName>
                                        </p:attrNameLst>
                                      </p:cBhvr>
                                      <p:to>
                                        <p:strVal val="visible"/>
                                      </p:to>
                                    </p:set>
                                    <p:anim calcmode="lin" valueType="num">
                                      <p:cBhvr additive="base">
                                        <p:cTn id="21" dur="500" fill="hold"/>
                                        <p:tgtEl>
                                          <p:spTgt spid="887812"/>
                                        </p:tgtEl>
                                        <p:attrNameLst>
                                          <p:attrName>ppt_x</p:attrName>
                                        </p:attrNameLst>
                                      </p:cBhvr>
                                      <p:tavLst>
                                        <p:tav tm="0">
                                          <p:val>
                                            <p:strVal val="#ppt_x"/>
                                          </p:val>
                                        </p:tav>
                                        <p:tav tm="100000">
                                          <p:val>
                                            <p:strVal val="#ppt_x"/>
                                          </p:val>
                                        </p:tav>
                                      </p:tavLst>
                                    </p:anim>
                                    <p:anim calcmode="lin" valueType="num">
                                      <p:cBhvr additive="base">
                                        <p:cTn id="22" dur="500" fill="hold"/>
                                        <p:tgtEl>
                                          <p:spTgt spid="8878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build="p"/>
      <p:bldP spid="8878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41AE3198-2C27-4265-BBC8-BB767F5B8A19}" type="slidenum">
              <a:rPr lang="en-US" altLang="zh-CN" smtClean="0"/>
              <a:pPr algn="l" eaLnBrk="1" hangingPunct="1"/>
              <a:t>24</a:t>
            </a:fld>
            <a:endParaRPr lang="en-US" altLang="zh-CN" smtClean="0"/>
          </a:p>
        </p:txBody>
      </p:sp>
      <p:sp>
        <p:nvSpPr>
          <p:cNvPr id="37891" name="Rectangle 2"/>
          <p:cNvSpPr>
            <a:spLocks noGrp="1" noChangeArrowheads="1"/>
          </p:cNvSpPr>
          <p:nvPr>
            <p:ph type="title"/>
          </p:nvPr>
        </p:nvSpPr>
        <p:spPr>
          <a:xfrm>
            <a:off x="381000" y="115888"/>
            <a:ext cx="8382000" cy="914400"/>
          </a:xfrm>
        </p:spPr>
        <p:txBody>
          <a:bodyPr/>
          <a:lstStyle/>
          <a:p>
            <a:pPr eaLnBrk="1" hangingPunct="1"/>
            <a:r>
              <a:rPr lang="zh-CN" altLang="en-US" b="1" smtClean="0"/>
              <a:t>信息世界中的基本概念</a:t>
            </a:r>
            <a:r>
              <a:rPr lang="en-US" altLang="zh-CN" b="1" smtClean="0"/>
              <a:t>(</a:t>
            </a:r>
            <a:r>
              <a:rPr lang="zh-CN" altLang="en-US" b="1" smtClean="0"/>
              <a:t>续</a:t>
            </a:r>
            <a:r>
              <a:rPr lang="en-US" altLang="zh-CN" b="1" smtClean="0"/>
              <a:t>)</a:t>
            </a:r>
          </a:p>
        </p:txBody>
      </p:sp>
      <p:sp>
        <p:nvSpPr>
          <p:cNvPr id="888836" name="Rectangle 4"/>
          <p:cNvSpPr>
            <a:spLocks noChangeArrowheads="1"/>
          </p:cNvSpPr>
          <p:nvPr/>
        </p:nvSpPr>
        <p:spPr bwMode="auto">
          <a:xfrm>
            <a:off x="500063" y="1214438"/>
            <a:ext cx="8424862" cy="258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30000"/>
              </a:lnSpc>
              <a:spcBef>
                <a:spcPct val="20000"/>
              </a:spcBef>
              <a:buClr>
                <a:srgbClr val="669900"/>
              </a:buClr>
              <a:buSzPct val="75000"/>
              <a:buFont typeface="Wingdings" pitchFamily="2" charset="2"/>
              <a:buNone/>
            </a:pPr>
            <a:r>
              <a:rPr lang="en-US" altLang="zh-CN" sz="2800" b="1">
                <a:ea typeface="楷体_GB2312" pitchFamily="49" charset="-122"/>
              </a:rPr>
              <a:t>(3) </a:t>
            </a:r>
            <a:r>
              <a:rPr lang="zh-CN" altLang="en-US" sz="2800" b="1">
                <a:solidFill>
                  <a:srgbClr val="0000FF"/>
                </a:solidFill>
                <a:ea typeface="楷体_GB2312" pitchFamily="49" charset="-122"/>
              </a:rPr>
              <a:t>实体型（</a:t>
            </a:r>
            <a:r>
              <a:rPr lang="en-US" altLang="zh-CN" sz="2800" b="1">
                <a:solidFill>
                  <a:srgbClr val="0000FF"/>
                </a:solidFill>
                <a:ea typeface="楷体_GB2312" pitchFamily="49" charset="-122"/>
              </a:rPr>
              <a:t>Entity Type</a:t>
            </a:r>
            <a:r>
              <a:rPr lang="zh-CN" altLang="en-US" sz="2800" b="1">
                <a:solidFill>
                  <a:srgbClr val="0000FF"/>
                </a:solidFill>
                <a:ea typeface="楷体_GB2312" pitchFamily="49" charset="-122"/>
              </a:rPr>
              <a:t>） </a:t>
            </a:r>
          </a:p>
          <a:p>
            <a:pPr marL="742950" lvl="1" indent="-285750" algn="just">
              <a:lnSpc>
                <a:spcPct val="130000"/>
              </a:lnSpc>
              <a:spcBef>
                <a:spcPct val="20000"/>
              </a:spcBef>
              <a:buSzPct val="75000"/>
              <a:buFont typeface="Wingdings" pitchFamily="2" charset="2"/>
              <a:buChar char="p"/>
            </a:pPr>
            <a:r>
              <a:rPr lang="zh-CN" altLang="en-US" sz="2600" b="1">
                <a:ea typeface="楷体_GB2312" pitchFamily="49" charset="-122"/>
              </a:rPr>
              <a:t>用</a:t>
            </a:r>
            <a:r>
              <a:rPr lang="zh-CN" altLang="en-US" sz="2600" b="1">
                <a:solidFill>
                  <a:srgbClr val="FF0000"/>
                </a:solidFill>
                <a:ea typeface="楷体_GB2312" pitchFamily="49" charset="-122"/>
              </a:rPr>
              <a:t>实体名</a:t>
            </a:r>
            <a:r>
              <a:rPr lang="zh-CN" altLang="en-US" sz="2600" b="1">
                <a:solidFill>
                  <a:schemeClr val="tx2"/>
                </a:solidFill>
                <a:ea typeface="楷体_GB2312" pitchFamily="49" charset="-122"/>
              </a:rPr>
              <a:t>及其</a:t>
            </a:r>
            <a:r>
              <a:rPr lang="zh-CN" altLang="en-US" sz="2600" b="1">
                <a:solidFill>
                  <a:srgbClr val="FF0000"/>
                </a:solidFill>
                <a:ea typeface="楷体_GB2312" pitchFamily="49" charset="-122"/>
              </a:rPr>
              <a:t>属性名</a:t>
            </a:r>
            <a:r>
              <a:rPr lang="zh-CN" altLang="en-US" sz="2600" b="1">
                <a:ea typeface="楷体_GB2312" pitchFamily="49" charset="-122"/>
              </a:rPr>
              <a:t>集合来抽象和刻画</a:t>
            </a:r>
          </a:p>
          <a:p>
            <a:pPr marL="742950" lvl="1" indent="-285750" algn="just">
              <a:lnSpc>
                <a:spcPct val="130000"/>
              </a:lnSpc>
              <a:spcBef>
                <a:spcPct val="20000"/>
              </a:spcBef>
              <a:buSzPct val="75000"/>
              <a:buFont typeface="Wingdings" pitchFamily="2" charset="2"/>
              <a:buChar char="p"/>
            </a:pPr>
            <a:r>
              <a:rPr lang="zh-CN" altLang="en-US" sz="2600" b="1">
                <a:ea typeface="楷体_GB2312" pitchFamily="49" charset="-122"/>
              </a:rPr>
              <a:t>同类实体称为实体型</a:t>
            </a:r>
            <a:endParaRPr lang="en-US" altLang="zh-CN" sz="2600" b="1">
              <a:ea typeface="楷体_GB2312" pitchFamily="49" charset="-122"/>
            </a:endParaRPr>
          </a:p>
          <a:p>
            <a:pPr marL="742950" lvl="1" indent="-285750" algn="just">
              <a:lnSpc>
                <a:spcPct val="130000"/>
              </a:lnSpc>
              <a:spcBef>
                <a:spcPct val="20000"/>
              </a:spcBef>
              <a:buSzPct val="75000"/>
              <a:buFont typeface="Wingdings" pitchFamily="2" charset="2"/>
              <a:buChar char="p"/>
            </a:pPr>
            <a:r>
              <a:rPr lang="zh-CN" altLang="en-US" sz="2600" b="1">
                <a:solidFill>
                  <a:srgbClr val="0000FF"/>
                </a:solidFill>
                <a:ea typeface="楷体_GB2312" pitchFamily="49" charset="-122"/>
              </a:rPr>
              <a:t>学生（学号，姓名，性别，年龄，所在系）</a:t>
            </a:r>
          </a:p>
        </p:txBody>
      </p:sp>
      <p:sp>
        <p:nvSpPr>
          <p:cNvPr id="8" name="Rectangle 5"/>
          <p:cNvSpPr>
            <a:spLocks noChangeArrowheads="1"/>
          </p:cNvSpPr>
          <p:nvPr/>
        </p:nvSpPr>
        <p:spPr bwMode="auto">
          <a:xfrm>
            <a:off x="500063" y="4000500"/>
            <a:ext cx="7704137"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30000"/>
              </a:lnSpc>
              <a:spcBef>
                <a:spcPct val="20000"/>
              </a:spcBef>
              <a:buClr>
                <a:srgbClr val="669900"/>
              </a:buClr>
              <a:buSzPct val="75000"/>
            </a:pPr>
            <a:r>
              <a:rPr lang="en-US" altLang="zh-CN" sz="2800" b="1">
                <a:ea typeface="楷体_GB2312" pitchFamily="49" charset="-122"/>
              </a:rPr>
              <a:t>(4) </a:t>
            </a:r>
            <a:r>
              <a:rPr lang="zh-CN" altLang="en-US" sz="2800" b="1">
                <a:solidFill>
                  <a:srgbClr val="0000FF"/>
                </a:solidFill>
                <a:ea typeface="楷体_GB2312" pitchFamily="49" charset="-122"/>
              </a:rPr>
              <a:t>实体集（</a:t>
            </a:r>
            <a:r>
              <a:rPr lang="en-US" altLang="zh-CN" sz="2800" b="1">
                <a:solidFill>
                  <a:srgbClr val="0000FF"/>
                </a:solidFill>
                <a:ea typeface="楷体_GB2312" pitchFamily="49" charset="-122"/>
              </a:rPr>
              <a:t>Entity Set</a:t>
            </a:r>
            <a:r>
              <a:rPr lang="zh-CN" altLang="en-US" sz="2800" b="1">
                <a:solidFill>
                  <a:srgbClr val="0000FF"/>
                </a:solidFill>
                <a:ea typeface="楷体_GB2312" pitchFamily="49" charset="-122"/>
              </a:rPr>
              <a:t>） </a:t>
            </a:r>
          </a:p>
          <a:p>
            <a:pPr marL="742950" lvl="1" indent="-285750" algn="just">
              <a:lnSpc>
                <a:spcPct val="130000"/>
              </a:lnSpc>
              <a:spcBef>
                <a:spcPct val="20000"/>
              </a:spcBef>
              <a:buSzPct val="75000"/>
              <a:buFont typeface="Wingdings" pitchFamily="2" charset="2"/>
              <a:buChar char="p"/>
            </a:pPr>
            <a:r>
              <a:rPr lang="zh-CN" altLang="en-US" sz="2600" b="1">
                <a:ea typeface="楷体_GB2312" pitchFamily="49" charset="-122"/>
              </a:rPr>
              <a:t>同型实体的集合称为实体集</a:t>
            </a:r>
            <a:endParaRPr lang="en-US" altLang="zh-CN" sz="2600" b="1">
              <a:ea typeface="楷体_GB2312" pitchFamily="49" charset="-122"/>
            </a:endParaRPr>
          </a:p>
          <a:p>
            <a:pPr marL="742950" lvl="1" indent="-285750" algn="just">
              <a:lnSpc>
                <a:spcPct val="130000"/>
              </a:lnSpc>
              <a:spcBef>
                <a:spcPct val="20000"/>
              </a:spcBef>
              <a:buSzPct val="75000"/>
              <a:buFont typeface="Wingdings" pitchFamily="2" charset="2"/>
              <a:buChar char="p"/>
            </a:pPr>
            <a:r>
              <a:rPr lang="zh-CN" altLang="en-US" sz="2600" b="1">
                <a:ea typeface="楷体_GB2312" pitchFamily="49" charset="-122"/>
              </a:rPr>
              <a:t>全体学生就是一个实体集。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888836"/>
                                        </p:tgtEl>
                                        <p:attrNameLst>
                                          <p:attrName>style.visibility</p:attrName>
                                        </p:attrNameLst>
                                      </p:cBhvr>
                                      <p:to>
                                        <p:strVal val="visible"/>
                                      </p:to>
                                    </p:set>
                                    <p:anim calcmode="lin" valueType="num">
                                      <p:cBhvr>
                                        <p:cTn id="7" dur="500" fill="hold"/>
                                        <p:tgtEl>
                                          <p:spTgt spid="888836"/>
                                        </p:tgtEl>
                                        <p:attrNameLst>
                                          <p:attrName>ppt_w</p:attrName>
                                        </p:attrNameLst>
                                      </p:cBhvr>
                                      <p:tavLst>
                                        <p:tav tm="0">
                                          <p:val>
                                            <p:strVal val="#ppt_w*0.05"/>
                                          </p:val>
                                        </p:tav>
                                        <p:tav tm="100000">
                                          <p:val>
                                            <p:strVal val="#ppt_w"/>
                                          </p:val>
                                        </p:tav>
                                      </p:tavLst>
                                    </p:anim>
                                    <p:anim calcmode="lin" valueType="num">
                                      <p:cBhvr>
                                        <p:cTn id="8" dur="500" fill="hold"/>
                                        <p:tgtEl>
                                          <p:spTgt spid="888836"/>
                                        </p:tgtEl>
                                        <p:attrNameLst>
                                          <p:attrName>ppt_h</p:attrName>
                                        </p:attrNameLst>
                                      </p:cBhvr>
                                      <p:tavLst>
                                        <p:tav tm="0">
                                          <p:val>
                                            <p:strVal val="#ppt_h"/>
                                          </p:val>
                                        </p:tav>
                                        <p:tav tm="100000">
                                          <p:val>
                                            <p:strVal val="#ppt_h"/>
                                          </p:val>
                                        </p:tav>
                                      </p:tavLst>
                                    </p:anim>
                                    <p:anim calcmode="lin" valueType="num">
                                      <p:cBhvr>
                                        <p:cTn id="9" dur="500" fill="hold"/>
                                        <p:tgtEl>
                                          <p:spTgt spid="888836"/>
                                        </p:tgtEl>
                                        <p:attrNameLst>
                                          <p:attrName>ppt_x</p:attrName>
                                        </p:attrNameLst>
                                      </p:cBhvr>
                                      <p:tavLst>
                                        <p:tav tm="0">
                                          <p:val>
                                            <p:strVal val="#ppt_x-.2"/>
                                          </p:val>
                                        </p:tav>
                                        <p:tav tm="100000">
                                          <p:val>
                                            <p:strVal val="#ppt_x"/>
                                          </p:val>
                                        </p:tav>
                                      </p:tavLst>
                                    </p:anim>
                                    <p:anim calcmode="lin" valueType="num">
                                      <p:cBhvr>
                                        <p:cTn id="10" dur="500" fill="hold"/>
                                        <p:tgtEl>
                                          <p:spTgt spid="888836"/>
                                        </p:tgtEl>
                                        <p:attrNameLst>
                                          <p:attrName>ppt_y</p:attrName>
                                        </p:attrNameLst>
                                      </p:cBhvr>
                                      <p:tavLst>
                                        <p:tav tm="0">
                                          <p:val>
                                            <p:strVal val="#ppt_y"/>
                                          </p:val>
                                        </p:tav>
                                        <p:tav tm="100000">
                                          <p:val>
                                            <p:strVal val="#ppt_y"/>
                                          </p:val>
                                        </p:tav>
                                      </p:tavLst>
                                    </p:anim>
                                    <p:animEffect transition="in" filter="fade">
                                      <p:cBhvr>
                                        <p:cTn id="11" dur="500"/>
                                        <p:tgtEl>
                                          <p:spTgt spid="88883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8836"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534DF5F3-B1F7-4A3C-A489-4E5AE5536113}" type="slidenum">
              <a:rPr lang="en-US" altLang="zh-CN" smtClean="0"/>
              <a:pPr algn="l" eaLnBrk="1" hangingPunct="1"/>
              <a:t>25</a:t>
            </a:fld>
            <a:endParaRPr lang="en-US" altLang="zh-CN" smtClean="0"/>
          </a:p>
        </p:txBody>
      </p:sp>
      <p:sp>
        <p:nvSpPr>
          <p:cNvPr id="38915" name="Rectangle 2"/>
          <p:cNvSpPr>
            <a:spLocks noGrp="1" noChangeArrowheads="1"/>
          </p:cNvSpPr>
          <p:nvPr>
            <p:ph type="title"/>
          </p:nvPr>
        </p:nvSpPr>
        <p:spPr>
          <a:xfrm>
            <a:off x="381000" y="115888"/>
            <a:ext cx="8382000" cy="914400"/>
          </a:xfrm>
        </p:spPr>
        <p:txBody>
          <a:bodyPr/>
          <a:lstStyle/>
          <a:p>
            <a:pPr eaLnBrk="1" hangingPunct="1"/>
            <a:r>
              <a:rPr lang="zh-CN" altLang="en-US" b="1" smtClean="0"/>
              <a:t>信息世界中的基本概念</a:t>
            </a:r>
            <a:r>
              <a:rPr lang="en-US" altLang="zh-CN" b="1" smtClean="0"/>
              <a:t>(</a:t>
            </a:r>
            <a:r>
              <a:rPr lang="zh-CN" altLang="en-US" b="1" smtClean="0"/>
              <a:t>续</a:t>
            </a:r>
            <a:r>
              <a:rPr lang="en-US" altLang="zh-CN" b="1" smtClean="0"/>
              <a:t>)</a:t>
            </a:r>
          </a:p>
        </p:txBody>
      </p:sp>
      <p:sp>
        <p:nvSpPr>
          <p:cNvPr id="39940" name="Rectangle 3"/>
          <p:cNvSpPr>
            <a:spLocks noGrp="1" noChangeArrowheads="1"/>
          </p:cNvSpPr>
          <p:nvPr>
            <p:ph type="body" idx="1"/>
          </p:nvPr>
        </p:nvSpPr>
        <p:spPr>
          <a:xfrm>
            <a:off x="71438" y="3411538"/>
            <a:ext cx="9036050" cy="3160712"/>
          </a:xfrm>
        </p:spPr>
        <p:txBody>
          <a:bodyPr/>
          <a:lstStyle/>
          <a:p>
            <a:pPr algn="just" eaLnBrk="1" hangingPunct="1">
              <a:lnSpc>
                <a:spcPct val="130000"/>
              </a:lnSpc>
              <a:buFont typeface="Wingdings" pitchFamily="2" charset="2"/>
              <a:buNone/>
            </a:pPr>
            <a:r>
              <a:rPr lang="en-US" altLang="zh-CN" sz="2800" b="1" smtClean="0">
                <a:ea typeface="楷体_GB2312" pitchFamily="49" charset="-122"/>
              </a:rPr>
              <a:t>(7) </a:t>
            </a:r>
            <a:r>
              <a:rPr lang="zh-CN" altLang="en-US" sz="2800" b="1" smtClean="0">
                <a:solidFill>
                  <a:srgbClr val="0000FF"/>
                </a:solidFill>
                <a:ea typeface="楷体_GB2312" pitchFamily="49" charset="-122"/>
              </a:rPr>
              <a:t>联系（</a:t>
            </a:r>
            <a:r>
              <a:rPr lang="en-US" altLang="zh-CN" sz="2800" b="1" smtClean="0">
                <a:solidFill>
                  <a:srgbClr val="0000FF"/>
                </a:solidFill>
                <a:ea typeface="楷体_GB2312" pitchFamily="49" charset="-122"/>
              </a:rPr>
              <a:t>Relationship</a:t>
            </a:r>
            <a:r>
              <a:rPr lang="zh-CN" altLang="en-US" sz="2800" b="1" smtClean="0">
                <a:solidFill>
                  <a:srgbClr val="0000FF"/>
                </a:solidFill>
                <a:ea typeface="楷体_GB2312" pitchFamily="49" charset="-122"/>
              </a:rPr>
              <a:t>）  </a:t>
            </a:r>
          </a:p>
          <a:p>
            <a:pPr lvl="1" algn="just" eaLnBrk="1" hangingPunct="1">
              <a:buClrTx/>
              <a:buSzPct val="75000"/>
            </a:pPr>
            <a:r>
              <a:rPr lang="zh-CN" altLang="en-US" sz="2600" b="1" smtClean="0">
                <a:latin typeface="楷体_GB2312" pitchFamily="49" charset="-122"/>
                <a:ea typeface="楷体_GB2312" pitchFamily="49" charset="-122"/>
              </a:rPr>
              <a:t>现实世界中事物内部以及事物之间的联系在信息世界中反映为</a:t>
            </a:r>
            <a:r>
              <a:rPr lang="zh-CN" altLang="en-US" sz="2600" b="1" smtClean="0">
                <a:solidFill>
                  <a:srgbClr val="0000FF"/>
                </a:solidFill>
                <a:latin typeface="楷体_GB2312" pitchFamily="49" charset="-122"/>
                <a:ea typeface="楷体_GB2312" pitchFamily="49" charset="-122"/>
              </a:rPr>
              <a:t>实体内部的联系</a:t>
            </a:r>
            <a:r>
              <a:rPr lang="zh-CN" altLang="en-US" sz="2600" b="1" smtClean="0">
                <a:latin typeface="楷体_GB2312" pitchFamily="49" charset="-122"/>
                <a:ea typeface="楷体_GB2312" pitchFamily="49" charset="-122"/>
              </a:rPr>
              <a:t>和</a:t>
            </a:r>
            <a:r>
              <a:rPr lang="zh-CN" altLang="en-US" sz="2600" b="1" smtClean="0">
                <a:solidFill>
                  <a:srgbClr val="0000FF"/>
                </a:solidFill>
                <a:latin typeface="楷体_GB2312" pitchFamily="49" charset="-122"/>
                <a:ea typeface="楷体_GB2312" pitchFamily="49" charset="-122"/>
              </a:rPr>
              <a:t>实体之间的联系</a:t>
            </a:r>
            <a:r>
              <a:rPr lang="zh-CN" altLang="en-US" sz="2600" b="1" smtClean="0">
                <a:latin typeface="楷体_GB2312" pitchFamily="49" charset="-122"/>
                <a:ea typeface="楷体_GB2312" pitchFamily="49" charset="-122"/>
              </a:rPr>
              <a:t>。</a:t>
            </a:r>
          </a:p>
          <a:p>
            <a:pPr lvl="2" algn="just" eaLnBrk="1" hangingPunct="1">
              <a:buClrTx/>
              <a:buSzPct val="75000"/>
            </a:pPr>
            <a:r>
              <a:rPr lang="zh-CN" altLang="en-US" sz="2400" b="1" smtClean="0">
                <a:solidFill>
                  <a:srgbClr val="0000FF"/>
                </a:solidFill>
                <a:latin typeface="楷体_GB2312" pitchFamily="49" charset="-122"/>
                <a:ea typeface="楷体_GB2312" pitchFamily="49" charset="-122"/>
              </a:rPr>
              <a:t>实体内部的联系</a:t>
            </a:r>
            <a:r>
              <a:rPr lang="zh-CN" altLang="en-US" sz="2400" b="1" smtClean="0">
                <a:latin typeface="楷体_GB2312" pitchFamily="49" charset="-122"/>
                <a:ea typeface="楷体_GB2312" pitchFamily="49" charset="-122"/>
              </a:rPr>
              <a:t>通常是指组成实体的各属性之间的联系。</a:t>
            </a:r>
          </a:p>
          <a:p>
            <a:pPr lvl="2" algn="just" eaLnBrk="1" hangingPunct="1">
              <a:buClrTx/>
              <a:buSzPct val="75000"/>
            </a:pPr>
            <a:r>
              <a:rPr lang="zh-CN" altLang="en-US" sz="2400" b="1" smtClean="0">
                <a:solidFill>
                  <a:srgbClr val="0000FF"/>
                </a:solidFill>
                <a:latin typeface="楷体_GB2312" pitchFamily="49" charset="-122"/>
                <a:ea typeface="楷体_GB2312" pitchFamily="49" charset="-122"/>
              </a:rPr>
              <a:t>实体之间的联系</a:t>
            </a:r>
            <a:r>
              <a:rPr lang="zh-CN" altLang="en-US" sz="2400" b="1" smtClean="0">
                <a:latin typeface="楷体_GB2312" pitchFamily="49" charset="-122"/>
                <a:ea typeface="楷体_GB2312" pitchFamily="49" charset="-122"/>
              </a:rPr>
              <a:t>通常是指不同实体集之间的联系。</a:t>
            </a:r>
            <a:endParaRPr lang="en-US" altLang="zh-CN" sz="2400" b="1" smtClean="0">
              <a:latin typeface="楷体_GB2312" pitchFamily="49" charset="-122"/>
              <a:ea typeface="楷体_GB2312" pitchFamily="49" charset="-122"/>
            </a:endParaRPr>
          </a:p>
          <a:p>
            <a:pPr lvl="2" algn="just" eaLnBrk="1" hangingPunct="1">
              <a:buClrTx/>
              <a:buSzPct val="75000"/>
            </a:pPr>
            <a:r>
              <a:rPr lang="zh-CN" altLang="en-US" sz="2400" b="1" smtClean="0">
                <a:latin typeface="楷体_GB2312" pitchFamily="49" charset="-122"/>
                <a:ea typeface="楷体_GB2312" pitchFamily="49" charset="-122"/>
              </a:rPr>
              <a:t>联系的类型：一对一，一对多，多对多</a:t>
            </a:r>
          </a:p>
        </p:txBody>
      </p:sp>
      <p:sp>
        <p:nvSpPr>
          <p:cNvPr id="7" name="Rectangle 5"/>
          <p:cNvSpPr>
            <a:spLocks noChangeArrowheads="1"/>
          </p:cNvSpPr>
          <p:nvPr/>
        </p:nvSpPr>
        <p:spPr bwMode="auto">
          <a:xfrm>
            <a:off x="71438" y="1143000"/>
            <a:ext cx="7777162" cy="1295400"/>
          </a:xfrm>
          <a:prstGeom prst="rect">
            <a:avLst/>
          </a:prstGeom>
          <a:noFill/>
          <a:ln w="9525">
            <a:noFill/>
            <a:miter lim="800000"/>
            <a:headEnd/>
            <a:tailEnd/>
          </a:ln>
        </p:spPr>
        <p:txBody>
          <a:bodyPr/>
          <a:lstStyle/>
          <a:p>
            <a:pPr marL="342900" indent="-342900" algn="just">
              <a:spcBef>
                <a:spcPct val="20000"/>
              </a:spcBef>
              <a:buClr>
                <a:srgbClr val="669900"/>
              </a:buClr>
              <a:buSzPct val="75000"/>
              <a:buFont typeface="Wingdings" pitchFamily="2" charset="2"/>
              <a:buNone/>
              <a:defRPr/>
            </a:pPr>
            <a:r>
              <a:rPr lang="en-US" altLang="zh-CN" sz="2800" b="1" kern="0" dirty="0">
                <a:latin typeface="+mn-lt"/>
                <a:ea typeface="楷体_GB2312" pitchFamily="49" charset="-122"/>
              </a:rPr>
              <a:t>(5) </a:t>
            </a:r>
            <a:r>
              <a:rPr lang="zh-CN" altLang="en-US" sz="2800" b="1" kern="0" dirty="0">
                <a:solidFill>
                  <a:srgbClr val="0000FF"/>
                </a:solidFill>
                <a:latin typeface="+mn-lt"/>
                <a:ea typeface="楷体_GB2312" pitchFamily="49" charset="-122"/>
              </a:rPr>
              <a:t>码（</a:t>
            </a:r>
            <a:r>
              <a:rPr lang="en-US" altLang="zh-CN" sz="2800" b="1" kern="0" dirty="0">
                <a:solidFill>
                  <a:srgbClr val="0000FF"/>
                </a:solidFill>
                <a:latin typeface="+mn-lt"/>
                <a:ea typeface="楷体_GB2312" pitchFamily="49" charset="-122"/>
              </a:rPr>
              <a:t>Key</a:t>
            </a:r>
            <a:r>
              <a:rPr lang="zh-CN" altLang="en-US" sz="2800" b="1" kern="0" dirty="0">
                <a:solidFill>
                  <a:srgbClr val="0000FF"/>
                </a:solidFill>
                <a:latin typeface="+mn-lt"/>
                <a:ea typeface="楷体_GB2312" pitchFamily="49" charset="-122"/>
              </a:rPr>
              <a:t>） </a:t>
            </a:r>
          </a:p>
          <a:p>
            <a:pPr marL="742950" lvl="1" indent="-285750" algn="just">
              <a:spcBef>
                <a:spcPct val="20000"/>
              </a:spcBef>
              <a:buSzPct val="75000"/>
              <a:buFont typeface="Wingdings" pitchFamily="2" charset="2"/>
              <a:buChar char="p"/>
              <a:defRPr/>
            </a:pPr>
            <a:r>
              <a:rPr lang="zh-CN" altLang="en-US" sz="2600" b="1" dirty="0">
                <a:ea typeface="楷体_GB2312" pitchFamily="49" charset="-122"/>
              </a:rPr>
              <a:t>唯一标识实体的属性集称为码。</a:t>
            </a:r>
            <a:r>
              <a:rPr lang="zh-CN" altLang="en-US" sz="3200" b="1" dirty="0"/>
              <a:t> </a:t>
            </a:r>
          </a:p>
        </p:txBody>
      </p:sp>
      <p:sp>
        <p:nvSpPr>
          <p:cNvPr id="8" name="Rectangle 3"/>
          <p:cNvSpPr txBox="1">
            <a:spLocks noChangeArrowheads="1"/>
          </p:cNvSpPr>
          <p:nvPr/>
        </p:nvSpPr>
        <p:spPr bwMode="auto">
          <a:xfrm>
            <a:off x="71438" y="2143125"/>
            <a:ext cx="8501062" cy="1285875"/>
          </a:xfrm>
          <a:prstGeom prst="rect">
            <a:avLst/>
          </a:prstGeom>
          <a:noFill/>
          <a:ln w="9525">
            <a:noFill/>
            <a:miter lim="800000"/>
            <a:headEnd/>
            <a:tailEnd/>
          </a:ln>
        </p:spPr>
        <p:txBody>
          <a:bodyPr/>
          <a:lstStyle/>
          <a:p>
            <a:pPr marL="469900" indent="-469900" algn="just">
              <a:lnSpc>
                <a:spcPct val="130000"/>
              </a:lnSpc>
              <a:spcBef>
                <a:spcPct val="20000"/>
              </a:spcBef>
              <a:buClr>
                <a:schemeClr val="accent2"/>
              </a:buClr>
              <a:buFont typeface="Wingdings" pitchFamily="2" charset="2"/>
              <a:buNone/>
              <a:defRPr/>
            </a:pPr>
            <a:r>
              <a:rPr lang="en-US" altLang="zh-CN" sz="2800" b="1" kern="0" dirty="0">
                <a:latin typeface="+mn-lt"/>
                <a:ea typeface="楷体_GB2312" pitchFamily="49" charset="-122"/>
              </a:rPr>
              <a:t>(6) </a:t>
            </a:r>
            <a:r>
              <a:rPr lang="zh-CN" altLang="en-US" sz="2800" b="1" kern="0" dirty="0">
                <a:solidFill>
                  <a:srgbClr val="0000FF"/>
                </a:solidFill>
                <a:latin typeface="+mn-lt"/>
                <a:ea typeface="楷体_GB2312" pitchFamily="49" charset="-122"/>
              </a:rPr>
              <a:t>域（</a:t>
            </a:r>
            <a:r>
              <a:rPr lang="en-US" altLang="zh-CN" sz="2800" b="1" kern="0" dirty="0">
                <a:solidFill>
                  <a:srgbClr val="0000FF"/>
                </a:solidFill>
                <a:latin typeface="+mn-lt"/>
                <a:ea typeface="楷体_GB2312" pitchFamily="49" charset="-122"/>
              </a:rPr>
              <a:t>Domain</a:t>
            </a:r>
            <a:r>
              <a:rPr lang="zh-CN" altLang="en-US" sz="2800" b="1" kern="0" dirty="0">
                <a:solidFill>
                  <a:srgbClr val="0000FF"/>
                </a:solidFill>
                <a:latin typeface="+mn-lt"/>
                <a:ea typeface="楷体_GB2312" pitchFamily="49" charset="-122"/>
              </a:rPr>
              <a:t>） </a:t>
            </a:r>
          </a:p>
          <a:p>
            <a:pPr marL="908050" lvl="1" indent="-436563" algn="just">
              <a:spcBef>
                <a:spcPct val="20000"/>
              </a:spcBef>
              <a:buSzPct val="75000"/>
              <a:buFont typeface="Wingdings" pitchFamily="2" charset="2"/>
              <a:buChar char="p"/>
              <a:defRPr/>
            </a:pPr>
            <a:r>
              <a:rPr lang="zh-CN" altLang="en-US" sz="2600" b="1" kern="0" dirty="0">
                <a:latin typeface="+mn-lt"/>
                <a:ea typeface="楷体_GB2312" pitchFamily="49" charset="-122"/>
              </a:rPr>
              <a:t>属性的取值范围称为该属性的域。</a:t>
            </a:r>
            <a:r>
              <a:rPr lang="zh-CN" altLang="en-US" sz="3200" b="1" kern="0" dirty="0">
                <a:latin typeface="+mn-lt"/>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940">
                                            <p:txEl>
                                              <p:pRg st="0" end="0"/>
                                            </p:txEl>
                                          </p:spTgt>
                                        </p:tgtEl>
                                        <p:attrNameLst>
                                          <p:attrName>style.visibility</p:attrName>
                                        </p:attrNameLst>
                                      </p:cBhvr>
                                      <p:to>
                                        <p:strVal val="visible"/>
                                      </p:to>
                                    </p:set>
                                    <p:anim calcmode="lin" valueType="num">
                                      <p:cBhvr additive="base">
                                        <p:cTn id="19" dur="500" fill="hold"/>
                                        <p:tgtEl>
                                          <p:spTgt spid="3994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940">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9940">
                                            <p:txEl>
                                              <p:pRg st="1" end="1"/>
                                            </p:txEl>
                                          </p:spTgt>
                                        </p:tgtEl>
                                        <p:attrNameLst>
                                          <p:attrName>style.visibility</p:attrName>
                                        </p:attrNameLst>
                                      </p:cBhvr>
                                      <p:to>
                                        <p:strVal val="visible"/>
                                      </p:to>
                                    </p:set>
                                    <p:anim calcmode="lin" valueType="num">
                                      <p:cBhvr additive="base">
                                        <p:cTn id="23" dur="500" fill="hold"/>
                                        <p:tgtEl>
                                          <p:spTgt spid="39940">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9940">
                                            <p:txEl>
                                              <p:pRg st="1" end="1"/>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9940">
                                            <p:txEl>
                                              <p:pRg st="2" end="2"/>
                                            </p:txEl>
                                          </p:spTgt>
                                        </p:tgtEl>
                                        <p:attrNameLst>
                                          <p:attrName>style.visibility</p:attrName>
                                        </p:attrNameLst>
                                      </p:cBhvr>
                                      <p:to>
                                        <p:strVal val="visible"/>
                                      </p:to>
                                    </p:set>
                                    <p:anim calcmode="lin" valueType="num">
                                      <p:cBhvr additive="base">
                                        <p:cTn id="27" dur="500" fill="hold"/>
                                        <p:tgtEl>
                                          <p:spTgt spid="39940">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9940">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9940">
                                            <p:txEl>
                                              <p:pRg st="3" end="3"/>
                                            </p:txEl>
                                          </p:spTgt>
                                        </p:tgtEl>
                                        <p:attrNameLst>
                                          <p:attrName>style.visibility</p:attrName>
                                        </p:attrNameLst>
                                      </p:cBhvr>
                                      <p:to>
                                        <p:strVal val="visible"/>
                                      </p:to>
                                    </p:set>
                                    <p:anim calcmode="lin" valueType="num">
                                      <p:cBhvr additive="base">
                                        <p:cTn id="31" dur="500" fill="hold"/>
                                        <p:tgtEl>
                                          <p:spTgt spid="39940">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9940">
                                            <p:txEl>
                                              <p:pRg st="3" end="3"/>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9940">
                                            <p:txEl>
                                              <p:pRg st="4" end="4"/>
                                            </p:txEl>
                                          </p:spTgt>
                                        </p:tgtEl>
                                        <p:attrNameLst>
                                          <p:attrName>style.visibility</p:attrName>
                                        </p:attrNameLst>
                                      </p:cBhvr>
                                      <p:to>
                                        <p:strVal val="visible"/>
                                      </p:to>
                                    </p:set>
                                    <p:anim calcmode="lin" valueType="num">
                                      <p:cBhvr additive="base">
                                        <p:cTn id="35" dur="500" fill="hold"/>
                                        <p:tgtEl>
                                          <p:spTgt spid="39940">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994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build="p"/>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85750" y="476250"/>
            <a:ext cx="8643938" cy="563563"/>
          </a:xfrm>
        </p:spPr>
        <p:txBody>
          <a:bodyPr/>
          <a:lstStyle/>
          <a:p>
            <a:pPr eaLnBrk="1" hangingPunct="1"/>
            <a:r>
              <a:rPr lang="zh-CN" altLang="en-US" sz="3200" b="1" smtClean="0">
                <a:solidFill>
                  <a:srgbClr val="00B050"/>
                </a:solidFill>
              </a:rPr>
              <a:t>实体</a:t>
            </a:r>
            <a:r>
              <a:rPr lang="zh-CN" altLang="en-US" sz="3200" b="1" smtClean="0"/>
              <a:t>，属性，</a:t>
            </a:r>
            <a:r>
              <a:rPr lang="zh-CN" altLang="en-US" sz="3200" b="1" smtClean="0">
                <a:solidFill>
                  <a:srgbClr val="FF0000"/>
                </a:solidFill>
              </a:rPr>
              <a:t>实体型</a:t>
            </a:r>
            <a:r>
              <a:rPr lang="zh-CN" altLang="en-US" sz="3200" b="1" smtClean="0"/>
              <a:t>，</a:t>
            </a:r>
            <a:r>
              <a:rPr lang="zh-CN" altLang="en-US" sz="3200" b="1" smtClean="0">
                <a:solidFill>
                  <a:srgbClr val="0000FF"/>
                </a:solidFill>
              </a:rPr>
              <a:t>实体集</a:t>
            </a:r>
            <a:r>
              <a:rPr lang="zh-CN" altLang="en-US" sz="3200" b="1" smtClean="0"/>
              <a:t>，码，域，联系</a:t>
            </a:r>
          </a:p>
        </p:txBody>
      </p:sp>
      <p:graphicFrame>
        <p:nvGraphicFramePr>
          <p:cNvPr id="450744" name="Group 184"/>
          <p:cNvGraphicFramePr>
            <a:graphicFrameLocks noGrp="1"/>
          </p:cNvGraphicFramePr>
          <p:nvPr>
            <p:ph sz="half" idx="1"/>
          </p:nvPr>
        </p:nvGraphicFramePr>
        <p:xfrm>
          <a:off x="457200" y="3644900"/>
          <a:ext cx="4038600" cy="2454275"/>
        </p:xfrm>
        <a:graphic>
          <a:graphicData uri="http://schemas.openxmlformats.org/drawingml/2006/table">
            <a:tbl>
              <a:tblPr/>
              <a:tblGrid>
                <a:gridCol w="884238"/>
                <a:gridCol w="1274762"/>
                <a:gridCol w="904875"/>
                <a:gridCol w="974725"/>
              </a:tblGrid>
              <a:tr h="61277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smtClean="0">
                          <a:ln>
                            <a:noFill/>
                          </a:ln>
                          <a:solidFill>
                            <a:schemeClr val="tx1"/>
                          </a:solidFill>
                          <a:effectLst/>
                          <a:latin typeface="Arial" charset="0"/>
                          <a:ea typeface="宋体"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Cno</a:t>
                      </a:r>
                    </a:p>
                  </a:txBody>
                  <a:tcPr marT="45729" marB="45729"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smtClean="0">
                          <a:ln>
                            <a:noFill/>
                          </a:ln>
                          <a:solidFill>
                            <a:schemeClr val="tx1"/>
                          </a:solidFill>
                          <a:effectLst/>
                          <a:latin typeface="Arial" charset="0"/>
                          <a:ea typeface="宋体" charset="-122"/>
                        </a:rPr>
                        <a:t>课程名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Cname</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smtClean="0">
                          <a:ln>
                            <a:noFill/>
                          </a:ln>
                          <a:solidFill>
                            <a:schemeClr val="tx1"/>
                          </a:solidFill>
                          <a:effectLst/>
                          <a:latin typeface="Arial" charset="0"/>
                          <a:ea typeface="宋体" charset="-122"/>
                        </a:rPr>
                        <a:t>先修课</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Cpno</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smtClean="0">
                          <a:ln>
                            <a:noFill/>
                          </a:ln>
                          <a:solidFill>
                            <a:schemeClr val="tx1"/>
                          </a:solidFill>
                          <a:effectLst/>
                          <a:latin typeface="Arial" charset="0"/>
                          <a:ea typeface="宋体" charset="-122"/>
                        </a:rPr>
                        <a:t>学分</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Ccredit</a:t>
                      </a:r>
                    </a:p>
                  </a:txBody>
                  <a:tcPr marT="45729" marB="4572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415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1</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2</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3</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4</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5</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6</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7</a:t>
                      </a:r>
                    </a:p>
                  </a:txBody>
                  <a:tcPr marT="45729" marB="45729"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smtClean="0">
                          <a:ln>
                            <a:noFill/>
                          </a:ln>
                          <a:solidFill>
                            <a:schemeClr val="tx1"/>
                          </a:solidFill>
                          <a:effectLst/>
                          <a:latin typeface="Arial" charset="0"/>
                          <a:ea typeface="宋体" charset="-122"/>
                        </a:rPr>
                        <a:t>数据库</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smtClean="0">
                          <a:ln>
                            <a:noFill/>
                          </a:ln>
                          <a:solidFill>
                            <a:schemeClr val="tx1"/>
                          </a:solidFill>
                          <a:effectLst/>
                          <a:latin typeface="Arial" charset="0"/>
                          <a:ea typeface="宋体" charset="-122"/>
                        </a:rPr>
                        <a:t>数学</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smtClean="0">
                          <a:ln>
                            <a:noFill/>
                          </a:ln>
                          <a:solidFill>
                            <a:schemeClr val="tx1"/>
                          </a:solidFill>
                          <a:effectLst/>
                          <a:latin typeface="Arial" charset="0"/>
                          <a:ea typeface="宋体" charset="-122"/>
                        </a:rPr>
                        <a:t>信息系统</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smtClean="0">
                          <a:ln>
                            <a:noFill/>
                          </a:ln>
                          <a:solidFill>
                            <a:schemeClr val="tx1"/>
                          </a:solidFill>
                          <a:effectLst/>
                          <a:latin typeface="Arial" charset="0"/>
                          <a:ea typeface="宋体" charset="-122"/>
                        </a:rPr>
                        <a:t>操作系统</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smtClean="0">
                          <a:ln>
                            <a:noFill/>
                          </a:ln>
                          <a:solidFill>
                            <a:schemeClr val="tx1"/>
                          </a:solidFill>
                          <a:effectLst/>
                          <a:latin typeface="Arial" charset="0"/>
                          <a:ea typeface="宋体" charset="-122"/>
                        </a:rPr>
                        <a:t>数据结构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smtClean="0">
                          <a:ln>
                            <a:noFill/>
                          </a:ln>
                          <a:solidFill>
                            <a:schemeClr val="tx1"/>
                          </a:solidFill>
                          <a:effectLst/>
                          <a:latin typeface="Arial" charset="0"/>
                          <a:ea typeface="宋体" charset="-122"/>
                        </a:rPr>
                        <a:t>数据处理</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PASCAL</a:t>
                      </a:r>
                      <a:r>
                        <a:rPr kumimoji="0" lang="zh-CN" altLang="en-US" sz="1400" b="1" i="0" u="none" strike="noStrike" cap="none" normalizeH="0" baseline="0" smtClean="0">
                          <a:ln>
                            <a:noFill/>
                          </a:ln>
                          <a:solidFill>
                            <a:schemeClr val="tx1"/>
                          </a:solidFill>
                          <a:effectLst/>
                          <a:latin typeface="Arial" charset="0"/>
                          <a:ea typeface="宋体" charset="-122"/>
                        </a:rPr>
                        <a:t>语言</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5</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1400" b="1" i="0" u="none" strike="noStrike" cap="none" normalizeH="0" baseline="0" smtClean="0">
                        <a:ln>
                          <a:noFill/>
                        </a:ln>
                        <a:solidFill>
                          <a:schemeClr val="tx1"/>
                        </a:solidFill>
                        <a:effectLst/>
                        <a:latin typeface="Arial" charset="0"/>
                        <a:ea typeface="宋体"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1</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6</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7</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1400" b="1" i="0" u="none" strike="noStrike" cap="none" normalizeH="0" baseline="0" smtClean="0">
                        <a:ln>
                          <a:noFill/>
                        </a:ln>
                        <a:solidFill>
                          <a:schemeClr val="tx1"/>
                        </a:solidFill>
                        <a:effectLst/>
                        <a:latin typeface="Arial" charset="0"/>
                        <a:ea typeface="宋体"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6</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4</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2</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4</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3</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4</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2</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charset="-122"/>
                        </a:rPr>
                        <a:t>4</a:t>
                      </a:r>
                    </a:p>
                  </a:txBody>
                  <a:tcPr marT="45729" marB="4572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50697" name="Group 137"/>
          <p:cNvGraphicFramePr>
            <a:graphicFrameLocks noGrp="1"/>
          </p:cNvGraphicFramePr>
          <p:nvPr/>
        </p:nvGraphicFramePr>
        <p:xfrm>
          <a:off x="468313" y="1643063"/>
          <a:ext cx="5113337" cy="1538287"/>
        </p:xfrm>
        <a:graphic>
          <a:graphicData uri="http://schemas.openxmlformats.org/drawingml/2006/table">
            <a:tbl>
              <a:tblPr/>
              <a:tblGrid>
                <a:gridCol w="1223962"/>
                <a:gridCol w="1008063"/>
                <a:gridCol w="936625"/>
                <a:gridCol w="936625"/>
                <a:gridCol w="1008062"/>
              </a:tblGrid>
              <a:tr h="518110">
                <a:tc>
                  <a:txBody>
                    <a:bodyPr/>
                    <a:lstStyle/>
                    <a:p>
                      <a:pPr marL="0" marR="0" lvl="0" indent="266700" algn="l"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学  号</a:t>
                      </a:r>
                    </a:p>
                    <a:p>
                      <a:pPr marL="0" marR="0" lvl="0" indent="266700" algn="l"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Sno</a:t>
                      </a:r>
                    </a:p>
                  </a:txBody>
                  <a:tcPr marT="45695" marB="45695" anchor="ct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姓  名</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Sname</a:t>
                      </a:r>
                    </a:p>
                  </a:txBody>
                  <a:tcPr marT="45695" marB="456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66700" algn="l"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性  别</a:t>
                      </a:r>
                    </a:p>
                    <a:p>
                      <a:pPr marL="0" marR="0" lvl="0" indent="266700" algn="l"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 </a:t>
                      </a: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Ssex</a:t>
                      </a:r>
                    </a:p>
                  </a:txBody>
                  <a:tcPr marT="45695" marB="456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66700" algn="l"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年  龄</a:t>
                      </a:r>
                    </a:p>
                    <a:p>
                      <a:pPr marL="0" marR="0" lvl="0" indent="266700" algn="l"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 </a:t>
                      </a: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Sage</a:t>
                      </a:r>
                    </a:p>
                  </a:txBody>
                  <a:tcPr marT="45695" marB="456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33350" algn="l"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所 在 系</a:t>
                      </a:r>
                    </a:p>
                    <a:p>
                      <a:pPr marL="0" marR="0" lvl="0" indent="133350" algn="l"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 </a:t>
                      </a: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Sdept</a:t>
                      </a:r>
                    </a:p>
                  </a:txBody>
                  <a:tcPr marT="45695" marB="45695"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20177">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200215121</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200215122</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200215123</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200515125</a:t>
                      </a:r>
                    </a:p>
                  </a:txBody>
                  <a:tcPr marT="45695" marB="45695" anchor="ct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李勇</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刘晨</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王敏</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张立</a:t>
                      </a:r>
                    </a:p>
                  </a:txBody>
                  <a:tcPr marT="45695" marB="456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男</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女</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女</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zh-CN" altLang="en-US" sz="1400" b="1" i="0" u="none" strike="noStrike" cap="none" normalizeH="0" baseline="0" smtClean="0">
                          <a:ln>
                            <a:noFill/>
                          </a:ln>
                          <a:solidFill>
                            <a:schemeClr val="tx1"/>
                          </a:solidFill>
                          <a:effectLst/>
                          <a:latin typeface="Arial" charset="0"/>
                          <a:ea typeface="宋体" pitchFamily="2" charset="-122"/>
                          <a:cs typeface="Times New Roman" pitchFamily="18" charset="0"/>
                        </a:rPr>
                        <a:t>男</a:t>
                      </a:r>
                    </a:p>
                  </a:txBody>
                  <a:tcPr marT="45695" marB="456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20</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19</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18</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19</a:t>
                      </a:r>
                    </a:p>
                  </a:txBody>
                  <a:tcPr marT="45695" marB="456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dirty="0" smtClean="0">
                          <a:ln>
                            <a:noFill/>
                          </a:ln>
                          <a:solidFill>
                            <a:schemeClr val="tx1"/>
                          </a:solidFill>
                          <a:effectLst/>
                          <a:latin typeface="Arial" charset="0"/>
                          <a:ea typeface="宋体" pitchFamily="2" charset="-122"/>
                          <a:cs typeface="Times New Roman" pitchFamily="18" charset="0"/>
                        </a:rPr>
                        <a:t>CS</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dirty="0" smtClean="0">
                          <a:ln>
                            <a:noFill/>
                          </a:ln>
                          <a:solidFill>
                            <a:schemeClr val="tx1"/>
                          </a:solidFill>
                          <a:effectLst/>
                          <a:latin typeface="Arial" charset="0"/>
                          <a:ea typeface="宋体" pitchFamily="2" charset="-122"/>
                          <a:cs typeface="Times New Roman" pitchFamily="18" charset="0"/>
                        </a:rPr>
                        <a:t>CS</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dirty="0" smtClean="0">
                          <a:ln>
                            <a:noFill/>
                          </a:ln>
                          <a:solidFill>
                            <a:schemeClr val="tx1"/>
                          </a:solidFill>
                          <a:effectLst/>
                          <a:latin typeface="Arial" charset="0"/>
                          <a:ea typeface="宋体" pitchFamily="2" charset="-122"/>
                          <a:cs typeface="Times New Roman" pitchFamily="18" charset="0"/>
                        </a:rPr>
                        <a:t>MA</a:t>
                      </a:r>
                    </a:p>
                    <a:p>
                      <a:pPr marL="0" marR="0" lvl="0" indent="0" algn="ctr" defTabSz="914400" rtl="0" eaLnBrk="0" fontAlgn="base" latinLnBrk="0" hangingPunct="0">
                        <a:lnSpc>
                          <a:spcPct val="100000"/>
                        </a:lnSpc>
                        <a:spcBef>
                          <a:spcPct val="0"/>
                        </a:spcBef>
                        <a:spcAft>
                          <a:spcPct val="0"/>
                        </a:spcAft>
                        <a:buClr>
                          <a:schemeClr val="hlink"/>
                        </a:buClr>
                        <a:buSzTx/>
                        <a:buFont typeface="Wingdings" pitchFamily="2" charset="2"/>
                        <a:buNone/>
                        <a:tabLst/>
                      </a:pPr>
                      <a:r>
                        <a:rPr kumimoji="1" lang="en-US" altLang="zh-CN" sz="1400" b="1" i="0" u="none" strike="noStrike" cap="none" normalizeH="0" baseline="0" dirty="0" smtClean="0">
                          <a:ln>
                            <a:noFill/>
                          </a:ln>
                          <a:solidFill>
                            <a:schemeClr val="tx1"/>
                          </a:solidFill>
                          <a:effectLst/>
                          <a:latin typeface="Arial" charset="0"/>
                          <a:ea typeface="宋体" pitchFamily="2" charset="-122"/>
                          <a:cs typeface="Times New Roman" pitchFamily="18" charset="0"/>
                        </a:rPr>
                        <a:t>IS</a:t>
                      </a:r>
                    </a:p>
                  </a:txBody>
                  <a:tcPr marT="45695" marB="45695"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450743" name="Group 183"/>
          <p:cNvGraphicFramePr>
            <a:graphicFrameLocks noGrp="1"/>
          </p:cNvGraphicFramePr>
          <p:nvPr>
            <p:ph sz="half" idx="2"/>
          </p:nvPr>
        </p:nvGraphicFramePr>
        <p:xfrm>
          <a:off x="4859338" y="3705225"/>
          <a:ext cx="4038600" cy="1889144"/>
        </p:xfrm>
        <a:graphic>
          <a:graphicData uri="http://schemas.openxmlformats.org/drawingml/2006/table">
            <a:tbl>
              <a:tblPr/>
              <a:tblGrid>
                <a:gridCol w="1639887"/>
                <a:gridCol w="1114425"/>
                <a:gridCol w="1284288"/>
              </a:tblGrid>
              <a:tr h="56051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dirty="0" smtClean="0">
                          <a:ln>
                            <a:noFill/>
                          </a:ln>
                          <a:solidFill>
                            <a:schemeClr val="tx1"/>
                          </a:solidFill>
                          <a:effectLst/>
                          <a:latin typeface="Arial" charset="0"/>
                          <a:ea typeface="宋体" pitchFamily="2" charset="-122"/>
                        </a:rPr>
                        <a:t>学 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dirty="0" err="1" smtClean="0">
                          <a:ln>
                            <a:noFill/>
                          </a:ln>
                          <a:solidFill>
                            <a:schemeClr val="tx1"/>
                          </a:solidFill>
                          <a:effectLst/>
                          <a:latin typeface="Arial" charset="0"/>
                          <a:ea typeface="宋体" pitchFamily="2" charset="-122"/>
                        </a:rPr>
                        <a:t>Sno</a:t>
                      </a:r>
                      <a:endParaRPr kumimoji="0" lang="en-US" altLang="zh-CN" sz="1400" b="1" i="0" u="none" strike="noStrike" cap="none" normalizeH="0" baseline="0" dirty="0" smtClean="0">
                        <a:ln>
                          <a:noFill/>
                        </a:ln>
                        <a:solidFill>
                          <a:schemeClr val="tx1"/>
                        </a:solidFill>
                        <a:effectLst/>
                        <a:latin typeface="Arial" charset="0"/>
                        <a:ea typeface="宋体" pitchFamily="2" charset="-122"/>
                      </a:endParaRPr>
                    </a:p>
                  </a:txBody>
                  <a:tcPr marT="45566" marB="45566"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dirty="0" smtClean="0">
                          <a:ln>
                            <a:noFill/>
                          </a:ln>
                          <a:solidFill>
                            <a:schemeClr val="tx1"/>
                          </a:solidFill>
                          <a:effectLst/>
                          <a:latin typeface="Arial" charset="0"/>
                          <a:ea typeface="宋体" pitchFamily="2" charset="-122"/>
                        </a:rPr>
                        <a:t> </a:t>
                      </a:r>
                      <a:r>
                        <a:rPr kumimoji="0" lang="zh-CN" altLang="en-US" sz="1400" b="1" i="0" u="none" strike="noStrike" cap="none" normalizeH="0" baseline="0" dirty="0" smtClean="0">
                          <a:ln>
                            <a:noFill/>
                          </a:ln>
                          <a:solidFill>
                            <a:schemeClr val="tx1"/>
                          </a:solidFill>
                          <a:effectLst/>
                          <a:latin typeface="Arial" charset="0"/>
                          <a:ea typeface="宋体"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dirty="0" smtClean="0">
                          <a:ln>
                            <a:noFill/>
                          </a:ln>
                          <a:solidFill>
                            <a:schemeClr val="tx1"/>
                          </a:solidFill>
                          <a:effectLst/>
                          <a:latin typeface="Arial" charset="0"/>
                          <a:ea typeface="宋体" pitchFamily="2" charset="-122"/>
                        </a:rPr>
                        <a:t>  </a:t>
                      </a:r>
                      <a:r>
                        <a:rPr kumimoji="0" lang="en-US" altLang="zh-CN" sz="1400" b="1" i="0" u="none" strike="noStrike" cap="none" normalizeH="0" baseline="0" dirty="0" err="1" smtClean="0">
                          <a:ln>
                            <a:noFill/>
                          </a:ln>
                          <a:solidFill>
                            <a:schemeClr val="tx1"/>
                          </a:solidFill>
                          <a:effectLst/>
                          <a:latin typeface="Arial" charset="0"/>
                          <a:ea typeface="宋体" pitchFamily="2" charset="-122"/>
                        </a:rPr>
                        <a:t>Cno</a:t>
                      </a:r>
                      <a:endParaRPr kumimoji="0" lang="en-US" altLang="zh-CN" sz="1400" b="1" i="0" u="none" strike="noStrike" cap="none" normalizeH="0" baseline="0" dirty="0" smtClean="0">
                        <a:ln>
                          <a:noFill/>
                        </a:ln>
                        <a:solidFill>
                          <a:schemeClr val="tx1"/>
                        </a:solidFill>
                        <a:effectLst/>
                        <a:latin typeface="Arial" charset="0"/>
                        <a:ea typeface="宋体" pitchFamily="2" charset="-122"/>
                      </a:endParaRPr>
                    </a:p>
                  </a:txBody>
                  <a:tcPr marT="45566" marB="4556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dirty="0" smtClean="0">
                          <a:ln>
                            <a:noFill/>
                          </a:ln>
                          <a:solidFill>
                            <a:schemeClr val="tx1"/>
                          </a:solidFill>
                          <a:effectLst/>
                          <a:latin typeface="Arial" charset="0"/>
                          <a:ea typeface="宋体" pitchFamily="2" charset="-122"/>
                        </a:rPr>
                        <a:t>  </a:t>
                      </a:r>
                      <a:r>
                        <a:rPr kumimoji="0" lang="zh-CN" altLang="en-US" sz="1400" b="1" i="0" u="none" strike="noStrike" cap="none" normalizeH="0" baseline="0" dirty="0" smtClean="0">
                          <a:ln>
                            <a:noFill/>
                          </a:ln>
                          <a:solidFill>
                            <a:schemeClr val="tx1"/>
                          </a:solidFill>
                          <a:effectLst/>
                          <a:latin typeface="Arial" charset="0"/>
                          <a:ea typeface="宋体" pitchFamily="2"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400" b="1" i="0" u="none" strike="noStrike" cap="none" normalizeH="0" baseline="0" dirty="0" smtClean="0">
                          <a:ln>
                            <a:noFill/>
                          </a:ln>
                          <a:solidFill>
                            <a:schemeClr val="tx1"/>
                          </a:solidFill>
                          <a:effectLst/>
                          <a:latin typeface="Arial" charset="0"/>
                          <a:ea typeface="宋体" pitchFamily="2" charset="-122"/>
                        </a:rPr>
                        <a:t>    </a:t>
                      </a:r>
                      <a:r>
                        <a:rPr kumimoji="0" lang="en-US" altLang="zh-CN" sz="1400" b="1" i="0" u="none" strike="noStrike" cap="none" normalizeH="0" baseline="0" dirty="0" smtClean="0">
                          <a:ln>
                            <a:noFill/>
                          </a:ln>
                          <a:solidFill>
                            <a:schemeClr val="tx1"/>
                          </a:solidFill>
                          <a:effectLst/>
                          <a:latin typeface="Arial" charset="0"/>
                          <a:ea typeface="宋体" pitchFamily="2" charset="-122"/>
                        </a:rPr>
                        <a:t>Grade</a:t>
                      </a:r>
                    </a:p>
                  </a:txBody>
                  <a:tcPr marT="45566" marB="45566"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2860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pitchFamily="2" charset="-122"/>
                        </a:rPr>
                        <a:t>   200215121</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pitchFamily="2" charset="-122"/>
                        </a:rPr>
                        <a:t>   200215121</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pitchFamily="2" charset="-122"/>
                        </a:rPr>
                        <a:t>   200215121</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pitchFamily="2" charset="-122"/>
                        </a:rPr>
                        <a:t>   200215122</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pitchFamily="2" charset="-122"/>
                        </a:rPr>
                        <a:t>   200215122</a:t>
                      </a:r>
                    </a:p>
                  </a:txBody>
                  <a:tcPr marT="45566" marB="45566"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pitchFamily="2" charset="-122"/>
                        </a:rPr>
                        <a:t>  1</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pitchFamily="2" charset="-122"/>
                        </a:rPr>
                        <a:t>  2</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pitchFamily="2" charset="-122"/>
                        </a:rPr>
                        <a:t>  3</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pitchFamily="2" charset="-122"/>
                        </a:rPr>
                        <a:t>  2</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smtClean="0">
                          <a:ln>
                            <a:noFill/>
                          </a:ln>
                          <a:solidFill>
                            <a:schemeClr val="tx1"/>
                          </a:solidFill>
                          <a:effectLst/>
                          <a:latin typeface="Arial" charset="0"/>
                          <a:ea typeface="宋体" pitchFamily="2" charset="-122"/>
                        </a:rPr>
                        <a:t>  3</a:t>
                      </a:r>
                    </a:p>
                  </a:txBody>
                  <a:tcPr marT="45566" marB="4556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dirty="0" smtClean="0">
                          <a:ln>
                            <a:noFill/>
                          </a:ln>
                          <a:solidFill>
                            <a:schemeClr val="tx1"/>
                          </a:solidFill>
                          <a:effectLst/>
                          <a:latin typeface="Arial" charset="0"/>
                          <a:ea typeface="宋体" pitchFamily="2" charset="-122"/>
                        </a:rPr>
                        <a:t> 92</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dirty="0" smtClean="0">
                          <a:ln>
                            <a:noFill/>
                          </a:ln>
                          <a:solidFill>
                            <a:schemeClr val="tx1"/>
                          </a:solidFill>
                          <a:effectLst/>
                          <a:latin typeface="Arial" charset="0"/>
                          <a:ea typeface="宋体" pitchFamily="2" charset="-122"/>
                        </a:rPr>
                        <a:t> 85</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dirty="0" smtClean="0">
                          <a:ln>
                            <a:noFill/>
                          </a:ln>
                          <a:solidFill>
                            <a:schemeClr val="tx1"/>
                          </a:solidFill>
                          <a:effectLst/>
                          <a:latin typeface="Arial" charset="0"/>
                          <a:ea typeface="宋体" pitchFamily="2" charset="-122"/>
                        </a:rPr>
                        <a:t> 88</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dirty="0" smtClean="0">
                          <a:ln>
                            <a:noFill/>
                          </a:ln>
                          <a:solidFill>
                            <a:schemeClr val="tx1"/>
                          </a:solidFill>
                          <a:effectLst/>
                          <a:latin typeface="Arial" charset="0"/>
                          <a:ea typeface="宋体" pitchFamily="2" charset="-122"/>
                        </a:rPr>
                        <a:t> 90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400" b="1" i="0" u="none" strike="noStrike" cap="none" normalizeH="0" baseline="0" dirty="0" smtClean="0">
                          <a:ln>
                            <a:noFill/>
                          </a:ln>
                          <a:solidFill>
                            <a:schemeClr val="tx1"/>
                          </a:solidFill>
                          <a:effectLst/>
                          <a:latin typeface="Arial" charset="0"/>
                          <a:ea typeface="宋体" pitchFamily="2" charset="-122"/>
                        </a:rPr>
                        <a:t> 80</a:t>
                      </a:r>
                    </a:p>
                  </a:txBody>
                  <a:tcPr marT="45566" marB="45566"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9984" name="Rectangle 185"/>
          <p:cNvSpPr>
            <a:spLocks noChangeArrowheads="1"/>
          </p:cNvSpPr>
          <p:nvPr/>
        </p:nvSpPr>
        <p:spPr bwMode="auto">
          <a:xfrm>
            <a:off x="2195513" y="1143000"/>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marL="342900" indent="-342900" algn="ctr"/>
            <a:r>
              <a:rPr lang="zh-CN" altLang="en-US" sz="2400" b="1"/>
              <a:t>学生</a:t>
            </a:r>
            <a:endParaRPr lang="en-US" altLang="zh-CN" sz="2400" b="1"/>
          </a:p>
        </p:txBody>
      </p:sp>
      <p:sp>
        <p:nvSpPr>
          <p:cNvPr id="39985" name="Rectangle 186"/>
          <p:cNvSpPr>
            <a:spLocks noChangeArrowheads="1"/>
          </p:cNvSpPr>
          <p:nvPr/>
        </p:nvSpPr>
        <p:spPr bwMode="auto">
          <a:xfrm>
            <a:off x="2124075" y="3214688"/>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marL="342900" indent="-342900" algn="ctr"/>
            <a:r>
              <a:rPr lang="zh-CN" altLang="en-US" sz="2400" b="1"/>
              <a:t>课程</a:t>
            </a:r>
            <a:endParaRPr lang="en-US" altLang="zh-CN" sz="2400" b="1"/>
          </a:p>
        </p:txBody>
      </p:sp>
      <p:sp>
        <p:nvSpPr>
          <p:cNvPr id="41010" name="Rectangle 187"/>
          <p:cNvSpPr>
            <a:spLocks noChangeArrowheads="1"/>
          </p:cNvSpPr>
          <p:nvPr/>
        </p:nvSpPr>
        <p:spPr bwMode="auto">
          <a:xfrm>
            <a:off x="6732588" y="3284538"/>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marL="342900" indent="-342900" algn="ctr"/>
            <a:r>
              <a:rPr lang="zh-CN" altLang="en-US" sz="2400" b="1"/>
              <a:t>选课</a:t>
            </a:r>
            <a:endParaRPr lang="en-US" altLang="zh-CN" sz="2400" b="1"/>
          </a:p>
        </p:txBody>
      </p:sp>
      <p:sp>
        <p:nvSpPr>
          <p:cNvPr id="2" name="TextBox 1"/>
          <p:cNvSpPr txBox="1">
            <a:spLocks noChangeArrowheads="1"/>
          </p:cNvSpPr>
          <p:nvPr/>
        </p:nvSpPr>
        <p:spPr bwMode="auto">
          <a:xfrm>
            <a:off x="395288" y="1143000"/>
            <a:ext cx="5184775" cy="969963"/>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endParaRPr lang="en-US" altLang="zh-CN" sz="1600"/>
          </a:p>
          <a:p>
            <a:pPr eaLnBrk="1" hangingPunct="1"/>
            <a:endParaRPr lang="en-US" altLang="zh-CN" sz="1600"/>
          </a:p>
          <a:p>
            <a:pPr eaLnBrk="1" hangingPunct="1"/>
            <a:endParaRPr lang="en-US" altLang="zh-CN" sz="1600"/>
          </a:p>
          <a:p>
            <a:pPr eaLnBrk="1" hangingPunct="1"/>
            <a:endParaRPr lang="zh-CN" altLang="en-US" sz="800"/>
          </a:p>
        </p:txBody>
      </p:sp>
      <p:sp>
        <p:nvSpPr>
          <p:cNvPr id="10" name="TextBox 9"/>
          <p:cNvSpPr txBox="1">
            <a:spLocks noChangeArrowheads="1"/>
          </p:cNvSpPr>
          <p:nvPr/>
        </p:nvSpPr>
        <p:spPr bwMode="auto">
          <a:xfrm>
            <a:off x="403225" y="2205038"/>
            <a:ext cx="5184775" cy="969962"/>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endParaRPr lang="en-US" altLang="zh-CN" sz="1600"/>
          </a:p>
          <a:p>
            <a:pPr eaLnBrk="1" hangingPunct="1"/>
            <a:endParaRPr lang="en-US" altLang="zh-CN" sz="1600"/>
          </a:p>
          <a:p>
            <a:pPr eaLnBrk="1" hangingPunct="1"/>
            <a:endParaRPr lang="en-US" altLang="zh-CN" sz="1600"/>
          </a:p>
          <a:p>
            <a:pPr eaLnBrk="1" hangingPunct="1"/>
            <a:endParaRPr lang="zh-CN" altLang="en-US" sz="800"/>
          </a:p>
        </p:txBody>
      </p:sp>
      <p:sp>
        <p:nvSpPr>
          <p:cNvPr id="11" name="TextBox 10"/>
          <p:cNvSpPr txBox="1">
            <a:spLocks noChangeArrowheads="1"/>
          </p:cNvSpPr>
          <p:nvPr/>
        </p:nvSpPr>
        <p:spPr bwMode="auto">
          <a:xfrm>
            <a:off x="403225" y="2436813"/>
            <a:ext cx="5184775" cy="214312"/>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endParaRPr lang="zh-CN" altLang="en-US" sz="800"/>
          </a:p>
        </p:txBody>
      </p:sp>
      <p:sp>
        <p:nvSpPr>
          <p:cNvPr id="12" name="TextBox 11"/>
          <p:cNvSpPr txBox="1">
            <a:spLocks noChangeArrowheads="1"/>
          </p:cNvSpPr>
          <p:nvPr/>
        </p:nvSpPr>
        <p:spPr bwMode="auto">
          <a:xfrm>
            <a:off x="395288" y="5084763"/>
            <a:ext cx="4248150" cy="215900"/>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endParaRPr lang="zh-CN" altLang="en-US" sz="800"/>
          </a:p>
        </p:txBody>
      </p:sp>
      <p:sp>
        <p:nvSpPr>
          <p:cNvPr id="13" name="TextBox 12"/>
          <p:cNvSpPr txBox="1">
            <a:spLocks noChangeArrowheads="1"/>
          </p:cNvSpPr>
          <p:nvPr/>
        </p:nvSpPr>
        <p:spPr bwMode="auto">
          <a:xfrm>
            <a:off x="5148263" y="4581525"/>
            <a:ext cx="3743325" cy="214313"/>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endParaRPr lang="zh-CN" altLang="en-US" sz="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0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074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0" grpId="0"/>
      <p:bldP spid="2" grpId="0" animBg="1"/>
      <p:bldP spid="10" grpId="0" animBg="1"/>
      <p:bldP spid="11" grpId="0" animBg="1"/>
      <p:bldP spid="12" grpId="0" animBg="1"/>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52BEEE25-66B8-47EB-946A-FD074609113A}" type="slidenum">
              <a:rPr lang="en-US" altLang="zh-CN" smtClean="0"/>
              <a:pPr algn="l" eaLnBrk="1" hangingPunct="1"/>
              <a:t>27</a:t>
            </a:fld>
            <a:endParaRPr lang="en-US" altLang="zh-CN" smtClean="0"/>
          </a:p>
        </p:txBody>
      </p:sp>
      <p:sp>
        <p:nvSpPr>
          <p:cNvPr id="40963" name="Rectangle 2"/>
          <p:cNvSpPr>
            <a:spLocks noGrp="1" noChangeArrowheads="1"/>
          </p:cNvSpPr>
          <p:nvPr>
            <p:ph type="title"/>
          </p:nvPr>
        </p:nvSpPr>
        <p:spPr>
          <a:xfrm>
            <a:off x="381000" y="115888"/>
            <a:ext cx="8382000" cy="914400"/>
          </a:xfrm>
        </p:spPr>
        <p:txBody>
          <a:bodyPr/>
          <a:lstStyle/>
          <a:p>
            <a:pPr eaLnBrk="1" hangingPunct="1"/>
            <a:r>
              <a:rPr lang="zh-CN" altLang="en-US" b="1" smtClean="0"/>
              <a:t>二、概念模型的表示方法</a:t>
            </a:r>
          </a:p>
        </p:txBody>
      </p:sp>
      <p:sp>
        <p:nvSpPr>
          <p:cNvPr id="40964" name="Rectangle 3"/>
          <p:cNvSpPr>
            <a:spLocks noGrp="1" noChangeArrowheads="1"/>
          </p:cNvSpPr>
          <p:nvPr>
            <p:ph type="body" idx="1"/>
          </p:nvPr>
        </p:nvSpPr>
        <p:spPr>
          <a:xfrm>
            <a:off x="468313" y="1341438"/>
            <a:ext cx="8229600" cy="4525962"/>
          </a:xfrm>
        </p:spPr>
        <p:txBody>
          <a:bodyPr/>
          <a:lstStyle/>
          <a:p>
            <a:pPr eaLnBrk="1" hangingPunct="1"/>
            <a:r>
              <a:rPr lang="zh-CN" altLang="en-US" sz="2800" b="1" smtClean="0">
                <a:latin typeface="楷体_GB2312" pitchFamily="49" charset="-122"/>
                <a:ea typeface="楷体_GB2312" pitchFamily="49" charset="-122"/>
              </a:rPr>
              <a:t>概念模型的表示方法很多</a:t>
            </a:r>
          </a:p>
          <a:p>
            <a:pPr lvl="2" eaLnBrk="1" hangingPunct="1"/>
            <a:endParaRPr lang="zh-CN" altLang="en-US" sz="1000" b="1" smtClean="0">
              <a:latin typeface="楷体_GB2312" pitchFamily="49" charset="-122"/>
              <a:ea typeface="楷体_GB2312" pitchFamily="49" charset="-122"/>
            </a:endParaRPr>
          </a:p>
          <a:p>
            <a:pPr eaLnBrk="1" hangingPunct="1"/>
            <a:r>
              <a:rPr lang="zh-CN" altLang="en-US" sz="2800" b="1" smtClean="0">
                <a:solidFill>
                  <a:srgbClr val="0000FF"/>
                </a:solidFill>
                <a:ea typeface="楷体_GB2312" pitchFamily="49" charset="-122"/>
              </a:rPr>
              <a:t>实体－联系方法</a:t>
            </a:r>
            <a:r>
              <a:rPr lang="en-US" altLang="zh-CN" sz="2800" b="1" smtClean="0">
                <a:solidFill>
                  <a:srgbClr val="0000FF"/>
                </a:solidFill>
                <a:ea typeface="楷体_GB2312" pitchFamily="49" charset="-122"/>
              </a:rPr>
              <a:t>(E-R</a:t>
            </a:r>
            <a:r>
              <a:rPr lang="zh-CN" altLang="en-US" sz="2800" b="1" smtClean="0">
                <a:solidFill>
                  <a:srgbClr val="0000FF"/>
                </a:solidFill>
                <a:ea typeface="楷体_GB2312" pitchFamily="49" charset="-122"/>
              </a:rPr>
              <a:t>方法</a:t>
            </a:r>
            <a:r>
              <a:rPr lang="en-US" altLang="zh-CN" sz="2800" b="1" smtClean="0">
                <a:solidFill>
                  <a:srgbClr val="0000FF"/>
                </a:solidFill>
                <a:ea typeface="楷体_GB2312" pitchFamily="49" charset="-122"/>
              </a:rPr>
              <a:t>)--(</a:t>
            </a:r>
            <a:r>
              <a:rPr lang="en-US" altLang="zh-CN" sz="2800" smtClean="0">
                <a:ea typeface="楷体_GB2312" pitchFamily="49" charset="-122"/>
              </a:rPr>
              <a:t>Entity </a:t>
            </a:r>
            <a:r>
              <a:rPr lang="en-US" altLang="zh-CN" sz="2800" smtClean="0">
                <a:solidFill>
                  <a:schemeClr val="tx2"/>
                </a:solidFill>
                <a:ea typeface="楷体_GB2312" pitchFamily="49" charset="-122"/>
              </a:rPr>
              <a:t>Relationship</a:t>
            </a:r>
            <a:r>
              <a:rPr lang="en-US" altLang="zh-CN" sz="2800" b="1" smtClean="0">
                <a:solidFill>
                  <a:srgbClr val="0000FF"/>
                </a:solidFill>
                <a:ea typeface="楷体_GB2312" pitchFamily="49" charset="-122"/>
              </a:rPr>
              <a:t>)</a:t>
            </a:r>
            <a:endParaRPr lang="en-US" altLang="zh-CN" sz="2800" smtClean="0">
              <a:ea typeface="楷体_GB2312" pitchFamily="49" charset="-122"/>
            </a:endParaRPr>
          </a:p>
          <a:p>
            <a:pPr eaLnBrk="1" hangingPunct="1"/>
            <a:r>
              <a:rPr lang="zh-CN" altLang="en-US" b="1" smtClean="0">
                <a:ea typeface="楷体_GB2312" pitchFamily="49" charset="-122"/>
              </a:rPr>
              <a:t>用</a:t>
            </a:r>
            <a:r>
              <a:rPr lang="en-US" altLang="zh-CN" b="1" smtClean="0">
                <a:ea typeface="楷体_GB2312" pitchFamily="49" charset="-122"/>
              </a:rPr>
              <a:t>E-R</a:t>
            </a:r>
            <a:r>
              <a:rPr lang="zh-CN" altLang="en-US" b="1" smtClean="0">
                <a:ea typeface="楷体_GB2312" pitchFamily="49" charset="-122"/>
              </a:rPr>
              <a:t>图来描述现实世界的概念模型</a:t>
            </a:r>
          </a:p>
          <a:p>
            <a:pPr lvl="1" eaLnBrk="1" hangingPunct="1">
              <a:lnSpc>
                <a:spcPct val="120000"/>
              </a:lnSpc>
            </a:pPr>
            <a:r>
              <a:rPr lang="en-US" altLang="zh-CN" b="1" smtClean="0">
                <a:ea typeface="楷体_GB2312" pitchFamily="49" charset="-122"/>
              </a:rPr>
              <a:t>E-R</a:t>
            </a:r>
            <a:r>
              <a:rPr lang="zh-CN" altLang="en-US" b="1" smtClean="0">
                <a:ea typeface="楷体_GB2312" pitchFamily="49" charset="-122"/>
              </a:rPr>
              <a:t>方法也称为</a:t>
            </a:r>
            <a:r>
              <a:rPr lang="en-US" altLang="zh-CN" b="1" smtClean="0">
                <a:ea typeface="楷体_GB2312" pitchFamily="49" charset="-122"/>
              </a:rPr>
              <a:t>E-R</a:t>
            </a:r>
            <a:r>
              <a:rPr lang="zh-CN" altLang="en-US" b="1" smtClean="0">
                <a:ea typeface="楷体_GB2312" pitchFamily="49" charset="-122"/>
              </a:rPr>
              <a:t>模型</a:t>
            </a:r>
          </a:p>
          <a:p>
            <a:pPr lvl="1" eaLnBrk="1" hangingPunct="1">
              <a:lnSpc>
                <a:spcPct val="120000"/>
              </a:lnSpc>
            </a:pPr>
            <a:r>
              <a:rPr lang="en-US" altLang="zh-CN" b="1" smtClean="0">
                <a:ea typeface="楷体_GB2312" pitchFamily="49" charset="-122"/>
              </a:rPr>
              <a:t>P.P.S.Chen</a:t>
            </a:r>
            <a:r>
              <a:rPr lang="zh-CN" altLang="en-US" b="1" smtClean="0">
                <a:ea typeface="楷体_GB2312" pitchFamily="49" charset="-122"/>
              </a:rPr>
              <a:t>于</a:t>
            </a:r>
            <a:r>
              <a:rPr lang="en-US" altLang="zh-CN" b="1" smtClean="0">
                <a:ea typeface="楷体_GB2312" pitchFamily="49" charset="-122"/>
              </a:rPr>
              <a:t>1976</a:t>
            </a:r>
            <a:r>
              <a:rPr lang="zh-CN" altLang="en-US" b="1" smtClean="0">
                <a:ea typeface="楷体_GB2312" pitchFamily="49" charset="-122"/>
              </a:rPr>
              <a:t>年提出</a:t>
            </a:r>
            <a:endParaRPr lang="en-US" altLang="zh-CN" b="1" smtClean="0">
              <a:ea typeface="楷体_GB2312" pitchFamily="49" charset="-122"/>
            </a:endParaRPr>
          </a:p>
          <a:p>
            <a:pPr lvl="1" eaLnBrk="1" hangingPunct="1">
              <a:lnSpc>
                <a:spcPct val="120000"/>
              </a:lnSpc>
            </a:pPr>
            <a:r>
              <a:rPr lang="zh-CN" altLang="en-US" b="1" smtClean="0">
                <a:solidFill>
                  <a:srgbClr val="FF0000"/>
                </a:solidFill>
                <a:ea typeface="楷体_GB2312" pitchFamily="49" charset="-122"/>
              </a:rPr>
              <a:t>要素</a:t>
            </a:r>
            <a:r>
              <a:rPr lang="zh-CN" altLang="en-US" b="1" smtClean="0">
                <a:ea typeface="楷体_GB2312" pitchFamily="49" charset="-122"/>
              </a:rPr>
              <a:t>：矩形，椭圆，菱形，无向边</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0731AAF3-E212-4ADE-8397-C20322183E4B}" type="slidenum">
              <a:rPr lang="en-US" altLang="zh-CN" smtClean="0"/>
              <a:pPr algn="l" eaLnBrk="1" hangingPunct="1"/>
              <a:t>28</a:t>
            </a:fld>
            <a:endParaRPr lang="en-US" altLang="zh-CN" smtClean="0"/>
          </a:p>
        </p:txBody>
      </p:sp>
      <p:sp>
        <p:nvSpPr>
          <p:cNvPr id="41987" name="Rectangle 2"/>
          <p:cNvSpPr>
            <a:spLocks noGrp="1" noChangeArrowheads="1"/>
          </p:cNvSpPr>
          <p:nvPr>
            <p:ph type="title"/>
          </p:nvPr>
        </p:nvSpPr>
        <p:spPr>
          <a:xfrm>
            <a:off x="381000" y="115888"/>
            <a:ext cx="8382000" cy="914400"/>
          </a:xfrm>
        </p:spPr>
        <p:txBody>
          <a:bodyPr/>
          <a:lstStyle/>
          <a:p>
            <a:pPr eaLnBrk="1" hangingPunct="1"/>
            <a:r>
              <a:rPr lang="en-US" altLang="zh-CN" b="1" smtClean="0"/>
              <a:t>E-R</a:t>
            </a:r>
            <a:r>
              <a:rPr lang="zh-CN" altLang="en-US" b="1" smtClean="0"/>
              <a:t>图</a:t>
            </a:r>
          </a:p>
        </p:txBody>
      </p:sp>
      <p:sp>
        <p:nvSpPr>
          <p:cNvPr id="41988" name="Rectangle 3"/>
          <p:cNvSpPr>
            <a:spLocks noGrp="1" noChangeArrowheads="1"/>
          </p:cNvSpPr>
          <p:nvPr>
            <p:ph type="body" idx="1"/>
          </p:nvPr>
        </p:nvSpPr>
        <p:spPr>
          <a:xfrm>
            <a:off x="250825" y="1268413"/>
            <a:ext cx="8893175" cy="4038600"/>
          </a:xfrm>
        </p:spPr>
        <p:txBody>
          <a:bodyPr/>
          <a:lstStyle/>
          <a:p>
            <a:pPr eaLnBrk="1" hangingPunct="1"/>
            <a:r>
              <a:rPr lang="zh-CN" altLang="en-US" sz="2600" b="1" smtClean="0">
                <a:ea typeface="楷体_GB2312" pitchFamily="49" charset="-122"/>
              </a:rPr>
              <a:t>实体</a:t>
            </a:r>
          </a:p>
          <a:p>
            <a:pPr lvl="1" eaLnBrk="1" hangingPunct="1"/>
            <a:r>
              <a:rPr lang="zh-CN" altLang="en-US" sz="2600" b="1" smtClean="0">
                <a:ea typeface="楷体_GB2312" pitchFamily="49" charset="-122"/>
              </a:rPr>
              <a:t>用矩形表示，矩形框内写明实体名。</a:t>
            </a:r>
          </a:p>
          <a:p>
            <a:pPr lvl="1" eaLnBrk="1" hangingPunct="1">
              <a:lnSpc>
                <a:spcPct val="90000"/>
              </a:lnSpc>
              <a:buFont typeface="Wingdings" pitchFamily="2" charset="2"/>
              <a:buNone/>
            </a:pPr>
            <a:endParaRPr lang="zh-CN" altLang="en-US" sz="2600" b="1" smtClean="0">
              <a:ea typeface="楷体_GB2312" pitchFamily="49" charset="-122"/>
            </a:endParaRPr>
          </a:p>
          <a:p>
            <a:pPr lvl="1" eaLnBrk="1" hangingPunct="1">
              <a:lnSpc>
                <a:spcPct val="90000"/>
              </a:lnSpc>
              <a:buFont typeface="Wingdings" pitchFamily="2" charset="2"/>
              <a:buNone/>
            </a:pPr>
            <a:endParaRPr lang="zh-CN" altLang="en-US" sz="2600" b="1" smtClean="0">
              <a:ea typeface="楷体_GB2312" pitchFamily="49" charset="-122"/>
            </a:endParaRPr>
          </a:p>
          <a:p>
            <a:pPr eaLnBrk="1" hangingPunct="1"/>
            <a:r>
              <a:rPr lang="zh-CN" altLang="en-US" sz="2600" b="1" smtClean="0">
                <a:ea typeface="楷体_GB2312" pitchFamily="49" charset="-122"/>
              </a:rPr>
              <a:t>属性</a:t>
            </a:r>
          </a:p>
          <a:p>
            <a:pPr lvl="1" eaLnBrk="1" hangingPunct="1"/>
            <a:r>
              <a:rPr lang="zh-CN" altLang="en-US" sz="2600" b="1" smtClean="0">
                <a:ea typeface="楷体_GB2312" pitchFamily="49" charset="-122"/>
              </a:rPr>
              <a:t>用椭圆形表示，并用</a:t>
            </a:r>
            <a:r>
              <a:rPr lang="zh-CN" altLang="en-US" sz="2600" b="1" smtClean="0">
                <a:solidFill>
                  <a:srgbClr val="0000FF"/>
                </a:solidFill>
                <a:ea typeface="楷体_GB2312" pitchFamily="49" charset="-122"/>
              </a:rPr>
              <a:t>无向边</a:t>
            </a:r>
            <a:r>
              <a:rPr lang="zh-CN" altLang="en-US" sz="2600" b="1" smtClean="0">
                <a:ea typeface="楷体_GB2312" pitchFamily="49" charset="-122"/>
              </a:rPr>
              <a:t>将其与相应的实体连接起来</a:t>
            </a:r>
          </a:p>
        </p:txBody>
      </p:sp>
      <p:sp>
        <p:nvSpPr>
          <p:cNvPr id="41989" name="Text Box 4"/>
          <p:cNvSpPr txBox="1">
            <a:spLocks noChangeArrowheads="1"/>
          </p:cNvSpPr>
          <p:nvPr/>
        </p:nvSpPr>
        <p:spPr bwMode="auto">
          <a:xfrm>
            <a:off x="2438400" y="2420938"/>
            <a:ext cx="914400" cy="466725"/>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Times New Roman" pitchFamily="18" charset="0"/>
                <a:ea typeface="楷体_GB2312" pitchFamily="49" charset="-122"/>
              </a:rPr>
              <a:t>学生</a:t>
            </a:r>
          </a:p>
        </p:txBody>
      </p:sp>
      <p:sp>
        <p:nvSpPr>
          <p:cNvPr id="41990" name="Text Box 5"/>
          <p:cNvSpPr txBox="1">
            <a:spLocks noChangeArrowheads="1"/>
          </p:cNvSpPr>
          <p:nvPr/>
        </p:nvSpPr>
        <p:spPr bwMode="auto">
          <a:xfrm>
            <a:off x="5105400" y="2420938"/>
            <a:ext cx="838200" cy="466725"/>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Times New Roman" pitchFamily="18" charset="0"/>
                <a:ea typeface="楷体_GB2312" pitchFamily="49" charset="-122"/>
              </a:rPr>
              <a:t>教师</a:t>
            </a:r>
          </a:p>
        </p:txBody>
      </p:sp>
      <p:grpSp>
        <p:nvGrpSpPr>
          <p:cNvPr id="41991" name="Group 6"/>
          <p:cNvGrpSpPr>
            <a:grpSpLocks/>
          </p:cNvGrpSpPr>
          <p:nvPr/>
        </p:nvGrpSpPr>
        <p:grpSpPr bwMode="auto">
          <a:xfrm>
            <a:off x="1763713" y="4221163"/>
            <a:ext cx="6324600" cy="1524000"/>
            <a:chOff x="1104" y="2256"/>
            <a:chExt cx="3984" cy="960"/>
          </a:xfrm>
        </p:grpSpPr>
        <p:sp>
          <p:nvSpPr>
            <p:cNvPr id="41992" name="Text Box 7"/>
            <p:cNvSpPr txBox="1">
              <a:spLocks noChangeArrowheads="1"/>
            </p:cNvSpPr>
            <p:nvPr/>
          </p:nvSpPr>
          <p:spPr bwMode="auto">
            <a:xfrm>
              <a:off x="2688" y="2256"/>
              <a:ext cx="576"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Times New Roman" pitchFamily="18" charset="0"/>
                  <a:ea typeface="楷体_GB2312" pitchFamily="49" charset="-122"/>
                </a:rPr>
                <a:t>学生</a:t>
              </a:r>
            </a:p>
          </p:txBody>
        </p:sp>
        <p:sp>
          <p:nvSpPr>
            <p:cNvPr id="41993" name="Oval 8"/>
            <p:cNvSpPr>
              <a:spLocks noChangeArrowheads="1"/>
            </p:cNvSpPr>
            <p:nvPr/>
          </p:nvSpPr>
          <p:spPr bwMode="auto">
            <a:xfrm>
              <a:off x="1104" y="2928"/>
              <a:ext cx="720" cy="288"/>
            </a:xfrm>
            <a:prstGeom prst="ellipse">
              <a:avLst/>
            </a:prstGeom>
            <a:solidFill>
              <a:schemeClr val="accent1"/>
            </a:solidFill>
            <a:ln w="9525">
              <a:solidFill>
                <a:schemeClr val="tx1"/>
              </a:solidFill>
              <a:round/>
              <a:headEnd/>
              <a:tailEnd/>
            </a:ln>
          </p:spPr>
          <p:txBody>
            <a:bodyPr wrap="none" anchor="ctr"/>
            <a:lstStyle/>
            <a:p>
              <a:pPr algn="ctr"/>
              <a:r>
                <a:rPr kumimoji="1" lang="zh-CN" altLang="en-US" sz="2400">
                  <a:latin typeface="Times New Roman" pitchFamily="18" charset="0"/>
                  <a:ea typeface="楷体_GB2312" pitchFamily="49" charset="-122"/>
                </a:rPr>
                <a:t>学号</a:t>
              </a:r>
            </a:p>
          </p:txBody>
        </p:sp>
        <p:sp>
          <p:nvSpPr>
            <p:cNvPr id="41994" name="Oval 9"/>
            <p:cNvSpPr>
              <a:spLocks noChangeArrowheads="1"/>
            </p:cNvSpPr>
            <p:nvPr/>
          </p:nvSpPr>
          <p:spPr bwMode="auto">
            <a:xfrm>
              <a:off x="4368" y="2880"/>
              <a:ext cx="720" cy="288"/>
            </a:xfrm>
            <a:prstGeom prst="ellipse">
              <a:avLst/>
            </a:prstGeom>
            <a:solidFill>
              <a:schemeClr val="accent1"/>
            </a:solidFill>
            <a:ln w="9525">
              <a:solidFill>
                <a:schemeClr val="tx1"/>
              </a:solidFill>
              <a:round/>
              <a:headEnd/>
              <a:tailEnd/>
            </a:ln>
          </p:spPr>
          <p:txBody>
            <a:bodyPr wrap="none" anchor="ctr"/>
            <a:lstStyle/>
            <a:p>
              <a:pPr algn="ctr"/>
              <a:r>
                <a:rPr kumimoji="1" lang="zh-CN" altLang="en-US" sz="2400">
                  <a:latin typeface="Times New Roman" pitchFamily="18" charset="0"/>
                  <a:ea typeface="楷体_GB2312" pitchFamily="49" charset="-122"/>
                </a:rPr>
                <a:t>年龄</a:t>
              </a:r>
            </a:p>
          </p:txBody>
        </p:sp>
        <p:sp>
          <p:nvSpPr>
            <p:cNvPr id="41995" name="Oval 10"/>
            <p:cNvSpPr>
              <a:spLocks noChangeArrowheads="1"/>
            </p:cNvSpPr>
            <p:nvPr/>
          </p:nvSpPr>
          <p:spPr bwMode="auto">
            <a:xfrm>
              <a:off x="3216" y="2928"/>
              <a:ext cx="720" cy="288"/>
            </a:xfrm>
            <a:prstGeom prst="ellipse">
              <a:avLst/>
            </a:prstGeom>
            <a:solidFill>
              <a:schemeClr val="accent1"/>
            </a:solidFill>
            <a:ln w="9525">
              <a:solidFill>
                <a:schemeClr val="tx1"/>
              </a:solidFill>
              <a:round/>
              <a:headEnd/>
              <a:tailEnd/>
            </a:ln>
          </p:spPr>
          <p:txBody>
            <a:bodyPr wrap="none" anchor="ctr"/>
            <a:lstStyle/>
            <a:p>
              <a:pPr algn="ctr"/>
              <a:r>
                <a:rPr kumimoji="1" lang="zh-CN" altLang="en-US" sz="2400">
                  <a:latin typeface="Times New Roman" pitchFamily="18" charset="0"/>
                  <a:ea typeface="楷体_GB2312" pitchFamily="49" charset="-122"/>
                </a:rPr>
                <a:t>性别</a:t>
              </a:r>
            </a:p>
          </p:txBody>
        </p:sp>
        <p:sp>
          <p:nvSpPr>
            <p:cNvPr id="41996" name="Oval 11"/>
            <p:cNvSpPr>
              <a:spLocks noChangeArrowheads="1"/>
            </p:cNvSpPr>
            <p:nvPr/>
          </p:nvSpPr>
          <p:spPr bwMode="auto">
            <a:xfrm>
              <a:off x="2160" y="2928"/>
              <a:ext cx="720" cy="288"/>
            </a:xfrm>
            <a:prstGeom prst="ellipse">
              <a:avLst/>
            </a:prstGeom>
            <a:solidFill>
              <a:schemeClr val="accent1"/>
            </a:solidFill>
            <a:ln w="9525">
              <a:solidFill>
                <a:schemeClr val="tx1"/>
              </a:solidFill>
              <a:round/>
              <a:headEnd/>
              <a:tailEnd/>
            </a:ln>
          </p:spPr>
          <p:txBody>
            <a:bodyPr wrap="none" anchor="ctr"/>
            <a:lstStyle/>
            <a:p>
              <a:pPr algn="ctr"/>
              <a:r>
                <a:rPr kumimoji="1" lang="zh-CN" altLang="en-US" sz="2400">
                  <a:latin typeface="Times New Roman" pitchFamily="18" charset="0"/>
                  <a:ea typeface="楷体_GB2312" pitchFamily="49" charset="-122"/>
                </a:rPr>
                <a:t>姓名</a:t>
              </a:r>
            </a:p>
          </p:txBody>
        </p:sp>
        <p:sp>
          <p:nvSpPr>
            <p:cNvPr id="41997" name="Line 12"/>
            <p:cNvSpPr>
              <a:spLocks noChangeShapeType="1"/>
            </p:cNvSpPr>
            <p:nvPr/>
          </p:nvSpPr>
          <p:spPr bwMode="auto">
            <a:xfrm flipH="1">
              <a:off x="1536" y="2544"/>
              <a:ext cx="144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8" name="Line 13"/>
            <p:cNvSpPr>
              <a:spLocks noChangeShapeType="1"/>
            </p:cNvSpPr>
            <p:nvPr/>
          </p:nvSpPr>
          <p:spPr bwMode="auto">
            <a:xfrm flipH="1">
              <a:off x="2592" y="2544"/>
              <a:ext cx="336"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9" name="Line 14"/>
            <p:cNvSpPr>
              <a:spLocks noChangeShapeType="1"/>
            </p:cNvSpPr>
            <p:nvPr/>
          </p:nvSpPr>
          <p:spPr bwMode="auto">
            <a:xfrm>
              <a:off x="2928" y="2544"/>
              <a:ext cx="62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0" name="Line 15"/>
            <p:cNvSpPr>
              <a:spLocks noChangeShapeType="1"/>
            </p:cNvSpPr>
            <p:nvPr/>
          </p:nvSpPr>
          <p:spPr bwMode="auto">
            <a:xfrm>
              <a:off x="2928" y="2544"/>
              <a:ext cx="168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389B0A60-419E-4F26-B8B1-9A01FBDA4C56}" type="slidenum">
              <a:rPr lang="en-US" altLang="zh-CN" smtClean="0"/>
              <a:pPr algn="l" eaLnBrk="1" hangingPunct="1"/>
              <a:t>29</a:t>
            </a:fld>
            <a:endParaRPr lang="en-US" altLang="zh-CN" smtClean="0"/>
          </a:p>
        </p:txBody>
      </p:sp>
      <p:sp>
        <p:nvSpPr>
          <p:cNvPr id="43011" name="Rectangle 2"/>
          <p:cNvSpPr>
            <a:spLocks noGrp="1" noChangeArrowheads="1"/>
          </p:cNvSpPr>
          <p:nvPr>
            <p:ph type="title"/>
          </p:nvPr>
        </p:nvSpPr>
        <p:spPr>
          <a:xfrm>
            <a:off x="381000" y="115888"/>
            <a:ext cx="8382000" cy="914400"/>
          </a:xfrm>
        </p:spPr>
        <p:txBody>
          <a:bodyPr/>
          <a:lstStyle/>
          <a:p>
            <a:pPr eaLnBrk="1" hangingPunct="1"/>
            <a:r>
              <a:rPr lang="en-US" altLang="zh-CN" b="1" smtClean="0"/>
              <a:t>E-R</a:t>
            </a:r>
            <a:r>
              <a:rPr lang="zh-CN" altLang="en-US" b="1" smtClean="0"/>
              <a:t>图</a:t>
            </a:r>
            <a:r>
              <a:rPr lang="en-US" altLang="zh-CN" b="1" smtClean="0"/>
              <a:t>(</a:t>
            </a:r>
            <a:r>
              <a:rPr lang="zh-CN" altLang="en-US" b="1" smtClean="0"/>
              <a:t>续</a:t>
            </a:r>
            <a:r>
              <a:rPr lang="en-US" altLang="zh-CN" b="1" smtClean="0"/>
              <a:t>)</a:t>
            </a:r>
          </a:p>
        </p:txBody>
      </p:sp>
      <p:sp>
        <p:nvSpPr>
          <p:cNvPr id="43012" name="Rectangle 3"/>
          <p:cNvSpPr>
            <a:spLocks noGrp="1" noChangeArrowheads="1"/>
          </p:cNvSpPr>
          <p:nvPr>
            <p:ph type="body" idx="1"/>
          </p:nvPr>
        </p:nvSpPr>
        <p:spPr>
          <a:xfrm>
            <a:off x="0" y="1196975"/>
            <a:ext cx="5508625" cy="4968875"/>
          </a:xfrm>
        </p:spPr>
        <p:txBody>
          <a:bodyPr/>
          <a:lstStyle/>
          <a:p>
            <a:pPr eaLnBrk="1" hangingPunct="1">
              <a:lnSpc>
                <a:spcPct val="110000"/>
              </a:lnSpc>
            </a:pPr>
            <a:r>
              <a:rPr lang="zh-CN" altLang="en-US" sz="2600" b="1" smtClean="0">
                <a:ea typeface="楷体_GB2312" pitchFamily="49" charset="-122"/>
              </a:rPr>
              <a:t>联系</a:t>
            </a:r>
          </a:p>
          <a:p>
            <a:pPr lvl="1" eaLnBrk="1" hangingPunct="1">
              <a:lnSpc>
                <a:spcPct val="110000"/>
              </a:lnSpc>
            </a:pPr>
            <a:r>
              <a:rPr lang="zh-CN" altLang="en-US" sz="2600" b="1" smtClean="0">
                <a:solidFill>
                  <a:srgbClr val="746AFC"/>
                </a:solidFill>
                <a:ea typeface="楷体_GB2312" pitchFamily="49" charset="-122"/>
              </a:rPr>
              <a:t>联系本身</a:t>
            </a:r>
            <a:r>
              <a:rPr lang="zh-CN" altLang="en-US" sz="2600" b="1" smtClean="0">
                <a:ea typeface="楷体_GB2312" pitchFamily="49" charset="-122"/>
              </a:rPr>
              <a:t>：用菱形表示，菱形框内写明联系名，并用无向边分别与有关实体连接起来，同时在无向边旁标上</a:t>
            </a:r>
            <a:r>
              <a:rPr lang="zh-CN" altLang="en-US" sz="2600" b="1" smtClean="0">
                <a:solidFill>
                  <a:srgbClr val="FF0000"/>
                </a:solidFill>
                <a:ea typeface="楷体_GB2312" pitchFamily="49" charset="-122"/>
              </a:rPr>
              <a:t>联系的类型</a:t>
            </a:r>
            <a:r>
              <a:rPr lang="zh-CN" altLang="en-US" sz="2600" b="1" smtClean="0">
                <a:ea typeface="楷体_GB2312" pitchFamily="49" charset="-122"/>
              </a:rPr>
              <a:t>（</a:t>
            </a:r>
            <a:r>
              <a:rPr lang="en-US" altLang="zh-CN" sz="2600" b="1" smtClean="0">
                <a:ea typeface="楷体_GB2312" pitchFamily="49" charset="-122"/>
              </a:rPr>
              <a:t>1:1</a:t>
            </a:r>
            <a:r>
              <a:rPr lang="zh-CN" altLang="en-US" sz="2600" b="1" smtClean="0">
                <a:ea typeface="楷体_GB2312" pitchFamily="49" charset="-122"/>
              </a:rPr>
              <a:t>、</a:t>
            </a:r>
            <a:r>
              <a:rPr lang="en-US" altLang="zh-CN" sz="2600" b="1" smtClean="0">
                <a:ea typeface="楷体_GB2312" pitchFamily="49" charset="-122"/>
              </a:rPr>
              <a:t>1:n</a:t>
            </a:r>
            <a:r>
              <a:rPr lang="zh-CN" altLang="en-US" sz="2600" b="1" smtClean="0">
                <a:ea typeface="楷体_GB2312" pitchFamily="49" charset="-122"/>
              </a:rPr>
              <a:t>或</a:t>
            </a:r>
            <a:r>
              <a:rPr lang="en-US" altLang="zh-CN" sz="2600" b="1" smtClean="0">
                <a:ea typeface="楷体_GB2312" pitchFamily="49" charset="-122"/>
              </a:rPr>
              <a:t>m:n</a:t>
            </a:r>
            <a:r>
              <a:rPr lang="zh-CN" altLang="en-US" sz="2600" b="1" smtClean="0">
                <a:ea typeface="楷体_GB2312" pitchFamily="49" charset="-122"/>
              </a:rPr>
              <a:t>）  </a:t>
            </a:r>
          </a:p>
          <a:p>
            <a:pPr lvl="1" eaLnBrk="1" hangingPunct="1">
              <a:lnSpc>
                <a:spcPct val="110000"/>
              </a:lnSpc>
            </a:pPr>
            <a:r>
              <a:rPr lang="zh-CN" altLang="en-US" sz="2600" b="1" smtClean="0">
                <a:solidFill>
                  <a:srgbClr val="FF0000"/>
                </a:solidFill>
                <a:ea typeface="楷体_GB2312" pitchFamily="49" charset="-122"/>
              </a:rPr>
              <a:t>联系的属性</a:t>
            </a:r>
            <a:r>
              <a:rPr lang="zh-CN" altLang="en-US" sz="2600" b="1" smtClean="0">
                <a:ea typeface="楷体_GB2312" pitchFamily="49" charset="-122"/>
              </a:rPr>
              <a:t>：联系本身也是一种实体型，也可以有属性。如果一个联系具有属性，则这些属性也要用无向边与该联系连接起来。</a:t>
            </a:r>
          </a:p>
        </p:txBody>
      </p:sp>
      <p:grpSp>
        <p:nvGrpSpPr>
          <p:cNvPr id="14" name="组合 27"/>
          <p:cNvGrpSpPr>
            <a:grpSpLocks/>
          </p:cNvGrpSpPr>
          <p:nvPr/>
        </p:nvGrpSpPr>
        <p:grpSpPr bwMode="auto">
          <a:xfrm>
            <a:off x="4892675" y="2092325"/>
            <a:ext cx="4071938" cy="4000500"/>
            <a:chOff x="2500298" y="1785926"/>
            <a:chExt cx="4071966" cy="4000528"/>
          </a:xfrm>
        </p:grpSpPr>
        <p:grpSp>
          <p:nvGrpSpPr>
            <p:cNvPr id="43014" name="组合 31"/>
            <p:cNvGrpSpPr>
              <a:grpSpLocks/>
            </p:cNvGrpSpPr>
            <p:nvPr/>
          </p:nvGrpSpPr>
          <p:grpSpPr bwMode="auto">
            <a:xfrm>
              <a:off x="2500298" y="1785926"/>
              <a:ext cx="3786214" cy="4000528"/>
              <a:chOff x="2500298" y="1785926"/>
              <a:chExt cx="3786214" cy="4000528"/>
            </a:xfrm>
          </p:grpSpPr>
          <p:grpSp>
            <p:nvGrpSpPr>
              <p:cNvPr id="43017" name="Group 5"/>
              <p:cNvGrpSpPr>
                <a:grpSpLocks/>
              </p:cNvGrpSpPr>
              <p:nvPr/>
            </p:nvGrpSpPr>
            <p:grpSpPr bwMode="auto">
              <a:xfrm>
                <a:off x="3643306" y="2571744"/>
                <a:ext cx="1368425" cy="2840038"/>
                <a:chOff x="1056" y="1344"/>
                <a:chExt cx="1008" cy="2735"/>
              </a:xfrm>
            </p:grpSpPr>
            <p:sp>
              <p:nvSpPr>
                <p:cNvPr id="43028" name="Text Box 6"/>
                <p:cNvSpPr txBox="1">
                  <a:spLocks noChangeArrowheads="1"/>
                </p:cNvSpPr>
                <p:nvPr/>
              </p:nvSpPr>
              <p:spPr bwMode="auto">
                <a:xfrm>
                  <a:off x="1105" y="1344"/>
                  <a:ext cx="815" cy="449"/>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课程</a:t>
                  </a:r>
                </a:p>
              </p:txBody>
            </p:sp>
            <p:sp>
              <p:nvSpPr>
                <p:cNvPr id="43029" name="AutoShape 7"/>
                <p:cNvSpPr>
                  <a:spLocks noChangeArrowheads="1"/>
                </p:cNvSpPr>
                <p:nvPr/>
              </p:nvSpPr>
              <p:spPr bwMode="auto">
                <a:xfrm>
                  <a:off x="1056" y="2112"/>
                  <a:ext cx="960" cy="480"/>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000">
                      <a:latin typeface="楷体_GB2312" pitchFamily="49" charset="-122"/>
                      <a:ea typeface="楷体_GB2312" pitchFamily="49" charset="-122"/>
                    </a:rPr>
                    <a:t>选修</a:t>
                  </a:r>
                </a:p>
              </p:txBody>
            </p:sp>
            <p:sp>
              <p:nvSpPr>
                <p:cNvPr id="43030" name="Text Box 8"/>
                <p:cNvSpPr txBox="1">
                  <a:spLocks noChangeArrowheads="1"/>
                </p:cNvSpPr>
                <p:nvPr/>
              </p:nvSpPr>
              <p:spPr bwMode="auto">
                <a:xfrm>
                  <a:off x="1152" y="3166"/>
                  <a:ext cx="816" cy="450"/>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学生</a:t>
                  </a:r>
                </a:p>
              </p:txBody>
            </p:sp>
            <p:sp>
              <p:nvSpPr>
                <p:cNvPr id="43031" name="Line 9"/>
                <p:cNvSpPr>
                  <a:spLocks noChangeShapeType="1"/>
                </p:cNvSpPr>
                <p:nvPr/>
              </p:nvSpPr>
              <p:spPr bwMode="auto">
                <a:xfrm flipV="1">
                  <a:off x="1536" y="1632"/>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2" name="Line 10"/>
                <p:cNvSpPr>
                  <a:spLocks noChangeShapeType="1"/>
                </p:cNvSpPr>
                <p:nvPr/>
              </p:nvSpPr>
              <p:spPr bwMode="auto">
                <a:xfrm>
                  <a:off x="1536" y="25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3" name="Text Box 11"/>
                <p:cNvSpPr txBox="1">
                  <a:spLocks noChangeArrowheads="1"/>
                </p:cNvSpPr>
                <p:nvPr/>
              </p:nvSpPr>
              <p:spPr bwMode="auto">
                <a:xfrm>
                  <a:off x="1152" y="1777"/>
                  <a:ext cx="240"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n</a:t>
                  </a:r>
                </a:p>
              </p:txBody>
            </p:sp>
            <p:sp>
              <p:nvSpPr>
                <p:cNvPr id="43034" name="Text Box 12"/>
                <p:cNvSpPr txBox="1">
                  <a:spLocks noChangeArrowheads="1"/>
                </p:cNvSpPr>
                <p:nvPr/>
              </p:nvSpPr>
              <p:spPr bwMode="auto">
                <a:xfrm>
                  <a:off x="1200" y="2737"/>
                  <a:ext cx="240"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m</a:t>
                  </a:r>
                </a:p>
              </p:txBody>
            </p:sp>
            <p:sp>
              <p:nvSpPr>
                <p:cNvPr id="43035" name="Text Box 13"/>
                <p:cNvSpPr txBox="1">
                  <a:spLocks noChangeArrowheads="1"/>
                </p:cNvSpPr>
                <p:nvPr/>
              </p:nvSpPr>
              <p:spPr bwMode="auto">
                <a:xfrm>
                  <a:off x="1200" y="3696"/>
                  <a:ext cx="864"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endParaRPr kumimoji="1" lang="zh-CN" altLang="en-US" sz="2000" b="1">
                    <a:latin typeface="楷体_GB2312" pitchFamily="49" charset="-122"/>
                    <a:ea typeface="楷体_GB2312" pitchFamily="49" charset="-122"/>
                  </a:endParaRPr>
                </a:p>
              </p:txBody>
            </p:sp>
          </p:grpSp>
          <p:sp>
            <p:nvSpPr>
              <p:cNvPr id="19" name="椭圆 18"/>
              <p:cNvSpPr/>
              <p:nvPr/>
            </p:nvSpPr>
            <p:spPr>
              <a:xfrm>
                <a:off x="2857488" y="1785926"/>
                <a:ext cx="1071569"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课号</a:t>
                </a:r>
              </a:p>
            </p:txBody>
          </p:sp>
          <p:sp>
            <p:nvSpPr>
              <p:cNvPr id="20" name="椭圆 19"/>
              <p:cNvSpPr/>
              <p:nvPr/>
            </p:nvSpPr>
            <p:spPr>
              <a:xfrm>
                <a:off x="4429124" y="1785926"/>
                <a:ext cx="1071569"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课名</a:t>
                </a:r>
              </a:p>
            </p:txBody>
          </p:sp>
          <p:sp>
            <p:nvSpPr>
              <p:cNvPr id="21" name="椭圆 20"/>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学号</a:t>
                </a:r>
              </a:p>
            </p:txBody>
          </p:sp>
          <p:sp>
            <p:nvSpPr>
              <p:cNvPr id="22" name="椭圆 21"/>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姓名</a:t>
                </a:r>
              </a:p>
            </p:txBody>
          </p:sp>
          <p:sp>
            <p:nvSpPr>
              <p:cNvPr id="23" name="椭圆 22"/>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性别</a:t>
                </a:r>
              </a:p>
            </p:txBody>
          </p:sp>
          <p:cxnSp>
            <p:nvCxnSpPr>
              <p:cNvPr id="24" name="直接连接符 23"/>
              <p:cNvCxnSpPr>
                <a:stCxn id="19" idx="5"/>
              </p:cNvCxnSpPr>
              <p:nvPr/>
            </p:nvCxnSpPr>
            <p:spPr>
              <a:xfrm rot="16200000" flipH="1">
                <a:off x="3746495" y="2176454"/>
                <a:ext cx="412753" cy="361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0" idx="4"/>
              </p:cNvCxnSpPr>
              <p:nvPr/>
            </p:nvCxnSpPr>
            <p:spPr>
              <a:xfrm rot="5400000">
                <a:off x="4590256" y="2196298"/>
                <a:ext cx="357191"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43030" idx="2"/>
              </p:cNvCxnSpPr>
              <p:nvPr/>
            </p:nvCxnSpPr>
            <p:spPr>
              <a:xfrm rot="5400000">
                <a:off x="3556787" y="4579152"/>
                <a:ext cx="419103" cy="11223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0"/>
              </p:cNvCxnSpPr>
              <p:nvPr/>
            </p:nvCxnSpPr>
            <p:spPr>
              <a:xfrm>
                <a:off x="4857752" y="4929198"/>
                <a:ext cx="893768"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endCxn id="22" idx="0"/>
              </p:cNvCxnSpPr>
              <p:nvPr/>
            </p:nvCxnSpPr>
            <p:spPr>
              <a:xfrm rot="16200000" flipH="1">
                <a:off x="4196554" y="5090330"/>
                <a:ext cx="428628" cy="1063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直接连接符 15"/>
            <p:cNvCxnSpPr/>
            <p:nvPr/>
          </p:nvCxnSpPr>
          <p:spPr>
            <a:xfrm>
              <a:off x="4929190" y="3643314"/>
              <a:ext cx="57150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5500694" y="3429001"/>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成绩</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BC5DB994-7F6F-4AE6-8EB1-24DA095B4863}" type="slidenum">
              <a:rPr lang="en-US" altLang="zh-CN" smtClean="0"/>
              <a:pPr algn="l" eaLnBrk="1" hangingPunct="1"/>
              <a:t>30</a:t>
            </a:fld>
            <a:endParaRPr lang="en-US" altLang="zh-CN" smtClean="0"/>
          </a:p>
        </p:txBody>
      </p:sp>
      <p:sp>
        <p:nvSpPr>
          <p:cNvPr id="44035" name="Rectangle 2"/>
          <p:cNvSpPr>
            <a:spLocks noGrp="1" noChangeArrowheads="1"/>
          </p:cNvSpPr>
          <p:nvPr>
            <p:ph type="title"/>
          </p:nvPr>
        </p:nvSpPr>
        <p:spPr>
          <a:xfrm>
            <a:off x="381000" y="115888"/>
            <a:ext cx="8382000" cy="914400"/>
          </a:xfrm>
        </p:spPr>
        <p:txBody>
          <a:bodyPr/>
          <a:lstStyle/>
          <a:p>
            <a:pPr eaLnBrk="1" hangingPunct="1"/>
            <a:r>
              <a:rPr lang="zh-CN" altLang="en-US" b="1" smtClean="0"/>
              <a:t>实体之间的联系</a:t>
            </a:r>
          </a:p>
        </p:txBody>
      </p:sp>
      <p:sp>
        <p:nvSpPr>
          <p:cNvPr id="44036" name="Rectangle 5"/>
          <p:cNvSpPr>
            <a:spLocks noGrp="1" noChangeArrowheads="1"/>
          </p:cNvSpPr>
          <p:nvPr>
            <p:ph type="body" idx="1"/>
          </p:nvPr>
        </p:nvSpPr>
        <p:spPr>
          <a:xfrm>
            <a:off x="571500" y="1482725"/>
            <a:ext cx="6518275" cy="3517900"/>
          </a:xfrm>
          <a:noFill/>
        </p:spPr>
        <p:txBody>
          <a:bodyPr/>
          <a:lstStyle/>
          <a:p>
            <a:pPr marL="0" indent="0" eaLnBrk="1" hangingPunct="1">
              <a:lnSpc>
                <a:spcPct val="150000"/>
              </a:lnSpc>
              <a:buFont typeface="Wingdings" pitchFamily="2" charset="2"/>
              <a:buNone/>
            </a:pPr>
            <a:r>
              <a:rPr lang="zh-CN" altLang="en-US" sz="2800" b="1" smtClean="0">
                <a:solidFill>
                  <a:srgbClr val="FF0000"/>
                </a:solidFill>
                <a:ea typeface="楷体_GB2312" pitchFamily="49" charset="-122"/>
              </a:rPr>
              <a:t>三类：</a:t>
            </a:r>
            <a:endParaRPr lang="en-US" altLang="zh-CN" sz="2800" b="1" smtClean="0">
              <a:solidFill>
                <a:srgbClr val="FF0000"/>
              </a:solidFill>
              <a:ea typeface="楷体_GB2312" pitchFamily="49" charset="-122"/>
            </a:endParaRPr>
          </a:p>
          <a:p>
            <a:pPr marL="0" indent="0" eaLnBrk="1" hangingPunct="1">
              <a:lnSpc>
                <a:spcPct val="150000"/>
              </a:lnSpc>
              <a:buFont typeface="Wingdings" pitchFamily="2" charset="2"/>
              <a:buNone/>
            </a:pPr>
            <a:r>
              <a:rPr lang="en-US" altLang="zh-CN" sz="2800" b="1" smtClean="0">
                <a:ea typeface="楷体_GB2312" pitchFamily="49" charset="-122"/>
              </a:rPr>
              <a:t>1.</a:t>
            </a:r>
            <a:r>
              <a:rPr lang="zh-CN" altLang="en-US" sz="2800" b="1" smtClean="0">
                <a:ea typeface="楷体_GB2312" pitchFamily="49" charset="-122"/>
              </a:rPr>
              <a:t>两个实体型之间的联系</a:t>
            </a:r>
          </a:p>
          <a:p>
            <a:pPr marL="0" indent="0" eaLnBrk="1" hangingPunct="1">
              <a:lnSpc>
                <a:spcPct val="150000"/>
              </a:lnSpc>
              <a:buFont typeface="Wingdings" pitchFamily="2" charset="2"/>
              <a:buNone/>
            </a:pPr>
            <a:r>
              <a:rPr lang="en-US" altLang="zh-CN" sz="2800" b="1" smtClean="0">
                <a:ea typeface="楷体_GB2312" pitchFamily="49" charset="-122"/>
              </a:rPr>
              <a:t>2.</a:t>
            </a:r>
            <a:r>
              <a:rPr lang="zh-CN" altLang="en-US" sz="2800" b="1" smtClean="0">
                <a:ea typeface="楷体_GB2312" pitchFamily="49" charset="-122"/>
              </a:rPr>
              <a:t>两个以上实体型之间的联系</a:t>
            </a:r>
          </a:p>
          <a:p>
            <a:pPr marL="0" indent="0" eaLnBrk="1" hangingPunct="1">
              <a:lnSpc>
                <a:spcPct val="150000"/>
              </a:lnSpc>
              <a:buFont typeface="Wingdings" pitchFamily="2" charset="2"/>
              <a:buNone/>
            </a:pPr>
            <a:r>
              <a:rPr lang="en-US" altLang="zh-CN" sz="2800" b="1" smtClean="0">
                <a:ea typeface="楷体_GB2312" pitchFamily="49" charset="-122"/>
              </a:rPr>
              <a:t>3.</a:t>
            </a:r>
            <a:r>
              <a:rPr lang="zh-CN" altLang="en-US" sz="2800" b="1" smtClean="0">
                <a:ea typeface="楷体_GB2312" pitchFamily="49" charset="-122"/>
              </a:rPr>
              <a:t>单个实体型内的联系</a:t>
            </a:r>
          </a:p>
        </p:txBody>
      </p:sp>
    </p:spTree>
  </p:cSld>
  <p:clrMapOvr>
    <a:masterClrMapping/>
  </p:clrMapOvr>
  <p:transition advClick="0"/>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9269798D-CB35-44E7-ACCE-1818D2B1E22D}" type="slidenum">
              <a:rPr lang="en-US" altLang="zh-CN" smtClean="0"/>
              <a:pPr eaLnBrk="1" hangingPunct="1"/>
              <a:t>31</a:t>
            </a:fld>
            <a:endParaRPr lang="en-US" altLang="zh-CN" smtClean="0"/>
          </a:p>
        </p:txBody>
      </p:sp>
      <p:sp>
        <p:nvSpPr>
          <p:cNvPr id="45059" name="Rectangle 2"/>
          <p:cNvSpPr>
            <a:spLocks noGrp="1" noChangeArrowheads="1"/>
          </p:cNvSpPr>
          <p:nvPr>
            <p:ph type="title"/>
          </p:nvPr>
        </p:nvSpPr>
        <p:spPr>
          <a:xfrm>
            <a:off x="381000" y="115888"/>
            <a:ext cx="8382000" cy="914400"/>
          </a:xfrm>
        </p:spPr>
        <p:txBody>
          <a:bodyPr/>
          <a:lstStyle/>
          <a:p>
            <a:pPr eaLnBrk="1" hangingPunct="1"/>
            <a:r>
              <a:rPr lang="en-US" altLang="zh-CN" b="1" smtClean="0"/>
              <a:t>1</a:t>
            </a:r>
            <a:r>
              <a:rPr lang="zh-CN" altLang="en-US" b="1" smtClean="0"/>
              <a:t>、两个实体型间的联系</a:t>
            </a:r>
          </a:p>
        </p:txBody>
      </p:sp>
      <p:grpSp>
        <p:nvGrpSpPr>
          <p:cNvPr id="45060" name="Group 3"/>
          <p:cNvGrpSpPr>
            <a:grpSpLocks/>
          </p:cNvGrpSpPr>
          <p:nvPr/>
        </p:nvGrpSpPr>
        <p:grpSpPr bwMode="auto">
          <a:xfrm>
            <a:off x="1447800" y="1412875"/>
            <a:ext cx="6629400" cy="4267200"/>
            <a:chOff x="912" y="1152"/>
            <a:chExt cx="4176" cy="2688"/>
          </a:xfrm>
        </p:grpSpPr>
        <p:grpSp>
          <p:nvGrpSpPr>
            <p:cNvPr id="45061" name="Group 4"/>
            <p:cNvGrpSpPr>
              <a:grpSpLocks/>
            </p:cNvGrpSpPr>
            <p:nvPr/>
          </p:nvGrpSpPr>
          <p:grpSpPr bwMode="auto">
            <a:xfrm>
              <a:off x="912" y="1200"/>
              <a:ext cx="1008" cy="2640"/>
              <a:chOff x="1056" y="1344"/>
              <a:chExt cx="1008" cy="2640"/>
            </a:xfrm>
          </p:grpSpPr>
          <p:sp>
            <p:nvSpPr>
              <p:cNvPr id="45080" name="Text Box 5"/>
              <p:cNvSpPr txBox="1">
                <a:spLocks noChangeArrowheads="1"/>
              </p:cNvSpPr>
              <p:nvPr/>
            </p:nvSpPr>
            <p:spPr bwMode="auto">
              <a:xfrm>
                <a:off x="1104" y="1344"/>
                <a:ext cx="816"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楷体_GB2312" pitchFamily="49" charset="-122"/>
                    <a:ea typeface="楷体_GB2312" pitchFamily="49" charset="-122"/>
                  </a:rPr>
                  <a:t>实体型</a:t>
                </a:r>
                <a:r>
                  <a:rPr kumimoji="1" lang="en-US" altLang="zh-CN" sz="2400">
                    <a:latin typeface="楷体_GB2312" pitchFamily="49" charset="-122"/>
                    <a:ea typeface="楷体_GB2312" pitchFamily="49" charset="-122"/>
                  </a:rPr>
                  <a:t>1</a:t>
                </a:r>
              </a:p>
            </p:txBody>
          </p:sp>
          <p:sp>
            <p:nvSpPr>
              <p:cNvPr id="45081" name="AutoShape 6"/>
              <p:cNvSpPr>
                <a:spLocks noChangeArrowheads="1"/>
              </p:cNvSpPr>
              <p:nvPr/>
            </p:nvSpPr>
            <p:spPr bwMode="auto">
              <a:xfrm>
                <a:off x="1056" y="2112"/>
                <a:ext cx="960" cy="480"/>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400">
                    <a:latin typeface="楷体_GB2312" pitchFamily="49" charset="-122"/>
                    <a:ea typeface="楷体_GB2312" pitchFamily="49" charset="-122"/>
                  </a:rPr>
                  <a:t>联系名</a:t>
                </a:r>
              </a:p>
            </p:txBody>
          </p:sp>
          <p:sp>
            <p:nvSpPr>
              <p:cNvPr id="45082" name="Text Box 7"/>
              <p:cNvSpPr txBox="1">
                <a:spLocks noChangeArrowheads="1"/>
              </p:cNvSpPr>
              <p:nvPr/>
            </p:nvSpPr>
            <p:spPr bwMode="auto">
              <a:xfrm>
                <a:off x="1152" y="3168"/>
                <a:ext cx="816"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楷体_GB2312" pitchFamily="49" charset="-122"/>
                    <a:ea typeface="楷体_GB2312" pitchFamily="49" charset="-122"/>
                  </a:rPr>
                  <a:t>实体型</a:t>
                </a:r>
                <a:r>
                  <a:rPr kumimoji="1" lang="en-US" altLang="zh-CN" sz="2400">
                    <a:latin typeface="楷体_GB2312" pitchFamily="49" charset="-122"/>
                    <a:ea typeface="楷体_GB2312" pitchFamily="49" charset="-122"/>
                  </a:rPr>
                  <a:t>2</a:t>
                </a:r>
              </a:p>
            </p:txBody>
          </p:sp>
          <p:sp>
            <p:nvSpPr>
              <p:cNvPr id="45083" name="Line 8"/>
              <p:cNvSpPr>
                <a:spLocks noChangeShapeType="1"/>
              </p:cNvSpPr>
              <p:nvPr/>
            </p:nvSpPr>
            <p:spPr bwMode="auto">
              <a:xfrm flipV="1">
                <a:off x="1536" y="1632"/>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4" name="Line 9"/>
              <p:cNvSpPr>
                <a:spLocks noChangeShapeType="1"/>
              </p:cNvSpPr>
              <p:nvPr/>
            </p:nvSpPr>
            <p:spPr bwMode="auto">
              <a:xfrm>
                <a:off x="1536" y="25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5" name="Text Box 10"/>
              <p:cNvSpPr txBox="1">
                <a:spLocks noChangeArrowheads="1"/>
              </p:cNvSpPr>
              <p:nvPr/>
            </p:nvSpPr>
            <p:spPr bwMode="auto">
              <a:xfrm>
                <a:off x="1152" y="177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45086" name="Text Box 11"/>
              <p:cNvSpPr txBox="1">
                <a:spLocks noChangeArrowheads="1"/>
              </p:cNvSpPr>
              <p:nvPr/>
            </p:nvSpPr>
            <p:spPr bwMode="auto">
              <a:xfrm>
                <a:off x="1200" y="273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45087" name="Text Box 12"/>
              <p:cNvSpPr txBox="1">
                <a:spLocks noChangeArrowheads="1"/>
              </p:cNvSpPr>
              <p:nvPr/>
            </p:nvSpPr>
            <p:spPr bwMode="auto">
              <a:xfrm>
                <a:off x="1200" y="3696"/>
                <a:ext cx="8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楷体_GB2312" pitchFamily="49" charset="-122"/>
                    <a:ea typeface="楷体_GB2312" pitchFamily="49" charset="-122"/>
                  </a:rPr>
                  <a:t>1:1</a:t>
                </a:r>
                <a:r>
                  <a:rPr kumimoji="1" lang="zh-CN" altLang="en-US" sz="2400">
                    <a:latin typeface="楷体_GB2312" pitchFamily="49" charset="-122"/>
                    <a:ea typeface="楷体_GB2312" pitchFamily="49" charset="-122"/>
                  </a:rPr>
                  <a:t>联系</a:t>
                </a:r>
              </a:p>
            </p:txBody>
          </p:sp>
        </p:grpSp>
        <p:grpSp>
          <p:nvGrpSpPr>
            <p:cNvPr id="45062" name="Group 13"/>
            <p:cNvGrpSpPr>
              <a:grpSpLocks/>
            </p:cNvGrpSpPr>
            <p:nvPr/>
          </p:nvGrpSpPr>
          <p:grpSpPr bwMode="auto">
            <a:xfrm>
              <a:off x="4080" y="1152"/>
              <a:ext cx="1008" cy="2640"/>
              <a:chOff x="1056" y="1344"/>
              <a:chExt cx="1008" cy="2640"/>
            </a:xfrm>
          </p:grpSpPr>
          <p:sp>
            <p:nvSpPr>
              <p:cNvPr id="45072" name="Text Box 14"/>
              <p:cNvSpPr txBox="1">
                <a:spLocks noChangeArrowheads="1"/>
              </p:cNvSpPr>
              <p:nvPr/>
            </p:nvSpPr>
            <p:spPr bwMode="auto">
              <a:xfrm>
                <a:off x="1104" y="1344"/>
                <a:ext cx="816"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楷体_GB2312" pitchFamily="49" charset="-122"/>
                    <a:ea typeface="楷体_GB2312" pitchFamily="49" charset="-122"/>
                  </a:rPr>
                  <a:t>实体型</a:t>
                </a:r>
                <a:r>
                  <a:rPr kumimoji="1" lang="en-US" altLang="zh-CN" sz="2400">
                    <a:latin typeface="楷体_GB2312" pitchFamily="49" charset="-122"/>
                    <a:ea typeface="楷体_GB2312" pitchFamily="49" charset="-122"/>
                  </a:rPr>
                  <a:t>1</a:t>
                </a:r>
              </a:p>
            </p:txBody>
          </p:sp>
          <p:sp>
            <p:nvSpPr>
              <p:cNvPr id="45073" name="AutoShape 15"/>
              <p:cNvSpPr>
                <a:spLocks noChangeArrowheads="1"/>
              </p:cNvSpPr>
              <p:nvPr/>
            </p:nvSpPr>
            <p:spPr bwMode="auto">
              <a:xfrm>
                <a:off x="1056" y="2112"/>
                <a:ext cx="960" cy="480"/>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400">
                    <a:latin typeface="楷体_GB2312" pitchFamily="49" charset="-122"/>
                    <a:ea typeface="楷体_GB2312" pitchFamily="49" charset="-122"/>
                  </a:rPr>
                  <a:t>联系名</a:t>
                </a:r>
              </a:p>
            </p:txBody>
          </p:sp>
          <p:sp>
            <p:nvSpPr>
              <p:cNvPr id="45074" name="Text Box 16"/>
              <p:cNvSpPr txBox="1">
                <a:spLocks noChangeArrowheads="1"/>
              </p:cNvSpPr>
              <p:nvPr/>
            </p:nvSpPr>
            <p:spPr bwMode="auto">
              <a:xfrm>
                <a:off x="1152" y="3168"/>
                <a:ext cx="816"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楷体_GB2312" pitchFamily="49" charset="-122"/>
                    <a:ea typeface="楷体_GB2312" pitchFamily="49" charset="-122"/>
                  </a:rPr>
                  <a:t>实体型</a:t>
                </a:r>
                <a:r>
                  <a:rPr kumimoji="1" lang="en-US" altLang="zh-CN" sz="2400">
                    <a:latin typeface="楷体_GB2312" pitchFamily="49" charset="-122"/>
                    <a:ea typeface="楷体_GB2312" pitchFamily="49" charset="-122"/>
                  </a:rPr>
                  <a:t>2</a:t>
                </a:r>
              </a:p>
            </p:txBody>
          </p:sp>
          <p:sp>
            <p:nvSpPr>
              <p:cNvPr id="45075" name="Line 17"/>
              <p:cNvSpPr>
                <a:spLocks noChangeShapeType="1"/>
              </p:cNvSpPr>
              <p:nvPr/>
            </p:nvSpPr>
            <p:spPr bwMode="auto">
              <a:xfrm flipV="1">
                <a:off x="1536" y="1632"/>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6" name="Line 18"/>
              <p:cNvSpPr>
                <a:spLocks noChangeShapeType="1"/>
              </p:cNvSpPr>
              <p:nvPr/>
            </p:nvSpPr>
            <p:spPr bwMode="auto">
              <a:xfrm>
                <a:off x="1536" y="25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7" name="Text Box 19"/>
              <p:cNvSpPr txBox="1">
                <a:spLocks noChangeArrowheads="1"/>
              </p:cNvSpPr>
              <p:nvPr/>
            </p:nvSpPr>
            <p:spPr bwMode="auto">
              <a:xfrm>
                <a:off x="1152" y="177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m</a:t>
                </a:r>
              </a:p>
            </p:txBody>
          </p:sp>
          <p:sp>
            <p:nvSpPr>
              <p:cNvPr id="45078" name="Text Box 20"/>
              <p:cNvSpPr txBox="1">
                <a:spLocks noChangeArrowheads="1"/>
              </p:cNvSpPr>
              <p:nvPr/>
            </p:nvSpPr>
            <p:spPr bwMode="auto">
              <a:xfrm>
                <a:off x="1200" y="273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n</a:t>
                </a:r>
              </a:p>
            </p:txBody>
          </p:sp>
          <p:sp>
            <p:nvSpPr>
              <p:cNvPr id="45079" name="Text Box 21"/>
              <p:cNvSpPr txBox="1">
                <a:spLocks noChangeArrowheads="1"/>
              </p:cNvSpPr>
              <p:nvPr/>
            </p:nvSpPr>
            <p:spPr bwMode="auto">
              <a:xfrm>
                <a:off x="1200" y="3696"/>
                <a:ext cx="8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楷体_GB2312" pitchFamily="49" charset="-122"/>
                    <a:ea typeface="楷体_GB2312" pitchFamily="49" charset="-122"/>
                  </a:rPr>
                  <a:t>m:n</a:t>
                </a:r>
                <a:r>
                  <a:rPr kumimoji="1" lang="zh-CN" altLang="en-US" sz="2400">
                    <a:latin typeface="楷体_GB2312" pitchFamily="49" charset="-122"/>
                    <a:ea typeface="楷体_GB2312" pitchFamily="49" charset="-122"/>
                  </a:rPr>
                  <a:t>联系</a:t>
                </a:r>
              </a:p>
            </p:txBody>
          </p:sp>
        </p:grpSp>
        <p:grpSp>
          <p:nvGrpSpPr>
            <p:cNvPr id="45063" name="Group 22"/>
            <p:cNvGrpSpPr>
              <a:grpSpLocks/>
            </p:cNvGrpSpPr>
            <p:nvPr/>
          </p:nvGrpSpPr>
          <p:grpSpPr bwMode="auto">
            <a:xfrm>
              <a:off x="2496" y="1200"/>
              <a:ext cx="1008" cy="2640"/>
              <a:chOff x="1056" y="1344"/>
              <a:chExt cx="1008" cy="2640"/>
            </a:xfrm>
          </p:grpSpPr>
          <p:sp>
            <p:nvSpPr>
              <p:cNvPr id="45064" name="Text Box 23"/>
              <p:cNvSpPr txBox="1">
                <a:spLocks noChangeArrowheads="1"/>
              </p:cNvSpPr>
              <p:nvPr/>
            </p:nvSpPr>
            <p:spPr bwMode="auto">
              <a:xfrm>
                <a:off x="1104" y="1344"/>
                <a:ext cx="816"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楷体_GB2312" pitchFamily="49" charset="-122"/>
                    <a:ea typeface="楷体_GB2312" pitchFamily="49" charset="-122"/>
                  </a:rPr>
                  <a:t>实体型</a:t>
                </a:r>
                <a:r>
                  <a:rPr kumimoji="1" lang="en-US" altLang="zh-CN" sz="2400">
                    <a:latin typeface="楷体_GB2312" pitchFamily="49" charset="-122"/>
                    <a:ea typeface="楷体_GB2312" pitchFamily="49" charset="-122"/>
                  </a:rPr>
                  <a:t>1</a:t>
                </a:r>
              </a:p>
            </p:txBody>
          </p:sp>
          <p:sp>
            <p:nvSpPr>
              <p:cNvPr id="45065" name="AutoShape 24"/>
              <p:cNvSpPr>
                <a:spLocks noChangeArrowheads="1"/>
              </p:cNvSpPr>
              <p:nvPr/>
            </p:nvSpPr>
            <p:spPr bwMode="auto">
              <a:xfrm>
                <a:off x="1056" y="2112"/>
                <a:ext cx="960" cy="480"/>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400">
                    <a:latin typeface="楷体_GB2312" pitchFamily="49" charset="-122"/>
                    <a:ea typeface="楷体_GB2312" pitchFamily="49" charset="-122"/>
                  </a:rPr>
                  <a:t>联系名</a:t>
                </a:r>
              </a:p>
            </p:txBody>
          </p:sp>
          <p:sp>
            <p:nvSpPr>
              <p:cNvPr id="45066" name="Text Box 25"/>
              <p:cNvSpPr txBox="1">
                <a:spLocks noChangeArrowheads="1"/>
              </p:cNvSpPr>
              <p:nvPr/>
            </p:nvSpPr>
            <p:spPr bwMode="auto">
              <a:xfrm>
                <a:off x="1152" y="3168"/>
                <a:ext cx="816"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楷体_GB2312" pitchFamily="49" charset="-122"/>
                    <a:ea typeface="楷体_GB2312" pitchFamily="49" charset="-122"/>
                  </a:rPr>
                  <a:t>实体型</a:t>
                </a:r>
                <a:r>
                  <a:rPr kumimoji="1" lang="en-US" altLang="zh-CN" sz="2400">
                    <a:latin typeface="楷体_GB2312" pitchFamily="49" charset="-122"/>
                    <a:ea typeface="楷体_GB2312" pitchFamily="49" charset="-122"/>
                  </a:rPr>
                  <a:t>2</a:t>
                </a:r>
              </a:p>
            </p:txBody>
          </p:sp>
          <p:sp>
            <p:nvSpPr>
              <p:cNvPr id="45067" name="Line 26"/>
              <p:cNvSpPr>
                <a:spLocks noChangeShapeType="1"/>
              </p:cNvSpPr>
              <p:nvPr/>
            </p:nvSpPr>
            <p:spPr bwMode="auto">
              <a:xfrm flipV="1">
                <a:off x="1536" y="1632"/>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8" name="Line 27"/>
              <p:cNvSpPr>
                <a:spLocks noChangeShapeType="1"/>
              </p:cNvSpPr>
              <p:nvPr/>
            </p:nvSpPr>
            <p:spPr bwMode="auto">
              <a:xfrm>
                <a:off x="1536" y="25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9" name="Text Box 28"/>
              <p:cNvSpPr txBox="1">
                <a:spLocks noChangeArrowheads="1"/>
              </p:cNvSpPr>
              <p:nvPr/>
            </p:nvSpPr>
            <p:spPr bwMode="auto">
              <a:xfrm>
                <a:off x="1152" y="177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45070" name="Text Box 29"/>
              <p:cNvSpPr txBox="1">
                <a:spLocks noChangeArrowheads="1"/>
              </p:cNvSpPr>
              <p:nvPr/>
            </p:nvSpPr>
            <p:spPr bwMode="auto">
              <a:xfrm>
                <a:off x="1200" y="273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n</a:t>
                </a:r>
              </a:p>
            </p:txBody>
          </p:sp>
          <p:sp>
            <p:nvSpPr>
              <p:cNvPr id="45071" name="Text Box 30"/>
              <p:cNvSpPr txBox="1">
                <a:spLocks noChangeArrowheads="1"/>
              </p:cNvSpPr>
              <p:nvPr/>
            </p:nvSpPr>
            <p:spPr bwMode="auto">
              <a:xfrm>
                <a:off x="1200" y="3696"/>
                <a:ext cx="8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楷体_GB2312" pitchFamily="49" charset="-122"/>
                    <a:ea typeface="楷体_GB2312" pitchFamily="49" charset="-122"/>
                  </a:rPr>
                  <a:t>1:n</a:t>
                </a:r>
                <a:r>
                  <a:rPr kumimoji="1" lang="zh-CN" altLang="en-US" sz="2400">
                    <a:latin typeface="楷体_GB2312" pitchFamily="49" charset="-122"/>
                    <a:ea typeface="楷体_GB2312" pitchFamily="49" charset="-122"/>
                  </a:rPr>
                  <a:t>联系</a:t>
                </a:r>
              </a:p>
            </p:txBody>
          </p:sp>
        </p:grpSp>
      </p:grpSp>
    </p:spTree>
  </p:cSld>
  <p:clrMapOvr>
    <a:masterClrMapping/>
  </p:clrMapOvr>
  <p:transition advClick="0"/>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B758ACE3-D717-43B5-8ACC-F3840FC40CEE}" type="slidenum">
              <a:rPr lang="en-US" altLang="zh-CN" smtClean="0"/>
              <a:pPr algn="l" eaLnBrk="1" hangingPunct="1"/>
              <a:t>32</a:t>
            </a:fld>
            <a:endParaRPr lang="en-US" altLang="zh-CN" smtClean="0"/>
          </a:p>
        </p:txBody>
      </p:sp>
      <p:sp>
        <p:nvSpPr>
          <p:cNvPr id="46083" name="Rectangle 2"/>
          <p:cNvSpPr>
            <a:spLocks noGrp="1" noChangeArrowheads="1"/>
          </p:cNvSpPr>
          <p:nvPr>
            <p:ph type="title"/>
          </p:nvPr>
        </p:nvSpPr>
        <p:spPr>
          <a:xfrm>
            <a:off x="381000" y="115888"/>
            <a:ext cx="8382000" cy="914400"/>
          </a:xfrm>
        </p:spPr>
        <p:txBody>
          <a:bodyPr/>
          <a:lstStyle/>
          <a:p>
            <a:pPr eaLnBrk="1" hangingPunct="1"/>
            <a:r>
              <a:rPr lang="zh-CN" altLang="en-US" b="1" smtClean="0"/>
              <a:t>两个实体型间的联系</a:t>
            </a:r>
            <a:r>
              <a:rPr lang="en-US" altLang="zh-CN" b="1" smtClean="0"/>
              <a:t>(</a:t>
            </a:r>
            <a:r>
              <a:rPr lang="zh-CN" altLang="en-US" b="1" smtClean="0"/>
              <a:t>续</a:t>
            </a:r>
            <a:r>
              <a:rPr lang="en-US" altLang="zh-CN" b="1" smtClean="0"/>
              <a:t>)</a:t>
            </a:r>
            <a:r>
              <a:rPr lang="zh-CN" altLang="en-US" smtClean="0"/>
              <a:t> </a:t>
            </a:r>
          </a:p>
        </p:txBody>
      </p:sp>
      <p:sp>
        <p:nvSpPr>
          <p:cNvPr id="46084" name="Rectangle 3"/>
          <p:cNvSpPr>
            <a:spLocks noGrp="1" noChangeArrowheads="1"/>
          </p:cNvSpPr>
          <p:nvPr>
            <p:ph type="body" idx="1"/>
          </p:nvPr>
        </p:nvSpPr>
        <p:spPr>
          <a:xfrm>
            <a:off x="179388" y="1196975"/>
            <a:ext cx="8713787" cy="2519363"/>
          </a:xfrm>
        </p:spPr>
        <p:txBody>
          <a:bodyPr/>
          <a:lstStyle/>
          <a:p>
            <a:pPr algn="just" eaLnBrk="1" hangingPunct="1"/>
            <a:r>
              <a:rPr lang="zh-CN" altLang="en-US" sz="2800" b="1" smtClean="0">
                <a:latin typeface="楷体_GB2312" pitchFamily="49" charset="-122"/>
                <a:ea typeface="楷体_GB2312" pitchFamily="49" charset="-122"/>
              </a:rPr>
              <a:t>一对一联系 　 </a:t>
            </a:r>
          </a:p>
          <a:p>
            <a:pPr lvl="1" algn="just" eaLnBrk="1" hangingPunct="1">
              <a:lnSpc>
                <a:spcPct val="130000"/>
              </a:lnSpc>
            </a:pPr>
            <a:r>
              <a:rPr lang="zh-CN" altLang="en-US" sz="2600" b="1" smtClean="0">
                <a:latin typeface="楷体_GB2312" pitchFamily="49" charset="-122"/>
                <a:ea typeface="楷体_GB2312" pitchFamily="49" charset="-122"/>
              </a:rPr>
              <a:t>如果对于实体集</a:t>
            </a:r>
            <a:r>
              <a:rPr lang="en-US" altLang="zh-CN" sz="2600" b="1" smtClean="0">
                <a:latin typeface="楷体_GB2312" pitchFamily="49" charset="-122"/>
                <a:ea typeface="楷体_GB2312" pitchFamily="49" charset="-122"/>
              </a:rPr>
              <a:t>A</a:t>
            </a:r>
            <a:r>
              <a:rPr lang="zh-CN" altLang="en-US" sz="2600" b="1" smtClean="0">
                <a:latin typeface="楷体_GB2312" pitchFamily="49" charset="-122"/>
                <a:ea typeface="楷体_GB2312" pitchFamily="49" charset="-122"/>
              </a:rPr>
              <a:t>中的每一个实体，实体集</a:t>
            </a:r>
            <a:r>
              <a:rPr lang="en-US" altLang="zh-CN" sz="2600" b="1" smtClean="0">
                <a:latin typeface="楷体_GB2312" pitchFamily="49" charset="-122"/>
                <a:ea typeface="楷体_GB2312" pitchFamily="49" charset="-122"/>
              </a:rPr>
              <a:t>B</a:t>
            </a:r>
            <a:r>
              <a:rPr lang="zh-CN" altLang="en-US" sz="2600" b="1" smtClean="0">
                <a:latin typeface="楷体_GB2312" pitchFamily="49" charset="-122"/>
                <a:ea typeface="楷体_GB2312" pitchFamily="49" charset="-122"/>
              </a:rPr>
              <a:t>中</a:t>
            </a:r>
            <a:r>
              <a:rPr lang="zh-CN" altLang="en-US" sz="2600" b="1" smtClean="0">
                <a:solidFill>
                  <a:srgbClr val="6666FF"/>
                </a:solidFill>
                <a:latin typeface="楷体_GB2312" pitchFamily="49" charset="-122"/>
                <a:ea typeface="楷体_GB2312" pitchFamily="49" charset="-122"/>
              </a:rPr>
              <a:t>至多有一个</a:t>
            </a:r>
            <a:r>
              <a:rPr lang="zh-CN" altLang="en-US" sz="2600" b="1" smtClean="0">
                <a:latin typeface="楷体_GB2312" pitchFamily="49" charset="-122"/>
                <a:ea typeface="楷体_GB2312" pitchFamily="49" charset="-122"/>
              </a:rPr>
              <a:t>实体与之联系，</a:t>
            </a:r>
            <a:r>
              <a:rPr lang="zh-CN" altLang="en-US" sz="2600" b="1" smtClean="0">
                <a:solidFill>
                  <a:srgbClr val="6666FF"/>
                </a:solidFill>
                <a:latin typeface="楷体_GB2312" pitchFamily="49" charset="-122"/>
                <a:ea typeface="楷体_GB2312" pitchFamily="49" charset="-122"/>
              </a:rPr>
              <a:t>反之亦然</a:t>
            </a:r>
            <a:r>
              <a:rPr lang="zh-CN" altLang="en-US" sz="2600" b="1" smtClean="0">
                <a:latin typeface="楷体_GB2312" pitchFamily="49" charset="-122"/>
                <a:ea typeface="楷体_GB2312" pitchFamily="49" charset="-122"/>
              </a:rPr>
              <a:t>，</a:t>
            </a:r>
            <a:r>
              <a:rPr lang="zh-CN" altLang="en-US" sz="2600" b="1" smtClean="0">
                <a:solidFill>
                  <a:srgbClr val="746AFC"/>
                </a:solidFill>
                <a:latin typeface="楷体_GB2312" pitchFamily="49" charset="-122"/>
                <a:ea typeface="楷体_GB2312" pitchFamily="49" charset="-122"/>
              </a:rPr>
              <a:t>则</a:t>
            </a:r>
            <a:r>
              <a:rPr lang="zh-CN" altLang="en-US" sz="2600" b="1" smtClean="0">
                <a:solidFill>
                  <a:srgbClr val="FF0000"/>
                </a:solidFill>
                <a:latin typeface="楷体_GB2312" pitchFamily="49" charset="-122"/>
                <a:ea typeface="楷体_GB2312" pitchFamily="49" charset="-122"/>
              </a:rPr>
              <a:t>称实体集</a:t>
            </a:r>
            <a:r>
              <a:rPr lang="en-US" altLang="zh-CN" sz="2600" b="1" smtClean="0">
                <a:solidFill>
                  <a:srgbClr val="FF0000"/>
                </a:solidFill>
                <a:latin typeface="楷体_GB2312" pitchFamily="49" charset="-122"/>
                <a:ea typeface="楷体_GB2312" pitchFamily="49" charset="-122"/>
              </a:rPr>
              <a:t>A</a:t>
            </a:r>
            <a:r>
              <a:rPr lang="zh-CN" altLang="en-US" sz="2600" b="1" smtClean="0">
                <a:solidFill>
                  <a:srgbClr val="746AFC"/>
                </a:solidFill>
                <a:latin typeface="楷体_GB2312" pitchFamily="49" charset="-122"/>
                <a:ea typeface="楷体_GB2312" pitchFamily="49" charset="-122"/>
              </a:rPr>
              <a:t>与</a:t>
            </a:r>
            <a:r>
              <a:rPr lang="zh-CN" altLang="en-US" sz="2600" b="1" smtClean="0">
                <a:solidFill>
                  <a:srgbClr val="FF0000"/>
                </a:solidFill>
                <a:latin typeface="楷体_GB2312" pitchFamily="49" charset="-122"/>
                <a:ea typeface="楷体_GB2312" pitchFamily="49" charset="-122"/>
              </a:rPr>
              <a:t>实体集</a:t>
            </a:r>
            <a:r>
              <a:rPr lang="en-US" altLang="zh-CN" sz="2600" b="1" smtClean="0">
                <a:solidFill>
                  <a:srgbClr val="FF0000"/>
                </a:solidFill>
                <a:latin typeface="楷体_GB2312" pitchFamily="49" charset="-122"/>
                <a:ea typeface="楷体_GB2312" pitchFamily="49" charset="-122"/>
              </a:rPr>
              <a:t>B</a:t>
            </a:r>
            <a:r>
              <a:rPr lang="zh-CN" altLang="en-US" sz="2600" b="1" smtClean="0">
                <a:solidFill>
                  <a:srgbClr val="746AFC"/>
                </a:solidFill>
                <a:latin typeface="楷体_GB2312" pitchFamily="49" charset="-122"/>
                <a:ea typeface="楷体_GB2312" pitchFamily="49" charset="-122"/>
              </a:rPr>
              <a:t>具有</a:t>
            </a:r>
            <a:r>
              <a:rPr lang="zh-CN" altLang="en-US" sz="2600" b="1" smtClean="0">
                <a:solidFill>
                  <a:srgbClr val="FF0000"/>
                </a:solidFill>
                <a:latin typeface="楷体_GB2312" pitchFamily="49" charset="-122"/>
                <a:ea typeface="楷体_GB2312" pitchFamily="49" charset="-122"/>
              </a:rPr>
              <a:t>一对一联系</a:t>
            </a:r>
            <a:r>
              <a:rPr lang="zh-CN" altLang="en-US" sz="2600" b="1" smtClean="0">
                <a:latin typeface="楷体_GB2312" pitchFamily="49" charset="-122"/>
                <a:ea typeface="楷体_GB2312" pitchFamily="49" charset="-122"/>
              </a:rPr>
              <a:t>。记为</a:t>
            </a:r>
            <a:r>
              <a:rPr lang="en-US" altLang="zh-CN" sz="2600" b="1" smtClean="0">
                <a:latin typeface="楷体_GB2312" pitchFamily="49" charset="-122"/>
                <a:ea typeface="楷体_GB2312" pitchFamily="49" charset="-122"/>
              </a:rPr>
              <a:t>1:1</a:t>
            </a:r>
            <a:r>
              <a:rPr lang="zh-CN" altLang="en-US" sz="2600" b="1" smtClean="0">
                <a:latin typeface="楷体_GB2312" pitchFamily="49" charset="-122"/>
                <a:ea typeface="楷体_GB2312" pitchFamily="49" charset="-122"/>
              </a:rPr>
              <a:t>。</a:t>
            </a:r>
            <a:r>
              <a:rPr lang="zh-CN" altLang="en-US" sz="3000" b="1" smtClean="0">
                <a:latin typeface="楷体_GB2312" pitchFamily="49" charset="-122"/>
                <a:ea typeface="楷体_GB2312" pitchFamily="49" charset="-122"/>
              </a:rPr>
              <a:t> </a:t>
            </a:r>
          </a:p>
        </p:txBody>
      </p:sp>
      <p:grpSp>
        <p:nvGrpSpPr>
          <p:cNvPr id="5" name="组合 4"/>
          <p:cNvGrpSpPr>
            <a:grpSpLocks/>
          </p:cNvGrpSpPr>
          <p:nvPr/>
        </p:nvGrpSpPr>
        <p:grpSpPr bwMode="auto">
          <a:xfrm>
            <a:off x="468313" y="3511550"/>
            <a:ext cx="2232025" cy="2541588"/>
            <a:chOff x="467544" y="3512161"/>
            <a:chExt cx="2232248" cy="2540977"/>
          </a:xfrm>
        </p:grpSpPr>
        <p:sp>
          <p:nvSpPr>
            <p:cNvPr id="3" name="椭圆 2"/>
            <p:cNvSpPr/>
            <p:nvPr/>
          </p:nvSpPr>
          <p:spPr>
            <a:xfrm>
              <a:off x="467544" y="3512161"/>
              <a:ext cx="2232248" cy="254097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FF0000"/>
                  </a:solidFill>
                </a:rPr>
                <a:t>班级</a:t>
              </a:r>
            </a:p>
          </p:txBody>
        </p:sp>
        <p:sp>
          <p:nvSpPr>
            <p:cNvPr id="4" name="椭圆 3"/>
            <p:cNvSpPr/>
            <p:nvPr/>
          </p:nvSpPr>
          <p:spPr>
            <a:xfrm>
              <a:off x="1201042" y="3793081"/>
              <a:ext cx="287366" cy="45709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椭圆 19"/>
            <p:cNvSpPr/>
            <p:nvPr/>
          </p:nvSpPr>
          <p:spPr>
            <a:xfrm>
              <a:off x="1766249" y="3778797"/>
              <a:ext cx="288954" cy="457090"/>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椭圆 20"/>
            <p:cNvSpPr/>
            <p:nvPr/>
          </p:nvSpPr>
          <p:spPr>
            <a:xfrm>
              <a:off x="807303" y="4400947"/>
              <a:ext cx="287366" cy="45709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椭圆 21"/>
            <p:cNvSpPr/>
            <p:nvPr/>
          </p:nvSpPr>
          <p:spPr>
            <a:xfrm>
              <a:off x="2055203" y="4431103"/>
              <a:ext cx="287366" cy="457090"/>
            </a:xfrm>
            <a:prstGeom prst="ellipse">
              <a:avLst/>
            </a:prstGeom>
            <a:solidFill>
              <a:srgbClr val="FF99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椭圆 22"/>
            <p:cNvSpPr/>
            <p:nvPr/>
          </p:nvSpPr>
          <p:spPr>
            <a:xfrm>
              <a:off x="1094669" y="5151655"/>
              <a:ext cx="288954" cy="457090"/>
            </a:xfrm>
            <a:prstGeom prst="ellips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椭圆 23"/>
            <p:cNvSpPr/>
            <p:nvPr/>
          </p:nvSpPr>
          <p:spPr>
            <a:xfrm>
              <a:off x="1799589" y="5156416"/>
              <a:ext cx="288954" cy="457090"/>
            </a:xfrm>
            <a:prstGeom prst="ellipse">
              <a:avLst/>
            </a:prstGeom>
            <a:solidFill>
              <a:srgbClr val="DCC088"/>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7" name="组合 6"/>
          <p:cNvGrpSpPr>
            <a:grpSpLocks/>
          </p:cNvGrpSpPr>
          <p:nvPr/>
        </p:nvGrpSpPr>
        <p:grpSpPr bwMode="auto">
          <a:xfrm>
            <a:off x="2987675" y="3617913"/>
            <a:ext cx="2305050" cy="2540000"/>
            <a:chOff x="2987824" y="3617558"/>
            <a:chExt cx="2304256" cy="2540977"/>
          </a:xfrm>
        </p:grpSpPr>
        <p:sp>
          <p:nvSpPr>
            <p:cNvPr id="16" name="椭圆 15"/>
            <p:cNvSpPr/>
            <p:nvPr/>
          </p:nvSpPr>
          <p:spPr>
            <a:xfrm>
              <a:off x="2987824" y="3617558"/>
              <a:ext cx="2304256" cy="254097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FF0000"/>
                  </a:solidFill>
                </a:rPr>
                <a:t>班长</a:t>
              </a:r>
            </a:p>
          </p:txBody>
        </p:sp>
        <p:sp>
          <p:nvSpPr>
            <p:cNvPr id="25" name="矩形 24"/>
            <p:cNvSpPr/>
            <p:nvPr/>
          </p:nvSpPr>
          <p:spPr>
            <a:xfrm>
              <a:off x="4306583" y="5318424"/>
              <a:ext cx="288825" cy="45578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6" name="矩形 25"/>
            <p:cNvSpPr/>
            <p:nvPr/>
          </p:nvSpPr>
          <p:spPr>
            <a:xfrm>
              <a:off x="4306583" y="3932004"/>
              <a:ext cx="288825" cy="455787"/>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矩形 26"/>
            <p:cNvSpPr/>
            <p:nvPr/>
          </p:nvSpPr>
          <p:spPr>
            <a:xfrm>
              <a:off x="3348063" y="4552955"/>
              <a:ext cx="287238" cy="45737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8" name="矩形 27"/>
            <p:cNvSpPr/>
            <p:nvPr/>
          </p:nvSpPr>
          <p:spPr>
            <a:xfrm>
              <a:off x="4595408" y="4583129"/>
              <a:ext cx="287238" cy="457376"/>
            </a:xfrm>
            <a:prstGeom prst="rect">
              <a:avLst/>
            </a:prstGeom>
            <a:solidFill>
              <a:srgbClr val="FF99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9" name="矩形 28"/>
            <p:cNvSpPr/>
            <p:nvPr/>
          </p:nvSpPr>
          <p:spPr>
            <a:xfrm>
              <a:off x="3635301" y="5304131"/>
              <a:ext cx="288825" cy="457376"/>
            </a:xfrm>
            <a:prstGeom prst="rect">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矩形 29"/>
            <p:cNvSpPr/>
            <p:nvPr/>
          </p:nvSpPr>
          <p:spPr>
            <a:xfrm>
              <a:off x="3663866" y="3943120"/>
              <a:ext cx="287239" cy="457376"/>
            </a:xfrm>
            <a:prstGeom prst="rect">
              <a:avLst/>
            </a:prstGeom>
            <a:solidFill>
              <a:srgbClr val="DCC088"/>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6" name="TextBox 5"/>
          <p:cNvSpPr txBox="1">
            <a:spLocks noChangeArrowheads="1"/>
          </p:cNvSpPr>
          <p:nvPr/>
        </p:nvSpPr>
        <p:spPr bwMode="auto">
          <a:xfrm>
            <a:off x="5651500" y="3511550"/>
            <a:ext cx="3348038"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lnSpc>
                <a:spcPct val="120000"/>
              </a:lnSpc>
            </a:pPr>
            <a:r>
              <a:rPr lang="zh-CN" altLang="en-US" sz="2400" b="1">
                <a:solidFill>
                  <a:srgbClr val="FF0000"/>
                </a:solidFill>
              </a:rPr>
              <a:t>实例：</a:t>
            </a:r>
          </a:p>
          <a:p>
            <a:pPr eaLnBrk="1" hangingPunct="1">
              <a:lnSpc>
                <a:spcPct val="120000"/>
              </a:lnSpc>
            </a:pPr>
            <a:r>
              <a:rPr lang="zh-CN" altLang="en-US" sz="2400" b="1"/>
              <a:t>班级与班长之间的联系：</a:t>
            </a:r>
          </a:p>
          <a:p>
            <a:pPr eaLnBrk="1" hangingPunct="1">
              <a:lnSpc>
                <a:spcPct val="120000"/>
              </a:lnSpc>
            </a:pPr>
            <a:r>
              <a:rPr lang="zh-CN" altLang="en-US" sz="2400" b="1"/>
              <a:t>一个班级只有一个班长</a:t>
            </a:r>
          </a:p>
          <a:p>
            <a:pPr eaLnBrk="1" hangingPunct="1">
              <a:lnSpc>
                <a:spcPct val="120000"/>
              </a:lnSpc>
            </a:pPr>
            <a:r>
              <a:rPr lang="zh-CN" altLang="en-US" sz="2400" b="1"/>
              <a:t>一个班长只在一个班中任职</a:t>
            </a:r>
          </a:p>
          <a:p>
            <a:pPr eaLnBrk="1" hangingPunct="1"/>
            <a:endParaRPr lang="zh-CN" altLang="en-US" b="1"/>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b="1" smtClean="0"/>
              <a:t>一对一的联系</a:t>
            </a:r>
          </a:p>
        </p:txBody>
      </p:sp>
      <p:grpSp>
        <p:nvGrpSpPr>
          <p:cNvPr id="48131" name="组合 31"/>
          <p:cNvGrpSpPr>
            <a:grpSpLocks/>
          </p:cNvGrpSpPr>
          <p:nvPr/>
        </p:nvGrpSpPr>
        <p:grpSpPr bwMode="auto">
          <a:xfrm>
            <a:off x="4284663" y="1866900"/>
            <a:ext cx="3786187" cy="4000500"/>
            <a:chOff x="2500298" y="1785926"/>
            <a:chExt cx="3786214" cy="4000528"/>
          </a:xfrm>
        </p:grpSpPr>
        <p:grpSp>
          <p:nvGrpSpPr>
            <p:cNvPr id="47117" name="Group 5"/>
            <p:cNvGrpSpPr>
              <a:grpSpLocks/>
            </p:cNvGrpSpPr>
            <p:nvPr/>
          </p:nvGrpSpPr>
          <p:grpSpPr bwMode="auto">
            <a:xfrm>
              <a:off x="3643306" y="2571744"/>
              <a:ext cx="1368425" cy="2840038"/>
              <a:chOff x="1056" y="1344"/>
              <a:chExt cx="1008" cy="2735"/>
            </a:xfrm>
          </p:grpSpPr>
          <p:sp>
            <p:nvSpPr>
              <p:cNvPr id="47128" name="Text Box 6"/>
              <p:cNvSpPr txBox="1">
                <a:spLocks noChangeArrowheads="1"/>
              </p:cNvSpPr>
              <p:nvPr/>
            </p:nvSpPr>
            <p:spPr bwMode="auto">
              <a:xfrm>
                <a:off x="1105" y="1344"/>
                <a:ext cx="815" cy="449"/>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班级</a:t>
                </a:r>
              </a:p>
            </p:txBody>
          </p:sp>
          <p:sp>
            <p:nvSpPr>
              <p:cNvPr id="47129" name="AutoShape 7"/>
              <p:cNvSpPr>
                <a:spLocks noChangeArrowheads="1"/>
              </p:cNvSpPr>
              <p:nvPr/>
            </p:nvSpPr>
            <p:spPr bwMode="auto">
              <a:xfrm>
                <a:off x="1056" y="2112"/>
                <a:ext cx="960" cy="480"/>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000">
                    <a:latin typeface="楷体_GB2312" pitchFamily="49" charset="-122"/>
                    <a:ea typeface="楷体_GB2312" pitchFamily="49" charset="-122"/>
                  </a:rPr>
                  <a:t>班级</a:t>
                </a:r>
                <a:r>
                  <a:rPr kumimoji="1" lang="en-US" altLang="zh-CN" sz="2000">
                    <a:latin typeface="楷体_GB2312" pitchFamily="49" charset="-122"/>
                    <a:ea typeface="楷体_GB2312" pitchFamily="49" charset="-122"/>
                  </a:rPr>
                  <a:t>-</a:t>
                </a:r>
                <a:r>
                  <a:rPr kumimoji="1" lang="zh-CN" altLang="en-US" sz="2000">
                    <a:latin typeface="楷体_GB2312" pitchFamily="49" charset="-122"/>
                    <a:ea typeface="楷体_GB2312" pitchFamily="49" charset="-122"/>
                  </a:rPr>
                  <a:t>班长</a:t>
                </a:r>
              </a:p>
            </p:txBody>
          </p:sp>
          <p:sp>
            <p:nvSpPr>
              <p:cNvPr id="47130" name="Text Box 8"/>
              <p:cNvSpPr txBox="1">
                <a:spLocks noChangeArrowheads="1"/>
              </p:cNvSpPr>
              <p:nvPr/>
            </p:nvSpPr>
            <p:spPr bwMode="auto">
              <a:xfrm>
                <a:off x="1152" y="3166"/>
                <a:ext cx="816" cy="450"/>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班长</a:t>
                </a:r>
              </a:p>
            </p:txBody>
          </p:sp>
          <p:sp>
            <p:nvSpPr>
              <p:cNvPr id="47131" name="Line 9"/>
              <p:cNvSpPr>
                <a:spLocks noChangeShapeType="1"/>
              </p:cNvSpPr>
              <p:nvPr/>
            </p:nvSpPr>
            <p:spPr bwMode="auto">
              <a:xfrm flipV="1">
                <a:off x="1536" y="1632"/>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2" name="Line 10"/>
              <p:cNvSpPr>
                <a:spLocks noChangeShapeType="1"/>
              </p:cNvSpPr>
              <p:nvPr/>
            </p:nvSpPr>
            <p:spPr bwMode="auto">
              <a:xfrm>
                <a:off x="1536" y="25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3" name="Text Box 11"/>
              <p:cNvSpPr txBox="1">
                <a:spLocks noChangeArrowheads="1"/>
              </p:cNvSpPr>
              <p:nvPr/>
            </p:nvSpPr>
            <p:spPr bwMode="auto">
              <a:xfrm>
                <a:off x="1152" y="1777"/>
                <a:ext cx="240"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47134" name="Text Box 12"/>
              <p:cNvSpPr txBox="1">
                <a:spLocks noChangeArrowheads="1"/>
              </p:cNvSpPr>
              <p:nvPr/>
            </p:nvSpPr>
            <p:spPr bwMode="auto">
              <a:xfrm>
                <a:off x="1200" y="2737"/>
                <a:ext cx="240"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47135" name="Text Box 13"/>
              <p:cNvSpPr txBox="1">
                <a:spLocks noChangeArrowheads="1"/>
              </p:cNvSpPr>
              <p:nvPr/>
            </p:nvSpPr>
            <p:spPr bwMode="auto">
              <a:xfrm>
                <a:off x="1200" y="3696"/>
                <a:ext cx="864"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endParaRPr kumimoji="1" lang="zh-CN" altLang="en-US" sz="2000" b="1">
                  <a:latin typeface="楷体_GB2312" pitchFamily="49" charset="-122"/>
                  <a:ea typeface="楷体_GB2312" pitchFamily="49" charset="-122"/>
                </a:endParaRPr>
              </a:p>
            </p:txBody>
          </p:sp>
        </p:grpSp>
        <p:sp>
          <p:nvSpPr>
            <p:cNvPr id="13" name="椭圆 12"/>
            <p:cNvSpPr/>
            <p:nvPr/>
          </p:nvSpPr>
          <p:spPr>
            <a:xfrm>
              <a:off x="2857488"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班号</a:t>
              </a:r>
            </a:p>
          </p:txBody>
        </p:sp>
        <p:sp>
          <p:nvSpPr>
            <p:cNvPr id="14" name="椭圆 13"/>
            <p:cNvSpPr/>
            <p:nvPr/>
          </p:nvSpPr>
          <p:spPr>
            <a:xfrm>
              <a:off x="4429124"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班名</a:t>
              </a:r>
            </a:p>
          </p:txBody>
        </p:sp>
        <p:sp>
          <p:nvSpPr>
            <p:cNvPr id="15" name="椭圆 14"/>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学号</a:t>
              </a:r>
            </a:p>
          </p:txBody>
        </p:sp>
        <p:sp>
          <p:nvSpPr>
            <p:cNvPr id="16" name="椭圆 15"/>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姓名</a:t>
              </a:r>
            </a:p>
          </p:txBody>
        </p:sp>
        <p:sp>
          <p:nvSpPr>
            <p:cNvPr id="17" name="椭圆 16"/>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性别</a:t>
              </a:r>
            </a:p>
          </p:txBody>
        </p:sp>
        <p:cxnSp>
          <p:nvCxnSpPr>
            <p:cNvPr id="19" name="直接连接符 18"/>
            <p:cNvCxnSpPr>
              <a:stCxn id="13" idx="5"/>
            </p:cNvCxnSpPr>
            <p:nvPr/>
          </p:nvCxnSpPr>
          <p:spPr>
            <a:xfrm rot="16200000" flipH="1">
              <a:off x="3746494" y="2176454"/>
              <a:ext cx="412753" cy="3619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4" idx="4"/>
            </p:cNvCxnSpPr>
            <p:nvPr/>
          </p:nvCxnSpPr>
          <p:spPr>
            <a:xfrm rot="5400000">
              <a:off x="4590256" y="2196298"/>
              <a:ext cx="357191"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47130" idx="2"/>
            </p:cNvCxnSpPr>
            <p:nvPr/>
          </p:nvCxnSpPr>
          <p:spPr>
            <a:xfrm rot="5400000">
              <a:off x="3556787" y="4579152"/>
              <a:ext cx="419103" cy="11223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7" idx="0"/>
            </p:cNvCxnSpPr>
            <p:nvPr/>
          </p:nvCxnSpPr>
          <p:spPr>
            <a:xfrm>
              <a:off x="4857752" y="4929198"/>
              <a:ext cx="893769"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16" idx="0"/>
            </p:cNvCxnSpPr>
            <p:nvPr/>
          </p:nvCxnSpPr>
          <p:spPr>
            <a:xfrm rot="16200000" flipH="1">
              <a:off x="4196553" y="5090331"/>
              <a:ext cx="428628" cy="106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8132" name="Group 5"/>
          <p:cNvGrpSpPr>
            <a:grpSpLocks/>
          </p:cNvGrpSpPr>
          <p:nvPr/>
        </p:nvGrpSpPr>
        <p:grpSpPr bwMode="auto">
          <a:xfrm>
            <a:off x="1979613" y="2528888"/>
            <a:ext cx="1368425" cy="2840037"/>
            <a:chOff x="1056" y="1344"/>
            <a:chExt cx="1008" cy="2735"/>
          </a:xfrm>
        </p:grpSpPr>
        <p:sp>
          <p:nvSpPr>
            <p:cNvPr id="47109" name="Text Box 6"/>
            <p:cNvSpPr txBox="1">
              <a:spLocks noChangeArrowheads="1"/>
            </p:cNvSpPr>
            <p:nvPr/>
          </p:nvSpPr>
          <p:spPr bwMode="auto">
            <a:xfrm>
              <a:off x="1105" y="1344"/>
              <a:ext cx="815" cy="449"/>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班级</a:t>
              </a:r>
            </a:p>
          </p:txBody>
        </p:sp>
        <p:sp>
          <p:nvSpPr>
            <p:cNvPr id="47110" name="AutoShape 7"/>
            <p:cNvSpPr>
              <a:spLocks noChangeArrowheads="1"/>
            </p:cNvSpPr>
            <p:nvPr/>
          </p:nvSpPr>
          <p:spPr bwMode="auto">
            <a:xfrm>
              <a:off x="1056" y="2112"/>
              <a:ext cx="960" cy="480"/>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000">
                  <a:latin typeface="楷体_GB2312" pitchFamily="49" charset="-122"/>
                  <a:ea typeface="楷体_GB2312" pitchFamily="49" charset="-122"/>
                </a:rPr>
                <a:t>班级</a:t>
              </a:r>
              <a:r>
                <a:rPr kumimoji="1" lang="en-US" altLang="zh-CN" sz="2000">
                  <a:latin typeface="楷体_GB2312" pitchFamily="49" charset="-122"/>
                  <a:ea typeface="楷体_GB2312" pitchFamily="49" charset="-122"/>
                </a:rPr>
                <a:t>-</a:t>
              </a:r>
              <a:r>
                <a:rPr kumimoji="1" lang="zh-CN" altLang="en-US" sz="2000">
                  <a:latin typeface="楷体_GB2312" pitchFamily="49" charset="-122"/>
                  <a:ea typeface="楷体_GB2312" pitchFamily="49" charset="-122"/>
                </a:rPr>
                <a:t>班长</a:t>
              </a:r>
            </a:p>
          </p:txBody>
        </p:sp>
        <p:sp>
          <p:nvSpPr>
            <p:cNvPr id="47111" name="Text Box 8"/>
            <p:cNvSpPr txBox="1">
              <a:spLocks noChangeArrowheads="1"/>
            </p:cNvSpPr>
            <p:nvPr/>
          </p:nvSpPr>
          <p:spPr bwMode="auto">
            <a:xfrm>
              <a:off x="1152" y="3166"/>
              <a:ext cx="816" cy="450"/>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班长</a:t>
              </a:r>
            </a:p>
          </p:txBody>
        </p:sp>
        <p:sp>
          <p:nvSpPr>
            <p:cNvPr id="47112" name="Line 9"/>
            <p:cNvSpPr>
              <a:spLocks noChangeShapeType="1"/>
            </p:cNvSpPr>
            <p:nvPr/>
          </p:nvSpPr>
          <p:spPr bwMode="auto">
            <a:xfrm flipV="1">
              <a:off x="1536" y="1632"/>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3" name="Line 10"/>
            <p:cNvSpPr>
              <a:spLocks noChangeShapeType="1"/>
            </p:cNvSpPr>
            <p:nvPr/>
          </p:nvSpPr>
          <p:spPr bwMode="auto">
            <a:xfrm>
              <a:off x="1536" y="25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4" name="Text Box 11"/>
            <p:cNvSpPr txBox="1">
              <a:spLocks noChangeArrowheads="1"/>
            </p:cNvSpPr>
            <p:nvPr/>
          </p:nvSpPr>
          <p:spPr bwMode="auto">
            <a:xfrm>
              <a:off x="1152" y="1777"/>
              <a:ext cx="240"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47115" name="Text Box 12"/>
            <p:cNvSpPr txBox="1">
              <a:spLocks noChangeArrowheads="1"/>
            </p:cNvSpPr>
            <p:nvPr/>
          </p:nvSpPr>
          <p:spPr bwMode="auto">
            <a:xfrm>
              <a:off x="1200" y="2737"/>
              <a:ext cx="240"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47116" name="Text Box 13"/>
            <p:cNvSpPr txBox="1">
              <a:spLocks noChangeArrowheads="1"/>
            </p:cNvSpPr>
            <p:nvPr/>
          </p:nvSpPr>
          <p:spPr bwMode="auto">
            <a:xfrm>
              <a:off x="1200" y="3696"/>
              <a:ext cx="864"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000" b="1">
                  <a:latin typeface="楷体_GB2312" pitchFamily="49" charset="-122"/>
                  <a:ea typeface="楷体_GB2312" pitchFamily="49" charset="-122"/>
                </a:rPr>
                <a:t>1:1</a:t>
              </a:r>
              <a:r>
                <a:rPr kumimoji="1" lang="zh-CN" altLang="en-US" sz="2000" b="1">
                  <a:latin typeface="楷体_GB2312" pitchFamily="49" charset="-122"/>
                  <a:ea typeface="楷体_GB2312" pitchFamily="49" charset="-122"/>
                </a:rPr>
                <a:t>联系</a:t>
              </a: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1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48131"/>
                                        </p:tgtEl>
                                        <p:attrNameLst>
                                          <p:attrName>style.visibility</p:attrName>
                                        </p:attrNameLst>
                                      </p:cBhvr>
                                      <p:to>
                                        <p:strVal val="visible"/>
                                      </p:to>
                                    </p:set>
                                    <p:anim calcmode="lin" valueType="num">
                                      <p:cBhvr additive="base">
                                        <p:cTn id="11" dur="500" fill="hold"/>
                                        <p:tgtEl>
                                          <p:spTgt spid="48131"/>
                                        </p:tgtEl>
                                        <p:attrNameLst>
                                          <p:attrName>ppt_x</p:attrName>
                                        </p:attrNameLst>
                                      </p:cBhvr>
                                      <p:tavLst>
                                        <p:tav tm="0">
                                          <p:val>
                                            <p:strVal val="#ppt_x"/>
                                          </p:val>
                                        </p:tav>
                                        <p:tav tm="100000">
                                          <p:val>
                                            <p:strVal val="#ppt_x"/>
                                          </p:val>
                                        </p:tav>
                                      </p:tavLst>
                                    </p:anim>
                                    <p:anim calcmode="lin" valueType="num">
                                      <p:cBhvr additive="base">
                                        <p:cTn id="12" dur="500" fill="hold"/>
                                        <p:tgtEl>
                                          <p:spTgt spid="481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4F082D82-8F33-40DC-BB31-7068B8C8F180}" type="slidenum">
              <a:rPr lang="en-US" altLang="zh-CN" smtClean="0"/>
              <a:pPr algn="l" eaLnBrk="1" hangingPunct="1"/>
              <a:t>34</a:t>
            </a:fld>
            <a:endParaRPr lang="en-US" altLang="zh-CN" smtClean="0"/>
          </a:p>
        </p:txBody>
      </p:sp>
      <p:sp>
        <p:nvSpPr>
          <p:cNvPr id="48131" name="Rectangle 2"/>
          <p:cNvSpPr>
            <a:spLocks noGrp="1" noChangeArrowheads="1"/>
          </p:cNvSpPr>
          <p:nvPr>
            <p:ph type="title"/>
          </p:nvPr>
        </p:nvSpPr>
        <p:spPr>
          <a:xfrm>
            <a:off x="381000" y="115888"/>
            <a:ext cx="8382000" cy="914400"/>
          </a:xfrm>
        </p:spPr>
        <p:txBody>
          <a:bodyPr/>
          <a:lstStyle/>
          <a:p>
            <a:pPr eaLnBrk="1" hangingPunct="1"/>
            <a:r>
              <a:rPr lang="zh-CN" altLang="en-US" b="1" smtClean="0"/>
              <a:t>两个实体型间的联系</a:t>
            </a:r>
            <a:r>
              <a:rPr lang="en-US" altLang="zh-CN" b="1" smtClean="0"/>
              <a:t>(</a:t>
            </a:r>
            <a:r>
              <a:rPr lang="zh-CN" altLang="en-US" b="1" smtClean="0"/>
              <a:t>续</a:t>
            </a:r>
            <a:r>
              <a:rPr lang="en-US" altLang="zh-CN" b="1" smtClean="0"/>
              <a:t>)</a:t>
            </a:r>
          </a:p>
        </p:txBody>
      </p:sp>
      <p:sp>
        <p:nvSpPr>
          <p:cNvPr id="48132" name="Rectangle 3"/>
          <p:cNvSpPr>
            <a:spLocks noGrp="1" noChangeArrowheads="1"/>
          </p:cNvSpPr>
          <p:nvPr>
            <p:ph type="body" idx="1"/>
          </p:nvPr>
        </p:nvSpPr>
        <p:spPr>
          <a:xfrm>
            <a:off x="0" y="1196975"/>
            <a:ext cx="8640763" cy="3054350"/>
          </a:xfrm>
        </p:spPr>
        <p:txBody>
          <a:bodyPr/>
          <a:lstStyle/>
          <a:p>
            <a:pPr algn="just" eaLnBrk="1" hangingPunct="1"/>
            <a:r>
              <a:rPr lang="zh-CN" altLang="en-US" sz="2800" b="1" smtClean="0">
                <a:ea typeface="楷体_GB2312" pitchFamily="49" charset="-122"/>
              </a:rPr>
              <a:t>一对多联系</a:t>
            </a:r>
          </a:p>
          <a:p>
            <a:pPr lvl="1" algn="just" eaLnBrk="1" hangingPunct="1">
              <a:lnSpc>
                <a:spcPct val="120000"/>
              </a:lnSpc>
            </a:pPr>
            <a:r>
              <a:rPr lang="zh-CN" altLang="en-US" sz="2600" b="1" smtClean="0">
                <a:ea typeface="楷体_GB2312" pitchFamily="49" charset="-122"/>
              </a:rPr>
              <a:t>如果对于实体集</a:t>
            </a:r>
            <a:r>
              <a:rPr lang="en-US" altLang="zh-CN" sz="2600" b="1" smtClean="0">
                <a:ea typeface="楷体_GB2312" pitchFamily="49" charset="-122"/>
              </a:rPr>
              <a:t>A</a:t>
            </a:r>
            <a:r>
              <a:rPr lang="zh-CN" altLang="en-US" sz="2600" b="1" smtClean="0">
                <a:ea typeface="楷体_GB2312" pitchFamily="49" charset="-122"/>
              </a:rPr>
              <a:t>中的每一个实体，实体集</a:t>
            </a:r>
            <a:r>
              <a:rPr lang="en-US" altLang="zh-CN" sz="2600" b="1" smtClean="0">
                <a:ea typeface="楷体_GB2312" pitchFamily="49" charset="-122"/>
              </a:rPr>
              <a:t>B</a:t>
            </a:r>
            <a:r>
              <a:rPr lang="zh-CN" altLang="en-US" sz="2600" b="1" smtClean="0">
                <a:ea typeface="楷体_GB2312" pitchFamily="49" charset="-122"/>
              </a:rPr>
              <a:t>中有</a:t>
            </a:r>
            <a:r>
              <a:rPr lang="en-US" altLang="zh-CN" sz="2600" b="1" smtClean="0">
                <a:solidFill>
                  <a:srgbClr val="6666FF"/>
                </a:solidFill>
                <a:ea typeface="楷体_GB2312" pitchFamily="49" charset="-122"/>
              </a:rPr>
              <a:t>n</a:t>
            </a:r>
            <a:r>
              <a:rPr lang="zh-CN" altLang="en-US" sz="2600" b="1" smtClean="0">
                <a:solidFill>
                  <a:srgbClr val="6666FF"/>
                </a:solidFill>
                <a:ea typeface="楷体_GB2312" pitchFamily="49" charset="-122"/>
              </a:rPr>
              <a:t>个实体（</a:t>
            </a:r>
            <a:r>
              <a:rPr lang="en-US" altLang="zh-CN" sz="2600" b="1" smtClean="0">
                <a:solidFill>
                  <a:srgbClr val="6666FF"/>
                </a:solidFill>
                <a:ea typeface="楷体_GB2312" pitchFamily="49" charset="-122"/>
              </a:rPr>
              <a:t>n≥0</a:t>
            </a:r>
            <a:r>
              <a:rPr lang="zh-CN" altLang="en-US" sz="2600" b="1" smtClean="0">
                <a:solidFill>
                  <a:srgbClr val="6666FF"/>
                </a:solidFill>
                <a:ea typeface="楷体_GB2312" pitchFamily="49" charset="-122"/>
              </a:rPr>
              <a:t>）</a:t>
            </a:r>
            <a:r>
              <a:rPr lang="zh-CN" altLang="en-US" sz="2600" b="1" smtClean="0">
                <a:ea typeface="楷体_GB2312" pitchFamily="49" charset="-122"/>
              </a:rPr>
              <a:t>与之联系，反之，对于实体集</a:t>
            </a:r>
            <a:r>
              <a:rPr lang="en-US" altLang="zh-CN" sz="2600" b="1" smtClean="0">
                <a:ea typeface="楷体_GB2312" pitchFamily="49" charset="-122"/>
              </a:rPr>
              <a:t>B</a:t>
            </a:r>
            <a:r>
              <a:rPr lang="zh-CN" altLang="en-US" sz="2600" b="1" smtClean="0">
                <a:ea typeface="楷体_GB2312" pitchFamily="49" charset="-122"/>
              </a:rPr>
              <a:t>中的每一个实体，实体集</a:t>
            </a:r>
            <a:r>
              <a:rPr lang="en-US" altLang="zh-CN" sz="2600" b="1" smtClean="0">
                <a:ea typeface="楷体_GB2312" pitchFamily="49" charset="-122"/>
              </a:rPr>
              <a:t>A</a:t>
            </a:r>
            <a:r>
              <a:rPr lang="zh-CN" altLang="en-US" sz="2600" b="1" smtClean="0">
                <a:ea typeface="楷体_GB2312" pitchFamily="49" charset="-122"/>
              </a:rPr>
              <a:t>中</a:t>
            </a:r>
            <a:r>
              <a:rPr lang="zh-CN" altLang="en-US" sz="2600" b="1" smtClean="0">
                <a:solidFill>
                  <a:srgbClr val="6666FF"/>
                </a:solidFill>
                <a:ea typeface="楷体_GB2312" pitchFamily="49" charset="-122"/>
              </a:rPr>
              <a:t>至多只有一个</a:t>
            </a:r>
            <a:r>
              <a:rPr lang="zh-CN" altLang="en-US" sz="2600" b="1" smtClean="0">
                <a:ea typeface="楷体_GB2312" pitchFamily="49" charset="-122"/>
              </a:rPr>
              <a:t>实体与之联系，则称</a:t>
            </a:r>
            <a:r>
              <a:rPr lang="zh-CN" altLang="en-US" sz="2600" b="1" smtClean="0">
                <a:solidFill>
                  <a:srgbClr val="FF0000"/>
                </a:solidFill>
                <a:ea typeface="楷体_GB2312" pitchFamily="49" charset="-122"/>
              </a:rPr>
              <a:t>实体集</a:t>
            </a:r>
            <a:r>
              <a:rPr lang="en-US" altLang="zh-CN" sz="2600" b="1" smtClean="0">
                <a:solidFill>
                  <a:srgbClr val="FF0000"/>
                </a:solidFill>
                <a:ea typeface="楷体_GB2312" pitchFamily="49" charset="-122"/>
              </a:rPr>
              <a:t>A</a:t>
            </a:r>
            <a:r>
              <a:rPr lang="zh-CN" altLang="en-US" sz="2600" b="1" smtClean="0">
                <a:solidFill>
                  <a:srgbClr val="FF0000"/>
                </a:solidFill>
                <a:ea typeface="楷体_GB2312" pitchFamily="49" charset="-122"/>
              </a:rPr>
              <a:t>与实体集</a:t>
            </a:r>
            <a:r>
              <a:rPr lang="en-US" altLang="zh-CN" sz="2600" b="1" smtClean="0">
                <a:solidFill>
                  <a:srgbClr val="FF0000"/>
                </a:solidFill>
                <a:ea typeface="楷体_GB2312" pitchFamily="49" charset="-122"/>
              </a:rPr>
              <a:t>B</a:t>
            </a:r>
            <a:r>
              <a:rPr lang="zh-CN" altLang="en-US" sz="2600" b="1" smtClean="0">
                <a:ea typeface="楷体_GB2312" pitchFamily="49" charset="-122"/>
              </a:rPr>
              <a:t>有一对多联系。记为</a:t>
            </a:r>
            <a:r>
              <a:rPr lang="en-US" altLang="zh-CN" sz="2600" b="1" smtClean="0">
                <a:ea typeface="楷体_GB2312" pitchFamily="49" charset="-122"/>
              </a:rPr>
              <a:t>1:n</a:t>
            </a:r>
            <a:r>
              <a:rPr lang="zh-CN" altLang="en-US" sz="2600" b="1" smtClean="0">
                <a:ea typeface="楷体_GB2312" pitchFamily="49" charset="-122"/>
              </a:rPr>
              <a:t>。</a:t>
            </a:r>
            <a:endParaRPr lang="en-US" altLang="zh-CN" sz="2600" b="1" smtClean="0">
              <a:ea typeface="楷体_GB2312" pitchFamily="49" charset="-122"/>
            </a:endParaRPr>
          </a:p>
        </p:txBody>
      </p:sp>
      <p:grpSp>
        <p:nvGrpSpPr>
          <p:cNvPr id="15" name="组合 14"/>
          <p:cNvGrpSpPr>
            <a:grpSpLocks/>
          </p:cNvGrpSpPr>
          <p:nvPr/>
        </p:nvGrpSpPr>
        <p:grpSpPr bwMode="auto">
          <a:xfrm>
            <a:off x="420688" y="4111625"/>
            <a:ext cx="2232025" cy="2541588"/>
            <a:chOff x="467544" y="3512161"/>
            <a:chExt cx="2232248" cy="2540977"/>
          </a:xfrm>
        </p:grpSpPr>
        <p:sp>
          <p:nvSpPr>
            <p:cNvPr id="16" name="椭圆 15"/>
            <p:cNvSpPr/>
            <p:nvPr/>
          </p:nvSpPr>
          <p:spPr>
            <a:xfrm>
              <a:off x="467544" y="3512161"/>
              <a:ext cx="2232248" cy="254097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FF0000"/>
                  </a:solidFill>
                </a:rPr>
                <a:t>班级</a:t>
              </a:r>
            </a:p>
          </p:txBody>
        </p:sp>
        <p:sp>
          <p:nvSpPr>
            <p:cNvPr id="17" name="椭圆 16"/>
            <p:cNvSpPr/>
            <p:nvPr/>
          </p:nvSpPr>
          <p:spPr>
            <a:xfrm>
              <a:off x="1201042" y="3793081"/>
              <a:ext cx="287366" cy="45709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椭圆 17"/>
            <p:cNvSpPr/>
            <p:nvPr/>
          </p:nvSpPr>
          <p:spPr>
            <a:xfrm>
              <a:off x="1766249" y="3778797"/>
              <a:ext cx="288954" cy="457090"/>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椭圆 18"/>
            <p:cNvSpPr/>
            <p:nvPr/>
          </p:nvSpPr>
          <p:spPr>
            <a:xfrm>
              <a:off x="807303" y="4400947"/>
              <a:ext cx="287366" cy="45709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椭圆 19"/>
            <p:cNvSpPr/>
            <p:nvPr/>
          </p:nvSpPr>
          <p:spPr>
            <a:xfrm>
              <a:off x="2055203" y="4431103"/>
              <a:ext cx="287366" cy="457090"/>
            </a:xfrm>
            <a:prstGeom prst="ellipse">
              <a:avLst/>
            </a:prstGeom>
            <a:solidFill>
              <a:srgbClr val="FF99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椭圆 20"/>
            <p:cNvSpPr/>
            <p:nvPr/>
          </p:nvSpPr>
          <p:spPr>
            <a:xfrm>
              <a:off x="1094669" y="5151655"/>
              <a:ext cx="288954" cy="457090"/>
            </a:xfrm>
            <a:prstGeom prst="ellips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椭圆 21"/>
            <p:cNvSpPr/>
            <p:nvPr/>
          </p:nvSpPr>
          <p:spPr>
            <a:xfrm>
              <a:off x="1799589" y="5156416"/>
              <a:ext cx="288954" cy="457090"/>
            </a:xfrm>
            <a:prstGeom prst="ellipse">
              <a:avLst/>
            </a:prstGeom>
            <a:solidFill>
              <a:srgbClr val="DCC088"/>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 name="组合 2"/>
          <p:cNvGrpSpPr>
            <a:grpSpLocks/>
          </p:cNvGrpSpPr>
          <p:nvPr/>
        </p:nvGrpSpPr>
        <p:grpSpPr bwMode="auto">
          <a:xfrm>
            <a:off x="2987675" y="3617913"/>
            <a:ext cx="2484438" cy="2979737"/>
            <a:chOff x="2987823" y="3617558"/>
            <a:chExt cx="2484177" cy="2979794"/>
          </a:xfrm>
        </p:grpSpPr>
        <p:grpSp>
          <p:nvGrpSpPr>
            <p:cNvPr id="48136" name="组合 22"/>
            <p:cNvGrpSpPr>
              <a:grpSpLocks/>
            </p:cNvGrpSpPr>
            <p:nvPr/>
          </p:nvGrpSpPr>
          <p:grpSpPr bwMode="auto">
            <a:xfrm>
              <a:off x="2987823" y="3617558"/>
              <a:ext cx="2484177" cy="2979794"/>
              <a:chOff x="2987824" y="3617558"/>
              <a:chExt cx="2304256" cy="2540977"/>
            </a:xfrm>
          </p:grpSpPr>
          <p:sp>
            <p:nvSpPr>
              <p:cNvPr id="24" name="椭圆 23"/>
              <p:cNvSpPr/>
              <p:nvPr/>
            </p:nvSpPr>
            <p:spPr>
              <a:xfrm>
                <a:off x="2987824" y="3617558"/>
                <a:ext cx="2304256" cy="254097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FF0000"/>
                    </a:solidFill>
                  </a:rPr>
                  <a:t>学生</a:t>
                </a:r>
              </a:p>
            </p:txBody>
          </p:sp>
          <p:sp>
            <p:nvSpPr>
              <p:cNvPr id="25" name="矩形 24"/>
              <p:cNvSpPr/>
              <p:nvPr/>
            </p:nvSpPr>
            <p:spPr>
              <a:xfrm>
                <a:off x="4307066" y="5317860"/>
                <a:ext cx="144292" cy="2287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6" name="矩形 25"/>
              <p:cNvSpPr/>
              <p:nvPr/>
            </p:nvSpPr>
            <p:spPr>
              <a:xfrm>
                <a:off x="4307066" y="3931627"/>
                <a:ext cx="144292" cy="22607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矩形 26"/>
              <p:cNvSpPr/>
              <p:nvPr/>
            </p:nvSpPr>
            <p:spPr>
              <a:xfrm>
                <a:off x="3348555" y="4552995"/>
                <a:ext cx="142819" cy="16109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8" name="矩形 27"/>
              <p:cNvSpPr/>
              <p:nvPr/>
            </p:nvSpPr>
            <p:spPr>
              <a:xfrm>
                <a:off x="4595650" y="4584131"/>
                <a:ext cx="142820" cy="227429"/>
              </a:xfrm>
              <a:prstGeom prst="rect">
                <a:avLst/>
              </a:prstGeom>
              <a:solidFill>
                <a:srgbClr val="FF99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9" name="矩形 28"/>
              <p:cNvSpPr/>
              <p:nvPr/>
            </p:nvSpPr>
            <p:spPr>
              <a:xfrm>
                <a:off x="3635666" y="5304323"/>
                <a:ext cx="172267" cy="219307"/>
              </a:xfrm>
              <a:prstGeom prst="rect">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矩形 29"/>
              <p:cNvSpPr/>
              <p:nvPr/>
            </p:nvSpPr>
            <p:spPr>
              <a:xfrm>
                <a:off x="3663641" y="3943810"/>
                <a:ext cx="144292" cy="216599"/>
              </a:xfrm>
              <a:prstGeom prst="rect">
                <a:avLst/>
              </a:prstGeom>
              <a:solidFill>
                <a:srgbClr val="DCC088"/>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31" name="矩形 30"/>
            <p:cNvSpPr/>
            <p:nvPr/>
          </p:nvSpPr>
          <p:spPr>
            <a:xfrm>
              <a:off x="4075147" y="3858863"/>
              <a:ext cx="153971" cy="254005"/>
            </a:xfrm>
            <a:prstGeom prst="rect">
              <a:avLst/>
            </a:prstGeom>
            <a:solidFill>
              <a:srgbClr val="DCC088"/>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2" name="矩形 31"/>
            <p:cNvSpPr/>
            <p:nvPr/>
          </p:nvSpPr>
          <p:spPr>
            <a:xfrm>
              <a:off x="3868793" y="4471649"/>
              <a:ext cx="155559" cy="254005"/>
            </a:xfrm>
            <a:prstGeom prst="rect">
              <a:avLst/>
            </a:prstGeom>
            <a:solidFill>
              <a:srgbClr val="DCC088"/>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矩形 32"/>
            <p:cNvSpPr/>
            <p:nvPr/>
          </p:nvSpPr>
          <p:spPr>
            <a:xfrm>
              <a:off x="3716409" y="5101898"/>
              <a:ext cx="155559" cy="18891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4" name="矩形 33"/>
            <p:cNvSpPr/>
            <p:nvPr/>
          </p:nvSpPr>
          <p:spPr>
            <a:xfrm>
              <a:off x="3383069" y="5328916"/>
              <a:ext cx="155559" cy="18891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5" name="矩形 34"/>
            <p:cNvSpPr/>
            <p:nvPr/>
          </p:nvSpPr>
          <p:spPr>
            <a:xfrm>
              <a:off x="4565632" y="4377985"/>
              <a:ext cx="155559" cy="18891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6" name="矩形 35"/>
            <p:cNvSpPr/>
            <p:nvPr/>
          </p:nvSpPr>
          <p:spPr>
            <a:xfrm>
              <a:off x="5022784" y="4636752"/>
              <a:ext cx="155559" cy="268292"/>
            </a:xfrm>
            <a:prstGeom prst="rect">
              <a:avLst/>
            </a:prstGeom>
            <a:solidFill>
              <a:srgbClr val="FF99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7" name="矩形 36"/>
            <p:cNvSpPr/>
            <p:nvPr/>
          </p:nvSpPr>
          <p:spPr>
            <a:xfrm>
              <a:off x="5025959" y="5292402"/>
              <a:ext cx="153972" cy="266705"/>
            </a:xfrm>
            <a:prstGeom prst="rect">
              <a:avLst/>
            </a:prstGeom>
            <a:solidFill>
              <a:srgbClr val="FF99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8" name="矩形 37"/>
            <p:cNvSpPr/>
            <p:nvPr/>
          </p:nvSpPr>
          <p:spPr>
            <a:xfrm>
              <a:off x="4565632" y="5254301"/>
              <a:ext cx="155559" cy="268293"/>
            </a:xfrm>
            <a:prstGeom prst="rect">
              <a:avLst/>
            </a:prstGeom>
            <a:solidFill>
              <a:srgbClr val="FF99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9" name="矩形 38"/>
            <p:cNvSpPr/>
            <p:nvPr/>
          </p:nvSpPr>
          <p:spPr>
            <a:xfrm>
              <a:off x="4092607" y="6022666"/>
              <a:ext cx="153972" cy="26829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0" name="矩形 39"/>
            <p:cNvSpPr/>
            <p:nvPr/>
          </p:nvSpPr>
          <p:spPr>
            <a:xfrm>
              <a:off x="4927544" y="5763899"/>
              <a:ext cx="153972" cy="26829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 name="矩形 40"/>
            <p:cNvSpPr/>
            <p:nvPr/>
          </p:nvSpPr>
          <p:spPr>
            <a:xfrm>
              <a:off x="4254515" y="4457361"/>
              <a:ext cx="155559" cy="265118"/>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2" name="矩形 41"/>
            <p:cNvSpPr/>
            <p:nvPr/>
          </p:nvSpPr>
          <p:spPr>
            <a:xfrm>
              <a:off x="5005324" y="4290671"/>
              <a:ext cx="153971" cy="265117"/>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 name="TextBox 3"/>
          <p:cNvSpPr txBox="1">
            <a:spLocks noChangeArrowheads="1"/>
          </p:cNvSpPr>
          <p:nvPr/>
        </p:nvSpPr>
        <p:spPr bwMode="auto">
          <a:xfrm>
            <a:off x="5651500" y="3573463"/>
            <a:ext cx="324167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400" b="1">
                <a:solidFill>
                  <a:srgbClr val="FF0000"/>
                </a:solidFill>
              </a:rPr>
              <a:t>实例：</a:t>
            </a:r>
          </a:p>
          <a:p>
            <a:pPr eaLnBrk="1" hangingPunct="1"/>
            <a:r>
              <a:rPr lang="zh-CN" altLang="en-US" sz="2400" b="1"/>
              <a:t>班级与学生之间的联系：</a:t>
            </a:r>
          </a:p>
          <a:p>
            <a:pPr eaLnBrk="1" hangingPunct="1"/>
            <a:r>
              <a:rPr lang="zh-CN" altLang="en-US" sz="2400" b="1"/>
              <a:t>一个班级中有若干名学生，</a:t>
            </a:r>
          </a:p>
          <a:p>
            <a:pPr eaLnBrk="1" hangingPunct="1"/>
            <a:r>
              <a:rPr lang="zh-CN" altLang="en-US" sz="2400" b="1"/>
              <a:t>每个学生只在一个班级中学习</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b="1" smtClean="0"/>
              <a:t>一对多的联系</a:t>
            </a:r>
          </a:p>
        </p:txBody>
      </p:sp>
      <p:grpSp>
        <p:nvGrpSpPr>
          <p:cNvPr id="51203" name="组合 31"/>
          <p:cNvGrpSpPr>
            <a:grpSpLocks/>
          </p:cNvGrpSpPr>
          <p:nvPr/>
        </p:nvGrpSpPr>
        <p:grpSpPr bwMode="auto">
          <a:xfrm>
            <a:off x="3594100" y="1785938"/>
            <a:ext cx="3786188" cy="4000500"/>
            <a:chOff x="2500298" y="1785926"/>
            <a:chExt cx="3786214" cy="4000528"/>
          </a:xfrm>
        </p:grpSpPr>
        <p:grpSp>
          <p:nvGrpSpPr>
            <p:cNvPr id="49165" name="Group 5"/>
            <p:cNvGrpSpPr>
              <a:grpSpLocks/>
            </p:cNvGrpSpPr>
            <p:nvPr/>
          </p:nvGrpSpPr>
          <p:grpSpPr bwMode="auto">
            <a:xfrm>
              <a:off x="3643306" y="2571744"/>
              <a:ext cx="1368425" cy="2840038"/>
              <a:chOff x="1056" y="1344"/>
              <a:chExt cx="1008" cy="2735"/>
            </a:xfrm>
          </p:grpSpPr>
          <p:sp>
            <p:nvSpPr>
              <p:cNvPr id="49176" name="Text Box 6"/>
              <p:cNvSpPr txBox="1">
                <a:spLocks noChangeArrowheads="1"/>
              </p:cNvSpPr>
              <p:nvPr/>
            </p:nvSpPr>
            <p:spPr bwMode="auto">
              <a:xfrm>
                <a:off x="1105" y="1344"/>
                <a:ext cx="815" cy="449"/>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班级</a:t>
                </a:r>
              </a:p>
            </p:txBody>
          </p:sp>
          <p:sp>
            <p:nvSpPr>
              <p:cNvPr id="49177" name="AutoShape 7"/>
              <p:cNvSpPr>
                <a:spLocks noChangeArrowheads="1"/>
              </p:cNvSpPr>
              <p:nvPr/>
            </p:nvSpPr>
            <p:spPr bwMode="auto">
              <a:xfrm>
                <a:off x="1056" y="2112"/>
                <a:ext cx="960" cy="480"/>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000">
                    <a:latin typeface="楷体_GB2312" pitchFamily="49" charset="-122"/>
                    <a:ea typeface="楷体_GB2312" pitchFamily="49" charset="-122"/>
                  </a:rPr>
                  <a:t>班级</a:t>
                </a:r>
                <a:r>
                  <a:rPr kumimoji="1" lang="en-US" altLang="zh-CN" sz="2000">
                    <a:latin typeface="楷体_GB2312" pitchFamily="49" charset="-122"/>
                    <a:ea typeface="楷体_GB2312" pitchFamily="49" charset="-122"/>
                  </a:rPr>
                  <a:t>-</a:t>
                </a:r>
                <a:r>
                  <a:rPr kumimoji="1" lang="zh-CN" altLang="en-US" sz="2000">
                    <a:latin typeface="楷体_GB2312" pitchFamily="49" charset="-122"/>
                    <a:ea typeface="楷体_GB2312" pitchFamily="49" charset="-122"/>
                  </a:rPr>
                  <a:t>学生</a:t>
                </a:r>
              </a:p>
            </p:txBody>
          </p:sp>
          <p:sp>
            <p:nvSpPr>
              <p:cNvPr id="49178" name="Text Box 8"/>
              <p:cNvSpPr txBox="1">
                <a:spLocks noChangeArrowheads="1"/>
              </p:cNvSpPr>
              <p:nvPr/>
            </p:nvSpPr>
            <p:spPr bwMode="auto">
              <a:xfrm>
                <a:off x="1152" y="3166"/>
                <a:ext cx="816" cy="450"/>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学生</a:t>
                </a:r>
              </a:p>
            </p:txBody>
          </p:sp>
          <p:sp>
            <p:nvSpPr>
              <p:cNvPr id="49179" name="Line 9"/>
              <p:cNvSpPr>
                <a:spLocks noChangeShapeType="1"/>
              </p:cNvSpPr>
              <p:nvPr/>
            </p:nvSpPr>
            <p:spPr bwMode="auto">
              <a:xfrm flipV="1">
                <a:off x="1536" y="1632"/>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80" name="Line 10"/>
              <p:cNvSpPr>
                <a:spLocks noChangeShapeType="1"/>
              </p:cNvSpPr>
              <p:nvPr/>
            </p:nvSpPr>
            <p:spPr bwMode="auto">
              <a:xfrm>
                <a:off x="1536" y="25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81" name="Text Box 11"/>
              <p:cNvSpPr txBox="1">
                <a:spLocks noChangeArrowheads="1"/>
              </p:cNvSpPr>
              <p:nvPr/>
            </p:nvSpPr>
            <p:spPr bwMode="auto">
              <a:xfrm>
                <a:off x="1152" y="1777"/>
                <a:ext cx="240"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49182" name="Text Box 12"/>
              <p:cNvSpPr txBox="1">
                <a:spLocks noChangeArrowheads="1"/>
              </p:cNvSpPr>
              <p:nvPr/>
            </p:nvSpPr>
            <p:spPr bwMode="auto">
              <a:xfrm>
                <a:off x="1200" y="2737"/>
                <a:ext cx="240"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n</a:t>
                </a:r>
              </a:p>
            </p:txBody>
          </p:sp>
          <p:sp>
            <p:nvSpPr>
              <p:cNvPr id="49183" name="Text Box 13"/>
              <p:cNvSpPr txBox="1">
                <a:spLocks noChangeArrowheads="1"/>
              </p:cNvSpPr>
              <p:nvPr/>
            </p:nvSpPr>
            <p:spPr bwMode="auto">
              <a:xfrm>
                <a:off x="1200" y="3696"/>
                <a:ext cx="864"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endParaRPr kumimoji="1" lang="zh-CN" altLang="en-US" sz="2000" b="1">
                  <a:latin typeface="楷体_GB2312" pitchFamily="49" charset="-122"/>
                  <a:ea typeface="楷体_GB2312" pitchFamily="49" charset="-122"/>
                </a:endParaRPr>
              </a:p>
            </p:txBody>
          </p:sp>
        </p:grpSp>
        <p:sp>
          <p:nvSpPr>
            <p:cNvPr id="13" name="椭圆 12"/>
            <p:cNvSpPr/>
            <p:nvPr/>
          </p:nvSpPr>
          <p:spPr>
            <a:xfrm>
              <a:off x="2857488" y="1785926"/>
              <a:ext cx="1071569"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班号</a:t>
              </a:r>
            </a:p>
          </p:txBody>
        </p:sp>
        <p:sp>
          <p:nvSpPr>
            <p:cNvPr id="14" name="椭圆 13"/>
            <p:cNvSpPr/>
            <p:nvPr/>
          </p:nvSpPr>
          <p:spPr>
            <a:xfrm>
              <a:off x="4429124" y="1785926"/>
              <a:ext cx="1071569"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班名</a:t>
              </a:r>
            </a:p>
          </p:txBody>
        </p:sp>
        <p:sp>
          <p:nvSpPr>
            <p:cNvPr id="15" name="椭圆 14"/>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学号</a:t>
              </a:r>
            </a:p>
          </p:txBody>
        </p:sp>
        <p:sp>
          <p:nvSpPr>
            <p:cNvPr id="16" name="椭圆 15"/>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姓名</a:t>
              </a:r>
            </a:p>
          </p:txBody>
        </p:sp>
        <p:sp>
          <p:nvSpPr>
            <p:cNvPr id="17" name="椭圆 16"/>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性别</a:t>
              </a:r>
            </a:p>
          </p:txBody>
        </p:sp>
        <p:cxnSp>
          <p:nvCxnSpPr>
            <p:cNvPr id="19" name="直接连接符 18"/>
            <p:cNvCxnSpPr>
              <a:stCxn id="13" idx="5"/>
            </p:cNvCxnSpPr>
            <p:nvPr/>
          </p:nvCxnSpPr>
          <p:spPr>
            <a:xfrm rot="16200000" flipH="1">
              <a:off x="3746495" y="2176454"/>
              <a:ext cx="412753" cy="361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4" idx="4"/>
            </p:cNvCxnSpPr>
            <p:nvPr/>
          </p:nvCxnSpPr>
          <p:spPr>
            <a:xfrm rot="5400000">
              <a:off x="4590256" y="2196298"/>
              <a:ext cx="357189"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49178" idx="2"/>
            </p:cNvCxnSpPr>
            <p:nvPr/>
          </p:nvCxnSpPr>
          <p:spPr>
            <a:xfrm rot="5400000">
              <a:off x="3556787" y="4579151"/>
              <a:ext cx="419103" cy="11223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7" idx="0"/>
            </p:cNvCxnSpPr>
            <p:nvPr/>
          </p:nvCxnSpPr>
          <p:spPr>
            <a:xfrm>
              <a:off x="4857752" y="4929198"/>
              <a:ext cx="893768"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16" idx="0"/>
            </p:cNvCxnSpPr>
            <p:nvPr/>
          </p:nvCxnSpPr>
          <p:spPr>
            <a:xfrm rot="16200000" flipH="1">
              <a:off x="4196554" y="5090330"/>
              <a:ext cx="428628" cy="1063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Group 5"/>
          <p:cNvGrpSpPr>
            <a:grpSpLocks/>
          </p:cNvGrpSpPr>
          <p:nvPr/>
        </p:nvGrpSpPr>
        <p:grpSpPr bwMode="auto">
          <a:xfrm>
            <a:off x="1547813" y="2351088"/>
            <a:ext cx="1368425" cy="2525712"/>
            <a:chOff x="1056" y="1344"/>
            <a:chExt cx="1008" cy="2833"/>
          </a:xfrm>
        </p:grpSpPr>
        <p:sp>
          <p:nvSpPr>
            <p:cNvPr id="49157" name="Text Box 6"/>
            <p:cNvSpPr txBox="1">
              <a:spLocks noChangeArrowheads="1"/>
            </p:cNvSpPr>
            <p:nvPr/>
          </p:nvSpPr>
          <p:spPr bwMode="auto">
            <a:xfrm>
              <a:off x="1104" y="1344"/>
              <a:ext cx="816" cy="52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班级</a:t>
              </a:r>
            </a:p>
          </p:txBody>
        </p:sp>
        <p:sp>
          <p:nvSpPr>
            <p:cNvPr id="49158" name="AutoShape 7"/>
            <p:cNvSpPr>
              <a:spLocks noChangeArrowheads="1"/>
            </p:cNvSpPr>
            <p:nvPr/>
          </p:nvSpPr>
          <p:spPr bwMode="auto">
            <a:xfrm>
              <a:off x="1056" y="2112"/>
              <a:ext cx="960" cy="480"/>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400">
                  <a:latin typeface="Times New Roman" pitchFamily="18" charset="0"/>
                  <a:ea typeface="楷体_GB2312" pitchFamily="49" charset="-122"/>
                </a:rPr>
                <a:t>组成</a:t>
              </a:r>
            </a:p>
          </p:txBody>
        </p:sp>
        <p:sp>
          <p:nvSpPr>
            <p:cNvPr id="49159" name="Text Box 8"/>
            <p:cNvSpPr txBox="1">
              <a:spLocks noChangeArrowheads="1"/>
            </p:cNvSpPr>
            <p:nvPr/>
          </p:nvSpPr>
          <p:spPr bwMode="auto">
            <a:xfrm>
              <a:off x="1152" y="3166"/>
              <a:ext cx="816" cy="523"/>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学生</a:t>
              </a:r>
            </a:p>
          </p:txBody>
        </p:sp>
        <p:sp>
          <p:nvSpPr>
            <p:cNvPr id="49160" name="Line 9"/>
            <p:cNvSpPr>
              <a:spLocks noChangeShapeType="1"/>
            </p:cNvSpPr>
            <p:nvPr/>
          </p:nvSpPr>
          <p:spPr bwMode="auto">
            <a:xfrm flipV="1">
              <a:off x="1536" y="1632"/>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1" name="Line 10"/>
            <p:cNvSpPr>
              <a:spLocks noChangeShapeType="1"/>
            </p:cNvSpPr>
            <p:nvPr/>
          </p:nvSpPr>
          <p:spPr bwMode="auto">
            <a:xfrm>
              <a:off x="1536" y="25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2" name="Text Box 11"/>
            <p:cNvSpPr txBox="1">
              <a:spLocks noChangeArrowheads="1"/>
            </p:cNvSpPr>
            <p:nvPr/>
          </p:nvSpPr>
          <p:spPr bwMode="auto">
            <a:xfrm>
              <a:off x="1152" y="1775"/>
              <a:ext cx="240"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49163" name="Text Box 12"/>
            <p:cNvSpPr txBox="1">
              <a:spLocks noChangeArrowheads="1"/>
            </p:cNvSpPr>
            <p:nvPr/>
          </p:nvSpPr>
          <p:spPr bwMode="auto">
            <a:xfrm>
              <a:off x="1200" y="2736"/>
              <a:ext cx="240"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n</a:t>
              </a:r>
            </a:p>
          </p:txBody>
        </p:sp>
        <p:sp>
          <p:nvSpPr>
            <p:cNvPr id="49164" name="Text Box 13"/>
            <p:cNvSpPr txBox="1">
              <a:spLocks noChangeArrowheads="1"/>
            </p:cNvSpPr>
            <p:nvPr/>
          </p:nvSpPr>
          <p:spPr bwMode="auto">
            <a:xfrm>
              <a:off x="1200" y="3698"/>
              <a:ext cx="864" cy="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200" b="1">
                  <a:latin typeface="楷体_GB2312" pitchFamily="49" charset="-122"/>
                  <a:ea typeface="楷体_GB2312" pitchFamily="49" charset="-122"/>
                </a:rPr>
                <a:t>1:n</a:t>
              </a:r>
              <a:r>
                <a:rPr kumimoji="1" lang="zh-CN" altLang="en-US" sz="2200" b="1">
                  <a:latin typeface="楷体_GB2312" pitchFamily="49" charset="-122"/>
                  <a:ea typeface="楷体_GB2312" pitchFamily="49" charset="-122"/>
                </a:rPr>
                <a:t>联系</a:t>
              </a: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amond(in)">
                                      <p:cBhvr>
                                        <p:cTn id="7" dur="2000"/>
                                        <p:tgtEl>
                                          <p:spTgt spid="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51203"/>
                                        </p:tgtEl>
                                        <p:attrNameLst>
                                          <p:attrName>style.visibility</p:attrName>
                                        </p:attrNameLst>
                                      </p:cBhvr>
                                      <p:to>
                                        <p:strVal val="visible"/>
                                      </p:to>
                                    </p:set>
                                    <p:anim calcmode="lin" valueType="num">
                                      <p:cBhvr additive="base">
                                        <p:cTn id="12" dur="500" fill="hold"/>
                                        <p:tgtEl>
                                          <p:spTgt spid="51203"/>
                                        </p:tgtEl>
                                        <p:attrNameLst>
                                          <p:attrName>ppt_x</p:attrName>
                                        </p:attrNameLst>
                                      </p:cBhvr>
                                      <p:tavLst>
                                        <p:tav tm="0">
                                          <p:val>
                                            <p:strVal val="#ppt_x"/>
                                          </p:val>
                                        </p:tav>
                                        <p:tav tm="100000">
                                          <p:val>
                                            <p:strVal val="#ppt_x"/>
                                          </p:val>
                                        </p:tav>
                                      </p:tavLst>
                                    </p:anim>
                                    <p:anim calcmode="lin" valueType="num">
                                      <p:cBhvr additive="base">
                                        <p:cTn id="13" dur="500" fill="hold"/>
                                        <p:tgtEl>
                                          <p:spTgt spid="512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4C2A37BE-15D2-4832-BC79-F8B6CCA937A5}" type="slidenum">
              <a:rPr lang="en-US" altLang="zh-CN" smtClean="0"/>
              <a:pPr algn="l" eaLnBrk="1" hangingPunct="1"/>
              <a:t>36</a:t>
            </a:fld>
            <a:endParaRPr lang="en-US" altLang="zh-CN" smtClean="0"/>
          </a:p>
        </p:txBody>
      </p:sp>
      <p:sp>
        <p:nvSpPr>
          <p:cNvPr id="50179" name="Rectangle 2"/>
          <p:cNvSpPr>
            <a:spLocks noGrp="1" noChangeArrowheads="1"/>
          </p:cNvSpPr>
          <p:nvPr>
            <p:ph type="title"/>
          </p:nvPr>
        </p:nvSpPr>
        <p:spPr>
          <a:xfrm>
            <a:off x="381000" y="115888"/>
            <a:ext cx="8382000" cy="914400"/>
          </a:xfrm>
        </p:spPr>
        <p:txBody>
          <a:bodyPr/>
          <a:lstStyle/>
          <a:p>
            <a:pPr eaLnBrk="1" hangingPunct="1"/>
            <a:r>
              <a:rPr lang="zh-CN" altLang="en-US" b="1" smtClean="0"/>
              <a:t>两个实体型间的联系 </a:t>
            </a:r>
            <a:r>
              <a:rPr lang="en-US" altLang="zh-CN" b="1" smtClean="0"/>
              <a:t>(</a:t>
            </a:r>
            <a:r>
              <a:rPr lang="zh-CN" altLang="en-US" b="1" smtClean="0"/>
              <a:t>续</a:t>
            </a:r>
            <a:r>
              <a:rPr lang="en-US" altLang="zh-CN" b="1" smtClean="0"/>
              <a:t>)</a:t>
            </a:r>
          </a:p>
        </p:txBody>
      </p:sp>
      <p:sp>
        <p:nvSpPr>
          <p:cNvPr id="50180" name="Rectangle 3"/>
          <p:cNvSpPr>
            <a:spLocks noGrp="1" noChangeArrowheads="1"/>
          </p:cNvSpPr>
          <p:nvPr>
            <p:ph type="body" idx="1"/>
          </p:nvPr>
        </p:nvSpPr>
        <p:spPr>
          <a:xfrm>
            <a:off x="34925" y="1125538"/>
            <a:ext cx="8929688" cy="2908300"/>
          </a:xfrm>
        </p:spPr>
        <p:txBody>
          <a:bodyPr/>
          <a:lstStyle/>
          <a:p>
            <a:pPr algn="just" eaLnBrk="1" hangingPunct="1"/>
            <a:r>
              <a:rPr lang="zh-CN" altLang="en-US" sz="2800" b="1" smtClean="0">
                <a:ea typeface="楷体_GB2312" pitchFamily="49" charset="-122"/>
              </a:rPr>
              <a:t>多对多联系（</a:t>
            </a:r>
            <a:r>
              <a:rPr lang="en-US" altLang="zh-CN" sz="2800" b="1" smtClean="0">
                <a:ea typeface="楷体_GB2312" pitchFamily="49" charset="-122"/>
              </a:rPr>
              <a:t>m:n</a:t>
            </a:r>
            <a:r>
              <a:rPr lang="zh-CN" altLang="en-US" sz="2800" b="1" smtClean="0">
                <a:ea typeface="楷体_GB2312" pitchFamily="49" charset="-122"/>
              </a:rPr>
              <a:t>）</a:t>
            </a:r>
          </a:p>
          <a:p>
            <a:pPr lvl="1" algn="just" eaLnBrk="1" hangingPunct="1">
              <a:lnSpc>
                <a:spcPct val="120000"/>
              </a:lnSpc>
            </a:pPr>
            <a:r>
              <a:rPr lang="zh-CN" altLang="en-US" sz="2600" b="1" smtClean="0">
                <a:ea typeface="楷体_GB2312" pitchFamily="49" charset="-122"/>
              </a:rPr>
              <a:t>如果对于实体集</a:t>
            </a:r>
            <a:r>
              <a:rPr lang="en-US" altLang="zh-CN" sz="2600" b="1" smtClean="0">
                <a:ea typeface="楷体_GB2312" pitchFamily="49" charset="-122"/>
              </a:rPr>
              <a:t>A</a:t>
            </a:r>
            <a:r>
              <a:rPr lang="zh-CN" altLang="en-US" sz="2600" b="1" smtClean="0">
                <a:ea typeface="楷体_GB2312" pitchFamily="49" charset="-122"/>
              </a:rPr>
              <a:t>中的每一个实体，实体集</a:t>
            </a:r>
            <a:r>
              <a:rPr lang="en-US" altLang="zh-CN" sz="2600" b="1" smtClean="0">
                <a:ea typeface="楷体_GB2312" pitchFamily="49" charset="-122"/>
              </a:rPr>
              <a:t>B</a:t>
            </a:r>
            <a:r>
              <a:rPr lang="zh-CN" altLang="en-US" sz="2600" b="1" smtClean="0">
                <a:ea typeface="楷体_GB2312" pitchFamily="49" charset="-122"/>
              </a:rPr>
              <a:t>中有</a:t>
            </a:r>
            <a:r>
              <a:rPr lang="en-US" altLang="zh-CN" sz="2600" b="1" smtClean="0">
                <a:ea typeface="楷体_GB2312" pitchFamily="49" charset="-122"/>
              </a:rPr>
              <a:t>n</a:t>
            </a:r>
            <a:r>
              <a:rPr lang="zh-CN" altLang="en-US" sz="2600" b="1" smtClean="0">
                <a:ea typeface="楷体_GB2312" pitchFamily="49" charset="-122"/>
              </a:rPr>
              <a:t>个实体</a:t>
            </a:r>
            <a:r>
              <a:rPr lang="zh-CN" altLang="en-US" sz="2600" b="1" smtClean="0">
                <a:solidFill>
                  <a:srgbClr val="6666FF"/>
                </a:solidFill>
                <a:ea typeface="楷体_GB2312" pitchFamily="49" charset="-122"/>
              </a:rPr>
              <a:t>（</a:t>
            </a:r>
            <a:r>
              <a:rPr lang="en-US" altLang="zh-CN" sz="2600" b="1" smtClean="0">
                <a:solidFill>
                  <a:srgbClr val="6666FF"/>
                </a:solidFill>
                <a:ea typeface="楷体_GB2312" pitchFamily="49" charset="-122"/>
              </a:rPr>
              <a:t>n≥0</a:t>
            </a:r>
            <a:r>
              <a:rPr lang="zh-CN" altLang="en-US" sz="2600" b="1" smtClean="0">
                <a:solidFill>
                  <a:srgbClr val="6666FF"/>
                </a:solidFill>
                <a:ea typeface="楷体_GB2312" pitchFamily="49" charset="-122"/>
              </a:rPr>
              <a:t>）</a:t>
            </a:r>
            <a:r>
              <a:rPr lang="zh-CN" altLang="en-US" sz="2600" b="1" smtClean="0">
                <a:ea typeface="楷体_GB2312" pitchFamily="49" charset="-122"/>
              </a:rPr>
              <a:t>与之联系，反之，对于实体集</a:t>
            </a:r>
            <a:r>
              <a:rPr lang="en-US" altLang="zh-CN" sz="2600" b="1" smtClean="0">
                <a:ea typeface="楷体_GB2312" pitchFamily="49" charset="-122"/>
              </a:rPr>
              <a:t>B</a:t>
            </a:r>
            <a:r>
              <a:rPr lang="zh-CN" altLang="en-US" sz="2600" b="1" smtClean="0">
                <a:ea typeface="楷体_GB2312" pitchFamily="49" charset="-122"/>
              </a:rPr>
              <a:t>中的每一个实体，实体集</a:t>
            </a:r>
            <a:r>
              <a:rPr lang="en-US" altLang="zh-CN" sz="2600" b="1" smtClean="0">
                <a:ea typeface="楷体_GB2312" pitchFamily="49" charset="-122"/>
              </a:rPr>
              <a:t>A</a:t>
            </a:r>
            <a:r>
              <a:rPr lang="zh-CN" altLang="en-US" sz="2600" b="1" smtClean="0">
                <a:ea typeface="楷体_GB2312" pitchFamily="49" charset="-122"/>
              </a:rPr>
              <a:t>中也有</a:t>
            </a:r>
            <a:r>
              <a:rPr lang="en-US" altLang="zh-CN" sz="2600" b="1" smtClean="0">
                <a:ea typeface="楷体_GB2312" pitchFamily="49" charset="-122"/>
              </a:rPr>
              <a:t>m</a:t>
            </a:r>
            <a:r>
              <a:rPr lang="zh-CN" altLang="en-US" sz="2600" b="1" smtClean="0">
                <a:ea typeface="楷体_GB2312" pitchFamily="49" charset="-122"/>
              </a:rPr>
              <a:t>个实体</a:t>
            </a:r>
            <a:r>
              <a:rPr lang="zh-CN" altLang="en-US" sz="2600" b="1" smtClean="0">
                <a:solidFill>
                  <a:srgbClr val="6666FF"/>
                </a:solidFill>
                <a:ea typeface="楷体_GB2312" pitchFamily="49" charset="-122"/>
              </a:rPr>
              <a:t>（</a:t>
            </a:r>
            <a:r>
              <a:rPr lang="en-US" altLang="zh-CN" sz="2600" b="1" smtClean="0">
                <a:solidFill>
                  <a:srgbClr val="6666FF"/>
                </a:solidFill>
                <a:ea typeface="楷体_GB2312" pitchFamily="49" charset="-122"/>
              </a:rPr>
              <a:t>m≥0</a:t>
            </a:r>
            <a:r>
              <a:rPr lang="zh-CN" altLang="en-US" sz="2600" b="1" smtClean="0">
                <a:solidFill>
                  <a:srgbClr val="6666FF"/>
                </a:solidFill>
                <a:ea typeface="楷体_GB2312" pitchFamily="49" charset="-122"/>
              </a:rPr>
              <a:t>）</a:t>
            </a:r>
            <a:r>
              <a:rPr lang="zh-CN" altLang="en-US" sz="2600" b="1" smtClean="0">
                <a:ea typeface="楷体_GB2312" pitchFamily="49" charset="-122"/>
              </a:rPr>
              <a:t>与之联系，则称</a:t>
            </a:r>
            <a:r>
              <a:rPr lang="zh-CN" altLang="en-US" sz="2600" b="1" smtClean="0">
                <a:solidFill>
                  <a:srgbClr val="FF0000"/>
                </a:solidFill>
                <a:ea typeface="楷体_GB2312" pitchFamily="49" charset="-122"/>
              </a:rPr>
              <a:t>实体集</a:t>
            </a:r>
            <a:r>
              <a:rPr lang="en-US" altLang="zh-CN" sz="2600" b="1" smtClean="0">
                <a:solidFill>
                  <a:srgbClr val="FF0000"/>
                </a:solidFill>
                <a:ea typeface="楷体_GB2312" pitchFamily="49" charset="-122"/>
              </a:rPr>
              <a:t>A</a:t>
            </a:r>
            <a:r>
              <a:rPr lang="zh-CN" altLang="en-US" sz="2600" b="1" smtClean="0">
                <a:solidFill>
                  <a:srgbClr val="FF0000"/>
                </a:solidFill>
                <a:ea typeface="楷体_GB2312" pitchFamily="49" charset="-122"/>
              </a:rPr>
              <a:t>与实体集</a:t>
            </a:r>
            <a:r>
              <a:rPr lang="en-US" altLang="zh-CN" sz="2600" b="1" smtClean="0">
                <a:solidFill>
                  <a:srgbClr val="FF0000"/>
                </a:solidFill>
                <a:ea typeface="楷体_GB2312" pitchFamily="49" charset="-122"/>
              </a:rPr>
              <a:t>B</a:t>
            </a:r>
            <a:r>
              <a:rPr lang="zh-CN" altLang="en-US" sz="2600" b="1" smtClean="0">
                <a:ea typeface="楷体_GB2312" pitchFamily="49" charset="-122"/>
              </a:rPr>
              <a:t>具有多对多联系。记为</a:t>
            </a:r>
            <a:r>
              <a:rPr lang="en-US" altLang="zh-CN" sz="2600" b="1" smtClean="0">
                <a:ea typeface="楷体_GB2312" pitchFamily="49" charset="-122"/>
              </a:rPr>
              <a:t>m:n</a:t>
            </a:r>
            <a:r>
              <a:rPr lang="zh-CN" altLang="en-US" sz="2600" b="1" smtClean="0">
                <a:ea typeface="楷体_GB2312" pitchFamily="49" charset="-122"/>
              </a:rPr>
              <a:t>。</a:t>
            </a:r>
            <a:endParaRPr lang="en-US" altLang="zh-CN" sz="2600" b="1" i="1" smtClean="0">
              <a:ea typeface="楷体_GB2312" pitchFamily="49" charset="-122"/>
            </a:endParaRPr>
          </a:p>
        </p:txBody>
      </p:sp>
      <p:sp>
        <p:nvSpPr>
          <p:cNvPr id="893967" name="Rectangle 15"/>
          <p:cNvSpPr>
            <a:spLocks noChangeArrowheads="1"/>
          </p:cNvSpPr>
          <p:nvPr/>
        </p:nvSpPr>
        <p:spPr bwMode="auto">
          <a:xfrm>
            <a:off x="5148263" y="3744913"/>
            <a:ext cx="3816350" cy="242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2" indent="-228600" algn="just">
              <a:lnSpc>
                <a:spcPct val="120000"/>
              </a:lnSpc>
              <a:spcBef>
                <a:spcPct val="20000"/>
              </a:spcBef>
              <a:buClr>
                <a:srgbClr val="FF0000"/>
              </a:buClr>
              <a:buSzPct val="75000"/>
              <a:buFont typeface="Wingdings" pitchFamily="2" charset="2"/>
              <a:buNone/>
            </a:pPr>
            <a:r>
              <a:rPr lang="zh-CN" altLang="en-US" sz="2400" b="1">
                <a:solidFill>
                  <a:srgbClr val="FF0000"/>
                </a:solidFill>
                <a:ea typeface="楷体_GB2312" pitchFamily="49" charset="-122"/>
              </a:rPr>
              <a:t>实例：</a:t>
            </a:r>
            <a:endParaRPr lang="en-US" altLang="zh-CN" sz="2400" b="1">
              <a:solidFill>
                <a:srgbClr val="FF0000"/>
              </a:solidFill>
              <a:ea typeface="楷体_GB2312" pitchFamily="49" charset="-122"/>
            </a:endParaRPr>
          </a:p>
          <a:p>
            <a:pPr marL="0" lvl="2" indent="-228600" algn="just">
              <a:lnSpc>
                <a:spcPct val="120000"/>
              </a:lnSpc>
              <a:spcBef>
                <a:spcPct val="20000"/>
              </a:spcBef>
              <a:buClr>
                <a:srgbClr val="FF0000"/>
              </a:buClr>
              <a:buSzPct val="75000"/>
              <a:buFont typeface="Wingdings" pitchFamily="2" charset="2"/>
              <a:buNone/>
            </a:pPr>
            <a:r>
              <a:rPr lang="zh-CN" altLang="en-US" sz="2400" b="1">
                <a:solidFill>
                  <a:srgbClr val="FF0000"/>
                </a:solidFill>
                <a:ea typeface="楷体_GB2312" pitchFamily="49" charset="-122"/>
              </a:rPr>
              <a:t>课程和学生之间的联系：</a:t>
            </a:r>
            <a:endParaRPr lang="en-US" altLang="zh-CN" sz="2400" b="1">
              <a:solidFill>
                <a:srgbClr val="FF0000"/>
              </a:solidFill>
              <a:ea typeface="楷体_GB2312" pitchFamily="49" charset="-122"/>
            </a:endParaRPr>
          </a:p>
          <a:p>
            <a:pPr marL="0" lvl="2" indent="-228600" algn="just">
              <a:lnSpc>
                <a:spcPct val="120000"/>
              </a:lnSpc>
              <a:spcBef>
                <a:spcPct val="20000"/>
              </a:spcBef>
              <a:buClr>
                <a:srgbClr val="FF0000"/>
              </a:buClr>
              <a:buSzPct val="75000"/>
              <a:buFont typeface="Wingdings" pitchFamily="2" charset="2"/>
              <a:buNone/>
            </a:pPr>
            <a:r>
              <a:rPr lang="zh-CN" altLang="en-US" sz="2000" b="1">
                <a:ea typeface="楷体_GB2312" pitchFamily="49" charset="-122"/>
              </a:rPr>
              <a:t>一门课程同时有若干个学生选修</a:t>
            </a:r>
          </a:p>
          <a:p>
            <a:pPr marL="0" lvl="2" indent="-228600" algn="just">
              <a:lnSpc>
                <a:spcPct val="120000"/>
              </a:lnSpc>
              <a:spcBef>
                <a:spcPct val="20000"/>
              </a:spcBef>
              <a:buClr>
                <a:srgbClr val="FF0000"/>
              </a:buClr>
              <a:buSzPct val="75000"/>
              <a:buFont typeface="Wingdings" pitchFamily="2" charset="2"/>
              <a:buNone/>
            </a:pPr>
            <a:r>
              <a:rPr lang="zh-CN" altLang="en-US" sz="2000" b="1">
                <a:ea typeface="楷体_GB2312" pitchFamily="49" charset="-122"/>
              </a:rPr>
              <a:t>一个学生可以同时选修多门课程</a:t>
            </a:r>
            <a:endParaRPr lang="zh-CN" altLang="en-US" sz="2000" b="1" i="1">
              <a:ea typeface="楷体_GB2312" pitchFamily="49" charset="-122"/>
            </a:endParaRPr>
          </a:p>
        </p:txBody>
      </p:sp>
      <p:grpSp>
        <p:nvGrpSpPr>
          <p:cNvPr id="15" name="组合 14"/>
          <p:cNvGrpSpPr>
            <a:grpSpLocks/>
          </p:cNvGrpSpPr>
          <p:nvPr/>
        </p:nvGrpSpPr>
        <p:grpSpPr bwMode="auto">
          <a:xfrm>
            <a:off x="220663" y="4054475"/>
            <a:ext cx="2232025" cy="2541588"/>
            <a:chOff x="467544" y="3512161"/>
            <a:chExt cx="2232248" cy="2540977"/>
          </a:xfrm>
        </p:grpSpPr>
        <p:sp>
          <p:nvSpPr>
            <p:cNvPr id="16" name="椭圆 15"/>
            <p:cNvSpPr/>
            <p:nvPr/>
          </p:nvSpPr>
          <p:spPr>
            <a:xfrm>
              <a:off x="467544" y="3512161"/>
              <a:ext cx="2232248" cy="254097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FF0000"/>
                  </a:solidFill>
                </a:rPr>
                <a:t>课程</a:t>
              </a:r>
            </a:p>
          </p:txBody>
        </p:sp>
        <p:sp>
          <p:nvSpPr>
            <p:cNvPr id="17" name="椭圆 16"/>
            <p:cNvSpPr/>
            <p:nvPr/>
          </p:nvSpPr>
          <p:spPr>
            <a:xfrm>
              <a:off x="1201042" y="3793081"/>
              <a:ext cx="287366" cy="45709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椭圆 17"/>
            <p:cNvSpPr/>
            <p:nvPr/>
          </p:nvSpPr>
          <p:spPr>
            <a:xfrm>
              <a:off x="1766249" y="3778797"/>
              <a:ext cx="288954" cy="457090"/>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椭圆 18"/>
            <p:cNvSpPr/>
            <p:nvPr/>
          </p:nvSpPr>
          <p:spPr>
            <a:xfrm>
              <a:off x="807303" y="4400947"/>
              <a:ext cx="287366" cy="45709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椭圆 19"/>
            <p:cNvSpPr/>
            <p:nvPr/>
          </p:nvSpPr>
          <p:spPr>
            <a:xfrm>
              <a:off x="2055203" y="4431103"/>
              <a:ext cx="287366" cy="457090"/>
            </a:xfrm>
            <a:prstGeom prst="ellipse">
              <a:avLst/>
            </a:prstGeom>
            <a:solidFill>
              <a:srgbClr val="FF99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椭圆 20"/>
            <p:cNvSpPr/>
            <p:nvPr/>
          </p:nvSpPr>
          <p:spPr>
            <a:xfrm>
              <a:off x="1094669" y="5151655"/>
              <a:ext cx="288954" cy="457090"/>
            </a:xfrm>
            <a:prstGeom prst="ellips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椭圆 21"/>
            <p:cNvSpPr/>
            <p:nvPr/>
          </p:nvSpPr>
          <p:spPr>
            <a:xfrm>
              <a:off x="1799589" y="5156416"/>
              <a:ext cx="288954" cy="457090"/>
            </a:xfrm>
            <a:prstGeom prst="ellipse">
              <a:avLst/>
            </a:prstGeom>
            <a:solidFill>
              <a:srgbClr val="DCC088"/>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6" name="组合 5"/>
          <p:cNvGrpSpPr>
            <a:grpSpLocks/>
          </p:cNvGrpSpPr>
          <p:nvPr/>
        </p:nvGrpSpPr>
        <p:grpSpPr bwMode="auto">
          <a:xfrm>
            <a:off x="2992438" y="3913188"/>
            <a:ext cx="1943100" cy="2541587"/>
            <a:chOff x="3054350" y="3944938"/>
            <a:chExt cx="1943100" cy="2541587"/>
          </a:xfrm>
        </p:grpSpPr>
        <p:sp>
          <p:nvSpPr>
            <p:cNvPr id="3" name="椭圆 2"/>
            <p:cNvSpPr/>
            <p:nvPr/>
          </p:nvSpPr>
          <p:spPr bwMode="auto">
            <a:xfrm>
              <a:off x="3054350" y="3944938"/>
              <a:ext cx="1943100" cy="25415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FF0000"/>
                  </a:solidFill>
                </a:rPr>
                <a:t>学生</a:t>
              </a:r>
            </a:p>
          </p:txBody>
        </p:sp>
        <p:sp>
          <p:nvSpPr>
            <p:cNvPr id="2" name="笑脸 1"/>
            <p:cNvSpPr/>
            <p:nvPr/>
          </p:nvSpPr>
          <p:spPr>
            <a:xfrm>
              <a:off x="3779837" y="4054475"/>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8" name="笑脸 47"/>
            <p:cNvSpPr/>
            <p:nvPr/>
          </p:nvSpPr>
          <p:spPr>
            <a:xfrm>
              <a:off x="4059237" y="4073525"/>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0" name="笑脸 49"/>
            <p:cNvSpPr/>
            <p:nvPr/>
          </p:nvSpPr>
          <p:spPr>
            <a:xfrm>
              <a:off x="3348037" y="4295775"/>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 name="笑脸 50"/>
            <p:cNvSpPr/>
            <p:nvPr/>
          </p:nvSpPr>
          <p:spPr>
            <a:xfrm>
              <a:off x="3470275" y="588962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 name="笑脸 51"/>
            <p:cNvSpPr/>
            <p:nvPr/>
          </p:nvSpPr>
          <p:spPr>
            <a:xfrm>
              <a:off x="3716337" y="6099175"/>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 name="笑脸 52"/>
            <p:cNvSpPr/>
            <p:nvPr/>
          </p:nvSpPr>
          <p:spPr>
            <a:xfrm>
              <a:off x="4376737" y="4321175"/>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笑脸 53"/>
            <p:cNvSpPr/>
            <p:nvPr/>
          </p:nvSpPr>
          <p:spPr>
            <a:xfrm>
              <a:off x="4160837" y="5638800"/>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5" name="笑脸 54"/>
            <p:cNvSpPr/>
            <p:nvPr/>
          </p:nvSpPr>
          <p:spPr>
            <a:xfrm>
              <a:off x="4448175" y="5867400"/>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6" name="笑脸 55"/>
            <p:cNvSpPr/>
            <p:nvPr/>
          </p:nvSpPr>
          <p:spPr>
            <a:xfrm>
              <a:off x="3254375" y="5638800"/>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7" name="笑脸 56"/>
            <p:cNvSpPr/>
            <p:nvPr/>
          </p:nvSpPr>
          <p:spPr>
            <a:xfrm>
              <a:off x="3779837" y="5595938"/>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8" name="笑脸 57"/>
            <p:cNvSpPr/>
            <p:nvPr/>
          </p:nvSpPr>
          <p:spPr>
            <a:xfrm>
              <a:off x="4084637" y="6099175"/>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9" name="笑脸 58"/>
            <p:cNvSpPr/>
            <p:nvPr/>
          </p:nvSpPr>
          <p:spPr>
            <a:xfrm>
              <a:off x="4652962" y="5600700"/>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0" name="笑脸 59"/>
            <p:cNvSpPr/>
            <p:nvPr/>
          </p:nvSpPr>
          <p:spPr>
            <a:xfrm>
              <a:off x="4254500" y="4630738"/>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1" name="笑脸 60"/>
            <p:cNvSpPr/>
            <p:nvPr/>
          </p:nvSpPr>
          <p:spPr>
            <a:xfrm>
              <a:off x="4533900" y="4649788"/>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笑脸 61"/>
            <p:cNvSpPr/>
            <p:nvPr/>
          </p:nvSpPr>
          <p:spPr>
            <a:xfrm>
              <a:off x="3470275" y="5334000"/>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3" name="笑脸 62"/>
            <p:cNvSpPr/>
            <p:nvPr/>
          </p:nvSpPr>
          <p:spPr>
            <a:xfrm>
              <a:off x="3810000" y="438467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4" name="笑脸 63"/>
            <p:cNvSpPr/>
            <p:nvPr/>
          </p:nvSpPr>
          <p:spPr>
            <a:xfrm>
              <a:off x="4406900" y="494347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5" name="笑脸 64"/>
            <p:cNvSpPr/>
            <p:nvPr/>
          </p:nvSpPr>
          <p:spPr>
            <a:xfrm>
              <a:off x="4686300" y="496252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6" name="笑脸 65"/>
            <p:cNvSpPr/>
            <p:nvPr/>
          </p:nvSpPr>
          <p:spPr>
            <a:xfrm>
              <a:off x="3563937" y="4630738"/>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7" name="笑脸 66"/>
            <p:cNvSpPr/>
            <p:nvPr/>
          </p:nvSpPr>
          <p:spPr>
            <a:xfrm>
              <a:off x="4295775" y="5351463"/>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8" name="笑脸 67"/>
            <p:cNvSpPr/>
            <p:nvPr/>
          </p:nvSpPr>
          <p:spPr>
            <a:xfrm>
              <a:off x="3132137" y="4872038"/>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9" name="笑脸 68"/>
            <p:cNvSpPr/>
            <p:nvPr/>
          </p:nvSpPr>
          <p:spPr>
            <a:xfrm>
              <a:off x="3411537" y="4891088"/>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0" name="笑脸 69"/>
            <p:cNvSpPr/>
            <p:nvPr/>
          </p:nvSpPr>
          <p:spPr>
            <a:xfrm>
              <a:off x="3173412" y="5270500"/>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1" name="笑脸 70"/>
            <p:cNvSpPr/>
            <p:nvPr/>
          </p:nvSpPr>
          <p:spPr>
            <a:xfrm>
              <a:off x="4681537" y="5287963"/>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893967"/>
                                        </p:tgtEl>
                                        <p:attrNameLst>
                                          <p:attrName>style.visibility</p:attrName>
                                        </p:attrNameLst>
                                      </p:cBhvr>
                                      <p:to>
                                        <p:strVal val="visible"/>
                                      </p:to>
                                    </p:set>
                                    <p:animEffect transition="in" filter="diamond(in)">
                                      <p:cBhvr>
                                        <p:cTn id="17" dur="2000"/>
                                        <p:tgtEl>
                                          <p:spTgt spid="893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396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zh-CN" altLang="en-US" b="1" smtClean="0"/>
              <a:t>多对多的联系</a:t>
            </a:r>
          </a:p>
        </p:txBody>
      </p:sp>
      <p:grpSp>
        <p:nvGrpSpPr>
          <p:cNvPr id="54275" name="组合 27"/>
          <p:cNvGrpSpPr>
            <a:grpSpLocks/>
          </p:cNvGrpSpPr>
          <p:nvPr/>
        </p:nvGrpSpPr>
        <p:grpSpPr bwMode="auto">
          <a:xfrm>
            <a:off x="4052888" y="1785938"/>
            <a:ext cx="4071937" cy="4000500"/>
            <a:chOff x="2500298" y="1785926"/>
            <a:chExt cx="4071966" cy="4000528"/>
          </a:xfrm>
        </p:grpSpPr>
        <p:grpSp>
          <p:nvGrpSpPr>
            <p:cNvPr id="51213" name="组合 31"/>
            <p:cNvGrpSpPr>
              <a:grpSpLocks/>
            </p:cNvGrpSpPr>
            <p:nvPr/>
          </p:nvGrpSpPr>
          <p:grpSpPr bwMode="auto">
            <a:xfrm>
              <a:off x="2500298" y="1785926"/>
              <a:ext cx="3786214" cy="4000528"/>
              <a:chOff x="2500298" y="1785926"/>
              <a:chExt cx="3786214" cy="4000528"/>
            </a:xfrm>
          </p:grpSpPr>
          <p:grpSp>
            <p:nvGrpSpPr>
              <p:cNvPr id="51216" name="Group 5"/>
              <p:cNvGrpSpPr>
                <a:grpSpLocks/>
              </p:cNvGrpSpPr>
              <p:nvPr/>
            </p:nvGrpSpPr>
            <p:grpSpPr bwMode="auto">
              <a:xfrm>
                <a:off x="3643306" y="2571744"/>
                <a:ext cx="1368425" cy="2840038"/>
                <a:chOff x="1056" y="1344"/>
                <a:chExt cx="1008" cy="2735"/>
              </a:xfrm>
            </p:grpSpPr>
            <p:sp>
              <p:nvSpPr>
                <p:cNvPr id="51227" name="Text Box 6"/>
                <p:cNvSpPr txBox="1">
                  <a:spLocks noChangeArrowheads="1"/>
                </p:cNvSpPr>
                <p:nvPr/>
              </p:nvSpPr>
              <p:spPr bwMode="auto">
                <a:xfrm>
                  <a:off x="1105" y="1344"/>
                  <a:ext cx="815" cy="449"/>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课程</a:t>
                  </a:r>
                </a:p>
              </p:txBody>
            </p:sp>
            <p:sp>
              <p:nvSpPr>
                <p:cNvPr id="51228" name="AutoShape 7"/>
                <p:cNvSpPr>
                  <a:spLocks noChangeArrowheads="1"/>
                </p:cNvSpPr>
                <p:nvPr/>
              </p:nvSpPr>
              <p:spPr bwMode="auto">
                <a:xfrm>
                  <a:off x="1056" y="2112"/>
                  <a:ext cx="960" cy="480"/>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000">
                      <a:latin typeface="楷体_GB2312" pitchFamily="49" charset="-122"/>
                      <a:ea typeface="楷体_GB2312" pitchFamily="49" charset="-122"/>
                    </a:rPr>
                    <a:t>选修</a:t>
                  </a:r>
                </a:p>
              </p:txBody>
            </p:sp>
            <p:sp>
              <p:nvSpPr>
                <p:cNvPr id="51229" name="Text Box 8"/>
                <p:cNvSpPr txBox="1">
                  <a:spLocks noChangeArrowheads="1"/>
                </p:cNvSpPr>
                <p:nvPr/>
              </p:nvSpPr>
              <p:spPr bwMode="auto">
                <a:xfrm>
                  <a:off x="1152" y="3166"/>
                  <a:ext cx="816" cy="450"/>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学生</a:t>
                  </a:r>
                </a:p>
              </p:txBody>
            </p:sp>
            <p:sp>
              <p:nvSpPr>
                <p:cNvPr id="51230" name="Line 9"/>
                <p:cNvSpPr>
                  <a:spLocks noChangeShapeType="1"/>
                </p:cNvSpPr>
                <p:nvPr/>
              </p:nvSpPr>
              <p:spPr bwMode="auto">
                <a:xfrm flipV="1">
                  <a:off x="1536" y="1632"/>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1" name="Line 10"/>
                <p:cNvSpPr>
                  <a:spLocks noChangeShapeType="1"/>
                </p:cNvSpPr>
                <p:nvPr/>
              </p:nvSpPr>
              <p:spPr bwMode="auto">
                <a:xfrm>
                  <a:off x="1536" y="25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2" name="Text Box 11"/>
                <p:cNvSpPr txBox="1">
                  <a:spLocks noChangeArrowheads="1"/>
                </p:cNvSpPr>
                <p:nvPr/>
              </p:nvSpPr>
              <p:spPr bwMode="auto">
                <a:xfrm>
                  <a:off x="1152" y="1777"/>
                  <a:ext cx="240"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n</a:t>
                  </a:r>
                </a:p>
              </p:txBody>
            </p:sp>
            <p:sp>
              <p:nvSpPr>
                <p:cNvPr id="51233" name="Text Box 12"/>
                <p:cNvSpPr txBox="1">
                  <a:spLocks noChangeArrowheads="1"/>
                </p:cNvSpPr>
                <p:nvPr/>
              </p:nvSpPr>
              <p:spPr bwMode="auto">
                <a:xfrm>
                  <a:off x="1200" y="2737"/>
                  <a:ext cx="240"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m</a:t>
                  </a:r>
                </a:p>
              </p:txBody>
            </p:sp>
            <p:sp>
              <p:nvSpPr>
                <p:cNvPr id="51234" name="Text Box 13"/>
                <p:cNvSpPr txBox="1">
                  <a:spLocks noChangeArrowheads="1"/>
                </p:cNvSpPr>
                <p:nvPr/>
              </p:nvSpPr>
              <p:spPr bwMode="auto">
                <a:xfrm>
                  <a:off x="1200" y="3696"/>
                  <a:ext cx="864"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endParaRPr kumimoji="1" lang="zh-CN" altLang="en-US" sz="2000" b="1">
                    <a:latin typeface="楷体_GB2312" pitchFamily="49" charset="-122"/>
                    <a:ea typeface="楷体_GB2312" pitchFamily="49" charset="-122"/>
                  </a:endParaRPr>
                </a:p>
              </p:txBody>
            </p:sp>
          </p:grpSp>
          <p:sp>
            <p:nvSpPr>
              <p:cNvPr id="13" name="椭圆 12"/>
              <p:cNvSpPr/>
              <p:nvPr/>
            </p:nvSpPr>
            <p:spPr>
              <a:xfrm>
                <a:off x="2857488"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课号</a:t>
                </a:r>
              </a:p>
            </p:txBody>
          </p:sp>
          <p:sp>
            <p:nvSpPr>
              <p:cNvPr id="14" name="椭圆 13"/>
              <p:cNvSpPr/>
              <p:nvPr/>
            </p:nvSpPr>
            <p:spPr>
              <a:xfrm>
                <a:off x="4429124"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课名</a:t>
                </a:r>
              </a:p>
            </p:txBody>
          </p:sp>
          <p:sp>
            <p:nvSpPr>
              <p:cNvPr id="15" name="椭圆 14"/>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学号</a:t>
                </a:r>
              </a:p>
            </p:txBody>
          </p:sp>
          <p:sp>
            <p:nvSpPr>
              <p:cNvPr id="16" name="椭圆 15"/>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姓名</a:t>
                </a:r>
              </a:p>
            </p:txBody>
          </p:sp>
          <p:sp>
            <p:nvSpPr>
              <p:cNvPr id="17" name="椭圆 16"/>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性别</a:t>
                </a:r>
              </a:p>
            </p:txBody>
          </p:sp>
          <p:cxnSp>
            <p:nvCxnSpPr>
              <p:cNvPr id="19" name="直接连接符 18"/>
              <p:cNvCxnSpPr>
                <a:stCxn id="13" idx="5"/>
              </p:cNvCxnSpPr>
              <p:nvPr/>
            </p:nvCxnSpPr>
            <p:spPr>
              <a:xfrm rot="16200000" flipH="1">
                <a:off x="3746494" y="2176454"/>
                <a:ext cx="412753" cy="3619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4" idx="4"/>
              </p:cNvCxnSpPr>
              <p:nvPr/>
            </p:nvCxnSpPr>
            <p:spPr>
              <a:xfrm rot="5400000">
                <a:off x="4590256" y="2196298"/>
                <a:ext cx="357189"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51229" idx="2"/>
              </p:cNvCxnSpPr>
              <p:nvPr/>
            </p:nvCxnSpPr>
            <p:spPr>
              <a:xfrm rot="5400000">
                <a:off x="3556787" y="4579151"/>
                <a:ext cx="419103" cy="11223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7" idx="0"/>
              </p:cNvCxnSpPr>
              <p:nvPr/>
            </p:nvCxnSpPr>
            <p:spPr>
              <a:xfrm>
                <a:off x="4857752" y="4929198"/>
                <a:ext cx="893769"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16" idx="0"/>
              </p:cNvCxnSpPr>
              <p:nvPr/>
            </p:nvCxnSpPr>
            <p:spPr>
              <a:xfrm rot="16200000" flipH="1">
                <a:off x="4196553" y="5090331"/>
                <a:ext cx="428628" cy="106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 name="直接连接符 22"/>
            <p:cNvCxnSpPr/>
            <p:nvPr/>
          </p:nvCxnSpPr>
          <p:spPr>
            <a:xfrm>
              <a:off x="4929190" y="3643314"/>
              <a:ext cx="57150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5500694" y="3428999"/>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rgbClr val="0000FF"/>
                  </a:solidFill>
                </a:rPr>
                <a:t>成绩</a:t>
              </a:r>
            </a:p>
          </p:txBody>
        </p:sp>
      </p:grpSp>
      <p:grpSp>
        <p:nvGrpSpPr>
          <p:cNvPr id="28" name="Group 5"/>
          <p:cNvGrpSpPr>
            <a:grpSpLocks/>
          </p:cNvGrpSpPr>
          <p:nvPr/>
        </p:nvGrpSpPr>
        <p:grpSpPr bwMode="auto">
          <a:xfrm>
            <a:off x="1214438" y="2655888"/>
            <a:ext cx="1511300" cy="2401887"/>
            <a:chOff x="4513" y="1344"/>
            <a:chExt cx="862" cy="2517"/>
          </a:xfrm>
        </p:grpSpPr>
        <p:sp>
          <p:nvSpPr>
            <p:cNvPr id="51205" name="Text Box 6"/>
            <p:cNvSpPr txBox="1">
              <a:spLocks noChangeArrowheads="1"/>
            </p:cNvSpPr>
            <p:nvPr/>
          </p:nvSpPr>
          <p:spPr bwMode="auto">
            <a:xfrm>
              <a:off x="4549" y="1344"/>
              <a:ext cx="612" cy="489"/>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课程</a:t>
              </a:r>
            </a:p>
          </p:txBody>
        </p:sp>
        <p:sp>
          <p:nvSpPr>
            <p:cNvPr id="51206" name="AutoShape 7"/>
            <p:cNvSpPr>
              <a:spLocks noChangeArrowheads="1"/>
            </p:cNvSpPr>
            <p:nvPr/>
          </p:nvSpPr>
          <p:spPr bwMode="auto">
            <a:xfrm>
              <a:off x="4513" y="2030"/>
              <a:ext cx="720" cy="429"/>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400">
                  <a:latin typeface="Times New Roman" pitchFamily="18" charset="0"/>
                  <a:ea typeface="楷体_GB2312" pitchFamily="49" charset="-122"/>
                </a:rPr>
                <a:t>选修</a:t>
              </a:r>
            </a:p>
          </p:txBody>
        </p:sp>
        <p:sp>
          <p:nvSpPr>
            <p:cNvPr id="51207" name="Text Box 8"/>
            <p:cNvSpPr txBox="1">
              <a:spLocks noChangeArrowheads="1"/>
            </p:cNvSpPr>
            <p:nvPr/>
          </p:nvSpPr>
          <p:spPr bwMode="auto">
            <a:xfrm>
              <a:off x="4585" y="2973"/>
              <a:ext cx="612" cy="489"/>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学生</a:t>
              </a:r>
            </a:p>
          </p:txBody>
        </p:sp>
        <p:sp>
          <p:nvSpPr>
            <p:cNvPr id="51208" name="Line 9"/>
            <p:cNvSpPr>
              <a:spLocks noChangeShapeType="1"/>
            </p:cNvSpPr>
            <p:nvPr/>
          </p:nvSpPr>
          <p:spPr bwMode="auto">
            <a:xfrm flipV="1">
              <a:off x="4873" y="1601"/>
              <a:ext cx="0" cy="4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09" name="Line 10"/>
            <p:cNvSpPr>
              <a:spLocks noChangeShapeType="1"/>
            </p:cNvSpPr>
            <p:nvPr/>
          </p:nvSpPr>
          <p:spPr bwMode="auto">
            <a:xfrm>
              <a:off x="4873" y="2459"/>
              <a:ext cx="0" cy="51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0" name="Text Box 11"/>
            <p:cNvSpPr txBox="1">
              <a:spLocks noChangeArrowheads="1"/>
            </p:cNvSpPr>
            <p:nvPr/>
          </p:nvSpPr>
          <p:spPr bwMode="auto">
            <a:xfrm>
              <a:off x="4585" y="1730"/>
              <a:ext cx="180" cy="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m</a:t>
              </a:r>
            </a:p>
          </p:txBody>
        </p:sp>
        <p:sp>
          <p:nvSpPr>
            <p:cNvPr id="51211" name="Text Box 12"/>
            <p:cNvSpPr txBox="1">
              <a:spLocks noChangeArrowheads="1"/>
            </p:cNvSpPr>
            <p:nvPr/>
          </p:nvSpPr>
          <p:spPr bwMode="auto">
            <a:xfrm>
              <a:off x="4621" y="2587"/>
              <a:ext cx="181" cy="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n</a:t>
              </a:r>
            </a:p>
          </p:txBody>
        </p:sp>
        <p:sp>
          <p:nvSpPr>
            <p:cNvPr id="51212" name="Text Box 13"/>
            <p:cNvSpPr txBox="1">
              <a:spLocks noChangeArrowheads="1"/>
            </p:cNvSpPr>
            <p:nvPr/>
          </p:nvSpPr>
          <p:spPr bwMode="auto">
            <a:xfrm>
              <a:off x="4621" y="3445"/>
              <a:ext cx="754"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000">
                  <a:latin typeface="Times New Roman" pitchFamily="18" charset="0"/>
                  <a:ea typeface="楷体_GB2312" pitchFamily="49" charset="-122"/>
                </a:rPr>
                <a:t>m:n</a:t>
              </a:r>
              <a:r>
                <a:rPr kumimoji="1" lang="zh-CN" altLang="en-US" sz="2000">
                  <a:latin typeface="Times New Roman" pitchFamily="18" charset="0"/>
                  <a:ea typeface="楷体_GB2312" pitchFamily="49" charset="-122"/>
                </a:rPr>
                <a:t>联系</a:t>
              </a: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strVal val="#ppt_w*0.05"/>
                                          </p:val>
                                        </p:tav>
                                        <p:tav tm="100000">
                                          <p:val>
                                            <p:strVal val="#ppt_w"/>
                                          </p:val>
                                        </p:tav>
                                      </p:tavLst>
                                    </p:anim>
                                    <p:anim calcmode="lin" valueType="num">
                                      <p:cBhvr>
                                        <p:cTn id="8" dur="500" fill="hold"/>
                                        <p:tgtEl>
                                          <p:spTgt spid="28"/>
                                        </p:tgtEl>
                                        <p:attrNameLst>
                                          <p:attrName>ppt_h</p:attrName>
                                        </p:attrNameLst>
                                      </p:cBhvr>
                                      <p:tavLst>
                                        <p:tav tm="0">
                                          <p:val>
                                            <p:strVal val="#ppt_h"/>
                                          </p:val>
                                        </p:tav>
                                        <p:tav tm="100000">
                                          <p:val>
                                            <p:strVal val="#ppt_h"/>
                                          </p:val>
                                        </p:tav>
                                      </p:tavLst>
                                    </p:anim>
                                    <p:anim calcmode="lin" valueType="num">
                                      <p:cBhvr>
                                        <p:cTn id="9" dur="500" fill="hold"/>
                                        <p:tgtEl>
                                          <p:spTgt spid="28"/>
                                        </p:tgtEl>
                                        <p:attrNameLst>
                                          <p:attrName>ppt_x</p:attrName>
                                        </p:attrNameLst>
                                      </p:cBhvr>
                                      <p:tavLst>
                                        <p:tav tm="0">
                                          <p:val>
                                            <p:strVal val="#ppt_x-.2"/>
                                          </p:val>
                                        </p:tav>
                                        <p:tav tm="100000">
                                          <p:val>
                                            <p:strVal val="#ppt_x"/>
                                          </p:val>
                                        </p:tav>
                                      </p:tavLst>
                                    </p:anim>
                                    <p:anim calcmode="lin" valueType="num">
                                      <p:cBhvr>
                                        <p:cTn id="10" dur="500" fill="hold"/>
                                        <p:tgtEl>
                                          <p:spTgt spid="28"/>
                                        </p:tgtEl>
                                        <p:attrNameLst>
                                          <p:attrName>ppt_y</p:attrName>
                                        </p:attrNameLst>
                                      </p:cBhvr>
                                      <p:tavLst>
                                        <p:tav tm="0">
                                          <p:val>
                                            <p:strVal val="#ppt_y"/>
                                          </p:val>
                                        </p:tav>
                                        <p:tav tm="100000">
                                          <p:val>
                                            <p:strVal val="#ppt_y"/>
                                          </p:val>
                                        </p:tav>
                                      </p:tavLst>
                                    </p:anim>
                                    <p:animEffect transition="in" filter="fade">
                                      <p:cBhvr>
                                        <p:cTn id="11" dur="500"/>
                                        <p:tgtEl>
                                          <p:spTgt spid="2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nodeType="clickEffect">
                                  <p:stCondLst>
                                    <p:cond delay="0"/>
                                  </p:stCondLst>
                                  <p:childTnLst>
                                    <p:set>
                                      <p:cBhvr>
                                        <p:cTn id="15" dur="1" fill="hold">
                                          <p:stCondLst>
                                            <p:cond delay="0"/>
                                          </p:stCondLst>
                                        </p:cTn>
                                        <p:tgtEl>
                                          <p:spTgt spid="54275"/>
                                        </p:tgtEl>
                                        <p:attrNameLst>
                                          <p:attrName>style.visibility</p:attrName>
                                        </p:attrNameLst>
                                      </p:cBhvr>
                                      <p:to>
                                        <p:strVal val="visible"/>
                                      </p:to>
                                    </p:set>
                                    <p:anim calcmode="lin" valueType="num">
                                      <p:cBhvr additive="base">
                                        <p:cTn id="16" dur="500" fill="hold"/>
                                        <p:tgtEl>
                                          <p:spTgt spid="54275"/>
                                        </p:tgtEl>
                                        <p:attrNameLst>
                                          <p:attrName>ppt_x</p:attrName>
                                        </p:attrNameLst>
                                      </p:cBhvr>
                                      <p:tavLst>
                                        <p:tav tm="0">
                                          <p:val>
                                            <p:strVal val="#ppt_x"/>
                                          </p:val>
                                        </p:tav>
                                        <p:tav tm="100000">
                                          <p:val>
                                            <p:strVal val="#ppt_x"/>
                                          </p:val>
                                        </p:tav>
                                      </p:tavLst>
                                    </p:anim>
                                    <p:anim calcmode="lin" valueType="num">
                                      <p:cBhvr additive="base">
                                        <p:cTn id="17" dur="500" fill="hold"/>
                                        <p:tgtEl>
                                          <p:spTgt spid="542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1"/>
          <p:cNvSpPr>
            <a:spLocks noChangeArrowheads="1"/>
          </p:cNvSpPr>
          <p:nvPr/>
        </p:nvSpPr>
        <p:spPr bwMode="auto">
          <a:xfrm>
            <a:off x="539750" y="1030288"/>
            <a:ext cx="7561263"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楷体_GB2312" pitchFamily="49" charset="-122"/>
                <a:ea typeface="楷体_GB2312" pitchFamily="49" charset="-122"/>
              </a:rPr>
              <a:t>请画出对应的</a:t>
            </a:r>
            <a:r>
              <a:rPr lang="en-US" altLang="zh-CN" sz="2800" b="1">
                <a:latin typeface="楷体_GB2312" pitchFamily="49" charset="-122"/>
                <a:ea typeface="楷体_GB2312" pitchFamily="49" charset="-122"/>
              </a:rPr>
              <a:t>E-R</a:t>
            </a:r>
            <a:r>
              <a:rPr lang="zh-CN" altLang="en-US" sz="2800" b="1">
                <a:latin typeface="楷体_GB2312" pitchFamily="49" charset="-122"/>
                <a:ea typeface="楷体_GB2312" pitchFamily="49" charset="-122"/>
              </a:rPr>
              <a:t>图。</a:t>
            </a:r>
            <a:endParaRPr lang="en-US" altLang="zh-CN" sz="2800" b="1">
              <a:latin typeface="楷体_GB2312" pitchFamily="49" charset="-122"/>
              <a:ea typeface="楷体_GB2312" pitchFamily="49" charset="-122"/>
            </a:endParaRPr>
          </a:p>
          <a:p>
            <a:pPr>
              <a:buFont typeface="Wingdings" pitchFamily="2" charset="2"/>
              <a:buNone/>
            </a:pPr>
            <a:r>
              <a:rPr lang="en-US" altLang="zh-CN" sz="2800" b="1">
                <a:latin typeface="楷体_GB2312" pitchFamily="49" charset="-122"/>
                <a:ea typeface="楷体_GB2312" pitchFamily="49" charset="-122"/>
              </a:rPr>
              <a:t>1</a:t>
            </a:r>
            <a:r>
              <a:rPr lang="zh-CN" altLang="en-US" sz="2800" b="1">
                <a:latin typeface="楷体_GB2312" pitchFamily="49" charset="-122"/>
                <a:ea typeface="楷体_GB2312" pitchFamily="49" charset="-122"/>
              </a:rPr>
              <a:t>：一个学校有一名正校长，一个校长只能在一个学校任职。校长的属性有：职工号和姓名，学校的属性有：学校编号和校名。</a:t>
            </a:r>
            <a:endParaRPr lang="en-US" altLang="zh-CN" sz="2800" b="1">
              <a:latin typeface="楷体_GB2312" pitchFamily="49" charset="-122"/>
              <a:ea typeface="楷体_GB2312" pitchFamily="49" charset="-122"/>
            </a:endParaRPr>
          </a:p>
          <a:p>
            <a:pPr>
              <a:buFont typeface="Wingdings" pitchFamily="2" charset="2"/>
              <a:buNone/>
            </a:pPr>
            <a:r>
              <a:rPr lang="en-US" altLang="zh-CN" sz="2800" b="1">
                <a:latin typeface="楷体_GB2312" pitchFamily="49" charset="-122"/>
                <a:ea typeface="楷体_GB2312" pitchFamily="49" charset="-122"/>
              </a:rPr>
              <a:t>2</a:t>
            </a:r>
            <a:r>
              <a:rPr lang="zh-CN" altLang="en-US" sz="2800" b="1">
                <a:latin typeface="楷体_GB2312" pitchFamily="49" charset="-122"/>
                <a:ea typeface="楷体_GB2312" pitchFamily="49" charset="-122"/>
              </a:rPr>
              <a:t>：一个仓库有多个职工当仓库保管员，一个职工只能在一个仓库工作。</a:t>
            </a:r>
            <a:endParaRPr lang="en-US" altLang="zh-CN" sz="2800" b="1">
              <a:latin typeface="楷体_GB2312" pitchFamily="49" charset="-122"/>
              <a:ea typeface="楷体_GB2312" pitchFamily="49" charset="-122"/>
            </a:endParaRPr>
          </a:p>
          <a:p>
            <a:pPr>
              <a:buFont typeface="Wingdings" pitchFamily="2" charset="2"/>
              <a:buNone/>
            </a:pPr>
            <a:r>
              <a:rPr lang="zh-CN" altLang="en-US" sz="2800" b="1">
                <a:latin typeface="楷体_GB2312" pitchFamily="49" charset="-122"/>
                <a:ea typeface="楷体_GB2312" pitchFamily="49" charset="-122"/>
              </a:rPr>
              <a:t>仓库属性有：仓库号和仓库名，职工属性有：职工号和姓名。</a:t>
            </a:r>
            <a:endParaRPr lang="en-US" altLang="zh-CN" sz="2800" b="1">
              <a:latin typeface="楷体_GB2312" pitchFamily="49" charset="-122"/>
              <a:ea typeface="楷体_GB2312" pitchFamily="49" charset="-122"/>
            </a:endParaRPr>
          </a:p>
          <a:p>
            <a:pPr>
              <a:buFont typeface="Wingdings" pitchFamily="2" charset="2"/>
              <a:buNone/>
            </a:pPr>
            <a:r>
              <a:rPr lang="en-US" altLang="zh-CN" sz="2800" b="1">
                <a:latin typeface="楷体_GB2312" pitchFamily="49" charset="-122"/>
                <a:ea typeface="楷体_GB2312" pitchFamily="49" charset="-122"/>
              </a:rPr>
              <a:t>3</a:t>
            </a:r>
            <a:r>
              <a:rPr lang="zh-CN" altLang="en-US" sz="2800" b="1">
                <a:latin typeface="楷体_GB2312" pitchFamily="49" charset="-122"/>
                <a:ea typeface="楷体_GB2312" pitchFamily="49" charset="-122"/>
              </a:rPr>
              <a:t>：一个仓库可以存放多种零件，一种零件可以存放在多个仓库中。用库存量来表示某种零件在某个仓库中的数量。仓库属性有：仓库号和仓库名，零件属性有：零件号和零件名。</a:t>
            </a:r>
          </a:p>
        </p:txBody>
      </p:sp>
      <p:sp>
        <p:nvSpPr>
          <p:cNvPr id="52227" name="Rectangle 2"/>
          <p:cNvSpPr txBox="1">
            <a:spLocks noChangeArrowheads="1"/>
          </p:cNvSpPr>
          <p:nvPr/>
        </p:nvSpPr>
        <p:spPr bwMode="auto">
          <a:xfrm>
            <a:off x="381000" y="115888"/>
            <a:ext cx="8382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3800" b="1">
                <a:solidFill>
                  <a:srgbClr val="FF0000"/>
                </a:solidFill>
              </a:rPr>
              <a:t>提问：</a:t>
            </a:r>
            <a:endParaRPr lang="en-US" altLang="zh-CN" sz="3800" b="1">
              <a:solidFill>
                <a:srgbClr val="FF0000"/>
              </a:solidFill>
            </a:endParaRPr>
          </a:p>
        </p:txBody>
      </p:sp>
    </p:spTree>
  </p:cSld>
  <p:clrMapOvr>
    <a:masterClrMapping/>
  </p:clrMapOvr>
  <p:transition advClick="0"/>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54353666-AD5D-4F5A-8C26-084F38478809}" type="slidenum">
              <a:rPr lang="en-US" altLang="zh-CN" smtClean="0"/>
              <a:pPr algn="l" eaLnBrk="1" hangingPunct="1"/>
              <a:t>39</a:t>
            </a:fld>
            <a:endParaRPr lang="en-US" altLang="zh-CN" smtClean="0"/>
          </a:p>
        </p:txBody>
      </p:sp>
      <p:sp>
        <p:nvSpPr>
          <p:cNvPr id="53251" name="Rectangle 2"/>
          <p:cNvSpPr>
            <a:spLocks noGrp="1" noChangeArrowheads="1"/>
          </p:cNvSpPr>
          <p:nvPr>
            <p:ph type="title"/>
          </p:nvPr>
        </p:nvSpPr>
        <p:spPr>
          <a:xfrm>
            <a:off x="381000" y="138113"/>
            <a:ext cx="8382000" cy="914400"/>
          </a:xfrm>
        </p:spPr>
        <p:txBody>
          <a:bodyPr/>
          <a:lstStyle/>
          <a:p>
            <a:pPr eaLnBrk="1" hangingPunct="1"/>
            <a:r>
              <a:rPr lang="en-US" altLang="zh-CN" b="1" smtClean="0"/>
              <a:t>2</a:t>
            </a:r>
            <a:r>
              <a:rPr lang="zh-CN" altLang="en-US" b="1" smtClean="0"/>
              <a:t>、多个实体型间的联系</a:t>
            </a:r>
            <a:r>
              <a:rPr lang="en-US" altLang="zh-CN" b="1" smtClean="0"/>
              <a:t>(</a:t>
            </a:r>
            <a:r>
              <a:rPr lang="zh-CN" altLang="en-US" b="1" smtClean="0"/>
              <a:t>续</a:t>
            </a:r>
            <a:r>
              <a:rPr lang="en-US" altLang="zh-CN" b="1" smtClean="0"/>
              <a:t>)</a:t>
            </a:r>
          </a:p>
        </p:txBody>
      </p:sp>
      <p:sp>
        <p:nvSpPr>
          <p:cNvPr id="53252" name="Rectangle 3"/>
          <p:cNvSpPr>
            <a:spLocks noGrp="1" noChangeArrowheads="1"/>
          </p:cNvSpPr>
          <p:nvPr>
            <p:ph type="body" idx="1"/>
          </p:nvPr>
        </p:nvSpPr>
        <p:spPr>
          <a:xfrm>
            <a:off x="468313" y="1268413"/>
            <a:ext cx="8229600" cy="4525962"/>
          </a:xfrm>
        </p:spPr>
        <p:txBody>
          <a:bodyPr/>
          <a:lstStyle/>
          <a:p>
            <a:pPr eaLnBrk="1" hangingPunct="1"/>
            <a:r>
              <a:rPr lang="zh-CN" altLang="en-US" b="1" smtClean="0">
                <a:ea typeface="楷体_GB2312" pitchFamily="49" charset="-122"/>
              </a:rPr>
              <a:t>多个实体型间：一对一，一对多，多对多</a:t>
            </a:r>
            <a:endParaRPr lang="en-US" altLang="zh-CN" b="1" smtClean="0">
              <a:ea typeface="楷体_GB2312" pitchFamily="49" charset="-122"/>
            </a:endParaRPr>
          </a:p>
          <a:p>
            <a:pPr eaLnBrk="1" hangingPunct="1"/>
            <a:r>
              <a:rPr lang="zh-CN" altLang="en-US" b="1" smtClean="0">
                <a:ea typeface="楷体_GB2312" pitchFamily="49" charset="-122"/>
              </a:rPr>
              <a:t>多个实体型间的</a:t>
            </a:r>
            <a:r>
              <a:rPr lang="zh-CN" altLang="en-US" b="1" smtClean="0">
                <a:solidFill>
                  <a:srgbClr val="FF0000"/>
                </a:solidFill>
                <a:ea typeface="楷体_GB2312" pitchFamily="49" charset="-122"/>
              </a:rPr>
              <a:t>一对多</a:t>
            </a:r>
            <a:r>
              <a:rPr lang="zh-CN" altLang="en-US" b="1" smtClean="0">
                <a:ea typeface="楷体_GB2312" pitchFamily="49" charset="-122"/>
              </a:rPr>
              <a:t>联系</a:t>
            </a:r>
          </a:p>
          <a:p>
            <a:pPr lvl="1" eaLnBrk="1" hangingPunct="1">
              <a:lnSpc>
                <a:spcPct val="130000"/>
              </a:lnSpc>
            </a:pPr>
            <a:r>
              <a:rPr lang="zh-CN" altLang="en-US" b="1" smtClean="0">
                <a:ea typeface="楷体_GB2312" pitchFamily="49" charset="-122"/>
              </a:rPr>
              <a:t>若实体集</a:t>
            </a:r>
            <a:r>
              <a:rPr lang="en-US" altLang="zh-CN" b="1" smtClean="0">
                <a:ea typeface="楷体_GB2312" pitchFamily="49" charset="-122"/>
              </a:rPr>
              <a:t>E</a:t>
            </a:r>
            <a:r>
              <a:rPr lang="en-US" altLang="zh-CN" b="1" baseline="-25000" smtClean="0">
                <a:ea typeface="楷体_GB2312" pitchFamily="49" charset="-122"/>
              </a:rPr>
              <a:t>1</a:t>
            </a:r>
            <a:r>
              <a:rPr lang="zh-CN" altLang="en-US" b="1" smtClean="0">
                <a:ea typeface="楷体_GB2312" pitchFamily="49" charset="-122"/>
              </a:rPr>
              <a:t>，</a:t>
            </a:r>
            <a:r>
              <a:rPr lang="en-US" altLang="zh-CN" b="1" smtClean="0">
                <a:ea typeface="楷体_GB2312" pitchFamily="49" charset="-122"/>
              </a:rPr>
              <a:t>E</a:t>
            </a:r>
            <a:r>
              <a:rPr lang="en-US" altLang="zh-CN" b="1" baseline="-25000" smtClean="0">
                <a:ea typeface="楷体_GB2312" pitchFamily="49" charset="-122"/>
              </a:rPr>
              <a:t>2</a:t>
            </a:r>
            <a:r>
              <a:rPr lang="zh-CN" altLang="en-US" b="1" smtClean="0">
                <a:ea typeface="楷体_GB2312" pitchFamily="49" charset="-122"/>
              </a:rPr>
              <a:t>，</a:t>
            </a:r>
            <a:r>
              <a:rPr lang="en-US" altLang="zh-CN" b="1" smtClean="0">
                <a:ea typeface="楷体_GB2312" pitchFamily="49" charset="-122"/>
              </a:rPr>
              <a:t>...</a:t>
            </a:r>
            <a:r>
              <a:rPr lang="zh-CN" altLang="en-US" b="1" smtClean="0">
                <a:ea typeface="楷体_GB2312" pitchFamily="49" charset="-122"/>
              </a:rPr>
              <a:t>，</a:t>
            </a:r>
            <a:r>
              <a:rPr lang="en-US" altLang="zh-CN" b="1" smtClean="0">
                <a:ea typeface="楷体_GB2312" pitchFamily="49" charset="-122"/>
              </a:rPr>
              <a:t>E</a:t>
            </a:r>
            <a:r>
              <a:rPr lang="en-US" altLang="zh-CN" b="1" baseline="-25000" smtClean="0">
                <a:ea typeface="楷体_GB2312" pitchFamily="49" charset="-122"/>
              </a:rPr>
              <a:t>n</a:t>
            </a:r>
            <a:r>
              <a:rPr lang="zh-CN" altLang="en-US" b="1" smtClean="0">
                <a:ea typeface="楷体_GB2312" pitchFamily="49" charset="-122"/>
              </a:rPr>
              <a:t>存在联系，对于实体集</a:t>
            </a:r>
            <a:r>
              <a:rPr lang="en-US" altLang="zh-CN" b="1" smtClean="0">
                <a:ea typeface="楷体_GB2312" pitchFamily="49" charset="-122"/>
              </a:rPr>
              <a:t>E</a:t>
            </a:r>
            <a:r>
              <a:rPr lang="en-US" altLang="zh-CN" b="1" baseline="-25000" smtClean="0">
                <a:ea typeface="楷体_GB2312" pitchFamily="49" charset="-122"/>
              </a:rPr>
              <a:t>j</a:t>
            </a:r>
            <a:r>
              <a:rPr lang="zh-CN" altLang="en-US" b="1" smtClean="0">
                <a:ea typeface="楷体_GB2312" pitchFamily="49" charset="-122"/>
              </a:rPr>
              <a:t>（</a:t>
            </a:r>
            <a:r>
              <a:rPr lang="en-US" altLang="zh-CN" b="1" smtClean="0">
                <a:ea typeface="楷体_GB2312" pitchFamily="49" charset="-122"/>
              </a:rPr>
              <a:t>j=1</a:t>
            </a:r>
            <a:r>
              <a:rPr lang="zh-CN" altLang="en-US" b="1" smtClean="0">
                <a:ea typeface="楷体_GB2312" pitchFamily="49" charset="-122"/>
              </a:rPr>
              <a:t>，</a:t>
            </a:r>
            <a:r>
              <a:rPr lang="en-US" altLang="zh-CN" b="1" smtClean="0">
                <a:ea typeface="楷体_GB2312" pitchFamily="49" charset="-122"/>
              </a:rPr>
              <a:t>2</a:t>
            </a:r>
            <a:r>
              <a:rPr lang="zh-CN" altLang="en-US" b="1" smtClean="0">
                <a:ea typeface="楷体_GB2312" pitchFamily="49" charset="-122"/>
              </a:rPr>
              <a:t>，</a:t>
            </a:r>
            <a:r>
              <a:rPr lang="en-US" altLang="zh-CN" b="1" smtClean="0">
                <a:ea typeface="楷体_GB2312" pitchFamily="49" charset="-122"/>
              </a:rPr>
              <a:t>...</a:t>
            </a:r>
            <a:r>
              <a:rPr lang="zh-CN" altLang="en-US" b="1" smtClean="0">
                <a:ea typeface="楷体_GB2312" pitchFamily="49" charset="-122"/>
              </a:rPr>
              <a:t>，</a:t>
            </a:r>
            <a:r>
              <a:rPr lang="en-US" altLang="zh-CN" b="1" smtClean="0">
                <a:ea typeface="楷体_GB2312" pitchFamily="49" charset="-122"/>
              </a:rPr>
              <a:t>i-1</a:t>
            </a:r>
            <a:r>
              <a:rPr lang="zh-CN" altLang="en-US" b="1" smtClean="0">
                <a:ea typeface="楷体_GB2312" pitchFamily="49" charset="-122"/>
              </a:rPr>
              <a:t>，</a:t>
            </a:r>
            <a:r>
              <a:rPr lang="en-US" altLang="zh-CN" b="1" smtClean="0">
                <a:ea typeface="楷体_GB2312" pitchFamily="49" charset="-122"/>
              </a:rPr>
              <a:t>i+1</a:t>
            </a:r>
            <a:r>
              <a:rPr lang="zh-CN" altLang="en-US" b="1" smtClean="0">
                <a:ea typeface="楷体_GB2312" pitchFamily="49" charset="-122"/>
              </a:rPr>
              <a:t>，</a:t>
            </a:r>
            <a:r>
              <a:rPr lang="en-US" altLang="zh-CN" b="1" smtClean="0">
                <a:ea typeface="楷体_GB2312" pitchFamily="49" charset="-122"/>
              </a:rPr>
              <a:t>...</a:t>
            </a:r>
            <a:r>
              <a:rPr lang="zh-CN" altLang="en-US" b="1" smtClean="0">
                <a:ea typeface="楷体_GB2312" pitchFamily="49" charset="-122"/>
              </a:rPr>
              <a:t>，</a:t>
            </a:r>
            <a:r>
              <a:rPr lang="en-US" altLang="zh-CN" b="1" smtClean="0">
                <a:ea typeface="楷体_GB2312" pitchFamily="49" charset="-122"/>
              </a:rPr>
              <a:t>n</a:t>
            </a:r>
            <a:r>
              <a:rPr lang="zh-CN" altLang="en-US" b="1" smtClean="0">
                <a:ea typeface="楷体_GB2312" pitchFamily="49" charset="-122"/>
              </a:rPr>
              <a:t>）中的给定实体，最多只和</a:t>
            </a:r>
            <a:r>
              <a:rPr lang="en-US" altLang="zh-CN" b="1" smtClean="0">
                <a:ea typeface="楷体_GB2312" pitchFamily="49" charset="-122"/>
              </a:rPr>
              <a:t>E</a:t>
            </a:r>
            <a:r>
              <a:rPr lang="en-US" altLang="zh-CN" b="1" baseline="-25000" smtClean="0">
                <a:ea typeface="楷体_GB2312" pitchFamily="49" charset="-122"/>
              </a:rPr>
              <a:t>i</a:t>
            </a:r>
            <a:r>
              <a:rPr lang="zh-CN" altLang="en-US" b="1" smtClean="0">
                <a:ea typeface="楷体_GB2312" pitchFamily="49" charset="-122"/>
              </a:rPr>
              <a:t>中的一个实体相联系，则我们说</a:t>
            </a:r>
            <a:r>
              <a:rPr lang="en-US" altLang="zh-CN" b="1" smtClean="0">
                <a:ea typeface="楷体_GB2312" pitchFamily="49" charset="-122"/>
              </a:rPr>
              <a:t>E</a:t>
            </a:r>
            <a:r>
              <a:rPr lang="en-US" altLang="zh-CN" b="1" baseline="-25000" smtClean="0">
                <a:ea typeface="楷体_GB2312" pitchFamily="49" charset="-122"/>
              </a:rPr>
              <a:t>i</a:t>
            </a:r>
            <a:r>
              <a:rPr lang="zh-CN" altLang="en-US" b="1" smtClean="0">
                <a:ea typeface="楷体_GB2312" pitchFamily="49" charset="-122"/>
              </a:rPr>
              <a:t>与</a:t>
            </a:r>
            <a:r>
              <a:rPr lang="en-US" altLang="zh-CN" b="1" smtClean="0">
                <a:ea typeface="楷体_GB2312" pitchFamily="49" charset="-122"/>
              </a:rPr>
              <a:t>E</a:t>
            </a:r>
            <a:r>
              <a:rPr lang="en-US" altLang="zh-CN" b="1" baseline="-25000" smtClean="0">
                <a:ea typeface="楷体_GB2312" pitchFamily="49" charset="-122"/>
              </a:rPr>
              <a:t>1</a:t>
            </a:r>
            <a:r>
              <a:rPr lang="zh-CN" altLang="en-US" b="1" smtClean="0">
                <a:ea typeface="楷体_GB2312" pitchFamily="49" charset="-122"/>
              </a:rPr>
              <a:t>，</a:t>
            </a:r>
            <a:r>
              <a:rPr lang="en-US" altLang="zh-CN" b="1" smtClean="0">
                <a:ea typeface="楷体_GB2312" pitchFamily="49" charset="-122"/>
              </a:rPr>
              <a:t>E</a:t>
            </a:r>
            <a:r>
              <a:rPr lang="en-US" altLang="zh-CN" b="1" baseline="-25000" smtClean="0">
                <a:ea typeface="楷体_GB2312" pitchFamily="49" charset="-122"/>
              </a:rPr>
              <a:t>2</a:t>
            </a:r>
            <a:r>
              <a:rPr lang="zh-CN" altLang="en-US" b="1" smtClean="0">
                <a:ea typeface="楷体_GB2312" pitchFamily="49" charset="-122"/>
              </a:rPr>
              <a:t>，</a:t>
            </a:r>
            <a:r>
              <a:rPr lang="en-US" altLang="zh-CN" b="1" smtClean="0">
                <a:ea typeface="楷体_GB2312" pitchFamily="49" charset="-122"/>
              </a:rPr>
              <a:t>...</a:t>
            </a:r>
            <a:r>
              <a:rPr lang="zh-CN" altLang="en-US" b="1" smtClean="0">
                <a:ea typeface="楷体_GB2312" pitchFamily="49" charset="-122"/>
              </a:rPr>
              <a:t>，</a:t>
            </a:r>
            <a:r>
              <a:rPr lang="en-US" altLang="zh-CN" b="1" smtClean="0">
                <a:ea typeface="楷体_GB2312" pitchFamily="49" charset="-122"/>
              </a:rPr>
              <a:t>E</a:t>
            </a:r>
            <a:r>
              <a:rPr lang="en-US" altLang="zh-CN" b="1" baseline="-25000" smtClean="0">
                <a:ea typeface="楷体_GB2312" pitchFamily="49" charset="-122"/>
              </a:rPr>
              <a:t>i-1</a:t>
            </a:r>
            <a:r>
              <a:rPr lang="zh-CN" altLang="en-US" b="1" smtClean="0">
                <a:ea typeface="楷体_GB2312" pitchFamily="49" charset="-122"/>
              </a:rPr>
              <a:t>，</a:t>
            </a:r>
            <a:r>
              <a:rPr lang="en-US" altLang="zh-CN" b="1" smtClean="0">
                <a:ea typeface="楷体_GB2312" pitchFamily="49" charset="-122"/>
              </a:rPr>
              <a:t>E</a:t>
            </a:r>
            <a:r>
              <a:rPr lang="en-US" altLang="zh-CN" b="1" baseline="-25000" smtClean="0">
                <a:ea typeface="楷体_GB2312" pitchFamily="49" charset="-122"/>
              </a:rPr>
              <a:t>i+1</a:t>
            </a:r>
            <a:r>
              <a:rPr lang="zh-CN" altLang="en-US" b="1" smtClean="0">
                <a:ea typeface="楷体_GB2312" pitchFamily="49" charset="-122"/>
              </a:rPr>
              <a:t>，</a:t>
            </a:r>
            <a:r>
              <a:rPr lang="en-US" altLang="zh-CN" b="1" smtClean="0">
                <a:ea typeface="楷体_GB2312" pitchFamily="49" charset="-122"/>
              </a:rPr>
              <a:t>...</a:t>
            </a:r>
            <a:r>
              <a:rPr lang="zh-CN" altLang="en-US" b="1" smtClean="0">
                <a:ea typeface="楷体_GB2312" pitchFamily="49" charset="-122"/>
              </a:rPr>
              <a:t>，</a:t>
            </a:r>
            <a:r>
              <a:rPr lang="en-US" altLang="zh-CN" b="1" smtClean="0">
                <a:ea typeface="楷体_GB2312" pitchFamily="49" charset="-122"/>
              </a:rPr>
              <a:t>E</a:t>
            </a:r>
            <a:r>
              <a:rPr lang="en-US" altLang="zh-CN" b="1" baseline="-25000" smtClean="0">
                <a:ea typeface="楷体_GB2312" pitchFamily="49" charset="-122"/>
              </a:rPr>
              <a:t>n</a:t>
            </a:r>
            <a:r>
              <a:rPr lang="zh-CN" altLang="en-US" b="1" smtClean="0">
                <a:ea typeface="楷体_GB2312" pitchFamily="49" charset="-122"/>
              </a:rPr>
              <a:t>之间的联系是一对多的。</a:t>
            </a:r>
          </a:p>
          <a:p>
            <a:pPr lvl="1" eaLnBrk="1" hangingPunct="1">
              <a:lnSpc>
                <a:spcPct val="130000"/>
              </a:lnSpc>
            </a:pPr>
            <a:endParaRPr lang="en-US" altLang="zh-CN" b="1" smtClean="0"/>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2">
                                            <p:txEl>
                                              <p:pRg st="0" end="0"/>
                                            </p:txEl>
                                          </p:spTgt>
                                        </p:tgtEl>
                                        <p:attrNameLst>
                                          <p:attrName>style.visibility</p:attrName>
                                        </p:attrNameLst>
                                      </p:cBhvr>
                                      <p:to>
                                        <p:strVal val="visible"/>
                                      </p:to>
                                    </p:set>
                                    <p:anim calcmode="lin" valueType="num">
                                      <p:cBhvr additive="base">
                                        <p:cTn id="7" dur="500" fill="hold"/>
                                        <p:tgtEl>
                                          <p:spTgt spid="532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252">
                                            <p:txEl>
                                              <p:pRg st="1" end="1"/>
                                            </p:txEl>
                                          </p:spTgt>
                                        </p:tgtEl>
                                        <p:attrNameLst>
                                          <p:attrName>style.visibility</p:attrName>
                                        </p:attrNameLst>
                                      </p:cBhvr>
                                      <p:to>
                                        <p:strVal val="visible"/>
                                      </p:to>
                                    </p:set>
                                    <p:anim calcmode="lin" valueType="num">
                                      <p:cBhvr additive="base">
                                        <p:cTn id="13" dur="500" fill="hold"/>
                                        <p:tgtEl>
                                          <p:spTgt spid="5325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2">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3252">
                                            <p:txEl>
                                              <p:pRg st="2" end="2"/>
                                            </p:txEl>
                                          </p:spTgt>
                                        </p:tgtEl>
                                        <p:attrNameLst>
                                          <p:attrName>style.visibility</p:attrName>
                                        </p:attrNameLst>
                                      </p:cBhvr>
                                      <p:to>
                                        <p:strVal val="visible"/>
                                      </p:to>
                                    </p:set>
                                    <p:anim calcmode="lin" valueType="num">
                                      <p:cBhvr additive="base">
                                        <p:cTn id="17" dur="500" fill="hold"/>
                                        <p:tgtEl>
                                          <p:spTgt spid="5325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325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4BFB88E6-1916-40F9-ABF3-1B0B66B004DB}" type="slidenum">
              <a:rPr lang="en-US" altLang="zh-CN" smtClean="0"/>
              <a:pPr algn="l" eaLnBrk="1" hangingPunct="1"/>
              <a:t>40</a:t>
            </a:fld>
            <a:endParaRPr lang="en-US" altLang="zh-CN" smtClean="0"/>
          </a:p>
        </p:txBody>
      </p:sp>
      <p:sp>
        <p:nvSpPr>
          <p:cNvPr id="54275" name="Rectangle 2"/>
          <p:cNvSpPr>
            <a:spLocks noGrp="1" noChangeArrowheads="1"/>
          </p:cNvSpPr>
          <p:nvPr>
            <p:ph type="title"/>
          </p:nvPr>
        </p:nvSpPr>
        <p:spPr>
          <a:xfrm>
            <a:off x="381000" y="115888"/>
            <a:ext cx="8382000" cy="914400"/>
          </a:xfrm>
        </p:spPr>
        <p:txBody>
          <a:bodyPr/>
          <a:lstStyle/>
          <a:p>
            <a:pPr eaLnBrk="1" hangingPunct="1"/>
            <a:r>
              <a:rPr lang="zh-CN" altLang="en-US" b="1" smtClean="0"/>
              <a:t>多个实体型间的联系</a:t>
            </a:r>
            <a:r>
              <a:rPr lang="en-US" altLang="zh-CN" b="1" smtClean="0"/>
              <a:t>(</a:t>
            </a:r>
            <a:r>
              <a:rPr lang="zh-CN" altLang="en-US" b="1" smtClean="0"/>
              <a:t>续</a:t>
            </a:r>
            <a:r>
              <a:rPr lang="en-US" altLang="zh-CN" b="1" smtClean="0"/>
              <a:t>)</a:t>
            </a:r>
          </a:p>
        </p:txBody>
      </p:sp>
      <p:sp>
        <p:nvSpPr>
          <p:cNvPr id="54276" name="Rectangle 3"/>
          <p:cNvSpPr>
            <a:spLocks noGrp="1" noChangeArrowheads="1"/>
          </p:cNvSpPr>
          <p:nvPr>
            <p:ph type="body" idx="1"/>
          </p:nvPr>
        </p:nvSpPr>
        <p:spPr>
          <a:xfrm>
            <a:off x="250825" y="1196975"/>
            <a:ext cx="8229600" cy="4525963"/>
          </a:xfrm>
        </p:spPr>
        <p:txBody>
          <a:bodyPr/>
          <a:lstStyle/>
          <a:p>
            <a:pPr eaLnBrk="1" hangingPunct="1">
              <a:lnSpc>
                <a:spcPct val="140000"/>
              </a:lnSpc>
            </a:pPr>
            <a:r>
              <a:rPr lang="zh-CN" altLang="en-US" sz="2600" b="1" smtClean="0">
                <a:solidFill>
                  <a:srgbClr val="FF0000"/>
                </a:solidFill>
                <a:latin typeface="楷体_GB2312" pitchFamily="49" charset="-122"/>
                <a:ea typeface="楷体_GB2312" pitchFamily="49" charset="-122"/>
              </a:rPr>
              <a:t>实例</a:t>
            </a:r>
          </a:p>
          <a:p>
            <a:pPr lvl="1" eaLnBrk="1" hangingPunct="1">
              <a:lnSpc>
                <a:spcPct val="140000"/>
              </a:lnSpc>
              <a:buSzPct val="85000"/>
            </a:pPr>
            <a:r>
              <a:rPr lang="zh-CN" altLang="en-US" b="1" smtClean="0">
                <a:latin typeface="楷体_GB2312" pitchFamily="49" charset="-122"/>
                <a:ea typeface="楷体_GB2312" pitchFamily="49" charset="-122"/>
              </a:rPr>
              <a:t>课程、教师与参考书三个实体型</a:t>
            </a:r>
          </a:p>
          <a:p>
            <a:pPr lvl="2" eaLnBrk="1" hangingPunct="1">
              <a:lnSpc>
                <a:spcPct val="140000"/>
              </a:lnSpc>
              <a:buFont typeface="Wingdings" pitchFamily="2" charset="2"/>
              <a:buNone/>
            </a:pPr>
            <a:r>
              <a:rPr lang="zh-CN" altLang="en-US" sz="2400" b="1" smtClean="0">
                <a:latin typeface="楷体_GB2312" pitchFamily="49" charset="-122"/>
                <a:ea typeface="楷体_GB2312" pitchFamily="49" charset="-122"/>
              </a:rPr>
              <a:t>一门课程可以有若干个教师讲授，</a:t>
            </a:r>
          </a:p>
          <a:p>
            <a:pPr lvl="2" eaLnBrk="1" hangingPunct="1">
              <a:lnSpc>
                <a:spcPct val="140000"/>
              </a:lnSpc>
              <a:buFont typeface="Wingdings" pitchFamily="2" charset="2"/>
              <a:buNone/>
            </a:pPr>
            <a:r>
              <a:rPr lang="zh-CN" altLang="en-US" sz="2400" b="1" smtClean="0">
                <a:latin typeface="楷体_GB2312" pitchFamily="49" charset="-122"/>
                <a:ea typeface="楷体_GB2312" pitchFamily="49" charset="-122"/>
              </a:rPr>
              <a:t>使用若干本参考书，</a:t>
            </a:r>
          </a:p>
          <a:p>
            <a:pPr lvl="2" eaLnBrk="1" hangingPunct="1">
              <a:lnSpc>
                <a:spcPct val="140000"/>
              </a:lnSpc>
              <a:buFont typeface="Wingdings" pitchFamily="2" charset="2"/>
              <a:buNone/>
            </a:pPr>
            <a:r>
              <a:rPr lang="zh-CN" altLang="en-US" sz="2400" b="1" smtClean="0">
                <a:latin typeface="楷体_GB2312" pitchFamily="49" charset="-122"/>
                <a:ea typeface="楷体_GB2312" pitchFamily="49" charset="-122"/>
              </a:rPr>
              <a:t>每一个教师只讲授一门课程，</a:t>
            </a:r>
          </a:p>
          <a:p>
            <a:pPr lvl="2" eaLnBrk="1" hangingPunct="1">
              <a:lnSpc>
                <a:spcPct val="140000"/>
              </a:lnSpc>
              <a:buFont typeface="Wingdings" pitchFamily="2" charset="2"/>
              <a:buNone/>
            </a:pPr>
            <a:r>
              <a:rPr lang="zh-CN" altLang="en-US" sz="2400" b="1" smtClean="0">
                <a:latin typeface="楷体_GB2312" pitchFamily="49" charset="-122"/>
                <a:ea typeface="楷体_GB2312" pitchFamily="49" charset="-122"/>
              </a:rPr>
              <a:t>每一本参考书只供一门课程使用</a:t>
            </a:r>
          </a:p>
        </p:txBody>
      </p:sp>
      <p:grpSp>
        <p:nvGrpSpPr>
          <p:cNvPr id="54277" name="Group 17"/>
          <p:cNvGrpSpPr>
            <a:grpSpLocks/>
          </p:cNvGrpSpPr>
          <p:nvPr/>
        </p:nvGrpSpPr>
        <p:grpSpPr bwMode="auto">
          <a:xfrm>
            <a:off x="5795963" y="1916113"/>
            <a:ext cx="3527425" cy="3865562"/>
            <a:chOff x="3470" y="1200"/>
            <a:chExt cx="2222" cy="2435"/>
          </a:xfrm>
        </p:grpSpPr>
        <p:sp>
          <p:nvSpPr>
            <p:cNvPr id="54278" name="Text Box 6"/>
            <p:cNvSpPr txBox="1">
              <a:spLocks noChangeArrowheads="1"/>
            </p:cNvSpPr>
            <p:nvPr/>
          </p:nvSpPr>
          <p:spPr bwMode="auto">
            <a:xfrm>
              <a:off x="4115" y="1200"/>
              <a:ext cx="573"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课程</a:t>
              </a:r>
            </a:p>
          </p:txBody>
        </p:sp>
        <p:sp>
          <p:nvSpPr>
            <p:cNvPr id="54279" name="AutoShape 7"/>
            <p:cNvSpPr>
              <a:spLocks noChangeArrowheads="1"/>
            </p:cNvSpPr>
            <p:nvPr/>
          </p:nvSpPr>
          <p:spPr bwMode="auto">
            <a:xfrm>
              <a:off x="4081" y="1930"/>
              <a:ext cx="674" cy="456"/>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400">
                  <a:latin typeface="Times New Roman" pitchFamily="18" charset="0"/>
                  <a:ea typeface="楷体_GB2312" pitchFamily="49" charset="-122"/>
                </a:rPr>
                <a:t>讲授</a:t>
              </a:r>
            </a:p>
          </p:txBody>
        </p:sp>
        <p:sp>
          <p:nvSpPr>
            <p:cNvPr id="54280" name="Text Box 8"/>
            <p:cNvSpPr txBox="1">
              <a:spLocks noChangeArrowheads="1"/>
            </p:cNvSpPr>
            <p:nvPr/>
          </p:nvSpPr>
          <p:spPr bwMode="auto">
            <a:xfrm>
              <a:off x="3610" y="2979"/>
              <a:ext cx="573"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教师</a:t>
              </a:r>
            </a:p>
          </p:txBody>
        </p:sp>
        <p:sp>
          <p:nvSpPr>
            <p:cNvPr id="54281" name="Line 9"/>
            <p:cNvSpPr>
              <a:spLocks noChangeShapeType="1"/>
            </p:cNvSpPr>
            <p:nvPr/>
          </p:nvSpPr>
          <p:spPr bwMode="auto">
            <a:xfrm flipV="1">
              <a:off x="4418" y="1474"/>
              <a:ext cx="0" cy="4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2" name="Line 10"/>
            <p:cNvSpPr>
              <a:spLocks noChangeShapeType="1"/>
            </p:cNvSpPr>
            <p:nvPr/>
          </p:nvSpPr>
          <p:spPr bwMode="auto">
            <a:xfrm flipH="1">
              <a:off x="3947" y="2158"/>
              <a:ext cx="134" cy="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3" name="Text Box 11"/>
            <p:cNvSpPr txBox="1">
              <a:spLocks noChangeArrowheads="1"/>
            </p:cNvSpPr>
            <p:nvPr/>
          </p:nvSpPr>
          <p:spPr bwMode="auto">
            <a:xfrm>
              <a:off x="4149" y="1611"/>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54284" name="Text Box 12"/>
            <p:cNvSpPr txBox="1">
              <a:spLocks noChangeArrowheads="1"/>
            </p:cNvSpPr>
            <p:nvPr/>
          </p:nvSpPr>
          <p:spPr bwMode="auto">
            <a:xfrm>
              <a:off x="3812" y="2477"/>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m</a:t>
              </a:r>
            </a:p>
          </p:txBody>
        </p:sp>
        <p:sp>
          <p:nvSpPr>
            <p:cNvPr id="54285" name="Text Box 13"/>
            <p:cNvSpPr txBox="1">
              <a:spLocks noChangeArrowheads="1"/>
            </p:cNvSpPr>
            <p:nvPr/>
          </p:nvSpPr>
          <p:spPr bwMode="auto">
            <a:xfrm>
              <a:off x="3470" y="3385"/>
              <a:ext cx="222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000" b="1">
                  <a:latin typeface="楷体_GB2312" pitchFamily="49" charset="-122"/>
                  <a:ea typeface="楷体_GB2312" pitchFamily="49" charset="-122"/>
                </a:rPr>
                <a:t>两个以上实体型间</a:t>
              </a:r>
              <a:r>
                <a:rPr kumimoji="1" lang="en-US" altLang="zh-CN" sz="2000" b="1">
                  <a:latin typeface="楷体_GB2312" pitchFamily="49" charset="-122"/>
                  <a:ea typeface="楷体_GB2312" pitchFamily="49" charset="-122"/>
                </a:rPr>
                <a:t>1:n</a:t>
              </a:r>
              <a:r>
                <a:rPr kumimoji="1" lang="zh-CN" altLang="en-US" sz="2000" b="1">
                  <a:latin typeface="楷体_GB2312" pitchFamily="49" charset="-122"/>
                  <a:ea typeface="楷体_GB2312" pitchFamily="49" charset="-122"/>
                </a:rPr>
                <a:t>联系</a:t>
              </a:r>
            </a:p>
          </p:txBody>
        </p:sp>
        <p:sp>
          <p:nvSpPr>
            <p:cNvPr id="54286" name="Text Box 14"/>
            <p:cNvSpPr txBox="1">
              <a:spLocks noChangeArrowheads="1"/>
            </p:cNvSpPr>
            <p:nvPr/>
          </p:nvSpPr>
          <p:spPr bwMode="auto">
            <a:xfrm>
              <a:off x="4694" y="2976"/>
              <a:ext cx="726"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参考书</a:t>
              </a:r>
            </a:p>
          </p:txBody>
        </p:sp>
        <p:sp>
          <p:nvSpPr>
            <p:cNvPr id="54287" name="Line 15"/>
            <p:cNvSpPr>
              <a:spLocks noChangeShapeType="1"/>
            </p:cNvSpPr>
            <p:nvPr/>
          </p:nvSpPr>
          <p:spPr bwMode="auto">
            <a:xfrm>
              <a:off x="4755" y="2158"/>
              <a:ext cx="202" cy="8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8" name="Text Box 16"/>
            <p:cNvSpPr txBox="1">
              <a:spLocks noChangeArrowheads="1"/>
            </p:cNvSpPr>
            <p:nvPr/>
          </p:nvSpPr>
          <p:spPr bwMode="auto">
            <a:xfrm>
              <a:off x="4890" y="2477"/>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n</a:t>
              </a:r>
            </a:p>
          </p:txBody>
        </p:sp>
      </p:grpSp>
    </p:spTree>
  </p:cSld>
  <p:clrMapOvr>
    <a:masterClrMapping/>
  </p:clrMapOvr>
  <p:transition advClick="0"/>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A26931EE-6040-4018-B052-A71CB7A4950F}" type="slidenum">
              <a:rPr lang="en-US" altLang="zh-CN" smtClean="0"/>
              <a:pPr algn="l" eaLnBrk="1" hangingPunct="1"/>
              <a:t>41</a:t>
            </a:fld>
            <a:endParaRPr lang="en-US" altLang="zh-CN" smtClean="0"/>
          </a:p>
        </p:txBody>
      </p:sp>
      <p:sp>
        <p:nvSpPr>
          <p:cNvPr id="55299" name="Rectangle 2"/>
          <p:cNvSpPr>
            <a:spLocks noGrp="1" noChangeArrowheads="1"/>
          </p:cNvSpPr>
          <p:nvPr>
            <p:ph type="title"/>
          </p:nvPr>
        </p:nvSpPr>
        <p:spPr>
          <a:xfrm>
            <a:off x="395288" y="115888"/>
            <a:ext cx="8382000" cy="914400"/>
          </a:xfrm>
        </p:spPr>
        <p:txBody>
          <a:bodyPr/>
          <a:lstStyle/>
          <a:p>
            <a:pPr eaLnBrk="1" hangingPunct="1"/>
            <a:r>
              <a:rPr lang="zh-CN" altLang="en-US" b="1" smtClean="0"/>
              <a:t>多个实体型间的联系</a:t>
            </a:r>
            <a:r>
              <a:rPr lang="en-US" altLang="zh-CN" b="1" smtClean="0"/>
              <a:t>(</a:t>
            </a:r>
            <a:r>
              <a:rPr lang="zh-CN" altLang="en-US" b="1" smtClean="0"/>
              <a:t>续</a:t>
            </a:r>
            <a:r>
              <a:rPr lang="en-US" altLang="zh-CN" b="1" smtClean="0"/>
              <a:t>)</a:t>
            </a:r>
          </a:p>
        </p:txBody>
      </p:sp>
      <p:sp>
        <p:nvSpPr>
          <p:cNvPr id="50180" name="Rectangle 3"/>
          <p:cNvSpPr>
            <a:spLocks noGrp="1" noChangeArrowheads="1"/>
          </p:cNvSpPr>
          <p:nvPr>
            <p:ph type="body" idx="1"/>
          </p:nvPr>
        </p:nvSpPr>
        <p:spPr>
          <a:xfrm>
            <a:off x="150813" y="1196975"/>
            <a:ext cx="8669337" cy="4537075"/>
          </a:xfrm>
        </p:spPr>
        <p:txBody>
          <a:bodyPr/>
          <a:lstStyle/>
          <a:p>
            <a:pPr eaLnBrk="1" hangingPunct="1">
              <a:lnSpc>
                <a:spcPct val="140000"/>
              </a:lnSpc>
              <a:defRPr/>
            </a:pPr>
            <a:r>
              <a:rPr lang="zh-CN" altLang="en-US" sz="2600" b="1" dirty="0" smtClean="0">
                <a:ea typeface="楷体_GB2312" pitchFamily="49" charset="-122"/>
              </a:rPr>
              <a:t>多个实体型间的</a:t>
            </a:r>
            <a:r>
              <a:rPr lang="zh-CN" altLang="en-US" sz="2600" b="1" dirty="0" smtClean="0">
                <a:solidFill>
                  <a:srgbClr val="FF0000"/>
                </a:solidFill>
                <a:ea typeface="楷体_GB2312" pitchFamily="49" charset="-122"/>
              </a:rPr>
              <a:t>一对一</a:t>
            </a:r>
            <a:r>
              <a:rPr lang="zh-CN" altLang="en-US" sz="2600" b="1" dirty="0" smtClean="0">
                <a:ea typeface="楷体_GB2312" pitchFamily="49" charset="-122"/>
              </a:rPr>
              <a:t>联系</a:t>
            </a:r>
          </a:p>
          <a:p>
            <a:pPr lvl="1" eaLnBrk="1" hangingPunct="1">
              <a:lnSpc>
                <a:spcPct val="140000"/>
              </a:lnSpc>
              <a:defRPr/>
            </a:pPr>
            <a:r>
              <a:rPr lang="zh-CN" altLang="en-US" sz="2600" b="1" dirty="0" smtClean="0">
                <a:ea typeface="楷体_GB2312" pitchFamily="49" charset="-122"/>
              </a:rPr>
              <a:t>学院，正院长，正书记</a:t>
            </a:r>
            <a:endParaRPr lang="en-US" altLang="zh-CN" sz="2600" b="1" dirty="0" smtClean="0">
              <a:ea typeface="楷体_GB2312" pitchFamily="49" charset="-122"/>
            </a:endParaRPr>
          </a:p>
          <a:p>
            <a:pPr marL="471487" lvl="1" indent="0" eaLnBrk="1" hangingPunct="1">
              <a:lnSpc>
                <a:spcPct val="140000"/>
              </a:lnSpc>
              <a:buFont typeface="Wingdings" pitchFamily="2" charset="2"/>
              <a:buNone/>
              <a:defRPr/>
            </a:pPr>
            <a:r>
              <a:rPr lang="zh-CN" altLang="en-US" sz="2600" b="1" dirty="0" smtClean="0">
                <a:ea typeface="楷体_GB2312" pitchFamily="49" charset="-122"/>
              </a:rPr>
              <a:t>三个实体型</a:t>
            </a:r>
          </a:p>
          <a:p>
            <a:pPr lvl="1" eaLnBrk="1" hangingPunct="1">
              <a:lnSpc>
                <a:spcPct val="140000"/>
              </a:lnSpc>
              <a:buFont typeface="Wingdings" pitchFamily="2" charset="2"/>
              <a:buNone/>
              <a:defRPr/>
            </a:pPr>
            <a:r>
              <a:rPr lang="zh-CN" altLang="en-US" sz="2600" b="1" dirty="0" smtClean="0">
                <a:ea typeface="楷体_GB2312" pitchFamily="49" charset="-122"/>
              </a:rPr>
              <a:t>任意两个实体型之间</a:t>
            </a:r>
            <a:endParaRPr lang="en-US" altLang="zh-CN" sz="2600" b="1" dirty="0" smtClean="0">
              <a:ea typeface="楷体_GB2312" pitchFamily="49" charset="-122"/>
            </a:endParaRPr>
          </a:p>
          <a:p>
            <a:pPr lvl="1" eaLnBrk="1" hangingPunct="1">
              <a:lnSpc>
                <a:spcPct val="140000"/>
              </a:lnSpc>
              <a:buFont typeface="Wingdings" pitchFamily="2" charset="2"/>
              <a:buNone/>
              <a:defRPr/>
            </a:pPr>
            <a:r>
              <a:rPr lang="zh-CN" altLang="en-US" sz="2600" b="1" dirty="0" smtClean="0">
                <a:ea typeface="楷体_GB2312" pitchFamily="49" charset="-122"/>
              </a:rPr>
              <a:t>都是一对一的关系。</a:t>
            </a:r>
          </a:p>
        </p:txBody>
      </p:sp>
      <p:grpSp>
        <p:nvGrpSpPr>
          <p:cNvPr id="2" name="Group 16"/>
          <p:cNvGrpSpPr>
            <a:grpSpLocks/>
          </p:cNvGrpSpPr>
          <p:nvPr/>
        </p:nvGrpSpPr>
        <p:grpSpPr bwMode="auto">
          <a:xfrm>
            <a:off x="5214938" y="1944688"/>
            <a:ext cx="3778250" cy="3989387"/>
            <a:chOff x="3330" y="1117"/>
            <a:chExt cx="2498" cy="2513"/>
          </a:xfrm>
        </p:grpSpPr>
        <p:sp>
          <p:nvSpPr>
            <p:cNvPr id="55302" name="Text Box 5"/>
            <p:cNvSpPr txBox="1">
              <a:spLocks noChangeArrowheads="1"/>
            </p:cNvSpPr>
            <p:nvPr/>
          </p:nvSpPr>
          <p:spPr bwMode="auto">
            <a:xfrm>
              <a:off x="4151" y="1117"/>
              <a:ext cx="746"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Times New Roman" pitchFamily="18" charset="0"/>
                  <a:ea typeface="楷体_GB2312" pitchFamily="49" charset="-122"/>
                </a:rPr>
                <a:t>学院</a:t>
              </a:r>
            </a:p>
          </p:txBody>
        </p:sp>
        <p:sp>
          <p:nvSpPr>
            <p:cNvPr id="55303" name="AutoShape 6"/>
            <p:cNvSpPr>
              <a:spLocks noChangeArrowheads="1"/>
            </p:cNvSpPr>
            <p:nvPr/>
          </p:nvSpPr>
          <p:spPr bwMode="auto">
            <a:xfrm>
              <a:off x="4106" y="1870"/>
              <a:ext cx="877" cy="471"/>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400">
                  <a:latin typeface="Times New Roman" pitchFamily="18" charset="0"/>
                  <a:ea typeface="楷体_GB2312" pitchFamily="49" charset="-122"/>
                </a:rPr>
                <a:t>任职</a:t>
              </a:r>
            </a:p>
          </p:txBody>
        </p:sp>
        <p:sp>
          <p:nvSpPr>
            <p:cNvPr id="55304" name="Text Box 7"/>
            <p:cNvSpPr txBox="1">
              <a:spLocks noChangeArrowheads="1"/>
            </p:cNvSpPr>
            <p:nvPr/>
          </p:nvSpPr>
          <p:spPr bwMode="auto">
            <a:xfrm>
              <a:off x="3767" y="2952"/>
              <a:ext cx="757" cy="291"/>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Times New Roman" pitchFamily="18" charset="0"/>
                  <a:ea typeface="楷体_GB2312" pitchFamily="49" charset="-122"/>
                </a:rPr>
                <a:t>正院长</a:t>
              </a:r>
            </a:p>
          </p:txBody>
        </p:sp>
        <p:sp>
          <p:nvSpPr>
            <p:cNvPr id="55305" name="Line 8"/>
            <p:cNvSpPr>
              <a:spLocks noChangeShapeType="1"/>
            </p:cNvSpPr>
            <p:nvPr/>
          </p:nvSpPr>
          <p:spPr bwMode="auto">
            <a:xfrm flipV="1">
              <a:off x="4545" y="1399"/>
              <a:ext cx="0" cy="4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6" name="Line 9"/>
            <p:cNvSpPr>
              <a:spLocks noChangeShapeType="1"/>
            </p:cNvSpPr>
            <p:nvPr/>
          </p:nvSpPr>
          <p:spPr bwMode="auto">
            <a:xfrm flipH="1">
              <a:off x="4059" y="2105"/>
              <a:ext cx="47" cy="8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7" name="Text Box 10"/>
            <p:cNvSpPr txBox="1">
              <a:spLocks noChangeArrowheads="1"/>
            </p:cNvSpPr>
            <p:nvPr/>
          </p:nvSpPr>
          <p:spPr bwMode="auto">
            <a:xfrm>
              <a:off x="4194" y="1541"/>
              <a:ext cx="2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55308" name="Text Box 11"/>
            <p:cNvSpPr txBox="1">
              <a:spLocks noChangeArrowheads="1"/>
            </p:cNvSpPr>
            <p:nvPr/>
          </p:nvSpPr>
          <p:spPr bwMode="auto">
            <a:xfrm>
              <a:off x="5203" y="2491"/>
              <a:ext cx="2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55309" name="Text Box 12"/>
            <p:cNvSpPr txBox="1">
              <a:spLocks noChangeArrowheads="1"/>
            </p:cNvSpPr>
            <p:nvPr/>
          </p:nvSpPr>
          <p:spPr bwMode="auto">
            <a:xfrm>
              <a:off x="3330" y="3339"/>
              <a:ext cx="249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b="1">
                  <a:solidFill>
                    <a:schemeClr val="hlink"/>
                  </a:solidFill>
                  <a:latin typeface="Times New Roman" pitchFamily="18" charset="0"/>
                  <a:ea typeface="楷体_GB2312" pitchFamily="49" charset="-122"/>
                </a:rPr>
                <a:t>两个以上实体型间</a:t>
              </a:r>
              <a:r>
                <a:rPr kumimoji="1" lang="en-US" altLang="zh-CN" sz="2400" b="1">
                  <a:solidFill>
                    <a:schemeClr val="hlink"/>
                  </a:solidFill>
                  <a:latin typeface="Times New Roman" pitchFamily="18" charset="0"/>
                  <a:ea typeface="楷体_GB2312" pitchFamily="49" charset="-122"/>
                </a:rPr>
                <a:t>1:1</a:t>
              </a:r>
              <a:r>
                <a:rPr kumimoji="1" lang="zh-CN" altLang="en-US" sz="2400" b="1">
                  <a:solidFill>
                    <a:schemeClr val="hlink"/>
                  </a:solidFill>
                  <a:latin typeface="Times New Roman" pitchFamily="18" charset="0"/>
                  <a:ea typeface="楷体_GB2312" pitchFamily="49" charset="-122"/>
                </a:rPr>
                <a:t>联系</a:t>
              </a:r>
            </a:p>
          </p:txBody>
        </p:sp>
        <p:sp>
          <p:nvSpPr>
            <p:cNvPr id="55310" name="Text Box 13"/>
            <p:cNvSpPr txBox="1">
              <a:spLocks noChangeArrowheads="1"/>
            </p:cNvSpPr>
            <p:nvPr/>
          </p:nvSpPr>
          <p:spPr bwMode="auto">
            <a:xfrm>
              <a:off x="4785" y="2952"/>
              <a:ext cx="834" cy="291"/>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Times New Roman" pitchFamily="18" charset="0"/>
                  <a:ea typeface="楷体_GB2312" pitchFamily="49" charset="-122"/>
                </a:rPr>
                <a:t>正书记</a:t>
              </a:r>
            </a:p>
          </p:txBody>
        </p:sp>
        <p:sp>
          <p:nvSpPr>
            <p:cNvPr id="55311" name="Line 14"/>
            <p:cNvSpPr>
              <a:spLocks noChangeShapeType="1"/>
            </p:cNvSpPr>
            <p:nvPr/>
          </p:nvSpPr>
          <p:spPr bwMode="auto">
            <a:xfrm>
              <a:off x="4983" y="2105"/>
              <a:ext cx="120" cy="8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2" name="Text Box 15"/>
            <p:cNvSpPr txBox="1">
              <a:spLocks noChangeArrowheads="1"/>
            </p:cNvSpPr>
            <p:nvPr/>
          </p:nvSpPr>
          <p:spPr bwMode="auto">
            <a:xfrm>
              <a:off x="3711" y="2447"/>
              <a:ext cx="2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05"/>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 calcmode="lin" valueType="num">
                                      <p:cBhvr>
                                        <p:cTn id="9" dur="500" fill="hold"/>
                                        <p:tgtEl>
                                          <p:spTgt spid="2"/>
                                        </p:tgtEl>
                                        <p:attrNameLst>
                                          <p:attrName>ppt_x</p:attrName>
                                        </p:attrNameLst>
                                      </p:cBhvr>
                                      <p:tavLst>
                                        <p:tav tm="0">
                                          <p:val>
                                            <p:strVal val="#ppt_x-.2"/>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2CBAF5F4-A2D0-4AC0-B3D1-08E636A5E638}" type="slidenum">
              <a:rPr lang="en-US" altLang="zh-CN" smtClean="0"/>
              <a:pPr algn="l" eaLnBrk="1" hangingPunct="1"/>
              <a:t>42</a:t>
            </a:fld>
            <a:endParaRPr lang="en-US" altLang="zh-CN" smtClean="0"/>
          </a:p>
        </p:txBody>
      </p:sp>
      <p:sp>
        <p:nvSpPr>
          <p:cNvPr id="56323" name="Rectangle 2"/>
          <p:cNvSpPr>
            <a:spLocks noGrp="1" noChangeArrowheads="1"/>
          </p:cNvSpPr>
          <p:nvPr>
            <p:ph type="title"/>
          </p:nvPr>
        </p:nvSpPr>
        <p:spPr>
          <a:xfrm>
            <a:off x="395288" y="115888"/>
            <a:ext cx="8382000" cy="914400"/>
          </a:xfrm>
        </p:spPr>
        <p:txBody>
          <a:bodyPr/>
          <a:lstStyle/>
          <a:p>
            <a:pPr eaLnBrk="1" hangingPunct="1"/>
            <a:r>
              <a:rPr lang="zh-CN" altLang="en-US" b="1" smtClean="0"/>
              <a:t>多个实体型间的联系</a:t>
            </a:r>
            <a:r>
              <a:rPr lang="en-US" altLang="zh-CN" b="1" smtClean="0"/>
              <a:t>(</a:t>
            </a:r>
            <a:r>
              <a:rPr lang="zh-CN" altLang="en-US" b="1" smtClean="0"/>
              <a:t>续</a:t>
            </a:r>
            <a:r>
              <a:rPr lang="en-US" altLang="zh-CN" b="1" smtClean="0"/>
              <a:t>)</a:t>
            </a:r>
          </a:p>
        </p:txBody>
      </p:sp>
      <p:sp>
        <p:nvSpPr>
          <p:cNvPr id="56324" name="Rectangle 3"/>
          <p:cNvSpPr>
            <a:spLocks noGrp="1" noChangeArrowheads="1"/>
          </p:cNvSpPr>
          <p:nvPr>
            <p:ph type="body" idx="1"/>
          </p:nvPr>
        </p:nvSpPr>
        <p:spPr>
          <a:xfrm>
            <a:off x="150813" y="1196975"/>
            <a:ext cx="8669337" cy="4537075"/>
          </a:xfrm>
        </p:spPr>
        <p:txBody>
          <a:bodyPr/>
          <a:lstStyle/>
          <a:p>
            <a:pPr eaLnBrk="1" hangingPunct="1">
              <a:lnSpc>
                <a:spcPct val="140000"/>
              </a:lnSpc>
            </a:pPr>
            <a:r>
              <a:rPr lang="zh-CN" altLang="en-US" sz="2600" b="1" smtClean="0">
                <a:ea typeface="楷体_GB2312" pitchFamily="49" charset="-122"/>
              </a:rPr>
              <a:t>多个实体型间的</a:t>
            </a:r>
            <a:r>
              <a:rPr lang="zh-CN" altLang="en-US" sz="2600" b="1" smtClean="0">
                <a:solidFill>
                  <a:srgbClr val="FF0000"/>
                </a:solidFill>
                <a:ea typeface="楷体_GB2312" pitchFamily="49" charset="-122"/>
              </a:rPr>
              <a:t>多对多</a:t>
            </a:r>
            <a:r>
              <a:rPr lang="zh-CN" altLang="en-US" sz="2600" b="1" smtClean="0">
                <a:ea typeface="楷体_GB2312" pitchFamily="49" charset="-122"/>
              </a:rPr>
              <a:t>联系</a:t>
            </a:r>
          </a:p>
          <a:p>
            <a:pPr lvl="1" eaLnBrk="1" hangingPunct="1">
              <a:lnSpc>
                <a:spcPct val="140000"/>
              </a:lnSpc>
            </a:pPr>
            <a:r>
              <a:rPr lang="zh-CN" altLang="en-US" sz="2600" b="1" smtClean="0">
                <a:ea typeface="楷体_GB2312" pitchFamily="49" charset="-122"/>
              </a:rPr>
              <a:t>供应商、项目、零件三个实体型</a:t>
            </a:r>
          </a:p>
          <a:p>
            <a:pPr lvl="1" eaLnBrk="1" hangingPunct="1">
              <a:lnSpc>
                <a:spcPct val="140000"/>
              </a:lnSpc>
              <a:buFont typeface="Wingdings" pitchFamily="2" charset="2"/>
              <a:buNone/>
            </a:pPr>
            <a:r>
              <a:rPr lang="zh-CN" altLang="en-US" sz="2600" b="1" smtClean="0">
                <a:ea typeface="楷体_GB2312" pitchFamily="49" charset="-122"/>
              </a:rPr>
              <a:t>一个供应商可以供给多个项目多种</a:t>
            </a:r>
          </a:p>
          <a:p>
            <a:pPr lvl="1" eaLnBrk="1" hangingPunct="1">
              <a:lnSpc>
                <a:spcPct val="140000"/>
              </a:lnSpc>
              <a:buFont typeface="Wingdings" pitchFamily="2" charset="2"/>
              <a:buNone/>
            </a:pPr>
            <a:r>
              <a:rPr lang="zh-CN" altLang="en-US" sz="2600" b="1" smtClean="0">
                <a:ea typeface="楷体_GB2312" pitchFamily="49" charset="-122"/>
              </a:rPr>
              <a:t>零件，每个项目可以使用多个供应</a:t>
            </a:r>
          </a:p>
          <a:p>
            <a:pPr lvl="1" eaLnBrk="1" hangingPunct="1">
              <a:lnSpc>
                <a:spcPct val="140000"/>
              </a:lnSpc>
              <a:buFont typeface="Wingdings" pitchFamily="2" charset="2"/>
              <a:buNone/>
            </a:pPr>
            <a:r>
              <a:rPr lang="zh-CN" altLang="en-US" sz="2600" b="1" smtClean="0">
                <a:ea typeface="楷体_GB2312" pitchFamily="49" charset="-122"/>
              </a:rPr>
              <a:t>商供应的零件，每种零件可由不同</a:t>
            </a:r>
          </a:p>
          <a:p>
            <a:pPr lvl="1" eaLnBrk="1" hangingPunct="1">
              <a:lnSpc>
                <a:spcPct val="140000"/>
              </a:lnSpc>
              <a:buFont typeface="Wingdings" pitchFamily="2" charset="2"/>
              <a:buNone/>
            </a:pPr>
            <a:r>
              <a:rPr lang="zh-CN" altLang="en-US" sz="2600" b="1" smtClean="0">
                <a:ea typeface="楷体_GB2312" pitchFamily="49" charset="-122"/>
              </a:rPr>
              <a:t>供应商供给。</a:t>
            </a:r>
          </a:p>
        </p:txBody>
      </p:sp>
      <p:grpSp>
        <p:nvGrpSpPr>
          <p:cNvPr id="2" name="Group 16"/>
          <p:cNvGrpSpPr>
            <a:grpSpLocks/>
          </p:cNvGrpSpPr>
          <p:nvPr/>
        </p:nvGrpSpPr>
        <p:grpSpPr bwMode="auto">
          <a:xfrm>
            <a:off x="5143500" y="1944688"/>
            <a:ext cx="3849688" cy="3984625"/>
            <a:chOff x="3282" y="1117"/>
            <a:chExt cx="2546" cy="2510"/>
          </a:xfrm>
        </p:grpSpPr>
        <p:sp>
          <p:nvSpPr>
            <p:cNvPr id="56326" name="Text Box 5"/>
            <p:cNvSpPr txBox="1">
              <a:spLocks noChangeArrowheads="1"/>
            </p:cNvSpPr>
            <p:nvPr/>
          </p:nvSpPr>
          <p:spPr bwMode="auto">
            <a:xfrm>
              <a:off x="4151" y="1117"/>
              <a:ext cx="746"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Times New Roman" pitchFamily="18" charset="0"/>
                  <a:ea typeface="楷体_GB2312" pitchFamily="49" charset="-122"/>
                </a:rPr>
                <a:t>供应商</a:t>
              </a:r>
            </a:p>
          </p:txBody>
        </p:sp>
        <p:sp>
          <p:nvSpPr>
            <p:cNvPr id="56327" name="AutoShape 6"/>
            <p:cNvSpPr>
              <a:spLocks noChangeArrowheads="1"/>
            </p:cNvSpPr>
            <p:nvPr/>
          </p:nvSpPr>
          <p:spPr bwMode="auto">
            <a:xfrm>
              <a:off x="4106" y="1870"/>
              <a:ext cx="877" cy="471"/>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400">
                  <a:latin typeface="Times New Roman" pitchFamily="18" charset="0"/>
                  <a:ea typeface="楷体_GB2312" pitchFamily="49" charset="-122"/>
                </a:rPr>
                <a:t>供应</a:t>
              </a:r>
            </a:p>
          </p:txBody>
        </p:sp>
        <p:sp>
          <p:nvSpPr>
            <p:cNvPr id="56328" name="Text Box 7"/>
            <p:cNvSpPr txBox="1">
              <a:spLocks noChangeArrowheads="1"/>
            </p:cNvSpPr>
            <p:nvPr/>
          </p:nvSpPr>
          <p:spPr bwMode="auto">
            <a:xfrm>
              <a:off x="3767" y="2952"/>
              <a:ext cx="565" cy="295"/>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Times New Roman" pitchFamily="18" charset="0"/>
                  <a:ea typeface="楷体_GB2312" pitchFamily="49" charset="-122"/>
                </a:rPr>
                <a:t>项目</a:t>
              </a:r>
            </a:p>
          </p:txBody>
        </p:sp>
        <p:sp>
          <p:nvSpPr>
            <p:cNvPr id="56329" name="Line 8"/>
            <p:cNvSpPr>
              <a:spLocks noChangeShapeType="1"/>
            </p:cNvSpPr>
            <p:nvPr/>
          </p:nvSpPr>
          <p:spPr bwMode="auto">
            <a:xfrm flipV="1">
              <a:off x="4545" y="1399"/>
              <a:ext cx="0" cy="4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0" name="Line 9"/>
            <p:cNvSpPr>
              <a:spLocks noChangeShapeType="1"/>
            </p:cNvSpPr>
            <p:nvPr/>
          </p:nvSpPr>
          <p:spPr bwMode="auto">
            <a:xfrm flipH="1">
              <a:off x="4059" y="2105"/>
              <a:ext cx="47" cy="8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1" name="Text Box 10"/>
            <p:cNvSpPr txBox="1">
              <a:spLocks noChangeArrowheads="1"/>
            </p:cNvSpPr>
            <p:nvPr/>
          </p:nvSpPr>
          <p:spPr bwMode="auto">
            <a:xfrm>
              <a:off x="4194" y="1541"/>
              <a:ext cx="2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m</a:t>
              </a:r>
            </a:p>
          </p:txBody>
        </p:sp>
        <p:sp>
          <p:nvSpPr>
            <p:cNvPr id="56332" name="Text Box 11"/>
            <p:cNvSpPr txBox="1">
              <a:spLocks noChangeArrowheads="1"/>
            </p:cNvSpPr>
            <p:nvPr/>
          </p:nvSpPr>
          <p:spPr bwMode="auto">
            <a:xfrm>
              <a:off x="5203" y="2491"/>
              <a:ext cx="2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p</a:t>
              </a:r>
            </a:p>
          </p:txBody>
        </p:sp>
        <p:sp>
          <p:nvSpPr>
            <p:cNvPr id="56333" name="Text Box 12"/>
            <p:cNvSpPr txBox="1">
              <a:spLocks noChangeArrowheads="1"/>
            </p:cNvSpPr>
            <p:nvPr/>
          </p:nvSpPr>
          <p:spPr bwMode="auto">
            <a:xfrm>
              <a:off x="3282" y="3339"/>
              <a:ext cx="25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b="1">
                  <a:solidFill>
                    <a:schemeClr val="hlink"/>
                  </a:solidFill>
                  <a:latin typeface="Times New Roman" pitchFamily="18" charset="0"/>
                  <a:ea typeface="楷体_GB2312" pitchFamily="49" charset="-122"/>
                </a:rPr>
                <a:t>两个以上实体型间</a:t>
              </a:r>
              <a:r>
                <a:rPr kumimoji="1" lang="en-US" altLang="zh-CN" sz="2400" b="1">
                  <a:solidFill>
                    <a:schemeClr val="hlink"/>
                  </a:solidFill>
                  <a:latin typeface="Times New Roman" pitchFamily="18" charset="0"/>
                  <a:ea typeface="楷体_GB2312" pitchFamily="49" charset="-122"/>
                </a:rPr>
                <a:t>m:n</a:t>
              </a:r>
              <a:r>
                <a:rPr kumimoji="1" lang="zh-CN" altLang="en-US" sz="2400" b="1">
                  <a:solidFill>
                    <a:schemeClr val="hlink"/>
                  </a:solidFill>
                  <a:latin typeface="Times New Roman" pitchFamily="18" charset="0"/>
                  <a:ea typeface="楷体_GB2312" pitchFamily="49" charset="-122"/>
                </a:rPr>
                <a:t>联系</a:t>
              </a:r>
            </a:p>
          </p:txBody>
        </p:sp>
        <p:sp>
          <p:nvSpPr>
            <p:cNvPr id="56334" name="Text Box 13"/>
            <p:cNvSpPr txBox="1">
              <a:spLocks noChangeArrowheads="1"/>
            </p:cNvSpPr>
            <p:nvPr/>
          </p:nvSpPr>
          <p:spPr bwMode="auto">
            <a:xfrm>
              <a:off x="4785" y="2952"/>
              <a:ext cx="544"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2400">
                  <a:latin typeface="Times New Roman" pitchFamily="18" charset="0"/>
                  <a:ea typeface="楷体_GB2312" pitchFamily="49" charset="-122"/>
                </a:rPr>
                <a:t>零件</a:t>
              </a:r>
            </a:p>
          </p:txBody>
        </p:sp>
        <p:sp>
          <p:nvSpPr>
            <p:cNvPr id="56335" name="Line 14"/>
            <p:cNvSpPr>
              <a:spLocks noChangeShapeType="1"/>
            </p:cNvSpPr>
            <p:nvPr/>
          </p:nvSpPr>
          <p:spPr bwMode="auto">
            <a:xfrm>
              <a:off x="4983" y="2105"/>
              <a:ext cx="120" cy="8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6" name="Text Box 15"/>
            <p:cNvSpPr txBox="1">
              <a:spLocks noChangeArrowheads="1"/>
            </p:cNvSpPr>
            <p:nvPr/>
          </p:nvSpPr>
          <p:spPr bwMode="auto">
            <a:xfrm>
              <a:off x="3711" y="2447"/>
              <a:ext cx="21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n</a:t>
              </a: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05"/>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 calcmode="lin" valueType="num">
                                      <p:cBhvr>
                                        <p:cTn id="9" dur="500" fill="hold"/>
                                        <p:tgtEl>
                                          <p:spTgt spid="2"/>
                                        </p:tgtEl>
                                        <p:attrNameLst>
                                          <p:attrName>ppt_x</p:attrName>
                                        </p:attrNameLst>
                                      </p:cBhvr>
                                      <p:tavLst>
                                        <p:tav tm="0">
                                          <p:val>
                                            <p:strVal val="#ppt_x-.2"/>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a:xfrm>
            <a:off x="457200" y="142875"/>
            <a:ext cx="8229600" cy="857250"/>
          </a:xfrm>
        </p:spPr>
        <p:txBody>
          <a:bodyPr/>
          <a:lstStyle/>
          <a:p>
            <a:r>
              <a:rPr lang="zh-CN" altLang="en-US" b="1" smtClean="0"/>
              <a:t>多个实体型间的联系</a:t>
            </a:r>
            <a:r>
              <a:rPr lang="en-US" altLang="zh-CN" b="1" smtClean="0"/>
              <a:t>(</a:t>
            </a:r>
            <a:r>
              <a:rPr lang="zh-CN" altLang="en-US" b="1" smtClean="0"/>
              <a:t>续</a:t>
            </a:r>
            <a:r>
              <a:rPr lang="en-US" altLang="zh-CN" b="1" smtClean="0"/>
              <a:t>)</a:t>
            </a:r>
            <a:endParaRPr lang="zh-CN" altLang="en-US" smtClean="0"/>
          </a:p>
        </p:txBody>
      </p:sp>
      <p:sp>
        <p:nvSpPr>
          <p:cNvPr id="57347" name="内容占位符 2"/>
          <p:cNvSpPr>
            <a:spLocks noGrp="1"/>
          </p:cNvSpPr>
          <p:nvPr>
            <p:ph idx="1"/>
          </p:nvPr>
        </p:nvSpPr>
        <p:spPr/>
        <p:txBody>
          <a:bodyPr/>
          <a:lstStyle/>
          <a:p>
            <a:r>
              <a:rPr lang="zh-CN" altLang="en-US" b="1" smtClean="0"/>
              <a:t>一对一：多个实体型间，若</a:t>
            </a:r>
            <a:r>
              <a:rPr lang="zh-CN" altLang="en-US" b="1" smtClean="0">
                <a:solidFill>
                  <a:srgbClr val="FF0000"/>
                </a:solidFill>
              </a:rPr>
              <a:t>各个</a:t>
            </a:r>
            <a:r>
              <a:rPr lang="zh-CN" altLang="en-US" b="1" smtClean="0"/>
              <a:t>实体型两两间都是</a:t>
            </a:r>
            <a:r>
              <a:rPr lang="en-US" altLang="zh-CN" b="1" smtClean="0"/>
              <a:t>1:1,</a:t>
            </a:r>
            <a:r>
              <a:rPr lang="zh-CN" altLang="en-US" b="1" smtClean="0"/>
              <a:t>则多个实体型间是</a:t>
            </a:r>
            <a:r>
              <a:rPr lang="zh-CN" altLang="en-US" b="1" smtClean="0">
                <a:solidFill>
                  <a:srgbClr val="FF0000"/>
                </a:solidFill>
              </a:rPr>
              <a:t>一对一</a:t>
            </a:r>
            <a:r>
              <a:rPr lang="zh-CN" altLang="en-US" b="1" smtClean="0"/>
              <a:t>联系。</a:t>
            </a:r>
            <a:endParaRPr lang="zh-CN" altLang="en-US" smtClean="0"/>
          </a:p>
          <a:p>
            <a:r>
              <a:rPr lang="zh-CN" altLang="en-US" b="1" smtClean="0"/>
              <a:t>多对多：多个实体型间，若</a:t>
            </a:r>
            <a:r>
              <a:rPr lang="zh-CN" altLang="en-US" b="1" smtClean="0">
                <a:solidFill>
                  <a:srgbClr val="FF0000"/>
                </a:solidFill>
              </a:rPr>
              <a:t>各个</a:t>
            </a:r>
            <a:r>
              <a:rPr lang="zh-CN" altLang="en-US" b="1" smtClean="0"/>
              <a:t>实体型两两间都是你</a:t>
            </a:r>
            <a:r>
              <a:rPr lang="en-US" altLang="zh-CN" b="1" smtClean="0"/>
              <a:t>m:n,</a:t>
            </a:r>
            <a:r>
              <a:rPr lang="zh-CN" altLang="en-US" b="1" smtClean="0"/>
              <a:t>则多个实体型间是</a:t>
            </a:r>
            <a:r>
              <a:rPr lang="zh-CN" altLang="en-US" b="1" smtClean="0">
                <a:solidFill>
                  <a:srgbClr val="FF0000"/>
                </a:solidFill>
              </a:rPr>
              <a:t>多对多</a:t>
            </a:r>
            <a:r>
              <a:rPr lang="zh-CN" altLang="en-US" b="1" smtClean="0"/>
              <a:t>联系。</a:t>
            </a:r>
            <a:endParaRPr lang="zh-CN" altLang="en-US" smtClean="0"/>
          </a:p>
          <a:p>
            <a:r>
              <a:rPr lang="zh-CN" altLang="en-US" b="1" smtClean="0"/>
              <a:t>一对多：则只要有</a:t>
            </a:r>
            <a:r>
              <a:rPr lang="zh-CN" altLang="en-US" b="1" smtClean="0">
                <a:solidFill>
                  <a:srgbClr val="FF0000"/>
                </a:solidFill>
              </a:rPr>
              <a:t>一个</a:t>
            </a:r>
            <a:r>
              <a:rPr lang="zh-CN" altLang="en-US" b="1" smtClean="0"/>
              <a:t>实体型与其它实体型中的任何一个存在</a:t>
            </a:r>
            <a:r>
              <a:rPr lang="en-US" altLang="zh-CN" b="1" smtClean="0"/>
              <a:t>1:n</a:t>
            </a:r>
            <a:r>
              <a:rPr lang="zh-CN" altLang="en-US" b="1" smtClean="0"/>
              <a:t>，则多个实体型间是</a:t>
            </a:r>
            <a:r>
              <a:rPr lang="zh-CN" altLang="en-US" b="1" smtClean="0">
                <a:solidFill>
                  <a:srgbClr val="FF0000"/>
                </a:solidFill>
              </a:rPr>
              <a:t>一对多</a:t>
            </a:r>
            <a:r>
              <a:rPr lang="zh-CN" altLang="en-US" b="1" smtClean="0"/>
              <a:t>联系。</a:t>
            </a:r>
            <a:endParaRPr lang="zh-CN" altLang="en-US" smtClean="0"/>
          </a:p>
          <a:p>
            <a:endParaRPr lang="zh-CN" altLang="en-US" smtClean="0"/>
          </a:p>
        </p:txBody>
      </p:sp>
      <p:sp>
        <p:nvSpPr>
          <p:cNvPr id="57348"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5D8479EF-E81B-4762-84F6-981420B90C7E}" type="slidenum">
              <a:rPr lang="en-US" altLang="zh-CN" smtClean="0"/>
              <a:pPr algn="l" eaLnBrk="1" hangingPunct="1"/>
              <a:t>43</a:t>
            </a:fld>
            <a:endParaRPr lang="en-US" altLang="zh-CN" smtClean="0"/>
          </a:p>
        </p:txBody>
      </p:sp>
    </p:spTree>
  </p:cSld>
  <p:clrMapOvr>
    <a:masterClrMapping/>
  </p:clrMapOvr>
  <p:transition advClick="0"/>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36500102-D2F9-403E-BF97-380D66E65B65}" type="slidenum">
              <a:rPr lang="en-US" altLang="zh-CN" smtClean="0"/>
              <a:pPr algn="l" eaLnBrk="1" hangingPunct="1"/>
              <a:t>44</a:t>
            </a:fld>
            <a:endParaRPr lang="en-US" altLang="zh-CN" smtClean="0"/>
          </a:p>
        </p:txBody>
      </p:sp>
      <p:sp>
        <p:nvSpPr>
          <p:cNvPr id="58371" name="Rectangle 2"/>
          <p:cNvSpPr>
            <a:spLocks noGrp="1" noChangeArrowheads="1"/>
          </p:cNvSpPr>
          <p:nvPr>
            <p:ph type="title"/>
          </p:nvPr>
        </p:nvSpPr>
        <p:spPr>
          <a:xfrm>
            <a:off x="250825" y="115888"/>
            <a:ext cx="8763000" cy="914400"/>
          </a:xfrm>
        </p:spPr>
        <p:txBody>
          <a:bodyPr/>
          <a:lstStyle/>
          <a:p>
            <a:pPr eaLnBrk="1" hangingPunct="1"/>
            <a:r>
              <a:rPr lang="en-US" altLang="zh-CN" b="1" smtClean="0"/>
              <a:t>3</a:t>
            </a:r>
            <a:r>
              <a:rPr lang="zh-CN" altLang="en-US" b="1" smtClean="0"/>
              <a:t>、同一实体集内各实体间的联系</a:t>
            </a:r>
          </a:p>
        </p:txBody>
      </p:sp>
      <p:sp>
        <p:nvSpPr>
          <p:cNvPr id="58372" name="Rectangle 3"/>
          <p:cNvSpPr>
            <a:spLocks noGrp="1" noChangeArrowheads="1"/>
          </p:cNvSpPr>
          <p:nvPr>
            <p:ph type="body" idx="1"/>
          </p:nvPr>
        </p:nvSpPr>
        <p:spPr>
          <a:xfrm>
            <a:off x="107950" y="1196975"/>
            <a:ext cx="7200900" cy="4929188"/>
          </a:xfrm>
        </p:spPr>
        <p:txBody>
          <a:bodyPr/>
          <a:lstStyle/>
          <a:p>
            <a:pPr eaLnBrk="1" hangingPunct="1">
              <a:lnSpc>
                <a:spcPct val="130000"/>
              </a:lnSpc>
            </a:pPr>
            <a:r>
              <a:rPr lang="zh-CN" altLang="en-US" sz="2600" b="1" smtClean="0">
                <a:latin typeface="楷体_GB2312" pitchFamily="49" charset="-122"/>
                <a:ea typeface="楷体_GB2312" pitchFamily="49" charset="-122"/>
              </a:rPr>
              <a:t>一对多联系</a:t>
            </a:r>
          </a:p>
          <a:p>
            <a:pPr lvl="1" eaLnBrk="1" hangingPunct="1">
              <a:lnSpc>
                <a:spcPct val="130000"/>
              </a:lnSpc>
              <a:buFont typeface="Wingdings" pitchFamily="2" charset="2"/>
              <a:buNone/>
            </a:pPr>
            <a:r>
              <a:rPr lang="zh-CN" altLang="en-US" sz="2600" b="1" smtClean="0">
                <a:latin typeface="楷体_GB2312" pitchFamily="49" charset="-122"/>
                <a:ea typeface="楷体_GB2312" pitchFamily="49" charset="-122"/>
              </a:rPr>
              <a:t>职工实体型内部具有领导与被领导的联系。</a:t>
            </a:r>
          </a:p>
          <a:p>
            <a:pPr lvl="1" eaLnBrk="1" hangingPunct="1">
              <a:lnSpc>
                <a:spcPct val="130000"/>
              </a:lnSpc>
              <a:buFont typeface="Wingdings" pitchFamily="2" charset="2"/>
              <a:buChar char="Ø"/>
            </a:pPr>
            <a:r>
              <a:rPr lang="zh-CN" altLang="en-US" sz="2600" b="1" smtClean="0">
                <a:latin typeface="楷体_GB2312" pitchFamily="49" charset="-122"/>
                <a:ea typeface="楷体_GB2312" pitchFamily="49" charset="-122"/>
              </a:rPr>
              <a:t>某一职工（干部）</a:t>
            </a:r>
            <a:r>
              <a:rPr lang="zh-CN" altLang="en-US" sz="2600" b="1" smtClean="0">
                <a:ea typeface="楷体_GB2312" pitchFamily="49" charset="-122"/>
              </a:rPr>
              <a:t>“</a:t>
            </a:r>
            <a:r>
              <a:rPr lang="zh-CN" altLang="en-US" sz="2600" b="1" smtClean="0">
                <a:latin typeface="楷体_GB2312" pitchFamily="49" charset="-122"/>
                <a:ea typeface="楷体_GB2312" pitchFamily="49" charset="-122"/>
              </a:rPr>
              <a:t>领导</a:t>
            </a:r>
            <a:r>
              <a:rPr lang="zh-CN" altLang="en-US" sz="2600" b="1" smtClean="0">
                <a:ea typeface="楷体_GB2312" pitchFamily="49" charset="-122"/>
              </a:rPr>
              <a:t>”</a:t>
            </a:r>
            <a:r>
              <a:rPr lang="zh-CN" altLang="en-US" sz="2600" b="1" smtClean="0">
                <a:latin typeface="楷体_GB2312" pitchFamily="49" charset="-122"/>
                <a:ea typeface="楷体_GB2312" pitchFamily="49" charset="-122"/>
              </a:rPr>
              <a:t>若干名职工。</a:t>
            </a:r>
          </a:p>
          <a:p>
            <a:pPr lvl="1" eaLnBrk="1" hangingPunct="1">
              <a:lnSpc>
                <a:spcPct val="130000"/>
              </a:lnSpc>
              <a:buFont typeface="Wingdings" pitchFamily="2" charset="2"/>
              <a:buChar char="Ø"/>
            </a:pPr>
            <a:r>
              <a:rPr lang="zh-CN" altLang="en-US" sz="2600" b="1" smtClean="0">
                <a:latin typeface="楷体_GB2312" pitchFamily="49" charset="-122"/>
                <a:ea typeface="楷体_GB2312" pitchFamily="49" charset="-122"/>
              </a:rPr>
              <a:t>一个职工仅被另外一个职工直接领导。</a:t>
            </a:r>
          </a:p>
          <a:p>
            <a:pPr lvl="1" eaLnBrk="1" hangingPunct="1">
              <a:lnSpc>
                <a:spcPct val="130000"/>
              </a:lnSpc>
              <a:buFont typeface="Wingdings" pitchFamily="2" charset="2"/>
              <a:buChar char="Ø"/>
            </a:pPr>
            <a:r>
              <a:rPr lang="zh-CN" altLang="en-US" sz="2600" b="1" smtClean="0">
                <a:latin typeface="楷体_GB2312" pitchFamily="49" charset="-122"/>
                <a:ea typeface="楷体_GB2312" pitchFamily="49" charset="-122"/>
              </a:rPr>
              <a:t>这是一对多的联系。</a:t>
            </a:r>
          </a:p>
        </p:txBody>
      </p:sp>
      <p:grpSp>
        <p:nvGrpSpPr>
          <p:cNvPr id="2" name="Group 5"/>
          <p:cNvGrpSpPr>
            <a:grpSpLocks/>
          </p:cNvGrpSpPr>
          <p:nvPr/>
        </p:nvGrpSpPr>
        <p:grpSpPr bwMode="auto">
          <a:xfrm>
            <a:off x="6823075" y="2349500"/>
            <a:ext cx="2286000" cy="2911475"/>
            <a:chOff x="3936" y="1152"/>
            <a:chExt cx="1440" cy="1834"/>
          </a:xfrm>
        </p:grpSpPr>
        <p:sp>
          <p:nvSpPr>
            <p:cNvPr id="58426" name="Text Box 6"/>
            <p:cNvSpPr txBox="1">
              <a:spLocks noChangeArrowheads="1"/>
            </p:cNvSpPr>
            <p:nvPr/>
          </p:nvSpPr>
          <p:spPr bwMode="auto">
            <a:xfrm>
              <a:off x="4128" y="1152"/>
              <a:ext cx="816" cy="29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400">
                  <a:latin typeface="Times New Roman" pitchFamily="18" charset="0"/>
                  <a:ea typeface="楷体_GB2312" pitchFamily="49" charset="-122"/>
                </a:rPr>
                <a:t>职工</a:t>
              </a:r>
            </a:p>
          </p:txBody>
        </p:sp>
        <p:sp>
          <p:nvSpPr>
            <p:cNvPr id="58427" name="AutoShape 7"/>
            <p:cNvSpPr>
              <a:spLocks noChangeArrowheads="1"/>
            </p:cNvSpPr>
            <p:nvPr/>
          </p:nvSpPr>
          <p:spPr bwMode="auto">
            <a:xfrm>
              <a:off x="4080" y="1920"/>
              <a:ext cx="960" cy="480"/>
            </a:xfrm>
            <a:prstGeom prst="diamond">
              <a:avLst/>
            </a:prstGeom>
            <a:solidFill>
              <a:schemeClr val="accent1"/>
            </a:solidFill>
            <a:ln w="9525">
              <a:solidFill>
                <a:schemeClr val="tx1"/>
              </a:solidFill>
              <a:miter lim="800000"/>
              <a:headEnd/>
              <a:tailEnd/>
            </a:ln>
          </p:spPr>
          <p:txBody>
            <a:bodyPr wrap="none" anchor="ctr"/>
            <a:lstStyle/>
            <a:p>
              <a:pPr algn="ctr"/>
              <a:r>
                <a:rPr kumimoji="1" lang="zh-CN" altLang="en-US" sz="2400">
                  <a:latin typeface="Times New Roman" pitchFamily="18" charset="0"/>
                  <a:ea typeface="楷体_GB2312" pitchFamily="49" charset="-122"/>
                </a:rPr>
                <a:t>领导</a:t>
              </a:r>
            </a:p>
          </p:txBody>
        </p:sp>
        <p:sp>
          <p:nvSpPr>
            <p:cNvPr id="58428" name="Line 8"/>
            <p:cNvSpPr>
              <a:spLocks noChangeShapeType="1"/>
            </p:cNvSpPr>
            <p:nvPr/>
          </p:nvSpPr>
          <p:spPr bwMode="auto">
            <a:xfrm flipV="1">
              <a:off x="4368" y="1440"/>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29" name="Line 9"/>
            <p:cNvSpPr>
              <a:spLocks noChangeShapeType="1"/>
            </p:cNvSpPr>
            <p:nvPr/>
          </p:nvSpPr>
          <p:spPr bwMode="auto">
            <a:xfrm>
              <a:off x="4704" y="1440"/>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30" name="Text Box 10"/>
            <p:cNvSpPr txBox="1">
              <a:spLocks noChangeArrowheads="1"/>
            </p:cNvSpPr>
            <p:nvPr/>
          </p:nvSpPr>
          <p:spPr bwMode="auto">
            <a:xfrm>
              <a:off x="4080"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1</a:t>
              </a:r>
            </a:p>
          </p:txBody>
        </p:sp>
        <p:sp>
          <p:nvSpPr>
            <p:cNvPr id="58431" name="Text Box 11"/>
            <p:cNvSpPr txBox="1">
              <a:spLocks noChangeArrowheads="1"/>
            </p:cNvSpPr>
            <p:nvPr/>
          </p:nvSpPr>
          <p:spPr bwMode="auto">
            <a:xfrm>
              <a:off x="4752"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en-US" altLang="zh-CN" sz="2400">
                  <a:latin typeface="Times New Roman" pitchFamily="18" charset="0"/>
                </a:rPr>
                <a:t>n</a:t>
              </a:r>
            </a:p>
          </p:txBody>
        </p:sp>
        <p:sp>
          <p:nvSpPr>
            <p:cNvPr id="58432" name="Text Box 12"/>
            <p:cNvSpPr txBox="1">
              <a:spLocks noChangeArrowheads="1"/>
            </p:cNvSpPr>
            <p:nvPr/>
          </p:nvSpPr>
          <p:spPr bwMode="auto">
            <a:xfrm>
              <a:off x="3936" y="2544"/>
              <a:ext cx="144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50000"/>
                </a:spcBef>
              </a:pPr>
              <a:r>
                <a:rPr kumimoji="1" lang="zh-CN" altLang="en-US" sz="2000" b="1">
                  <a:latin typeface="楷体_GB2312" pitchFamily="49" charset="-122"/>
                  <a:ea typeface="楷体_GB2312" pitchFamily="49" charset="-122"/>
                </a:rPr>
                <a:t>单个实体型内部</a:t>
              </a:r>
              <a:r>
                <a:rPr kumimoji="1" lang="en-US" altLang="zh-CN" sz="2000" b="1">
                  <a:latin typeface="楷体_GB2312" pitchFamily="49" charset="-122"/>
                  <a:ea typeface="楷体_GB2312" pitchFamily="49" charset="-122"/>
                </a:rPr>
                <a:t>1:n</a:t>
              </a:r>
              <a:r>
                <a:rPr kumimoji="1" lang="zh-CN" altLang="en-US" sz="2000" b="1">
                  <a:latin typeface="楷体_GB2312" pitchFamily="49" charset="-122"/>
                  <a:ea typeface="楷体_GB2312" pitchFamily="49" charset="-122"/>
                </a:rPr>
                <a:t>联系</a:t>
              </a:r>
            </a:p>
          </p:txBody>
        </p:sp>
      </p:grpSp>
      <p:grpSp>
        <p:nvGrpSpPr>
          <p:cNvPr id="13" name="组合 12"/>
          <p:cNvGrpSpPr>
            <a:grpSpLocks/>
          </p:cNvGrpSpPr>
          <p:nvPr/>
        </p:nvGrpSpPr>
        <p:grpSpPr bwMode="auto">
          <a:xfrm>
            <a:off x="2149475" y="4122738"/>
            <a:ext cx="1943100" cy="2541587"/>
            <a:chOff x="3054350" y="3944938"/>
            <a:chExt cx="1943100" cy="2541587"/>
          </a:xfrm>
        </p:grpSpPr>
        <p:sp>
          <p:nvSpPr>
            <p:cNvPr id="14" name="椭圆 13"/>
            <p:cNvSpPr/>
            <p:nvPr/>
          </p:nvSpPr>
          <p:spPr bwMode="auto">
            <a:xfrm>
              <a:off x="3054350" y="3944938"/>
              <a:ext cx="1943100" cy="25415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FF0000"/>
                  </a:solidFill>
                </a:rPr>
                <a:t>职工</a:t>
              </a:r>
            </a:p>
          </p:txBody>
        </p:sp>
        <p:sp>
          <p:nvSpPr>
            <p:cNvPr id="15" name="笑脸 14"/>
            <p:cNvSpPr/>
            <p:nvPr/>
          </p:nvSpPr>
          <p:spPr>
            <a:xfrm>
              <a:off x="3779838" y="405447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笑脸 15"/>
            <p:cNvSpPr/>
            <p:nvPr/>
          </p:nvSpPr>
          <p:spPr>
            <a:xfrm>
              <a:off x="4059238" y="407352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笑脸 16"/>
            <p:cNvSpPr/>
            <p:nvPr/>
          </p:nvSpPr>
          <p:spPr>
            <a:xfrm>
              <a:off x="3348038" y="429577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笑脸 17"/>
            <p:cNvSpPr/>
            <p:nvPr/>
          </p:nvSpPr>
          <p:spPr>
            <a:xfrm>
              <a:off x="3470275" y="5889625"/>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笑脸 18"/>
            <p:cNvSpPr/>
            <p:nvPr/>
          </p:nvSpPr>
          <p:spPr>
            <a:xfrm>
              <a:off x="3716338" y="609917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笑脸 19"/>
            <p:cNvSpPr/>
            <p:nvPr/>
          </p:nvSpPr>
          <p:spPr>
            <a:xfrm>
              <a:off x="4376738" y="432117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笑脸 20"/>
            <p:cNvSpPr/>
            <p:nvPr/>
          </p:nvSpPr>
          <p:spPr>
            <a:xfrm>
              <a:off x="4160838" y="5638800"/>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笑脸 21"/>
            <p:cNvSpPr/>
            <p:nvPr/>
          </p:nvSpPr>
          <p:spPr>
            <a:xfrm>
              <a:off x="4448175" y="5867400"/>
              <a:ext cx="246063" cy="266700"/>
            </a:xfrm>
            <a:prstGeom prst="smileyFac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笑脸 22"/>
            <p:cNvSpPr/>
            <p:nvPr/>
          </p:nvSpPr>
          <p:spPr>
            <a:xfrm>
              <a:off x="3254375" y="5638800"/>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笑脸 23"/>
            <p:cNvSpPr/>
            <p:nvPr/>
          </p:nvSpPr>
          <p:spPr>
            <a:xfrm>
              <a:off x="3779838" y="5595938"/>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5" name="笑脸 24"/>
            <p:cNvSpPr/>
            <p:nvPr/>
          </p:nvSpPr>
          <p:spPr>
            <a:xfrm>
              <a:off x="4084638" y="609917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6" name="笑脸 25"/>
            <p:cNvSpPr/>
            <p:nvPr/>
          </p:nvSpPr>
          <p:spPr>
            <a:xfrm>
              <a:off x="4652963" y="5600700"/>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笑脸 26"/>
            <p:cNvSpPr/>
            <p:nvPr/>
          </p:nvSpPr>
          <p:spPr>
            <a:xfrm>
              <a:off x="4254500" y="4630738"/>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8" name="笑脸 27"/>
            <p:cNvSpPr/>
            <p:nvPr/>
          </p:nvSpPr>
          <p:spPr>
            <a:xfrm>
              <a:off x="4533900" y="4649788"/>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9" name="笑脸 28"/>
            <p:cNvSpPr/>
            <p:nvPr/>
          </p:nvSpPr>
          <p:spPr>
            <a:xfrm>
              <a:off x="3470275" y="5334000"/>
              <a:ext cx="246063" cy="266700"/>
            </a:xfrm>
            <a:prstGeom prst="smileyFac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笑脸 29"/>
            <p:cNvSpPr/>
            <p:nvPr/>
          </p:nvSpPr>
          <p:spPr>
            <a:xfrm>
              <a:off x="3810000" y="4384675"/>
              <a:ext cx="246063" cy="266700"/>
            </a:xfrm>
            <a:prstGeom prst="smileyFac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1" name="笑脸 30"/>
            <p:cNvSpPr/>
            <p:nvPr/>
          </p:nvSpPr>
          <p:spPr>
            <a:xfrm>
              <a:off x="4406900" y="4943475"/>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2" name="笑脸 31"/>
            <p:cNvSpPr/>
            <p:nvPr/>
          </p:nvSpPr>
          <p:spPr>
            <a:xfrm>
              <a:off x="4686300" y="4962525"/>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笑脸 32"/>
            <p:cNvSpPr/>
            <p:nvPr/>
          </p:nvSpPr>
          <p:spPr>
            <a:xfrm>
              <a:off x="3563938" y="4630738"/>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4" name="笑脸 33"/>
            <p:cNvSpPr/>
            <p:nvPr/>
          </p:nvSpPr>
          <p:spPr>
            <a:xfrm>
              <a:off x="4295775" y="5351463"/>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5" name="笑脸 34"/>
            <p:cNvSpPr/>
            <p:nvPr/>
          </p:nvSpPr>
          <p:spPr>
            <a:xfrm>
              <a:off x="3132138" y="4872038"/>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6" name="笑脸 35"/>
            <p:cNvSpPr/>
            <p:nvPr/>
          </p:nvSpPr>
          <p:spPr>
            <a:xfrm>
              <a:off x="3411538" y="4891088"/>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7" name="笑脸 36"/>
            <p:cNvSpPr/>
            <p:nvPr/>
          </p:nvSpPr>
          <p:spPr>
            <a:xfrm>
              <a:off x="3173413" y="5270500"/>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8" name="笑脸 37"/>
            <p:cNvSpPr/>
            <p:nvPr/>
          </p:nvSpPr>
          <p:spPr>
            <a:xfrm>
              <a:off x="4681538" y="5287963"/>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9" name="组合 38"/>
          <p:cNvGrpSpPr>
            <a:grpSpLocks/>
          </p:cNvGrpSpPr>
          <p:nvPr/>
        </p:nvGrpSpPr>
        <p:grpSpPr bwMode="auto">
          <a:xfrm>
            <a:off x="4879975" y="4065588"/>
            <a:ext cx="1943100" cy="2541587"/>
            <a:chOff x="3054350" y="3944938"/>
            <a:chExt cx="1943100" cy="2541587"/>
          </a:xfrm>
        </p:grpSpPr>
        <p:sp>
          <p:nvSpPr>
            <p:cNvPr id="40" name="椭圆 39"/>
            <p:cNvSpPr/>
            <p:nvPr/>
          </p:nvSpPr>
          <p:spPr bwMode="auto">
            <a:xfrm>
              <a:off x="3054350" y="3944938"/>
              <a:ext cx="1943100" cy="25415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FF0000"/>
                  </a:solidFill>
                </a:rPr>
                <a:t>职工</a:t>
              </a:r>
            </a:p>
          </p:txBody>
        </p:sp>
        <p:sp>
          <p:nvSpPr>
            <p:cNvPr id="41" name="笑脸 40"/>
            <p:cNvSpPr/>
            <p:nvPr/>
          </p:nvSpPr>
          <p:spPr>
            <a:xfrm>
              <a:off x="3779838" y="405447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2" name="笑脸 41"/>
            <p:cNvSpPr/>
            <p:nvPr/>
          </p:nvSpPr>
          <p:spPr>
            <a:xfrm>
              <a:off x="4059238" y="407352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3" name="笑脸 42"/>
            <p:cNvSpPr/>
            <p:nvPr/>
          </p:nvSpPr>
          <p:spPr>
            <a:xfrm>
              <a:off x="3348038" y="429577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4" name="笑脸 43"/>
            <p:cNvSpPr/>
            <p:nvPr/>
          </p:nvSpPr>
          <p:spPr>
            <a:xfrm>
              <a:off x="3470275" y="5889625"/>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5" name="笑脸 44"/>
            <p:cNvSpPr/>
            <p:nvPr/>
          </p:nvSpPr>
          <p:spPr>
            <a:xfrm>
              <a:off x="3716338" y="609917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6" name="笑脸 45"/>
            <p:cNvSpPr/>
            <p:nvPr/>
          </p:nvSpPr>
          <p:spPr>
            <a:xfrm>
              <a:off x="4376738" y="432117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7" name="笑脸 46"/>
            <p:cNvSpPr/>
            <p:nvPr/>
          </p:nvSpPr>
          <p:spPr>
            <a:xfrm>
              <a:off x="4160838" y="5638800"/>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8" name="笑脸 47"/>
            <p:cNvSpPr/>
            <p:nvPr/>
          </p:nvSpPr>
          <p:spPr>
            <a:xfrm>
              <a:off x="4448175" y="5867400"/>
              <a:ext cx="246063" cy="266700"/>
            </a:xfrm>
            <a:prstGeom prst="smileyFac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9" name="笑脸 48"/>
            <p:cNvSpPr/>
            <p:nvPr/>
          </p:nvSpPr>
          <p:spPr>
            <a:xfrm>
              <a:off x="3254375" y="5638800"/>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0" name="笑脸 49"/>
            <p:cNvSpPr/>
            <p:nvPr/>
          </p:nvSpPr>
          <p:spPr>
            <a:xfrm>
              <a:off x="3779838" y="5595938"/>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 name="笑脸 50"/>
            <p:cNvSpPr/>
            <p:nvPr/>
          </p:nvSpPr>
          <p:spPr>
            <a:xfrm>
              <a:off x="4084638" y="6099175"/>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 name="笑脸 51"/>
            <p:cNvSpPr/>
            <p:nvPr/>
          </p:nvSpPr>
          <p:spPr>
            <a:xfrm>
              <a:off x="4652963" y="5600700"/>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 name="笑脸 52"/>
            <p:cNvSpPr/>
            <p:nvPr/>
          </p:nvSpPr>
          <p:spPr>
            <a:xfrm>
              <a:off x="4254500" y="4630738"/>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笑脸 53"/>
            <p:cNvSpPr/>
            <p:nvPr/>
          </p:nvSpPr>
          <p:spPr>
            <a:xfrm>
              <a:off x="4533900" y="4649788"/>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5" name="笑脸 54"/>
            <p:cNvSpPr/>
            <p:nvPr/>
          </p:nvSpPr>
          <p:spPr>
            <a:xfrm>
              <a:off x="3470275" y="5334000"/>
              <a:ext cx="246063" cy="266700"/>
            </a:xfrm>
            <a:prstGeom prst="smileyFac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6" name="笑脸 55"/>
            <p:cNvSpPr/>
            <p:nvPr/>
          </p:nvSpPr>
          <p:spPr>
            <a:xfrm>
              <a:off x="3810000" y="4384675"/>
              <a:ext cx="246063" cy="266700"/>
            </a:xfrm>
            <a:prstGeom prst="smileyFac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7" name="笑脸 56"/>
            <p:cNvSpPr/>
            <p:nvPr/>
          </p:nvSpPr>
          <p:spPr>
            <a:xfrm>
              <a:off x="4406900" y="4943475"/>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8" name="笑脸 57"/>
            <p:cNvSpPr/>
            <p:nvPr/>
          </p:nvSpPr>
          <p:spPr>
            <a:xfrm>
              <a:off x="4686300" y="4962525"/>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9" name="笑脸 58"/>
            <p:cNvSpPr/>
            <p:nvPr/>
          </p:nvSpPr>
          <p:spPr>
            <a:xfrm>
              <a:off x="3563938" y="4630738"/>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0" name="笑脸 59"/>
            <p:cNvSpPr/>
            <p:nvPr/>
          </p:nvSpPr>
          <p:spPr>
            <a:xfrm>
              <a:off x="4295775" y="5351463"/>
              <a:ext cx="246063"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1" name="笑脸 60"/>
            <p:cNvSpPr/>
            <p:nvPr/>
          </p:nvSpPr>
          <p:spPr>
            <a:xfrm>
              <a:off x="3132138" y="4872038"/>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笑脸 61"/>
            <p:cNvSpPr/>
            <p:nvPr/>
          </p:nvSpPr>
          <p:spPr>
            <a:xfrm>
              <a:off x="3411538" y="4891088"/>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3" name="笑脸 62"/>
            <p:cNvSpPr/>
            <p:nvPr/>
          </p:nvSpPr>
          <p:spPr>
            <a:xfrm>
              <a:off x="3173413" y="5270500"/>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4" name="笑脸 63"/>
            <p:cNvSpPr/>
            <p:nvPr/>
          </p:nvSpPr>
          <p:spPr>
            <a:xfrm>
              <a:off x="4681538" y="5287963"/>
              <a:ext cx="246062" cy="266700"/>
            </a:xfrm>
            <a:prstGeom prst="smileyFace">
              <a:avLst/>
            </a:prstGeom>
            <a:solidFill>
              <a:srgbClr val="FFA14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05"/>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 calcmode="lin" valueType="num">
                                      <p:cBhvr>
                                        <p:cTn id="9" dur="500" fill="hold"/>
                                        <p:tgtEl>
                                          <p:spTgt spid="2"/>
                                        </p:tgtEl>
                                        <p:attrNameLst>
                                          <p:attrName>ppt_x</p:attrName>
                                        </p:attrNameLst>
                                      </p:cBhvr>
                                      <p:tavLst>
                                        <p:tav tm="0">
                                          <p:val>
                                            <p:strVal val="#ppt_x-.2"/>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animEffect transition="in" filter="fade">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additive="base">
                                        <p:cTn id="22" dur="500" fill="hold"/>
                                        <p:tgtEl>
                                          <p:spTgt spid="39"/>
                                        </p:tgtEl>
                                        <p:attrNameLst>
                                          <p:attrName>ppt_x</p:attrName>
                                        </p:attrNameLst>
                                      </p:cBhvr>
                                      <p:tavLst>
                                        <p:tav tm="0">
                                          <p:val>
                                            <p:strVal val="#ppt_x"/>
                                          </p:val>
                                        </p:tav>
                                        <p:tav tm="100000">
                                          <p:val>
                                            <p:strVal val="#ppt_x"/>
                                          </p:val>
                                        </p:tav>
                                      </p:tavLst>
                                    </p:anim>
                                    <p:anim calcmode="lin" valueType="num">
                                      <p:cBhvr additive="base">
                                        <p:cTn id="23"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033C6BF1-56FC-489E-9356-3CC87A42F30A}" type="slidenum">
              <a:rPr lang="en-US" altLang="zh-CN" smtClean="0"/>
              <a:pPr algn="l" eaLnBrk="1" hangingPunct="1"/>
              <a:t>45</a:t>
            </a:fld>
            <a:endParaRPr lang="en-US" altLang="zh-CN" smtClean="0"/>
          </a:p>
        </p:txBody>
      </p:sp>
      <p:sp>
        <p:nvSpPr>
          <p:cNvPr id="59395" name="Rectangle 2"/>
          <p:cNvSpPr>
            <a:spLocks noGrp="1" noChangeArrowheads="1"/>
          </p:cNvSpPr>
          <p:nvPr>
            <p:ph type="title"/>
          </p:nvPr>
        </p:nvSpPr>
        <p:spPr>
          <a:xfrm>
            <a:off x="381000" y="115888"/>
            <a:ext cx="8382000" cy="914400"/>
          </a:xfrm>
        </p:spPr>
        <p:txBody>
          <a:bodyPr/>
          <a:lstStyle/>
          <a:p>
            <a:pPr eaLnBrk="1" hangingPunct="1"/>
            <a:r>
              <a:rPr lang="zh-CN" altLang="en-US" b="1" smtClean="0"/>
              <a:t>一个实例</a:t>
            </a:r>
          </a:p>
        </p:txBody>
      </p:sp>
      <p:sp>
        <p:nvSpPr>
          <p:cNvPr id="59396" name="Rectangle 3"/>
          <p:cNvSpPr>
            <a:spLocks noGrp="1" noChangeArrowheads="1"/>
          </p:cNvSpPr>
          <p:nvPr>
            <p:ph type="body" idx="1"/>
          </p:nvPr>
        </p:nvSpPr>
        <p:spPr>
          <a:xfrm>
            <a:off x="323850" y="1196975"/>
            <a:ext cx="8367713" cy="4425950"/>
          </a:xfrm>
        </p:spPr>
        <p:txBody>
          <a:bodyPr/>
          <a:lstStyle/>
          <a:p>
            <a:pPr eaLnBrk="1" hangingPunct="1">
              <a:lnSpc>
                <a:spcPct val="120000"/>
              </a:lnSpc>
              <a:buFont typeface="Wingdings" pitchFamily="2" charset="2"/>
              <a:buNone/>
            </a:pPr>
            <a:r>
              <a:rPr lang="zh-CN" altLang="en-US" sz="2600" b="1" smtClean="0">
                <a:latin typeface="楷体_GB2312" pitchFamily="49" charset="-122"/>
                <a:ea typeface="楷体_GB2312" pitchFamily="49" charset="-122"/>
              </a:rPr>
              <a:t>用</a:t>
            </a:r>
            <a:r>
              <a:rPr lang="en-US" altLang="zh-CN" sz="2600" b="1" smtClean="0">
                <a:ea typeface="楷体_GB2312" pitchFamily="49" charset="-122"/>
              </a:rPr>
              <a:t>E-R</a:t>
            </a:r>
            <a:r>
              <a:rPr lang="zh-CN" altLang="en-US" sz="2600" b="1" smtClean="0">
                <a:latin typeface="楷体_GB2312" pitchFamily="49" charset="-122"/>
                <a:ea typeface="楷体_GB2312" pitchFamily="49" charset="-122"/>
              </a:rPr>
              <a:t>图表示某个工厂物资管理的概念模型</a:t>
            </a:r>
          </a:p>
          <a:p>
            <a:pPr eaLnBrk="1" hangingPunct="1">
              <a:lnSpc>
                <a:spcPct val="120000"/>
              </a:lnSpc>
            </a:pPr>
            <a:r>
              <a:rPr lang="zh-CN" altLang="en-US" sz="2600" b="1" smtClean="0">
                <a:latin typeface="楷体_GB2312" pitchFamily="49" charset="-122"/>
                <a:ea typeface="楷体_GB2312" pitchFamily="49" charset="-122"/>
              </a:rPr>
              <a:t>实体</a:t>
            </a:r>
          </a:p>
          <a:p>
            <a:pPr lvl="1" eaLnBrk="1" hangingPunct="1">
              <a:lnSpc>
                <a:spcPct val="120000"/>
              </a:lnSpc>
            </a:pPr>
            <a:r>
              <a:rPr lang="zh-CN" altLang="en-US" sz="2600" b="1" smtClean="0">
                <a:latin typeface="楷体_GB2312" pitchFamily="49" charset="-122"/>
                <a:ea typeface="楷体_GB2312" pitchFamily="49" charset="-122"/>
              </a:rPr>
              <a:t>零件 ：零件号、名称、规格、单价、描述</a:t>
            </a:r>
          </a:p>
          <a:p>
            <a:pPr lvl="1" eaLnBrk="1" hangingPunct="1">
              <a:lnSpc>
                <a:spcPct val="120000"/>
              </a:lnSpc>
            </a:pPr>
            <a:r>
              <a:rPr lang="zh-CN" altLang="en-US" sz="2600" b="1" smtClean="0">
                <a:latin typeface="楷体_GB2312" pitchFamily="49" charset="-122"/>
                <a:ea typeface="楷体_GB2312" pitchFamily="49" charset="-122"/>
              </a:rPr>
              <a:t>供应商：供应商号、姓名、地址、电话号码、帐号</a:t>
            </a:r>
          </a:p>
          <a:p>
            <a:pPr lvl="1" eaLnBrk="1" hangingPunct="1">
              <a:lnSpc>
                <a:spcPct val="120000"/>
              </a:lnSpc>
            </a:pPr>
            <a:r>
              <a:rPr lang="zh-CN" altLang="en-US" sz="2600" b="1" smtClean="0">
                <a:latin typeface="楷体_GB2312" pitchFamily="49" charset="-122"/>
                <a:ea typeface="楷体_GB2312" pitchFamily="49" charset="-122"/>
              </a:rPr>
              <a:t>项目：项目号、预算、开工日期</a:t>
            </a:r>
          </a:p>
          <a:p>
            <a:pPr lvl="1" eaLnBrk="1" hangingPunct="1">
              <a:lnSpc>
                <a:spcPct val="120000"/>
              </a:lnSpc>
            </a:pPr>
            <a:r>
              <a:rPr lang="zh-CN" altLang="en-US" sz="2600" b="1" smtClean="0">
                <a:latin typeface="楷体_GB2312" pitchFamily="49" charset="-122"/>
                <a:ea typeface="楷体_GB2312" pitchFamily="49" charset="-122"/>
              </a:rPr>
              <a:t>职工：职工号、姓名、年龄、职称</a:t>
            </a:r>
            <a:endParaRPr lang="en-US" altLang="zh-CN" sz="2600" b="1" smtClean="0">
              <a:latin typeface="楷体_GB2312" pitchFamily="49" charset="-122"/>
              <a:ea typeface="楷体_GB2312" pitchFamily="49" charset="-122"/>
            </a:endParaRPr>
          </a:p>
          <a:p>
            <a:pPr lvl="1" eaLnBrk="1" hangingPunct="1">
              <a:lnSpc>
                <a:spcPct val="120000"/>
              </a:lnSpc>
            </a:pPr>
            <a:r>
              <a:rPr lang="zh-CN" altLang="en-US" sz="2600" b="1" smtClean="0">
                <a:latin typeface="楷体_GB2312" pitchFamily="49" charset="-122"/>
                <a:ea typeface="楷体_GB2312" pitchFamily="49" charset="-122"/>
              </a:rPr>
              <a:t>仓库： 仓库号、面积、电话号码</a:t>
            </a:r>
          </a:p>
        </p:txBody>
      </p:sp>
    </p:spTree>
  </p:cSld>
  <p:clrMapOvr>
    <a:masterClrMapping/>
  </p:clrMapOvr>
  <p:transition advClick="0"/>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F3994FBA-ED8E-44B8-98F9-087E8FED9CD0}" type="slidenum">
              <a:rPr lang="en-US" altLang="zh-CN" smtClean="0"/>
              <a:pPr algn="l" eaLnBrk="1" hangingPunct="1"/>
              <a:t>46</a:t>
            </a:fld>
            <a:endParaRPr lang="en-US" altLang="zh-CN" smtClean="0"/>
          </a:p>
        </p:txBody>
      </p:sp>
      <p:sp>
        <p:nvSpPr>
          <p:cNvPr id="60419" name="Rectangle 2"/>
          <p:cNvSpPr>
            <a:spLocks noGrp="1" noChangeArrowheads="1"/>
          </p:cNvSpPr>
          <p:nvPr>
            <p:ph type="title"/>
          </p:nvPr>
        </p:nvSpPr>
        <p:spPr>
          <a:xfrm>
            <a:off x="381000" y="115888"/>
            <a:ext cx="8382000" cy="914400"/>
          </a:xfrm>
        </p:spPr>
        <p:txBody>
          <a:bodyPr/>
          <a:lstStyle/>
          <a:p>
            <a:pPr eaLnBrk="1" hangingPunct="1"/>
            <a:r>
              <a:rPr lang="zh-CN" altLang="en-US" b="1" smtClean="0"/>
              <a:t>一个实例</a:t>
            </a:r>
          </a:p>
        </p:txBody>
      </p:sp>
      <p:sp>
        <p:nvSpPr>
          <p:cNvPr id="50180" name="Rectangle 3"/>
          <p:cNvSpPr>
            <a:spLocks noGrp="1" noChangeArrowheads="1"/>
          </p:cNvSpPr>
          <p:nvPr>
            <p:ph type="body" idx="1"/>
          </p:nvPr>
        </p:nvSpPr>
        <p:spPr>
          <a:xfrm>
            <a:off x="0" y="1143000"/>
            <a:ext cx="9144000" cy="5143500"/>
          </a:xfrm>
        </p:spPr>
        <p:txBody>
          <a:bodyPr/>
          <a:lstStyle/>
          <a:p>
            <a:pPr eaLnBrk="1" hangingPunct="1">
              <a:lnSpc>
                <a:spcPct val="110000"/>
              </a:lnSpc>
            </a:pPr>
            <a:r>
              <a:rPr lang="zh-CN" altLang="en-US" sz="2400" b="1" smtClean="0">
                <a:latin typeface="楷体_GB2312" pitchFamily="49" charset="-122"/>
                <a:ea typeface="楷体_GB2312" pitchFamily="49" charset="-122"/>
              </a:rPr>
              <a:t>实体之间的联系如下： </a:t>
            </a:r>
            <a:endParaRPr lang="en-US" altLang="zh-CN" sz="2400" b="1" smtClean="0">
              <a:latin typeface="楷体_GB2312" pitchFamily="49" charset="-122"/>
              <a:ea typeface="楷体_GB2312" pitchFamily="49" charset="-122"/>
            </a:endParaRPr>
          </a:p>
          <a:p>
            <a:pPr eaLnBrk="1" hangingPunct="1">
              <a:lnSpc>
                <a:spcPct val="110000"/>
              </a:lnSpc>
              <a:buFont typeface="Wingdings" pitchFamily="2" charset="2"/>
              <a:buNone/>
            </a:pPr>
            <a:r>
              <a:rPr lang="en-US" altLang="zh-CN" sz="2400" b="1" smtClean="0">
                <a:latin typeface="楷体_GB2312" pitchFamily="49" charset="-122"/>
                <a:ea typeface="楷体_GB2312" pitchFamily="49" charset="-122"/>
              </a:rPr>
              <a:t>(1)</a:t>
            </a:r>
            <a:r>
              <a:rPr lang="zh-CN" altLang="en-US" sz="2400" b="1" smtClean="0">
                <a:latin typeface="楷体_GB2312" pitchFamily="49" charset="-122"/>
                <a:ea typeface="楷体_GB2312" pitchFamily="49" charset="-122"/>
              </a:rPr>
              <a:t>供应商、项目和零件三者之间具有多对多的联系。</a:t>
            </a:r>
            <a:endParaRPr lang="en-US" altLang="zh-CN" sz="2400" b="1" smtClean="0">
              <a:latin typeface="楷体_GB2312" pitchFamily="49" charset="-122"/>
              <a:ea typeface="楷体_GB2312" pitchFamily="49" charset="-122"/>
            </a:endParaRPr>
          </a:p>
          <a:p>
            <a:pPr lvl="1" eaLnBrk="1" hangingPunct="1">
              <a:lnSpc>
                <a:spcPct val="110000"/>
              </a:lnSpc>
              <a:buFont typeface="Wingdings" pitchFamily="2" charset="2"/>
              <a:buChar char="ü"/>
            </a:pPr>
            <a:r>
              <a:rPr lang="zh-CN" altLang="en-US" sz="2000" b="1" smtClean="0">
                <a:latin typeface="楷体_GB2312" pitchFamily="49" charset="-122"/>
                <a:ea typeface="楷体_GB2312" pitchFamily="49" charset="-122"/>
              </a:rPr>
              <a:t>用供应量来表示某供应商供应的某种零件的数量。</a:t>
            </a:r>
          </a:p>
          <a:p>
            <a:pPr eaLnBrk="1" hangingPunct="1">
              <a:lnSpc>
                <a:spcPct val="110000"/>
              </a:lnSpc>
              <a:buFont typeface="Wingdings" pitchFamily="2" charset="2"/>
              <a:buNone/>
            </a:pPr>
            <a:r>
              <a:rPr lang="en-US" altLang="zh-CN" sz="2400" b="1" smtClean="0">
                <a:latin typeface="楷体_GB2312" pitchFamily="49" charset="-122"/>
                <a:ea typeface="楷体_GB2312" pitchFamily="49" charset="-122"/>
              </a:rPr>
              <a:t>(2)</a:t>
            </a:r>
            <a:r>
              <a:rPr lang="zh-CN" altLang="en-US" sz="2400" b="1" smtClean="0">
                <a:latin typeface="楷体_GB2312" pitchFamily="49" charset="-122"/>
                <a:ea typeface="楷体_GB2312" pitchFamily="49" charset="-122"/>
              </a:rPr>
              <a:t>一个仓库可以存放多种零件，一种零件可以存放在多个仓库中。</a:t>
            </a:r>
            <a:endParaRPr lang="en-US" altLang="zh-CN" sz="2400" b="1" smtClean="0">
              <a:latin typeface="楷体_GB2312" pitchFamily="49" charset="-122"/>
              <a:ea typeface="楷体_GB2312" pitchFamily="49" charset="-122"/>
            </a:endParaRPr>
          </a:p>
          <a:p>
            <a:pPr lvl="1" eaLnBrk="1" hangingPunct="1">
              <a:lnSpc>
                <a:spcPct val="110000"/>
              </a:lnSpc>
              <a:buFont typeface="Wingdings" pitchFamily="2" charset="2"/>
              <a:buChar char="ü"/>
            </a:pPr>
            <a:r>
              <a:rPr lang="zh-CN" altLang="en-US" sz="2000" b="1" smtClean="0">
                <a:latin typeface="楷体_GB2312" pitchFamily="49" charset="-122"/>
                <a:ea typeface="楷体_GB2312" pitchFamily="49" charset="-122"/>
              </a:rPr>
              <a:t>仓库和零件具有多对多的联系。用库存量来表示某种零件在某个仓库中的数量。</a:t>
            </a:r>
          </a:p>
          <a:p>
            <a:pPr eaLnBrk="1" hangingPunct="1">
              <a:lnSpc>
                <a:spcPct val="110000"/>
              </a:lnSpc>
              <a:buFont typeface="Wingdings" pitchFamily="2" charset="2"/>
              <a:buNone/>
            </a:pPr>
            <a:r>
              <a:rPr lang="en-US" altLang="zh-CN" sz="2400" b="1" smtClean="0">
                <a:latin typeface="楷体_GB2312" pitchFamily="49" charset="-122"/>
                <a:ea typeface="楷体_GB2312" pitchFamily="49" charset="-122"/>
              </a:rPr>
              <a:t> (3)</a:t>
            </a:r>
            <a:r>
              <a:rPr lang="zh-CN" altLang="en-US" sz="2400" b="1" smtClean="0">
                <a:latin typeface="楷体_GB2312" pitchFamily="49" charset="-122"/>
                <a:ea typeface="楷体_GB2312" pitchFamily="49" charset="-122"/>
              </a:rPr>
              <a:t>一个仓库有多个职工当仓库保管员，一个职工只能在一个仓库工作。</a:t>
            </a:r>
            <a:endParaRPr lang="en-US" altLang="zh-CN" sz="2400" b="1" smtClean="0">
              <a:latin typeface="楷体_GB2312" pitchFamily="49" charset="-122"/>
              <a:ea typeface="楷体_GB2312" pitchFamily="49" charset="-122"/>
            </a:endParaRPr>
          </a:p>
          <a:p>
            <a:pPr lvl="1" eaLnBrk="1" hangingPunct="1">
              <a:lnSpc>
                <a:spcPct val="110000"/>
              </a:lnSpc>
              <a:buFont typeface="Wingdings" pitchFamily="2" charset="2"/>
              <a:buChar char="ü"/>
            </a:pPr>
            <a:r>
              <a:rPr lang="zh-CN" altLang="en-US" sz="2000" b="1" smtClean="0">
                <a:latin typeface="楷体_GB2312" pitchFamily="49" charset="-122"/>
                <a:ea typeface="楷体_GB2312" pitchFamily="49" charset="-122"/>
              </a:rPr>
              <a:t>仓库和职工之间是一对多的联系。职工实体型中具有一对多的联系 </a:t>
            </a:r>
          </a:p>
          <a:p>
            <a:pPr eaLnBrk="1" hangingPunct="1">
              <a:lnSpc>
                <a:spcPct val="110000"/>
              </a:lnSpc>
              <a:buFont typeface="Wingdings" pitchFamily="2" charset="2"/>
              <a:buNone/>
            </a:pPr>
            <a:r>
              <a:rPr lang="en-US" altLang="zh-CN" sz="2400" b="1" smtClean="0">
                <a:latin typeface="楷体_GB2312" pitchFamily="49" charset="-122"/>
                <a:ea typeface="楷体_GB2312" pitchFamily="49" charset="-122"/>
              </a:rPr>
              <a:t> (4)</a:t>
            </a:r>
            <a:r>
              <a:rPr lang="zh-CN" altLang="en-US" sz="2400" b="1" smtClean="0">
                <a:latin typeface="楷体_GB2312" pitchFamily="49" charset="-122"/>
                <a:ea typeface="楷体_GB2312" pitchFamily="49" charset="-122"/>
              </a:rPr>
              <a:t>职工之间具有领导</a:t>
            </a:r>
            <a:r>
              <a:rPr lang="en-US" altLang="zh-CN" sz="2400" b="1" smtClean="0">
                <a:latin typeface="楷体_GB2312" pitchFamily="49" charset="-122"/>
                <a:ea typeface="楷体_GB2312" pitchFamily="49" charset="-122"/>
              </a:rPr>
              <a:t>-</a:t>
            </a:r>
            <a:r>
              <a:rPr lang="zh-CN" altLang="en-US" sz="2400" b="1" smtClean="0">
                <a:latin typeface="楷体_GB2312" pitchFamily="49" charset="-122"/>
                <a:ea typeface="楷体_GB2312" pitchFamily="49" charset="-122"/>
              </a:rPr>
              <a:t>被领导关系。</a:t>
            </a:r>
            <a:endParaRPr lang="en-US" altLang="zh-CN" sz="2400" b="1" smtClean="0">
              <a:latin typeface="楷体_GB2312" pitchFamily="49" charset="-122"/>
              <a:ea typeface="楷体_GB2312" pitchFamily="49" charset="-122"/>
            </a:endParaRPr>
          </a:p>
          <a:p>
            <a:pPr lvl="1" eaLnBrk="1" hangingPunct="1">
              <a:lnSpc>
                <a:spcPct val="110000"/>
              </a:lnSpc>
              <a:buFont typeface="Wingdings" pitchFamily="2" charset="2"/>
              <a:buChar char="ü"/>
            </a:pPr>
            <a:r>
              <a:rPr lang="zh-CN" altLang="en-US" sz="2000" b="1" smtClean="0">
                <a:latin typeface="楷体_GB2312" pitchFamily="49" charset="-122"/>
                <a:ea typeface="楷体_GB2312" pitchFamily="49" charset="-122"/>
              </a:rPr>
              <a:t>即仓库主任领导若干保管员。</a:t>
            </a:r>
          </a:p>
          <a:p>
            <a:pPr eaLnBrk="1" hangingPunct="1">
              <a:lnSpc>
                <a:spcPct val="110000"/>
              </a:lnSpc>
              <a:buFont typeface="Wingdings" pitchFamily="2" charset="2"/>
              <a:buNone/>
            </a:pPr>
            <a:r>
              <a:rPr lang="en-US" altLang="zh-CN" sz="2400" b="1" smtClean="0">
                <a:latin typeface="楷体_GB2312" pitchFamily="49" charset="-122"/>
                <a:ea typeface="楷体_GB2312" pitchFamily="49" charset="-122"/>
              </a:rPr>
              <a:t> </a:t>
            </a:r>
            <a:endParaRPr lang="zh-CN" altLang="en-US" sz="2400" b="1" smtClean="0">
              <a:latin typeface="楷体_GB2312" pitchFamily="49" charset="-122"/>
              <a:ea typeface="楷体_GB2312" pitchFamily="49"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0180">
                                            <p:txEl>
                                              <p:pRg st="0" end="0"/>
                                            </p:txEl>
                                          </p:spTgt>
                                        </p:tgtEl>
                                        <p:attrNameLst>
                                          <p:attrName>style.visibility</p:attrName>
                                        </p:attrNameLst>
                                      </p:cBhvr>
                                      <p:to>
                                        <p:strVal val="visible"/>
                                      </p:to>
                                    </p:set>
                                    <p:anim calcmode="lin" valueType="num">
                                      <p:cBhvr additive="base">
                                        <p:cTn id="7" dur="500" fill="hold"/>
                                        <p:tgtEl>
                                          <p:spTgt spid="501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0180">
                                            <p:txEl>
                                              <p:pRg st="1" end="1"/>
                                            </p:txEl>
                                          </p:spTgt>
                                        </p:tgtEl>
                                        <p:attrNameLst>
                                          <p:attrName>style.visibility</p:attrName>
                                        </p:attrNameLst>
                                      </p:cBhvr>
                                      <p:to>
                                        <p:strVal val="visible"/>
                                      </p:to>
                                    </p:set>
                                    <p:anim calcmode="lin" valueType="num">
                                      <p:cBhvr additive="base">
                                        <p:cTn id="13" dur="500" fill="hold"/>
                                        <p:tgtEl>
                                          <p:spTgt spid="5018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18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0180">
                                            <p:txEl>
                                              <p:pRg st="2" end="2"/>
                                            </p:txEl>
                                          </p:spTgt>
                                        </p:tgtEl>
                                        <p:attrNameLst>
                                          <p:attrName>style.visibility</p:attrName>
                                        </p:attrNameLst>
                                      </p:cBhvr>
                                      <p:to>
                                        <p:strVal val="visible"/>
                                      </p:to>
                                    </p:set>
                                    <p:anim calcmode="lin" valueType="num">
                                      <p:cBhvr additive="base">
                                        <p:cTn id="19" dur="500" fill="hold"/>
                                        <p:tgtEl>
                                          <p:spTgt spid="5018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18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0180">
                                            <p:txEl>
                                              <p:pRg st="3" end="3"/>
                                            </p:txEl>
                                          </p:spTgt>
                                        </p:tgtEl>
                                        <p:attrNameLst>
                                          <p:attrName>style.visibility</p:attrName>
                                        </p:attrNameLst>
                                      </p:cBhvr>
                                      <p:to>
                                        <p:strVal val="visible"/>
                                      </p:to>
                                    </p:set>
                                    <p:anim calcmode="lin" valueType="num">
                                      <p:cBhvr additive="base">
                                        <p:cTn id="25" dur="500" fill="hold"/>
                                        <p:tgtEl>
                                          <p:spTgt spid="5018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018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0180">
                                            <p:txEl>
                                              <p:pRg st="4" end="4"/>
                                            </p:txEl>
                                          </p:spTgt>
                                        </p:tgtEl>
                                        <p:attrNameLst>
                                          <p:attrName>style.visibility</p:attrName>
                                        </p:attrNameLst>
                                      </p:cBhvr>
                                      <p:to>
                                        <p:strVal val="visible"/>
                                      </p:to>
                                    </p:set>
                                    <p:anim calcmode="lin" valueType="num">
                                      <p:cBhvr additive="base">
                                        <p:cTn id="31" dur="500" fill="hold"/>
                                        <p:tgtEl>
                                          <p:spTgt spid="5018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018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50180">
                                            <p:txEl>
                                              <p:pRg st="5" end="5"/>
                                            </p:txEl>
                                          </p:spTgt>
                                        </p:tgtEl>
                                        <p:attrNameLst>
                                          <p:attrName>style.visibility</p:attrName>
                                        </p:attrNameLst>
                                      </p:cBhvr>
                                      <p:to>
                                        <p:strVal val="visible"/>
                                      </p:to>
                                    </p:set>
                                    <p:anim calcmode="lin" valueType="num">
                                      <p:cBhvr additive="base">
                                        <p:cTn id="37" dur="500" fill="hold"/>
                                        <p:tgtEl>
                                          <p:spTgt spid="5018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018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50180">
                                            <p:txEl>
                                              <p:pRg st="6" end="6"/>
                                            </p:txEl>
                                          </p:spTgt>
                                        </p:tgtEl>
                                        <p:attrNameLst>
                                          <p:attrName>style.visibility</p:attrName>
                                        </p:attrNameLst>
                                      </p:cBhvr>
                                      <p:to>
                                        <p:strVal val="visible"/>
                                      </p:to>
                                    </p:set>
                                    <p:anim calcmode="lin" valueType="num">
                                      <p:cBhvr additive="base">
                                        <p:cTn id="43" dur="500" fill="hold"/>
                                        <p:tgtEl>
                                          <p:spTgt spid="5018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018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50180">
                                            <p:txEl>
                                              <p:pRg st="7" end="7"/>
                                            </p:txEl>
                                          </p:spTgt>
                                        </p:tgtEl>
                                        <p:attrNameLst>
                                          <p:attrName>style.visibility</p:attrName>
                                        </p:attrNameLst>
                                      </p:cBhvr>
                                      <p:to>
                                        <p:strVal val="visible"/>
                                      </p:to>
                                    </p:set>
                                    <p:anim calcmode="lin" valueType="num">
                                      <p:cBhvr additive="base">
                                        <p:cTn id="49" dur="500" fill="hold"/>
                                        <p:tgtEl>
                                          <p:spTgt spid="50180">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018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50180">
                                            <p:txEl>
                                              <p:pRg st="8" end="8"/>
                                            </p:txEl>
                                          </p:spTgt>
                                        </p:tgtEl>
                                        <p:attrNameLst>
                                          <p:attrName>style.visibility</p:attrName>
                                        </p:attrNameLst>
                                      </p:cBhvr>
                                      <p:to>
                                        <p:strVal val="visible"/>
                                      </p:to>
                                    </p:set>
                                    <p:anim calcmode="lin" valueType="num">
                                      <p:cBhvr additive="base">
                                        <p:cTn id="55" dur="500" fill="hold"/>
                                        <p:tgtEl>
                                          <p:spTgt spid="50180">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0180">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3230FE90-0F64-420B-9BA9-EB98AC2C9A9C}" type="slidenum">
              <a:rPr lang="en-US" altLang="zh-CN" smtClean="0"/>
              <a:pPr algn="l" eaLnBrk="1" hangingPunct="1"/>
              <a:t>47</a:t>
            </a:fld>
            <a:endParaRPr lang="en-US" altLang="zh-CN" smtClean="0"/>
          </a:p>
        </p:txBody>
      </p:sp>
      <p:sp>
        <p:nvSpPr>
          <p:cNvPr id="61443" name="Rectangle 2"/>
          <p:cNvSpPr>
            <a:spLocks noGrp="1" noChangeArrowheads="1"/>
          </p:cNvSpPr>
          <p:nvPr>
            <p:ph type="title"/>
          </p:nvPr>
        </p:nvSpPr>
        <p:spPr>
          <a:xfrm>
            <a:off x="381000" y="214313"/>
            <a:ext cx="8382000" cy="700087"/>
          </a:xfrm>
        </p:spPr>
        <p:txBody>
          <a:bodyPr/>
          <a:lstStyle/>
          <a:p>
            <a:pPr eaLnBrk="1" hangingPunct="1"/>
            <a:r>
              <a:rPr lang="zh-CN" altLang="en-US" b="1" smtClean="0"/>
              <a:t>一个实例</a:t>
            </a:r>
          </a:p>
        </p:txBody>
      </p:sp>
      <p:pic>
        <p:nvPicPr>
          <p:cNvPr id="51204" name="Picture 4" descr="实例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 y="908050"/>
            <a:ext cx="9124950" cy="580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blinds(horizontal)">
                                      <p:cBhvr>
                                        <p:cTn id="7" dur="5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1"/>
          <p:cNvSpPr>
            <a:spLocks noChangeArrowheads="1"/>
          </p:cNvSpPr>
          <p:nvPr/>
        </p:nvSpPr>
        <p:spPr bwMode="auto">
          <a:xfrm>
            <a:off x="111125" y="1196975"/>
            <a:ext cx="8929688" cy="4327525"/>
          </a:xfrm>
          <a:prstGeom prst="rect">
            <a:avLst/>
          </a:prstGeom>
          <a:noFill/>
          <a:ln w="9525">
            <a:noFill/>
            <a:miter lim="800000"/>
            <a:headEnd/>
            <a:tailEnd/>
          </a:ln>
        </p:spPr>
        <p:txBody>
          <a:bodyPr>
            <a:spAutoFit/>
          </a:bodyPr>
          <a:lstStyle/>
          <a:p>
            <a:pPr>
              <a:lnSpc>
                <a:spcPct val="125000"/>
              </a:lnSpc>
              <a:buClr>
                <a:schemeClr val="accent6"/>
              </a:buClr>
              <a:buFont typeface="Wingdings" pitchFamily="2" charset="2"/>
              <a:buChar char="n"/>
              <a:defRPr/>
            </a:pPr>
            <a:r>
              <a:rPr lang="zh-CN" altLang="zh-CN" sz="2800" b="1" dirty="0">
                <a:latin typeface="楷体_GB2312" pitchFamily="49" charset="-122"/>
                <a:ea typeface="楷体_GB2312" pitchFamily="49" charset="-122"/>
              </a:rPr>
              <a:t>某学校的运动会中设置了各类比赛，每一</a:t>
            </a:r>
            <a:r>
              <a:rPr lang="zh-CN" altLang="zh-CN" sz="2800" b="1" dirty="0">
                <a:solidFill>
                  <a:srgbClr val="FF0000"/>
                </a:solidFill>
                <a:latin typeface="楷体_GB2312" pitchFamily="49" charset="-122"/>
                <a:ea typeface="楷体_GB2312" pitchFamily="49" charset="-122"/>
              </a:rPr>
              <a:t>比赛类别</a:t>
            </a:r>
            <a:r>
              <a:rPr lang="zh-CN" altLang="zh-CN" sz="2800" b="1" dirty="0">
                <a:latin typeface="楷体_GB2312" pitchFamily="49" charset="-122"/>
                <a:ea typeface="楷体_GB2312" pitchFamily="49" charset="-122"/>
              </a:rPr>
              <a:t>有类别编号、类别名称和主管等属性，每一比赛类别包含很多比赛项目；每一</a:t>
            </a:r>
            <a:r>
              <a:rPr lang="zh-CN" altLang="zh-CN" sz="2800" b="1" dirty="0">
                <a:solidFill>
                  <a:srgbClr val="FF0000"/>
                </a:solidFill>
                <a:latin typeface="楷体_GB2312" pitchFamily="49" charset="-122"/>
                <a:ea typeface="楷体_GB2312" pitchFamily="49" charset="-122"/>
              </a:rPr>
              <a:t>比赛项目</a:t>
            </a:r>
            <a:r>
              <a:rPr lang="zh-CN" altLang="zh-CN" sz="2800" b="1" dirty="0">
                <a:latin typeface="楷体_GB2312" pitchFamily="49" charset="-122"/>
                <a:ea typeface="楷体_GB2312" pitchFamily="49" charset="-122"/>
              </a:rPr>
              <a:t>有项目编号、项目名称、比赛时间和级别等属性；各个</a:t>
            </a:r>
            <a:r>
              <a:rPr lang="zh-CN" altLang="zh-CN" sz="2800" b="1" dirty="0">
                <a:solidFill>
                  <a:srgbClr val="FF0000"/>
                </a:solidFill>
                <a:latin typeface="楷体_GB2312" pitchFamily="49" charset="-122"/>
                <a:ea typeface="楷体_GB2312" pitchFamily="49" charset="-122"/>
              </a:rPr>
              <a:t>院团队</a:t>
            </a:r>
            <a:r>
              <a:rPr lang="zh-CN" altLang="zh-CN" sz="2800" b="1" dirty="0">
                <a:latin typeface="楷体_GB2312" pitchFamily="49" charset="-122"/>
                <a:ea typeface="楷体_GB2312" pitchFamily="49" charset="-122"/>
              </a:rPr>
              <a:t>有团编号、团名称、领队等属性，每一代表团有多名运动员组成，</a:t>
            </a:r>
            <a:r>
              <a:rPr lang="zh-CN" altLang="zh-CN" sz="2800" b="1" dirty="0">
                <a:solidFill>
                  <a:srgbClr val="FF0000"/>
                </a:solidFill>
                <a:latin typeface="楷体_GB2312" pitchFamily="49" charset="-122"/>
                <a:ea typeface="楷体_GB2312" pitchFamily="49" charset="-122"/>
              </a:rPr>
              <a:t>运动员</a:t>
            </a:r>
            <a:r>
              <a:rPr lang="zh-CN" altLang="zh-CN" sz="2800" b="1" dirty="0">
                <a:latin typeface="楷体_GB2312" pitchFamily="49" charset="-122"/>
                <a:ea typeface="楷体_GB2312" pitchFamily="49" charset="-122"/>
              </a:rPr>
              <a:t>有编号，姓名，年龄，性别等属性；每一名运动员可以参加多个比赛项目，每一比赛项目也有多名运动员参加，运动员参加比赛会有成绩。</a:t>
            </a:r>
          </a:p>
        </p:txBody>
      </p:sp>
      <p:sp>
        <p:nvSpPr>
          <p:cNvPr id="62467" name="标题 1"/>
          <p:cNvSpPr txBox="1">
            <a:spLocks/>
          </p:cNvSpPr>
          <p:nvPr/>
        </p:nvSpPr>
        <p:spPr bwMode="auto">
          <a:xfrm>
            <a:off x="571500" y="214313"/>
            <a:ext cx="8001000"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r>
              <a:rPr lang="zh-CN" altLang="en-US" sz="3800" b="1">
                <a:solidFill>
                  <a:srgbClr val="FF0000"/>
                </a:solidFill>
              </a:rPr>
              <a:t>提问：</a:t>
            </a:r>
          </a:p>
        </p:txBody>
      </p:sp>
    </p:spTree>
  </p:cSld>
  <p:clrMapOvr>
    <a:masterClrMapping/>
  </p:clrMapOvr>
  <p:transition advClick="0"/>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b="1" smtClean="0">
                <a:solidFill>
                  <a:srgbClr val="FF0000"/>
                </a:solidFill>
              </a:rPr>
              <a:t>课后题：</a:t>
            </a:r>
          </a:p>
        </p:txBody>
      </p:sp>
      <p:sp>
        <p:nvSpPr>
          <p:cNvPr id="56323" name="内容占位符 2"/>
          <p:cNvSpPr>
            <a:spLocks noGrp="1"/>
          </p:cNvSpPr>
          <p:nvPr>
            <p:ph idx="1"/>
          </p:nvPr>
        </p:nvSpPr>
        <p:spPr>
          <a:xfrm>
            <a:off x="566738" y="1143000"/>
            <a:ext cx="8001000" cy="5072063"/>
          </a:xfrm>
        </p:spPr>
        <p:txBody>
          <a:bodyPr/>
          <a:lstStyle/>
          <a:p>
            <a:pPr>
              <a:defRPr/>
            </a:pPr>
            <a:r>
              <a:rPr lang="zh-CN" altLang="en-US" sz="2800" b="1" dirty="0" smtClean="0"/>
              <a:t>设某商业集团数据库中有三个实体集： </a:t>
            </a:r>
          </a:p>
          <a:p>
            <a:pPr marL="0" indent="0">
              <a:buFont typeface="Wingdings" pitchFamily="2" charset="2"/>
              <a:buNone/>
              <a:defRPr/>
            </a:pPr>
            <a:r>
              <a:rPr lang="zh-CN" altLang="en-US" sz="2800" b="1" dirty="0" smtClean="0"/>
              <a:t>商店：商店编号、商店名、地址</a:t>
            </a:r>
            <a:r>
              <a:rPr lang="en-US" altLang="zh-CN" sz="2800" b="1" dirty="0" smtClean="0"/>
              <a:t>; </a:t>
            </a:r>
          </a:p>
          <a:p>
            <a:pPr marL="0" indent="0">
              <a:buFont typeface="Wingdings" pitchFamily="2" charset="2"/>
              <a:buNone/>
              <a:defRPr/>
            </a:pPr>
            <a:r>
              <a:rPr lang="zh-CN" altLang="en-US" sz="2800" b="1" dirty="0" smtClean="0"/>
              <a:t>商品：商品编号、商品名、规格、单价 </a:t>
            </a:r>
            <a:r>
              <a:rPr lang="en-US" altLang="zh-CN" sz="2800" b="1" dirty="0" smtClean="0"/>
              <a:t>;</a:t>
            </a:r>
          </a:p>
          <a:p>
            <a:pPr marL="0" indent="0">
              <a:buFont typeface="Wingdings" pitchFamily="2" charset="2"/>
              <a:buNone/>
              <a:defRPr/>
            </a:pPr>
            <a:r>
              <a:rPr lang="zh-CN" altLang="en-US" sz="2800" b="1" dirty="0" smtClean="0"/>
              <a:t>职工：职工编号、姓名、性别、业绩</a:t>
            </a:r>
            <a:r>
              <a:rPr lang="en-US" altLang="zh-CN" sz="2800" b="1" dirty="0" smtClean="0"/>
              <a:t>; </a:t>
            </a:r>
          </a:p>
          <a:p>
            <a:pPr marL="0" indent="0">
              <a:buFont typeface="Wingdings" pitchFamily="2" charset="2"/>
              <a:buNone/>
              <a:defRPr/>
            </a:pPr>
            <a:r>
              <a:rPr lang="zh-CN" altLang="en-US" sz="2800" b="1" dirty="0" smtClean="0"/>
              <a:t>每个商店可销售多种商品，每种商品也可放在多个商店销售，每个商店销售商品时有月销售量；每个商店有许多职工，每个职工只能在一个商店工作，商店聘用职工有聘期和月薪。</a:t>
            </a:r>
          </a:p>
          <a:p>
            <a:pPr marL="0" indent="0">
              <a:buFont typeface="Wingdings" pitchFamily="2" charset="2"/>
              <a:buNone/>
              <a:defRPr/>
            </a:pPr>
            <a:r>
              <a:rPr lang="en-US" altLang="zh-CN" sz="2800" b="1" dirty="0" smtClean="0"/>
              <a:t>1</a:t>
            </a:r>
            <a:r>
              <a:rPr lang="zh-CN" altLang="en-US" sz="2800" b="1" dirty="0" smtClean="0"/>
              <a:t>、试画出</a:t>
            </a:r>
            <a:r>
              <a:rPr lang="en-US" altLang="zh-CN" sz="2800" b="1" dirty="0" smtClean="0"/>
              <a:t>E-R</a:t>
            </a:r>
            <a:r>
              <a:rPr lang="zh-CN" altLang="en-US" sz="2800" b="1" dirty="0" smtClean="0"/>
              <a:t>图，要求在图上注明属性及联系的类型</a:t>
            </a:r>
          </a:p>
        </p:txBody>
      </p:sp>
      <p:sp>
        <p:nvSpPr>
          <p:cNvPr id="63492"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C195545C-4A09-4240-AE7C-4D416AF6BAB8}" type="slidenum">
              <a:rPr lang="en-US" altLang="zh-CN" smtClean="0"/>
              <a:pPr algn="l" eaLnBrk="1" hangingPunct="1"/>
              <a:t>49</a:t>
            </a:fld>
            <a:endParaRPr lang="en-US" altLang="zh-CN" smtClean="0"/>
          </a:p>
        </p:txBody>
      </p:sp>
    </p:spTree>
  </p:cSld>
  <p:clrMapOvr>
    <a:masterClrMapping/>
  </p:clrMapOvr>
  <p:transition advClick="0"/>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C6011EB6-8488-4E81-8B39-5EDC2EEF5E25}" type="slidenum">
              <a:rPr lang="en-US" altLang="zh-CN" smtClean="0"/>
              <a:pPr algn="l" eaLnBrk="1" hangingPunct="1"/>
              <a:t>50</a:t>
            </a:fld>
            <a:endParaRPr lang="en-US" altLang="zh-CN" smtClean="0"/>
          </a:p>
        </p:txBody>
      </p:sp>
      <p:sp>
        <p:nvSpPr>
          <p:cNvPr id="24579" name="Rectangle 2"/>
          <p:cNvSpPr>
            <a:spLocks noGrp="1" noChangeArrowheads="1"/>
          </p:cNvSpPr>
          <p:nvPr>
            <p:ph type="title"/>
          </p:nvPr>
        </p:nvSpPr>
        <p:spPr>
          <a:xfrm>
            <a:off x="381000" y="115888"/>
            <a:ext cx="8382000" cy="914400"/>
          </a:xfrm>
        </p:spPr>
        <p:txBody>
          <a:bodyPr/>
          <a:lstStyle/>
          <a:p>
            <a:pPr eaLnBrk="1" hangingPunct="1"/>
            <a:r>
              <a:rPr lang="en-US" altLang="zh-CN" sz="3600" b="1" dirty="0" smtClean="0"/>
              <a:t>1.1.2 </a:t>
            </a:r>
            <a:r>
              <a:rPr lang="zh-CN" altLang="en-US" sz="3600" b="1" dirty="0" smtClean="0"/>
              <a:t>数据管理技术的产生和发展（续）</a:t>
            </a:r>
            <a:endParaRPr lang="zh-CN" altLang="en-US" sz="3600" b="1" dirty="0" smtClean="0"/>
          </a:p>
        </p:txBody>
      </p:sp>
      <p:sp>
        <p:nvSpPr>
          <p:cNvPr id="24580" name="Rectangle 3"/>
          <p:cNvSpPr>
            <a:spLocks noGrp="1" noChangeArrowheads="1"/>
          </p:cNvSpPr>
          <p:nvPr>
            <p:ph type="body" idx="1"/>
          </p:nvPr>
        </p:nvSpPr>
        <p:spPr>
          <a:xfrm>
            <a:off x="381000" y="1196975"/>
            <a:ext cx="8367713" cy="4137025"/>
          </a:xfrm>
        </p:spPr>
        <p:txBody>
          <a:bodyPr/>
          <a:lstStyle/>
          <a:p>
            <a:pPr eaLnBrk="1" hangingPunct="1"/>
            <a:r>
              <a:rPr lang="zh-CN" altLang="en-US" b="1" dirty="0" smtClean="0"/>
              <a:t>数据库系统的</a:t>
            </a:r>
            <a:r>
              <a:rPr lang="zh-CN" altLang="en-US" b="1" dirty="0" smtClean="0">
                <a:latin typeface="楷体_GB2312" pitchFamily="49" charset="-122"/>
                <a:ea typeface="楷体_GB2312" pitchFamily="49" charset="-122"/>
              </a:rPr>
              <a:t>特点</a:t>
            </a:r>
          </a:p>
          <a:p>
            <a:pPr marL="984250" lvl="1" indent="-514350" eaLnBrk="1" hangingPunct="1">
              <a:buFont typeface="宋体" pitchFamily="2" charset="-122"/>
              <a:buAutoNum type="circleNumDbPlain"/>
            </a:pPr>
            <a:r>
              <a:rPr lang="zh-CN" altLang="en-US" b="1" dirty="0" smtClean="0">
                <a:latin typeface="楷体_GB2312" pitchFamily="49" charset="-122"/>
                <a:ea typeface="楷体_GB2312" pitchFamily="49" charset="-122"/>
              </a:rPr>
              <a:t>数据的结构化：整体结构化	</a:t>
            </a:r>
          </a:p>
          <a:p>
            <a:pPr marL="984250" lvl="1" indent="-514350" eaLnBrk="1" hangingPunct="1">
              <a:buFont typeface="宋体" pitchFamily="2" charset="-122"/>
              <a:buAutoNum type="circleNumDbPlain"/>
            </a:pPr>
            <a:r>
              <a:rPr lang="zh-CN" altLang="en-US" b="1" dirty="0" smtClean="0">
                <a:latin typeface="楷体_GB2312" pitchFamily="49" charset="-122"/>
                <a:ea typeface="楷体_GB2312" pitchFamily="49" charset="-122"/>
              </a:rPr>
              <a:t>数据</a:t>
            </a:r>
            <a:r>
              <a:rPr lang="zh-CN" altLang="en-US" b="1" dirty="0" smtClean="0">
                <a:latin typeface="楷体_GB2312" pitchFamily="49" charset="-122"/>
                <a:ea typeface="楷体_GB2312" pitchFamily="49" charset="-122"/>
              </a:rPr>
              <a:t>的共享程度：共享性高，冗余度低	</a:t>
            </a:r>
          </a:p>
          <a:p>
            <a:pPr marL="984250" lvl="1" indent="-514350" eaLnBrk="1" hangingPunct="1">
              <a:buFont typeface="宋体" pitchFamily="2" charset="-122"/>
              <a:buAutoNum type="circleNumDbPlain"/>
            </a:pPr>
            <a:r>
              <a:rPr lang="zh-CN" altLang="en-US" b="1" dirty="0" smtClean="0">
                <a:latin typeface="楷体_GB2312" pitchFamily="49" charset="-122"/>
                <a:ea typeface="楷体_GB2312" pitchFamily="49" charset="-122"/>
              </a:rPr>
              <a:t>数据的独立性：高度的物理独立性和一定的               逻辑独立性	</a:t>
            </a:r>
          </a:p>
          <a:p>
            <a:pPr marL="984250" lvl="1" indent="-514350" eaLnBrk="1" hangingPunct="1">
              <a:buFont typeface="宋体" pitchFamily="2" charset="-122"/>
              <a:buAutoNum type="circleNumDbPlain"/>
            </a:pPr>
            <a:r>
              <a:rPr lang="zh-CN" altLang="en-US" b="1" dirty="0" smtClean="0">
                <a:latin typeface="楷体_GB2312" pitchFamily="49" charset="-122"/>
                <a:ea typeface="楷体_GB2312" pitchFamily="49" charset="-122"/>
              </a:rPr>
              <a:t>数据控制能力：由</a:t>
            </a:r>
            <a:r>
              <a:rPr lang="en-US" altLang="zh-CN" b="1" dirty="0" smtClean="0">
                <a:latin typeface="楷体_GB2312" pitchFamily="49" charset="-122"/>
                <a:ea typeface="楷体_GB2312" pitchFamily="49" charset="-122"/>
              </a:rPr>
              <a:t>DBMS</a:t>
            </a:r>
            <a:r>
              <a:rPr lang="zh-CN" altLang="en-US" b="1" dirty="0" smtClean="0">
                <a:latin typeface="楷体_GB2312" pitchFamily="49" charset="-122"/>
                <a:ea typeface="楷体_GB2312" pitchFamily="49" charset="-122"/>
              </a:rPr>
              <a:t>统一管理和控制</a:t>
            </a:r>
          </a:p>
        </p:txBody>
      </p:sp>
    </p:spTree>
    <p:extLst>
      <p:ext uri="{BB962C8B-B14F-4D97-AF65-F5344CB8AC3E}">
        <p14:creationId xmlns:p14="http://schemas.microsoft.com/office/powerpoint/2010/main" val="2226967298"/>
      </p:ext>
    </p:extLst>
  </p:cSld>
  <p:clrMapOvr>
    <a:masterClrMapping/>
  </p:clrMapOvr>
  <p:transition advClick="0"/>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A08F446A-F3E4-4D8A-A027-B48542E2F3D7}" type="slidenum">
              <a:rPr lang="en-US" altLang="zh-CN" smtClean="0"/>
              <a:pPr algn="l" eaLnBrk="1" hangingPunct="1"/>
              <a:t>51</a:t>
            </a:fld>
            <a:endParaRPr lang="en-US" altLang="zh-CN" smtClean="0"/>
          </a:p>
        </p:txBody>
      </p:sp>
      <p:sp>
        <p:nvSpPr>
          <p:cNvPr id="25603" name="Rectangle 2"/>
          <p:cNvSpPr>
            <a:spLocks noGrp="1" noChangeArrowheads="1"/>
          </p:cNvSpPr>
          <p:nvPr>
            <p:ph type="title"/>
          </p:nvPr>
        </p:nvSpPr>
        <p:spPr>
          <a:xfrm>
            <a:off x="381000" y="115888"/>
            <a:ext cx="8382000" cy="914400"/>
          </a:xfrm>
        </p:spPr>
        <p:txBody>
          <a:bodyPr/>
          <a:lstStyle/>
          <a:p>
            <a:pPr eaLnBrk="1" hangingPunct="1"/>
            <a:r>
              <a:rPr lang="zh-CN" altLang="en-US" b="1" dirty="0" smtClean="0"/>
              <a:t>（</a:t>
            </a:r>
            <a:r>
              <a:rPr lang="en-US" altLang="zh-CN" b="1" dirty="0" smtClean="0"/>
              <a:t>1</a:t>
            </a:r>
            <a:r>
              <a:rPr lang="zh-CN" altLang="en-US" b="1" dirty="0" smtClean="0"/>
              <a:t>）整体数据结构</a:t>
            </a:r>
            <a:r>
              <a:rPr lang="zh-CN" altLang="en-US" b="1" dirty="0" smtClean="0"/>
              <a:t>化</a:t>
            </a:r>
          </a:p>
        </p:txBody>
      </p:sp>
      <p:sp>
        <p:nvSpPr>
          <p:cNvPr id="25604" name="Rectangle 3"/>
          <p:cNvSpPr>
            <a:spLocks noGrp="1" noChangeArrowheads="1"/>
          </p:cNvSpPr>
          <p:nvPr>
            <p:ph type="body" idx="1"/>
          </p:nvPr>
        </p:nvSpPr>
        <p:spPr>
          <a:xfrm>
            <a:off x="0" y="1196975"/>
            <a:ext cx="8785225" cy="1231900"/>
          </a:xfrm>
        </p:spPr>
        <p:txBody>
          <a:bodyPr/>
          <a:lstStyle/>
          <a:p>
            <a:pPr eaLnBrk="1" hangingPunct="1">
              <a:lnSpc>
                <a:spcPct val="120000"/>
              </a:lnSpc>
            </a:pPr>
            <a:r>
              <a:rPr lang="zh-CN" altLang="en-US" sz="2800" b="1" smtClean="0">
                <a:solidFill>
                  <a:srgbClr val="FF0000"/>
                </a:solidFill>
                <a:ea typeface="楷体_GB2312" pitchFamily="49" charset="-122"/>
              </a:rPr>
              <a:t>整体数据的结构化</a:t>
            </a:r>
            <a:r>
              <a:rPr lang="zh-CN" altLang="en-US" sz="2800" b="1" smtClean="0">
                <a:ea typeface="楷体_GB2312" pitchFamily="49" charset="-122"/>
              </a:rPr>
              <a:t>是数据库的主要特征之一，也是数据库系统与文件系统的</a:t>
            </a:r>
            <a:r>
              <a:rPr lang="zh-CN" altLang="en-US" sz="2800" b="1" smtClean="0">
                <a:solidFill>
                  <a:srgbClr val="FF0000"/>
                </a:solidFill>
                <a:ea typeface="楷体_GB2312" pitchFamily="49" charset="-122"/>
              </a:rPr>
              <a:t>本质区别</a:t>
            </a:r>
            <a:r>
              <a:rPr lang="zh-CN" altLang="en-US" sz="2800" b="1" smtClean="0">
                <a:ea typeface="楷体_GB2312" pitchFamily="49" charset="-122"/>
              </a:rPr>
              <a:t>。</a:t>
            </a:r>
            <a:endParaRPr lang="zh-CN" altLang="en-US" b="1" smtClean="0">
              <a:ea typeface="楷体_GB2312" pitchFamily="49" charset="-122"/>
            </a:endParaRPr>
          </a:p>
        </p:txBody>
      </p:sp>
      <p:sp>
        <p:nvSpPr>
          <p:cNvPr id="871429" name="Rectangle 5"/>
          <p:cNvSpPr>
            <a:spLocks noChangeArrowheads="1"/>
          </p:cNvSpPr>
          <p:nvPr/>
        </p:nvSpPr>
        <p:spPr bwMode="auto">
          <a:xfrm>
            <a:off x="0" y="2357438"/>
            <a:ext cx="8929688" cy="4071937"/>
          </a:xfrm>
          <a:prstGeom prst="rect">
            <a:avLst/>
          </a:prstGeom>
          <a:noFill/>
          <a:ln w="9525">
            <a:noFill/>
            <a:miter lim="800000"/>
            <a:headEnd/>
            <a:tailEnd/>
          </a:ln>
        </p:spPr>
        <p:txBody>
          <a:bodyPr/>
          <a:lstStyle/>
          <a:p>
            <a:pPr marL="342900" indent="-342900">
              <a:lnSpc>
                <a:spcPct val="120000"/>
              </a:lnSpc>
              <a:buClr>
                <a:schemeClr val="accent6"/>
              </a:buClr>
              <a:buSzPct val="80000"/>
              <a:buFont typeface="Wingdings" pitchFamily="2" charset="2"/>
              <a:buChar char="n"/>
              <a:defRPr/>
            </a:pPr>
            <a:r>
              <a:rPr lang="zh-CN" altLang="en-US" sz="3200" b="1" dirty="0">
                <a:ea typeface="楷体_GB2312" pitchFamily="49" charset="-122"/>
              </a:rPr>
              <a:t>数据库中实现的是数据的</a:t>
            </a:r>
            <a:r>
              <a:rPr lang="zh-CN" altLang="en-US" sz="3200" b="1" dirty="0">
                <a:solidFill>
                  <a:srgbClr val="FF0000"/>
                </a:solidFill>
                <a:ea typeface="楷体_GB2312" pitchFamily="49" charset="-122"/>
              </a:rPr>
              <a:t>真正结构化</a:t>
            </a:r>
          </a:p>
          <a:p>
            <a:pPr marL="742950" lvl="1" indent="-285750">
              <a:lnSpc>
                <a:spcPct val="120000"/>
              </a:lnSpc>
              <a:buClr>
                <a:srgbClr val="996600"/>
              </a:buClr>
              <a:buSzPct val="75000"/>
              <a:buFont typeface="Wingdings" pitchFamily="2" charset="2"/>
              <a:buChar char="Ø"/>
              <a:defRPr/>
            </a:pPr>
            <a:r>
              <a:rPr lang="zh-CN" altLang="en-US" sz="2800" b="1" dirty="0">
                <a:ea typeface="楷体_GB2312" pitchFamily="49" charset="-122"/>
              </a:rPr>
              <a:t>不再针对某个应用，而是</a:t>
            </a:r>
            <a:r>
              <a:rPr lang="zh-CN" altLang="en-US" sz="2800" b="1" dirty="0">
                <a:solidFill>
                  <a:srgbClr val="FF0000"/>
                </a:solidFill>
                <a:ea typeface="楷体_GB2312" pitchFamily="49" charset="-122"/>
              </a:rPr>
              <a:t>面向全组织，全系统</a:t>
            </a:r>
            <a:endParaRPr lang="en-US" altLang="zh-CN" sz="2800" b="1" dirty="0">
              <a:solidFill>
                <a:srgbClr val="FF0000"/>
              </a:solidFill>
              <a:ea typeface="楷体_GB2312" pitchFamily="49" charset="-122"/>
            </a:endParaRPr>
          </a:p>
          <a:p>
            <a:pPr marL="742950" lvl="1" indent="-285750">
              <a:lnSpc>
                <a:spcPct val="120000"/>
              </a:lnSpc>
              <a:buClr>
                <a:srgbClr val="996600"/>
              </a:buClr>
              <a:buSzPct val="75000"/>
              <a:buFont typeface="Wingdings" pitchFamily="2" charset="2"/>
              <a:buChar char="Ø"/>
              <a:defRPr/>
            </a:pPr>
            <a:r>
              <a:rPr lang="zh-CN" altLang="en-US" sz="2800" b="1" dirty="0">
                <a:ea typeface="楷体_GB2312" pitchFamily="49" charset="-122"/>
              </a:rPr>
              <a:t>数据</a:t>
            </a:r>
            <a:r>
              <a:rPr lang="zh-CN" altLang="en-US" sz="2800" b="1" dirty="0">
                <a:solidFill>
                  <a:srgbClr val="FF0000"/>
                </a:solidFill>
                <a:ea typeface="楷体_GB2312" pitchFamily="49" charset="-122"/>
              </a:rPr>
              <a:t>内部</a:t>
            </a:r>
            <a:r>
              <a:rPr lang="zh-CN" altLang="en-US" sz="2800" b="1" dirty="0">
                <a:ea typeface="楷体_GB2312" pitchFamily="49" charset="-122"/>
              </a:rPr>
              <a:t>是结构化的，</a:t>
            </a:r>
            <a:r>
              <a:rPr lang="zh-CN" altLang="en-US" sz="2800" b="1" dirty="0">
                <a:solidFill>
                  <a:srgbClr val="FF0000"/>
                </a:solidFill>
                <a:ea typeface="楷体_GB2312" pitchFamily="49" charset="-122"/>
              </a:rPr>
              <a:t>整体</a:t>
            </a:r>
            <a:r>
              <a:rPr lang="zh-CN" altLang="en-US" sz="2800" b="1" dirty="0">
                <a:ea typeface="楷体_GB2312" pitchFamily="49" charset="-122"/>
              </a:rPr>
              <a:t>也是结构化的。</a:t>
            </a:r>
          </a:p>
          <a:p>
            <a:pPr marL="742950" lvl="1" indent="-285750">
              <a:lnSpc>
                <a:spcPct val="120000"/>
              </a:lnSpc>
              <a:buClr>
                <a:srgbClr val="996600"/>
              </a:buClr>
              <a:buSzPct val="75000"/>
              <a:buFont typeface="Wingdings" pitchFamily="2" charset="2"/>
              <a:buChar char="Ø"/>
              <a:defRPr/>
            </a:pPr>
            <a:r>
              <a:rPr lang="zh-CN" altLang="en-US" sz="2800" b="1" dirty="0">
                <a:ea typeface="楷体_GB2312" pitchFamily="49" charset="-122"/>
              </a:rPr>
              <a:t>不仅描述</a:t>
            </a:r>
            <a:r>
              <a:rPr lang="zh-CN" altLang="en-US" sz="2800" b="1" dirty="0">
                <a:solidFill>
                  <a:srgbClr val="FF0000"/>
                </a:solidFill>
                <a:ea typeface="楷体_GB2312" pitchFamily="49" charset="-122"/>
              </a:rPr>
              <a:t>数据本身</a:t>
            </a:r>
            <a:r>
              <a:rPr lang="zh-CN" altLang="en-US" sz="2800" b="1" dirty="0">
                <a:ea typeface="楷体_GB2312" pitchFamily="49" charset="-122"/>
              </a:rPr>
              <a:t>，也描述数据间的</a:t>
            </a:r>
            <a:r>
              <a:rPr lang="zh-CN" altLang="en-US" sz="2800" b="1" dirty="0">
                <a:solidFill>
                  <a:srgbClr val="FF0000"/>
                </a:solidFill>
                <a:ea typeface="楷体_GB2312" pitchFamily="49" charset="-122"/>
              </a:rPr>
              <a:t>联系</a:t>
            </a:r>
            <a:r>
              <a:rPr lang="zh-CN" altLang="en-US" sz="2800" b="1" dirty="0">
                <a:ea typeface="楷体_GB2312" pitchFamily="49" charset="-122"/>
              </a:rPr>
              <a:t>。</a:t>
            </a:r>
          </a:p>
          <a:p>
            <a:pPr marL="742950" lvl="1" indent="-285750">
              <a:lnSpc>
                <a:spcPct val="120000"/>
              </a:lnSpc>
              <a:buClr>
                <a:srgbClr val="996600"/>
              </a:buClr>
              <a:buSzPct val="75000"/>
              <a:buFont typeface="Wingdings" pitchFamily="2" charset="2"/>
              <a:buChar char="Ø"/>
              <a:defRPr/>
            </a:pPr>
            <a:r>
              <a:rPr lang="zh-CN" altLang="en-US" sz="2800" b="1" dirty="0">
                <a:ea typeface="楷体_GB2312" pitchFamily="49" charset="-122"/>
              </a:rPr>
              <a:t>数据的结构用</a:t>
            </a:r>
            <a:r>
              <a:rPr lang="zh-CN" altLang="en-US" sz="2800" b="1" dirty="0">
                <a:solidFill>
                  <a:srgbClr val="0000FF"/>
                </a:solidFill>
                <a:ea typeface="楷体_GB2312" pitchFamily="49" charset="-122"/>
              </a:rPr>
              <a:t>数据模型</a:t>
            </a:r>
            <a:r>
              <a:rPr lang="zh-CN" altLang="en-US" sz="2800" b="1" dirty="0">
                <a:ea typeface="楷体_GB2312" pitchFamily="49" charset="-122"/>
              </a:rPr>
              <a:t>描述，无需程序定义和解释。</a:t>
            </a:r>
          </a:p>
          <a:p>
            <a:pPr marL="742950" lvl="1" indent="-285750">
              <a:lnSpc>
                <a:spcPct val="120000"/>
              </a:lnSpc>
              <a:buClr>
                <a:srgbClr val="996600"/>
              </a:buClr>
              <a:buSzPct val="75000"/>
              <a:buFont typeface="Wingdings" pitchFamily="2" charset="2"/>
              <a:buChar char="Ø"/>
              <a:defRPr/>
            </a:pPr>
            <a:r>
              <a:rPr lang="zh-CN" altLang="en-US" sz="2800" b="1" dirty="0">
                <a:ea typeface="楷体_GB2312" pitchFamily="49" charset="-122"/>
              </a:rPr>
              <a:t>数据的最小存取单位是</a:t>
            </a:r>
            <a:r>
              <a:rPr lang="zh-CN" altLang="en-US" sz="2800" b="1" dirty="0">
                <a:solidFill>
                  <a:srgbClr val="0000FF"/>
                </a:solidFill>
                <a:ea typeface="楷体_GB2312" pitchFamily="49" charset="-122"/>
              </a:rPr>
              <a:t>数据项</a:t>
            </a:r>
            <a:r>
              <a:rPr lang="zh-CN" altLang="en-US" sz="2800" b="1" dirty="0">
                <a:ea typeface="楷体_GB2312" pitchFamily="49" charset="-122"/>
              </a:rPr>
              <a:t>。</a:t>
            </a:r>
            <a:endParaRPr lang="en-US" altLang="zh-CN" sz="2800" b="1" dirty="0">
              <a:ea typeface="楷体_GB2312" pitchFamily="49" charset="-122"/>
            </a:endParaRPr>
          </a:p>
          <a:p>
            <a:pPr marL="742950" lvl="1" indent="-285750">
              <a:lnSpc>
                <a:spcPct val="120000"/>
              </a:lnSpc>
              <a:buClr>
                <a:srgbClr val="996600"/>
              </a:buClr>
              <a:buSzPct val="75000"/>
              <a:buFont typeface="Wingdings" pitchFamily="2" charset="2"/>
              <a:buChar char="Ø"/>
              <a:defRPr/>
            </a:pPr>
            <a:r>
              <a:rPr lang="zh-CN" altLang="en-US" sz="2800" b="1" dirty="0">
                <a:ea typeface="楷体_GB2312" pitchFamily="49" charset="-122"/>
              </a:rPr>
              <a:t>文件系统中存取单位是</a:t>
            </a:r>
            <a:r>
              <a:rPr lang="zh-CN" altLang="en-US" sz="2800" b="1" dirty="0">
                <a:solidFill>
                  <a:srgbClr val="0000FF"/>
                </a:solidFill>
                <a:ea typeface="楷体_GB2312" pitchFamily="49" charset="-122"/>
              </a:rPr>
              <a:t>记录</a:t>
            </a:r>
            <a:r>
              <a:rPr lang="zh-CN" altLang="en-US" sz="2800" b="1" dirty="0">
                <a:ea typeface="楷体_GB2312" pitchFamily="49" charset="-122"/>
              </a:rPr>
              <a:t>。</a:t>
            </a:r>
          </a:p>
        </p:txBody>
      </p:sp>
    </p:spTree>
    <p:extLst>
      <p:ext uri="{BB962C8B-B14F-4D97-AF65-F5344CB8AC3E}">
        <p14:creationId xmlns:p14="http://schemas.microsoft.com/office/powerpoint/2010/main" val="1687380546"/>
      </p:ext>
    </p:extLst>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71429">
                                            <p:txEl>
                                              <p:pRg st="0" end="0"/>
                                            </p:txEl>
                                          </p:spTgt>
                                        </p:tgtEl>
                                        <p:attrNameLst>
                                          <p:attrName>style.visibility</p:attrName>
                                        </p:attrNameLst>
                                      </p:cBhvr>
                                      <p:to>
                                        <p:strVal val="visible"/>
                                      </p:to>
                                    </p:set>
                                    <p:animEffect transition="in" filter="blinds(horizontal)">
                                      <p:cBhvr>
                                        <p:cTn id="7" dur="500"/>
                                        <p:tgtEl>
                                          <p:spTgt spid="87142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71429">
                                            <p:txEl>
                                              <p:pRg st="1" end="1"/>
                                            </p:txEl>
                                          </p:spTgt>
                                        </p:tgtEl>
                                        <p:attrNameLst>
                                          <p:attrName>style.visibility</p:attrName>
                                        </p:attrNameLst>
                                      </p:cBhvr>
                                      <p:to>
                                        <p:strVal val="visible"/>
                                      </p:to>
                                    </p:set>
                                    <p:animEffect transition="in" filter="blinds(horizontal)">
                                      <p:cBhvr>
                                        <p:cTn id="10" dur="500"/>
                                        <p:tgtEl>
                                          <p:spTgt spid="87142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71429">
                                            <p:txEl>
                                              <p:pRg st="2" end="2"/>
                                            </p:txEl>
                                          </p:spTgt>
                                        </p:tgtEl>
                                        <p:attrNameLst>
                                          <p:attrName>style.visibility</p:attrName>
                                        </p:attrNameLst>
                                      </p:cBhvr>
                                      <p:to>
                                        <p:strVal val="visible"/>
                                      </p:to>
                                    </p:set>
                                    <p:animEffect transition="in" filter="blinds(horizontal)">
                                      <p:cBhvr>
                                        <p:cTn id="13" dur="500"/>
                                        <p:tgtEl>
                                          <p:spTgt spid="87142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71429">
                                            <p:txEl>
                                              <p:pRg st="3" end="3"/>
                                            </p:txEl>
                                          </p:spTgt>
                                        </p:tgtEl>
                                        <p:attrNameLst>
                                          <p:attrName>style.visibility</p:attrName>
                                        </p:attrNameLst>
                                      </p:cBhvr>
                                      <p:to>
                                        <p:strVal val="visible"/>
                                      </p:to>
                                    </p:set>
                                    <p:animEffect transition="in" filter="blinds(horizontal)">
                                      <p:cBhvr>
                                        <p:cTn id="16" dur="500"/>
                                        <p:tgtEl>
                                          <p:spTgt spid="871429">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871429">
                                            <p:txEl>
                                              <p:pRg st="4" end="4"/>
                                            </p:txEl>
                                          </p:spTgt>
                                        </p:tgtEl>
                                        <p:attrNameLst>
                                          <p:attrName>style.visibility</p:attrName>
                                        </p:attrNameLst>
                                      </p:cBhvr>
                                      <p:to>
                                        <p:strVal val="visible"/>
                                      </p:to>
                                    </p:set>
                                    <p:animEffect transition="in" filter="blinds(horizontal)">
                                      <p:cBhvr>
                                        <p:cTn id="19" dur="500"/>
                                        <p:tgtEl>
                                          <p:spTgt spid="871429">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871429">
                                            <p:txEl>
                                              <p:pRg st="5" end="5"/>
                                            </p:txEl>
                                          </p:spTgt>
                                        </p:tgtEl>
                                        <p:attrNameLst>
                                          <p:attrName>style.visibility</p:attrName>
                                        </p:attrNameLst>
                                      </p:cBhvr>
                                      <p:to>
                                        <p:strVal val="visible"/>
                                      </p:to>
                                    </p:set>
                                    <p:animEffect transition="in" filter="blinds(horizontal)">
                                      <p:cBhvr>
                                        <p:cTn id="22" dur="500"/>
                                        <p:tgtEl>
                                          <p:spTgt spid="871429">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871429">
                                            <p:txEl>
                                              <p:pRg st="6" end="6"/>
                                            </p:txEl>
                                          </p:spTgt>
                                        </p:tgtEl>
                                        <p:attrNameLst>
                                          <p:attrName>style.visibility</p:attrName>
                                        </p:attrNameLst>
                                      </p:cBhvr>
                                      <p:to>
                                        <p:strVal val="visible"/>
                                      </p:to>
                                    </p:set>
                                    <p:animEffect transition="in" filter="blinds(horizontal)">
                                      <p:cBhvr>
                                        <p:cTn id="25" dur="500"/>
                                        <p:tgtEl>
                                          <p:spTgt spid="87142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1429" grpId="0" build="allAtOnce"/>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57EEF606-23E2-4E14-9318-0149067CDF0E}" type="slidenum">
              <a:rPr lang="en-US" altLang="zh-CN" smtClean="0"/>
              <a:pPr algn="l" eaLnBrk="1" hangingPunct="1"/>
              <a:t>52</a:t>
            </a:fld>
            <a:endParaRPr lang="en-US" altLang="zh-CN" smtClean="0"/>
          </a:p>
        </p:txBody>
      </p:sp>
      <p:sp>
        <p:nvSpPr>
          <p:cNvPr id="26627" name="Rectangle 2"/>
          <p:cNvSpPr>
            <a:spLocks noGrp="1" noChangeArrowheads="1"/>
          </p:cNvSpPr>
          <p:nvPr>
            <p:ph type="title"/>
          </p:nvPr>
        </p:nvSpPr>
        <p:spPr>
          <a:xfrm>
            <a:off x="381000" y="115888"/>
            <a:ext cx="8382000" cy="914400"/>
          </a:xfrm>
        </p:spPr>
        <p:txBody>
          <a:bodyPr/>
          <a:lstStyle/>
          <a:p>
            <a:pPr eaLnBrk="1" hangingPunct="1"/>
            <a:r>
              <a:rPr lang="zh-CN" altLang="en-US" b="1" dirty="0" smtClean="0"/>
              <a:t>（</a:t>
            </a:r>
            <a:r>
              <a:rPr lang="en-US" altLang="zh-CN" b="1" dirty="0" smtClean="0"/>
              <a:t>1</a:t>
            </a:r>
            <a:r>
              <a:rPr lang="zh-CN" altLang="en-US" b="1" dirty="0" smtClean="0"/>
              <a:t>）整体数据结构</a:t>
            </a:r>
            <a:r>
              <a:rPr lang="zh-CN" altLang="en-US" b="1" dirty="0" smtClean="0"/>
              <a:t>化</a:t>
            </a:r>
          </a:p>
        </p:txBody>
      </p:sp>
      <p:sp>
        <p:nvSpPr>
          <p:cNvPr id="26628" name="Rectangle 3"/>
          <p:cNvSpPr>
            <a:spLocks noGrp="1" noChangeArrowheads="1"/>
          </p:cNvSpPr>
          <p:nvPr>
            <p:ph type="body" idx="1"/>
          </p:nvPr>
        </p:nvSpPr>
        <p:spPr>
          <a:xfrm>
            <a:off x="323850" y="1196975"/>
            <a:ext cx="8351838" cy="2663825"/>
          </a:xfrm>
        </p:spPr>
        <p:txBody>
          <a:bodyPr/>
          <a:lstStyle/>
          <a:p>
            <a:pPr eaLnBrk="1" hangingPunct="1">
              <a:lnSpc>
                <a:spcPct val="120000"/>
              </a:lnSpc>
              <a:buFont typeface="Wingdings" pitchFamily="2" charset="2"/>
              <a:buNone/>
            </a:pPr>
            <a:r>
              <a:rPr lang="zh-CN" altLang="en-US" sz="2800" b="1" smtClean="0">
                <a:solidFill>
                  <a:srgbClr val="FF0000"/>
                </a:solidFill>
                <a:ea typeface="楷体_GB2312" pitchFamily="49" charset="-122"/>
              </a:rPr>
              <a:t>例如，</a:t>
            </a:r>
            <a:r>
              <a:rPr lang="zh-CN" altLang="en-US" sz="2800" b="1" smtClean="0">
                <a:ea typeface="楷体_GB2312" pitchFamily="49" charset="-122"/>
              </a:rPr>
              <a:t>建立学生信息管理系统，系统包含的数据：</a:t>
            </a:r>
          </a:p>
          <a:p>
            <a:pPr eaLnBrk="1" hangingPunct="1">
              <a:lnSpc>
                <a:spcPct val="120000"/>
              </a:lnSpc>
              <a:buFont typeface="Wingdings" pitchFamily="2" charset="2"/>
              <a:buNone/>
            </a:pPr>
            <a:r>
              <a:rPr lang="zh-CN" altLang="en-US" sz="2600" b="1" smtClean="0">
                <a:ea typeface="楷体_GB2312" pitchFamily="49" charset="-122"/>
              </a:rPr>
              <a:t>学生文件：学生（学号、姓名、性别、系别、年龄）</a:t>
            </a:r>
          </a:p>
          <a:p>
            <a:pPr eaLnBrk="1" hangingPunct="1">
              <a:lnSpc>
                <a:spcPct val="120000"/>
              </a:lnSpc>
              <a:buFont typeface="Wingdings" pitchFamily="2" charset="2"/>
              <a:buNone/>
            </a:pPr>
            <a:r>
              <a:rPr lang="zh-CN" altLang="en-US" sz="2600" b="1" smtClean="0">
                <a:ea typeface="楷体_GB2312" pitchFamily="49" charset="-122"/>
              </a:rPr>
              <a:t>课程文件：课程（课程号、课程名）</a:t>
            </a:r>
          </a:p>
          <a:p>
            <a:pPr eaLnBrk="1" hangingPunct="1">
              <a:lnSpc>
                <a:spcPct val="120000"/>
              </a:lnSpc>
              <a:buFont typeface="Wingdings" pitchFamily="2" charset="2"/>
              <a:buNone/>
            </a:pPr>
            <a:r>
              <a:rPr lang="zh-CN" altLang="en-US" sz="2600" b="1" smtClean="0">
                <a:ea typeface="楷体_GB2312" pitchFamily="49" charset="-122"/>
              </a:rPr>
              <a:t>成绩文件：成绩（学号、课程号、成绩）</a:t>
            </a:r>
          </a:p>
        </p:txBody>
      </p:sp>
      <p:sp>
        <p:nvSpPr>
          <p:cNvPr id="1111047" name="Rectangle 7"/>
          <p:cNvSpPr>
            <a:spLocks noChangeArrowheads="1"/>
          </p:cNvSpPr>
          <p:nvPr/>
        </p:nvSpPr>
        <p:spPr bwMode="auto">
          <a:xfrm>
            <a:off x="250825" y="3860800"/>
            <a:ext cx="8497888"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20000"/>
              </a:spcBef>
              <a:buClr>
                <a:srgbClr val="669900"/>
              </a:buClr>
              <a:buSzPct val="75000"/>
              <a:buFont typeface="Wingdings" pitchFamily="2" charset="2"/>
              <a:buNone/>
            </a:pPr>
            <a:r>
              <a:rPr lang="zh-CN" altLang="en-US" sz="2600" b="1">
                <a:solidFill>
                  <a:srgbClr val="0000FF"/>
                </a:solidFill>
                <a:ea typeface="楷体_GB2312" pitchFamily="49" charset="-122"/>
              </a:rPr>
              <a:t>        其实</a:t>
            </a:r>
            <a:r>
              <a:rPr lang="en-US" altLang="zh-CN" sz="2600" b="1">
                <a:solidFill>
                  <a:srgbClr val="0000FF"/>
                </a:solidFill>
                <a:ea typeface="楷体_GB2312" pitchFamily="49" charset="-122"/>
              </a:rPr>
              <a:t>3</a:t>
            </a:r>
            <a:r>
              <a:rPr lang="zh-CN" altLang="en-US" sz="2600" b="1">
                <a:solidFill>
                  <a:srgbClr val="0000FF"/>
                </a:solidFill>
                <a:ea typeface="楷体_GB2312" pitchFamily="49" charset="-122"/>
              </a:rPr>
              <a:t>个文件的记录之间是有联系的，</a:t>
            </a:r>
            <a:r>
              <a:rPr lang="zh-CN" altLang="en-US" sz="2600" b="1">
                <a:ea typeface="楷体_GB2312" pitchFamily="49" charset="-122"/>
              </a:rPr>
              <a:t>成绩文件中的学号必须是成绩文件中某个学生的学号，成绩文件中选课的课程号必须是课程文件中某门课程的编号。</a:t>
            </a:r>
          </a:p>
        </p:txBody>
      </p:sp>
    </p:spTree>
    <p:extLst>
      <p:ext uri="{BB962C8B-B14F-4D97-AF65-F5344CB8AC3E}">
        <p14:creationId xmlns:p14="http://schemas.microsoft.com/office/powerpoint/2010/main" val="420334304"/>
      </p:ext>
    </p:extLst>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11047"/>
                                        </p:tgtEl>
                                        <p:attrNameLst>
                                          <p:attrName>style.visibility</p:attrName>
                                        </p:attrNameLst>
                                      </p:cBhvr>
                                      <p:to>
                                        <p:strVal val="visible"/>
                                      </p:to>
                                    </p:set>
                                    <p:animEffect transition="in" filter="checkerboard(across)">
                                      <p:cBhvr>
                                        <p:cTn id="7" dur="500"/>
                                        <p:tgtEl>
                                          <p:spTgt spid="11110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104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42875"/>
            <a:ext cx="8229600" cy="857250"/>
          </a:xfrm>
        </p:spPr>
        <p:txBody>
          <a:bodyPr/>
          <a:lstStyle/>
          <a:p>
            <a:pPr>
              <a:defRPr/>
            </a:pPr>
            <a:r>
              <a:rPr lang="zh-CN" altLang="en-US" b="1" dirty="0" smtClean="0">
                <a:latin typeface="+mn-ea"/>
                <a:ea typeface="+mn-ea"/>
              </a:rPr>
              <a:t>（</a:t>
            </a:r>
            <a:r>
              <a:rPr lang="en-US" altLang="zh-CN" b="1" dirty="0" smtClean="0">
                <a:latin typeface="+mn-ea"/>
                <a:ea typeface="+mn-ea"/>
              </a:rPr>
              <a:t>2</a:t>
            </a:r>
            <a:r>
              <a:rPr lang="zh-CN" altLang="en-US" b="1" dirty="0" smtClean="0">
                <a:latin typeface="+mn-ea"/>
                <a:ea typeface="+mn-ea"/>
              </a:rPr>
              <a:t>）共享性高</a:t>
            </a:r>
            <a:endParaRPr lang="zh-CN" altLang="en-US" b="1" dirty="0">
              <a:latin typeface="+mn-ea"/>
              <a:ea typeface="+mn-ea"/>
            </a:endParaRPr>
          </a:p>
        </p:txBody>
      </p:sp>
      <p:sp>
        <p:nvSpPr>
          <p:cNvPr id="27651" name="内容占位符 2"/>
          <p:cNvSpPr>
            <a:spLocks noGrp="1"/>
          </p:cNvSpPr>
          <p:nvPr>
            <p:ph idx="1"/>
          </p:nvPr>
        </p:nvSpPr>
        <p:spPr/>
        <p:txBody>
          <a:bodyPr/>
          <a:lstStyle/>
          <a:p>
            <a:r>
              <a:rPr lang="zh-CN" altLang="en-US" b="1" smtClean="0">
                <a:latin typeface="楷体_GB2312" pitchFamily="49" charset="-122"/>
                <a:ea typeface="楷体_GB2312" pitchFamily="49" charset="-122"/>
              </a:rPr>
              <a:t>数据面向整个系统，可以被多个用户、多个应用共享使用。 </a:t>
            </a:r>
            <a:endParaRPr lang="en-US" altLang="zh-CN" b="1" smtClean="0">
              <a:latin typeface="楷体_GB2312" pitchFamily="49" charset="-122"/>
              <a:ea typeface="楷体_GB2312" pitchFamily="49" charset="-122"/>
            </a:endParaRPr>
          </a:p>
          <a:p>
            <a:r>
              <a:rPr lang="zh-CN" altLang="en-US" b="1" smtClean="0">
                <a:latin typeface="楷体_GB2312" pitchFamily="49" charset="-122"/>
                <a:ea typeface="楷体_GB2312" pitchFamily="49" charset="-122"/>
              </a:rPr>
              <a:t>数据共享的好处 </a:t>
            </a:r>
            <a:endParaRPr lang="en-US" altLang="zh-CN" b="1" smtClean="0">
              <a:latin typeface="楷体_GB2312" pitchFamily="49" charset="-122"/>
              <a:ea typeface="楷体_GB2312" pitchFamily="49" charset="-122"/>
            </a:endParaRPr>
          </a:p>
          <a:p>
            <a:pPr lvl="1"/>
            <a:r>
              <a:rPr lang="zh-CN" altLang="en-US" b="1" smtClean="0">
                <a:latin typeface="楷体_GB2312" pitchFamily="49" charset="-122"/>
                <a:ea typeface="楷体_GB2312" pitchFamily="49" charset="-122"/>
              </a:rPr>
              <a:t>减少数据冗余</a:t>
            </a:r>
            <a:endParaRPr lang="en-US" altLang="zh-CN" b="1" smtClean="0">
              <a:latin typeface="楷体_GB2312" pitchFamily="49" charset="-122"/>
              <a:ea typeface="楷体_GB2312" pitchFamily="49" charset="-122"/>
            </a:endParaRPr>
          </a:p>
          <a:p>
            <a:pPr lvl="1"/>
            <a:r>
              <a:rPr lang="zh-CN" altLang="en-US" b="1" smtClean="0">
                <a:latin typeface="楷体_GB2312" pitchFamily="49" charset="-122"/>
                <a:ea typeface="楷体_GB2312" pitchFamily="49" charset="-122"/>
              </a:rPr>
              <a:t>节约存储空间 </a:t>
            </a:r>
            <a:endParaRPr lang="en-US" altLang="zh-CN" b="1" smtClean="0">
              <a:latin typeface="楷体_GB2312" pitchFamily="49" charset="-122"/>
              <a:ea typeface="楷体_GB2312" pitchFamily="49" charset="-122"/>
            </a:endParaRPr>
          </a:p>
          <a:p>
            <a:pPr lvl="1"/>
            <a:r>
              <a:rPr lang="zh-CN" altLang="en-US" b="1" smtClean="0">
                <a:latin typeface="楷体_GB2312" pitchFamily="49" charset="-122"/>
                <a:ea typeface="楷体_GB2312" pitchFamily="49" charset="-122"/>
              </a:rPr>
              <a:t>避免数据之间的不相容性与不一致性 </a:t>
            </a:r>
            <a:endParaRPr lang="en-US" altLang="zh-CN" b="1" smtClean="0">
              <a:latin typeface="楷体_GB2312" pitchFamily="49" charset="-122"/>
              <a:ea typeface="楷体_GB2312" pitchFamily="49" charset="-122"/>
            </a:endParaRPr>
          </a:p>
          <a:p>
            <a:pPr lvl="1"/>
            <a:r>
              <a:rPr lang="zh-CN" altLang="en-US" b="1" smtClean="0">
                <a:latin typeface="楷体_GB2312" pitchFamily="49" charset="-122"/>
                <a:ea typeface="楷体_GB2312" pitchFamily="49" charset="-122"/>
              </a:rPr>
              <a:t>使系统易于扩充，易于增加新的应用</a:t>
            </a:r>
          </a:p>
        </p:txBody>
      </p:sp>
      <p:sp>
        <p:nvSpPr>
          <p:cNvPr id="27652"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E3E38A0E-CFF1-4708-A017-1C8730FF2C2B}" type="slidenum">
              <a:rPr lang="en-US" altLang="zh-CN" smtClean="0"/>
              <a:pPr algn="l" eaLnBrk="1" hangingPunct="1"/>
              <a:t>53</a:t>
            </a:fld>
            <a:endParaRPr lang="en-US" altLang="zh-CN" smtClean="0"/>
          </a:p>
        </p:txBody>
      </p:sp>
    </p:spTree>
    <p:extLst>
      <p:ext uri="{BB962C8B-B14F-4D97-AF65-F5344CB8AC3E}">
        <p14:creationId xmlns:p14="http://schemas.microsoft.com/office/powerpoint/2010/main" val="1677605172"/>
      </p:ext>
    </p:extLst>
  </p:cSld>
  <p:clrMapOvr>
    <a:masterClrMapping/>
  </p:clrMapOvr>
  <p:transition advClick="0"/>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CA00BD7E-95D6-4295-8B48-33779555F81F}" type="slidenum">
              <a:rPr lang="en-US" altLang="zh-CN" smtClean="0"/>
              <a:pPr algn="l" eaLnBrk="1" hangingPunct="1"/>
              <a:t>54</a:t>
            </a:fld>
            <a:endParaRPr lang="en-US" altLang="zh-CN" smtClean="0"/>
          </a:p>
        </p:txBody>
      </p:sp>
      <p:sp>
        <p:nvSpPr>
          <p:cNvPr id="28675" name="Rectangle 2"/>
          <p:cNvSpPr>
            <a:spLocks noGrp="1" noChangeArrowheads="1"/>
          </p:cNvSpPr>
          <p:nvPr>
            <p:ph type="title"/>
          </p:nvPr>
        </p:nvSpPr>
        <p:spPr>
          <a:xfrm>
            <a:off x="381000" y="115888"/>
            <a:ext cx="8382000" cy="914400"/>
          </a:xfrm>
        </p:spPr>
        <p:txBody>
          <a:bodyPr/>
          <a:lstStyle/>
          <a:p>
            <a:pPr eaLnBrk="1" hangingPunct="1"/>
            <a:r>
              <a:rPr lang="zh-CN" altLang="en-US" b="1" dirty="0" smtClean="0"/>
              <a:t>（</a:t>
            </a:r>
            <a:r>
              <a:rPr lang="en-US" altLang="zh-CN" b="1" dirty="0" smtClean="0"/>
              <a:t>3</a:t>
            </a:r>
            <a:r>
              <a:rPr lang="zh-CN" altLang="en-US" b="1" dirty="0" smtClean="0"/>
              <a:t>）</a:t>
            </a:r>
            <a:r>
              <a:rPr lang="zh-CN" altLang="en-US" b="1" dirty="0" smtClean="0"/>
              <a:t>数据独立性高</a:t>
            </a:r>
            <a:endParaRPr lang="zh-CN" altLang="en-US" b="1" dirty="0" smtClean="0"/>
          </a:p>
        </p:txBody>
      </p:sp>
      <p:sp>
        <p:nvSpPr>
          <p:cNvPr id="28676" name="Rectangle 3"/>
          <p:cNvSpPr>
            <a:spLocks noGrp="1" noChangeArrowheads="1"/>
          </p:cNvSpPr>
          <p:nvPr>
            <p:ph type="body" idx="1"/>
          </p:nvPr>
        </p:nvSpPr>
        <p:spPr>
          <a:xfrm>
            <a:off x="179388" y="1196975"/>
            <a:ext cx="8640762" cy="5130800"/>
          </a:xfrm>
        </p:spPr>
        <p:txBody>
          <a:bodyPr/>
          <a:lstStyle/>
          <a:p>
            <a:pPr eaLnBrk="1" hangingPunct="1"/>
            <a:r>
              <a:rPr lang="zh-CN" altLang="en-US" sz="2800" b="1" dirty="0" smtClean="0">
                <a:solidFill>
                  <a:srgbClr val="0000FF"/>
                </a:solidFill>
                <a:latin typeface="楷体_GB2312" pitchFamily="49" charset="-122"/>
                <a:ea typeface="楷体_GB2312" pitchFamily="49" charset="-122"/>
              </a:rPr>
              <a:t>物理独立性   （注：放在</a:t>
            </a:r>
            <a:r>
              <a:rPr lang="en-US" altLang="zh-CN" sz="2800" b="1" dirty="0" smtClean="0">
                <a:solidFill>
                  <a:srgbClr val="0000FF"/>
                </a:solidFill>
                <a:latin typeface="楷体_GB2312" pitchFamily="49" charset="-122"/>
                <a:ea typeface="楷体_GB2312" pitchFamily="49" charset="-122"/>
              </a:rPr>
              <a:t>1.3</a:t>
            </a:r>
            <a:r>
              <a:rPr lang="zh-CN" altLang="en-US" sz="2800" b="1" dirty="0" smtClean="0">
                <a:solidFill>
                  <a:srgbClr val="0000FF"/>
                </a:solidFill>
                <a:latin typeface="楷体_GB2312" pitchFamily="49" charset="-122"/>
                <a:ea typeface="楷体_GB2312" pitchFamily="49" charset="-122"/>
              </a:rPr>
              <a:t>节讲解）</a:t>
            </a:r>
          </a:p>
          <a:p>
            <a:pPr lvl="1" eaLnBrk="1" hangingPunct="1"/>
            <a:r>
              <a:rPr lang="zh-CN" altLang="en-US" b="1" dirty="0" smtClean="0">
                <a:latin typeface="楷体_GB2312" pitchFamily="49" charset="-122"/>
                <a:ea typeface="楷体_GB2312" pitchFamily="49" charset="-122"/>
              </a:rPr>
              <a:t>指用户的应用程序与存储在磁盘上的数据库中数据是相互独立的。当数据的</a:t>
            </a:r>
            <a:r>
              <a:rPr lang="zh-CN" altLang="en-US" b="1" dirty="0" smtClean="0">
                <a:solidFill>
                  <a:srgbClr val="0000FF"/>
                </a:solidFill>
                <a:latin typeface="楷体_GB2312" pitchFamily="49" charset="-122"/>
                <a:ea typeface="楷体_GB2312" pitchFamily="49" charset="-122"/>
              </a:rPr>
              <a:t>物理存储</a:t>
            </a:r>
            <a:r>
              <a:rPr lang="zh-CN" altLang="en-US" b="1" dirty="0" smtClean="0">
                <a:latin typeface="楷体_GB2312" pitchFamily="49" charset="-122"/>
                <a:ea typeface="楷体_GB2312" pitchFamily="49" charset="-122"/>
              </a:rPr>
              <a:t>改变了，应用程序</a:t>
            </a:r>
            <a:r>
              <a:rPr lang="zh-CN" altLang="en-US" b="1" dirty="0" smtClean="0">
                <a:solidFill>
                  <a:srgbClr val="FF0000"/>
                </a:solidFill>
                <a:latin typeface="楷体_GB2312" pitchFamily="49" charset="-122"/>
                <a:ea typeface="楷体_GB2312" pitchFamily="49" charset="-122"/>
              </a:rPr>
              <a:t>不用改变</a:t>
            </a:r>
            <a:r>
              <a:rPr lang="zh-CN" altLang="en-US" b="1" dirty="0" smtClean="0">
                <a:latin typeface="楷体_GB2312" pitchFamily="49" charset="-122"/>
                <a:ea typeface="楷体_GB2312" pitchFamily="49" charset="-122"/>
              </a:rPr>
              <a:t>。</a:t>
            </a:r>
            <a:endParaRPr lang="zh-CN" altLang="en-US" sz="900" b="1" dirty="0" smtClean="0">
              <a:latin typeface="楷体_GB2312" pitchFamily="49" charset="-122"/>
              <a:ea typeface="楷体_GB2312" pitchFamily="49" charset="-122"/>
            </a:endParaRPr>
          </a:p>
          <a:p>
            <a:pPr algn="just" eaLnBrk="1" hangingPunct="1"/>
            <a:r>
              <a:rPr lang="zh-CN" altLang="en-US" sz="2800" b="1" dirty="0" smtClean="0">
                <a:solidFill>
                  <a:srgbClr val="0000FF"/>
                </a:solidFill>
                <a:latin typeface="楷体_GB2312" pitchFamily="49" charset="-122"/>
                <a:ea typeface="楷体_GB2312" pitchFamily="49" charset="-122"/>
              </a:rPr>
              <a:t>逻辑独立性</a:t>
            </a:r>
          </a:p>
          <a:p>
            <a:pPr lvl="1" algn="just" eaLnBrk="1" hangingPunct="1"/>
            <a:r>
              <a:rPr lang="zh-CN" altLang="en-US" b="1" dirty="0" smtClean="0">
                <a:latin typeface="楷体_GB2312" pitchFamily="49" charset="-122"/>
                <a:ea typeface="楷体_GB2312" pitchFamily="49" charset="-122"/>
              </a:rPr>
              <a:t>指用户的应用程序与数据库的逻辑结构是相互独立的。数据的</a:t>
            </a:r>
            <a:r>
              <a:rPr lang="zh-CN" altLang="en-US" b="1" dirty="0" smtClean="0">
                <a:solidFill>
                  <a:srgbClr val="0000FF"/>
                </a:solidFill>
                <a:latin typeface="楷体_GB2312" pitchFamily="49" charset="-122"/>
                <a:ea typeface="楷体_GB2312" pitchFamily="49" charset="-122"/>
              </a:rPr>
              <a:t>逻辑结构</a:t>
            </a:r>
            <a:r>
              <a:rPr lang="zh-CN" altLang="en-US" b="1" dirty="0" smtClean="0">
                <a:latin typeface="楷体_GB2312" pitchFamily="49" charset="-122"/>
                <a:ea typeface="楷体_GB2312" pitchFamily="49" charset="-122"/>
              </a:rPr>
              <a:t>改变了，用户程序</a:t>
            </a:r>
            <a:r>
              <a:rPr lang="zh-CN" altLang="en-US" b="1" dirty="0" smtClean="0">
                <a:solidFill>
                  <a:srgbClr val="FF0000"/>
                </a:solidFill>
                <a:latin typeface="楷体_GB2312" pitchFamily="49" charset="-122"/>
                <a:ea typeface="楷体_GB2312" pitchFamily="49" charset="-122"/>
              </a:rPr>
              <a:t>可以不变。除非应用需求本身发生了改变。</a:t>
            </a:r>
          </a:p>
          <a:p>
            <a:pPr algn="just" eaLnBrk="1" hangingPunct="1"/>
            <a:r>
              <a:rPr lang="zh-CN" altLang="en-US" sz="2800" b="1" dirty="0" smtClean="0">
                <a:latin typeface="楷体_GB2312" pitchFamily="49" charset="-122"/>
                <a:ea typeface="楷体_GB2312" pitchFamily="49" charset="-122"/>
              </a:rPr>
              <a:t>数据独立性</a:t>
            </a:r>
            <a:r>
              <a:rPr lang="zh-CN" altLang="en-US" sz="2800" b="1" dirty="0" smtClean="0">
                <a:ea typeface="楷体_GB2312" pitchFamily="49" charset="-122"/>
              </a:rPr>
              <a:t>是由</a:t>
            </a:r>
            <a:r>
              <a:rPr lang="en-US" altLang="zh-CN" sz="2800" b="1" dirty="0" smtClean="0">
                <a:ea typeface="楷体_GB2312" pitchFamily="49" charset="-122"/>
              </a:rPr>
              <a:t>DBMS</a:t>
            </a:r>
            <a:r>
              <a:rPr lang="zh-CN" altLang="en-US" sz="2800" b="1" dirty="0" smtClean="0">
                <a:ea typeface="楷体_GB2312" pitchFamily="49" charset="-122"/>
              </a:rPr>
              <a:t>的</a:t>
            </a:r>
            <a:endParaRPr lang="en-US" altLang="zh-CN" sz="2800" b="1" dirty="0" smtClean="0">
              <a:ea typeface="楷体_GB2312" pitchFamily="49" charset="-122"/>
            </a:endParaRPr>
          </a:p>
          <a:p>
            <a:pPr algn="just" eaLnBrk="1" hangingPunct="1">
              <a:buFont typeface="Wingdings" pitchFamily="2" charset="2"/>
              <a:buNone/>
            </a:pPr>
            <a:r>
              <a:rPr lang="zh-CN" altLang="en-US" sz="2800" b="1" dirty="0" smtClean="0">
                <a:solidFill>
                  <a:srgbClr val="FF33CC"/>
                </a:solidFill>
                <a:ea typeface="楷体_GB2312" pitchFamily="49" charset="-122"/>
              </a:rPr>
              <a:t>   二级映像功能</a:t>
            </a:r>
            <a:r>
              <a:rPr lang="zh-CN" altLang="en-US" sz="2800" b="1" dirty="0" smtClean="0">
                <a:ea typeface="楷体_GB2312" pitchFamily="49" charset="-122"/>
              </a:rPr>
              <a:t>来保证的。</a:t>
            </a:r>
            <a:endParaRPr lang="en-US" altLang="zh-CN" sz="2800" b="1" dirty="0" smtClean="0">
              <a:ea typeface="楷体_GB2312" pitchFamily="49" charset="-122"/>
            </a:endParaRPr>
          </a:p>
        </p:txBody>
      </p:sp>
      <p:sp>
        <p:nvSpPr>
          <p:cNvPr id="28677" name="AutoShape 4">
            <a:hlinkClick r:id="rId2" action="ppaction://hlinksldjump" highlightClick="1"/>
          </p:cNvPr>
          <p:cNvSpPr>
            <a:spLocks noChangeArrowheads="1"/>
          </p:cNvSpPr>
          <p:nvPr/>
        </p:nvSpPr>
        <p:spPr bwMode="auto">
          <a:xfrm>
            <a:off x="7358063" y="6143625"/>
            <a:ext cx="381000" cy="433388"/>
          </a:xfrm>
          <a:prstGeom prst="actionButtonBackPrevious">
            <a:avLst/>
          </a:prstGeom>
          <a:solidFill>
            <a:schemeClr val="accent1"/>
          </a:solidFill>
          <a:ln w="9525">
            <a:solidFill>
              <a:schemeClr val="tx1"/>
            </a:solidFill>
            <a:miter lim="800000"/>
            <a:headEnd/>
            <a:tailEnd/>
          </a:ln>
        </p:spPr>
        <p:txBody>
          <a:bodyPr wrap="none" anchor="ctr"/>
          <a:lstStyle/>
          <a:p>
            <a:endParaRPr lang="zh-CN" altLang="en-US"/>
          </a:p>
        </p:txBody>
      </p:sp>
      <p:grpSp>
        <p:nvGrpSpPr>
          <p:cNvPr id="28678" name="组合 35"/>
          <p:cNvGrpSpPr>
            <a:grpSpLocks/>
          </p:cNvGrpSpPr>
          <p:nvPr/>
        </p:nvGrpSpPr>
        <p:grpSpPr bwMode="auto">
          <a:xfrm>
            <a:off x="4786313" y="5000625"/>
            <a:ext cx="3929062" cy="1643063"/>
            <a:chOff x="4357686" y="4643446"/>
            <a:chExt cx="3929090" cy="1857388"/>
          </a:xfrm>
        </p:grpSpPr>
        <p:cxnSp>
          <p:nvCxnSpPr>
            <p:cNvPr id="28680" name="直接箭头连接符 27"/>
            <p:cNvCxnSpPr>
              <a:cxnSpLocks noChangeShapeType="1"/>
            </p:cNvCxnSpPr>
            <p:nvPr/>
          </p:nvCxnSpPr>
          <p:spPr bwMode="auto">
            <a:xfrm rot="16200000" flipV="1">
              <a:off x="6893758" y="5322108"/>
              <a:ext cx="571503" cy="357190"/>
            </a:xfrm>
            <a:prstGeom prst="straightConnector1">
              <a:avLst/>
            </a:prstGeom>
            <a:noFill/>
            <a:ln w="28575" cap="sq"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sp>
          <p:nvSpPr>
            <p:cNvPr id="28681" name="椭圆 28"/>
            <p:cNvSpPr>
              <a:spLocks noChangeArrowheads="1"/>
            </p:cNvSpPr>
            <p:nvPr/>
          </p:nvSpPr>
          <p:spPr bwMode="auto">
            <a:xfrm>
              <a:off x="5500694" y="4643446"/>
              <a:ext cx="1714512" cy="714380"/>
            </a:xfrm>
            <a:prstGeom prst="ellipse">
              <a:avLst/>
            </a:prstGeom>
            <a:solidFill>
              <a:schemeClr val="accent1"/>
            </a:solidFill>
            <a:ln w="12700" cap="sq" algn="ctr">
              <a:solidFill>
                <a:schemeClr val="tx1"/>
              </a:solidFill>
              <a:round/>
              <a:headEnd type="none" w="sm" len="sm"/>
              <a:tailEnd type="none" w="sm" len="sm"/>
            </a:ln>
          </p:spPr>
          <p:txBody>
            <a:bodyPr wrap="none"/>
            <a:lstStyle/>
            <a:p>
              <a:r>
                <a:rPr lang="zh-CN" altLang="en-US"/>
                <a:t>应用程序</a:t>
              </a:r>
            </a:p>
          </p:txBody>
        </p:sp>
        <p:sp>
          <p:nvSpPr>
            <p:cNvPr id="28682" name="椭圆 29"/>
            <p:cNvSpPr>
              <a:spLocks noChangeArrowheads="1"/>
            </p:cNvSpPr>
            <p:nvPr/>
          </p:nvSpPr>
          <p:spPr bwMode="auto">
            <a:xfrm>
              <a:off x="6572264" y="5786454"/>
              <a:ext cx="1714512" cy="714380"/>
            </a:xfrm>
            <a:prstGeom prst="ellipse">
              <a:avLst/>
            </a:prstGeom>
            <a:solidFill>
              <a:srgbClr val="FF99FF"/>
            </a:solidFill>
            <a:ln w="12700" cap="sq" algn="ctr">
              <a:solidFill>
                <a:schemeClr val="tx1"/>
              </a:solidFill>
              <a:round/>
              <a:headEnd type="none" w="sm" len="sm"/>
              <a:tailEnd type="none" w="sm" len="sm"/>
            </a:ln>
          </p:spPr>
          <p:txBody>
            <a:bodyPr wrap="none"/>
            <a:lstStyle/>
            <a:p>
              <a:r>
                <a:rPr lang="zh-CN" altLang="en-US"/>
                <a:t>物理结构</a:t>
              </a:r>
            </a:p>
          </p:txBody>
        </p:sp>
        <p:sp>
          <p:nvSpPr>
            <p:cNvPr id="28683" name="椭圆 30"/>
            <p:cNvSpPr>
              <a:spLocks noChangeArrowheads="1"/>
            </p:cNvSpPr>
            <p:nvPr/>
          </p:nvSpPr>
          <p:spPr bwMode="auto">
            <a:xfrm>
              <a:off x="4357686" y="5786454"/>
              <a:ext cx="1714512" cy="714380"/>
            </a:xfrm>
            <a:prstGeom prst="ellipse">
              <a:avLst/>
            </a:prstGeom>
            <a:solidFill>
              <a:srgbClr val="92D050"/>
            </a:solidFill>
            <a:ln w="12700" cap="sq" algn="ctr">
              <a:solidFill>
                <a:schemeClr val="tx1"/>
              </a:solidFill>
              <a:round/>
              <a:headEnd type="none" w="sm" len="sm"/>
              <a:tailEnd type="none" w="sm" len="sm"/>
            </a:ln>
          </p:spPr>
          <p:txBody>
            <a:bodyPr wrap="none"/>
            <a:lstStyle/>
            <a:p>
              <a:r>
                <a:rPr lang="zh-CN" altLang="en-US"/>
                <a:t>逻辑结构</a:t>
              </a:r>
            </a:p>
          </p:txBody>
        </p:sp>
        <p:cxnSp>
          <p:nvCxnSpPr>
            <p:cNvPr id="28684" name="直接箭头连接符 31"/>
            <p:cNvCxnSpPr>
              <a:cxnSpLocks noChangeShapeType="1"/>
            </p:cNvCxnSpPr>
            <p:nvPr/>
          </p:nvCxnSpPr>
          <p:spPr bwMode="auto">
            <a:xfrm rot="5400000" flipH="1" flipV="1">
              <a:off x="5322108" y="5393545"/>
              <a:ext cx="571504" cy="214314"/>
            </a:xfrm>
            <a:prstGeom prst="straightConnector1">
              <a:avLst/>
            </a:prstGeom>
            <a:noFill/>
            <a:ln w="28575" cap="sq"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grpSp>
      <p:sp>
        <p:nvSpPr>
          <p:cNvPr id="2" name="动作按钮: 前进或下一项 1">
            <a:hlinkClick r:id="rId3" action="ppaction://hlinksldjump" highlightClick="1"/>
          </p:cNvPr>
          <p:cNvSpPr/>
          <p:nvPr/>
        </p:nvSpPr>
        <p:spPr>
          <a:xfrm>
            <a:off x="3132138" y="6327775"/>
            <a:ext cx="1079500" cy="414338"/>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1774477579"/>
      </p:ext>
    </p:extLst>
  </p:cSld>
  <p:clrMapOvr>
    <a:masterClrMapping/>
  </p:clrMapOvr>
  <p:transition advClick="0"/>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E7A6E4FB-A0A9-4427-BC77-185D6914A6A0}" type="slidenum">
              <a:rPr lang="en-US" altLang="zh-CN" smtClean="0"/>
              <a:pPr algn="l" eaLnBrk="1" hangingPunct="1"/>
              <a:t>55</a:t>
            </a:fld>
            <a:endParaRPr lang="en-US" altLang="zh-CN" smtClean="0"/>
          </a:p>
        </p:txBody>
      </p:sp>
      <p:sp>
        <p:nvSpPr>
          <p:cNvPr id="29699" name="Rectangle 2"/>
          <p:cNvSpPr>
            <a:spLocks noGrp="1" noChangeArrowheads="1"/>
          </p:cNvSpPr>
          <p:nvPr>
            <p:ph type="title"/>
          </p:nvPr>
        </p:nvSpPr>
        <p:spPr>
          <a:xfrm>
            <a:off x="381000" y="115888"/>
            <a:ext cx="8382000" cy="914400"/>
          </a:xfrm>
        </p:spPr>
        <p:txBody>
          <a:bodyPr/>
          <a:lstStyle/>
          <a:p>
            <a:pPr eaLnBrk="1" hangingPunct="1"/>
            <a:r>
              <a:rPr lang="zh-CN" altLang="en-US" b="1" smtClean="0"/>
              <a:t>（</a:t>
            </a:r>
            <a:r>
              <a:rPr lang="en-US" altLang="zh-CN" b="1" smtClean="0"/>
              <a:t>4</a:t>
            </a:r>
            <a:r>
              <a:rPr lang="zh-CN" altLang="en-US" b="1" smtClean="0"/>
              <a:t>）</a:t>
            </a:r>
            <a:r>
              <a:rPr lang="en-US" altLang="zh-CN" b="1" smtClean="0"/>
              <a:t>DBMS</a:t>
            </a:r>
            <a:r>
              <a:rPr lang="zh-CN" altLang="en-US" b="1" smtClean="0"/>
              <a:t>对数据的控制功能</a:t>
            </a:r>
          </a:p>
        </p:txBody>
      </p:sp>
      <p:sp>
        <p:nvSpPr>
          <p:cNvPr id="30724" name="Rectangle 3"/>
          <p:cNvSpPr>
            <a:spLocks noGrp="1" noChangeArrowheads="1"/>
          </p:cNvSpPr>
          <p:nvPr>
            <p:ph type="body" idx="1"/>
          </p:nvPr>
        </p:nvSpPr>
        <p:spPr>
          <a:xfrm>
            <a:off x="107950" y="1125538"/>
            <a:ext cx="9036050" cy="1511300"/>
          </a:xfrm>
        </p:spPr>
        <p:txBody>
          <a:bodyPr/>
          <a:lstStyle/>
          <a:p>
            <a:pPr algn="just" eaLnBrk="1" hangingPunct="1">
              <a:lnSpc>
                <a:spcPct val="110000"/>
              </a:lnSpc>
              <a:spcBef>
                <a:spcPct val="0"/>
              </a:spcBef>
              <a:buClr>
                <a:srgbClr val="00B050"/>
              </a:buClr>
              <a:buSzPct val="75000"/>
            </a:pPr>
            <a:r>
              <a:rPr lang="zh-CN" altLang="en-US" sz="2800" b="1" smtClean="0">
                <a:solidFill>
                  <a:schemeClr val="accent2"/>
                </a:solidFill>
                <a:ea typeface="楷体_GB2312" pitchFamily="49" charset="-122"/>
              </a:rPr>
              <a:t>数据的安全性（</a:t>
            </a:r>
            <a:r>
              <a:rPr lang="en-US" altLang="zh-CN" sz="2800" b="1" smtClean="0">
                <a:solidFill>
                  <a:schemeClr val="accent2"/>
                </a:solidFill>
                <a:ea typeface="楷体_GB2312" pitchFamily="49" charset="-122"/>
              </a:rPr>
              <a:t>Security</a:t>
            </a:r>
            <a:r>
              <a:rPr lang="zh-CN" altLang="en-US" sz="2800" b="1" smtClean="0">
                <a:solidFill>
                  <a:schemeClr val="accent2"/>
                </a:solidFill>
                <a:ea typeface="楷体_GB2312" pitchFamily="49" charset="-122"/>
              </a:rPr>
              <a:t>）保护</a:t>
            </a:r>
          </a:p>
          <a:p>
            <a:pPr lvl="1" algn="just" eaLnBrk="1" hangingPunct="1">
              <a:lnSpc>
                <a:spcPct val="110000"/>
              </a:lnSpc>
              <a:spcBef>
                <a:spcPct val="0"/>
              </a:spcBef>
              <a:buFont typeface="Wingdings" pitchFamily="2" charset="2"/>
              <a:buChar char="Ø"/>
            </a:pPr>
            <a:r>
              <a:rPr lang="zh-CN" altLang="en-US" sz="2600" smtClean="0">
                <a:ea typeface="楷体_GB2312" pitchFamily="49" charset="-122"/>
              </a:rPr>
              <a:t>使每个用户只能按指定方式使用和处理指定数据，保护数据以防止不合法的使用造成的数据的泄密和破坏。</a:t>
            </a:r>
          </a:p>
        </p:txBody>
      </p:sp>
      <p:sp>
        <p:nvSpPr>
          <p:cNvPr id="872455" name="Rectangle 7"/>
          <p:cNvSpPr>
            <a:spLocks noChangeArrowheads="1"/>
          </p:cNvSpPr>
          <p:nvPr/>
        </p:nvSpPr>
        <p:spPr bwMode="auto">
          <a:xfrm>
            <a:off x="107950" y="2492375"/>
            <a:ext cx="9036050" cy="158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10000"/>
              </a:lnSpc>
              <a:buClr>
                <a:srgbClr val="669900"/>
              </a:buClr>
              <a:buSzPct val="75000"/>
              <a:buFont typeface="Wingdings" pitchFamily="2" charset="2"/>
              <a:buChar char="n"/>
            </a:pPr>
            <a:r>
              <a:rPr lang="zh-CN" altLang="en-US" sz="2800" b="1">
                <a:solidFill>
                  <a:schemeClr val="accent2"/>
                </a:solidFill>
                <a:ea typeface="楷体_GB2312" pitchFamily="49" charset="-122"/>
              </a:rPr>
              <a:t>数据的完整性（</a:t>
            </a:r>
            <a:r>
              <a:rPr lang="en-US" altLang="zh-CN" sz="2800" b="1">
                <a:solidFill>
                  <a:schemeClr val="accent2"/>
                </a:solidFill>
                <a:ea typeface="楷体_GB2312" pitchFamily="49" charset="-122"/>
              </a:rPr>
              <a:t>Integrity</a:t>
            </a:r>
            <a:r>
              <a:rPr lang="zh-CN" altLang="en-US" sz="2800" b="1">
                <a:solidFill>
                  <a:schemeClr val="accent2"/>
                </a:solidFill>
                <a:ea typeface="楷体_GB2312" pitchFamily="49" charset="-122"/>
              </a:rPr>
              <a:t>）检查</a:t>
            </a:r>
          </a:p>
          <a:p>
            <a:pPr marL="742950" lvl="1" indent="-285750" algn="just">
              <a:lnSpc>
                <a:spcPct val="110000"/>
              </a:lnSpc>
              <a:buClr>
                <a:srgbClr val="996600"/>
              </a:buClr>
              <a:buSzPct val="75000"/>
              <a:buFont typeface="Wingdings" pitchFamily="2" charset="2"/>
              <a:buChar char="Ø"/>
            </a:pPr>
            <a:r>
              <a:rPr lang="zh-CN" altLang="en-US" sz="2600">
                <a:ea typeface="楷体_GB2312" pitchFamily="49" charset="-122"/>
              </a:rPr>
              <a:t>将数据控制在有效范围内，或保证数据间满足一定的关系。</a:t>
            </a:r>
          </a:p>
        </p:txBody>
      </p:sp>
      <p:sp>
        <p:nvSpPr>
          <p:cNvPr id="872456" name="Rectangle 8"/>
          <p:cNvSpPr>
            <a:spLocks noChangeArrowheads="1"/>
          </p:cNvSpPr>
          <p:nvPr/>
        </p:nvSpPr>
        <p:spPr bwMode="auto">
          <a:xfrm>
            <a:off x="107950" y="3789363"/>
            <a:ext cx="903605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10000"/>
              </a:lnSpc>
              <a:buClr>
                <a:srgbClr val="669900"/>
              </a:buClr>
              <a:buSzPct val="75000"/>
              <a:buFont typeface="Wingdings" pitchFamily="2" charset="2"/>
              <a:buChar char="n"/>
            </a:pPr>
            <a:r>
              <a:rPr lang="zh-CN" altLang="en-US" sz="2800" b="1">
                <a:solidFill>
                  <a:schemeClr val="accent2"/>
                </a:solidFill>
                <a:ea typeface="楷体_GB2312" pitchFamily="49" charset="-122"/>
              </a:rPr>
              <a:t>并发（</a:t>
            </a:r>
            <a:r>
              <a:rPr lang="en-US" altLang="zh-CN" sz="2800" b="1">
                <a:solidFill>
                  <a:schemeClr val="accent2"/>
                </a:solidFill>
                <a:ea typeface="楷体_GB2312" pitchFamily="49" charset="-122"/>
              </a:rPr>
              <a:t>Concurrency</a:t>
            </a:r>
            <a:r>
              <a:rPr lang="zh-CN" altLang="en-US" sz="2800" b="1">
                <a:solidFill>
                  <a:schemeClr val="accent2"/>
                </a:solidFill>
                <a:ea typeface="楷体_GB2312" pitchFamily="49" charset="-122"/>
              </a:rPr>
              <a:t>）控制</a:t>
            </a:r>
          </a:p>
          <a:p>
            <a:pPr marL="742950" lvl="1" indent="-285750" algn="just">
              <a:lnSpc>
                <a:spcPct val="110000"/>
              </a:lnSpc>
              <a:buClr>
                <a:srgbClr val="996600"/>
              </a:buClr>
              <a:buSzPct val="75000"/>
              <a:buFont typeface="Wingdings" pitchFamily="2" charset="2"/>
              <a:buChar char="Ø"/>
            </a:pPr>
            <a:r>
              <a:rPr lang="zh-CN" altLang="en-US" sz="2600">
                <a:ea typeface="楷体_GB2312" pitchFamily="49" charset="-122"/>
              </a:rPr>
              <a:t>对多用户的并发操作加以控制和协调，防止相互干扰而得到错误的结果。</a:t>
            </a:r>
          </a:p>
        </p:txBody>
      </p:sp>
      <p:sp>
        <p:nvSpPr>
          <p:cNvPr id="872457" name="Rectangle 9"/>
          <p:cNvSpPr>
            <a:spLocks noChangeArrowheads="1"/>
          </p:cNvSpPr>
          <p:nvPr/>
        </p:nvSpPr>
        <p:spPr bwMode="auto">
          <a:xfrm>
            <a:off x="107950" y="5084763"/>
            <a:ext cx="9036050"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10000"/>
              </a:lnSpc>
              <a:buClr>
                <a:srgbClr val="669900"/>
              </a:buClr>
              <a:buSzPct val="75000"/>
              <a:buFont typeface="Wingdings" pitchFamily="2" charset="2"/>
              <a:buChar char="n"/>
            </a:pPr>
            <a:r>
              <a:rPr lang="zh-CN" altLang="en-US" sz="2800" b="1">
                <a:solidFill>
                  <a:schemeClr val="accent2"/>
                </a:solidFill>
                <a:ea typeface="楷体_GB2312" pitchFamily="49" charset="-122"/>
              </a:rPr>
              <a:t>数据库恢复（</a:t>
            </a:r>
            <a:r>
              <a:rPr lang="en-US" altLang="zh-CN" sz="2800" b="1">
                <a:solidFill>
                  <a:schemeClr val="accent2"/>
                </a:solidFill>
                <a:ea typeface="楷体_GB2312" pitchFamily="49" charset="-122"/>
              </a:rPr>
              <a:t>Recovery</a:t>
            </a:r>
            <a:r>
              <a:rPr lang="zh-CN" altLang="en-US" sz="2800" b="1">
                <a:solidFill>
                  <a:schemeClr val="accent2"/>
                </a:solidFill>
                <a:ea typeface="楷体_GB2312" pitchFamily="49" charset="-122"/>
              </a:rPr>
              <a:t>）</a:t>
            </a:r>
          </a:p>
          <a:p>
            <a:pPr marL="742950" lvl="1" indent="-285750" algn="just">
              <a:lnSpc>
                <a:spcPct val="110000"/>
              </a:lnSpc>
              <a:buClr>
                <a:srgbClr val="996600"/>
              </a:buClr>
              <a:buSzPct val="75000"/>
              <a:buFont typeface="Wingdings" pitchFamily="2" charset="2"/>
              <a:buChar char="Ø"/>
            </a:pPr>
            <a:r>
              <a:rPr lang="zh-CN" altLang="en-US" sz="2600">
                <a:ea typeface="楷体_GB2312" pitchFamily="49" charset="-122"/>
              </a:rPr>
              <a:t>将数据库从错误状态恢复到某一已知的正确状态。</a:t>
            </a:r>
          </a:p>
        </p:txBody>
      </p:sp>
    </p:spTree>
    <p:extLst>
      <p:ext uri="{BB962C8B-B14F-4D97-AF65-F5344CB8AC3E}">
        <p14:creationId xmlns:p14="http://schemas.microsoft.com/office/powerpoint/2010/main" val="1112457716"/>
      </p:ext>
    </p:extLst>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 calcmode="lin" valueType="num">
                                      <p:cBhvr additive="base">
                                        <p:cTn id="7" dur="500" fill="hold"/>
                                        <p:tgtEl>
                                          <p:spTgt spid="307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724">
                                            <p:txEl>
                                              <p:pRg st="1" end="1"/>
                                            </p:txEl>
                                          </p:spTgt>
                                        </p:tgtEl>
                                        <p:attrNameLst>
                                          <p:attrName>style.visibility</p:attrName>
                                        </p:attrNameLst>
                                      </p:cBhvr>
                                      <p:to>
                                        <p:strVal val="visible"/>
                                      </p:to>
                                    </p:set>
                                    <p:anim calcmode="lin" valueType="num">
                                      <p:cBhvr additive="base">
                                        <p:cTn id="11" dur="500" fill="hold"/>
                                        <p:tgtEl>
                                          <p:spTgt spid="3072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07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72455"/>
                                        </p:tgtEl>
                                        <p:attrNameLst>
                                          <p:attrName>style.visibility</p:attrName>
                                        </p:attrNameLst>
                                      </p:cBhvr>
                                      <p:to>
                                        <p:strVal val="visible"/>
                                      </p:to>
                                    </p:set>
                                    <p:animEffect transition="in" filter="blinds(horizontal)">
                                      <p:cBhvr>
                                        <p:cTn id="17" dur="500"/>
                                        <p:tgtEl>
                                          <p:spTgt spid="8724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872456"/>
                                        </p:tgtEl>
                                        <p:attrNameLst>
                                          <p:attrName>style.visibility</p:attrName>
                                        </p:attrNameLst>
                                      </p:cBhvr>
                                      <p:to>
                                        <p:strVal val="visible"/>
                                      </p:to>
                                    </p:set>
                                    <p:anim calcmode="lin" valueType="num">
                                      <p:cBhvr additive="base">
                                        <p:cTn id="22" dur="500" fill="hold"/>
                                        <p:tgtEl>
                                          <p:spTgt spid="872456"/>
                                        </p:tgtEl>
                                        <p:attrNameLst>
                                          <p:attrName>ppt_x</p:attrName>
                                        </p:attrNameLst>
                                      </p:cBhvr>
                                      <p:tavLst>
                                        <p:tav tm="0">
                                          <p:val>
                                            <p:strVal val="#ppt_x"/>
                                          </p:val>
                                        </p:tav>
                                        <p:tav tm="100000">
                                          <p:val>
                                            <p:strVal val="#ppt_x"/>
                                          </p:val>
                                        </p:tav>
                                      </p:tavLst>
                                    </p:anim>
                                    <p:anim calcmode="lin" valueType="num">
                                      <p:cBhvr additive="base">
                                        <p:cTn id="23" dur="500" fill="hold"/>
                                        <p:tgtEl>
                                          <p:spTgt spid="872456"/>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872457"/>
                                        </p:tgtEl>
                                        <p:attrNameLst>
                                          <p:attrName>style.visibility</p:attrName>
                                        </p:attrNameLst>
                                      </p:cBhvr>
                                      <p:to>
                                        <p:strVal val="visible"/>
                                      </p:to>
                                    </p:set>
                                    <p:animEffect transition="in" filter="checkerboard(across)">
                                      <p:cBhvr>
                                        <p:cTn id="28" dur="500"/>
                                        <p:tgtEl>
                                          <p:spTgt spid="872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build="p"/>
      <p:bldP spid="872455" grpId="0"/>
      <p:bldP spid="872456" grpId="0"/>
      <p:bldP spid="87245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ACD69769-588D-46F0-8268-F5A121C8444F}" type="slidenum">
              <a:rPr lang="en-US" altLang="zh-CN" smtClean="0"/>
              <a:pPr algn="l" eaLnBrk="1" hangingPunct="1"/>
              <a:t>56</a:t>
            </a:fld>
            <a:endParaRPr lang="en-US" altLang="zh-CN" smtClean="0"/>
          </a:p>
        </p:txBody>
      </p:sp>
      <p:sp>
        <p:nvSpPr>
          <p:cNvPr id="64515" name="Rectangle 2"/>
          <p:cNvSpPr>
            <a:spLocks noGrp="1" noChangeArrowheads="1"/>
          </p:cNvSpPr>
          <p:nvPr>
            <p:ph type="title"/>
          </p:nvPr>
        </p:nvSpPr>
        <p:spPr>
          <a:xfrm>
            <a:off x="381000" y="115888"/>
            <a:ext cx="8382000" cy="914400"/>
          </a:xfrm>
        </p:spPr>
        <p:txBody>
          <a:bodyPr/>
          <a:lstStyle/>
          <a:p>
            <a:pPr eaLnBrk="1" hangingPunct="1"/>
            <a:r>
              <a:rPr lang="en-US" altLang="zh-CN" dirty="0" smtClean="0"/>
              <a:t> </a:t>
            </a:r>
            <a:r>
              <a:rPr lang="en-US" altLang="zh-CN" b="1" dirty="0" smtClean="0"/>
              <a:t>1.2.3 </a:t>
            </a:r>
            <a:r>
              <a:rPr lang="zh-CN" altLang="en-US" b="1" dirty="0" smtClean="0"/>
              <a:t>数据模型的三要素</a:t>
            </a:r>
          </a:p>
        </p:txBody>
      </p:sp>
      <p:sp>
        <p:nvSpPr>
          <p:cNvPr id="65540" name="Rectangle 3"/>
          <p:cNvSpPr>
            <a:spLocks noGrp="1" noChangeArrowheads="1"/>
          </p:cNvSpPr>
          <p:nvPr>
            <p:ph type="body" idx="1"/>
          </p:nvPr>
        </p:nvSpPr>
        <p:spPr>
          <a:xfrm>
            <a:off x="71438" y="1196975"/>
            <a:ext cx="9001125" cy="5113338"/>
          </a:xfrm>
        </p:spPr>
        <p:txBody>
          <a:bodyPr/>
          <a:lstStyle/>
          <a:p>
            <a:pPr eaLnBrk="1" hangingPunct="1">
              <a:lnSpc>
                <a:spcPct val="130000"/>
              </a:lnSpc>
              <a:defRPr/>
            </a:pPr>
            <a:r>
              <a:rPr lang="zh-CN" altLang="en-US" sz="2800" b="1" dirty="0" smtClean="0">
                <a:solidFill>
                  <a:schemeClr val="accent2"/>
                </a:solidFill>
                <a:latin typeface="楷体_GB2312" pitchFamily="49" charset="-122"/>
                <a:ea typeface="楷体_GB2312" pitchFamily="49" charset="-122"/>
              </a:rPr>
              <a:t>数据结构</a:t>
            </a:r>
            <a:r>
              <a:rPr lang="zh-CN" altLang="en-US" sz="2800" b="1" dirty="0" smtClean="0">
                <a:latin typeface="楷体_GB2312" pitchFamily="49" charset="-122"/>
                <a:ea typeface="楷体_GB2312" pitchFamily="49" charset="-122"/>
              </a:rPr>
              <a:t> </a:t>
            </a:r>
          </a:p>
          <a:p>
            <a:pPr lvl="1" algn="just" eaLnBrk="1" hangingPunct="1">
              <a:lnSpc>
                <a:spcPct val="90000"/>
              </a:lnSpc>
              <a:defRPr/>
            </a:pPr>
            <a:r>
              <a:rPr lang="zh-CN" altLang="en-US" sz="2400" b="1" dirty="0" smtClean="0">
                <a:solidFill>
                  <a:srgbClr val="FF0000"/>
                </a:solidFill>
                <a:ea typeface="楷体_GB2312" pitchFamily="49" charset="-122"/>
              </a:rPr>
              <a:t>描述</a:t>
            </a:r>
            <a:r>
              <a:rPr lang="zh-CN" altLang="en-US" sz="2400" b="1" dirty="0" smtClean="0">
                <a:ea typeface="楷体_GB2312" pitchFamily="49" charset="-122"/>
              </a:rPr>
              <a:t>数据库的组成对象，以及对象之间的联系</a:t>
            </a:r>
          </a:p>
          <a:p>
            <a:pPr lvl="1" algn="just" eaLnBrk="1" hangingPunct="1">
              <a:lnSpc>
                <a:spcPct val="90000"/>
              </a:lnSpc>
              <a:defRPr/>
            </a:pPr>
            <a:r>
              <a:rPr lang="zh-CN" altLang="en-US" sz="2400" b="1" dirty="0" smtClean="0">
                <a:latin typeface="楷体_GB2312" pitchFamily="49" charset="-122"/>
                <a:ea typeface="楷体_GB2312" pitchFamily="49" charset="-122"/>
              </a:rPr>
              <a:t>是对系统</a:t>
            </a:r>
            <a:r>
              <a:rPr lang="zh-CN" altLang="en-US" sz="2400" b="1" dirty="0" smtClean="0">
                <a:solidFill>
                  <a:srgbClr val="FF0000"/>
                </a:solidFill>
                <a:ea typeface="楷体_GB2312" pitchFamily="49" charset="-122"/>
              </a:rPr>
              <a:t>静态特性</a:t>
            </a:r>
            <a:r>
              <a:rPr lang="zh-CN" altLang="en-US" sz="2400" b="1" dirty="0" smtClean="0">
                <a:latin typeface="楷体_GB2312" pitchFamily="49" charset="-122"/>
                <a:ea typeface="楷体_GB2312" pitchFamily="49" charset="-122"/>
              </a:rPr>
              <a:t>的描述</a:t>
            </a:r>
          </a:p>
          <a:p>
            <a:pPr eaLnBrk="1" hangingPunct="1">
              <a:lnSpc>
                <a:spcPct val="130000"/>
              </a:lnSpc>
              <a:defRPr/>
            </a:pPr>
            <a:r>
              <a:rPr lang="zh-CN" altLang="en-US" sz="2800" b="1" dirty="0" smtClean="0">
                <a:solidFill>
                  <a:schemeClr val="accent2"/>
                </a:solidFill>
                <a:latin typeface="楷体_GB2312" pitchFamily="49" charset="-122"/>
                <a:ea typeface="楷体_GB2312" pitchFamily="49" charset="-122"/>
              </a:rPr>
              <a:t>数据操作</a:t>
            </a:r>
            <a:r>
              <a:rPr lang="zh-CN" altLang="en-US" sz="2800" b="1" dirty="0" smtClean="0">
                <a:latin typeface="楷体_GB2312" pitchFamily="49" charset="-122"/>
                <a:ea typeface="楷体_GB2312" pitchFamily="49" charset="-122"/>
              </a:rPr>
              <a:t> </a:t>
            </a:r>
          </a:p>
          <a:p>
            <a:pPr lvl="1" eaLnBrk="1" hangingPunct="1">
              <a:lnSpc>
                <a:spcPct val="130000"/>
              </a:lnSpc>
              <a:defRPr/>
            </a:pPr>
            <a:r>
              <a:rPr lang="zh-CN" altLang="en-US" sz="2400" b="1" dirty="0" smtClean="0">
                <a:ea typeface="楷体_GB2312" pitchFamily="49" charset="-122"/>
              </a:rPr>
              <a:t>数据</a:t>
            </a:r>
            <a:r>
              <a:rPr lang="zh-CN" altLang="en-US" sz="2400" b="1" dirty="0" smtClean="0">
                <a:solidFill>
                  <a:srgbClr val="FF0000"/>
                </a:solidFill>
                <a:ea typeface="楷体_GB2312" pitchFamily="49" charset="-122"/>
              </a:rPr>
              <a:t>操作</a:t>
            </a:r>
            <a:r>
              <a:rPr lang="zh-CN" altLang="en-US" sz="2400" b="1" dirty="0" smtClean="0">
                <a:ea typeface="楷体_GB2312" pitchFamily="49" charset="-122"/>
              </a:rPr>
              <a:t>是对系统</a:t>
            </a:r>
            <a:r>
              <a:rPr lang="zh-CN" altLang="en-US" sz="2400" b="1" dirty="0" smtClean="0">
                <a:solidFill>
                  <a:srgbClr val="FF0000"/>
                </a:solidFill>
                <a:ea typeface="楷体_GB2312" pitchFamily="49" charset="-122"/>
              </a:rPr>
              <a:t>动态特性</a:t>
            </a:r>
            <a:r>
              <a:rPr lang="zh-CN" altLang="en-US" sz="2400" b="1" dirty="0" smtClean="0">
                <a:ea typeface="楷体_GB2312" pitchFamily="49" charset="-122"/>
              </a:rPr>
              <a:t>的描述</a:t>
            </a:r>
            <a:endParaRPr lang="en-US" altLang="zh-CN" sz="2400" b="1" dirty="0" smtClean="0">
              <a:ea typeface="楷体_GB2312" pitchFamily="49" charset="-122"/>
            </a:endParaRPr>
          </a:p>
          <a:p>
            <a:pPr lvl="1" eaLnBrk="1" hangingPunct="1">
              <a:lnSpc>
                <a:spcPct val="130000"/>
              </a:lnSpc>
              <a:defRPr/>
            </a:pPr>
            <a:r>
              <a:rPr lang="zh-CN" altLang="en-US" sz="2400" b="1" dirty="0" smtClean="0">
                <a:latin typeface="楷体_GB2312" pitchFamily="49" charset="-122"/>
                <a:ea typeface="楷体_GB2312" pitchFamily="49" charset="-122"/>
              </a:rPr>
              <a:t>查询，插入，删除，修改</a:t>
            </a:r>
          </a:p>
          <a:p>
            <a:pPr eaLnBrk="1" hangingPunct="1">
              <a:lnSpc>
                <a:spcPct val="130000"/>
              </a:lnSpc>
              <a:defRPr/>
            </a:pPr>
            <a:r>
              <a:rPr lang="zh-CN" altLang="en-US" sz="2800" b="1" dirty="0" smtClean="0">
                <a:solidFill>
                  <a:schemeClr val="accent2"/>
                </a:solidFill>
                <a:latin typeface="楷体_GB2312" pitchFamily="49" charset="-122"/>
                <a:ea typeface="楷体_GB2312" pitchFamily="49" charset="-122"/>
              </a:rPr>
              <a:t>完整性</a:t>
            </a:r>
            <a:r>
              <a:rPr lang="zh-CN" altLang="en-US" sz="2800" b="1" dirty="0" smtClean="0">
                <a:solidFill>
                  <a:schemeClr val="accent2"/>
                </a:solidFill>
                <a:effectLst>
                  <a:outerShdw blurRad="38100" dist="38100" dir="2700000" algn="tl">
                    <a:srgbClr val="000000">
                      <a:alpha val="43137"/>
                    </a:srgbClr>
                  </a:outerShdw>
                </a:effectLst>
                <a:latin typeface="楷体_GB2312" pitchFamily="49" charset="-122"/>
                <a:ea typeface="楷体_GB2312" pitchFamily="49" charset="-122"/>
              </a:rPr>
              <a:t>约束</a:t>
            </a:r>
            <a:r>
              <a:rPr lang="zh-CN" altLang="en-US" sz="2800" dirty="0" smtClean="0"/>
              <a:t> </a:t>
            </a:r>
          </a:p>
          <a:p>
            <a:pPr lvl="1" eaLnBrk="1" hangingPunct="1">
              <a:lnSpc>
                <a:spcPct val="130000"/>
              </a:lnSpc>
              <a:defRPr/>
            </a:pPr>
            <a:r>
              <a:rPr lang="zh-CN" altLang="en-US" sz="2400" b="1" dirty="0" smtClean="0">
                <a:ea typeface="楷体_GB2312" pitchFamily="49" charset="-122"/>
              </a:rPr>
              <a:t>一组完整性规则的集合</a:t>
            </a:r>
          </a:p>
          <a:p>
            <a:pPr lvl="1" eaLnBrk="1" hangingPunct="1">
              <a:lnSpc>
                <a:spcPct val="130000"/>
              </a:lnSpc>
              <a:defRPr/>
            </a:pPr>
            <a:r>
              <a:rPr lang="zh-CN" altLang="en-US" sz="2400" b="1" dirty="0" smtClean="0">
                <a:solidFill>
                  <a:srgbClr val="FF0000"/>
                </a:solidFill>
                <a:ea typeface="楷体_GB2312" pitchFamily="49" charset="-122"/>
              </a:rPr>
              <a:t>完整性</a:t>
            </a:r>
            <a:r>
              <a:rPr lang="en-US" altLang="zh-CN" sz="2400" b="1" dirty="0" smtClean="0">
                <a:solidFill>
                  <a:srgbClr val="FF0000"/>
                </a:solidFill>
                <a:ea typeface="楷体_GB2312" pitchFamily="49" charset="-122"/>
              </a:rPr>
              <a:t>:</a:t>
            </a:r>
            <a:r>
              <a:rPr lang="zh-CN" altLang="en-US" sz="2400" b="1" dirty="0" smtClean="0">
                <a:ea typeface="楷体_GB2312" pitchFamily="49" charset="-122"/>
              </a:rPr>
              <a:t>实体完整性、参照完整性、用户自定义完整性</a:t>
            </a:r>
            <a:endParaRPr lang="zh-CN" altLang="en-US" sz="2400" dirty="0" smtClean="0"/>
          </a:p>
        </p:txBody>
      </p:sp>
    </p:spTree>
  </p:cSld>
  <p:clrMapOvr>
    <a:masterClrMapping/>
  </p:clrMapOvr>
  <p:transition advClick="0"/>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8C609530-E928-4996-9F94-D411B78382CB}" type="slidenum">
              <a:rPr lang="en-US" altLang="zh-CN" smtClean="0"/>
              <a:pPr algn="l" eaLnBrk="1" hangingPunct="1"/>
              <a:t>57</a:t>
            </a:fld>
            <a:endParaRPr lang="en-US" altLang="zh-CN" smtClean="0"/>
          </a:p>
        </p:txBody>
      </p:sp>
      <p:sp>
        <p:nvSpPr>
          <p:cNvPr id="65539" name="Rectangle 2"/>
          <p:cNvSpPr>
            <a:spLocks noGrp="1" noChangeArrowheads="1"/>
          </p:cNvSpPr>
          <p:nvPr>
            <p:ph type="title"/>
          </p:nvPr>
        </p:nvSpPr>
        <p:spPr>
          <a:xfrm>
            <a:off x="381000" y="115888"/>
            <a:ext cx="8382000" cy="914400"/>
          </a:xfrm>
        </p:spPr>
        <p:txBody>
          <a:bodyPr/>
          <a:lstStyle/>
          <a:p>
            <a:pPr eaLnBrk="1" hangingPunct="1"/>
            <a:r>
              <a:rPr lang="zh-CN" altLang="en-US" b="1" dirty="0" smtClean="0"/>
              <a:t>常用的数据模型</a:t>
            </a:r>
            <a:endParaRPr lang="zh-CN" altLang="en-US" b="1" dirty="0" smtClean="0">
              <a:solidFill>
                <a:schemeClr val="accent2"/>
              </a:solidFill>
            </a:endParaRPr>
          </a:p>
        </p:txBody>
      </p:sp>
      <p:sp>
        <p:nvSpPr>
          <p:cNvPr id="69636" name="Rectangle 3"/>
          <p:cNvSpPr>
            <a:spLocks noGrp="1" noChangeArrowheads="1"/>
          </p:cNvSpPr>
          <p:nvPr>
            <p:ph type="body" idx="1"/>
          </p:nvPr>
        </p:nvSpPr>
        <p:spPr>
          <a:xfrm>
            <a:off x="428625" y="2214563"/>
            <a:ext cx="8367713" cy="3786187"/>
          </a:xfrm>
        </p:spPr>
        <p:txBody>
          <a:bodyPr/>
          <a:lstStyle/>
          <a:p>
            <a:pPr eaLnBrk="1" hangingPunct="1">
              <a:lnSpc>
                <a:spcPct val="125000"/>
              </a:lnSpc>
            </a:pPr>
            <a:r>
              <a:rPr lang="zh-CN" altLang="en-US" sz="2400" b="1" dirty="0" smtClean="0">
                <a:solidFill>
                  <a:srgbClr val="FF0000"/>
                </a:solidFill>
                <a:ea typeface="楷体_GB2312" pitchFamily="49" charset="-122"/>
              </a:rPr>
              <a:t>层次模型（</a:t>
            </a:r>
            <a:r>
              <a:rPr lang="en-US" altLang="zh-CN" sz="2400" b="1" dirty="0" smtClean="0">
                <a:solidFill>
                  <a:srgbClr val="FF0000"/>
                </a:solidFill>
                <a:ea typeface="楷体_GB2312" pitchFamily="49" charset="-122"/>
              </a:rPr>
              <a:t>Hierarchical Model</a:t>
            </a:r>
            <a:r>
              <a:rPr lang="zh-CN" altLang="en-US" sz="2400" b="1" dirty="0" smtClean="0">
                <a:solidFill>
                  <a:srgbClr val="FF0000"/>
                </a:solidFill>
                <a:ea typeface="楷体_GB2312" pitchFamily="49" charset="-122"/>
              </a:rPr>
              <a:t>）</a:t>
            </a:r>
          </a:p>
          <a:p>
            <a:pPr eaLnBrk="1" hangingPunct="1">
              <a:lnSpc>
                <a:spcPct val="125000"/>
              </a:lnSpc>
            </a:pPr>
            <a:r>
              <a:rPr lang="zh-CN" altLang="en-US" sz="2400" b="1" dirty="0" smtClean="0">
                <a:solidFill>
                  <a:srgbClr val="FF0000"/>
                </a:solidFill>
                <a:ea typeface="楷体_GB2312" pitchFamily="49" charset="-122"/>
              </a:rPr>
              <a:t>网状模型</a:t>
            </a:r>
            <a:r>
              <a:rPr lang="en-US" altLang="zh-CN" sz="2400" b="1" dirty="0" smtClean="0">
                <a:solidFill>
                  <a:srgbClr val="FF0000"/>
                </a:solidFill>
                <a:ea typeface="楷体_GB2312" pitchFamily="49" charset="-122"/>
              </a:rPr>
              <a:t>(Network Model )</a:t>
            </a:r>
          </a:p>
          <a:p>
            <a:pPr algn="just" eaLnBrk="1" hangingPunct="1">
              <a:lnSpc>
                <a:spcPct val="125000"/>
              </a:lnSpc>
            </a:pPr>
            <a:r>
              <a:rPr lang="zh-CN" altLang="en-US" sz="2400" b="1" dirty="0" smtClean="0">
                <a:solidFill>
                  <a:srgbClr val="FF0000"/>
                </a:solidFill>
                <a:ea typeface="楷体_GB2312" pitchFamily="49" charset="-122"/>
              </a:rPr>
              <a:t>关系模型</a:t>
            </a:r>
            <a:r>
              <a:rPr lang="en-US" altLang="zh-CN" sz="2400" b="1" dirty="0" smtClean="0">
                <a:solidFill>
                  <a:srgbClr val="FF0000"/>
                </a:solidFill>
                <a:ea typeface="楷体_GB2312" pitchFamily="49" charset="-122"/>
              </a:rPr>
              <a:t>(Relational Model)  </a:t>
            </a:r>
          </a:p>
          <a:p>
            <a:pPr marL="0" indent="0" algn="just" eaLnBrk="1" hangingPunct="1">
              <a:lnSpc>
                <a:spcPct val="125000"/>
              </a:lnSpc>
              <a:buNone/>
            </a:pPr>
            <a:r>
              <a:rPr lang="zh-CN" altLang="en-US" sz="2800" b="1" dirty="0" smtClean="0">
                <a:ea typeface="楷体_GB2312" pitchFamily="49" charset="-122"/>
              </a:rPr>
              <a:t>不断涌现的数据模型：</a:t>
            </a:r>
            <a:endParaRPr lang="en-US" altLang="zh-CN" sz="2800" b="1" dirty="0" smtClean="0">
              <a:ea typeface="楷体_GB2312" pitchFamily="49" charset="-122"/>
            </a:endParaRPr>
          </a:p>
          <a:p>
            <a:pPr algn="just" eaLnBrk="1" hangingPunct="1">
              <a:lnSpc>
                <a:spcPct val="125000"/>
              </a:lnSpc>
            </a:pPr>
            <a:r>
              <a:rPr lang="zh-CN" altLang="en-US" sz="2400" b="1" dirty="0" smtClean="0">
                <a:ea typeface="楷体_GB2312" pitchFamily="49" charset="-122"/>
              </a:rPr>
              <a:t>面向对象模型</a:t>
            </a:r>
            <a:r>
              <a:rPr lang="en-US" altLang="zh-CN" sz="2400" b="1" dirty="0" smtClean="0">
                <a:ea typeface="楷体_GB2312" pitchFamily="49" charset="-122"/>
              </a:rPr>
              <a:t>(Object Oriented Model</a:t>
            </a:r>
            <a:r>
              <a:rPr lang="zh-CN" altLang="en-US" sz="2400" b="1" dirty="0" smtClean="0">
                <a:ea typeface="楷体_GB2312" pitchFamily="49" charset="-122"/>
              </a:rPr>
              <a:t>）</a:t>
            </a:r>
          </a:p>
          <a:p>
            <a:pPr algn="just" eaLnBrk="1" hangingPunct="1">
              <a:lnSpc>
                <a:spcPct val="125000"/>
              </a:lnSpc>
            </a:pPr>
            <a:r>
              <a:rPr lang="zh-CN" altLang="en-US" sz="2400" b="1" dirty="0" smtClean="0">
                <a:ea typeface="楷体_GB2312" pitchFamily="49" charset="-122"/>
              </a:rPr>
              <a:t>对象关系模型</a:t>
            </a:r>
            <a:r>
              <a:rPr lang="en-US" altLang="zh-CN" sz="2400" b="1" dirty="0" smtClean="0">
                <a:ea typeface="楷体_GB2312" pitchFamily="49" charset="-122"/>
              </a:rPr>
              <a:t>(Object Relational Model</a:t>
            </a:r>
            <a:r>
              <a:rPr lang="zh-CN" altLang="en-US" sz="2400" b="1" dirty="0" smtClean="0">
                <a:ea typeface="楷体_GB2312" pitchFamily="49" charset="-122"/>
              </a:rPr>
              <a:t>）</a:t>
            </a:r>
            <a:endParaRPr lang="en-US" altLang="zh-CN" sz="2400" b="1" dirty="0" smtClean="0">
              <a:ea typeface="楷体_GB2312" pitchFamily="49" charset="-122"/>
            </a:endParaRPr>
          </a:p>
          <a:p>
            <a:pPr algn="just" eaLnBrk="1" hangingPunct="1">
              <a:lnSpc>
                <a:spcPct val="125000"/>
              </a:lnSpc>
            </a:pPr>
            <a:r>
              <a:rPr lang="zh-CN" altLang="en-US" sz="2400" b="1" dirty="0" smtClean="0">
                <a:ea typeface="楷体_GB2312" pitchFamily="49" charset="-122"/>
              </a:rPr>
              <a:t>半结构化数据模型</a:t>
            </a:r>
            <a:r>
              <a:rPr lang="en-US" altLang="zh-CN" sz="2400" b="1" dirty="0" smtClean="0">
                <a:ea typeface="楷体_GB2312" pitchFamily="49" charset="-122"/>
              </a:rPr>
              <a:t>(semi structure data model)</a:t>
            </a:r>
            <a:endParaRPr lang="zh-CN" altLang="en-US" sz="2400" b="1" dirty="0" smtClean="0">
              <a:ea typeface="楷体_GB2312" pitchFamily="49" charset="-122"/>
            </a:endParaRPr>
          </a:p>
        </p:txBody>
      </p:sp>
      <p:sp>
        <p:nvSpPr>
          <p:cNvPr id="65541" name="Text Box 6"/>
          <p:cNvSpPr txBox="1">
            <a:spLocks noChangeArrowheads="1"/>
          </p:cNvSpPr>
          <p:nvPr/>
        </p:nvSpPr>
        <p:spPr bwMode="auto">
          <a:xfrm>
            <a:off x="428625" y="1143000"/>
            <a:ext cx="83200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kumimoji="1" lang="zh-CN" altLang="en-US" sz="3200" b="1">
                <a:solidFill>
                  <a:srgbClr val="FF0000"/>
                </a:solidFill>
                <a:latin typeface="Times New Roman" pitchFamily="18" charset="0"/>
              </a:rPr>
              <a:t>逻辑数据模型：</a:t>
            </a:r>
            <a:r>
              <a:rPr kumimoji="1" lang="zh-CN" altLang="en-US" sz="2800" b="1">
                <a:solidFill>
                  <a:srgbClr val="0000FF"/>
                </a:solidFill>
                <a:latin typeface="Times New Roman" pitchFamily="18" charset="0"/>
              </a:rPr>
              <a:t>是计算机能够理解，且被 </a:t>
            </a:r>
            <a:r>
              <a:rPr kumimoji="1" lang="en-US" altLang="zh-CN" sz="2800" b="1">
                <a:solidFill>
                  <a:srgbClr val="0000FF"/>
                </a:solidFill>
                <a:latin typeface="Times New Roman" pitchFamily="18" charset="0"/>
              </a:rPr>
              <a:t>DBMS </a:t>
            </a:r>
            <a:r>
              <a:rPr kumimoji="1" lang="zh-CN" altLang="en-US" sz="2800" b="1">
                <a:solidFill>
                  <a:srgbClr val="0000FF"/>
                </a:solidFill>
                <a:latin typeface="Times New Roman" pitchFamily="18" charset="0"/>
              </a:rPr>
              <a:t>支持的。</a:t>
            </a:r>
            <a:endParaRPr kumimoji="1" lang="zh-CN" altLang="en-US" sz="2400" b="1">
              <a:solidFill>
                <a:srgbClr val="0000FF"/>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636">
                                            <p:txEl>
                                              <p:pRg st="0" end="0"/>
                                            </p:txEl>
                                          </p:spTgt>
                                        </p:tgtEl>
                                        <p:attrNameLst>
                                          <p:attrName>style.visibility</p:attrName>
                                        </p:attrNameLst>
                                      </p:cBhvr>
                                      <p:to>
                                        <p:strVal val="visible"/>
                                      </p:to>
                                    </p:set>
                                    <p:anim calcmode="lin" valueType="num">
                                      <p:cBhvr additive="base">
                                        <p:cTn id="7" dur="500" fill="hold"/>
                                        <p:tgtEl>
                                          <p:spTgt spid="696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636">
                                            <p:txEl>
                                              <p:pRg st="1" end="1"/>
                                            </p:txEl>
                                          </p:spTgt>
                                        </p:tgtEl>
                                        <p:attrNameLst>
                                          <p:attrName>style.visibility</p:attrName>
                                        </p:attrNameLst>
                                      </p:cBhvr>
                                      <p:to>
                                        <p:strVal val="visible"/>
                                      </p:to>
                                    </p:set>
                                    <p:anim calcmode="lin" valueType="num">
                                      <p:cBhvr additive="base">
                                        <p:cTn id="13" dur="500" fill="hold"/>
                                        <p:tgtEl>
                                          <p:spTgt spid="696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96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9636">
                                            <p:txEl>
                                              <p:pRg st="2" end="2"/>
                                            </p:txEl>
                                          </p:spTgt>
                                        </p:tgtEl>
                                        <p:attrNameLst>
                                          <p:attrName>style.visibility</p:attrName>
                                        </p:attrNameLst>
                                      </p:cBhvr>
                                      <p:to>
                                        <p:strVal val="visible"/>
                                      </p:to>
                                    </p:set>
                                    <p:anim calcmode="lin" valueType="num">
                                      <p:cBhvr additive="base">
                                        <p:cTn id="19" dur="500" fill="hold"/>
                                        <p:tgtEl>
                                          <p:spTgt spid="6963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6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9636">
                                            <p:txEl>
                                              <p:pRg st="3" end="3"/>
                                            </p:txEl>
                                          </p:spTgt>
                                        </p:tgtEl>
                                        <p:attrNameLst>
                                          <p:attrName>style.visibility</p:attrName>
                                        </p:attrNameLst>
                                      </p:cBhvr>
                                      <p:to>
                                        <p:strVal val="visible"/>
                                      </p:to>
                                    </p:set>
                                    <p:anim calcmode="lin" valueType="num">
                                      <p:cBhvr additive="base">
                                        <p:cTn id="25" dur="500" fill="hold"/>
                                        <p:tgtEl>
                                          <p:spTgt spid="6963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963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9636">
                                            <p:txEl>
                                              <p:pRg st="4" end="4"/>
                                            </p:txEl>
                                          </p:spTgt>
                                        </p:tgtEl>
                                        <p:attrNameLst>
                                          <p:attrName>style.visibility</p:attrName>
                                        </p:attrNameLst>
                                      </p:cBhvr>
                                      <p:to>
                                        <p:strVal val="visible"/>
                                      </p:to>
                                    </p:set>
                                    <p:anim calcmode="lin" valueType="num">
                                      <p:cBhvr additive="base">
                                        <p:cTn id="31" dur="500" fill="hold"/>
                                        <p:tgtEl>
                                          <p:spTgt spid="6963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963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9636">
                                            <p:txEl>
                                              <p:pRg st="5" end="5"/>
                                            </p:txEl>
                                          </p:spTgt>
                                        </p:tgtEl>
                                        <p:attrNameLst>
                                          <p:attrName>style.visibility</p:attrName>
                                        </p:attrNameLst>
                                      </p:cBhvr>
                                      <p:to>
                                        <p:strVal val="visible"/>
                                      </p:to>
                                    </p:set>
                                    <p:anim calcmode="lin" valueType="num">
                                      <p:cBhvr additive="base">
                                        <p:cTn id="37" dur="500" fill="hold"/>
                                        <p:tgtEl>
                                          <p:spTgt spid="6963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963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9636">
                                            <p:txEl>
                                              <p:pRg st="6" end="6"/>
                                            </p:txEl>
                                          </p:spTgt>
                                        </p:tgtEl>
                                        <p:attrNameLst>
                                          <p:attrName>style.visibility</p:attrName>
                                        </p:attrNameLst>
                                      </p:cBhvr>
                                      <p:to>
                                        <p:strVal val="visible"/>
                                      </p:to>
                                    </p:set>
                                    <p:anim calcmode="lin" valueType="num">
                                      <p:cBhvr additive="base">
                                        <p:cTn id="43" dur="500" fill="hold"/>
                                        <p:tgtEl>
                                          <p:spTgt spid="6963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963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6"/>
          <p:cNvSpPr>
            <a:spLocks noGrp="1" noChangeArrowheads="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57320615-52BD-4C23-B249-B926E6F2E18B}" type="slidenum">
              <a:rPr lang="en-US" altLang="zh-CN" smtClean="0"/>
              <a:pPr algn="l" eaLnBrk="1" hangingPunct="1"/>
              <a:t>58</a:t>
            </a:fld>
            <a:endParaRPr lang="en-US" altLang="zh-CN" smtClean="0"/>
          </a:p>
        </p:txBody>
      </p:sp>
      <p:sp>
        <p:nvSpPr>
          <p:cNvPr id="66563" name="Rectangle 2"/>
          <p:cNvSpPr>
            <a:spLocks noGrp="1" noChangeArrowheads="1"/>
          </p:cNvSpPr>
          <p:nvPr>
            <p:ph type="title"/>
          </p:nvPr>
        </p:nvSpPr>
        <p:spPr>
          <a:xfrm>
            <a:off x="381000" y="115888"/>
            <a:ext cx="8382000" cy="914400"/>
          </a:xfrm>
        </p:spPr>
        <p:txBody>
          <a:bodyPr/>
          <a:lstStyle/>
          <a:p>
            <a:pPr eaLnBrk="1" hangingPunct="1"/>
            <a:r>
              <a:rPr lang="en-US" altLang="zh-CN" b="1" dirty="0" smtClean="0"/>
              <a:t> 1.2.4</a:t>
            </a:r>
            <a:r>
              <a:rPr lang="zh-CN" altLang="en-US" b="1" dirty="0" smtClean="0"/>
              <a:t>层次模型（采用树型结构）</a:t>
            </a:r>
            <a:endParaRPr lang="zh-CN" altLang="en-US" b="1" dirty="0" smtClean="0">
              <a:solidFill>
                <a:schemeClr val="tx1"/>
              </a:solidFill>
            </a:endParaRPr>
          </a:p>
        </p:txBody>
      </p:sp>
      <p:sp>
        <p:nvSpPr>
          <p:cNvPr id="66564" name="Rectangle 3"/>
          <p:cNvSpPr>
            <a:spLocks noGrp="1" noChangeArrowheads="1"/>
          </p:cNvSpPr>
          <p:nvPr>
            <p:ph type="body" idx="1"/>
          </p:nvPr>
        </p:nvSpPr>
        <p:spPr>
          <a:xfrm>
            <a:off x="107950" y="1052513"/>
            <a:ext cx="8640763" cy="2736850"/>
          </a:xfrm>
        </p:spPr>
        <p:txBody>
          <a:bodyPr/>
          <a:lstStyle/>
          <a:p>
            <a:pPr algn="just" eaLnBrk="1" hangingPunct="1">
              <a:lnSpc>
                <a:spcPct val="125000"/>
              </a:lnSpc>
            </a:pPr>
            <a:r>
              <a:rPr lang="zh-CN" altLang="en-US" sz="2800" b="1" smtClean="0">
                <a:ea typeface="楷体_GB2312" pitchFamily="49" charset="-122"/>
              </a:rPr>
              <a:t>优点</a:t>
            </a:r>
          </a:p>
          <a:p>
            <a:pPr lvl="1" algn="just" eaLnBrk="1" hangingPunct="1">
              <a:lnSpc>
                <a:spcPct val="125000"/>
              </a:lnSpc>
            </a:pPr>
            <a:r>
              <a:rPr lang="zh-CN" altLang="en-US" sz="2400" b="1" smtClean="0">
                <a:ea typeface="楷体_GB2312" pitchFamily="49" charset="-122"/>
              </a:rPr>
              <a:t>层次数据模型</a:t>
            </a:r>
            <a:r>
              <a:rPr lang="zh-CN" altLang="en-US" sz="2400" b="1" smtClean="0">
                <a:solidFill>
                  <a:srgbClr val="FF0000"/>
                </a:solidFill>
                <a:ea typeface="楷体_GB2312" pitchFamily="49" charset="-122"/>
              </a:rPr>
              <a:t>简单</a:t>
            </a:r>
            <a:r>
              <a:rPr lang="zh-CN" altLang="en-US" sz="2400" b="1" smtClean="0">
                <a:ea typeface="楷体_GB2312" pitchFamily="49" charset="-122"/>
              </a:rPr>
              <a:t>，对具有</a:t>
            </a:r>
            <a:r>
              <a:rPr lang="zh-CN" altLang="en-US" sz="2400" b="1" smtClean="0">
                <a:solidFill>
                  <a:srgbClr val="FF0000"/>
                </a:solidFill>
                <a:ea typeface="楷体_GB2312" pitchFamily="49" charset="-122"/>
              </a:rPr>
              <a:t>一对多</a:t>
            </a:r>
            <a:r>
              <a:rPr lang="zh-CN" altLang="en-US" sz="2400" b="1" smtClean="0">
                <a:ea typeface="楷体_GB2312" pitchFamily="49" charset="-122"/>
              </a:rPr>
              <a:t>的层次关系的部门描述自然、直观，容易理解</a:t>
            </a:r>
          </a:p>
          <a:p>
            <a:pPr lvl="1" algn="just" eaLnBrk="1" hangingPunct="1">
              <a:lnSpc>
                <a:spcPct val="125000"/>
              </a:lnSpc>
            </a:pPr>
            <a:r>
              <a:rPr lang="zh-CN" altLang="en-US" sz="2400" b="1" smtClean="0">
                <a:solidFill>
                  <a:srgbClr val="FF0000"/>
                </a:solidFill>
                <a:ea typeface="楷体_GB2312" pitchFamily="49" charset="-122"/>
              </a:rPr>
              <a:t>查询效率高</a:t>
            </a:r>
            <a:r>
              <a:rPr lang="zh-CN" altLang="en-US" sz="2400" b="1" smtClean="0">
                <a:ea typeface="楷体_GB2312" pitchFamily="49" charset="-122"/>
              </a:rPr>
              <a:t>，性能优于关系模型，不低于网状模型</a:t>
            </a:r>
          </a:p>
          <a:p>
            <a:pPr lvl="1" algn="just" eaLnBrk="1" hangingPunct="1">
              <a:lnSpc>
                <a:spcPct val="125000"/>
              </a:lnSpc>
            </a:pPr>
            <a:r>
              <a:rPr lang="zh-CN" altLang="en-US" sz="2400" b="1" smtClean="0">
                <a:ea typeface="楷体_GB2312" pitchFamily="49" charset="-122"/>
              </a:rPr>
              <a:t>层次数据模型提供了良好的</a:t>
            </a:r>
            <a:r>
              <a:rPr lang="zh-CN" altLang="en-US" sz="2400" b="1" smtClean="0">
                <a:solidFill>
                  <a:srgbClr val="FF0000"/>
                </a:solidFill>
                <a:ea typeface="楷体_GB2312" pitchFamily="49" charset="-122"/>
              </a:rPr>
              <a:t>完整性</a:t>
            </a:r>
            <a:r>
              <a:rPr lang="zh-CN" altLang="en-US" sz="2400" b="1" smtClean="0">
                <a:ea typeface="楷体_GB2312" pitchFamily="49" charset="-122"/>
              </a:rPr>
              <a:t>支持</a:t>
            </a:r>
          </a:p>
        </p:txBody>
      </p:sp>
      <p:sp>
        <p:nvSpPr>
          <p:cNvPr id="66565" name="Rectangle 3"/>
          <p:cNvSpPr txBox="1">
            <a:spLocks noChangeArrowheads="1"/>
          </p:cNvSpPr>
          <p:nvPr/>
        </p:nvSpPr>
        <p:spPr bwMode="auto">
          <a:xfrm>
            <a:off x="107950" y="3716338"/>
            <a:ext cx="817562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eaLnBrk="0" hangingPunct="0">
              <a:defRPr>
                <a:solidFill>
                  <a:schemeClr val="tx1"/>
                </a:solidFill>
                <a:latin typeface="Verdana" pitchFamily="34" charset="0"/>
                <a:ea typeface="宋体" pitchFamily="2" charset="-122"/>
              </a:defRPr>
            </a:lvl1pPr>
            <a:lvl2pPr marL="908050" indent="-436563"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20000"/>
              </a:spcBef>
              <a:buClr>
                <a:schemeClr val="accent2"/>
              </a:buClr>
              <a:buFont typeface="Wingdings" pitchFamily="2" charset="2"/>
              <a:buChar char="n"/>
            </a:pPr>
            <a:r>
              <a:rPr lang="zh-CN" altLang="en-US" sz="2800" b="1">
                <a:ea typeface="楷体_GB2312" pitchFamily="49" charset="-122"/>
              </a:rPr>
              <a:t>缺点</a:t>
            </a:r>
          </a:p>
          <a:p>
            <a:pPr lvl="1" eaLnBrk="1" hangingPunct="1">
              <a:spcBef>
                <a:spcPct val="20000"/>
              </a:spcBef>
              <a:buClr>
                <a:schemeClr val="accent2"/>
              </a:buClr>
              <a:buFont typeface="Wingdings" pitchFamily="2" charset="2"/>
              <a:buChar char="p"/>
            </a:pPr>
            <a:r>
              <a:rPr lang="zh-CN" altLang="en-US" sz="2400" b="1">
                <a:solidFill>
                  <a:srgbClr val="FF0000"/>
                </a:solidFill>
                <a:ea typeface="楷体_GB2312" pitchFamily="49" charset="-122"/>
              </a:rPr>
              <a:t>多对多</a:t>
            </a:r>
            <a:r>
              <a:rPr lang="zh-CN" altLang="en-US" sz="2400" b="1">
                <a:ea typeface="楷体_GB2312" pitchFamily="49" charset="-122"/>
              </a:rPr>
              <a:t>联系表示</a:t>
            </a:r>
            <a:r>
              <a:rPr lang="zh-CN" altLang="en-US" sz="2400" b="1">
                <a:solidFill>
                  <a:srgbClr val="FF0000"/>
                </a:solidFill>
                <a:ea typeface="楷体_GB2312" pitchFamily="49" charset="-122"/>
              </a:rPr>
              <a:t>不自然，不适合</a:t>
            </a:r>
          </a:p>
          <a:p>
            <a:pPr lvl="1" eaLnBrk="1" hangingPunct="1">
              <a:spcBef>
                <a:spcPct val="20000"/>
              </a:spcBef>
              <a:buClr>
                <a:schemeClr val="accent2"/>
              </a:buClr>
              <a:buFont typeface="Wingdings" pitchFamily="2" charset="2"/>
              <a:buChar char="p"/>
            </a:pPr>
            <a:r>
              <a:rPr lang="zh-CN" altLang="en-US" sz="2400" b="1">
                <a:ea typeface="楷体_GB2312" pitchFamily="49" charset="-122"/>
              </a:rPr>
              <a:t>对</a:t>
            </a:r>
            <a:r>
              <a:rPr lang="zh-CN" altLang="en-US" sz="2400" b="1">
                <a:solidFill>
                  <a:srgbClr val="FF0000"/>
                </a:solidFill>
                <a:ea typeface="楷体_GB2312" pitchFamily="49" charset="-122"/>
              </a:rPr>
              <a:t>插入和删除</a:t>
            </a:r>
            <a:r>
              <a:rPr lang="zh-CN" altLang="en-US" sz="2400" b="1">
                <a:ea typeface="楷体_GB2312" pitchFamily="49" charset="-122"/>
              </a:rPr>
              <a:t>操作的</a:t>
            </a:r>
            <a:r>
              <a:rPr lang="zh-CN" altLang="en-US" sz="2400" b="1">
                <a:solidFill>
                  <a:srgbClr val="FF0000"/>
                </a:solidFill>
                <a:ea typeface="楷体_GB2312" pitchFamily="49" charset="-122"/>
              </a:rPr>
              <a:t>限制多</a:t>
            </a:r>
            <a:r>
              <a:rPr lang="zh-CN" altLang="en-US" sz="2400" b="1">
                <a:ea typeface="楷体_GB2312" pitchFamily="49" charset="-122"/>
              </a:rPr>
              <a:t>，</a:t>
            </a:r>
            <a:r>
              <a:rPr lang="zh-CN" altLang="en-US" sz="2400" b="1">
                <a:solidFill>
                  <a:srgbClr val="FF0000"/>
                </a:solidFill>
                <a:ea typeface="楷体_GB2312" pitchFamily="49" charset="-122"/>
              </a:rPr>
              <a:t>查询</a:t>
            </a:r>
            <a:r>
              <a:rPr lang="zh-CN" altLang="en-US" sz="2400" b="1">
                <a:ea typeface="楷体_GB2312" pitchFamily="49" charset="-122"/>
              </a:rPr>
              <a:t>子女结点必须通过双亲结点</a:t>
            </a:r>
            <a:endParaRPr lang="en-US" altLang="zh-CN" sz="2400" b="1">
              <a:ea typeface="楷体_GB2312" pitchFamily="49" charset="-122"/>
            </a:endParaRPr>
          </a:p>
          <a:p>
            <a:pPr lvl="1" eaLnBrk="1" hangingPunct="1">
              <a:spcBef>
                <a:spcPct val="20000"/>
              </a:spcBef>
              <a:buClr>
                <a:schemeClr val="accent2"/>
              </a:buClr>
              <a:buFont typeface="Wingdings" pitchFamily="2" charset="2"/>
              <a:buChar char="p"/>
            </a:pPr>
            <a:r>
              <a:rPr lang="zh-CN" altLang="en-US" sz="2400" b="1">
                <a:ea typeface="楷体_GB2312" pitchFamily="49" charset="-122"/>
              </a:rPr>
              <a:t>由于结构严密，层次命令趋于程序化</a:t>
            </a:r>
          </a:p>
        </p:txBody>
      </p:sp>
    </p:spTree>
  </p:cSld>
  <p:clrMapOvr>
    <a:masterClrMapping/>
  </p:clrMapOvr>
  <p:transition advClick="0"/>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0337EA8A-10BE-4EF4-9FB6-0087C9A075FA}" type="slidenum">
              <a:rPr lang="en-US" altLang="zh-CN" smtClean="0"/>
              <a:pPr algn="l" eaLnBrk="1" hangingPunct="1"/>
              <a:t>59</a:t>
            </a:fld>
            <a:endParaRPr lang="en-US" altLang="zh-CN" smtClean="0"/>
          </a:p>
        </p:txBody>
      </p:sp>
      <p:sp>
        <p:nvSpPr>
          <p:cNvPr id="67587" name="Rectangle 2"/>
          <p:cNvSpPr>
            <a:spLocks noGrp="1" noChangeArrowheads="1"/>
          </p:cNvSpPr>
          <p:nvPr>
            <p:ph type="title"/>
          </p:nvPr>
        </p:nvSpPr>
        <p:spPr>
          <a:xfrm>
            <a:off x="457200" y="142875"/>
            <a:ext cx="8229600" cy="857250"/>
          </a:xfrm>
        </p:spPr>
        <p:txBody>
          <a:bodyPr/>
          <a:lstStyle/>
          <a:p>
            <a:pPr eaLnBrk="1" hangingPunct="1"/>
            <a:r>
              <a:rPr lang="en-US" altLang="zh-CN" b="1" dirty="0" smtClean="0"/>
              <a:t>1.2.5 </a:t>
            </a:r>
            <a:r>
              <a:rPr lang="zh-CN" altLang="en-US" b="1" dirty="0" smtClean="0"/>
              <a:t>网状模型（采用网状结构）</a:t>
            </a:r>
          </a:p>
        </p:txBody>
      </p:sp>
      <p:sp>
        <p:nvSpPr>
          <p:cNvPr id="67588" name="Rectangle 3"/>
          <p:cNvSpPr>
            <a:spLocks noGrp="1" noChangeArrowheads="1"/>
          </p:cNvSpPr>
          <p:nvPr>
            <p:ph type="body" idx="1"/>
          </p:nvPr>
        </p:nvSpPr>
        <p:spPr>
          <a:xfrm>
            <a:off x="250825" y="1125538"/>
            <a:ext cx="8713788" cy="2735262"/>
          </a:xfrm>
        </p:spPr>
        <p:txBody>
          <a:bodyPr/>
          <a:lstStyle/>
          <a:p>
            <a:pPr algn="just" eaLnBrk="1" hangingPunct="1">
              <a:lnSpc>
                <a:spcPct val="120000"/>
              </a:lnSpc>
            </a:pPr>
            <a:r>
              <a:rPr lang="zh-CN" altLang="en-US" sz="2600" b="1" smtClean="0">
                <a:ea typeface="楷体_GB2312" pitchFamily="49" charset="-122"/>
              </a:rPr>
              <a:t>优点</a:t>
            </a:r>
          </a:p>
          <a:p>
            <a:pPr lvl="1" algn="just" eaLnBrk="1" hangingPunct="1">
              <a:lnSpc>
                <a:spcPct val="120000"/>
              </a:lnSpc>
            </a:pPr>
            <a:r>
              <a:rPr lang="zh-CN" altLang="en-US" sz="2600" b="1" smtClean="0">
                <a:ea typeface="楷体_GB2312" pitchFamily="49" charset="-122"/>
              </a:rPr>
              <a:t>能够更为直接地描述现实世界，如一个结点可以有多个双亲。</a:t>
            </a:r>
          </a:p>
          <a:p>
            <a:pPr lvl="1" algn="just" eaLnBrk="1" hangingPunct="1">
              <a:lnSpc>
                <a:spcPct val="120000"/>
              </a:lnSpc>
            </a:pPr>
            <a:r>
              <a:rPr lang="zh-CN" altLang="en-US" sz="2600" b="1" smtClean="0">
                <a:ea typeface="楷体_GB2312" pitchFamily="49" charset="-122"/>
              </a:rPr>
              <a:t>具有良好的性能，存取效率较高。</a:t>
            </a:r>
          </a:p>
        </p:txBody>
      </p:sp>
      <p:sp>
        <p:nvSpPr>
          <p:cNvPr id="944133" name="Rectangle 5"/>
          <p:cNvSpPr>
            <a:spLocks noChangeArrowheads="1"/>
          </p:cNvSpPr>
          <p:nvPr/>
        </p:nvSpPr>
        <p:spPr bwMode="auto">
          <a:xfrm>
            <a:off x="250825" y="3284538"/>
            <a:ext cx="8713788"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20000"/>
              </a:spcBef>
              <a:buClr>
                <a:schemeClr val="accent6"/>
              </a:buClr>
              <a:buSzPct val="100000"/>
              <a:buFont typeface="Wingdings" pitchFamily="2" charset="2"/>
              <a:buChar char="n"/>
              <a:defRPr/>
            </a:pPr>
            <a:r>
              <a:rPr lang="zh-CN" altLang="en-US" sz="2600" b="1" dirty="0">
                <a:ea typeface="楷体_GB2312" pitchFamily="49" charset="-122"/>
              </a:rPr>
              <a:t>缺点</a:t>
            </a:r>
          </a:p>
          <a:p>
            <a:pPr marL="742950" lvl="1" indent="-285750">
              <a:lnSpc>
                <a:spcPct val="120000"/>
              </a:lnSpc>
              <a:spcBef>
                <a:spcPct val="20000"/>
              </a:spcBef>
              <a:buClr>
                <a:srgbClr val="996600"/>
              </a:buClr>
              <a:buSzPct val="75000"/>
              <a:buFont typeface="Wingdings" pitchFamily="2" charset="2"/>
              <a:buChar char="Ø"/>
              <a:defRPr/>
            </a:pPr>
            <a:r>
              <a:rPr lang="zh-CN" altLang="en-US" sz="2600" b="1" dirty="0">
                <a:solidFill>
                  <a:srgbClr val="FF0000"/>
                </a:solidFill>
                <a:ea typeface="楷体_GB2312" pitchFamily="49" charset="-122"/>
              </a:rPr>
              <a:t>结构比较复杂</a:t>
            </a:r>
            <a:r>
              <a:rPr lang="zh-CN" altLang="en-US" sz="2600" b="1" dirty="0">
                <a:ea typeface="楷体_GB2312" pitchFamily="49" charset="-122"/>
              </a:rPr>
              <a:t>，而且随着应用环境的扩大，数据库的结构就变得越来越复杂，不利于最终用户掌握。</a:t>
            </a:r>
          </a:p>
          <a:p>
            <a:pPr marL="742950" lvl="1" indent="-285750">
              <a:lnSpc>
                <a:spcPct val="120000"/>
              </a:lnSpc>
              <a:spcBef>
                <a:spcPct val="20000"/>
              </a:spcBef>
              <a:buClr>
                <a:srgbClr val="996600"/>
              </a:buClr>
              <a:buSzPct val="75000"/>
              <a:buFont typeface="Wingdings" pitchFamily="2" charset="2"/>
              <a:buChar char="Ø"/>
              <a:defRPr/>
            </a:pPr>
            <a:r>
              <a:rPr lang="en-US" altLang="zh-CN" sz="2600" b="1" dirty="0">
                <a:ea typeface="楷体_GB2312" pitchFamily="49" charset="-122"/>
              </a:rPr>
              <a:t>DDL</a:t>
            </a:r>
            <a:r>
              <a:rPr lang="zh-CN" altLang="en-US" sz="2600" b="1" dirty="0">
                <a:ea typeface="楷体_GB2312" pitchFamily="49" charset="-122"/>
              </a:rPr>
              <a:t>、</a:t>
            </a:r>
            <a:r>
              <a:rPr lang="en-US" altLang="zh-CN" sz="2600" b="1" dirty="0">
                <a:ea typeface="楷体_GB2312" pitchFamily="49" charset="-122"/>
              </a:rPr>
              <a:t>DML</a:t>
            </a:r>
            <a:r>
              <a:rPr lang="zh-CN" altLang="en-US" sz="2600" b="1" dirty="0">
                <a:solidFill>
                  <a:srgbClr val="FF0000"/>
                </a:solidFill>
                <a:ea typeface="楷体_GB2312" pitchFamily="49" charset="-122"/>
              </a:rPr>
              <a:t>语言复杂</a:t>
            </a:r>
            <a:r>
              <a:rPr lang="zh-CN" altLang="en-US" sz="2600" b="1" dirty="0">
                <a:ea typeface="楷体_GB2312" pitchFamily="49" charset="-122"/>
              </a:rPr>
              <a:t>，用户不容易使用。</a:t>
            </a:r>
            <a:endParaRPr lang="en-US" altLang="zh-CN" sz="2600" b="1" dirty="0">
              <a:ea typeface="楷体_GB2312" pitchFamily="49" charset="-122"/>
            </a:endParaRPr>
          </a:p>
          <a:p>
            <a:pPr marL="742950" lvl="1" indent="-285750">
              <a:lnSpc>
                <a:spcPct val="120000"/>
              </a:lnSpc>
              <a:spcBef>
                <a:spcPct val="20000"/>
              </a:spcBef>
              <a:buClr>
                <a:srgbClr val="996600"/>
              </a:buClr>
              <a:buSzPct val="75000"/>
              <a:buFont typeface="Wingdings" pitchFamily="2" charset="2"/>
              <a:buChar char="Ø"/>
              <a:defRPr/>
            </a:pPr>
            <a:r>
              <a:rPr lang="zh-CN" altLang="en-US" sz="2600" b="1" dirty="0">
                <a:ea typeface="楷体_GB2312" pitchFamily="49" charset="-122"/>
              </a:rPr>
              <a:t>应用程序访问数据时需要选择适当的</a:t>
            </a:r>
            <a:r>
              <a:rPr lang="zh-CN" altLang="en-US" sz="2600" b="1" dirty="0">
                <a:solidFill>
                  <a:srgbClr val="FF0000"/>
                </a:solidFill>
                <a:ea typeface="楷体_GB2312" pitchFamily="49" charset="-122"/>
              </a:rPr>
              <a:t>存取路径</a:t>
            </a:r>
            <a:r>
              <a:rPr lang="zh-CN" altLang="en-US" sz="2600" b="1" dirty="0">
                <a:ea typeface="楷体_GB2312" pitchFamily="49" charset="-122"/>
              </a:rPr>
              <a:t>。</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4133"/>
                                        </p:tgtEl>
                                        <p:attrNameLst>
                                          <p:attrName>style.visibility</p:attrName>
                                        </p:attrNameLst>
                                      </p:cBhvr>
                                      <p:to>
                                        <p:strVal val="visible"/>
                                      </p:to>
                                    </p:set>
                                    <p:animEffect transition="in" filter="blinds(horizontal)">
                                      <p:cBhvr>
                                        <p:cTn id="7" dur="500"/>
                                        <p:tgtEl>
                                          <p:spTgt spid="944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13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EFACE78F-7851-49BF-A6CC-F773D7F3F13C}" type="slidenum">
              <a:rPr lang="en-US" altLang="zh-CN" smtClean="0"/>
              <a:pPr algn="l" eaLnBrk="1" hangingPunct="1"/>
              <a:t>60</a:t>
            </a:fld>
            <a:endParaRPr lang="en-US" altLang="zh-CN" smtClean="0"/>
          </a:p>
        </p:txBody>
      </p:sp>
      <p:sp>
        <p:nvSpPr>
          <p:cNvPr id="68611" name="Rectangle 2"/>
          <p:cNvSpPr>
            <a:spLocks noGrp="1" noChangeArrowheads="1"/>
          </p:cNvSpPr>
          <p:nvPr>
            <p:ph type="title"/>
          </p:nvPr>
        </p:nvSpPr>
        <p:spPr/>
        <p:txBody>
          <a:bodyPr/>
          <a:lstStyle/>
          <a:p>
            <a:pPr eaLnBrk="1" hangingPunct="1"/>
            <a:r>
              <a:rPr lang="en-US" altLang="zh-CN" b="1" dirty="0" smtClean="0"/>
              <a:t>1.2.6 </a:t>
            </a:r>
            <a:r>
              <a:rPr lang="zh-CN" altLang="en-US" b="1" dirty="0" smtClean="0"/>
              <a:t>关系模型</a:t>
            </a:r>
          </a:p>
        </p:txBody>
      </p:sp>
      <p:sp>
        <p:nvSpPr>
          <p:cNvPr id="68612" name="Rectangle 3"/>
          <p:cNvSpPr>
            <a:spLocks noGrp="1" noChangeArrowheads="1"/>
          </p:cNvSpPr>
          <p:nvPr>
            <p:ph type="body" idx="1"/>
          </p:nvPr>
        </p:nvSpPr>
        <p:spPr>
          <a:xfrm>
            <a:off x="381000" y="1268413"/>
            <a:ext cx="8512175" cy="4210050"/>
          </a:xfrm>
        </p:spPr>
        <p:txBody>
          <a:bodyPr/>
          <a:lstStyle/>
          <a:p>
            <a:pPr algn="just" eaLnBrk="1" hangingPunct="1">
              <a:lnSpc>
                <a:spcPct val="150000"/>
              </a:lnSpc>
            </a:pPr>
            <a:r>
              <a:rPr lang="zh-CN" altLang="en-US" sz="2800" b="1" smtClean="0">
                <a:solidFill>
                  <a:srgbClr val="FF0000"/>
                </a:solidFill>
                <a:ea typeface="楷体_GB2312" pitchFamily="49" charset="-122"/>
              </a:rPr>
              <a:t>最重要的一种数据模型</a:t>
            </a:r>
            <a:r>
              <a:rPr lang="zh-CN" altLang="en-US" sz="2800" b="1" smtClean="0">
                <a:ea typeface="楷体_GB2312" pitchFamily="49" charset="-122"/>
              </a:rPr>
              <a:t>，关系数据库系统采用</a:t>
            </a:r>
            <a:r>
              <a:rPr lang="zh-CN" altLang="en-US" sz="2800" b="1" smtClean="0">
                <a:solidFill>
                  <a:srgbClr val="FF0000"/>
                </a:solidFill>
                <a:ea typeface="楷体_GB2312" pitchFamily="49" charset="-122"/>
              </a:rPr>
              <a:t>关系模型</a:t>
            </a:r>
            <a:r>
              <a:rPr lang="zh-CN" altLang="en-US" sz="2800" b="1" smtClean="0">
                <a:ea typeface="楷体_GB2312" pitchFamily="49" charset="-122"/>
              </a:rPr>
              <a:t>作为数据的组织方式。也是目前被广泛采用的。</a:t>
            </a:r>
          </a:p>
          <a:p>
            <a:pPr algn="just" eaLnBrk="1" hangingPunct="1">
              <a:lnSpc>
                <a:spcPct val="150000"/>
              </a:lnSpc>
            </a:pPr>
            <a:r>
              <a:rPr lang="en-US" altLang="zh-CN" sz="2800" b="1" smtClean="0">
                <a:ea typeface="楷体_GB2312" pitchFamily="49" charset="-122"/>
              </a:rPr>
              <a:t>1970</a:t>
            </a:r>
            <a:r>
              <a:rPr lang="zh-CN" altLang="en-US" sz="2800" b="1" smtClean="0">
                <a:ea typeface="楷体_GB2312" pitchFamily="49" charset="-122"/>
              </a:rPr>
              <a:t>年由美国</a:t>
            </a:r>
            <a:r>
              <a:rPr lang="en-US" altLang="zh-CN" sz="2800" b="1" smtClean="0">
                <a:ea typeface="楷体_GB2312" pitchFamily="49" charset="-122"/>
              </a:rPr>
              <a:t>IBM</a:t>
            </a:r>
            <a:r>
              <a:rPr lang="zh-CN" altLang="en-US" sz="2800" b="1" smtClean="0">
                <a:ea typeface="楷体_GB2312" pitchFamily="49" charset="-122"/>
              </a:rPr>
              <a:t>公司</a:t>
            </a:r>
            <a:r>
              <a:rPr lang="en-US" altLang="zh-CN" sz="2800" b="1" smtClean="0">
                <a:ea typeface="楷体_GB2312" pitchFamily="49" charset="-122"/>
              </a:rPr>
              <a:t>E.F.Codd</a:t>
            </a:r>
            <a:r>
              <a:rPr lang="zh-CN" altLang="en-US" sz="2800" b="1" smtClean="0">
                <a:ea typeface="楷体_GB2312" pitchFamily="49" charset="-122"/>
              </a:rPr>
              <a:t>提出并于</a:t>
            </a:r>
            <a:r>
              <a:rPr lang="en-US" altLang="zh-CN" sz="2800" b="1" smtClean="0">
                <a:ea typeface="楷体_GB2312" pitchFamily="49" charset="-122"/>
              </a:rPr>
              <a:t>1981</a:t>
            </a:r>
            <a:r>
              <a:rPr lang="zh-CN" altLang="en-US" sz="2800" b="1" smtClean="0">
                <a:ea typeface="楷体_GB2312" pitchFamily="49" charset="-122"/>
              </a:rPr>
              <a:t>年获图灵奖。</a:t>
            </a:r>
          </a:p>
          <a:p>
            <a:pPr algn="just" eaLnBrk="1" hangingPunct="1">
              <a:lnSpc>
                <a:spcPct val="150000"/>
              </a:lnSpc>
            </a:pPr>
            <a:r>
              <a:rPr lang="en-US" altLang="zh-CN" sz="2800" b="1" smtClean="0">
                <a:ea typeface="楷体_GB2312" pitchFamily="49" charset="-122"/>
              </a:rPr>
              <a:t>20</a:t>
            </a:r>
            <a:r>
              <a:rPr lang="zh-CN" altLang="en-US" sz="2800" b="1" smtClean="0">
                <a:ea typeface="楷体_GB2312" pitchFamily="49" charset="-122"/>
              </a:rPr>
              <a:t>世纪</a:t>
            </a:r>
            <a:r>
              <a:rPr lang="en-US" altLang="zh-CN" sz="2800" b="1" smtClean="0">
                <a:ea typeface="楷体_GB2312" pitchFamily="49" charset="-122"/>
              </a:rPr>
              <a:t>80</a:t>
            </a:r>
            <a:r>
              <a:rPr lang="zh-CN" altLang="en-US" sz="2800" b="1" smtClean="0">
                <a:ea typeface="楷体_GB2312" pitchFamily="49" charset="-122"/>
              </a:rPr>
              <a:t>年代以来，厂商新推出的数据库管理系统几乎都支持关系模型。</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3894BA13-6DA4-43AF-A86E-F644025C0BD8}" type="slidenum">
              <a:rPr lang="en-US" altLang="zh-CN" smtClean="0"/>
              <a:pPr algn="l" eaLnBrk="1" hangingPunct="1"/>
              <a:t>61</a:t>
            </a:fld>
            <a:endParaRPr lang="en-US" altLang="zh-CN" smtClean="0"/>
          </a:p>
        </p:txBody>
      </p:sp>
      <p:sp>
        <p:nvSpPr>
          <p:cNvPr id="69635" name="Rectangle 2"/>
          <p:cNvSpPr>
            <a:spLocks noGrp="1" noChangeArrowheads="1"/>
          </p:cNvSpPr>
          <p:nvPr>
            <p:ph type="title"/>
          </p:nvPr>
        </p:nvSpPr>
        <p:spPr/>
        <p:txBody>
          <a:bodyPr/>
          <a:lstStyle/>
          <a:p>
            <a:pPr eaLnBrk="1" hangingPunct="1"/>
            <a:r>
              <a:rPr lang="en-US" altLang="zh-CN" dirty="0" smtClean="0"/>
              <a:t>1.2.6 </a:t>
            </a:r>
            <a:r>
              <a:rPr lang="zh-CN" altLang="en-US" dirty="0" smtClean="0"/>
              <a:t>关系模型</a:t>
            </a:r>
          </a:p>
        </p:txBody>
      </p:sp>
      <p:sp>
        <p:nvSpPr>
          <p:cNvPr id="69636" name="Rectangle 3"/>
          <p:cNvSpPr>
            <a:spLocks noGrp="1" noChangeArrowheads="1"/>
          </p:cNvSpPr>
          <p:nvPr>
            <p:ph type="body" idx="1"/>
          </p:nvPr>
        </p:nvSpPr>
        <p:spPr>
          <a:xfrm>
            <a:off x="727075" y="1125538"/>
            <a:ext cx="7013575" cy="4525962"/>
          </a:xfrm>
        </p:spPr>
        <p:txBody>
          <a:bodyPr/>
          <a:lstStyle/>
          <a:p>
            <a:pPr algn="just" eaLnBrk="1" hangingPunct="1">
              <a:lnSpc>
                <a:spcPct val="120000"/>
              </a:lnSpc>
              <a:buFont typeface="Wingdings" pitchFamily="2" charset="2"/>
              <a:buNone/>
            </a:pPr>
            <a:r>
              <a:rPr lang="en-US" altLang="zh-CN" b="1" smtClean="0">
                <a:ea typeface="楷体_GB2312" pitchFamily="49" charset="-122"/>
                <a:hlinkClick r:id="rId2" action="ppaction://hlinksldjump"/>
              </a:rPr>
              <a:t>1. </a:t>
            </a:r>
            <a:r>
              <a:rPr lang="zh-CN" altLang="en-US" b="1" smtClean="0">
                <a:ea typeface="楷体_GB2312" pitchFamily="49" charset="-122"/>
                <a:hlinkClick r:id="rId2" action="ppaction://hlinksldjump"/>
              </a:rPr>
              <a:t>数据结构 </a:t>
            </a:r>
            <a:endParaRPr lang="zh-CN" altLang="en-US" b="1" smtClean="0">
              <a:ea typeface="楷体_GB2312" pitchFamily="49" charset="-122"/>
            </a:endParaRPr>
          </a:p>
          <a:p>
            <a:pPr algn="just" eaLnBrk="1" hangingPunct="1">
              <a:lnSpc>
                <a:spcPct val="120000"/>
              </a:lnSpc>
              <a:buFont typeface="Wingdings" pitchFamily="2" charset="2"/>
              <a:buNone/>
            </a:pPr>
            <a:r>
              <a:rPr lang="en-US" altLang="zh-CN" b="1" smtClean="0">
                <a:ea typeface="楷体_GB2312" pitchFamily="49" charset="-122"/>
                <a:hlinkClick r:id="rId3" action="ppaction://hlinksldjump"/>
              </a:rPr>
              <a:t>2. </a:t>
            </a:r>
            <a:r>
              <a:rPr lang="zh-CN" altLang="en-US" b="1" smtClean="0">
                <a:ea typeface="楷体_GB2312" pitchFamily="49" charset="-122"/>
                <a:hlinkClick r:id="rId3" action="ppaction://hlinksldjump"/>
              </a:rPr>
              <a:t>数据操纵</a:t>
            </a:r>
            <a:endParaRPr lang="zh-CN" altLang="en-US" b="1" smtClean="0">
              <a:ea typeface="楷体_GB2312" pitchFamily="49" charset="-122"/>
            </a:endParaRPr>
          </a:p>
          <a:p>
            <a:pPr algn="just" eaLnBrk="1" hangingPunct="1">
              <a:lnSpc>
                <a:spcPct val="120000"/>
              </a:lnSpc>
              <a:buFont typeface="Wingdings" pitchFamily="2" charset="2"/>
              <a:buNone/>
            </a:pPr>
            <a:r>
              <a:rPr lang="en-US" altLang="zh-CN" b="1" smtClean="0">
                <a:ea typeface="楷体_GB2312" pitchFamily="49" charset="-122"/>
                <a:hlinkClick r:id="rId4" action="ppaction://hlinksldjump"/>
              </a:rPr>
              <a:t>3. </a:t>
            </a:r>
            <a:r>
              <a:rPr lang="zh-CN" altLang="en-US" b="1" smtClean="0">
                <a:ea typeface="楷体_GB2312" pitchFamily="49" charset="-122"/>
                <a:hlinkClick r:id="rId4" action="ppaction://hlinksldjump"/>
              </a:rPr>
              <a:t>完整性约束 </a:t>
            </a:r>
            <a:r>
              <a:rPr lang="zh-CN" altLang="en-US" b="1" smtClean="0">
                <a:ea typeface="楷体_GB2312" pitchFamily="49" charset="-122"/>
                <a:hlinkClick r:id="rId5" action="ppaction://hlinksldjump"/>
              </a:rPr>
              <a:t> </a:t>
            </a:r>
            <a:endParaRPr lang="zh-CN" altLang="en-US" b="1" smtClean="0">
              <a:ea typeface="楷体_GB2312" pitchFamily="49" charset="-122"/>
            </a:endParaRPr>
          </a:p>
          <a:p>
            <a:pPr algn="just" eaLnBrk="1" hangingPunct="1">
              <a:lnSpc>
                <a:spcPct val="120000"/>
              </a:lnSpc>
              <a:buFont typeface="Wingdings" pitchFamily="2" charset="2"/>
              <a:buNone/>
            </a:pPr>
            <a:r>
              <a:rPr lang="en-US" altLang="zh-CN" b="1" smtClean="0">
                <a:ea typeface="楷体_GB2312" pitchFamily="49" charset="-122"/>
                <a:hlinkClick r:id="rId6" action="ppaction://hlinksldjump"/>
              </a:rPr>
              <a:t>4. </a:t>
            </a:r>
            <a:r>
              <a:rPr lang="zh-CN" altLang="en-US" b="1" smtClean="0">
                <a:ea typeface="楷体_GB2312" pitchFamily="49" charset="-122"/>
                <a:hlinkClick r:id="rId6" action="ppaction://hlinksldjump"/>
              </a:rPr>
              <a:t>优缺点</a:t>
            </a:r>
            <a:endParaRPr lang="zh-CN" altLang="en-US" b="1" smtClean="0">
              <a:ea typeface="楷体_GB2312" pitchFamily="49"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4"/>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7AAF2B15-CC8F-4FA9-99EC-118BC4240DCE}" type="slidenum">
              <a:rPr lang="en-US" altLang="zh-CN" smtClean="0"/>
              <a:pPr eaLnBrk="1" hangingPunct="1"/>
              <a:t>62</a:t>
            </a:fld>
            <a:endParaRPr lang="en-US" altLang="zh-CN" smtClean="0"/>
          </a:p>
        </p:txBody>
      </p:sp>
      <p:sp>
        <p:nvSpPr>
          <p:cNvPr id="70659" name="Rectangle 2"/>
          <p:cNvSpPr>
            <a:spLocks noGrp="1" noChangeArrowheads="1"/>
          </p:cNvSpPr>
          <p:nvPr>
            <p:ph type="title"/>
          </p:nvPr>
        </p:nvSpPr>
        <p:spPr/>
        <p:txBody>
          <a:bodyPr/>
          <a:lstStyle/>
          <a:p>
            <a:pPr eaLnBrk="1" hangingPunct="1"/>
            <a:r>
              <a:rPr lang="en-US" altLang="zh-CN" smtClean="0"/>
              <a:t>1.</a:t>
            </a:r>
            <a:r>
              <a:rPr lang="zh-CN" altLang="en-US" smtClean="0"/>
              <a:t>关系数据模型的数据结构 </a:t>
            </a:r>
          </a:p>
        </p:txBody>
      </p:sp>
      <p:sp>
        <p:nvSpPr>
          <p:cNvPr id="70660" name="Rectangle 3"/>
          <p:cNvSpPr>
            <a:spLocks noGrp="1" noChangeArrowheads="1"/>
          </p:cNvSpPr>
          <p:nvPr>
            <p:ph type="body" sz="half" idx="1"/>
          </p:nvPr>
        </p:nvSpPr>
        <p:spPr>
          <a:xfrm>
            <a:off x="179388" y="1268413"/>
            <a:ext cx="8820150" cy="1223962"/>
          </a:xfrm>
        </p:spPr>
        <p:txBody>
          <a:bodyPr/>
          <a:lstStyle/>
          <a:p>
            <a:pPr algn="just" eaLnBrk="1" hangingPunct="1">
              <a:lnSpc>
                <a:spcPct val="140000"/>
              </a:lnSpc>
            </a:pPr>
            <a:r>
              <a:rPr lang="zh-CN" altLang="en-US" sz="2600" b="1" smtClean="0">
                <a:ea typeface="楷体_GB2312" pitchFamily="49" charset="-122"/>
              </a:rPr>
              <a:t>在</a:t>
            </a:r>
            <a:r>
              <a:rPr lang="zh-CN" altLang="en-US" sz="2600" b="1" smtClean="0">
                <a:solidFill>
                  <a:srgbClr val="0000FF"/>
                </a:solidFill>
                <a:ea typeface="楷体_GB2312" pitchFamily="49" charset="-122"/>
              </a:rPr>
              <a:t>用户观点</a:t>
            </a:r>
            <a:r>
              <a:rPr lang="zh-CN" altLang="en-US" sz="2600" b="1" smtClean="0">
                <a:ea typeface="楷体_GB2312" pitchFamily="49" charset="-122"/>
              </a:rPr>
              <a:t>下，关系模型由一组关系组成，每个关系的数据结构是一张规范化的</a:t>
            </a:r>
            <a:r>
              <a:rPr lang="zh-CN" altLang="en-US" sz="2600" b="1" smtClean="0">
                <a:solidFill>
                  <a:srgbClr val="FF0000"/>
                </a:solidFill>
                <a:ea typeface="楷体_GB2312" pitchFamily="49" charset="-122"/>
              </a:rPr>
              <a:t>二维表</a:t>
            </a:r>
            <a:r>
              <a:rPr lang="zh-CN" altLang="en-US" sz="2600" b="1" smtClean="0">
                <a:ea typeface="楷体_GB2312" pitchFamily="49" charset="-122"/>
              </a:rPr>
              <a:t>，它由行和列组成。</a:t>
            </a:r>
          </a:p>
        </p:txBody>
      </p:sp>
      <p:sp>
        <p:nvSpPr>
          <p:cNvPr id="70661" name="Text Box 4"/>
          <p:cNvSpPr txBox="1">
            <a:spLocks noChangeArrowheads="1"/>
          </p:cNvSpPr>
          <p:nvPr/>
        </p:nvSpPr>
        <p:spPr bwMode="auto">
          <a:xfrm>
            <a:off x="3492500" y="2708275"/>
            <a:ext cx="1990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400">
                <a:latin typeface="Times New Roman" pitchFamily="18" charset="0"/>
                <a:ea typeface="楷体_GB2312" pitchFamily="49" charset="-122"/>
              </a:rPr>
              <a:t>学生登记表</a:t>
            </a:r>
          </a:p>
        </p:txBody>
      </p:sp>
      <p:grpSp>
        <p:nvGrpSpPr>
          <p:cNvPr id="2" name="Group 5"/>
          <p:cNvGrpSpPr>
            <a:grpSpLocks/>
          </p:cNvGrpSpPr>
          <p:nvPr/>
        </p:nvGrpSpPr>
        <p:grpSpPr bwMode="auto">
          <a:xfrm>
            <a:off x="611188" y="3357563"/>
            <a:ext cx="1368425" cy="2232025"/>
            <a:chOff x="1474" y="2387"/>
            <a:chExt cx="862" cy="1406"/>
          </a:xfrm>
        </p:grpSpPr>
        <p:sp>
          <p:nvSpPr>
            <p:cNvPr id="70697" name="Text Box 6"/>
            <p:cNvSpPr txBox="1">
              <a:spLocks noChangeArrowheads="1"/>
            </p:cNvSpPr>
            <p:nvPr/>
          </p:nvSpPr>
          <p:spPr bwMode="auto">
            <a:xfrm>
              <a:off x="1474" y="2387"/>
              <a:ext cx="862" cy="296"/>
            </a:xfrm>
            <a:prstGeom prst="rect">
              <a:avLst/>
            </a:prstGeom>
            <a:solidFill>
              <a:srgbClr val="99CC00"/>
            </a:solidFill>
            <a:ln w="12700" cap="sq">
              <a:solidFill>
                <a:schemeClr val="bg2"/>
              </a:solidFill>
              <a:miter lim="800000"/>
              <a:headEnd type="none" w="sm" len="sm"/>
              <a:tailEnd type="none" w="sm" len="sm"/>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学号</a:t>
              </a:r>
            </a:p>
          </p:txBody>
        </p:sp>
        <p:sp>
          <p:nvSpPr>
            <p:cNvPr id="70698" name="Text Box 7"/>
            <p:cNvSpPr txBox="1">
              <a:spLocks noChangeArrowheads="1"/>
            </p:cNvSpPr>
            <p:nvPr/>
          </p:nvSpPr>
          <p:spPr bwMode="auto">
            <a:xfrm>
              <a:off x="1474" y="2659"/>
              <a:ext cx="862" cy="296"/>
            </a:xfrm>
            <a:prstGeom prst="rect">
              <a:avLst/>
            </a:prstGeom>
            <a:solidFill>
              <a:srgbClr val="99CC00"/>
            </a:solidFill>
            <a:ln w="12700" cap="sq">
              <a:solidFill>
                <a:schemeClr val="bg2"/>
              </a:solidFill>
              <a:miter lim="800000"/>
              <a:headEnd type="none" w="sm" len="sm"/>
              <a:tailEnd type="none" w="sm" len="sm"/>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2005004</a:t>
              </a:r>
            </a:p>
          </p:txBody>
        </p:sp>
        <p:sp>
          <p:nvSpPr>
            <p:cNvPr id="70699" name="Text Box 8"/>
            <p:cNvSpPr txBox="1">
              <a:spLocks noChangeArrowheads="1"/>
            </p:cNvSpPr>
            <p:nvPr/>
          </p:nvSpPr>
          <p:spPr bwMode="auto">
            <a:xfrm>
              <a:off x="1474" y="2931"/>
              <a:ext cx="862" cy="296"/>
            </a:xfrm>
            <a:prstGeom prst="rect">
              <a:avLst/>
            </a:prstGeom>
            <a:solidFill>
              <a:srgbClr val="99CC00"/>
            </a:solidFill>
            <a:ln w="12700" cap="sq">
              <a:solidFill>
                <a:schemeClr val="bg2"/>
              </a:solidFill>
              <a:miter lim="800000"/>
              <a:headEnd type="none" w="sm" len="sm"/>
              <a:tailEnd type="none" w="sm" len="sm"/>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2005005</a:t>
              </a:r>
            </a:p>
          </p:txBody>
        </p:sp>
        <p:sp>
          <p:nvSpPr>
            <p:cNvPr id="70700" name="Text Box 9"/>
            <p:cNvSpPr txBox="1">
              <a:spLocks noChangeArrowheads="1"/>
            </p:cNvSpPr>
            <p:nvPr/>
          </p:nvSpPr>
          <p:spPr bwMode="auto">
            <a:xfrm>
              <a:off x="1474" y="3203"/>
              <a:ext cx="862" cy="296"/>
            </a:xfrm>
            <a:prstGeom prst="rect">
              <a:avLst/>
            </a:prstGeom>
            <a:solidFill>
              <a:srgbClr val="99CC00"/>
            </a:solidFill>
            <a:ln w="12700" cap="sq">
              <a:solidFill>
                <a:schemeClr val="bg2"/>
              </a:solidFill>
              <a:miter lim="800000"/>
              <a:headEnd type="none" w="sm" len="sm"/>
              <a:tailEnd type="none" w="sm" len="sm"/>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2005006</a:t>
              </a:r>
            </a:p>
          </p:txBody>
        </p:sp>
        <p:sp>
          <p:nvSpPr>
            <p:cNvPr id="70701" name="Text Box 10"/>
            <p:cNvSpPr txBox="1">
              <a:spLocks noChangeArrowheads="1"/>
            </p:cNvSpPr>
            <p:nvPr/>
          </p:nvSpPr>
          <p:spPr bwMode="auto">
            <a:xfrm>
              <a:off x="1474" y="3497"/>
              <a:ext cx="862" cy="296"/>
            </a:xfrm>
            <a:prstGeom prst="rect">
              <a:avLst/>
            </a:prstGeom>
            <a:solidFill>
              <a:srgbClr val="99CC00"/>
            </a:solidFill>
            <a:ln w="12700" cap="sq">
              <a:solidFill>
                <a:schemeClr val="bg2"/>
              </a:solidFill>
              <a:miter lim="800000"/>
              <a:headEnd type="none" w="sm" len="sm"/>
              <a:tailEnd type="none" w="sm" len="sm"/>
            </a:ln>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grpSp>
      <p:grpSp>
        <p:nvGrpSpPr>
          <p:cNvPr id="70663" name="Group 11"/>
          <p:cNvGrpSpPr>
            <a:grpSpLocks/>
          </p:cNvGrpSpPr>
          <p:nvPr/>
        </p:nvGrpSpPr>
        <p:grpSpPr bwMode="auto">
          <a:xfrm>
            <a:off x="1979613" y="3357563"/>
            <a:ext cx="1368425" cy="2232025"/>
            <a:chOff x="1474" y="2387"/>
            <a:chExt cx="862" cy="1406"/>
          </a:xfrm>
        </p:grpSpPr>
        <p:sp>
          <p:nvSpPr>
            <p:cNvPr id="70692" name="Text Box 12"/>
            <p:cNvSpPr txBox="1">
              <a:spLocks noChangeArrowheads="1"/>
            </p:cNvSpPr>
            <p:nvPr/>
          </p:nvSpPr>
          <p:spPr bwMode="auto">
            <a:xfrm>
              <a:off x="1474" y="2387"/>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姓名</a:t>
              </a:r>
            </a:p>
          </p:txBody>
        </p:sp>
        <p:sp>
          <p:nvSpPr>
            <p:cNvPr id="70693" name="Text Box 13"/>
            <p:cNvSpPr txBox="1">
              <a:spLocks noChangeArrowheads="1"/>
            </p:cNvSpPr>
            <p:nvPr/>
          </p:nvSpPr>
          <p:spPr bwMode="auto">
            <a:xfrm>
              <a:off x="1474" y="2659"/>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张三</a:t>
              </a:r>
            </a:p>
          </p:txBody>
        </p:sp>
        <p:sp>
          <p:nvSpPr>
            <p:cNvPr id="70694" name="Text Box 14"/>
            <p:cNvSpPr txBox="1">
              <a:spLocks noChangeArrowheads="1"/>
            </p:cNvSpPr>
            <p:nvPr/>
          </p:nvSpPr>
          <p:spPr bwMode="auto">
            <a:xfrm>
              <a:off x="1474" y="2931"/>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李四</a:t>
              </a:r>
            </a:p>
          </p:txBody>
        </p:sp>
        <p:sp>
          <p:nvSpPr>
            <p:cNvPr id="70695" name="Text Box 15"/>
            <p:cNvSpPr txBox="1">
              <a:spLocks noChangeArrowheads="1"/>
            </p:cNvSpPr>
            <p:nvPr/>
          </p:nvSpPr>
          <p:spPr bwMode="auto">
            <a:xfrm>
              <a:off x="1474" y="3203"/>
              <a:ext cx="8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王五</a:t>
              </a:r>
            </a:p>
          </p:txBody>
        </p:sp>
        <p:sp>
          <p:nvSpPr>
            <p:cNvPr id="70696" name="Text Box 16"/>
            <p:cNvSpPr txBox="1">
              <a:spLocks noChangeArrowheads="1"/>
            </p:cNvSpPr>
            <p:nvPr/>
          </p:nvSpPr>
          <p:spPr bwMode="auto">
            <a:xfrm>
              <a:off x="1474" y="3497"/>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grpSp>
      <p:grpSp>
        <p:nvGrpSpPr>
          <p:cNvPr id="70664" name="Group 17"/>
          <p:cNvGrpSpPr>
            <a:grpSpLocks/>
          </p:cNvGrpSpPr>
          <p:nvPr/>
        </p:nvGrpSpPr>
        <p:grpSpPr bwMode="auto">
          <a:xfrm>
            <a:off x="3348038" y="3357563"/>
            <a:ext cx="1368425" cy="2232025"/>
            <a:chOff x="1474" y="2387"/>
            <a:chExt cx="862" cy="1406"/>
          </a:xfrm>
        </p:grpSpPr>
        <p:sp>
          <p:nvSpPr>
            <p:cNvPr id="70687" name="Text Box 18"/>
            <p:cNvSpPr txBox="1">
              <a:spLocks noChangeArrowheads="1"/>
            </p:cNvSpPr>
            <p:nvPr/>
          </p:nvSpPr>
          <p:spPr bwMode="auto">
            <a:xfrm>
              <a:off x="1474" y="2387"/>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年龄</a:t>
              </a:r>
            </a:p>
          </p:txBody>
        </p:sp>
        <p:sp>
          <p:nvSpPr>
            <p:cNvPr id="70688" name="Text Box 19"/>
            <p:cNvSpPr txBox="1">
              <a:spLocks noChangeArrowheads="1"/>
            </p:cNvSpPr>
            <p:nvPr/>
          </p:nvSpPr>
          <p:spPr bwMode="auto">
            <a:xfrm>
              <a:off x="1474" y="2659"/>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19</a:t>
              </a:r>
            </a:p>
          </p:txBody>
        </p:sp>
        <p:sp>
          <p:nvSpPr>
            <p:cNvPr id="70689" name="Text Box 20"/>
            <p:cNvSpPr txBox="1">
              <a:spLocks noChangeArrowheads="1"/>
            </p:cNvSpPr>
            <p:nvPr/>
          </p:nvSpPr>
          <p:spPr bwMode="auto">
            <a:xfrm>
              <a:off x="1474" y="2931"/>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20</a:t>
              </a:r>
            </a:p>
          </p:txBody>
        </p:sp>
        <p:sp>
          <p:nvSpPr>
            <p:cNvPr id="70690" name="Text Box 21"/>
            <p:cNvSpPr txBox="1">
              <a:spLocks noChangeArrowheads="1"/>
            </p:cNvSpPr>
            <p:nvPr/>
          </p:nvSpPr>
          <p:spPr bwMode="auto">
            <a:xfrm>
              <a:off x="1474" y="3203"/>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18</a:t>
              </a:r>
            </a:p>
          </p:txBody>
        </p:sp>
        <p:sp>
          <p:nvSpPr>
            <p:cNvPr id="70691" name="Text Box 22"/>
            <p:cNvSpPr txBox="1">
              <a:spLocks noChangeArrowheads="1"/>
            </p:cNvSpPr>
            <p:nvPr/>
          </p:nvSpPr>
          <p:spPr bwMode="auto">
            <a:xfrm>
              <a:off x="1474" y="3497"/>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grpSp>
      <p:grpSp>
        <p:nvGrpSpPr>
          <p:cNvPr id="70665" name="Group 23"/>
          <p:cNvGrpSpPr>
            <a:grpSpLocks/>
          </p:cNvGrpSpPr>
          <p:nvPr/>
        </p:nvGrpSpPr>
        <p:grpSpPr bwMode="auto">
          <a:xfrm>
            <a:off x="4716463" y="3357563"/>
            <a:ext cx="1368425" cy="2232025"/>
            <a:chOff x="1474" y="2387"/>
            <a:chExt cx="862" cy="1406"/>
          </a:xfrm>
        </p:grpSpPr>
        <p:sp>
          <p:nvSpPr>
            <p:cNvPr id="70682" name="Text Box 24"/>
            <p:cNvSpPr txBox="1">
              <a:spLocks noChangeArrowheads="1"/>
            </p:cNvSpPr>
            <p:nvPr/>
          </p:nvSpPr>
          <p:spPr bwMode="auto">
            <a:xfrm>
              <a:off x="1474" y="2387"/>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性别</a:t>
              </a:r>
            </a:p>
          </p:txBody>
        </p:sp>
        <p:sp>
          <p:nvSpPr>
            <p:cNvPr id="70683" name="Text Box 25"/>
            <p:cNvSpPr txBox="1">
              <a:spLocks noChangeArrowheads="1"/>
            </p:cNvSpPr>
            <p:nvPr/>
          </p:nvSpPr>
          <p:spPr bwMode="auto">
            <a:xfrm>
              <a:off x="1474" y="2659"/>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男</a:t>
              </a:r>
            </a:p>
          </p:txBody>
        </p:sp>
        <p:sp>
          <p:nvSpPr>
            <p:cNvPr id="70684" name="Text Box 26"/>
            <p:cNvSpPr txBox="1">
              <a:spLocks noChangeArrowheads="1"/>
            </p:cNvSpPr>
            <p:nvPr/>
          </p:nvSpPr>
          <p:spPr bwMode="auto">
            <a:xfrm>
              <a:off x="1474" y="2931"/>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女</a:t>
              </a:r>
            </a:p>
          </p:txBody>
        </p:sp>
        <p:sp>
          <p:nvSpPr>
            <p:cNvPr id="70685" name="Text Box 27"/>
            <p:cNvSpPr txBox="1">
              <a:spLocks noChangeArrowheads="1"/>
            </p:cNvSpPr>
            <p:nvPr/>
          </p:nvSpPr>
          <p:spPr bwMode="auto">
            <a:xfrm>
              <a:off x="1474" y="3203"/>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男</a:t>
              </a:r>
            </a:p>
          </p:txBody>
        </p:sp>
        <p:sp>
          <p:nvSpPr>
            <p:cNvPr id="70686" name="Text Box 28"/>
            <p:cNvSpPr txBox="1">
              <a:spLocks noChangeArrowheads="1"/>
            </p:cNvSpPr>
            <p:nvPr/>
          </p:nvSpPr>
          <p:spPr bwMode="auto">
            <a:xfrm>
              <a:off x="1474" y="3497"/>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grpSp>
      <p:grpSp>
        <p:nvGrpSpPr>
          <p:cNvPr id="70666" name="Group 29"/>
          <p:cNvGrpSpPr>
            <a:grpSpLocks/>
          </p:cNvGrpSpPr>
          <p:nvPr/>
        </p:nvGrpSpPr>
        <p:grpSpPr bwMode="auto">
          <a:xfrm>
            <a:off x="6084888" y="3357563"/>
            <a:ext cx="1368425" cy="2232025"/>
            <a:chOff x="1474" y="2387"/>
            <a:chExt cx="862" cy="1406"/>
          </a:xfrm>
        </p:grpSpPr>
        <p:sp>
          <p:nvSpPr>
            <p:cNvPr id="70677" name="Text Box 30"/>
            <p:cNvSpPr txBox="1">
              <a:spLocks noChangeArrowheads="1"/>
            </p:cNvSpPr>
            <p:nvPr/>
          </p:nvSpPr>
          <p:spPr bwMode="auto">
            <a:xfrm>
              <a:off x="1474" y="2387"/>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系名</a:t>
              </a:r>
            </a:p>
          </p:txBody>
        </p:sp>
        <p:sp>
          <p:nvSpPr>
            <p:cNvPr id="70678" name="Text Box 31"/>
            <p:cNvSpPr txBox="1">
              <a:spLocks noChangeArrowheads="1"/>
            </p:cNvSpPr>
            <p:nvPr/>
          </p:nvSpPr>
          <p:spPr bwMode="auto">
            <a:xfrm>
              <a:off x="1474" y="2659"/>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体育系</a:t>
              </a:r>
            </a:p>
          </p:txBody>
        </p:sp>
        <p:sp>
          <p:nvSpPr>
            <p:cNvPr id="70679" name="Text Box 32"/>
            <p:cNvSpPr txBox="1">
              <a:spLocks noChangeArrowheads="1"/>
            </p:cNvSpPr>
            <p:nvPr/>
          </p:nvSpPr>
          <p:spPr bwMode="auto">
            <a:xfrm>
              <a:off x="1474" y="2931"/>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数学系</a:t>
              </a:r>
            </a:p>
          </p:txBody>
        </p:sp>
        <p:sp>
          <p:nvSpPr>
            <p:cNvPr id="70680" name="Text Box 33"/>
            <p:cNvSpPr txBox="1">
              <a:spLocks noChangeArrowheads="1"/>
            </p:cNvSpPr>
            <p:nvPr/>
          </p:nvSpPr>
          <p:spPr bwMode="auto">
            <a:xfrm>
              <a:off x="1474" y="3203"/>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外语系</a:t>
              </a:r>
            </a:p>
          </p:txBody>
        </p:sp>
        <p:sp>
          <p:nvSpPr>
            <p:cNvPr id="70681" name="Text Box 34"/>
            <p:cNvSpPr txBox="1">
              <a:spLocks noChangeArrowheads="1"/>
            </p:cNvSpPr>
            <p:nvPr/>
          </p:nvSpPr>
          <p:spPr bwMode="auto">
            <a:xfrm>
              <a:off x="1474" y="3497"/>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grpSp>
      <p:grpSp>
        <p:nvGrpSpPr>
          <p:cNvPr id="70667" name="Group 35"/>
          <p:cNvGrpSpPr>
            <a:grpSpLocks/>
          </p:cNvGrpSpPr>
          <p:nvPr/>
        </p:nvGrpSpPr>
        <p:grpSpPr bwMode="auto">
          <a:xfrm>
            <a:off x="7453313" y="3357563"/>
            <a:ext cx="1368425" cy="2232025"/>
            <a:chOff x="1474" y="2387"/>
            <a:chExt cx="862" cy="1406"/>
          </a:xfrm>
        </p:grpSpPr>
        <p:sp>
          <p:nvSpPr>
            <p:cNvPr id="70672" name="Text Box 36"/>
            <p:cNvSpPr txBox="1">
              <a:spLocks noChangeArrowheads="1"/>
            </p:cNvSpPr>
            <p:nvPr/>
          </p:nvSpPr>
          <p:spPr bwMode="auto">
            <a:xfrm>
              <a:off x="1474" y="2387"/>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zh-CN" altLang="en-US" sz="2400">
                  <a:latin typeface="Times New Roman" pitchFamily="18" charset="0"/>
                  <a:ea typeface="楷体_GB2312" pitchFamily="49" charset="-122"/>
                </a:rPr>
                <a:t>年级</a:t>
              </a:r>
            </a:p>
          </p:txBody>
        </p:sp>
        <p:sp>
          <p:nvSpPr>
            <p:cNvPr id="70673" name="Text Box 37"/>
            <p:cNvSpPr txBox="1">
              <a:spLocks noChangeArrowheads="1"/>
            </p:cNvSpPr>
            <p:nvPr/>
          </p:nvSpPr>
          <p:spPr bwMode="auto">
            <a:xfrm>
              <a:off x="1474" y="2659"/>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2005</a:t>
              </a:r>
            </a:p>
          </p:txBody>
        </p:sp>
        <p:sp>
          <p:nvSpPr>
            <p:cNvPr id="70674" name="Text Box 38"/>
            <p:cNvSpPr txBox="1">
              <a:spLocks noChangeArrowheads="1"/>
            </p:cNvSpPr>
            <p:nvPr/>
          </p:nvSpPr>
          <p:spPr bwMode="auto">
            <a:xfrm>
              <a:off x="1474" y="2931"/>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2005</a:t>
              </a:r>
            </a:p>
          </p:txBody>
        </p:sp>
        <p:sp>
          <p:nvSpPr>
            <p:cNvPr id="70675" name="Text Box 39"/>
            <p:cNvSpPr txBox="1">
              <a:spLocks noChangeArrowheads="1"/>
            </p:cNvSpPr>
            <p:nvPr/>
          </p:nvSpPr>
          <p:spPr bwMode="auto">
            <a:xfrm>
              <a:off x="1474" y="3203"/>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2005</a:t>
              </a:r>
            </a:p>
          </p:txBody>
        </p:sp>
        <p:sp>
          <p:nvSpPr>
            <p:cNvPr id="70676" name="Text Box 40"/>
            <p:cNvSpPr txBox="1">
              <a:spLocks noChangeArrowheads="1"/>
            </p:cNvSpPr>
            <p:nvPr/>
          </p:nvSpPr>
          <p:spPr bwMode="auto">
            <a:xfrm>
              <a:off x="1474" y="3497"/>
              <a:ext cx="862" cy="296"/>
            </a:xfrm>
            <a:prstGeom prst="rect">
              <a:avLst/>
            </a:prstGeom>
            <a:noFill/>
            <a:ln w="127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grpSp>
      <p:sp>
        <p:nvSpPr>
          <p:cNvPr id="1090601" name="AutoShape 41"/>
          <p:cNvSpPr>
            <a:spLocks noChangeArrowheads="1"/>
          </p:cNvSpPr>
          <p:nvPr/>
        </p:nvSpPr>
        <p:spPr bwMode="auto">
          <a:xfrm>
            <a:off x="250825" y="2636838"/>
            <a:ext cx="914400" cy="609600"/>
          </a:xfrm>
          <a:prstGeom prst="wedgeRectCallout">
            <a:avLst>
              <a:gd name="adj1" fmla="val 103472"/>
              <a:gd name="adj2" fmla="val 114583"/>
            </a:avLst>
          </a:prstGeom>
          <a:solidFill>
            <a:srgbClr val="CC99FF"/>
          </a:solidFill>
          <a:ln w="25400" algn="ctr">
            <a:solidFill>
              <a:schemeClr val="tx1"/>
            </a:solidFill>
            <a:miter lim="800000"/>
            <a:headEnd/>
            <a:tailEnd/>
          </a:ln>
        </p:spPr>
        <p:txBody>
          <a:bodyPr anchor="ctr"/>
          <a:lstStyle/>
          <a:p>
            <a:pPr marL="342900" indent="-342900"/>
            <a:r>
              <a:rPr lang="zh-CN" altLang="en-US" sz="2400">
                <a:latin typeface="Times New Roman" pitchFamily="18" charset="0"/>
                <a:ea typeface="楷体_GB2312" pitchFamily="49" charset="-122"/>
              </a:rPr>
              <a:t>属性</a:t>
            </a:r>
          </a:p>
        </p:txBody>
      </p:sp>
      <p:sp>
        <p:nvSpPr>
          <p:cNvPr id="1090602" name="Rectangle 42"/>
          <p:cNvSpPr>
            <a:spLocks noChangeArrowheads="1"/>
          </p:cNvSpPr>
          <p:nvPr/>
        </p:nvSpPr>
        <p:spPr bwMode="auto">
          <a:xfrm>
            <a:off x="611188" y="3789363"/>
            <a:ext cx="8208962" cy="431800"/>
          </a:xfrm>
          <a:prstGeom prst="rect">
            <a:avLst/>
          </a:prstGeom>
          <a:noFill/>
          <a:ln w="28575"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90603" name="AutoShape 43"/>
          <p:cNvSpPr>
            <a:spLocks noChangeArrowheads="1"/>
          </p:cNvSpPr>
          <p:nvPr/>
        </p:nvSpPr>
        <p:spPr bwMode="auto">
          <a:xfrm>
            <a:off x="7402513" y="2387600"/>
            <a:ext cx="914400" cy="609600"/>
          </a:xfrm>
          <a:prstGeom prst="wedgeRectCallout">
            <a:avLst>
              <a:gd name="adj1" fmla="val -70315"/>
              <a:gd name="adj2" fmla="val 204426"/>
            </a:avLst>
          </a:prstGeom>
          <a:solidFill>
            <a:srgbClr val="CC99FF"/>
          </a:solidFill>
          <a:ln w="25400" algn="ctr">
            <a:solidFill>
              <a:schemeClr val="tx1"/>
            </a:solidFill>
            <a:miter lim="800000"/>
            <a:headEnd/>
            <a:tailEnd/>
          </a:ln>
        </p:spPr>
        <p:txBody>
          <a:bodyPr anchor="ctr"/>
          <a:lstStyle/>
          <a:p>
            <a:pPr marL="342900" indent="-342900"/>
            <a:r>
              <a:rPr lang="zh-CN" altLang="en-US" sz="2400">
                <a:latin typeface="Times New Roman" pitchFamily="18" charset="0"/>
                <a:ea typeface="楷体_GB2312" pitchFamily="49" charset="-122"/>
              </a:rPr>
              <a:t>元组</a:t>
            </a:r>
          </a:p>
        </p:txBody>
      </p:sp>
      <p:sp>
        <p:nvSpPr>
          <p:cNvPr id="1090604" name="AutoShape 44"/>
          <p:cNvSpPr>
            <a:spLocks noChangeArrowheads="1"/>
          </p:cNvSpPr>
          <p:nvPr/>
        </p:nvSpPr>
        <p:spPr bwMode="auto">
          <a:xfrm>
            <a:off x="1619250" y="2852738"/>
            <a:ext cx="914400" cy="609600"/>
          </a:xfrm>
          <a:prstGeom prst="wedgeRectCallout">
            <a:avLst>
              <a:gd name="adj1" fmla="val 103472"/>
              <a:gd name="adj2" fmla="val 114583"/>
            </a:avLst>
          </a:prstGeom>
          <a:solidFill>
            <a:srgbClr val="CC99FF"/>
          </a:solidFill>
          <a:ln w="25400" algn="ctr">
            <a:solidFill>
              <a:schemeClr val="tx1"/>
            </a:solidFill>
            <a:miter lim="800000"/>
            <a:headEnd/>
            <a:tailEnd/>
          </a:ln>
        </p:spPr>
        <p:txBody>
          <a:bodyPr anchor="ctr"/>
          <a:lstStyle/>
          <a:p>
            <a:pPr marL="342900" indent="-342900"/>
            <a:r>
              <a:rPr lang="zh-CN" altLang="en-US" sz="2400">
                <a:latin typeface="Times New Roman" pitchFamily="18" charset="0"/>
                <a:ea typeface="楷体_GB2312" pitchFamily="49" charset="-122"/>
              </a:rPr>
              <a:t>分量</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1090601"/>
                                        </p:tgtEl>
                                        <p:attrNameLst>
                                          <p:attrName>style.visibility</p:attrName>
                                        </p:attrNameLst>
                                      </p:cBhvr>
                                      <p:to>
                                        <p:strVal val="visible"/>
                                      </p:to>
                                    </p:set>
                                    <p:anim calcmode="lin" valueType="num">
                                      <p:cBhvr additive="base">
                                        <p:cTn id="11" dur="500" fill="hold"/>
                                        <p:tgtEl>
                                          <p:spTgt spid="1090601"/>
                                        </p:tgtEl>
                                        <p:attrNameLst>
                                          <p:attrName>ppt_x</p:attrName>
                                        </p:attrNameLst>
                                      </p:cBhvr>
                                      <p:tavLst>
                                        <p:tav tm="0">
                                          <p:val>
                                            <p:strVal val="0-#ppt_w/2"/>
                                          </p:val>
                                        </p:tav>
                                        <p:tav tm="100000">
                                          <p:val>
                                            <p:strVal val="#ppt_x"/>
                                          </p:val>
                                        </p:tav>
                                      </p:tavLst>
                                    </p:anim>
                                    <p:anim calcmode="lin" valueType="num">
                                      <p:cBhvr additive="base">
                                        <p:cTn id="12" dur="500" fill="hold"/>
                                        <p:tgtEl>
                                          <p:spTgt spid="1090601"/>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1090602"/>
                                        </p:tgtEl>
                                        <p:attrNameLst>
                                          <p:attrName>style.visibility</p:attrName>
                                        </p:attrNameLst>
                                      </p:cBhvr>
                                      <p:to>
                                        <p:strVal val="visible"/>
                                      </p:to>
                                    </p:set>
                                    <p:animEffect transition="in" filter="wedge">
                                      <p:cBhvr>
                                        <p:cTn id="17" dur="1000"/>
                                        <p:tgtEl>
                                          <p:spTgt spid="1090602"/>
                                        </p:tgtEl>
                                      </p:cBhvr>
                                    </p:animEffect>
                                  </p:childTnLst>
                                  <p:subTnLst>
                                    <p:animClr clrSpc="rgb" dir="cw">
                                      <p:cBhvr override="childStyle">
                                        <p:cTn dur="1" fill="hold" display="0" masterRel="nextClick" afterEffect="1"/>
                                        <p:tgtEl>
                                          <p:spTgt spid="1090602"/>
                                        </p:tgtEl>
                                        <p:attrNameLst>
                                          <p:attrName>ppt_c</p:attrName>
                                        </p:attrNameLst>
                                      </p:cBhvr>
                                      <p:to>
                                        <a:srgbClr val="FF0000"/>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30" presetClass="entr" presetSubtype="0" fill="hold" grpId="0" nodeType="clickEffect">
                                  <p:stCondLst>
                                    <p:cond delay="0"/>
                                  </p:stCondLst>
                                  <p:childTnLst>
                                    <p:set>
                                      <p:cBhvr>
                                        <p:cTn id="21" dur="1" fill="hold">
                                          <p:stCondLst>
                                            <p:cond delay="0"/>
                                          </p:stCondLst>
                                        </p:cTn>
                                        <p:tgtEl>
                                          <p:spTgt spid="1090603"/>
                                        </p:tgtEl>
                                        <p:attrNameLst>
                                          <p:attrName>style.visibility</p:attrName>
                                        </p:attrNameLst>
                                      </p:cBhvr>
                                      <p:to>
                                        <p:strVal val="visible"/>
                                      </p:to>
                                    </p:set>
                                    <p:animEffect transition="in" filter="fade">
                                      <p:cBhvr>
                                        <p:cTn id="22" dur="800" decel="100000"/>
                                        <p:tgtEl>
                                          <p:spTgt spid="1090603"/>
                                        </p:tgtEl>
                                      </p:cBhvr>
                                    </p:animEffect>
                                    <p:anim calcmode="lin" valueType="num">
                                      <p:cBhvr>
                                        <p:cTn id="23" dur="800" decel="100000" fill="hold"/>
                                        <p:tgtEl>
                                          <p:spTgt spid="1090603"/>
                                        </p:tgtEl>
                                        <p:attrNameLst>
                                          <p:attrName>style.rotation</p:attrName>
                                        </p:attrNameLst>
                                      </p:cBhvr>
                                      <p:tavLst>
                                        <p:tav tm="0">
                                          <p:val>
                                            <p:fltVal val="-90"/>
                                          </p:val>
                                        </p:tav>
                                        <p:tav tm="100000">
                                          <p:val>
                                            <p:fltVal val="0"/>
                                          </p:val>
                                        </p:tav>
                                      </p:tavLst>
                                    </p:anim>
                                    <p:anim calcmode="lin" valueType="num">
                                      <p:cBhvr>
                                        <p:cTn id="24" dur="800" decel="100000" fill="hold"/>
                                        <p:tgtEl>
                                          <p:spTgt spid="1090603"/>
                                        </p:tgtEl>
                                        <p:attrNameLst>
                                          <p:attrName>ppt_x</p:attrName>
                                        </p:attrNameLst>
                                      </p:cBhvr>
                                      <p:tavLst>
                                        <p:tav tm="0">
                                          <p:val>
                                            <p:strVal val="#ppt_x+0.4"/>
                                          </p:val>
                                        </p:tav>
                                        <p:tav tm="100000">
                                          <p:val>
                                            <p:strVal val="#ppt_x-0.05"/>
                                          </p:val>
                                        </p:tav>
                                      </p:tavLst>
                                    </p:anim>
                                    <p:anim calcmode="lin" valueType="num">
                                      <p:cBhvr>
                                        <p:cTn id="25" dur="800" decel="100000" fill="hold"/>
                                        <p:tgtEl>
                                          <p:spTgt spid="1090603"/>
                                        </p:tgtEl>
                                        <p:attrNameLst>
                                          <p:attrName>ppt_y</p:attrName>
                                        </p:attrNameLst>
                                      </p:cBhvr>
                                      <p:tavLst>
                                        <p:tav tm="0">
                                          <p:val>
                                            <p:strVal val="#ppt_y-0.4"/>
                                          </p:val>
                                        </p:tav>
                                        <p:tav tm="100000">
                                          <p:val>
                                            <p:strVal val="#ppt_y+0.1"/>
                                          </p:val>
                                        </p:tav>
                                      </p:tavLst>
                                    </p:anim>
                                    <p:anim calcmode="lin" valueType="num">
                                      <p:cBhvr>
                                        <p:cTn id="26" dur="200" accel="100000" fill="hold">
                                          <p:stCondLst>
                                            <p:cond delay="800"/>
                                          </p:stCondLst>
                                        </p:cTn>
                                        <p:tgtEl>
                                          <p:spTgt spid="1090603"/>
                                        </p:tgtEl>
                                        <p:attrNameLst>
                                          <p:attrName>ppt_x</p:attrName>
                                        </p:attrNameLst>
                                      </p:cBhvr>
                                      <p:tavLst>
                                        <p:tav tm="0">
                                          <p:val>
                                            <p:strVal val="#ppt_x-0.05"/>
                                          </p:val>
                                        </p:tav>
                                        <p:tav tm="100000">
                                          <p:val>
                                            <p:strVal val="#ppt_x"/>
                                          </p:val>
                                        </p:tav>
                                      </p:tavLst>
                                    </p:anim>
                                    <p:anim calcmode="lin" valueType="num">
                                      <p:cBhvr>
                                        <p:cTn id="27" dur="200" accel="100000" fill="hold">
                                          <p:stCondLst>
                                            <p:cond delay="800"/>
                                          </p:stCondLst>
                                        </p:cTn>
                                        <p:tgtEl>
                                          <p:spTgt spid="1090603"/>
                                        </p:tgtEl>
                                        <p:attrNameLst>
                                          <p:attrName>ppt_y</p:attrName>
                                        </p:attrNameLst>
                                      </p:cBhvr>
                                      <p:tavLst>
                                        <p:tav tm="0">
                                          <p:val>
                                            <p:strVal val="#ppt_y+0.1"/>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1090604"/>
                                        </p:tgtEl>
                                        <p:attrNameLst>
                                          <p:attrName>style.visibility</p:attrName>
                                        </p:attrNameLst>
                                      </p:cBhvr>
                                      <p:to>
                                        <p:strVal val="visible"/>
                                      </p:to>
                                    </p:set>
                                    <p:anim calcmode="lin" valueType="num">
                                      <p:cBhvr additive="base">
                                        <p:cTn id="32" dur="500" fill="hold"/>
                                        <p:tgtEl>
                                          <p:spTgt spid="1090604"/>
                                        </p:tgtEl>
                                        <p:attrNameLst>
                                          <p:attrName>ppt_x</p:attrName>
                                        </p:attrNameLst>
                                      </p:cBhvr>
                                      <p:tavLst>
                                        <p:tav tm="0">
                                          <p:val>
                                            <p:strVal val="0-#ppt_w/2"/>
                                          </p:val>
                                        </p:tav>
                                        <p:tav tm="100000">
                                          <p:val>
                                            <p:strVal val="#ppt_x"/>
                                          </p:val>
                                        </p:tav>
                                      </p:tavLst>
                                    </p:anim>
                                    <p:anim calcmode="lin" valueType="num">
                                      <p:cBhvr additive="base">
                                        <p:cTn id="33" dur="500" fill="hold"/>
                                        <p:tgtEl>
                                          <p:spTgt spid="10906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0601" grpId="0" animBg="1"/>
      <p:bldP spid="1090602" grpId="0" animBg="1"/>
      <p:bldP spid="1090603" grpId="0" animBg="1"/>
      <p:bldP spid="109060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6C7A7FF3-39D8-4C6E-9437-3514F7F6E5DA}" type="slidenum">
              <a:rPr lang="en-US" altLang="zh-CN" smtClean="0"/>
              <a:pPr algn="l" eaLnBrk="1" hangingPunct="1"/>
              <a:t>63</a:t>
            </a:fld>
            <a:endParaRPr lang="en-US" altLang="zh-CN" smtClean="0"/>
          </a:p>
        </p:txBody>
      </p:sp>
      <p:sp>
        <p:nvSpPr>
          <p:cNvPr id="71683" name="Rectangle 2"/>
          <p:cNvSpPr>
            <a:spLocks noGrp="1" noChangeArrowheads="1"/>
          </p:cNvSpPr>
          <p:nvPr>
            <p:ph type="title"/>
          </p:nvPr>
        </p:nvSpPr>
        <p:spPr/>
        <p:txBody>
          <a:bodyPr/>
          <a:lstStyle/>
          <a:p>
            <a:pPr eaLnBrk="1" hangingPunct="1"/>
            <a:r>
              <a:rPr lang="zh-CN" altLang="en-US" smtClean="0"/>
              <a:t>关系模型的基本概念</a:t>
            </a:r>
          </a:p>
        </p:txBody>
      </p:sp>
      <p:sp>
        <p:nvSpPr>
          <p:cNvPr id="71684" name="Rectangle 3"/>
          <p:cNvSpPr>
            <a:spLocks noGrp="1" noChangeArrowheads="1"/>
          </p:cNvSpPr>
          <p:nvPr>
            <p:ph type="body" idx="1"/>
          </p:nvPr>
        </p:nvSpPr>
        <p:spPr>
          <a:xfrm>
            <a:off x="395288" y="1125538"/>
            <a:ext cx="8367712" cy="4497387"/>
          </a:xfrm>
        </p:spPr>
        <p:txBody>
          <a:bodyPr/>
          <a:lstStyle/>
          <a:p>
            <a:pPr algn="just" eaLnBrk="1" hangingPunct="1">
              <a:lnSpc>
                <a:spcPct val="130000"/>
              </a:lnSpc>
            </a:pPr>
            <a:r>
              <a:rPr lang="zh-CN" altLang="en-US" sz="2600" b="1" smtClean="0">
                <a:ea typeface="楷体_GB2312" pitchFamily="49" charset="-122"/>
              </a:rPr>
              <a:t>关系（</a:t>
            </a:r>
            <a:r>
              <a:rPr lang="en-US" altLang="zh-CN" sz="2600" b="1" smtClean="0">
                <a:ea typeface="楷体_GB2312" pitchFamily="49" charset="-122"/>
              </a:rPr>
              <a:t>Relation</a:t>
            </a:r>
            <a:r>
              <a:rPr lang="zh-CN" altLang="en-US" sz="2600" b="1" smtClean="0">
                <a:ea typeface="楷体_GB2312" pitchFamily="49" charset="-122"/>
              </a:rPr>
              <a:t>）</a:t>
            </a:r>
          </a:p>
          <a:p>
            <a:pPr lvl="1" algn="just" eaLnBrk="1" hangingPunct="1">
              <a:lnSpc>
                <a:spcPct val="130000"/>
              </a:lnSpc>
            </a:pPr>
            <a:r>
              <a:rPr lang="zh-CN" altLang="en-US" sz="2600" b="1" smtClean="0">
                <a:ea typeface="楷体_GB2312" pitchFamily="49" charset="-122"/>
              </a:rPr>
              <a:t>一个关系对应通常说的</a:t>
            </a:r>
            <a:r>
              <a:rPr lang="zh-CN" altLang="en-US" sz="2600" b="1" smtClean="0">
                <a:solidFill>
                  <a:srgbClr val="FF0000"/>
                </a:solidFill>
                <a:ea typeface="楷体_GB2312" pitchFamily="49" charset="-122"/>
              </a:rPr>
              <a:t>一张表</a:t>
            </a:r>
            <a:r>
              <a:rPr lang="zh-CN" altLang="en-US" sz="2600" b="1" smtClean="0">
                <a:ea typeface="楷体_GB2312" pitchFamily="49" charset="-122"/>
              </a:rPr>
              <a:t>。</a:t>
            </a:r>
          </a:p>
          <a:p>
            <a:pPr algn="just" eaLnBrk="1" hangingPunct="1">
              <a:lnSpc>
                <a:spcPct val="130000"/>
              </a:lnSpc>
            </a:pPr>
            <a:r>
              <a:rPr lang="zh-CN" altLang="en-US" sz="2600" b="1" smtClean="0">
                <a:ea typeface="楷体_GB2312" pitchFamily="49" charset="-122"/>
              </a:rPr>
              <a:t>元组（</a:t>
            </a:r>
            <a:r>
              <a:rPr lang="en-US" altLang="zh-CN" sz="2600" b="1" smtClean="0">
                <a:ea typeface="楷体_GB2312" pitchFamily="49" charset="-122"/>
              </a:rPr>
              <a:t>Tuple</a:t>
            </a:r>
            <a:r>
              <a:rPr lang="zh-CN" altLang="en-US" sz="2600" b="1" smtClean="0">
                <a:ea typeface="楷体_GB2312" pitchFamily="49" charset="-122"/>
              </a:rPr>
              <a:t>）</a:t>
            </a:r>
            <a:r>
              <a:rPr lang="zh-CN" altLang="en-US" sz="2600" b="1" smtClean="0">
                <a:solidFill>
                  <a:srgbClr val="FF0000"/>
                </a:solidFill>
                <a:ea typeface="楷体_GB2312" pitchFamily="49" charset="-122"/>
              </a:rPr>
              <a:t>记录或行</a:t>
            </a:r>
          </a:p>
          <a:p>
            <a:pPr lvl="1" algn="just" eaLnBrk="1" hangingPunct="1">
              <a:lnSpc>
                <a:spcPct val="130000"/>
              </a:lnSpc>
            </a:pPr>
            <a:r>
              <a:rPr lang="zh-CN" altLang="en-US" sz="2600" b="1" smtClean="0">
                <a:ea typeface="楷体_GB2312" pitchFamily="49" charset="-122"/>
              </a:rPr>
              <a:t>表中的一行即为一个元组。</a:t>
            </a:r>
          </a:p>
          <a:p>
            <a:pPr algn="just" eaLnBrk="1" hangingPunct="1">
              <a:lnSpc>
                <a:spcPct val="130000"/>
              </a:lnSpc>
            </a:pPr>
            <a:r>
              <a:rPr lang="zh-CN" altLang="en-US" sz="2600" b="1" smtClean="0">
                <a:ea typeface="楷体_GB2312" pitchFamily="49" charset="-122"/>
              </a:rPr>
              <a:t>属性（</a:t>
            </a:r>
            <a:r>
              <a:rPr lang="en-US" altLang="zh-CN" sz="2600" b="1" smtClean="0">
                <a:ea typeface="楷体_GB2312" pitchFamily="49" charset="-122"/>
              </a:rPr>
              <a:t>Attribute</a:t>
            </a:r>
            <a:r>
              <a:rPr lang="zh-CN" altLang="en-US" sz="2600" b="1" smtClean="0">
                <a:ea typeface="楷体_GB2312" pitchFamily="49" charset="-122"/>
              </a:rPr>
              <a:t>）列</a:t>
            </a:r>
          </a:p>
          <a:p>
            <a:pPr lvl="1" algn="just" eaLnBrk="1" hangingPunct="1">
              <a:lnSpc>
                <a:spcPct val="130000"/>
              </a:lnSpc>
            </a:pPr>
            <a:r>
              <a:rPr lang="zh-CN" altLang="en-US" sz="2600" b="1" smtClean="0">
                <a:ea typeface="楷体_GB2312" pitchFamily="49" charset="-122"/>
              </a:rPr>
              <a:t>表中的一列即为一个属性，给每一个属性起一个名称即属性名。</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6B092768-8E7D-4C83-9B12-C026B2352006}" type="slidenum">
              <a:rPr lang="en-US" altLang="zh-CN" smtClean="0"/>
              <a:pPr algn="l" eaLnBrk="1" hangingPunct="1"/>
              <a:t>64</a:t>
            </a:fld>
            <a:endParaRPr lang="en-US" altLang="zh-CN" smtClean="0"/>
          </a:p>
        </p:txBody>
      </p:sp>
      <p:sp>
        <p:nvSpPr>
          <p:cNvPr id="72707" name="Rectangle 2"/>
          <p:cNvSpPr>
            <a:spLocks noGrp="1" noChangeArrowheads="1"/>
          </p:cNvSpPr>
          <p:nvPr>
            <p:ph type="title"/>
          </p:nvPr>
        </p:nvSpPr>
        <p:spPr/>
        <p:txBody>
          <a:bodyPr/>
          <a:lstStyle/>
          <a:p>
            <a:pPr eaLnBrk="1" hangingPunct="1"/>
            <a:r>
              <a:rPr lang="zh-CN" altLang="en-US" smtClean="0"/>
              <a:t>关系模型的基本概念</a:t>
            </a:r>
          </a:p>
        </p:txBody>
      </p:sp>
      <p:sp>
        <p:nvSpPr>
          <p:cNvPr id="72708" name="Rectangle 3"/>
          <p:cNvSpPr>
            <a:spLocks noGrp="1" noChangeArrowheads="1"/>
          </p:cNvSpPr>
          <p:nvPr>
            <p:ph type="body" idx="1"/>
          </p:nvPr>
        </p:nvSpPr>
        <p:spPr>
          <a:xfrm>
            <a:off x="539750" y="1052513"/>
            <a:ext cx="8280400" cy="5040312"/>
          </a:xfrm>
        </p:spPr>
        <p:txBody>
          <a:bodyPr/>
          <a:lstStyle/>
          <a:p>
            <a:pPr algn="just" eaLnBrk="1" hangingPunct="1"/>
            <a:r>
              <a:rPr lang="zh-CN" altLang="en-US" sz="2600" b="1" smtClean="0">
                <a:solidFill>
                  <a:srgbClr val="0000FF"/>
                </a:solidFill>
                <a:ea typeface="楷体_GB2312" pitchFamily="49" charset="-122"/>
              </a:rPr>
              <a:t>码（</a:t>
            </a:r>
            <a:r>
              <a:rPr lang="en-US" altLang="zh-CN" sz="2600" b="1" smtClean="0">
                <a:solidFill>
                  <a:srgbClr val="0000FF"/>
                </a:solidFill>
                <a:ea typeface="楷体_GB2312" pitchFamily="49" charset="-122"/>
              </a:rPr>
              <a:t>Key</a:t>
            </a:r>
            <a:r>
              <a:rPr lang="zh-CN" altLang="en-US" sz="2600" b="1" smtClean="0">
                <a:solidFill>
                  <a:srgbClr val="0000FF"/>
                </a:solidFill>
                <a:ea typeface="楷体_GB2312" pitchFamily="49" charset="-122"/>
              </a:rPr>
              <a:t>）</a:t>
            </a:r>
          </a:p>
          <a:p>
            <a:pPr lvl="1" algn="just" eaLnBrk="1" hangingPunct="1"/>
            <a:r>
              <a:rPr lang="zh-CN" altLang="en-US" sz="2600" b="1" smtClean="0">
                <a:ea typeface="楷体_GB2312" pitchFamily="49" charset="-122"/>
              </a:rPr>
              <a:t>表中的某个</a:t>
            </a:r>
            <a:r>
              <a:rPr lang="zh-CN" altLang="en-US" sz="2600" b="1" smtClean="0">
                <a:solidFill>
                  <a:srgbClr val="0000FF"/>
                </a:solidFill>
                <a:ea typeface="楷体_GB2312" pitchFamily="49" charset="-122"/>
              </a:rPr>
              <a:t>属性或属性组</a:t>
            </a:r>
            <a:r>
              <a:rPr lang="zh-CN" altLang="en-US" sz="2600" b="1" smtClean="0">
                <a:ea typeface="楷体_GB2312" pitchFamily="49" charset="-122"/>
              </a:rPr>
              <a:t>，它可以唯一确定一个</a:t>
            </a:r>
            <a:r>
              <a:rPr lang="zh-CN" altLang="en-US" sz="2600" b="1" smtClean="0">
                <a:solidFill>
                  <a:srgbClr val="0000FF"/>
                </a:solidFill>
                <a:ea typeface="楷体_GB2312" pitchFamily="49" charset="-122"/>
              </a:rPr>
              <a:t>元组</a:t>
            </a:r>
            <a:r>
              <a:rPr lang="zh-CN" altLang="en-US" sz="2600" b="1" smtClean="0">
                <a:ea typeface="楷体_GB2312" pitchFamily="49" charset="-122"/>
              </a:rPr>
              <a:t>。</a:t>
            </a:r>
          </a:p>
          <a:p>
            <a:pPr algn="just" eaLnBrk="1" hangingPunct="1"/>
            <a:r>
              <a:rPr lang="zh-CN" altLang="en-US" sz="2600" b="1" smtClean="0">
                <a:ea typeface="楷体_GB2312" pitchFamily="49" charset="-122"/>
              </a:rPr>
              <a:t>域（</a:t>
            </a:r>
            <a:r>
              <a:rPr lang="en-US" altLang="zh-CN" sz="2600" b="1" smtClean="0">
                <a:ea typeface="楷体_GB2312" pitchFamily="49" charset="-122"/>
              </a:rPr>
              <a:t>Domain</a:t>
            </a:r>
            <a:r>
              <a:rPr lang="zh-CN" altLang="en-US" sz="2600" b="1" smtClean="0">
                <a:ea typeface="楷体_GB2312" pitchFamily="49" charset="-122"/>
              </a:rPr>
              <a:t>）</a:t>
            </a:r>
          </a:p>
          <a:p>
            <a:pPr lvl="1" algn="just" eaLnBrk="1" hangingPunct="1"/>
            <a:r>
              <a:rPr lang="zh-CN" altLang="en-US" sz="2600" b="1" smtClean="0">
                <a:ea typeface="楷体_GB2312" pitchFamily="49" charset="-122"/>
              </a:rPr>
              <a:t>属性的取值范围。</a:t>
            </a:r>
          </a:p>
          <a:p>
            <a:pPr algn="just" eaLnBrk="1" hangingPunct="1"/>
            <a:r>
              <a:rPr lang="zh-CN" altLang="en-US" sz="2600" b="1" smtClean="0">
                <a:ea typeface="楷体_GB2312" pitchFamily="49" charset="-122"/>
              </a:rPr>
              <a:t>分量</a:t>
            </a:r>
          </a:p>
          <a:p>
            <a:pPr lvl="1" algn="just" eaLnBrk="1" hangingPunct="1"/>
            <a:r>
              <a:rPr lang="zh-CN" altLang="en-US" sz="2600" b="1" smtClean="0">
                <a:ea typeface="楷体_GB2312" pitchFamily="49" charset="-122"/>
              </a:rPr>
              <a:t>元组中的一个</a:t>
            </a:r>
            <a:r>
              <a:rPr lang="zh-CN" altLang="en-US" sz="2600" b="1" smtClean="0">
                <a:solidFill>
                  <a:srgbClr val="FF0000"/>
                </a:solidFill>
                <a:ea typeface="楷体_GB2312" pitchFamily="49" charset="-122"/>
              </a:rPr>
              <a:t>属性值</a:t>
            </a:r>
            <a:r>
              <a:rPr lang="zh-CN" altLang="en-US" sz="2600" b="1" smtClean="0">
                <a:ea typeface="楷体_GB2312" pitchFamily="49" charset="-122"/>
              </a:rPr>
              <a:t>。</a:t>
            </a:r>
          </a:p>
          <a:p>
            <a:pPr eaLnBrk="1" hangingPunct="1"/>
            <a:r>
              <a:rPr lang="zh-CN" altLang="en-US" sz="2600" b="1" smtClean="0">
                <a:ea typeface="楷体_GB2312" pitchFamily="49" charset="-122"/>
              </a:rPr>
              <a:t>关系模式</a:t>
            </a:r>
          </a:p>
          <a:p>
            <a:pPr lvl="1" eaLnBrk="1" hangingPunct="1"/>
            <a:r>
              <a:rPr lang="zh-CN" altLang="en-US" sz="2600" b="1" smtClean="0">
                <a:ea typeface="楷体_GB2312" pitchFamily="49" charset="-122"/>
              </a:rPr>
              <a:t>对关系的描述</a:t>
            </a:r>
          </a:p>
          <a:p>
            <a:pPr lvl="1" eaLnBrk="1" hangingPunct="1"/>
            <a:r>
              <a:rPr lang="zh-CN" altLang="en-US" sz="2600" b="1" smtClean="0">
                <a:ea typeface="楷体_GB2312" pitchFamily="49" charset="-122"/>
              </a:rPr>
              <a:t>表示为：</a:t>
            </a:r>
            <a:r>
              <a:rPr lang="zh-CN" altLang="en-US" sz="2600" b="1" smtClean="0">
                <a:solidFill>
                  <a:srgbClr val="0000FF"/>
                </a:solidFill>
                <a:ea typeface="楷体_GB2312" pitchFamily="49" charset="-122"/>
              </a:rPr>
              <a:t>关系名（属性</a:t>
            </a:r>
            <a:r>
              <a:rPr lang="en-US" altLang="zh-CN" sz="2600" b="1" smtClean="0">
                <a:solidFill>
                  <a:srgbClr val="0000FF"/>
                </a:solidFill>
                <a:ea typeface="楷体_GB2312" pitchFamily="49" charset="-122"/>
              </a:rPr>
              <a:t>1</a:t>
            </a:r>
            <a:r>
              <a:rPr lang="zh-CN" altLang="en-US" sz="2600" b="1" smtClean="0">
                <a:solidFill>
                  <a:srgbClr val="0000FF"/>
                </a:solidFill>
                <a:ea typeface="楷体_GB2312" pitchFamily="49" charset="-122"/>
              </a:rPr>
              <a:t>，属性</a:t>
            </a:r>
            <a:r>
              <a:rPr lang="en-US" altLang="zh-CN" sz="2600" b="1" smtClean="0">
                <a:solidFill>
                  <a:srgbClr val="0000FF"/>
                </a:solidFill>
                <a:ea typeface="楷体_GB2312" pitchFamily="49" charset="-122"/>
              </a:rPr>
              <a:t>2</a:t>
            </a:r>
            <a:r>
              <a:rPr lang="zh-CN" altLang="en-US" sz="2600" b="1" smtClean="0">
                <a:solidFill>
                  <a:srgbClr val="0000FF"/>
                </a:solidFill>
                <a:ea typeface="楷体_GB2312" pitchFamily="49" charset="-122"/>
              </a:rPr>
              <a:t>，</a:t>
            </a:r>
            <a:r>
              <a:rPr lang="en-US" altLang="zh-CN" sz="2600" b="1" smtClean="0">
                <a:solidFill>
                  <a:srgbClr val="0000FF"/>
                </a:solidFill>
                <a:ea typeface="楷体_GB2312" pitchFamily="49" charset="-122"/>
              </a:rPr>
              <a:t>…</a:t>
            </a:r>
            <a:r>
              <a:rPr lang="zh-CN" altLang="en-US" sz="2600" b="1" smtClean="0">
                <a:solidFill>
                  <a:srgbClr val="0000FF"/>
                </a:solidFill>
                <a:ea typeface="楷体_GB2312" pitchFamily="49" charset="-122"/>
              </a:rPr>
              <a:t>，属性</a:t>
            </a:r>
            <a:r>
              <a:rPr lang="en-US" altLang="zh-CN" sz="2600" b="1" smtClean="0">
                <a:solidFill>
                  <a:srgbClr val="0000FF"/>
                </a:solidFill>
                <a:ea typeface="楷体_GB2312" pitchFamily="49" charset="-122"/>
              </a:rPr>
              <a:t>n</a:t>
            </a:r>
            <a:r>
              <a:rPr lang="zh-CN" altLang="en-US" sz="2600" b="1" smtClean="0">
                <a:solidFill>
                  <a:srgbClr val="0000FF"/>
                </a:solidFill>
                <a:ea typeface="楷体_GB2312" pitchFamily="49" charset="-122"/>
              </a:rPr>
              <a:t>）</a:t>
            </a:r>
          </a:p>
          <a:p>
            <a:pPr lvl="1" eaLnBrk="1" hangingPunct="1"/>
            <a:r>
              <a:rPr lang="zh-CN" altLang="en-US" sz="2600" b="1" smtClean="0">
                <a:ea typeface="楷体_GB2312" pitchFamily="49" charset="-122"/>
              </a:rPr>
              <a:t>学生（学号，姓名，年龄，性别，系，年级）</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529AEBB7-4254-4FE9-BD09-2F80E17F7ACF}" type="slidenum">
              <a:rPr lang="en-US" altLang="zh-CN" smtClean="0"/>
              <a:pPr eaLnBrk="1" hangingPunct="1"/>
              <a:t>65</a:t>
            </a:fld>
            <a:endParaRPr lang="en-US" altLang="zh-CN" smtClean="0"/>
          </a:p>
        </p:txBody>
      </p:sp>
      <p:sp>
        <p:nvSpPr>
          <p:cNvPr id="73731" name="Rectangle 2"/>
          <p:cNvSpPr>
            <a:spLocks noGrp="1" noChangeArrowheads="1"/>
          </p:cNvSpPr>
          <p:nvPr>
            <p:ph type="title"/>
          </p:nvPr>
        </p:nvSpPr>
        <p:spPr>
          <a:xfrm>
            <a:off x="457200" y="153988"/>
            <a:ext cx="8229600" cy="846137"/>
          </a:xfrm>
        </p:spPr>
        <p:txBody>
          <a:bodyPr/>
          <a:lstStyle/>
          <a:p>
            <a:pPr eaLnBrk="1" hangingPunct="1"/>
            <a:r>
              <a:rPr lang="en-US" altLang="zh-CN" smtClean="0"/>
              <a:t>1.</a:t>
            </a:r>
            <a:r>
              <a:rPr lang="zh-CN" altLang="en-US" smtClean="0"/>
              <a:t>关系数据模型的数据结构（续）</a:t>
            </a:r>
          </a:p>
        </p:txBody>
      </p:sp>
      <p:sp>
        <p:nvSpPr>
          <p:cNvPr id="73732" name="Rectangle 3"/>
          <p:cNvSpPr>
            <a:spLocks noGrp="1" noChangeArrowheads="1"/>
          </p:cNvSpPr>
          <p:nvPr>
            <p:ph type="body" sz="half" idx="1"/>
          </p:nvPr>
        </p:nvSpPr>
        <p:spPr>
          <a:xfrm>
            <a:off x="179388" y="1125538"/>
            <a:ext cx="8713787" cy="1800225"/>
          </a:xfrm>
        </p:spPr>
        <p:txBody>
          <a:bodyPr/>
          <a:lstStyle/>
          <a:p>
            <a:pPr algn="just" eaLnBrk="1" hangingPunct="1">
              <a:lnSpc>
                <a:spcPct val="130000"/>
              </a:lnSpc>
            </a:pPr>
            <a:r>
              <a:rPr lang="zh-CN" altLang="en-US" sz="2600" b="1" smtClean="0">
                <a:ea typeface="楷体_GB2312" pitchFamily="49" charset="-122"/>
              </a:rPr>
              <a:t>关系必须是规范化的，满足一定的规范条件。</a:t>
            </a:r>
          </a:p>
          <a:p>
            <a:pPr lvl="1" algn="just" eaLnBrk="1" hangingPunct="1">
              <a:lnSpc>
                <a:spcPct val="130000"/>
              </a:lnSpc>
            </a:pPr>
            <a:r>
              <a:rPr lang="zh-CN" altLang="en-US" sz="2600" b="1" smtClean="0">
                <a:ea typeface="楷体_GB2312" pitchFamily="49" charset="-122"/>
              </a:rPr>
              <a:t>最基本的规范条件：关系的每一个分量必须是一个不可分的数据项，</a:t>
            </a:r>
            <a:r>
              <a:rPr lang="en-US" altLang="zh-CN" sz="2600" b="1" smtClean="0">
                <a:ea typeface="楷体_GB2312" pitchFamily="49" charset="-122"/>
              </a:rPr>
              <a:t> </a:t>
            </a:r>
            <a:r>
              <a:rPr lang="zh-CN" altLang="en-US" sz="2600" b="1" smtClean="0">
                <a:solidFill>
                  <a:srgbClr val="0000FF"/>
                </a:solidFill>
                <a:ea typeface="楷体_GB2312" pitchFamily="49" charset="-122"/>
              </a:rPr>
              <a:t>不允许表中还有表</a:t>
            </a:r>
            <a:r>
              <a:rPr lang="zh-CN" altLang="en-US" sz="2600" b="1" smtClean="0">
                <a:ea typeface="楷体_GB2312" pitchFamily="49" charset="-122"/>
              </a:rPr>
              <a:t> 。</a:t>
            </a:r>
            <a:endParaRPr lang="zh-CN" altLang="en-US" sz="2200" b="1" smtClean="0"/>
          </a:p>
        </p:txBody>
      </p:sp>
      <p:graphicFrame>
        <p:nvGraphicFramePr>
          <p:cNvPr id="1048646" name="Group 70"/>
          <p:cNvGraphicFramePr>
            <a:graphicFrameLocks noGrp="1"/>
          </p:cNvGraphicFramePr>
          <p:nvPr/>
        </p:nvGraphicFramePr>
        <p:xfrm>
          <a:off x="323850" y="3213100"/>
          <a:ext cx="8351838" cy="1871663"/>
        </p:xfrm>
        <a:graphic>
          <a:graphicData uri="http://schemas.openxmlformats.org/drawingml/2006/table">
            <a:tbl>
              <a:tblPr/>
              <a:tblGrid>
                <a:gridCol w="990600"/>
                <a:gridCol w="919163"/>
                <a:gridCol w="919162"/>
                <a:gridCol w="919163"/>
                <a:gridCol w="917575"/>
                <a:gridCol w="922337"/>
                <a:gridCol w="920750"/>
                <a:gridCol w="922338"/>
                <a:gridCol w="920750"/>
              </a:tblGrid>
              <a:tr h="469900">
                <a:tc rowSpan="2">
                  <a:txBody>
                    <a:bodyPr/>
                    <a:lstStyle/>
                    <a:p>
                      <a:pPr marL="342900" marR="0" lvl="0" indent="-342900" algn="l"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rPr>
                        <a:t>职工号</a:t>
                      </a: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row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rPr>
                        <a:t>姓名</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row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rPr>
                        <a:t>职 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gridSpan="3">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rPr>
                        <a:t>工 资</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tc grid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rPr>
                        <a:t>扣 除</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row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cs typeface="Times New Roman" pitchFamily="18" charset="0"/>
                        </a:rPr>
                        <a:t>实 发</a:t>
                      </a: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r>
              <a:tr h="46990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rPr>
                        <a:t>基 本</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rPr>
                        <a:t>津 贴</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rPr>
                        <a:t>职务</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rPr>
                        <a:t>房 租</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rPr>
                        <a:t>水 电</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vMerge="1">
                  <a:txBody>
                    <a:bodyPr/>
                    <a:lstStyle/>
                    <a:p>
                      <a:endParaRPr lang="zh-CN" altLang="en-US"/>
                    </a:p>
                  </a:txBody>
                  <a:tcPr/>
                </a:tc>
              </a:tr>
              <a:tr h="500063">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en-US" altLang="zh-CN" sz="2200" b="1" i="0" u="none" strike="noStrike" cap="none" normalizeH="0" baseline="0" smtClean="0">
                          <a:ln>
                            <a:noFill/>
                          </a:ln>
                          <a:solidFill>
                            <a:schemeClr val="tx1"/>
                          </a:solidFill>
                          <a:effectLst/>
                          <a:latin typeface="Arial" pitchFamily="34" charset="0"/>
                          <a:ea typeface="楷体_GB2312" pitchFamily="1" charset="-122"/>
                        </a:rPr>
                        <a:t>86051</a:t>
                      </a: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rPr>
                        <a:t>陈 平</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200" b="1" i="0" u="none" strike="noStrike" cap="none" normalizeH="0" baseline="0" smtClean="0">
                          <a:ln>
                            <a:noFill/>
                          </a:ln>
                          <a:solidFill>
                            <a:schemeClr val="tx1"/>
                          </a:solidFill>
                          <a:effectLst/>
                          <a:latin typeface="Arial" pitchFamily="34" charset="0"/>
                          <a:ea typeface="楷体_GB2312" pitchFamily="1" charset="-122"/>
                        </a:rPr>
                        <a:t>讲 师</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en-US" altLang="zh-CN" sz="2200" b="1" i="0" u="none" strike="noStrike" cap="none" normalizeH="0" baseline="0" smtClean="0">
                          <a:ln>
                            <a:noFill/>
                          </a:ln>
                          <a:solidFill>
                            <a:schemeClr val="tx1"/>
                          </a:solidFill>
                          <a:effectLst/>
                          <a:latin typeface="Arial" pitchFamily="34" charset="0"/>
                          <a:ea typeface="楷体_GB2312" pitchFamily="1" charset="-122"/>
                        </a:rPr>
                        <a:t>1305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en-US" altLang="zh-CN" sz="2200" b="1" i="0" u="none" strike="noStrike" cap="none" normalizeH="0" baseline="0" smtClean="0">
                          <a:ln>
                            <a:noFill/>
                          </a:ln>
                          <a:solidFill>
                            <a:schemeClr val="tx1"/>
                          </a:solidFill>
                          <a:effectLst/>
                          <a:latin typeface="Arial" pitchFamily="34" charset="0"/>
                          <a:ea typeface="楷体_GB2312" pitchFamily="1" charset="-122"/>
                        </a:rPr>
                        <a:t>1200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en-US" altLang="zh-CN" sz="2200" b="1" i="0" u="none" strike="noStrike" cap="none" normalizeH="0" baseline="0" smtClean="0">
                          <a:ln>
                            <a:noFill/>
                          </a:ln>
                          <a:solidFill>
                            <a:schemeClr val="tx1"/>
                          </a:solidFill>
                          <a:effectLst/>
                          <a:latin typeface="Arial" pitchFamily="34" charset="0"/>
                          <a:ea typeface="楷体_GB2312" pitchFamily="1" charset="-122"/>
                        </a:rPr>
                        <a:t>50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en-US" altLang="zh-CN" sz="2200" b="1" i="0" u="none" strike="noStrike" cap="none" normalizeH="0" baseline="0" smtClean="0">
                          <a:ln>
                            <a:noFill/>
                          </a:ln>
                          <a:solidFill>
                            <a:schemeClr val="tx1"/>
                          </a:solidFill>
                          <a:effectLst/>
                          <a:latin typeface="Arial" pitchFamily="34" charset="0"/>
                          <a:ea typeface="楷体_GB2312" pitchFamily="1" charset="-122"/>
                        </a:rPr>
                        <a:t>160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en-US" altLang="zh-CN" sz="2200" b="1" i="0" u="none" strike="noStrike" cap="none" normalizeH="0" baseline="0" smtClean="0">
                          <a:ln>
                            <a:noFill/>
                          </a:ln>
                          <a:solidFill>
                            <a:schemeClr val="tx1"/>
                          </a:solidFill>
                          <a:effectLst/>
                          <a:latin typeface="Arial" pitchFamily="34" charset="0"/>
                          <a:ea typeface="楷体_GB2312" pitchFamily="1" charset="-122"/>
                        </a:rPr>
                        <a:t>112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en-US" altLang="zh-CN" sz="2200" b="1" i="0" u="none" strike="noStrike" cap="none" normalizeH="0" baseline="0" smtClean="0">
                          <a:ln>
                            <a:noFill/>
                          </a:ln>
                          <a:solidFill>
                            <a:schemeClr val="tx1"/>
                          </a:solidFill>
                          <a:effectLst/>
                          <a:latin typeface="Arial" pitchFamily="34" charset="0"/>
                          <a:ea typeface="楷体_GB2312" pitchFamily="1" charset="-122"/>
                        </a:rPr>
                        <a:t>2283</a:t>
                      </a: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r>
              <a:tr h="431800">
                <a:tc>
                  <a:txBody>
                    <a:bodyPr/>
                    <a:lstStyle/>
                    <a:p>
                      <a:pPr marL="0" marR="0" lvl="0" indent="0" algn="l" defTabSz="914400" rtl="0" eaLnBrk="1" fontAlgn="base" latinLnBrk="0" hangingPunct="1">
                        <a:lnSpc>
                          <a:spcPct val="100000"/>
                        </a:lnSpc>
                        <a:spcBef>
                          <a:spcPct val="20000"/>
                        </a:spcBef>
                        <a:spcAft>
                          <a:spcPct val="0"/>
                        </a:spcAft>
                        <a:buClr>
                          <a:srgbClr val="669900"/>
                        </a:buClr>
                        <a:buSzPct val="75000"/>
                        <a:buFont typeface="Wingdings" pitchFamily="2" charset="2"/>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1" fontAlgn="base" latinLnBrk="0" hangingPunct="1">
                        <a:lnSpc>
                          <a:spcPct val="100000"/>
                        </a:lnSpc>
                        <a:spcBef>
                          <a:spcPct val="20000"/>
                        </a:spcBef>
                        <a:spcAft>
                          <a:spcPct val="0"/>
                        </a:spcAft>
                        <a:buClr>
                          <a:srgbClr val="669900"/>
                        </a:buClr>
                        <a:buSzPct val="75000"/>
                        <a:buFont typeface="Wingdings" pitchFamily="2" charset="2"/>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1" fontAlgn="base" latinLnBrk="0" hangingPunct="1">
                        <a:lnSpc>
                          <a:spcPct val="100000"/>
                        </a:lnSpc>
                        <a:spcBef>
                          <a:spcPct val="20000"/>
                        </a:spcBef>
                        <a:spcAft>
                          <a:spcPct val="0"/>
                        </a:spcAft>
                        <a:buClr>
                          <a:srgbClr val="669900"/>
                        </a:buClr>
                        <a:buSzPct val="75000"/>
                        <a:buFont typeface="Wingdings" pitchFamily="2" charset="2"/>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1" fontAlgn="base" latinLnBrk="0" hangingPunct="1">
                        <a:lnSpc>
                          <a:spcPct val="100000"/>
                        </a:lnSpc>
                        <a:spcBef>
                          <a:spcPct val="20000"/>
                        </a:spcBef>
                        <a:spcAft>
                          <a:spcPct val="0"/>
                        </a:spcAft>
                        <a:buClr>
                          <a:srgbClr val="669900"/>
                        </a:buClr>
                        <a:buSzPct val="75000"/>
                        <a:buFont typeface="Wingdings" pitchFamily="2" charset="2"/>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1" fontAlgn="base" latinLnBrk="0" hangingPunct="1">
                        <a:lnSpc>
                          <a:spcPct val="100000"/>
                        </a:lnSpc>
                        <a:spcBef>
                          <a:spcPct val="20000"/>
                        </a:spcBef>
                        <a:spcAft>
                          <a:spcPct val="0"/>
                        </a:spcAft>
                        <a:buClr>
                          <a:srgbClr val="669900"/>
                        </a:buClr>
                        <a:buSzPct val="75000"/>
                        <a:buFont typeface="Wingdings" pitchFamily="2" charset="2"/>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1" fontAlgn="base" latinLnBrk="0" hangingPunct="1">
                        <a:lnSpc>
                          <a:spcPct val="100000"/>
                        </a:lnSpc>
                        <a:spcBef>
                          <a:spcPct val="20000"/>
                        </a:spcBef>
                        <a:spcAft>
                          <a:spcPct val="0"/>
                        </a:spcAft>
                        <a:buClr>
                          <a:srgbClr val="669900"/>
                        </a:buClr>
                        <a:buSzPct val="75000"/>
                        <a:buFont typeface="Wingdings" pitchFamily="2" charset="2"/>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1" fontAlgn="base" latinLnBrk="0" hangingPunct="1">
                        <a:lnSpc>
                          <a:spcPct val="100000"/>
                        </a:lnSpc>
                        <a:spcBef>
                          <a:spcPct val="20000"/>
                        </a:spcBef>
                        <a:spcAft>
                          <a:spcPct val="0"/>
                        </a:spcAft>
                        <a:buClr>
                          <a:srgbClr val="669900"/>
                        </a:buClr>
                        <a:buSzPct val="75000"/>
                        <a:buFont typeface="Wingdings" pitchFamily="2" charset="2"/>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1" fontAlgn="base" latinLnBrk="0" hangingPunct="1">
                        <a:lnSpc>
                          <a:spcPct val="100000"/>
                        </a:lnSpc>
                        <a:spcBef>
                          <a:spcPct val="20000"/>
                        </a:spcBef>
                        <a:spcAft>
                          <a:spcPct val="0"/>
                        </a:spcAft>
                        <a:buClr>
                          <a:srgbClr val="669900"/>
                        </a:buClr>
                        <a:buSzPct val="75000"/>
                        <a:buFont typeface="Wingdings" pitchFamily="2" charset="2"/>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1" fontAlgn="base" latinLnBrk="0" hangingPunct="1">
                        <a:lnSpc>
                          <a:spcPct val="100000"/>
                        </a:lnSpc>
                        <a:spcBef>
                          <a:spcPct val="20000"/>
                        </a:spcBef>
                        <a:spcAft>
                          <a:spcPct val="0"/>
                        </a:spcAft>
                        <a:buClr>
                          <a:srgbClr val="669900"/>
                        </a:buClr>
                        <a:buSzPct val="75000"/>
                        <a:buFont typeface="Wingdings" pitchFamily="2" charset="2"/>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r>
            </a:tbl>
          </a:graphicData>
        </a:graphic>
      </p:graphicFrame>
      <p:sp>
        <p:nvSpPr>
          <p:cNvPr id="73778" name="Rectangle 52"/>
          <p:cNvSpPr>
            <a:spLocks noChangeArrowheads="1"/>
          </p:cNvSpPr>
          <p:nvPr/>
        </p:nvSpPr>
        <p:spPr bwMode="auto">
          <a:xfrm>
            <a:off x="1981200" y="5229225"/>
            <a:ext cx="5759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nchor="ctr">
            <a:spAutoFit/>
          </a:bodyPr>
          <a:lstStyle/>
          <a:p>
            <a:pPr marL="342900" indent="-342900"/>
            <a:r>
              <a:rPr lang="zh-CN" altLang="en-US" sz="2400">
                <a:ea typeface="楷体_GB2312" pitchFamily="49" charset="-122"/>
              </a:rPr>
              <a:t>图</a:t>
            </a:r>
            <a:r>
              <a:rPr lang="en-US" altLang="zh-CN" sz="2400">
                <a:ea typeface="楷体_GB2312" pitchFamily="49" charset="-122"/>
              </a:rPr>
              <a:t>1.27  </a:t>
            </a:r>
            <a:r>
              <a:rPr lang="zh-CN" altLang="en-US" sz="2400">
                <a:ea typeface="楷体_GB2312" pitchFamily="49" charset="-122"/>
              </a:rPr>
              <a:t>一个工资表</a:t>
            </a:r>
            <a:r>
              <a:rPr lang="en-US" altLang="zh-CN" sz="2400">
                <a:ea typeface="楷体_GB2312" pitchFamily="49" charset="-122"/>
              </a:rPr>
              <a:t>(</a:t>
            </a:r>
            <a:r>
              <a:rPr lang="zh-CN" altLang="en-US" sz="2400">
                <a:ea typeface="楷体_GB2312" pitchFamily="49" charset="-122"/>
              </a:rPr>
              <a:t>表中有表</a:t>
            </a:r>
            <a:r>
              <a:rPr lang="en-US" altLang="zh-CN" sz="2400">
                <a:ea typeface="楷体_GB2312" pitchFamily="49" charset="-122"/>
              </a:rPr>
              <a:t>)</a:t>
            </a:r>
            <a:r>
              <a:rPr lang="zh-CN" altLang="en-US" sz="2400">
                <a:ea typeface="楷体_GB2312" pitchFamily="49" charset="-122"/>
              </a:rPr>
              <a:t>实例</a:t>
            </a:r>
            <a:r>
              <a:rPr lang="zh-CN" altLang="en-US"/>
              <a:t> </a:t>
            </a:r>
          </a:p>
        </p:txBody>
      </p:sp>
      <p:sp>
        <p:nvSpPr>
          <p:cNvPr id="73779" name="Text Box 59"/>
          <p:cNvSpPr txBox="1">
            <a:spLocks noChangeArrowheads="1"/>
          </p:cNvSpPr>
          <p:nvPr/>
        </p:nvSpPr>
        <p:spPr bwMode="auto">
          <a:xfrm>
            <a:off x="468313" y="45815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sp>
        <p:nvSpPr>
          <p:cNvPr id="73780" name="Text Box 60"/>
          <p:cNvSpPr txBox="1">
            <a:spLocks noChangeArrowheads="1"/>
          </p:cNvSpPr>
          <p:nvPr/>
        </p:nvSpPr>
        <p:spPr bwMode="auto">
          <a:xfrm>
            <a:off x="4068763" y="45815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sp>
        <p:nvSpPr>
          <p:cNvPr id="73781" name="Text Box 61"/>
          <p:cNvSpPr txBox="1">
            <a:spLocks noChangeArrowheads="1"/>
          </p:cNvSpPr>
          <p:nvPr/>
        </p:nvSpPr>
        <p:spPr bwMode="auto">
          <a:xfrm>
            <a:off x="5005388" y="45815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sp>
        <p:nvSpPr>
          <p:cNvPr id="73782" name="Text Box 62"/>
          <p:cNvSpPr txBox="1">
            <a:spLocks noChangeArrowheads="1"/>
          </p:cNvSpPr>
          <p:nvPr/>
        </p:nvSpPr>
        <p:spPr bwMode="auto">
          <a:xfrm>
            <a:off x="5868988" y="45815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sp>
        <p:nvSpPr>
          <p:cNvPr id="73783" name="Text Box 63"/>
          <p:cNvSpPr txBox="1">
            <a:spLocks noChangeArrowheads="1"/>
          </p:cNvSpPr>
          <p:nvPr/>
        </p:nvSpPr>
        <p:spPr bwMode="auto">
          <a:xfrm>
            <a:off x="6805613" y="45815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sp>
        <p:nvSpPr>
          <p:cNvPr id="73784" name="Text Box 64"/>
          <p:cNvSpPr txBox="1">
            <a:spLocks noChangeArrowheads="1"/>
          </p:cNvSpPr>
          <p:nvPr/>
        </p:nvSpPr>
        <p:spPr bwMode="auto">
          <a:xfrm>
            <a:off x="7740650" y="45815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sp>
        <p:nvSpPr>
          <p:cNvPr id="73785" name="Text Box 65"/>
          <p:cNvSpPr txBox="1">
            <a:spLocks noChangeArrowheads="1"/>
          </p:cNvSpPr>
          <p:nvPr/>
        </p:nvSpPr>
        <p:spPr bwMode="auto">
          <a:xfrm>
            <a:off x="1333500" y="45815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sp>
        <p:nvSpPr>
          <p:cNvPr id="73786" name="Text Box 66"/>
          <p:cNvSpPr txBox="1">
            <a:spLocks noChangeArrowheads="1"/>
          </p:cNvSpPr>
          <p:nvPr/>
        </p:nvSpPr>
        <p:spPr bwMode="auto">
          <a:xfrm>
            <a:off x="2197100" y="45815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sp>
        <p:nvSpPr>
          <p:cNvPr id="73787" name="Text Box 67"/>
          <p:cNvSpPr txBox="1">
            <a:spLocks noChangeArrowheads="1"/>
          </p:cNvSpPr>
          <p:nvPr/>
        </p:nvSpPr>
        <p:spPr bwMode="auto">
          <a:xfrm>
            <a:off x="3132138" y="45815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50000"/>
              </a:spcBef>
            </a:pPr>
            <a:r>
              <a:rPr lang="en-US" altLang="zh-CN" sz="2400">
                <a:latin typeface="Times New Roman" pitchFamily="18" charset="0"/>
              </a:rPr>
              <a:t>……</a:t>
            </a:r>
          </a:p>
        </p:txBody>
      </p:sp>
    </p:spTree>
  </p:cSld>
  <p:clrMapOvr>
    <a:masterClrMapping/>
  </p:clrMapOvr>
  <p:transition advClick="0"/>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fld id="{EDFCF7CD-2DE9-44FB-B6D5-9630B5FB9974}" type="slidenum">
              <a:rPr lang="en-US" altLang="zh-CN" smtClean="0"/>
              <a:pPr eaLnBrk="1" hangingPunct="1"/>
              <a:t>66</a:t>
            </a:fld>
            <a:endParaRPr lang="en-US" altLang="zh-CN" smtClean="0"/>
          </a:p>
        </p:txBody>
      </p:sp>
      <p:sp>
        <p:nvSpPr>
          <p:cNvPr id="74755" name="Rectangle 2"/>
          <p:cNvSpPr>
            <a:spLocks noGrp="1" noChangeArrowheads="1"/>
          </p:cNvSpPr>
          <p:nvPr>
            <p:ph type="title"/>
          </p:nvPr>
        </p:nvSpPr>
        <p:spPr/>
        <p:txBody>
          <a:bodyPr/>
          <a:lstStyle/>
          <a:p>
            <a:pPr eaLnBrk="1" hangingPunct="1"/>
            <a:r>
              <a:rPr lang="en-US" altLang="zh-CN" smtClean="0"/>
              <a:t>1.</a:t>
            </a:r>
            <a:r>
              <a:rPr lang="zh-CN" altLang="en-US" smtClean="0"/>
              <a:t>关系数据模型的数据结构（续）</a:t>
            </a:r>
          </a:p>
        </p:txBody>
      </p:sp>
      <p:graphicFrame>
        <p:nvGraphicFramePr>
          <p:cNvPr id="1049651" name="Group 51"/>
          <p:cNvGraphicFramePr>
            <a:graphicFrameLocks noGrp="1"/>
          </p:cNvGraphicFramePr>
          <p:nvPr>
            <p:ph idx="1"/>
          </p:nvPr>
        </p:nvGraphicFramePr>
        <p:xfrm>
          <a:off x="381000" y="1628775"/>
          <a:ext cx="8382000" cy="4572000"/>
        </p:xfrm>
        <a:graphic>
          <a:graphicData uri="http://schemas.openxmlformats.org/drawingml/2006/table">
            <a:tbl>
              <a:tblPr/>
              <a:tblGrid>
                <a:gridCol w="3933825"/>
                <a:gridCol w="4448175"/>
              </a:tblGrid>
              <a:tr h="357188">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关系术语</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一般表格的术语</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tr>
              <a:tr h="357188">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关系名</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表名</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357188">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关系模式</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表头（表格的描述）</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357188">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关系</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（一张）二维表</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357188">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元组</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记录或行</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355600">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属性</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列</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357188">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属性名</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列名</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357188">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属性值</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列值</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357188">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分量</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一条记录中的一个列值</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365125">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非规范关系</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5000"/>
                        <a:buFontTx/>
                        <a:buNone/>
                        <a:tabLst/>
                      </a:pPr>
                      <a:r>
                        <a:rPr kumimoji="0" lang="zh-CN" altLang="en-US" sz="2400" b="1" i="0" u="none" strike="noStrike" cap="none" normalizeH="0" baseline="0" smtClean="0">
                          <a:ln>
                            <a:noFill/>
                          </a:ln>
                          <a:solidFill>
                            <a:schemeClr val="tx1"/>
                          </a:solidFill>
                          <a:effectLst/>
                          <a:latin typeface="Times New Roman" pitchFamily="18" charset="0"/>
                          <a:ea typeface="楷体_GB2312" pitchFamily="1" charset="-122"/>
                        </a:rPr>
                        <a:t>表中有表（大表中嵌有小表）</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4780" name="Text Box 47"/>
          <p:cNvSpPr txBox="1">
            <a:spLocks noChangeArrowheads="1"/>
          </p:cNvSpPr>
          <p:nvPr/>
        </p:nvSpPr>
        <p:spPr bwMode="auto">
          <a:xfrm>
            <a:off x="323850" y="1125538"/>
            <a:ext cx="2519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400">
                <a:ea typeface="楷体_GB2312" pitchFamily="49" charset="-122"/>
              </a:rPr>
              <a:t>表</a:t>
            </a:r>
            <a:r>
              <a:rPr lang="en-US" altLang="zh-CN" sz="2400">
                <a:ea typeface="楷体_GB2312" pitchFamily="49" charset="-122"/>
              </a:rPr>
              <a:t>1.2  </a:t>
            </a:r>
            <a:r>
              <a:rPr lang="zh-CN" altLang="en-US" sz="2400">
                <a:ea typeface="楷体_GB2312" pitchFamily="49" charset="-122"/>
              </a:rPr>
              <a:t>术语对比</a:t>
            </a:r>
            <a:r>
              <a:rPr lang="zh-CN" altLang="en-US">
                <a:latin typeface="Times New Roman" pitchFamily="18" charset="0"/>
              </a:rPr>
              <a:t> </a:t>
            </a:r>
          </a:p>
        </p:txBody>
      </p:sp>
      <p:sp>
        <p:nvSpPr>
          <p:cNvPr id="74781" name="Line 48"/>
          <p:cNvSpPr>
            <a:spLocks noChangeShapeType="1"/>
          </p:cNvSpPr>
          <p:nvPr/>
        </p:nvSpPr>
        <p:spPr bwMode="auto">
          <a:xfrm>
            <a:off x="395288" y="2133600"/>
            <a:ext cx="8353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advClick="0"/>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DF028BFC-486B-419E-8DE3-C490AABB49DC}" type="slidenum">
              <a:rPr lang="en-US" altLang="zh-CN" smtClean="0"/>
              <a:pPr algn="l" eaLnBrk="1" hangingPunct="1"/>
              <a:t>67</a:t>
            </a:fld>
            <a:endParaRPr lang="en-US" altLang="zh-CN" smtClean="0"/>
          </a:p>
        </p:txBody>
      </p:sp>
      <p:sp>
        <p:nvSpPr>
          <p:cNvPr id="75779" name="Rectangle 2"/>
          <p:cNvSpPr>
            <a:spLocks noGrp="1" noChangeArrowheads="1"/>
          </p:cNvSpPr>
          <p:nvPr>
            <p:ph type="title"/>
          </p:nvPr>
        </p:nvSpPr>
        <p:spPr>
          <a:xfrm>
            <a:off x="684213" y="115888"/>
            <a:ext cx="7848600" cy="863600"/>
          </a:xfrm>
        </p:spPr>
        <p:txBody>
          <a:bodyPr/>
          <a:lstStyle/>
          <a:p>
            <a:pPr eaLnBrk="1" hangingPunct="1"/>
            <a:r>
              <a:rPr lang="en-US" altLang="zh-CN" smtClean="0"/>
              <a:t>2.</a:t>
            </a:r>
            <a:r>
              <a:rPr lang="zh-CN" altLang="en-US" smtClean="0"/>
              <a:t>关系模型的数据操纵</a:t>
            </a:r>
            <a:endParaRPr lang="zh-CN" altLang="en-US" sz="3600" smtClean="0"/>
          </a:p>
        </p:txBody>
      </p:sp>
      <p:sp>
        <p:nvSpPr>
          <p:cNvPr id="75780" name="Rectangle 3"/>
          <p:cNvSpPr>
            <a:spLocks noGrp="1" noChangeArrowheads="1"/>
          </p:cNvSpPr>
          <p:nvPr>
            <p:ph type="body" idx="1"/>
          </p:nvPr>
        </p:nvSpPr>
        <p:spPr>
          <a:xfrm>
            <a:off x="468313" y="1196975"/>
            <a:ext cx="8229600" cy="936625"/>
          </a:xfrm>
        </p:spPr>
        <p:txBody>
          <a:bodyPr/>
          <a:lstStyle/>
          <a:p>
            <a:pPr algn="just" eaLnBrk="1" hangingPunct="1">
              <a:lnSpc>
                <a:spcPct val="140000"/>
              </a:lnSpc>
              <a:spcAft>
                <a:spcPct val="20000"/>
              </a:spcAft>
            </a:pPr>
            <a:r>
              <a:rPr lang="zh-CN" altLang="en-US" sz="2800" b="1" smtClean="0">
                <a:ea typeface="楷体_GB2312" pitchFamily="49" charset="-122"/>
              </a:rPr>
              <a:t>查询、插入、删除、更新</a:t>
            </a:r>
          </a:p>
        </p:txBody>
      </p:sp>
      <p:sp>
        <p:nvSpPr>
          <p:cNvPr id="956421" name="Rectangle 5"/>
          <p:cNvSpPr>
            <a:spLocks noChangeArrowheads="1"/>
          </p:cNvSpPr>
          <p:nvPr/>
        </p:nvSpPr>
        <p:spPr bwMode="auto">
          <a:xfrm>
            <a:off x="539750" y="1989138"/>
            <a:ext cx="80645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40000"/>
              </a:lnSpc>
              <a:spcBef>
                <a:spcPct val="20000"/>
              </a:spcBef>
              <a:spcAft>
                <a:spcPct val="20000"/>
              </a:spcAft>
              <a:buClr>
                <a:srgbClr val="669900"/>
              </a:buClr>
              <a:buSzPct val="75000"/>
              <a:buFont typeface="Wingdings" pitchFamily="2" charset="2"/>
              <a:buChar char="n"/>
            </a:pPr>
            <a:r>
              <a:rPr lang="zh-CN" altLang="en-US" sz="2800" b="1">
                <a:ea typeface="楷体_GB2312" pitchFamily="49" charset="-122"/>
              </a:rPr>
              <a:t>数据操作是</a:t>
            </a:r>
            <a:r>
              <a:rPr lang="zh-CN" altLang="en-US" sz="2800" b="1">
                <a:solidFill>
                  <a:srgbClr val="0000FF"/>
                </a:solidFill>
                <a:ea typeface="楷体_GB2312" pitchFamily="49" charset="-122"/>
              </a:rPr>
              <a:t>集合操作</a:t>
            </a:r>
            <a:r>
              <a:rPr lang="zh-CN" altLang="en-US" sz="2800" b="1">
                <a:ea typeface="楷体_GB2312" pitchFamily="49" charset="-122"/>
              </a:rPr>
              <a:t>，</a:t>
            </a:r>
            <a:r>
              <a:rPr lang="zh-CN" altLang="en-US" sz="2800" b="1">
                <a:solidFill>
                  <a:srgbClr val="0000FF"/>
                </a:solidFill>
                <a:ea typeface="楷体_GB2312" pitchFamily="49" charset="-122"/>
              </a:rPr>
              <a:t>操作对象和操作结果都是关系</a:t>
            </a:r>
            <a:r>
              <a:rPr lang="zh-CN" altLang="en-US" sz="2800" b="1">
                <a:ea typeface="楷体_GB2312" pitchFamily="49" charset="-122"/>
              </a:rPr>
              <a:t>，即若干元组的集合。</a:t>
            </a:r>
          </a:p>
        </p:txBody>
      </p:sp>
      <p:sp>
        <p:nvSpPr>
          <p:cNvPr id="956422" name="Rectangle 6"/>
          <p:cNvSpPr>
            <a:spLocks noChangeArrowheads="1"/>
          </p:cNvSpPr>
          <p:nvPr/>
        </p:nvSpPr>
        <p:spPr bwMode="auto">
          <a:xfrm>
            <a:off x="611188" y="3429000"/>
            <a:ext cx="7993062" cy="192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40000"/>
              </a:lnSpc>
              <a:spcBef>
                <a:spcPct val="20000"/>
              </a:spcBef>
              <a:spcAft>
                <a:spcPct val="20000"/>
              </a:spcAft>
              <a:buClr>
                <a:srgbClr val="669900"/>
              </a:buClr>
              <a:buSzPct val="75000"/>
              <a:buFont typeface="Wingdings" pitchFamily="2" charset="2"/>
              <a:buChar char="n"/>
            </a:pPr>
            <a:r>
              <a:rPr lang="zh-CN" altLang="en-US" sz="2800" b="1">
                <a:ea typeface="楷体_GB2312" pitchFamily="49" charset="-122"/>
              </a:rPr>
              <a:t>存取路径对用户</a:t>
            </a:r>
            <a:r>
              <a:rPr lang="zh-CN" altLang="en-US" sz="2800" b="1">
                <a:solidFill>
                  <a:srgbClr val="FF0000"/>
                </a:solidFill>
                <a:ea typeface="楷体_GB2312" pitchFamily="49" charset="-122"/>
              </a:rPr>
              <a:t>隐蔽</a:t>
            </a:r>
            <a:r>
              <a:rPr lang="zh-CN" altLang="en-US" sz="2800" b="1">
                <a:ea typeface="楷体_GB2312" pitchFamily="49" charset="-122"/>
              </a:rPr>
              <a:t>，用户只要指出“干什么”，不必详细说明“怎么干”，程序员操作简单。但是</a:t>
            </a:r>
            <a:r>
              <a:rPr lang="zh-CN" altLang="en-US" sz="2800" b="1">
                <a:solidFill>
                  <a:srgbClr val="FF0000"/>
                </a:solidFill>
                <a:ea typeface="楷体_GB2312" pitchFamily="49" charset="-122"/>
              </a:rPr>
              <a:t>导致查询效率低</a:t>
            </a:r>
            <a:r>
              <a:rPr lang="zh-CN" altLang="en-US" sz="2800" b="1">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6421"/>
                                        </p:tgtEl>
                                        <p:attrNameLst>
                                          <p:attrName>style.visibility</p:attrName>
                                        </p:attrNameLst>
                                      </p:cBhvr>
                                      <p:to>
                                        <p:strVal val="visible"/>
                                      </p:to>
                                    </p:set>
                                    <p:animEffect transition="in" filter="blinds(horizontal)">
                                      <p:cBhvr>
                                        <p:cTn id="7" dur="500"/>
                                        <p:tgtEl>
                                          <p:spTgt spid="9564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56422"/>
                                        </p:tgtEl>
                                        <p:attrNameLst>
                                          <p:attrName>style.visibility</p:attrName>
                                        </p:attrNameLst>
                                      </p:cBhvr>
                                      <p:to>
                                        <p:strVal val="visible"/>
                                      </p:to>
                                    </p:set>
                                    <p:anim calcmode="lin" valueType="num">
                                      <p:cBhvr additive="base">
                                        <p:cTn id="12" dur="500" fill="hold"/>
                                        <p:tgtEl>
                                          <p:spTgt spid="956422"/>
                                        </p:tgtEl>
                                        <p:attrNameLst>
                                          <p:attrName>ppt_x</p:attrName>
                                        </p:attrNameLst>
                                      </p:cBhvr>
                                      <p:tavLst>
                                        <p:tav tm="0">
                                          <p:val>
                                            <p:strVal val="#ppt_x"/>
                                          </p:val>
                                        </p:tav>
                                        <p:tav tm="100000">
                                          <p:val>
                                            <p:strVal val="#ppt_x"/>
                                          </p:val>
                                        </p:tav>
                                      </p:tavLst>
                                    </p:anim>
                                    <p:anim calcmode="lin" valueType="num">
                                      <p:cBhvr additive="base">
                                        <p:cTn id="13" dur="500" fill="hold"/>
                                        <p:tgtEl>
                                          <p:spTgt spid="9564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421" grpId="0"/>
      <p:bldP spid="95642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65EC9C20-4290-48ED-B998-F173583435B5}" type="slidenum">
              <a:rPr lang="en-US" altLang="zh-CN" smtClean="0"/>
              <a:pPr algn="l" eaLnBrk="1" hangingPunct="1"/>
              <a:t>68</a:t>
            </a:fld>
            <a:endParaRPr lang="en-US" altLang="zh-CN" smtClean="0"/>
          </a:p>
        </p:txBody>
      </p:sp>
      <p:sp>
        <p:nvSpPr>
          <p:cNvPr id="76803" name="Rectangle 2"/>
          <p:cNvSpPr>
            <a:spLocks noGrp="1" noChangeArrowheads="1"/>
          </p:cNvSpPr>
          <p:nvPr>
            <p:ph type="title"/>
          </p:nvPr>
        </p:nvSpPr>
        <p:spPr>
          <a:xfrm>
            <a:off x="684213" y="142875"/>
            <a:ext cx="7848600" cy="857250"/>
          </a:xfrm>
        </p:spPr>
        <p:txBody>
          <a:bodyPr/>
          <a:lstStyle/>
          <a:p>
            <a:pPr eaLnBrk="1" hangingPunct="1"/>
            <a:r>
              <a:rPr lang="en-US" altLang="zh-CN" smtClean="0"/>
              <a:t>3.</a:t>
            </a:r>
            <a:r>
              <a:rPr lang="zh-CN" altLang="en-US" smtClean="0"/>
              <a:t>关系模型的完整性约束</a:t>
            </a:r>
          </a:p>
        </p:txBody>
      </p:sp>
      <p:sp>
        <p:nvSpPr>
          <p:cNvPr id="76804" name="Rectangle 3"/>
          <p:cNvSpPr>
            <a:spLocks noGrp="1" noChangeArrowheads="1"/>
          </p:cNvSpPr>
          <p:nvPr>
            <p:ph type="body" idx="1"/>
          </p:nvPr>
        </p:nvSpPr>
        <p:spPr>
          <a:xfrm>
            <a:off x="1331913" y="1125538"/>
            <a:ext cx="7085012" cy="4525962"/>
          </a:xfrm>
        </p:spPr>
        <p:txBody>
          <a:bodyPr/>
          <a:lstStyle/>
          <a:p>
            <a:pPr algn="just" eaLnBrk="1" hangingPunct="1">
              <a:lnSpc>
                <a:spcPct val="170000"/>
              </a:lnSpc>
            </a:pPr>
            <a:r>
              <a:rPr lang="zh-CN" altLang="en-US" b="1" smtClean="0">
                <a:ea typeface="楷体_GB2312" pitchFamily="49" charset="-122"/>
              </a:rPr>
              <a:t>实体完整性</a:t>
            </a:r>
          </a:p>
          <a:p>
            <a:pPr algn="just" eaLnBrk="1" hangingPunct="1">
              <a:lnSpc>
                <a:spcPct val="170000"/>
              </a:lnSpc>
            </a:pPr>
            <a:r>
              <a:rPr lang="zh-CN" altLang="en-US" b="1" smtClean="0">
                <a:ea typeface="楷体_GB2312" pitchFamily="49" charset="-122"/>
              </a:rPr>
              <a:t>参照完整性</a:t>
            </a:r>
          </a:p>
          <a:p>
            <a:pPr algn="just" eaLnBrk="1" hangingPunct="1">
              <a:lnSpc>
                <a:spcPct val="170000"/>
              </a:lnSpc>
            </a:pPr>
            <a:r>
              <a:rPr lang="zh-CN" altLang="en-US" b="1" smtClean="0">
                <a:ea typeface="楷体_GB2312" pitchFamily="49" charset="-122"/>
              </a:rPr>
              <a:t>用户定义的完整性</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FF30E508-CD79-4C48-8D29-7390704E3663}" type="slidenum">
              <a:rPr lang="en-US" altLang="zh-CN" smtClean="0"/>
              <a:pPr algn="l" eaLnBrk="1" hangingPunct="1"/>
              <a:t>69</a:t>
            </a:fld>
            <a:endParaRPr lang="en-US" altLang="zh-CN" smtClean="0"/>
          </a:p>
        </p:txBody>
      </p:sp>
      <p:sp>
        <p:nvSpPr>
          <p:cNvPr id="77827" name="Rectangle 2"/>
          <p:cNvSpPr>
            <a:spLocks noGrp="1" noChangeArrowheads="1"/>
          </p:cNvSpPr>
          <p:nvPr>
            <p:ph type="title"/>
          </p:nvPr>
        </p:nvSpPr>
        <p:spPr/>
        <p:txBody>
          <a:bodyPr/>
          <a:lstStyle/>
          <a:p>
            <a:pPr eaLnBrk="1" hangingPunct="1"/>
            <a:r>
              <a:rPr lang="en-US" altLang="zh-CN" smtClean="0"/>
              <a:t>4.</a:t>
            </a:r>
            <a:r>
              <a:rPr lang="zh-CN" altLang="en-US" smtClean="0"/>
              <a:t>关系模型的优缺点</a:t>
            </a:r>
          </a:p>
        </p:txBody>
      </p:sp>
      <p:sp>
        <p:nvSpPr>
          <p:cNvPr id="77828" name="Rectangle 3"/>
          <p:cNvSpPr>
            <a:spLocks noGrp="1" noChangeArrowheads="1"/>
          </p:cNvSpPr>
          <p:nvPr>
            <p:ph type="body" idx="1"/>
          </p:nvPr>
        </p:nvSpPr>
        <p:spPr>
          <a:xfrm>
            <a:off x="179388" y="1092200"/>
            <a:ext cx="8964612" cy="4784725"/>
          </a:xfrm>
        </p:spPr>
        <p:txBody>
          <a:bodyPr/>
          <a:lstStyle/>
          <a:p>
            <a:pPr algn="just" eaLnBrk="1" hangingPunct="1">
              <a:lnSpc>
                <a:spcPct val="110000"/>
              </a:lnSpc>
            </a:pPr>
            <a:r>
              <a:rPr lang="zh-CN" altLang="en-US" sz="2800" b="1" smtClean="0">
                <a:ea typeface="楷体_GB2312" pitchFamily="49" charset="-122"/>
              </a:rPr>
              <a:t>优点</a:t>
            </a:r>
          </a:p>
          <a:p>
            <a:pPr lvl="1" algn="just" eaLnBrk="1" hangingPunct="1">
              <a:lnSpc>
                <a:spcPct val="110000"/>
              </a:lnSpc>
            </a:pPr>
            <a:r>
              <a:rPr lang="zh-CN" altLang="en-US" b="1" smtClean="0">
                <a:ea typeface="楷体_GB2312" pitchFamily="49" charset="-122"/>
              </a:rPr>
              <a:t>建立在</a:t>
            </a:r>
            <a:r>
              <a:rPr lang="zh-CN" altLang="en-US" b="1" smtClean="0">
                <a:solidFill>
                  <a:srgbClr val="FF0000"/>
                </a:solidFill>
                <a:ea typeface="楷体_GB2312" pitchFamily="49" charset="-122"/>
              </a:rPr>
              <a:t>严格的数学概念</a:t>
            </a:r>
            <a:r>
              <a:rPr lang="zh-CN" altLang="en-US" b="1" smtClean="0">
                <a:ea typeface="楷体_GB2312" pitchFamily="49" charset="-122"/>
              </a:rPr>
              <a:t>的基础上</a:t>
            </a:r>
          </a:p>
          <a:p>
            <a:pPr lvl="1" algn="just" eaLnBrk="1" hangingPunct="1">
              <a:lnSpc>
                <a:spcPct val="110000"/>
              </a:lnSpc>
            </a:pPr>
            <a:r>
              <a:rPr lang="zh-CN" altLang="en-US" b="1" smtClean="0">
                <a:solidFill>
                  <a:srgbClr val="FF0000"/>
                </a:solidFill>
                <a:ea typeface="楷体_GB2312" pitchFamily="49" charset="-122"/>
              </a:rPr>
              <a:t>概念单一</a:t>
            </a:r>
            <a:r>
              <a:rPr lang="zh-CN" altLang="en-US" b="1" smtClean="0">
                <a:ea typeface="楷体_GB2312" pitchFamily="49" charset="-122"/>
              </a:rPr>
              <a:t>，数据结构简单、清晰，用户易懂易用</a:t>
            </a:r>
          </a:p>
          <a:p>
            <a:pPr lvl="2" algn="just" eaLnBrk="1" hangingPunct="1">
              <a:lnSpc>
                <a:spcPct val="110000"/>
              </a:lnSpc>
            </a:pPr>
            <a:r>
              <a:rPr lang="zh-CN" altLang="en-US" sz="2800" b="1" smtClean="0">
                <a:solidFill>
                  <a:srgbClr val="FF0000"/>
                </a:solidFill>
                <a:ea typeface="楷体_GB2312" pitchFamily="49" charset="-122"/>
              </a:rPr>
              <a:t>实体</a:t>
            </a:r>
            <a:r>
              <a:rPr lang="zh-CN" altLang="en-US" sz="2800" b="1" smtClean="0">
                <a:ea typeface="楷体_GB2312" pitchFamily="49" charset="-122"/>
              </a:rPr>
              <a:t>和</a:t>
            </a:r>
            <a:r>
              <a:rPr lang="zh-CN" altLang="en-US" sz="2800" b="1" smtClean="0">
                <a:solidFill>
                  <a:srgbClr val="FF0000"/>
                </a:solidFill>
                <a:ea typeface="楷体_GB2312" pitchFamily="49" charset="-122"/>
              </a:rPr>
              <a:t>各类联系</a:t>
            </a:r>
            <a:r>
              <a:rPr lang="zh-CN" altLang="en-US" sz="2800" b="1" smtClean="0">
                <a:ea typeface="楷体_GB2312" pitchFamily="49" charset="-122"/>
              </a:rPr>
              <a:t>都用关系来表示</a:t>
            </a:r>
          </a:p>
          <a:p>
            <a:pPr lvl="2" algn="just" eaLnBrk="1" hangingPunct="1">
              <a:lnSpc>
                <a:spcPct val="110000"/>
              </a:lnSpc>
            </a:pPr>
            <a:r>
              <a:rPr lang="zh-CN" altLang="en-US" sz="2800" b="1" smtClean="0">
                <a:ea typeface="楷体_GB2312" pitchFamily="49" charset="-122"/>
              </a:rPr>
              <a:t>对数据的</a:t>
            </a:r>
            <a:r>
              <a:rPr lang="zh-CN" altLang="en-US" sz="2800" b="1" smtClean="0">
                <a:solidFill>
                  <a:srgbClr val="FF0000"/>
                </a:solidFill>
                <a:ea typeface="楷体_GB2312" pitchFamily="49" charset="-122"/>
              </a:rPr>
              <a:t>检索结果</a:t>
            </a:r>
            <a:r>
              <a:rPr lang="zh-CN" altLang="en-US" sz="2800" b="1" smtClean="0">
                <a:ea typeface="楷体_GB2312" pitchFamily="49" charset="-122"/>
              </a:rPr>
              <a:t>也是关系</a:t>
            </a:r>
          </a:p>
          <a:p>
            <a:pPr lvl="1" algn="just" eaLnBrk="1" hangingPunct="1">
              <a:lnSpc>
                <a:spcPct val="110000"/>
              </a:lnSpc>
            </a:pPr>
            <a:r>
              <a:rPr lang="zh-CN" altLang="en-US" b="1" smtClean="0">
                <a:ea typeface="楷体_GB2312" pitchFamily="49" charset="-122"/>
              </a:rPr>
              <a:t>关系模型的存取路径对用户</a:t>
            </a:r>
            <a:r>
              <a:rPr lang="zh-CN" altLang="en-US" b="1" smtClean="0">
                <a:solidFill>
                  <a:srgbClr val="FF0000"/>
                </a:solidFill>
                <a:ea typeface="楷体_GB2312" pitchFamily="49" charset="-122"/>
              </a:rPr>
              <a:t>透明</a:t>
            </a:r>
          </a:p>
          <a:p>
            <a:pPr lvl="2" algn="just" eaLnBrk="1" hangingPunct="1">
              <a:lnSpc>
                <a:spcPct val="110000"/>
              </a:lnSpc>
            </a:pPr>
            <a:r>
              <a:rPr lang="zh-CN" altLang="en-US" sz="2800" b="1" smtClean="0">
                <a:ea typeface="楷体_GB2312" pitchFamily="49" charset="-122"/>
              </a:rPr>
              <a:t>具有</a:t>
            </a:r>
            <a:r>
              <a:rPr lang="zh-CN" altLang="en-US" sz="2800" b="1" smtClean="0">
                <a:solidFill>
                  <a:srgbClr val="FF0000"/>
                </a:solidFill>
                <a:ea typeface="楷体_GB2312" pitchFamily="49" charset="-122"/>
              </a:rPr>
              <a:t>更高的数据独立性</a:t>
            </a:r>
            <a:r>
              <a:rPr lang="zh-CN" altLang="en-US" sz="2800" b="1" smtClean="0">
                <a:ea typeface="楷体_GB2312" pitchFamily="49" charset="-122"/>
              </a:rPr>
              <a:t>，更好的安全保密性</a:t>
            </a:r>
          </a:p>
          <a:p>
            <a:pPr lvl="2" algn="just" eaLnBrk="1" hangingPunct="1">
              <a:lnSpc>
                <a:spcPct val="110000"/>
              </a:lnSpc>
            </a:pPr>
            <a:r>
              <a:rPr lang="zh-CN" altLang="en-US" sz="2800" b="1" smtClean="0">
                <a:solidFill>
                  <a:srgbClr val="FF0000"/>
                </a:solidFill>
                <a:ea typeface="楷体_GB2312" pitchFamily="49" charset="-122"/>
              </a:rPr>
              <a:t>简化</a:t>
            </a:r>
            <a:r>
              <a:rPr lang="zh-CN" altLang="en-US" sz="2800" b="1" smtClean="0">
                <a:ea typeface="楷体_GB2312" pitchFamily="49" charset="-122"/>
              </a:rPr>
              <a:t>了程序员的工作和数据库开发建立的工作</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4F9CEDF7-D1BF-4BC2-848C-ECAC76F97270}" type="slidenum">
              <a:rPr lang="en-US" altLang="zh-CN" smtClean="0"/>
              <a:pPr algn="l" eaLnBrk="1" hangingPunct="1"/>
              <a:t>70</a:t>
            </a:fld>
            <a:endParaRPr lang="en-US" altLang="zh-CN" smtClean="0"/>
          </a:p>
        </p:txBody>
      </p:sp>
      <p:sp>
        <p:nvSpPr>
          <p:cNvPr id="78851" name="Rectangle 2"/>
          <p:cNvSpPr>
            <a:spLocks noGrp="1" noChangeArrowheads="1"/>
          </p:cNvSpPr>
          <p:nvPr>
            <p:ph type="title"/>
          </p:nvPr>
        </p:nvSpPr>
        <p:spPr/>
        <p:txBody>
          <a:bodyPr/>
          <a:lstStyle/>
          <a:p>
            <a:pPr eaLnBrk="1" hangingPunct="1"/>
            <a:r>
              <a:rPr lang="en-US" altLang="zh-CN" smtClean="0"/>
              <a:t>4.</a:t>
            </a:r>
            <a:r>
              <a:rPr lang="zh-CN" altLang="en-US" smtClean="0"/>
              <a:t>关系模型的优缺点</a:t>
            </a:r>
            <a:endParaRPr lang="en-US" altLang="zh-CN" smtClean="0"/>
          </a:p>
        </p:txBody>
      </p:sp>
      <p:sp>
        <p:nvSpPr>
          <p:cNvPr id="78852" name="Rectangle 3"/>
          <p:cNvSpPr>
            <a:spLocks noGrp="1" noChangeArrowheads="1"/>
          </p:cNvSpPr>
          <p:nvPr>
            <p:ph type="body" idx="1"/>
          </p:nvPr>
        </p:nvSpPr>
        <p:spPr>
          <a:xfrm>
            <a:off x="179388" y="1125538"/>
            <a:ext cx="8640762" cy="4038600"/>
          </a:xfrm>
        </p:spPr>
        <p:txBody>
          <a:bodyPr/>
          <a:lstStyle/>
          <a:p>
            <a:pPr algn="just" eaLnBrk="1" hangingPunct="1"/>
            <a:r>
              <a:rPr lang="zh-CN" altLang="en-US" sz="2800" b="1" smtClean="0">
                <a:ea typeface="楷体_GB2312" pitchFamily="49" charset="-122"/>
              </a:rPr>
              <a:t>缺点</a:t>
            </a:r>
          </a:p>
          <a:p>
            <a:pPr lvl="1" algn="just" eaLnBrk="1" hangingPunct="1">
              <a:lnSpc>
                <a:spcPct val="140000"/>
              </a:lnSpc>
            </a:pPr>
            <a:r>
              <a:rPr lang="zh-CN" altLang="en-US" b="1" smtClean="0">
                <a:ea typeface="楷体_GB2312" pitchFamily="49" charset="-122"/>
              </a:rPr>
              <a:t>存取路径对用户透明导致</a:t>
            </a:r>
            <a:r>
              <a:rPr lang="zh-CN" altLang="en-US" b="1" smtClean="0">
                <a:solidFill>
                  <a:srgbClr val="FF0000"/>
                </a:solidFill>
                <a:ea typeface="楷体_GB2312" pitchFamily="49" charset="-122"/>
              </a:rPr>
              <a:t>查询效率</a:t>
            </a:r>
            <a:r>
              <a:rPr lang="zh-CN" altLang="en-US" b="1" smtClean="0">
                <a:ea typeface="楷体_GB2312" pitchFamily="49" charset="-122"/>
              </a:rPr>
              <a:t>往往不如非关系数据模型。</a:t>
            </a:r>
          </a:p>
          <a:p>
            <a:pPr lvl="1" algn="just" eaLnBrk="1" hangingPunct="1">
              <a:lnSpc>
                <a:spcPct val="140000"/>
              </a:lnSpc>
            </a:pPr>
            <a:r>
              <a:rPr lang="zh-CN" altLang="en-US" b="1" smtClean="0">
                <a:ea typeface="楷体_GB2312" pitchFamily="49" charset="-122"/>
              </a:rPr>
              <a:t>为提高性能，必须对用户的</a:t>
            </a:r>
            <a:r>
              <a:rPr lang="zh-CN" altLang="en-US" b="1" smtClean="0">
                <a:solidFill>
                  <a:srgbClr val="FF0000"/>
                </a:solidFill>
                <a:ea typeface="楷体_GB2312" pitchFamily="49" charset="-122"/>
              </a:rPr>
              <a:t>查询请求进行优化</a:t>
            </a:r>
            <a:r>
              <a:rPr lang="zh-CN" altLang="en-US" b="1" smtClean="0">
                <a:ea typeface="楷体_GB2312" pitchFamily="49" charset="-122"/>
              </a:rPr>
              <a:t>，增加了</a:t>
            </a:r>
            <a:r>
              <a:rPr lang="zh-CN" altLang="en-US" b="1" smtClean="0">
                <a:solidFill>
                  <a:srgbClr val="FF0000"/>
                </a:solidFill>
                <a:ea typeface="楷体_GB2312" pitchFamily="49" charset="-122"/>
              </a:rPr>
              <a:t>开发数据库管理系统</a:t>
            </a:r>
            <a:r>
              <a:rPr lang="zh-CN" altLang="en-US" b="1" smtClean="0">
                <a:ea typeface="楷体_GB2312" pitchFamily="49" charset="-122"/>
              </a:rPr>
              <a:t>的难度。</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FEEFCE6A-C7BC-43F3-9AF1-E77A0412F48C}" type="slidenum">
              <a:rPr lang="en-US" altLang="zh-CN" smtClean="0"/>
              <a:pPr algn="l" eaLnBrk="1" hangingPunct="1"/>
              <a:t>71</a:t>
            </a:fld>
            <a:endParaRPr lang="en-US" altLang="zh-CN" smtClean="0"/>
          </a:p>
        </p:txBody>
      </p:sp>
      <p:sp>
        <p:nvSpPr>
          <p:cNvPr id="79875" name="Rectangle 2"/>
          <p:cNvSpPr>
            <a:spLocks noGrp="1" noChangeArrowheads="1"/>
          </p:cNvSpPr>
          <p:nvPr>
            <p:ph type="title"/>
          </p:nvPr>
        </p:nvSpPr>
        <p:spPr/>
        <p:txBody>
          <a:bodyPr/>
          <a:lstStyle/>
          <a:p>
            <a:pPr eaLnBrk="1" hangingPunct="1"/>
            <a:r>
              <a:rPr lang="en-US" altLang="zh-CN" smtClean="0"/>
              <a:t>1.3 </a:t>
            </a:r>
            <a:r>
              <a:rPr lang="zh-CN" altLang="zh-CN" smtClean="0"/>
              <a:t>数据库系统结构</a:t>
            </a:r>
            <a:endParaRPr lang="zh-CN" altLang="en-US" smtClean="0"/>
          </a:p>
        </p:txBody>
      </p:sp>
      <p:sp>
        <p:nvSpPr>
          <p:cNvPr id="86020" name="Rectangle 5"/>
          <p:cNvSpPr>
            <a:spLocks noGrp="1" noChangeArrowheads="1"/>
          </p:cNvSpPr>
          <p:nvPr>
            <p:ph type="body" idx="1"/>
          </p:nvPr>
        </p:nvSpPr>
        <p:spPr>
          <a:xfrm>
            <a:off x="395288" y="4437063"/>
            <a:ext cx="8569325" cy="1327150"/>
          </a:xfrm>
          <a:noFill/>
        </p:spPr>
        <p:txBody>
          <a:bodyPr/>
          <a:lstStyle/>
          <a:p>
            <a:pPr eaLnBrk="1" hangingPunct="1">
              <a:lnSpc>
                <a:spcPct val="125000"/>
              </a:lnSpc>
              <a:buSzPct val="91000"/>
            </a:pPr>
            <a:r>
              <a:rPr lang="zh-CN" altLang="en-US" sz="2800" b="1" smtClean="0">
                <a:ea typeface="楷体_GB2312" pitchFamily="49" charset="-122"/>
              </a:rPr>
              <a:t>从</a:t>
            </a:r>
            <a:r>
              <a:rPr lang="zh-CN" altLang="en-US" sz="2800" b="1" smtClean="0">
                <a:solidFill>
                  <a:srgbClr val="FF0000"/>
                </a:solidFill>
                <a:ea typeface="楷体_GB2312" pitchFamily="49" charset="-122"/>
              </a:rPr>
              <a:t>数据库管理系统</a:t>
            </a:r>
            <a:r>
              <a:rPr lang="zh-CN" altLang="en-US" sz="2800" b="1" smtClean="0">
                <a:ea typeface="楷体_GB2312" pitchFamily="49" charset="-122"/>
              </a:rPr>
              <a:t>角度看，数据库系统通常采用</a:t>
            </a:r>
            <a:r>
              <a:rPr lang="zh-CN" altLang="en-US" sz="2800" b="1" smtClean="0">
                <a:solidFill>
                  <a:srgbClr val="0000FF"/>
                </a:solidFill>
                <a:ea typeface="楷体_GB2312" pitchFamily="49" charset="-122"/>
              </a:rPr>
              <a:t>三级模式结构</a:t>
            </a:r>
            <a:r>
              <a:rPr lang="zh-CN" altLang="en-US" sz="2800" b="1" smtClean="0">
                <a:ea typeface="楷体_GB2312" pitchFamily="49" charset="-122"/>
              </a:rPr>
              <a:t>，是</a:t>
            </a:r>
            <a:r>
              <a:rPr lang="zh-CN" altLang="en-US" sz="2800" b="1" smtClean="0">
                <a:solidFill>
                  <a:srgbClr val="0000FF"/>
                </a:solidFill>
                <a:ea typeface="楷体_GB2312" pitchFamily="49" charset="-122"/>
              </a:rPr>
              <a:t>数据库系统内部的系统结构 </a:t>
            </a:r>
            <a:r>
              <a:rPr lang="zh-CN" altLang="en-US" sz="2800" b="1" smtClean="0">
                <a:ea typeface="楷体_GB2312" pitchFamily="49" charset="-122"/>
              </a:rPr>
              <a:t>。</a:t>
            </a:r>
          </a:p>
        </p:txBody>
      </p:sp>
      <p:sp>
        <p:nvSpPr>
          <p:cNvPr id="963591" name="Rectangle 7"/>
          <p:cNvSpPr>
            <a:spLocks noChangeArrowheads="1"/>
          </p:cNvSpPr>
          <p:nvPr/>
        </p:nvSpPr>
        <p:spPr bwMode="auto">
          <a:xfrm>
            <a:off x="295275" y="1166813"/>
            <a:ext cx="8569325" cy="298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5000"/>
              </a:lnSpc>
              <a:spcBef>
                <a:spcPct val="20000"/>
              </a:spcBef>
              <a:buClr>
                <a:srgbClr val="C00000"/>
              </a:buClr>
              <a:buSzPct val="75000"/>
              <a:buFont typeface="Wingdings" pitchFamily="2" charset="2"/>
              <a:buChar char="n"/>
            </a:pPr>
            <a:r>
              <a:rPr lang="zh-CN" altLang="en-US" sz="2800" b="1">
                <a:ea typeface="楷体_GB2312" pitchFamily="49" charset="-122"/>
              </a:rPr>
              <a:t>从数据库</a:t>
            </a:r>
            <a:r>
              <a:rPr lang="zh-CN" altLang="en-US" sz="2800" b="1">
                <a:solidFill>
                  <a:srgbClr val="FF0000"/>
                </a:solidFill>
                <a:ea typeface="楷体_GB2312" pitchFamily="49" charset="-122"/>
              </a:rPr>
              <a:t>最终用户角度</a:t>
            </a:r>
            <a:r>
              <a:rPr lang="zh-CN" altLang="en-US" sz="2800" b="1">
                <a:ea typeface="楷体_GB2312" pitchFamily="49" charset="-122"/>
              </a:rPr>
              <a:t>看（</a:t>
            </a:r>
            <a:r>
              <a:rPr lang="zh-CN" altLang="en-US" sz="2800" b="1">
                <a:solidFill>
                  <a:srgbClr val="0000FF"/>
                </a:solidFill>
                <a:ea typeface="楷体_GB2312" pitchFamily="49" charset="-122"/>
              </a:rPr>
              <a:t>数据库系统外部的体系结构</a:t>
            </a:r>
            <a:r>
              <a:rPr lang="zh-CN" altLang="en-US" sz="2800" b="1">
                <a:ea typeface="楷体_GB2312" pitchFamily="49" charset="-122"/>
              </a:rPr>
              <a:t>） ，数据库系统的结构分为</a:t>
            </a:r>
            <a:r>
              <a:rPr lang="en-US" altLang="zh-CN" sz="2800" b="1">
                <a:ea typeface="楷体_GB2312" pitchFamily="49" charset="-122"/>
              </a:rPr>
              <a:t>:</a:t>
            </a:r>
          </a:p>
          <a:p>
            <a:pPr marL="742950" lvl="1" indent="-285750">
              <a:lnSpc>
                <a:spcPct val="125000"/>
              </a:lnSpc>
              <a:spcBef>
                <a:spcPct val="20000"/>
              </a:spcBef>
              <a:buClr>
                <a:srgbClr val="996600"/>
              </a:buClr>
              <a:buSzPct val="75000"/>
              <a:buFont typeface="Wingdings" pitchFamily="2" charset="2"/>
              <a:buChar char="Ø"/>
            </a:pPr>
            <a:r>
              <a:rPr lang="zh-CN" altLang="en-US" sz="2800" b="1">
                <a:ea typeface="楷体_GB2312" pitchFamily="49" charset="-122"/>
              </a:rPr>
              <a:t>单用户结构、主从式结构、分布式结构</a:t>
            </a:r>
          </a:p>
          <a:p>
            <a:pPr marL="742950" lvl="1" indent="-285750">
              <a:lnSpc>
                <a:spcPct val="125000"/>
              </a:lnSpc>
              <a:spcBef>
                <a:spcPct val="20000"/>
              </a:spcBef>
              <a:buClr>
                <a:srgbClr val="996600"/>
              </a:buClr>
              <a:buSzPct val="75000"/>
              <a:buFont typeface="Wingdings" pitchFamily="2" charset="2"/>
              <a:buChar char="Ø"/>
            </a:pPr>
            <a:r>
              <a:rPr lang="zh-CN" altLang="en-US" sz="2800" b="1">
                <a:ea typeface="楷体_GB2312" pitchFamily="49" charset="-122"/>
              </a:rPr>
              <a:t>客户</a:t>
            </a:r>
            <a:r>
              <a:rPr lang="en-US" altLang="zh-CN" sz="2800" b="1">
                <a:ea typeface="楷体_GB2312" pitchFamily="49" charset="-122"/>
              </a:rPr>
              <a:t>--</a:t>
            </a:r>
            <a:r>
              <a:rPr lang="zh-CN" altLang="en-US" sz="2800" b="1">
                <a:ea typeface="楷体_GB2312" pitchFamily="49" charset="-122"/>
              </a:rPr>
              <a:t>服务器（</a:t>
            </a:r>
            <a:r>
              <a:rPr lang="en-US" altLang="zh-CN" sz="2800" b="1">
                <a:ea typeface="楷体_GB2312" pitchFamily="49" charset="-122"/>
              </a:rPr>
              <a:t>C/S</a:t>
            </a:r>
            <a:r>
              <a:rPr lang="zh-CN" altLang="en-US" sz="2800" b="1">
                <a:ea typeface="楷体_GB2312" pitchFamily="49" charset="-122"/>
              </a:rPr>
              <a:t>）、浏览器</a:t>
            </a:r>
            <a:r>
              <a:rPr lang="en-US" altLang="zh-CN" sz="2800" b="1">
                <a:ea typeface="楷体_GB2312" pitchFamily="49" charset="-122"/>
              </a:rPr>
              <a:t>--</a:t>
            </a:r>
            <a:r>
              <a:rPr lang="zh-CN" altLang="en-US" sz="2800" b="1">
                <a:ea typeface="楷体_GB2312" pitchFamily="49" charset="-122"/>
              </a:rPr>
              <a:t>应用服务器（</a:t>
            </a:r>
            <a:r>
              <a:rPr lang="en-US" altLang="zh-CN" sz="2800" b="1">
                <a:ea typeface="楷体_GB2312" pitchFamily="49" charset="-122"/>
              </a:rPr>
              <a:t>B/S</a:t>
            </a:r>
            <a:r>
              <a:rPr lang="zh-CN" altLang="en-US" sz="2800" b="1">
                <a:ea typeface="楷体_GB2312" pitchFamily="49" charset="-122"/>
              </a:rPr>
              <a:t>）、数据库服务器多层结构等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3591"/>
                                        </p:tgtEl>
                                        <p:attrNameLst>
                                          <p:attrName>style.visibility</p:attrName>
                                        </p:attrNameLst>
                                      </p:cBhvr>
                                      <p:to>
                                        <p:strVal val="visible"/>
                                      </p:to>
                                    </p:set>
                                    <p:animEffect transition="in" filter="blinds(horizontal)">
                                      <p:cBhvr>
                                        <p:cTn id="7" dur="500"/>
                                        <p:tgtEl>
                                          <p:spTgt spid="9635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6020">
                                            <p:txEl>
                                              <p:pRg st="0" end="0"/>
                                            </p:txEl>
                                          </p:spTgt>
                                        </p:tgtEl>
                                        <p:attrNameLst>
                                          <p:attrName>style.visibility</p:attrName>
                                        </p:attrNameLst>
                                      </p:cBhvr>
                                      <p:to>
                                        <p:strVal val="visible"/>
                                      </p:to>
                                    </p:set>
                                    <p:anim calcmode="lin" valueType="num">
                                      <p:cBhvr additive="base">
                                        <p:cTn id="12" dur="500" fill="hold"/>
                                        <p:tgtEl>
                                          <p:spTgt spid="86020">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602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build="p"/>
      <p:bldP spid="963591"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44D3579E-0852-4B33-A162-0DD0FB0E2BE4}" type="slidenum">
              <a:rPr lang="en-US" altLang="zh-CN" smtClean="0"/>
              <a:pPr algn="l" eaLnBrk="1" hangingPunct="1"/>
              <a:t>72</a:t>
            </a:fld>
            <a:endParaRPr lang="en-US" altLang="zh-CN" smtClean="0"/>
          </a:p>
        </p:txBody>
      </p:sp>
      <p:sp>
        <p:nvSpPr>
          <p:cNvPr id="80899" name="Rectangle 2"/>
          <p:cNvSpPr>
            <a:spLocks noGrp="1" noChangeArrowheads="1"/>
          </p:cNvSpPr>
          <p:nvPr>
            <p:ph type="title"/>
          </p:nvPr>
        </p:nvSpPr>
        <p:spPr/>
        <p:txBody>
          <a:bodyPr/>
          <a:lstStyle/>
          <a:p>
            <a:pPr eaLnBrk="1" hangingPunct="1"/>
            <a:r>
              <a:rPr lang="en-US" altLang="zh-CN" smtClean="0"/>
              <a:t>1.3 </a:t>
            </a:r>
            <a:r>
              <a:rPr lang="zh-CN" altLang="en-US" smtClean="0"/>
              <a:t>数据库系统结构</a:t>
            </a:r>
            <a:endParaRPr lang="zh-CN" altLang="en-US" smtClean="0">
              <a:solidFill>
                <a:schemeClr val="tx1"/>
              </a:solidFill>
            </a:endParaRPr>
          </a:p>
        </p:txBody>
      </p:sp>
      <p:sp>
        <p:nvSpPr>
          <p:cNvPr id="80900" name="Rectangle 3"/>
          <p:cNvSpPr>
            <a:spLocks noGrp="1" noChangeArrowheads="1"/>
          </p:cNvSpPr>
          <p:nvPr>
            <p:ph type="body" idx="1"/>
          </p:nvPr>
        </p:nvSpPr>
        <p:spPr>
          <a:xfrm>
            <a:off x="611188" y="1125538"/>
            <a:ext cx="8280400" cy="4181475"/>
          </a:xfrm>
        </p:spPr>
        <p:txBody>
          <a:bodyPr/>
          <a:lstStyle/>
          <a:p>
            <a:pPr algn="just" eaLnBrk="1" hangingPunct="1">
              <a:lnSpc>
                <a:spcPct val="160000"/>
              </a:lnSpc>
              <a:buFont typeface="Wingdings" pitchFamily="2" charset="2"/>
              <a:buNone/>
            </a:pPr>
            <a:r>
              <a:rPr lang="zh-CN" altLang="en-US" sz="2800" b="1" smtClean="0">
                <a:solidFill>
                  <a:srgbClr val="0000FF"/>
                </a:solidFill>
                <a:ea typeface="楷体_GB2312" pitchFamily="49" charset="-122"/>
              </a:rPr>
              <a:t>内部体系结构：</a:t>
            </a:r>
          </a:p>
          <a:p>
            <a:pPr algn="just" eaLnBrk="1" hangingPunct="1">
              <a:lnSpc>
                <a:spcPct val="160000"/>
              </a:lnSpc>
              <a:buFont typeface="Wingdings" pitchFamily="2" charset="2"/>
              <a:buNone/>
            </a:pPr>
            <a:r>
              <a:rPr lang="en-US" altLang="zh-CN" sz="2800" b="1" smtClean="0">
                <a:ea typeface="楷体_GB2312" pitchFamily="49" charset="-122"/>
              </a:rPr>
              <a:t>1.3.1 </a:t>
            </a:r>
            <a:r>
              <a:rPr lang="zh-CN" altLang="en-US" sz="2800" b="1" smtClean="0">
                <a:ea typeface="楷体_GB2312" pitchFamily="49" charset="-122"/>
              </a:rPr>
              <a:t>数据库系统</a:t>
            </a:r>
            <a:r>
              <a:rPr lang="zh-CN" altLang="en-US" sz="2800" b="1" smtClean="0">
                <a:solidFill>
                  <a:srgbClr val="FF0000"/>
                </a:solidFill>
                <a:ea typeface="楷体_GB2312" pitchFamily="49" charset="-122"/>
              </a:rPr>
              <a:t>模式的概念</a:t>
            </a:r>
          </a:p>
          <a:p>
            <a:pPr algn="just" eaLnBrk="1" hangingPunct="1">
              <a:lnSpc>
                <a:spcPct val="160000"/>
              </a:lnSpc>
              <a:buFont typeface="Wingdings" pitchFamily="2" charset="2"/>
              <a:buNone/>
            </a:pPr>
            <a:r>
              <a:rPr lang="en-US" altLang="zh-CN" sz="2800" b="1" smtClean="0">
                <a:ea typeface="楷体_GB2312" pitchFamily="49" charset="-122"/>
              </a:rPr>
              <a:t>1.3.2 </a:t>
            </a:r>
            <a:r>
              <a:rPr lang="zh-CN" altLang="en-US" sz="2800" b="1" smtClean="0">
                <a:ea typeface="楷体_GB2312" pitchFamily="49" charset="-122"/>
              </a:rPr>
              <a:t>数据库系统的</a:t>
            </a:r>
            <a:r>
              <a:rPr lang="zh-CN" altLang="en-US" sz="2800" b="1" smtClean="0">
                <a:solidFill>
                  <a:srgbClr val="FF0000"/>
                </a:solidFill>
                <a:ea typeface="楷体_GB2312" pitchFamily="49" charset="-122"/>
              </a:rPr>
              <a:t>三级模式</a:t>
            </a:r>
            <a:r>
              <a:rPr lang="zh-CN" altLang="en-US" sz="2800" b="1" smtClean="0">
                <a:ea typeface="楷体_GB2312" pitchFamily="49" charset="-122"/>
              </a:rPr>
              <a:t>结构</a:t>
            </a:r>
          </a:p>
          <a:p>
            <a:pPr algn="just" eaLnBrk="1" hangingPunct="1">
              <a:lnSpc>
                <a:spcPct val="160000"/>
              </a:lnSpc>
              <a:buFont typeface="Wingdings" pitchFamily="2" charset="2"/>
              <a:buNone/>
            </a:pPr>
            <a:r>
              <a:rPr lang="en-US" altLang="zh-CN" sz="2800" b="1" smtClean="0">
                <a:ea typeface="楷体_GB2312" pitchFamily="49" charset="-122"/>
              </a:rPr>
              <a:t>1.3.3 </a:t>
            </a:r>
            <a:r>
              <a:rPr lang="zh-CN" altLang="en-US" sz="2800" b="1" smtClean="0">
                <a:ea typeface="楷体_GB2312" pitchFamily="49" charset="-122"/>
              </a:rPr>
              <a:t>数据库的</a:t>
            </a:r>
            <a:r>
              <a:rPr lang="zh-CN" altLang="en-US" sz="2800" b="1" smtClean="0">
                <a:solidFill>
                  <a:srgbClr val="FF0000"/>
                </a:solidFill>
                <a:ea typeface="楷体_GB2312" pitchFamily="49" charset="-122"/>
              </a:rPr>
              <a:t>二级映像功能</a:t>
            </a:r>
            <a:r>
              <a:rPr lang="zh-CN" altLang="en-US" sz="2800" b="1" smtClean="0">
                <a:ea typeface="楷体_GB2312" pitchFamily="49" charset="-122"/>
              </a:rPr>
              <a:t>与数据独立性</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AA7F02AD-9806-4733-A995-DEECC437B389}" type="slidenum">
              <a:rPr lang="en-US" altLang="zh-CN" smtClean="0"/>
              <a:pPr algn="l" eaLnBrk="1" hangingPunct="1"/>
              <a:t>73</a:t>
            </a:fld>
            <a:endParaRPr lang="en-US" altLang="zh-CN" smtClean="0"/>
          </a:p>
        </p:txBody>
      </p:sp>
      <p:sp>
        <p:nvSpPr>
          <p:cNvPr id="81923" name="Rectangle 2"/>
          <p:cNvSpPr>
            <a:spLocks noGrp="1" noChangeArrowheads="1"/>
          </p:cNvSpPr>
          <p:nvPr>
            <p:ph type="title"/>
          </p:nvPr>
        </p:nvSpPr>
        <p:spPr/>
        <p:txBody>
          <a:bodyPr/>
          <a:lstStyle/>
          <a:p>
            <a:pPr eaLnBrk="1" hangingPunct="1"/>
            <a:r>
              <a:rPr lang="en-US" altLang="zh-CN" smtClean="0"/>
              <a:t>1.3.1 </a:t>
            </a:r>
            <a:r>
              <a:rPr lang="zh-CN" altLang="en-US" smtClean="0"/>
              <a:t>数据库系统模式的概念</a:t>
            </a:r>
          </a:p>
        </p:txBody>
      </p:sp>
      <p:sp>
        <p:nvSpPr>
          <p:cNvPr id="81924" name="Rectangle 3"/>
          <p:cNvSpPr>
            <a:spLocks noGrp="1" noChangeArrowheads="1"/>
          </p:cNvSpPr>
          <p:nvPr>
            <p:ph type="body" idx="1"/>
          </p:nvPr>
        </p:nvSpPr>
        <p:spPr>
          <a:xfrm>
            <a:off x="0" y="1125538"/>
            <a:ext cx="9144000" cy="1943100"/>
          </a:xfrm>
        </p:spPr>
        <p:txBody>
          <a:bodyPr/>
          <a:lstStyle/>
          <a:p>
            <a:pPr eaLnBrk="1" hangingPunct="1"/>
            <a:r>
              <a:rPr lang="zh-CN" altLang="en-US" sz="2800" b="1" smtClean="0">
                <a:ea typeface="楷体_GB2312" pitchFamily="49" charset="-122"/>
              </a:rPr>
              <a:t>“型” 和“值” 的概念</a:t>
            </a:r>
          </a:p>
          <a:p>
            <a:pPr lvl="1" algn="just" eaLnBrk="1" hangingPunct="1">
              <a:buSzPct val="80000"/>
            </a:pPr>
            <a:r>
              <a:rPr lang="zh-CN" altLang="en-US" b="1" smtClean="0">
                <a:solidFill>
                  <a:srgbClr val="FF00FF"/>
                </a:solidFill>
                <a:ea typeface="楷体_GB2312" pitchFamily="49" charset="-122"/>
              </a:rPr>
              <a:t>型</a:t>
            </a:r>
            <a:r>
              <a:rPr lang="zh-CN" altLang="en-US" b="1" smtClean="0">
                <a:ea typeface="楷体_GB2312" pitchFamily="49" charset="-122"/>
              </a:rPr>
              <a:t>（</a:t>
            </a:r>
            <a:r>
              <a:rPr lang="en-US" altLang="zh-CN" b="1" smtClean="0">
                <a:ea typeface="楷体_GB2312" pitchFamily="49" charset="-122"/>
              </a:rPr>
              <a:t>Type</a:t>
            </a:r>
            <a:r>
              <a:rPr lang="zh-CN" altLang="en-US" b="1" smtClean="0">
                <a:ea typeface="楷体_GB2312" pitchFamily="49" charset="-122"/>
              </a:rPr>
              <a:t>）：对某一类数据的结构和属性的说明</a:t>
            </a:r>
          </a:p>
          <a:p>
            <a:pPr lvl="1" algn="just" eaLnBrk="1" hangingPunct="1">
              <a:buSzPct val="80000"/>
            </a:pPr>
            <a:r>
              <a:rPr lang="zh-CN" altLang="en-US" b="1" smtClean="0">
                <a:solidFill>
                  <a:srgbClr val="FF00FF"/>
                </a:solidFill>
                <a:ea typeface="楷体_GB2312" pitchFamily="49" charset="-122"/>
              </a:rPr>
              <a:t>值</a:t>
            </a:r>
            <a:r>
              <a:rPr lang="zh-CN" altLang="en-US" b="1" smtClean="0">
                <a:ea typeface="楷体_GB2312" pitchFamily="49" charset="-122"/>
              </a:rPr>
              <a:t>（</a:t>
            </a:r>
            <a:r>
              <a:rPr lang="en-US" altLang="zh-CN" b="1" smtClean="0">
                <a:ea typeface="楷体_GB2312" pitchFamily="49" charset="-122"/>
              </a:rPr>
              <a:t>Value</a:t>
            </a:r>
            <a:r>
              <a:rPr lang="zh-CN" altLang="en-US" b="1" smtClean="0">
                <a:ea typeface="楷体_GB2312" pitchFamily="49" charset="-122"/>
              </a:rPr>
              <a:t>）：是型的一个具体赋值</a:t>
            </a:r>
          </a:p>
        </p:txBody>
      </p:sp>
      <p:sp>
        <p:nvSpPr>
          <p:cNvPr id="965636" name="Rectangle 4"/>
          <p:cNvSpPr>
            <a:spLocks noChangeArrowheads="1"/>
          </p:cNvSpPr>
          <p:nvPr/>
        </p:nvSpPr>
        <p:spPr bwMode="auto">
          <a:xfrm>
            <a:off x="144463" y="2852738"/>
            <a:ext cx="8243887"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rgbClr val="669900"/>
              </a:buClr>
              <a:buSzPct val="75000"/>
              <a:buFont typeface="Wingdings" pitchFamily="2" charset="2"/>
              <a:buNone/>
            </a:pPr>
            <a:r>
              <a:rPr lang="en-US" altLang="zh-CN" sz="3200" b="1">
                <a:ea typeface="楷体_GB2312" pitchFamily="49" charset="-122"/>
              </a:rPr>
              <a:t>    </a:t>
            </a:r>
            <a:r>
              <a:rPr lang="zh-CN" altLang="en-US" sz="2600" b="1">
                <a:ea typeface="楷体_GB2312" pitchFamily="49" charset="-122"/>
              </a:rPr>
              <a:t>例如：学生记录</a:t>
            </a:r>
          </a:p>
          <a:p>
            <a:pPr marL="742950" lvl="1" indent="-285750" algn="just">
              <a:spcBef>
                <a:spcPct val="20000"/>
              </a:spcBef>
              <a:buClr>
                <a:srgbClr val="996600"/>
              </a:buClr>
              <a:buSzPct val="75000"/>
              <a:buFont typeface="Wingdings" pitchFamily="2" charset="2"/>
              <a:buNone/>
            </a:pPr>
            <a:r>
              <a:rPr lang="zh-CN" altLang="en-US" sz="2600" b="1">
                <a:ea typeface="楷体_GB2312" pitchFamily="49" charset="-122"/>
              </a:rPr>
              <a:t>记录型：</a:t>
            </a:r>
          </a:p>
          <a:p>
            <a:pPr marL="742950" lvl="1" indent="-285750" algn="just">
              <a:spcBef>
                <a:spcPct val="20000"/>
              </a:spcBef>
              <a:buClr>
                <a:srgbClr val="996600"/>
              </a:buClr>
              <a:buSzPct val="75000"/>
              <a:buFont typeface="Wingdings" pitchFamily="2" charset="2"/>
              <a:buNone/>
            </a:pPr>
            <a:r>
              <a:rPr lang="zh-CN" altLang="en-US" sz="2600" b="1">
                <a:ea typeface="楷体_GB2312" pitchFamily="49" charset="-122"/>
              </a:rPr>
              <a:t>  （学号，姓名，性别，系别，年龄，籍贯）</a:t>
            </a:r>
          </a:p>
        </p:txBody>
      </p:sp>
      <p:sp>
        <p:nvSpPr>
          <p:cNvPr id="965637" name="Rectangle 5"/>
          <p:cNvSpPr>
            <a:spLocks noChangeArrowheads="1"/>
          </p:cNvSpPr>
          <p:nvPr/>
        </p:nvSpPr>
        <p:spPr bwMode="auto">
          <a:xfrm>
            <a:off x="144463" y="4652963"/>
            <a:ext cx="8459787"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42950" lvl="1" indent="-285750" algn="just">
              <a:spcBef>
                <a:spcPct val="20000"/>
              </a:spcBef>
              <a:buClr>
                <a:srgbClr val="996600"/>
              </a:buClr>
              <a:buSzPct val="75000"/>
              <a:buFont typeface="Wingdings" pitchFamily="2" charset="2"/>
              <a:buNone/>
            </a:pPr>
            <a:r>
              <a:rPr lang="zh-CN" altLang="en-US" sz="2600" b="1">
                <a:ea typeface="楷体_GB2312" pitchFamily="49" charset="-122"/>
              </a:rPr>
              <a:t>该记录型的一个记录值：</a:t>
            </a:r>
          </a:p>
          <a:p>
            <a:pPr marL="742950" lvl="1" indent="-285750" algn="just">
              <a:spcBef>
                <a:spcPct val="20000"/>
              </a:spcBef>
              <a:buClr>
                <a:srgbClr val="996600"/>
              </a:buClr>
              <a:buSzPct val="75000"/>
              <a:buFont typeface="Wingdings" pitchFamily="2" charset="2"/>
              <a:buNone/>
            </a:pPr>
            <a:r>
              <a:rPr lang="zh-CN" altLang="en-US" sz="2600" b="1">
                <a:ea typeface="楷体_GB2312" pitchFamily="49" charset="-122"/>
              </a:rPr>
              <a:t>  （</a:t>
            </a:r>
            <a:r>
              <a:rPr lang="en-US" altLang="zh-CN" sz="2600" b="1">
                <a:ea typeface="楷体_GB2312" pitchFamily="49" charset="-122"/>
              </a:rPr>
              <a:t>900201</a:t>
            </a:r>
            <a:r>
              <a:rPr lang="zh-CN" altLang="en-US" sz="2600" b="1">
                <a:ea typeface="楷体_GB2312" pitchFamily="49" charset="-122"/>
              </a:rPr>
              <a:t>，李明，男，计算机，</a:t>
            </a:r>
            <a:r>
              <a:rPr lang="en-US" altLang="zh-CN" sz="2600" b="1">
                <a:ea typeface="楷体_GB2312" pitchFamily="49" charset="-122"/>
              </a:rPr>
              <a:t>22</a:t>
            </a:r>
            <a:r>
              <a:rPr lang="zh-CN" altLang="en-US" sz="2600" b="1">
                <a:ea typeface="楷体_GB2312" pitchFamily="49" charset="-122"/>
              </a:rPr>
              <a:t>，江苏）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5636"/>
                                        </p:tgtEl>
                                        <p:attrNameLst>
                                          <p:attrName>style.visibility</p:attrName>
                                        </p:attrNameLst>
                                      </p:cBhvr>
                                      <p:to>
                                        <p:strVal val="visible"/>
                                      </p:to>
                                    </p:set>
                                    <p:animEffect transition="in" filter="blinds(horizontal)">
                                      <p:cBhvr>
                                        <p:cTn id="7" dur="500"/>
                                        <p:tgtEl>
                                          <p:spTgt spid="9656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65637"/>
                                        </p:tgtEl>
                                        <p:attrNameLst>
                                          <p:attrName>style.visibility</p:attrName>
                                        </p:attrNameLst>
                                      </p:cBhvr>
                                      <p:to>
                                        <p:strVal val="visible"/>
                                      </p:to>
                                    </p:set>
                                    <p:anim calcmode="lin" valueType="num">
                                      <p:cBhvr additive="base">
                                        <p:cTn id="12" dur="500" fill="hold"/>
                                        <p:tgtEl>
                                          <p:spTgt spid="965637"/>
                                        </p:tgtEl>
                                        <p:attrNameLst>
                                          <p:attrName>ppt_x</p:attrName>
                                        </p:attrNameLst>
                                      </p:cBhvr>
                                      <p:tavLst>
                                        <p:tav tm="0">
                                          <p:val>
                                            <p:strVal val="#ppt_x"/>
                                          </p:val>
                                        </p:tav>
                                        <p:tav tm="100000">
                                          <p:val>
                                            <p:strVal val="#ppt_x"/>
                                          </p:val>
                                        </p:tav>
                                      </p:tavLst>
                                    </p:anim>
                                    <p:anim calcmode="lin" valueType="num">
                                      <p:cBhvr additive="base">
                                        <p:cTn id="13" dur="500" fill="hold"/>
                                        <p:tgtEl>
                                          <p:spTgt spid="9656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5636" grpId="0"/>
      <p:bldP spid="96563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0C004678-0EDB-4D04-A9FA-289C8823138F}" type="slidenum">
              <a:rPr lang="en-US" altLang="zh-CN" smtClean="0"/>
              <a:pPr algn="l" eaLnBrk="1" hangingPunct="1"/>
              <a:t>74</a:t>
            </a:fld>
            <a:endParaRPr lang="en-US" altLang="zh-CN" smtClean="0"/>
          </a:p>
        </p:txBody>
      </p:sp>
      <p:sp>
        <p:nvSpPr>
          <p:cNvPr id="82947" name="Rectangle 2"/>
          <p:cNvSpPr>
            <a:spLocks noGrp="1" noChangeArrowheads="1"/>
          </p:cNvSpPr>
          <p:nvPr>
            <p:ph type="title"/>
          </p:nvPr>
        </p:nvSpPr>
        <p:spPr/>
        <p:txBody>
          <a:bodyPr/>
          <a:lstStyle/>
          <a:p>
            <a:pPr eaLnBrk="1" hangingPunct="1"/>
            <a:r>
              <a:rPr lang="zh-CN" altLang="en-US" smtClean="0"/>
              <a:t>数据库系统模式的概念</a:t>
            </a:r>
            <a:r>
              <a:rPr lang="en-US" altLang="zh-CN" smtClean="0"/>
              <a:t>(</a:t>
            </a:r>
            <a:r>
              <a:rPr lang="zh-CN" altLang="en-US" smtClean="0"/>
              <a:t>续</a:t>
            </a:r>
            <a:r>
              <a:rPr lang="en-US" altLang="zh-CN" smtClean="0"/>
              <a:t>)</a:t>
            </a:r>
          </a:p>
        </p:txBody>
      </p:sp>
      <p:sp>
        <p:nvSpPr>
          <p:cNvPr id="82948" name="Rectangle 3"/>
          <p:cNvSpPr>
            <a:spLocks noGrp="1" noChangeArrowheads="1"/>
          </p:cNvSpPr>
          <p:nvPr>
            <p:ph type="body" idx="1"/>
          </p:nvPr>
        </p:nvSpPr>
        <p:spPr>
          <a:xfrm>
            <a:off x="539750" y="1268413"/>
            <a:ext cx="8064500" cy="3732212"/>
          </a:xfrm>
        </p:spPr>
        <p:txBody>
          <a:bodyPr/>
          <a:lstStyle/>
          <a:p>
            <a:pPr eaLnBrk="1" hangingPunct="1">
              <a:lnSpc>
                <a:spcPct val="125000"/>
              </a:lnSpc>
            </a:pPr>
            <a:endParaRPr lang="zh-CN" altLang="zh-CN" sz="3400" b="1" smtClean="0">
              <a:ea typeface="楷体_GB2312" pitchFamily="49" charset="-122"/>
            </a:endParaRPr>
          </a:p>
        </p:txBody>
      </p:sp>
      <p:pic>
        <p:nvPicPr>
          <p:cNvPr id="8294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363" y="1285875"/>
            <a:ext cx="8170862" cy="392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0" name="TextBox 5"/>
          <p:cNvSpPr txBox="1">
            <a:spLocks noChangeArrowheads="1"/>
          </p:cNvSpPr>
          <p:nvPr/>
        </p:nvSpPr>
        <p:spPr bwMode="auto">
          <a:xfrm>
            <a:off x="1187450" y="5286375"/>
            <a:ext cx="7215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3200" b="1"/>
              <a:t>模式是相对稳定的，实例是相对变动的</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136CFB17-D9BD-4C55-B6BF-5058A595731D}" type="slidenum">
              <a:rPr lang="en-US" altLang="zh-CN" smtClean="0"/>
              <a:pPr algn="l" eaLnBrk="1" hangingPunct="1"/>
              <a:t>75</a:t>
            </a:fld>
            <a:endParaRPr lang="en-US" altLang="zh-CN" smtClean="0"/>
          </a:p>
        </p:txBody>
      </p:sp>
      <p:sp>
        <p:nvSpPr>
          <p:cNvPr id="83971" name="Rectangle 2"/>
          <p:cNvSpPr>
            <a:spLocks noGrp="1" noChangeArrowheads="1"/>
          </p:cNvSpPr>
          <p:nvPr>
            <p:ph type="title"/>
          </p:nvPr>
        </p:nvSpPr>
        <p:spPr>
          <a:xfrm>
            <a:off x="206375" y="115888"/>
            <a:ext cx="8686800" cy="850900"/>
          </a:xfrm>
        </p:spPr>
        <p:txBody>
          <a:bodyPr/>
          <a:lstStyle/>
          <a:p>
            <a:pPr eaLnBrk="1" hangingPunct="1"/>
            <a:r>
              <a:rPr lang="en-US" altLang="zh-CN" smtClean="0"/>
              <a:t>1.3.2 </a:t>
            </a:r>
            <a:r>
              <a:rPr lang="zh-CN" altLang="en-US" smtClean="0"/>
              <a:t>数据库系统的三级模式结构</a:t>
            </a:r>
          </a:p>
        </p:txBody>
      </p:sp>
      <p:pic>
        <p:nvPicPr>
          <p:cNvPr id="83972" name="Picture 5" descr="data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484313"/>
            <a:ext cx="7343775" cy="445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3" name="Rectangle 6"/>
          <p:cNvSpPr>
            <a:spLocks noGrp="1" noChangeArrowheads="1"/>
          </p:cNvSpPr>
          <p:nvPr>
            <p:ph type="body" idx="1"/>
          </p:nvPr>
        </p:nvSpPr>
        <p:spPr>
          <a:xfrm>
            <a:off x="2124075" y="5949950"/>
            <a:ext cx="5472113" cy="504825"/>
          </a:xfrm>
          <a:noFill/>
        </p:spPr>
        <p:txBody>
          <a:bodyPr/>
          <a:lstStyle/>
          <a:p>
            <a:pPr eaLnBrk="1" hangingPunct="1">
              <a:lnSpc>
                <a:spcPct val="80000"/>
              </a:lnSpc>
              <a:buFont typeface="Wingdings" pitchFamily="2" charset="2"/>
              <a:buNone/>
            </a:pPr>
            <a:r>
              <a:rPr lang="zh-CN" altLang="en-US" sz="2000" b="1" smtClean="0">
                <a:latin typeface="楷体_GB2312" pitchFamily="49" charset="-122"/>
                <a:ea typeface="楷体_GB2312" pitchFamily="49" charset="-122"/>
              </a:rPr>
              <a:t>图</a:t>
            </a:r>
            <a:r>
              <a:rPr lang="en-US" altLang="zh-CN" sz="2000" b="1" smtClean="0">
                <a:latin typeface="楷体_GB2312" pitchFamily="49" charset="-122"/>
                <a:ea typeface="楷体_GB2312" pitchFamily="49" charset="-122"/>
              </a:rPr>
              <a:t>1.28  </a:t>
            </a:r>
            <a:r>
              <a:rPr lang="zh-CN" altLang="en-US" sz="2000" b="1" smtClean="0">
                <a:latin typeface="楷体_GB2312" pitchFamily="49" charset="-122"/>
                <a:ea typeface="楷体_GB2312" pitchFamily="49" charset="-122"/>
              </a:rPr>
              <a:t>数据库系统的三级模式结构</a:t>
            </a:r>
            <a:r>
              <a:rPr lang="zh-CN" altLang="en-US" smtClean="0"/>
              <a:t> </a:t>
            </a:r>
          </a:p>
        </p:txBody>
      </p:sp>
      <p:sp>
        <p:nvSpPr>
          <p:cNvPr id="7" name="TextBox 6"/>
          <p:cNvSpPr txBox="1">
            <a:spLocks noChangeArrowheads="1"/>
          </p:cNvSpPr>
          <p:nvPr/>
        </p:nvSpPr>
        <p:spPr bwMode="auto">
          <a:xfrm>
            <a:off x="714375" y="4286250"/>
            <a:ext cx="2071688" cy="70802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000"/>
              <a:t>逻辑模式</a:t>
            </a:r>
            <a:endParaRPr lang="en-US" altLang="zh-CN" sz="2000"/>
          </a:p>
          <a:p>
            <a:pPr eaLnBrk="1" hangingPunct="1"/>
            <a:r>
              <a:rPr lang="zh-CN" altLang="en-US" sz="2000"/>
              <a:t>（数据库设计）</a:t>
            </a:r>
          </a:p>
        </p:txBody>
      </p:sp>
      <p:sp>
        <p:nvSpPr>
          <p:cNvPr id="8" name="TextBox 7"/>
          <p:cNvSpPr txBox="1">
            <a:spLocks noChangeArrowheads="1"/>
          </p:cNvSpPr>
          <p:nvPr/>
        </p:nvSpPr>
        <p:spPr bwMode="auto">
          <a:xfrm>
            <a:off x="571500" y="5214938"/>
            <a:ext cx="2786063" cy="708025"/>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000"/>
              <a:t>存储模式</a:t>
            </a:r>
            <a:endParaRPr lang="en-US" altLang="zh-CN" sz="2000"/>
          </a:p>
          <a:p>
            <a:pPr eaLnBrk="1" hangingPunct="1"/>
            <a:r>
              <a:rPr lang="zh-CN" altLang="en-US" sz="2000"/>
              <a:t>（物理结构，存储方式）</a:t>
            </a:r>
          </a:p>
        </p:txBody>
      </p:sp>
      <p:sp>
        <p:nvSpPr>
          <p:cNvPr id="9" name="TextBox 8"/>
          <p:cNvSpPr txBox="1">
            <a:spLocks noChangeArrowheads="1"/>
          </p:cNvSpPr>
          <p:nvPr/>
        </p:nvSpPr>
        <p:spPr bwMode="auto">
          <a:xfrm>
            <a:off x="428625" y="3429000"/>
            <a:ext cx="2428875" cy="708025"/>
          </a:xfrm>
          <a:prstGeom prst="rect">
            <a:avLst/>
          </a:prstGeom>
          <a:noFill/>
          <a:ln w="38100">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000"/>
              <a:t>子模式</a:t>
            </a:r>
            <a:endParaRPr lang="en-US" altLang="zh-CN" sz="2000"/>
          </a:p>
          <a:p>
            <a:pPr eaLnBrk="1" hangingPunct="1"/>
            <a:r>
              <a:rPr lang="zh-CN" altLang="en-US" sz="2000"/>
              <a:t>（用户模式，视图）</a:t>
            </a:r>
          </a:p>
        </p:txBody>
      </p:sp>
      <p:cxnSp>
        <p:nvCxnSpPr>
          <p:cNvPr id="11" name="直接箭头连接符 10"/>
          <p:cNvCxnSpPr>
            <a:cxnSpLocks noChangeShapeType="1"/>
            <a:endCxn id="9" idx="0"/>
          </p:cNvCxnSpPr>
          <p:nvPr/>
        </p:nvCxnSpPr>
        <p:spPr bwMode="auto">
          <a:xfrm rot="5400000">
            <a:off x="1428751" y="3143250"/>
            <a:ext cx="500062" cy="71437"/>
          </a:xfrm>
          <a:prstGeom prst="straightConnector1">
            <a:avLst/>
          </a:prstGeom>
          <a:noFill/>
          <a:ln w="57150" cap="sq" algn="ctr">
            <a:solidFill>
              <a:srgbClr val="339933"/>
            </a:solidFill>
            <a:round/>
            <a:headEnd type="none" w="sm" len="sm"/>
            <a:tailEnd type="arrow" w="med" len="med"/>
          </a:ln>
          <a:extLst>
            <a:ext uri="{909E8E84-426E-40DD-AFC4-6F175D3DCCD1}">
              <a14:hiddenFill xmlns:a14="http://schemas.microsoft.com/office/drawing/2010/main">
                <a:noFill/>
              </a14:hiddenFill>
            </a:ext>
          </a:extLst>
        </p:spPr>
      </p:cxnSp>
      <p:cxnSp>
        <p:nvCxnSpPr>
          <p:cNvPr id="12" name="直接箭头连接符 11"/>
          <p:cNvCxnSpPr>
            <a:cxnSpLocks noChangeShapeType="1"/>
            <a:endCxn id="7" idx="3"/>
          </p:cNvCxnSpPr>
          <p:nvPr/>
        </p:nvCxnSpPr>
        <p:spPr bwMode="auto">
          <a:xfrm rot="10800000" flipV="1">
            <a:off x="2786063" y="3786188"/>
            <a:ext cx="1214437" cy="854075"/>
          </a:xfrm>
          <a:prstGeom prst="straightConnector1">
            <a:avLst/>
          </a:prstGeom>
          <a:noFill/>
          <a:ln w="57150" cap="sq" algn="ctr">
            <a:solidFill>
              <a:srgbClr val="339933"/>
            </a:solidFill>
            <a:round/>
            <a:headEnd type="none" w="sm" len="sm"/>
            <a:tailEnd type="arrow" w="med" len="med"/>
          </a:ln>
          <a:extLst>
            <a:ext uri="{909E8E84-426E-40DD-AFC4-6F175D3DCCD1}">
              <a14:hiddenFill xmlns:a14="http://schemas.microsoft.com/office/drawing/2010/main">
                <a:noFill/>
              </a14:hiddenFill>
            </a:ext>
          </a:extLst>
        </p:spPr>
      </p:cxnSp>
      <p:cxnSp>
        <p:nvCxnSpPr>
          <p:cNvPr id="14" name="直接箭头连接符 13"/>
          <p:cNvCxnSpPr>
            <a:cxnSpLocks noChangeShapeType="1"/>
          </p:cNvCxnSpPr>
          <p:nvPr/>
        </p:nvCxnSpPr>
        <p:spPr bwMode="auto">
          <a:xfrm rot="10800000" flipV="1">
            <a:off x="3357563" y="4929188"/>
            <a:ext cx="642937" cy="571500"/>
          </a:xfrm>
          <a:prstGeom prst="straightConnector1">
            <a:avLst/>
          </a:prstGeom>
          <a:noFill/>
          <a:ln w="57150" cap="sq" algn="ctr">
            <a:solidFill>
              <a:srgbClr val="339933"/>
            </a:solidFill>
            <a:round/>
            <a:headEnd type="none" w="sm" len="sm"/>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par>
                                <p:cTn id="8" presetID="4" presetClass="entr" presetSubtype="16"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ox(in)">
                                      <p:cBhvr>
                                        <p:cTn id="10" dur="500"/>
                                        <p:tgtEl>
                                          <p:spTgt spid="1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ox(in)">
                                      <p:cBhvr>
                                        <p:cTn id="15" dur="500"/>
                                        <p:tgtEl>
                                          <p:spTgt spid="8"/>
                                        </p:tgtEl>
                                      </p:cBhvr>
                                    </p:animEffect>
                                  </p:childTnLst>
                                </p:cTn>
                              </p:par>
                              <p:par>
                                <p:cTn id="16" presetID="4" presetClass="entr" presetSubtype="16"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ox(in)">
                                      <p:cBhvr>
                                        <p:cTn id="18" dur="500"/>
                                        <p:tgtEl>
                                          <p:spTgt spid="1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4" descr="三级模式"/>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404813"/>
            <a:ext cx="8964612" cy="592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动作按钮: 前进或下一项 2">
            <a:hlinkClick r:id="rId4" action="ppaction://hlinksldjump" highlightClick="1"/>
          </p:cNvPr>
          <p:cNvSpPr/>
          <p:nvPr/>
        </p:nvSpPr>
        <p:spPr>
          <a:xfrm>
            <a:off x="5003800" y="6308725"/>
            <a:ext cx="863600" cy="360363"/>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动作按钮: 结束 1">
            <a:hlinkClick r:id="rId5" action="ppaction://hlinksldjump" highlightClick="1"/>
          </p:cNvPr>
          <p:cNvSpPr/>
          <p:nvPr/>
        </p:nvSpPr>
        <p:spPr>
          <a:xfrm>
            <a:off x="6300788" y="6330950"/>
            <a:ext cx="792162" cy="338138"/>
          </a:xfrm>
          <a:prstGeom prst="actionButtonE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B99B992E-4F3F-46DF-9C60-51FD4FF48098}" type="slidenum">
              <a:rPr lang="en-US" altLang="zh-CN" smtClean="0"/>
              <a:pPr algn="l" eaLnBrk="1" hangingPunct="1"/>
              <a:t>77</a:t>
            </a:fld>
            <a:endParaRPr lang="en-US" altLang="zh-CN" smtClean="0"/>
          </a:p>
        </p:txBody>
      </p:sp>
      <p:sp>
        <p:nvSpPr>
          <p:cNvPr id="86019" name="Rectangle 2"/>
          <p:cNvSpPr>
            <a:spLocks noGrp="1" noChangeArrowheads="1"/>
          </p:cNvSpPr>
          <p:nvPr>
            <p:ph type="title"/>
          </p:nvPr>
        </p:nvSpPr>
        <p:spPr>
          <a:xfrm>
            <a:off x="201613" y="115888"/>
            <a:ext cx="8763000" cy="914400"/>
          </a:xfrm>
        </p:spPr>
        <p:txBody>
          <a:bodyPr/>
          <a:lstStyle/>
          <a:p>
            <a:pPr eaLnBrk="1" hangingPunct="1"/>
            <a:r>
              <a:rPr lang="en-US" altLang="zh-CN" smtClean="0"/>
              <a:t>1</a:t>
            </a:r>
            <a:r>
              <a:rPr lang="zh-CN" altLang="en-US" smtClean="0"/>
              <a:t>．模式（</a:t>
            </a:r>
            <a:r>
              <a:rPr lang="en-US" altLang="zh-CN" smtClean="0"/>
              <a:t>Schema</a:t>
            </a:r>
            <a:r>
              <a:rPr lang="zh-CN" altLang="en-US" smtClean="0"/>
              <a:t>）</a:t>
            </a:r>
          </a:p>
        </p:txBody>
      </p:sp>
      <p:pic>
        <p:nvPicPr>
          <p:cNvPr id="8602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314450"/>
            <a:ext cx="8545512" cy="519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145211D0-D6FF-4814-88E8-CB24FD99CF80}" type="slidenum">
              <a:rPr lang="en-US" altLang="zh-CN" smtClean="0"/>
              <a:pPr algn="l" eaLnBrk="1" hangingPunct="1"/>
              <a:t>78</a:t>
            </a:fld>
            <a:endParaRPr lang="en-US" altLang="zh-CN" smtClean="0"/>
          </a:p>
        </p:txBody>
      </p:sp>
      <p:sp>
        <p:nvSpPr>
          <p:cNvPr id="87043" name="Rectangle 2"/>
          <p:cNvSpPr>
            <a:spLocks noGrp="1" noChangeArrowheads="1"/>
          </p:cNvSpPr>
          <p:nvPr>
            <p:ph type="title"/>
          </p:nvPr>
        </p:nvSpPr>
        <p:spPr>
          <a:xfrm>
            <a:off x="457200" y="130175"/>
            <a:ext cx="8147050" cy="850900"/>
          </a:xfrm>
        </p:spPr>
        <p:txBody>
          <a:bodyPr/>
          <a:lstStyle/>
          <a:p>
            <a:pPr eaLnBrk="1" hangingPunct="1"/>
            <a:r>
              <a:rPr lang="en-US" altLang="zh-CN" smtClean="0"/>
              <a:t>1</a:t>
            </a:r>
            <a:r>
              <a:rPr lang="zh-CN" altLang="en-US" smtClean="0"/>
              <a:t>．模式（</a:t>
            </a:r>
            <a:r>
              <a:rPr lang="en-US" altLang="zh-CN" smtClean="0"/>
              <a:t>Schema</a:t>
            </a:r>
            <a:r>
              <a:rPr lang="zh-CN" altLang="en-US" smtClean="0"/>
              <a:t>）</a:t>
            </a:r>
          </a:p>
        </p:txBody>
      </p:sp>
      <p:sp>
        <p:nvSpPr>
          <p:cNvPr id="87044" name="Rectangle 3"/>
          <p:cNvSpPr>
            <a:spLocks noGrp="1" noChangeArrowheads="1"/>
          </p:cNvSpPr>
          <p:nvPr>
            <p:ph type="body" idx="1"/>
          </p:nvPr>
        </p:nvSpPr>
        <p:spPr>
          <a:xfrm>
            <a:off x="179388" y="1196975"/>
            <a:ext cx="8820150" cy="2087563"/>
          </a:xfrm>
        </p:spPr>
        <p:txBody>
          <a:bodyPr/>
          <a:lstStyle/>
          <a:p>
            <a:pPr algn="just" eaLnBrk="1" hangingPunct="1">
              <a:lnSpc>
                <a:spcPct val="130000"/>
              </a:lnSpc>
            </a:pPr>
            <a:r>
              <a:rPr lang="zh-CN" altLang="en-US" sz="2800" b="1" smtClean="0">
                <a:ea typeface="楷体_GB2312" pitchFamily="49" charset="-122"/>
              </a:rPr>
              <a:t>模式（也称逻辑模式）</a:t>
            </a:r>
          </a:p>
          <a:p>
            <a:pPr lvl="1" algn="just" eaLnBrk="1" hangingPunct="1">
              <a:lnSpc>
                <a:spcPct val="130000"/>
              </a:lnSpc>
            </a:pPr>
            <a:r>
              <a:rPr lang="zh-CN" altLang="en-US" sz="2600" b="1" smtClean="0">
                <a:ea typeface="楷体_GB2312" pitchFamily="49" charset="-122"/>
              </a:rPr>
              <a:t>数据库中</a:t>
            </a:r>
            <a:r>
              <a:rPr lang="zh-CN" altLang="en-US" sz="2600" b="1" smtClean="0">
                <a:solidFill>
                  <a:srgbClr val="0000FF"/>
                </a:solidFill>
                <a:ea typeface="楷体_GB2312" pitchFamily="49" charset="-122"/>
              </a:rPr>
              <a:t>全体数据</a:t>
            </a:r>
            <a:r>
              <a:rPr lang="zh-CN" altLang="en-US" sz="2600" b="1" smtClean="0">
                <a:ea typeface="楷体_GB2312" pitchFamily="49" charset="-122"/>
              </a:rPr>
              <a:t>的逻辑结构和特征的描述</a:t>
            </a:r>
          </a:p>
          <a:p>
            <a:pPr lvl="1" algn="just" eaLnBrk="1" hangingPunct="1">
              <a:lnSpc>
                <a:spcPct val="130000"/>
              </a:lnSpc>
            </a:pPr>
            <a:r>
              <a:rPr lang="zh-CN" altLang="en-US" sz="2600" b="1" smtClean="0">
                <a:ea typeface="楷体_GB2312" pitchFamily="49" charset="-122"/>
              </a:rPr>
              <a:t>所有用户的公共数据视图，综合了所有用户的需求</a:t>
            </a:r>
            <a:endParaRPr lang="en-US" altLang="zh-CN" sz="2600" b="1" smtClean="0">
              <a:ea typeface="楷体_GB2312" pitchFamily="49" charset="-122"/>
            </a:endParaRPr>
          </a:p>
          <a:p>
            <a:pPr lvl="1" algn="just" eaLnBrk="1" hangingPunct="1">
              <a:lnSpc>
                <a:spcPct val="130000"/>
              </a:lnSpc>
            </a:pPr>
            <a:r>
              <a:rPr lang="zh-CN" altLang="en-US" sz="2400" b="1" smtClean="0">
                <a:solidFill>
                  <a:srgbClr val="FF0000"/>
                </a:solidFill>
                <a:ea typeface="楷体_GB2312" pitchFamily="49" charset="-122"/>
              </a:rPr>
              <a:t>一个数据库只有一个模式</a:t>
            </a:r>
          </a:p>
          <a:p>
            <a:pPr lvl="1" algn="just" eaLnBrk="1" hangingPunct="1">
              <a:lnSpc>
                <a:spcPct val="130000"/>
              </a:lnSpc>
            </a:pPr>
            <a:endParaRPr lang="zh-CN" altLang="en-US" sz="2600" b="1" smtClean="0">
              <a:ea typeface="楷体_GB2312" pitchFamily="49" charset="-122"/>
            </a:endParaRPr>
          </a:p>
        </p:txBody>
      </p:sp>
      <p:sp>
        <p:nvSpPr>
          <p:cNvPr id="87045" name="Rectangle 5"/>
          <p:cNvSpPr>
            <a:spLocks noChangeArrowheads="1"/>
          </p:cNvSpPr>
          <p:nvPr/>
        </p:nvSpPr>
        <p:spPr bwMode="auto">
          <a:xfrm>
            <a:off x="107950" y="3573463"/>
            <a:ext cx="8964613"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30000"/>
              </a:lnSpc>
              <a:spcBef>
                <a:spcPct val="20000"/>
              </a:spcBef>
              <a:buClr>
                <a:srgbClr val="669900"/>
              </a:buClr>
              <a:buSzPct val="75000"/>
              <a:buFont typeface="Wingdings" pitchFamily="2" charset="2"/>
              <a:buChar char="n"/>
            </a:pPr>
            <a:r>
              <a:rPr lang="zh-CN" altLang="en-US" sz="2800" b="1">
                <a:ea typeface="楷体_GB2312" pitchFamily="49" charset="-122"/>
              </a:rPr>
              <a:t>模式的地位：是数据库系统模式结构的</a:t>
            </a:r>
            <a:r>
              <a:rPr lang="zh-CN" altLang="en-US" sz="2800" b="1">
                <a:solidFill>
                  <a:srgbClr val="0000FF"/>
                </a:solidFill>
                <a:ea typeface="楷体_GB2312" pitchFamily="49" charset="-122"/>
              </a:rPr>
              <a:t>中间层</a:t>
            </a:r>
          </a:p>
          <a:p>
            <a:pPr marL="742950" lvl="1" indent="-285750" algn="just">
              <a:lnSpc>
                <a:spcPct val="130000"/>
              </a:lnSpc>
              <a:spcBef>
                <a:spcPct val="20000"/>
              </a:spcBef>
              <a:buClr>
                <a:srgbClr val="996600"/>
              </a:buClr>
              <a:buSzPct val="75000"/>
              <a:buFont typeface="Wingdings" pitchFamily="2" charset="2"/>
              <a:buChar char="Ø"/>
            </a:pPr>
            <a:r>
              <a:rPr lang="zh-CN" altLang="en-US" sz="2600" b="1">
                <a:ea typeface="楷体_GB2312" pitchFamily="49" charset="-122"/>
              </a:rPr>
              <a:t>与数据的物理存储细节和硬件环境无关</a:t>
            </a:r>
          </a:p>
          <a:p>
            <a:pPr marL="742950" lvl="1" indent="-285750" algn="just">
              <a:lnSpc>
                <a:spcPct val="130000"/>
              </a:lnSpc>
              <a:spcBef>
                <a:spcPct val="20000"/>
              </a:spcBef>
              <a:buClr>
                <a:srgbClr val="996600"/>
              </a:buClr>
              <a:buSzPct val="75000"/>
              <a:buFont typeface="Wingdings" pitchFamily="2" charset="2"/>
              <a:buChar char="Ø"/>
            </a:pPr>
            <a:r>
              <a:rPr lang="zh-CN" altLang="en-US" sz="2600" b="1">
                <a:ea typeface="楷体_GB2312" pitchFamily="49" charset="-122"/>
              </a:rPr>
              <a:t>与具体的应用程序、开发工具及高级程序设计语言无关</a:t>
            </a:r>
            <a:endParaRPr lang="en-US" altLang="zh-CN" sz="2600" b="1">
              <a:ea typeface="楷体_GB2312" pitchFamily="49" charset="-122"/>
            </a:endParaRPr>
          </a:p>
          <a:p>
            <a:pPr marL="742950" lvl="1" indent="-285750" algn="just">
              <a:lnSpc>
                <a:spcPct val="130000"/>
              </a:lnSpc>
              <a:spcBef>
                <a:spcPct val="20000"/>
              </a:spcBef>
              <a:buClr>
                <a:srgbClr val="996600"/>
              </a:buClr>
              <a:buSzPct val="75000"/>
              <a:buFont typeface="Wingdings" pitchFamily="2" charset="2"/>
              <a:buChar char="Ø"/>
            </a:pPr>
            <a:r>
              <a:rPr lang="zh-CN" altLang="en-US" sz="2600" b="1">
                <a:ea typeface="楷体_GB2312" pitchFamily="49" charset="-122"/>
              </a:rPr>
              <a:t>设计数据库模式结构时应首先确定数据库的逻辑模式</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13D10F46-70B0-4DC7-8624-1A3A52B1BBFF}" type="slidenum">
              <a:rPr lang="en-US" altLang="zh-CN" smtClean="0"/>
              <a:pPr algn="l" eaLnBrk="1" hangingPunct="1"/>
              <a:t>79</a:t>
            </a:fld>
            <a:endParaRPr lang="en-US" altLang="zh-CN" smtClean="0"/>
          </a:p>
        </p:txBody>
      </p:sp>
      <p:sp>
        <p:nvSpPr>
          <p:cNvPr id="88067" name="Rectangle 2"/>
          <p:cNvSpPr>
            <a:spLocks noGrp="1" noChangeArrowheads="1"/>
          </p:cNvSpPr>
          <p:nvPr>
            <p:ph type="title"/>
          </p:nvPr>
        </p:nvSpPr>
        <p:spPr>
          <a:xfrm>
            <a:off x="457200" y="130175"/>
            <a:ext cx="8147050" cy="850900"/>
          </a:xfrm>
        </p:spPr>
        <p:txBody>
          <a:bodyPr/>
          <a:lstStyle/>
          <a:p>
            <a:pPr eaLnBrk="1" hangingPunct="1"/>
            <a:r>
              <a:rPr lang="zh-CN" altLang="en-US" smtClean="0"/>
              <a:t>模式 </a:t>
            </a:r>
            <a:r>
              <a:rPr lang="en-US" altLang="zh-CN" smtClean="0"/>
              <a:t>(</a:t>
            </a:r>
            <a:r>
              <a:rPr lang="zh-CN" altLang="en-US" smtClean="0"/>
              <a:t>续</a:t>
            </a:r>
            <a:r>
              <a:rPr lang="en-US" altLang="zh-CN" smtClean="0"/>
              <a:t>)</a:t>
            </a:r>
          </a:p>
        </p:txBody>
      </p:sp>
      <p:sp>
        <p:nvSpPr>
          <p:cNvPr id="88068" name="Rectangle 3"/>
          <p:cNvSpPr>
            <a:spLocks noGrp="1" noChangeArrowheads="1"/>
          </p:cNvSpPr>
          <p:nvPr>
            <p:ph type="body" idx="1"/>
          </p:nvPr>
        </p:nvSpPr>
        <p:spPr>
          <a:xfrm>
            <a:off x="468313" y="1196975"/>
            <a:ext cx="8229600" cy="4525963"/>
          </a:xfrm>
        </p:spPr>
        <p:txBody>
          <a:bodyPr/>
          <a:lstStyle/>
          <a:p>
            <a:pPr algn="just" eaLnBrk="1" hangingPunct="1">
              <a:lnSpc>
                <a:spcPct val="140000"/>
              </a:lnSpc>
            </a:pPr>
            <a:r>
              <a:rPr lang="zh-CN" altLang="en-US" sz="2800" b="1" smtClean="0">
                <a:ea typeface="楷体_GB2312" pitchFamily="49" charset="-122"/>
              </a:rPr>
              <a:t>模式定义的内容</a:t>
            </a:r>
          </a:p>
          <a:p>
            <a:pPr lvl="1" algn="just" eaLnBrk="1" hangingPunct="1">
              <a:lnSpc>
                <a:spcPct val="140000"/>
              </a:lnSpc>
            </a:pPr>
            <a:r>
              <a:rPr lang="zh-CN" altLang="en-US" b="1" smtClean="0">
                <a:ea typeface="楷体_GB2312" pitchFamily="49" charset="-122"/>
              </a:rPr>
              <a:t>数据的逻辑结构（例如：数据记录由哪些数据项构成，数据项的名字、类型、取值范围等）</a:t>
            </a:r>
          </a:p>
          <a:p>
            <a:pPr lvl="1" algn="just" eaLnBrk="1" hangingPunct="1">
              <a:lnSpc>
                <a:spcPct val="140000"/>
              </a:lnSpc>
            </a:pPr>
            <a:r>
              <a:rPr lang="zh-CN" altLang="en-US" b="1" smtClean="0">
                <a:ea typeface="楷体_GB2312" pitchFamily="49" charset="-122"/>
              </a:rPr>
              <a:t>数据之间的联系</a:t>
            </a:r>
          </a:p>
          <a:p>
            <a:pPr lvl="1" algn="just" eaLnBrk="1" hangingPunct="1">
              <a:lnSpc>
                <a:spcPct val="140000"/>
              </a:lnSpc>
            </a:pPr>
            <a:r>
              <a:rPr lang="zh-CN" altLang="en-US" b="1" smtClean="0">
                <a:ea typeface="楷体_GB2312" pitchFamily="49" charset="-122"/>
              </a:rPr>
              <a:t>数据有关的安全性、完整性要求</a:t>
            </a:r>
            <a:endParaRPr lang="zh-CN" altLang="en-US" smtClean="0"/>
          </a:p>
        </p:txBody>
      </p:sp>
      <p:sp>
        <p:nvSpPr>
          <p:cNvPr id="1058820" name="Rectangle 4"/>
          <p:cNvSpPr>
            <a:spLocks noChangeArrowheads="1"/>
          </p:cNvSpPr>
          <p:nvPr/>
        </p:nvSpPr>
        <p:spPr bwMode="auto">
          <a:xfrm>
            <a:off x="395288" y="5300663"/>
            <a:ext cx="85693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30000"/>
              </a:lnSpc>
              <a:spcBef>
                <a:spcPct val="20000"/>
              </a:spcBef>
              <a:buClr>
                <a:srgbClr val="669900"/>
              </a:buClr>
              <a:buSzPct val="75000"/>
              <a:buFont typeface="Wingdings" pitchFamily="2" charset="2"/>
              <a:buChar char="n"/>
            </a:pPr>
            <a:r>
              <a:rPr lang="en-US" altLang="zh-CN" sz="2600" b="1">
                <a:ea typeface="楷体_GB2312" pitchFamily="49" charset="-122"/>
              </a:rPr>
              <a:t>DBMS</a:t>
            </a:r>
            <a:r>
              <a:rPr lang="zh-CN" altLang="en-US" sz="2600" b="1">
                <a:ea typeface="楷体_GB2312" pitchFamily="49" charset="-122"/>
              </a:rPr>
              <a:t>提供模式描述语言</a:t>
            </a:r>
            <a:r>
              <a:rPr lang="en-US" altLang="zh-CN" sz="2600" b="1">
                <a:ea typeface="楷体_GB2312" pitchFamily="49" charset="-122"/>
              </a:rPr>
              <a:t>(</a:t>
            </a:r>
            <a:r>
              <a:rPr lang="zh-CN" altLang="en-US" sz="2600" b="1">
                <a:ea typeface="楷体_GB2312" pitchFamily="49" charset="-122"/>
              </a:rPr>
              <a:t>模式</a:t>
            </a:r>
            <a:r>
              <a:rPr lang="en-US" altLang="zh-CN" sz="2600" b="1">
                <a:ea typeface="楷体_GB2312" pitchFamily="49" charset="-122"/>
              </a:rPr>
              <a:t>DDL)</a:t>
            </a:r>
            <a:r>
              <a:rPr lang="zh-CN" altLang="en-US" sz="2600" b="1">
                <a:ea typeface="楷体_GB2312" pitchFamily="49" charset="-122"/>
              </a:rPr>
              <a:t>来严格定义模式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58820"/>
                                        </p:tgtEl>
                                        <p:attrNameLst>
                                          <p:attrName>style.visibility</p:attrName>
                                        </p:attrNameLst>
                                      </p:cBhvr>
                                      <p:to>
                                        <p:strVal val="visible"/>
                                      </p:to>
                                    </p:set>
                                    <p:anim calcmode="lin" valueType="num">
                                      <p:cBhvr additive="base">
                                        <p:cTn id="7" dur="500" fill="hold"/>
                                        <p:tgtEl>
                                          <p:spTgt spid="1058820"/>
                                        </p:tgtEl>
                                        <p:attrNameLst>
                                          <p:attrName>ppt_x</p:attrName>
                                        </p:attrNameLst>
                                      </p:cBhvr>
                                      <p:tavLst>
                                        <p:tav tm="0">
                                          <p:val>
                                            <p:strVal val="#ppt_x"/>
                                          </p:val>
                                        </p:tav>
                                        <p:tav tm="100000">
                                          <p:val>
                                            <p:strVal val="#ppt_x"/>
                                          </p:val>
                                        </p:tav>
                                      </p:tavLst>
                                    </p:anim>
                                    <p:anim calcmode="lin" valueType="num">
                                      <p:cBhvr additive="base">
                                        <p:cTn id="8" dur="500" fill="hold"/>
                                        <p:tgtEl>
                                          <p:spTgt spid="10588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882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910EBF0E-5642-477C-9C5D-69E3F2676C12}" type="slidenum">
              <a:rPr lang="en-US" altLang="zh-CN" smtClean="0"/>
              <a:pPr algn="l" eaLnBrk="1" hangingPunct="1"/>
              <a:t>80</a:t>
            </a:fld>
            <a:endParaRPr lang="en-US" altLang="zh-CN" smtClean="0"/>
          </a:p>
        </p:txBody>
      </p:sp>
      <p:sp>
        <p:nvSpPr>
          <p:cNvPr id="89091" name="Rectangle 2"/>
          <p:cNvSpPr>
            <a:spLocks noGrp="1" noChangeArrowheads="1"/>
          </p:cNvSpPr>
          <p:nvPr>
            <p:ph type="title"/>
          </p:nvPr>
        </p:nvSpPr>
        <p:spPr>
          <a:xfrm>
            <a:off x="201613" y="115888"/>
            <a:ext cx="8763000" cy="914400"/>
          </a:xfrm>
        </p:spPr>
        <p:txBody>
          <a:bodyPr/>
          <a:lstStyle/>
          <a:p>
            <a:pPr eaLnBrk="1" hangingPunct="1"/>
            <a:r>
              <a:rPr lang="en-US" altLang="zh-CN" smtClean="0"/>
              <a:t>2. </a:t>
            </a:r>
            <a:r>
              <a:rPr lang="zh-CN" altLang="en-US" smtClean="0"/>
              <a:t>外模式（</a:t>
            </a:r>
            <a:r>
              <a:rPr lang="en-US" altLang="zh-CN" smtClean="0"/>
              <a:t>External Schema</a:t>
            </a:r>
            <a:r>
              <a:rPr lang="zh-CN" altLang="en-US" smtClean="0"/>
              <a:t>）</a:t>
            </a:r>
          </a:p>
        </p:txBody>
      </p:sp>
      <p:sp>
        <p:nvSpPr>
          <p:cNvPr id="89092" name="Rectangle 3"/>
          <p:cNvSpPr>
            <a:spLocks noGrp="1" noChangeArrowheads="1"/>
          </p:cNvSpPr>
          <p:nvPr>
            <p:ph type="body" idx="1"/>
          </p:nvPr>
        </p:nvSpPr>
        <p:spPr>
          <a:xfrm>
            <a:off x="395288" y="1268413"/>
            <a:ext cx="8229600" cy="4525962"/>
          </a:xfrm>
        </p:spPr>
        <p:txBody>
          <a:bodyPr/>
          <a:lstStyle/>
          <a:p>
            <a:pPr algn="just" eaLnBrk="1" hangingPunct="1">
              <a:lnSpc>
                <a:spcPct val="150000"/>
              </a:lnSpc>
            </a:pPr>
            <a:r>
              <a:rPr lang="zh-CN" altLang="en-US" sz="2800" b="1" smtClean="0">
                <a:ea typeface="楷体_GB2312" pitchFamily="49" charset="-122"/>
              </a:rPr>
              <a:t>外模式（也称子模式或用户模式）</a:t>
            </a:r>
          </a:p>
          <a:p>
            <a:pPr lvl="1" algn="just" eaLnBrk="1" hangingPunct="1">
              <a:lnSpc>
                <a:spcPct val="150000"/>
              </a:lnSpc>
            </a:pPr>
            <a:r>
              <a:rPr lang="zh-CN" altLang="en-US" b="1" smtClean="0">
                <a:ea typeface="楷体_GB2312" pitchFamily="49" charset="-122"/>
              </a:rPr>
              <a:t>数据库用户（包括应用程序员和最终用户）使用的</a:t>
            </a:r>
            <a:r>
              <a:rPr lang="zh-CN" altLang="en-US" b="1" smtClean="0">
                <a:solidFill>
                  <a:srgbClr val="0000FF"/>
                </a:solidFill>
                <a:ea typeface="楷体_GB2312" pitchFamily="49" charset="-122"/>
              </a:rPr>
              <a:t>局部数据</a:t>
            </a:r>
            <a:r>
              <a:rPr lang="zh-CN" altLang="en-US" b="1" smtClean="0">
                <a:ea typeface="楷体_GB2312" pitchFamily="49" charset="-122"/>
              </a:rPr>
              <a:t>的逻辑结构和特征的描述。</a:t>
            </a:r>
          </a:p>
          <a:p>
            <a:pPr lvl="1" algn="just" eaLnBrk="1" hangingPunct="1">
              <a:lnSpc>
                <a:spcPct val="150000"/>
              </a:lnSpc>
            </a:pPr>
            <a:r>
              <a:rPr lang="zh-CN" altLang="en-US" b="1" smtClean="0">
                <a:ea typeface="楷体_GB2312" pitchFamily="49" charset="-122"/>
              </a:rPr>
              <a:t>数据库用户的数据</a:t>
            </a:r>
            <a:r>
              <a:rPr lang="zh-CN" altLang="en-US" b="1" smtClean="0">
                <a:solidFill>
                  <a:srgbClr val="0000FF"/>
                </a:solidFill>
                <a:ea typeface="楷体_GB2312" pitchFamily="49" charset="-122"/>
              </a:rPr>
              <a:t>视图</a:t>
            </a:r>
            <a:r>
              <a:rPr lang="zh-CN" altLang="en-US" b="1" smtClean="0">
                <a:ea typeface="楷体_GB2312" pitchFamily="49" charset="-122"/>
              </a:rPr>
              <a:t>，是与某一应用有关的数据的逻辑表示。</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1743DDA6-DBA0-4F27-B717-6FD451C06003}" type="slidenum">
              <a:rPr lang="en-US" altLang="zh-CN" smtClean="0"/>
              <a:pPr algn="l" eaLnBrk="1" hangingPunct="1"/>
              <a:t>81</a:t>
            </a:fld>
            <a:endParaRPr lang="en-US" altLang="zh-CN" smtClean="0"/>
          </a:p>
        </p:txBody>
      </p:sp>
      <p:sp>
        <p:nvSpPr>
          <p:cNvPr id="90115" name="Rectangle 2"/>
          <p:cNvSpPr>
            <a:spLocks noGrp="1" noChangeArrowheads="1"/>
          </p:cNvSpPr>
          <p:nvPr>
            <p:ph type="title"/>
          </p:nvPr>
        </p:nvSpPr>
        <p:spPr>
          <a:xfrm>
            <a:off x="201613" y="115888"/>
            <a:ext cx="8763000" cy="914400"/>
          </a:xfrm>
        </p:spPr>
        <p:txBody>
          <a:bodyPr/>
          <a:lstStyle/>
          <a:p>
            <a:pPr eaLnBrk="1" hangingPunct="1"/>
            <a:r>
              <a:rPr lang="en-US" altLang="zh-CN" smtClean="0"/>
              <a:t>2. </a:t>
            </a:r>
            <a:r>
              <a:rPr lang="zh-CN" altLang="en-US" smtClean="0"/>
              <a:t>外模式（</a:t>
            </a:r>
            <a:r>
              <a:rPr lang="en-US" altLang="zh-CN" smtClean="0"/>
              <a:t>External Schema</a:t>
            </a:r>
            <a:r>
              <a:rPr lang="zh-CN" altLang="en-US" smtClean="0"/>
              <a:t>）</a:t>
            </a:r>
          </a:p>
        </p:txBody>
      </p:sp>
      <p:pic>
        <p:nvPicPr>
          <p:cNvPr id="9011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314450"/>
            <a:ext cx="8545512" cy="519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DE170E6D-C5B5-4AE8-874E-8796A2316F37}" type="slidenum">
              <a:rPr lang="en-US" altLang="zh-CN" smtClean="0"/>
              <a:pPr algn="l" eaLnBrk="1" hangingPunct="1"/>
              <a:t>82</a:t>
            </a:fld>
            <a:endParaRPr lang="en-US" altLang="zh-CN" smtClean="0"/>
          </a:p>
        </p:txBody>
      </p:sp>
      <p:sp>
        <p:nvSpPr>
          <p:cNvPr id="91139" name="Rectangle 2"/>
          <p:cNvSpPr>
            <a:spLocks noGrp="1" noChangeArrowheads="1"/>
          </p:cNvSpPr>
          <p:nvPr>
            <p:ph type="title"/>
          </p:nvPr>
        </p:nvSpPr>
        <p:spPr/>
        <p:txBody>
          <a:bodyPr/>
          <a:lstStyle/>
          <a:p>
            <a:pPr eaLnBrk="1" hangingPunct="1"/>
            <a:r>
              <a:rPr lang="zh-CN" altLang="en-US" smtClean="0"/>
              <a:t>外模式</a:t>
            </a:r>
            <a:r>
              <a:rPr lang="en-US" altLang="zh-CN" smtClean="0"/>
              <a:t>(</a:t>
            </a:r>
            <a:r>
              <a:rPr lang="zh-CN" altLang="en-US" smtClean="0"/>
              <a:t>续</a:t>
            </a:r>
            <a:r>
              <a:rPr lang="en-US" altLang="zh-CN" smtClean="0"/>
              <a:t>)</a:t>
            </a:r>
          </a:p>
        </p:txBody>
      </p:sp>
      <p:sp>
        <p:nvSpPr>
          <p:cNvPr id="91140" name="Rectangle 3"/>
          <p:cNvSpPr>
            <a:spLocks noGrp="1" noChangeArrowheads="1"/>
          </p:cNvSpPr>
          <p:nvPr>
            <p:ph type="body" idx="1"/>
          </p:nvPr>
        </p:nvSpPr>
        <p:spPr>
          <a:xfrm>
            <a:off x="179388" y="1125538"/>
            <a:ext cx="8964612" cy="647700"/>
          </a:xfrm>
        </p:spPr>
        <p:txBody>
          <a:bodyPr/>
          <a:lstStyle/>
          <a:p>
            <a:pPr algn="just" eaLnBrk="1" hangingPunct="1">
              <a:lnSpc>
                <a:spcPct val="110000"/>
              </a:lnSpc>
            </a:pPr>
            <a:r>
              <a:rPr lang="zh-CN" altLang="en-US" sz="2600" b="1" smtClean="0">
                <a:ea typeface="楷体_GB2312" pitchFamily="49" charset="-122"/>
              </a:rPr>
              <a:t>外模式的地位：介于模式与应用之间</a:t>
            </a:r>
          </a:p>
        </p:txBody>
      </p:sp>
      <p:sp>
        <p:nvSpPr>
          <p:cNvPr id="91141" name="Rectangle 4"/>
          <p:cNvSpPr>
            <a:spLocks noChangeArrowheads="1"/>
          </p:cNvSpPr>
          <p:nvPr/>
        </p:nvSpPr>
        <p:spPr bwMode="auto">
          <a:xfrm>
            <a:off x="179388" y="1628775"/>
            <a:ext cx="8964612"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10000"/>
              </a:lnSpc>
              <a:spcBef>
                <a:spcPct val="20000"/>
              </a:spcBef>
              <a:buClr>
                <a:srgbClr val="669900"/>
              </a:buClr>
              <a:buSzPct val="75000"/>
              <a:buFont typeface="Wingdings" pitchFamily="2" charset="2"/>
              <a:buChar char="n"/>
            </a:pPr>
            <a:r>
              <a:rPr lang="zh-CN" altLang="en-US" sz="2600" b="1">
                <a:ea typeface="楷体_GB2312" pitchFamily="49" charset="-122"/>
              </a:rPr>
              <a:t>模式与外模式的关系：一对多</a:t>
            </a:r>
          </a:p>
          <a:p>
            <a:pPr marL="1143000" lvl="2" indent="-228600" algn="just">
              <a:lnSpc>
                <a:spcPct val="110000"/>
              </a:lnSpc>
              <a:spcBef>
                <a:spcPct val="20000"/>
              </a:spcBef>
              <a:buClr>
                <a:srgbClr val="FF0000"/>
              </a:buClr>
              <a:buSzPct val="75000"/>
              <a:buFont typeface="Wingdings" pitchFamily="2" charset="2"/>
              <a:buChar char="R"/>
            </a:pPr>
            <a:r>
              <a:rPr lang="zh-CN" altLang="en-US" sz="2600" b="1">
                <a:ea typeface="楷体_GB2312" pitchFamily="49" charset="-122"/>
              </a:rPr>
              <a:t>外模式通常是模式的子集。</a:t>
            </a:r>
          </a:p>
          <a:p>
            <a:pPr marL="1143000" lvl="2" indent="-228600" algn="just">
              <a:lnSpc>
                <a:spcPct val="110000"/>
              </a:lnSpc>
              <a:spcBef>
                <a:spcPct val="20000"/>
              </a:spcBef>
              <a:buClr>
                <a:srgbClr val="FF0000"/>
              </a:buClr>
              <a:buSzPct val="75000"/>
              <a:buFont typeface="Wingdings" pitchFamily="2" charset="2"/>
              <a:buChar char="R"/>
            </a:pPr>
            <a:r>
              <a:rPr lang="zh-CN" altLang="en-US" sz="2600" b="1">
                <a:ea typeface="楷体_GB2312" pitchFamily="49" charset="-122"/>
              </a:rPr>
              <a:t>一个数据库可以有多个外模式。</a:t>
            </a:r>
          </a:p>
          <a:p>
            <a:pPr marL="1143000" lvl="2" indent="-228600" algn="just">
              <a:lnSpc>
                <a:spcPct val="110000"/>
              </a:lnSpc>
              <a:spcBef>
                <a:spcPct val="20000"/>
              </a:spcBef>
              <a:buClr>
                <a:srgbClr val="FF0000"/>
              </a:buClr>
              <a:buSzPct val="75000"/>
              <a:buFont typeface="Wingdings" pitchFamily="2" charset="2"/>
              <a:buChar char="R"/>
            </a:pPr>
            <a:r>
              <a:rPr lang="zh-CN" altLang="en-US" sz="2600" b="1">
                <a:ea typeface="楷体_GB2312" pitchFamily="49" charset="-122"/>
              </a:rPr>
              <a:t>对模式中同一数据，在外模式中的结构、类型、长度、保密级别等都可以不同。</a:t>
            </a:r>
          </a:p>
        </p:txBody>
      </p:sp>
      <p:sp>
        <p:nvSpPr>
          <p:cNvPr id="91142" name="Rectangle 5"/>
          <p:cNvSpPr>
            <a:spLocks noChangeArrowheads="1"/>
          </p:cNvSpPr>
          <p:nvPr/>
        </p:nvSpPr>
        <p:spPr bwMode="auto">
          <a:xfrm>
            <a:off x="179388" y="4221163"/>
            <a:ext cx="8964612"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10000"/>
              </a:lnSpc>
              <a:spcBef>
                <a:spcPct val="20000"/>
              </a:spcBef>
              <a:buClr>
                <a:srgbClr val="669900"/>
              </a:buClr>
              <a:buSzPct val="75000"/>
              <a:buFont typeface="Wingdings" pitchFamily="2" charset="2"/>
              <a:buChar char="n"/>
            </a:pPr>
            <a:r>
              <a:rPr lang="zh-CN" altLang="en-US" sz="2600" b="1">
                <a:ea typeface="楷体_GB2312" pitchFamily="49" charset="-122"/>
              </a:rPr>
              <a:t>外模式与应用的关系：一对多</a:t>
            </a:r>
          </a:p>
          <a:p>
            <a:pPr marL="1143000" lvl="2" indent="-228600" algn="just">
              <a:lnSpc>
                <a:spcPct val="110000"/>
              </a:lnSpc>
              <a:spcBef>
                <a:spcPct val="20000"/>
              </a:spcBef>
              <a:buClr>
                <a:srgbClr val="FF0000"/>
              </a:buClr>
              <a:buSzPct val="75000"/>
              <a:buFont typeface="Wingdings" pitchFamily="2" charset="2"/>
              <a:buChar char="R"/>
            </a:pPr>
            <a:r>
              <a:rPr lang="zh-CN" altLang="en-US" sz="2600" b="1">
                <a:ea typeface="楷体_GB2312" pitchFamily="49" charset="-122"/>
              </a:rPr>
              <a:t>同一外模式也可为某一用户的多个应用系统所使用。</a:t>
            </a:r>
          </a:p>
          <a:p>
            <a:pPr marL="1143000" lvl="2" indent="-228600" algn="just">
              <a:lnSpc>
                <a:spcPct val="110000"/>
              </a:lnSpc>
              <a:spcBef>
                <a:spcPct val="20000"/>
              </a:spcBef>
              <a:buClr>
                <a:srgbClr val="FF0000"/>
              </a:buClr>
              <a:buSzPct val="75000"/>
              <a:buFont typeface="Wingdings" pitchFamily="2" charset="2"/>
              <a:buChar char="R"/>
            </a:pPr>
            <a:r>
              <a:rPr lang="zh-CN" altLang="en-US" sz="2600" b="1">
                <a:ea typeface="楷体_GB2312" pitchFamily="49" charset="-122"/>
              </a:rPr>
              <a:t>但一个应用程序只能使用一个外模式。</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02A7F8D5-953B-429D-8B6B-83AAB411A005}" type="slidenum">
              <a:rPr lang="en-US" altLang="zh-CN" smtClean="0"/>
              <a:pPr algn="l" eaLnBrk="1" hangingPunct="1"/>
              <a:t>83</a:t>
            </a:fld>
            <a:endParaRPr lang="en-US" altLang="zh-CN" smtClean="0"/>
          </a:p>
        </p:txBody>
      </p:sp>
      <p:sp>
        <p:nvSpPr>
          <p:cNvPr id="92163" name="Rectangle 2"/>
          <p:cNvSpPr>
            <a:spLocks noGrp="1" noChangeArrowheads="1"/>
          </p:cNvSpPr>
          <p:nvPr>
            <p:ph type="title"/>
          </p:nvPr>
        </p:nvSpPr>
        <p:spPr/>
        <p:txBody>
          <a:bodyPr/>
          <a:lstStyle/>
          <a:p>
            <a:pPr eaLnBrk="1" hangingPunct="1"/>
            <a:r>
              <a:rPr lang="zh-CN" altLang="en-US" smtClean="0"/>
              <a:t>外模式</a:t>
            </a:r>
            <a:r>
              <a:rPr lang="en-US" altLang="zh-CN" smtClean="0"/>
              <a:t>(</a:t>
            </a:r>
            <a:r>
              <a:rPr lang="zh-CN" altLang="en-US" smtClean="0"/>
              <a:t>续</a:t>
            </a:r>
            <a:r>
              <a:rPr lang="en-US" altLang="zh-CN" smtClean="0"/>
              <a:t>)</a:t>
            </a:r>
          </a:p>
        </p:txBody>
      </p:sp>
      <p:sp>
        <p:nvSpPr>
          <p:cNvPr id="92164" name="Rectangle 3"/>
          <p:cNvSpPr>
            <a:spLocks noGrp="1" noChangeArrowheads="1"/>
          </p:cNvSpPr>
          <p:nvPr>
            <p:ph type="body" idx="1"/>
          </p:nvPr>
        </p:nvSpPr>
        <p:spPr>
          <a:xfrm>
            <a:off x="323850" y="1196975"/>
            <a:ext cx="8229600" cy="4525963"/>
          </a:xfrm>
        </p:spPr>
        <p:txBody>
          <a:bodyPr/>
          <a:lstStyle/>
          <a:p>
            <a:pPr algn="just" eaLnBrk="1" hangingPunct="1"/>
            <a:r>
              <a:rPr lang="zh-CN" altLang="en-US" sz="2800" b="1" smtClean="0">
                <a:ea typeface="楷体_GB2312" pitchFamily="49" charset="-122"/>
              </a:rPr>
              <a:t>外模式的用途</a:t>
            </a:r>
          </a:p>
          <a:p>
            <a:pPr lvl="1" algn="just" eaLnBrk="1" hangingPunct="1">
              <a:lnSpc>
                <a:spcPct val="150000"/>
              </a:lnSpc>
            </a:pPr>
            <a:r>
              <a:rPr lang="zh-CN" altLang="en-US" b="1" smtClean="0">
                <a:ea typeface="楷体_GB2312" pitchFamily="49" charset="-122"/>
              </a:rPr>
              <a:t>保证数据库</a:t>
            </a:r>
            <a:r>
              <a:rPr lang="zh-CN" altLang="en-US" b="1" smtClean="0">
                <a:solidFill>
                  <a:srgbClr val="FF0000"/>
                </a:solidFill>
                <a:ea typeface="楷体_GB2312" pitchFamily="49" charset="-122"/>
              </a:rPr>
              <a:t>安全性</a:t>
            </a:r>
            <a:r>
              <a:rPr lang="zh-CN" altLang="en-US" b="1" smtClean="0">
                <a:ea typeface="楷体_GB2312" pitchFamily="49" charset="-122"/>
              </a:rPr>
              <a:t>的一个有力措施。</a:t>
            </a:r>
          </a:p>
          <a:p>
            <a:pPr lvl="1" algn="just" eaLnBrk="1" hangingPunct="1">
              <a:lnSpc>
                <a:spcPct val="150000"/>
              </a:lnSpc>
            </a:pPr>
            <a:r>
              <a:rPr lang="zh-CN" altLang="en-US" b="1" smtClean="0">
                <a:ea typeface="楷体_GB2312" pitchFamily="49" charset="-122"/>
              </a:rPr>
              <a:t>每个用户只能看见和访问所对应的外模式中的数据。</a:t>
            </a:r>
            <a:endParaRPr lang="en-US" altLang="zh-CN" b="1" smtClean="0">
              <a:ea typeface="楷体_GB2312" pitchFamily="49" charset="-122"/>
            </a:endParaRPr>
          </a:p>
          <a:p>
            <a:pPr lvl="1" algn="just" eaLnBrk="1" hangingPunct="1">
              <a:lnSpc>
                <a:spcPct val="150000"/>
              </a:lnSpc>
            </a:pPr>
            <a:r>
              <a:rPr lang="en-US" altLang="zh-CN" b="1" smtClean="0">
                <a:ea typeface="楷体_GB2312" pitchFamily="49" charset="-122"/>
              </a:rPr>
              <a:t>DBMS</a:t>
            </a:r>
            <a:r>
              <a:rPr lang="zh-CN" altLang="en-US" b="1" smtClean="0">
                <a:ea typeface="楷体_GB2312" pitchFamily="49" charset="-122"/>
              </a:rPr>
              <a:t>提供模式描述语言</a:t>
            </a:r>
            <a:r>
              <a:rPr lang="en-US" altLang="zh-CN" b="1" smtClean="0">
                <a:ea typeface="楷体_GB2312" pitchFamily="49" charset="-122"/>
              </a:rPr>
              <a:t>(</a:t>
            </a:r>
            <a:r>
              <a:rPr lang="zh-CN" altLang="en-US" b="1" smtClean="0">
                <a:ea typeface="楷体_GB2312" pitchFamily="49" charset="-122"/>
              </a:rPr>
              <a:t>外模式</a:t>
            </a:r>
            <a:r>
              <a:rPr lang="en-US" altLang="zh-CN" b="1" smtClean="0">
                <a:ea typeface="楷体_GB2312" pitchFamily="49" charset="-122"/>
              </a:rPr>
              <a:t>DDL)</a:t>
            </a:r>
            <a:r>
              <a:rPr lang="zh-CN" altLang="en-US" b="1" smtClean="0">
                <a:ea typeface="楷体_GB2312" pitchFamily="49" charset="-122"/>
              </a:rPr>
              <a:t>来严格定义模式</a:t>
            </a:r>
            <a:endParaRPr lang="zh-CN" altLang="en-US" sz="3200" b="1" smtClean="0">
              <a:latin typeface="楷体_GB2312" pitchFamily="49" charset="-122"/>
              <a:ea typeface="楷体_GB2312" pitchFamily="49" charset="-122"/>
            </a:endParaRPr>
          </a:p>
          <a:p>
            <a:pPr lvl="1" algn="just" eaLnBrk="1" hangingPunct="1">
              <a:lnSpc>
                <a:spcPct val="150000"/>
              </a:lnSpc>
            </a:pPr>
            <a:endParaRPr lang="zh-CN" altLang="en-US" b="1" smtClean="0">
              <a:ea typeface="楷体_GB2312" pitchFamily="49" charset="-122"/>
            </a:endParaRPr>
          </a:p>
          <a:p>
            <a:pPr eaLnBrk="1" hangingPunct="1"/>
            <a:endParaRPr lang="en-US" altLang="zh-CN" sz="2800" smtClean="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2D62F2B8-1027-436B-9503-A8452CF185FC}" type="slidenum">
              <a:rPr lang="en-US" altLang="zh-CN" smtClean="0"/>
              <a:pPr algn="l" eaLnBrk="1" hangingPunct="1"/>
              <a:t>84</a:t>
            </a:fld>
            <a:endParaRPr lang="en-US" altLang="zh-CN" smtClean="0"/>
          </a:p>
        </p:txBody>
      </p:sp>
      <p:sp>
        <p:nvSpPr>
          <p:cNvPr id="93187" name="Rectangle 2"/>
          <p:cNvSpPr>
            <a:spLocks noGrp="1" noChangeArrowheads="1"/>
          </p:cNvSpPr>
          <p:nvPr>
            <p:ph type="title"/>
          </p:nvPr>
        </p:nvSpPr>
        <p:spPr>
          <a:xfrm>
            <a:off x="381000" y="115888"/>
            <a:ext cx="8583613" cy="914400"/>
          </a:xfrm>
        </p:spPr>
        <p:txBody>
          <a:bodyPr/>
          <a:lstStyle/>
          <a:p>
            <a:pPr eaLnBrk="1" hangingPunct="1"/>
            <a:r>
              <a:rPr lang="en-US" altLang="zh-CN" smtClean="0"/>
              <a:t>3</a:t>
            </a:r>
            <a:r>
              <a:rPr lang="zh-CN" altLang="en-US" smtClean="0"/>
              <a:t>．内模式（</a:t>
            </a:r>
            <a:r>
              <a:rPr lang="en-US" altLang="zh-CN" smtClean="0"/>
              <a:t>Internal Schema</a:t>
            </a:r>
            <a:r>
              <a:rPr lang="zh-CN" altLang="en-US" smtClean="0"/>
              <a:t>）</a:t>
            </a:r>
          </a:p>
        </p:txBody>
      </p:sp>
      <p:sp>
        <p:nvSpPr>
          <p:cNvPr id="93188" name="Rectangle 3"/>
          <p:cNvSpPr>
            <a:spLocks noGrp="1" noChangeArrowheads="1"/>
          </p:cNvSpPr>
          <p:nvPr>
            <p:ph type="body" idx="1"/>
          </p:nvPr>
        </p:nvSpPr>
        <p:spPr>
          <a:xfrm>
            <a:off x="179388" y="1125538"/>
            <a:ext cx="8964612" cy="4751387"/>
          </a:xfrm>
        </p:spPr>
        <p:txBody>
          <a:bodyPr/>
          <a:lstStyle/>
          <a:p>
            <a:pPr algn="just" eaLnBrk="1" hangingPunct="1">
              <a:lnSpc>
                <a:spcPct val="125000"/>
              </a:lnSpc>
            </a:pPr>
            <a:r>
              <a:rPr lang="zh-CN" altLang="en-US" sz="2800" b="1" smtClean="0">
                <a:latin typeface="楷体_GB2312" pitchFamily="49" charset="-122"/>
                <a:ea typeface="楷体_GB2312" pitchFamily="49" charset="-122"/>
              </a:rPr>
              <a:t>内模式（也称存储模式）</a:t>
            </a:r>
          </a:p>
          <a:p>
            <a:pPr lvl="1" algn="just" eaLnBrk="1" hangingPunct="1">
              <a:lnSpc>
                <a:spcPct val="125000"/>
              </a:lnSpc>
            </a:pPr>
            <a:r>
              <a:rPr lang="zh-CN" altLang="en-US" b="1" smtClean="0">
                <a:latin typeface="楷体_GB2312" pitchFamily="49" charset="-122"/>
                <a:ea typeface="楷体_GB2312" pitchFamily="49" charset="-122"/>
              </a:rPr>
              <a:t>是数据</a:t>
            </a:r>
            <a:r>
              <a:rPr lang="zh-CN" altLang="en-US" b="1" smtClean="0">
                <a:solidFill>
                  <a:srgbClr val="0000FF"/>
                </a:solidFill>
                <a:latin typeface="楷体_GB2312" pitchFamily="49" charset="-122"/>
                <a:ea typeface="楷体_GB2312" pitchFamily="49" charset="-122"/>
              </a:rPr>
              <a:t>物理结构</a:t>
            </a:r>
            <a:r>
              <a:rPr lang="zh-CN" altLang="en-US" b="1" smtClean="0">
                <a:latin typeface="楷体_GB2312" pitchFamily="49" charset="-122"/>
                <a:ea typeface="楷体_GB2312" pitchFamily="49" charset="-122"/>
              </a:rPr>
              <a:t>和</a:t>
            </a:r>
            <a:r>
              <a:rPr lang="zh-CN" altLang="en-US" b="1" smtClean="0">
                <a:solidFill>
                  <a:srgbClr val="0000FF"/>
                </a:solidFill>
                <a:latin typeface="楷体_GB2312" pitchFamily="49" charset="-122"/>
                <a:ea typeface="楷体_GB2312" pitchFamily="49" charset="-122"/>
              </a:rPr>
              <a:t>存储方式</a:t>
            </a:r>
            <a:r>
              <a:rPr lang="zh-CN" altLang="en-US" b="1" smtClean="0">
                <a:latin typeface="楷体_GB2312" pitchFamily="49" charset="-122"/>
                <a:ea typeface="楷体_GB2312" pitchFamily="49" charset="-122"/>
              </a:rPr>
              <a:t>的描述</a:t>
            </a:r>
          </a:p>
          <a:p>
            <a:pPr lvl="1" algn="just" eaLnBrk="1" hangingPunct="1">
              <a:lnSpc>
                <a:spcPct val="125000"/>
              </a:lnSpc>
            </a:pPr>
            <a:r>
              <a:rPr lang="zh-CN" altLang="en-US" b="1" smtClean="0">
                <a:latin typeface="楷体_GB2312" pitchFamily="49" charset="-122"/>
                <a:ea typeface="楷体_GB2312" pitchFamily="49" charset="-122"/>
              </a:rPr>
              <a:t>是数据在数据库内部的表示方式</a:t>
            </a:r>
          </a:p>
          <a:p>
            <a:pPr lvl="2" algn="just" eaLnBrk="1" hangingPunct="1">
              <a:lnSpc>
                <a:spcPct val="125000"/>
              </a:lnSpc>
            </a:pPr>
            <a:r>
              <a:rPr lang="zh-CN" altLang="en-US" sz="2800" b="1" smtClean="0">
                <a:latin typeface="楷体_GB2312" pitchFamily="49" charset="-122"/>
                <a:ea typeface="楷体_GB2312" pitchFamily="49" charset="-122"/>
              </a:rPr>
              <a:t>记录的存储方式、索引的组织方式</a:t>
            </a:r>
          </a:p>
          <a:p>
            <a:pPr lvl="2" algn="just" eaLnBrk="1" hangingPunct="1">
              <a:lnSpc>
                <a:spcPct val="125000"/>
              </a:lnSpc>
            </a:pPr>
            <a:r>
              <a:rPr lang="zh-CN" altLang="en-US" sz="2800" b="1" smtClean="0">
                <a:latin typeface="楷体_GB2312" pitchFamily="49" charset="-122"/>
                <a:ea typeface="楷体_GB2312" pitchFamily="49" charset="-122"/>
              </a:rPr>
              <a:t>数据是否压缩存储、是否加密、记录结构规定</a:t>
            </a:r>
          </a:p>
          <a:p>
            <a:pPr algn="just" eaLnBrk="1" hangingPunct="1">
              <a:lnSpc>
                <a:spcPct val="125000"/>
              </a:lnSpc>
            </a:pPr>
            <a:r>
              <a:rPr lang="zh-CN" altLang="en-US" sz="2800" b="1" smtClean="0">
                <a:solidFill>
                  <a:srgbClr val="FF0000"/>
                </a:solidFill>
                <a:latin typeface="楷体_GB2312" pitchFamily="49" charset="-122"/>
                <a:ea typeface="楷体_GB2312" pitchFamily="49" charset="-122"/>
              </a:rPr>
              <a:t>一个数据库只有一个内模式</a:t>
            </a:r>
          </a:p>
          <a:p>
            <a:pPr algn="just" eaLnBrk="1" hangingPunct="1">
              <a:lnSpc>
                <a:spcPct val="125000"/>
              </a:lnSpc>
            </a:pPr>
            <a:endParaRPr lang="en-US" altLang="zh-CN" sz="2800" b="1" smtClean="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67B254D9-3B9A-4844-B4AF-54BD08BA72D2}" type="slidenum">
              <a:rPr lang="en-US" altLang="zh-CN" smtClean="0"/>
              <a:pPr algn="l" eaLnBrk="1" hangingPunct="1"/>
              <a:t>85</a:t>
            </a:fld>
            <a:endParaRPr lang="en-US" altLang="zh-CN" smtClean="0"/>
          </a:p>
        </p:txBody>
      </p:sp>
      <p:sp>
        <p:nvSpPr>
          <p:cNvPr id="94211" name="Rectangle 2"/>
          <p:cNvSpPr>
            <a:spLocks noGrp="1" noChangeArrowheads="1"/>
          </p:cNvSpPr>
          <p:nvPr>
            <p:ph type="title"/>
          </p:nvPr>
        </p:nvSpPr>
        <p:spPr>
          <a:xfrm>
            <a:off x="0" y="115888"/>
            <a:ext cx="9144000" cy="850900"/>
          </a:xfrm>
        </p:spPr>
        <p:txBody>
          <a:bodyPr/>
          <a:lstStyle/>
          <a:p>
            <a:pPr eaLnBrk="1" hangingPunct="1"/>
            <a:r>
              <a:rPr lang="en-US" altLang="zh-CN" sz="3600" smtClean="0">
                <a:solidFill>
                  <a:schemeClr val="tx1"/>
                </a:solidFill>
                <a:ea typeface="黑体" pitchFamily="49" charset="-122"/>
              </a:rPr>
              <a:t>1.3.3 </a:t>
            </a:r>
            <a:r>
              <a:rPr lang="zh-CN" altLang="en-US" sz="3600" smtClean="0">
                <a:solidFill>
                  <a:schemeClr val="tx1"/>
                </a:solidFill>
                <a:ea typeface="黑体" pitchFamily="49" charset="-122"/>
              </a:rPr>
              <a:t>数据库的二级映像功能与数据独立性</a:t>
            </a:r>
          </a:p>
        </p:txBody>
      </p:sp>
      <p:sp>
        <p:nvSpPr>
          <p:cNvPr id="94212" name="Rectangle 3"/>
          <p:cNvSpPr>
            <a:spLocks noGrp="1" noChangeArrowheads="1"/>
          </p:cNvSpPr>
          <p:nvPr>
            <p:ph type="body" idx="1"/>
          </p:nvPr>
        </p:nvSpPr>
        <p:spPr>
          <a:xfrm>
            <a:off x="468313" y="1196975"/>
            <a:ext cx="8229600" cy="4525963"/>
          </a:xfrm>
        </p:spPr>
        <p:txBody>
          <a:bodyPr/>
          <a:lstStyle/>
          <a:p>
            <a:pPr algn="just" eaLnBrk="1" hangingPunct="1">
              <a:lnSpc>
                <a:spcPct val="120000"/>
              </a:lnSpc>
            </a:pPr>
            <a:r>
              <a:rPr lang="zh-CN" altLang="en-US" b="1" smtClean="0">
                <a:solidFill>
                  <a:srgbClr val="FF0000"/>
                </a:solidFill>
                <a:ea typeface="楷体_GB2312" pitchFamily="49" charset="-122"/>
              </a:rPr>
              <a:t>三级模式</a:t>
            </a:r>
            <a:r>
              <a:rPr lang="zh-CN" altLang="en-US" b="1" smtClean="0">
                <a:ea typeface="楷体_GB2312" pitchFamily="49" charset="-122"/>
              </a:rPr>
              <a:t>是对数据的三个抽象级别</a:t>
            </a:r>
          </a:p>
          <a:p>
            <a:pPr algn="just" eaLnBrk="1" hangingPunct="1">
              <a:lnSpc>
                <a:spcPct val="120000"/>
              </a:lnSpc>
            </a:pPr>
            <a:endParaRPr lang="zh-CN" altLang="en-US" sz="900" b="1" smtClean="0">
              <a:ea typeface="楷体_GB2312" pitchFamily="49" charset="-122"/>
            </a:endParaRPr>
          </a:p>
          <a:p>
            <a:pPr algn="just" eaLnBrk="1" hangingPunct="1">
              <a:lnSpc>
                <a:spcPct val="120000"/>
              </a:lnSpc>
            </a:pPr>
            <a:r>
              <a:rPr lang="zh-CN" altLang="en-US" b="1" smtClean="0">
                <a:solidFill>
                  <a:srgbClr val="FF0000"/>
                </a:solidFill>
                <a:ea typeface="楷体_GB2312" pitchFamily="49" charset="-122"/>
              </a:rPr>
              <a:t>二级映像</a:t>
            </a:r>
            <a:r>
              <a:rPr lang="zh-CN" altLang="en-US" b="1" smtClean="0">
                <a:ea typeface="楷体_GB2312" pitchFamily="49" charset="-122"/>
              </a:rPr>
              <a:t>在</a:t>
            </a:r>
            <a:r>
              <a:rPr lang="en-US" altLang="zh-CN" b="1" smtClean="0">
                <a:ea typeface="楷体_GB2312" pitchFamily="49" charset="-122"/>
              </a:rPr>
              <a:t>DBMS</a:t>
            </a:r>
            <a:r>
              <a:rPr lang="zh-CN" altLang="en-US" b="1" smtClean="0">
                <a:ea typeface="楷体_GB2312" pitchFamily="49" charset="-122"/>
              </a:rPr>
              <a:t>内部实现这三个抽象层次的</a:t>
            </a:r>
            <a:r>
              <a:rPr lang="zh-CN" altLang="en-US" b="1" smtClean="0">
                <a:solidFill>
                  <a:srgbClr val="0000FF"/>
                </a:solidFill>
                <a:ea typeface="楷体_GB2312" pitchFamily="49" charset="-122"/>
              </a:rPr>
              <a:t>联系和转换</a:t>
            </a:r>
          </a:p>
          <a:p>
            <a:pPr lvl="1" algn="just" eaLnBrk="1" hangingPunct="1">
              <a:lnSpc>
                <a:spcPct val="120000"/>
              </a:lnSpc>
            </a:pPr>
            <a:r>
              <a:rPr lang="zh-CN" altLang="en-US" sz="3200" b="1" smtClean="0">
                <a:ea typeface="楷体_GB2312" pitchFamily="49" charset="-122"/>
                <a:hlinkClick r:id="rId2" action="ppaction://hlinksldjump"/>
              </a:rPr>
              <a:t>外模式／模式映像</a:t>
            </a:r>
            <a:endParaRPr lang="zh-CN" altLang="en-US" sz="3200" b="1" smtClean="0">
              <a:ea typeface="楷体_GB2312" pitchFamily="49" charset="-122"/>
            </a:endParaRPr>
          </a:p>
          <a:p>
            <a:pPr lvl="1" eaLnBrk="1" hangingPunct="1">
              <a:lnSpc>
                <a:spcPct val="120000"/>
              </a:lnSpc>
            </a:pPr>
            <a:r>
              <a:rPr lang="zh-CN" altLang="en-US" sz="3200" b="1" smtClean="0">
                <a:ea typeface="楷体_GB2312" pitchFamily="49" charset="-122"/>
                <a:hlinkClick r:id="rId3" action="ppaction://hlinksldjump"/>
              </a:rPr>
              <a:t>模式／内模式映像</a:t>
            </a:r>
            <a:endParaRPr lang="zh-CN" altLang="en-US" sz="3200" b="1" smtClean="0">
              <a:ea typeface="楷体_GB2312" pitchFamily="49" charset="-122"/>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7943FA52-AE71-4CF2-B2AC-C701EE7AC2D8}" type="slidenum">
              <a:rPr lang="en-US" altLang="zh-CN" smtClean="0"/>
              <a:pPr algn="l" eaLnBrk="1" hangingPunct="1"/>
              <a:t>86</a:t>
            </a:fld>
            <a:endParaRPr lang="en-US" altLang="zh-CN" smtClean="0"/>
          </a:p>
        </p:txBody>
      </p:sp>
      <p:sp>
        <p:nvSpPr>
          <p:cNvPr id="95235" name="Rectangle 2"/>
          <p:cNvSpPr>
            <a:spLocks noGrp="1" noChangeArrowheads="1"/>
          </p:cNvSpPr>
          <p:nvPr>
            <p:ph type="title"/>
          </p:nvPr>
        </p:nvSpPr>
        <p:spPr/>
        <p:txBody>
          <a:bodyPr/>
          <a:lstStyle/>
          <a:p>
            <a:pPr eaLnBrk="1" hangingPunct="1"/>
            <a:r>
              <a:rPr lang="en-US" altLang="zh-CN" smtClean="0"/>
              <a:t>1</a:t>
            </a:r>
            <a:r>
              <a:rPr lang="zh-CN" altLang="en-US" smtClean="0"/>
              <a:t>．外模式／模式映像</a:t>
            </a:r>
          </a:p>
        </p:txBody>
      </p:sp>
      <p:sp>
        <p:nvSpPr>
          <p:cNvPr id="99332" name="Rectangle 3"/>
          <p:cNvSpPr>
            <a:spLocks noGrp="1" noChangeArrowheads="1"/>
          </p:cNvSpPr>
          <p:nvPr>
            <p:ph type="body" idx="1"/>
          </p:nvPr>
        </p:nvSpPr>
        <p:spPr>
          <a:xfrm>
            <a:off x="323850" y="1409700"/>
            <a:ext cx="8604250" cy="3603625"/>
          </a:xfrm>
        </p:spPr>
        <p:txBody>
          <a:bodyPr/>
          <a:lstStyle/>
          <a:p>
            <a:pPr algn="just" eaLnBrk="1" hangingPunct="1"/>
            <a:r>
              <a:rPr lang="zh-CN" altLang="en-US" sz="2800" b="1" smtClean="0">
                <a:ea typeface="楷体_GB2312" pitchFamily="49" charset="-122"/>
              </a:rPr>
              <a:t>模式：全局逻辑结构</a:t>
            </a:r>
            <a:endParaRPr lang="en-US" altLang="zh-CN" sz="2800" b="1" smtClean="0">
              <a:ea typeface="楷体_GB2312" pitchFamily="49" charset="-122"/>
            </a:endParaRPr>
          </a:p>
          <a:p>
            <a:pPr algn="just" eaLnBrk="1" hangingPunct="1"/>
            <a:r>
              <a:rPr lang="zh-CN" altLang="en-US" sz="2800" b="1" smtClean="0">
                <a:ea typeface="楷体_GB2312" pitchFamily="49" charset="-122"/>
              </a:rPr>
              <a:t>外模式：局部逻辑结构</a:t>
            </a:r>
            <a:endParaRPr lang="en-US" altLang="zh-CN" sz="2800" b="1" smtClean="0">
              <a:ea typeface="楷体_GB2312" pitchFamily="49" charset="-122"/>
            </a:endParaRPr>
          </a:p>
          <a:p>
            <a:pPr algn="just" eaLnBrk="1" hangingPunct="1"/>
            <a:r>
              <a:rPr lang="zh-CN" altLang="en-US" sz="2800" b="1" smtClean="0">
                <a:ea typeface="楷体_GB2312" pitchFamily="49" charset="-122"/>
              </a:rPr>
              <a:t>映像定义：外模式与模式之间的对应关系</a:t>
            </a:r>
          </a:p>
          <a:p>
            <a:pPr algn="just" eaLnBrk="1" hangingPunct="1">
              <a:lnSpc>
                <a:spcPct val="160000"/>
              </a:lnSpc>
            </a:pPr>
            <a:r>
              <a:rPr lang="zh-CN" altLang="en-US" sz="2800" b="1" smtClean="0">
                <a:solidFill>
                  <a:srgbClr val="FF0000"/>
                </a:solidFill>
                <a:ea typeface="楷体_GB2312" pitchFamily="49" charset="-122"/>
              </a:rPr>
              <a:t>每一个外模式</a:t>
            </a:r>
            <a:r>
              <a:rPr lang="zh-CN" altLang="en-US" sz="2800" b="1" smtClean="0">
                <a:ea typeface="楷体_GB2312" pitchFamily="49" charset="-122"/>
              </a:rPr>
              <a:t>都对应一个</a:t>
            </a:r>
            <a:r>
              <a:rPr lang="zh-CN" altLang="en-US" sz="2800" b="1" smtClean="0">
                <a:solidFill>
                  <a:srgbClr val="FF0000"/>
                </a:solidFill>
                <a:ea typeface="楷体_GB2312" pitchFamily="49" charset="-122"/>
              </a:rPr>
              <a:t>外模式／模式</a:t>
            </a:r>
            <a:r>
              <a:rPr lang="zh-CN" altLang="en-US" sz="2800" b="1" smtClean="0">
                <a:ea typeface="楷体_GB2312" pitchFamily="49" charset="-122"/>
              </a:rPr>
              <a:t>映像</a:t>
            </a:r>
          </a:p>
          <a:p>
            <a:pPr algn="just" eaLnBrk="1" hangingPunct="1">
              <a:lnSpc>
                <a:spcPct val="160000"/>
              </a:lnSpc>
            </a:pPr>
            <a:r>
              <a:rPr lang="zh-CN" altLang="en-US" sz="2800" b="1" smtClean="0">
                <a:ea typeface="楷体_GB2312" pitchFamily="49" charset="-122"/>
              </a:rPr>
              <a:t>映像定义：通常包含在各自</a:t>
            </a:r>
            <a:r>
              <a:rPr lang="zh-CN" altLang="en-US" sz="2800" b="1" smtClean="0">
                <a:solidFill>
                  <a:srgbClr val="0000FF"/>
                </a:solidFill>
                <a:ea typeface="楷体_GB2312" pitchFamily="49" charset="-122"/>
              </a:rPr>
              <a:t>外模式</a:t>
            </a:r>
            <a:r>
              <a:rPr lang="zh-CN" altLang="en-US" sz="2800" b="1" smtClean="0">
                <a:ea typeface="楷体_GB2312" pitchFamily="49" charset="-122"/>
              </a:rPr>
              <a:t>的描述中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9332">
                                            <p:txEl>
                                              <p:pRg st="0" end="0"/>
                                            </p:txEl>
                                          </p:spTgt>
                                        </p:tgtEl>
                                        <p:attrNameLst>
                                          <p:attrName>style.visibility</p:attrName>
                                        </p:attrNameLst>
                                      </p:cBhvr>
                                      <p:to>
                                        <p:strVal val="visible"/>
                                      </p:to>
                                    </p:set>
                                    <p:anim calcmode="lin" valueType="num">
                                      <p:cBhvr additive="base">
                                        <p:cTn id="7" dur="500" fill="hold"/>
                                        <p:tgtEl>
                                          <p:spTgt spid="993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93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9332">
                                            <p:txEl>
                                              <p:pRg st="1" end="1"/>
                                            </p:txEl>
                                          </p:spTgt>
                                        </p:tgtEl>
                                        <p:attrNameLst>
                                          <p:attrName>style.visibility</p:attrName>
                                        </p:attrNameLst>
                                      </p:cBhvr>
                                      <p:to>
                                        <p:strVal val="visible"/>
                                      </p:to>
                                    </p:set>
                                    <p:anim calcmode="lin" valueType="num">
                                      <p:cBhvr additive="base">
                                        <p:cTn id="13" dur="500" fill="hold"/>
                                        <p:tgtEl>
                                          <p:spTgt spid="9933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93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9332">
                                            <p:txEl>
                                              <p:pRg st="2" end="2"/>
                                            </p:txEl>
                                          </p:spTgt>
                                        </p:tgtEl>
                                        <p:attrNameLst>
                                          <p:attrName>style.visibility</p:attrName>
                                        </p:attrNameLst>
                                      </p:cBhvr>
                                      <p:to>
                                        <p:strVal val="visible"/>
                                      </p:to>
                                    </p:set>
                                    <p:anim calcmode="lin" valueType="num">
                                      <p:cBhvr additive="base">
                                        <p:cTn id="19" dur="500" fill="hold"/>
                                        <p:tgtEl>
                                          <p:spTgt spid="9933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93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9332">
                                            <p:txEl>
                                              <p:pRg st="3" end="3"/>
                                            </p:txEl>
                                          </p:spTgt>
                                        </p:tgtEl>
                                        <p:attrNameLst>
                                          <p:attrName>style.visibility</p:attrName>
                                        </p:attrNameLst>
                                      </p:cBhvr>
                                      <p:to>
                                        <p:strVal val="visible"/>
                                      </p:to>
                                    </p:set>
                                    <p:anim calcmode="lin" valueType="num">
                                      <p:cBhvr additive="base">
                                        <p:cTn id="25" dur="500" fill="hold"/>
                                        <p:tgtEl>
                                          <p:spTgt spid="9933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933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9332">
                                            <p:txEl>
                                              <p:pRg st="4" end="4"/>
                                            </p:txEl>
                                          </p:spTgt>
                                        </p:tgtEl>
                                        <p:attrNameLst>
                                          <p:attrName>style.visibility</p:attrName>
                                        </p:attrNameLst>
                                      </p:cBhvr>
                                      <p:to>
                                        <p:strVal val="visible"/>
                                      </p:to>
                                    </p:set>
                                    <p:anim calcmode="lin" valueType="num">
                                      <p:cBhvr additive="base">
                                        <p:cTn id="31" dur="500" fill="hold"/>
                                        <p:tgtEl>
                                          <p:spTgt spid="9933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933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CA1D4B66-0093-4163-994B-BE39FDCBB251}" type="slidenum">
              <a:rPr lang="en-US" altLang="zh-CN" smtClean="0"/>
              <a:pPr algn="l" eaLnBrk="1" hangingPunct="1"/>
              <a:t>87</a:t>
            </a:fld>
            <a:endParaRPr lang="en-US" altLang="zh-CN" smtClean="0"/>
          </a:p>
        </p:txBody>
      </p:sp>
      <p:sp>
        <p:nvSpPr>
          <p:cNvPr id="96259" name="Rectangle 2"/>
          <p:cNvSpPr>
            <a:spLocks noGrp="1" noChangeArrowheads="1"/>
          </p:cNvSpPr>
          <p:nvPr>
            <p:ph type="title"/>
          </p:nvPr>
        </p:nvSpPr>
        <p:spPr/>
        <p:txBody>
          <a:bodyPr/>
          <a:lstStyle/>
          <a:p>
            <a:pPr eaLnBrk="1" hangingPunct="1"/>
            <a:r>
              <a:rPr lang="zh-CN" altLang="en-US" smtClean="0"/>
              <a:t>外模式／模式映像的用途</a:t>
            </a:r>
          </a:p>
        </p:txBody>
      </p:sp>
      <p:sp>
        <p:nvSpPr>
          <p:cNvPr id="100356" name="Rectangle 3"/>
          <p:cNvSpPr>
            <a:spLocks noGrp="1" noChangeArrowheads="1"/>
          </p:cNvSpPr>
          <p:nvPr>
            <p:ph type="body" idx="1"/>
          </p:nvPr>
        </p:nvSpPr>
        <p:spPr>
          <a:xfrm>
            <a:off x="142875" y="1208088"/>
            <a:ext cx="8410575" cy="5078412"/>
          </a:xfrm>
        </p:spPr>
        <p:txBody>
          <a:bodyPr/>
          <a:lstStyle/>
          <a:p>
            <a:pPr algn="just" eaLnBrk="1" hangingPunct="1"/>
            <a:r>
              <a:rPr lang="zh-CN" altLang="en-US" sz="2800" b="1" smtClean="0">
                <a:solidFill>
                  <a:srgbClr val="FF0000"/>
                </a:solidFill>
                <a:ea typeface="楷体_GB2312" pitchFamily="49" charset="-122"/>
              </a:rPr>
              <a:t>保证</a:t>
            </a:r>
            <a:r>
              <a:rPr lang="zh-CN" altLang="en-US" sz="2800" b="1" smtClean="0">
                <a:ea typeface="楷体_GB2312" pitchFamily="49" charset="-122"/>
              </a:rPr>
              <a:t>数据的</a:t>
            </a:r>
            <a:r>
              <a:rPr lang="zh-CN" altLang="en-US" sz="2800" b="1" smtClean="0">
                <a:solidFill>
                  <a:srgbClr val="FF0000"/>
                </a:solidFill>
                <a:ea typeface="楷体_GB2312" pitchFamily="49" charset="-122"/>
              </a:rPr>
              <a:t>逻辑独立性</a:t>
            </a:r>
          </a:p>
          <a:p>
            <a:pPr lvl="1" algn="just" eaLnBrk="1" hangingPunct="1">
              <a:lnSpc>
                <a:spcPct val="150000"/>
              </a:lnSpc>
            </a:pPr>
            <a:r>
              <a:rPr lang="zh-CN" altLang="en-US" b="1" smtClean="0">
                <a:ea typeface="楷体_GB2312" pitchFamily="49" charset="-122"/>
              </a:rPr>
              <a:t>当</a:t>
            </a:r>
            <a:r>
              <a:rPr lang="zh-CN" altLang="en-US" b="1" smtClean="0">
                <a:solidFill>
                  <a:srgbClr val="FF0000"/>
                </a:solidFill>
                <a:ea typeface="楷体_GB2312" pitchFamily="49" charset="-122"/>
              </a:rPr>
              <a:t>模式改变时</a:t>
            </a:r>
            <a:r>
              <a:rPr lang="zh-CN" altLang="en-US" b="1" smtClean="0">
                <a:ea typeface="楷体_GB2312" pitchFamily="49" charset="-122"/>
              </a:rPr>
              <a:t>，数据库管理员修改有关的外模式／模式映像，使</a:t>
            </a:r>
            <a:r>
              <a:rPr lang="zh-CN" altLang="en-US" b="1" smtClean="0">
                <a:solidFill>
                  <a:srgbClr val="FF0000"/>
                </a:solidFill>
                <a:ea typeface="楷体_GB2312" pitchFamily="49" charset="-122"/>
              </a:rPr>
              <a:t>外模式保持不变</a:t>
            </a:r>
            <a:r>
              <a:rPr lang="zh-CN" altLang="en-US" b="1" smtClean="0">
                <a:ea typeface="楷体_GB2312" pitchFamily="49" charset="-122"/>
              </a:rPr>
              <a:t>。</a:t>
            </a:r>
          </a:p>
          <a:p>
            <a:pPr lvl="1" algn="just" eaLnBrk="1" hangingPunct="1">
              <a:lnSpc>
                <a:spcPct val="150000"/>
              </a:lnSpc>
            </a:pPr>
            <a:r>
              <a:rPr lang="zh-CN" altLang="en-US" b="1" smtClean="0">
                <a:ea typeface="楷体_GB2312" pitchFamily="49" charset="-122"/>
              </a:rPr>
              <a:t>应用程序是依据数据的外模式编写的，从而</a:t>
            </a:r>
            <a:r>
              <a:rPr lang="zh-CN" altLang="en-US" b="1" smtClean="0">
                <a:solidFill>
                  <a:srgbClr val="FF0000"/>
                </a:solidFill>
                <a:ea typeface="楷体_GB2312" pitchFamily="49" charset="-122"/>
              </a:rPr>
              <a:t>应用程序不必修改</a:t>
            </a:r>
            <a:r>
              <a:rPr lang="zh-CN" altLang="en-US" b="1" smtClean="0">
                <a:ea typeface="楷体_GB2312" pitchFamily="49" charset="-122"/>
              </a:rPr>
              <a:t>，保证了数据与程序的逻辑独立性，简称</a:t>
            </a:r>
            <a:r>
              <a:rPr lang="zh-CN" altLang="en-US" b="1" smtClean="0">
                <a:solidFill>
                  <a:srgbClr val="0000FF"/>
                </a:solidFill>
                <a:ea typeface="楷体_GB2312" pitchFamily="49" charset="-122"/>
              </a:rPr>
              <a:t>数据的逻辑独立性</a:t>
            </a:r>
            <a:r>
              <a:rPr lang="zh-CN" altLang="en-US" b="1" smtClean="0">
                <a:ea typeface="楷体_GB2312" pitchFamily="49" charset="-122"/>
              </a:rPr>
              <a:t>。例如：新增了关系或属性、改变了属性的数据类型，不用改程序。</a:t>
            </a:r>
            <a:r>
              <a:rPr lang="zh-CN" altLang="en-US" b="1" smtClean="0">
                <a:solidFill>
                  <a:srgbClr val="FF0000"/>
                </a:solidFill>
                <a:ea typeface="楷体_GB2312" pitchFamily="49" charset="-122"/>
              </a:rPr>
              <a:t>除非需求本身发生改变，程序需要改。</a:t>
            </a:r>
            <a:endParaRPr lang="en-US" altLang="zh-CN" b="1" smtClean="0">
              <a:solidFill>
                <a:srgbClr val="FF0000"/>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356">
                                            <p:txEl>
                                              <p:pRg st="0" end="0"/>
                                            </p:txEl>
                                          </p:spTgt>
                                        </p:tgtEl>
                                        <p:attrNameLst>
                                          <p:attrName>style.visibility</p:attrName>
                                        </p:attrNameLst>
                                      </p:cBhvr>
                                      <p:to>
                                        <p:strVal val="visible"/>
                                      </p:to>
                                    </p:set>
                                    <p:anim calcmode="lin" valueType="num">
                                      <p:cBhvr additive="base">
                                        <p:cTn id="7" dur="500" fill="hold"/>
                                        <p:tgtEl>
                                          <p:spTgt spid="1003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035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0356">
                                            <p:txEl>
                                              <p:pRg st="1" end="1"/>
                                            </p:txEl>
                                          </p:spTgt>
                                        </p:tgtEl>
                                        <p:attrNameLst>
                                          <p:attrName>style.visibility</p:attrName>
                                        </p:attrNameLst>
                                      </p:cBhvr>
                                      <p:to>
                                        <p:strVal val="visible"/>
                                      </p:to>
                                    </p:set>
                                    <p:anim calcmode="lin" valueType="num">
                                      <p:cBhvr additive="base">
                                        <p:cTn id="11" dur="500" fill="hold"/>
                                        <p:tgtEl>
                                          <p:spTgt spid="10035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035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0356">
                                            <p:txEl>
                                              <p:pRg st="2" end="2"/>
                                            </p:txEl>
                                          </p:spTgt>
                                        </p:tgtEl>
                                        <p:attrNameLst>
                                          <p:attrName>style.visibility</p:attrName>
                                        </p:attrNameLst>
                                      </p:cBhvr>
                                      <p:to>
                                        <p:strVal val="visible"/>
                                      </p:to>
                                    </p:set>
                                    <p:anim calcmode="lin" valueType="num">
                                      <p:cBhvr additive="base">
                                        <p:cTn id="15" dur="500" fill="hold"/>
                                        <p:tgtEl>
                                          <p:spTgt spid="10035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035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94158FCA-FF33-4B53-8C97-5F452DFAFCEA}" type="slidenum">
              <a:rPr lang="en-US" altLang="zh-CN" smtClean="0"/>
              <a:pPr algn="l" eaLnBrk="1" hangingPunct="1"/>
              <a:t>88</a:t>
            </a:fld>
            <a:endParaRPr lang="en-US" altLang="zh-CN" smtClean="0"/>
          </a:p>
        </p:txBody>
      </p:sp>
      <p:sp>
        <p:nvSpPr>
          <p:cNvPr id="97283" name="Rectangle 2"/>
          <p:cNvSpPr>
            <a:spLocks noGrp="1" noChangeArrowheads="1"/>
          </p:cNvSpPr>
          <p:nvPr>
            <p:ph type="title"/>
          </p:nvPr>
        </p:nvSpPr>
        <p:spPr/>
        <p:txBody>
          <a:bodyPr/>
          <a:lstStyle/>
          <a:p>
            <a:pPr eaLnBrk="1" hangingPunct="1"/>
            <a:r>
              <a:rPr lang="en-US" altLang="zh-CN" smtClean="0"/>
              <a:t>2</a:t>
            </a:r>
            <a:r>
              <a:rPr lang="zh-CN" altLang="en-US" smtClean="0"/>
              <a:t>．模式／内模式映像</a:t>
            </a:r>
          </a:p>
        </p:txBody>
      </p:sp>
      <p:sp>
        <p:nvSpPr>
          <p:cNvPr id="97284" name="Rectangle 3"/>
          <p:cNvSpPr>
            <a:spLocks noGrp="1" noChangeArrowheads="1"/>
          </p:cNvSpPr>
          <p:nvPr>
            <p:ph type="body" idx="1"/>
          </p:nvPr>
        </p:nvSpPr>
        <p:spPr>
          <a:xfrm>
            <a:off x="468313" y="1268413"/>
            <a:ext cx="8207375" cy="3671887"/>
          </a:xfrm>
        </p:spPr>
        <p:txBody>
          <a:bodyPr/>
          <a:lstStyle/>
          <a:p>
            <a:pPr algn="just" eaLnBrk="1" hangingPunct="1">
              <a:lnSpc>
                <a:spcPct val="140000"/>
              </a:lnSpc>
            </a:pPr>
            <a:r>
              <a:rPr lang="zh-CN" altLang="en-US" sz="2800" b="1" smtClean="0">
                <a:ea typeface="楷体_GB2312" pitchFamily="49" charset="-122"/>
              </a:rPr>
              <a:t>模式／内模式映像定义了数据全局逻辑结构与存储结构之间的对应关系。</a:t>
            </a:r>
          </a:p>
          <a:p>
            <a:pPr algn="just" eaLnBrk="1" hangingPunct="1">
              <a:lnSpc>
                <a:spcPct val="140000"/>
              </a:lnSpc>
            </a:pPr>
            <a:r>
              <a:rPr lang="zh-CN" altLang="en-US" sz="2800" b="1" smtClean="0">
                <a:ea typeface="楷体_GB2312" pitchFamily="49" charset="-122"/>
              </a:rPr>
              <a:t>数据库中模式／内模式映像是</a:t>
            </a:r>
            <a:r>
              <a:rPr lang="zh-CN" altLang="en-US" sz="2800" b="1" smtClean="0">
                <a:solidFill>
                  <a:srgbClr val="FF0000"/>
                </a:solidFill>
                <a:ea typeface="楷体_GB2312" pitchFamily="49" charset="-122"/>
              </a:rPr>
              <a:t>唯一的</a:t>
            </a:r>
            <a:r>
              <a:rPr lang="zh-CN" altLang="en-US" sz="2800" b="1" smtClean="0">
                <a:ea typeface="楷体_GB2312" pitchFamily="49" charset="-122"/>
              </a:rPr>
              <a:t>。</a:t>
            </a:r>
          </a:p>
          <a:p>
            <a:pPr algn="just" eaLnBrk="1" hangingPunct="1">
              <a:lnSpc>
                <a:spcPct val="140000"/>
              </a:lnSpc>
            </a:pPr>
            <a:r>
              <a:rPr lang="zh-CN" altLang="en-US" sz="2800" b="1" smtClean="0">
                <a:ea typeface="楷体_GB2312" pitchFamily="49" charset="-122"/>
              </a:rPr>
              <a:t>该映像定义通常包含在</a:t>
            </a:r>
            <a:r>
              <a:rPr lang="zh-CN" altLang="en-US" sz="2800" b="1" smtClean="0">
                <a:solidFill>
                  <a:srgbClr val="FF0000"/>
                </a:solidFill>
                <a:ea typeface="楷体_GB2312" pitchFamily="49" charset="-122"/>
              </a:rPr>
              <a:t>模式描述</a:t>
            </a:r>
            <a:r>
              <a:rPr lang="zh-CN" altLang="en-US" sz="2800" b="1" smtClean="0">
                <a:ea typeface="楷体_GB2312" pitchFamily="49" charset="-122"/>
              </a:rPr>
              <a:t>中。</a:t>
            </a:r>
            <a:endParaRPr lang="zh-CN" altLang="en-US" sz="3600" smtClean="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44401DFE-7B22-4611-84A9-F19015D2FA41}" type="slidenum">
              <a:rPr lang="en-US" altLang="zh-CN" smtClean="0"/>
              <a:pPr algn="l" eaLnBrk="1" hangingPunct="1"/>
              <a:t>89</a:t>
            </a:fld>
            <a:endParaRPr lang="en-US" altLang="zh-CN" smtClean="0"/>
          </a:p>
        </p:txBody>
      </p:sp>
      <p:sp>
        <p:nvSpPr>
          <p:cNvPr id="98307" name="Rectangle 2"/>
          <p:cNvSpPr>
            <a:spLocks noGrp="1" noChangeArrowheads="1"/>
          </p:cNvSpPr>
          <p:nvPr>
            <p:ph type="title"/>
          </p:nvPr>
        </p:nvSpPr>
        <p:spPr/>
        <p:txBody>
          <a:bodyPr/>
          <a:lstStyle/>
          <a:p>
            <a:pPr eaLnBrk="1" hangingPunct="1"/>
            <a:r>
              <a:rPr lang="zh-CN" altLang="en-US" smtClean="0"/>
              <a:t>模式／内模式映像的用途</a:t>
            </a:r>
          </a:p>
        </p:txBody>
      </p:sp>
      <p:sp>
        <p:nvSpPr>
          <p:cNvPr id="98308" name="Rectangle 3"/>
          <p:cNvSpPr>
            <a:spLocks noGrp="1" noChangeArrowheads="1"/>
          </p:cNvSpPr>
          <p:nvPr>
            <p:ph type="body" idx="1"/>
          </p:nvPr>
        </p:nvSpPr>
        <p:spPr>
          <a:xfrm>
            <a:off x="323850" y="1208088"/>
            <a:ext cx="8229600" cy="3660775"/>
          </a:xfrm>
        </p:spPr>
        <p:txBody>
          <a:bodyPr/>
          <a:lstStyle/>
          <a:p>
            <a:pPr algn="just" eaLnBrk="1" hangingPunct="1"/>
            <a:r>
              <a:rPr lang="zh-CN" altLang="en-US" sz="2800" b="1" smtClean="0">
                <a:solidFill>
                  <a:srgbClr val="FF0000"/>
                </a:solidFill>
                <a:ea typeface="楷体_GB2312" pitchFamily="49" charset="-122"/>
              </a:rPr>
              <a:t>保证</a:t>
            </a:r>
            <a:r>
              <a:rPr lang="zh-CN" altLang="en-US" sz="2800" b="1" smtClean="0">
                <a:ea typeface="楷体_GB2312" pitchFamily="49" charset="-122"/>
              </a:rPr>
              <a:t>数据的</a:t>
            </a:r>
            <a:r>
              <a:rPr lang="zh-CN" altLang="en-US" sz="2800" b="1" smtClean="0">
                <a:solidFill>
                  <a:srgbClr val="FF0000"/>
                </a:solidFill>
                <a:ea typeface="楷体_GB2312" pitchFamily="49" charset="-122"/>
              </a:rPr>
              <a:t>物理独立性</a:t>
            </a:r>
          </a:p>
          <a:p>
            <a:pPr lvl="1" algn="just" eaLnBrk="1" hangingPunct="1">
              <a:lnSpc>
                <a:spcPct val="140000"/>
              </a:lnSpc>
            </a:pPr>
            <a:r>
              <a:rPr lang="zh-CN" altLang="en-US" b="1" smtClean="0">
                <a:ea typeface="楷体_GB2312" pitchFamily="49" charset="-122"/>
              </a:rPr>
              <a:t>当</a:t>
            </a:r>
            <a:r>
              <a:rPr lang="zh-CN" altLang="en-US" b="1" smtClean="0">
                <a:solidFill>
                  <a:srgbClr val="0000FF"/>
                </a:solidFill>
                <a:ea typeface="楷体_GB2312" pitchFamily="49" charset="-122"/>
              </a:rPr>
              <a:t>数据库的存储结构改变</a:t>
            </a:r>
            <a:r>
              <a:rPr lang="zh-CN" altLang="en-US" b="1" smtClean="0">
                <a:ea typeface="楷体_GB2312" pitchFamily="49" charset="-122"/>
              </a:rPr>
              <a:t>了（例如选用了另一种存储结构），数据库管理员修改模式／内模式映像，使模式保持不变。</a:t>
            </a:r>
          </a:p>
          <a:p>
            <a:pPr lvl="1" algn="just" eaLnBrk="1" hangingPunct="1">
              <a:lnSpc>
                <a:spcPct val="140000"/>
              </a:lnSpc>
            </a:pPr>
            <a:r>
              <a:rPr lang="zh-CN" altLang="en-US" b="1" smtClean="0">
                <a:ea typeface="楷体_GB2312" pitchFamily="49" charset="-122"/>
              </a:rPr>
              <a:t>应用程序不受影响。保证了数据与程序的物理独立性，简称</a:t>
            </a:r>
            <a:r>
              <a:rPr lang="zh-CN" altLang="en-US" b="1" smtClean="0">
                <a:solidFill>
                  <a:srgbClr val="0000FF"/>
                </a:solidFill>
                <a:ea typeface="楷体_GB2312" pitchFamily="49" charset="-122"/>
              </a:rPr>
              <a:t>数据的物理独立性</a:t>
            </a:r>
            <a:r>
              <a:rPr lang="zh-CN" altLang="en-US" b="1" smtClean="0">
                <a:ea typeface="楷体_GB2312" pitchFamily="49" charset="-122"/>
              </a:rPr>
              <a:t>。</a:t>
            </a:r>
            <a:endParaRPr lang="zh-CN" altLang="en-US" smtClean="0"/>
          </a:p>
        </p:txBody>
      </p:sp>
      <p:sp>
        <p:nvSpPr>
          <p:cNvPr id="98309" name="TextBox 1"/>
          <p:cNvSpPr txBox="1">
            <a:spLocks noChangeArrowheads="1"/>
          </p:cNvSpPr>
          <p:nvPr/>
        </p:nvSpPr>
        <p:spPr bwMode="auto">
          <a:xfrm>
            <a:off x="539750" y="5267325"/>
            <a:ext cx="77771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800" b="1">
                <a:solidFill>
                  <a:srgbClr val="FF0000"/>
                </a:solidFill>
              </a:rPr>
              <a:t>二级映像保证了数据的逻辑独立性和物理独立性。</a:t>
            </a:r>
          </a:p>
        </p:txBody>
      </p:sp>
    </p:spTree>
  </p:cSld>
  <p:clrMapOvr>
    <a:masterClrMapping/>
  </p:clrMapOvr>
  <p:transition advClick="0"/>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6CE30AF3-0988-4D0E-A736-A3F25B8B9DDC}" type="slidenum">
              <a:rPr lang="en-US" altLang="zh-CN" smtClean="0"/>
              <a:pPr algn="l" eaLnBrk="1" hangingPunct="1"/>
              <a:t>90</a:t>
            </a:fld>
            <a:endParaRPr lang="en-US" altLang="zh-CN" smtClean="0"/>
          </a:p>
        </p:txBody>
      </p:sp>
      <p:sp>
        <p:nvSpPr>
          <p:cNvPr id="99331" name="Rectangle 2"/>
          <p:cNvSpPr>
            <a:spLocks noGrp="1" noChangeArrowheads="1"/>
          </p:cNvSpPr>
          <p:nvPr>
            <p:ph type="title"/>
          </p:nvPr>
        </p:nvSpPr>
        <p:spPr/>
        <p:txBody>
          <a:bodyPr/>
          <a:lstStyle/>
          <a:p>
            <a:pPr eaLnBrk="1" hangingPunct="1"/>
            <a:r>
              <a:rPr lang="en-US" altLang="zh-CN" smtClean="0"/>
              <a:t>1.4 </a:t>
            </a:r>
            <a:r>
              <a:rPr lang="zh-CN" altLang="en-US" smtClean="0"/>
              <a:t>数据库系统的组成</a:t>
            </a:r>
          </a:p>
        </p:txBody>
      </p:sp>
      <p:sp>
        <p:nvSpPr>
          <p:cNvPr id="99332" name="Rectangle 3"/>
          <p:cNvSpPr>
            <a:spLocks noGrp="1" noChangeArrowheads="1"/>
          </p:cNvSpPr>
          <p:nvPr>
            <p:ph type="body" idx="1"/>
          </p:nvPr>
        </p:nvSpPr>
        <p:spPr>
          <a:xfrm>
            <a:off x="900113" y="1033463"/>
            <a:ext cx="7359650" cy="2900362"/>
          </a:xfrm>
        </p:spPr>
        <p:txBody>
          <a:bodyPr/>
          <a:lstStyle/>
          <a:p>
            <a:pPr algn="just" eaLnBrk="1" hangingPunct="1">
              <a:lnSpc>
                <a:spcPct val="140000"/>
              </a:lnSpc>
            </a:pPr>
            <a:r>
              <a:rPr lang="zh-CN" altLang="en-US" b="1" smtClean="0">
                <a:ea typeface="楷体_GB2312" pitchFamily="49" charset="-122"/>
              </a:rPr>
              <a:t>数据库</a:t>
            </a:r>
          </a:p>
          <a:p>
            <a:pPr algn="just" eaLnBrk="1" hangingPunct="1">
              <a:lnSpc>
                <a:spcPct val="140000"/>
              </a:lnSpc>
            </a:pPr>
            <a:r>
              <a:rPr lang="zh-CN" altLang="en-US" b="1" smtClean="0">
                <a:ea typeface="楷体_GB2312" pitchFamily="49" charset="-122"/>
              </a:rPr>
              <a:t>数据库管理系统（及其开发工具）</a:t>
            </a:r>
          </a:p>
          <a:p>
            <a:pPr algn="just" eaLnBrk="1" hangingPunct="1">
              <a:lnSpc>
                <a:spcPct val="140000"/>
              </a:lnSpc>
            </a:pPr>
            <a:r>
              <a:rPr lang="zh-CN" altLang="en-US" b="1" smtClean="0">
                <a:ea typeface="楷体_GB2312" pitchFamily="49" charset="-122"/>
              </a:rPr>
              <a:t>应用系统</a:t>
            </a:r>
          </a:p>
          <a:p>
            <a:pPr algn="just" eaLnBrk="1" hangingPunct="1">
              <a:lnSpc>
                <a:spcPct val="140000"/>
              </a:lnSpc>
            </a:pPr>
            <a:r>
              <a:rPr lang="zh-CN" altLang="en-US" b="1" smtClean="0">
                <a:ea typeface="楷体_GB2312" pitchFamily="49" charset="-122"/>
              </a:rPr>
              <a:t>数据库管理员（</a:t>
            </a:r>
            <a:r>
              <a:rPr lang="en-US" altLang="zh-CN" b="1" smtClean="0">
                <a:ea typeface="楷体_GB2312" pitchFamily="49" charset="-122"/>
              </a:rPr>
              <a:t>DBA</a:t>
            </a:r>
            <a:r>
              <a:rPr lang="zh-CN" altLang="en-US" b="1" smtClean="0">
                <a:ea typeface="楷体_GB2312" pitchFamily="49" charset="-122"/>
              </a:rPr>
              <a:t>）</a:t>
            </a:r>
          </a:p>
        </p:txBody>
      </p:sp>
      <p:sp>
        <p:nvSpPr>
          <p:cNvPr id="99333" name="Text Box 2"/>
          <p:cNvSpPr txBox="1">
            <a:spLocks noChangeArrowheads="1"/>
          </p:cNvSpPr>
          <p:nvPr/>
        </p:nvSpPr>
        <p:spPr bwMode="auto">
          <a:xfrm>
            <a:off x="900113" y="4095750"/>
            <a:ext cx="3959225" cy="214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just" eaLnBrk="1" hangingPunct="1">
              <a:lnSpc>
                <a:spcPct val="130000"/>
              </a:lnSpc>
              <a:spcBef>
                <a:spcPct val="20000"/>
              </a:spcBef>
              <a:buClr>
                <a:srgbClr val="FF00FF"/>
              </a:buClr>
              <a:buFont typeface="Wingdings" pitchFamily="2" charset="2"/>
              <a:buChar char="Ø"/>
            </a:pPr>
            <a:r>
              <a:rPr kumimoji="1" lang="zh-CN" altLang="en-US" sz="3200" b="1">
                <a:latin typeface="Times New Roman" pitchFamily="18" charset="0"/>
                <a:ea typeface="楷体_GB2312" pitchFamily="49" charset="-122"/>
              </a:rPr>
              <a:t>硬件平台及数据库</a:t>
            </a:r>
          </a:p>
          <a:p>
            <a:pPr algn="just" eaLnBrk="1" hangingPunct="1">
              <a:lnSpc>
                <a:spcPct val="130000"/>
              </a:lnSpc>
              <a:spcBef>
                <a:spcPct val="20000"/>
              </a:spcBef>
              <a:buClr>
                <a:srgbClr val="FF00FF"/>
              </a:buClr>
              <a:buFont typeface="Wingdings" pitchFamily="2" charset="2"/>
              <a:buChar char="Ø"/>
            </a:pPr>
            <a:r>
              <a:rPr kumimoji="1" lang="zh-CN" altLang="en-US" sz="3200" b="1">
                <a:latin typeface="Times New Roman" pitchFamily="18" charset="0"/>
                <a:ea typeface="楷体_GB2312" pitchFamily="49" charset="-122"/>
              </a:rPr>
              <a:t>软件</a:t>
            </a:r>
          </a:p>
          <a:p>
            <a:pPr algn="just" eaLnBrk="1" hangingPunct="1">
              <a:lnSpc>
                <a:spcPct val="130000"/>
              </a:lnSpc>
              <a:spcBef>
                <a:spcPct val="20000"/>
              </a:spcBef>
              <a:buClr>
                <a:srgbClr val="FF00FF"/>
              </a:buClr>
              <a:buFont typeface="Wingdings" pitchFamily="2" charset="2"/>
              <a:buChar char="Ø"/>
            </a:pPr>
            <a:r>
              <a:rPr kumimoji="1" lang="zh-CN" altLang="en-US" sz="3200" b="1">
                <a:latin typeface="Times New Roman" pitchFamily="18" charset="0"/>
                <a:ea typeface="楷体_GB2312" pitchFamily="49" charset="-122"/>
              </a:rPr>
              <a:t>人员</a:t>
            </a:r>
          </a:p>
        </p:txBody>
      </p:sp>
    </p:spTree>
  </p:cSld>
  <p:clrMapOvr>
    <a:masterClrMapping/>
  </p:clrMapOvr>
  <p:transition advClick="0"/>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B59C0C55-1EFD-4B48-8BB0-78EE7181E3D3}" type="slidenum">
              <a:rPr lang="en-US" altLang="zh-CN" smtClean="0"/>
              <a:pPr algn="l" eaLnBrk="1" hangingPunct="1"/>
              <a:t>91</a:t>
            </a:fld>
            <a:endParaRPr lang="en-US" altLang="zh-CN" smtClean="0"/>
          </a:p>
        </p:txBody>
      </p:sp>
      <p:sp>
        <p:nvSpPr>
          <p:cNvPr id="100355" name="Rectangle 2"/>
          <p:cNvSpPr>
            <a:spLocks noGrp="1" noChangeArrowheads="1"/>
          </p:cNvSpPr>
          <p:nvPr>
            <p:ph type="title"/>
          </p:nvPr>
        </p:nvSpPr>
        <p:spPr/>
        <p:txBody>
          <a:bodyPr/>
          <a:lstStyle/>
          <a:p>
            <a:pPr eaLnBrk="1" hangingPunct="1"/>
            <a:r>
              <a:rPr lang="zh-CN" altLang="en-US" smtClean="0"/>
              <a:t>一、硬件平台及数据库</a:t>
            </a:r>
            <a:endParaRPr lang="zh-CN" altLang="en-US" smtClean="0">
              <a:solidFill>
                <a:schemeClr val="tx1"/>
              </a:solidFill>
            </a:endParaRPr>
          </a:p>
        </p:txBody>
      </p:sp>
      <p:sp>
        <p:nvSpPr>
          <p:cNvPr id="100356" name="Rectangle 3"/>
          <p:cNvSpPr>
            <a:spLocks noGrp="1" noChangeArrowheads="1"/>
          </p:cNvSpPr>
          <p:nvPr>
            <p:ph type="body" idx="1"/>
          </p:nvPr>
        </p:nvSpPr>
        <p:spPr>
          <a:xfrm>
            <a:off x="323850" y="1268413"/>
            <a:ext cx="8229600" cy="5329237"/>
          </a:xfrm>
        </p:spPr>
        <p:txBody>
          <a:bodyPr/>
          <a:lstStyle/>
          <a:p>
            <a:pPr marL="609600" indent="-609600" algn="just" eaLnBrk="1" hangingPunct="1">
              <a:lnSpc>
                <a:spcPct val="120000"/>
              </a:lnSpc>
            </a:pPr>
            <a:r>
              <a:rPr lang="zh-CN" altLang="en-US" b="1" smtClean="0">
                <a:latin typeface="楷体_GB2312" pitchFamily="49" charset="-122"/>
                <a:ea typeface="楷体_GB2312" pitchFamily="49" charset="-122"/>
              </a:rPr>
              <a:t>数据库系统对硬件资源的要求</a:t>
            </a:r>
          </a:p>
          <a:p>
            <a:pPr marL="990600" lvl="1" indent="-533400" algn="just" eaLnBrk="1" hangingPunct="1">
              <a:lnSpc>
                <a:spcPct val="120000"/>
              </a:lnSpc>
            </a:pPr>
            <a:r>
              <a:rPr lang="zh-CN" altLang="en-US" b="1" smtClean="0">
                <a:latin typeface="楷体_GB2312" pitchFamily="49" charset="-122"/>
                <a:ea typeface="楷体_GB2312" pitchFamily="49" charset="-122"/>
              </a:rPr>
              <a:t>足够大的内存</a:t>
            </a:r>
          </a:p>
          <a:p>
            <a:pPr marL="1371600" lvl="2" indent="-457200" algn="just" eaLnBrk="1" hangingPunct="1">
              <a:lnSpc>
                <a:spcPct val="120000"/>
              </a:lnSpc>
            </a:pPr>
            <a:r>
              <a:rPr lang="zh-CN" altLang="en-US" b="1" smtClean="0">
                <a:latin typeface="楷体_GB2312" pitchFamily="49" charset="-122"/>
                <a:ea typeface="楷体_GB2312" pitchFamily="49" charset="-122"/>
              </a:rPr>
              <a:t>操作系统、</a:t>
            </a:r>
            <a:r>
              <a:rPr lang="en-US" altLang="zh-CN" b="1" smtClean="0">
                <a:latin typeface="楷体_GB2312" pitchFamily="49" charset="-122"/>
                <a:ea typeface="楷体_GB2312" pitchFamily="49" charset="-122"/>
              </a:rPr>
              <a:t>DBMS</a:t>
            </a:r>
            <a:r>
              <a:rPr lang="zh-CN" altLang="en-US" b="1" smtClean="0">
                <a:latin typeface="楷体_GB2312" pitchFamily="49" charset="-122"/>
                <a:ea typeface="楷体_GB2312" pitchFamily="49" charset="-122"/>
              </a:rPr>
              <a:t>的核心模块、数据缓冲区、应用程序</a:t>
            </a:r>
          </a:p>
          <a:p>
            <a:pPr marL="990600" lvl="1" indent="-533400" algn="just" eaLnBrk="1" hangingPunct="1">
              <a:lnSpc>
                <a:spcPct val="120000"/>
              </a:lnSpc>
            </a:pPr>
            <a:r>
              <a:rPr lang="zh-CN" altLang="en-US" b="1" smtClean="0">
                <a:ea typeface="楷体_GB2312" pitchFamily="49" charset="-122"/>
              </a:rPr>
              <a:t>足够大的外存</a:t>
            </a:r>
          </a:p>
          <a:p>
            <a:pPr marL="1371600" lvl="2" indent="-457200" algn="just" eaLnBrk="1" hangingPunct="1"/>
            <a:r>
              <a:rPr lang="zh-CN" altLang="en-US" b="1" smtClean="0">
                <a:ea typeface="楷体_GB2312" pitchFamily="49" charset="-122"/>
              </a:rPr>
              <a:t> 磁盘</a:t>
            </a:r>
          </a:p>
          <a:p>
            <a:pPr marL="1752600" lvl="3" indent="-381000" eaLnBrk="1" hangingPunct="1"/>
            <a:r>
              <a:rPr lang="en-US" altLang="zh-CN" sz="2400" b="1" smtClean="0">
                <a:ea typeface="楷体_GB2312" pitchFamily="49" charset="-122"/>
              </a:rPr>
              <a:t>DBMS</a:t>
            </a:r>
            <a:r>
              <a:rPr lang="zh-CN" altLang="en-US" sz="2400" b="1" smtClean="0">
                <a:ea typeface="楷体_GB2312" pitchFamily="49" charset="-122"/>
              </a:rPr>
              <a:t>、应用程序、数据库及其备份</a:t>
            </a:r>
          </a:p>
          <a:p>
            <a:pPr marL="1371600" lvl="2" indent="-457200" algn="just" eaLnBrk="1" hangingPunct="1"/>
            <a:r>
              <a:rPr lang="zh-CN" altLang="en-US" b="1" smtClean="0">
                <a:ea typeface="楷体_GB2312" pitchFamily="49" charset="-122"/>
              </a:rPr>
              <a:t> 光盘、磁带</a:t>
            </a:r>
          </a:p>
          <a:p>
            <a:pPr marL="1752600" lvl="3" indent="-381000" algn="just" eaLnBrk="1" hangingPunct="1"/>
            <a:r>
              <a:rPr lang="zh-CN" altLang="en-US" sz="2400" b="1" smtClean="0">
                <a:ea typeface="楷体_GB2312" pitchFamily="49" charset="-122"/>
              </a:rPr>
              <a:t>数据备份</a:t>
            </a:r>
          </a:p>
          <a:p>
            <a:pPr marL="990600" lvl="1" indent="-533400" algn="just" eaLnBrk="1" hangingPunct="1"/>
            <a:r>
              <a:rPr lang="zh-CN" altLang="en-US" b="1" smtClean="0">
                <a:ea typeface="楷体_GB2312" pitchFamily="49" charset="-122"/>
              </a:rPr>
              <a:t> 较高的通道能力，提高数据传送率</a:t>
            </a:r>
          </a:p>
        </p:txBody>
      </p:sp>
    </p:spTree>
  </p:cSld>
  <p:clrMapOvr>
    <a:masterClrMapping/>
  </p:clrMapOvr>
  <p:transition advClick="0"/>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2C10A08B-CCDB-4907-83E5-0618B644B035}" type="slidenum">
              <a:rPr lang="en-US" altLang="zh-CN" smtClean="0"/>
              <a:pPr algn="l" eaLnBrk="1" hangingPunct="1"/>
              <a:t>92</a:t>
            </a:fld>
            <a:endParaRPr lang="en-US" altLang="zh-CN" smtClean="0"/>
          </a:p>
        </p:txBody>
      </p:sp>
      <p:sp>
        <p:nvSpPr>
          <p:cNvPr id="101379" name="Rectangle 2"/>
          <p:cNvSpPr>
            <a:spLocks noGrp="1" noChangeArrowheads="1"/>
          </p:cNvSpPr>
          <p:nvPr>
            <p:ph type="title"/>
          </p:nvPr>
        </p:nvSpPr>
        <p:spPr/>
        <p:txBody>
          <a:bodyPr/>
          <a:lstStyle/>
          <a:p>
            <a:pPr eaLnBrk="1" hangingPunct="1"/>
            <a:r>
              <a:rPr lang="zh-CN" altLang="en-US" smtClean="0"/>
              <a:t>二、软件</a:t>
            </a:r>
          </a:p>
        </p:txBody>
      </p:sp>
      <p:sp>
        <p:nvSpPr>
          <p:cNvPr id="101380" name="Rectangle 3"/>
          <p:cNvSpPr>
            <a:spLocks noGrp="1" noChangeArrowheads="1"/>
          </p:cNvSpPr>
          <p:nvPr>
            <p:ph type="body" idx="1"/>
          </p:nvPr>
        </p:nvSpPr>
        <p:spPr>
          <a:xfrm>
            <a:off x="539750" y="1196975"/>
            <a:ext cx="8229600" cy="4525963"/>
          </a:xfrm>
        </p:spPr>
        <p:txBody>
          <a:bodyPr/>
          <a:lstStyle/>
          <a:p>
            <a:pPr algn="just" eaLnBrk="1" hangingPunct="1">
              <a:lnSpc>
                <a:spcPct val="110000"/>
              </a:lnSpc>
            </a:pPr>
            <a:r>
              <a:rPr lang="en-US" altLang="zh-CN" b="1" smtClean="0">
                <a:ea typeface="楷体_GB2312" pitchFamily="49" charset="-122"/>
              </a:rPr>
              <a:t>DBMS</a:t>
            </a:r>
          </a:p>
          <a:p>
            <a:pPr algn="just" eaLnBrk="1" hangingPunct="1">
              <a:lnSpc>
                <a:spcPct val="110000"/>
              </a:lnSpc>
            </a:pPr>
            <a:r>
              <a:rPr lang="zh-CN" altLang="en-US" b="1" smtClean="0">
                <a:ea typeface="楷体_GB2312" pitchFamily="49" charset="-122"/>
              </a:rPr>
              <a:t>操作系统</a:t>
            </a:r>
          </a:p>
          <a:p>
            <a:pPr algn="just" eaLnBrk="1" hangingPunct="1">
              <a:lnSpc>
                <a:spcPct val="110000"/>
              </a:lnSpc>
            </a:pPr>
            <a:r>
              <a:rPr lang="zh-CN" altLang="en-US" b="1" smtClean="0">
                <a:ea typeface="楷体_GB2312" pitchFamily="49" charset="-122"/>
              </a:rPr>
              <a:t>与数据库接口的高级语言及其编译系统</a:t>
            </a:r>
          </a:p>
          <a:p>
            <a:pPr algn="just" eaLnBrk="1" hangingPunct="1">
              <a:lnSpc>
                <a:spcPct val="110000"/>
              </a:lnSpc>
            </a:pPr>
            <a:r>
              <a:rPr lang="zh-CN" altLang="en-US" b="1" smtClean="0">
                <a:ea typeface="楷体_GB2312" pitchFamily="49" charset="-122"/>
              </a:rPr>
              <a:t>以</a:t>
            </a:r>
            <a:r>
              <a:rPr lang="en-US" altLang="zh-CN" b="1" smtClean="0">
                <a:ea typeface="楷体_GB2312" pitchFamily="49" charset="-122"/>
              </a:rPr>
              <a:t>DBMS</a:t>
            </a:r>
            <a:r>
              <a:rPr lang="zh-CN" altLang="en-US" b="1" smtClean="0">
                <a:ea typeface="楷体_GB2312" pitchFamily="49" charset="-122"/>
              </a:rPr>
              <a:t>为核心的应用开发工具</a:t>
            </a:r>
          </a:p>
          <a:p>
            <a:pPr algn="just" eaLnBrk="1" hangingPunct="1">
              <a:lnSpc>
                <a:spcPct val="110000"/>
              </a:lnSpc>
            </a:pPr>
            <a:r>
              <a:rPr lang="zh-CN" altLang="en-US" b="1" smtClean="0">
                <a:ea typeface="楷体_GB2312" pitchFamily="49" charset="-122"/>
              </a:rPr>
              <a:t>为特定应用环境开发的数据库应用系统</a:t>
            </a:r>
          </a:p>
        </p:txBody>
      </p:sp>
    </p:spTree>
  </p:cSld>
  <p:clrMapOvr>
    <a:masterClrMapping/>
  </p:clrMapOvr>
  <p:transition advClick="0"/>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7DABAD91-921D-4232-9B84-EC50C072B3C7}" type="slidenum">
              <a:rPr lang="en-US" altLang="zh-CN" smtClean="0"/>
              <a:pPr algn="l" eaLnBrk="1" hangingPunct="1"/>
              <a:t>93</a:t>
            </a:fld>
            <a:endParaRPr lang="en-US" altLang="zh-CN" smtClean="0"/>
          </a:p>
        </p:txBody>
      </p:sp>
      <p:sp>
        <p:nvSpPr>
          <p:cNvPr id="102403" name="Rectangle 2"/>
          <p:cNvSpPr>
            <a:spLocks noGrp="1" noChangeArrowheads="1"/>
          </p:cNvSpPr>
          <p:nvPr>
            <p:ph type="title"/>
          </p:nvPr>
        </p:nvSpPr>
        <p:spPr/>
        <p:txBody>
          <a:bodyPr/>
          <a:lstStyle/>
          <a:p>
            <a:pPr eaLnBrk="1" hangingPunct="1"/>
            <a:r>
              <a:rPr lang="zh-CN" altLang="en-US" smtClean="0"/>
              <a:t>三、人员</a:t>
            </a:r>
          </a:p>
        </p:txBody>
      </p:sp>
      <p:sp>
        <p:nvSpPr>
          <p:cNvPr id="102404" name="Rectangle 3"/>
          <p:cNvSpPr>
            <a:spLocks noGrp="1" noChangeArrowheads="1"/>
          </p:cNvSpPr>
          <p:nvPr>
            <p:ph type="body" idx="1"/>
          </p:nvPr>
        </p:nvSpPr>
        <p:spPr>
          <a:xfrm>
            <a:off x="539750" y="1196975"/>
            <a:ext cx="8229600" cy="4525963"/>
          </a:xfrm>
        </p:spPr>
        <p:txBody>
          <a:bodyPr/>
          <a:lstStyle/>
          <a:p>
            <a:pPr algn="just" eaLnBrk="1" hangingPunct="1">
              <a:lnSpc>
                <a:spcPct val="120000"/>
              </a:lnSpc>
            </a:pPr>
            <a:r>
              <a:rPr lang="zh-CN" altLang="en-US" b="1" smtClean="0">
                <a:latin typeface="楷体_GB2312" pitchFamily="49" charset="-122"/>
                <a:ea typeface="楷体_GB2312" pitchFamily="49" charset="-122"/>
              </a:rPr>
              <a:t>数据库管理员</a:t>
            </a:r>
          </a:p>
          <a:p>
            <a:pPr algn="just" eaLnBrk="1" hangingPunct="1">
              <a:lnSpc>
                <a:spcPct val="120000"/>
              </a:lnSpc>
            </a:pPr>
            <a:r>
              <a:rPr lang="zh-CN" altLang="en-US" b="1" smtClean="0">
                <a:latin typeface="楷体_GB2312" pitchFamily="49" charset="-122"/>
                <a:ea typeface="楷体_GB2312" pitchFamily="49" charset="-122"/>
              </a:rPr>
              <a:t>系统分析员</a:t>
            </a:r>
          </a:p>
          <a:p>
            <a:pPr algn="just" eaLnBrk="1" hangingPunct="1">
              <a:lnSpc>
                <a:spcPct val="120000"/>
              </a:lnSpc>
            </a:pPr>
            <a:r>
              <a:rPr lang="zh-CN" altLang="en-US" b="1" smtClean="0">
                <a:latin typeface="楷体_GB2312" pitchFamily="49" charset="-122"/>
                <a:ea typeface="楷体_GB2312" pitchFamily="49" charset="-122"/>
              </a:rPr>
              <a:t>数据库设计人员</a:t>
            </a:r>
          </a:p>
          <a:p>
            <a:pPr algn="just" eaLnBrk="1" hangingPunct="1">
              <a:lnSpc>
                <a:spcPct val="120000"/>
              </a:lnSpc>
            </a:pPr>
            <a:r>
              <a:rPr lang="zh-CN" altLang="en-US" b="1" smtClean="0">
                <a:latin typeface="楷体_GB2312" pitchFamily="49" charset="-122"/>
                <a:ea typeface="楷体_GB2312" pitchFamily="49" charset="-122"/>
              </a:rPr>
              <a:t>应用程序员</a:t>
            </a:r>
          </a:p>
          <a:p>
            <a:pPr algn="just" eaLnBrk="1" hangingPunct="1">
              <a:lnSpc>
                <a:spcPct val="120000"/>
              </a:lnSpc>
            </a:pPr>
            <a:r>
              <a:rPr lang="zh-CN" altLang="en-US" b="1" smtClean="0">
                <a:latin typeface="楷体_GB2312" pitchFamily="49" charset="-122"/>
                <a:ea typeface="楷体_GB2312" pitchFamily="49" charset="-122"/>
              </a:rPr>
              <a:t>最终用户</a:t>
            </a:r>
            <a:endParaRPr lang="en-US" altLang="zh-CN" b="1" smtClean="0">
              <a:latin typeface="楷体_GB2312" pitchFamily="49" charset="-122"/>
              <a:ea typeface="楷体_GB2312" pitchFamily="49" charset="-122"/>
            </a:endParaRPr>
          </a:p>
          <a:p>
            <a:pPr eaLnBrk="1" hangingPunct="1"/>
            <a:endParaRPr lang="en-US" altLang="zh-CN" b="1" smtClean="0">
              <a:latin typeface="楷体_GB2312" pitchFamily="49" charset="-122"/>
              <a:ea typeface="楷体_GB2312" pitchFamily="49" charset="-122"/>
            </a:endParaRPr>
          </a:p>
        </p:txBody>
      </p:sp>
    </p:spTree>
  </p:cSld>
  <p:clrMapOvr>
    <a:masterClrMapping/>
  </p:clrMapOvr>
  <p:transition advClick="0"/>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13D1EF12-766F-4050-B74B-B231B74C394E}" type="slidenum">
              <a:rPr lang="en-US" altLang="zh-CN" smtClean="0"/>
              <a:pPr algn="l" eaLnBrk="1" hangingPunct="1"/>
              <a:t>94</a:t>
            </a:fld>
            <a:endParaRPr lang="en-US" altLang="zh-CN" smtClean="0"/>
          </a:p>
        </p:txBody>
      </p:sp>
      <p:sp>
        <p:nvSpPr>
          <p:cNvPr id="103427" name="Rectangle 2"/>
          <p:cNvSpPr>
            <a:spLocks noGrp="1" noChangeArrowheads="1"/>
          </p:cNvSpPr>
          <p:nvPr>
            <p:ph type="title"/>
          </p:nvPr>
        </p:nvSpPr>
        <p:spPr/>
        <p:txBody>
          <a:bodyPr/>
          <a:lstStyle/>
          <a:p>
            <a:pPr eaLnBrk="1" hangingPunct="1"/>
            <a:r>
              <a:rPr lang="en-US" altLang="zh-CN" smtClean="0"/>
              <a:t>1. </a:t>
            </a:r>
            <a:r>
              <a:rPr lang="zh-CN" altLang="en-US" smtClean="0"/>
              <a:t>数据库管理员</a:t>
            </a:r>
            <a:r>
              <a:rPr lang="en-US" altLang="zh-CN" smtClean="0"/>
              <a:t>(DBA)</a:t>
            </a:r>
          </a:p>
        </p:txBody>
      </p:sp>
      <p:sp>
        <p:nvSpPr>
          <p:cNvPr id="103428" name="Rectangle 3"/>
          <p:cNvSpPr>
            <a:spLocks noGrp="1" noChangeArrowheads="1"/>
          </p:cNvSpPr>
          <p:nvPr>
            <p:ph type="body" idx="1"/>
          </p:nvPr>
        </p:nvSpPr>
        <p:spPr>
          <a:xfrm>
            <a:off x="539750" y="1196975"/>
            <a:ext cx="7920038" cy="4495800"/>
          </a:xfrm>
        </p:spPr>
        <p:txBody>
          <a:bodyPr/>
          <a:lstStyle/>
          <a:p>
            <a:pPr algn="just" eaLnBrk="1" hangingPunct="1">
              <a:lnSpc>
                <a:spcPct val="160000"/>
              </a:lnSpc>
            </a:pPr>
            <a:r>
              <a:rPr lang="zh-CN" altLang="en-US" b="1" smtClean="0">
                <a:ea typeface="楷体_GB2312" pitchFamily="49" charset="-122"/>
              </a:rPr>
              <a:t>决定数据库中的信息内容和结构</a:t>
            </a:r>
          </a:p>
          <a:p>
            <a:pPr algn="just" eaLnBrk="1" hangingPunct="1">
              <a:lnSpc>
                <a:spcPct val="160000"/>
              </a:lnSpc>
            </a:pPr>
            <a:r>
              <a:rPr lang="zh-CN" altLang="en-US" b="1" smtClean="0">
                <a:ea typeface="楷体_GB2312" pitchFamily="49" charset="-122"/>
              </a:rPr>
              <a:t>决定数据库的存储结构和存取策略</a:t>
            </a:r>
          </a:p>
          <a:p>
            <a:pPr algn="just" eaLnBrk="1" hangingPunct="1">
              <a:lnSpc>
                <a:spcPct val="160000"/>
              </a:lnSpc>
            </a:pPr>
            <a:r>
              <a:rPr lang="zh-CN" altLang="en-US" b="1" smtClean="0">
                <a:ea typeface="楷体_GB2312" pitchFamily="49" charset="-122"/>
              </a:rPr>
              <a:t>定义数据的安全性要求和完整性约束条件</a:t>
            </a:r>
            <a:endParaRPr lang="en-US" altLang="zh-CN" b="1" smtClean="0">
              <a:ea typeface="楷体_GB2312" pitchFamily="49" charset="-122"/>
            </a:endParaRPr>
          </a:p>
          <a:p>
            <a:pPr algn="just" eaLnBrk="1" hangingPunct="1">
              <a:lnSpc>
                <a:spcPct val="160000"/>
              </a:lnSpc>
            </a:pPr>
            <a:r>
              <a:rPr lang="zh-CN" altLang="en-US" b="1" smtClean="0">
                <a:solidFill>
                  <a:srgbClr val="FF0000"/>
                </a:solidFill>
                <a:latin typeface="楷体_GB2312" pitchFamily="49" charset="-122"/>
                <a:ea typeface="楷体_GB2312" pitchFamily="49" charset="-122"/>
              </a:rPr>
              <a:t>监控</a:t>
            </a:r>
            <a:r>
              <a:rPr lang="zh-CN" altLang="en-US" b="1" smtClean="0">
                <a:latin typeface="楷体_GB2312" pitchFamily="49" charset="-122"/>
                <a:ea typeface="楷体_GB2312" pitchFamily="49" charset="-122"/>
              </a:rPr>
              <a:t>数据库的使用和运行</a:t>
            </a:r>
            <a:endParaRPr lang="en-US" altLang="zh-CN" b="1" smtClean="0">
              <a:latin typeface="楷体_GB2312" pitchFamily="49" charset="-122"/>
              <a:ea typeface="楷体_GB2312" pitchFamily="49" charset="-122"/>
            </a:endParaRPr>
          </a:p>
          <a:p>
            <a:pPr algn="just" eaLnBrk="1" hangingPunct="1">
              <a:lnSpc>
                <a:spcPct val="160000"/>
              </a:lnSpc>
            </a:pPr>
            <a:r>
              <a:rPr lang="zh-CN" altLang="en-US" b="1" smtClean="0">
                <a:ea typeface="楷体_GB2312" pitchFamily="49" charset="-122"/>
              </a:rPr>
              <a:t>数据库的改进和重组</a:t>
            </a:r>
            <a:endParaRPr lang="zh-CN" altLang="en-US" b="1" smtClean="0">
              <a:latin typeface="楷体_GB2312" pitchFamily="49" charset="-122"/>
              <a:ea typeface="楷体_GB2312" pitchFamily="49" charset="-122"/>
            </a:endParaRPr>
          </a:p>
        </p:txBody>
      </p:sp>
    </p:spTree>
  </p:cSld>
  <p:clrMapOvr>
    <a:masterClrMapping/>
  </p:clrMapOvr>
  <p:transition advClick="0"/>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F719B3C3-7D85-42DE-A25B-921B0BD3DFE1}" type="slidenum">
              <a:rPr lang="en-US" altLang="zh-CN" smtClean="0"/>
              <a:pPr algn="l" eaLnBrk="1" hangingPunct="1"/>
              <a:t>95</a:t>
            </a:fld>
            <a:endParaRPr lang="en-US" altLang="zh-CN" smtClean="0"/>
          </a:p>
        </p:txBody>
      </p:sp>
      <p:sp>
        <p:nvSpPr>
          <p:cNvPr id="104451" name="Rectangle 2"/>
          <p:cNvSpPr>
            <a:spLocks noGrp="1" noChangeArrowheads="1"/>
          </p:cNvSpPr>
          <p:nvPr>
            <p:ph type="title"/>
          </p:nvPr>
        </p:nvSpPr>
        <p:spPr/>
        <p:txBody>
          <a:bodyPr/>
          <a:lstStyle/>
          <a:p>
            <a:pPr eaLnBrk="1" hangingPunct="1"/>
            <a:r>
              <a:rPr lang="en-US" altLang="zh-CN" smtClean="0"/>
              <a:t>2. </a:t>
            </a:r>
            <a:r>
              <a:rPr lang="zh-CN" altLang="en-US" smtClean="0"/>
              <a:t>系统分析员</a:t>
            </a:r>
          </a:p>
        </p:txBody>
      </p:sp>
      <p:sp>
        <p:nvSpPr>
          <p:cNvPr id="104452" name="Rectangle 3"/>
          <p:cNvSpPr>
            <a:spLocks noGrp="1" noChangeArrowheads="1"/>
          </p:cNvSpPr>
          <p:nvPr>
            <p:ph type="body" idx="1"/>
          </p:nvPr>
        </p:nvSpPr>
        <p:spPr>
          <a:xfrm>
            <a:off x="468313" y="1196975"/>
            <a:ext cx="8229600" cy="4525963"/>
          </a:xfrm>
        </p:spPr>
        <p:txBody>
          <a:bodyPr/>
          <a:lstStyle/>
          <a:p>
            <a:pPr algn="just" eaLnBrk="1" hangingPunct="1">
              <a:lnSpc>
                <a:spcPct val="210000"/>
              </a:lnSpc>
              <a:spcAft>
                <a:spcPct val="30000"/>
              </a:spcAft>
            </a:pPr>
            <a:r>
              <a:rPr lang="zh-CN" altLang="en-US" b="1" smtClean="0">
                <a:latin typeface="楷体_GB2312" pitchFamily="49" charset="-122"/>
                <a:ea typeface="楷体_GB2312" pitchFamily="49" charset="-122"/>
              </a:rPr>
              <a:t>负责应用系统的需求分析和规范说明</a:t>
            </a:r>
          </a:p>
          <a:p>
            <a:pPr algn="just" eaLnBrk="1" hangingPunct="1">
              <a:spcAft>
                <a:spcPct val="30000"/>
              </a:spcAft>
            </a:pPr>
            <a:r>
              <a:rPr lang="zh-CN" altLang="en-US" b="1" smtClean="0">
                <a:latin typeface="楷体_GB2312" pitchFamily="49" charset="-122"/>
                <a:ea typeface="楷体_GB2312" pitchFamily="49" charset="-122"/>
              </a:rPr>
              <a:t>与用户及</a:t>
            </a:r>
            <a:r>
              <a:rPr lang="en-US" altLang="zh-CN" b="1" smtClean="0">
                <a:latin typeface="楷体_GB2312" pitchFamily="49" charset="-122"/>
                <a:ea typeface="楷体_GB2312" pitchFamily="49" charset="-122"/>
              </a:rPr>
              <a:t>DBA</a:t>
            </a:r>
            <a:r>
              <a:rPr lang="zh-CN" altLang="en-US" b="1" smtClean="0">
                <a:latin typeface="楷体_GB2312" pitchFamily="49" charset="-122"/>
                <a:ea typeface="楷体_GB2312" pitchFamily="49" charset="-122"/>
              </a:rPr>
              <a:t>协商，确定系统的硬软件配置</a:t>
            </a:r>
          </a:p>
          <a:p>
            <a:pPr algn="just" eaLnBrk="1" hangingPunct="1">
              <a:spcAft>
                <a:spcPct val="30000"/>
              </a:spcAft>
            </a:pPr>
            <a:r>
              <a:rPr lang="zh-CN" altLang="en-US" b="1" smtClean="0">
                <a:latin typeface="楷体_GB2312" pitchFamily="49" charset="-122"/>
                <a:ea typeface="楷体_GB2312" pitchFamily="49" charset="-122"/>
              </a:rPr>
              <a:t>参与数据库系统的概要设计</a:t>
            </a:r>
          </a:p>
        </p:txBody>
      </p:sp>
    </p:spTree>
  </p:cSld>
  <p:clrMapOvr>
    <a:masterClrMapping/>
  </p:clrMapOvr>
  <p:transition advClick="0"/>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32E8614B-EAD0-4007-88A3-017BBDEBD101}" type="slidenum">
              <a:rPr lang="en-US" altLang="zh-CN" smtClean="0"/>
              <a:pPr algn="l" eaLnBrk="1" hangingPunct="1"/>
              <a:t>96</a:t>
            </a:fld>
            <a:endParaRPr lang="en-US" altLang="zh-CN" smtClean="0"/>
          </a:p>
        </p:txBody>
      </p:sp>
      <p:sp>
        <p:nvSpPr>
          <p:cNvPr id="105475" name="Rectangle 2"/>
          <p:cNvSpPr>
            <a:spLocks noGrp="1" noChangeArrowheads="1"/>
          </p:cNvSpPr>
          <p:nvPr>
            <p:ph type="title"/>
          </p:nvPr>
        </p:nvSpPr>
        <p:spPr/>
        <p:txBody>
          <a:bodyPr/>
          <a:lstStyle/>
          <a:p>
            <a:pPr eaLnBrk="1" hangingPunct="1"/>
            <a:r>
              <a:rPr lang="en-US" altLang="zh-CN" smtClean="0"/>
              <a:t>3. </a:t>
            </a:r>
            <a:r>
              <a:rPr lang="zh-CN" altLang="en-US" smtClean="0"/>
              <a:t>数据库设计人员</a:t>
            </a:r>
            <a:endParaRPr lang="zh-CN" altLang="en-US" sz="4300" smtClean="0"/>
          </a:p>
        </p:txBody>
      </p:sp>
      <p:sp>
        <p:nvSpPr>
          <p:cNvPr id="105476" name="Rectangle 3"/>
          <p:cNvSpPr>
            <a:spLocks noGrp="1" noChangeArrowheads="1"/>
          </p:cNvSpPr>
          <p:nvPr>
            <p:ph type="body" idx="1"/>
          </p:nvPr>
        </p:nvSpPr>
        <p:spPr>
          <a:xfrm>
            <a:off x="755650" y="1125538"/>
            <a:ext cx="7508875" cy="4525962"/>
          </a:xfrm>
        </p:spPr>
        <p:txBody>
          <a:bodyPr/>
          <a:lstStyle/>
          <a:p>
            <a:pPr algn="just" eaLnBrk="1" hangingPunct="1">
              <a:lnSpc>
                <a:spcPct val="170000"/>
              </a:lnSpc>
            </a:pPr>
            <a:r>
              <a:rPr lang="zh-CN" altLang="en-US" b="1" smtClean="0">
                <a:ea typeface="楷体_GB2312" pitchFamily="49" charset="-122"/>
              </a:rPr>
              <a:t>参加用户需求调查和系统分析</a:t>
            </a:r>
          </a:p>
          <a:p>
            <a:pPr algn="just" eaLnBrk="1" hangingPunct="1">
              <a:lnSpc>
                <a:spcPct val="170000"/>
              </a:lnSpc>
            </a:pPr>
            <a:r>
              <a:rPr lang="zh-CN" altLang="en-US" b="1" smtClean="0">
                <a:ea typeface="楷体_GB2312" pitchFamily="49" charset="-122"/>
              </a:rPr>
              <a:t>确定数据库中的数据</a:t>
            </a:r>
          </a:p>
          <a:p>
            <a:pPr algn="just" eaLnBrk="1" hangingPunct="1">
              <a:lnSpc>
                <a:spcPct val="170000"/>
              </a:lnSpc>
            </a:pPr>
            <a:r>
              <a:rPr lang="zh-CN" altLang="en-US" b="1" smtClean="0">
                <a:ea typeface="楷体_GB2312" pitchFamily="49" charset="-122"/>
              </a:rPr>
              <a:t>设计数据库各级模式</a:t>
            </a:r>
          </a:p>
        </p:txBody>
      </p:sp>
    </p:spTree>
  </p:cSld>
  <p:clrMapOvr>
    <a:masterClrMapping/>
  </p:clrMapOvr>
  <p:transition advClick="0"/>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F0BD50DA-714A-4245-B9CD-36FFED87C1A3}" type="slidenum">
              <a:rPr lang="en-US" altLang="zh-CN" smtClean="0"/>
              <a:pPr algn="l" eaLnBrk="1" hangingPunct="1"/>
              <a:t>97</a:t>
            </a:fld>
            <a:endParaRPr lang="en-US" altLang="zh-CN" smtClean="0"/>
          </a:p>
        </p:txBody>
      </p:sp>
      <p:sp>
        <p:nvSpPr>
          <p:cNvPr id="106499" name="Rectangle 2"/>
          <p:cNvSpPr>
            <a:spLocks noGrp="1" noChangeArrowheads="1"/>
          </p:cNvSpPr>
          <p:nvPr>
            <p:ph type="title"/>
          </p:nvPr>
        </p:nvSpPr>
        <p:spPr/>
        <p:txBody>
          <a:bodyPr/>
          <a:lstStyle/>
          <a:p>
            <a:pPr eaLnBrk="1" hangingPunct="1"/>
            <a:r>
              <a:rPr lang="en-US" altLang="zh-CN" smtClean="0"/>
              <a:t>4. </a:t>
            </a:r>
            <a:r>
              <a:rPr lang="zh-CN" altLang="en-US" smtClean="0"/>
              <a:t>应用程序员</a:t>
            </a:r>
          </a:p>
        </p:txBody>
      </p:sp>
      <p:sp>
        <p:nvSpPr>
          <p:cNvPr id="106500" name="Rectangle 3"/>
          <p:cNvSpPr>
            <a:spLocks noGrp="1" noChangeArrowheads="1"/>
          </p:cNvSpPr>
          <p:nvPr>
            <p:ph type="body" idx="1"/>
          </p:nvPr>
        </p:nvSpPr>
        <p:spPr>
          <a:xfrm>
            <a:off x="539750" y="1196975"/>
            <a:ext cx="8280400" cy="3024188"/>
          </a:xfrm>
        </p:spPr>
        <p:txBody>
          <a:bodyPr/>
          <a:lstStyle/>
          <a:p>
            <a:pPr algn="just" eaLnBrk="1" hangingPunct="1">
              <a:lnSpc>
                <a:spcPct val="160000"/>
              </a:lnSpc>
            </a:pPr>
            <a:r>
              <a:rPr lang="zh-CN" altLang="en-US" b="1" smtClean="0">
                <a:ea typeface="楷体_GB2312" pitchFamily="49" charset="-122"/>
              </a:rPr>
              <a:t>设计和编写应用系统的程序模块</a:t>
            </a:r>
          </a:p>
          <a:p>
            <a:pPr algn="just" eaLnBrk="1" hangingPunct="1">
              <a:lnSpc>
                <a:spcPct val="160000"/>
              </a:lnSpc>
            </a:pPr>
            <a:r>
              <a:rPr lang="zh-CN" altLang="en-US" b="1" smtClean="0">
                <a:ea typeface="楷体_GB2312" pitchFamily="49" charset="-122"/>
              </a:rPr>
              <a:t>进行调试和安装</a:t>
            </a:r>
          </a:p>
        </p:txBody>
      </p:sp>
    </p:spTree>
  </p:cSld>
  <p:clrMapOvr>
    <a:masterClrMapping/>
  </p:clrMapOvr>
  <p:transition advClick="0"/>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FF0C112C-45B4-4953-A68A-DCADBEF10446}" type="slidenum">
              <a:rPr lang="en-US" altLang="zh-CN" smtClean="0"/>
              <a:pPr algn="l" eaLnBrk="1" hangingPunct="1"/>
              <a:t>98</a:t>
            </a:fld>
            <a:endParaRPr lang="en-US" altLang="zh-CN" smtClean="0"/>
          </a:p>
        </p:txBody>
      </p:sp>
      <p:sp>
        <p:nvSpPr>
          <p:cNvPr id="107523" name="Rectangle 2"/>
          <p:cNvSpPr>
            <a:spLocks noGrp="1" noChangeArrowheads="1"/>
          </p:cNvSpPr>
          <p:nvPr>
            <p:ph type="title"/>
          </p:nvPr>
        </p:nvSpPr>
        <p:spPr/>
        <p:txBody>
          <a:bodyPr/>
          <a:lstStyle/>
          <a:p>
            <a:pPr eaLnBrk="1" hangingPunct="1"/>
            <a:r>
              <a:rPr lang="en-US" altLang="zh-CN" smtClean="0"/>
              <a:t>5. </a:t>
            </a:r>
            <a:r>
              <a:rPr lang="zh-CN" altLang="en-US" smtClean="0"/>
              <a:t>用户</a:t>
            </a:r>
          </a:p>
        </p:txBody>
      </p:sp>
      <p:sp>
        <p:nvSpPr>
          <p:cNvPr id="107524" name="Rectangle 3"/>
          <p:cNvSpPr>
            <a:spLocks noGrp="1" noChangeArrowheads="1"/>
          </p:cNvSpPr>
          <p:nvPr>
            <p:ph type="body" idx="1"/>
          </p:nvPr>
        </p:nvSpPr>
        <p:spPr>
          <a:xfrm>
            <a:off x="468313" y="1125538"/>
            <a:ext cx="8229600" cy="5111750"/>
          </a:xfrm>
        </p:spPr>
        <p:txBody>
          <a:bodyPr/>
          <a:lstStyle/>
          <a:p>
            <a:pPr algn="just" eaLnBrk="1" hangingPunct="1">
              <a:lnSpc>
                <a:spcPct val="190000"/>
              </a:lnSpc>
            </a:pPr>
            <a:r>
              <a:rPr lang="zh-CN" altLang="en-US" sz="2400" b="1" smtClean="0">
                <a:ea typeface="楷体_GB2312" pitchFamily="49" charset="-122"/>
              </a:rPr>
              <a:t>偶然用户</a:t>
            </a:r>
          </a:p>
          <a:p>
            <a:pPr lvl="1" algn="just" eaLnBrk="1" hangingPunct="1"/>
            <a:r>
              <a:rPr lang="zh-CN" altLang="en-US" sz="2400" b="1" smtClean="0">
                <a:ea typeface="楷体_GB2312" pitchFamily="49" charset="-122"/>
              </a:rPr>
              <a:t>企业或组织机构的高中级管理人员</a:t>
            </a:r>
          </a:p>
          <a:p>
            <a:pPr algn="just" eaLnBrk="1" hangingPunct="1">
              <a:lnSpc>
                <a:spcPct val="170000"/>
              </a:lnSpc>
            </a:pPr>
            <a:r>
              <a:rPr lang="zh-CN" altLang="en-US" sz="2400" b="1" smtClean="0">
                <a:ea typeface="楷体_GB2312" pitchFamily="49" charset="-122"/>
              </a:rPr>
              <a:t>简单用户</a:t>
            </a:r>
          </a:p>
          <a:p>
            <a:pPr lvl="1" algn="just" eaLnBrk="1" hangingPunct="1"/>
            <a:r>
              <a:rPr lang="zh-CN" altLang="en-US" sz="2400" b="1" smtClean="0">
                <a:ea typeface="楷体_GB2312" pitchFamily="49" charset="-122"/>
              </a:rPr>
              <a:t>银行的职员、机票预定人员、旅馆总台服务员</a:t>
            </a:r>
          </a:p>
          <a:p>
            <a:pPr algn="just" eaLnBrk="1" hangingPunct="1">
              <a:lnSpc>
                <a:spcPct val="120000"/>
              </a:lnSpc>
            </a:pPr>
            <a:r>
              <a:rPr lang="zh-CN" altLang="en-US" sz="2400" b="1" smtClean="0">
                <a:latin typeface="楷体_GB2312" pitchFamily="49" charset="-122"/>
                <a:ea typeface="楷体_GB2312" pitchFamily="49" charset="-122"/>
              </a:rPr>
              <a:t>复杂用户</a:t>
            </a:r>
          </a:p>
          <a:p>
            <a:pPr lvl="1" algn="just" eaLnBrk="1" hangingPunct="1">
              <a:lnSpc>
                <a:spcPct val="140000"/>
              </a:lnSpc>
            </a:pPr>
            <a:r>
              <a:rPr lang="zh-CN" altLang="en-US" sz="2400" b="1" smtClean="0">
                <a:latin typeface="楷体_GB2312" pitchFamily="49" charset="-122"/>
                <a:ea typeface="楷体_GB2312" pitchFamily="49" charset="-122"/>
              </a:rPr>
              <a:t>工程师、科学家、经济学家、科技工作者等</a:t>
            </a:r>
          </a:p>
          <a:p>
            <a:pPr lvl="1" algn="just" eaLnBrk="1" hangingPunct="1">
              <a:lnSpc>
                <a:spcPct val="160000"/>
              </a:lnSpc>
            </a:pPr>
            <a:r>
              <a:rPr lang="zh-CN" altLang="en-US" sz="2400" b="1" smtClean="0">
                <a:latin typeface="楷体_GB2312" pitchFamily="49" charset="-122"/>
                <a:ea typeface="楷体_GB2312" pitchFamily="49" charset="-122"/>
              </a:rPr>
              <a:t>直接使用数据库语言访问数据库，甚至能够基于数据库管理系统的</a:t>
            </a:r>
            <a:r>
              <a:rPr lang="en-US" altLang="zh-CN" sz="2400" b="1" smtClean="0">
                <a:latin typeface="楷体_GB2312" pitchFamily="49" charset="-122"/>
                <a:ea typeface="楷体_GB2312" pitchFamily="49" charset="-122"/>
              </a:rPr>
              <a:t>API</a:t>
            </a:r>
            <a:r>
              <a:rPr lang="zh-CN" altLang="en-US" sz="2400" b="1" smtClean="0">
                <a:latin typeface="楷体_GB2312" pitchFamily="49" charset="-122"/>
                <a:ea typeface="楷体_GB2312" pitchFamily="49" charset="-122"/>
              </a:rPr>
              <a:t>编制自己的应用程序</a:t>
            </a:r>
            <a:endParaRPr lang="zh-CN" altLang="en-US" sz="2400" smtClean="0"/>
          </a:p>
        </p:txBody>
      </p:sp>
    </p:spTree>
  </p:cSld>
  <p:clrMapOvr>
    <a:masterClrMapping/>
  </p:clrMapOvr>
  <p:transition advClick="0"/>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3"/>
          <p:cNvSpPr>
            <a:spLocks noGrp="1"/>
          </p:cNvSpPr>
          <p:nvPr>
            <p:ph type="sldNum" sz="quarter" idx="12"/>
          </p:nvPr>
        </p:nvSpPr>
        <p:spPr>
          <a:xfrm>
            <a:off x="609600" y="6245225"/>
            <a:ext cx="19812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l" eaLnBrk="1" hangingPunct="1"/>
            <a:fld id="{292DE4EF-6EAC-4164-97DE-FFA3B55E889F}" type="slidenum">
              <a:rPr lang="en-US" altLang="zh-CN" smtClean="0"/>
              <a:pPr algn="l" eaLnBrk="1" hangingPunct="1"/>
              <a:t>99</a:t>
            </a:fld>
            <a:endParaRPr lang="en-US" altLang="zh-CN" smtClean="0"/>
          </a:p>
        </p:txBody>
      </p:sp>
      <p:sp>
        <p:nvSpPr>
          <p:cNvPr id="108547" name="Rectangle 2"/>
          <p:cNvSpPr>
            <a:spLocks noGrp="1" noChangeArrowheads="1"/>
          </p:cNvSpPr>
          <p:nvPr>
            <p:ph type="title"/>
          </p:nvPr>
        </p:nvSpPr>
        <p:spPr/>
        <p:txBody>
          <a:bodyPr/>
          <a:lstStyle/>
          <a:p>
            <a:pPr eaLnBrk="1" hangingPunct="1"/>
            <a:r>
              <a:rPr lang="zh-CN" altLang="en-US" dirty="0" smtClean="0">
                <a:ea typeface="楷体_GB2312" pitchFamily="49" charset="-122"/>
              </a:rPr>
              <a:t>小结</a:t>
            </a:r>
          </a:p>
        </p:txBody>
      </p:sp>
      <p:sp>
        <p:nvSpPr>
          <p:cNvPr id="108548" name="Rectangle 3"/>
          <p:cNvSpPr>
            <a:spLocks noGrp="1" noChangeArrowheads="1"/>
          </p:cNvSpPr>
          <p:nvPr>
            <p:ph type="body" idx="1"/>
          </p:nvPr>
        </p:nvSpPr>
        <p:spPr>
          <a:xfrm>
            <a:off x="250825" y="1196975"/>
            <a:ext cx="4537075" cy="4824413"/>
          </a:xfrm>
          <a:ln>
            <a:solidFill>
              <a:schemeClr val="accent2"/>
            </a:solidFill>
            <a:miter lim="800000"/>
            <a:headEnd/>
            <a:tailEnd/>
          </a:ln>
        </p:spPr>
        <p:txBody>
          <a:bodyPr/>
          <a:lstStyle/>
          <a:p>
            <a:pPr algn="just" eaLnBrk="1" hangingPunct="1">
              <a:lnSpc>
                <a:spcPct val="110000"/>
              </a:lnSpc>
            </a:pPr>
            <a:r>
              <a:rPr lang="zh-CN" altLang="en-US" sz="2800" b="1" smtClean="0">
                <a:latin typeface="楷体_GB2312" pitchFamily="49" charset="-122"/>
                <a:ea typeface="楷体_GB2312" pitchFamily="49" charset="-122"/>
              </a:rPr>
              <a:t>数据库系统概述</a:t>
            </a:r>
          </a:p>
          <a:p>
            <a:pPr lvl="1" algn="just" eaLnBrk="1" hangingPunct="1">
              <a:lnSpc>
                <a:spcPct val="110000"/>
              </a:lnSpc>
            </a:pPr>
            <a:r>
              <a:rPr lang="zh-CN" altLang="en-US" b="1" smtClean="0">
                <a:latin typeface="楷体_GB2312" pitchFamily="49" charset="-122"/>
                <a:ea typeface="楷体_GB2312" pitchFamily="49" charset="-122"/>
              </a:rPr>
              <a:t>数据库的基本概念</a:t>
            </a:r>
          </a:p>
          <a:p>
            <a:pPr lvl="1" algn="just" eaLnBrk="1" hangingPunct="1">
              <a:lnSpc>
                <a:spcPct val="110000"/>
              </a:lnSpc>
            </a:pPr>
            <a:r>
              <a:rPr lang="zh-CN" altLang="en-US" b="1" smtClean="0">
                <a:latin typeface="楷体_GB2312" pitchFamily="49" charset="-122"/>
                <a:ea typeface="楷体_GB2312" pitchFamily="49" charset="-122"/>
              </a:rPr>
              <a:t>数据管理的发展过程</a:t>
            </a:r>
            <a:endParaRPr lang="en-US" altLang="zh-CN" b="1" smtClean="0">
              <a:latin typeface="楷体_GB2312" pitchFamily="49" charset="-122"/>
              <a:ea typeface="楷体_GB2312" pitchFamily="49" charset="-122"/>
            </a:endParaRPr>
          </a:p>
          <a:p>
            <a:pPr lvl="1" algn="just" eaLnBrk="1" hangingPunct="1">
              <a:lnSpc>
                <a:spcPct val="110000"/>
              </a:lnSpc>
            </a:pPr>
            <a:r>
              <a:rPr lang="zh-CN" altLang="en-US" b="1" smtClean="0">
                <a:latin typeface="楷体_GB2312" pitchFamily="49" charset="-122"/>
                <a:ea typeface="楷体_GB2312" pitchFamily="49" charset="-122"/>
              </a:rPr>
              <a:t>数据库系统的特点</a:t>
            </a:r>
          </a:p>
          <a:p>
            <a:pPr algn="just" eaLnBrk="1" hangingPunct="1">
              <a:lnSpc>
                <a:spcPct val="110000"/>
              </a:lnSpc>
            </a:pPr>
            <a:r>
              <a:rPr lang="zh-CN" altLang="en-US" sz="2800" b="1" smtClean="0">
                <a:latin typeface="楷体_GB2312" pitchFamily="49" charset="-122"/>
                <a:ea typeface="楷体_GB2312" pitchFamily="49" charset="-122"/>
              </a:rPr>
              <a:t>数据模型</a:t>
            </a:r>
          </a:p>
          <a:p>
            <a:pPr lvl="1" algn="just" eaLnBrk="1" hangingPunct="1">
              <a:lnSpc>
                <a:spcPct val="110000"/>
              </a:lnSpc>
            </a:pPr>
            <a:r>
              <a:rPr lang="zh-CN" altLang="en-US" b="1" smtClean="0">
                <a:latin typeface="楷体_GB2312" pitchFamily="49" charset="-122"/>
                <a:ea typeface="楷体_GB2312" pitchFamily="49" charset="-122"/>
              </a:rPr>
              <a:t>概念模型</a:t>
            </a:r>
            <a:r>
              <a:rPr lang="en-US" altLang="zh-CN" b="1" smtClean="0">
                <a:latin typeface="楷体_GB2312" pitchFamily="49" charset="-122"/>
                <a:ea typeface="楷体_GB2312" pitchFamily="49" charset="-122"/>
              </a:rPr>
              <a:t>(E-R </a:t>
            </a:r>
            <a:r>
              <a:rPr lang="zh-CN" altLang="en-US" b="1" smtClean="0">
                <a:latin typeface="楷体_GB2312" pitchFamily="49" charset="-122"/>
                <a:ea typeface="楷体_GB2312" pitchFamily="49" charset="-122"/>
              </a:rPr>
              <a:t>模型</a:t>
            </a:r>
            <a:r>
              <a:rPr lang="en-US" altLang="zh-CN" b="1" smtClean="0">
                <a:latin typeface="楷体_GB2312" pitchFamily="49" charset="-122"/>
                <a:ea typeface="楷体_GB2312" pitchFamily="49" charset="-122"/>
              </a:rPr>
              <a:t>)</a:t>
            </a:r>
            <a:endParaRPr lang="zh-CN" altLang="en-US" b="1" smtClean="0">
              <a:latin typeface="楷体_GB2312" pitchFamily="49" charset="-122"/>
              <a:ea typeface="楷体_GB2312" pitchFamily="49" charset="-122"/>
            </a:endParaRPr>
          </a:p>
          <a:p>
            <a:pPr lvl="1" algn="just" eaLnBrk="1" hangingPunct="1">
              <a:lnSpc>
                <a:spcPct val="110000"/>
              </a:lnSpc>
            </a:pPr>
            <a:r>
              <a:rPr lang="zh-CN" altLang="en-US" b="1" smtClean="0">
                <a:latin typeface="楷体_GB2312" pitchFamily="49" charset="-122"/>
                <a:ea typeface="楷体_GB2312" pitchFamily="49" charset="-122"/>
              </a:rPr>
              <a:t>三种主要数据模型：层次、网状、关系</a:t>
            </a:r>
            <a:endParaRPr lang="en-US" altLang="zh-CN" b="1" smtClean="0">
              <a:latin typeface="楷体_GB2312" pitchFamily="49" charset="-122"/>
              <a:ea typeface="楷体_GB2312" pitchFamily="49" charset="-122"/>
            </a:endParaRPr>
          </a:p>
          <a:p>
            <a:pPr lvl="1" algn="just" eaLnBrk="1" hangingPunct="1">
              <a:lnSpc>
                <a:spcPct val="110000"/>
              </a:lnSpc>
            </a:pPr>
            <a:r>
              <a:rPr lang="zh-CN" altLang="en-US" b="1" smtClean="0">
                <a:latin typeface="楷体_GB2312" pitchFamily="49" charset="-122"/>
                <a:ea typeface="楷体_GB2312" pitchFamily="49" charset="-122"/>
              </a:rPr>
              <a:t>关系模型的特点</a:t>
            </a:r>
          </a:p>
        </p:txBody>
      </p:sp>
      <p:sp>
        <p:nvSpPr>
          <p:cNvPr id="108549" name="Rectangle 3"/>
          <p:cNvSpPr txBox="1">
            <a:spLocks noChangeArrowheads="1"/>
          </p:cNvSpPr>
          <p:nvPr/>
        </p:nvSpPr>
        <p:spPr bwMode="auto">
          <a:xfrm>
            <a:off x="4932363" y="1208088"/>
            <a:ext cx="3743325" cy="481330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69900" indent="-469900" eaLnBrk="0" hangingPunct="0">
              <a:defRPr>
                <a:solidFill>
                  <a:schemeClr val="tx1"/>
                </a:solidFill>
                <a:latin typeface="Verdana" pitchFamily="34" charset="0"/>
                <a:ea typeface="宋体" pitchFamily="2" charset="-122"/>
              </a:defRPr>
            </a:lvl1pPr>
            <a:lvl2pPr marL="908050" indent="-436563"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just" eaLnBrk="1" hangingPunct="1">
              <a:lnSpc>
                <a:spcPct val="110000"/>
              </a:lnSpc>
              <a:spcBef>
                <a:spcPct val="20000"/>
              </a:spcBef>
              <a:buClr>
                <a:schemeClr val="accent2"/>
              </a:buClr>
              <a:buFont typeface="Wingdings" pitchFamily="2" charset="2"/>
              <a:buChar char="n"/>
            </a:pPr>
            <a:r>
              <a:rPr lang="zh-CN" altLang="en-US" sz="2800" b="1">
                <a:solidFill>
                  <a:schemeClr val="tx2"/>
                </a:solidFill>
                <a:ea typeface="楷体_GB2312" pitchFamily="49" charset="-122"/>
              </a:rPr>
              <a:t>数据库系统的结构</a:t>
            </a:r>
          </a:p>
          <a:p>
            <a:pPr lvl="1" algn="just" eaLnBrk="1" hangingPunct="1">
              <a:lnSpc>
                <a:spcPct val="110000"/>
              </a:lnSpc>
              <a:spcBef>
                <a:spcPct val="20000"/>
              </a:spcBef>
              <a:buClr>
                <a:schemeClr val="accent2"/>
              </a:buClr>
              <a:buFont typeface="Wingdings" pitchFamily="2" charset="2"/>
              <a:buChar char="p"/>
            </a:pPr>
            <a:r>
              <a:rPr lang="zh-CN" altLang="en-US" sz="2800" b="1">
                <a:solidFill>
                  <a:schemeClr val="tx2"/>
                </a:solidFill>
                <a:ea typeface="楷体_GB2312" pitchFamily="49" charset="-122"/>
              </a:rPr>
              <a:t>数据库系统三级模式结构</a:t>
            </a:r>
            <a:endParaRPr lang="en-US" altLang="zh-CN" sz="2800" b="1">
              <a:solidFill>
                <a:schemeClr val="tx2"/>
              </a:solidFill>
              <a:ea typeface="楷体_GB2312" pitchFamily="49" charset="-122"/>
            </a:endParaRPr>
          </a:p>
          <a:p>
            <a:pPr lvl="1" algn="just" eaLnBrk="1" hangingPunct="1">
              <a:lnSpc>
                <a:spcPct val="110000"/>
              </a:lnSpc>
              <a:spcBef>
                <a:spcPct val="20000"/>
              </a:spcBef>
              <a:buClr>
                <a:schemeClr val="accent2"/>
              </a:buClr>
              <a:buFont typeface="Wingdings" pitchFamily="2" charset="2"/>
              <a:buChar char="p"/>
            </a:pPr>
            <a:r>
              <a:rPr lang="zh-CN" altLang="en-US" sz="2800" b="1">
                <a:solidFill>
                  <a:schemeClr val="tx2"/>
                </a:solidFill>
                <a:ea typeface="楷体_GB2312" pitchFamily="49" charset="-122"/>
              </a:rPr>
              <a:t>数据库系统的二级映像</a:t>
            </a:r>
          </a:p>
          <a:p>
            <a:pPr algn="just" eaLnBrk="1" hangingPunct="1">
              <a:lnSpc>
                <a:spcPct val="110000"/>
              </a:lnSpc>
              <a:spcBef>
                <a:spcPct val="20000"/>
              </a:spcBef>
              <a:buClr>
                <a:schemeClr val="accent2"/>
              </a:buClr>
              <a:buFont typeface="Wingdings" pitchFamily="2" charset="2"/>
              <a:buChar char="n"/>
            </a:pPr>
            <a:r>
              <a:rPr lang="zh-CN" altLang="en-US" sz="2800" b="1">
                <a:solidFill>
                  <a:schemeClr val="tx2"/>
                </a:solidFill>
                <a:ea typeface="楷体_GB2312" pitchFamily="49" charset="-122"/>
              </a:rPr>
              <a:t>数据库系统的组成</a:t>
            </a:r>
            <a:endParaRPr lang="zh-CN" altLang="en-US" sz="3000">
              <a:solidFill>
                <a:schemeClr val="tx2"/>
              </a:solidFill>
            </a:endParaRPr>
          </a:p>
        </p:txBody>
      </p:sp>
    </p:spTree>
  </p:cSld>
  <p:clrMapOvr>
    <a:masterClrMapping/>
  </p:clrMapOvr>
  <p:transition advClick="0"/>
  <p:timing>
    <p:tnLst>
      <p:par>
        <p:cTn id="1" dur="indefinite" restart="never" nodeType="tmRoot"/>
      </p:par>
    </p:tnLst>
  </p:timing>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Profile</Template>
  <TotalTime>4573</TotalTime>
  <Words>6608</Words>
  <Application>Microsoft Office PowerPoint</Application>
  <PresentationFormat>全屏显示(4:3)</PresentationFormat>
  <Paragraphs>1070</Paragraphs>
  <Slides>99</Slides>
  <Notes>24</Notes>
  <HiddenSlides>0</HiddenSlides>
  <MMClips>0</MMClips>
  <ScaleCrop>false</ScaleCrop>
  <HeadingPairs>
    <vt:vector size="4" baseType="variant">
      <vt:variant>
        <vt:lpstr>主题</vt:lpstr>
      </vt:variant>
      <vt:variant>
        <vt:i4>1</vt:i4>
      </vt:variant>
      <vt:variant>
        <vt:lpstr>幻灯片标题</vt:lpstr>
      </vt:variant>
      <vt:variant>
        <vt:i4>99</vt:i4>
      </vt:variant>
    </vt:vector>
  </HeadingPairs>
  <TitlesOfParts>
    <vt:vector size="100" baseType="lpstr">
      <vt:lpstr>Profile</vt:lpstr>
      <vt:lpstr>第一章 绪论</vt:lpstr>
      <vt:lpstr>1.1  数据库系统概述</vt:lpstr>
      <vt:lpstr>1.1.1  四个基本概念</vt:lpstr>
      <vt:lpstr>一、数据</vt:lpstr>
      <vt:lpstr>一、数据（续）</vt:lpstr>
      <vt:lpstr>二、数据库</vt:lpstr>
      <vt:lpstr>三、数据库管理系统</vt:lpstr>
      <vt:lpstr>DBMS的主要功能</vt:lpstr>
      <vt:lpstr>四、数据库系统</vt:lpstr>
      <vt:lpstr>四、数据库系统(续)</vt:lpstr>
      <vt:lpstr>1.1.2  数据管理技术的产生和发展</vt:lpstr>
      <vt:lpstr>1.1.2  数据管理技术的产生和发展</vt:lpstr>
      <vt:lpstr>三个程序对应数据文件</vt:lpstr>
      <vt:lpstr>应用程序与数据的对应关系(人工管理阶段)</vt:lpstr>
      <vt:lpstr>应用程序与数据的对应关系(文件系统)</vt:lpstr>
      <vt:lpstr>应用程序与数据的对应关系(数据库系统)</vt:lpstr>
      <vt:lpstr>1.1  数据库系统概述</vt:lpstr>
      <vt:lpstr>1.2  数据模型</vt:lpstr>
      <vt:lpstr>1.2.1  数据建模</vt:lpstr>
      <vt:lpstr>两大数据模型(续)</vt:lpstr>
      <vt:lpstr>两大类数据模型 (续)</vt:lpstr>
      <vt:lpstr>1.2.2  概念模型（重点）</vt:lpstr>
      <vt:lpstr>一、信息世界中的基本概念</vt:lpstr>
      <vt:lpstr>信息世界中的基本概念(续)</vt:lpstr>
      <vt:lpstr>信息世界中的基本概念(续)</vt:lpstr>
      <vt:lpstr>实体，属性，实体型，实体集，码，域，联系</vt:lpstr>
      <vt:lpstr>二、概念模型的表示方法</vt:lpstr>
      <vt:lpstr>E-R图</vt:lpstr>
      <vt:lpstr>E-R图(续)</vt:lpstr>
      <vt:lpstr>实体之间的联系</vt:lpstr>
      <vt:lpstr>1、两个实体型间的联系</vt:lpstr>
      <vt:lpstr>两个实体型间的联系(续) </vt:lpstr>
      <vt:lpstr>一对一的联系</vt:lpstr>
      <vt:lpstr>两个实体型间的联系(续)</vt:lpstr>
      <vt:lpstr>一对多的联系</vt:lpstr>
      <vt:lpstr>两个实体型间的联系 (续)</vt:lpstr>
      <vt:lpstr>多对多的联系</vt:lpstr>
      <vt:lpstr>PowerPoint 演示文稿</vt:lpstr>
      <vt:lpstr>2、多个实体型间的联系(续)</vt:lpstr>
      <vt:lpstr>多个实体型间的联系(续)</vt:lpstr>
      <vt:lpstr>多个实体型间的联系(续)</vt:lpstr>
      <vt:lpstr>多个实体型间的联系(续)</vt:lpstr>
      <vt:lpstr>多个实体型间的联系(续)</vt:lpstr>
      <vt:lpstr>3、同一实体集内各实体间的联系</vt:lpstr>
      <vt:lpstr>一个实例</vt:lpstr>
      <vt:lpstr>一个实例</vt:lpstr>
      <vt:lpstr>一个实例</vt:lpstr>
      <vt:lpstr>PowerPoint 演示文稿</vt:lpstr>
      <vt:lpstr>课后题：</vt:lpstr>
      <vt:lpstr>1.1.2 数据管理技术的产生和发展（续）</vt:lpstr>
      <vt:lpstr>（1）整体数据结构化</vt:lpstr>
      <vt:lpstr>（1）整体数据结构化</vt:lpstr>
      <vt:lpstr>（2）共享性高</vt:lpstr>
      <vt:lpstr>（3）数据独立性高</vt:lpstr>
      <vt:lpstr>（4）DBMS对数据的控制功能</vt:lpstr>
      <vt:lpstr> 1.2.3 数据模型的三要素</vt:lpstr>
      <vt:lpstr>常用的数据模型</vt:lpstr>
      <vt:lpstr> 1.2.4层次模型（采用树型结构）</vt:lpstr>
      <vt:lpstr>1.2.5 网状模型（采用网状结构）</vt:lpstr>
      <vt:lpstr>1.2.6 关系模型</vt:lpstr>
      <vt:lpstr>1.2.6 关系模型</vt:lpstr>
      <vt:lpstr>1.关系数据模型的数据结构 </vt:lpstr>
      <vt:lpstr>关系模型的基本概念</vt:lpstr>
      <vt:lpstr>关系模型的基本概念</vt:lpstr>
      <vt:lpstr>1.关系数据模型的数据结构（续）</vt:lpstr>
      <vt:lpstr>1.关系数据模型的数据结构（续）</vt:lpstr>
      <vt:lpstr>2.关系模型的数据操纵</vt:lpstr>
      <vt:lpstr>3.关系模型的完整性约束</vt:lpstr>
      <vt:lpstr>4.关系模型的优缺点</vt:lpstr>
      <vt:lpstr>4.关系模型的优缺点</vt:lpstr>
      <vt:lpstr>1.3 数据库系统结构</vt:lpstr>
      <vt:lpstr>1.3 数据库系统结构</vt:lpstr>
      <vt:lpstr>1.3.1 数据库系统模式的概念</vt:lpstr>
      <vt:lpstr>数据库系统模式的概念(续)</vt:lpstr>
      <vt:lpstr>1.3.2 数据库系统的三级模式结构</vt:lpstr>
      <vt:lpstr>PowerPoint 演示文稿</vt:lpstr>
      <vt:lpstr>1．模式（Schema）</vt:lpstr>
      <vt:lpstr>1．模式（Schema）</vt:lpstr>
      <vt:lpstr>模式 (续)</vt:lpstr>
      <vt:lpstr>2. 外模式（External Schema）</vt:lpstr>
      <vt:lpstr>2. 外模式（External Schema）</vt:lpstr>
      <vt:lpstr>外模式(续)</vt:lpstr>
      <vt:lpstr>外模式(续)</vt:lpstr>
      <vt:lpstr>3．内模式（Internal Schema）</vt:lpstr>
      <vt:lpstr>1.3.3 数据库的二级映像功能与数据独立性</vt:lpstr>
      <vt:lpstr>1．外模式／模式映像</vt:lpstr>
      <vt:lpstr>外模式／模式映像的用途</vt:lpstr>
      <vt:lpstr>2．模式／内模式映像</vt:lpstr>
      <vt:lpstr>模式／内模式映像的用途</vt:lpstr>
      <vt:lpstr>1.4 数据库系统的组成</vt:lpstr>
      <vt:lpstr>一、硬件平台及数据库</vt:lpstr>
      <vt:lpstr>二、软件</vt:lpstr>
      <vt:lpstr>三、人员</vt:lpstr>
      <vt:lpstr>1. 数据库管理员(DBA)</vt:lpstr>
      <vt:lpstr>2. 系统分析员</vt:lpstr>
      <vt:lpstr>3. 数据库设计人员</vt:lpstr>
      <vt:lpstr>4. 应用程序员</vt:lpstr>
      <vt:lpstr>5. 用户</vt:lpstr>
      <vt:lpstr>小结</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补充知识</dc:title>
  <dc:creator>微软用户</dc:creator>
  <cp:lastModifiedBy>Windows 用户</cp:lastModifiedBy>
  <cp:revision>150</cp:revision>
  <dcterms:created xsi:type="dcterms:W3CDTF">2014-03-04T01:24:19Z</dcterms:created>
  <dcterms:modified xsi:type="dcterms:W3CDTF">2026-03-08T13:32:19Z</dcterms:modified>
</cp:coreProperties>
</file>