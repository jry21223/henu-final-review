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8" r:id="rId3"/>
    <p:sldId id="309" r:id="rId5"/>
    <p:sldId id="310" r:id="rId6"/>
    <p:sldId id="311" r:id="rId7"/>
    <p:sldId id="313" r:id="rId8"/>
    <p:sldId id="312" r:id="rId9"/>
    <p:sldId id="314" r:id="rId10"/>
    <p:sldId id="315" r:id="rId11"/>
    <p:sldId id="477" r:id="rId12"/>
    <p:sldId id="478" r:id="rId13"/>
    <p:sldId id="318" r:id="rId14"/>
    <p:sldId id="321" r:id="rId15"/>
    <p:sldId id="322" r:id="rId16"/>
    <p:sldId id="323" r:id="rId17"/>
    <p:sldId id="324" r:id="rId18"/>
    <p:sldId id="326" r:id="rId19"/>
    <p:sldId id="327" r:id="rId20"/>
    <p:sldId id="325" r:id="rId21"/>
    <p:sldId id="329" r:id="rId22"/>
    <p:sldId id="450" r:id="rId23"/>
    <p:sldId id="330" r:id="rId24"/>
    <p:sldId id="331" r:id="rId25"/>
    <p:sldId id="332" r:id="rId26"/>
    <p:sldId id="333" r:id="rId27"/>
    <p:sldId id="334" r:id="rId28"/>
    <p:sldId id="335" r:id="rId29"/>
    <p:sldId id="476" r:id="rId30"/>
    <p:sldId id="452" r:id="rId31"/>
    <p:sldId id="455" r:id="rId32"/>
    <p:sldId id="456" r:id="rId33"/>
    <p:sldId id="336" r:id="rId34"/>
    <p:sldId id="337" r:id="rId35"/>
    <p:sldId id="338" r:id="rId36"/>
    <p:sldId id="339" r:id="rId37"/>
    <p:sldId id="451" r:id="rId38"/>
    <p:sldId id="340" r:id="rId39"/>
    <p:sldId id="341" r:id="rId40"/>
    <p:sldId id="342" r:id="rId41"/>
    <p:sldId id="469" r:id="rId42"/>
    <p:sldId id="343" r:id="rId43"/>
    <p:sldId id="453" r:id="rId44"/>
    <p:sldId id="344" r:id="rId45"/>
    <p:sldId id="345" r:id="rId46"/>
    <p:sldId id="457" r:id="rId47"/>
    <p:sldId id="458" r:id="rId48"/>
    <p:sldId id="459" r:id="rId49"/>
    <p:sldId id="460" r:id="rId50"/>
    <p:sldId id="461" r:id="rId51"/>
    <p:sldId id="367" r:id="rId52"/>
    <p:sldId id="368" r:id="rId53"/>
    <p:sldId id="369" r:id="rId54"/>
    <p:sldId id="370" r:id="rId55"/>
    <p:sldId id="371" r:id="rId56"/>
    <p:sldId id="372" r:id="rId57"/>
    <p:sldId id="465" r:id="rId58"/>
    <p:sldId id="462" r:id="rId59"/>
    <p:sldId id="373" r:id="rId60"/>
    <p:sldId id="374" r:id="rId61"/>
    <p:sldId id="375" r:id="rId62"/>
    <p:sldId id="378" r:id="rId63"/>
    <p:sldId id="379" r:id="rId64"/>
    <p:sldId id="380" r:id="rId65"/>
    <p:sldId id="381" r:id="rId66"/>
    <p:sldId id="382" r:id="rId67"/>
    <p:sldId id="383" r:id="rId68"/>
    <p:sldId id="472" r:id="rId69"/>
    <p:sldId id="473" r:id="rId70"/>
    <p:sldId id="463" r:id="rId71"/>
    <p:sldId id="471" r:id="rId72"/>
    <p:sldId id="384" r:id="rId73"/>
    <p:sldId id="479" r:id="rId74"/>
    <p:sldId id="482" r:id="rId75"/>
    <p:sldId id="483" r:id="rId76"/>
    <p:sldId id="474" r:id="rId77"/>
    <p:sldId id="475" r:id="rId78"/>
    <p:sldId id="484" r:id="rId7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4" autoAdjust="0"/>
    <p:restoredTop sz="95082" autoAdjust="0"/>
  </p:normalViewPr>
  <p:slideViewPr>
    <p:cSldViewPr>
      <p:cViewPr varScale="1">
        <p:scale>
          <a:sx n="85" d="100"/>
          <a:sy n="85" d="100"/>
        </p:scale>
        <p:origin x="-19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EA08E95-D262-4DF8-9F84-1887E2FFAFF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57DC85FA-8E1E-404E-B89E-1A2381CDDFC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31AE26-0603-4917-BB6B-321E9C9DB958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3567610-688C-467F-8CE8-D2ACCBFE0D38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7C06C9-93D6-4C6F-8515-6509F285121E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D250500-5A5E-439B-8EAD-7AB4DD73657B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ACC8017-34A2-456B-8741-59306301EE65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8A7170B-740D-490B-A7BB-AC158719CDFC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F4C8EE-0A2C-4DC5-A6F6-640A171B58BD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74A09B5-1AF4-4020-B934-F012E82804EC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F06B10-B099-4DF8-82AC-F050D365009B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EF8243E-6A95-47B5-AEA5-D1F033DC57B2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17AA49-658D-45F4-A2E7-06AF94020FE3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6E3B159-7BC6-412E-B3D4-864E56564591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C8AC7E-90ED-4580-B6FA-2343C7C89EE8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2C1BB6-7877-4C6B-903A-F0E40453C53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06D8C9-D18D-4BCA-850A-82A535B5DB31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6E751DF-ED84-4966-A5E9-F243C9483CD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E1490F-3388-4290-A382-59969E217346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80FB378-0B30-462F-917F-356A0981227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BD0B37-21BA-4DAA-AA4C-EE7EC242C0CC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EC5C78-C28E-4888-8A03-49CBF2970368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09FE29-D471-423D-B0B9-B0BD60CEC9C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690218A-FDC8-49E4-963F-F790B572F554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173AAAA-0D4D-4649-9313-B3EB282C5E16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E05EF3F-D8FC-4CCC-A7F2-366A13C2B6DE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8DCAA97-D404-441E-91C8-1FDCDA6F5984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A9C394-3C10-4D28-B9AE-E92853EB4A1A}" type="slidenum">
              <a:rPr lang="en-US" altLang="zh-CN"/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A67F7F-EF93-44EC-83B0-B67E215F7998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6F6D1A-9198-492D-8F2B-D5C62B7316BC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BD490D-D0BE-4FA4-AEBA-CD9928A70083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6F929AC-9579-45B7-8250-7D656CDE2EEB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C1CB5C-2998-4FDA-A272-F99D420B800F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94E9FD7-5092-4135-A45E-6D1CA24E3C5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BD8702-348B-49E9-B4CA-3AC7333E6E34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80469C-4E95-4A33-BA98-C7A7C6690756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441C677-8A50-4A36-9637-F202FFD04CC6}" type="slidenum">
              <a:rPr lang="en-US" altLang="zh-CN"/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BC589CE-CE14-4B3C-97B6-45837DF5A166}" type="slidenum">
              <a:rPr lang="en-US" altLang="zh-CN"/>
            </a:fld>
            <a:endParaRPr lang="en-US" altLang="zh-CN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1E1C36-916E-4ACC-8043-1340F3DFAB5C}" type="slidenum">
              <a:rPr lang="en-US" altLang="zh-CN"/>
            </a:fld>
            <a:endParaRPr lang="en-US" altLang="zh-CN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A4B531-B542-4D5E-BC86-46A3306E8E52}" type="slidenum">
              <a:rPr lang="en-US" altLang="zh-CN"/>
            </a:fld>
            <a:endParaRPr lang="en-US" altLang="zh-CN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61D8E7E-2A5C-4F8B-839E-298C363395C0}" type="slidenum">
              <a:rPr lang="en-US" altLang="zh-CN"/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3EB9236-5267-4D6B-8EF3-05FB531BFC02}" type="slidenum">
              <a:rPr lang="en-US" altLang="zh-CN"/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23F23BD-5D22-4B73-822D-60C5C35FF452}" type="slidenum">
              <a:rPr lang="en-US" altLang="zh-CN"/>
            </a:fld>
            <a:endParaRPr lang="en-US" altLang="zh-CN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9E91D5-116F-4B94-AE00-4DC895ECE371}" type="slidenum">
              <a:rPr lang="en-US" altLang="zh-CN"/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4793490-5D10-4728-9533-B97753EA39C6}" type="slidenum">
              <a:rPr lang="en-US" altLang="zh-CN"/>
            </a:fld>
            <a:endParaRPr lang="en-US" altLang="zh-CN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7F46D97-DE20-4E7A-B185-4890AB50CF6B}" type="slidenum">
              <a:rPr lang="en-US" altLang="zh-CN"/>
            </a:fld>
            <a:endParaRPr lang="en-US" altLang="zh-CN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23827E-CD52-46C4-8005-B93FA7B22E35}" type="slidenum">
              <a:rPr lang="en-US" altLang="zh-CN"/>
            </a:fld>
            <a:endParaRPr lang="en-US" altLang="zh-CN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9B6D3-E015-4C99-939F-06A92684C7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4522C72-2882-4022-989C-CD8C926074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1A62DC-2046-4DBD-AFAA-CE9D86B480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A9A6D-BB12-46E0-828F-BAC64AD375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DFC0A3-6452-4D34-8657-A876F098F84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448EAC-3188-4622-8684-AAB199F622F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14C9B-0423-4D54-910F-EA2A152A8B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609200-72E5-408D-87F5-D9C051C2151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1A3816-3A86-400E-B26D-89C41E80F5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F1D52-E4BF-43E7-953A-5EAD2559B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B5F76F-B1A8-4ED2-A37A-B41FC82A9B6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026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95" name="Image" r:id="rId2" imgW="9563100" imgH="1600200" progId="">
                  <p:embed/>
                </p:oleObj>
              </mc:Choice>
              <mc:Fallback>
                <p:oleObj name="Image" r:id="rId2" imgW="9563100" imgH="1600200" progId="">
                  <p:embed/>
                  <p:pic>
                    <p:nvPicPr>
                      <p:cNvPr id="0" name="图片 1443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1027"/>
          <p:cNvSpPr/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8"/>
          <p:cNvSpPr/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1029"/>
          <p:cNvGrpSpPr/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0" name="Oval 1030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" name="Oval 1031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2" name="Group 1032"/>
          <p:cNvGrpSpPr/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3" name="Oval 1033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mtClean="0"/>
            </a:p>
          </p:txBody>
        </p:sp>
        <p:sp>
          <p:nvSpPr>
            <p:cNvPr id="14" name="Oval 1034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5" name="Group 1035"/>
          <p:cNvGrpSpPr/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6" name="Oval 1036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mtClean="0"/>
            </a:p>
          </p:txBody>
        </p:sp>
        <p:sp>
          <p:nvSpPr>
            <p:cNvPr id="17" name="Oval 1037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533400"/>
            <a:ext cx="7696200" cy="4873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536700"/>
            <a:ext cx="4019550" cy="49403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05350" y="1536700"/>
            <a:ext cx="4019550" cy="23939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05350" y="4083050"/>
            <a:ext cx="4019550" cy="23939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4191000" y="6534150"/>
            <a:ext cx="838200" cy="261938"/>
          </a:xfrm>
        </p:spPr>
        <p:txBody>
          <a:bodyPr/>
          <a:lstStyle>
            <a:lvl1pPr algn="ctr">
              <a:defRPr/>
            </a:lvl1pPr>
          </a:lstStyle>
          <a:p>
            <a:fld id="{06F5EAAF-CF3D-43DC-A414-BCDEF5100E69}" type="slidenum">
              <a:rPr lang="en-US" altLang="zh-CN"/>
            </a:fld>
            <a:endParaRPr lang="en-US" altLang="zh-CN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1"/>
          </p:nvPr>
        </p:nvSpPr>
        <p:spPr>
          <a:xfrm>
            <a:off x="381000" y="6534150"/>
            <a:ext cx="1905000" cy="2619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  <a:endParaRPr lang="en-US" altLang="zh-CN"/>
          </a:p>
        </p:txBody>
      </p:sp>
    </p:spTree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  <a:endParaRPr lang="en-US" altLang="zh-CN"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214313"/>
            <a:ext cx="800100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143000"/>
            <a:ext cx="8001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571500" y="1000125"/>
            <a:ext cx="7958138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fld id="{770F3DD2-F6D7-4843-A848-C421562FC56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Click="0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第三章</a:t>
            </a:r>
            <a:r>
              <a:rPr lang="zh-CN" altLang="en-US" sz="3200" smtClean="0">
                <a:ea typeface="黑体" panose="02010609060101010101" pitchFamily="49" charset="-122"/>
              </a:rPr>
              <a:t>  </a:t>
            </a:r>
            <a:r>
              <a:rPr lang="zh-CN" altLang="en-US" sz="3200" smtClean="0"/>
              <a:t>关系数据库标准语言</a:t>
            </a:r>
            <a:r>
              <a:rPr lang="en-US" altLang="zh-CN" sz="3200" smtClean="0">
                <a:ea typeface="黑体" panose="02010609060101010101" pitchFamily="49" charset="-122"/>
              </a:rPr>
              <a:t>SQL</a:t>
            </a:r>
            <a:endParaRPr lang="en-US" altLang="zh-CN" sz="3200" smtClean="0">
              <a:ea typeface="黑体" panose="02010609060101010101" pitchFamily="49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5" y="1357313"/>
            <a:ext cx="6508750" cy="4786312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/>
              <a:t>3.1 SQL</a:t>
            </a:r>
            <a:r>
              <a:rPr lang="zh-CN" altLang="en-US" b="1" smtClean="0"/>
              <a:t>概述</a:t>
            </a:r>
            <a:endParaRPr lang="zh-CN" altLang="en-US" b="1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/>
              <a:t>3.2 </a:t>
            </a:r>
            <a:r>
              <a:rPr lang="zh-CN" altLang="en-US" b="1" smtClean="0"/>
              <a:t>学生</a:t>
            </a:r>
            <a:r>
              <a:rPr lang="en-US" altLang="zh-CN" b="1" smtClean="0"/>
              <a:t>-</a:t>
            </a:r>
            <a:r>
              <a:rPr lang="zh-CN" altLang="en-US" b="1" smtClean="0"/>
              <a:t>课程数据库</a:t>
            </a:r>
            <a:endParaRPr lang="zh-CN" altLang="en-US" b="1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/>
              <a:t>3.3 </a:t>
            </a:r>
            <a:r>
              <a:rPr lang="zh-CN" altLang="en-US" b="1" smtClean="0"/>
              <a:t>数据定义</a:t>
            </a:r>
            <a:endParaRPr lang="zh-CN" altLang="en-US" b="1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>
                <a:solidFill>
                  <a:srgbClr val="FF0000"/>
                </a:solidFill>
              </a:rPr>
              <a:t>3.4 </a:t>
            </a:r>
            <a:r>
              <a:rPr lang="zh-CN" altLang="en-US" b="1" smtClean="0">
                <a:solidFill>
                  <a:srgbClr val="FF0000"/>
                </a:solidFill>
              </a:rPr>
              <a:t>数据查询</a:t>
            </a:r>
            <a:endParaRPr lang="zh-CN" altLang="en-US" b="1" smtClean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/>
              <a:t>3.5 </a:t>
            </a:r>
            <a:r>
              <a:rPr lang="zh-CN" altLang="en-US" b="1" smtClean="0"/>
              <a:t>数据更新</a:t>
            </a:r>
            <a:r>
              <a:rPr lang="en-US" altLang="zh-CN" b="1" smtClean="0"/>
              <a:t> </a:t>
            </a:r>
            <a:endParaRPr lang="zh-CN" altLang="en-US" b="1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/>
              <a:t>3.6 </a:t>
            </a:r>
            <a:r>
              <a:rPr lang="zh-CN" altLang="en-US" b="1" smtClean="0"/>
              <a:t>视图</a:t>
            </a:r>
            <a:endParaRPr lang="zh-CN" altLang="en-US" b="1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smtClean="0"/>
              <a:t>3.7 </a:t>
            </a:r>
            <a:r>
              <a:rPr lang="zh-CN" altLang="en-US" b="1" smtClean="0"/>
              <a:t>小结</a:t>
            </a:r>
            <a:endParaRPr lang="zh-CN" altLang="en-US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数据查询</a:t>
            </a:r>
            <a:endParaRPr lang="zh-CN" altLang="en-US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1214438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语句格式</a:t>
            </a:r>
            <a:endParaRPr lang="zh-CN" altLang="en-US" sz="2400" dirty="0" smtClean="0"/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D75B5B"/>
                </a:solidFill>
              </a:rPr>
              <a:t>    </a:t>
            </a:r>
            <a:r>
              <a:rPr lang="en-US" altLang="zh-CN" sz="2000" dirty="0" smtClean="0">
                <a:solidFill>
                  <a:srgbClr val="D75B5B"/>
                </a:solidFill>
              </a:rPr>
              <a:t>SELECT</a:t>
            </a:r>
            <a:r>
              <a:rPr lang="en-US" altLang="zh-CN" sz="2000" dirty="0" smtClean="0"/>
              <a:t> [ALL|DISTINCT] &lt;</a:t>
            </a:r>
            <a:r>
              <a:rPr lang="zh-CN" altLang="en-US" sz="2000" dirty="0" smtClean="0"/>
              <a:t>目标列表达式</a:t>
            </a:r>
            <a:r>
              <a:rPr lang="en-US" altLang="zh-CN" sz="2000" dirty="0" smtClean="0"/>
              <a:t>&gt;</a:t>
            </a:r>
            <a:endParaRPr lang="en-US" altLang="zh-CN" sz="2000" dirty="0" smtClean="0"/>
          </a:p>
          <a:p>
            <a:pPr marL="819150"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       [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&lt;</a:t>
            </a:r>
            <a:r>
              <a:rPr lang="zh-CN" altLang="en-US" sz="2000" dirty="0" smtClean="0"/>
              <a:t>目标列表达式</a:t>
            </a:r>
            <a:r>
              <a:rPr lang="en-US" altLang="zh-CN" sz="2000" dirty="0" smtClean="0"/>
              <a:t>&gt;] </a:t>
            </a:r>
            <a:r>
              <a:rPr lang="en-US" altLang="zh-CN" sz="2000" dirty="0" smtClean="0">
                <a:latin typeface="Courier New" panose="02070309020205020404" pitchFamily="49" charset="0"/>
              </a:rPr>
              <a:t>…</a:t>
            </a:r>
            <a:endParaRPr lang="en-US" altLang="zh-CN" sz="2000" dirty="0" smtClean="0"/>
          </a:p>
          <a:p>
            <a:pPr marL="819150"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D75B5B"/>
                </a:solidFill>
              </a:rPr>
              <a:t>FROM </a:t>
            </a:r>
            <a:r>
              <a:rPr lang="en-US" altLang="zh-CN" sz="2000" dirty="0" smtClean="0"/>
              <a:t>&lt;</a:t>
            </a:r>
            <a:r>
              <a:rPr lang="zh-CN" altLang="en-US" sz="2000" dirty="0" smtClean="0"/>
              <a:t>表名或视图名</a:t>
            </a:r>
            <a:r>
              <a:rPr lang="en-US" altLang="zh-CN" sz="2000" dirty="0" smtClean="0"/>
              <a:t>&gt;[</a:t>
            </a:r>
            <a:r>
              <a:rPr lang="zh-CN" altLang="en-US" sz="2000" dirty="0" smtClean="0"/>
              <a:t>， </a:t>
            </a:r>
            <a:r>
              <a:rPr lang="en-US" altLang="zh-CN" sz="2000" dirty="0" smtClean="0"/>
              <a:t>&lt;</a:t>
            </a:r>
            <a:r>
              <a:rPr lang="zh-CN" altLang="en-US" sz="2000" dirty="0" smtClean="0"/>
              <a:t>表名或视图名</a:t>
            </a:r>
            <a:r>
              <a:rPr lang="en-US" altLang="zh-CN" sz="2000" dirty="0" smtClean="0"/>
              <a:t>&gt; ] </a:t>
            </a:r>
            <a:r>
              <a:rPr lang="en-US" altLang="zh-CN" sz="2000" dirty="0" smtClean="0">
                <a:latin typeface="Courier New" panose="02070309020205020404" pitchFamily="49" charset="0"/>
              </a:rPr>
              <a:t>…</a:t>
            </a:r>
            <a:endParaRPr lang="en-US" altLang="zh-CN" sz="2000" dirty="0" smtClean="0"/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 </a:t>
            </a:r>
            <a:r>
              <a:rPr lang="en-US" altLang="zh-CN" sz="2000" dirty="0" smtClean="0">
                <a:solidFill>
                  <a:srgbClr val="D75B5B"/>
                </a:solidFill>
              </a:rPr>
              <a:t>WHERE</a:t>
            </a:r>
            <a:r>
              <a:rPr lang="en-US" altLang="zh-CN" sz="2000" dirty="0" smtClean="0"/>
              <a:t> &lt;</a:t>
            </a:r>
            <a:r>
              <a:rPr lang="zh-CN" altLang="en-US" sz="2000" dirty="0" smtClean="0"/>
              <a:t>条件表达式</a:t>
            </a:r>
            <a:r>
              <a:rPr lang="en-US" altLang="zh-CN" sz="2000" dirty="0" smtClean="0"/>
              <a:t>&gt; ]</a:t>
            </a:r>
            <a:endParaRPr lang="en-US" altLang="zh-CN" sz="2000" dirty="0" smtClean="0"/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 </a:t>
            </a:r>
            <a:r>
              <a:rPr lang="en-US" altLang="zh-CN" sz="2000" dirty="0" smtClean="0">
                <a:solidFill>
                  <a:srgbClr val="D75B5B"/>
                </a:solidFill>
              </a:rPr>
              <a:t>GROUP BY</a:t>
            </a:r>
            <a:r>
              <a:rPr lang="en-US" altLang="zh-CN" sz="2000" dirty="0" smtClean="0"/>
              <a:t> &lt;</a:t>
            </a:r>
            <a:r>
              <a:rPr lang="zh-CN" altLang="en-US" sz="2000" dirty="0" smtClean="0"/>
              <a:t>列名</a:t>
            </a:r>
            <a:r>
              <a:rPr lang="en-US" altLang="zh-CN" sz="2000" dirty="0" smtClean="0"/>
              <a:t>1&gt; [ </a:t>
            </a:r>
            <a:r>
              <a:rPr lang="en-US" altLang="zh-CN" sz="2000" dirty="0" smtClean="0">
                <a:solidFill>
                  <a:srgbClr val="D75B5B"/>
                </a:solidFill>
              </a:rPr>
              <a:t>HAVING</a:t>
            </a:r>
            <a:r>
              <a:rPr lang="en-US" altLang="zh-CN" sz="2000" dirty="0" smtClean="0"/>
              <a:t> &lt;</a:t>
            </a:r>
            <a:r>
              <a:rPr lang="zh-CN" altLang="en-US" sz="2000" dirty="0" smtClean="0"/>
              <a:t>条件表达式</a:t>
            </a:r>
            <a:r>
              <a:rPr lang="en-US" altLang="zh-CN" sz="2000" dirty="0" smtClean="0"/>
              <a:t>&gt; ] ]</a:t>
            </a:r>
            <a:endParaRPr lang="en-US" altLang="zh-CN" sz="2000" dirty="0" smtClean="0"/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 </a:t>
            </a:r>
            <a:r>
              <a:rPr lang="en-US" altLang="zh-CN" sz="2000" dirty="0" smtClean="0">
                <a:solidFill>
                  <a:srgbClr val="D75B5B"/>
                </a:solidFill>
              </a:rPr>
              <a:t>ORDER BY</a:t>
            </a:r>
            <a:r>
              <a:rPr lang="en-US" altLang="zh-CN" sz="2000" dirty="0" smtClean="0"/>
              <a:t> &lt;</a:t>
            </a:r>
            <a:r>
              <a:rPr lang="zh-CN" altLang="en-US" sz="2000" dirty="0" smtClean="0"/>
              <a:t>列名</a:t>
            </a:r>
            <a:r>
              <a:rPr lang="en-US" altLang="zh-CN" sz="2000" dirty="0" smtClean="0"/>
              <a:t>2&gt; [ ASC|DESC ] ]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marL="819150"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 smtClean="0">
                <a:latin typeface="Courier New" panose="02070309020205020404" pitchFamily="49" charset="0"/>
              </a:rPr>
              <a:t> </a:t>
            </a:r>
            <a:endParaRPr lang="zh-CN" altLang="en-US" sz="14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  </a:t>
            </a:r>
            <a:r>
              <a:rPr lang="zh-CN" altLang="en-US" smtClean="0"/>
              <a:t>数据查询 </a:t>
            </a:r>
            <a:endParaRPr lang="zh-CN" altLang="en-US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357313"/>
            <a:ext cx="6107113" cy="40386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zh-CN" b="1" smtClean="0">
                <a:solidFill>
                  <a:srgbClr val="3333FF"/>
                </a:solidFill>
              </a:rPr>
              <a:t>3.4.1 </a:t>
            </a:r>
            <a:r>
              <a:rPr lang="zh-CN" altLang="en-US" b="1" smtClean="0">
                <a:solidFill>
                  <a:srgbClr val="3333FF"/>
                </a:solidFill>
              </a:rPr>
              <a:t>单表查询</a:t>
            </a:r>
            <a:endParaRPr lang="zh-CN" altLang="en-US" b="1" smtClean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smtClean="0"/>
              <a:t>3.4.2 </a:t>
            </a:r>
            <a:r>
              <a:rPr lang="zh-CN" altLang="en-US" b="1" smtClean="0"/>
              <a:t>连接查询</a:t>
            </a:r>
            <a:endParaRPr lang="zh-CN" altLang="en-US" b="1" smtClean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smtClean="0"/>
              <a:t>3.4.3 </a:t>
            </a:r>
            <a:r>
              <a:rPr lang="zh-CN" altLang="en-US" b="1" smtClean="0"/>
              <a:t>嵌套查询</a:t>
            </a:r>
            <a:endParaRPr lang="zh-CN" altLang="en-US" b="1" smtClean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smtClean="0"/>
              <a:t>3.4.4 </a:t>
            </a:r>
            <a:r>
              <a:rPr lang="zh-CN" altLang="en-US" b="1" smtClean="0"/>
              <a:t>集合查询</a:t>
            </a:r>
            <a:endParaRPr lang="zh-CN" altLang="en-US" b="1" smtClean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smtClean="0"/>
              <a:t>3.4.5 Select</a:t>
            </a:r>
            <a:r>
              <a:rPr lang="zh-CN" altLang="en-US" b="1" smtClean="0"/>
              <a:t>语句的一般形式 </a:t>
            </a:r>
            <a:endParaRPr lang="zh-CN" altLang="en-US" b="1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3.4.1  </a:t>
            </a:r>
            <a:r>
              <a:rPr lang="zh-CN" altLang="en-US" smtClean="0"/>
              <a:t>单表查询 </a:t>
            </a:r>
            <a:endParaRPr lang="zh-CN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smtClean="0"/>
              <a:t>查询仅涉及一个表：</a:t>
            </a:r>
            <a:endParaRPr lang="zh-CN" altLang="en-US" sz="2800" smtClean="0"/>
          </a:p>
          <a:p>
            <a:pPr marL="469900" lvl="1" indent="0" algn="just" eaLnBrk="1" hangingPunct="1">
              <a:lnSpc>
                <a:spcPct val="16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mtClean="0"/>
              <a:t>一、 选择表中的若干列</a:t>
            </a:r>
            <a:endParaRPr lang="zh-CN" altLang="en-US" smtClean="0"/>
          </a:p>
          <a:p>
            <a:pPr marL="469900" lvl="1" indent="0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二、 选择表中的若干元组</a:t>
            </a:r>
            <a:endParaRPr lang="zh-CN" altLang="en-US" smtClean="0"/>
          </a:p>
          <a:p>
            <a:pPr marL="469900" lvl="1" indent="0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三、 </a:t>
            </a:r>
            <a:r>
              <a:rPr lang="en-US" altLang="zh-CN" smtClean="0"/>
              <a:t>ORDER BY</a:t>
            </a:r>
            <a:r>
              <a:rPr lang="zh-CN" altLang="en-US" smtClean="0"/>
              <a:t>子句</a:t>
            </a:r>
            <a:endParaRPr lang="zh-CN" altLang="en-US" smtClean="0"/>
          </a:p>
          <a:p>
            <a:pPr marL="469900" lvl="1" indent="0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四、 聚集函数</a:t>
            </a:r>
            <a:endParaRPr lang="zh-CN" altLang="en-US" smtClean="0"/>
          </a:p>
          <a:p>
            <a:pPr marL="469900" lvl="1" indent="0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五、 </a:t>
            </a:r>
            <a:r>
              <a:rPr lang="en-US" altLang="zh-CN" smtClean="0"/>
              <a:t>GROUP BY</a:t>
            </a:r>
            <a:r>
              <a:rPr lang="zh-CN" altLang="en-US" smtClean="0"/>
              <a:t>子句</a:t>
            </a:r>
            <a:endParaRPr lang="zh-CN" altLang="en-US" sz="20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1. </a:t>
            </a:r>
            <a:r>
              <a:rPr lang="zh-CN" altLang="en-US" smtClean="0"/>
              <a:t>查询全部列</a:t>
            </a:r>
            <a:endParaRPr lang="zh-CN" altLang="en-US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 smtClean="0"/>
              <a:t>选出所有属性列：</a:t>
            </a:r>
            <a:endParaRPr lang="zh-CN" altLang="en-US" dirty="0" smtClean="0"/>
          </a:p>
          <a:p>
            <a:pPr lvl="1" algn="just" eaLnBrk="1" hangingPunct="1">
              <a:buFont typeface="Wingdings" panose="05000000000000000000" pitchFamily="2" charset="2"/>
              <a:buChar char="n"/>
            </a:pPr>
            <a:r>
              <a:rPr lang="zh-CN" altLang="en-US" dirty="0" smtClean="0"/>
              <a:t>将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目标列表达式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指定为 </a:t>
            </a:r>
            <a:r>
              <a:rPr lang="zh-CN" altLang="en-US" dirty="0" smtClean="0">
                <a:solidFill>
                  <a:srgbClr val="FF5050"/>
                </a:solidFill>
              </a:rPr>
              <a:t>*</a:t>
            </a:r>
            <a:endParaRPr lang="en-US" altLang="zh-CN" dirty="0" smtClean="0"/>
          </a:p>
          <a:p>
            <a:pPr lvl="1" algn="just" eaLnBrk="1" hangingPunct="1">
              <a:buFont typeface="Wingdings" panose="05000000000000000000" pitchFamily="2" charset="2"/>
              <a:buChar char="n"/>
            </a:pPr>
            <a:r>
              <a:rPr lang="zh-CN" altLang="en-US" dirty="0" smtClean="0"/>
              <a:t>在</a:t>
            </a:r>
            <a:r>
              <a:rPr lang="en-US" altLang="zh-CN" dirty="0" smtClean="0"/>
              <a:t>SELECT</a:t>
            </a:r>
            <a:r>
              <a:rPr lang="zh-CN" altLang="en-US" dirty="0" smtClean="0"/>
              <a:t>关键字后面列出所有列名 </a:t>
            </a:r>
            <a:endParaRPr lang="zh-CN" altLang="en-US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[</a:t>
            </a:r>
            <a:r>
              <a:rPr lang="zh-CN" altLang="en-US" dirty="0" smtClean="0"/>
              <a:t>例</a:t>
            </a:r>
            <a:r>
              <a:rPr lang="en-US" altLang="zh-CN" dirty="0" smtClean="0"/>
              <a:t>1]  </a:t>
            </a:r>
            <a:r>
              <a:rPr lang="zh-CN" altLang="en-US" dirty="0" smtClean="0"/>
              <a:t>查询全体学生的详细记录。</a:t>
            </a:r>
            <a:endParaRPr lang="zh-CN" altLang="en-US" dirty="0" smtClean="0"/>
          </a:p>
          <a:p>
            <a:pPr lvl="2" algn="just" eaLnBrk="1" hangingPunct="1">
              <a:buClrTx/>
              <a:buFontTx/>
              <a:buNone/>
            </a:pPr>
            <a:r>
              <a:rPr lang="en-US" altLang="zh-CN" dirty="0" smtClean="0"/>
              <a:t>SELECT  *   FROM Student;</a:t>
            </a:r>
            <a:endParaRPr lang="en-US" altLang="zh-CN" dirty="0" smtClean="0"/>
          </a:p>
          <a:p>
            <a:pPr lvl="2" algn="just" eaLnBrk="1" hangingPunct="1">
              <a:buClrTx/>
              <a:buFontTx/>
              <a:buNone/>
            </a:pPr>
            <a:r>
              <a:rPr lang="zh-CN" altLang="en-US" dirty="0" smtClean="0"/>
              <a:t> 等价：</a:t>
            </a:r>
            <a:endParaRPr lang="en-US" altLang="zh-CN" dirty="0" smtClean="0"/>
          </a:p>
          <a:p>
            <a:pPr lvl="2" algn="just" eaLnBrk="1" hangingPunct="1">
              <a:buClrTx/>
              <a:buFontTx/>
              <a:buNone/>
            </a:pPr>
            <a:r>
              <a:rPr lang="en-US" altLang="zh-CN" dirty="0" smtClean="0"/>
              <a:t>SELECT  </a:t>
            </a:r>
            <a:r>
              <a:rPr lang="en-US" altLang="zh-CN" dirty="0" err="1" smtClean="0"/>
              <a:t>Sno,Sname,Ssex,Sage,Sdept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2" algn="just" eaLnBrk="1" hangingPunct="1">
              <a:buClrTx/>
              <a:buFontTx/>
              <a:buNone/>
            </a:pPr>
            <a:r>
              <a:rPr lang="en-US" altLang="zh-CN" dirty="0" smtClean="0"/>
              <a:t>FROM Student;</a:t>
            </a:r>
            <a:r>
              <a:rPr lang="zh-CN" altLang="en-US" dirty="0" smtClean="0"/>
              <a:t> </a:t>
            </a: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n-US" altLang="zh-CN" sz="3200" smtClean="0"/>
              <a:t>2</a:t>
            </a:r>
            <a:r>
              <a:rPr lang="zh-CN" altLang="en-US" sz="3200" smtClean="0"/>
              <a:t>、查询指定列</a:t>
            </a:r>
            <a:endParaRPr lang="zh-CN" altLang="en-US" sz="320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2]  </a:t>
            </a:r>
            <a:r>
              <a:rPr lang="zh-CN" altLang="en-US" sz="2400" dirty="0" smtClean="0"/>
              <a:t>查询全体学生的学号与姓名。</a:t>
            </a:r>
            <a:endParaRPr lang="zh-CN" altLang="en-US" sz="24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		</a:t>
            </a:r>
            <a:r>
              <a:rPr lang="en-US" altLang="zh-CN" sz="2200" dirty="0" smtClean="0"/>
              <a:t>SELECT  </a:t>
            </a:r>
            <a:r>
              <a:rPr lang="en-US" altLang="zh-CN" sz="2200" dirty="0" err="1" smtClean="0"/>
              <a:t>Sno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0000"/>
                </a:solidFill>
              </a:rPr>
              <a:t>as</a:t>
            </a:r>
            <a:r>
              <a:rPr lang="en-US" altLang="zh-CN" sz="2200" dirty="0" smtClean="0"/>
              <a:t> </a:t>
            </a:r>
            <a:r>
              <a:rPr lang="zh-CN" altLang="en-US" sz="2200" dirty="0" smtClean="0"/>
              <a:t>学号</a:t>
            </a:r>
            <a:r>
              <a:rPr lang="en-US" altLang="zh-CN" sz="2200" dirty="0" smtClean="0"/>
              <a:t>,</a:t>
            </a:r>
            <a:r>
              <a:rPr lang="en-US" altLang="zh-CN" sz="2200" dirty="0" err="1" smtClean="0"/>
              <a:t>Sname</a:t>
            </a:r>
            <a:endParaRPr lang="en-US" altLang="zh-CN" sz="22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		FROM Student</a:t>
            </a:r>
            <a:r>
              <a:rPr lang="zh-CN" altLang="en-US" sz="2200" dirty="0" smtClean="0"/>
              <a:t>；</a:t>
            </a:r>
            <a:r>
              <a:rPr lang="zh-CN" altLang="en-US" sz="2000" dirty="0" smtClean="0">
                <a:latin typeface="Courier New" panose="02070309020205020404" pitchFamily="49" charset="0"/>
              </a:rPr>
              <a:t> </a:t>
            </a:r>
            <a:endParaRPr lang="zh-CN" altLang="en-US" sz="20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Courier New" panose="02070309020205020404" pitchFamily="49" charset="0"/>
              </a:rPr>
              <a:t> </a:t>
            </a:r>
            <a:endParaRPr lang="zh-CN" altLang="en-US" sz="2000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3]  </a:t>
            </a:r>
            <a:r>
              <a:rPr lang="zh-CN" altLang="en-US" sz="2400" dirty="0" smtClean="0"/>
              <a:t>查询全体学生的姓名、学号、所在系。</a:t>
            </a:r>
            <a:endParaRPr lang="zh-CN" altLang="en-US" sz="24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		</a:t>
            </a:r>
            <a:r>
              <a:rPr lang="en-US" altLang="zh-CN" sz="2200" dirty="0" smtClean="0"/>
              <a:t>SELECT </a:t>
            </a:r>
            <a:r>
              <a:rPr lang="en-US" altLang="zh-CN" sz="2200" dirty="0" err="1" smtClean="0"/>
              <a:t>Sname,Sno,Sdept</a:t>
            </a:r>
            <a:endParaRPr lang="en-US" altLang="zh-CN" sz="22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		FROM Student;</a:t>
            </a: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 </a:t>
            </a:r>
            <a:r>
              <a:rPr lang="zh-CN" altLang="en-US" smtClean="0"/>
              <a:t>查询经过计算的值 </a:t>
            </a:r>
            <a:endParaRPr lang="zh-CN" altLang="en-US" smtClean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zh-CN" sz="2400" smtClean="0"/>
              <a:t>SELECT</a:t>
            </a:r>
            <a:r>
              <a:rPr lang="zh-CN" altLang="en-US" sz="2400" smtClean="0"/>
              <a:t>子句的</a:t>
            </a:r>
            <a:r>
              <a:rPr lang="en-US" altLang="zh-CN" sz="2400" smtClean="0"/>
              <a:t>&lt;</a:t>
            </a:r>
            <a:r>
              <a:rPr lang="zh-CN" altLang="en-US" sz="2400" smtClean="0"/>
              <a:t>目标列表达式</a:t>
            </a:r>
            <a:r>
              <a:rPr lang="en-US" altLang="zh-CN" sz="2400" smtClean="0"/>
              <a:t>&gt;</a:t>
            </a:r>
            <a:r>
              <a:rPr lang="zh-CN" altLang="en-US" sz="2400" smtClean="0"/>
              <a:t>可以为：</a:t>
            </a:r>
            <a:endParaRPr lang="zh-CN" altLang="en-US" sz="2400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mtClean="0"/>
              <a:t>算术表达式</a:t>
            </a:r>
            <a:endParaRPr lang="zh-CN" altLang="en-US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mtClean="0"/>
              <a:t>字符串常量</a:t>
            </a:r>
            <a:endParaRPr lang="zh-CN" altLang="en-US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mtClean="0"/>
              <a:t>函数</a:t>
            </a:r>
            <a:endParaRPr lang="zh-CN" altLang="en-US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mtClean="0"/>
              <a:t>列别名 </a:t>
            </a:r>
            <a:endParaRPr lang="en-US" altLang="zh-CN" smtClean="0"/>
          </a:p>
          <a:p>
            <a:pPr lvl="1" algn="just" eaLnBrk="1" hangingPunct="1">
              <a:lnSpc>
                <a:spcPct val="160000"/>
              </a:lnSpc>
            </a:pPr>
            <a:r>
              <a:rPr lang="en-US" altLang="zh-CN" smtClean="0"/>
              <a:t>distinct</a:t>
            </a:r>
            <a:endParaRPr lang="zh-CN" altLang="en-US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43000"/>
            <a:ext cx="8148637" cy="40147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4]  </a:t>
            </a:r>
            <a:r>
              <a:rPr lang="zh-CN" altLang="en-US" sz="2400" dirty="0" smtClean="0"/>
              <a:t>查全体学生的姓名及其出生年份。</a:t>
            </a:r>
            <a:endParaRPr lang="zh-CN" altLang="en-US" sz="24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，</a:t>
            </a:r>
            <a:r>
              <a:rPr lang="en-US" altLang="zh-CN" sz="2000" dirty="0" smtClean="0">
                <a:solidFill>
                  <a:srgbClr val="FF0000"/>
                </a:solidFill>
              </a:rPr>
              <a:t>2024-Sage  </a:t>
            </a:r>
            <a:r>
              <a:rPr lang="en-US" altLang="zh-CN" sz="2000" dirty="0" smtClean="0"/>
              <a:t>  </a:t>
            </a:r>
            <a:endParaRPr lang="en-US" altLang="zh-CN" sz="20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FROM Student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/>
              <a:t>当前的年份：</a:t>
            </a:r>
            <a:r>
              <a:rPr lang="en-US" altLang="zh-CN" sz="2000" dirty="0" smtClean="0">
                <a:solidFill>
                  <a:srgbClr val="FF0000"/>
                </a:solidFill>
              </a:rPr>
              <a:t>year(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curdate</a:t>
            </a:r>
            <a:r>
              <a:rPr lang="en-US" altLang="zh-CN" sz="2000" dirty="0" smtClean="0">
                <a:solidFill>
                  <a:srgbClr val="FF0000"/>
                </a:solidFill>
              </a:rPr>
              <a:t>())</a:t>
            </a:r>
            <a:endParaRPr lang="zh-CN" altLang="en-US" sz="2000" dirty="0" smtClean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5]  </a:t>
            </a:r>
            <a:r>
              <a:rPr lang="zh-CN" altLang="en-US" sz="2400" dirty="0"/>
              <a:t>查询全体学生的姓名、出生年份和</a:t>
            </a:r>
            <a:r>
              <a:rPr lang="zh-CN" altLang="en-US" sz="2400" dirty="0" smtClean="0"/>
              <a:t>所在系</a:t>
            </a:r>
            <a:r>
              <a:rPr lang="zh-CN" altLang="en-US" sz="2400" dirty="0"/>
              <a:t>，要求用小写字母表示</a:t>
            </a:r>
            <a:r>
              <a:rPr lang="zh-CN" altLang="en-US" sz="2400" dirty="0" smtClean="0"/>
              <a:t>所在系</a:t>
            </a:r>
            <a:r>
              <a:rPr lang="zh-CN" altLang="en-US" sz="2400" dirty="0"/>
              <a:t>名</a:t>
            </a:r>
            <a:endParaRPr lang="en-US" altLang="zh-CN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SELECT </a:t>
            </a:r>
            <a:r>
              <a:rPr lang="en-US" altLang="zh-CN" sz="2400" dirty="0" err="1"/>
              <a:t>sno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zh-CN" altLang="en-US" sz="2400" dirty="0"/>
              <a:t>学号</a:t>
            </a:r>
            <a:r>
              <a:rPr lang="en-US" altLang="zh-CN" sz="2400" dirty="0"/>
              <a:t>,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 </a:t>
            </a:r>
            <a:r>
              <a:rPr lang="zh-CN" altLang="en-US" sz="2400" dirty="0"/>
              <a:t>姓名</a:t>
            </a:r>
            <a:r>
              <a:rPr lang="en-US" altLang="zh-CN" sz="2400" dirty="0"/>
              <a:t>,'</a:t>
            </a:r>
            <a:r>
              <a:rPr lang="zh-CN" altLang="en-US" sz="2400" dirty="0"/>
              <a:t>出生</a:t>
            </a:r>
            <a:r>
              <a:rPr lang="zh-CN" altLang="en-US" sz="2400" dirty="0" smtClean="0"/>
              <a:t>年份</a:t>
            </a:r>
            <a:r>
              <a:rPr lang="en-US" altLang="zh-CN" sz="2400" dirty="0" smtClean="0"/>
              <a:t>:' </a:t>
            </a:r>
            <a:r>
              <a:rPr lang="zh-CN" altLang="en-US" sz="2400" dirty="0"/>
              <a:t>出生年份</a:t>
            </a:r>
            <a:r>
              <a:rPr lang="en-US" altLang="zh-CN" sz="2400" dirty="0"/>
              <a:t>,</a:t>
            </a:r>
            <a:endParaRPr lang="en-US" altLang="zh-CN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YEAR(</a:t>
            </a:r>
            <a:r>
              <a:rPr lang="en-US" altLang="zh-CN" sz="2400" dirty="0" err="1" smtClean="0"/>
              <a:t>curDATE</a:t>
            </a:r>
            <a:r>
              <a:rPr lang="en-US" altLang="zh-CN" sz="2400" dirty="0"/>
              <a:t>()) -sage </a:t>
            </a:r>
            <a:r>
              <a:rPr lang="zh-CN" altLang="en-US" sz="2400" dirty="0"/>
              <a:t>出生年</a:t>
            </a:r>
            <a:r>
              <a:rPr lang="en-US" altLang="zh-CN" sz="2400" dirty="0"/>
              <a:t>,LOWER(</a:t>
            </a:r>
            <a:r>
              <a:rPr lang="en-US" altLang="zh-CN" sz="2400" dirty="0" err="1"/>
              <a:t>sdept</a:t>
            </a:r>
            <a:r>
              <a:rPr lang="en-US" altLang="zh-CN" sz="2400" dirty="0"/>
              <a:t>) </a:t>
            </a:r>
            <a:r>
              <a:rPr lang="zh-CN" altLang="en-US" sz="2400" dirty="0"/>
              <a:t>系别</a:t>
            </a:r>
            <a:endParaRPr lang="zh-CN" altLang="en-US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FROM </a:t>
            </a:r>
            <a:r>
              <a:rPr lang="en-US" altLang="zh-CN" sz="2400" dirty="0" smtClean="0"/>
              <a:t>Student</a:t>
            </a:r>
            <a:endParaRPr lang="en-US" altLang="zh-CN" sz="2400" dirty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latin typeface="Courier New" panose="02070309020205020404" pitchFamily="49" charset="0"/>
              </a:rPr>
              <a:t> </a:t>
            </a:r>
            <a:endParaRPr lang="zh-CN" altLang="en-US" sz="20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 smtClean="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查询经过计算的值</a:t>
            </a:r>
            <a:r>
              <a:rPr lang="en-US" altLang="zh-CN" sz="3200" smtClean="0"/>
              <a:t>,</a:t>
            </a:r>
            <a:r>
              <a:rPr lang="zh-CN" altLang="en-US" sz="3200" smtClean="0"/>
              <a:t>别名</a:t>
            </a:r>
            <a:endParaRPr lang="zh-CN" altLang="en-US" sz="3200" smtClean="0"/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442484"/>
            <a:ext cx="52959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二、选择表中的若干元组</a:t>
            </a:r>
            <a:endParaRPr lang="zh-CN" altLang="en-US" sz="3200" smtClean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285875"/>
            <a:ext cx="8229600" cy="4768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 smtClean="0"/>
              <a:t> </a:t>
            </a:r>
            <a:r>
              <a:rPr lang="zh-CN" altLang="en-US" sz="2400" dirty="0" smtClean="0"/>
              <a:t>消除取值重复的行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	 </a:t>
            </a:r>
            <a:r>
              <a:rPr lang="zh-CN" altLang="en-US" sz="2000" dirty="0" smtClean="0">
                <a:solidFill>
                  <a:srgbClr val="FF0000"/>
                </a:solidFill>
              </a:rPr>
              <a:t>如果没有指定</a:t>
            </a:r>
            <a:r>
              <a:rPr lang="en-US" altLang="zh-CN" sz="2000" dirty="0" smtClean="0">
                <a:solidFill>
                  <a:srgbClr val="FF0000"/>
                </a:solidFill>
              </a:rPr>
              <a:t>DISTINCT</a:t>
            </a:r>
            <a:r>
              <a:rPr lang="zh-CN" altLang="en-US" sz="2000" dirty="0" smtClean="0">
                <a:solidFill>
                  <a:srgbClr val="FF0000"/>
                </a:solidFill>
              </a:rPr>
              <a:t>关键词，则缺省为</a:t>
            </a:r>
            <a:r>
              <a:rPr lang="en-US" altLang="zh-CN" sz="2000" dirty="0" smtClean="0">
                <a:solidFill>
                  <a:srgbClr val="FF0000"/>
                </a:solidFill>
              </a:rPr>
              <a:t>ALL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6]  </a:t>
            </a:r>
            <a:r>
              <a:rPr lang="zh-CN" altLang="en-US" sz="2000" dirty="0" smtClean="0"/>
              <a:t>查询选修了课程的学生学号。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Sno</a:t>
            </a:r>
            <a:r>
              <a:rPr lang="en-US" altLang="zh-CN" sz="2000" dirty="0" smtClean="0"/>
              <a:t>   FROM SC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等价于：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SELECT ALL  </a:t>
            </a:r>
            <a:r>
              <a:rPr lang="en-US" altLang="zh-CN" sz="2000" dirty="0" err="1" smtClean="0"/>
              <a:t>Sno</a:t>
            </a:r>
            <a:r>
              <a:rPr lang="en-US" altLang="zh-CN" sz="2000" dirty="0" smtClean="0"/>
              <a:t>  FROM SC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执行上面的</a:t>
            </a:r>
            <a:r>
              <a:rPr lang="en-US" altLang="zh-CN" sz="2000" dirty="0" smtClean="0"/>
              <a:t>SELECT</a:t>
            </a:r>
            <a:r>
              <a:rPr lang="zh-CN" altLang="en-US" sz="2000" dirty="0" smtClean="0"/>
              <a:t>语句后，结果为： 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				</a:t>
            </a:r>
            <a:endParaRPr lang="en-US" altLang="zh-CN" sz="2000" dirty="0" smtClean="0"/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7" y="3933056"/>
            <a:ext cx="14954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消除取值重复的行（续）</a:t>
            </a:r>
            <a:endParaRPr lang="zh-CN" altLang="en-US" sz="3200" smtClean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828800"/>
            <a:ext cx="837565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smtClean="0"/>
              <a:t>指定</a:t>
            </a:r>
            <a:r>
              <a:rPr lang="en-US" altLang="zh-CN" sz="2400" smtClean="0"/>
              <a:t>DISTINCT</a:t>
            </a:r>
            <a:r>
              <a:rPr lang="zh-CN" altLang="en-US" sz="2400" smtClean="0"/>
              <a:t>关键词，去掉表中重复的行</a:t>
            </a:r>
            <a:r>
              <a:rPr lang="zh-CN" altLang="en-US" sz="2000" smtClean="0"/>
              <a:t> </a:t>
            </a:r>
            <a:endParaRPr lang="zh-CN" altLang="en-US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</a:t>
            </a:r>
            <a:endParaRPr lang="zh-CN" altLang="en-US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</a:t>
            </a:r>
            <a:r>
              <a:rPr lang="en-US" altLang="zh-CN" sz="2400" smtClean="0"/>
              <a:t>SELECT </a:t>
            </a:r>
            <a:r>
              <a:rPr lang="en-US" altLang="zh-CN" sz="2400" smtClean="0">
                <a:solidFill>
                  <a:srgbClr val="FF5050"/>
                </a:solidFill>
              </a:rPr>
              <a:t>DISTINCT</a:t>
            </a:r>
            <a:r>
              <a:rPr lang="en-US" altLang="zh-CN" sz="2400" smtClean="0"/>
              <a:t> Sno</a:t>
            </a:r>
            <a:endParaRPr lang="en-US" altLang="zh-CN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FROM SC</a:t>
            </a:r>
            <a:r>
              <a:rPr lang="zh-CN" altLang="en-US" sz="2400" smtClean="0"/>
              <a:t>； </a:t>
            </a:r>
            <a:endParaRPr lang="zh-CN" altLang="en-US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执行结果：</a:t>
            </a:r>
            <a:endParaRPr lang="zh-CN" altLang="en-US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					    </a:t>
            </a:r>
            <a:r>
              <a:rPr lang="en-US" altLang="zh-CN" sz="2400" smtClean="0"/>
              <a:t>Sno</a:t>
            </a:r>
            <a:endParaRPr lang="en-US" altLang="zh-CN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					200215121</a:t>
            </a:r>
            <a:endParaRPr lang="en-US" altLang="zh-CN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					200215122</a:t>
            </a:r>
            <a:endParaRPr lang="en-US" altLang="zh-CN" sz="2400" smtClean="0"/>
          </a:p>
        </p:txBody>
      </p:sp>
      <p:sp>
        <p:nvSpPr>
          <p:cNvPr id="25605" name="Line 4"/>
          <p:cNvSpPr>
            <a:spLocks noChangeShapeType="1"/>
          </p:cNvSpPr>
          <p:nvPr/>
        </p:nvSpPr>
        <p:spPr bwMode="auto">
          <a:xfrm>
            <a:off x="3924300" y="4652963"/>
            <a:ext cx="2232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3.4.1  </a:t>
            </a:r>
            <a:r>
              <a:rPr lang="zh-CN" altLang="en-US" smtClean="0"/>
              <a:t>单表查询 </a:t>
            </a:r>
            <a:endParaRPr lang="zh-CN" altLang="en-US" smtClean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400" smtClean="0"/>
              <a:t>查询仅涉及一个表：</a:t>
            </a:r>
            <a:endParaRPr lang="zh-CN" altLang="en-US" sz="2400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一、 选择表中的若干列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b="1" smtClean="0">
                <a:solidFill>
                  <a:srgbClr val="FF0000"/>
                </a:solidFill>
              </a:rPr>
              <a:t>二、 选择表中的若干元组</a:t>
            </a:r>
            <a:endParaRPr lang="zh-CN" altLang="en-US" b="1" smtClean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三、 </a:t>
            </a:r>
            <a:r>
              <a:rPr lang="en-US" altLang="zh-CN" smtClean="0"/>
              <a:t>ORDER BY</a:t>
            </a:r>
            <a:r>
              <a:rPr lang="zh-CN" altLang="en-US" smtClean="0"/>
              <a:t>子句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四、 聚集函数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五、 </a:t>
            </a:r>
            <a:r>
              <a:rPr lang="en-US" altLang="zh-CN" smtClean="0"/>
              <a:t>GROUP BY</a:t>
            </a:r>
            <a:r>
              <a:rPr lang="zh-CN" altLang="en-US" smtClean="0"/>
              <a:t>子句</a:t>
            </a:r>
            <a:endParaRPr lang="zh-CN" altLang="en-US" sz="20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428625"/>
            <a:ext cx="7391400" cy="563563"/>
          </a:xfrm>
        </p:spPr>
        <p:txBody>
          <a:bodyPr/>
          <a:lstStyle/>
          <a:p>
            <a:pPr eaLnBrk="1" hangingPunct="1"/>
            <a:r>
              <a:rPr lang="en-US" altLang="zh-CN" sz="3200" smtClean="0"/>
              <a:t>2.</a:t>
            </a:r>
            <a:r>
              <a:rPr lang="zh-CN" altLang="en-US" sz="3200" smtClean="0"/>
              <a:t>查询满足条件的元组</a:t>
            </a:r>
            <a:endParaRPr lang="zh-CN" altLang="en-US" smtClean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143000" y="1412776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1371600" y="1412776"/>
            <a:ext cx="7010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381108" name="Group 180"/>
          <p:cNvGraphicFramePr>
            <a:graphicFrameLocks noGrp="1"/>
          </p:cNvGraphicFramePr>
          <p:nvPr>
            <p:ph type="tbl" idx="1"/>
          </p:nvPr>
        </p:nvGraphicFramePr>
        <p:xfrm>
          <a:off x="395288" y="2225576"/>
          <a:ext cx="8229600" cy="3311525"/>
        </p:xfrm>
        <a:graphic>
          <a:graphicData uri="http://schemas.openxmlformats.org/drawingml/2006/table">
            <a:tbl>
              <a:tblPr/>
              <a:tblGrid>
                <a:gridCol w="2530475"/>
                <a:gridCol w="5699125"/>
              </a:tblGrid>
              <a:tr h="4826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查 询 条 件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谓    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比    较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&gt;=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&lt;=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!=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&lt;&gt;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!&gt;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!&lt;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NOT+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上述比较运算符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确定范围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BETWEEN   AND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  BETWEEN  AND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确定集合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IN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字符匹配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LIKE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LIKE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    值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 NULL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 NOT NULL   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多重条件（逻辑运算）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AND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OR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NOT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19" name="Line 181"/>
          <p:cNvSpPr>
            <a:spLocks noChangeShapeType="1"/>
          </p:cNvSpPr>
          <p:nvPr/>
        </p:nvSpPr>
        <p:spPr bwMode="auto">
          <a:xfrm>
            <a:off x="395288" y="2657376"/>
            <a:ext cx="828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0" name="Text Box 182"/>
          <p:cNvSpPr txBox="1">
            <a:spLocks noChangeArrowheads="1"/>
          </p:cNvSpPr>
          <p:nvPr/>
        </p:nvSpPr>
        <p:spPr bwMode="auto">
          <a:xfrm>
            <a:off x="3059832" y="1454240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 smtClean="0">
                <a:solidFill>
                  <a:srgbClr val="000000"/>
                </a:solidFill>
              </a:rPr>
              <a:t>常用</a:t>
            </a:r>
            <a:r>
              <a:rPr lang="zh-CN" altLang="en-US" sz="2400" dirty="0">
                <a:solidFill>
                  <a:srgbClr val="000000"/>
                </a:solidFill>
              </a:rPr>
              <a:t>的查询条件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(1) </a:t>
            </a:r>
            <a:r>
              <a:rPr lang="zh-CN" altLang="en-US" sz="3200" smtClean="0"/>
              <a:t>比较大小</a:t>
            </a:r>
            <a:endParaRPr lang="zh-CN" altLang="en-US" sz="3200" smtClean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7772400" cy="47529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7]  </a:t>
            </a:r>
            <a:r>
              <a:rPr lang="zh-CN" altLang="en-US" sz="2000" dirty="0" smtClean="0"/>
              <a:t>查询计算机科学系全体学生的名单。</a:t>
            </a:r>
            <a:endParaRPr lang="zh-CN" altLang="en-US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FROM Student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WHERE </a:t>
            </a:r>
            <a:r>
              <a:rPr lang="en-US" altLang="zh-CN" sz="2000" dirty="0" err="1" smtClean="0"/>
              <a:t>Sdept</a:t>
            </a:r>
            <a:r>
              <a:rPr lang="en-US" altLang="zh-CN" sz="2000" dirty="0" smtClean="0"/>
              <a:t>=‘CS’</a:t>
            </a:r>
            <a:r>
              <a:rPr lang="zh-CN" altLang="en-US" sz="2000" dirty="0" smtClean="0"/>
              <a:t>； 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8]  </a:t>
            </a:r>
            <a:r>
              <a:rPr lang="zh-CN" altLang="en-US" sz="2000" dirty="0" smtClean="0"/>
              <a:t>查询所有年龄在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岁以下的学生姓名及其年龄。</a:t>
            </a:r>
            <a:endParaRPr lang="zh-CN" altLang="en-US" sz="20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Sage </a:t>
            </a:r>
            <a:endParaRPr lang="en-US" altLang="zh-CN" sz="2000" dirty="0" smtClean="0"/>
          </a:p>
          <a:p>
            <a:pPr lvl="2" algn="just" eaLnBrk="1" hangingPunct="1">
              <a:buClrTx/>
              <a:buFontTx/>
              <a:buNone/>
            </a:pPr>
            <a:r>
              <a:rPr lang="en-US" altLang="zh-CN" sz="2000" dirty="0" smtClean="0"/>
              <a:t>FROM    Student    </a:t>
            </a:r>
            <a:endParaRPr lang="en-US" altLang="zh-CN" sz="2000" dirty="0" smtClean="0"/>
          </a:p>
          <a:p>
            <a:pPr lvl="2" algn="just" eaLnBrk="1" hangingPunct="1">
              <a:buClrTx/>
              <a:buFontTx/>
              <a:buNone/>
            </a:pPr>
            <a:r>
              <a:rPr lang="en-US" altLang="zh-CN" sz="2000" dirty="0" smtClean="0"/>
              <a:t>WHERE Sage &lt; 20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9]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查询考试成绩有不及格的学生的学号。</a:t>
            </a:r>
            <a:endParaRPr lang="zh-CN" altLang="en-US" sz="2000" b="1" dirty="0" smtClean="0">
              <a:solidFill>
                <a:srgbClr val="FF0000"/>
              </a:solidFill>
            </a:endParaRPr>
          </a:p>
          <a:p>
            <a:pPr lvl="2" eaLnBrk="1" hangingPunct="1">
              <a:buClrTx/>
              <a:buFontTx/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SELECT </a:t>
            </a:r>
            <a:r>
              <a:rPr lang="en-US" altLang="zh-CN" sz="2000" dirty="0" smtClean="0">
                <a:solidFill>
                  <a:srgbClr val="FF00FF"/>
                </a:solidFill>
              </a:rPr>
              <a:t>DISTINCT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Sno</a:t>
            </a:r>
            <a:endParaRPr lang="en-US" altLang="zh-CN" sz="2000" dirty="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dirty="0" smtClean="0"/>
              <a:t>    FROM  SC</a:t>
            </a:r>
            <a:endParaRPr lang="en-US" altLang="zh-CN" sz="2000" dirty="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dirty="0" smtClean="0"/>
              <a:t>    WHERE Grade&lt;60</a:t>
            </a:r>
            <a:r>
              <a:rPr lang="zh-CN" altLang="en-US" sz="2000" dirty="0" smtClean="0"/>
              <a:t>； </a:t>
            </a:r>
            <a:endParaRPr lang="zh-CN" altLang="en-US" sz="2000" dirty="0" smtClean="0"/>
          </a:p>
          <a:p>
            <a:pPr lvl="2" eaLnBrk="1" hangingPunct="1">
              <a:lnSpc>
                <a:spcPct val="90000"/>
              </a:lnSpc>
              <a:buClrTx/>
              <a:buFontTx/>
              <a:buNone/>
            </a:pPr>
            <a:endParaRPr lang="en-US" altLang="zh-CN" sz="20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（</a:t>
            </a:r>
            <a:r>
              <a:rPr lang="en-US" altLang="zh-CN" sz="3200" smtClean="0"/>
              <a:t>2</a:t>
            </a:r>
            <a:r>
              <a:rPr lang="zh-CN" altLang="en-US" sz="3200" smtClean="0"/>
              <a:t>）确定范围</a:t>
            </a:r>
            <a:endParaRPr lang="zh-CN" altLang="en-US" sz="3200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214438"/>
            <a:ext cx="8388350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smtClean="0"/>
              <a:t>谓词</a:t>
            </a:r>
            <a:r>
              <a:rPr lang="en-US" altLang="zh-CN" sz="2400" b="1" smtClean="0"/>
              <a:t>:</a:t>
            </a:r>
            <a:r>
              <a:rPr lang="en-US" altLang="zh-CN" sz="2000" smtClean="0"/>
              <a:t>   BETWEEN </a:t>
            </a:r>
            <a:r>
              <a:rPr lang="en-US" altLang="zh-CN" sz="2000" smtClean="0">
                <a:latin typeface="Courier New" panose="02070309020205020404" pitchFamily="49" charset="0"/>
              </a:rPr>
              <a:t>…</a:t>
            </a:r>
            <a:r>
              <a:rPr lang="en-US" altLang="zh-CN" sz="2000" smtClean="0"/>
              <a:t>  AND  </a:t>
            </a:r>
            <a:r>
              <a:rPr lang="en-US" altLang="zh-CN" sz="2000" smtClean="0">
                <a:latin typeface="Courier New" panose="02070309020205020404" pitchFamily="49" charset="0"/>
              </a:rPr>
              <a:t>…</a:t>
            </a:r>
            <a:endParaRPr lang="en-US" altLang="zh-CN" sz="200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                 NOT BETWEEN  </a:t>
            </a:r>
            <a:r>
              <a:rPr lang="en-US" altLang="zh-CN" sz="2000" smtClean="0">
                <a:latin typeface="Courier New" panose="02070309020205020404" pitchFamily="49" charset="0"/>
              </a:rPr>
              <a:t>…</a:t>
            </a:r>
            <a:r>
              <a:rPr lang="en-US" altLang="zh-CN" sz="2000" smtClean="0"/>
              <a:t>  AND  </a:t>
            </a:r>
            <a:r>
              <a:rPr lang="en-US" altLang="zh-CN" sz="2000" smtClean="0">
                <a:latin typeface="Courier New" panose="02070309020205020404" pitchFamily="49" charset="0"/>
              </a:rPr>
              <a:t>…</a:t>
            </a:r>
            <a:endParaRPr lang="en-US" altLang="zh-CN" sz="2000" smtClean="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800" smtClean="0"/>
              <a:t>[</a:t>
            </a:r>
            <a:r>
              <a:rPr lang="zh-CN" altLang="en-US" sz="1800" smtClean="0"/>
              <a:t>例</a:t>
            </a:r>
            <a:r>
              <a:rPr lang="en-US" altLang="zh-CN" sz="1800" smtClean="0"/>
              <a:t>10] </a:t>
            </a:r>
            <a:r>
              <a:rPr lang="zh-CN" altLang="en-US" sz="1800" smtClean="0"/>
              <a:t>查询年龄在</a:t>
            </a:r>
            <a:r>
              <a:rPr lang="en-US" altLang="zh-CN" sz="1800" smtClean="0"/>
              <a:t>20~23</a:t>
            </a:r>
            <a:r>
              <a:rPr lang="zh-CN" altLang="en-US" sz="1800" smtClean="0"/>
              <a:t>岁（包括</a:t>
            </a:r>
            <a:r>
              <a:rPr lang="en-US" altLang="zh-CN" sz="1800" smtClean="0"/>
              <a:t>20</a:t>
            </a:r>
            <a:r>
              <a:rPr lang="zh-CN" altLang="en-US" sz="1800" smtClean="0"/>
              <a:t>岁和</a:t>
            </a:r>
            <a:r>
              <a:rPr lang="en-US" altLang="zh-CN" sz="1800" smtClean="0"/>
              <a:t>23</a:t>
            </a:r>
            <a:r>
              <a:rPr lang="zh-CN" altLang="en-US" sz="1800" smtClean="0"/>
              <a:t>岁）之间的学生的姓名、系别和年龄</a:t>
            </a:r>
            <a:endParaRPr lang="zh-CN" altLang="en-US" sz="1800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1800" smtClean="0"/>
              <a:t>      </a:t>
            </a:r>
            <a:r>
              <a:rPr lang="en-US" altLang="zh-CN" sz="1800" smtClean="0"/>
              <a:t>SELECT Sname</a:t>
            </a:r>
            <a:r>
              <a:rPr lang="zh-CN" altLang="en-US" sz="1800" smtClean="0"/>
              <a:t>，</a:t>
            </a:r>
            <a:r>
              <a:rPr lang="en-US" altLang="zh-CN" sz="1800" smtClean="0"/>
              <a:t>Sdept</a:t>
            </a:r>
            <a:r>
              <a:rPr lang="zh-CN" altLang="en-US" sz="1800" smtClean="0"/>
              <a:t>，</a:t>
            </a:r>
            <a:r>
              <a:rPr lang="en-US" altLang="zh-CN" sz="1800" smtClean="0"/>
              <a:t>Sage</a:t>
            </a:r>
            <a:endParaRPr lang="en-US" altLang="zh-CN" sz="1800" smtClean="0"/>
          </a:p>
          <a:p>
            <a:pPr lvl="2" algn="just" eaLnBrk="1" hangingPunct="1">
              <a:lnSpc>
                <a:spcPct val="130000"/>
              </a:lnSpc>
              <a:buClrTx/>
              <a:buFontTx/>
              <a:buNone/>
            </a:pPr>
            <a:r>
              <a:rPr lang="en-US" altLang="zh-CN" sz="1800" smtClean="0"/>
              <a:t>FROM     Student</a:t>
            </a:r>
            <a:endParaRPr lang="en-US" altLang="zh-CN" sz="1800" smtClean="0"/>
          </a:p>
          <a:p>
            <a:pPr lvl="2" eaLnBrk="1" hangingPunct="1">
              <a:lnSpc>
                <a:spcPct val="130000"/>
              </a:lnSpc>
              <a:buClrTx/>
              <a:buFontTx/>
              <a:buNone/>
            </a:pPr>
            <a:r>
              <a:rPr lang="en-US" altLang="zh-CN" sz="1800" smtClean="0"/>
              <a:t>WHERE   Sage BETWEEN 20 AND 23</a:t>
            </a:r>
            <a:r>
              <a:rPr lang="zh-CN" altLang="en-US" sz="1800" smtClean="0"/>
              <a:t>； </a:t>
            </a:r>
            <a:endParaRPr lang="zh-CN" altLang="en-US" sz="1800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800" smtClean="0"/>
              <a:t>[</a:t>
            </a:r>
            <a:r>
              <a:rPr lang="zh-CN" altLang="en-US" sz="1800" smtClean="0"/>
              <a:t>例</a:t>
            </a:r>
            <a:r>
              <a:rPr lang="en-US" altLang="zh-CN" sz="1800" smtClean="0"/>
              <a:t>11]  </a:t>
            </a:r>
            <a:r>
              <a:rPr lang="zh-CN" altLang="en-US" sz="1800" smtClean="0"/>
              <a:t>查询年龄不在</a:t>
            </a:r>
            <a:r>
              <a:rPr lang="en-US" altLang="zh-CN" sz="1800" smtClean="0"/>
              <a:t>20~23</a:t>
            </a:r>
            <a:r>
              <a:rPr lang="zh-CN" altLang="en-US" sz="1800" smtClean="0"/>
              <a:t>岁之间的学生姓名、系别和年龄</a:t>
            </a:r>
            <a:endParaRPr lang="zh-CN" altLang="en-US" sz="1800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1800" smtClean="0"/>
              <a:t>	       </a:t>
            </a:r>
            <a:r>
              <a:rPr lang="en-US" altLang="zh-CN" sz="1800" smtClean="0"/>
              <a:t>SELECT Sname</a:t>
            </a:r>
            <a:r>
              <a:rPr lang="zh-CN" altLang="en-US" sz="1800" smtClean="0"/>
              <a:t>，</a:t>
            </a:r>
            <a:r>
              <a:rPr lang="en-US" altLang="zh-CN" sz="1800" smtClean="0"/>
              <a:t>Sdept</a:t>
            </a:r>
            <a:r>
              <a:rPr lang="zh-CN" altLang="en-US" sz="1800" smtClean="0"/>
              <a:t>，</a:t>
            </a:r>
            <a:r>
              <a:rPr lang="en-US" altLang="zh-CN" sz="1800" smtClean="0"/>
              <a:t>Sage</a:t>
            </a:r>
            <a:endParaRPr lang="en-US" altLang="zh-CN" sz="1800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800" smtClean="0"/>
              <a:t>	       FROM    Student</a:t>
            </a:r>
            <a:endParaRPr lang="en-US" altLang="zh-CN" sz="1800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800" smtClean="0"/>
              <a:t>	       WHERE Sage NOT BETWEEN 20 AND 23</a:t>
            </a:r>
            <a:r>
              <a:rPr lang="zh-CN" altLang="en-US" sz="1800" smtClean="0"/>
              <a:t>； </a:t>
            </a:r>
            <a:endParaRPr lang="zh-CN" altLang="en-US" sz="18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(3) </a:t>
            </a:r>
            <a:r>
              <a:rPr lang="zh-CN" altLang="en-US" smtClean="0"/>
              <a:t>确定集合</a:t>
            </a:r>
            <a:endParaRPr lang="zh-CN" altLang="en-US" smtClean="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1500" y="1177007"/>
            <a:ext cx="8280400" cy="434022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200" b="1" dirty="0" smtClean="0"/>
              <a:t>谓词：</a:t>
            </a:r>
            <a:r>
              <a:rPr lang="en-US" altLang="zh-CN" sz="2200" b="1" dirty="0" smtClean="0"/>
              <a:t>IN &lt;</a:t>
            </a:r>
            <a:r>
              <a:rPr lang="zh-CN" altLang="en-US" sz="2200" b="1" dirty="0" smtClean="0"/>
              <a:t>值表</a:t>
            </a:r>
            <a:r>
              <a:rPr lang="en-US" altLang="zh-CN" sz="2200" b="1" dirty="0" smtClean="0"/>
              <a:t>&gt;,  NOT IN &lt;</a:t>
            </a:r>
            <a:r>
              <a:rPr lang="zh-CN" altLang="en-US" sz="2200" b="1" dirty="0" smtClean="0"/>
              <a:t>值表</a:t>
            </a:r>
            <a:r>
              <a:rPr lang="en-US" altLang="zh-CN" sz="2200" b="1" dirty="0" smtClean="0"/>
              <a:t>&gt;</a:t>
            </a:r>
            <a:r>
              <a:rPr lang="en-US" altLang="zh-CN" sz="2200" dirty="0" smtClean="0"/>
              <a:t>          </a:t>
            </a:r>
            <a:endParaRPr lang="en-US" altLang="zh-CN" sz="22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[</a:t>
            </a:r>
            <a:r>
              <a:rPr lang="zh-CN" altLang="en-US" sz="1800" dirty="0" smtClean="0">
                <a:ea typeface="黑体" panose="02010609060101010101" pitchFamily="49" charset="-122"/>
              </a:rPr>
              <a:t>例</a:t>
            </a:r>
            <a:r>
              <a:rPr lang="en-US" altLang="zh-CN" sz="1800" dirty="0" smtClean="0"/>
              <a:t>12]</a:t>
            </a:r>
            <a:r>
              <a:rPr lang="zh-CN" altLang="en-US" sz="1800" dirty="0" smtClean="0"/>
              <a:t>查询信息系（</a:t>
            </a:r>
            <a:r>
              <a:rPr lang="en-US" altLang="zh-CN" sz="1800" dirty="0" smtClean="0"/>
              <a:t>IS</a:t>
            </a:r>
            <a:r>
              <a:rPr lang="zh-CN" altLang="en-US" sz="1800" dirty="0" smtClean="0"/>
              <a:t>）、数学系（</a:t>
            </a:r>
            <a:r>
              <a:rPr lang="en-US" altLang="zh-CN" sz="1800" dirty="0" smtClean="0"/>
              <a:t>MA</a:t>
            </a:r>
            <a:r>
              <a:rPr lang="zh-CN" altLang="en-US" sz="1800" dirty="0" smtClean="0"/>
              <a:t>）和计算机科学系（</a:t>
            </a:r>
            <a:r>
              <a:rPr lang="en-US" altLang="zh-CN" sz="1800" dirty="0" smtClean="0"/>
              <a:t>CS</a:t>
            </a:r>
            <a:r>
              <a:rPr lang="zh-CN" altLang="en-US" sz="1800" dirty="0" smtClean="0"/>
              <a:t>）学生的姓名和性别。</a:t>
            </a:r>
            <a:endParaRPr lang="zh-CN" altLang="en-US" sz="1800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/>
              <a:t>	</a:t>
            </a:r>
            <a:r>
              <a:rPr lang="en-US" altLang="zh-CN" sz="1800" dirty="0" smtClean="0"/>
              <a:t>SELECT </a:t>
            </a:r>
            <a:r>
              <a:rPr lang="en-US" altLang="zh-CN" sz="1800" dirty="0" err="1" smtClean="0"/>
              <a:t>Sname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Ssex</a:t>
            </a:r>
            <a:endParaRPr lang="en-US" altLang="zh-CN" sz="1800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	FROM  Student</a:t>
            </a:r>
            <a:endParaRPr lang="en-US" altLang="zh-CN" sz="1800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	WHERE </a:t>
            </a:r>
            <a:r>
              <a:rPr lang="en-US" altLang="zh-CN" sz="1800" dirty="0" err="1" smtClean="0"/>
              <a:t>Sdept</a:t>
            </a:r>
            <a:r>
              <a:rPr lang="en-US" altLang="zh-CN" sz="1800" dirty="0" smtClean="0"/>
              <a:t> IN ( 'IS'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'MA'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'CS' );</a:t>
            </a:r>
            <a:endParaRPr lang="en-US" altLang="zh-CN" sz="1800" dirty="0" smtClean="0"/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[</a:t>
            </a:r>
            <a:r>
              <a:rPr lang="zh-CN" altLang="en-US" sz="1800" dirty="0" smtClean="0">
                <a:ea typeface="黑体" panose="02010609060101010101" pitchFamily="49" charset="-122"/>
              </a:rPr>
              <a:t>例</a:t>
            </a:r>
            <a:r>
              <a:rPr lang="en-US" altLang="zh-CN" sz="1800" dirty="0" smtClean="0"/>
              <a:t>13]</a:t>
            </a:r>
            <a:r>
              <a:rPr lang="zh-CN" altLang="en-US" sz="1800" dirty="0" smtClean="0"/>
              <a:t>查询既不是信息系、数学系，也不是计算机科学系的学生的姓名和性别。</a:t>
            </a:r>
            <a:endParaRPr lang="zh-CN" altLang="en-US" sz="1800" dirty="0" smtClean="0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SELECT </a:t>
            </a:r>
            <a:r>
              <a:rPr lang="en-US" altLang="zh-CN" sz="1800" dirty="0" err="1" smtClean="0"/>
              <a:t>Sname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Ssex</a:t>
            </a:r>
            <a:endParaRPr lang="en-US" altLang="zh-CN" sz="1800" dirty="0" smtClean="0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FROM Student</a:t>
            </a:r>
            <a:endParaRPr lang="en-US" altLang="zh-CN" sz="1800" dirty="0" smtClean="0"/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	 WHERE </a:t>
            </a:r>
            <a:r>
              <a:rPr lang="en-US" altLang="zh-CN" sz="1800" dirty="0" err="1" smtClean="0"/>
              <a:t>Sdept</a:t>
            </a:r>
            <a:r>
              <a:rPr lang="en-US" altLang="zh-CN" sz="1800" dirty="0" smtClean="0"/>
              <a:t> NOT IN ( 'IS'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'MA'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'CS' );</a:t>
            </a:r>
            <a:endParaRPr lang="en-US" altLang="zh-CN" sz="18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字符匹配（续）</a:t>
            </a:r>
            <a:endParaRPr lang="zh-CN" altLang="en-US" sz="3200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dirty="0" smtClean="0"/>
              <a:t>谓词：</a:t>
            </a:r>
            <a:r>
              <a:rPr lang="zh-CN" altLang="en-US" sz="2400" dirty="0" smtClean="0"/>
              <a:t> </a:t>
            </a:r>
            <a:r>
              <a:rPr lang="en-US" altLang="zh-CN" sz="2000" dirty="0" smtClean="0"/>
              <a:t>[NOT] LIKE  ‘&lt;</a:t>
            </a:r>
            <a:r>
              <a:rPr lang="zh-CN" altLang="en-US" sz="2000" dirty="0" smtClean="0"/>
              <a:t>匹配串</a:t>
            </a:r>
            <a:r>
              <a:rPr lang="en-US" altLang="zh-CN" sz="2000" dirty="0" smtClean="0"/>
              <a:t>&gt;’  [ESCAPE ‘ &lt;</a:t>
            </a:r>
            <a:r>
              <a:rPr lang="zh-CN" altLang="en-US" sz="2000" dirty="0" smtClean="0"/>
              <a:t>换码字符</a:t>
            </a:r>
            <a:r>
              <a:rPr lang="en-US" altLang="zh-CN" sz="2000" dirty="0" smtClean="0"/>
              <a:t>&gt;’] 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1) </a:t>
            </a:r>
            <a:r>
              <a:rPr lang="zh-CN" altLang="en-US" sz="2400" dirty="0" smtClean="0"/>
              <a:t>匹配串为含通配符的字符串</a:t>
            </a:r>
            <a:r>
              <a:rPr lang="en-US" altLang="zh-CN" sz="2400" dirty="0" smtClean="0">
                <a:solidFill>
                  <a:srgbClr val="FF0000"/>
                </a:solidFill>
              </a:rPr>
              <a:t>  %</a:t>
            </a:r>
            <a:r>
              <a:rPr lang="zh-CN" altLang="en-US" sz="2400" dirty="0" smtClean="0">
                <a:solidFill>
                  <a:srgbClr val="FF0000"/>
                </a:solidFill>
              </a:rPr>
              <a:t>和</a:t>
            </a:r>
            <a:r>
              <a:rPr lang="en-US" altLang="zh-CN" sz="2400" dirty="0" smtClean="0">
                <a:solidFill>
                  <a:srgbClr val="FF0000"/>
                </a:solidFill>
              </a:rPr>
              <a:t>_</a:t>
            </a:r>
            <a:endParaRPr lang="zh-CN" altLang="en-US" sz="2400" dirty="0" smtClean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15]  </a:t>
            </a:r>
            <a:r>
              <a:rPr lang="zh-CN" altLang="en-US" sz="2400" dirty="0" smtClean="0"/>
              <a:t>查询所有姓刘学生的姓名、学号和性别。</a:t>
            </a:r>
            <a:endParaRPr lang="zh-CN" altLang="en-US" sz="24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Ssex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Student</a:t>
            </a:r>
            <a:endParaRPr lang="en-US" altLang="zh-CN" sz="2000" dirty="0" smtClean="0"/>
          </a:p>
          <a:p>
            <a:pPr lvl="1" eaLnBrk="1" hangingPunct="1">
              <a:buNone/>
            </a:pPr>
            <a:r>
              <a:rPr lang="en-US" altLang="zh-CN" sz="2000" dirty="0" smtClean="0"/>
              <a:t>      WHERE 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3300"/>
                </a:solidFill>
              </a:rPr>
              <a:t>LIKE </a:t>
            </a:r>
            <a:r>
              <a:rPr lang="en-US" altLang="zh-CN" sz="2000" dirty="0" smtClean="0"/>
              <a:t>'</a:t>
            </a:r>
            <a:r>
              <a:rPr lang="zh-CN" altLang="en-US" sz="2000" dirty="0" smtClean="0">
                <a:solidFill>
                  <a:srgbClr val="FF3300"/>
                </a:solidFill>
              </a:rPr>
              <a:t>刘</a:t>
            </a:r>
            <a:r>
              <a:rPr lang="en-US" altLang="zh-CN" sz="2000" dirty="0" smtClean="0">
                <a:solidFill>
                  <a:srgbClr val="FF3300"/>
                </a:solidFill>
              </a:rPr>
              <a:t>%</a:t>
            </a:r>
            <a:r>
              <a:rPr lang="en-US" altLang="zh-CN" sz="2000" dirty="0" smtClean="0"/>
              <a:t> ' 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16]  </a:t>
            </a:r>
            <a:r>
              <a:rPr lang="zh-CN" altLang="en-US" sz="2400" dirty="0" smtClean="0"/>
              <a:t>查询姓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欧阳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且全名为三个汉字的学生的姓名。</a:t>
            </a:r>
            <a:endParaRPr lang="zh-CN" altLang="en-US" sz="24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  Student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WHERE 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3300"/>
                </a:solidFill>
              </a:rPr>
              <a:t>LIKE '</a:t>
            </a:r>
            <a:r>
              <a:rPr lang="zh-CN" altLang="en-US" sz="2000" dirty="0" smtClean="0">
                <a:solidFill>
                  <a:srgbClr val="FF3300"/>
                </a:solidFill>
              </a:rPr>
              <a:t>欧阳</a:t>
            </a:r>
            <a:r>
              <a:rPr lang="en-US" altLang="zh-CN" sz="2000" dirty="0" smtClean="0">
                <a:solidFill>
                  <a:srgbClr val="FF3300"/>
                </a:solidFill>
              </a:rPr>
              <a:t>_ '</a:t>
            </a:r>
            <a:r>
              <a:rPr lang="zh-CN" altLang="en-US" sz="2000" dirty="0" smtClean="0"/>
              <a:t>；</a:t>
            </a:r>
            <a:endParaRPr lang="zh-CN" altLang="en-US" sz="18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/>
              <a:t>字符匹配（续）</a:t>
            </a:r>
            <a:endParaRPr lang="zh-CN" altLang="en-US" sz="280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17]  </a:t>
            </a:r>
            <a:r>
              <a:rPr lang="zh-CN" altLang="en-US" sz="2400" dirty="0" smtClean="0"/>
              <a:t>查询名字中第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个字为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阳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字的学生的姓名和学号。</a:t>
            </a:r>
            <a:endParaRPr lang="zh-CN" altLang="en-US" sz="24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Sno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Student</a:t>
            </a:r>
            <a:endParaRPr lang="en-US" altLang="zh-CN" sz="2000" dirty="0" smtClean="0"/>
          </a:p>
          <a:p>
            <a:pPr lvl="1" eaLnBrk="1" hangingPunct="1">
              <a:buNone/>
            </a:pPr>
            <a:r>
              <a:rPr lang="en-US" altLang="zh-CN" sz="2000" dirty="0" smtClean="0"/>
              <a:t>      WHERE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3300"/>
                </a:solidFill>
              </a:rPr>
              <a:t>LIKE </a:t>
            </a:r>
            <a:r>
              <a:rPr lang="en-US" altLang="zh-CN" sz="2000" dirty="0" smtClean="0"/>
              <a:t>' </a:t>
            </a:r>
            <a:r>
              <a:rPr lang="en-US" altLang="zh-CN" sz="2000" dirty="0" smtClean="0">
                <a:solidFill>
                  <a:srgbClr val="FF3300"/>
                </a:solidFill>
              </a:rPr>
              <a:t>_</a:t>
            </a:r>
            <a:r>
              <a:rPr lang="zh-CN" altLang="en-US" sz="2000" dirty="0" smtClean="0">
                <a:solidFill>
                  <a:srgbClr val="FF3300"/>
                </a:solidFill>
              </a:rPr>
              <a:t>阳</a:t>
            </a:r>
            <a:r>
              <a:rPr lang="en-US" altLang="zh-CN" sz="2000" dirty="0" smtClean="0">
                <a:solidFill>
                  <a:srgbClr val="FF3300"/>
                </a:solidFill>
              </a:rPr>
              <a:t>%</a:t>
            </a:r>
            <a:r>
              <a:rPr lang="en-US" altLang="zh-CN" sz="2000" dirty="0" smtClean="0"/>
              <a:t> ' 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18]  </a:t>
            </a:r>
            <a:r>
              <a:rPr lang="zh-CN" altLang="en-US" sz="2400" dirty="0" smtClean="0"/>
              <a:t>查询所有不姓刘的学生姓名。</a:t>
            </a:r>
            <a:endParaRPr lang="zh-CN" altLang="en-US" sz="24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Ssex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Student</a:t>
            </a:r>
            <a:endParaRPr lang="en-US" altLang="zh-CN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WHERE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3300"/>
                </a:solidFill>
              </a:rPr>
              <a:t>NOT LIKE</a:t>
            </a:r>
            <a:r>
              <a:rPr lang="en-US" altLang="zh-CN" sz="2000" dirty="0" smtClean="0"/>
              <a:t> '</a:t>
            </a:r>
            <a:r>
              <a:rPr lang="zh-CN" altLang="en-US" sz="2000" dirty="0" smtClean="0"/>
              <a:t>刘</a:t>
            </a:r>
            <a:r>
              <a:rPr lang="en-US" altLang="zh-CN" sz="2000" dirty="0" smtClean="0"/>
              <a:t>%'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(4)</a:t>
            </a:r>
            <a:r>
              <a:rPr lang="zh-CN" altLang="en-US" sz="3200" smtClean="0"/>
              <a:t>字符匹配</a:t>
            </a:r>
            <a:endParaRPr lang="zh-CN" altLang="en-US" sz="3200" smtClean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2) </a:t>
            </a:r>
            <a:r>
              <a:rPr lang="zh-CN" altLang="en-US" sz="2400" dirty="0" smtClean="0"/>
              <a:t>匹配串为固定字符串</a:t>
            </a:r>
            <a:endParaRPr lang="zh-CN" altLang="en-US" sz="2400" dirty="0" smtClean="0"/>
          </a:p>
          <a:p>
            <a:pPr marL="914400" lvl="1" indent="-45720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>
                <a:ea typeface="黑体" panose="02010609060101010101" pitchFamily="49" charset="-122"/>
              </a:rPr>
              <a:t>例</a:t>
            </a:r>
            <a:r>
              <a:rPr lang="en-US" altLang="zh-CN" sz="2000" dirty="0" smtClean="0"/>
              <a:t>14]  </a:t>
            </a:r>
            <a:r>
              <a:rPr lang="zh-CN" altLang="en-US" sz="2000" dirty="0" smtClean="0"/>
              <a:t>查询学号为</a:t>
            </a:r>
            <a:r>
              <a:rPr lang="en-US" altLang="zh-CN" sz="2000" dirty="0" smtClean="0"/>
              <a:t>200215121</a:t>
            </a:r>
            <a:r>
              <a:rPr lang="zh-CN" altLang="en-US" sz="2000" dirty="0" smtClean="0"/>
              <a:t>的学生的详细情况。</a:t>
            </a:r>
            <a:endParaRPr lang="zh-CN" altLang="en-US" sz="1800" dirty="0" smtClean="0"/>
          </a:p>
          <a:p>
            <a:pPr marL="1333500" lvl="2" indent="-419100" algn="just"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 sz="1800" dirty="0" smtClean="0"/>
              <a:t>     </a:t>
            </a:r>
            <a:r>
              <a:rPr lang="en-US" altLang="zh-CN" sz="2000" dirty="0" smtClean="0"/>
              <a:t>SELECT *    </a:t>
            </a:r>
            <a:endParaRPr lang="en-US" altLang="zh-CN" sz="2000" dirty="0" smtClean="0"/>
          </a:p>
          <a:p>
            <a:pPr marL="1333500" lvl="2" indent="-419100" algn="just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 smtClean="0"/>
              <a:t>     FROM  Student  </a:t>
            </a:r>
            <a:endParaRPr lang="en-US" altLang="zh-CN" sz="2000" dirty="0" smtClean="0"/>
          </a:p>
          <a:p>
            <a:pPr marL="1333500" lvl="2" indent="-419100" algn="just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 smtClean="0"/>
              <a:t>     WHERE  </a:t>
            </a:r>
            <a:r>
              <a:rPr lang="en-US" altLang="zh-CN" sz="2000" dirty="0" err="1" smtClean="0"/>
              <a:t>Sno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3300"/>
                </a:solidFill>
              </a:rPr>
              <a:t>LIKE</a:t>
            </a:r>
            <a:r>
              <a:rPr lang="en-US" altLang="zh-CN" sz="2000" dirty="0" smtClean="0"/>
              <a:t> ' 200215121'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marL="914400" lvl="1" indent="-4572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等价于：</a:t>
            </a:r>
            <a:r>
              <a:rPr lang="zh-CN" altLang="en-US" sz="1800" dirty="0" smtClean="0"/>
              <a:t> </a:t>
            </a:r>
            <a:endParaRPr lang="zh-CN" altLang="en-US" sz="1800" dirty="0" smtClean="0"/>
          </a:p>
          <a:p>
            <a:pPr marL="1333500" lvl="2" indent="-419100"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 sz="1800" dirty="0" smtClean="0"/>
              <a:t>      </a:t>
            </a:r>
            <a:r>
              <a:rPr lang="en-US" altLang="zh-CN" sz="2000" dirty="0" smtClean="0"/>
              <a:t>SELECT  * </a:t>
            </a:r>
            <a:endParaRPr lang="en-US" altLang="zh-CN" sz="2000" dirty="0" smtClean="0"/>
          </a:p>
          <a:p>
            <a:pPr marL="1333500" lvl="2" indent="-419100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 smtClean="0"/>
              <a:t>      FROM  Student </a:t>
            </a:r>
            <a:endParaRPr lang="en-US" altLang="zh-CN" sz="2000" dirty="0" smtClean="0"/>
          </a:p>
          <a:p>
            <a:pPr marL="1333500" lvl="2" indent="-419100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 smtClean="0"/>
              <a:t>      WHERE </a:t>
            </a:r>
            <a:r>
              <a:rPr lang="en-US" altLang="zh-CN" sz="2000" dirty="0" err="1" smtClean="0"/>
              <a:t>Sno</a:t>
            </a:r>
            <a:r>
              <a:rPr lang="en-US" altLang="zh-CN" sz="2000" dirty="0" smtClean="0"/>
              <a:t> = '200215121'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字符匹配（续）</a:t>
            </a:r>
            <a:endParaRPr lang="zh-CN" altLang="en-US" sz="3200" smtClean="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66738" y="1143000"/>
            <a:ext cx="8001000" cy="5238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3) </a:t>
            </a:r>
            <a:r>
              <a:rPr lang="zh-CN" altLang="en-US" sz="2400" dirty="0" smtClean="0"/>
              <a:t>使用换码字符将通配符转义为普通字符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 dirty="0" smtClean="0"/>
              <a:t> </a:t>
            </a:r>
            <a:endParaRPr lang="zh-CN" altLang="en-US" sz="16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</a:t>
            </a: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19]  </a:t>
            </a:r>
            <a:r>
              <a:rPr lang="zh-CN" altLang="en-US" sz="2000" dirty="0" smtClean="0"/>
              <a:t>查询</a:t>
            </a:r>
            <a:r>
              <a:rPr lang="en-US" altLang="zh-CN" sz="2000" dirty="0" smtClean="0"/>
              <a:t>DB_D</a:t>
            </a:r>
            <a:r>
              <a:rPr lang="zh-CN" altLang="en-US" sz="2000" dirty="0" smtClean="0"/>
              <a:t>开头的课程的课程号和学分。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Ccredit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Course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WHERE </a:t>
            </a:r>
            <a:r>
              <a:rPr lang="en-US" altLang="zh-CN" sz="2000" dirty="0" err="1" smtClean="0"/>
              <a:t>Cname</a:t>
            </a:r>
            <a:r>
              <a:rPr lang="en-US" altLang="zh-CN" sz="2000" dirty="0" smtClean="0"/>
              <a:t> LIKE ‘DB/_D%' </a:t>
            </a:r>
            <a:r>
              <a:rPr lang="en-US" altLang="zh-CN" sz="2000" dirty="0" smtClean="0">
                <a:solidFill>
                  <a:srgbClr val="FF3300"/>
                </a:solidFill>
              </a:rPr>
              <a:t>ESCAPE ‘/‘</a:t>
            </a:r>
            <a:r>
              <a:rPr lang="zh-CN" altLang="en-US" sz="2000" dirty="0" smtClean="0">
                <a:solidFill>
                  <a:srgbClr val="FF3300"/>
                </a:solidFill>
              </a:rPr>
              <a:t>；</a:t>
            </a:r>
            <a:endParaRPr lang="zh-CN" altLang="en-US" sz="2000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20]  </a:t>
            </a:r>
            <a:r>
              <a:rPr lang="zh-CN" altLang="en-US" sz="2000" dirty="0" smtClean="0"/>
              <a:t>查询以</a:t>
            </a:r>
            <a:r>
              <a:rPr lang="en-US" altLang="zh-CN" sz="2000" dirty="0" smtClean="0"/>
              <a:t>"DB_"</a:t>
            </a:r>
            <a:r>
              <a:rPr lang="zh-CN" altLang="en-US" sz="2000" dirty="0" smtClean="0"/>
              <a:t>开头，且倒数第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个字符为 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的课程的详细情况。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 *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  Course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WHERE  </a:t>
            </a:r>
            <a:r>
              <a:rPr lang="en-US" altLang="zh-CN" sz="2000" dirty="0" err="1" smtClean="0"/>
              <a:t>Cname</a:t>
            </a:r>
            <a:r>
              <a:rPr lang="en-US" altLang="zh-CN" sz="2000" dirty="0" smtClean="0"/>
              <a:t> LIKE  'DB</a:t>
            </a:r>
            <a:r>
              <a:rPr lang="en-US" altLang="zh-CN" sz="2000" dirty="0" smtClean="0">
                <a:solidFill>
                  <a:srgbClr val="852121"/>
                </a:solidFill>
              </a:rPr>
              <a:t>/</a:t>
            </a:r>
            <a:r>
              <a:rPr lang="en-US" altLang="zh-CN" sz="2000" dirty="0" smtClean="0"/>
              <a:t>_%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_ _' </a:t>
            </a:r>
            <a:r>
              <a:rPr lang="en-US" altLang="zh-CN" sz="2000" dirty="0" smtClean="0">
                <a:solidFill>
                  <a:srgbClr val="FF3300"/>
                </a:solidFill>
              </a:rPr>
              <a:t>ESCAPE ' / ‘</a:t>
            </a:r>
            <a:r>
              <a:rPr lang="zh-CN" altLang="en-US" sz="2000" dirty="0" smtClean="0"/>
              <a:t>；</a:t>
            </a:r>
            <a:endParaRPr lang="zh-CN" altLang="en-US" sz="2000" dirty="0" smtClean="0">
              <a:solidFill>
                <a:srgbClr val="852121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ESCAPE ‘/’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表示“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/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” 为换码字符</a:t>
            </a:r>
            <a:r>
              <a:rPr lang="zh-CN" altLang="en-US" sz="2000" dirty="0" smtClean="0">
                <a:solidFill>
                  <a:srgbClr val="0000FF"/>
                </a:solidFill>
              </a:rPr>
              <a:t> 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0000FF"/>
                </a:solidFill>
              </a:rPr>
              <a:t>“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/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”也可以换成其他符合比如“！”，表示该符号后面的一个符号转换为普通字符。有些符号不行。</a:t>
            </a:r>
            <a:endParaRPr lang="zh-CN" altLang="en-US" sz="2000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提问</a:t>
            </a:r>
            <a:endParaRPr lang="zh-CN" altLang="en-US" smtClean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1.</a:t>
            </a:r>
            <a:r>
              <a:rPr lang="zh-CN" altLang="en-US" smtClean="0"/>
              <a:t>在课程表中查询课程名以“数据”开头的课程的课程号，课程名。注意要取别名</a:t>
            </a:r>
            <a:r>
              <a:rPr lang="en-US" altLang="zh-CN" smtClean="0"/>
              <a:t>”</a:t>
            </a:r>
            <a:r>
              <a:rPr lang="zh-CN" altLang="en-US" smtClean="0"/>
              <a:t>课程号</a:t>
            </a:r>
            <a:r>
              <a:rPr lang="en-US" altLang="zh-CN" smtClean="0"/>
              <a:t>”</a:t>
            </a:r>
            <a:r>
              <a:rPr lang="zh-CN" altLang="en-US" smtClean="0"/>
              <a:t>，</a:t>
            </a:r>
            <a:r>
              <a:rPr lang="en-US" altLang="zh-CN" smtClean="0"/>
              <a:t>”</a:t>
            </a:r>
            <a:r>
              <a:rPr lang="zh-CN" altLang="en-US" smtClean="0"/>
              <a:t>课程名</a:t>
            </a:r>
            <a:r>
              <a:rPr lang="en-US" altLang="zh-CN" smtClean="0"/>
              <a:t>”</a:t>
            </a:r>
            <a:r>
              <a:rPr lang="zh-CN" altLang="en-US" smtClean="0"/>
              <a:t>。</a:t>
            </a:r>
            <a:endParaRPr lang="en-US" altLang="zh-CN" smtClean="0"/>
          </a:p>
          <a:p>
            <a:r>
              <a:rPr lang="en-US" altLang="zh-CN" smtClean="0"/>
              <a:t>2.</a:t>
            </a:r>
            <a:r>
              <a:rPr lang="zh-CN" altLang="en-US" smtClean="0"/>
              <a:t>在课程表中查询课程名，学分，学分是</a:t>
            </a:r>
            <a:r>
              <a:rPr lang="en-US" altLang="zh-CN" smtClean="0"/>
              <a:t>2</a:t>
            </a:r>
            <a:r>
              <a:rPr lang="zh-CN" altLang="en-US" smtClean="0"/>
              <a:t>到</a:t>
            </a:r>
            <a:r>
              <a:rPr lang="en-US" altLang="zh-CN" smtClean="0"/>
              <a:t>4</a:t>
            </a:r>
            <a:r>
              <a:rPr lang="zh-CN" altLang="en-US" smtClean="0"/>
              <a:t>之间。用比较运算符，或</a:t>
            </a:r>
            <a:r>
              <a:rPr lang="en-US" altLang="zh-CN" smtClean="0"/>
              <a:t>between and </a:t>
            </a:r>
            <a:r>
              <a:rPr lang="zh-CN" altLang="en-US" smtClean="0"/>
              <a:t>，或</a:t>
            </a:r>
            <a:r>
              <a:rPr lang="en-US" altLang="zh-CN" smtClean="0"/>
              <a:t>in</a:t>
            </a:r>
            <a:r>
              <a:rPr lang="zh-CN" altLang="en-US" smtClean="0"/>
              <a:t>，分别表达学分的限制条件。不用取别名。</a:t>
            </a:r>
            <a:endParaRPr lang="en-US" altLang="zh-CN" smtClean="0"/>
          </a:p>
          <a:p>
            <a:r>
              <a:rPr lang="en-US" altLang="zh-CN" smtClean="0"/>
              <a:t>3.</a:t>
            </a:r>
            <a:r>
              <a:rPr lang="zh-CN" altLang="en-US" smtClean="0"/>
              <a:t>查询课程表中，课程的学分都有哪些。</a:t>
            </a:r>
            <a:endParaRPr lang="zh-CN" altLang="en-US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(5) </a:t>
            </a:r>
            <a:r>
              <a:rPr lang="zh-CN" altLang="en-US" sz="3200" smtClean="0"/>
              <a:t>涉及空值的查询</a:t>
            </a:r>
            <a:endParaRPr lang="zh-CN" altLang="en-US" sz="3200" smtClean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85875"/>
            <a:ext cx="8229600" cy="4695825"/>
          </a:xfrm>
        </p:spPr>
        <p:txBody>
          <a:bodyPr/>
          <a:lstStyle/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谓词：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IS NULL </a:t>
            </a:r>
            <a:r>
              <a:rPr lang="zh-CN" altLang="en-US" sz="2000" dirty="0" smtClean="0"/>
              <a:t>或 </a:t>
            </a:r>
            <a:r>
              <a:rPr lang="en-US" altLang="zh-CN" sz="2000" dirty="0" smtClean="0"/>
              <a:t>IS NOT NULL</a:t>
            </a:r>
            <a:endParaRPr lang="en-US" altLang="zh-CN" sz="2000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rgbClr val="FF0000"/>
                </a:solidFill>
              </a:rPr>
              <a:t> “IS” </a:t>
            </a:r>
            <a:r>
              <a:rPr lang="zh-CN" altLang="en-US" sz="2000" dirty="0" smtClean="0">
                <a:solidFill>
                  <a:srgbClr val="FF0000"/>
                </a:solidFill>
              </a:rPr>
              <a:t>不能用 </a:t>
            </a:r>
            <a:r>
              <a:rPr lang="en-US" altLang="zh-CN" sz="2000" dirty="0" smtClean="0">
                <a:solidFill>
                  <a:srgbClr val="FF0000"/>
                </a:solidFill>
              </a:rPr>
              <a:t> “=” </a:t>
            </a:r>
            <a:r>
              <a:rPr lang="zh-CN" altLang="en-US" sz="2000" dirty="0" smtClean="0">
                <a:solidFill>
                  <a:srgbClr val="FF0000"/>
                </a:solidFill>
              </a:rPr>
              <a:t>代替</a:t>
            </a:r>
            <a:endParaRPr lang="zh-CN" altLang="en-US" sz="20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21]  </a:t>
            </a:r>
            <a:r>
              <a:rPr lang="zh-CN" altLang="en-US" sz="2000" dirty="0" smtClean="0"/>
              <a:t>某些学生选修课程后没有参加考试，所以有选课记录，但没有考试成绩。查询缺少成绩的学生的学号和相应的课程号。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Cno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 SC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WHERE  Grade IS NULL</a:t>
            </a:r>
            <a:endParaRPr lang="en-US" altLang="zh-CN" sz="1800" dirty="0" smtClean="0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22]  </a:t>
            </a:r>
            <a:r>
              <a:rPr lang="zh-CN" altLang="en-US" sz="2000" dirty="0" smtClean="0"/>
              <a:t>查所有有成绩的学生学号和课程号。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Cno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FROM  SC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WHERE  Grade IS NOT NULL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(6) </a:t>
            </a:r>
            <a:r>
              <a:rPr lang="zh-CN" altLang="en-US" sz="3200" smtClean="0"/>
              <a:t>多重条件查询</a:t>
            </a:r>
            <a:endParaRPr lang="zh-CN" altLang="en-US" smtClean="0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85875"/>
            <a:ext cx="8229600" cy="25368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000" smtClean="0"/>
              <a:t>逻辑运算符：</a:t>
            </a:r>
            <a:r>
              <a:rPr lang="en-US" altLang="zh-CN" sz="2000" smtClean="0"/>
              <a:t>AND</a:t>
            </a:r>
            <a:r>
              <a:rPr lang="zh-CN" altLang="en-US" sz="2000" smtClean="0"/>
              <a:t>和 </a:t>
            </a:r>
            <a:r>
              <a:rPr lang="en-US" altLang="zh-CN" sz="2000" smtClean="0"/>
              <a:t>OR</a:t>
            </a:r>
            <a:r>
              <a:rPr lang="zh-CN" altLang="en-US" sz="2000" smtClean="0"/>
              <a:t>来联结多个查询条件</a:t>
            </a:r>
            <a:endParaRPr lang="zh-CN" altLang="en-US" sz="2400" smtClean="0"/>
          </a:p>
          <a:p>
            <a:pPr lvl="2" eaLnBrk="1" hangingPunct="1">
              <a:lnSpc>
                <a:spcPct val="110000"/>
              </a:lnSpc>
              <a:buClrTx/>
            </a:pPr>
            <a:r>
              <a:rPr lang="zh-CN" altLang="en-US" sz="2000" smtClean="0"/>
              <a:t> </a:t>
            </a:r>
            <a:r>
              <a:rPr lang="en-US" altLang="zh-CN" sz="2000" smtClean="0"/>
              <a:t>AND</a:t>
            </a:r>
            <a:r>
              <a:rPr lang="zh-CN" altLang="en-US" sz="2000" smtClean="0"/>
              <a:t>的优先级高于</a:t>
            </a:r>
            <a:r>
              <a:rPr lang="en-US" altLang="zh-CN" sz="2000" smtClean="0"/>
              <a:t>OR</a:t>
            </a:r>
            <a:endParaRPr lang="en-US" altLang="zh-CN" sz="2000" smtClean="0"/>
          </a:p>
          <a:p>
            <a:pPr lvl="2" eaLnBrk="1" hangingPunct="1">
              <a:lnSpc>
                <a:spcPct val="110000"/>
              </a:lnSpc>
              <a:buClrTx/>
            </a:pPr>
            <a:r>
              <a:rPr lang="en-US" altLang="zh-CN" sz="2000" smtClean="0"/>
              <a:t> </a:t>
            </a:r>
            <a:r>
              <a:rPr lang="zh-CN" altLang="en-US" sz="2000" smtClean="0"/>
              <a:t>可以用括号改变优先级</a:t>
            </a:r>
            <a:endParaRPr lang="zh-CN" altLang="en-US" sz="2000" smtClean="0"/>
          </a:p>
          <a:p>
            <a:pPr eaLnBrk="1" hangingPunct="1">
              <a:lnSpc>
                <a:spcPct val="110000"/>
              </a:lnSpc>
            </a:pPr>
            <a:r>
              <a:rPr lang="zh-CN" altLang="en-US" sz="2000" smtClean="0"/>
              <a:t>可用来实现多种其他谓词</a:t>
            </a:r>
            <a:endParaRPr lang="zh-CN" altLang="en-US" sz="2400" smtClean="0"/>
          </a:p>
          <a:p>
            <a:pPr lvl="2" eaLnBrk="1" hangingPunct="1">
              <a:lnSpc>
                <a:spcPct val="110000"/>
              </a:lnSpc>
              <a:buClrTx/>
            </a:pPr>
            <a:r>
              <a:rPr lang="zh-CN" altLang="en-US" sz="2000" smtClean="0"/>
              <a:t> </a:t>
            </a:r>
            <a:r>
              <a:rPr lang="en-US" altLang="zh-CN" sz="2000" smtClean="0"/>
              <a:t>[NOT] IN</a:t>
            </a:r>
            <a:endParaRPr lang="en-US" altLang="zh-CN" sz="2000" smtClean="0"/>
          </a:p>
          <a:p>
            <a:pPr lvl="2" eaLnBrk="1" hangingPunct="1">
              <a:lnSpc>
                <a:spcPct val="110000"/>
              </a:lnSpc>
              <a:buClrTx/>
            </a:pPr>
            <a:r>
              <a:rPr lang="en-US" altLang="zh-CN" sz="2000" smtClean="0"/>
              <a:t> [NOT] BETWEEN …   AND  …</a:t>
            </a:r>
            <a:endParaRPr lang="en-US" altLang="zh-CN" sz="2000" smtClean="0"/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500063" y="4143375"/>
            <a:ext cx="822960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7DA0D3"/>
              </a:buCl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</a:rPr>
              <a:t>23]  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</a:rPr>
              <a:t>查询计算机系年龄在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</a:rPr>
              <a:t>岁以下的学生姓名。</a:t>
            </a:r>
            <a:endParaRPr lang="zh-CN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7DA0D3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    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SELECT Sname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7DA0D3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       FROM  Student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7DA0D3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       WHERE Sdept= 'CS' AND Sage&lt;20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；</a:t>
            </a:r>
            <a:endParaRPr lang="zh-CN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/>
              <a:t>多重条件查询（续）</a:t>
            </a:r>
            <a:endParaRPr lang="zh-CN" altLang="en-US" sz="2800" smtClean="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1500" y="1357313"/>
            <a:ext cx="8153400" cy="4495800"/>
          </a:xfrm>
        </p:spPr>
        <p:txBody>
          <a:bodyPr/>
          <a:lstStyle/>
          <a:p>
            <a:pPr eaLnBrk="1" hangingPunct="1"/>
            <a:r>
              <a:rPr lang="zh-CN" altLang="en-US" sz="2400" b="1" smtClean="0"/>
              <a:t>改写</a:t>
            </a:r>
            <a:r>
              <a:rPr lang="en-US" altLang="zh-CN" sz="2400" b="1" smtClean="0"/>
              <a:t>[</a:t>
            </a:r>
            <a:r>
              <a:rPr lang="zh-CN" altLang="en-US" sz="2400" b="1" smtClean="0"/>
              <a:t>例</a:t>
            </a:r>
            <a:r>
              <a:rPr lang="en-US" altLang="zh-CN" sz="2400" b="1" smtClean="0"/>
              <a:t>12]</a:t>
            </a:r>
            <a:endParaRPr lang="en-US" altLang="zh-CN" sz="24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/>
              <a:t>例</a:t>
            </a:r>
            <a:r>
              <a:rPr lang="en-US" altLang="zh-CN" sz="2400" smtClean="0"/>
              <a:t>12]  </a:t>
            </a:r>
            <a:r>
              <a:rPr lang="zh-CN" altLang="en-US" sz="2400" smtClean="0"/>
              <a:t>查询信息系（</a:t>
            </a:r>
            <a:r>
              <a:rPr lang="en-US" altLang="zh-CN" sz="2400" smtClean="0"/>
              <a:t>IS</a:t>
            </a:r>
            <a:r>
              <a:rPr lang="zh-CN" altLang="en-US" sz="2400" smtClean="0"/>
              <a:t>）、数学系（</a:t>
            </a:r>
            <a:r>
              <a:rPr lang="en-US" altLang="zh-CN" sz="2400" smtClean="0"/>
              <a:t>MA</a:t>
            </a:r>
            <a:r>
              <a:rPr lang="zh-CN" altLang="en-US" sz="2400" smtClean="0"/>
              <a:t>）和计算机科学系（</a:t>
            </a:r>
            <a:r>
              <a:rPr lang="en-US" altLang="zh-CN" sz="2400" smtClean="0"/>
              <a:t>CS</a:t>
            </a:r>
            <a:r>
              <a:rPr lang="zh-CN" altLang="en-US" sz="2400" smtClean="0"/>
              <a:t>）学生的姓名和性别。</a:t>
            </a:r>
            <a:endParaRPr lang="zh-CN" altLang="en-US" sz="240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smtClean="0"/>
              <a:t>SELECT Sname</a:t>
            </a:r>
            <a:r>
              <a:rPr lang="zh-CN" altLang="en-US" sz="2000" smtClean="0"/>
              <a:t>，</a:t>
            </a:r>
            <a:r>
              <a:rPr lang="en-US" altLang="zh-CN" sz="2000" smtClean="0"/>
              <a:t>Ssex</a:t>
            </a:r>
            <a:endParaRPr lang="en-US" altLang="zh-CN" sz="200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smtClean="0"/>
              <a:t>FROM Student</a:t>
            </a:r>
            <a:endParaRPr lang="en-US" altLang="zh-CN" sz="200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smtClean="0"/>
              <a:t>WHERE Sdept IN ( 'IS'</a:t>
            </a:r>
            <a:r>
              <a:rPr lang="zh-CN" altLang="en-US" sz="2000" smtClean="0"/>
              <a:t>，</a:t>
            </a:r>
            <a:r>
              <a:rPr lang="en-US" altLang="zh-CN" sz="2000" smtClean="0"/>
              <a:t>'MA'</a:t>
            </a:r>
            <a:r>
              <a:rPr lang="zh-CN" altLang="en-US" sz="2000" smtClean="0"/>
              <a:t>，</a:t>
            </a:r>
            <a:r>
              <a:rPr lang="en-US" altLang="zh-CN" sz="2000" smtClean="0"/>
              <a:t>'CS' )</a:t>
            </a:r>
            <a:endParaRPr lang="en-US" altLang="zh-CN" sz="200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可改写为：</a:t>
            </a:r>
            <a:endParaRPr lang="zh-CN" altLang="en-US" sz="240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smtClean="0"/>
              <a:t>SELECT Sname</a:t>
            </a:r>
            <a:r>
              <a:rPr lang="zh-CN" altLang="en-US" sz="2000" smtClean="0"/>
              <a:t>，</a:t>
            </a:r>
            <a:r>
              <a:rPr lang="en-US" altLang="zh-CN" sz="2000" smtClean="0"/>
              <a:t>Ssex</a:t>
            </a:r>
            <a:endParaRPr lang="en-US" altLang="zh-CN" sz="200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smtClean="0"/>
              <a:t>FROM   Student</a:t>
            </a:r>
            <a:endParaRPr lang="en-US" altLang="zh-CN" sz="2000" smtClean="0"/>
          </a:p>
          <a:p>
            <a:pPr lvl="2" eaLnBrk="1" hangingPunct="1">
              <a:buClrTx/>
              <a:buFontTx/>
              <a:buNone/>
            </a:pPr>
            <a:r>
              <a:rPr lang="en-US" altLang="zh-CN" sz="2000" smtClean="0"/>
              <a:t>WHERE  Sdept= ' IS ' OR Sdept= ' MA' OR Sdept= ' CS '</a:t>
            </a:r>
            <a:r>
              <a:rPr lang="zh-CN" altLang="en-US" sz="2000" smtClean="0"/>
              <a:t>；</a:t>
            </a:r>
            <a:endParaRPr lang="zh-CN" altLang="en-US" sz="2000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0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3.4.1  </a:t>
            </a:r>
            <a:r>
              <a:rPr lang="zh-CN" altLang="en-US" smtClean="0"/>
              <a:t>单表查询 </a:t>
            </a:r>
            <a:endParaRPr lang="zh-CN" altLang="en-US" smtClean="0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400" smtClean="0"/>
              <a:t>查询仅涉及一个表：</a:t>
            </a:r>
            <a:endParaRPr lang="zh-CN" altLang="en-US" sz="2400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一、 选择表中的若干列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二、 选择表中的若干元组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b="1" smtClean="0">
                <a:solidFill>
                  <a:srgbClr val="FF0000"/>
                </a:solidFill>
              </a:rPr>
              <a:t>三、 </a:t>
            </a:r>
            <a:r>
              <a:rPr lang="en-US" altLang="zh-CN" b="1" smtClean="0">
                <a:solidFill>
                  <a:srgbClr val="FF0000"/>
                </a:solidFill>
              </a:rPr>
              <a:t>ORDER BY</a:t>
            </a:r>
            <a:r>
              <a:rPr lang="zh-CN" altLang="en-US" b="1" smtClean="0">
                <a:solidFill>
                  <a:srgbClr val="FF0000"/>
                </a:solidFill>
              </a:rPr>
              <a:t>子句</a:t>
            </a:r>
            <a:endParaRPr lang="zh-CN" altLang="en-US" b="1" smtClean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四、 聚集函数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五、 </a:t>
            </a:r>
            <a:r>
              <a:rPr lang="en-US" altLang="zh-CN" smtClean="0"/>
              <a:t>GROUP BY</a:t>
            </a:r>
            <a:r>
              <a:rPr lang="zh-CN" altLang="en-US" smtClean="0"/>
              <a:t>子句</a:t>
            </a: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三、</a:t>
            </a:r>
            <a:r>
              <a:rPr lang="en-US" altLang="zh-CN" smtClean="0"/>
              <a:t>ORDER BY</a:t>
            </a:r>
            <a:r>
              <a:rPr lang="zh-CN" altLang="en-US" smtClean="0"/>
              <a:t>子句 </a:t>
            </a:r>
            <a:endParaRPr lang="zh-CN" altLang="en-US" smtClean="0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400" dirty="0" smtClean="0"/>
              <a:t>ORDER BY</a:t>
            </a:r>
            <a:r>
              <a:rPr lang="zh-CN" altLang="en-US" sz="2400" dirty="0" smtClean="0"/>
              <a:t>子句</a:t>
            </a:r>
            <a:endParaRPr lang="zh-CN" altLang="en-US" sz="2400" dirty="0" smtClean="0"/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/>
              <a:t>可以按一个或多个属性列排序</a:t>
            </a:r>
            <a:endParaRPr lang="zh-CN" altLang="en-US" dirty="0" smtClean="0"/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/>
              <a:t>升序：</a:t>
            </a:r>
            <a:r>
              <a:rPr lang="en-US" altLang="zh-CN" dirty="0" smtClean="0"/>
              <a:t>ASC</a:t>
            </a:r>
            <a:r>
              <a:rPr lang="zh-CN" altLang="en-US" dirty="0" smtClean="0"/>
              <a:t>；降序：</a:t>
            </a:r>
            <a:r>
              <a:rPr lang="en-US" altLang="zh-CN" dirty="0" smtClean="0"/>
              <a:t>DESC</a:t>
            </a:r>
            <a:r>
              <a:rPr lang="zh-CN" altLang="en-US" dirty="0" smtClean="0"/>
              <a:t>；缺省值为升序</a:t>
            </a:r>
            <a:endParaRPr lang="zh-CN" altLang="en-US" dirty="0" smtClean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当排序列含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空值</a:t>
            </a:r>
            <a:r>
              <a:rPr lang="zh-CN" altLang="en-US" sz="2400" dirty="0" smtClean="0"/>
              <a:t>时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（空值当成最大值）</a:t>
            </a:r>
            <a:endParaRPr lang="zh-CN" altLang="en-US" sz="2400" b="1" dirty="0" smtClean="0">
              <a:solidFill>
                <a:srgbClr val="0000FF"/>
              </a:solidFill>
            </a:endParaRP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 smtClean="0">
                <a:solidFill>
                  <a:srgbClr val="0000FF"/>
                </a:solidFill>
              </a:rPr>
              <a:t>ASC</a:t>
            </a:r>
            <a:r>
              <a:rPr lang="zh-CN" altLang="en-US" dirty="0" smtClean="0"/>
              <a:t>：排序列为</a:t>
            </a:r>
            <a:r>
              <a:rPr lang="zh-CN" altLang="en-US" b="1" dirty="0">
                <a:solidFill>
                  <a:srgbClr val="0000FF"/>
                </a:solidFill>
              </a:rPr>
              <a:t>空值</a:t>
            </a:r>
            <a:r>
              <a:rPr lang="zh-CN" altLang="en-US" dirty="0" smtClean="0"/>
              <a:t>的元组</a:t>
            </a:r>
            <a:r>
              <a:rPr lang="zh-CN" altLang="en-US" b="1" dirty="0" smtClean="0">
                <a:solidFill>
                  <a:srgbClr val="0000FF"/>
                </a:solidFill>
              </a:rPr>
              <a:t>最后显示</a:t>
            </a:r>
            <a:endParaRPr lang="zh-CN" altLang="en-US" b="1" dirty="0" smtClean="0">
              <a:solidFill>
                <a:srgbClr val="0000FF"/>
              </a:solidFill>
            </a:endParaRP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 smtClean="0"/>
              <a:t>DESC</a:t>
            </a:r>
            <a:r>
              <a:rPr lang="zh-CN" altLang="en-US" dirty="0" smtClean="0"/>
              <a:t>：排序列为空值的元组最先显示 </a:t>
            </a: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ORDER BY</a:t>
            </a:r>
            <a:r>
              <a:rPr lang="zh-CN" altLang="en-US" smtClean="0"/>
              <a:t>子句 （续） </a:t>
            </a:r>
            <a:endParaRPr lang="zh-CN" altLang="en-US" smtClean="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66738" y="1143000"/>
            <a:ext cx="8001000" cy="509431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24]  </a:t>
            </a:r>
            <a:r>
              <a:rPr lang="zh-CN" altLang="en-US" sz="2000" dirty="0" smtClean="0"/>
              <a:t>查询选修了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号课程的学生的学号及其成绩，查询结果按分数降序排列。</a:t>
            </a:r>
            <a:endParaRPr lang="zh-CN" altLang="en-US" sz="20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Grade   FROM  SC</a:t>
            </a:r>
            <a:endParaRPr lang="en-US" altLang="zh-CN" sz="20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WHERE  </a:t>
            </a:r>
            <a:r>
              <a:rPr lang="en-US" altLang="zh-CN" sz="2000" dirty="0" err="1" smtClean="0"/>
              <a:t>Cno</a:t>
            </a:r>
            <a:r>
              <a:rPr lang="en-US" altLang="zh-CN" sz="2000" dirty="0" smtClean="0"/>
              <a:t>= ' 3 '</a:t>
            </a:r>
            <a:endParaRPr lang="en-US" altLang="zh-CN" sz="20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ORDER BY Grade DESC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25]  </a:t>
            </a:r>
            <a:r>
              <a:rPr lang="zh-CN" altLang="en-US" sz="2000" dirty="0" smtClean="0"/>
              <a:t>查询全体学生情况，查询结果按所在系的系号升序排列，同一系中的学生按年龄降序排列。</a:t>
            </a:r>
            <a:endParaRPr lang="zh-CN" altLang="en-US" sz="20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</a:t>
            </a:r>
            <a:r>
              <a:rPr lang="en-US" altLang="zh-CN" sz="2000" dirty="0" smtClean="0"/>
              <a:t>SELECT  *   FROM  Student</a:t>
            </a:r>
            <a:endParaRPr lang="en-US" altLang="zh-CN" sz="20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ORDER BY </a:t>
            </a:r>
            <a:r>
              <a:rPr lang="en-US" altLang="zh-CN" sz="2000" dirty="0" err="1" smtClean="0"/>
              <a:t>Sdept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Sage DESC</a:t>
            </a:r>
            <a:r>
              <a:rPr lang="zh-CN" altLang="en-US" sz="2000" dirty="0" smtClean="0"/>
              <a:t>； </a:t>
            </a:r>
            <a:endParaRPr lang="en-US" altLang="zh-CN" sz="20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0000FF"/>
                </a:solidFill>
              </a:rPr>
              <a:t>【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补充例题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】</a:t>
            </a:r>
            <a:r>
              <a:rPr lang="zh-CN" altLang="en-US" sz="2000" dirty="0" smtClean="0"/>
              <a:t>查询所有学生的信息，按照姓名排序，姓名相同的，按照学号排序。</a:t>
            </a:r>
            <a:endParaRPr lang="en-US" altLang="zh-CN" sz="2000" dirty="0" smtClean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1800" dirty="0"/>
              <a:t>SELECT * FROM student 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1800" dirty="0" smtClean="0"/>
              <a:t>ORDER </a:t>
            </a:r>
            <a:r>
              <a:rPr lang="en-US" altLang="zh-CN" sz="1800" dirty="0"/>
              <a:t>BY  </a:t>
            </a:r>
            <a:r>
              <a:rPr lang="en-US" altLang="zh-CN" sz="1800" b="1" dirty="0">
                <a:solidFill>
                  <a:srgbClr val="0000FF"/>
                </a:solidFill>
              </a:rPr>
              <a:t>CONVERT( </a:t>
            </a:r>
            <a:r>
              <a:rPr lang="en-US" altLang="zh-CN" sz="1800" b="1" dirty="0" err="1">
                <a:solidFill>
                  <a:srgbClr val="0000FF"/>
                </a:solidFill>
              </a:rPr>
              <a:t>sname</a:t>
            </a:r>
            <a:r>
              <a:rPr lang="en-US" altLang="zh-CN" sz="1800" b="1" dirty="0">
                <a:solidFill>
                  <a:srgbClr val="0000FF"/>
                </a:solidFill>
              </a:rPr>
              <a:t> USING GBK),</a:t>
            </a:r>
            <a:r>
              <a:rPr lang="en-US" altLang="zh-CN" sz="1800" dirty="0" err="1"/>
              <a:t>sno</a:t>
            </a:r>
            <a:r>
              <a:rPr lang="en-US" altLang="zh-CN" sz="1800" dirty="0"/>
              <a:t>;</a:t>
            </a:r>
            <a:endParaRPr lang="zh-CN" altLang="en-US" sz="18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补充 </a:t>
            </a:r>
            <a:r>
              <a:rPr lang="en-US" altLang="zh-CN" smtClean="0"/>
              <a:t>limit</a:t>
            </a:r>
            <a:r>
              <a:rPr lang="zh-CN" altLang="en-US" smtClean="0"/>
              <a:t>（了解）</a:t>
            </a:r>
            <a:endParaRPr lang="zh-CN" altLang="en-US" smtClean="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001000" cy="5022850"/>
          </a:xfrm>
        </p:spPr>
        <p:txBody>
          <a:bodyPr/>
          <a:lstStyle/>
          <a:p>
            <a:r>
              <a:rPr lang="zh-CN" altLang="en-US" sz="2800" dirty="0" smtClean="0"/>
              <a:t>只输出学生表中的前三行：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Select </a:t>
            </a:r>
            <a:r>
              <a:rPr lang="zh-CN" altLang="en-US" sz="2800" dirty="0" smtClean="0"/>
              <a:t>* </a:t>
            </a:r>
            <a:r>
              <a:rPr lang="en-US" altLang="zh-CN" sz="2800" dirty="0" smtClean="0"/>
              <a:t>from student limit 3 </a:t>
            </a:r>
            <a:endParaRPr lang="en-US" altLang="zh-CN" sz="2800" dirty="0" smtClean="0"/>
          </a:p>
          <a:p>
            <a:r>
              <a:rPr lang="zh-CN" altLang="en-US" sz="2800" dirty="0" smtClean="0"/>
              <a:t>输出学生表中的第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到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行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Select </a:t>
            </a:r>
            <a:r>
              <a:rPr lang="zh-CN" altLang="en-US" sz="2800" dirty="0" smtClean="0"/>
              <a:t>* </a:t>
            </a:r>
            <a:r>
              <a:rPr lang="en-US" altLang="zh-CN" sz="2800" dirty="0" smtClean="0"/>
              <a:t>from student limit 1,3 </a:t>
            </a:r>
            <a:endParaRPr lang="en-US" altLang="zh-CN" sz="2800" dirty="0" smtClean="0"/>
          </a:p>
          <a:p>
            <a:r>
              <a:rPr lang="zh-CN" altLang="en-US" sz="2800" dirty="0" smtClean="0"/>
              <a:t>查询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号课程考试成绩在前三名的学生的学号，分数相同的话，学号较小的进入前面的名次。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Select </a:t>
            </a:r>
            <a:r>
              <a:rPr lang="en-US" altLang="zh-CN" sz="2800" dirty="0" err="1" smtClean="0"/>
              <a:t>sno</a:t>
            </a:r>
            <a:r>
              <a:rPr lang="en-US" altLang="zh-CN" sz="2800" dirty="0" smtClean="0"/>
              <a:t> from </a:t>
            </a:r>
            <a:r>
              <a:rPr lang="en-US" altLang="zh-CN" sz="2800" dirty="0" err="1" smtClean="0"/>
              <a:t>sc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Where </a:t>
            </a:r>
            <a:r>
              <a:rPr lang="en-US" altLang="zh-CN" sz="2800" dirty="0" err="1" smtClean="0"/>
              <a:t>cno</a:t>
            </a:r>
            <a:r>
              <a:rPr lang="en-US" altLang="zh-CN" sz="2800" dirty="0" smtClean="0"/>
              <a:t>=‘3’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Order by grade </a:t>
            </a:r>
            <a:r>
              <a:rPr lang="en-US" altLang="zh-CN" sz="2800" dirty="0" err="1" smtClean="0"/>
              <a:t>desc,sno</a:t>
            </a:r>
            <a:r>
              <a:rPr lang="en-US" altLang="zh-CN" sz="2800" dirty="0" smtClean="0"/>
              <a:t>  limit 3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zh-CN" altLang="en-US" sz="28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提问</a:t>
            </a:r>
            <a:endParaRPr lang="zh-CN" altLang="en-US" smtClean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1.</a:t>
            </a:r>
            <a:r>
              <a:rPr lang="zh-CN" altLang="en-US" smtClean="0"/>
              <a:t>查询所有没有确定专业的，年龄小于</a:t>
            </a:r>
            <a:r>
              <a:rPr lang="en-US" altLang="zh-CN" smtClean="0"/>
              <a:t>19</a:t>
            </a:r>
            <a:r>
              <a:rPr lang="zh-CN" altLang="en-US" smtClean="0"/>
              <a:t>岁的，女生的学号，姓名，年龄。并按照年龄降序排列，如果年龄相同，按照学号升序排列。</a:t>
            </a:r>
            <a:endParaRPr lang="en-US" altLang="zh-CN" smtClean="0"/>
          </a:p>
          <a:p>
            <a:r>
              <a:rPr lang="en-US" altLang="zh-CN" smtClean="0"/>
              <a:t>2.</a:t>
            </a:r>
            <a:r>
              <a:rPr lang="zh-CN" altLang="en-US" smtClean="0"/>
              <a:t>查询哪些课程没有先修课，输出它们的课程号和课程名，并按课程号升序排列</a:t>
            </a:r>
            <a:endParaRPr lang="en-US" altLang="zh-CN" smtClean="0"/>
          </a:p>
          <a:p>
            <a:r>
              <a:rPr lang="en-US" altLang="zh-CN" smtClean="0"/>
              <a:t>3.</a:t>
            </a:r>
            <a:r>
              <a:rPr lang="zh-CN" altLang="en-US" smtClean="0"/>
              <a:t> 查询课程名中包含“数据”两个字，并且学分小于</a:t>
            </a:r>
            <a:r>
              <a:rPr lang="en-US" altLang="zh-CN" smtClean="0"/>
              <a:t>4</a:t>
            </a:r>
            <a:r>
              <a:rPr lang="zh-CN" altLang="en-US" smtClean="0"/>
              <a:t>的课程的课程号和课程名。</a:t>
            </a:r>
            <a:endParaRPr lang="en-US" altLang="zh-CN" smtClean="0"/>
          </a:p>
          <a:p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自然连接：</a:t>
            </a:r>
            <a:endParaRPr lang="zh-CN" altLang="en-US" smtClean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08962" cy="4495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33]  </a:t>
            </a:r>
            <a:r>
              <a:rPr lang="zh-CN" altLang="en-US" sz="2400" dirty="0" smtClean="0"/>
              <a:t>查询每个学生及其选修课程的情况</a:t>
            </a:r>
            <a:endParaRPr lang="zh-CN" altLang="en-US" sz="2400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	          </a:t>
            </a:r>
            <a:r>
              <a:rPr lang="en-US" altLang="zh-CN" sz="2400" dirty="0" smtClean="0"/>
              <a:t>SELECT  Student.*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SC.*</a:t>
            </a: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		        	FROM     Student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SC</a:t>
            </a: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			WHERE 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Student.Sno</a:t>
            </a:r>
            <a:r>
              <a:rPr lang="en-US" altLang="zh-CN" sz="2400" dirty="0" smtClean="0">
                <a:solidFill>
                  <a:srgbClr val="FF0000"/>
                </a:solidFill>
              </a:rPr>
              <a:t> =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SC.Sno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34]</a:t>
            </a:r>
            <a:r>
              <a:rPr lang="zh-CN" altLang="en-US" sz="2400" dirty="0" smtClean="0"/>
              <a:t>对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33]</a:t>
            </a:r>
            <a:r>
              <a:rPr lang="zh-CN" altLang="en-US" sz="2400" dirty="0" smtClean="0"/>
              <a:t>用自然连接完成。</a:t>
            </a:r>
            <a:endParaRPr lang="zh-CN" altLang="en-US" sz="24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</a:t>
            </a:r>
            <a:r>
              <a:rPr lang="en-US" altLang="zh-CN" sz="2100" dirty="0" smtClean="0"/>
              <a:t>SELECT  </a:t>
            </a:r>
            <a:r>
              <a:rPr lang="en-US" altLang="zh-CN" sz="2100" dirty="0" err="1" smtClean="0">
                <a:solidFill>
                  <a:srgbClr val="D75B5B"/>
                </a:solidFill>
              </a:rPr>
              <a:t>Student.Sno,</a:t>
            </a:r>
            <a:r>
              <a:rPr lang="en-US" altLang="zh-CN" sz="2100" dirty="0" err="1" smtClean="0"/>
              <a:t>Sname,Ssex,Sage,Sdept,Cno,Grade</a:t>
            </a:r>
            <a:endParaRPr lang="en-US" altLang="zh-CN" sz="21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100" dirty="0" smtClean="0"/>
              <a:t> FROM     </a:t>
            </a:r>
            <a:r>
              <a:rPr lang="en-US" altLang="zh-CN" sz="2100" dirty="0" err="1" smtClean="0"/>
              <a:t>Student,SC</a:t>
            </a:r>
            <a:r>
              <a:rPr lang="en-US" altLang="zh-CN" sz="2100" dirty="0" smtClean="0"/>
              <a:t>     </a:t>
            </a:r>
            <a:endParaRPr lang="en-US" altLang="zh-CN" sz="21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100" dirty="0" smtClean="0"/>
              <a:t> WHERE  </a:t>
            </a:r>
            <a:r>
              <a:rPr lang="en-US" altLang="zh-CN" sz="2100" dirty="0" err="1" smtClean="0">
                <a:solidFill>
                  <a:srgbClr val="FF0000"/>
                </a:solidFill>
              </a:rPr>
              <a:t>Student.Sno</a:t>
            </a:r>
            <a:r>
              <a:rPr lang="en-US" altLang="zh-CN" sz="2100" dirty="0" smtClean="0">
                <a:solidFill>
                  <a:srgbClr val="FF0000"/>
                </a:solidFill>
              </a:rPr>
              <a:t> = </a:t>
            </a:r>
            <a:r>
              <a:rPr lang="en-US" altLang="zh-CN" sz="2100" dirty="0" err="1" smtClean="0">
                <a:solidFill>
                  <a:srgbClr val="FF0000"/>
                </a:solidFill>
              </a:rPr>
              <a:t>SC.Sno</a:t>
            </a:r>
            <a:r>
              <a:rPr lang="en-US" altLang="zh-CN" sz="2100" dirty="0" smtClean="0">
                <a:solidFill>
                  <a:srgbClr val="FF0000"/>
                </a:solidFill>
              </a:rPr>
              <a:t>;</a:t>
            </a:r>
            <a:endParaRPr lang="zh-CN" altLang="en-US" sz="21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自然连接：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181975" cy="5094288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三个表的自然连接</a:t>
            </a:r>
            <a:endParaRPr lang="en-US" altLang="zh-CN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0000FF"/>
                </a:solidFill>
              </a:rPr>
              <a:t>select 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</a:rPr>
              <a:t>   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Student.Sno,</a:t>
            </a:r>
            <a:r>
              <a:rPr lang="en-US" altLang="zh-CN" sz="2000" dirty="0" err="1" smtClean="0"/>
              <a:t>Sname,Ssex,Sage,Sdept</a:t>
            </a:r>
            <a:r>
              <a:rPr lang="en-US" altLang="zh-CN" sz="2000" dirty="0" smtClean="0"/>
              <a:t>, 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</a:rPr>
              <a:t>   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Course.Cno</a:t>
            </a:r>
            <a:r>
              <a:rPr lang="en-US" altLang="zh-CN" sz="2000" dirty="0" smtClean="0"/>
              <a:t>, </a:t>
            </a:r>
            <a:r>
              <a:rPr lang="en-US" altLang="zh-CN" sz="2000" dirty="0" err="1" smtClean="0"/>
              <a:t>Cname,Cpno,Ccredit,Grade</a:t>
            </a:r>
            <a:endParaRPr lang="en-US" altLang="zh-CN" sz="20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0000FF"/>
                </a:solidFill>
              </a:rPr>
              <a:t>from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student,sc,Course</a:t>
            </a:r>
            <a:endParaRPr lang="en-US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</a:rPr>
              <a:t>where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student.sno</a:t>
            </a:r>
            <a:r>
              <a:rPr lang="en-US" altLang="zh-CN" sz="2000" dirty="0">
                <a:solidFill>
                  <a:srgbClr val="FF0000"/>
                </a:solidFill>
              </a:rPr>
              <a:t>=</a:t>
            </a:r>
            <a:r>
              <a:rPr lang="en-US" altLang="zh-CN" sz="2000" dirty="0" err="1">
                <a:solidFill>
                  <a:srgbClr val="FF0000"/>
                </a:solidFill>
              </a:rPr>
              <a:t>sc.sno</a:t>
            </a:r>
            <a:r>
              <a:rPr lang="en-US" altLang="zh-CN" sz="2000" dirty="0">
                <a:solidFill>
                  <a:srgbClr val="FF0000"/>
                </a:solidFill>
              </a:rPr>
              <a:t> and </a:t>
            </a:r>
            <a:r>
              <a:rPr lang="en-US" altLang="zh-CN" sz="2000" dirty="0" smtClean="0">
                <a:solidFill>
                  <a:srgbClr val="FF0000"/>
                </a:solidFill>
              </a:rPr>
              <a:t>  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 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Course.Cno</a:t>
            </a:r>
            <a:r>
              <a:rPr lang="en-US" altLang="zh-CN" sz="2000" dirty="0" smtClean="0">
                <a:solidFill>
                  <a:srgbClr val="FF0000"/>
                </a:solidFill>
              </a:rPr>
              <a:t>=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SC.cno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</a:rPr>
              <a:t>select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,</a:t>
            </a:r>
            <a:r>
              <a:rPr lang="en-US" altLang="zh-CN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err="1" smtClean="0"/>
              <a:t>Cname</a:t>
            </a:r>
            <a:r>
              <a:rPr lang="en-US" altLang="zh-CN" sz="2000" dirty="0" err="1"/>
              <a:t>,</a:t>
            </a:r>
            <a:r>
              <a:rPr lang="en-US" altLang="zh-CN" sz="2000" dirty="0" err="1" smtClean="0"/>
              <a:t>Grade</a:t>
            </a:r>
            <a:endParaRPr lang="en-US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</a:rPr>
              <a:t>from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student,sc,Course</a:t>
            </a:r>
            <a:endParaRPr lang="en-US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</a:rPr>
              <a:t>where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student.sno</a:t>
            </a:r>
            <a:r>
              <a:rPr lang="en-US" altLang="zh-CN" sz="2000" dirty="0"/>
              <a:t>=</a:t>
            </a:r>
            <a:r>
              <a:rPr lang="en-US" altLang="zh-CN" sz="2000" dirty="0" err="1"/>
              <a:t>sc.sno</a:t>
            </a:r>
            <a:r>
              <a:rPr lang="en-US" altLang="zh-CN" sz="2000" dirty="0"/>
              <a:t> and   </a:t>
            </a:r>
            <a:endParaRPr lang="en-US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Course.Cno</a:t>
            </a:r>
            <a:r>
              <a:rPr lang="en-US" altLang="zh-CN" sz="2000" dirty="0"/>
              <a:t>=</a:t>
            </a:r>
            <a:r>
              <a:rPr lang="en-US" altLang="zh-CN" sz="2000" dirty="0" err="1"/>
              <a:t>SC.cno</a:t>
            </a:r>
            <a:endParaRPr lang="en-US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000" dirty="0"/>
          </a:p>
        </p:txBody>
      </p:sp>
      <p:pic>
        <p:nvPicPr>
          <p:cNvPr id="63492" name="Picture 8" descr="Snap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068638"/>
            <a:ext cx="3168650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3.4.1  </a:t>
            </a:r>
            <a:r>
              <a:rPr lang="zh-CN" altLang="en-US" smtClean="0"/>
              <a:t>单表查询 </a:t>
            </a:r>
            <a:endParaRPr lang="zh-CN" altLang="en-US" smtClean="0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400" smtClean="0"/>
              <a:t>查询仅涉及一个表：</a:t>
            </a:r>
            <a:endParaRPr lang="zh-CN" altLang="en-US" sz="2400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一、 选择表中的若干列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二、 选择表中的若干元组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三、 </a:t>
            </a:r>
            <a:r>
              <a:rPr lang="en-US" altLang="zh-CN" smtClean="0"/>
              <a:t>ORDER BY</a:t>
            </a:r>
            <a:r>
              <a:rPr lang="zh-CN" altLang="en-US" smtClean="0"/>
              <a:t>子句</a:t>
            </a:r>
            <a:endParaRPr lang="zh-CN" altLang="en-US" smtClean="0"/>
          </a:p>
          <a:p>
            <a:pPr lvl="1" algn="just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b="1" smtClean="0">
                <a:solidFill>
                  <a:srgbClr val="FF0000"/>
                </a:solidFill>
              </a:rPr>
              <a:t>四、 聚集函数</a:t>
            </a:r>
            <a:endParaRPr lang="zh-CN" altLang="en-US" b="1" smtClean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mtClean="0"/>
              <a:t>五、 </a:t>
            </a:r>
            <a:r>
              <a:rPr lang="en-US" altLang="zh-CN" smtClean="0"/>
              <a:t>GROUP BY</a:t>
            </a:r>
            <a:r>
              <a:rPr lang="zh-CN" altLang="en-US" smtClean="0"/>
              <a:t>子句</a:t>
            </a:r>
            <a:endParaRPr lang="zh-CN" altLang="en-US" sz="20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四、聚集函数 </a:t>
            </a:r>
            <a:endParaRPr lang="zh-CN" altLang="en-US" smtClean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214438"/>
            <a:ext cx="8229600" cy="4895850"/>
          </a:xfrm>
        </p:spPr>
        <p:txBody>
          <a:bodyPr/>
          <a:lstStyle/>
          <a:p>
            <a:pPr algn="just" eaLnBrk="1" hangingPunct="1"/>
            <a:r>
              <a:rPr lang="zh-CN" altLang="en-US" sz="2400" smtClean="0"/>
              <a:t>聚集函数：</a:t>
            </a:r>
            <a:endParaRPr lang="zh-CN" altLang="en-US" sz="2400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smtClean="0"/>
              <a:t>计数</a:t>
            </a:r>
            <a:endParaRPr lang="zh-CN" altLang="en-US" sz="220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mtClean="0"/>
              <a:t>COUNT</a:t>
            </a:r>
            <a:r>
              <a:rPr lang="zh-CN" altLang="en-US" smtClean="0"/>
              <a:t>（</a:t>
            </a:r>
            <a:r>
              <a:rPr lang="en-US" altLang="zh-CN" smtClean="0"/>
              <a:t>[ DISTINCT | </a:t>
            </a:r>
            <a:r>
              <a:rPr lang="en-US" altLang="zh-CN" u="sng" smtClean="0"/>
              <a:t>ALL </a:t>
            </a:r>
            <a:r>
              <a:rPr lang="en-US" altLang="zh-CN" smtClean="0"/>
              <a:t>] *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mtClean="0"/>
              <a:t>COUNT</a:t>
            </a:r>
            <a:r>
              <a:rPr lang="zh-CN" altLang="en-US" smtClean="0"/>
              <a:t>（</a:t>
            </a:r>
            <a:r>
              <a:rPr lang="en-US" altLang="zh-CN" smtClean="0"/>
              <a:t>[ DISTINCT | </a:t>
            </a:r>
            <a:r>
              <a:rPr lang="en-US" altLang="zh-CN" u="sng" smtClean="0"/>
              <a:t>ALL </a:t>
            </a:r>
            <a:r>
              <a:rPr lang="en-US" altLang="zh-CN" smtClean="0"/>
              <a:t>] &lt;</a:t>
            </a:r>
            <a:r>
              <a:rPr lang="zh-CN" altLang="en-US" smtClean="0"/>
              <a:t>列名</a:t>
            </a:r>
            <a:r>
              <a:rPr lang="en-US" altLang="zh-CN" smtClean="0"/>
              <a:t>&gt;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smtClean="0"/>
              <a:t>计算总和</a:t>
            </a:r>
            <a:endParaRPr lang="zh-CN" altLang="en-US" sz="220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mtClean="0"/>
              <a:t>SUM</a:t>
            </a:r>
            <a:r>
              <a:rPr lang="zh-CN" altLang="en-US" smtClean="0"/>
              <a:t>（</a:t>
            </a:r>
            <a:r>
              <a:rPr lang="en-US" altLang="zh-CN" smtClean="0"/>
              <a:t>[ DISTINCT | </a:t>
            </a:r>
            <a:r>
              <a:rPr lang="en-US" altLang="zh-CN" u="sng" smtClean="0"/>
              <a:t>ALL </a:t>
            </a:r>
            <a:r>
              <a:rPr lang="en-US" altLang="zh-CN" smtClean="0"/>
              <a:t>] &lt;</a:t>
            </a:r>
            <a:r>
              <a:rPr lang="zh-CN" altLang="en-US" smtClean="0"/>
              <a:t>列名</a:t>
            </a:r>
            <a:r>
              <a:rPr lang="en-US" altLang="zh-CN" smtClean="0"/>
              <a:t>&gt;</a:t>
            </a:r>
            <a:r>
              <a:rPr lang="zh-CN" altLang="en-US" smtClean="0"/>
              <a:t>）	</a:t>
            </a:r>
            <a:endParaRPr lang="zh-CN" altLang="en-US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smtClean="0"/>
              <a:t> 计算平均值</a:t>
            </a:r>
            <a:endParaRPr lang="zh-CN" altLang="en-US" sz="220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mtClean="0"/>
              <a:t>AVG</a:t>
            </a:r>
            <a:r>
              <a:rPr lang="zh-CN" altLang="en-US" smtClean="0"/>
              <a:t>（</a:t>
            </a:r>
            <a:r>
              <a:rPr lang="en-US" altLang="zh-CN" smtClean="0"/>
              <a:t>[ DISTINCT | </a:t>
            </a:r>
            <a:r>
              <a:rPr lang="en-US" altLang="zh-CN" u="sng" smtClean="0"/>
              <a:t>ALL </a:t>
            </a:r>
            <a:r>
              <a:rPr lang="en-US" altLang="zh-CN" smtClean="0"/>
              <a:t>] &lt;</a:t>
            </a:r>
            <a:r>
              <a:rPr lang="zh-CN" altLang="en-US" smtClean="0"/>
              <a:t>列名</a:t>
            </a:r>
            <a:r>
              <a:rPr lang="en-US" altLang="zh-CN" smtClean="0"/>
              <a:t>&gt;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smtClean="0"/>
              <a:t>最大最小值</a:t>
            </a:r>
            <a:endParaRPr lang="zh-CN" altLang="en-US" sz="220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	 </a:t>
            </a:r>
            <a:r>
              <a:rPr lang="en-US" altLang="zh-CN" sz="2200" smtClean="0"/>
              <a:t>MAX</a:t>
            </a:r>
            <a:r>
              <a:rPr lang="zh-CN" altLang="en-US" sz="2200" smtClean="0"/>
              <a:t>（</a:t>
            </a:r>
            <a:r>
              <a:rPr lang="en-US" altLang="zh-CN" sz="2200" smtClean="0"/>
              <a:t>[ DISTINCT | </a:t>
            </a:r>
            <a:r>
              <a:rPr lang="en-US" altLang="zh-CN" sz="2200" u="sng" smtClean="0"/>
              <a:t>ALL </a:t>
            </a:r>
            <a:r>
              <a:rPr lang="en-US" altLang="zh-CN" sz="2200" smtClean="0"/>
              <a:t>] &lt;</a:t>
            </a:r>
            <a:r>
              <a:rPr lang="zh-CN" altLang="en-US" sz="2200" smtClean="0"/>
              <a:t>列名</a:t>
            </a:r>
            <a:r>
              <a:rPr lang="en-US" altLang="zh-CN" sz="2200" smtClean="0"/>
              <a:t>&gt;</a:t>
            </a:r>
            <a:r>
              <a:rPr lang="zh-CN" altLang="en-US" sz="2200" smtClean="0"/>
              <a:t>）</a:t>
            </a:r>
            <a:endParaRPr lang="zh-CN" altLang="en-US" sz="220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	 </a:t>
            </a:r>
            <a:r>
              <a:rPr lang="en-US" altLang="zh-CN" sz="2200" smtClean="0"/>
              <a:t>MIN</a:t>
            </a:r>
            <a:r>
              <a:rPr lang="zh-CN" altLang="en-US" sz="2200" smtClean="0"/>
              <a:t>（</a:t>
            </a:r>
            <a:r>
              <a:rPr lang="en-US" altLang="zh-CN" sz="2200" smtClean="0"/>
              <a:t>[ DISTINCT | </a:t>
            </a:r>
            <a:r>
              <a:rPr lang="en-US" altLang="zh-CN" sz="2200" u="sng" smtClean="0"/>
              <a:t>ALL </a:t>
            </a:r>
            <a:r>
              <a:rPr lang="en-US" altLang="zh-CN" sz="2200" smtClean="0"/>
              <a:t>] &lt;</a:t>
            </a:r>
            <a:r>
              <a:rPr lang="zh-CN" altLang="en-US" sz="2200" smtClean="0"/>
              <a:t>列名</a:t>
            </a:r>
            <a:r>
              <a:rPr lang="en-US" altLang="zh-CN" sz="2200" smtClean="0"/>
              <a:t>&gt;</a:t>
            </a:r>
            <a:r>
              <a:rPr lang="zh-CN" altLang="en-US" sz="2200" smtClean="0"/>
              <a:t>）</a:t>
            </a:r>
            <a:endParaRPr lang="zh-CN" altLang="en-US" sz="22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聚集函数 （续）</a:t>
            </a:r>
            <a:endParaRPr lang="zh-CN" altLang="en-US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[</a:t>
            </a:r>
            <a:r>
              <a:rPr lang="zh-CN" altLang="en-US" sz="2200" dirty="0" smtClean="0"/>
              <a:t>例</a:t>
            </a:r>
            <a:r>
              <a:rPr lang="en-US" altLang="zh-CN" sz="2200" dirty="0" smtClean="0"/>
              <a:t>26]  </a:t>
            </a:r>
            <a:r>
              <a:rPr lang="zh-CN" altLang="en-US" sz="2200" dirty="0" smtClean="0"/>
              <a:t>查询学生总人数。</a:t>
            </a:r>
            <a:endParaRPr lang="zh-CN" altLang="en-US" sz="2200" dirty="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600" dirty="0" smtClean="0"/>
              <a:t>    </a:t>
            </a:r>
            <a:r>
              <a:rPr lang="en-US" altLang="zh-CN" sz="2600" dirty="0" smtClean="0"/>
              <a:t>SELECT COUNT(*)</a:t>
            </a:r>
            <a:endParaRPr lang="en-US" altLang="zh-CN" sz="2600" dirty="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600" dirty="0" smtClean="0"/>
              <a:t>    FROM  Student</a:t>
            </a:r>
            <a:r>
              <a:rPr lang="zh-CN" altLang="en-US" sz="2600" dirty="0" smtClean="0"/>
              <a:t>；</a:t>
            </a:r>
            <a:r>
              <a:rPr lang="zh-CN" altLang="en-US" sz="2600" dirty="0" smtClean="0">
                <a:latin typeface="Courier New" panose="02070309020205020404" pitchFamily="49" charset="0"/>
              </a:rPr>
              <a:t> </a:t>
            </a:r>
            <a:endParaRPr lang="zh-CN" altLang="en-US" sz="26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</a:t>
            </a:r>
            <a:r>
              <a:rPr lang="en-US" altLang="zh-CN" sz="2200" dirty="0" smtClean="0"/>
              <a:t>[</a:t>
            </a:r>
            <a:r>
              <a:rPr lang="zh-CN" altLang="en-US" sz="2200" dirty="0" smtClean="0"/>
              <a:t>例</a:t>
            </a:r>
            <a:r>
              <a:rPr lang="en-US" altLang="zh-CN" sz="2200" dirty="0" smtClean="0"/>
              <a:t>27]  </a:t>
            </a:r>
            <a:r>
              <a:rPr lang="zh-CN" altLang="en-US" sz="2200" dirty="0" smtClean="0"/>
              <a:t>查询选修了课程的学生人数。</a:t>
            </a:r>
            <a:endParaRPr lang="zh-CN" altLang="en-US" sz="2200" dirty="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600" dirty="0" smtClean="0"/>
              <a:t>     </a:t>
            </a:r>
            <a:r>
              <a:rPr lang="en-US" altLang="zh-CN" sz="2600" dirty="0" smtClean="0"/>
              <a:t>SELECT COUNT(</a:t>
            </a:r>
            <a:r>
              <a:rPr lang="en-US" altLang="zh-CN" sz="2600" dirty="0" smtClean="0">
                <a:solidFill>
                  <a:srgbClr val="FF00FF"/>
                </a:solidFill>
              </a:rPr>
              <a:t>DISTINCT</a:t>
            </a:r>
            <a:r>
              <a:rPr lang="en-US" altLang="zh-CN" sz="2600" dirty="0" smtClean="0"/>
              <a:t> </a:t>
            </a:r>
            <a:r>
              <a:rPr lang="en-US" altLang="zh-CN" sz="2600" dirty="0" err="1" smtClean="0"/>
              <a:t>Sno</a:t>
            </a:r>
            <a:r>
              <a:rPr lang="en-US" altLang="zh-CN" sz="2600" dirty="0" smtClean="0"/>
              <a:t>)</a:t>
            </a:r>
            <a:endParaRPr lang="en-US" altLang="zh-CN" sz="2600" dirty="0" smtClean="0"/>
          </a:p>
          <a:p>
            <a:pPr lvl="2"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600" dirty="0" smtClean="0"/>
              <a:t>     FROM SC</a:t>
            </a:r>
            <a:r>
              <a:rPr lang="zh-CN" altLang="en-US" sz="2600" dirty="0" smtClean="0"/>
              <a:t>；</a:t>
            </a:r>
            <a:endParaRPr lang="zh-CN" altLang="en-US" sz="26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</a:t>
            </a:r>
            <a:r>
              <a:rPr lang="en-US" altLang="zh-CN" sz="2200" dirty="0" smtClean="0"/>
              <a:t>[</a:t>
            </a:r>
            <a:r>
              <a:rPr lang="zh-CN" altLang="en-US" sz="2200" dirty="0" smtClean="0"/>
              <a:t>例</a:t>
            </a:r>
            <a:r>
              <a:rPr lang="en-US" altLang="zh-CN" sz="2200" dirty="0" smtClean="0"/>
              <a:t>28]  </a:t>
            </a:r>
            <a:r>
              <a:rPr lang="zh-CN" altLang="en-US" sz="2200" dirty="0" smtClean="0"/>
              <a:t>计算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号课程的学生平均成绩。</a:t>
            </a:r>
            <a:endParaRPr lang="zh-CN" altLang="en-US" sz="2200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</a:t>
            </a:r>
            <a:r>
              <a:rPr lang="en-US" altLang="zh-CN" sz="2200" dirty="0" smtClean="0"/>
              <a:t>SELECT AVG(Grade)</a:t>
            </a:r>
            <a:endParaRPr lang="en-US" altLang="zh-CN" sz="2200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FROM SC</a:t>
            </a:r>
            <a:endParaRPr lang="en-US" altLang="zh-CN" sz="2200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WHERE </a:t>
            </a:r>
            <a:r>
              <a:rPr lang="en-US" altLang="zh-CN" sz="2200" dirty="0" err="1" smtClean="0"/>
              <a:t>Cno</a:t>
            </a:r>
            <a:r>
              <a:rPr lang="en-US" altLang="zh-CN" sz="2200" dirty="0" smtClean="0"/>
              <a:t>= '1'</a:t>
            </a:r>
            <a:r>
              <a:rPr lang="zh-CN" altLang="en-US" sz="2200" dirty="0" smtClean="0"/>
              <a:t>；</a:t>
            </a:r>
            <a:endParaRPr lang="zh-CN" altLang="en-US" sz="22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7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7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聚集函数 （续）</a:t>
            </a:r>
            <a:endParaRPr lang="zh-CN" altLang="en-US" smtClean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357313"/>
            <a:ext cx="8507413" cy="42640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29]  </a:t>
            </a:r>
            <a:r>
              <a:rPr lang="zh-CN" altLang="en-US" sz="2400" dirty="0" smtClean="0"/>
              <a:t>查询选修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号课程的学生最高分数。</a:t>
            </a:r>
            <a:endParaRPr lang="zh-CN" altLang="en-US" sz="2400" dirty="0" smtClean="0"/>
          </a:p>
          <a:p>
            <a:pPr lvl="2" algn="just"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 sz="2500" dirty="0" smtClean="0"/>
              <a:t>   </a:t>
            </a:r>
            <a:r>
              <a:rPr lang="en-US" altLang="zh-CN" sz="2500" dirty="0" smtClean="0"/>
              <a:t>SELECT MAX(Grade)</a:t>
            </a:r>
            <a:endParaRPr lang="en-US" altLang="zh-CN" sz="2500" dirty="0" smtClean="0"/>
          </a:p>
          <a:p>
            <a:pPr lvl="2" algn="just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500" dirty="0" smtClean="0"/>
              <a:t>   FROM SC</a:t>
            </a:r>
            <a:endParaRPr lang="en-US" altLang="zh-CN" sz="2500" dirty="0" smtClean="0"/>
          </a:p>
          <a:p>
            <a:pPr lvl="2" algn="just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500" dirty="0" smtClean="0"/>
              <a:t>   WHER </a:t>
            </a:r>
            <a:r>
              <a:rPr lang="en-US" altLang="zh-CN" sz="2500" dirty="0" err="1" smtClean="0"/>
              <a:t>Cno</a:t>
            </a:r>
            <a:r>
              <a:rPr lang="en-US" altLang="zh-CN" sz="2500" dirty="0" smtClean="0"/>
              <a:t>= </a:t>
            </a:r>
            <a:r>
              <a:rPr lang="en-US" altLang="zh-CN" sz="2800" dirty="0" smtClean="0"/>
              <a:t>'</a:t>
            </a:r>
            <a:r>
              <a:rPr lang="en-US" altLang="zh-CN" sz="2500" dirty="0" smtClean="0"/>
              <a:t>1</a:t>
            </a:r>
            <a:r>
              <a:rPr lang="en-US" altLang="zh-CN" sz="2800" dirty="0" smtClean="0"/>
              <a:t>'</a:t>
            </a:r>
            <a:r>
              <a:rPr lang="zh-CN" altLang="en-US" sz="2500" dirty="0" smtClean="0"/>
              <a:t>；</a:t>
            </a:r>
            <a:endParaRPr lang="zh-CN" altLang="en-US" sz="25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［例</a:t>
            </a:r>
            <a:r>
              <a:rPr lang="en-US" altLang="zh-CN" sz="2400" dirty="0" smtClean="0"/>
              <a:t>30</a:t>
            </a:r>
            <a:r>
              <a:rPr lang="zh-CN" altLang="en-US" sz="2400" dirty="0" smtClean="0"/>
              <a:t>］查询学生</a:t>
            </a:r>
            <a:r>
              <a:rPr lang="en-US" altLang="zh-CN" sz="2400" dirty="0" smtClean="0"/>
              <a:t>2002150122</a:t>
            </a:r>
            <a:r>
              <a:rPr lang="zh-CN" altLang="en-US" sz="2400" dirty="0" smtClean="0"/>
              <a:t>选修课程的总学分数。</a:t>
            </a:r>
            <a:endParaRPr lang="zh-CN" altLang="en-US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		  </a:t>
            </a:r>
            <a:r>
              <a:rPr lang="en-US" altLang="zh-CN" sz="2400" dirty="0" smtClean="0"/>
              <a:t>SELECT SUM(</a:t>
            </a:r>
            <a:r>
              <a:rPr lang="en-US" altLang="zh-CN" sz="2400" dirty="0" err="1" smtClean="0"/>
              <a:t>Ccredit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FROM  SC</a:t>
            </a:r>
            <a:r>
              <a:rPr lang="zh-CN" altLang="en-US" sz="2400" dirty="0" smtClean="0"/>
              <a:t>， </a:t>
            </a:r>
            <a:r>
              <a:rPr lang="en-US" altLang="zh-CN" sz="2400" dirty="0" smtClean="0"/>
              <a:t>Course</a:t>
            </a: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WHERE </a:t>
            </a:r>
            <a:r>
              <a:rPr lang="en-US" altLang="zh-CN" sz="2400" dirty="0" err="1" smtClean="0"/>
              <a:t>Sno</a:t>
            </a:r>
            <a:r>
              <a:rPr lang="en-US" altLang="zh-CN" sz="2400" dirty="0" smtClean="0"/>
              <a:t>='2002150122' AND </a:t>
            </a:r>
            <a:r>
              <a:rPr lang="en-US" altLang="zh-CN" sz="2400" dirty="0" err="1" smtClean="0"/>
              <a:t>SC.Cno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Course.Cno</a:t>
            </a:r>
            <a:r>
              <a:rPr lang="en-US" altLang="zh-CN" sz="2400" dirty="0" smtClean="0"/>
              <a:t>; </a:t>
            </a:r>
            <a:endParaRPr lang="en-US" altLang="zh-CN" sz="24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9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提问</a:t>
            </a:r>
            <a:endParaRPr lang="zh-CN" altLang="en-US" smtClean="0"/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7934325" cy="5072063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 </a:t>
            </a:r>
            <a:r>
              <a:rPr lang="en-US" altLang="zh-CN" sz="3200" dirty="0" smtClean="0"/>
              <a:t>1.</a:t>
            </a:r>
            <a:r>
              <a:rPr lang="zh-CN" altLang="en-US" sz="3200" dirty="0" smtClean="0"/>
              <a:t>查询课程总个数。</a:t>
            </a:r>
            <a:r>
              <a:rPr lang="zh-CN" altLang="en-US" sz="3600" dirty="0" smtClean="0">
                <a:latin typeface="Courier New" panose="02070309020205020404" pitchFamily="49" charset="0"/>
              </a:rPr>
              <a:t> </a:t>
            </a:r>
            <a:endParaRPr lang="zh-CN" altLang="en-US" sz="36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/>
              <a:t>2.</a:t>
            </a:r>
            <a:r>
              <a:rPr lang="zh-CN" altLang="en-US" sz="3200" dirty="0" smtClean="0"/>
              <a:t>计算学号为“</a:t>
            </a:r>
            <a:r>
              <a:rPr lang="en-US" altLang="zh-CN" sz="3200" b="1" dirty="0" smtClean="0"/>
              <a:t>200215121</a:t>
            </a:r>
            <a:r>
              <a:rPr lang="zh-CN" altLang="en-US" sz="3200" dirty="0" smtClean="0"/>
              <a:t>”的学生平均成绩。</a:t>
            </a:r>
            <a:endParaRPr lang="zh-CN" altLang="en-US" sz="32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/>
              <a:t>3.</a:t>
            </a:r>
            <a:r>
              <a:rPr lang="zh-CN" altLang="en-US" sz="3200" dirty="0" smtClean="0"/>
              <a:t>查询被选修的课程的个数。</a:t>
            </a:r>
            <a:endParaRPr lang="en-US" altLang="zh-CN" sz="3200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/>
              <a:t>4.</a:t>
            </a:r>
            <a:r>
              <a:rPr lang="zh-CN" altLang="en-US" sz="3600" dirty="0" smtClean="0"/>
              <a:t>查询学号为“</a:t>
            </a:r>
            <a:r>
              <a:rPr lang="en-US" altLang="zh-CN" sz="3600" b="1" dirty="0" smtClean="0"/>
              <a:t>200215121</a:t>
            </a:r>
            <a:r>
              <a:rPr lang="zh-CN" altLang="en-US" sz="3600" dirty="0" smtClean="0"/>
              <a:t>”的学生所考试的课程中的最高分数。</a:t>
            </a:r>
            <a:endParaRPr lang="zh-CN" altLang="en-US" sz="36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	</a:t>
            </a: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3.4.1  </a:t>
            </a:r>
            <a:r>
              <a:rPr lang="zh-CN" altLang="en-US" smtClean="0"/>
              <a:t>单表查询 </a:t>
            </a:r>
            <a:endParaRPr lang="zh-CN" altLang="en-US" smtClean="0"/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smtClean="0"/>
              <a:t>查询仅涉及一个表：</a:t>
            </a:r>
            <a:endParaRPr lang="zh-CN" altLang="en-US" sz="2800" smtClean="0"/>
          </a:p>
          <a:p>
            <a:pPr marL="469900" lvl="1" indent="0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一、 选择表中的若干列</a:t>
            </a:r>
            <a:endParaRPr lang="zh-CN" altLang="en-US" smtClean="0"/>
          </a:p>
          <a:p>
            <a:pPr marL="469900" lvl="1" indent="0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二、 选择表中的若干元组</a:t>
            </a:r>
            <a:endParaRPr lang="zh-CN" altLang="en-US" smtClean="0"/>
          </a:p>
          <a:p>
            <a:pPr marL="469900" lvl="1" indent="0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三、 </a:t>
            </a:r>
            <a:r>
              <a:rPr lang="en-US" altLang="zh-CN" smtClean="0"/>
              <a:t>ORDER BY</a:t>
            </a:r>
            <a:r>
              <a:rPr lang="zh-CN" altLang="en-US" smtClean="0"/>
              <a:t>子句</a:t>
            </a:r>
            <a:endParaRPr lang="zh-CN" altLang="en-US" smtClean="0"/>
          </a:p>
          <a:p>
            <a:pPr marL="469900" lvl="1" indent="0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四、 聚集函数</a:t>
            </a:r>
            <a:endParaRPr lang="zh-CN" altLang="en-US" smtClean="0"/>
          </a:p>
          <a:p>
            <a:pPr marL="469900" lvl="1" indent="0" algn="just" eaLnBrk="1" hangingPunct="1">
              <a:lnSpc>
                <a:spcPct val="13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b="1" smtClean="0">
                <a:solidFill>
                  <a:srgbClr val="FF0000"/>
                </a:solidFill>
              </a:rPr>
              <a:t>五、 </a:t>
            </a:r>
            <a:r>
              <a:rPr lang="en-US" altLang="zh-CN" b="1" smtClean="0">
                <a:solidFill>
                  <a:srgbClr val="FF0000"/>
                </a:solidFill>
              </a:rPr>
              <a:t>GROUP BY</a:t>
            </a:r>
            <a:r>
              <a:rPr lang="zh-CN" altLang="en-US" b="1" smtClean="0">
                <a:solidFill>
                  <a:srgbClr val="FF0000"/>
                </a:solidFill>
              </a:rPr>
              <a:t>子句</a:t>
            </a:r>
            <a:endParaRPr lang="zh-CN" altLang="en-US" b="1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五、</a:t>
            </a:r>
            <a:r>
              <a:rPr lang="en-US" altLang="zh-CN" smtClean="0"/>
              <a:t>GROUP BY</a:t>
            </a:r>
            <a:r>
              <a:rPr lang="zh-CN" altLang="en-US" smtClean="0"/>
              <a:t>子句 </a:t>
            </a:r>
            <a:endParaRPr lang="zh-CN" altLang="en-US" smtClean="0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143000"/>
            <a:ext cx="8229600" cy="502285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zh-CN" sz="2800" dirty="0" smtClean="0"/>
              <a:t>GROUP BY</a:t>
            </a:r>
            <a:r>
              <a:rPr lang="zh-CN" altLang="en-US" sz="2800" dirty="0" smtClean="0"/>
              <a:t>子句分组：</a:t>
            </a:r>
            <a:endParaRPr lang="zh-CN" altLang="en-US" sz="2800" dirty="0" smtClean="0"/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/>
              <a:t>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细化</a:t>
            </a:r>
            <a:r>
              <a:rPr lang="zh-CN" altLang="en-US" sz="2800" dirty="0" smtClean="0"/>
              <a:t>聚集函数的作用对象</a:t>
            </a:r>
            <a:endParaRPr lang="zh-CN" altLang="en-US" sz="2800" dirty="0" smtClean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 smtClean="0"/>
              <a:t> </a:t>
            </a:r>
            <a:r>
              <a:rPr lang="zh-CN" altLang="en-US" sz="2400" dirty="0" smtClean="0"/>
              <a:t>未对查询结果分组，聚集函数将作用于整个查询结果</a:t>
            </a:r>
            <a:endParaRPr lang="zh-CN" altLang="en-US" sz="2400" dirty="0" smtClean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 smtClean="0"/>
              <a:t> 对查询结果分组后，聚集函数将分别作用于每个组 </a:t>
            </a:r>
            <a:endParaRPr lang="zh-CN" altLang="en-US" sz="2400" dirty="0" smtClean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 smtClean="0"/>
              <a:t> 作用对象是查询的中间结果表</a:t>
            </a:r>
            <a:endParaRPr lang="zh-CN" altLang="en-US" sz="2400" dirty="0" smtClean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 smtClean="0"/>
              <a:t> 按指定的一列或多列值分组，值相等的为一组</a:t>
            </a:r>
            <a:endParaRPr lang="zh-CN" altLang="en-US" sz="24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GROUP BY</a:t>
            </a:r>
            <a:r>
              <a:rPr lang="zh-CN" altLang="en-US" sz="3200" smtClean="0"/>
              <a:t>子句（续）</a:t>
            </a:r>
            <a:endParaRPr lang="zh-CN" altLang="en-US" smtClean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10" y="1143000"/>
            <a:ext cx="7772400" cy="21415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000" dirty="0" smtClean="0">
                <a:ea typeface="黑体" panose="02010609060101010101" pitchFamily="49" charset="-122"/>
              </a:rPr>
              <a:t>例</a:t>
            </a:r>
            <a:r>
              <a:rPr lang="en-US" altLang="zh-CN" sz="2000" dirty="0" smtClean="0"/>
              <a:t>31]  </a:t>
            </a:r>
            <a:r>
              <a:rPr lang="zh-CN" altLang="en-US" sz="2000" dirty="0" smtClean="0"/>
              <a:t>求各个课程号及相应的选课人数。</a:t>
            </a:r>
            <a:endParaRPr lang="zh-CN" altLang="en-US" sz="2000" dirty="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Cno,</a:t>
            </a:r>
            <a:r>
              <a:rPr lang="en-US" altLang="zh-CN" sz="2000" dirty="0" err="1" smtClean="0">
                <a:solidFill>
                  <a:srgbClr val="852121"/>
                </a:solidFill>
              </a:rPr>
              <a:t>COUNT</a:t>
            </a:r>
            <a:r>
              <a:rPr lang="en-US" altLang="zh-CN" sz="2000" dirty="0" smtClean="0">
                <a:solidFill>
                  <a:srgbClr val="852121"/>
                </a:solidFill>
              </a:rPr>
              <a:t>(</a:t>
            </a:r>
            <a:r>
              <a:rPr lang="en-US" altLang="zh-CN" sz="2000" dirty="0" err="1" smtClean="0">
                <a:solidFill>
                  <a:srgbClr val="852121"/>
                </a:solidFill>
              </a:rPr>
              <a:t>Sno</a:t>
            </a:r>
            <a:r>
              <a:rPr lang="en-US" altLang="zh-CN" sz="2000" dirty="0" smtClean="0">
                <a:solidFill>
                  <a:srgbClr val="852121"/>
                </a:solidFill>
              </a:rPr>
              <a:t>)</a:t>
            </a:r>
            <a:endParaRPr lang="en-US" altLang="zh-CN" sz="2000" dirty="0" smtClean="0">
              <a:solidFill>
                <a:srgbClr val="852121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FROM    SC</a:t>
            </a:r>
            <a:endParaRPr lang="en-US" altLang="zh-CN" sz="2000" dirty="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GROUP BY 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扩展：求每个选课学生的学号和平均分和最高分</a:t>
            </a:r>
            <a:endParaRPr lang="en-US" altLang="zh-CN" sz="2000" dirty="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扩展：求</a:t>
            </a:r>
            <a:r>
              <a:rPr lang="en-US" altLang="zh-CN" sz="2000" dirty="0" smtClean="0"/>
              <a:t>CS</a:t>
            </a:r>
            <a:r>
              <a:rPr lang="zh-CN" altLang="en-US" sz="2000" dirty="0" smtClean="0"/>
              <a:t>系的每个选课学生的学号和平均分和最低分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</a:t>
            </a:r>
            <a:endParaRPr lang="en-US" altLang="zh-CN" sz="1600" dirty="0" smtClean="0"/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611560" y="3500438"/>
            <a:ext cx="8064896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20000"/>
              </a:spcBef>
              <a:buClr>
                <a:srgbClr val="7DA0D3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[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32]  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查询选修了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门以上课程的学生学号。</a:t>
            </a:r>
            <a:endParaRPr lang="zh-CN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algn="just">
              <a:spcBef>
                <a:spcPct val="20000"/>
              </a:spcBef>
              <a:buClr>
                <a:srgbClr val="65AAE9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Sno,count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(*) as 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选课门数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Clr>
                <a:srgbClr val="65AAE9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     FROM  SC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Clr>
                <a:srgbClr val="65AAE9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     GROUP BY </a:t>
            </a:r>
            <a:r>
              <a:rPr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Sno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Clr>
                <a:srgbClr val="65AAE9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     HAVING  COUNT(*) &gt;3</a:t>
            </a:r>
            <a:r>
              <a:rPr lang="zh-CN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；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1" algn="just">
              <a:lnSpc>
                <a:spcPct val="90000"/>
              </a:lnSpc>
              <a:spcBef>
                <a:spcPct val="20000"/>
              </a:spcBef>
              <a:buClr>
                <a:srgbClr val="65AAE9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扩展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：求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CS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系的每个选课学生的平均分大于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的学生的学号和平均分</a:t>
            </a:r>
            <a:endParaRPr lang="zh-CN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  <p:bldP spid="4198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smtClean="0"/>
              <a:t>GROUP BY</a:t>
            </a:r>
            <a:r>
              <a:rPr lang="zh-CN" altLang="en-US" sz="4000" smtClean="0"/>
              <a:t>子句（续）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001000" cy="509431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 smtClean="0"/>
              <a:t>[</a:t>
            </a:r>
            <a:r>
              <a:rPr lang="zh-CN" altLang="en-US" dirty="0" smtClean="0"/>
              <a:t>例</a:t>
            </a:r>
            <a:r>
              <a:rPr lang="en-US" altLang="zh-CN" dirty="0" smtClean="0"/>
              <a:t>33]</a:t>
            </a:r>
            <a:r>
              <a:rPr lang="zh-CN" altLang="en-US" dirty="0" smtClean="0"/>
              <a:t>查询每门被选修课的课程号，课程名，平均分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 smtClean="0"/>
              <a:t>SELECT </a:t>
            </a:r>
            <a:r>
              <a:rPr lang="en-US" altLang="zh-CN" sz="2400" dirty="0" err="1" smtClean="0"/>
              <a:t>course.Cno,cname,avg</a:t>
            </a:r>
            <a:r>
              <a:rPr lang="en-US" altLang="zh-CN" sz="2400" dirty="0" smtClean="0"/>
              <a:t>(grade)</a:t>
            </a:r>
            <a:endParaRPr lang="en-US" altLang="zh-CN" sz="24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FROM    </a:t>
            </a:r>
            <a:r>
              <a:rPr lang="en-US" altLang="zh-CN" sz="2400" dirty="0" err="1" smtClean="0"/>
              <a:t>course,SC</a:t>
            </a:r>
            <a:endParaRPr lang="en-US" altLang="zh-CN" sz="24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where </a:t>
            </a:r>
            <a:r>
              <a:rPr lang="en-US" altLang="zh-CN" sz="2400" dirty="0" err="1" smtClean="0"/>
              <a:t>Course.Cno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SC.cno</a:t>
            </a:r>
            <a:endParaRPr lang="en-US" altLang="zh-CN" sz="24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GROUP BY </a:t>
            </a:r>
            <a:r>
              <a:rPr lang="en-US" altLang="zh-CN" sz="2400" dirty="0" err="1" smtClean="0"/>
              <a:t>course.Cno,Cname</a:t>
            </a:r>
            <a:endParaRPr lang="en-US" altLang="zh-CN" sz="2400" dirty="0" smtClean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 smtClean="0"/>
              <a:t>     </a:t>
            </a:r>
            <a:r>
              <a:rPr lang="zh-CN" altLang="en-US" sz="2800" dirty="0" smtClean="0">
                <a:solidFill>
                  <a:srgbClr val="0000FF"/>
                </a:solidFill>
              </a:rPr>
              <a:t>在</a:t>
            </a:r>
            <a:r>
              <a:rPr lang="en-US" altLang="zh-CN" sz="2800" dirty="0" smtClean="0">
                <a:solidFill>
                  <a:srgbClr val="0000FF"/>
                </a:solidFill>
              </a:rPr>
              <a:t>MySQL</a:t>
            </a:r>
            <a:r>
              <a:rPr lang="zh-CN" altLang="en-US" sz="2800" dirty="0" smtClean="0">
                <a:solidFill>
                  <a:srgbClr val="0000FF"/>
                </a:solidFill>
              </a:rPr>
              <a:t>中，</a:t>
            </a:r>
            <a:r>
              <a:rPr lang="en-US" altLang="zh-CN" sz="2800" dirty="0" smtClean="0">
                <a:solidFill>
                  <a:srgbClr val="0000FF"/>
                </a:solidFill>
              </a:rPr>
              <a:t>Group by </a:t>
            </a:r>
            <a:r>
              <a:rPr lang="zh-CN" altLang="en-US" sz="2800" dirty="0" smtClean="0">
                <a:solidFill>
                  <a:srgbClr val="0000FF"/>
                </a:solidFill>
              </a:rPr>
              <a:t>后面的</a:t>
            </a:r>
            <a:r>
              <a:rPr lang="en-US" altLang="zh-CN" sz="2800" dirty="0" err="1" smtClean="0">
                <a:solidFill>
                  <a:srgbClr val="0000FF"/>
                </a:solidFill>
              </a:rPr>
              <a:t>cname</a:t>
            </a:r>
            <a:r>
              <a:rPr lang="en-US" altLang="zh-CN" sz="2800" dirty="0" smtClean="0">
                <a:solidFill>
                  <a:srgbClr val="0000FF"/>
                </a:solidFill>
              </a:rPr>
              <a:t> </a:t>
            </a:r>
            <a:r>
              <a:rPr lang="zh-CN" altLang="en-US" sz="2800" dirty="0" smtClean="0">
                <a:solidFill>
                  <a:srgbClr val="0000FF"/>
                </a:solidFill>
              </a:rPr>
              <a:t>可写可不写，在其他数据库管理系统软件中可能都要写。</a:t>
            </a:r>
            <a:endParaRPr lang="en-US" altLang="zh-CN" sz="2800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GROUP BY</a:t>
            </a:r>
            <a:r>
              <a:rPr lang="zh-CN" altLang="en-US" sz="3200" smtClean="0"/>
              <a:t>子句（续）</a:t>
            </a:r>
            <a:endParaRPr lang="zh-CN" altLang="en-US" sz="3200" smtClean="0"/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12776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HAVING</a:t>
            </a:r>
            <a:r>
              <a:rPr lang="zh-CN" altLang="en-US" dirty="0" smtClean="0">
                <a:solidFill>
                  <a:srgbClr val="FF0000"/>
                </a:solidFill>
              </a:rPr>
              <a:t>短语与</a:t>
            </a:r>
            <a:r>
              <a:rPr lang="en-US" altLang="zh-CN" dirty="0" smtClean="0">
                <a:solidFill>
                  <a:srgbClr val="FF0000"/>
                </a:solidFill>
              </a:rPr>
              <a:t>WHERE</a:t>
            </a:r>
            <a:r>
              <a:rPr lang="zh-CN" altLang="en-US" dirty="0" smtClean="0">
                <a:solidFill>
                  <a:srgbClr val="FF0000"/>
                </a:solidFill>
              </a:rPr>
              <a:t>子句的区别：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作用对象不同</a:t>
            </a:r>
            <a:endParaRPr lang="zh-CN" altLang="en-US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 smtClean="0"/>
              <a:t>WHERE</a:t>
            </a:r>
            <a:r>
              <a:rPr lang="zh-CN" altLang="en-US" dirty="0" smtClean="0"/>
              <a:t>子句作用于基表或视图，从中选择满足条件的元组</a:t>
            </a:r>
            <a:endParaRPr lang="zh-CN" altLang="en-US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 smtClean="0"/>
              <a:t>HAVING</a:t>
            </a:r>
            <a:r>
              <a:rPr lang="zh-CN" altLang="en-US" dirty="0" smtClean="0"/>
              <a:t>短语作用于组，从中选择满足条件的组。 </a:t>
            </a: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提问</a:t>
            </a:r>
            <a:endParaRPr lang="zh-CN" altLang="en-US" smtClean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1.</a:t>
            </a:r>
            <a:r>
              <a:rPr lang="zh-CN" altLang="en-US" sz="3200" dirty="0" smtClean="0"/>
              <a:t>分别统计男生和女生的总人数。要求输出性别和总人数</a:t>
            </a:r>
            <a:endParaRPr lang="en-US" altLang="zh-CN" sz="3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2.</a:t>
            </a:r>
            <a:r>
              <a:rPr lang="zh-CN" altLang="en-US" sz="3200" dirty="0" smtClean="0"/>
              <a:t>求每个选课的男学生的学号和最低分和平均分</a:t>
            </a:r>
            <a:endParaRPr lang="en-US" altLang="zh-CN" sz="3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3.</a:t>
            </a:r>
            <a:r>
              <a:rPr lang="zh-CN" altLang="en-US" sz="3200" dirty="0" smtClean="0"/>
              <a:t>求每个选课的年龄大于</a:t>
            </a:r>
            <a:r>
              <a:rPr lang="en-US" altLang="zh-CN" sz="3200" dirty="0" smtClean="0"/>
              <a:t>20</a:t>
            </a:r>
            <a:r>
              <a:rPr lang="zh-CN" altLang="en-US" sz="3200" dirty="0" smtClean="0"/>
              <a:t>岁的学生的学号和平均分。要求只输出平均分小于</a:t>
            </a:r>
            <a:r>
              <a:rPr lang="en-US" altLang="zh-CN" sz="3200" dirty="0" smtClean="0"/>
              <a:t>60</a:t>
            </a:r>
            <a:r>
              <a:rPr lang="zh-CN" altLang="en-US" sz="3200" dirty="0" smtClean="0"/>
              <a:t>的。</a:t>
            </a:r>
            <a:endParaRPr lang="en-US" altLang="zh-CN" sz="3200" dirty="0" smtClean="0"/>
          </a:p>
          <a:p>
            <a:pPr>
              <a:defRPr/>
            </a:pPr>
            <a:endParaRPr lang="zh-CN" altLang="en-US" sz="3200" dirty="0" smtClean="0"/>
          </a:p>
          <a:p>
            <a:pPr>
              <a:defRPr/>
            </a:pP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4"/>
          <p:cNvSpPr>
            <a:spLocks noGrp="1"/>
          </p:cNvSpPr>
          <p:nvPr>
            <p:ph type="title"/>
          </p:nvPr>
        </p:nvSpPr>
        <p:spPr>
          <a:xfrm>
            <a:off x="785813" y="1214438"/>
            <a:ext cx="7772400" cy="4786312"/>
          </a:xfrm>
        </p:spPr>
        <p:txBody>
          <a:bodyPr/>
          <a:lstStyle/>
          <a:p>
            <a:pPr algn="ctr"/>
            <a:r>
              <a:rPr lang="zh-CN" altLang="en-US" sz="6000" cap="none" smtClean="0"/>
              <a:t>案例分析</a:t>
            </a:r>
            <a:br>
              <a:rPr lang="en-US" altLang="zh-CN" sz="6000" cap="none" smtClean="0"/>
            </a:br>
            <a:r>
              <a:rPr lang="zh-CN" altLang="en-US" cap="none" smtClean="0"/>
              <a:t>课本上的</a:t>
            </a:r>
            <a:r>
              <a:rPr lang="en-US" altLang="zh-CN" cap="none" smtClean="0"/>
              <a:t>spj</a:t>
            </a:r>
            <a:r>
              <a:rPr lang="zh-CN" altLang="en-US" cap="none" smtClean="0"/>
              <a:t>数据库</a:t>
            </a:r>
            <a:br>
              <a:rPr lang="en-US" altLang="zh-CN" cap="none" smtClean="0"/>
            </a:br>
            <a:br>
              <a:rPr lang="en-US" altLang="zh-CN" cap="none" smtClean="0"/>
            </a:br>
            <a:r>
              <a:rPr lang="en-US" altLang="zh-CN" sz="3200" cap="none" smtClean="0"/>
              <a:t>S </a:t>
            </a:r>
            <a:r>
              <a:rPr lang="zh-CN" altLang="en-US" sz="3200" cap="none" smtClean="0"/>
              <a:t>供应商表</a:t>
            </a:r>
            <a:br>
              <a:rPr lang="en-US" altLang="zh-CN" sz="3200" cap="none" smtClean="0"/>
            </a:br>
            <a:r>
              <a:rPr lang="en-US" altLang="zh-CN" sz="3200" cap="none" smtClean="0"/>
              <a:t>P </a:t>
            </a:r>
            <a:r>
              <a:rPr lang="zh-CN" altLang="en-US" sz="3200" cap="none" smtClean="0"/>
              <a:t>零件表</a:t>
            </a:r>
            <a:br>
              <a:rPr lang="en-US" altLang="zh-CN" sz="3200" cap="none" smtClean="0"/>
            </a:br>
            <a:r>
              <a:rPr lang="en-US" altLang="zh-CN" sz="3200" cap="none" smtClean="0"/>
              <a:t>J </a:t>
            </a:r>
            <a:r>
              <a:rPr lang="zh-CN" altLang="en-US" sz="3200" cap="none" smtClean="0"/>
              <a:t>工程项目表</a:t>
            </a:r>
            <a:br>
              <a:rPr lang="en-US" altLang="zh-CN" sz="3200" cap="none" smtClean="0"/>
            </a:br>
            <a:r>
              <a:rPr lang="en-US" altLang="zh-CN" sz="3200" cap="none" smtClean="0"/>
              <a:t>SPJ </a:t>
            </a:r>
            <a:r>
              <a:rPr lang="zh-CN" altLang="en-US" sz="3200" cap="none" smtClean="0"/>
              <a:t>供应商给工程项目供应的零件表</a:t>
            </a:r>
            <a:br>
              <a:rPr lang="en-US" altLang="zh-CN" cap="none" smtClean="0"/>
            </a:br>
            <a:endParaRPr lang="zh-CN" altLang="en-US" cap="none" smtClean="0"/>
          </a:p>
        </p:txBody>
      </p:sp>
      <p:sp>
        <p:nvSpPr>
          <p:cNvPr id="8397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en-US" altLang="zh-CN" smtClean="0"/>
              <a:t>SELECT</a:t>
            </a:r>
            <a:r>
              <a:rPr lang="zh-CN" altLang="en-US" smtClean="0"/>
              <a:t>语句的语法格式</a:t>
            </a:r>
            <a:endParaRPr lang="zh-CN" altLang="en-US" smtClean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047750"/>
            <a:ext cx="8001000" cy="50450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smtClean="0">
                <a:latin typeface="Georgia" panose="02040502050405020303" pitchFamily="18" charset="0"/>
              </a:rPr>
              <a:t>补充：</a:t>
            </a:r>
            <a:r>
              <a:rPr lang="en-US" altLang="zh-CN" smtClean="0">
                <a:solidFill>
                  <a:srgbClr val="FF0000"/>
                </a:solidFill>
              </a:rPr>
              <a:t>Limit </a:t>
            </a:r>
            <a:r>
              <a:rPr lang="zh-CN" altLang="en-US" smtClean="0">
                <a:solidFill>
                  <a:srgbClr val="FF0000"/>
                </a:solidFill>
              </a:rPr>
              <a:t>关键字限制返回行数</a:t>
            </a:r>
            <a:endParaRPr lang="en-US" altLang="zh-CN" smtClean="0">
              <a:solidFill>
                <a:srgbClr val="FF0000"/>
              </a:solidFill>
            </a:endParaRPr>
          </a:p>
          <a:p>
            <a:pPr marL="641350" lvl="1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rgbClr val="FF0000"/>
                </a:solidFill>
              </a:rPr>
              <a:t>Limit 3 </a:t>
            </a:r>
            <a:r>
              <a:rPr lang="zh-CN" altLang="en-US" smtClean="0">
                <a:solidFill>
                  <a:srgbClr val="FF0000"/>
                </a:solidFill>
              </a:rPr>
              <a:t>显示前三行，</a:t>
            </a:r>
            <a:r>
              <a:rPr lang="en-US" altLang="zh-CN" smtClean="0">
                <a:solidFill>
                  <a:srgbClr val="FF0000"/>
                </a:solidFill>
              </a:rPr>
              <a:t>limit 1,3 </a:t>
            </a:r>
            <a:r>
              <a:rPr lang="zh-CN" altLang="en-US" smtClean="0">
                <a:solidFill>
                  <a:srgbClr val="FF0000"/>
                </a:solidFill>
              </a:rPr>
              <a:t>从第</a:t>
            </a:r>
            <a:r>
              <a:rPr lang="en-US" altLang="zh-CN" smtClean="0">
                <a:solidFill>
                  <a:srgbClr val="FF0000"/>
                </a:solidFill>
              </a:rPr>
              <a:t>2</a:t>
            </a:r>
            <a:r>
              <a:rPr lang="zh-CN" altLang="en-US" smtClean="0">
                <a:solidFill>
                  <a:srgbClr val="FF0000"/>
                </a:solidFill>
              </a:rPr>
              <a:t>行开始，显示</a:t>
            </a:r>
            <a:r>
              <a:rPr lang="en-US" altLang="zh-CN" smtClean="0">
                <a:solidFill>
                  <a:srgbClr val="FF0000"/>
                </a:solidFill>
              </a:rPr>
              <a:t>3</a:t>
            </a:r>
            <a:r>
              <a:rPr lang="zh-CN" altLang="en-US" smtClean="0">
                <a:solidFill>
                  <a:srgbClr val="FF0000"/>
                </a:solidFill>
              </a:rPr>
              <a:t>行。</a:t>
            </a:r>
            <a:endParaRPr lang="en-US" altLang="zh-CN" smtClean="0">
              <a:latin typeface="Georgia" panose="02040502050405020303" pitchFamily="18" charset="0"/>
            </a:endParaRPr>
          </a:p>
          <a:p>
            <a:pPr marL="641350" lvl="1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latin typeface="Georgia" panose="02040502050405020303" pitchFamily="18" charset="0"/>
              </a:rPr>
              <a:t>SELECT [ALL|DISTINCT] </a:t>
            </a:r>
            <a:r>
              <a:rPr lang="zh-CN" altLang="en-US" smtClean="0">
                <a:latin typeface="Georgia" panose="02040502050405020303" pitchFamily="18" charset="0"/>
              </a:rPr>
              <a:t>列表达式</a:t>
            </a:r>
            <a:endParaRPr lang="zh-CN" altLang="en-US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smtClean="0">
                <a:latin typeface="Georgia" panose="02040502050405020303" pitchFamily="18" charset="0"/>
              </a:rPr>
              <a:t>  </a:t>
            </a:r>
            <a:r>
              <a:rPr lang="en-US" altLang="zh-CN" sz="2800" smtClean="0">
                <a:latin typeface="Georgia" panose="02040502050405020303" pitchFamily="18" charset="0"/>
              </a:rPr>
              <a:t>[INTO </a:t>
            </a:r>
            <a:r>
              <a:rPr lang="zh-CN" altLang="en-US" sz="2800" smtClean="0">
                <a:latin typeface="Georgia" panose="02040502050405020303" pitchFamily="18" charset="0"/>
              </a:rPr>
              <a:t>新表名</a:t>
            </a:r>
            <a:r>
              <a:rPr lang="en-US" altLang="zh-CN" sz="2800" smtClean="0">
                <a:latin typeface="Georgia" panose="02040502050405020303" pitchFamily="18" charset="0"/>
              </a:rPr>
              <a:t>]</a:t>
            </a:r>
            <a:endParaRPr lang="en-US" altLang="zh-CN" sz="2800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Georgia" panose="02040502050405020303" pitchFamily="18" charset="0"/>
              </a:rPr>
              <a:t>  FROM </a:t>
            </a:r>
            <a:r>
              <a:rPr lang="zh-CN" altLang="en-US" sz="2800" smtClean="0">
                <a:latin typeface="Georgia" panose="02040502050405020303" pitchFamily="18" charset="0"/>
              </a:rPr>
              <a:t>表名列表</a:t>
            </a:r>
            <a:endParaRPr lang="zh-CN" altLang="en-US" sz="2800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smtClean="0">
                <a:latin typeface="Georgia" panose="02040502050405020303" pitchFamily="18" charset="0"/>
              </a:rPr>
              <a:t>  </a:t>
            </a:r>
            <a:r>
              <a:rPr lang="en-US" altLang="zh-CN" sz="2800" smtClean="0">
                <a:latin typeface="Georgia" panose="02040502050405020303" pitchFamily="18" charset="0"/>
              </a:rPr>
              <a:t>[WHERE </a:t>
            </a:r>
            <a:r>
              <a:rPr lang="zh-CN" altLang="en-US" sz="2800" smtClean="0">
                <a:latin typeface="Georgia" panose="02040502050405020303" pitchFamily="18" charset="0"/>
              </a:rPr>
              <a:t>逻辑表达式</a:t>
            </a:r>
            <a:r>
              <a:rPr lang="en-US" altLang="zh-CN" sz="2800" smtClean="0">
                <a:latin typeface="Georgia" panose="02040502050405020303" pitchFamily="18" charset="0"/>
              </a:rPr>
              <a:t>]</a:t>
            </a:r>
            <a:endParaRPr lang="en-US" altLang="zh-CN" sz="2800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Georgia" panose="02040502050405020303" pitchFamily="18" charset="0"/>
              </a:rPr>
              <a:t>  [GROUP BY </a:t>
            </a:r>
            <a:r>
              <a:rPr lang="zh-CN" altLang="en-US" sz="2800" smtClean="0">
                <a:latin typeface="Georgia" panose="02040502050405020303" pitchFamily="18" charset="0"/>
              </a:rPr>
              <a:t>列名</a:t>
            </a:r>
            <a:r>
              <a:rPr lang="en-US" altLang="zh-CN" sz="2800" smtClean="0">
                <a:latin typeface="Georgia" panose="02040502050405020303" pitchFamily="18" charset="0"/>
              </a:rPr>
              <a:t>]</a:t>
            </a:r>
            <a:endParaRPr lang="en-US" altLang="zh-CN" sz="2800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Georgia" panose="02040502050405020303" pitchFamily="18" charset="0"/>
              </a:rPr>
              <a:t>  [HAVING</a:t>
            </a:r>
            <a:r>
              <a:rPr lang="zh-CN" altLang="en-US" sz="2800" smtClean="0">
                <a:latin typeface="Georgia" panose="02040502050405020303" pitchFamily="18" charset="0"/>
              </a:rPr>
              <a:t>逻辑表达式</a:t>
            </a:r>
            <a:r>
              <a:rPr lang="en-US" altLang="zh-CN" sz="2800" smtClean="0">
                <a:latin typeface="Georgia" panose="02040502050405020303" pitchFamily="18" charset="0"/>
              </a:rPr>
              <a:t>]</a:t>
            </a:r>
            <a:endParaRPr lang="en-US" altLang="zh-CN" sz="2800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Georgia" panose="02040502050405020303" pitchFamily="18" charset="0"/>
              </a:rPr>
              <a:t>  [ORDER BY </a:t>
            </a:r>
            <a:r>
              <a:rPr lang="zh-CN" altLang="en-US" sz="2800" smtClean="0">
                <a:latin typeface="Georgia" panose="02040502050405020303" pitchFamily="18" charset="0"/>
              </a:rPr>
              <a:t>列名</a:t>
            </a:r>
            <a:r>
              <a:rPr lang="en-US" altLang="zh-CN" sz="2800" smtClean="0">
                <a:latin typeface="Georgia" panose="02040502050405020303" pitchFamily="18" charset="0"/>
              </a:rPr>
              <a:t>[ASC|DESC]] </a:t>
            </a:r>
            <a:endParaRPr lang="en-US" altLang="zh-CN" sz="2800" smtClean="0">
              <a:latin typeface="Georgia" panose="020405020504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smtClean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查询案例</a:t>
            </a:r>
            <a:endParaRPr lang="zh-CN" altLang="en-US" b="1" smtClean="0"/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1.</a:t>
            </a:r>
            <a:r>
              <a:rPr lang="zh-CN" altLang="en-US" b="1" dirty="0" smtClean="0"/>
              <a:t>查询工程项目所在地名字最后一个字是‘京’字的项目号，项目名，所在城市。注意把列名从英文改为中文。</a:t>
            </a:r>
            <a:endParaRPr lang="en-US" altLang="zh-CN" b="1" dirty="0" smtClean="0"/>
          </a:p>
          <a:p>
            <a:r>
              <a:rPr lang="en-US" altLang="zh-CN" b="1" dirty="0" smtClean="0"/>
              <a:t>2.</a:t>
            </a:r>
            <a:r>
              <a:rPr lang="zh-CN" altLang="en-US" b="1" dirty="0" smtClean="0"/>
              <a:t>查询零件重量大于等于</a:t>
            </a:r>
            <a:r>
              <a:rPr lang="en-US" altLang="zh-CN" b="1" dirty="0" smtClean="0"/>
              <a:t>10</a:t>
            </a:r>
            <a:r>
              <a:rPr lang="zh-CN" altLang="en-US" b="1" dirty="0" smtClean="0"/>
              <a:t>，小于等于</a:t>
            </a:r>
            <a:r>
              <a:rPr lang="en-US" altLang="zh-CN" b="1" dirty="0" smtClean="0"/>
              <a:t>20</a:t>
            </a:r>
            <a:r>
              <a:rPr lang="zh-CN" altLang="en-US" b="1" dirty="0" smtClean="0"/>
              <a:t>的红色零件或重量大于</a:t>
            </a:r>
            <a:r>
              <a:rPr lang="en-US" altLang="zh-CN" b="1" dirty="0" smtClean="0"/>
              <a:t>30</a:t>
            </a:r>
            <a:r>
              <a:rPr lang="zh-CN" altLang="en-US" b="1" dirty="0" smtClean="0"/>
              <a:t>的蓝色零件的零件名称，颜色和重量。列名不改别名</a:t>
            </a:r>
            <a:endParaRPr lang="en-US" altLang="zh-CN" b="1" dirty="0" smtClean="0"/>
          </a:p>
          <a:p>
            <a:r>
              <a:rPr lang="en-US" altLang="zh-CN" b="1" dirty="0" smtClean="0"/>
              <a:t>3.</a:t>
            </a:r>
            <a:r>
              <a:rPr lang="zh-CN" altLang="en-US" b="1" dirty="0" smtClean="0"/>
              <a:t>表中零件重量单位是公斤，请给出每种零件的市斤数。输出的列有零件号，零件名，和市斤数。市斤数是列的别名，其他两个不用改。</a:t>
            </a:r>
            <a:endParaRPr lang="zh-CN" altLang="en-US" b="1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001000" cy="735012"/>
          </a:xfrm>
        </p:spPr>
        <p:txBody>
          <a:bodyPr/>
          <a:lstStyle/>
          <a:p>
            <a:r>
              <a:rPr lang="zh-CN" altLang="en-US" smtClean="0"/>
              <a:t>查询案例</a:t>
            </a:r>
            <a:endParaRPr lang="zh-CN" altLang="en-US" smtClean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001000" cy="5357813"/>
          </a:xfrm>
        </p:spPr>
        <p:txBody>
          <a:bodyPr/>
          <a:lstStyle/>
          <a:p>
            <a:r>
              <a:rPr lang="en-US" altLang="zh-CN" b="1" smtClean="0"/>
              <a:t>4.</a:t>
            </a:r>
            <a:r>
              <a:rPr lang="zh-CN" altLang="en-US" b="1" smtClean="0"/>
              <a:t>查询零件表中，零件的颜色都有哪些。</a:t>
            </a:r>
            <a:endParaRPr lang="en-US" altLang="zh-CN" b="1" smtClean="0"/>
          </a:p>
          <a:p>
            <a:r>
              <a:rPr lang="en-US" altLang="zh-CN" b="1" smtClean="0"/>
              <a:t>5.</a:t>
            </a:r>
            <a:r>
              <a:rPr lang="zh-CN" altLang="en-US" b="1" smtClean="0"/>
              <a:t>在</a:t>
            </a:r>
            <a:r>
              <a:rPr lang="en-US" altLang="zh-CN" b="1" smtClean="0"/>
              <a:t>spj</a:t>
            </a:r>
            <a:r>
              <a:rPr lang="zh-CN" altLang="en-US" b="1" smtClean="0"/>
              <a:t>表中。查询供应数量是</a:t>
            </a:r>
            <a:r>
              <a:rPr lang="en-US" altLang="zh-CN" b="1" smtClean="0"/>
              <a:t>100,200,300,400</a:t>
            </a:r>
            <a:r>
              <a:rPr lang="zh-CN" altLang="en-US" b="1" smtClean="0"/>
              <a:t>的那些元组。</a:t>
            </a:r>
            <a:endParaRPr lang="en-US" altLang="zh-CN" b="1" smtClean="0"/>
          </a:p>
          <a:p>
            <a:r>
              <a:rPr lang="en-US" altLang="zh-CN" b="1" smtClean="0"/>
              <a:t>6.</a:t>
            </a:r>
            <a:r>
              <a:rPr lang="zh-CN" altLang="en-US" b="1" smtClean="0"/>
              <a:t>在</a:t>
            </a:r>
            <a:r>
              <a:rPr lang="en-US" altLang="zh-CN" b="1" smtClean="0"/>
              <a:t>spj</a:t>
            </a:r>
            <a:r>
              <a:rPr lang="zh-CN" altLang="en-US" b="1" smtClean="0"/>
              <a:t>表中，如果供应数量是</a:t>
            </a:r>
            <a:r>
              <a:rPr lang="en-US" altLang="zh-CN" b="1" smtClean="0"/>
              <a:t>null</a:t>
            </a:r>
            <a:r>
              <a:rPr lang="zh-CN" altLang="en-US" b="1" smtClean="0"/>
              <a:t>。代表供应商给某项目供应的某零件的数量不确定。查询有那些供应商给哪些项目供应的哪些零件是不确定数量的。要求给出供应商号，项目号和零件号。</a:t>
            </a:r>
            <a:endParaRPr lang="en-US" altLang="zh-CN" b="1" smtClean="0"/>
          </a:p>
          <a:p>
            <a:r>
              <a:rPr lang="en-US" altLang="zh-CN" b="1" smtClean="0"/>
              <a:t>7.</a:t>
            </a:r>
            <a:r>
              <a:rPr lang="zh-CN" altLang="en-US" b="1" smtClean="0"/>
              <a:t>查询重量小于</a:t>
            </a:r>
            <a:r>
              <a:rPr lang="en-US" altLang="zh-CN" b="1" smtClean="0"/>
              <a:t>40</a:t>
            </a:r>
            <a:r>
              <a:rPr lang="zh-CN" altLang="en-US" b="1" smtClean="0"/>
              <a:t>的零件的零件号，零件名和零件颜色。并按照零件颜色排序降序排列，颜色相同的，按照零件号升序排列。</a:t>
            </a:r>
            <a:endParaRPr lang="zh-CN" altLang="en-US" b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查询案例</a:t>
            </a:r>
            <a:endParaRPr lang="zh-CN" altLang="en-US" smtClean="0"/>
          </a:p>
        </p:txBody>
      </p:sp>
      <p:sp>
        <p:nvSpPr>
          <p:cNvPr id="88067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001000" cy="5072063"/>
          </a:xfrm>
        </p:spPr>
        <p:txBody>
          <a:bodyPr/>
          <a:lstStyle/>
          <a:p>
            <a:r>
              <a:rPr lang="en-US" altLang="zh-CN" b="1" dirty="0" smtClean="0"/>
              <a:t>8.</a:t>
            </a:r>
            <a:r>
              <a:rPr lang="zh-CN" altLang="en-US" b="1" dirty="0" smtClean="0"/>
              <a:t>找出最重的三种零件的零件号和零件名。</a:t>
            </a:r>
            <a:endParaRPr lang="en-US" altLang="zh-CN" b="1" dirty="0" smtClean="0"/>
          </a:p>
          <a:p>
            <a:r>
              <a:rPr lang="en-US" altLang="zh-CN" b="1" dirty="0" smtClean="0"/>
              <a:t>9.</a:t>
            </a:r>
            <a:r>
              <a:rPr lang="zh-CN" altLang="en-US" b="1" dirty="0" smtClean="0"/>
              <a:t>查询零件共有几种颜色。</a:t>
            </a:r>
            <a:endParaRPr lang="en-US" altLang="zh-CN" b="1" dirty="0" smtClean="0"/>
          </a:p>
          <a:p>
            <a:r>
              <a:rPr lang="en-US" altLang="zh-CN" b="1" dirty="0" smtClean="0"/>
              <a:t>10.</a:t>
            </a:r>
            <a:r>
              <a:rPr lang="zh-CN" altLang="en-US" b="1" dirty="0" smtClean="0"/>
              <a:t>如果每种零件取一个，那么所有种类的零件的总重量是多少。</a:t>
            </a:r>
            <a:endParaRPr lang="en-US" altLang="zh-CN" b="1" dirty="0" smtClean="0"/>
          </a:p>
          <a:p>
            <a:r>
              <a:rPr lang="en-US" altLang="zh-CN" b="1" dirty="0" smtClean="0"/>
              <a:t>11.</a:t>
            </a:r>
            <a:r>
              <a:rPr lang="zh-CN" altLang="en-US" b="1" dirty="0" smtClean="0"/>
              <a:t>查询红色零件中最轻的那种零件的重量是多少。这个零件是哪个零件。</a:t>
            </a:r>
            <a:endParaRPr lang="en-US" altLang="zh-CN" b="1" dirty="0" smtClean="0"/>
          </a:p>
          <a:p>
            <a:r>
              <a:rPr lang="en-US" altLang="zh-CN" b="1" dirty="0" smtClean="0"/>
              <a:t>12.</a:t>
            </a:r>
            <a:r>
              <a:rPr lang="zh-CN" altLang="en-US" b="1" dirty="0" smtClean="0"/>
              <a:t>查询蓝色零件的平均重量。</a:t>
            </a:r>
            <a:endParaRPr lang="en-US" altLang="zh-CN" b="1" dirty="0" smtClean="0"/>
          </a:p>
          <a:p>
            <a:r>
              <a:rPr lang="en-US" altLang="zh-CN" b="1" dirty="0" smtClean="0"/>
              <a:t>13.</a:t>
            </a:r>
            <a:r>
              <a:rPr lang="zh-CN" altLang="en-US" b="1" dirty="0" smtClean="0"/>
              <a:t>求每种颜色的零件的平均重量和最重的重量，要求输出颜色、平均重量和最重的重量。</a:t>
            </a:r>
            <a:endParaRPr lang="zh-CN" altLang="en-US" b="1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查询案例</a:t>
            </a:r>
            <a:endParaRPr lang="zh-CN" altLang="en-US" smtClean="0"/>
          </a:p>
        </p:txBody>
      </p:sp>
      <p:sp>
        <p:nvSpPr>
          <p:cNvPr id="890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14.</a:t>
            </a:r>
            <a:r>
              <a:rPr lang="zh-CN" altLang="en-US" b="1" dirty="0" smtClean="0"/>
              <a:t>在</a:t>
            </a:r>
            <a:r>
              <a:rPr lang="en-US" altLang="zh-CN" b="1" dirty="0" err="1" smtClean="0"/>
              <a:t>spj</a:t>
            </a:r>
            <a:r>
              <a:rPr lang="zh-CN" altLang="en-US" b="1" dirty="0" smtClean="0"/>
              <a:t>表中，计算每个工程项目所被供应的零件的总个数。输出：工程项目号和零件总个数总个数。</a:t>
            </a:r>
            <a:endParaRPr lang="en-US" altLang="zh-CN" b="1" dirty="0" smtClean="0"/>
          </a:p>
          <a:p>
            <a:r>
              <a:rPr lang="en-US" altLang="zh-CN" b="1" dirty="0" smtClean="0"/>
              <a:t>15</a:t>
            </a:r>
            <a:r>
              <a:rPr lang="zh-CN" altLang="en-US" b="1" dirty="0" smtClean="0"/>
              <a:t>计算每个供应商供应的零件的总个数。要求输出：供应商名和零件总个数。</a:t>
            </a:r>
            <a:endParaRPr lang="en-US" altLang="zh-CN" b="1" dirty="0" smtClean="0"/>
          </a:p>
          <a:p>
            <a:r>
              <a:rPr lang="en-US" altLang="zh-CN" b="1" dirty="0" smtClean="0"/>
              <a:t>16</a:t>
            </a:r>
            <a:r>
              <a:rPr lang="zh-CN" altLang="en-US" b="1" dirty="0" smtClean="0"/>
              <a:t>所有城市所在地是‘天津’的工程项目被供应的零件的总个数。输出：工程项目名和零件总个数。并按照零件总个数升序排序，零件总个数相同的按项目名降序排序。</a:t>
            </a:r>
            <a:endParaRPr lang="en-US" altLang="zh-CN" b="1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查询案例</a:t>
            </a:r>
            <a:endParaRPr lang="zh-CN" altLang="en-US" smtClean="0"/>
          </a:p>
        </p:txBody>
      </p:sp>
      <p:sp>
        <p:nvSpPr>
          <p:cNvPr id="901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17.</a:t>
            </a:r>
            <a:r>
              <a:rPr lang="zh-CN" altLang="en-US" b="1" dirty="0" smtClean="0">
                <a:solidFill>
                  <a:srgbClr val="FF0000"/>
                </a:solidFill>
              </a:rPr>
              <a:t>统计汇总每个供应商提供给每个工程项目的零件的总个数。输出：供应商号和工程项目号和零件总个数。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/>
              <a:t>18.</a:t>
            </a:r>
            <a:r>
              <a:rPr lang="zh-CN" altLang="en-US" b="1" dirty="0" smtClean="0"/>
              <a:t>查询有哪些供应商所供应的零件总数超过了</a:t>
            </a:r>
            <a:r>
              <a:rPr lang="en-US" altLang="zh-CN" b="1" dirty="0" smtClean="0"/>
              <a:t>1000</a:t>
            </a:r>
            <a:r>
              <a:rPr lang="zh-CN" altLang="en-US" b="1" dirty="0" smtClean="0"/>
              <a:t>个。输出供应商号和零件总数。</a:t>
            </a:r>
            <a:endParaRPr lang="en-US" altLang="zh-CN" b="1" dirty="0" smtClean="0"/>
          </a:p>
          <a:p>
            <a:r>
              <a:rPr lang="en-US" altLang="zh-CN" b="1" dirty="0" smtClean="0"/>
              <a:t>19.</a:t>
            </a:r>
            <a:r>
              <a:rPr lang="zh-CN" altLang="en-US" b="1" dirty="0" smtClean="0"/>
              <a:t>查询</a:t>
            </a:r>
            <a:r>
              <a:rPr lang="zh-CN" altLang="en-US" b="1" dirty="0"/>
              <a:t>有哪些</a:t>
            </a:r>
            <a:r>
              <a:rPr lang="zh-CN" altLang="en-US" b="1" dirty="0" smtClean="0"/>
              <a:t>零件的供应量小于</a:t>
            </a:r>
            <a:r>
              <a:rPr lang="en-US" altLang="zh-CN" b="1" dirty="0" smtClean="0"/>
              <a:t>500.</a:t>
            </a:r>
            <a:r>
              <a:rPr lang="zh-CN" altLang="en-US" b="1" dirty="0" smtClean="0"/>
              <a:t>输出零件号，零件名称和供应量。</a:t>
            </a:r>
            <a:endParaRPr lang="en-US" altLang="zh-CN" b="1" dirty="0" smtClean="0"/>
          </a:p>
          <a:p>
            <a:r>
              <a:rPr lang="en-US" altLang="zh-CN" b="1" dirty="0" smtClean="0"/>
              <a:t>20.</a:t>
            </a:r>
            <a:r>
              <a:rPr lang="zh-CN" altLang="en-US" b="1" dirty="0" smtClean="0"/>
              <a:t>在</a:t>
            </a:r>
            <a:r>
              <a:rPr lang="en-US" altLang="zh-CN" b="1" dirty="0" smtClean="0"/>
              <a:t>p</a:t>
            </a:r>
            <a:r>
              <a:rPr lang="zh-CN" altLang="en-US" b="1" dirty="0" smtClean="0"/>
              <a:t>表中查询与</a:t>
            </a:r>
            <a:r>
              <a:rPr lang="en-US" altLang="zh-CN" b="1" dirty="0" smtClean="0"/>
              <a:t>p1</a:t>
            </a:r>
            <a:r>
              <a:rPr lang="zh-CN" altLang="en-US" b="1" dirty="0" smtClean="0"/>
              <a:t>号零件相同颜色的其他零件的零件号和零件名。</a:t>
            </a:r>
            <a:endParaRPr lang="zh-CN" altLang="en-US" b="1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altLang="zh-CN" smtClean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</a:t>
            </a:r>
            <a:r>
              <a:rPr lang="zh-CN" altLang="en-US" smtClean="0"/>
              <a:t>、投影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1,</a:t>
            </a:r>
            <a:r>
              <a:rPr lang="zh-CN" altLang="en-US" smtClean="0"/>
              <a:t>列名</a:t>
            </a:r>
            <a:r>
              <a:rPr lang="en-US" altLang="zh-CN" smtClean="0"/>
              <a:t>2… from </a:t>
            </a:r>
            <a:r>
              <a:rPr lang="zh-CN" altLang="en-US" smtClean="0"/>
              <a:t>表名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2</a:t>
            </a:r>
            <a:r>
              <a:rPr lang="zh-CN" altLang="en-US" smtClean="0"/>
              <a:t>、</a:t>
            </a:r>
            <a:r>
              <a:rPr lang="en-US" altLang="zh-CN" smtClean="0"/>
              <a:t>limit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1,</a:t>
            </a:r>
            <a:r>
              <a:rPr lang="zh-CN" altLang="en-US" smtClean="0"/>
              <a:t>列名</a:t>
            </a:r>
            <a:r>
              <a:rPr lang="en-US" altLang="zh-CN" smtClean="0"/>
              <a:t>2… from </a:t>
            </a:r>
            <a:r>
              <a:rPr lang="zh-CN" altLang="en-US" smtClean="0"/>
              <a:t>表名 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逻辑表达式   </a:t>
            </a:r>
            <a:r>
              <a:rPr lang="en-US" altLang="zh-CN" smtClean="0"/>
              <a:t>limit  3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3</a:t>
            </a:r>
            <a:r>
              <a:rPr lang="zh-CN" altLang="en-US" smtClean="0"/>
              <a:t>、</a:t>
            </a:r>
            <a:r>
              <a:rPr lang="en-US" altLang="zh-CN" smtClean="0"/>
              <a:t>Percent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top n percent </a:t>
            </a:r>
            <a:r>
              <a:rPr lang="zh-CN" altLang="en-US" smtClean="0"/>
              <a:t>列名</a:t>
            </a:r>
            <a:r>
              <a:rPr lang="en-US" altLang="zh-CN" smtClean="0"/>
              <a:t>1,</a:t>
            </a:r>
            <a:r>
              <a:rPr lang="zh-CN" altLang="en-US" smtClean="0"/>
              <a:t>列名</a:t>
            </a:r>
            <a:r>
              <a:rPr lang="en-US" altLang="zh-CN" smtClean="0"/>
              <a:t>2… from </a:t>
            </a:r>
            <a:r>
              <a:rPr lang="zh-CN" altLang="en-US" smtClean="0"/>
              <a:t>表名 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altLang="zh-CN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4</a:t>
            </a:r>
            <a:r>
              <a:rPr lang="zh-CN" altLang="en-US" smtClean="0"/>
              <a:t>、</a:t>
            </a:r>
            <a:r>
              <a:rPr lang="en-US" altLang="zh-CN" smtClean="0"/>
              <a:t>Distinct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distinct </a:t>
            </a:r>
            <a:r>
              <a:rPr lang="zh-CN" altLang="en-US" smtClean="0"/>
              <a:t>列名 </a:t>
            </a:r>
            <a:r>
              <a:rPr lang="en-US" altLang="zh-CN" smtClean="0"/>
              <a:t>from </a:t>
            </a:r>
            <a:r>
              <a:rPr lang="zh-CN" altLang="en-US" smtClean="0"/>
              <a:t>表名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5</a:t>
            </a:r>
            <a:r>
              <a:rPr lang="zh-CN" altLang="en-US" smtClean="0"/>
              <a:t>、*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* from </a:t>
            </a:r>
            <a:r>
              <a:rPr lang="zh-CN" altLang="en-US" smtClean="0"/>
              <a:t>表名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6</a:t>
            </a:r>
            <a:r>
              <a:rPr lang="zh-CN" altLang="en-US" smtClean="0"/>
              <a:t>、使用表达式计算列值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列名*</a:t>
            </a:r>
            <a:r>
              <a:rPr lang="en-US" altLang="zh-CN" smtClean="0"/>
              <a:t>n from </a:t>
            </a:r>
            <a:r>
              <a:rPr lang="zh-CN" altLang="en-US" smtClean="0"/>
              <a:t>表名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7</a:t>
            </a:r>
            <a:r>
              <a:rPr lang="zh-CN" altLang="en-US" smtClean="0"/>
              <a:t>、自定义列标题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 </a:t>
            </a:r>
            <a:r>
              <a:rPr lang="en-US" altLang="zh-CN" smtClean="0"/>
              <a:t>as </a:t>
            </a:r>
            <a:r>
              <a:rPr lang="zh-CN" altLang="en-US" smtClean="0"/>
              <a:t>新列名 </a:t>
            </a:r>
            <a:r>
              <a:rPr lang="en-US" altLang="zh-CN" smtClean="0"/>
              <a:t>from </a:t>
            </a:r>
            <a:r>
              <a:rPr lang="zh-CN" altLang="en-US" smtClean="0"/>
              <a:t>表名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altLang="zh-CN" smtClean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8</a:t>
            </a:r>
            <a:r>
              <a:rPr lang="zh-CN" altLang="en-US" smtClean="0"/>
              <a:t>、列函数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Count</a:t>
            </a:r>
            <a:r>
              <a:rPr lang="zh-CN" altLang="en-US" smtClean="0"/>
              <a:t>、</a:t>
            </a:r>
            <a:r>
              <a:rPr lang="en-US" altLang="zh-CN" smtClean="0"/>
              <a:t>sum</a:t>
            </a:r>
            <a:r>
              <a:rPr lang="zh-CN" altLang="en-US" smtClean="0"/>
              <a:t>、</a:t>
            </a:r>
            <a:r>
              <a:rPr lang="en-US" altLang="zh-CN" smtClean="0"/>
              <a:t>avg</a:t>
            </a:r>
            <a:r>
              <a:rPr lang="zh-CN" altLang="en-US" smtClean="0"/>
              <a:t>、</a:t>
            </a:r>
            <a:r>
              <a:rPr lang="en-US" altLang="zh-CN" smtClean="0"/>
              <a:t>max</a:t>
            </a:r>
            <a:r>
              <a:rPr lang="zh-CN" altLang="en-US" smtClean="0"/>
              <a:t>、</a:t>
            </a:r>
            <a:r>
              <a:rPr lang="en-US" altLang="zh-CN" smtClean="0"/>
              <a:t>min 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9</a:t>
            </a:r>
            <a:r>
              <a:rPr lang="zh-CN" altLang="en-US" smtClean="0"/>
              <a:t>、连接查询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表名</a:t>
            </a:r>
            <a:r>
              <a:rPr lang="en-US" altLang="zh-CN" smtClean="0"/>
              <a:t>1.</a:t>
            </a:r>
            <a:r>
              <a:rPr lang="zh-CN" altLang="en-US" smtClean="0"/>
              <a:t>列名</a:t>
            </a:r>
            <a:r>
              <a:rPr lang="en-US" altLang="zh-CN" smtClean="0"/>
              <a:t>1,</a:t>
            </a:r>
            <a:r>
              <a:rPr lang="zh-CN" altLang="en-US" smtClean="0"/>
              <a:t>表名</a:t>
            </a:r>
            <a:r>
              <a:rPr lang="en-US" altLang="zh-CN" smtClean="0"/>
              <a:t>2.</a:t>
            </a:r>
            <a:r>
              <a:rPr lang="zh-CN" altLang="en-US" smtClean="0"/>
              <a:t>列名</a:t>
            </a:r>
            <a:r>
              <a:rPr lang="en-US" altLang="zh-CN" smtClean="0"/>
              <a:t>2 from </a:t>
            </a:r>
            <a:r>
              <a:rPr lang="zh-CN" altLang="en-US" smtClean="0"/>
              <a:t>表名</a:t>
            </a:r>
            <a:r>
              <a:rPr lang="en-US" altLang="zh-CN" smtClean="0"/>
              <a:t>1,</a:t>
            </a:r>
            <a:r>
              <a:rPr lang="zh-CN" altLang="en-US" smtClean="0"/>
              <a:t>表名</a:t>
            </a:r>
            <a:r>
              <a:rPr lang="en-US" altLang="zh-CN" smtClean="0"/>
              <a:t>2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10</a:t>
            </a:r>
            <a:r>
              <a:rPr lang="zh-CN" altLang="en-US" smtClean="0"/>
              <a:t>、自定义表名 </a:t>
            </a:r>
            <a:r>
              <a:rPr lang="en-US" altLang="zh-CN" smtClean="0"/>
              <a:t>as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新表名</a:t>
            </a:r>
            <a:r>
              <a:rPr lang="en-US" altLang="zh-CN" smtClean="0"/>
              <a:t>1.</a:t>
            </a:r>
            <a:r>
              <a:rPr lang="zh-CN" altLang="en-US" smtClean="0"/>
              <a:t>列名</a:t>
            </a:r>
            <a:r>
              <a:rPr lang="en-US" altLang="zh-CN" smtClean="0"/>
              <a:t>1,</a:t>
            </a:r>
            <a:r>
              <a:rPr lang="zh-CN" altLang="en-US" smtClean="0"/>
              <a:t>新表名</a:t>
            </a:r>
            <a:r>
              <a:rPr lang="en-US" altLang="zh-CN" smtClean="0"/>
              <a:t>2.</a:t>
            </a:r>
            <a:r>
              <a:rPr lang="zh-CN" altLang="en-US" smtClean="0"/>
              <a:t>列名</a:t>
            </a:r>
            <a:r>
              <a:rPr lang="en-US" altLang="zh-CN" smtClean="0"/>
              <a:t>2 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from </a:t>
            </a:r>
            <a:r>
              <a:rPr lang="zh-CN" altLang="en-US" smtClean="0"/>
              <a:t>表名</a:t>
            </a:r>
            <a:r>
              <a:rPr lang="en-US" altLang="zh-CN" smtClean="0"/>
              <a:t>1 as </a:t>
            </a:r>
            <a:r>
              <a:rPr lang="zh-CN" altLang="en-US" smtClean="0"/>
              <a:t>新表名</a:t>
            </a:r>
            <a:r>
              <a:rPr lang="en-US" altLang="zh-CN" smtClean="0"/>
              <a:t>1,</a:t>
            </a:r>
            <a:r>
              <a:rPr lang="zh-CN" altLang="en-US" smtClean="0"/>
              <a:t>表名</a:t>
            </a:r>
            <a:r>
              <a:rPr lang="en-US" altLang="zh-CN" smtClean="0"/>
              <a:t>2 as </a:t>
            </a:r>
            <a:r>
              <a:rPr lang="zh-CN" altLang="en-US" smtClean="0"/>
              <a:t>新表名</a:t>
            </a:r>
            <a:r>
              <a:rPr lang="en-US" altLang="zh-CN" smtClean="0"/>
              <a:t>2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altLang="zh-CN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11</a:t>
            </a:r>
            <a:r>
              <a:rPr lang="zh-CN" altLang="en-US" smtClean="0"/>
              <a:t>、关系运算：</a:t>
            </a:r>
            <a:r>
              <a:rPr lang="en-US" altLang="zh-CN" smtClean="0"/>
              <a:t>&gt;,&lt;,=,&gt;=,&lt;=,&lt;&gt;</a:t>
            </a:r>
            <a:endParaRPr lang="en-US" altLang="zh-CN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12</a:t>
            </a:r>
            <a:r>
              <a:rPr lang="zh-CN" altLang="en-US" smtClean="0"/>
              <a:t>、逻辑运算：</a:t>
            </a:r>
            <a:r>
              <a:rPr lang="en-US" altLang="zh-CN" smtClean="0"/>
              <a:t>not,and,or</a:t>
            </a:r>
            <a:endParaRPr lang="en-US" altLang="zh-CN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13</a:t>
            </a:r>
            <a:r>
              <a:rPr lang="zh-CN" altLang="en-US" smtClean="0"/>
              <a:t>、范围运算：</a:t>
            </a:r>
            <a:r>
              <a:rPr lang="en-US" altLang="zh-CN" smtClean="0"/>
              <a:t>[not]between </a:t>
            </a:r>
            <a:r>
              <a:rPr lang="zh-CN" altLang="en-US" smtClean="0"/>
              <a:t>开始值 </a:t>
            </a:r>
            <a:r>
              <a:rPr lang="en-US" altLang="zh-CN" smtClean="0"/>
              <a:t>and </a:t>
            </a:r>
            <a:r>
              <a:rPr lang="zh-CN" altLang="en-US" smtClean="0"/>
              <a:t>结束值</a:t>
            </a:r>
            <a:endParaRPr lang="zh-CN" altLang="en-US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endParaRPr lang="zh-CN" altLang="en-US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列名</a:t>
            </a:r>
            <a:r>
              <a:rPr lang="en-US" altLang="zh-CN" smtClean="0"/>
              <a:t>2 between a and b</a:t>
            </a:r>
            <a:endParaRPr lang="en-US" altLang="zh-CN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14</a:t>
            </a:r>
            <a:r>
              <a:rPr lang="zh-CN" altLang="en-US" smtClean="0"/>
              <a:t>、匹配：</a:t>
            </a:r>
            <a:r>
              <a:rPr lang="en-US" altLang="zh-CN" smtClean="0"/>
              <a:t>like</a:t>
            </a:r>
            <a:r>
              <a:rPr lang="zh-CN" altLang="en-US" smtClean="0"/>
              <a:t>，</a:t>
            </a:r>
            <a:r>
              <a:rPr lang="en-US" altLang="zh-CN" smtClean="0"/>
              <a:t>%</a:t>
            </a:r>
            <a:r>
              <a:rPr lang="zh-CN" altLang="en-US" smtClean="0"/>
              <a:t>，</a:t>
            </a:r>
            <a:r>
              <a:rPr lang="en-US" altLang="zh-CN" smtClean="0"/>
              <a:t>_</a:t>
            </a:r>
            <a:endParaRPr lang="en-US" altLang="zh-CN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endParaRPr lang="zh-CN" altLang="en-US" smtClean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列名</a:t>
            </a:r>
            <a:r>
              <a:rPr lang="en-US" altLang="zh-CN" smtClean="0"/>
              <a:t>2 like ‘%_’</a:t>
            </a:r>
            <a:endParaRPr lang="en-US" altLang="zh-CN" smtClean="0"/>
          </a:p>
          <a:p>
            <a:pPr marL="533400" indent="-533400"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altLang="zh-CN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15</a:t>
            </a:r>
            <a:r>
              <a:rPr lang="zh-CN" altLang="en-US" smtClean="0"/>
              <a:t>、列运算：</a:t>
            </a:r>
            <a:r>
              <a:rPr lang="en-US" altLang="zh-CN" smtClean="0"/>
              <a:t>[not]in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列名</a:t>
            </a:r>
            <a:r>
              <a:rPr lang="en-US" altLang="zh-CN" smtClean="0"/>
              <a:t>2 in ‘a’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16</a:t>
            </a:r>
            <a:r>
              <a:rPr lang="zh-CN" altLang="en-US" smtClean="0"/>
              <a:t>、空值判定：</a:t>
            </a:r>
            <a:r>
              <a:rPr lang="en-US" altLang="zh-CN" smtClean="0"/>
              <a:t>is nul</a:t>
            </a:r>
            <a:r>
              <a:rPr lang="zh-CN" altLang="en-US" smtClean="0"/>
              <a:t>、</a:t>
            </a:r>
            <a:r>
              <a:rPr lang="en-US" altLang="zh-CN" smtClean="0"/>
              <a:t>is not null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Where </a:t>
            </a:r>
            <a:r>
              <a:rPr lang="zh-CN" altLang="en-US" smtClean="0"/>
              <a:t>列名</a:t>
            </a:r>
            <a:r>
              <a:rPr lang="en-US" altLang="zh-CN" smtClean="0"/>
              <a:t>2 is not null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17</a:t>
            </a:r>
            <a:r>
              <a:rPr lang="zh-CN" altLang="en-US" smtClean="0"/>
              <a:t>、分组：</a:t>
            </a:r>
            <a:r>
              <a:rPr lang="en-US" altLang="zh-CN" smtClean="0"/>
              <a:t>group by(</a:t>
            </a:r>
            <a:r>
              <a:rPr lang="zh-CN" altLang="en-US" smtClean="0"/>
              <a:t>列名</a:t>
            </a:r>
            <a:r>
              <a:rPr lang="en-US" altLang="zh-CN" smtClean="0"/>
              <a:t>)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r>
              <a:rPr lang="en-US" altLang="zh-CN" smtClean="0"/>
              <a:t>group by </a:t>
            </a:r>
            <a:r>
              <a:rPr lang="zh-CN" altLang="en-US" smtClean="0"/>
              <a:t>列名</a:t>
            </a:r>
            <a:r>
              <a:rPr lang="en-US" altLang="zh-CN" smtClean="0"/>
              <a:t>2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altLang="zh-CN" smtClean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18</a:t>
            </a:r>
            <a:r>
              <a:rPr lang="zh-CN" altLang="en-US" smtClean="0"/>
              <a:t>、</a:t>
            </a:r>
            <a:r>
              <a:rPr lang="en-US" altLang="zh-CN" smtClean="0"/>
              <a:t>Having</a:t>
            </a:r>
            <a:r>
              <a:rPr lang="zh-CN" altLang="en-US" smtClean="0"/>
              <a:t>限定查询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r>
              <a:rPr lang="en-US" altLang="zh-CN" smtClean="0"/>
              <a:t>group by </a:t>
            </a:r>
            <a:r>
              <a:rPr lang="zh-CN" altLang="en-US" smtClean="0"/>
              <a:t>列名</a:t>
            </a:r>
            <a:r>
              <a:rPr lang="en-US" altLang="zh-CN" smtClean="0"/>
              <a:t>2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Having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19</a:t>
            </a:r>
            <a:r>
              <a:rPr lang="zh-CN" altLang="en-US" smtClean="0"/>
              <a:t>、</a:t>
            </a:r>
            <a:r>
              <a:rPr lang="en-US" altLang="zh-CN" smtClean="0"/>
              <a:t>Order by </a:t>
            </a:r>
            <a:r>
              <a:rPr lang="zh-CN" altLang="en-US" smtClean="0"/>
              <a:t>排序（</a:t>
            </a:r>
            <a:r>
              <a:rPr lang="en-US" altLang="zh-CN" smtClean="0"/>
              <a:t>desc,asc</a:t>
            </a:r>
            <a:r>
              <a:rPr lang="zh-CN" altLang="en-US" smtClean="0"/>
              <a:t>）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</a:t>
            </a:r>
            <a:r>
              <a:rPr lang="zh-CN" altLang="en-US" smtClean="0"/>
              <a:t>列名</a:t>
            </a:r>
            <a:r>
              <a:rPr lang="en-US" altLang="zh-CN" smtClean="0"/>
              <a:t>1… from </a:t>
            </a:r>
            <a:r>
              <a:rPr lang="zh-CN" altLang="en-US" smtClean="0"/>
              <a:t>表名 </a:t>
            </a:r>
            <a:r>
              <a:rPr lang="en-US" altLang="zh-CN" smtClean="0"/>
              <a:t>Where </a:t>
            </a:r>
            <a:r>
              <a:rPr lang="zh-CN" altLang="en-US" smtClean="0"/>
              <a:t>逻辑表达式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Order by </a:t>
            </a:r>
            <a:r>
              <a:rPr lang="zh-CN" altLang="en-US" smtClean="0"/>
              <a:t>列名</a:t>
            </a:r>
            <a:r>
              <a:rPr lang="en-US" altLang="zh-CN" smtClean="0"/>
              <a:t>2 asc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20</a:t>
            </a:r>
            <a:r>
              <a:rPr lang="zh-CN" altLang="en-US" smtClean="0"/>
              <a:t>、</a:t>
            </a:r>
            <a:r>
              <a:rPr lang="en-US" altLang="zh-CN" smtClean="0"/>
              <a:t>Into </a:t>
            </a:r>
            <a:r>
              <a:rPr lang="zh-CN" altLang="en-US" smtClean="0"/>
              <a:t>保存查询 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select * into </a:t>
            </a:r>
            <a:r>
              <a:rPr lang="zh-CN" altLang="en-US" smtClean="0"/>
              <a:t>表</a:t>
            </a:r>
            <a:r>
              <a:rPr lang="en-US" altLang="zh-CN" smtClean="0"/>
              <a:t>1 from </a:t>
            </a:r>
            <a:r>
              <a:rPr lang="zh-CN" altLang="en-US" smtClean="0"/>
              <a:t>表</a:t>
            </a:r>
            <a:r>
              <a:rPr lang="en-US" altLang="zh-CN" smtClean="0"/>
              <a:t>2</a:t>
            </a: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特别总结：</a:t>
            </a:r>
            <a:r>
              <a:rPr lang="en-US" altLang="zh-CN" smtClean="0"/>
              <a:t>group by</a:t>
            </a:r>
            <a:endParaRPr lang="zh-CN" altLang="en-US" smtClean="0"/>
          </a:p>
        </p:txBody>
      </p:sp>
      <p:sp>
        <p:nvSpPr>
          <p:cNvPr id="972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Select</a:t>
            </a:r>
            <a:endParaRPr lang="en-US" altLang="zh-CN" dirty="0" smtClean="0"/>
          </a:p>
          <a:p>
            <a:r>
              <a:rPr lang="en-US" altLang="zh-CN" dirty="0" smtClean="0"/>
              <a:t>From</a:t>
            </a:r>
            <a:endParaRPr lang="en-US" altLang="zh-CN" dirty="0" smtClean="0"/>
          </a:p>
          <a:p>
            <a:r>
              <a:rPr lang="en-US" altLang="zh-CN" dirty="0" smtClean="0"/>
              <a:t>where</a:t>
            </a:r>
            <a:endParaRPr lang="en-US" altLang="zh-CN" dirty="0" smtClean="0"/>
          </a:p>
          <a:p>
            <a:r>
              <a:rPr lang="en-US" altLang="zh-CN" dirty="0" smtClean="0"/>
              <a:t>Group by</a:t>
            </a:r>
            <a:endParaRPr lang="en-US" altLang="zh-CN" dirty="0" smtClean="0"/>
          </a:p>
          <a:p>
            <a:r>
              <a:rPr lang="en-US" altLang="zh-CN" dirty="0" smtClean="0"/>
              <a:t>Select </a:t>
            </a:r>
            <a:r>
              <a:rPr lang="zh-CN" altLang="en-US" dirty="0" smtClean="0"/>
              <a:t>后面的内容一般是</a:t>
            </a:r>
            <a:r>
              <a:rPr lang="en-US" altLang="zh-CN" dirty="0" smtClean="0"/>
              <a:t>group by </a:t>
            </a:r>
            <a:r>
              <a:rPr lang="zh-CN" altLang="en-US" dirty="0" smtClean="0"/>
              <a:t>后面的列名或聚集函数。</a:t>
            </a:r>
            <a:endParaRPr lang="en-US" altLang="zh-CN" dirty="0" smtClean="0"/>
          </a:p>
          <a:p>
            <a:r>
              <a:rPr lang="zh-CN" altLang="en-US" dirty="0" smtClean="0"/>
              <a:t>如果没有分组，而用到聚集函数，把表当成一个组。</a:t>
            </a:r>
            <a:endParaRPr lang="zh-CN" altLang="en-US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428625"/>
            <a:ext cx="7391400" cy="563563"/>
          </a:xfrm>
        </p:spPr>
        <p:txBody>
          <a:bodyPr/>
          <a:lstStyle/>
          <a:p>
            <a:pPr marL="609600" indent="-609600"/>
            <a:r>
              <a:rPr lang="zh-CN" altLang="en-US" smtClean="0"/>
              <a:t>其他案例</a:t>
            </a:r>
            <a:endParaRPr lang="zh-CN" altLang="en-US" smtClean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96975"/>
            <a:ext cx="8569325" cy="5018088"/>
          </a:xfrm>
        </p:spPr>
        <p:txBody>
          <a:bodyPr/>
          <a:lstStyle/>
          <a:p>
            <a:pPr marL="419100" indent="-419100" algn="just"/>
            <a:r>
              <a:rPr lang="zh-CN" altLang="en-US" sz="2200" b="1" smtClean="0">
                <a:solidFill>
                  <a:srgbClr val="FF0000"/>
                </a:solidFill>
                <a:ea typeface="经典平黑简"/>
                <a:cs typeface="经典平黑简"/>
              </a:rPr>
              <a:t>如果换成其他数据库表，你会查询吗？</a:t>
            </a:r>
            <a:endParaRPr lang="en-US" altLang="zh-CN" sz="2200" b="1" smtClean="0">
              <a:solidFill>
                <a:srgbClr val="FF0000"/>
              </a:solidFill>
              <a:ea typeface="经典平黑简"/>
              <a:cs typeface="经典平黑简"/>
            </a:endParaRPr>
          </a:p>
          <a:p>
            <a:pPr marL="419100" indent="-419100" algn="just"/>
            <a:r>
              <a:rPr lang="zh-CN" altLang="en-US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例子：图书管理系统数据库</a:t>
            </a: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Library</a:t>
            </a:r>
            <a:endParaRPr lang="en-US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zh-CN" altLang="en-GB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表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Reader(</a:t>
            </a:r>
            <a:r>
              <a:rPr lang="en-GB" altLang="zh-CN" sz="2200" b="1" u="sng" smtClean="0">
                <a:solidFill>
                  <a:srgbClr val="333333"/>
                </a:solidFill>
                <a:ea typeface="经典平黑简"/>
                <a:cs typeface="经典平黑简"/>
              </a:rPr>
              <a:t>RID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,Rname,TypeID,Lendnum)   </a:t>
            </a:r>
            <a:endParaRPr lang="en-GB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PK</a:t>
            </a:r>
            <a:r>
              <a:rPr lang="zh-CN" altLang="en-US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：</a:t>
            </a: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RID</a:t>
            </a:r>
            <a:endParaRPr lang="en-GB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zh-CN" altLang="en-GB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表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Book (</a:t>
            </a:r>
            <a:r>
              <a:rPr lang="en-GB" altLang="zh-CN" sz="2200" b="1" u="sng" smtClean="0">
                <a:solidFill>
                  <a:srgbClr val="333333"/>
                </a:solidFill>
                <a:ea typeface="经典平黑简"/>
                <a:cs typeface="经典平黑简"/>
              </a:rPr>
              <a:t>BID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,Bname,Author, PubComp, PubDate,Price) </a:t>
            </a:r>
            <a:endParaRPr lang="en-GB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PK</a:t>
            </a:r>
            <a:r>
              <a:rPr lang="zh-CN" altLang="en-US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：</a:t>
            </a: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BID</a:t>
            </a:r>
            <a:endParaRPr lang="en-GB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zh-CN" altLang="en-GB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表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Borrow (</a:t>
            </a:r>
            <a:r>
              <a:rPr lang="en-GB" altLang="zh-CN" sz="2200" b="1" u="sng" smtClean="0">
                <a:solidFill>
                  <a:srgbClr val="333333"/>
                </a:solidFill>
                <a:ea typeface="经典平黑简"/>
                <a:cs typeface="经典平黑简"/>
              </a:rPr>
              <a:t>RID, BID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,LendDate, ReturnDate)</a:t>
            </a:r>
            <a:endParaRPr lang="en-US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PK</a:t>
            </a:r>
            <a:r>
              <a:rPr lang="zh-CN" altLang="en-US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：</a:t>
            </a:r>
            <a:r>
              <a:rPr lang="en-GB" altLang="zh-CN" sz="2200" b="1" u="sng" smtClean="0">
                <a:solidFill>
                  <a:srgbClr val="333333"/>
                </a:solidFill>
                <a:ea typeface="经典平黑简"/>
                <a:cs typeface="经典平黑简"/>
              </a:rPr>
              <a:t>RID</a:t>
            </a:r>
            <a:r>
              <a:rPr lang="en-US" altLang="zh-CN" sz="2200" b="1" u="sng" smtClean="0">
                <a:solidFill>
                  <a:srgbClr val="333333"/>
                </a:solidFill>
                <a:ea typeface="经典平黑简"/>
                <a:cs typeface="经典平黑简"/>
              </a:rPr>
              <a:t>,</a:t>
            </a:r>
            <a:r>
              <a:rPr lang="en-GB" altLang="zh-CN" sz="2200" b="1" u="sng" smtClean="0">
                <a:solidFill>
                  <a:srgbClr val="333333"/>
                </a:solidFill>
                <a:ea typeface="经典平黑简"/>
                <a:cs typeface="经典平黑简"/>
              </a:rPr>
              <a:t> BID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 </a:t>
            </a: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  FK</a:t>
            </a:r>
            <a:r>
              <a:rPr lang="zh-CN" altLang="en-US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：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RID</a:t>
            </a:r>
            <a:r>
              <a:rPr lang="zh-CN" altLang="en-GB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和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BID</a:t>
            </a:r>
            <a:endParaRPr lang="en-GB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  <a:p>
            <a:pPr marL="419100" indent="-419100">
              <a:buFont typeface="Wingdings" panose="05000000000000000000" pitchFamily="2" charset="2"/>
              <a:buNone/>
            </a:pPr>
            <a:r>
              <a:rPr lang="zh-CN" altLang="en-GB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表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ReaderType(TypeID, Typename,LimitN</a:t>
            </a:r>
            <a:r>
              <a:rPr lang="en-US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u</a:t>
            </a:r>
            <a:r>
              <a:rPr lang="en-GB" altLang="zh-CN" sz="2200" b="1" smtClean="0">
                <a:solidFill>
                  <a:srgbClr val="333333"/>
                </a:solidFill>
                <a:ea typeface="经典平黑简"/>
                <a:cs typeface="经典平黑简"/>
              </a:rPr>
              <a:t>m, LimitDays) </a:t>
            </a:r>
            <a:endParaRPr lang="en-US" altLang="zh-CN" sz="2200" b="1" smtClean="0">
              <a:solidFill>
                <a:srgbClr val="333333"/>
              </a:solidFill>
              <a:ea typeface="经典平黑简"/>
              <a:cs typeface="经典平黑简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  </a:t>
            </a:r>
            <a:r>
              <a:rPr lang="zh-CN" altLang="en-US" smtClean="0"/>
              <a:t>数据查询 </a:t>
            </a:r>
            <a:endParaRPr lang="zh-CN" altLang="en-US" smtClean="0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500188"/>
            <a:ext cx="6911975" cy="454818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b="1" smtClean="0"/>
              <a:t>3.4.1 </a:t>
            </a:r>
            <a:r>
              <a:rPr lang="zh-CN" altLang="en-US" b="1" smtClean="0"/>
              <a:t>单表查询</a:t>
            </a:r>
            <a:endParaRPr lang="zh-CN" altLang="en-US" b="1" smtClean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smtClean="0">
                <a:solidFill>
                  <a:srgbClr val="3333FF"/>
                </a:solidFill>
              </a:rPr>
              <a:t>3.4.2 </a:t>
            </a:r>
            <a:r>
              <a:rPr lang="zh-CN" altLang="en-US" b="1" smtClean="0">
                <a:solidFill>
                  <a:srgbClr val="3333FF"/>
                </a:solidFill>
              </a:rPr>
              <a:t>连接查询</a:t>
            </a:r>
            <a:endParaRPr lang="zh-CN" altLang="en-US" b="1" smtClean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smtClean="0"/>
              <a:t>3.4.3 </a:t>
            </a:r>
            <a:r>
              <a:rPr lang="zh-CN" altLang="en-US" b="1" smtClean="0"/>
              <a:t>嵌套查询</a:t>
            </a:r>
            <a:endParaRPr lang="zh-CN" altLang="en-US" b="1" smtClean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smtClean="0"/>
              <a:t>3.4.4 </a:t>
            </a:r>
            <a:r>
              <a:rPr lang="zh-CN" altLang="en-US" b="1" smtClean="0"/>
              <a:t>集合查询</a:t>
            </a:r>
            <a:endParaRPr lang="zh-CN" altLang="en-US" b="1" smtClean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smtClean="0"/>
              <a:t>3.4.5 Select</a:t>
            </a:r>
            <a:r>
              <a:rPr lang="zh-CN" altLang="en-US" b="1" smtClean="0"/>
              <a:t>语句的一般形式</a:t>
            </a:r>
            <a:r>
              <a:rPr lang="zh-CN" altLang="en-US" smtClean="0"/>
              <a:t> </a:t>
            </a:r>
            <a:endParaRPr lang="zh-CN" altLang="en-US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3.4.2 </a:t>
            </a:r>
            <a:r>
              <a:rPr lang="zh-CN" altLang="en-US" smtClean="0"/>
              <a:t>连接查询 </a:t>
            </a:r>
            <a:endParaRPr lang="zh-CN" altLang="en-US" smtClean="0"/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900" y="1600200"/>
            <a:ext cx="8439150" cy="456565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000" smtClean="0"/>
              <a:t>连接查询：同时涉及多个表的查询</a:t>
            </a:r>
            <a:endParaRPr lang="zh-CN" altLang="en-US" sz="2000" smtClean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 smtClean="0"/>
              <a:t>连接条件或连接谓词：用来连接两个表的条件</a:t>
            </a:r>
            <a:endParaRPr lang="zh-CN" altLang="en-US" sz="2000" smtClean="0"/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 一般格式：</a:t>
            </a:r>
            <a:endParaRPr lang="zh-CN" altLang="en-US" sz="2000" smtClean="0"/>
          </a:p>
          <a:p>
            <a:pPr eaLnBrk="1" hangingPunct="1">
              <a:lnSpc>
                <a:spcPct val="150000"/>
              </a:lnSpc>
            </a:pPr>
            <a:r>
              <a:rPr lang="en-US" altLang="zh-CN" sz="1800" smtClean="0"/>
              <a:t>[&lt;</a:t>
            </a:r>
            <a:r>
              <a:rPr lang="zh-CN" altLang="en-US" sz="1800" smtClean="0"/>
              <a:t>表名</a:t>
            </a:r>
            <a:r>
              <a:rPr lang="en-US" altLang="zh-CN" sz="1800" smtClean="0"/>
              <a:t>1&gt;.]&lt;</a:t>
            </a:r>
            <a:r>
              <a:rPr lang="zh-CN" altLang="en-US" sz="1800" smtClean="0"/>
              <a:t>列名</a:t>
            </a:r>
            <a:r>
              <a:rPr lang="en-US" altLang="zh-CN" sz="1800" smtClean="0"/>
              <a:t>1&gt;  </a:t>
            </a:r>
            <a:r>
              <a:rPr lang="en-US" altLang="zh-CN" sz="1800" smtClean="0">
                <a:solidFill>
                  <a:srgbClr val="D75B5B"/>
                </a:solidFill>
              </a:rPr>
              <a:t>&lt;</a:t>
            </a:r>
            <a:r>
              <a:rPr lang="zh-CN" altLang="en-US" sz="1800" smtClean="0">
                <a:solidFill>
                  <a:srgbClr val="D75B5B"/>
                </a:solidFill>
              </a:rPr>
              <a:t>比较运算符</a:t>
            </a:r>
            <a:r>
              <a:rPr lang="en-US" altLang="zh-CN" sz="1800" smtClean="0">
                <a:solidFill>
                  <a:srgbClr val="D75B5B"/>
                </a:solidFill>
              </a:rPr>
              <a:t>&gt;</a:t>
            </a:r>
            <a:r>
              <a:rPr lang="en-US" altLang="zh-CN" sz="1800" smtClean="0"/>
              <a:t>  [&lt;</a:t>
            </a:r>
            <a:r>
              <a:rPr lang="zh-CN" altLang="en-US" sz="1800" smtClean="0"/>
              <a:t>表名</a:t>
            </a:r>
            <a:r>
              <a:rPr lang="en-US" altLang="zh-CN" sz="1800" smtClean="0"/>
              <a:t>2&gt;.]&lt;</a:t>
            </a:r>
            <a:r>
              <a:rPr lang="zh-CN" altLang="en-US" sz="1800" smtClean="0"/>
              <a:t>列名</a:t>
            </a:r>
            <a:r>
              <a:rPr lang="en-US" altLang="zh-CN" sz="1800" smtClean="0"/>
              <a:t>2&gt;</a:t>
            </a:r>
            <a:endParaRPr lang="en-US" altLang="zh-CN" sz="1800" smtClean="0"/>
          </a:p>
          <a:p>
            <a:pPr eaLnBrk="1" hangingPunct="1">
              <a:lnSpc>
                <a:spcPct val="150000"/>
              </a:lnSpc>
            </a:pPr>
            <a:r>
              <a:rPr lang="en-US" altLang="zh-CN" sz="1800" smtClean="0"/>
              <a:t>[&lt;</a:t>
            </a:r>
            <a:r>
              <a:rPr lang="zh-CN" altLang="en-US" sz="1800" smtClean="0"/>
              <a:t>表名</a:t>
            </a:r>
            <a:r>
              <a:rPr lang="en-US" altLang="zh-CN" sz="1800" smtClean="0"/>
              <a:t>1&gt;.]&lt;</a:t>
            </a:r>
            <a:r>
              <a:rPr lang="zh-CN" altLang="en-US" sz="1800" smtClean="0"/>
              <a:t>列名</a:t>
            </a:r>
            <a:r>
              <a:rPr lang="en-US" altLang="zh-CN" sz="1800" smtClean="0"/>
              <a:t>1&gt; </a:t>
            </a:r>
            <a:r>
              <a:rPr lang="en-US" altLang="zh-CN" sz="1800" smtClean="0">
                <a:solidFill>
                  <a:srgbClr val="D75B5B"/>
                </a:solidFill>
              </a:rPr>
              <a:t>BETWEEN</a:t>
            </a:r>
            <a:r>
              <a:rPr lang="en-US" altLang="zh-CN" sz="1800" smtClean="0"/>
              <a:t> [&lt;</a:t>
            </a:r>
            <a:r>
              <a:rPr lang="zh-CN" altLang="en-US" sz="1800" smtClean="0"/>
              <a:t>表名</a:t>
            </a:r>
            <a:r>
              <a:rPr lang="en-US" altLang="zh-CN" sz="1800" smtClean="0"/>
              <a:t>2&gt;.]&lt;</a:t>
            </a:r>
            <a:r>
              <a:rPr lang="zh-CN" altLang="en-US" sz="1800" smtClean="0"/>
              <a:t>列名</a:t>
            </a:r>
            <a:r>
              <a:rPr lang="en-US" altLang="zh-CN" sz="1800" smtClean="0"/>
              <a:t>2&gt; </a:t>
            </a:r>
            <a:r>
              <a:rPr lang="en-US" altLang="zh-CN" sz="1800" smtClean="0">
                <a:solidFill>
                  <a:srgbClr val="D75B5B"/>
                </a:solidFill>
              </a:rPr>
              <a:t>AND</a:t>
            </a:r>
            <a:r>
              <a:rPr lang="en-US" altLang="zh-CN" sz="1800" smtClean="0"/>
              <a:t> [&lt;</a:t>
            </a:r>
            <a:r>
              <a:rPr lang="zh-CN" altLang="en-US" sz="1800" smtClean="0"/>
              <a:t>表名</a:t>
            </a:r>
            <a:r>
              <a:rPr lang="en-US" altLang="zh-CN" sz="1800" smtClean="0"/>
              <a:t>2&gt;.]&lt;</a:t>
            </a:r>
            <a:r>
              <a:rPr lang="zh-CN" altLang="en-US" sz="1800" smtClean="0"/>
              <a:t>列名</a:t>
            </a:r>
            <a:r>
              <a:rPr lang="en-US" altLang="zh-CN" sz="1800" smtClean="0"/>
              <a:t>3&gt;</a:t>
            </a:r>
            <a:endParaRPr lang="en-US" altLang="zh-CN" sz="1800" smtClean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 smtClean="0"/>
              <a:t>连接字段：连接谓词中的列名称</a:t>
            </a:r>
            <a:endParaRPr lang="zh-CN" altLang="en-US" sz="2000" smtClean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 smtClean="0"/>
              <a:t>连接条件中的各连接</a:t>
            </a:r>
            <a:r>
              <a:rPr lang="zh-CN" altLang="en-US" sz="2000" smtClean="0">
                <a:solidFill>
                  <a:srgbClr val="FF0000"/>
                </a:solidFill>
              </a:rPr>
              <a:t>字段类型必须是可比的</a:t>
            </a:r>
            <a:r>
              <a:rPr lang="zh-CN" altLang="en-US" sz="2000" smtClean="0"/>
              <a:t>，但</a:t>
            </a:r>
            <a:r>
              <a:rPr lang="zh-CN" altLang="en-US" sz="2000" b="1" smtClean="0">
                <a:solidFill>
                  <a:srgbClr val="FF0000"/>
                </a:solidFill>
              </a:rPr>
              <a:t>名字不必是相同</a:t>
            </a:r>
            <a:r>
              <a:rPr lang="zh-CN" altLang="en-US" sz="2000" smtClean="0"/>
              <a:t>的</a:t>
            </a:r>
            <a:endParaRPr lang="zh-CN" altLang="en-US" sz="20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连接操作的执行过程</a:t>
            </a:r>
            <a:endParaRPr lang="zh-CN" altLang="en-US" smtClean="0"/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428750"/>
            <a:ext cx="8153400" cy="449580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sz="2400" smtClean="0"/>
              <a:t>嵌套循环法</a:t>
            </a:r>
            <a:r>
              <a:rPr lang="en-US" altLang="zh-CN" sz="2400" smtClean="0"/>
              <a:t>(NESTED-LOOP)</a:t>
            </a:r>
            <a:endParaRPr lang="en-US" altLang="zh-CN" sz="2400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000" smtClean="0"/>
              <a:t>首先在表</a:t>
            </a:r>
            <a:r>
              <a:rPr lang="en-US" altLang="zh-CN" sz="2000" smtClean="0"/>
              <a:t>1</a:t>
            </a:r>
            <a:r>
              <a:rPr lang="zh-CN" altLang="en-US" sz="2000" smtClean="0"/>
              <a:t>中找到第一个元组，然后从头开始扫描表</a:t>
            </a:r>
            <a:r>
              <a:rPr lang="en-US" altLang="zh-CN" sz="2000" smtClean="0"/>
              <a:t>2</a:t>
            </a:r>
            <a:r>
              <a:rPr lang="zh-CN" altLang="en-US" sz="2000" smtClean="0"/>
              <a:t>，逐一查找满足连接件的元组，找到后就将表</a:t>
            </a:r>
            <a:r>
              <a:rPr lang="en-US" altLang="zh-CN" sz="2000" smtClean="0"/>
              <a:t>1</a:t>
            </a:r>
            <a:r>
              <a:rPr lang="zh-CN" altLang="en-US" sz="2000" smtClean="0"/>
              <a:t>中的第一个元组与该元组拼接起来，形成结果表中一个元组。</a:t>
            </a:r>
            <a:endParaRPr lang="zh-CN" altLang="en-US" sz="2000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000" smtClean="0"/>
              <a:t>表</a:t>
            </a:r>
            <a:r>
              <a:rPr lang="en-US" altLang="zh-CN" sz="2000" smtClean="0"/>
              <a:t>2</a:t>
            </a:r>
            <a:r>
              <a:rPr lang="zh-CN" altLang="en-US" sz="2000" smtClean="0"/>
              <a:t>全部查找完后，再找表</a:t>
            </a:r>
            <a:r>
              <a:rPr lang="en-US" altLang="zh-CN" sz="2000" smtClean="0"/>
              <a:t>1</a:t>
            </a:r>
            <a:r>
              <a:rPr lang="zh-CN" altLang="en-US" sz="2000" smtClean="0"/>
              <a:t>中第二个元组，然后再从头开始扫描表</a:t>
            </a:r>
            <a:r>
              <a:rPr lang="en-US" altLang="zh-CN" sz="2000" smtClean="0"/>
              <a:t>2</a:t>
            </a:r>
            <a:r>
              <a:rPr lang="zh-CN" altLang="en-US" sz="2000" smtClean="0"/>
              <a:t>，逐一查找满足连接条件的元组，找到后就将表</a:t>
            </a:r>
            <a:r>
              <a:rPr lang="en-US" altLang="zh-CN" sz="2000" smtClean="0"/>
              <a:t>1</a:t>
            </a:r>
            <a:r>
              <a:rPr lang="zh-CN" altLang="en-US" sz="2000" smtClean="0"/>
              <a:t>中的第二个元组与该元组拼接起来，形成结果表中一个元组。</a:t>
            </a:r>
            <a:endParaRPr lang="zh-CN" altLang="en-US" sz="2000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000" smtClean="0"/>
              <a:t>重复上述操作，直到表</a:t>
            </a:r>
            <a:r>
              <a:rPr lang="en-US" altLang="zh-CN" sz="2000" smtClean="0"/>
              <a:t>1</a:t>
            </a:r>
            <a:r>
              <a:rPr lang="zh-CN" altLang="en-US" sz="2000" smtClean="0"/>
              <a:t>中的全部元组都处理完毕</a:t>
            </a:r>
            <a:r>
              <a:rPr lang="zh-CN" altLang="en-US" sz="1800" smtClean="0"/>
              <a:t> </a:t>
            </a:r>
            <a:endParaRPr lang="zh-CN" altLang="en-US" sz="180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连接查询（续）</a:t>
            </a:r>
            <a:endParaRPr lang="zh-CN" altLang="en-US" sz="3200" smtClean="0"/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mtClean="0"/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zh-CN" altLang="en-US" b="1" smtClean="0">
                <a:solidFill>
                  <a:srgbClr val="FF0000"/>
                </a:solidFill>
              </a:rPr>
              <a:t>一、等值与非等值连接查询 </a:t>
            </a:r>
            <a:endParaRPr lang="zh-CN" altLang="en-US" b="1" smtClean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二、自身连接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三、外连接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四、复合条件连接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一、等值与非等值连接查询 </a:t>
            </a:r>
            <a:endParaRPr lang="zh-CN" altLang="en-US" smtClean="0"/>
          </a:p>
        </p:txBody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185292"/>
            <a:ext cx="7696200" cy="2171700"/>
          </a:xfrm>
        </p:spPr>
        <p:txBody>
          <a:bodyPr/>
          <a:lstStyle/>
          <a:p>
            <a:pPr algn="just" eaLnBrk="1" hangingPunct="1"/>
            <a:r>
              <a:rPr lang="zh-CN" altLang="en-US" sz="2400" dirty="0" smtClean="0"/>
              <a:t>等值连接：连接运算符为</a:t>
            </a:r>
            <a:r>
              <a:rPr lang="en-US" altLang="zh-CN" sz="2400" dirty="0" smtClean="0"/>
              <a:t>=</a:t>
            </a:r>
            <a:endParaRPr lang="en-US" altLang="zh-CN" sz="2400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33]  </a:t>
            </a:r>
            <a:r>
              <a:rPr lang="zh-CN" altLang="en-US" sz="2000" dirty="0" smtClean="0"/>
              <a:t>查询每个学生及其选修课程的情况</a:t>
            </a:r>
            <a:endParaRPr lang="zh-CN" altLang="en-US" sz="2000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		          </a:t>
            </a:r>
            <a:r>
              <a:rPr lang="en-US" altLang="zh-CN" sz="2000" dirty="0" smtClean="0"/>
              <a:t>SELECT  Student.*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SC.*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		        	FROM     Student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SC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			WHERE  </a:t>
            </a:r>
            <a:r>
              <a:rPr lang="en-US" altLang="zh-CN" sz="2000" dirty="0" err="1" smtClean="0"/>
              <a:t>Student.Sno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SC.Sno</a:t>
            </a:r>
            <a:r>
              <a:rPr lang="zh-CN" altLang="en-US" sz="2000" dirty="0" smtClean="0"/>
              <a:t>；</a:t>
            </a:r>
            <a:endParaRPr lang="zh-CN" altLang="en-US" sz="2000" dirty="0" smtClean="0"/>
          </a:p>
        </p:txBody>
      </p:sp>
      <p:sp>
        <p:nvSpPr>
          <p:cNvPr id="107525" name="Text Box 4"/>
          <p:cNvSpPr txBox="1">
            <a:spLocks noChangeArrowheads="1"/>
          </p:cNvSpPr>
          <p:nvPr/>
        </p:nvSpPr>
        <p:spPr bwMode="auto">
          <a:xfrm>
            <a:off x="1000125" y="3429000"/>
            <a:ext cx="1327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查询结果：</a:t>
            </a:r>
            <a:endParaRPr lang="zh-CN" altLang="en-US"/>
          </a:p>
        </p:txBody>
      </p:sp>
      <p:graphicFrame>
        <p:nvGraphicFramePr>
          <p:cNvPr id="622597" name="Group 5"/>
          <p:cNvGraphicFramePr>
            <a:graphicFrameLocks noGrp="1"/>
          </p:cNvGraphicFramePr>
          <p:nvPr/>
        </p:nvGraphicFramePr>
        <p:xfrm>
          <a:off x="1500188" y="3929063"/>
          <a:ext cx="6624637" cy="2036763"/>
        </p:xfrm>
        <a:graphic>
          <a:graphicData uri="http://schemas.openxmlformats.org/drawingml/2006/table">
            <a:tbl>
              <a:tblPr/>
              <a:tblGrid>
                <a:gridCol w="1296987"/>
                <a:gridCol w="792163"/>
                <a:gridCol w="574675"/>
                <a:gridCol w="649287"/>
                <a:gridCol w="647700"/>
                <a:gridCol w="1223963"/>
                <a:gridCol w="647700"/>
                <a:gridCol w="792162"/>
              </a:tblGrid>
              <a:tr h="360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Student.Sno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Sname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Ssex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Sage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Sdept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SC.Sno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Cno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Grade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刘晨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刘晨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575" name="Line 82"/>
          <p:cNvSpPr>
            <a:spLocks noChangeShapeType="1"/>
          </p:cNvSpPr>
          <p:nvPr/>
        </p:nvSpPr>
        <p:spPr bwMode="auto">
          <a:xfrm>
            <a:off x="1547813" y="4221088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等值与非等值连接查询（续）</a:t>
            </a:r>
            <a:endParaRPr lang="zh-CN" altLang="en-US" smtClean="0"/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784977" cy="4495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 smtClean="0"/>
              <a:t>自然连接：</a:t>
            </a:r>
            <a:endParaRPr lang="zh-CN" altLang="en-US" dirty="0" smtClean="0"/>
          </a:p>
          <a:p>
            <a:pPr algn="just" eaLnBrk="1" hangingPunct="1">
              <a:lnSpc>
                <a:spcPct val="90000"/>
              </a:lnSpc>
            </a:pPr>
            <a:endParaRPr lang="zh-CN" altLang="en-US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34]     </a:t>
            </a:r>
            <a:r>
              <a:rPr lang="zh-CN" altLang="en-US" sz="2400" dirty="0" smtClean="0"/>
              <a:t>对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33]</a:t>
            </a:r>
            <a:r>
              <a:rPr lang="zh-CN" altLang="en-US" sz="2400" dirty="0" smtClean="0"/>
              <a:t>用自然连接完成。</a:t>
            </a:r>
            <a:endParaRPr lang="zh-CN" altLang="en-US" sz="24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</a:t>
            </a:r>
            <a:r>
              <a:rPr lang="en-US" altLang="zh-CN" sz="2000" dirty="0" smtClean="0"/>
              <a:t>SELECT  </a:t>
            </a:r>
            <a:r>
              <a:rPr lang="en-US" altLang="zh-CN" sz="2000" dirty="0" err="1" smtClean="0">
                <a:solidFill>
                  <a:srgbClr val="D75B5B"/>
                </a:solidFill>
              </a:rPr>
              <a:t>Student.Sno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Ssex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Sage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Sdept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，</a:t>
            </a:r>
            <a:r>
              <a:rPr lang="en-US" altLang="zh-CN" sz="2000" dirty="0"/>
              <a:t>gr</a:t>
            </a:r>
            <a:r>
              <a:rPr lang="en-US" altLang="zh-CN" sz="2000" dirty="0" smtClean="0"/>
              <a:t>ade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100" dirty="0" smtClean="0"/>
              <a:t> FROM     Student</a:t>
            </a:r>
            <a:r>
              <a:rPr lang="zh-CN" altLang="en-US" sz="2100" dirty="0" smtClean="0"/>
              <a:t>，</a:t>
            </a:r>
            <a:r>
              <a:rPr lang="en-US" altLang="zh-CN" sz="2100" dirty="0" smtClean="0"/>
              <a:t>SC</a:t>
            </a:r>
            <a:endParaRPr lang="en-US" altLang="zh-CN" sz="21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100" dirty="0" smtClean="0"/>
              <a:t> WHERE  </a:t>
            </a:r>
            <a:r>
              <a:rPr lang="en-US" altLang="zh-CN" sz="2100" dirty="0" err="1" smtClean="0"/>
              <a:t>Student.Sno</a:t>
            </a:r>
            <a:r>
              <a:rPr lang="en-US" altLang="zh-CN" sz="2100" dirty="0" smtClean="0"/>
              <a:t> = </a:t>
            </a:r>
            <a:r>
              <a:rPr lang="en-US" altLang="zh-CN" sz="2100" dirty="0" err="1" smtClean="0"/>
              <a:t>SC.Sno</a:t>
            </a:r>
            <a:r>
              <a:rPr lang="zh-CN" altLang="en-US" sz="2100" dirty="0" smtClean="0"/>
              <a:t>；</a:t>
            </a:r>
            <a:endParaRPr lang="zh-CN" altLang="en-US" sz="21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连接查询（续）</a:t>
            </a:r>
            <a:endParaRPr lang="zh-CN" altLang="en-US" sz="3200" smtClean="0"/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一、等值与非等值连接查询 </a:t>
            </a:r>
            <a:endParaRPr lang="zh-CN" altLang="en-US" smtClean="0"/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zh-CN" altLang="en-US" b="1" smtClean="0">
                <a:solidFill>
                  <a:srgbClr val="FF0000"/>
                </a:solidFill>
              </a:rPr>
              <a:t>二、自身连接</a:t>
            </a:r>
            <a:endParaRPr lang="zh-CN" altLang="en-US" b="1" smtClean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三、外连接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四、复合条件连接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二、自身连接 </a:t>
            </a:r>
            <a:endParaRPr lang="zh-CN" altLang="en-US" smtClean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 smtClean="0">
                <a:ea typeface="黑体" panose="02010609060101010101" pitchFamily="49" charset="-122"/>
              </a:rPr>
              <a:t>自身连接：</a:t>
            </a:r>
            <a:r>
              <a:rPr lang="zh-CN" altLang="en-US" sz="2800" dirty="0" smtClean="0"/>
              <a:t>一个表与其自己进行连接</a:t>
            </a:r>
            <a:endParaRPr lang="zh-CN" altLang="en-US" sz="4000" dirty="0" smtClean="0"/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 smtClean="0"/>
              <a:t>需要给表</a:t>
            </a:r>
            <a:r>
              <a:rPr lang="zh-CN" altLang="en-US" sz="2800" dirty="0" smtClean="0">
                <a:solidFill>
                  <a:srgbClr val="FF0000"/>
                </a:solidFill>
              </a:rPr>
              <a:t>起别名</a:t>
            </a:r>
            <a:r>
              <a:rPr lang="zh-CN" altLang="en-US" sz="2800" dirty="0" smtClean="0"/>
              <a:t>以示区别</a:t>
            </a:r>
            <a:endParaRPr lang="zh-CN" altLang="en-US" sz="2800" dirty="0" smtClean="0"/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 smtClean="0"/>
              <a:t>由于所有属性名都是同名属性，因此必须使用别名前缀</a:t>
            </a:r>
            <a:endParaRPr lang="zh-CN" altLang="en-US" sz="2400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/>
              <a:t>[</a:t>
            </a:r>
            <a:r>
              <a:rPr lang="zh-CN" altLang="en-US" sz="2800" dirty="0" smtClean="0">
                <a:ea typeface="黑体" panose="02010609060101010101" pitchFamily="49" charset="-122"/>
              </a:rPr>
              <a:t>例</a:t>
            </a:r>
            <a:r>
              <a:rPr lang="en-US" altLang="zh-CN" sz="2800" dirty="0" smtClean="0"/>
              <a:t>35]</a:t>
            </a:r>
            <a:r>
              <a:rPr lang="zh-CN" altLang="en-US" sz="2800" dirty="0" smtClean="0"/>
              <a:t>查询每一门课的间接先修课（即先修课的先修课），输出：课程号、先修课的课程号、先修课的先修课的课程号。</a:t>
            </a:r>
            <a:endParaRPr lang="zh-CN" altLang="en-US" sz="28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</a:t>
            </a:r>
            <a:endParaRPr lang="zh-CN" altLang="en-US" sz="20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自身连接（续）</a:t>
            </a:r>
            <a:endParaRPr lang="zh-CN" altLang="en-US" smtClean="0"/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214438"/>
            <a:ext cx="3167062" cy="6635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smtClean="0"/>
              <a:t>    FIRST</a:t>
            </a:r>
            <a:r>
              <a:rPr lang="zh-CN" altLang="en-US" sz="2000" smtClean="0"/>
              <a:t>表（</a:t>
            </a:r>
            <a:r>
              <a:rPr lang="en-US" altLang="zh-CN" sz="2000" smtClean="0"/>
              <a:t>Course</a:t>
            </a:r>
            <a:r>
              <a:rPr lang="zh-CN" altLang="en-US" sz="2000" smtClean="0"/>
              <a:t>表）</a:t>
            </a:r>
            <a:r>
              <a:rPr lang="zh-CN" altLang="en-US" sz="2400" smtClean="0"/>
              <a:t> </a:t>
            </a:r>
            <a:endParaRPr lang="zh-CN" altLang="en-US" sz="2400" smtClean="0"/>
          </a:p>
        </p:txBody>
      </p:sp>
      <p:grpSp>
        <p:nvGrpSpPr>
          <p:cNvPr id="115717" name="Group 4"/>
          <p:cNvGrpSpPr/>
          <p:nvPr/>
        </p:nvGrpSpPr>
        <p:grpSpPr bwMode="auto">
          <a:xfrm>
            <a:off x="500062" y="1785938"/>
            <a:ext cx="4000501" cy="2723182"/>
            <a:chOff x="0" y="0"/>
            <a:chExt cx="3231" cy="3992"/>
          </a:xfrm>
        </p:grpSpPr>
        <p:grpSp>
          <p:nvGrpSpPr>
            <p:cNvPr id="115818" name="Group 5"/>
            <p:cNvGrpSpPr/>
            <p:nvPr/>
          </p:nvGrpSpPr>
          <p:grpSpPr bwMode="auto">
            <a:xfrm>
              <a:off x="0" y="0"/>
              <a:ext cx="711" cy="499"/>
              <a:chOff x="0" y="0"/>
              <a:chExt cx="711" cy="499"/>
            </a:xfrm>
          </p:grpSpPr>
          <p:sp>
            <p:nvSpPr>
              <p:cNvPr id="115912" name="Rectangle 6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668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Cno</a:t>
                </a:r>
                <a:endParaRPr kumimoji="1" lang="en-US" altLang="zh-CN" sz="400"/>
              </a:p>
              <a:p>
                <a:endParaRPr kumimoji="1" lang="en-US" altLang="zh-CN" sz="1200"/>
              </a:p>
            </p:txBody>
          </p:sp>
          <p:sp>
            <p:nvSpPr>
              <p:cNvPr id="115913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19" name="Group 8"/>
            <p:cNvGrpSpPr/>
            <p:nvPr/>
          </p:nvGrpSpPr>
          <p:grpSpPr bwMode="auto">
            <a:xfrm>
              <a:off x="513" y="0"/>
              <a:ext cx="1272" cy="499"/>
              <a:chOff x="513" y="0"/>
              <a:chExt cx="1272" cy="499"/>
            </a:xfrm>
          </p:grpSpPr>
          <p:sp>
            <p:nvSpPr>
              <p:cNvPr id="115910" name="Rectangle 9"/>
              <p:cNvSpPr>
                <a:spLocks noChangeArrowheads="1"/>
              </p:cNvSpPr>
              <p:nvPr/>
            </p:nvSpPr>
            <p:spPr bwMode="auto">
              <a:xfrm>
                <a:off x="556" y="0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Cname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911" name="Rectangle 10"/>
              <p:cNvSpPr>
                <a:spLocks noChangeArrowheads="1"/>
              </p:cNvSpPr>
              <p:nvPr/>
            </p:nvSpPr>
            <p:spPr bwMode="auto">
              <a:xfrm>
                <a:off x="513" y="0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0" name="Group 11"/>
            <p:cNvGrpSpPr/>
            <p:nvPr/>
          </p:nvGrpSpPr>
          <p:grpSpPr bwMode="auto">
            <a:xfrm>
              <a:off x="1785" y="0"/>
              <a:ext cx="697" cy="499"/>
              <a:chOff x="1785" y="0"/>
              <a:chExt cx="697" cy="499"/>
            </a:xfrm>
          </p:grpSpPr>
          <p:sp>
            <p:nvSpPr>
              <p:cNvPr id="115908" name="Rectangle 12"/>
              <p:cNvSpPr>
                <a:spLocks noChangeArrowheads="1"/>
              </p:cNvSpPr>
              <p:nvPr/>
            </p:nvSpPr>
            <p:spPr bwMode="auto">
              <a:xfrm>
                <a:off x="1828" y="0"/>
                <a:ext cx="654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Cpno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909" name="Rectangle 13"/>
              <p:cNvSpPr>
                <a:spLocks noChangeArrowheads="1"/>
              </p:cNvSpPr>
              <p:nvPr/>
            </p:nvSpPr>
            <p:spPr bwMode="auto">
              <a:xfrm>
                <a:off x="1785" y="0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1" name="Group 14"/>
            <p:cNvGrpSpPr/>
            <p:nvPr/>
          </p:nvGrpSpPr>
          <p:grpSpPr bwMode="auto">
            <a:xfrm>
              <a:off x="2396" y="0"/>
              <a:ext cx="835" cy="499"/>
              <a:chOff x="2396" y="0"/>
              <a:chExt cx="835" cy="499"/>
            </a:xfrm>
          </p:grpSpPr>
          <p:sp>
            <p:nvSpPr>
              <p:cNvPr id="115906" name="Rectangle 15"/>
              <p:cNvSpPr>
                <a:spLocks noChangeArrowheads="1"/>
              </p:cNvSpPr>
              <p:nvPr/>
            </p:nvSpPr>
            <p:spPr bwMode="auto">
              <a:xfrm>
                <a:off x="2439" y="0"/>
                <a:ext cx="792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Ccredit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907" name="Rectangle 16"/>
              <p:cNvSpPr>
                <a:spLocks noChangeArrowheads="1"/>
              </p:cNvSpPr>
              <p:nvPr/>
            </p:nvSpPr>
            <p:spPr bwMode="auto">
              <a:xfrm>
                <a:off x="2396" y="0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2" name="Group 17"/>
            <p:cNvGrpSpPr/>
            <p:nvPr/>
          </p:nvGrpSpPr>
          <p:grpSpPr bwMode="auto">
            <a:xfrm>
              <a:off x="0" y="499"/>
              <a:ext cx="513" cy="499"/>
              <a:chOff x="0" y="499"/>
              <a:chExt cx="513" cy="499"/>
            </a:xfrm>
          </p:grpSpPr>
          <p:sp>
            <p:nvSpPr>
              <p:cNvPr id="115904" name="Rectangle 18"/>
              <p:cNvSpPr>
                <a:spLocks noChangeArrowheads="1"/>
              </p:cNvSpPr>
              <p:nvPr/>
            </p:nvSpPr>
            <p:spPr bwMode="auto">
              <a:xfrm>
                <a:off x="43" y="499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1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905" name="Rectangle 19"/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3" name="Group 20"/>
            <p:cNvGrpSpPr/>
            <p:nvPr/>
          </p:nvGrpSpPr>
          <p:grpSpPr bwMode="auto">
            <a:xfrm>
              <a:off x="513" y="499"/>
              <a:ext cx="1272" cy="499"/>
              <a:chOff x="513" y="499"/>
              <a:chExt cx="1272" cy="499"/>
            </a:xfrm>
          </p:grpSpPr>
          <p:sp>
            <p:nvSpPr>
              <p:cNvPr id="115902" name="Rectangle 21"/>
              <p:cNvSpPr>
                <a:spLocks noChangeArrowheads="1"/>
              </p:cNvSpPr>
              <p:nvPr/>
            </p:nvSpPr>
            <p:spPr bwMode="auto">
              <a:xfrm>
                <a:off x="556" y="499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200"/>
                  <a:t>数据库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903" name="Rectangle 22"/>
              <p:cNvSpPr>
                <a:spLocks noChangeArrowheads="1"/>
              </p:cNvSpPr>
              <p:nvPr/>
            </p:nvSpPr>
            <p:spPr bwMode="auto">
              <a:xfrm>
                <a:off x="513" y="499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4" name="Group 23"/>
            <p:cNvGrpSpPr/>
            <p:nvPr/>
          </p:nvGrpSpPr>
          <p:grpSpPr bwMode="auto">
            <a:xfrm>
              <a:off x="1785" y="499"/>
              <a:ext cx="611" cy="499"/>
              <a:chOff x="1785" y="499"/>
              <a:chExt cx="611" cy="499"/>
            </a:xfrm>
          </p:grpSpPr>
          <p:sp>
            <p:nvSpPr>
              <p:cNvPr id="115900" name="Rectangle 24"/>
              <p:cNvSpPr>
                <a:spLocks noChangeArrowheads="1"/>
              </p:cNvSpPr>
              <p:nvPr/>
            </p:nvSpPr>
            <p:spPr bwMode="auto">
              <a:xfrm>
                <a:off x="1828" y="499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5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901" name="Rectangle 25"/>
              <p:cNvSpPr>
                <a:spLocks noChangeArrowheads="1"/>
              </p:cNvSpPr>
              <p:nvPr/>
            </p:nvSpPr>
            <p:spPr bwMode="auto">
              <a:xfrm>
                <a:off x="1785" y="499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5" name="Group 26"/>
            <p:cNvGrpSpPr/>
            <p:nvPr/>
          </p:nvGrpSpPr>
          <p:grpSpPr bwMode="auto">
            <a:xfrm>
              <a:off x="2396" y="499"/>
              <a:ext cx="767" cy="499"/>
              <a:chOff x="2396" y="499"/>
              <a:chExt cx="767" cy="499"/>
            </a:xfrm>
          </p:grpSpPr>
          <p:sp>
            <p:nvSpPr>
              <p:cNvPr id="115898" name="Rectangle 27"/>
              <p:cNvSpPr>
                <a:spLocks noChangeArrowheads="1"/>
              </p:cNvSpPr>
              <p:nvPr/>
            </p:nvSpPr>
            <p:spPr bwMode="auto">
              <a:xfrm>
                <a:off x="2439" y="499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4  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99" name="Rectangle 28"/>
              <p:cNvSpPr>
                <a:spLocks noChangeArrowheads="1"/>
              </p:cNvSpPr>
              <p:nvPr/>
            </p:nvSpPr>
            <p:spPr bwMode="auto">
              <a:xfrm>
                <a:off x="2396" y="499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6" name="Group 29"/>
            <p:cNvGrpSpPr/>
            <p:nvPr/>
          </p:nvGrpSpPr>
          <p:grpSpPr bwMode="auto">
            <a:xfrm>
              <a:off x="0" y="998"/>
              <a:ext cx="513" cy="499"/>
              <a:chOff x="0" y="998"/>
              <a:chExt cx="513" cy="499"/>
            </a:xfrm>
          </p:grpSpPr>
          <p:sp>
            <p:nvSpPr>
              <p:cNvPr id="115896" name="Rectangle 30"/>
              <p:cNvSpPr>
                <a:spLocks noChangeArrowheads="1"/>
              </p:cNvSpPr>
              <p:nvPr/>
            </p:nvSpPr>
            <p:spPr bwMode="auto">
              <a:xfrm>
                <a:off x="43" y="998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2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97" name="Rectangle 31"/>
              <p:cNvSpPr>
                <a:spLocks noChangeArrowheads="1"/>
              </p:cNvSpPr>
              <p:nvPr/>
            </p:nvSpPr>
            <p:spPr bwMode="auto">
              <a:xfrm>
                <a:off x="0" y="998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7" name="Group 32"/>
            <p:cNvGrpSpPr/>
            <p:nvPr/>
          </p:nvGrpSpPr>
          <p:grpSpPr bwMode="auto">
            <a:xfrm>
              <a:off x="513" y="998"/>
              <a:ext cx="1272" cy="499"/>
              <a:chOff x="513" y="998"/>
              <a:chExt cx="1272" cy="499"/>
            </a:xfrm>
          </p:grpSpPr>
          <p:sp>
            <p:nvSpPr>
              <p:cNvPr id="115894" name="Rectangle 33"/>
              <p:cNvSpPr>
                <a:spLocks noChangeArrowheads="1"/>
              </p:cNvSpPr>
              <p:nvPr/>
            </p:nvSpPr>
            <p:spPr bwMode="auto">
              <a:xfrm>
                <a:off x="556" y="998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200"/>
                  <a:t>数学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895" name="Rectangle 34"/>
              <p:cNvSpPr>
                <a:spLocks noChangeArrowheads="1"/>
              </p:cNvSpPr>
              <p:nvPr/>
            </p:nvSpPr>
            <p:spPr bwMode="auto">
              <a:xfrm>
                <a:off x="513" y="998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8" name="Group 35"/>
            <p:cNvGrpSpPr/>
            <p:nvPr/>
          </p:nvGrpSpPr>
          <p:grpSpPr bwMode="auto">
            <a:xfrm>
              <a:off x="1785" y="998"/>
              <a:ext cx="611" cy="499"/>
              <a:chOff x="1785" y="998"/>
              <a:chExt cx="611" cy="499"/>
            </a:xfrm>
          </p:grpSpPr>
          <p:sp>
            <p:nvSpPr>
              <p:cNvPr id="115892" name="Rectangle 36"/>
              <p:cNvSpPr>
                <a:spLocks noChangeArrowheads="1"/>
              </p:cNvSpPr>
              <p:nvPr/>
            </p:nvSpPr>
            <p:spPr bwMode="auto">
              <a:xfrm>
                <a:off x="1828" y="998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500"/>
                  <a:t> 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93" name="Rectangle 37"/>
              <p:cNvSpPr>
                <a:spLocks noChangeArrowheads="1"/>
              </p:cNvSpPr>
              <p:nvPr/>
            </p:nvSpPr>
            <p:spPr bwMode="auto">
              <a:xfrm>
                <a:off x="1785" y="998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29" name="Group 38"/>
            <p:cNvGrpSpPr/>
            <p:nvPr/>
          </p:nvGrpSpPr>
          <p:grpSpPr bwMode="auto">
            <a:xfrm>
              <a:off x="2396" y="998"/>
              <a:ext cx="767" cy="499"/>
              <a:chOff x="2396" y="998"/>
              <a:chExt cx="767" cy="499"/>
            </a:xfrm>
          </p:grpSpPr>
          <p:sp>
            <p:nvSpPr>
              <p:cNvPr id="115890" name="Rectangle 39"/>
              <p:cNvSpPr>
                <a:spLocks noChangeArrowheads="1"/>
              </p:cNvSpPr>
              <p:nvPr/>
            </p:nvSpPr>
            <p:spPr bwMode="auto">
              <a:xfrm>
                <a:off x="2439" y="998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2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91" name="Rectangle 40"/>
              <p:cNvSpPr>
                <a:spLocks noChangeArrowheads="1"/>
              </p:cNvSpPr>
              <p:nvPr/>
            </p:nvSpPr>
            <p:spPr bwMode="auto">
              <a:xfrm>
                <a:off x="2396" y="998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0" name="Group 41"/>
            <p:cNvGrpSpPr/>
            <p:nvPr/>
          </p:nvGrpSpPr>
          <p:grpSpPr bwMode="auto">
            <a:xfrm>
              <a:off x="0" y="1497"/>
              <a:ext cx="513" cy="499"/>
              <a:chOff x="0" y="1497"/>
              <a:chExt cx="513" cy="499"/>
            </a:xfrm>
          </p:grpSpPr>
          <p:sp>
            <p:nvSpPr>
              <p:cNvPr id="115888" name="Rectangle 42"/>
              <p:cNvSpPr>
                <a:spLocks noChangeArrowheads="1"/>
              </p:cNvSpPr>
              <p:nvPr/>
            </p:nvSpPr>
            <p:spPr bwMode="auto">
              <a:xfrm>
                <a:off x="43" y="1497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3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89" name="Rectangle 43"/>
              <p:cNvSpPr>
                <a:spLocks noChangeArrowheads="1"/>
              </p:cNvSpPr>
              <p:nvPr/>
            </p:nvSpPr>
            <p:spPr bwMode="auto">
              <a:xfrm>
                <a:off x="0" y="1497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1" name="Group 44"/>
            <p:cNvGrpSpPr/>
            <p:nvPr/>
          </p:nvGrpSpPr>
          <p:grpSpPr bwMode="auto">
            <a:xfrm>
              <a:off x="513" y="1497"/>
              <a:ext cx="1272" cy="499"/>
              <a:chOff x="513" y="1497"/>
              <a:chExt cx="1272" cy="499"/>
            </a:xfrm>
          </p:grpSpPr>
          <p:sp>
            <p:nvSpPr>
              <p:cNvPr id="115886" name="Rectangle 45"/>
              <p:cNvSpPr>
                <a:spLocks noChangeArrowheads="1"/>
              </p:cNvSpPr>
              <p:nvPr/>
            </p:nvSpPr>
            <p:spPr bwMode="auto">
              <a:xfrm>
                <a:off x="556" y="1497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200"/>
                  <a:t>信息系统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887" name="Rectangle 46"/>
              <p:cNvSpPr>
                <a:spLocks noChangeArrowheads="1"/>
              </p:cNvSpPr>
              <p:nvPr/>
            </p:nvSpPr>
            <p:spPr bwMode="auto">
              <a:xfrm>
                <a:off x="513" y="1497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2" name="Group 47"/>
            <p:cNvGrpSpPr/>
            <p:nvPr/>
          </p:nvGrpSpPr>
          <p:grpSpPr bwMode="auto">
            <a:xfrm>
              <a:off x="1785" y="1497"/>
              <a:ext cx="611" cy="499"/>
              <a:chOff x="1785" y="1497"/>
              <a:chExt cx="611" cy="499"/>
            </a:xfrm>
          </p:grpSpPr>
          <p:sp>
            <p:nvSpPr>
              <p:cNvPr id="115884" name="Rectangle 48"/>
              <p:cNvSpPr>
                <a:spLocks noChangeArrowheads="1"/>
              </p:cNvSpPr>
              <p:nvPr/>
            </p:nvSpPr>
            <p:spPr bwMode="auto">
              <a:xfrm>
                <a:off x="1828" y="1497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1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85" name="Rectangle 49"/>
              <p:cNvSpPr>
                <a:spLocks noChangeArrowheads="1"/>
              </p:cNvSpPr>
              <p:nvPr/>
            </p:nvSpPr>
            <p:spPr bwMode="auto">
              <a:xfrm>
                <a:off x="1785" y="1497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3" name="Group 50"/>
            <p:cNvGrpSpPr/>
            <p:nvPr/>
          </p:nvGrpSpPr>
          <p:grpSpPr bwMode="auto">
            <a:xfrm>
              <a:off x="2396" y="1497"/>
              <a:ext cx="767" cy="499"/>
              <a:chOff x="2396" y="1497"/>
              <a:chExt cx="767" cy="499"/>
            </a:xfrm>
          </p:grpSpPr>
          <p:sp>
            <p:nvSpPr>
              <p:cNvPr id="115882" name="Rectangle 51"/>
              <p:cNvSpPr>
                <a:spLocks noChangeArrowheads="1"/>
              </p:cNvSpPr>
              <p:nvPr/>
            </p:nvSpPr>
            <p:spPr bwMode="auto">
              <a:xfrm>
                <a:off x="2439" y="1497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4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83" name="Rectangle 52"/>
              <p:cNvSpPr>
                <a:spLocks noChangeArrowheads="1"/>
              </p:cNvSpPr>
              <p:nvPr/>
            </p:nvSpPr>
            <p:spPr bwMode="auto">
              <a:xfrm>
                <a:off x="2396" y="1497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4" name="Group 53"/>
            <p:cNvGrpSpPr/>
            <p:nvPr/>
          </p:nvGrpSpPr>
          <p:grpSpPr bwMode="auto">
            <a:xfrm>
              <a:off x="0" y="1996"/>
              <a:ext cx="513" cy="499"/>
              <a:chOff x="0" y="1996"/>
              <a:chExt cx="513" cy="499"/>
            </a:xfrm>
          </p:grpSpPr>
          <p:sp>
            <p:nvSpPr>
              <p:cNvPr id="115880" name="Rectangle 54"/>
              <p:cNvSpPr>
                <a:spLocks noChangeArrowheads="1"/>
              </p:cNvSpPr>
              <p:nvPr/>
            </p:nvSpPr>
            <p:spPr bwMode="auto">
              <a:xfrm>
                <a:off x="43" y="1996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4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81" name="Rectangle 55"/>
              <p:cNvSpPr>
                <a:spLocks noChangeArrowheads="1"/>
              </p:cNvSpPr>
              <p:nvPr/>
            </p:nvSpPr>
            <p:spPr bwMode="auto">
              <a:xfrm>
                <a:off x="0" y="1996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5" name="Group 56"/>
            <p:cNvGrpSpPr/>
            <p:nvPr/>
          </p:nvGrpSpPr>
          <p:grpSpPr bwMode="auto">
            <a:xfrm>
              <a:off x="513" y="1996"/>
              <a:ext cx="1272" cy="499"/>
              <a:chOff x="513" y="1996"/>
              <a:chExt cx="1272" cy="499"/>
            </a:xfrm>
          </p:grpSpPr>
          <p:sp>
            <p:nvSpPr>
              <p:cNvPr id="115878" name="Rectangle 57"/>
              <p:cNvSpPr>
                <a:spLocks noChangeArrowheads="1"/>
              </p:cNvSpPr>
              <p:nvPr/>
            </p:nvSpPr>
            <p:spPr bwMode="auto">
              <a:xfrm>
                <a:off x="556" y="1996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200"/>
                  <a:t>操作系统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879" name="Rectangle 58"/>
              <p:cNvSpPr>
                <a:spLocks noChangeArrowheads="1"/>
              </p:cNvSpPr>
              <p:nvPr/>
            </p:nvSpPr>
            <p:spPr bwMode="auto">
              <a:xfrm>
                <a:off x="513" y="1996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6" name="Group 59"/>
            <p:cNvGrpSpPr/>
            <p:nvPr/>
          </p:nvGrpSpPr>
          <p:grpSpPr bwMode="auto">
            <a:xfrm>
              <a:off x="1785" y="1996"/>
              <a:ext cx="611" cy="499"/>
              <a:chOff x="1785" y="1996"/>
              <a:chExt cx="611" cy="499"/>
            </a:xfrm>
          </p:grpSpPr>
          <p:sp>
            <p:nvSpPr>
              <p:cNvPr id="115876" name="Rectangle 60"/>
              <p:cNvSpPr>
                <a:spLocks noChangeArrowheads="1"/>
              </p:cNvSpPr>
              <p:nvPr/>
            </p:nvSpPr>
            <p:spPr bwMode="auto">
              <a:xfrm>
                <a:off x="1828" y="1996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6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77" name="Rectangle 61"/>
              <p:cNvSpPr>
                <a:spLocks noChangeArrowheads="1"/>
              </p:cNvSpPr>
              <p:nvPr/>
            </p:nvSpPr>
            <p:spPr bwMode="auto">
              <a:xfrm>
                <a:off x="1785" y="1996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7" name="Group 62"/>
            <p:cNvGrpSpPr/>
            <p:nvPr/>
          </p:nvGrpSpPr>
          <p:grpSpPr bwMode="auto">
            <a:xfrm>
              <a:off x="2396" y="1996"/>
              <a:ext cx="767" cy="499"/>
              <a:chOff x="2396" y="1996"/>
              <a:chExt cx="767" cy="499"/>
            </a:xfrm>
          </p:grpSpPr>
          <p:sp>
            <p:nvSpPr>
              <p:cNvPr id="115874" name="Rectangle 63"/>
              <p:cNvSpPr>
                <a:spLocks noChangeArrowheads="1"/>
              </p:cNvSpPr>
              <p:nvPr/>
            </p:nvSpPr>
            <p:spPr bwMode="auto">
              <a:xfrm>
                <a:off x="2439" y="1996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3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75" name="Rectangle 64"/>
              <p:cNvSpPr>
                <a:spLocks noChangeArrowheads="1"/>
              </p:cNvSpPr>
              <p:nvPr/>
            </p:nvSpPr>
            <p:spPr bwMode="auto">
              <a:xfrm>
                <a:off x="2396" y="1996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8" name="Group 65"/>
            <p:cNvGrpSpPr/>
            <p:nvPr/>
          </p:nvGrpSpPr>
          <p:grpSpPr bwMode="auto">
            <a:xfrm>
              <a:off x="0" y="2495"/>
              <a:ext cx="513" cy="499"/>
              <a:chOff x="0" y="2495"/>
              <a:chExt cx="513" cy="499"/>
            </a:xfrm>
          </p:grpSpPr>
          <p:sp>
            <p:nvSpPr>
              <p:cNvPr id="115872" name="Rectangle 66"/>
              <p:cNvSpPr>
                <a:spLocks noChangeArrowheads="1"/>
              </p:cNvSpPr>
              <p:nvPr/>
            </p:nvSpPr>
            <p:spPr bwMode="auto">
              <a:xfrm>
                <a:off x="43" y="2495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5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73" name="Rectangle 67"/>
              <p:cNvSpPr>
                <a:spLocks noChangeArrowheads="1"/>
              </p:cNvSpPr>
              <p:nvPr/>
            </p:nvSpPr>
            <p:spPr bwMode="auto">
              <a:xfrm>
                <a:off x="0" y="2495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39" name="Group 68"/>
            <p:cNvGrpSpPr/>
            <p:nvPr/>
          </p:nvGrpSpPr>
          <p:grpSpPr bwMode="auto">
            <a:xfrm>
              <a:off x="513" y="2495"/>
              <a:ext cx="1272" cy="499"/>
              <a:chOff x="513" y="2495"/>
              <a:chExt cx="1272" cy="499"/>
            </a:xfrm>
          </p:grpSpPr>
          <p:sp>
            <p:nvSpPr>
              <p:cNvPr id="115870" name="Rectangle 69"/>
              <p:cNvSpPr>
                <a:spLocks noChangeArrowheads="1"/>
              </p:cNvSpPr>
              <p:nvPr/>
            </p:nvSpPr>
            <p:spPr bwMode="auto">
              <a:xfrm>
                <a:off x="556" y="2495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200"/>
                  <a:t>数据结构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871" name="Rectangle 70"/>
              <p:cNvSpPr>
                <a:spLocks noChangeArrowheads="1"/>
              </p:cNvSpPr>
              <p:nvPr/>
            </p:nvSpPr>
            <p:spPr bwMode="auto">
              <a:xfrm>
                <a:off x="513" y="2495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0" name="Group 71"/>
            <p:cNvGrpSpPr/>
            <p:nvPr/>
          </p:nvGrpSpPr>
          <p:grpSpPr bwMode="auto">
            <a:xfrm>
              <a:off x="1785" y="2495"/>
              <a:ext cx="611" cy="499"/>
              <a:chOff x="1785" y="2495"/>
              <a:chExt cx="611" cy="499"/>
            </a:xfrm>
          </p:grpSpPr>
          <p:sp>
            <p:nvSpPr>
              <p:cNvPr id="115868" name="Rectangle 72"/>
              <p:cNvSpPr>
                <a:spLocks noChangeArrowheads="1"/>
              </p:cNvSpPr>
              <p:nvPr/>
            </p:nvSpPr>
            <p:spPr bwMode="auto">
              <a:xfrm>
                <a:off x="1828" y="2495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7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69" name="Rectangle 73"/>
              <p:cNvSpPr>
                <a:spLocks noChangeArrowheads="1"/>
              </p:cNvSpPr>
              <p:nvPr/>
            </p:nvSpPr>
            <p:spPr bwMode="auto">
              <a:xfrm>
                <a:off x="1785" y="2495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1" name="Group 74"/>
            <p:cNvGrpSpPr/>
            <p:nvPr/>
          </p:nvGrpSpPr>
          <p:grpSpPr bwMode="auto">
            <a:xfrm>
              <a:off x="2396" y="2495"/>
              <a:ext cx="767" cy="499"/>
              <a:chOff x="2396" y="2495"/>
              <a:chExt cx="767" cy="499"/>
            </a:xfrm>
          </p:grpSpPr>
          <p:sp>
            <p:nvSpPr>
              <p:cNvPr id="115866" name="Rectangle 75"/>
              <p:cNvSpPr>
                <a:spLocks noChangeArrowheads="1"/>
              </p:cNvSpPr>
              <p:nvPr/>
            </p:nvSpPr>
            <p:spPr bwMode="auto">
              <a:xfrm>
                <a:off x="2439" y="2495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4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67" name="Rectangle 76"/>
              <p:cNvSpPr>
                <a:spLocks noChangeArrowheads="1"/>
              </p:cNvSpPr>
              <p:nvPr/>
            </p:nvSpPr>
            <p:spPr bwMode="auto">
              <a:xfrm>
                <a:off x="2396" y="2495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2" name="Group 77"/>
            <p:cNvGrpSpPr/>
            <p:nvPr/>
          </p:nvGrpSpPr>
          <p:grpSpPr bwMode="auto">
            <a:xfrm>
              <a:off x="0" y="2994"/>
              <a:ext cx="513" cy="499"/>
              <a:chOff x="0" y="2994"/>
              <a:chExt cx="513" cy="499"/>
            </a:xfrm>
          </p:grpSpPr>
          <p:sp>
            <p:nvSpPr>
              <p:cNvPr id="115864" name="Rectangle 78"/>
              <p:cNvSpPr>
                <a:spLocks noChangeArrowheads="1"/>
              </p:cNvSpPr>
              <p:nvPr/>
            </p:nvSpPr>
            <p:spPr bwMode="auto">
              <a:xfrm>
                <a:off x="43" y="2994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6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65" name="Rectangle 79"/>
              <p:cNvSpPr>
                <a:spLocks noChangeArrowheads="1"/>
              </p:cNvSpPr>
              <p:nvPr/>
            </p:nvSpPr>
            <p:spPr bwMode="auto">
              <a:xfrm>
                <a:off x="0" y="2994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3" name="Group 80"/>
            <p:cNvGrpSpPr/>
            <p:nvPr/>
          </p:nvGrpSpPr>
          <p:grpSpPr bwMode="auto">
            <a:xfrm>
              <a:off x="513" y="2994"/>
              <a:ext cx="1272" cy="499"/>
              <a:chOff x="513" y="2994"/>
              <a:chExt cx="1272" cy="499"/>
            </a:xfrm>
          </p:grpSpPr>
          <p:sp>
            <p:nvSpPr>
              <p:cNvPr id="115862" name="Rectangle 81"/>
              <p:cNvSpPr>
                <a:spLocks noChangeArrowheads="1"/>
              </p:cNvSpPr>
              <p:nvPr/>
            </p:nvSpPr>
            <p:spPr bwMode="auto">
              <a:xfrm>
                <a:off x="556" y="2994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200"/>
                  <a:t>数据处理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863" name="Rectangle 82"/>
              <p:cNvSpPr>
                <a:spLocks noChangeArrowheads="1"/>
              </p:cNvSpPr>
              <p:nvPr/>
            </p:nvSpPr>
            <p:spPr bwMode="auto">
              <a:xfrm>
                <a:off x="513" y="2994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4" name="Group 83"/>
            <p:cNvGrpSpPr/>
            <p:nvPr/>
          </p:nvGrpSpPr>
          <p:grpSpPr bwMode="auto">
            <a:xfrm>
              <a:off x="1785" y="2994"/>
              <a:ext cx="611" cy="499"/>
              <a:chOff x="1785" y="2994"/>
              <a:chExt cx="611" cy="499"/>
            </a:xfrm>
          </p:grpSpPr>
          <p:sp>
            <p:nvSpPr>
              <p:cNvPr id="115860" name="Rectangle 84"/>
              <p:cNvSpPr>
                <a:spLocks noChangeArrowheads="1"/>
              </p:cNvSpPr>
              <p:nvPr/>
            </p:nvSpPr>
            <p:spPr bwMode="auto">
              <a:xfrm>
                <a:off x="1828" y="2994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61" name="Rectangle 85"/>
              <p:cNvSpPr>
                <a:spLocks noChangeArrowheads="1"/>
              </p:cNvSpPr>
              <p:nvPr/>
            </p:nvSpPr>
            <p:spPr bwMode="auto">
              <a:xfrm>
                <a:off x="1785" y="2994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5" name="Group 86"/>
            <p:cNvGrpSpPr/>
            <p:nvPr/>
          </p:nvGrpSpPr>
          <p:grpSpPr bwMode="auto">
            <a:xfrm>
              <a:off x="2396" y="2994"/>
              <a:ext cx="767" cy="499"/>
              <a:chOff x="2396" y="2994"/>
              <a:chExt cx="767" cy="499"/>
            </a:xfrm>
          </p:grpSpPr>
          <p:sp>
            <p:nvSpPr>
              <p:cNvPr id="115858" name="Rectangle 87"/>
              <p:cNvSpPr>
                <a:spLocks noChangeArrowheads="1"/>
              </p:cNvSpPr>
              <p:nvPr/>
            </p:nvSpPr>
            <p:spPr bwMode="auto">
              <a:xfrm>
                <a:off x="2439" y="2994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2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59" name="Rectangle 88"/>
              <p:cNvSpPr>
                <a:spLocks noChangeArrowheads="1"/>
              </p:cNvSpPr>
              <p:nvPr/>
            </p:nvSpPr>
            <p:spPr bwMode="auto">
              <a:xfrm>
                <a:off x="2396" y="2994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6" name="Group 89"/>
            <p:cNvGrpSpPr/>
            <p:nvPr/>
          </p:nvGrpSpPr>
          <p:grpSpPr bwMode="auto">
            <a:xfrm>
              <a:off x="0" y="3493"/>
              <a:ext cx="513" cy="499"/>
              <a:chOff x="0" y="3493"/>
              <a:chExt cx="513" cy="499"/>
            </a:xfrm>
          </p:grpSpPr>
          <p:sp>
            <p:nvSpPr>
              <p:cNvPr id="115856" name="Rectangle 90"/>
              <p:cNvSpPr>
                <a:spLocks noChangeArrowheads="1"/>
              </p:cNvSpPr>
              <p:nvPr/>
            </p:nvSpPr>
            <p:spPr bwMode="auto">
              <a:xfrm>
                <a:off x="43" y="3493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7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57" name="Rectangle 91"/>
              <p:cNvSpPr>
                <a:spLocks noChangeArrowheads="1"/>
              </p:cNvSpPr>
              <p:nvPr/>
            </p:nvSpPr>
            <p:spPr bwMode="auto">
              <a:xfrm>
                <a:off x="0" y="3493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7" name="Group 92"/>
            <p:cNvGrpSpPr/>
            <p:nvPr/>
          </p:nvGrpSpPr>
          <p:grpSpPr bwMode="auto">
            <a:xfrm>
              <a:off x="513" y="3493"/>
              <a:ext cx="1272" cy="499"/>
              <a:chOff x="513" y="3493"/>
              <a:chExt cx="1272" cy="499"/>
            </a:xfrm>
          </p:grpSpPr>
          <p:sp>
            <p:nvSpPr>
              <p:cNvPr id="115854" name="Rectangle 93"/>
              <p:cNvSpPr>
                <a:spLocks noChangeArrowheads="1"/>
              </p:cNvSpPr>
              <p:nvPr/>
            </p:nvSpPr>
            <p:spPr bwMode="auto">
              <a:xfrm>
                <a:off x="556" y="3493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PASCAL</a:t>
                </a:r>
                <a:r>
                  <a:rPr kumimoji="1" lang="zh-CN" altLang="en-US" sz="1200"/>
                  <a:t>语言</a:t>
                </a:r>
                <a:endParaRPr kumimoji="1" lang="zh-CN" altLang="en-US" sz="500"/>
              </a:p>
              <a:p>
                <a:endParaRPr kumimoji="1" lang="en-US" altLang="zh-CN" sz="1200"/>
              </a:p>
            </p:txBody>
          </p:sp>
          <p:sp>
            <p:nvSpPr>
              <p:cNvPr id="115855" name="Rectangle 94"/>
              <p:cNvSpPr>
                <a:spLocks noChangeArrowheads="1"/>
              </p:cNvSpPr>
              <p:nvPr/>
            </p:nvSpPr>
            <p:spPr bwMode="auto">
              <a:xfrm>
                <a:off x="513" y="3493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8" name="Group 95"/>
            <p:cNvGrpSpPr/>
            <p:nvPr/>
          </p:nvGrpSpPr>
          <p:grpSpPr bwMode="auto">
            <a:xfrm>
              <a:off x="1785" y="3493"/>
              <a:ext cx="611" cy="499"/>
              <a:chOff x="1785" y="3493"/>
              <a:chExt cx="611" cy="499"/>
            </a:xfrm>
          </p:grpSpPr>
          <p:sp>
            <p:nvSpPr>
              <p:cNvPr id="115852" name="Rectangle 96"/>
              <p:cNvSpPr>
                <a:spLocks noChangeArrowheads="1"/>
              </p:cNvSpPr>
              <p:nvPr/>
            </p:nvSpPr>
            <p:spPr bwMode="auto">
              <a:xfrm>
                <a:off x="1828" y="3493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6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53" name="Rectangle 97"/>
              <p:cNvSpPr>
                <a:spLocks noChangeArrowheads="1"/>
              </p:cNvSpPr>
              <p:nvPr/>
            </p:nvSpPr>
            <p:spPr bwMode="auto">
              <a:xfrm>
                <a:off x="1785" y="3493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15849" name="Group 98"/>
            <p:cNvGrpSpPr/>
            <p:nvPr/>
          </p:nvGrpSpPr>
          <p:grpSpPr bwMode="auto">
            <a:xfrm>
              <a:off x="2396" y="3493"/>
              <a:ext cx="767" cy="499"/>
              <a:chOff x="2396" y="3493"/>
              <a:chExt cx="767" cy="499"/>
            </a:xfrm>
          </p:grpSpPr>
          <p:sp>
            <p:nvSpPr>
              <p:cNvPr id="115850" name="Rectangle 99"/>
              <p:cNvSpPr>
                <a:spLocks noChangeArrowheads="1"/>
              </p:cNvSpPr>
              <p:nvPr/>
            </p:nvSpPr>
            <p:spPr bwMode="auto">
              <a:xfrm>
                <a:off x="2439" y="3493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1200"/>
                  <a:t>  4</a:t>
                </a:r>
                <a:endParaRPr kumimoji="1" lang="en-US" altLang="zh-CN" sz="500"/>
              </a:p>
              <a:p>
                <a:endParaRPr kumimoji="1" lang="en-US" altLang="zh-CN" sz="1200"/>
              </a:p>
            </p:txBody>
          </p:sp>
          <p:sp>
            <p:nvSpPr>
              <p:cNvPr id="115851" name="Rectangle 100"/>
              <p:cNvSpPr>
                <a:spLocks noChangeArrowheads="1"/>
              </p:cNvSpPr>
              <p:nvPr/>
            </p:nvSpPr>
            <p:spPr bwMode="auto">
              <a:xfrm>
                <a:off x="2396" y="3493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15718" name="Group 101"/>
          <p:cNvGrpSpPr/>
          <p:nvPr/>
        </p:nvGrpSpPr>
        <p:grpSpPr bwMode="auto">
          <a:xfrm>
            <a:off x="4500563" y="1785938"/>
            <a:ext cx="4103885" cy="2723182"/>
            <a:chOff x="-3" y="-3"/>
            <a:chExt cx="3169" cy="3998"/>
          </a:xfrm>
        </p:grpSpPr>
        <p:grpSp>
          <p:nvGrpSpPr>
            <p:cNvPr id="115720" name="Group 102"/>
            <p:cNvGrpSpPr/>
            <p:nvPr/>
          </p:nvGrpSpPr>
          <p:grpSpPr bwMode="auto">
            <a:xfrm>
              <a:off x="0" y="0"/>
              <a:ext cx="3166" cy="3992"/>
              <a:chOff x="0" y="0"/>
              <a:chExt cx="3166" cy="3992"/>
            </a:xfrm>
          </p:grpSpPr>
          <p:grpSp>
            <p:nvGrpSpPr>
              <p:cNvPr id="115722" name="Group 103"/>
              <p:cNvGrpSpPr/>
              <p:nvPr/>
            </p:nvGrpSpPr>
            <p:grpSpPr bwMode="auto">
              <a:xfrm>
                <a:off x="0" y="0"/>
                <a:ext cx="687" cy="499"/>
                <a:chOff x="0" y="0"/>
                <a:chExt cx="687" cy="499"/>
              </a:xfrm>
            </p:grpSpPr>
            <p:sp>
              <p:nvSpPr>
                <p:cNvPr id="115816" name="Rectangle 10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4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2636520" algn="ctr"/>
                      <a:tab pos="5273675" algn="r"/>
                    </a:tabLs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Cno</a:t>
                  </a:r>
                  <a:endParaRPr kumimoji="1" lang="en-US" altLang="zh-CN" sz="4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17" name="Rectangle 10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3" name="Group 106"/>
              <p:cNvGrpSpPr/>
              <p:nvPr/>
            </p:nvGrpSpPr>
            <p:grpSpPr bwMode="auto">
              <a:xfrm>
                <a:off x="513" y="0"/>
                <a:ext cx="1272" cy="499"/>
                <a:chOff x="513" y="0"/>
                <a:chExt cx="1272" cy="499"/>
              </a:xfrm>
            </p:grpSpPr>
            <p:sp>
              <p:nvSpPr>
                <p:cNvPr id="115814" name="Rectangle 107"/>
                <p:cNvSpPr>
                  <a:spLocks noChangeArrowheads="1"/>
                </p:cNvSpPr>
                <p:nvPr/>
              </p:nvSpPr>
              <p:spPr bwMode="auto">
                <a:xfrm>
                  <a:off x="556" y="0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Cname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15" name="Rectangle 108"/>
                <p:cNvSpPr>
                  <a:spLocks noChangeArrowheads="1"/>
                </p:cNvSpPr>
                <p:nvPr/>
              </p:nvSpPr>
              <p:spPr bwMode="auto">
                <a:xfrm>
                  <a:off x="513" y="0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4" name="Group 109"/>
              <p:cNvGrpSpPr/>
              <p:nvPr/>
            </p:nvGrpSpPr>
            <p:grpSpPr bwMode="auto">
              <a:xfrm>
                <a:off x="1785" y="0"/>
                <a:ext cx="692" cy="499"/>
                <a:chOff x="1785" y="0"/>
                <a:chExt cx="692" cy="499"/>
              </a:xfrm>
            </p:grpSpPr>
            <p:sp>
              <p:nvSpPr>
                <p:cNvPr id="115812" name="Rectangle 110"/>
                <p:cNvSpPr>
                  <a:spLocks noChangeArrowheads="1"/>
                </p:cNvSpPr>
                <p:nvPr/>
              </p:nvSpPr>
              <p:spPr bwMode="auto">
                <a:xfrm>
                  <a:off x="1828" y="0"/>
                  <a:ext cx="649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Cpno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13" name="Rectangle 111"/>
                <p:cNvSpPr>
                  <a:spLocks noChangeArrowheads="1"/>
                </p:cNvSpPr>
                <p:nvPr/>
              </p:nvSpPr>
              <p:spPr bwMode="auto">
                <a:xfrm>
                  <a:off x="1785" y="0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5" name="Group 112"/>
              <p:cNvGrpSpPr/>
              <p:nvPr/>
            </p:nvGrpSpPr>
            <p:grpSpPr bwMode="auto">
              <a:xfrm>
                <a:off x="2396" y="0"/>
                <a:ext cx="770" cy="499"/>
                <a:chOff x="2396" y="0"/>
                <a:chExt cx="770" cy="499"/>
              </a:xfrm>
            </p:grpSpPr>
            <p:sp>
              <p:nvSpPr>
                <p:cNvPr id="115810" name="Rectangle 113"/>
                <p:cNvSpPr>
                  <a:spLocks noChangeArrowheads="1"/>
                </p:cNvSpPr>
                <p:nvPr/>
              </p:nvSpPr>
              <p:spPr bwMode="auto">
                <a:xfrm>
                  <a:off x="2439" y="0"/>
                  <a:ext cx="7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Ccredit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11" name="Rectangle 114"/>
                <p:cNvSpPr>
                  <a:spLocks noChangeArrowheads="1"/>
                </p:cNvSpPr>
                <p:nvPr/>
              </p:nvSpPr>
              <p:spPr bwMode="auto">
                <a:xfrm>
                  <a:off x="2396" y="0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6" name="Group 115"/>
              <p:cNvGrpSpPr/>
              <p:nvPr/>
            </p:nvGrpSpPr>
            <p:grpSpPr bwMode="auto">
              <a:xfrm>
                <a:off x="0" y="499"/>
                <a:ext cx="513" cy="499"/>
                <a:chOff x="0" y="499"/>
                <a:chExt cx="513" cy="499"/>
              </a:xfrm>
            </p:grpSpPr>
            <p:sp>
              <p:nvSpPr>
                <p:cNvPr id="115808" name="Rectangle 116"/>
                <p:cNvSpPr>
                  <a:spLocks noChangeArrowheads="1"/>
                </p:cNvSpPr>
                <p:nvPr/>
              </p:nvSpPr>
              <p:spPr bwMode="auto">
                <a:xfrm>
                  <a:off x="43" y="499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1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09" name="Rectangle 117"/>
                <p:cNvSpPr>
                  <a:spLocks noChangeArrowheads="1"/>
                </p:cNvSpPr>
                <p:nvPr/>
              </p:nvSpPr>
              <p:spPr bwMode="auto">
                <a:xfrm>
                  <a:off x="0" y="499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7" name="Group 118"/>
              <p:cNvGrpSpPr/>
              <p:nvPr/>
            </p:nvGrpSpPr>
            <p:grpSpPr bwMode="auto">
              <a:xfrm>
                <a:off x="513" y="499"/>
                <a:ext cx="1272" cy="499"/>
                <a:chOff x="513" y="499"/>
                <a:chExt cx="1272" cy="499"/>
              </a:xfrm>
            </p:grpSpPr>
            <p:sp>
              <p:nvSpPr>
                <p:cNvPr id="115806" name="Rectangle 119"/>
                <p:cNvSpPr>
                  <a:spLocks noChangeArrowheads="1"/>
                </p:cNvSpPr>
                <p:nvPr/>
              </p:nvSpPr>
              <p:spPr bwMode="auto">
                <a:xfrm>
                  <a:off x="556" y="499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200"/>
                    <a:t>数据库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07" name="Rectangle 120"/>
                <p:cNvSpPr>
                  <a:spLocks noChangeArrowheads="1"/>
                </p:cNvSpPr>
                <p:nvPr/>
              </p:nvSpPr>
              <p:spPr bwMode="auto">
                <a:xfrm>
                  <a:off x="513" y="499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8" name="Group 121"/>
              <p:cNvGrpSpPr/>
              <p:nvPr/>
            </p:nvGrpSpPr>
            <p:grpSpPr bwMode="auto">
              <a:xfrm>
                <a:off x="1785" y="499"/>
                <a:ext cx="611" cy="499"/>
                <a:chOff x="1785" y="499"/>
                <a:chExt cx="611" cy="499"/>
              </a:xfrm>
            </p:grpSpPr>
            <p:sp>
              <p:nvSpPr>
                <p:cNvPr id="115804" name="Rectangle 122"/>
                <p:cNvSpPr>
                  <a:spLocks noChangeArrowheads="1"/>
                </p:cNvSpPr>
                <p:nvPr/>
              </p:nvSpPr>
              <p:spPr bwMode="auto">
                <a:xfrm>
                  <a:off x="1828" y="499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400"/>
                    <a:t>  5</a:t>
                  </a:r>
                  <a:endParaRPr kumimoji="1" lang="en-US" altLang="zh-CN" sz="600"/>
                </a:p>
                <a:p>
                  <a:endParaRPr kumimoji="1" lang="en-US" altLang="zh-CN" sz="1400"/>
                </a:p>
              </p:txBody>
            </p:sp>
            <p:sp>
              <p:nvSpPr>
                <p:cNvPr id="115805" name="Rectangle 123"/>
                <p:cNvSpPr>
                  <a:spLocks noChangeArrowheads="1"/>
                </p:cNvSpPr>
                <p:nvPr/>
              </p:nvSpPr>
              <p:spPr bwMode="auto">
                <a:xfrm>
                  <a:off x="1785" y="499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29" name="Group 124"/>
              <p:cNvGrpSpPr/>
              <p:nvPr/>
            </p:nvGrpSpPr>
            <p:grpSpPr bwMode="auto">
              <a:xfrm>
                <a:off x="2396" y="499"/>
                <a:ext cx="767" cy="499"/>
                <a:chOff x="2396" y="499"/>
                <a:chExt cx="767" cy="499"/>
              </a:xfrm>
            </p:grpSpPr>
            <p:sp>
              <p:nvSpPr>
                <p:cNvPr id="115802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9" y="499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4  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03" name="Rectangle 126"/>
                <p:cNvSpPr>
                  <a:spLocks noChangeArrowheads="1"/>
                </p:cNvSpPr>
                <p:nvPr/>
              </p:nvSpPr>
              <p:spPr bwMode="auto">
                <a:xfrm>
                  <a:off x="2396" y="499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0" name="Group 127"/>
              <p:cNvGrpSpPr/>
              <p:nvPr/>
            </p:nvGrpSpPr>
            <p:grpSpPr bwMode="auto">
              <a:xfrm>
                <a:off x="0" y="998"/>
                <a:ext cx="513" cy="499"/>
                <a:chOff x="0" y="998"/>
                <a:chExt cx="513" cy="499"/>
              </a:xfrm>
            </p:grpSpPr>
            <p:sp>
              <p:nvSpPr>
                <p:cNvPr id="115800" name="Rectangle 128"/>
                <p:cNvSpPr>
                  <a:spLocks noChangeArrowheads="1"/>
                </p:cNvSpPr>
                <p:nvPr/>
              </p:nvSpPr>
              <p:spPr bwMode="auto">
                <a:xfrm>
                  <a:off x="43" y="998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2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801" name="Rectangle 129"/>
                <p:cNvSpPr>
                  <a:spLocks noChangeArrowheads="1"/>
                </p:cNvSpPr>
                <p:nvPr/>
              </p:nvSpPr>
              <p:spPr bwMode="auto">
                <a:xfrm>
                  <a:off x="0" y="998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1" name="Group 130"/>
              <p:cNvGrpSpPr/>
              <p:nvPr/>
            </p:nvGrpSpPr>
            <p:grpSpPr bwMode="auto">
              <a:xfrm>
                <a:off x="513" y="998"/>
                <a:ext cx="1272" cy="499"/>
                <a:chOff x="513" y="998"/>
                <a:chExt cx="1272" cy="499"/>
              </a:xfrm>
            </p:grpSpPr>
            <p:sp>
              <p:nvSpPr>
                <p:cNvPr id="115798" name="Rectangle 131"/>
                <p:cNvSpPr>
                  <a:spLocks noChangeArrowheads="1"/>
                </p:cNvSpPr>
                <p:nvPr/>
              </p:nvSpPr>
              <p:spPr bwMode="auto">
                <a:xfrm>
                  <a:off x="556" y="998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200"/>
                    <a:t>数学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99" name="Rectangle 132"/>
                <p:cNvSpPr>
                  <a:spLocks noChangeArrowheads="1"/>
                </p:cNvSpPr>
                <p:nvPr/>
              </p:nvSpPr>
              <p:spPr bwMode="auto">
                <a:xfrm>
                  <a:off x="513" y="998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2" name="Group 133"/>
              <p:cNvGrpSpPr/>
              <p:nvPr/>
            </p:nvGrpSpPr>
            <p:grpSpPr bwMode="auto">
              <a:xfrm>
                <a:off x="1785" y="998"/>
                <a:ext cx="611" cy="499"/>
                <a:chOff x="1785" y="998"/>
                <a:chExt cx="611" cy="499"/>
              </a:xfrm>
            </p:grpSpPr>
            <p:sp>
              <p:nvSpPr>
                <p:cNvPr id="115796" name="Rectangle 134"/>
                <p:cNvSpPr>
                  <a:spLocks noChangeArrowheads="1"/>
                </p:cNvSpPr>
                <p:nvPr/>
              </p:nvSpPr>
              <p:spPr bwMode="auto">
                <a:xfrm>
                  <a:off x="1828" y="998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500"/>
                    <a:t> 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97" name="Rectangle 135"/>
                <p:cNvSpPr>
                  <a:spLocks noChangeArrowheads="1"/>
                </p:cNvSpPr>
                <p:nvPr/>
              </p:nvSpPr>
              <p:spPr bwMode="auto">
                <a:xfrm>
                  <a:off x="1785" y="998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3" name="Group 136"/>
              <p:cNvGrpSpPr/>
              <p:nvPr/>
            </p:nvGrpSpPr>
            <p:grpSpPr bwMode="auto">
              <a:xfrm>
                <a:off x="2396" y="998"/>
                <a:ext cx="767" cy="499"/>
                <a:chOff x="2396" y="998"/>
                <a:chExt cx="767" cy="499"/>
              </a:xfrm>
            </p:grpSpPr>
            <p:sp>
              <p:nvSpPr>
                <p:cNvPr id="11579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439" y="998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2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95" name="Rectangle 138"/>
                <p:cNvSpPr>
                  <a:spLocks noChangeArrowheads="1"/>
                </p:cNvSpPr>
                <p:nvPr/>
              </p:nvSpPr>
              <p:spPr bwMode="auto">
                <a:xfrm>
                  <a:off x="2396" y="998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4" name="Group 139"/>
              <p:cNvGrpSpPr/>
              <p:nvPr/>
            </p:nvGrpSpPr>
            <p:grpSpPr bwMode="auto">
              <a:xfrm>
                <a:off x="0" y="1497"/>
                <a:ext cx="513" cy="499"/>
                <a:chOff x="0" y="1497"/>
                <a:chExt cx="513" cy="499"/>
              </a:xfrm>
            </p:grpSpPr>
            <p:sp>
              <p:nvSpPr>
                <p:cNvPr id="115792" name="Rectangle 140"/>
                <p:cNvSpPr>
                  <a:spLocks noChangeArrowheads="1"/>
                </p:cNvSpPr>
                <p:nvPr/>
              </p:nvSpPr>
              <p:spPr bwMode="auto">
                <a:xfrm>
                  <a:off x="43" y="1497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3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93" name="Rectangle 141"/>
                <p:cNvSpPr>
                  <a:spLocks noChangeArrowheads="1"/>
                </p:cNvSpPr>
                <p:nvPr/>
              </p:nvSpPr>
              <p:spPr bwMode="auto">
                <a:xfrm>
                  <a:off x="0" y="1497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5" name="Group 142"/>
              <p:cNvGrpSpPr/>
              <p:nvPr/>
            </p:nvGrpSpPr>
            <p:grpSpPr bwMode="auto">
              <a:xfrm>
                <a:off x="513" y="1497"/>
                <a:ext cx="1272" cy="499"/>
                <a:chOff x="513" y="1497"/>
                <a:chExt cx="1272" cy="499"/>
              </a:xfrm>
            </p:grpSpPr>
            <p:sp>
              <p:nvSpPr>
                <p:cNvPr id="115790" name="Rectangle 143"/>
                <p:cNvSpPr>
                  <a:spLocks noChangeArrowheads="1"/>
                </p:cNvSpPr>
                <p:nvPr/>
              </p:nvSpPr>
              <p:spPr bwMode="auto">
                <a:xfrm>
                  <a:off x="556" y="1497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200"/>
                    <a:t>信息系统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91" name="Rectangle 144"/>
                <p:cNvSpPr>
                  <a:spLocks noChangeArrowheads="1"/>
                </p:cNvSpPr>
                <p:nvPr/>
              </p:nvSpPr>
              <p:spPr bwMode="auto">
                <a:xfrm>
                  <a:off x="513" y="1497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6" name="Group 145"/>
              <p:cNvGrpSpPr/>
              <p:nvPr/>
            </p:nvGrpSpPr>
            <p:grpSpPr bwMode="auto">
              <a:xfrm>
                <a:off x="1785" y="1497"/>
                <a:ext cx="611" cy="499"/>
                <a:chOff x="1785" y="1497"/>
                <a:chExt cx="611" cy="499"/>
              </a:xfrm>
            </p:grpSpPr>
            <p:sp>
              <p:nvSpPr>
                <p:cNvPr id="115788" name="Rectangle 146"/>
                <p:cNvSpPr>
                  <a:spLocks noChangeArrowheads="1"/>
                </p:cNvSpPr>
                <p:nvPr/>
              </p:nvSpPr>
              <p:spPr bwMode="auto">
                <a:xfrm>
                  <a:off x="1828" y="1497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1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89" name="Rectangle 147"/>
                <p:cNvSpPr>
                  <a:spLocks noChangeArrowheads="1"/>
                </p:cNvSpPr>
                <p:nvPr/>
              </p:nvSpPr>
              <p:spPr bwMode="auto">
                <a:xfrm>
                  <a:off x="1785" y="1497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7" name="Group 148"/>
              <p:cNvGrpSpPr/>
              <p:nvPr/>
            </p:nvGrpSpPr>
            <p:grpSpPr bwMode="auto">
              <a:xfrm>
                <a:off x="2396" y="1497"/>
                <a:ext cx="767" cy="499"/>
                <a:chOff x="2396" y="1497"/>
                <a:chExt cx="767" cy="499"/>
              </a:xfrm>
            </p:grpSpPr>
            <p:sp>
              <p:nvSpPr>
                <p:cNvPr id="115786" name="Rectangle 149"/>
                <p:cNvSpPr>
                  <a:spLocks noChangeArrowheads="1"/>
                </p:cNvSpPr>
                <p:nvPr/>
              </p:nvSpPr>
              <p:spPr bwMode="auto">
                <a:xfrm>
                  <a:off x="2439" y="1497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4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87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96" y="1497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8" name="Group 151"/>
              <p:cNvGrpSpPr/>
              <p:nvPr/>
            </p:nvGrpSpPr>
            <p:grpSpPr bwMode="auto">
              <a:xfrm>
                <a:off x="0" y="1996"/>
                <a:ext cx="513" cy="499"/>
                <a:chOff x="0" y="1996"/>
                <a:chExt cx="513" cy="499"/>
              </a:xfrm>
            </p:grpSpPr>
            <p:sp>
              <p:nvSpPr>
                <p:cNvPr id="115784" name="Rectangle 152"/>
                <p:cNvSpPr>
                  <a:spLocks noChangeArrowheads="1"/>
                </p:cNvSpPr>
                <p:nvPr/>
              </p:nvSpPr>
              <p:spPr bwMode="auto">
                <a:xfrm>
                  <a:off x="43" y="1996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4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85" name="Rectangle 153"/>
                <p:cNvSpPr>
                  <a:spLocks noChangeArrowheads="1"/>
                </p:cNvSpPr>
                <p:nvPr/>
              </p:nvSpPr>
              <p:spPr bwMode="auto">
                <a:xfrm>
                  <a:off x="0" y="1996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39" name="Group 154"/>
              <p:cNvGrpSpPr/>
              <p:nvPr/>
            </p:nvGrpSpPr>
            <p:grpSpPr bwMode="auto">
              <a:xfrm>
                <a:off x="513" y="1996"/>
                <a:ext cx="1272" cy="499"/>
                <a:chOff x="513" y="1996"/>
                <a:chExt cx="1272" cy="499"/>
              </a:xfrm>
            </p:grpSpPr>
            <p:sp>
              <p:nvSpPr>
                <p:cNvPr id="115782" name="Rectangle 155"/>
                <p:cNvSpPr>
                  <a:spLocks noChangeArrowheads="1"/>
                </p:cNvSpPr>
                <p:nvPr/>
              </p:nvSpPr>
              <p:spPr bwMode="auto">
                <a:xfrm>
                  <a:off x="556" y="1996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200"/>
                    <a:t>操作系统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83" name="Rectangle 156"/>
                <p:cNvSpPr>
                  <a:spLocks noChangeArrowheads="1"/>
                </p:cNvSpPr>
                <p:nvPr/>
              </p:nvSpPr>
              <p:spPr bwMode="auto">
                <a:xfrm>
                  <a:off x="513" y="1996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0" name="Group 157"/>
              <p:cNvGrpSpPr/>
              <p:nvPr/>
            </p:nvGrpSpPr>
            <p:grpSpPr bwMode="auto">
              <a:xfrm>
                <a:off x="1785" y="1996"/>
                <a:ext cx="611" cy="499"/>
                <a:chOff x="1785" y="1996"/>
                <a:chExt cx="611" cy="499"/>
              </a:xfrm>
            </p:grpSpPr>
            <p:sp>
              <p:nvSpPr>
                <p:cNvPr id="115780" name="Rectangle 158"/>
                <p:cNvSpPr>
                  <a:spLocks noChangeArrowheads="1"/>
                </p:cNvSpPr>
                <p:nvPr/>
              </p:nvSpPr>
              <p:spPr bwMode="auto">
                <a:xfrm>
                  <a:off x="1828" y="1996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6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81" name="Rectangle 159"/>
                <p:cNvSpPr>
                  <a:spLocks noChangeArrowheads="1"/>
                </p:cNvSpPr>
                <p:nvPr/>
              </p:nvSpPr>
              <p:spPr bwMode="auto">
                <a:xfrm>
                  <a:off x="1785" y="1996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1" name="Group 160"/>
              <p:cNvGrpSpPr/>
              <p:nvPr/>
            </p:nvGrpSpPr>
            <p:grpSpPr bwMode="auto">
              <a:xfrm>
                <a:off x="2396" y="1996"/>
                <a:ext cx="767" cy="499"/>
                <a:chOff x="2396" y="1996"/>
                <a:chExt cx="767" cy="499"/>
              </a:xfrm>
            </p:grpSpPr>
            <p:sp>
              <p:nvSpPr>
                <p:cNvPr id="115778" name="Rectangle 161"/>
                <p:cNvSpPr>
                  <a:spLocks noChangeArrowheads="1"/>
                </p:cNvSpPr>
                <p:nvPr/>
              </p:nvSpPr>
              <p:spPr bwMode="auto">
                <a:xfrm>
                  <a:off x="2439" y="1996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3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79" name="Rectangle 162"/>
                <p:cNvSpPr>
                  <a:spLocks noChangeArrowheads="1"/>
                </p:cNvSpPr>
                <p:nvPr/>
              </p:nvSpPr>
              <p:spPr bwMode="auto">
                <a:xfrm>
                  <a:off x="2396" y="1996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2" name="Group 163"/>
              <p:cNvGrpSpPr/>
              <p:nvPr/>
            </p:nvGrpSpPr>
            <p:grpSpPr bwMode="auto">
              <a:xfrm>
                <a:off x="0" y="2495"/>
                <a:ext cx="513" cy="499"/>
                <a:chOff x="0" y="2495"/>
                <a:chExt cx="513" cy="499"/>
              </a:xfrm>
            </p:grpSpPr>
            <p:sp>
              <p:nvSpPr>
                <p:cNvPr id="115776" name="Rectangle 164"/>
                <p:cNvSpPr>
                  <a:spLocks noChangeArrowheads="1"/>
                </p:cNvSpPr>
                <p:nvPr/>
              </p:nvSpPr>
              <p:spPr bwMode="auto">
                <a:xfrm>
                  <a:off x="43" y="2495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5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77" name="Rectangle 165"/>
                <p:cNvSpPr>
                  <a:spLocks noChangeArrowheads="1"/>
                </p:cNvSpPr>
                <p:nvPr/>
              </p:nvSpPr>
              <p:spPr bwMode="auto">
                <a:xfrm>
                  <a:off x="0" y="2495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3" name="Group 166"/>
              <p:cNvGrpSpPr/>
              <p:nvPr/>
            </p:nvGrpSpPr>
            <p:grpSpPr bwMode="auto">
              <a:xfrm>
                <a:off x="513" y="2495"/>
                <a:ext cx="1272" cy="499"/>
                <a:chOff x="513" y="2495"/>
                <a:chExt cx="1272" cy="499"/>
              </a:xfrm>
            </p:grpSpPr>
            <p:sp>
              <p:nvSpPr>
                <p:cNvPr id="115774" name="Rectangle 167"/>
                <p:cNvSpPr>
                  <a:spLocks noChangeArrowheads="1"/>
                </p:cNvSpPr>
                <p:nvPr/>
              </p:nvSpPr>
              <p:spPr bwMode="auto">
                <a:xfrm>
                  <a:off x="556" y="2495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200"/>
                    <a:t>数据结构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75" name="Rectangle 168"/>
                <p:cNvSpPr>
                  <a:spLocks noChangeArrowheads="1"/>
                </p:cNvSpPr>
                <p:nvPr/>
              </p:nvSpPr>
              <p:spPr bwMode="auto">
                <a:xfrm>
                  <a:off x="513" y="2495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4" name="Group 169"/>
              <p:cNvGrpSpPr/>
              <p:nvPr/>
            </p:nvGrpSpPr>
            <p:grpSpPr bwMode="auto">
              <a:xfrm>
                <a:off x="1785" y="2495"/>
                <a:ext cx="611" cy="499"/>
                <a:chOff x="1785" y="2495"/>
                <a:chExt cx="611" cy="499"/>
              </a:xfrm>
            </p:grpSpPr>
            <p:sp>
              <p:nvSpPr>
                <p:cNvPr id="115772" name="Rectangle 170"/>
                <p:cNvSpPr>
                  <a:spLocks noChangeArrowheads="1"/>
                </p:cNvSpPr>
                <p:nvPr/>
              </p:nvSpPr>
              <p:spPr bwMode="auto">
                <a:xfrm>
                  <a:off x="1828" y="2495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7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73" name="Rectangle 171"/>
                <p:cNvSpPr>
                  <a:spLocks noChangeArrowheads="1"/>
                </p:cNvSpPr>
                <p:nvPr/>
              </p:nvSpPr>
              <p:spPr bwMode="auto">
                <a:xfrm>
                  <a:off x="1785" y="2495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5" name="Group 172"/>
              <p:cNvGrpSpPr/>
              <p:nvPr/>
            </p:nvGrpSpPr>
            <p:grpSpPr bwMode="auto">
              <a:xfrm>
                <a:off x="2396" y="2495"/>
                <a:ext cx="767" cy="499"/>
                <a:chOff x="2396" y="2495"/>
                <a:chExt cx="767" cy="499"/>
              </a:xfrm>
            </p:grpSpPr>
            <p:sp>
              <p:nvSpPr>
                <p:cNvPr id="115770" name="Rectangle 173"/>
                <p:cNvSpPr>
                  <a:spLocks noChangeArrowheads="1"/>
                </p:cNvSpPr>
                <p:nvPr/>
              </p:nvSpPr>
              <p:spPr bwMode="auto">
                <a:xfrm>
                  <a:off x="2439" y="2495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 dirty="0"/>
                    <a:t>  4</a:t>
                  </a:r>
                  <a:endParaRPr kumimoji="1" lang="en-US" altLang="zh-CN" sz="500" dirty="0"/>
                </a:p>
                <a:p>
                  <a:endParaRPr kumimoji="1" lang="en-US" altLang="zh-CN" sz="1200" dirty="0"/>
                </a:p>
              </p:txBody>
            </p:sp>
            <p:sp>
              <p:nvSpPr>
                <p:cNvPr id="115771" name="Rectangle 174"/>
                <p:cNvSpPr>
                  <a:spLocks noChangeArrowheads="1"/>
                </p:cNvSpPr>
                <p:nvPr/>
              </p:nvSpPr>
              <p:spPr bwMode="auto">
                <a:xfrm>
                  <a:off x="2396" y="2495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6" name="Group 175"/>
              <p:cNvGrpSpPr/>
              <p:nvPr/>
            </p:nvGrpSpPr>
            <p:grpSpPr bwMode="auto">
              <a:xfrm>
                <a:off x="0" y="2994"/>
                <a:ext cx="513" cy="499"/>
                <a:chOff x="0" y="2994"/>
                <a:chExt cx="513" cy="499"/>
              </a:xfrm>
            </p:grpSpPr>
            <p:sp>
              <p:nvSpPr>
                <p:cNvPr id="115768" name="Rectangle 176"/>
                <p:cNvSpPr>
                  <a:spLocks noChangeArrowheads="1"/>
                </p:cNvSpPr>
                <p:nvPr/>
              </p:nvSpPr>
              <p:spPr bwMode="auto">
                <a:xfrm>
                  <a:off x="43" y="2994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6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69" name="Rectangle 177"/>
                <p:cNvSpPr>
                  <a:spLocks noChangeArrowheads="1"/>
                </p:cNvSpPr>
                <p:nvPr/>
              </p:nvSpPr>
              <p:spPr bwMode="auto">
                <a:xfrm>
                  <a:off x="0" y="2994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7" name="Group 178"/>
              <p:cNvGrpSpPr/>
              <p:nvPr/>
            </p:nvGrpSpPr>
            <p:grpSpPr bwMode="auto">
              <a:xfrm>
                <a:off x="513" y="2994"/>
                <a:ext cx="1272" cy="499"/>
                <a:chOff x="513" y="2994"/>
                <a:chExt cx="1272" cy="499"/>
              </a:xfrm>
            </p:grpSpPr>
            <p:sp>
              <p:nvSpPr>
                <p:cNvPr id="115766" name="Rectangle 179"/>
                <p:cNvSpPr>
                  <a:spLocks noChangeArrowheads="1"/>
                </p:cNvSpPr>
                <p:nvPr/>
              </p:nvSpPr>
              <p:spPr bwMode="auto">
                <a:xfrm>
                  <a:off x="556" y="2994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200"/>
                    <a:t>数据处理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67" name="Rectangle 180"/>
                <p:cNvSpPr>
                  <a:spLocks noChangeArrowheads="1"/>
                </p:cNvSpPr>
                <p:nvPr/>
              </p:nvSpPr>
              <p:spPr bwMode="auto">
                <a:xfrm>
                  <a:off x="513" y="2994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8" name="Group 181"/>
              <p:cNvGrpSpPr/>
              <p:nvPr/>
            </p:nvGrpSpPr>
            <p:grpSpPr bwMode="auto">
              <a:xfrm>
                <a:off x="1785" y="2994"/>
                <a:ext cx="611" cy="499"/>
                <a:chOff x="1785" y="2994"/>
                <a:chExt cx="611" cy="499"/>
              </a:xfrm>
            </p:grpSpPr>
            <p:sp>
              <p:nvSpPr>
                <p:cNvPr id="115764" name="Rectangle 182"/>
                <p:cNvSpPr>
                  <a:spLocks noChangeArrowheads="1"/>
                </p:cNvSpPr>
                <p:nvPr/>
              </p:nvSpPr>
              <p:spPr bwMode="auto">
                <a:xfrm>
                  <a:off x="1828" y="2994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65" name="Rectangle 183"/>
                <p:cNvSpPr>
                  <a:spLocks noChangeArrowheads="1"/>
                </p:cNvSpPr>
                <p:nvPr/>
              </p:nvSpPr>
              <p:spPr bwMode="auto">
                <a:xfrm>
                  <a:off x="1785" y="2994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49" name="Group 184"/>
              <p:cNvGrpSpPr/>
              <p:nvPr/>
            </p:nvGrpSpPr>
            <p:grpSpPr bwMode="auto">
              <a:xfrm>
                <a:off x="2396" y="2994"/>
                <a:ext cx="767" cy="499"/>
                <a:chOff x="2396" y="2994"/>
                <a:chExt cx="767" cy="499"/>
              </a:xfrm>
            </p:grpSpPr>
            <p:sp>
              <p:nvSpPr>
                <p:cNvPr id="115762" name="Rectangle 185"/>
                <p:cNvSpPr>
                  <a:spLocks noChangeArrowheads="1"/>
                </p:cNvSpPr>
                <p:nvPr/>
              </p:nvSpPr>
              <p:spPr bwMode="auto">
                <a:xfrm>
                  <a:off x="2439" y="2994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2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63" name="Rectangle 186"/>
                <p:cNvSpPr>
                  <a:spLocks noChangeArrowheads="1"/>
                </p:cNvSpPr>
                <p:nvPr/>
              </p:nvSpPr>
              <p:spPr bwMode="auto">
                <a:xfrm>
                  <a:off x="2396" y="2994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50" name="Group 187"/>
              <p:cNvGrpSpPr/>
              <p:nvPr/>
            </p:nvGrpSpPr>
            <p:grpSpPr bwMode="auto">
              <a:xfrm>
                <a:off x="0" y="3493"/>
                <a:ext cx="513" cy="499"/>
                <a:chOff x="0" y="3493"/>
                <a:chExt cx="513" cy="499"/>
              </a:xfrm>
            </p:grpSpPr>
            <p:sp>
              <p:nvSpPr>
                <p:cNvPr id="115760" name="Rectangle 188"/>
                <p:cNvSpPr>
                  <a:spLocks noChangeArrowheads="1"/>
                </p:cNvSpPr>
                <p:nvPr/>
              </p:nvSpPr>
              <p:spPr bwMode="auto">
                <a:xfrm>
                  <a:off x="43" y="3493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7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61" name="Rectangle 189"/>
                <p:cNvSpPr>
                  <a:spLocks noChangeArrowheads="1"/>
                </p:cNvSpPr>
                <p:nvPr/>
              </p:nvSpPr>
              <p:spPr bwMode="auto">
                <a:xfrm>
                  <a:off x="0" y="3493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51" name="Group 190"/>
              <p:cNvGrpSpPr/>
              <p:nvPr/>
            </p:nvGrpSpPr>
            <p:grpSpPr bwMode="auto">
              <a:xfrm>
                <a:off x="513" y="3493"/>
                <a:ext cx="1272" cy="499"/>
                <a:chOff x="513" y="3493"/>
                <a:chExt cx="1272" cy="499"/>
              </a:xfrm>
            </p:grpSpPr>
            <p:sp>
              <p:nvSpPr>
                <p:cNvPr id="115758" name="Rectangle 191"/>
                <p:cNvSpPr>
                  <a:spLocks noChangeArrowheads="1"/>
                </p:cNvSpPr>
                <p:nvPr/>
              </p:nvSpPr>
              <p:spPr bwMode="auto">
                <a:xfrm>
                  <a:off x="556" y="3493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PASCAL</a:t>
                  </a:r>
                  <a:r>
                    <a:rPr kumimoji="1" lang="zh-CN" altLang="en-US" sz="1200"/>
                    <a:t>语言</a:t>
                  </a:r>
                  <a:endParaRPr kumimoji="1" lang="zh-CN" altLang="en-US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59" name="Rectangle 192"/>
                <p:cNvSpPr>
                  <a:spLocks noChangeArrowheads="1"/>
                </p:cNvSpPr>
                <p:nvPr/>
              </p:nvSpPr>
              <p:spPr bwMode="auto">
                <a:xfrm>
                  <a:off x="513" y="3493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52" name="Group 193"/>
              <p:cNvGrpSpPr/>
              <p:nvPr/>
            </p:nvGrpSpPr>
            <p:grpSpPr bwMode="auto">
              <a:xfrm>
                <a:off x="1785" y="3493"/>
                <a:ext cx="611" cy="499"/>
                <a:chOff x="1785" y="3493"/>
                <a:chExt cx="611" cy="499"/>
              </a:xfrm>
            </p:grpSpPr>
            <p:sp>
              <p:nvSpPr>
                <p:cNvPr id="115756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28" y="3493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6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57" name="Rectangle 195"/>
                <p:cNvSpPr>
                  <a:spLocks noChangeArrowheads="1"/>
                </p:cNvSpPr>
                <p:nvPr/>
              </p:nvSpPr>
              <p:spPr bwMode="auto">
                <a:xfrm>
                  <a:off x="1785" y="3493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15753" name="Group 196"/>
              <p:cNvGrpSpPr/>
              <p:nvPr/>
            </p:nvGrpSpPr>
            <p:grpSpPr bwMode="auto">
              <a:xfrm>
                <a:off x="2396" y="3493"/>
                <a:ext cx="767" cy="499"/>
                <a:chOff x="2396" y="3493"/>
                <a:chExt cx="767" cy="499"/>
              </a:xfrm>
            </p:grpSpPr>
            <p:sp>
              <p:nvSpPr>
                <p:cNvPr id="115754" name="Rectangle 197"/>
                <p:cNvSpPr>
                  <a:spLocks noChangeArrowheads="1"/>
                </p:cNvSpPr>
                <p:nvPr/>
              </p:nvSpPr>
              <p:spPr bwMode="auto">
                <a:xfrm>
                  <a:off x="2439" y="3493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1200"/>
                    <a:t>  4</a:t>
                  </a:r>
                  <a:endParaRPr kumimoji="1" lang="en-US" altLang="zh-CN" sz="500"/>
                </a:p>
                <a:p>
                  <a:endParaRPr kumimoji="1" lang="en-US" altLang="zh-CN" sz="1200"/>
                </a:p>
              </p:txBody>
            </p:sp>
            <p:sp>
              <p:nvSpPr>
                <p:cNvPr id="115755" name="Rectangle 198"/>
                <p:cNvSpPr>
                  <a:spLocks noChangeArrowheads="1"/>
                </p:cNvSpPr>
                <p:nvPr/>
              </p:nvSpPr>
              <p:spPr bwMode="auto">
                <a:xfrm>
                  <a:off x="2396" y="3493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sp>
          <p:nvSpPr>
            <p:cNvPr id="115721" name="Rectangle 199"/>
            <p:cNvSpPr>
              <a:spLocks noChangeArrowheads="1"/>
            </p:cNvSpPr>
            <p:nvPr/>
          </p:nvSpPr>
          <p:spPr bwMode="auto">
            <a:xfrm>
              <a:off x="-3" y="-3"/>
              <a:ext cx="3169" cy="3998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600"/>
            </a:p>
          </p:txBody>
        </p:sp>
      </p:grpSp>
      <p:sp>
        <p:nvSpPr>
          <p:cNvPr id="115719" name="Rectangle 200"/>
          <p:cNvSpPr>
            <a:spLocks noChangeArrowheads="1"/>
          </p:cNvSpPr>
          <p:nvPr/>
        </p:nvSpPr>
        <p:spPr bwMode="auto">
          <a:xfrm>
            <a:off x="4562425" y="1268760"/>
            <a:ext cx="36099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SECOND</a:t>
            </a:r>
            <a:r>
              <a:rPr lang="zh-CN" altLang="en-US" sz="2000" dirty="0">
                <a:latin typeface="Arial" panose="020B0604020202020204" pitchFamily="34" charset="0"/>
              </a:rPr>
              <a:t>表（</a:t>
            </a:r>
            <a:r>
              <a:rPr lang="en-US" altLang="zh-CN" sz="2000" dirty="0">
                <a:latin typeface="Arial" panose="020B0604020202020204" pitchFamily="34" charset="0"/>
              </a:rPr>
              <a:t>Course</a:t>
            </a:r>
            <a:r>
              <a:rPr lang="zh-CN" altLang="en-US" sz="2000" dirty="0">
                <a:latin typeface="Arial" panose="020B0604020202020204" pitchFamily="34" charset="0"/>
              </a:rPr>
              <a:t>表）</a:t>
            </a:r>
            <a:r>
              <a:rPr lang="zh-CN" altLang="en-US" sz="2200" dirty="0">
                <a:latin typeface="Arial" panose="020B0604020202020204" pitchFamily="34" charset="0"/>
              </a:rPr>
              <a:t> </a:t>
            </a:r>
            <a:endParaRPr lang="zh-CN" altLang="en-US" sz="2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自身连接 举例 </a:t>
            </a:r>
            <a:endParaRPr lang="zh-CN" altLang="en-US" smtClean="0"/>
          </a:p>
        </p:txBody>
      </p:sp>
      <p:sp>
        <p:nvSpPr>
          <p:cNvPr id="71685" name="Rectangle 28"/>
          <p:cNvSpPr>
            <a:spLocks noChangeArrowheads="1"/>
          </p:cNvSpPr>
          <p:nvPr/>
        </p:nvSpPr>
        <p:spPr bwMode="auto">
          <a:xfrm>
            <a:off x="619125" y="3068638"/>
            <a:ext cx="803275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/>
              <a:t>[</a:t>
            </a:r>
            <a:r>
              <a:rPr lang="zh-CN" altLang="en-US" sz="2800"/>
              <a:t>例</a:t>
            </a:r>
            <a:r>
              <a:rPr lang="en-US" altLang="zh-CN" sz="2800"/>
              <a:t>39]  </a:t>
            </a:r>
            <a:r>
              <a:rPr lang="zh-CN" altLang="en-US" sz="2800"/>
              <a:t>查询与“刘晨”在同一个系学习的学生。</a:t>
            </a:r>
            <a:endParaRPr lang="zh-CN" altLang="en-US" sz="280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36550" y="1196975"/>
            <a:ext cx="82804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SELECT  FIRST.Cno</a:t>
            </a:r>
            <a:r>
              <a:rPr lang="zh-CN" altLang="en-US" sz="2400"/>
              <a:t>，</a:t>
            </a:r>
            <a:r>
              <a:rPr lang="en-US" altLang="zh-CN" sz="2400"/>
              <a:t>FIRST.Cpno</a:t>
            </a:r>
            <a:r>
              <a:rPr lang="zh-CN" altLang="en-US" sz="2400"/>
              <a:t>，</a:t>
            </a:r>
            <a:r>
              <a:rPr lang="en-US" altLang="zh-CN" sz="2400"/>
              <a:t>SECOND.Cpno</a:t>
            </a:r>
            <a:endParaRPr lang="en-US" altLang="zh-CN" sz="240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FROM  Course  </a:t>
            </a:r>
            <a:r>
              <a:rPr lang="en-US" altLang="zh-CN" sz="2400">
                <a:solidFill>
                  <a:srgbClr val="D75B5B"/>
                </a:solidFill>
              </a:rPr>
              <a:t>FIRST</a:t>
            </a:r>
            <a:r>
              <a:rPr lang="zh-CN" altLang="en-US" sz="2400"/>
              <a:t>，</a:t>
            </a:r>
            <a:r>
              <a:rPr lang="en-US" altLang="zh-CN" sz="2400"/>
              <a:t>Course  </a:t>
            </a:r>
            <a:r>
              <a:rPr lang="en-US" altLang="zh-CN" sz="2400">
                <a:solidFill>
                  <a:srgbClr val="D75B5B"/>
                </a:solidFill>
              </a:rPr>
              <a:t>SECOND</a:t>
            </a:r>
            <a:endParaRPr lang="en-US" altLang="zh-CN" sz="240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WHERE FIRST.Cpno = SECOND.Cno</a:t>
            </a:r>
            <a:r>
              <a:rPr lang="zh-CN" altLang="en-US" sz="2400"/>
              <a:t>；</a:t>
            </a:r>
            <a:endParaRPr lang="zh-CN" altLang="en-US" sz="240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/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Box 3"/>
          <p:cNvSpPr txBox="1">
            <a:spLocks noChangeArrowheads="1"/>
          </p:cNvSpPr>
          <p:nvPr/>
        </p:nvSpPr>
        <p:spPr bwMode="auto">
          <a:xfrm>
            <a:off x="6116638" y="233363"/>
            <a:ext cx="1214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/>
              <a:t>S1</a:t>
            </a:r>
            <a:endParaRPr lang="zh-CN" altLang="en-US" sz="3600" dirty="0"/>
          </a:p>
        </p:txBody>
      </p:sp>
      <p:sp>
        <p:nvSpPr>
          <p:cNvPr id="119813" name="TextBox 4"/>
          <p:cNvSpPr txBox="1">
            <a:spLocks noChangeArrowheads="1"/>
          </p:cNvSpPr>
          <p:nvPr/>
        </p:nvSpPr>
        <p:spPr bwMode="auto">
          <a:xfrm>
            <a:off x="1763713" y="2565400"/>
            <a:ext cx="12144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S2</a:t>
            </a:r>
            <a:endParaRPr lang="zh-CN" altLang="en-US" sz="36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7950" y="4797425"/>
            <a:ext cx="822960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/>
              <a:t>SELECT  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.Sno</a:t>
            </a:r>
            <a:r>
              <a:rPr lang="zh-CN" altLang="en-US" sz="2400"/>
              <a:t>，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.Sname</a:t>
            </a:r>
            <a:r>
              <a:rPr lang="zh-CN" altLang="en-US" sz="2400"/>
              <a:t>，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.Sdept</a:t>
            </a:r>
            <a:endParaRPr lang="en-US" altLang="zh-CN" sz="2400"/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/>
              <a:t>      FROM     Student 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zh-CN" altLang="en-US" sz="2400"/>
              <a:t>，</a:t>
            </a:r>
            <a:r>
              <a:rPr lang="en-US" altLang="zh-CN" sz="2400"/>
              <a:t>Student </a:t>
            </a:r>
            <a:r>
              <a:rPr lang="en-US" altLang="zh-CN" sz="2400">
                <a:solidFill>
                  <a:srgbClr val="D75B5B"/>
                </a:solidFill>
              </a:rPr>
              <a:t>S2</a:t>
            </a:r>
            <a:endParaRPr lang="en-US" altLang="zh-CN" sz="2400"/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/>
              <a:t>      WHERE  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.Sdept = </a:t>
            </a:r>
            <a:r>
              <a:rPr lang="en-US" altLang="zh-CN" sz="2400">
                <a:solidFill>
                  <a:srgbClr val="D75B5B"/>
                </a:solidFill>
              </a:rPr>
              <a:t>S2</a:t>
            </a:r>
            <a:r>
              <a:rPr lang="en-US" altLang="zh-CN" sz="2400"/>
              <a:t>.Sdept  AND</a:t>
            </a:r>
            <a:endParaRPr lang="en-US" altLang="zh-CN" sz="2400"/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/>
              <a:t>                      </a:t>
            </a:r>
            <a:r>
              <a:rPr lang="en-US" altLang="zh-CN" sz="2400">
                <a:solidFill>
                  <a:srgbClr val="D75B5B"/>
                </a:solidFill>
              </a:rPr>
              <a:t>S2</a:t>
            </a:r>
            <a:r>
              <a:rPr lang="en-US" altLang="zh-CN" sz="2400"/>
              <a:t>.Sname = '</a:t>
            </a:r>
            <a:r>
              <a:rPr lang="zh-CN" altLang="en-US" sz="2400"/>
              <a:t>刘晨</a:t>
            </a:r>
            <a:r>
              <a:rPr lang="en-US" altLang="zh-CN" sz="2400"/>
              <a:t>'</a:t>
            </a:r>
            <a:r>
              <a:rPr lang="zh-CN" altLang="en-US" sz="2400"/>
              <a:t>；</a:t>
            </a:r>
            <a:endParaRPr lang="zh-CN" altLang="en-US" sz="2400"/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832" y="2553852"/>
            <a:ext cx="5709766" cy="2243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" y="233362"/>
            <a:ext cx="5726634" cy="225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自身连接 举例</a:t>
            </a:r>
            <a:endParaRPr lang="zh-CN" altLang="en-US" smtClean="0"/>
          </a:p>
        </p:txBody>
      </p:sp>
      <p:sp>
        <p:nvSpPr>
          <p:cNvPr id="120835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001000" cy="644525"/>
          </a:xfrm>
        </p:spPr>
        <p:txBody>
          <a:bodyPr/>
          <a:lstStyle/>
          <a:p>
            <a:r>
              <a:rPr lang="zh-CN" altLang="en-US" smtClean="0"/>
              <a:t>查询至少选修了两门课的学生的学号</a:t>
            </a:r>
            <a:endParaRPr lang="en-US" altLang="zh-CN" smtClean="0"/>
          </a:p>
        </p:txBody>
      </p:sp>
      <p:pic>
        <p:nvPicPr>
          <p:cNvPr id="12083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2090738"/>
            <a:ext cx="4268787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83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182" y="2106612"/>
            <a:ext cx="4314032" cy="24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8" name="TextBox 3"/>
          <p:cNvSpPr txBox="1">
            <a:spLocks noChangeArrowheads="1"/>
          </p:cNvSpPr>
          <p:nvPr/>
        </p:nvSpPr>
        <p:spPr bwMode="auto">
          <a:xfrm>
            <a:off x="500063" y="1628775"/>
            <a:ext cx="1214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Sc1</a:t>
            </a:r>
            <a:endParaRPr lang="zh-CN" altLang="en-US" sz="2400"/>
          </a:p>
        </p:txBody>
      </p:sp>
      <p:sp>
        <p:nvSpPr>
          <p:cNvPr id="120839" name="TextBox 4"/>
          <p:cNvSpPr txBox="1">
            <a:spLocks noChangeArrowheads="1"/>
          </p:cNvSpPr>
          <p:nvPr/>
        </p:nvSpPr>
        <p:spPr bwMode="auto">
          <a:xfrm>
            <a:off x="5715000" y="1557338"/>
            <a:ext cx="1214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Sc2</a:t>
            </a:r>
            <a:endParaRPr lang="zh-CN" altLang="en-US" sz="240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14313" y="4724400"/>
            <a:ext cx="8821737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/>
              <a:t>Select  distinct sc1.sno</a:t>
            </a:r>
            <a:endParaRPr lang="en-US" altLang="zh-CN" sz="2800" dirty="0"/>
          </a:p>
          <a:p>
            <a:r>
              <a:rPr lang="en-US" altLang="zh-CN" sz="2800" dirty="0"/>
              <a:t> from </a:t>
            </a:r>
            <a:r>
              <a:rPr lang="en-US" altLang="zh-CN" sz="2800" dirty="0" err="1"/>
              <a:t>sc</a:t>
            </a:r>
            <a:r>
              <a:rPr lang="en-US" altLang="zh-CN" sz="2800" dirty="0"/>
              <a:t>  sc1 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sc</a:t>
            </a:r>
            <a:r>
              <a:rPr lang="en-US" altLang="zh-CN" sz="2800" dirty="0"/>
              <a:t> sc2</a:t>
            </a:r>
            <a:endParaRPr lang="en-US" altLang="zh-CN" sz="2800" dirty="0"/>
          </a:p>
          <a:p>
            <a:r>
              <a:rPr lang="en-US" altLang="zh-CN" sz="2800" dirty="0"/>
              <a:t>Where sc1.sno=sc2.sno and sc1.cno&lt;&gt; sc2.cno</a:t>
            </a:r>
            <a:endParaRPr lang="en-US" altLang="zh-CN" sz="28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矩形 1"/>
          <p:cNvSpPr>
            <a:spLocks noChangeArrowheads="1"/>
          </p:cNvSpPr>
          <p:nvPr/>
        </p:nvSpPr>
        <p:spPr bwMode="auto">
          <a:xfrm>
            <a:off x="900113" y="1268413"/>
            <a:ext cx="6840537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/>
              <a:t>另外一种方法</a:t>
            </a:r>
            <a:endParaRPr lang="en-US" altLang="zh-CN" sz="3200"/>
          </a:p>
          <a:p>
            <a:r>
              <a:rPr lang="en-US" altLang="zh-CN" sz="3200"/>
              <a:t>select sno,count(cno)</a:t>
            </a:r>
            <a:endParaRPr lang="en-US" altLang="zh-CN" sz="3200"/>
          </a:p>
          <a:p>
            <a:r>
              <a:rPr lang="en-US" altLang="zh-CN" sz="3200"/>
              <a:t>from sc</a:t>
            </a:r>
            <a:endParaRPr lang="en-US" altLang="zh-CN" sz="3200"/>
          </a:p>
          <a:p>
            <a:r>
              <a:rPr lang="en-US" altLang="zh-CN" sz="3200"/>
              <a:t>group by sno</a:t>
            </a:r>
            <a:endParaRPr lang="en-US" altLang="zh-CN" sz="3200"/>
          </a:p>
          <a:p>
            <a:r>
              <a:rPr lang="en-US" altLang="zh-CN" sz="3200"/>
              <a:t>having count(cno)&gt;=2</a:t>
            </a:r>
            <a:endParaRPr lang="zh-CN" altLang="en-US" sz="320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An Introduction to Database System</a:t>
            </a:r>
            <a:endParaRPr lang="en-US" altLang="zh-CN" smtClean="0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连接查询（续）</a:t>
            </a:r>
            <a:endParaRPr lang="zh-CN" altLang="en-US" sz="3200" smtClean="0"/>
          </a:p>
        </p:txBody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一、等值与非等值连接查询 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二、自身连接</a:t>
            </a:r>
            <a:endParaRPr lang="zh-CN" altLang="en-US" smtClean="0"/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rgbClr val="FF0000"/>
                </a:solidFill>
              </a:rPr>
              <a:t>三、外连接</a:t>
            </a:r>
            <a:endParaRPr lang="zh-CN" altLang="en-US" smtClean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四、多表连接</a:t>
            </a:r>
            <a:endParaRPr lang="en-US" altLang="zh-CN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6D9ACC9-4294-4AE1-8447-54175DDF7902}" type="slidenum">
              <a:rPr lang="en-US" altLang="zh-CN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1428750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客户</a:t>
            </a:r>
            <a:r>
              <a:rPr lang="en-US" altLang="zh-CN" sz="2400" b="1">
                <a:ea typeface="楷体_GB2312" pitchFamily="49" charset="-122"/>
              </a:rPr>
              <a:t>1</a:t>
            </a:r>
            <a:endParaRPr lang="en-US" altLang="zh-CN" sz="2400" b="1">
              <a:ea typeface="楷体_GB2312" pitchFamily="49" charset="-122"/>
            </a:endParaRPr>
          </a:p>
        </p:txBody>
      </p:sp>
      <p:sp>
        <p:nvSpPr>
          <p:cNvPr id="124932" name="Text Box 3"/>
          <p:cNvSpPr txBox="1">
            <a:spLocks noChangeArrowheads="1"/>
          </p:cNvSpPr>
          <p:nvPr/>
        </p:nvSpPr>
        <p:spPr bwMode="auto">
          <a:xfrm>
            <a:off x="3429000" y="1357313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客户</a:t>
            </a:r>
            <a:r>
              <a:rPr lang="en-US" altLang="zh-CN" sz="2400" b="1">
                <a:ea typeface="楷体_GB2312" pitchFamily="49" charset="-122"/>
              </a:rPr>
              <a:t>2</a:t>
            </a:r>
            <a:endParaRPr lang="en-US" altLang="zh-CN" sz="2400" b="1">
              <a:ea typeface="楷体_GB2312" pitchFamily="49" charset="-122"/>
            </a:endParaRPr>
          </a:p>
        </p:txBody>
      </p:sp>
      <p:graphicFrame>
        <p:nvGraphicFramePr>
          <p:cNvPr id="515076" name="Group 4"/>
          <p:cNvGraphicFramePr>
            <a:graphicFrameLocks noGrp="1"/>
          </p:cNvGraphicFramePr>
          <p:nvPr/>
        </p:nvGraphicFramePr>
        <p:xfrm>
          <a:off x="1143000" y="571500"/>
          <a:ext cx="2389188" cy="2581275"/>
        </p:xfrm>
        <a:graphic>
          <a:graphicData uri="http://schemas.openxmlformats.org/drawingml/2006/table">
            <a:tbl>
              <a:tblPr/>
              <a:tblGrid>
                <a:gridCol w="955375"/>
                <a:gridCol w="1433813"/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5096" name="Group 24"/>
          <p:cNvGraphicFramePr>
            <a:graphicFrameLocks noGrp="1"/>
          </p:cNvGraphicFramePr>
          <p:nvPr/>
        </p:nvGraphicFramePr>
        <p:xfrm>
          <a:off x="4635500" y="500063"/>
          <a:ext cx="4222750" cy="2592389"/>
        </p:xfrm>
        <a:graphic>
          <a:graphicData uri="http://schemas.openxmlformats.org/drawingml/2006/table">
            <a:tbl>
              <a:tblPr/>
              <a:tblGrid>
                <a:gridCol w="1071320"/>
                <a:gridCol w="1743847"/>
                <a:gridCol w="1407583"/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4979" name="Text Box 50"/>
          <p:cNvSpPr txBox="1">
            <a:spLocks noChangeArrowheads="1"/>
          </p:cNvSpPr>
          <p:nvPr/>
        </p:nvSpPr>
        <p:spPr bwMode="auto">
          <a:xfrm>
            <a:off x="0" y="3789363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自然连接</a:t>
            </a:r>
            <a:endParaRPr lang="zh-CN" altLang="en-US" sz="2400" b="1">
              <a:ea typeface="楷体_GB2312" pitchFamily="49" charset="-122"/>
            </a:endParaRPr>
          </a:p>
        </p:txBody>
      </p:sp>
      <p:graphicFrame>
        <p:nvGraphicFramePr>
          <p:cNvPr id="515165" name="Group 93"/>
          <p:cNvGraphicFramePr>
            <a:graphicFrameLocks noGrp="1"/>
          </p:cNvGraphicFramePr>
          <p:nvPr/>
        </p:nvGraphicFramePr>
        <p:xfrm>
          <a:off x="2643188" y="3357563"/>
          <a:ext cx="4681538" cy="1828800"/>
        </p:xfrm>
        <a:graphic>
          <a:graphicData uri="http://schemas.openxmlformats.org/drawingml/2006/table">
            <a:tbl>
              <a:tblPr/>
              <a:tblGrid>
                <a:gridCol w="1008063"/>
                <a:gridCol w="1225550"/>
                <a:gridCol w="1511300"/>
                <a:gridCol w="936625"/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矩形标注 10"/>
          <p:cNvSpPr/>
          <p:nvPr/>
        </p:nvSpPr>
        <p:spPr>
          <a:xfrm>
            <a:off x="468313" y="5318125"/>
            <a:ext cx="8178800" cy="1000125"/>
          </a:xfrm>
          <a:prstGeom prst="wedgeRectCallout">
            <a:avLst>
              <a:gd name="adj1" fmla="val -14389"/>
              <a:gd name="adj2" fmla="val 5119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内连接：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Select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住址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工作单位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工资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from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 inner join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2 on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（客户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2.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姓名）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</a:t>
            </a:r>
            <a:endParaRPr lang="zh-CN" altLang="en-US" sz="2400" dirty="0">
              <a:solidFill>
                <a:srgbClr val="0000FF"/>
              </a:solidFill>
              <a:latin typeface="+mn-ea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4BF7B10-4D32-4E6A-A8C4-76236580C03C}" type="slidenum">
              <a:rPr lang="en-US" altLang="zh-CN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5955" name="Text Box 2"/>
          <p:cNvSpPr txBox="1">
            <a:spLocks noChangeArrowheads="1"/>
          </p:cNvSpPr>
          <p:nvPr/>
        </p:nvSpPr>
        <p:spPr bwMode="auto">
          <a:xfrm>
            <a:off x="0" y="1428750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客户</a:t>
            </a:r>
            <a:r>
              <a:rPr lang="en-US" altLang="zh-CN" sz="2400" b="1">
                <a:ea typeface="楷体_GB2312" pitchFamily="49" charset="-122"/>
              </a:rPr>
              <a:t>1</a:t>
            </a:r>
            <a:endParaRPr lang="en-US" altLang="zh-CN" sz="2400" b="1">
              <a:ea typeface="楷体_GB2312" pitchFamily="49" charset="-122"/>
            </a:endParaRPr>
          </a:p>
        </p:txBody>
      </p:sp>
      <p:sp>
        <p:nvSpPr>
          <p:cNvPr id="125956" name="Text Box 3"/>
          <p:cNvSpPr txBox="1">
            <a:spLocks noChangeArrowheads="1"/>
          </p:cNvSpPr>
          <p:nvPr/>
        </p:nvSpPr>
        <p:spPr bwMode="auto">
          <a:xfrm>
            <a:off x="3429000" y="1357313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客户</a:t>
            </a:r>
            <a:r>
              <a:rPr lang="en-US" altLang="zh-CN" sz="2400" b="1">
                <a:ea typeface="楷体_GB2312" pitchFamily="49" charset="-122"/>
              </a:rPr>
              <a:t>2</a:t>
            </a:r>
            <a:endParaRPr lang="en-US" altLang="zh-CN" sz="2400" b="1">
              <a:ea typeface="楷体_GB2312" pitchFamily="49" charset="-122"/>
            </a:endParaRPr>
          </a:p>
        </p:txBody>
      </p:sp>
      <p:graphicFrame>
        <p:nvGraphicFramePr>
          <p:cNvPr id="515076" name="Group 4"/>
          <p:cNvGraphicFramePr>
            <a:graphicFrameLocks noGrp="1"/>
          </p:cNvGraphicFramePr>
          <p:nvPr/>
        </p:nvGraphicFramePr>
        <p:xfrm>
          <a:off x="1143000" y="571500"/>
          <a:ext cx="2389188" cy="2581275"/>
        </p:xfrm>
        <a:graphic>
          <a:graphicData uri="http://schemas.openxmlformats.org/drawingml/2006/table">
            <a:tbl>
              <a:tblPr/>
              <a:tblGrid>
                <a:gridCol w="955375"/>
                <a:gridCol w="1433813"/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5096" name="Group 24"/>
          <p:cNvGraphicFramePr>
            <a:graphicFrameLocks noGrp="1"/>
          </p:cNvGraphicFramePr>
          <p:nvPr/>
        </p:nvGraphicFramePr>
        <p:xfrm>
          <a:off x="4635500" y="500063"/>
          <a:ext cx="4222750" cy="2592389"/>
        </p:xfrm>
        <a:graphic>
          <a:graphicData uri="http://schemas.openxmlformats.org/drawingml/2006/table">
            <a:tbl>
              <a:tblPr/>
              <a:tblGrid>
                <a:gridCol w="1071320"/>
                <a:gridCol w="1743847"/>
                <a:gridCol w="1407583"/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003" name="Text Box 50"/>
          <p:cNvSpPr txBox="1">
            <a:spLocks noChangeArrowheads="1"/>
          </p:cNvSpPr>
          <p:nvPr/>
        </p:nvSpPr>
        <p:spPr bwMode="auto">
          <a:xfrm>
            <a:off x="785813" y="3643313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左外连接</a:t>
            </a:r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857250" y="5286375"/>
            <a:ext cx="7858125" cy="1000125"/>
          </a:xfrm>
          <a:prstGeom prst="wedgeRectCallout">
            <a:avLst>
              <a:gd name="adj1" fmla="val -14389"/>
              <a:gd name="adj2" fmla="val 5119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Select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住址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工作单位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工资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from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 left outer join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2 on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（客户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2.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姓名）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</a:t>
            </a:r>
            <a:endParaRPr lang="zh-CN" altLang="en-US" sz="2400" dirty="0">
              <a:solidFill>
                <a:srgbClr val="0000FF"/>
              </a:solidFill>
              <a:latin typeface="+mn-ea"/>
            </a:endParaRPr>
          </a:p>
        </p:txBody>
      </p:sp>
      <p:graphicFrame>
        <p:nvGraphicFramePr>
          <p:cNvPr id="10" name="Group 135"/>
          <p:cNvGraphicFramePr>
            <a:graphicFrameLocks noGrp="1"/>
          </p:cNvGraphicFramePr>
          <p:nvPr/>
        </p:nvGraphicFramePr>
        <p:xfrm>
          <a:off x="3000375" y="3143250"/>
          <a:ext cx="4176713" cy="2133600"/>
        </p:xfrm>
        <a:graphic>
          <a:graphicData uri="http://schemas.openxmlformats.org/drawingml/2006/table">
            <a:tbl>
              <a:tblPr/>
              <a:tblGrid>
                <a:gridCol w="822325"/>
                <a:gridCol w="1050925"/>
                <a:gridCol w="1368425"/>
                <a:gridCol w="935038"/>
              </a:tblGrid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8092219-FBA5-469D-A876-CA697977AD48}" type="slidenum">
              <a:rPr lang="en-US" altLang="zh-CN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6979" name="Text Box 2"/>
          <p:cNvSpPr txBox="1">
            <a:spLocks noChangeArrowheads="1"/>
          </p:cNvSpPr>
          <p:nvPr/>
        </p:nvSpPr>
        <p:spPr bwMode="auto">
          <a:xfrm>
            <a:off x="0" y="1428750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客户</a:t>
            </a:r>
            <a:r>
              <a:rPr lang="en-US" altLang="zh-CN" sz="2400" b="1">
                <a:ea typeface="楷体_GB2312" pitchFamily="49" charset="-122"/>
              </a:rPr>
              <a:t>1</a:t>
            </a:r>
            <a:endParaRPr lang="en-US" altLang="zh-CN" sz="2400" b="1">
              <a:ea typeface="楷体_GB2312" pitchFamily="49" charset="-122"/>
            </a:endParaRPr>
          </a:p>
        </p:txBody>
      </p:sp>
      <p:sp>
        <p:nvSpPr>
          <p:cNvPr id="126980" name="Text Box 3"/>
          <p:cNvSpPr txBox="1">
            <a:spLocks noChangeArrowheads="1"/>
          </p:cNvSpPr>
          <p:nvPr/>
        </p:nvSpPr>
        <p:spPr bwMode="auto">
          <a:xfrm>
            <a:off x="3429000" y="1357313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客户</a:t>
            </a:r>
            <a:r>
              <a:rPr lang="en-US" altLang="zh-CN" sz="2400" b="1">
                <a:ea typeface="楷体_GB2312" pitchFamily="49" charset="-122"/>
              </a:rPr>
              <a:t>2</a:t>
            </a:r>
            <a:endParaRPr lang="en-US" altLang="zh-CN" sz="2400" b="1">
              <a:ea typeface="楷体_GB2312" pitchFamily="49" charset="-122"/>
            </a:endParaRPr>
          </a:p>
        </p:txBody>
      </p:sp>
      <p:graphicFrame>
        <p:nvGraphicFramePr>
          <p:cNvPr id="515076" name="Group 4"/>
          <p:cNvGraphicFramePr>
            <a:graphicFrameLocks noGrp="1"/>
          </p:cNvGraphicFramePr>
          <p:nvPr/>
        </p:nvGraphicFramePr>
        <p:xfrm>
          <a:off x="1143000" y="571500"/>
          <a:ext cx="2389188" cy="2581275"/>
        </p:xfrm>
        <a:graphic>
          <a:graphicData uri="http://schemas.openxmlformats.org/drawingml/2006/table">
            <a:tbl>
              <a:tblPr/>
              <a:tblGrid>
                <a:gridCol w="955375"/>
                <a:gridCol w="1433813"/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5096" name="Group 24"/>
          <p:cNvGraphicFramePr>
            <a:graphicFrameLocks noGrp="1"/>
          </p:cNvGraphicFramePr>
          <p:nvPr/>
        </p:nvGraphicFramePr>
        <p:xfrm>
          <a:off x="4635500" y="500063"/>
          <a:ext cx="4222750" cy="2592389"/>
        </p:xfrm>
        <a:graphic>
          <a:graphicData uri="http://schemas.openxmlformats.org/drawingml/2006/table">
            <a:tbl>
              <a:tblPr/>
              <a:tblGrid>
                <a:gridCol w="1071320"/>
                <a:gridCol w="1743847"/>
                <a:gridCol w="1407583"/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7027" name="Text Box 50"/>
          <p:cNvSpPr txBox="1">
            <a:spLocks noChangeArrowheads="1"/>
          </p:cNvSpPr>
          <p:nvPr/>
        </p:nvSpPr>
        <p:spPr bwMode="auto">
          <a:xfrm>
            <a:off x="785813" y="3643313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右外连接</a:t>
            </a:r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68313" y="5381203"/>
            <a:ext cx="8247062" cy="1000125"/>
          </a:xfrm>
          <a:prstGeom prst="wedgeRectCallout">
            <a:avLst>
              <a:gd name="adj1" fmla="val -14389"/>
              <a:gd name="adj2" fmla="val 5119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Select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住址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工作单位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工资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from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 right outer join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2 on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（客户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客户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2.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姓名）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</a:t>
            </a:r>
            <a:endParaRPr lang="zh-CN" altLang="en-US" sz="2400" dirty="0">
              <a:solidFill>
                <a:srgbClr val="0000FF"/>
              </a:solidFill>
              <a:latin typeface="+mn-ea"/>
            </a:endParaRPr>
          </a:p>
        </p:txBody>
      </p:sp>
      <p:graphicFrame>
        <p:nvGraphicFramePr>
          <p:cNvPr id="12" name="Group 141"/>
          <p:cNvGraphicFramePr>
            <a:graphicFrameLocks noGrp="1"/>
          </p:cNvGraphicFramePr>
          <p:nvPr/>
        </p:nvGraphicFramePr>
        <p:xfrm>
          <a:off x="2857500" y="3214688"/>
          <a:ext cx="4103688" cy="2141543"/>
        </p:xfrm>
        <a:graphic>
          <a:graphicData uri="http://schemas.openxmlformats.org/drawingml/2006/table">
            <a:tbl>
              <a:tblPr/>
              <a:tblGrid>
                <a:gridCol w="792163"/>
                <a:gridCol w="1079500"/>
                <a:gridCol w="1368425"/>
                <a:gridCol w="863600"/>
              </a:tblGrid>
              <a:tr h="434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外连接：左外连接和右外连接</a:t>
            </a:r>
            <a:endParaRPr lang="zh-CN" altLang="en-US" smtClean="0"/>
          </a:p>
        </p:txBody>
      </p:sp>
      <p:sp>
        <p:nvSpPr>
          <p:cNvPr id="128003" name="内容占位符 2"/>
          <p:cNvSpPr>
            <a:spLocks noGrp="1"/>
          </p:cNvSpPr>
          <p:nvPr>
            <p:ph idx="1"/>
          </p:nvPr>
        </p:nvSpPr>
        <p:spPr>
          <a:xfrm>
            <a:off x="250825" y="1143000"/>
            <a:ext cx="8316913" cy="4876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表名 </a:t>
            </a:r>
            <a:r>
              <a:rPr lang="en-US" altLang="zh-CN" sz="2400" dirty="0" smtClean="0"/>
              <a:t>LEFT/RIGHT OUTER JOIN </a:t>
            </a:r>
            <a:r>
              <a:rPr lang="zh-CN" altLang="en-US" sz="2400" dirty="0" smtClean="0"/>
              <a:t>表名</a:t>
            </a:r>
            <a:r>
              <a:rPr lang="en-US" altLang="zh-CN" sz="2400" dirty="0" smtClean="0"/>
              <a:t>    ON</a:t>
            </a:r>
            <a:r>
              <a:rPr lang="zh-CN" altLang="en-US" sz="2400" dirty="0" smtClean="0"/>
              <a:t>（连接条件）</a:t>
            </a:r>
            <a:endParaRPr lang="en-US" altLang="zh-CN" sz="24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例如：</a:t>
            </a:r>
            <a:r>
              <a:rPr lang="zh-CN" altLang="en-US" sz="2400" dirty="0" smtClean="0"/>
              <a:t>查询所有学生的选课情况：学号，姓名，课程号，分数，没有选课的也要输出，课程号和分数显示为空。</a:t>
            </a:r>
            <a:endParaRPr lang="en-US" altLang="zh-CN" sz="2000" dirty="0" smtClean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SELECT  </a:t>
            </a:r>
            <a:r>
              <a:rPr lang="en-US" altLang="zh-CN" sz="2400" dirty="0" err="1" smtClean="0"/>
              <a:t>Student.Sno,Sname</a:t>
            </a:r>
            <a:r>
              <a:rPr lang="en-US" altLang="zh-CN" sz="2400" dirty="0" smtClean="0"/>
              <a:t>, </a:t>
            </a:r>
            <a:r>
              <a:rPr lang="en-US" altLang="zh-CN" sz="2400" dirty="0" err="1" smtClean="0"/>
              <a:t>Cno,Grade</a:t>
            </a:r>
            <a:endParaRPr lang="en-US" altLang="zh-CN" sz="2400" dirty="0" smtClean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FROM     Student LEFT OUTER JOIN SC</a:t>
            </a:r>
            <a:endParaRPr lang="en-US" altLang="zh-CN" sz="2400" dirty="0" smtClean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on(</a:t>
            </a:r>
            <a:r>
              <a:rPr lang="en-US" altLang="zh-CN" sz="2400" dirty="0" err="1" smtClean="0"/>
              <a:t>Student.Sno</a:t>
            </a:r>
            <a:r>
              <a:rPr lang="en-US" altLang="zh-CN" sz="2400" dirty="0" smtClean="0"/>
              <a:t> = </a:t>
            </a:r>
            <a:r>
              <a:rPr lang="en-US" altLang="zh-CN" sz="2400" dirty="0" err="1" smtClean="0"/>
              <a:t>SC.Sno</a:t>
            </a:r>
            <a:r>
              <a:rPr lang="en-US" altLang="zh-CN" sz="2400" dirty="0" smtClean="0"/>
              <a:t>);</a:t>
            </a:r>
            <a:endParaRPr lang="en-US" altLang="zh-CN" sz="2400" dirty="0" smtClean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-- OUTER </a:t>
            </a:r>
            <a:r>
              <a:rPr lang="zh-CN" altLang="en-US" sz="2400" dirty="0" smtClean="0"/>
              <a:t>可以省略</a:t>
            </a:r>
            <a:endParaRPr lang="en-US" altLang="zh-CN" sz="24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zh-CN" altLang="en-US" sz="24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smtClean="0"/>
              <a:t>INNER JOIN</a:t>
            </a:r>
            <a:endParaRPr lang="zh-CN" altLang="en-US" smtClean="0"/>
          </a:p>
        </p:txBody>
      </p:sp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566738" y="1288504"/>
            <a:ext cx="8001000" cy="4876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SELECT  </a:t>
            </a:r>
            <a:r>
              <a:rPr lang="en-US" altLang="zh-CN" sz="2000" dirty="0" err="1" smtClean="0">
                <a:solidFill>
                  <a:srgbClr val="D75B5B"/>
                </a:solidFill>
              </a:rPr>
              <a:t>Student.Sno,</a:t>
            </a:r>
            <a:r>
              <a:rPr lang="en-US" altLang="zh-CN" sz="2000" dirty="0" err="1" smtClean="0"/>
              <a:t>Sname,Ssex,Sage,Sdept,Cno,Grade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FROM     </a:t>
            </a:r>
            <a:r>
              <a:rPr lang="en-US" altLang="zh-CN" sz="2000" dirty="0" err="1" smtClean="0"/>
              <a:t>Student,SC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WHERE  </a:t>
            </a:r>
            <a:r>
              <a:rPr lang="en-US" altLang="zh-CN" sz="2000" dirty="0" err="1" smtClean="0"/>
              <a:t>Student.Sno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SC.Sno</a:t>
            </a:r>
            <a:r>
              <a:rPr lang="en-US" altLang="zh-CN" sz="2000" dirty="0" smtClean="0"/>
              <a:t>;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也可以这样写：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SELECT  </a:t>
            </a:r>
            <a:r>
              <a:rPr lang="en-US" altLang="zh-CN" sz="2000" dirty="0" err="1" smtClean="0">
                <a:solidFill>
                  <a:srgbClr val="D75B5B"/>
                </a:solidFill>
              </a:rPr>
              <a:t>Student.Sno,</a:t>
            </a:r>
            <a:r>
              <a:rPr lang="en-US" altLang="zh-CN" sz="2000" dirty="0" err="1" smtClean="0"/>
              <a:t>Sname,Ssex,Sage,Sdept,Cno,Grade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FROM     Student   </a:t>
            </a:r>
            <a:r>
              <a:rPr lang="en-US" altLang="zh-CN" sz="2000" dirty="0" smtClean="0">
                <a:solidFill>
                  <a:srgbClr val="FF0000"/>
                </a:solidFill>
              </a:rPr>
              <a:t>INNER JOIN </a:t>
            </a:r>
            <a:r>
              <a:rPr lang="en-US" altLang="zh-CN" sz="2000" dirty="0" smtClean="0"/>
              <a:t>SC</a:t>
            </a:r>
            <a:endParaRPr lang="en-US" altLang="zh-CN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ON(</a:t>
            </a:r>
            <a:r>
              <a:rPr lang="en-US" altLang="zh-CN" sz="2000" dirty="0" err="1" smtClean="0"/>
              <a:t>Student.Sno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SC.Sno</a:t>
            </a:r>
            <a:r>
              <a:rPr lang="en-US" altLang="zh-CN" sz="2000" dirty="0" smtClean="0"/>
              <a:t>);</a:t>
            </a:r>
            <a:endParaRPr lang="zh-CN" altLang="en-US" sz="2000" dirty="0" smtClean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zh-CN" altLang="en-US" sz="20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14178</Words>
  <Application>WPS 演示</Application>
  <PresentationFormat>全屏显示(4:3)</PresentationFormat>
  <Paragraphs>1434</Paragraphs>
  <Slides>76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76</vt:i4>
      </vt:variant>
    </vt:vector>
  </HeadingPairs>
  <TitlesOfParts>
    <vt:vector size="91" baseType="lpstr">
      <vt:lpstr>Arial</vt:lpstr>
      <vt:lpstr>宋体</vt:lpstr>
      <vt:lpstr>Wingdings</vt:lpstr>
      <vt:lpstr>Verdana</vt:lpstr>
      <vt:lpstr>黑体</vt:lpstr>
      <vt:lpstr>Courier New</vt:lpstr>
      <vt:lpstr>微软雅黑</vt:lpstr>
      <vt:lpstr>Arial Unicode MS</vt:lpstr>
      <vt:lpstr>Calibri</vt:lpstr>
      <vt:lpstr>Times New Roman</vt:lpstr>
      <vt:lpstr>Georgia</vt:lpstr>
      <vt:lpstr>经典平黑简</vt:lpstr>
      <vt:lpstr>楷体_GB2312</vt:lpstr>
      <vt:lpstr>新宋体</vt:lpstr>
      <vt:lpstr>Profile</vt:lpstr>
      <vt:lpstr>第三章  关系数据库标准语言SQL</vt:lpstr>
      <vt:lpstr>数据查询</vt:lpstr>
      <vt:lpstr>3.4  数据查询 </vt:lpstr>
      <vt:lpstr>3.4.1  单表查询 </vt:lpstr>
      <vt:lpstr>1. 查询全部列</vt:lpstr>
      <vt:lpstr>2、查询指定列</vt:lpstr>
      <vt:lpstr>3. 查询经过计算的值 </vt:lpstr>
      <vt:lpstr>查询经过计算的值,别名</vt:lpstr>
      <vt:lpstr>二、选择表中的若干元组</vt:lpstr>
      <vt:lpstr>消除取值重复的行（续）</vt:lpstr>
      <vt:lpstr>3.4.1  单表查询 </vt:lpstr>
      <vt:lpstr>2.查询满足条件的元组</vt:lpstr>
      <vt:lpstr>(1) 比较大小</vt:lpstr>
      <vt:lpstr>（2）确定范围</vt:lpstr>
      <vt:lpstr>(3) 确定集合</vt:lpstr>
      <vt:lpstr>字符匹配（续）</vt:lpstr>
      <vt:lpstr>字符匹配（续）</vt:lpstr>
      <vt:lpstr>(4)字符匹配</vt:lpstr>
      <vt:lpstr>字符匹配（续）</vt:lpstr>
      <vt:lpstr>提问</vt:lpstr>
      <vt:lpstr>(5) 涉及空值的查询</vt:lpstr>
      <vt:lpstr>(6) 多重条件查询</vt:lpstr>
      <vt:lpstr>多重条件查询（续）</vt:lpstr>
      <vt:lpstr>3.4.1  单表查询 </vt:lpstr>
      <vt:lpstr>三、ORDER BY子句 </vt:lpstr>
      <vt:lpstr>ORDER BY子句 （续） </vt:lpstr>
      <vt:lpstr>补充 limit</vt:lpstr>
      <vt:lpstr>提问</vt:lpstr>
      <vt:lpstr>自然连接：</vt:lpstr>
      <vt:lpstr>自然连接：</vt:lpstr>
      <vt:lpstr>3.4.1  单表查询 </vt:lpstr>
      <vt:lpstr>四、聚集函数 </vt:lpstr>
      <vt:lpstr>聚集函数 （续）</vt:lpstr>
      <vt:lpstr>聚集函数 （续）</vt:lpstr>
      <vt:lpstr>提问</vt:lpstr>
      <vt:lpstr>3.4.1  单表查询 </vt:lpstr>
      <vt:lpstr>五、GROUP BY子句 </vt:lpstr>
      <vt:lpstr>GROUP BY子句（续）</vt:lpstr>
      <vt:lpstr>GROUP BY子句（续）</vt:lpstr>
      <vt:lpstr>GROUP BY子句（续）</vt:lpstr>
      <vt:lpstr>提问</vt:lpstr>
      <vt:lpstr>案例分析 课本上的spj数据库  S 供应商表 P 零件表 J 工程项目表 SPJ 供应商给工程项目供应的零件表 </vt:lpstr>
      <vt:lpstr>SELECT语句的语法格式</vt:lpstr>
      <vt:lpstr>查询案例</vt:lpstr>
      <vt:lpstr>查询案例</vt:lpstr>
      <vt:lpstr>查询案例</vt:lpstr>
      <vt:lpstr>查询案例</vt:lpstr>
      <vt:lpstr>查询案例</vt:lpstr>
      <vt:lpstr>总结</vt:lpstr>
      <vt:lpstr>总结</vt:lpstr>
      <vt:lpstr>总结</vt:lpstr>
      <vt:lpstr>总结</vt:lpstr>
      <vt:lpstr>总结</vt:lpstr>
      <vt:lpstr>总结</vt:lpstr>
      <vt:lpstr>特别总结：group by</vt:lpstr>
      <vt:lpstr>其他案例</vt:lpstr>
      <vt:lpstr>3.4  数据查询 </vt:lpstr>
      <vt:lpstr>3.4.2 连接查询 </vt:lpstr>
      <vt:lpstr>连接操作的执行过程</vt:lpstr>
      <vt:lpstr>连接查询（续）</vt:lpstr>
      <vt:lpstr>一、等值与非等值连接查询 </vt:lpstr>
      <vt:lpstr>等值与非等值连接查询（续）</vt:lpstr>
      <vt:lpstr>连接查询（续）</vt:lpstr>
      <vt:lpstr>二、自身连接 </vt:lpstr>
      <vt:lpstr>自身连接（续）</vt:lpstr>
      <vt:lpstr>自身连接 举例 </vt:lpstr>
      <vt:lpstr>PowerPoint 演示文稿</vt:lpstr>
      <vt:lpstr>自身连接 举例</vt:lpstr>
      <vt:lpstr>PowerPoint 演示文稿</vt:lpstr>
      <vt:lpstr>连接查询（续）</vt:lpstr>
      <vt:lpstr>PowerPoint 演示文稿</vt:lpstr>
      <vt:lpstr>PowerPoint 演示文稿</vt:lpstr>
      <vt:lpstr>PowerPoint 演示文稿</vt:lpstr>
      <vt:lpstr>外连接：左外连接和右外连接</vt:lpstr>
      <vt:lpstr>INNER JOIN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补充知识</dc:title>
  <dc:creator>微软用户</dc:creator>
  <cp:lastModifiedBy>shr</cp:lastModifiedBy>
  <cp:revision>244</cp:revision>
  <dcterms:created xsi:type="dcterms:W3CDTF">2014-03-04T01:24:00Z</dcterms:created>
  <dcterms:modified xsi:type="dcterms:W3CDTF">2026-04-19T15:08:34Z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0E76E4014EE64C858DF74A81253EA007_12</vt:lpwstr>
  </property>
  <property fmtid="{D5CDD505-2E9C-101B-9397-08002B2CF9AE}" pid="3" name="KSOProductBuildVer">
    <vt:lpwstr>2052-12.1.0.25225</vt:lpwstr>
  </property>
</Properties>
</file>