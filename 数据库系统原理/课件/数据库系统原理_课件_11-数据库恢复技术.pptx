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307" r:id="rId3"/>
    <p:sldId id="308" r:id="rId4"/>
    <p:sldId id="309" r:id="rId5"/>
    <p:sldId id="310" r:id="rId6"/>
    <p:sldId id="311" r:id="rId8"/>
    <p:sldId id="312" r:id="rId9"/>
    <p:sldId id="389" r:id="rId10"/>
    <p:sldId id="390" r:id="rId11"/>
    <p:sldId id="391" r:id="rId12"/>
    <p:sldId id="392" r:id="rId13"/>
    <p:sldId id="393" r:id="rId14"/>
    <p:sldId id="394"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6" r:id="rId28"/>
    <p:sldId id="327" r:id="rId29"/>
    <p:sldId id="328" r:id="rId30"/>
    <p:sldId id="395" r:id="rId31"/>
    <p:sldId id="396" r:id="rId32"/>
    <p:sldId id="397" r:id="rId33"/>
    <p:sldId id="398" r:id="rId34"/>
    <p:sldId id="399" r:id="rId35"/>
    <p:sldId id="400" r:id="rId36"/>
    <p:sldId id="401" r:id="rId37"/>
    <p:sldId id="402" r:id="rId38"/>
    <p:sldId id="403" r:id="rId39"/>
    <p:sldId id="404" r:id="rId40"/>
    <p:sldId id="405" r:id="rId41"/>
    <p:sldId id="406" r:id="rId42"/>
    <p:sldId id="407" r:id="rId43"/>
    <p:sldId id="408" r:id="rId44"/>
    <p:sldId id="409" r:id="rId45"/>
    <p:sldId id="410" r:id="rId46"/>
    <p:sldId id="411" r:id="rId47"/>
    <p:sldId id="412" r:id="rId48"/>
    <p:sldId id="413" r:id="rId49"/>
    <p:sldId id="414" r:id="rId50"/>
    <p:sldId id="415" r:id="rId51"/>
    <p:sldId id="416" r:id="rId52"/>
    <p:sldId id="417" r:id="rId53"/>
    <p:sldId id="418" r:id="rId54"/>
    <p:sldId id="419" r:id="rId55"/>
    <p:sldId id="420" r:id="rId56"/>
    <p:sldId id="421" r:id="rId57"/>
    <p:sldId id="422" r:id="rId58"/>
    <p:sldId id="423" r:id="rId59"/>
    <p:sldId id="424" r:id="rId60"/>
    <p:sldId id="425" r:id="rId61"/>
    <p:sldId id="426" r:id="rId62"/>
    <p:sldId id="427" r:id="rId63"/>
    <p:sldId id="428" r:id="rId64"/>
    <p:sldId id="429" r:id="rId65"/>
    <p:sldId id="430" r:id="rId66"/>
    <p:sldId id="431" r:id="rId67"/>
    <p:sldId id="432" r:id="rId68"/>
    <p:sldId id="433" r:id="rId69"/>
    <p:sldId id="434" r:id="rId70"/>
    <p:sldId id="435" r:id="rId71"/>
    <p:sldId id="436" r:id="rId72"/>
    <p:sldId id="437" r:id="rId73"/>
    <p:sldId id="438" r:id="rId74"/>
    <p:sldId id="439" r:id="rId75"/>
    <p:sldId id="440" r:id="rId76"/>
    <p:sldId id="441" r:id="rId77"/>
    <p:sldId id="442" r:id="rId78"/>
    <p:sldId id="443" r:id="rId79"/>
    <p:sldId id="444" r:id="rId80"/>
    <p:sldId id="445" r:id="rId81"/>
    <p:sldId id="446" r:id="rId82"/>
    <p:sldId id="447" r:id="rId83"/>
    <p:sldId id="448" r:id="rId84"/>
    <p:sldId id="449" r:id="rId85"/>
    <p:sldId id="450" r:id="rId86"/>
    <p:sldId id="451" r:id="rId87"/>
    <p:sldId id="452" r:id="rId88"/>
    <p:sldId id="453" r:id="rId89"/>
    <p:sldId id="454" r:id="rId90"/>
    <p:sldId id="455" r:id="rId91"/>
    <p:sldId id="456" r:id="rId92"/>
    <p:sldId id="457" r:id="rId93"/>
    <p:sldId id="458" r:id="rId94"/>
    <p:sldId id="459" r:id="rId95"/>
    <p:sldId id="460" r:id="rId96"/>
    <p:sldId id="461" r:id="rId97"/>
    <p:sldId id="462" r:id="rId98"/>
    <p:sldId id="463" r:id="rId99"/>
    <p:sldId id="464" r:id="rId100"/>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73"/>
    <p:restoredTop sz="94660"/>
  </p:normalViewPr>
  <p:slideViewPr>
    <p:cSldViewPr showGuides="1">
      <p:cViewPr varScale="1">
        <p:scale>
          <a:sx n="84" d="100"/>
          <a:sy n="84" d="100"/>
        </p:scale>
        <p:origin x="-1572"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3" Type="http://schemas.openxmlformats.org/officeDocument/2006/relationships/tableStyles" Target="tableStyles.xml"/><Relationship Id="rId102" Type="http://schemas.openxmlformats.org/officeDocument/2006/relationships/viewProps" Target="viewProps.xml"/><Relationship Id="rId101" Type="http://schemas.openxmlformats.org/officeDocument/2006/relationships/presProps" Target="presProps.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9B3AFF20-B93B-42BE-B3E6-8D09C5A72261}" type="datetimeFigureOut">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fontAlgn="base" hangingPunct="1">
              <a:buNone/>
            </a:pPr>
            <a:fld id="{9A0DB2DC-4C9A-4742-B13C-FB6460FD3503}" type="slidenum">
              <a:rPr lang="zh-CN" altLang="en-US" sz="1200" strike="noStrike" noProof="1" dirty="0">
                <a:latin typeface="Verdana" panose="020B0604030504040204" pitchFamily="34"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幻灯片图像占位符 1"/>
          <p:cNvSpPr>
            <a:spLocks noGrp="1" noRot="1" noChangeAspect="1" noTextEdit="1"/>
          </p:cNvSpPr>
          <p:nvPr>
            <p:ph type="sldImg"/>
          </p:nvPr>
        </p:nvSpPr>
        <p:spPr>
          <a:ln>
            <a:solidFill>
              <a:srgbClr val="000000"/>
            </a:solidFill>
            <a:miter/>
          </a:ln>
        </p:spPr>
      </p:sp>
      <p:sp>
        <p:nvSpPr>
          <p:cNvPr id="921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219"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幻灯片图像占位符 1"/>
          <p:cNvSpPr>
            <a:spLocks noGrp="1" noRot="1" noChangeAspect="1" noTextEdit="1"/>
          </p:cNvSpPr>
          <p:nvPr>
            <p:ph type="sldImg"/>
          </p:nvPr>
        </p:nvSpPr>
        <p:spPr>
          <a:ln>
            <a:solidFill>
              <a:srgbClr val="000000"/>
            </a:solidFill>
            <a:miter/>
          </a:ln>
        </p:spPr>
      </p:sp>
      <p:sp>
        <p:nvSpPr>
          <p:cNvPr id="9625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6259"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7" y="0"/>
              </a:cxn>
              <a:cxn ang="0">
                <a:pos x="2147483647" y="2147483647"/>
              </a:cxn>
              <a:cxn ang="0">
                <a:pos x="0" y="2147483647"/>
              </a:cxn>
              <a:cxn ang="0">
                <a:pos x="0" y="0"/>
              </a:cxn>
              <a:cxn ang="0">
                <a:pos x="2147483647"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21506" name="Rectangle 2"/>
          <p:cNvSpPr>
            <a:spLocks noGrp="1" noChangeArrowheads="1"/>
          </p:cNvSpPr>
          <p:nvPr>
            <p:ph type="ctrTitle"/>
          </p:nvPr>
        </p:nvSpPr>
        <p:spPr>
          <a:xfrm>
            <a:off x="685800" y="990600"/>
            <a:ext cx="7772400" cy="1371600"/>
          </a:xfrm>
        </p:spPr>
        <p:txBody>
          <a:bodyPr/>
          <a:lstStyle>
            <a:lvl1pPr>
              <a:defRPr sz="4000"/>
            </a:lvl1pPr>
          </a:lstStyle>
          <a:p>
            <a:pPr fontAlgn="base"/>
            <a:r>
              <a:rPr lang="zh-CN" altLang="en-US" strike="noStrike" noProof="1"/>
              <a:t>单击此处编辑母版标题样式</a:t>
            </a:r>
            <a:endParaRPr lang="zh-CN" altLang="en-US" strike="noStrike" noProof="1"/>
          </a:p>
        </p:txBody>
      </p:sp>
      <p:sp>
        <p:nvSpPr>
          <p:cNvPr id="21507"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endParaRPr lang="zh-CN" altLang="en-US" strike="noStrike" noProof="1"/>
          </a:p>
        </p:txBody>
      </p:sp>
      <p:sp>
        <p:nvSpPr>
          <p:cNvPr id="1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p>
            <a:pPr algn="r" fontAlgn="base">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566738" y="304800"/>
            <a:ext cx="5854700" cy="5715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57200" y="1828800"/>
            <a:ext cx="403860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828800"/>
            <a:ext cx="403860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9" name="Rectangle 15"/>
          <p:cNvSpPr>
            <a:spLocks noGrp="1" noChangeArrowheads="1"/>
          </p:cNvSpPr>
          <p:nvPr>
            <p:ph type="dt" sz="half" idx="1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3"/>
          </p:nvPr>
        </p:nvSpPr>
        <p:spPr>
          <a:xfrm>
            <a:off x="3124200" y="6245225"/>
            <a:ext cx="28956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4"/>
          </p:nvPr>
        </p:nvSpPr>
        <p:spPr>
          <a:xfrm>
            <a:off x="6553200" y="6245225"/>
            <a:ext cx="19812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p:sp>
        <p:nvSpPr>
          <p:cNvPr id="1026" name="Rectangle 2"/>
          <p:cNvSpPr>
            <a:spLocks noGrp="1"/>
          </p:cNvSpPr>
          <p:nvPr>
            <p:ph type="title"/>
          </p:nvPr>
        </p:nvSpPr>
        <p:spPr>
          <a:xfrm>
            <a:off x="571500" y="214313"/>
            <a:ext cx="8001000" cy="735012"/>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566738" y="1143000"/>
            <a:ext cx="8001000" cy="48768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AutoShape 4"/>
          <p:cNvSpPr/>
          <p:nvPr/>
        </p:nvSpPr>
        <p:spPr>
          <a:xfrm>
            <a:off x="571500" y="1000125"/>
            <a:ext cx="7958138" cy="109538"/>
          </a:xfrm>
          <a:custGeom>
            <a:avLst/>
            <a:gdLst/>
            <a:ahLst/>
            <a:cxnLst>
              <a:cxn ang="0">
                <a:pos x="0" y="0"/>
              </a:cxn>
              <a:cxn ang="0">
                <a:pos x="2147483647" y="0"/>
              </a:cxn>
              <a:cxn ang="0">
                <a:pos x="2147483647" y="2147483647"/>
              </a:cxn>
              <a:cxn ang="0">
                <a:pos x="0" y="2147483647"/>
              </a:cxn>
              <a:cxn ang="0">
                <a:pos x="0" y="0"/>
              </a:cxn>
              <a:cxn ang="0">
                <a:pos x="2147483647"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1029" name="Line 5"/>
          <p:cNvSpPr/>
          <p:nvPr/>
        </p:nvSpPr>
        <p:spPr>
          <a:xfrm flipV="1">
            <a:off x="609600" y="6172200"/>
            <a:ext cx="7924800" cy="0"/>
          </a:xfrm>
          <a:prstGeom prst="line">
            <a:avLst/>
          </a:prstGeom>
          <a:ln w="3175" cap="flat" cmpd="sng">
            <a:solidFill>
              <a:schemeClr val="accent2"/>
            </a:solidFill>
            <a:prstDash val="solid"/>
            <a:round/>
            <a:headEnd type="none" w="med" len="med"/>
            <a:tailEnd type="none" w="med" len="med"/>
          </a:ln>
        </p:spPr>
      </p:sp>
      <p:sp>
        <p:nvSpPr>
          <p:cNvPr id="20486"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7"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8"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advClick="0"/>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oleObject" Target="../embeddings/oleObject1.bin"/></Relationships>
</file>

<file path=ppt/slides/_rels/slide9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oleObject" Target="../embeddings/oleObject2.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ctrTitle"/>
          </p:nvPr>
        </p:nvSpPr>
        <p:spPr>
          <a:ln/>
        </p:spPr>
        <p:txBody>
          <a:bodyPr vert="horz" wrap="square" lIns="91440" tIns="45720" rIns="91440" bIns="45720" anchor="b" anchorCtr="0"/>
          <a:p>
            <a:pPr eaLnBrk="1" hangingPunct="1">
              <a:buClrTx/>
              <a:buSzTx/>
              <a:buFontTx/>
            </a:pPr>
            <a:r>
              <a:rPr lang="zh-CN" altLang="en-US" dirty="0">
                <a:latin typeface="楷体_GB2312" pitchFamily="49" charset="-122"/>
                <a:ea typeface="楷体_GB2312" pitchFamily="49" charset="-122"/>
                <a:cs typeface="+mj-cs"/>
              </a:rPr>
              <a:t>第十一章  数据库恢复技术</a:t>
            </a:r>
            <a:br>
              <a:rPr lang="zh-CN" altLang="en-US" dirty="0">
                <a:latin typeface="楷体_GB2312" pitchFamily="49" charset="-122"/>
                <a:ea typeface="楷体_GB2312" pitchFamily="49" charset="-122"/>
                <a:cs typeface="+mj-cs"/>
              </a:rPr>
            </a:br>
            <a:endParaRPr lang="en-US" altLang="zh-CN" dirty="0">
              <a:latin typeface="+mj-lt"/>
              <a:ea typeface="+mj-ea"/>
              <a:cs typeface="+mj-cs"/>
            </a:endParaRPr>
          </a:p>
        </p:txBody>
      </p:sp>
      <p:sp>
        <p:nvSpPr>
          <p:cNvPr id="4099" name="副标题 3"/>
          <p:cNvSpPr>
            <a:spLocks noGrp="1"/>
          </p:cNvSpPr>
          <p:nvPr>
            <p:ph type="subTitle" idx="1"/>
          </p:nvPr>
        </p:nvSpPr>
        <p:spPr>
          <a:xfrm>
            <a:off x="1357313" y="2857500"/>
            <a:ext cx="7010400" cy="2714625"/>
          </a:xfrm>
        </p:spPr>
        <p:txBody>
          <a:bodyPr vert="horz" wrap="square" lIns="91440" tIns="45720" rIns="91440" bIns="45720" anchor="t" anchorCtr="0"/>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2800" b="0" i="0" u="none" strike="noStrike" kern="0" cap="none" spc="0" normalizeH="0" baseline="0" noProof="1" dirty="0">
                <a:solidFill>
                  <a:schemeClr val="tx1"/>
                </a:solidFill>
                <a:latin typeface="+mn-lt"/>
                <a:ea typeface="+mn-ea"/>
                <a:cs typeface="+mn-cs"/>
              </a:rPr>
              <a:t>第</a:t>
            </a:r>
            <a:r>
              <a:rPr lang="en-US" altLang="zh-CN" dirty="0">
                <a:sym typeface="+mn-ea"/>
              </a:rPr>
              <a:t>11,12</a:t>
            </a:r>
            <a:r>
              <a:rPr kumimoji="0" lang="zh-CN" altLang="en-US" sz="2800" b="0" i="0" u="none" strike="noStrike" kern="0" cap="none" spc="0" normalizeH="0" baseline="0" noProof="1" dirty="0">
                <a:solidFill>
                  <a:schemeClr val="tx1"/>
                </a:solidFill>
                <a:latin typeface="+mn-lt"/>
                <a:ea typeface="+mn-ea"/>
                <a:cs typeface="+mn-cs"/>
              </a:rPr>
              <a:t>章讨论</a:t>
            </a:r>
            <a:r>
              <a:rPr kumimoji="0" lang="zh-CN" altLang="en-US" sz="2800" b="1" i="0" u="none" strike="noStrike" kern="0" cap="none" spc="0" normalizeH="0" baseline="0" noProof="1" dirty="0">
                <a:solidFill>
                  <a:srgbClr val="FF0000"/>
                </a:solidFill>
                <a:latin typeface="+mn-lt"/>
                <a:ea typeface="+mn-ea"/>
                <a:cs typeface="+mn-cs"/>
              </a:rPr>
              <a:t>事务处理技术</a:t>
            </a:r>
            <a:endParaRPr kumimoji="0" lang="en-US" altLang="zh-CN" sz="2800" b="1" i="0" u="none" strike="noStrike" kern="0" cap="none" spc="0" normalizeH="0" baseline="0" noProof="1" dirty="0">
              <a:solidFill>
                <a:srgbClr val="FF0000"/>
              </a:solidFill>
              <a:latin typeface="+mn-lt"/>
              <a:ea typeface="+mn-ea"/>
              <a:cs typeface="+mn-cs"/>
            </a:endParaRPr>
          </a:p>
          <a:p>
            <a:pPr marL="0" marR="0" indent="0" algn="l" defTabSz="914400" rtl="0" eaLnBrk="0" fontAlgn="base" latinLnBrk="0" hangingPunct="0">
              <a:lnSpc>
                <a:spcPct val="200000"/>
              </a:lnSpc>
              <a:spcBef>
                <a:spcPct val="20000"/>
              </a:spcBef>
              <a:spcAft>
                <a:spcPct val="0"/>
              </a:spcAft>
              <a:buClr>
                <a:schemeClr val="accent2"/>
              </a:buClr>
              <a:buSzTx/>
              <a:buFont typeface="Wingdings" panose="05000000000000000000" pitchFamily="2" charset="2"/>
              <a:buChar char="l"/>
            </a:pPr>
            <a:r>
              <a:rPr kumimoji="0" lang="zh-CN" altLang="en-US" sz="2800" b="0" i="0" u="none" strike="noStrike" kern="0" cap="none" spc="0" normalizeH="0" baseline="0" noProof="1" dirty="0">
                <a:solidFill>
                  <a:schemeClr val="tx1"/>
                </a:solidFill>
                <a:latin typeface="+mn-lt"/>
                <a:ea typeface="+mn-ea"/>
                <a:cs typeface="+mn-cs"/>
              </a:rPr>
              <a:t> 数据库恢复技术 </a:t>
            </a:r>
            <a:endParaRPr kumimoji="0" lang="en-US" altLang="zh-CN" sz="2800" b="0" i="0" u="none" strike="noStrike" kern="0" cap="none" spc="0" normalizeH="0" baseline="0" noProof="1" dirty="0">
              <a:solidFill>
                <a:schemeClr val="tx1"/>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l"/>
            </a:pPr>
            <a:r>
              <a:rPr kumimoji="0" lang="zh-CN" altLang="en-US" sz="2800" b="0" i="0" u="none" strike="noStrike" kern="0" cap="none" spc="0" normalizeH="0" baseline="0" noProof="1" dirty="0">
                <a:solidFill>
                  <a:schemeClr val="tx1"/>
                </a:solidFill>
                <a:latin typeface="+mn-lt"/>
                <a:ea typeface="+mn-ea"/>
                <a:cs typeface="+mn-cs"/>
              </a:rPr>
              <a:t> 并发控制技术</a:t>
            </a:r>
            <a:endParaRPr kumimoji="0" lang="zh-CN" altLang="en-US" sz="2800" b="0" i="0" u="none" strike="noStrike" kern="0" cap="none" spc="0" normalizeH="0" baseline="0" noProof="1" dirty="0">
              <a:solidFill>
                <a:schemeClr val="tx1"/>
              </a:solidFill>
              <a:latin typeface="+mn-lt"/>
              <a:ea typeface="+mn-ea"/>
              <a:cs typeface="+mn-cs"/>
            </a:endParaRPr>
          </a:p>
        </p:txBody>
      </p:sp>
      <p:sp>
        <p:nvSpPr>
          <p:cNvPr id="5123" name="Rectangle 3"/>
          <p:cNvSpPr/>
          <p:nvPr/>
        </p:nvSpPr>
        <p:spPr>
          <a:xfrm>
            <a:off x="2362200" y="3581400"/>
            <a:ext cx="6318250" cy="1508125"/>
          </a:xfrm>
          <a:prstGeom prst="rect">
            <a:avLst/>
          </a:prstGeom>
          <a:noFill/>
          <a:ln w="9525">
            <a:noFill/>
          </a:ln>
        </p:spPr>
        <p:txBody>
          <a:bodyPr anchor="t" anchorCtr="0">
            <a:spAutoFit/>
          </a:bodyPr>
          <a:p>
            <a:endParaRPr lang="en-US" altLang="zh-CN" sz="4800" dirty="0">
              <a:latin typeface="Arial Black" panose="020B0A04020102020204" pitchFamily="34" charset="0"/>
              <a:ea typeface="隶书" panose="02010509060101010101" pitchFamily="49" charset="-122"/>
            </a:endParaRPr>
          </a:p>
          <a:p>
            <a:endParaRPr lang="en-US" altLang="zh-CN" sz="44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rPr>
              <a:t>第十章  数据库恢复技术</a:t>
            </a:r>
            <a:endPar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endParaRPr>
          </a:p>
        </p:txBody>
      </p:sp>
      <p:sp>
        <p:nvSpPr>
          <p:cNvPr id="6146" name="Rectangle 3"/>
          <p:cNvSpPr>
            <a:spLocks noGrp="1"/>
          </p:cNvSpPr>
          <p:nvPr>
            <p:ph idx="1"/>
          </p:nvPr>
        </p:nvSpPr>
        <p:spPr>
          <a:xfrm>
            <a:off x="785813" y="1196975"/>
            <a:ext cx="7931150" cy="4972050"/>
          </a:xfrm>
          <a:ln/>
        </p:spPr>
        <p:txBody>
          <a:bodyPr vert="horz" wrap="square" lIns="91440" tIns="45720" rIns="91440" bIns="45720" anchor="t" anchorCtr="0"/>
          <a:p>
            <a:pPr marL="411480" indent="-470535" eaLnBrk="1" hangingPunct="1">
              <a:lnSpc>
                <a:spcPct val="130000"/>
              </a:lnSpc>
              <a:buNone/>
            </a:pPr>
            <a:r>
              <a:rPr lang="zh-CN" altLang="en-US" sz="2400" b="1" dirty="0">
                <a:solidFill>
                  <a:srgbClr val="FF0000"/>
                </a:solidFill>
              </a:rPr>
              <a:t>只讲前</a:t>
            </a:r>
            <a:r>
              <a:rPr lang="en-US" altLang="zh-CN" sz="2400" b="1" dirty="0">
                <a:solidFill>
                  <a:srgbClr val="FF0000"/>
                </a:solidFill>
              </a:rPr>
              <a:t>3</a:t>
            </a:r>
            <a:r>
              <a:rPr lang="zh-CN" altLang="en-US" sz="2400" b="1" dirty="0">
                <a:solidFill>
                  <a:srgbClr val="FF0000"/>
                </a:solidFill>
              </a:rPr>
              <a:t>节，后面的不考试</a:t>
            </a:r>
            <a:endParaRPr lang="en-US" altLang="zh-CN" sz="2400" b="1" dirty="0">
              <a:solidFill>
                <a:srgbClr val="FF0000"/>
              </a:solidFill>
            </a:endParaRPr>
          </a:p>
          <a:p>
            <a:pPr marL="411480" indent="-470535" eaLnBrk="1" hangingPunct="1">
              <a:lnSpc>
                <a:spcPct val="130000"/>
              </a:lnSpc>
              <a:buNone/>
            </a:pPr>
            <a:r>
              <a:rPr lang="en-US" altLang="zh-CN" sz="2400" b="1" dirty="0">
                <a:solidFill>
                  <a:srgbClr val="0000FF"/>
                </a:solidFill>
              </a:rPr>
              <a:t>10.1  </a:t>
            </a:r>
            <a:r>
              <a:rPr lang="zh-CN" altLang="en-US" sz="2400" b="1" dirty="0">
                <a:solidFill>
                  <a:srgbClr val="0000FF"/>
                </a:solidFill>
              </a:rPr>
              <a:t>事务的基本概念</a:t>
            </a:r>
            <a:endParaRPr lang="zh-CN" altLang="en-US" sz="2400" b="1" dirty="0">
              <a:solidFill>
                <a:srgbClr val="0000FF"/>
              </a:solidFill>
            </a:endParaRPr>
          </a:p>
          <a:p>
            <a:pPr marL="411480" indent="-470535" eaLnBrk="1" hangingPunct="1">
              <a:lnSpc>
                <a:spcPct val="130000"/>
              </a:lnSpc>
              <a:buNone/>
            </a:pPr>
            <a:r>
              <a:rPr lang="en-US" altLang="zh-CN" sz="2400" b="1" dirty="0">
                <a:solidFill>
                  <a:srgbClr val="0000FF"/>
                </a:solidFill>
              </a:rPr>
              <a:t>10.2  </a:t>
            </a:r>
            <a:r>
              <a:rPr lang="zh-CN" altLang="en-US" sz="2400" b="1" dirty="0">
                <a:solidFill>
                  <a:srgbClr val="0000FF"/>
                </a:solidFill>
              </a:rPr>
              <a:t>数据库恢复概述</a:t>
            </a:r>
            <a:endParaRPr lang="zh-CN" altLang="en-US" sz="2400" b="1" dirty="0">
              <a:solidFill>
                <a:srgbClr val="0000FF"/>
              </a:solidFill>
            </a:endParaRPr>
          </a:p>
          <a:p>
            <a:pPr marL="411480" indent="-470535" eaLnBrk="1" hangingPunct="1">
              <a:lnSpc>
                <a:spcPct val="130000"/>
              </a:lnSpc>
              <a:buNone/>
            </a:pPr>
            <a:r>
              <a:rPr lang="en-US" altLang="zh-CN" sz="2400" b="1" dirty="0">
                <a:solidFill>
                  <a:srgbClr val="0000FF"/>
                </a:solidFill>
              </a:rPr>
              <a:t>10.3  </a:t>
            </a:r>
            <a:r>
              <a:rPr lang="zh-CN" altLang="en-US" sz="2400" b="1" dirty="0">
                <a:solidFill>
                  <a:srgbClr val="0000FF"/>
                </a:solidFill>
              </a:rPr>
              <a:t>故障的种类</a:t>
            </a:r>
            <a:endParaRPr lang="zh-CN" altLang="en-US" sz="2400" b="1" dirty="0">
              <a:solidFill>
                <a:srgbClr val="0000FF"/>
              </a:solidFill>
            </a:endParaRPr>
          </a:p>
          <a:p>
            <a:pPr marL="411480" indent="-470535" eaLnBrk="1" hangingPunct="1">
              <a:lnSpc>
                <a:spcPct val="130000"/>
              </a:lnSpc>
              <a:buNone/>
            </a:pPr>
            <a:r>
              <a:rPr lang="en-US" altLang="zh-CN" sz="2400" b="1" dirty="0"/>
              <a:t>10.4  </a:t>
            </a:r>
            <a:r>
              <a:rPr lang="zh-CN" altLang="en-US" sz="2400" b="1" dirty="0"/>
              <a:t>恢复的实现技术</a:t>
            </a:r>
            <a:endParaRPr lang="zh-CN" altLang="en-US" sz="2400" b="1" dirty="0">
              <a:solidFill>
                <a:srgbClr val="009900"/>
              </a:solidFill>
            </a:endParaRPr>
          </a:p>
          <a:p>
            <a:pPr marL="411480" indent="-470535" eaLnBrk="1" hangingPunct="1">
              <a:lnSpc>
                <a:spcPct val="130000"/>
              </a:lnSpc>
              <a:buNone/>
            </a:pPr>
            <a:r>
              <a:rPr lang="en-US" altLang="zh-CN" sz="2400" b="1" dirty="0"/>
              <a:t>10.5  </a:t>
            </a:r>
            <a:r>
              <a:rPr lang="zh-CN" altLang="en-US" sz="2400" b="1" dirty="0"/>
              <a:t>恢复策略</a:t>
            </a:r>
            <a:endParaRPr lang="zh-CN" altLang="en-US" sz="2400" b="1" dirty="0"/>
          </a:p>
          <a:p>
            <a:pPr marL="411480" indent="-470535" eaLnBrk="1" hangingPunct="1">
              <a:lnSpc>
                <a:spcPct val="130000"/>
              </a:lnSpc>
              <a:buNone/>
            </a:pPr>
            <a:r>
              <a:rPr lang="en-US" altLang="zh-CN" sz="2400" b="1" dirty="0"/>
              <a:t>10.6  </a:t>
            </a:r>
            <a:r>
              <a:rPr lang="zh-CN" altLang="en-US" sz="2400" b="1" dirty="0"/>
              <a:t>具有检查点的恢复技术</a:t>
            </a:r>
            <a:endParaRPr lang="zh-CN" altLang="en-US" sz="2400" b="1" dirty="0"/>
          </a:p>
          <a:p>
            <a:pPr marL="411480" indent="-470535" eaLnBrk="1" hangingPunct="1">
              <a:lnSpc>
                <a:spcPct val="130000"/>
              </a:lnSpc>
              <a:buNone/>
            </a:pPr>
            <a:r>
              <a:rPr lang="en-US" altLang="zh-CN" sz="2400" b="1" dirty="0"/>
              <a:t>10.7  </a:t>
            </a:r>
            <a:r>
              <a:rPr lang="zh-CN" altLang="en-US" sz="2400" b="1" dirty="0"/>
              <a:t>数据库镜像</a:t>
            </a:r>
            <a:endParaRPr lang="zh-CN" altLang="en-US" sz="2400" b="1" dirty="0"/>
          </a:p>
          <a:p>
            <a:pPr marL="411480" indent="-470535" eaLnBrk="1" hangingPunct="1">
              <a:lnSpc>
                <a:spcPct val="130000"/>
              </a:lnSpc>
              <a:buNone/>
            </a:pPr>
            <a:r>
              <a:rPr lang="en-US" altLang="zh-CN" sz="2400" b="1" dirty="0"/>
              <a:t>10.8  </a:t>
            </a:r>
            <a:r>
              <a:rPr lang="zh-CN" altLang="en-US" sz="2400" b="1" dirty="0"/>
              <a:t>小结</a:t>
            </a:r>
            <a:endParaRPr lang="zh-CN" altLang="en-US" sz="2400" b="1" dirty="0"/>
          </a:p>
        </p:txBody>
      </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10.1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事务的基本概念</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7170" name="Rectangle 3"/>
          <p:cNvSpPr>
            <a:spLocks noGrp="1"/>
          </p:cNvSpPr>
          <p:nvPr>
            <p:ph idx="1"/>
          </p:nvPr>
        </p:nvSpPr>
        <p:spPr>
          <a:ln/>
        </p:spPr>
        <p:txBody>
          <a:bodyPr vert="horz" wrap="square" lIns="91440" tIns="45720" rIns="91440" bIns="45720" anchor="t" anchorCtr="0"/>
          <a:p>
            <a:pPr eaLnBrk="1" hangingPunct="1">
              <a:lnSpc>
                <a:spcPct val="150000"/>
              </a:lnSpc>
              <a:buNone/>
            </a:pPr>
            <a:r>
              <a:rPr lang="zh-CN" altLang="en-US" b="1" dirty="0">
                <a:solidFill>
                  <a:srgbClr val="FF0000"/>
                </a:solidFill>
              </a:rPr>
              <a:t>一、事务定义</a:t>
            </a:r>
            <a:endParaRPr lang="zh-CN" altLang="en-US" b="1" dirty="0">
              <a:solidFill>
                <a:srgbClr val="FF0000"/>
              </a:solidFill>
            </a:endParaRPr>
          </a:p>
          <a:p>
            <a:pPr eaLnBrk="1" hangingPunct="1">
              <a:lnSpc>
                <a:spcPct val="150000"/>
              </a:lnSpc>
              <a:buNone/>
            </a:pPr>
            <a:r>
              <a:rPr lang="zh-CN" altLang="en-US" dirty="0">
                <a:solidFill>
                  <a:srgbClr val="FF00FF"/>
                </a:solidFill>
              </a:rPr>
              <a:t>	</a:t>
            </a:r>
            <a:endParaRPr lang="zh-CN" altLang="en-US" dirty="0">
              <a:solidFill>
                <a:srgbClr val="FF00FF"/>
              </a:solidFill>
            </a:endParaRPr>
          </a:p>
          <a:p>
            <a:pPr eaLnBrk="1" hangingPunct="1">
              <a:lnSpc>
                <a:spcPct val="150000"/>
              </a:lnSpc>
              <a:buNone/>
            </a:pPr>
            <a:r>
              <a:rPr lang="zh-CN" altLang="en-US" dirty="0"/>
              <a:t>二、事务的特性</a:t>
            </a:r>
            <a:endParaRPr lang="zh-CN" altLang="en-US" dirty="0"/>
          </a:p>
          <a:p>
            <a:pPr eaLnBrk="1" hangingPunct="1">
              <a:lnSpc>
                <a:spcPct val="150000"/>
              </a:lnSpc>
            </a:pPr>
            <a:endParaRPr lang="en-US" altLang="zh-CN" dirty="0"/>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一、事务</a:t>
            </a: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(Transaction)</a:t>
            </a:r>
            <a:endPar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8194" name="Rectangle 3"/>
          <p:cNvSpPr>
            <a:spLocks noGrp="1"/>
          </p:cNvSpPr>
          <p:nvPr>
            <p:ph idx="1"/>
          </p:nvPr>
        </p:nvSpPr>
        <p:spPr>
          <a:ln/>
        </p:spPr>
        <p:txBody>
          <a:bodyPr vert="horz" wrap="square" lIns="91440" tIns="45720" rIns="91440" bIns="45720" anchor="t" anchorCtr="0"/>
          <a:p>
            <a:pPr eaLnBrk="1" hangingPunct="1">
              <a:lnSpc>
                <a:spcPct val="90000"/>
              </a:lnSpc>
            </a:pPr>
            <a:r>
              <a:rPr lang="zh-CN" altLang="en-US" sz="2800" dirty="0"/>
              <a:t>定义</a:t>
            </a:r>
            <a:endParaRPr lang="zh-CN" altLang="en-US" sz="2800" dirty="0"/>
          </a:p>
          <a:p>
            <a:pPr lvl="1" indent="-436245" eaLnBrk="1" hangingPunct="1">
              <a:lnSpc>
                <a:spcPct val="90000"/>
              </a:lnSpc>
            </a:pPr>
            <a:r>
              <a:rPr lang="zh-CN" altLang="en-US" sz="2400" dirty="0"/>
              <a:t>一个</a:t>
            </a:r>
            <a:r>
              <a:rPr lang="zh-CN" altLang="en-US" sz="2400" dirty="0">
                <a:solidFill>
                  <a:srgbClr val="FF0000"/>
                </a:solidFill>
              </a:rPr>
              <a:t>数据库操作序列</a:t>
            </a:r>
            <a:r>
              <a:rPr lang="zh-CN" altLang="en-US" sz="2400" dirty="0"/>
              <a:t>，这些操作</a:t>
            </a:r>
            <a:r>
              <a:rPr lang="zh-CN" altLang="en-US" sz="2400" b="1" dirty="0">
                <a:solidFill>
                  <a:srgbClr val="0000FF"/>
                </a:solidFill>
              </a:rPr>
              <a:t>要么全做，要么全不做。</a:t>
            </a:r>
            <a:endParaRPr lang="zh-CN" altLang="en-US" sz="2400" b="1" dirty="0">
              <a:solidFill>
                <a:srgbClr val="0000FF"/>
              </a:solidFill>
            </a:endParaRPr>
          </a:p>
          <a:p>
            <a:pPr lvl="1" indent="-436245" eaLnBrk="1" hangingPunct="1">
              <a:lnSpc>
                <a:spcPct val="90000"/>
              </a:lnSpc>
            </a:pPr>
            <a:r>
              <a:rPr lang="zh-CN" altLang="en-US" sz="2400" dirty="0"/>
              <a:t>一个不可分割的工作单位。</a:t>
            </a:r>
            <a:endParaRPr lang="zh-CN" altLang="en-US" sz="2400" dirty="0"/>
          </a:p>
          <a:p>
            <a:pPr lvl="1" indent="-436245" eaLnBrk="1" hangingPunct="1">
              <a:lnSpc>
                <a:spcPct val="90000"/>
              </a:lnSpc>
            </a:pPr>
            <a:r>
              <a:rPr lang="zh-CN" altLang="en-US" sz="2400" dirty="0">
                <a:solidFill>
                  <a:srgbClr val="FF0000"/>
                </a:solidFill>
              </a:rPr>
              <a:t>恢复和并发控制的</a:t>
            </a:r>
            <a:r>
              <a:rPr lang="zh-CN" altLang="en-US" sz="2400" b="1" dirty="0">
                <a:solidFill>
                  <a:srgbClr val="0000FF"/>
                </a:solidFill>
              </a:rPr>
              <a:t>基本单位。</a:t>
            </a:r>
            <a:endParaRPr lang="zh-CN" altLang="en-US" sz="2400" b="1" dirty="0">
              <a:solidFill>
                <a:srgbClr val="0000FF"/>
              </a:solidFill>
            </a:endParaRPr>
          </a:p>
          <a:p>
            <a:pPr lvl="1" indent="-436245" eaLnBrk="1" hangingPunct="1">
              <a:lnSpc>
                <a:spcPct val="90000"/>
              </a:lnSpc>
              <a:buNone/>
            </a:pPr>
            <a:endParaRPr lang="zh-CN" altLang="en-US" sz="2000" dirty="0"/>
          </a:p>
          <a:p>
            <a:pPr eaLnBrk="1" hangingPunct="1">
              <a:lnSpc>
                <a:spcPct val="90000"/>
              </a:lnSpc>
            </a:pPr>
            <a:r>
              <a:rPr lang="zh-CN" altLang="en-US" sz="2800" dirty="0"/>
              <a:t>事务和程序比较</a:t>
            </a:r>
            <a:endParaRPr lang="zh-CN" altLang="en-US" sz="2800" dirty="0"/>
          </a:p>
          <a:p>
            <a:pPr lvl="1" indent="-436245" eaLnBrk="1" hangingPunct="1">
              <a:lnSpc>
                <a:spcPct val="120000"/>
              </a:lnSpc>
            </a:pPr>
            <a:r>
              <a:rPr lang="zh-CN" altLang="en-US" sz="2400" dirty="0"/>
              <a:t>在关系数据库中，一个事务可以是一条或多条</a:t>
            </a:r>
            <a:r>
              <a:rPr lang="en-US" altLang="zh-CN" sz="2400" dirty="0"/>
              <a:t>SQL</a:t>
            </a:r>
            <a:r>
              <a:rPr lang="zh-CN" altLang="en-US" sz="2400" dirty="0"/>
              <a:t>语句</a:t>
            </a:r>
            <a:r>
              <a:rPr lang="en-US" altLang="zh-CN" sz="2400" dirty="0"/>
              <a:t>,</a:t>
            </a:r>
            <a:r>
              <a:rPr lang="zh-CN" altLang="en-US" sz="2400" dirty="0"/>
              <a:t>也可以是整个程序。</a:t>
            </a:r>
            <a:endParaRPr lang="zh-CN" altLang="en-US" sz="2400" dirty="0"/>
          </a:p>
          <a:p>
            <a:pPr lvl="1" indent="-436245" eaLnBrk="1" hangingPunct="1">
              <a:lnSpc>
                <a:spcPct val="120000"/>
              </a:lnSpc>
            </a:pPr>
            <a:r>
              <a:rPr lang="zh-CN" altLang="en-US" sz="2400" dirty="0"/>
              <a:t>一个程序通常包含多个事务。</a:t>
            </a:r>
            <a:endParaRPr lang="zh-CN" altLang="en-US" sz="2400" dirty="0"/>
          </a:p>
          <a:p>
            <a:pPr lvl="1" indent="-436245" eaLnBrk="1" hangingPunct="1">
              <a:lnSpc>
                <a:spcPct val="90000"/>
              </a:lnSpc>
            </a:pPr>
            <a:endParaRPr lang="zh-CN" altLang="en-US" sz="2000" dirty="0"/>
          </a:p>
          <a:p>
            <a:pPr eaLnBrk="1" hangingPunct="1">
              <a:lnSpc>
                <a:spcPct val="90000"/>
              </a:lnSpc>
              <a:buNone/>
            </a:pPr>
            <a:endParaRPr lang="en-US" altLang="zh-CN" sz="2000" dirty="0"/>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定义事务</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0242" name="Rectangle 3"/>
          <p:cNvSpPr>
            <a:spLocks noGrp="1"/>
          </p:cNvSpPr>
          <p:nvPr>
            <p:ph idx="1"/>
          </p:nvPr>
        </p:nvSpPr>
        <p:spPr>
          <a:xfrm>
            <a:off x="714375" y="1071563"/>
            <a:ext cx="7772400" cy="5143500"/>
          </a:xfrm>
          <a:ln/>
        </p:spPr>
        <p:txBody>
          <a:bodyPr vert="horz" wrap="square" lIns="91440" tIns="45720" rIns="91440" bIns="45720" anchor="t" anchorCtr="0"/>
          <a:p>
            <a:pPr eaLnBrk="1" hangingPunct="1"/>
            <a:r>
              <a:rPr lang="zh-CN" altLang="en-US" sz="2400" dirty="0"/>
              <a:t>显式定义方式：可由用户定义</a:t>
            </a:r>
            <a:endParaRPr lang="zh-CN" altLang="en-US" sz="2400" dirty="0"/>
          </a:p>
          <a:p>
            <a:pPr eaLnBrk="1" hangingPunct="1">
              <a:buNone/>
            </a:pPr>
            <a:r>
              <a:rPr lang="zh-CN" altLang="en-US" dirty="0"/>
              <a:t>   </a:t>
            </a:r>
            <a:r>
              <a:rPr lang="en-US" altLang="zh-CN" sz="1800" dirty="0"/>
              <a:t>BEGIN TRANSACTION                   BEGIN TRANSACTION</a:t>
            </a:r>
            <a:endParaRPr lang="en-US" altLang="zh-CN" sz="1800" dirty="0"/>
          </a:p>
          <a:p>
            <a:pPr eaLnBrk="1" hangingPunct="1">
              <a:buNone/>
            </a:pPr>
            <a:r>
              <a:rPr lang="en-US" altLang="zh-CN" sz="1800" dirty="0"/>
              <a:t>          SQL </a:t>
            </a:r>
            <a:r>
              <a:rPr lang="zh-CN" altLang="zh-CN" sz="1800" dirty="0"/>
              <a:t>语句1</a:t>
            </a:r>
            <a:r>
              <a:rPr lang="en-US" altLang="zh-CN" sz="1800" dirty="0"/>
              <a:t>                                             SQL </a:t>
            </a:r>
            <a:r>
              <a:rPr lang="zh-CN" altLang="zh-CN" sz="1800" dirty="0"/>
              <a:t>语句1</a:t>
            </a:r>
            <a:endParaRPr lang="zh-CN" altLang="zh-CN" sz="1800" dirty="0"/>
          </a:p>
          <a:p>
            <a:pPr eaLnBrk="1" hangingPunct="1">
              <a:buNone/>
            </a:pPr>
            <a:r>
              <a:rPr lang="zh-CN" altLang="zh-CN" sz="1800" dirty="0"/>
              <a:t>          </a:t>
            </a:r>
            <a:r>
              <a:rPr lang="en-US" altLang="zh-CN" sz="1800" dirty="0"/>
              <a:t>SQL </a:t>
            </a:r>
            <a:r>
              <a:rPr lang="zh-CN" altLang="zh-CN" sz="1800" dirty="0"/>
              <a:t>语句2                                             </a:t>
            </a:r>
            <a:r>
              <a:rPr lang="en-US" altLang="zh-CN" sz="1800" dirty="0"/>
              <a:t>SQL </a:t>
            </a:r>
            <a:r>
              <a:rPr lang="zh-CN" altLang="zh-CN" sz="1800" dirty="0"/>
              <a:t>语句2</a:t>
            </a:r>
            <a:endParaRPr lang="en-US" altLang="zh-CN" sz="1800" dirty="0"/>
          </a:p>
          <a:p>
            <a:pPr eaLnBrk="1" hangingPunct="1">
              <a:buNone/>
            </a:pPr>
            <a:r>
              <a:rPr lang="en-US" altLang="zh-CN" sz="1800" dirty="0"/>
              <a:t>          </a:t>
            </a:r>
            <a:r>
              <a:rPr lang="zh-CN" altLang="en-US" sz="1800" dirty="0"/>
              <a:t>。。。。。                                            。。。。。</a:t>
            </a:r>
            <a:endParaRPr lang="zh-CN" altLang="en-US" sz="1800" dirty="0"/>
          </a:p>
          <a:p>
            <a:pPr eaLnBrk="1" hangingPunct="1">
              <a:buNone/>
            </a:pPr>
            <a:r>
              <a:rPr lang="zh-CN" altLang="en-US" sz="1800" dirty="0"/>
              <a:t>      </a:t>
            </a:r>
            <a:r>
              <a:rPr lang="en-US" altLang="zh-CN" sz="1800" dirty="0"/>
              <a:t>COMMIT                                          ROLLBACK</a:t>
            </a:r>
            <a:endParaRPr lang="en-US" altLang="zh-CN" sz="1800" dirty="0"/>
          </a:p>
          <a:p>
            <a:pPr eaLnBrk="1" hangingPunct="1">
              <a:buNone/>
            </a:pPr>
            <a:r>
              <a:rPr lang="en-US" altLang="zh-CN" sz="2400" dirty="0"/>
              <a:t>COMMIT</a:t>
            </a:r>
            <a:r>
              <a:rPr lang="zh-CN" altLang="en-US" sz="2400" dirty="0"/>
              <a:t>：表示</a:t>
            </a:r>
            <a:r>
              <a:rPr lang="zh-CN" altLang="en-US" sz="2400" b="1" dirty="0">
                <a:solidFill>
                  <a:srgbClr val="0000FF"/>
                </a:solidFill>
              </a:rPr>
              <a:t>提交</a:t>
            </a:r>
            <a:r>
              <a:rPr lang="zh-CN" altLang="en-US" sz="2400" dirty="0"/>
              <a:t>，事务正常结束。事务中所有对数据库的</a:t>
            </a:r>
            <a:r>
              <a:rPr lang="zh-CN" altLang="en-US" sz="2400" dirty="0">
                <a:solidFill>
                  <a:srgbClr val="FF0000"/>
                </a:solidFill>
              </a:rPr>
              <a:t>更新写回到磁盘上的物理数据库</a:t>
            </a:r>
            <a:r>
              <a:rPr lang="zh-CN" altLang="en-US" sz="2400" dirty="0"/>
              <a:t>中。</a:t>
            </a:r>
            <a:endParaRPr lang="en-US" altLang="zh-CN" sz="2400" dirty="0"/>
          </a:p>
          <a:p>
            <a:pPr eaLnBrk="1" hangingPunct="1">
              <a:buNone/>
            </a:pPr>
            <a:r>
              <a:rPr lang="en-US" altLang="zh-CN" sz="2400" dirty="0"/>
              <a:t>ROLLBACK</a:t>
            </a:r>
            <a:r>
              <a:rPr lang="zh-CN" altLang="en-US" sz="2400" dirty="0"/>
              <a:t>：事务</a:t>
            </a:r>
            <a:r>
              <a:rPr lang="zh-CN" altLang="en-US" sz="2400" b="1" dirty="0">
                <a:solidFill>
                  <a:srgbClr val="0000FF"/>
                </a:solidFill>
              </a:rPr>
              <a:t>异常终止</a:t>
            </a:r>
            <a:r>
              <a:rPr lang="zh-CN" altLang="en-US" sz="2400" dirty="0"/>
              <a:t>。事务运行的过程中</a:t>
            </a:r>
            <a:r>
              <a:rPr lang="zh-CN" altLang="en-US" sz="2400" b="1" dirty="0">
                <a:solidFill>
                  <a:srgbClr val="FF0000"/>
                </a:solidFill>
              </a:rPr>
              <a:t>发生了故障</a:t>
            </a:r>
            <a:r>
              <a:rPr lang="zh-CN" altLang="en-US" sz="2400" dirty="0"/>
              <a:t>，不能继续执行，系统将事务中对数据库的所有已完成的</a:t>
            </a:r>
            <a:r>
              <a:rPr lang="zh-CN" altLang="en-US" sz="2400" b="1" dirty="0">
                <a:solidFill>
                  <a:srgbClr val="FF0000"/>
                </a:solidFill>
              </a:rPr>
              <a:t>操作全部撤销，</a:t>
            </a:r>
            <a:r>
              <a:rPr lang="zh-CN" altLang="en-US" sz="2400" dirty="0"/>
              <a:t>事务滚回到开始时的状态。</a:t>
            </a:r>
            <a:endParaRPr lang="en-US" altLang="zh-CN" sz="2400" dirty="0"/>
          </a:p>
          <a:p>
            <a:pPr eaLnBrk="1" hangingPunct="1"/>
            <a:r>
              <a:rPr lang="zh-CN" altLang="en-US" sz="2400" dirty="0"/>
              <a:t>隐式方式：当用户没有显式地定义事务时，</a:t>
            </a:r>
            <a:r>
              <a:rPr lang="en-US" altLang="zh-CN" sz="2400" dirty="0"/>
              <a:t>DBMS</a:t>
            </a:r>
            <a:r>
              <a:rPr lang="zh-CN" altLang="en-US" sz="2400" dirty="0"/>
              <a:t>按缺省规定自动划分事务。</a:t>
            </a:r>
            <a:endParaRPr lang="zh-CN" altLang="en-US" sz="2400" dirty="0"/>
          </a:p>
        </p:txBody>
      </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二、事务的特性</a:t>
            </a: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(ACID</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特性</a:t>
            </a: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a:t>
            </a:r>
            <a:endPar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1266" name="Rectangle 3"/>
          <p:cNvSpPr>
            <a:spLocks noGrp="1"/>
          </p:cNvSpPr>
          <p:nvPr>
            <p:ph idx="1"/>
          </p:nvPr>
        </p:nvSpPr>
        <p:spPr>
          <a:ln/>
        </p:spPr>
        <p:txBody>
          <a:bodyPr vert="horz" wrap="square" lIns="91440" tIns="45720" rIns="91440" bIns="45720" anchor="t" anchorCtr="0"/>
          <a:p>
            <a:pPr marL="765175" indent="-485775" eaLnBrk="1" hangingPunct="1">
              <a:buNone/>
            </a:pPr>
            <a:r>
              <a:rPr lang="zh-CN" altLang="en-US" b="1" dirty="0"/>
              <a:t>事务的</a:t>
            </a:r>
            <a:r>
              <a:rPr lang="en-US" altLang="zh-CN" b="1" dirty="0"/>
              <a:t>ACID</a:t>
            </a:r>
            <a:r>
              <a:rPr lang="zh-CN" altLang="en-US" b="1" dirty="0"/>
              <a:t>特性：</a:t>
            </a:r>
            <a:endParaRPr lang="zh-CN" altLang="en-US" b="1" dirty="0"/>
          </a:p>
          <a:p>
            <a:pPr marL="765175" indent="-485775" eaLnBrk="1" hangingPunct="1">
              <a:lnSpc>
                <a:spcPct val="130000"/>
              </a:lnSpc>
            </a:pPr>
            <a:r>
              <a:rPr lang="zh-CN" altLang="en-US" b="1" dirty="0"/>
              <a:t>原子性（</a:t>
            </a:r>
            <a:r>
              <a:rPr lang="en-US" altLang="zh-CN" b="1" dirty="0"/>
              <a:t>Atomicity</a:t>
            </a:r>
            <a:r>
              <a:rPr lang="zh-CN" altLang="en-US" b="1" dirty="0"/>
              <a:t>）</a:t>
            </a:r>
            <a:endParaRPr lang="zh-CN" altLang="en-US" b="1" dirty="0"/>
          </a:p>
          <a:p>
            <a:pPr marL="765175" indent="-485775" eaLnBrk="1" hangingPunct="1">
              <a:lnSpc>
                <a:spcPct val="130000"/>
              </a:lnSpc>
            </a:pPr>
            <a:r>
              <a:rPr lang="zh-CN" altLang="en-US" b="1" dirty="0"/>
              <a:t>一致性（</a:t>
            </a:r>
            <a:r>
              <a:rPr lang="en-US" altLang="zh-CN" b="1" dirty="0"/>
              <a:t>Consistency</a:t>
            </a:r>
            <a:r>
              <a:rPr lang="zh-CN" altLang="en-US" b="1" dirty="0"/>
              <a:t>）</a:t>
            </a:r>
            <a:endParaRPr lang="zh-CN" altLang="en-US" b="1" dirty="0"/>
          </a:p>
          <a:p>
            <a:pPr marL="765175" indent="-485775" eaLnBrk="1" hangingPunct="1">
              <a:lnSpc>
                <a:spcPct val="130000"/>
              </a:lnSpc>
            </a:pPr>
            <a:r>
              <a:rPr lang="zh-CN" altLang="en-US" b="1" dirty="0"/>
              <a:t>隔离性（</a:t>
            </a:r>
            <a:r>
              <a:rPr lang="en-US" altLang="zh-CN" b="1" dirty="0"/>
              <a:t>Isolation</a:t>
            </a:r>
            <a:r>
              <a:rPr lang="zh-CN" altLang="en-US" b="1" dirty="0"/>
              <a:t>）</a:t>
            </a:r>
            <a:endParaRPr lang="zh-CN" altLang="en-US" b="1" dirty="0"/>
          </a:p>
          <a:p>
            <a:pPr marL="765175" indent="-485775" eaLnBrk="1" hangingPunct="1">
              <a:lnSpc>
                <a:spcPct val="130000"/>
              </a:lnSpc>
            </a:pPr>
            <a:r>
              <a:rPr lang="zh-CN" altLang="en-US" b="1" dirty="0"/>
              <a:t>持续性（</a:t>
            </a:r>
            <a:r>
              <a:rPr lang="en-US" altLang="zh-CN" b="1" dirty="0"/>
              <a:t>Durability </a:t>
            </a:r>
            <a:r>
              <a:rPr lang="zh-CN" altLang="en-US" b="1" dirty="0"/>
              <a:t>）</a:t>
            </a:r>
            <a:endParaRPr lang="zh-CN" altLang="en-US" b="1" dirty="0"/>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标题 1"/>
          <p:cNvSpPr>
            <a:spLocks noGrp="1"/>
          </p:cNvSpPr>
          <p:nvPr>
            <p:ph type="title"/>
          </p:nvPr>
        </p:nvSpPr>
        <p:spPr>
          <a:ln/>
        </p:spPr>
        <p:txBody>
          <a:bodyPr vert="horz" wrap="square" lIns="91440" tIns="45720" rIns="91440" bIns="45720" anchor="b" anchorCtr="0"/>
          <a:p>
            <a:r>
              <a:rPr lang="zh-CN" altLang="en-US" dirty="0"/>
              <a:t>（</a:t>
            </a:r>
            <a:r>
              <a:rPr lang="en-US" altLang="zh-CN" dirty="0"/>
              <a:t>1</a:t>
            </a:r>
            <a:r>
              <a:rPr lang="zh-CN" altLang="en-US" dirty="0"/>
              <a:t>）原子性</a:t>
            </a:r>
            <a:endParaRPr lang="zh-CN" altLang="en-US" dirty="0"/>
          </a:p>
        </p:txBody>
      </p:sp>
      <p:sp>
        <p:nvSpPr>
          <p:cNvPr id="12290" name="内容占位符 2"/>
          <p:cNvSpPr>
            <a:spLocks noGrp="1"/>
          </p:cNvSpPr>
          <p:nvPr>
            <p:ph idx="1"/>
          </p:nvPr>
        </p:nvSpPr>
        <p:spPr>
          <a:xfrm>
            <a:off x="384175" y="1143000"/>
            <a:ext cx="8404225" cy="4876800"/>
          </a:xfrm>
          <a:ln/>
        </p:spPr>
        <p:txBody>
          <a:bodyPr vert="horz" wrap="square" lIns="91440" tIns="45720" rIns="91440" bIns="45720" anchor="t" anchorCtr="0"/>
          <a:p>
            <a:r>
              <a:rPr lang="zh-CN" altLang="en-US" dirty="0"/>
              <a:t>事务是数据库的逻辑工作单位 。</a:t>
            </a:r>
            <a:endParaRPr lang="en-US" altLang="zh-CN" dirty="0"/>
          </a:p>
          <a:p>
            <a:r>
              <a:rPr lang="zh-CN" altLang="en-US" dirty="0"/>
              <a:t>事务中包括的诸操作</a:t>
            </a:r>
            <a:r>
              <a:rPr lang="zh-CN" altLang="en-US" dirty="0">
                <a:solidFill>
                  <a:srgbClr val="FF0000"/>
                </a:solidFill>
              </a:rPr>
              <a:t>要么都做，要么都不做。</a:t>
            </a:r>
            <a:endParaRPr lang="zh-CN" altLang="en-US" dirty="0">
              <a:solidFill>
                <a:srgbClr val="FF0000"/>
              </a:solidFill>
            </a:endParaRP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
          <p:cNvSpPr>
            <a:spLocks noGrp="1"/>
          </p:cNvSpPr>
          <p:nvPr>
            <p:ph type="title"/>
          </p:nvPr>
        </p:nvSpPr>
        <p:spPr>
          <a:ln/>
        </p:spPr>
        <p:txBody>
          <a:bodyPr vert="horz" wrap="square" lIns="91440" tIns="45720" rIns="91440" bIns="45720" anchor="b" anchorCtr="0"/>
          <a:p>
            <a:r>
              <a:rPr lang="zh-CN" altLang="en-US" dirty="0"/>
              <a:t>（</a:t>
            </a:r>
            <a:r>
              <a:rPr lang="en-US" altLang="zh-CN" dirty="0"/>
              <a:t>2</a:t>
            </a:r>
            <a:r>
              <a:rPr lang="zh-CN" altLang="en-US" dirty="0"/>
              <a:t>）一致性</a:t>
            </a:r>
            <a:endParaRPr lang="zh-CN" altLang="en-US" dirty="0"/>
          </a:p>
        </p:txBody>
      </p:sp>
      <p:sp>
        <p:nvSpPr>
          <p:cNvPr id="13314" name="内容占位符 2"/>
          <p:cNvSpPr>
            <a:spLocks noGrp="1"/>
          </p:cNvSpPr>
          <p:nvPr>
            <p:ph idx="1"/>
          </p:nvPr>
        </p:nvSpPr>
        <p:spPr>
          <a:ln/>
        </p:spPr>
        <p:txBody>
          <a:bodyPr vert="horz" wrap="square" lIns="91440" tIns="45720" rIns="91440" bIns="45720" anchor="t" anchorCtr="0"/>
          <a:p>
            <a:r>
              <a:rPr lang="zh-CN" altLang="en-US" dirty="0"/>
              <a:t>事务执行的结果必须是使数据库从</a:t>
            </a:r>
            <a:r>
              <a:rPr lang="zh-CN" altLang="en-US" b="1" dirty="0">
                <a:solidFill>
                  <a:srgbClr val="FF0000"/>
                </a:solidFill>
              </a:rPr>
              <a:t>一个一致性状态</a:t>
            </a:r>
            <a:r>
              <a:rPr lang="zh-CN" altLang="en-US" dirty="0"/>
              <a:t>变到</a:t>
            </a:r>
            <a:r>
              <a:rPr lang="zh-CN" altLang="en-US" b="1" dirty="0">
                <a:solidFill>
                  <a:srgbClr val="FF0000"/>
                </a:solidFill>
              </a:rPr>
              <a:t>另一个一致性状态</a:t>
            </a:r>
            <a:r>
              <a:rPr lang="zh-CN" altLang="en-US" dirty="0"/>
              <a:t> 。 </a:t>
            </a:r>
            <a:endParaRPr lang="en-US" altLang="zh-CN" dirty="0"/>
          </a:p>
          <a:p>
            <a:r>
              <a:rPr lang="zh-CN" altLang="en-US" b="1" dirty="0">
                <a:solidFill>
                  <a:srgbClr val="FF0000"/>
                </a:solidFill>
              </a:rPr>
              <a:t>一致性状态</a:t>
            </a:r>
            <a:r>
              <a:rPr lang="zh-CN" altLang="en-US" dirty="0"/>
              <a:t>：数据库中只包含成功事务提交的结果 。 </a:t>
            </a:r>
            <a:endParaRPr lang="en-US" altLang="zh-CN" dirty="0"/>
          </a:p>
          <a:p>
            <a:r>
              <a:rPr lang="zh-CN" altLang="en-US" b="1" dirty="0">
                <a:solidFill>
                  <a:srgbClr val="FF0000"/>
                </a:solidFill>
              </a:rPr>
              <a:t>不一致状态</a:t>
            </a:r>
            <a:r>
              <a:rPr lang="zh-CN" altLang="en-US" dirty="0"/>
              <a:t>：数据库系统运行中</a:t>
            </a:r>
            <a:r>
              <a:rPr lang="zh-CN" altLang="en-US" b="1" dirty="0">
                <a:solidFill>
                  <a:srgbClr val="0000FF"/>
                </a:solidFill>
              </a:rPr>
              <a:t>发生故障</a:t>
            </a:r>
            <a:r>
              <a:rPr lang="zh-CN" altLang="en-US" dirty="0"/>
              <a:t>，有些事务尚未完成就被迫中断；这些未完成事务对数据库所做的</a:t>
            </a:r>
            <a:r>
              <a:rPr lang="zh-CN" altLang="en-US" b="1" dirty="0">
                <a:solidFill>
                  <a:srgbClr val="FF0000"/>
                </a:solidFill>
              </a:rPr>
              <a:t>修改有一部分已写入</a:t>
            </a:r>
            <a:r>
              <a:rPr lang="zh-CN" altLang="en-US" dirty="0"/>
              <a:t>物理数据库，这时数据库就处于一种</a:t>
            </a:r>
            <a:r>
              <a:rPr lang="zh-CN" altLang="en-US" b="1" dirty="0">
                <a:solidFill>
                  <a:srgbClr val="FF0000"/>
                </a:solidFill>
              </a:rPr>
              <a:t>不正确的状态</a:t>
            </a:r>
            <a:r>
              <a:rPr lang="zh-CN" altLang="en-US" dirty="0"/>
              <a:t>。</a:t>
            </a:r>
            <a:endParaRPr lang="zh-CN" altLang="en-US" dirty="0"/>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标题 1"/>
          <p:cNvSpPr>
            <a:spLocks noGrp="1"/>
          </p:cNvSpPr>
          <p:nvPr>
            <p:ph type="title"/>
          </p:nvPr>
        </p:nvSpPr>
        <p:spPr>
          <a:ln/>
        </p:spPr>
        <p:txBody>
          <a:bodyPr vert="horz" wrap="square" lIns="91440" tIns="45720" rIns="91440" bIns="45720" anchor="b" anchorCtr="0"/>
          <a:p>
            <a:r>
              <a:rPr lang="zh-CN" altLang="en-US" dirty="0"/>
              <a:t>一致性与原子性，密切相关</a:t>
            </a:r>
            <a:endParaRPr lang="zh-CN" altLang="en-US" dirty="0"/>
          </a:p>
        </p:txBody>
      </p:sp>
      <p:sp>
        <p:nvSpPr>
          <p:cNvPr id="14338" name="内容占位符 2"/>
          <p:cNvSpPr>
            <a:spLocks noGrp="1"/>
          </p:cNvSpPr>
          <p:nvPr>
            <p:ph idx="1"/>
          </p:nvPr>
        </p:nvSpPr>
        <p:spPr>
          <a:ln/>
        </p:spPr>
        <p:txBody>
          <a:bodyPr vert="horz" wrap="square" lIns="91440" tIns="45720" rIns="91440" bIns="45720" anchor="t" anchorCtr="0"/>
          <a:p>
            <a:r>
              <a:rPr lang="zh-CN" altLang="en-US" dirty="0"/>
              <a:t>银行转帐：从帐号</a:t>
            </a:r>
            <a:r>
              <a:rPr lang="en-US" altLang="zh-CN" dirty="0"/>
              <a:t>A</a:t>
            </a:r>
            <a:r>
              <a:rPr lang="zh-CN" altLang="en-US" dirty="0"/>
              <a:t>中取出一万元，存入帐号</a:t>
            </a:r>
            <a:r>
              <a:rPr lang="en-US" altLang="zh-CN" dirty="0"/>
              <a:t>B</a:t>
            </a:r>
            <a:r>
              <a:rPr lang="zh-CN" altLang="en-US" dirty="0"/>
              <a:t>。 </a:t>
            </a:r>
            <a:endParaRPr lang="en-US" altLang="zh-CN" dirty="0"/>
          </a:p>
          <a:p>
            <a:r>
              <a:rPr lang="zh-CN" altLang="en-US" dirty="0"/>
              <a:t>定义一个事务，该事务包括两个操作 </a:t>
            </a:r>
            <a:endParaRPr lang="en-US" altLang="zh-CN" dirty="0"/>
          </a:p>
          <a:p>
            <a:endParaRPr lang="en-US" altLang="zh-CN" dirty="0"/>
          </a:p>
          <a:p>
            <a:endParaRPr lang="en-US" altLang="zh-CN" dirty="0"/>
          </a:p>
          <a:p>
            <a:r>
              <a:rPr lang="zh-CN" altLang="en-US" dirty="0"/>
              <a:t>这两个操作要么全做，要么全不做、全做或者全不做，数据库都处于一致性状态。 </a:t>
            </a:r>
            <a:endParaRPr lang="en-US" altLang="zh-CN" dirty="0"/>
          </a:p>
          <a:p>
            <a:r>
              <a:rPr lang="zh-CN" altLang="en-US" dirty="0"/>
              <a:t>如果只做一个操作，用户逻辑上就会发生错误，少了一万元，数据库就处于不一致性状态。</a:t>
            </a:r>
            <a:endParaRPr lang="zh-CN" altLang="en-US" dirty="0"/>
          </a:p>
        </p:txBody>
      </p:sp>
      <p:graphicFrame>
        <p:nvGraphicFramePr>
          <p:cNvPr id="4" name="表格 3"/>
          <p:cNvGraphicFramePr>
            <a:graphicFrameLocks noGrp="1"/>
          </p:cNvGraphicFramePr>
          <p:nvPr/>
        </p:nvGraphicFramePr>
        <p:xfrm>
          <a:off x="2286000" y="2714625"/>
          <a:ext cx="2905125" cy="1119188"/>
        </p:xfrm>
        <a:graphic>
          <a:graphicData uri="http://schemas.openxmlformats.org/drawingml/2006/table">
            <a:tbl>
              <a:tblPr/>
              <a:tblGrid>
                <a:gridCol w="1452563"/>
                <a:gridCol w="1452562"/>
              </a:tblGrid>
              <a:tr h="47920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Verdana" panose="020B0604030504040204" pitchFamily="34" charset="0"/>
                          <a:ea typeface="宋体" panose="02010600030101010101" pitchFamily="2" charset="-122"/>
                        </a:rPr>
                        <a:t>A</a:t>
                      </a:r>
                      <a:endParaRPr kumimoji="0" lang="en-US" altLang="zh-CN" sz="1800" b="1"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T="45674" marB="4567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Verdana" panose="020B0604030504040204" pitchFamily="34" charset="0"/>
                          <a:ea typeface="宋体" panose="02010600030101010101" pitchFamily="2" charset="-122"/>
                        </a:rPr>
                        <a:t>B</a:t>
                      </a:r>
                      <a:endParaRPr kumimoji="0" lang="en-US" altLang="zh-CN" sz="1800" b="1"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T="45674" marB="4567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6399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A=A-1</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T="45674" marB="4567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B=B+1 </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T="45674" marB="4567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标题 1"/>
          <p:cNvSpPr>
            <a:spLocks noGrp="1"/>
          </p:cNvSpPr>
          <p:nvPr>
            <p:ph type="title"/>
          </p:nvPr>
        </p:nvSpPr>
        <p:spPr>
          <a:ln/>
        </p:spPr>
        <p:txBody>
          <a:bodyPr vert="horz" wrap="square" lIns="91440" tIns="45720" rIns="91440" bIns="45720" anchor="b" anchorCtr="0"/>
          <a:p>
            <a:r>
              <a:rPr lang="zh-CN" altLang="en-US" dirty="0"/>
              <a:t>（</a:t>
            </a:r>
            <a:r>
              <a:rPr lang="en-US" altLang="zh-CN" dirty="0"/>
              <a:t>3</a:t>
            </a:r>
            <a:r>
              <a:rPr lang="zh-CN" altLang="en-US" dirty="0"/>
              <a:t>）隔离性</a:t>
            </a:r>
            <a:endParaRPr lang="zh-CN" altLang="en-US" dirty="0"/>
          </a:p>
        </p:txBody>
      </p:sp>
      <p:sp>
        <p:nvSpPr>
          <p:cNvPr id="15362" name="内容占位符 2"/>
          <p:cNvSpPr>
            <a:spLocks noGrp="1"/>
          </p:cNvSpPr>
          <p:nvPr>
            <p:ph idx="1"/>
          </p:nvPr>
        </p:nvSpPr>
        <p:spPr>
          <a:ln/>
        </p:spPr>
        <p:txBody>
          <a:bodyPr vert="horz" wrap="square" lIns="91440" tIns="45720" rIns="91440" bIns="45720" anchor="t" anchorCtr="0"/>
          <a:p>
            <a:r>
              <a:rPr lang="zh-CN" altLang="en-US" dirty="0"/>
              <a:t>一个事务的执行不能被其他事务干扰</a:t>
            </a:r>
            <a:endParaRPr lang="en-US" altLang="zh-CN" dirty="0"/>
          </a:p>
          <a:p>
            <a:r>
              <a:rPr lang="zh-CN" altLang="en-US" dirty="0"/>
              <a:t> 一个事务内部的操作及使用的数据对其他</a:t>
            </a:r>
            <a:r>
              <a:rPr lang="zh-CN" altLang="en-US" dirty="0">
                <a:solidFill>
                  <a:srgbClr val="FF0000"/>
                </a:solidFill>
              </a:rPr>
              <a:t>并发事务</a:t>
            </a:r>
            <a:r>
              <a:rPr lang="zh-CN" altLang="en-US" dirty="0"/>
              <a:t>是隔离的 </a:t>
            </a:r>
            <a:endParaRPr lang="en-US" altLang="zh-CN" dirty="0"/>
          </a:p>
          <a:p>
            <a:r>
              <a:rPr lang="zh-CN" altLang="en-US" b="1" dirty="0">
                <a:solidFill>
                  <a:srgbClr val="FF0000"/>
                </a:solidFill>
              </a:rPr>
              <a:t>并发执行</a:t>
            </a:r>
            <a:r>
              <a:rPr lang="zh-CN" altLang="en-US" dirty="0"/>
              <a:t>的各个事务之间不能互相干扰</a:t>
            </a:r>
            <a:endParaRPr lang="zh-CN" altLang="en-US" dirty="0"/>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标题 1"/>
          <p:cNvSpPr>
            <a:spLocks noGrp="1"/>
          </p:cNvSpPr>
          <p:nvPr>
            <p:ph type="title"/>
          </p:nvPr>
        </p:nvSpPr>
        <p:spPr>
          <a:ln/>
        </p:spPr>
        <p:txBody>
          <a:bodyPr vert="horz" wrap="square" lIns="91440" tIns="45720" rIns="91440" bIns="45720" anchor="b" anchorCtr="0"/>
          <a:p>
            <a:r>
              <a:rPr lang="zh-CN" altLang="en-US" dirty="0"/>
              <a:t>（</a:t>
            </a:r>
            <a:r>
              <a:rPr lang="en-US" altLang="zh-CN" dirty="0"/>
              <a:t>4</a:t>
            </a:r>
            <a:r>
              <a:rPr lang="zh-CN" altLang="en-US" dirty="0"/>
              <a:t>）持续性</a:t>
            </a:r>
            <a:endParaRPr lang="zh-CN" altLang="en-US" dirty="0"/>
          </a:p>
        </p:txBody>
      </p:sp>
      <p:sp>
        <p:nvSpPr>
          <p:cNvPr id="16386" name="内容占位符 2"/>
          <p:cNvSpPr>
            <a:spLocks noGrp="1"/>
          </p:cNvSpPr>
          <p:nvPr>
            <p:ph idx="1"/>
          </p:nvPr>
        </p:nvSpPr>
        <p:spPr>
          <a:ln/>
        </p:spPr>
        <p:txBody>
          <a:bodyPr vert="horz" wrap="square" lIns="91440" tIns="45720" rIns="91440" bIns="45720" anchor="t" anchorCtr="0"/>
          <a:p>
            <a:r>
              <a:rPr lang="zh-CN" altLang="en-US" dirty="0"/>
              <a:t>持续性也称永久性（</a:t>
            </a:r>
            <a:r>
              <a:rPr lang="en-US" altLang="zh-CN" dirty="0"/>
              <a:t>Permanence</a:t>
            </a:r>
            <a:r>
              <a:rPr lang="zh-CN" altLang="en-US" dirty="0"/>
              <a:t>） </a:t>
            </a:r>
            <a:endParaRPr lang="en-US" altLang="zh-CN" dirty="0"/>
          </a:p>
          <a:p>
            <a:r>
              <a:rPr lang="zh-CN" altLang="en-US" dirty="0"/>
              <a:t>一个事务</a:t>
            </a:r>
            <a:r>
              <a:rPr lang="zh-CN" altLang="en-US" dirty="0">
                <a:solidFill>
                  <a:srgbClr val="FF0000"/>
                </a:solidFill>
              </a:rPr>
              <a:t>一旦提交</a:t>
            </a:r>
            <a:r>
              <a:rPr lang="zh-CN" altLang="en-US" dirty="0"/>
              <a:t>，它对数据库中数据的改变就应该是</a:t>
            </a:r>
            <a:r>
              <a:rPr lang="zh-CN" altLang="en-US" dirty="0">
                <a:solidFill>
                  <a:srgbClr val="FF0000"/>
                </a:solidFill>
              </a:rPr>
              <a:t>永久性</a:t>
            </a:r>
            <a:r>
              <a:rPr lang="zh-CN" altLang="en-US" dirty="0"/>
              <a:t>的。 </a:t>
            </a:r>
            <a:endParaRPr lang="en-US" altLang="zh-CN" dirty="0"/>
          </a:p>
          <a:p>
            <a:r>
              <a:rPr lang="zh-CN" altLang="en-US" dirty="0"/>
              <a:t>接下来的其他操作或故障不应该对其执行结果有任何影响。</a:t>
            </a:r>
            <a:endParaRPr lang="zh-CN" altLang="en-US" dirty="0"/>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标题 1"/>
          <p:cNvSpPr>
            <a:spLocks noGrp="1"/>
          </p:cNvSpPr>
          <p:nvPr>
            <p:ph type="title"/>
          </p:nvPr>
        </p:nvSpPr>
        <p:spPr>
          <a:ln/>
        </p:spPr>
        <p:txBody>
          <a:bodyPr vert="horz" wrap="square" lIns="91440" tIns="45720" rIns="91440" bIns="45720" anchor="b" anchorCtr="0"/>
          <a:p>
            <a:r>
              <a:rPr lang="zh-CN" altLang="en-US" dirty="0"/>
              <a:t>事务的特性</a:t>
            </a:r>
            <a:endParaRPr lang="zh-CN" altLang="en-US" dirty="0"/>
          </a:p>
        </p:txBody>
      </p:sp>
      <p:sp>
        <p:nvSpPr>
          <p:cNvPr id="14339"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保证事务</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ACID</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特性是事务处理的任务</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破坏事务</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ACID</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特性的</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因素</a:t>
            </a:r>
            <a:endParaRPr kumimoji="0" lang="en-US" altLang="zh-CN" sz="2800" b="1" i="0" u="none" strike="noStrike" kern="0" cap="none" spc="0" normalizeH="0" baseline="0" noProof="0" dirty="0" smtClean="0">
              <a:ln>
                <a:noFill/>
              </a:ln>
              <a:solidFill>
                <a:srgbClr val="FF0000"/>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1</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多个事务并行运行时</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908050" marR="0" lvl="1" indent="-43688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不同事务的操作交叉执行 数据库管理系统必须保证多个事务的交叉运行不影响这些事务的隔离性</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ea"/>
            </a:endParaRPr>
          </a:p>
          <a:p>
            <a:pPr marL="908050" marR="0" lvl="1" indent="-43688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解决方案：</a:t>
            </a:r>
            <a:r>
              <a:rPr kumimoji="0" lang="zh-CN" altLang="en-US" sz="2400" b="1" i="0" u="none" strike="noStrike" kern="0" cap="none" spc="0" normalizeH="0" baseline="0" noProof="0" dirty="0" smtClean="0">
                <a:ln>
                  <a:noFill/>
                </a:ln>
                <a:solidFill>
                  <a:srgbClr val="0000FF"/>
                </a:solidFill>
                <a:effectLst/>
                <a:uLnTx/>
                <a:uFillTx/>
                <a:latin typeface="+mn-lt"/>
                <a:ea typeface="+mn-ea"/>
                <a:cs typeface="+mn-ea"/>
              </a:rPr>
              <a:t>并发控制</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a:t>
            </a:r>
            <a:r>
              <a:rPr kumimoji="0" lang="zh-CN" altLang="en-US" sz="2400" b="0" i="0" u="none" strike="noStrike" kern="0" cap="none" spc="0" normalizeH="0" baseline="0" noProof="0" dirty="0" smtClean="0">
                <a:ln>
                  <a:noFill/>
                </a:ln>
                <a:solidFill>
                  <a:srgbClr val="FF0000"/>
                </a:solidFill>
                <a:effectLst/>
                <a:uLnTx/>
                <a:uFillTx/>
                <a:latin typeface="+mn-lt"/>
                <a:ea typeface="+mn-ea"/>
                <a:cs typeface="+mn-ea"/>
              </a:rPr>
              <a:t>保证一致性和隔离性</a:t>
            </a:r>
            <a:endParaRPr kumimoji="0" lang="en-US" altLang="zh-CN" sz="2400" b="0" i="0" u="none" strike="noStrike" kern="0" cap="none" spc="0" normalizeH="0" baseline="0" noProof="0" dirty="0" smtClean="0">
              <a:ln>
                <a:noFill/>
              </a:ln>
              <a:solidFill>
                <a:srgbClr val="FF0000"/>
              </a:solidFill>
              <a:effectLst/>
              <a:uLnTx/>
              <a:uFillTx/>
              <a:latin typeface="+mn-lt"/>
              <a:ea typeface="+mn-ea"/>
              <a:cs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2</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某个事务在运行过程中被强行停止</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908050" marR="0" lvl="1" indent="-43688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数据库管理系统必须保证被强行终止的事务对数据库和其他事务没有任何影响</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ea"/>
            </a:endParaRPr>
          </a:p>
          <a:p>
            <a:pPr marL="908050" marR="0" lvl="1" indent="-43688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解决方案：</a:t>
            </a:r>
            <a:r>
              <a:rPr kumimoji="0" lang="zh-CN" altLang="en-US" sz="2400" b="1" i="0" u="none" strike="noStrike" kern="0" cap="none" spc="0" normalizeH="0" baseline="0" noProof="0" dirty="0" smtClean="0">
                <a:ln>
                  <a:noFill/>
                </a:ln>
                <a:solidFill>
                  <a:srgbClr val="0000FF"/>
                </a:solidFill>
                <a:effectLst/>
                <a:uLnTx/>
                <a:uFillTx/>
                <a:latin typeface="+mn-lt"/>
                <a:ea typeface="+mn-ea"/>
                <a:cs typeface="+mn-ea"/>
              </a:rPr>
              <a:t>恢复技术</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a:t>
            </a:r>
            <a:r>
              <a:rPr kumimoji="0" lang="zh-CN" altLang="en-US" sz="2400" b="0" i="0" u="none" strike="noStrike" kern="0" cap="none" spc="0" normalizeH="0" baseline="0" noProof="0" dirty="0" smtClean="0">
                <a:ln>
                  <a:noFill/>
                </a:ln>
                <a:solidFill>
                  <a:srgbClr val="FF0000"/>
                </a:solidFill>
                <a:effectLst/>
                <a:uLnTx/>
                <a:uFillTx/>
                <a:latin typeface="+mn-lt"/>
                <a:ea typeface="+mn-ea"/>
                <a:cs typeface="+mn-ea"/>
              </a:rPr>
              <a:t>保证原子性和持续性</a:t>
            </a:r>
            <a:endParaRPr kumimoji="0" lang="zh-CN" altLang="en-US" sz="2400" b="0" i="0" u="none" strike="noStrike" kern="0" cap="none" spc="0" normalizeH="0" baseline="0" noProof="0" dirty="0" smtClean="0">
              <a:ln>
                <a:noFill/>
              </a:ln>
              <a:solidFill>
                <a:srgbClr val="FF0000"/>
              </a:solidFill>
              <a:effectLst/>
              <a:uLnTx/>
              <a:uFillTx/>
              <a:latin typeface="+mn-lt"/>
              <a:ea typeface="+mn-ea"/>
              <a:cs typeface="+mn-ea"/>
            </a:endParaRPr>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第十章  数据库恢复技术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8434" name="Rectangle 3"/>
          <p:cNvSpPr>
            <a:spLocks noGrp="1"/>
          </p:cNvSpPr>
          <p:nvPr>
            <p:ph idx="1"/>
          </p:nvPr>
        </p:nvSpPr>
        <p:spPr>
          <a:xfrm>
            <a:off x="571500" y="1357313"/>
            <a:ext cx="7931150" cy="4495800"/>
          </a:xfrm>
          <a:ln/>
        </p:spPr>
        <p:txBody>
          <a:bodyPr vert="horz" wrap="square" lIns="91440" tIns="45720" rIns="91440" bIns="45720" anchor="t" anchorCtr="0"/>
          <a:p>
            <a:pPr marL="411480" indent="-470535" eaLnBrk="1" hangingPunct="1">
              <a:lnSpc>
                <a:spcPct val="130000"/>
              </a:lnSpc>
              <a:buNone/>
            </a:pPr>
            <a:r>
              <a:rPr lang="en-US" altLang="zh-CN" sz="2400" b="1" dirty="0"/>
              <a:t>10.1  </a:t>
            </a:r>
            <a:r>
              <a:rPr lang="zh-CN" altLang="en-US" sz="2400" b="1" dirty="0"/>
              <a:t>事务的基本概念</a:t>
            </a:r>
            <a:endParaRPr lang="zh-CN" altLang="en-US" sz="2400" b="1" dirty="0"/>
          </a:p>
          <a:p>
            <a:pPr marL="411480" indent="-470535" eaLnBrk="1" hangingPunct="1">
              <a:lnSpc>
                <a:spcPct val="130000"/>
              </a:lnSpc>
              <a:buNone/>
            </a:pPr>
            <a:r>
              <a:rPr lang="en-US" altLang="zh-CN" sz="2400" b="1" dirty="0">
                <a:solidFill>
                  <a:srgbClr val="009900"/>
                </a:solidFill>
              </a:rPr>
              <a:t>10.2  </a:t>
            </a:r>
            <a:r>
              <a:rPr lang="zh-CN" altLang="en-US" sz="2400" b="1" dirty="0">
                <a:solidFill>
                  <a:srgbClr val="009900"/>
                </a:solidFill>
              </a:rPr>
              <a:t>数据库恢复概述</a:t>
            </a:r>
            <a:endParaRPr lang="zh-CN" altLang="en-US" sz="2400" b="1" dirty="0">
              <a:solidFill>
                <a:srgbClr val="009900"/>
              </a:solidFill>
            </a:endParaRPr>
          </a:p>
          <a:p>
            <a:pPr marL="411480" indent="-470535" eaLnBrk="1" hangingPunct="1">
              <a:lnSpc>
                <a:spcPct val="130000"/>
              </a:lnSpc>
              <a:buNone/>
            </a:pPr>
            <a:r>
              <a:rPr lang="en-US" altLang="zh-CN" sz="2400" b="1" dirty="0"/>
              <a:t>10.3  </a:t>
            </a:r>
            <a:r>
              <a:rPr lang="zh-CN" altLang="en-US" sz="2400" b="1" dirty="0"/>
              <a:t>故障的种类</a:t>
            </a:r>
            <a:endParaRPr lang="zh-CN" altLang="en-US" sz="2400" b="1" dirty="0"/>
          </a:p>
          <a:p>
            <a:pPr marL="411480" indent="-470535" eaLnBrk="1" hangingPunct="1">
              <a:lnSpc>
                <a:spcPct val="130000"/>
              </a:lnSpc>
              <a:buNone/>
            </a:pPr>
            <a:r>
              <a:rPr lang="en-US" altLang="zh-CN" sz="2400" b="1" dirty="0"/>
              <a:t>10.4  </a:t>
            </a:r>
            <a:r>
              <a:rPr lang="zh-CN" altLang="en-US" sz="2400" b="1" dirty="0"/>
              <a:t>恢复的实现技术</a:t>
            </a:r>
            <a:endParaRPr lang="zh-CN" altLang="en-US" sz="2400" b="1" dirty="0"/>
          </a:p>
          <a:p>
            <a:pPr marL="411480" indent="-470535" eaLnBrk="1" hangingPunct="1">
              <a:lnSpc>
                <a:spcPct val="130000"/>
              </a:lnSpc>
              <a:buNone/>
            </a:pPr>
            <a:r>
              <a:rPr lang="en-US" altLang="zh-CN" sz="2400" b="1" dirty="0"/>
              <a:t>10.5  </a:t>
            </a:r>
            <a:r>
              <a:rPr lang="zh-CN" altLang="en-US" sz="2400" b="1" dirty="0"/>
              <a:t>恢复策略</a:t>
            </a:r>
            <a:endParaRPr lang="zh-CN" altLang="en-US" sz="2400" b="1" dirty="0"/>
          </a:p>
          <a:p>
            <a:pPr marL="411480" indent="-470535" eaLnBrk="1" hangingPunct="1">
              <a:lnSpc>
                <a:spcPct val="130000"/>
              </a:lnSpc>
              <a:buNone/>
            </a:pPr>
            <a:r>
              <a:rPr lang="en-US" altLang="zh-CN" sz="2400" b="1" dirty="0"/>
              <a:t>10.6  </a:t>
            </a:r>
            <a:r>
              <a:rPr lang="zh-CN" altLang="en-US" sz="2400" b="1" dirty="0"/>
              <a:t>具有检查点的恢复技术</a:t>
            </a:r>
            <a:endParaRPr lang="zh-CN" altLang="en-US" sz="2400" b="1" dirty="0"/>
          </a:p>
          <a:p>
            <a:pPr marL="411480" indent="-470535" eaLnBrk="1" hangingPunct="1">
              <a:lnSpc>
                <a:spcPct val="130000"/>
              </a:lnSpc>
              <a:buNone/>
            </a:pPr>
            <a:r>
              <a:rPr lang="en-US" altLang="zh-CN" sz="2400" b="1" dirty="0"/>
              <a:t>10.7  </a:t>
            </a:r>
            <a:r>
              <a:rPr lang="zh-CN" altLang="en-US" sz="2400" b="1" dirty="0"/>
              <a:t>数据库镜像</a:t>
            </a:r>
            <a:endParaRPr lang="zh-CN" altLang="en-US" sz="2400" b="1" dirty="0"/>
          </a:p>
          <a:p>
            <a:pPr marL="411480" indent="-470535" eaLnBrk="1" hangingPunct="1">
              <a:lnSpc>
                <a:spcPct val="130000"/>
              </a:lnSpc>
              <a:buNone/>
            </a:pPr>
            <a:r>
              <a:rPr lang="en-US" altLang="zh-CN" sz="2400" b="1" dirty="0"/>
              <a:t>10.8  </a:t>
            </a:r>
            <a:r>
              <a:rPr lang="zh-CN" altLang="en-US" sz="2400" b="1" dirty="0"/>
              <a:t>小结</a:t>
            </a:r>
            <a:endParaRPr lang="zh-CN" altLang="en-US" sz="2400" b="1" dirty="0"/>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10.2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数据库恢复概述</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9458" name="Rectangle 3"/>
          <p:cNvSpPr>
            <a:spLocks noGrp="1"/>
          </p:cNvSpPr>
          <p:nvPr>
            <p:ph idx="1"/>
          </p:nvPr>
        </p:nvSpPr>
        <p:spPr>
          <a:ln/>
        </p:spPr>
        <p:txBody>
          <a:bodyPr vert="horz" wrap="square" lIns="91440" tIns="45720" rIns="91440" bIns="45720" anchor="t" anchorCtr="0"/>
          <a:p>
            <a:pPr eaLnBrk="1" hangingPunct="1">
              <a:lnSpc>
                <a:spcPct val="125000"/>
              </a:lnSpc>
              <a:spcBef>
                <a:spcPts val="600"/>
              </a:spcBef>
            </a:pPr>
            <a:r>
              <a:rPr lang="zh-CN" altLang="en-US" sz="2400" dirty="0"/>
              <a:t>故障是不可避免的</a:t>
            </a:r>
            <a:endParaRPr lang="zh-CN" altLang="en-US" sz="2400" dirty="0"/>
          </a:p>
          <a:p>
            <a:pPr lvl="1" indent="-436245" eaLnBrk="1" hangingPunct="1">
              <a:lnSpc>
                <a:spcPct val="125000"/>
              </a:lnSpc>
              <a:spcBef>
                <a:spcPts val="600"/>
              </a:spcBef>
            </a:pPr>
            <a:r>
              <a:rPr lang="zh-CN" altLang="en-US" sz="2000" dirty="0"/>
              <a:t>系统故障：计算机软、硬件故障。</a:t>
            </a:r>
            <a:endParaRPr lang="zh-CN" altLang="en-US" sz="2000" dirty="0"/>
          </a:p>
          <a:p>
            <a:pPr lvl="1" indent="-436245" eaLnBrk="1" hangingPunct="1">
              <a:lnSpc>
                <a:spcPct val="125000"/>
              </a:lnSpc>
              <a:spcBef>
                <a:spcPts val="600"/>
              </a:spcBef>
            </a:pPr>
            <a:r>
              <a:rPr lang="zh-CN" altLang="en-US" sz="2000" dirty="0"/>
              <a:t>人为故障：操作员的失误、恶意的破坏等。</a:t>
            </a:r>
            <a:endParaRPr lang="en-US" altLang="zh-CN" sz="2000" dirty="0"/>
          </a:p>
          <a:p>
            <a:pPr lvl="1" indent="-436245" eaLnBrk="1" hangingPunct="1">
              <a:lnSpc>
                <a:spcPct val="125000"/>
              </a:lnSpc>
              <a:spcBef>
                <a:spcPts val="600"/>
              </a:spcBef>
            </a:pPr>
            <a:r>
              <a:rPr lang="zh-CN" altLang="en-US" sz="2000" dirty="0"/>
              <a:t>事务非正常中断：影响数据的正确性，破坏数据，使部分或全部数据丢失等。</a:t>
            </a:r>
            <a:endParaRPr lang="zh-CN" altLang="en-US" sz="2000" dirty="0"/>
          </a:p>
          <a:p>
            <a:pPr eaLnBrk="1" hangingPunct="1">
              <a:lnSpc>
                <a:spcPct val="125000"/>
              </a:lnSpc>
              <a:spcBef>
                <a:spcPts val="600"/>
              </a:spcBef>
            </a:pPr>
            <a:r>
              <a:rPr lang="zh-CN" altLang="en-US" sz="2400" dirty="0"/>
              <a:t>数据库的恢复：把数据库从</a:t>
            </a:r>
            <a:r>
              <a:rPr lang="zh-CN" altLang="en-US" sz="2400" b="1" dirty="0">
                <a:solidFill>
                  <a:srgbClr val="FF0000"/>
                </a:solidFill>
              </a:rPr>
              <a:t>错误状态</a:t>
            </a:r>
            <a:r>
              <a:rPr lang="zh-CN" altLang="en-US" sz="2400" dirty="0"/>
              <a:t>恢复到某一已知的</a:t>
            </a:r>
            <a:r>
              <a:rPr lang="zh-CN" altLang="en-US" sz="2400" b="1" dirty="0">
                <a:solidFill>
                  <a:srgbClr val="FF0000"/>
                </a:solidFill>
              </a:rPr>
              <a:t>正确状态</a:t>
            </a:r>
            <a:r>
              <a:rPr lang="en-US" altLang="zh-CN" sz="2400" dirty="0"/>
              <a:t>(</a:t>
            </a:r>
            <a:r>
              <a:rPr lang="zh-CN" altLang="en-US" sz="2400" dirty="0"/>
              <a:t>亦称为一致状态或完整状态</a:t>
            </a:r>
            <a:r>
              <a:rPr lang="en-US" altLang="zh-CN" sz="2400" dirty="0"/>
              <a:t>)</a:t>
            </a:r>
            <a:r>
              <a:rPr lang="zh-CN" altLang="en-US" sz="2400" dirty="0"/>
              <a:t>。</a:t>
            </a:r>
            <a:endParaRPr lang="en-US" altLang="zh-CN" sz="2400" dirty="0"/>
          </a:p>
          <a:p>
            <a:pPr eaLnBrk="1" hangingPunct="1">
              <a:lnSpc>
                <a:spcPct val="125000"/>
              </a:lnSpc>
              <a:spcBef>
                <a:spcPts val="600"/>
              </a:spcBef>
            </a:pPr>
            <a:r>
              <a:rPr lang="zh-CN" altLang="en-US" sz="2400" b="1" dirty="0">
                <a:solidFill>
                  <a:srgbClr val="FF0000"/>
                </a:solidFill>
              </a:rPr>
              <a:t>恢复子系统</a:t>
            </a:r>
            <a:r>
              <a:rPr lang="zh-CN" altLang="en-US" sz="2400" dirty="0"/>
              <a:t>是数据库管理系统的一个重要组成部分，恢复技术是衡量系统优劣的重要指标，占整个代码的</a:t>
            </a:r>
            <a:r>
              <a:rPr lang="en-US" altLang="zh-CN" sz="2400" dirty="0"/>
              <a:t>10%</a:t>
            </a:r>
            <a:r>
              <a:rPr lang="zh-CN" altLang="en-US" sz="2400" dirty="0"/>
              <a:t>。</a:t>
            </a:r>
            <a:endParaRPr lang="zh-CN" altLang="en-US" sz="2400" dirty="0"/>
          </a:p>
          <a:p>
            <a:pPr eaLnBrk="1" hangingPunct="1">
              <a:lnSpc>
                <a:spcPct val="125000"/>
              </a:lnSpc>
              <a:spcBef>
                <a:spcPts val="600"/>
              </a:spcBef>
              <a:buNone/>
            </a:pPr>
            <a:r>
              <a:rPr lang="zh-CN" altLang="en-US" sz="2400" dirty="0"/>
              <a:t>	</a:t>
            </a:r>
            <a:endParaRPr lang="en-US" altLang="zh-CN" sz="2400" dirty="0"/>
          </a:p>
        </p:txBody>
      </p:sp>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第十章  数据库恢复技术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0482" name="Rectangle 3"/>
          <p:cNvSpPr>
            <a:spLocks noGrp="1"/>
          </p:cNvSpPr>
          <p:nvPr>
            <p:ph idx="1"/>
          </p:nvPr>
        </p:nvSpPr>
        <p:spPr>
          <a:xfrm>
            <a:off x="857250" y="1428750"/>
            <a:ext cx="7859713" cy="4495800"/>
          </a:xfrm>
          <a:ln/>
        </p:spPr>
        <p:txBody>
          <a:bodyPr vert="horz" wrap="square" lIns="91440" tIns="45720" rIns="91440" bIns="45720" anchor="t" anchorCtr="0"/>
          <a:p>
            <a:pPr marL="411480" indent="-470535" eaLnBrk="1" hangingPunct="1">
              <a:lnSpc>
                <a:spcPct val="130000"/>
              </a:lnSpc>
              <a:buNone/>
            </a:pPr>
            <a:r>
              <a:rPr lang="en-US" altLang="zh-CN" sz="2400" b="1" dirty="0"/>
              <a:t>10.1  </a:t>
            </a:r>
            <a:r>
              <a:rPr lang="zh-CN" altLang="en-US" sz="2400" b="1" dirty="0"/>
              <a:t>事务的基本概念</a:t>
            </a:r>
            <a:endParaRPr lang="zh-CN" altLang="en-US" sz="2400" b="1" dirty="0"/>
          </a:p>
          <a:p>
            <a:pPr marL="411480" indent="-470535" eaLnBrk="1" hangingPunct="1">
              <a:lnSpc>
                <a:spcPct val="130000"/>
              </a:lnSpc>
              <a:buNone/>
            </a:pPr>
            <a:r>
              <a:rPr lang="en-US" altLang="zh-CN" sz="2400" b="1" dirty="0"/>
              <a:t>10.2  </a:t>
            </a:r>
            <a:r>
              <a:rPr lang="zh-CN" altLang="en-US" sz="2400" b="1" dirty="0"/>
              <a:t>数据库恢复概述</a:t>
            </a:r>
            <a:endParaRPr lang="zh-CN" altLang="en-US" sz="2400" b="1" dirty="0"/>
          </a:p>
          <a:p>
            <a:pPr marL="411480" indent="-470535" eaLnBrk="1" hangingPunct="1">
              <a:lnSpc>
                <a:spcPct val="130000"/>
              </a:lnSpc>
              <a:buNone/>
            </a:pPr>
            <a:r>
              <a:rPr lang="en-US" altLang="zh-CN" sz="2400" b="1" dirty="0">
                <a:solidFill>
                  <a:srgbClr val="009900"/>
                </a:solidFill>
              </a:rPr>
              <a:t>10.3  </a:t>
            </a:r>
            <a:r>
              <a:rPr lang="zh-CN" altLang="en-US" sz="2400" b="1" dirty="0">
                <a:solidFill>
                  <a:srgbClr val="009900"/>
                </a:solidFill>
              </a:rPr>
              <a:t>故障的种类</a:t>
            </a:r>
            <a:endParaRPr lang="zh-CN" altLang="en-US" sz="2400" b="1" dirty="0">
              <a:solidFill>
                <a:srgbClr val="009900"/>
              </a:solidFill>
            </a:endParaRPr>
          </a:p>
          <a:p>
            <a:pPr marL="411480" indent="-470535" eaLnBrk="1" hangingPunct="1">
              <a:lnSpc>
                <a:spcPct val="130000"/>
              </a:lnSpc>
              <a:buNone/>
            </a:pPr>
            <a:r>
              <a:rPr lang="en-US" altLang="zh-CN" sz="2400" b="1" dirty="0"/>
              <a:t>10.4  </a:t>
            </a:r>
            <a:r>
              <a:rPr lang="zh-CN" altLang="en-US" sz="2400" b="1" dirty="0"/>
              <a:t>恢复的实现技术</a:t>
            </a:r>
            <a:endParaRPr lang="zh-CN" altLang="en-US" sz="2400" b="1" dirty="0"/>
          </a:p>
          <a:p>
            <a:pPr marL="411480" indent="-470535" eaLnBrk="1" hangingPunct="1">
              <a:lnSpc>
                <a:spcPct val="130000"/>
              </a:lnSpc>
              <a:buNone/>
            </a:pPr>
            <a:r>
              <a:rPr lang="en-US" altLang="zh-CN" sz="2400" b="1" dirty="0"/>
              <a:t>10.5  </a:t>
            </a:r>
            <a:r>
              <a:rPr lang="zh-CN" altLang="en-US" sz="2400" b="1" dirty="0"/>
              <a:t>恢复策略</a:t>
            </a:r>
            <a:endParaRPr lang="zh-CN" altLang="en-US" sz="2400" b="1" dirty="0"/>
          </a:p>
          <a:p>
            <a:pPr marL="411480" indent="-470535" eaLnBrk="1" hangingPunct="1">
              <a:lnSpc>
                <a:spcPct val="130000"/>
              </a:lnSpc>
              <a:buNone/>
            </a:pPr>
            <a:r>
              <a:rPr lang="en-US" altLang="zh-CN" sz="2400" b="1" dirty="0"/>
              <a:t>10.6  </a:t>
            </a:r>
            <a:r>
              <a:rPr lang="zh-CN" altLang="en-US" sz="2400" b="1" dirty="0"/>
              <a:t>具有检查点的恢复技术</a:t>
            </a:r>
            <a:endParaRPr lang="zh-CN" altLang="en-US" sz="2400" b="1" dirty="0"/>
          </a:p>
          <a:p>
            <a:pPr marL="411480" indent="-470535" eaLnBrk="1" hangingPunct="1">
              <a:lnSpc>
                <a:spcPct val="130000"/>
              </a:lnSpc>
              <a:buNone/>
            </a:pPr>
            <a:r>
              <a:rPr lang="en-US" altLang="zh-CN" sz="2400" b="1" dirty="0"/>
              <a:t>10.7  </a:t>
            </a:r>
            <a:r>
              <a:rPr lang="zh-CN" altLang="en-US" sz="2400" b="1" dirty="0"/>
              <a:t>数据库镜像</a:t>
            </a:r>
            <a:endParaRPr lang="zh-CN" altLang="en-US" sz="2400" b="1" dirty="0"/>
          </a:p>
          <a:p>
            <a:pPr marL="411480" indent="-470535" eaLnBrk="1" hangingPunct="1">
              <a:lnSpc>
                <a:spcPct val="130000"/>
              </a:lnSpc>
              <a:buNone/>
            </a:pPr>
            <a:r>
              <a:rPr lang="en-US" altLang="zh-CN" sz="2400" b="1" dirty="0"/>
              <a:t>10.8    </a:t>
            </a:r>
            <a:r>
              <a:rPr lang="zh-CN" altLang="en-US" sz="2400" b="1" dirty="0"/>
              <a:t>小结</a:t>
            </a:r>
            <a:endParaRPr lang="zh-CN" altLang="en-US" sz="2400" b="1" dirty="0"/>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故障的种类</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1506" name="Rectangle 3"/>
          <p:cNvSpPr>
            <a:spLocks noGrp="1"/>
          </p:cNvSpPr>
          <p:nvPr>
            <p:ph idx="1"/>
          </p:nvPr>
        </p:nvSpPr>
        <p:spPr>
          <a:xfrm>
            <a:off x="928688" y="1428750"/>
            <a:ext cx="7258050" cy="4495800"/>
          </a:xfrm>
          <a:ln/>
        </p:spPr>
        <p:txBody>
          <a:bodyPr vert="horz" wrap="square" lIns="91440" tIns="45720" rIns="91440" bIns="45720" anchor="t" anchorCtr="0"/>
          <a:p>
            <a:pPr eaLnBrk="1" hangingPunct="1">
              <a:lnSpc>
                <a:spcPct val="180000"/>
              </a:lnSpc>
            </a:pPr>
            <a:r>
              <a:rPr lang="zh-CN" altLang="en-US" dirty="0"/>
              <a:t>事务内部的故障</a:t>
            </a:r>
            <a:endParaRPr lang="zh-CN" altLang="en-US" dirty="0"/>
          </a:p>
          <a:p>
            <a:pPr eaLnBrk="1" hangingPunct="1">
              <a:lnSpc>
                <a:spcPct val="180000"/>
              </a:lnSpc>
            </a:pPr>
            <a:r>
              <a:rPr lang="zh-CN" altLang="en-US" dirty="0"/>
              <a:t>系统故障</a:t>
            </a:r>
            <a:endParaRPr lang="zh-CN" altLang="en-US" dirty="0"/>
          </a:p>
          <a:p>
            <a:pPr eaLnBrk="1" hangingPunct="1">
              <a:lnSpc>
                <a:spcPct val="180000"/>
              </a:lnSpc>
            </a:pPr>
            <a:r>
              <a:rPr lang="zh-CN" altLang="en-US" dirty="0"/>
              <a:t>介质故障</a:t>
            </a:r>
            <a:endParaRPr lang="zh-CN" altLang="en-US" dirty="0"/>
          </a:p>
          <a:p>
            <a:pPr eaLnBrk="1" hangingPunct="1">
              <a:lnSpc>
                <a:spcPct val="180000"/>
              </a:lnSpc>
            </a:pPr>
            <a:r>
              <a:rPr lang="zh-CN" altLang="en-US" dirty="0"/>
              <a:t>计算机病毒</a:t>
            </a:r>
            <a:endParaRPr lang="zh-CN" altLang="en-US" dirty="0"/>
          </a:p>
        </p:txBody>
      </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一、事务内部的故障</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2530" name="Rectangle 3"/>
          <p:cNvSpPr>
            <a:spLocks noGrp="1"/>
          </p:cNvSpPr>
          <p:nvPr>
            <p:ph idx="1"/>
          </p:nvPr>
        </p:nvSpPr>
        <p:spPr>
          <a:ln/>
        </p:spPr>
        <p:txBody>
          <a:bodyPr vert="horz" wrap="square" lIns="91440" tIns="45720" rIns="91440" bIns="45720" anchor="t" anchorCtr="0"/>
          <a:p>
            <a:pPr marL="411480" indent="-470535" eaLnBrk="1" hangingPunct="1">
              <a:lnSpc>
                <a:spcPct val="210000"/>
              </a:lnSpc>
              <a:buFont typeface="Wingdings" panose="05000000000000000000" pitchFamily="2" charset="2"/>
              <a:buChar char=""/>
            </a:pPr>
            <a:r>
              <a:rPr lang="zh-CN" altLang="en-US" dirty="0"/>
              <a:t>事务内部的故障</a:t>
            </a:r>
            <a:endParaRPr lang="zh-CN" altLang="en-US" dirty="0"/>
          </a:p>
          <a:p>
            <a:pPr marL="739775" lvl="1" indent="-436245" eaLnBrk="1" hangingPunct="1">
              <a:lnSpc>
                <a:spcPct val="210000"/>
              </a:lnSpc>
              <a:buFont typeface="Wingdings" panose="05000000000000000000" pitchFamily="2" charset="2"/>
              <a:buChar char="n"/>
            </a:pPr>
            <a:r>
              <a:rPr lang="zh-CN" altLang="en-US" dirty="0"/>
              <a:t>   有的是可以通过事务程序本身发现的</a:t>
            </a:r>
            <a:r>
              <a:rPr lang="en-US" altLang="zh-CN" dirty="0"/>
              <a:t>(</a:t>
            </a:r>
            <a:r>
              <a:rPr lang="zh-CN" altLang="en-US" dirty="0"/>
              <a:t>见下面转账事务的例子</a:t>
            </a:r>
            <a:r>
              <a:rPr lang="en-US" altLang="zh-CN" dirty="0"/>
              <a:t>)</a:t>
            </a:r>
            <a:endParaRPr lang="en-US" altLang="zh-CN" dirty="0"/>
          </a:p>
          <a:p>
            <a:pPr marL="739775" lvl="1" indent="-436245" eaLnBrk="1" hangingPunct="1">
              <a:lnSpc>
                <a:spcPct val="210000"/>
              </a:lnSpc>
              <a:buFont typeface="Wingdings" panose="05000000000000000000" pitchFamily="2" charset="2"/>
              <a:buChar char="n"/>
            </a:pPr>
            <a:r>
              <a:rPr lang="en-US" altLang="zh-CN" dirty="0"/>
              <a:t>   </a:t>
            </a:r>
            <a:r>
              <a:rPr lang="zh-CN" altLang="en-US" dirty="0">
                <a:solidFill>
                  <a:srgbClr val="FF0000"/>
                </a:solidFill>
              </a:rPr>
              <a:t>有的是非预期的</a:t>
            </a:r>
            <a:endParaRPr lang="zh-CN" altLang="en-US" dirty="0">
              <a:solidFill>
                <a:srgbClr val="FF0000"/>
              </a:solidFill>
            </a:endParaRPr>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事务内部的故障（续）</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3554" name="Rectangle 3"/>
          <p:cNvSpPr>
            <a:spLocks noGrp="1"/>
          </p:cNvSpPr>
          <p:nvPr>
            <p:ph idx="1"/>
          </p:nvPr>
        </p:nvSpPr>
        <p:spPr>
          <a:ln/>
        </p:spPr>
        <p:txBody>
          <a:bodyPr vert="horz" wrap="square" lIns="91440" tIns="45720" rIns="91440" bIns="45720" anchor="t" anchorCtr="0"/>
          <a:p>
            <a:pPr marL="411480" indent="-470535" eaLnBrk="1" hangingPunct="1">
              <a:lnSpc>
                <a:spcPct val="80000"/>
              </a:lnSpc>
              <a:buFont typeface="Wingdings" panose="05000000000000000000" pitchFamily="2" charset="2"/>
              <a:buChar char=""/>
            </a:pPr>
            <a:r>
              <a:rPr lang="zh-CN" altLang="en-US" sz="2400" dirty="0"/>
              <a:t>例如，银行转账事务，这个事务把一笔金额从一个账户甲转给另一个账户乙。</a:t>
            </a:r>
            <a:endParaRPr lang="zh-CN" altLang="en-US" sz="2400" dirty="0"/>
          </a:p>
          <a:p>
            <a:pPr marL="411480" indent="-470535" eaLnBrk="1" hangingPunct="1">
              <a:lnSpc>
                <a:spcPct val="80000"/>
              </a:lnSpc>
              <a:buNone/>
            </a:pPr>
            <a:r>
              <a:rPr lang="zh-CN" altLang="en-US" sz="1800" dirty="0"/>
              <a:t>     </a:t>
            </a:r>
            <a:r>
              <a:rPr lang="en-US" altLang="zh-CN" sz="1800" dirty="0"/>
              <a:t>BEGIN TRANSACTION</a:t>
            </a:r>
            <a:endParaRPr lang="en-US" altLang="zh-CN" sz="1800" dirty="0"/>
          </a:p>
          <a:p>
            <a:pPr marL="411480" indent="-470535" eaLnBrk="1" hangingPunct="1">
              <a:lnSpc>
                <a:spcPct val="80000"/>
              </a:lnSpc>
              <a:buNone/>
            </a:pPr>
            <a:r>
              <a:rPr lang="en-US" altLang="zh-CN" sz="1800" dirty="0"/>
              <a:t>    </a:t>
            </a:r>
            <a:r>
              <a:rPr lang="zh-CN" altLang="en-US" sz="1800" dirty="0"/>
              <a:t>读账户甲的余额</a:t>
            </a:r>
            <a:r>
              <a:rPr lang="en-US" altLang="zh-CN" sz="1800" dirty="0"/>
              <a:t>BALANCE</a:t>
            </a:r>
            <a:r>
              <a:rPr lang="zh-CN" altLang="en-US" sz="1800" dirty="0"/>
              <a:t>；</a:t>
            </a:r>
            <a:endParaRPr lang="zh-CN" altLang="en-US" sz="1800" dirty="0"/>
          </a:p>
          <a:p>
            <a:pPr marL="411480" indent="-470535" eaLnBrk="1" hangingPunct="1">
              <a:lnSpc>
                <a:spcPct val="80000"/>
              </a:lnSpc>
              <a:buNone/>
            </a:pPr>
            <a:r>
              <a:rPr lang="zh-CN" altLang="en-US" sz="1800" dirty="0"/>
              <a:t>    </a:t>
            </a:r>
            <a:r>
              <a:rPr lang="en-US" altLang="zh-CN" sz="1800" dirty="0"/>
              <a:t>BALANCE=BALANCE-AMOUNT</a:t>
            </a:r>
            <a:r>
              <a:rPr lang="zh-CN" altLang="en-US" sz="1800" dirty="0"/>
              <a:t>；</a:t>
            </a:r>
            <a:r>
              <a:rPr lang="en-US" altLang="zh-CN" sz="1800" dirty="0"/>
              <a:t>(AMOUNT </a:t>
            </a:r>
            <a:r>
              <a:rPr lang="zh-CN" altLang="en-US" sz="1800" dirty="0"/>
              <a:t>为转账金额</a:t>
            </a:r>
            <a:r>
              <a:rPr lang="en-US" altLang="zh-CN" sz="1800" dirty="0"/>
              <a:t>)</a:t>
            </a:r>
            <a:endParaRPr lang="en-US" altLang="zh-CN" sz="1800" dirty="0"/>
          </a:p>
          <a:p>
            <a:pPr marL="411480" indent="-470535" eaLnBrk="1" hangingPunct="1">
              <a:lnSpc>
                <a:spcPct val="80000"/>
              </a:lnSpc>
              <a:buNone/>
            </a:pPr>
            <a:r>
              <a:rPr lang="en-US" altLang="zh-CN" sz="1800" dirty="0"/>
              <a:t>    </a:t>
            </a:r>
            <a:r>
              <a:rPr lang="zh-CN" altLang="en-US" sz="1800" dirty="0"/>
              <a:t>写回</a:t>
            </a:r>
            <a:r>
              <a:rPr lang="en-US" altLang="zh-CN" sz="1800" dirty="0"/>
              <a:t>BALANCE</a:t>
            </a:r>
            <a:r>
              <a:rPr lang="zh-CN" altLang="en-US" sz="1800" dirty="0"/>
              <a:t>；</a:t>
            </a:r>
            <a:endParaRPr lang="zh-CN" altLang="en-US" sz="1800" dirty="0"/>
          </a:p>
          <a:p>
            <a:pPr marL="411480" indent="-470535" eaLnBrk="1" hangingPunct="1">
              <a:lnSpc>
                <a:spcPct val="80000"/>
              </a:lnSpc>
              <a:buNone/>
            </a:pPr>
            <a:r>
              <a:rPr lang="zh-CN" altLang="en-US" sz="1800" dirty="0"/>
              <a:t>    </a:t>
            </a:r>
            <a:r>
              <a:rPr lang="en-US" altLang="zh-CN" sz="1800" dirty="0"/>
              <a:t>IF(BALANCE &lt; 0 ) THEN</a:t>
            </a:r>
            <a:endParaRPr lang="en-US" altLang="zh-CN" sz="1800" dirty="0"/>
          </a:p>
          <a:p>
            <a:pPr marL="411480" indent="-470535" eaLnBrk="1" hangingPunct="1">
              <a:lnSpc>
                <a:spcPct val="80000"/>
              </a:lnSpc>
              <a:buNone/>
            </a:pPr>
            <a:r>
              <a:rPr lang="en-US" altLang="zh-CN" sz="1800" dirty="0"/>
              <a:t>     {</a:t>
            </a:r>
            <a:endParaRPr lang="en-US" altLang="zh-CN" sz="1800" dirty="0"/>
          </a:p>
          <a:p>
            <a:pPr marL="411480" indent="-470535" eaLnBrk="1" hangingPunct="1">
              <a:lnSpc>
                <a:spcPct val="80000"/>
              </a:lnSpc>
              <a:buNone/>
            </a:pPr>
            <a:r>
              <a:rPr lang="en-US" altLang="zh-CN" sz="1800" dirty="0"/>
              <a:t>         </a:t>
            </a:r>
            <a:r>
              <a:rPr lang="zh-CN" altLang="en-US" sz="1800" dirty="0"/>
              <a:t>打印</a:t>
            </a:r>
            <a:r>
              <a:rPr lang="en-US" altLang="zh-CN" sz="1800" dirty="0"/>
              <a:t>'</a:t>
            </a:r>
            <a:r>
              <a:rPr lang="zh-CN" altLang="en-US" sz="1800" dirty="0"/>
              <a:t>金额不足，不能转账</a:t>
            </a:r>
            <a:r>
              <a:rPr lang="en-US" altLang="zh-CN" sz="1800" dirty="0"/>
              <a:t>'</a:t>
            </a:r>
            <a:r>
              <a:rPr lang="zh-CN" altLang="en-US" sz="1800" dirty="0"/>
              <a:t>；</a:t>
            </a:r>
            <a:endParaRPr lang="zh-CN" altLang="en-US" sz="1800" dirty="0"/>
          </a:p>
          <a:p>
            <a:pPr marL="411480" indent="-470535" eaLnBrk="1" hangingPunct="1">
              <a:lnSpc>
                <a:spcPct val="80000"/>
              </a:lnSpc>
              <a:buNone/>
            </a:pPr>
            <a:r>
              <a:rPr lang="zh-CN" altLang="en-US" sz="1800" dirty="0"/>
              <a:t>         </a:t>
            </a:r>
            <a:r>
              <a:rPr lang="en-US" altLang="zh-CN" sz="1800" dirty="0"/>
              <a:t>ROLLBACK</a:t>
            </a:r>
            <a:r>
              <a:rPr lang="zh-CN" altLang="en-US" sz="1800" dirty="0"/>
              <a:t>；</a:t>
            </a:r>
            <a:r>
              <a:rPr lang="en-US" altLang="zh-CN" sz="1800" dirty="0"/>
              <a:t>(</a:t>
            </a:r>
            <a:r>
              <a:rPr lang="zh-CN" altLang="en-US" sz="1800" dirty="0"/>
              <a:t>撤销刚才的修改，恢复事务</a:t>
            </a:r>
            <a:r>
              <a:rPr lang="en-US" altLang="zh-CN" sz="1800" dirty="0"/>
              <a:t>)</a:t>
            </a:r>
            <a:endParaRPr lang="en-US" altLang="zh-CN" sz="1800" dirty="0"/>
          </a:p>
          <a:p>
            <a:pPr marL="411480" indent="-470535" eaLnBrk="1" hangingPunct="1">
              <a:lnSpc>
                <a:spcPct val="80000"/>
              </a:lnSpc>
              <a:buNone/>
            </a:pPr>
            <a:r>
              <a:rPr lang="en-US" altLang="zh-CN" sz="1800" dirty="0"/>
              <a:t>     }</a:t>
            </a:r>
            <a:endParaRPr lang="en-US" altLang="zh-CN" sz="1800" dirty="0"/>
          </a:p>
          <a:p>
            <a:pPr marL="411480" indent="-470535" eaLnBrk="1" hangingPunct="1">
              <a:lnSpc>
                <a:spcPct val="80000"/>
              </a:lnSpc>
              <a:buNone/>
            </a:pPr>
            <a:r>
              <a:rPr lang="en-US" altLang="zh-CN" sz="1800" dirty="0"/>
              <a:t>     ELSE</a:t>
            </a:r>
            <a:endParaRPr lang="en-US" altLang="zh-CN" sz="1800" dirty="0"/>
          </a:p>
          <a:p>
            <a:pPr marL="411480" indent="-470535" eaLnBrk="1" hangingPunct="1">
              <a:lnSpc>
                <a:spcPct val="80000"/>
              </a:lnSpc>
              <a:buNone/>
            </a:pPr>
            <a:r>
              <a:rPr lang="en-US" altLang="zh-CN" sz="1800" dirty="0"/>
              <a:t>     {</a:t>
            </a:r>
            <a:endParaRPr lang="en-US" altLang="zh-CN" sz="1800" dirty="0"/>
          </a:p>
          <a:p>
            <a:pPr marL="411480" indent="-470535" eaLnBrk="1" hangingPunct="1">
              <a:lnSpc>
                <a:spcPct val="80000"/>
              </a:lnSpc>
              <a:buNone/>
            </a:pPr>
            <a:r>
              <a:rPr lang="en-US" altLang="zh-CN" sz="1800" dirty="0"/>
              <a:t>          </a:t>
            </a:r>
            <a:r>
              <a:rPr lang="zh-CN" altLang="en-US" sz="1800" dirty="0"/>
              <a:t>读账户乙的余额</a:t>
            </a:r>
            <a:r>
              <a:rPr lang="en-US" altLang="zh-CN" sz="1800" dirty="0"/>
              <a:t>BALANCE1</a:t>
            </a:r>
            <a:r>
              <a:rPr lang="zh-CN" altLang="en-US" sz="1800" dirty="0"/>
              <a:t>；</a:t>
            </a:r>
            <a:endParaRPr lang="zh-CN" altLang="en-US" sz="1800" dirty="0"/>
          </a:p>
          <a:p>
            <a:pPr marL="411480" indent="-470535" eaLnBrk="1" hangingPunct="1">
              <a:lnSpc>
                <a:spcPct val="80000"/>
              </a:lnSpc>
              <a:buNone/>
            </a:pPr>
            <a:r>
              <a:rPr lang="zh-CN" altLang="en-US" sz="1800" dirty="0"/>
              <a:t>          </a:t>
            </a:r>
            <a:r>
              <a:rPr lang="en-US" altLang="zh-CN" sz="1800" dirty="0"/>
              <a:t>BALANCE1=BALANCE1+AMOUNT</a:t>
            </a:r>
            <a:r>
              <a:rPr lang="zh-CN" altLang="en-US" sz="1800" dirty="0"/>
              <a:t>；</a:t>
            </a:r>
            <a:endParaRPr lang="zh-CN" altLang="en-US" sz="1800" dirty="0"/>
          </a:p>
          <a:p>
            <a:pPr marL="411480" indent="-470535" eaLnBrk="1" hangingPunct="1">
              <a:lnSpc>
                <a:spcPct val="80000"/>
              </a:lnSpc>
              <a:buNone/>
            </a:pPr>
            <a:r>
              <a:rPr lang="zh-CN" altLang="en-US" sz="1800" dirty="0"/>
              <a:t>          写回</a:t>
            </a:r>
            <a:r>
              <a:rPr lang="en-US" altLang="zh-CN" sz="1800" dirty="0"/>
              <a:t>BALANCE1</a:t>
            </a:r>
            <a:r>
              <a:rPr lang="zh-CN" altLang="en-US" sz="1800" dirty="0"/>
              <a:t>；</a:t>
            </a:r>
            <a:endParaRPr lang="zh-CN" altLang="en-US" sz="1800" dirty="0"/>
          </a:p>
          <a:p>
            <a:pPr marL="411480" indent="-470535" eaLnBrk="1" hangingPunct="1">
              <a:lnSpc>
                <a:spcPct val="80000"/>
              </a:lnSpc>
              <a:buNone/>
            </a:pPr>
            <a:r>
              <a:rPr lang="zh-CN" altLang="en-US" sz="1800" dirty="0"/>
              <a:t>          </a:t>
            </a:r>
            <a:r>
              <a:rPr lang="en-US" altLang="zh-CN" sz="1800" dirty="0"/>
              <a:t>COMMIT</a:t>
            </a:r>
            <a:r>
              <a:rPr lang="zh-CN" altLang="en-US" sz="1800" dirty="0"/>
              <a:t>；</a:t>
            </a:r>
            <a:endParaRPr lang="zh-CN" altLang="en-US" sz="1800" dirty="0"/>
          </a:p>
          <a:p>
            <a:pPr marL="411480" indent="-470535" eaLnBrk="1" hangingPunct="1">
              <a:lnSpc>
                <a:spcPct val="80000"/>
              </a:lnSpc>
              <a:buNone/>
            </a:pPr>
            <a:r>
              <a:rPr lang="zh-CN" altLang="en-US" sz="1800" dirty="0"/>
              <a:t>      </a:t>
            </a:r>
            <a:r>
              <a:rPr lang="en-US" altLang="zh-CN" sz="1800" dirty="0"/>
              <a:t>}</a:t>
            </a:r>
            <a:endParaRPr lang="en-US" altLang="zh-CN" sz="1800" dirty="0"/>
          </a:p>
          <a:p>
            <a:pPr marL="411480" indent="-470535" eaLnBrk="1" hangingPunct="1">
              <a:lnSpc>
                <a:spcPct val="80000"/>
              </a:lnSpc>
              <a:buFont typeface="Wingdings" panose="05000000000000000000" pitchFamily="2" charset="2"/>
              <a:buChar char=""/>
            </a:pPr>
            <a:endParaRPr lang="en-US" altLang="zh-CN" sz="1600" dirty="0"/>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事务内部的故障（续）</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4578" name="Rectangle 3"/>
          <p:cNvSpPr>
            <a:spLocks noGrp="1"/>
          </p:cNvSpPr>
          <p:nvPr>
            <p:ph idx="1"/>
          </p:nvPr>
        </p:nvSpPr>
        <p:spPr>
          <a:ln/>
        </p:spPr>
        <p:txBody>
          <a:bodyPr vert="horz" wrap="square" lIns="91440" tIns="45720" rIns="91440" bIns="45720" anchor="t" anchorCtr="0"/>
          <a:p>
            <a:pPr eaLnBrk="1" hangingPunct="1">
              <a:lnSpc>
                <a:spcPct val="170000"/>
              </a:lnSpc>
            </a:pPr>
            <a:r>
              <a:rPr lang="zh-CN" altLang="en-US" sz="2400" dirty="0"/>
              <a:t>这个例子所包括的两个更新操作要么全部完成要么全部不做。否则就会使数据库处于不一致状态，例如只把账户甲的余额减少了而没有把账户乙的余额增加。</a:t>
            </a:r>
            <a:endParaRPr lang="zh-CN" altLang="en-US" sz="2400" dirty="0"/>
          </a:p>
          <a:p>
            <a:pPr eaLnBrk="1" hangingPunct="1">
              <a:lnSpc>
                <a:spcPct val="170000"/>
              </a:lnSpc>
            </a:pPr>
            <a:r>
              <a:rPr lang="zh-CN" altLang="en-US" sz="2400" dirty="0"/>
              <a:t>在这段程序中若产生账户甲余额不足的情况，应用程序可以发现并让事务滚回，撤销已作的修改，恢复数据库到正确状态。</a:t>
            </a:r>
            <a:endParaRPr lang="zh-CN" altLang="en-US" sz="2400" dirty="0"/>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事务内部的故障（续）</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5602" name="Rectangle 3"/>
          <p:cNvSpPr>
            <a:spLocks noGrp="1"/>
          </p:cNvSpPr>
          <p:nvPr>
            <p:ph idx="1"/>
          </p:nvPr>
        </p:nvSpPr>
        <p:spPr>
          <a:ln/>
        </p:spPr>
        <p:txBody>
          <a:bodyPr vert="horz" wrap="square" lIns="91440" tIns="45720" rIns="91440" bIns="45720" anchor="t" anchorCtr="0"/>
          <a:p>
            <a:pPr eaLnBrk="1" hangingPunct="1">
              <a:lnSpc>
                <a:spcPct val="150000"/>
              </a:lnSpc>
            </a:pPr>
            <a:r>
              <a:rPr lang="zh-CN" altLang="en-US" sz="2800" dirty="0"/>
              <a:t>事务内部更多的故障</a:t>
            </a:r>
            <a:r>
              <a:rPr lang="zh-CN" altLang="en-US" sz="2800" dirty="0">
                <a:solidFill>
                  <a:srgbClr val="FF0000"/>
                </a:solidFill>
              </a:rPr>
              <a:t>是非预期的</a:t>
            </a:r>
            <a:r>
              <a:rPr lang="zh-CN" altLang="en-US" sz="2800" dirty="0"/>
              <a:t>，是</a:t>
            </a:r>
            <a:r>
              <a:rPr lang="zh-CN" altLang="en-US" sz="2800" dirty="0">
                <a:solidFill>
                  <a:srgbClr val="FF0000"/>
                </a:solidFill>
              </a:rPr>
              <a:t>不能由应用程序处理</a:t>
            </a:r>
            <a:r>
              <a:rPr lang="zh-CN" altLang="en-US" sz="2800" dirty="0"/>
              <a:t>的。</a:t>
            </a:r>
            <a:endParaRPr lang="zh-CN" altLang="en-US" sz="2800" dirty="0"/>
          </a:p>
          <a:p>
            <a:pPr lvl="1" indent="-436245" eaLnBrk="1" hangingPunct="1">
              <a:lnSpc>
                <a:spcPct val="150000"/>
              </a:lnSpc>
              <a:buFont typeface="Wingdings" panose="05000000000000000000" pitchFamily="2" charset="2"/>
              <a:buChar char="n"/>
            </a:pPr>
            <a:r>
              <a:rPr lang="zh-CN" altLang="en-US" sz="2400" dirty="0"/>
              <a:t>运算溢出</a:t>
            </a:r>
            <a:endParaRPr lang="zh-CN" altLang="en-US" sz="2400" dirty="0"/>
          </a:p>
          <a:p>
            <a:pPr lvl="1" indent="-436245" eaLnBrk="1" hangingPunct="1">
              <a:lnSpc>
                <a:spcPct val="150000"/>
              </a:lnSpc>
              <a:buFont typeface="Wingdings" panose="05000000000000000000" pitchFamily="2" charset="2"/>
              <a:buChar char="n"/>
            </a:pPr>
            <a:r>
              <a:rPr lang="zh-CN" altLang="en-US" sz="2400" dirty="0"/>
              <a:t>并发事务发生死锁而被选中撤销该事务</a:t>
            </a:r>
            <a:endParaRPr lang="zh-CN" altLang="en-US" sz="2400" dirty="0"/>
          </a:p>
          <a:p>
            <a:pPr lvl="1" indent="-436245" eaLnBrk="1" hangingPunct="1">
              <a:lnSpc>
                <a:spcPct val="150000"/>
              </a:lnSpc>
              <a:buFont typeface="Wingdings" panose="05000000000000000000" pitchFamily="2" charset="2"/>
              <a:buChar char="n"/>
            </a:pPr>
            <a:r>
              <a:rPr lang="zh-CN" altLang="en-US" sz="2400" dirty="0"/>
              <a:t>违反了某些完整性限制等</a:t>
            </a:r>
            <a:endParaRPr lang="zh-CN" altLang="en-US" sz="2400" dirty="0"/>
          </a:p>
          <a:p>
            <a:pPr eaLnBrk="1" hangingPunct="1">
              <a:lnSpc>
                <a:spcPct val="150000"/>
              </a:lnSpc>
              <a:buNone/>
            </a:pPr>
            <a:r>
              <a:rPr lang="zh-CN" altLang="en-US" sz="2400" dirty="0"/>
              <a:t>    以后，</a:t>
            </a:r>
            <a:r>
              <a:rPr lang="zh-CN" altLang="en-US" sz="2400" dirty="0">
                <a:solidFill>
                  <a:srgbClr val="FF0000"/>
                </a:solidFill>
              </a:rPr>
              <a:t>事务故障</a:t>
            </a:r>
            <a:r>
              <a:rPr lang="zh-CN" altLang="en-US" sz="2400" dirty="0"/>
              <a:t>仅指这类</a:t>
            </a:r>
            <a:r>
              <a:rPr lang="zh-CN" altLang="en-US" sz="2400" b="1" dirty="0">
                <a:solidFill>
                  <a:srgbClr val="FF00FF"/>
                </a:solidFill>
              </a:rPr>
              <a:t>非预期的故障</a:t>
            </a:r>
            <a:endParaRPr lang="zh-CN" altLang="en-US" sz="2400" b="1" dirty="0">
              <a:solidFill>
                <a:srgbClr val="FF00FF"/>
              </a:solidFill>
            </a:endParaRPr>
          </a:p>
          <a:p>
            <a:pPr eaLnBrk="1" hangingPunct="1">
              <a:lnSpc>
                <a:spcPct val="150000"/>
              </a:lnSpc>
            </a:pPr>
            <a:r>
              <a:rPr lang="zh-CN" altLang="en-US" sz="2800" dirty="0"/>
              <a:t>事务故障的恢复：</a:t>
            </a:r>
            <a:r>
              <a:rPr lang="zh-CN" altLang="en-US" sz="2800" b="1" dirty="0">
                <a:solidFill>
                  <a:srgbClr val="FF00FF"/>
                </a:solidFill>
              </a:rPr>
              <a:t>撤消事务（</a:t>
            </a:r>
            <a:r>
              <a:rPr lang="en-US" altLang="zh-CN" sz="2800" b="1" dirty="0">
                <a:solidFill>
                  <a:srgbClr val="FF00FF"/>
                </a:solidFill>
              </a:rPr>
              <a:t>UNDO</a:t>
            </a:r>
            <a:r>
              <a:rPr lang="zh-CN" altLang="en-US" sz="2800" b="1" dirty="0">
                <a:solidFill>
                  <a:srgbClr val="FF00FF"/>
                </a:solidFill>
              </a:rPr>
              <a:t>）</a:t>
            </a:r>
            <a:endParaRPr lang="zh-CN" altLang="en-US" sz="2800" b="1" dirty="0">
              <a:solidFill>
                <a:srgbClr val="FF00FF"/>
              </a:solidFill>
            </a:endParaRPr>
          </a:p>
        </p:txBody>
      </p:sp>
    </p:spTree>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二、系统故障</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6626" name="Rectangle 3"/>
          <p:cNvSpPr>
            <a:spLocks noGrp="1"/>
          </p:cNvSpPr>
          <p:nvPr>
            <p:ph idx="1"/>
          </p:nvPr>
        </p:nvSpPr>
        <p:spPr>
          <a:ln/>
        </p:spPr>
        <p:txBody>
          <a:bodyPr vert="horz" wrap="square" lIns="91440" tIns="45720" rIns="91440" bIns="45720" anchor="t" anchorCtr="0"/>
          <a:p>
            <a:pPr eaLnBrk="1" hangingPunct="1"/>
            <a:r>
              <a:rPr lang="zh-CN" altLang="en-US" dirty="0"/>
              <a:t>系统故障</a:t>
            </a:r>
            <a:endParaRPr lang="zh-CN" altLang="en-US" dirty="0"/>
          </a:p>
          <a:p>
            <a:pPr lvl="1" indent="-436245" eaLnBrk="1" hangingPunct="1">
              <a:spcBef>
                <a:spcPct val="50000"/>
              </a:spcBef>
              <a:buNone/>
            </a:pPr>
            <a:r>
              <a:rPr lang="zh-CN" altLang="en-US" dirty="0"/>
              <a:t>称为</a:t>
            </a:r>
            <a:r>
              <a:rPr lang="zh-CN" altLang="en-US" b="1" dirty="0">
                <a:solidFill>
                  <a:srgbClr val="FF0000"/>
                </a:solidFill>
              </a:rPr>
              <a:t>软故障</a:t>
            </a:r>
            <a:r>
              <a:rPr lang="zh-CN" altLang="en-US" dirty="0"/>
              <a:t>，是指造成系统停止运转的任何事件，使得系统要</a:t>
            </a:r>
            <a:r>
              <a:rPr lang="zh-CN" altLang="en-US" b="1" dirty="0">
                <a:solidFill>
                  <a:srgbClr val="FF0000"/>
                </a:solidFill>
              </a:rPr>
              <a:t>重新启动</a:t>
            </a:r>
            <a:r>
              <a:rPr lang="zh-CN" altLang="en-US" dirty="0"/>
              <a:t>。 </a:t>
            </a:r>
            <a:endParaRPr lang="zh-CN" altLang="en-US" dirty="0"/>
          </a:p>
          <a:p>
            <a:pPr lvl="1" indent="-436245" eaLnBrk="1" hangingPunct="1">
              <a:spcBef>
                <a:spcPct val="50000"/>
              </a:spcBef>
            </a:pPr>
            <a:r>
              <a:rPr lang="zh-CN" altLang="en-US" dirty="0"/>
              <a:t>整个系统的正常运行突然被破坏</a:t>
            </a:r>
            <a:endParaRPr lang="zh-CN" altLang="en-US" dirty="0"/>
          </a:p>
          <a:p>
            <a:pPr lvl="1" indent="-436245" eaLnBrk="1" hangingPunct="1">
              <a:spcBef>
                <a:spcPct val="50000"/>
              </a:spcBef>
            </a:pPr>
            <a:r>
              <a:rPr lang="zh-CN" altLang="en-US" dirty="0"/>
              <a:t>所有正在运行的事务都非正常终止</a:t>
            </a:r>
            <a:endParaRPr lang="zh-CN" altLang="en-US" dirty="0"/>
          </a:p>
          <a:p>
            <a:pPr lvl="1" indent="-436245" eaLnBrk="1" hangingPunct="1">
              <a:spcBef>
                <a:spcPct val="50000"/>
              </a:spcBef>
            </a:pPr>
            <a:r>
              <a:rPr lang="zh-CN" altLang="en-US" dirty="0"/>
              <a:t>但不破坏数据库</a:t>
            </a:r>
            <a:endParaRPr lang="zh-CN" altLang="en-US" dirty="0"/>
          </a:p>
          <a:p>
            <a:pPr lvl="1" indent="-436245" eaLnBrk="1" hangingPunct="1">
              <a:spcBef>
                <a:spcPct val="50000"/>
              </a:spcBef>
            </a:pPr>
            <a:r>
              <a:rPr lang="zh-CN" altLang="en-US" dirty="0"/>
              <a:t>内存中数据库缓冲区的信息全部丢失</a:t>
            </a:r>
            <a:endParaRPr lang="en-US" altLang="zh-CN" dirty="0"/>
          </a:p>
          <a:p>
            <a:pPr lvl="1" indent="-436245" eaLnBrk="1" hangingPunct="1">
              <a:spcBef>
                <a:spcPct val="50000"/>
              </a:spcBef>
            </a:pPr>
            <a:r>
              <a:rPr lang="zh-CN" altLang="en-US" dirty="0"/>
              <a:t>数据不一致，不正确</a:t>
            </a:r>
            <a:endParaRPr lang="zh-CN" altLang="en-US" dirty="0"/>
          </a:p>
          <a:p>
            <a:pPr lvl="1" indent="-436245" eaLnBrk="1" hangingPunct="1"/>
            <a:endParaRPr lang="en-US" altLang="zh-CN" dirty="0"/>
          </a:p>
        </p:txBody>
      </p:sp>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系统故障的常见原因</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7650" name="Rectangle 3"/>
          <p:cNvSpPr>
            <a:spLocks noGrp="1"/>
          </p:cNvSpPr>
          <p:nvPr>
            <p:ph idx="1"/>
          </p:nvPr>
        </p:nvSpPr>
        <p:spPr>
          <a:ln/>
        </p:spPr>
        <p:txBody>
          <a:bodyPr vert="horz" wrap="square" lIns="91440" tIns="45720" rIns="91440" bIns="45720" anchor="t" anchorCtr="0"/>
          <a:p>
            <a:pPr eaLnBrk="1" hangingPunct="1">
              <a:lnSpc>
                <a:spcPct val="160000"/>
              </a:lnSpc>
            </a:pPr>
            <a:r>
              <a:rPr lang="zh-CN" altLang="en-US" dirty="0"/>
              <a:t>特定类型的硬件错误（如</a:t>
            </a:r>
            <a:r>
              <a:rPr lang="en-US" altLang="zh-CN" dirty="0"/>
              <a:t>CPU</a:t>
            </a:r>
            <a:r>
              <a:rPr lang="zh-CN" altLang="en-US" dirty="0"/>
              <a:t>故障）</a:t>
            </a:r>
            <a:endParaRPr lang="zh-CN" altLang="en-US" dirty="0"/>
          </a:p>
          <a:p>
            <a:pPr eaLnBrk="1" hangingPunct="1">
              <a:lnSpc>
                <a:spcPct val="160000"/>
              </a:lnSpc>
            </a:pPr>
            <a:r>
              <a:rPr lang="zh-CN" altLang="en-US" dirty="0"/>
              <a:t>操作系统故障</a:t>
            </a:r>
            <a:endParaRPr lang="zh-CN" altLang="en-US" dirty="0"/>
          </a:p>
          <a:p>
            <a:pPr eaLnBrk="1" hangingPunct="1">
              <a:lnSpc>
                <a:spcPct val="160000"/>
              </a:lnSpc>
            </a:pPr>
            <a:r>
              <a:rPr lang="en-US" altLang="zh-CN" dirty="0"/>
              <a:t>DBMS</a:t>
            </a:r>
            <a:r>
              <a:rPr lang="zh-CN" altLang="en-US" dirty="0"/>
              <a:t>代码错误</a:t>
            </a:r>
            <a:endParaRPr lang="zh-CN" altLang="en-US" dirty="0"/>
          </a:p>
          <a:p>
            <a:pPr eaLnBrk="1" hangingPunct="1">
              <a:lnSpc>
                <a:spcPct val="160000"/>
              </a:lnSpc>
            </a:pPr>
            <a:r>
              <a:rPr lang="zh-CN" altLang="en-US" dirty="0"/>
              <a:t>系统断电</a:t>
            </a:r>
            <a:endParaRPr lang="zh-CN" altLang="en-US" dirty="0"/>
          </a:p>
        </p:txBody>
      </p:sp>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系统故障的恢复</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8674" name="Rectangle 3"/>
          <p:cNvSpPr>
            <a:spLocks noGrp="1"/>
          </p:cNvSpPr>
          <p:nvPr>
            <p:ph idx="1"/>
          </p:nvPr>
        </p:nvSpPr>
        <p:spPr>
          <a:ln/>
        </p:spPr>
        <p:txBody>
          <a:bodyPr vert="horz" wrap="square" lIns="91440" tIns="45720" rIns="91440" bIns="45720" anchor="t" anchorCtr="0"/>
          <a:p>
            <a:pPr eaLnBrk="1" hangingPunct="1">
              <a:lnSpc>
                <a:spcPct val="130000"/>
              </a:lnSpc>
            </a:pPr>
            <a:r>
              <a:rPr lang="en-US" altLang="zh-CN" dirty="0"/>
              <a:t>1.</a:t>
            </a:r>
            <a:r>
              <a:rPr lang="zh-CN" altLang="en-US" dirty="0"/>
              <a:t>发生系统故障时，事务</a:t>
            </a:r>
            <a:r>
              <a:rPr lang="zh-CN" altLang="en-US" b="1" dirty="0">
                <a:solidFill>
                  <a:srgbClr val="FF0000"/>
                </a:solidFill>
              </a:rPr>
              <a:t>未提交</a:t>
            </a:r>
            <a:endParaRPr lang="zh-CN" altLang="en-US" b="1" dirty="0">
              <a:solidFill>
                <a:srgbClr val="FF0000"/>
              </a:solidFill>
            </a:endParaRPr>
          </a:p>
          <a:p>
            <a:pPr lvl="1" indent="-436245" eaLnBrk="1" hangingPunct="1">
              <a:lnSpc>
                <a:spcPct val="130000"/>
              </a:lnSpc>
            </a:pPr>
            <a:r>
              <a:rPr lang="zh-CN" altLang="en-US" b="1" dirty="0">
                <a:solidFill>
                  <a:srgbClr val="34A65A"/>
                </a:solidFill>
              </a:rPr>
              <a:t>恢复策略：强行撤消（</a:t>
            </a:r>
            <a:r>
              <a:rPr lang="en-US" altLang="zh-CN" b="1" dirty="0">
                <a:solidFill>
                  <a:srgbClr val="FF0000"/>
                </a:solidFill>
              </a:rPr>
              <a:t>UNDO</a:t>
            </a:r>
            <a:r>
              <a:rPr lang="zh-CN" altLang="en-US" b="1" dirty="0">
                <a:solidFill>
                  <a:srgbClr val="34A65A"/>
                </a:solidFill>
              </a:rPr>
              <a:t>）所有未完成事务</a:t>
            </a:r>
            <a:endParaRPr lang="zh-CN" altLang="en-US" b="1" dirty="0">
              <a:solidFill>
                <a:srgbClr val="34A65A"/>
              </a:solidFill>
            </a:endParaRPr>
          </a:p>
          <a:p>
            <a:pPr eaLnBrk="1" hangingPunct="1">
              <a:lnSpc>
                <a:spcPct val="130000"/>
              </a:lnSpc>
            </a:pPr>
            <a:r>
              <a:rPr lang="en-US" altLang="zh-CN" dirty="0"/>
              <a:t>2.</a:t>
            </a:r>
            <a:r>
              <a:rPr lang="zh-CN" altLang="en-US" dirty="0"/>
              <a:t>发生系统故障时，事务</a:t>
            </a:r>
            <a:r>
              <a:rPr lang="zh-CN" altLang="en-US" b="1" dirty="0">
                <a:solidFill>
                  <a:srgbClr val="FF0000"/>
                </a:solidFill>
              </a:rPr>
              <a:t>已提交</a:t>
            </a:r>
            <a:r>
              <a:rPr lang="zh-CN" altLang="en-US" dirty="0"/>
              <a:t>，但缓冲区中的信息</a:t>
            </a:r>
            <a:r>
              <a:rPr lang="zh-CN" altLang="en-US" b="1" dirty="0">
                <a:solidFill>
                  <a:srgbClr val="FF0000"/>
                </a:solidFill>
              </a:rPr>
              <a:t>尚未完全写回到磁盘</a:t>
            </a:r>
            <a:r>
              <a:rPr lang="zh-CN" altLang="en-US" dirty="0"/>
              <a:t>上。</a:t>
            </a:r>
            <a:endParaRPr lang="zh-CN" altLang="en-US" dirty="0"/>
          </a:p>
          <a:p>
            <a:pPr lvl="1" indent="-436245" eaLnBrk="1" hangingPunct="1">
              <a:lnSpc>
                <a:spcPct val="130000"/>
              </a:lnSpc>
            </a:pPr>
            <a:r>
              <a:rPr lang="zh-CN" altLang="en-US" b="1" dirty="0">
                <a:solidFill>
                  <a:srgbClr val="34A65A"/>
                </a:solidFill>
              </a:rPr>
              <a:t>恢复策略：重做（</a:t>
            </a:r>
            <a:r>
              <a:rPr lang="en-US" altLang="zh-CN" b="1" dirty="0">
                <a:solidFill>
                  <a:srgbClr val="FF0000"/>
                </a:solidFill>
              </a:rPr>
              <a:t>REDO</a:t>
            </a:r>
            <a:r>
              <a:rPr lang="zh-CN" altLang="en-US" b="1" dirty="0">
                <a:solidFill>
                  <a:srgbClr val="34A65A"/>
                </a:solidFill>
              </a:rPr>
              <a:t>）所有已提交的事务</a:t>
            </a:r>
            <a:endParaRPr lang="zh-CN" altLang="en-US" b="1" dirty="0">
              <a:solidFill>
                <a:srgbClr val="34A65A"/>
              </a:solidFill>
            </a:endParaRPr>
          </a:p>
        </p:txBody>
      </p:sp>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三、介质故障</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29698" name="Rectangle 3"/>
          <p:cNvSpPr>
            <a:spLocks noGrp="1"/>
          </p:cNvSpPr>
          <p:nvPr>
            <p:ph idx="1"/>
          </p:nvPr>
        </p:nvSpPr>
        <p:spPr>
          <a:ln/>
        </p:spPr>
        <p:txBody>
          <a:bodyPr vert="horz" wrap="square" lIns="91440" tIns="45720" rIns="91440" bIns="45720" anchor="t" anchorCtr="0"/>
          <a:p>
            <a:pPr eaLnBrk="1" hangingPunct="1">
              <a:spcBef>
                <a:spcPct val="50000"/>
              </a:spcBef>
            </a:pPr>
            <a:r>
              <a:rPr lang="zh-CN" altLang="en-US" dirty="0"/>
              <a:t>介质故障</a:t>
            </a:r>
            <a:endParaRPr lang="zh-CN" altLang="en-US" dirty="0"/>
          </a:p>
          <a:p>
            <a:pPr lvl="1" indent="-436245" eaLnBrk="1" hangingPunct="1">
              <a:spcBef>
                <a:spcPct val="50000"/>
              </a:spcBef>
              <a:buNone/>
            </a:pPr>
            <a:r>
              <a:rPr lang="zh-CN" altLang="en-US" dirty="0"/>
              <a:t>称为</a:t>
            </a:r>
            <a:r>
              <a:rPr lang="zh-CN" altLang="en-US" b="1" dirty="0">
                <a:solidFill>
                  <a:srgbClr val="FF0000"/>
                </a:solidFill>
              </a:rPr>
              <a:t>硬故障</a:t>
            </a:r>
            <a:r>
              <a:rPr lang="zh-CN" altLang="en-US" dirty="0"/>
              <a:t>，指外存故障</a:t>
            </a:r>
            <a:endParaRPr lang="zh-CN" altLang="en-US" dirty="0"/>
          </a:p>
          <a:p>
            <a:pPr lvl="1" indent="-436245" eaLnBrk="1" hangingPunct="1">
              <a:spcBef>
                <a:spcPct val="50000"/>
              </a:spcBef>
            </a:pPr>
            <a:r>
              <a:rPr lang="zh-CN" altLang="en-US" dirty="0"/>
              <a:t>磁盘损坏</a:t>
            </a:r>
            <a:endParaRPr lang="zh-CN" altLang="en-US" dirty="0"/>
          </a:p>
          <a:p>
            <a:pPr lvl="1" indent="-436245" eaLnBrk="1" hangingPunct="1">
              <a:spcBef>
                <a:spcPct val="50000"/>
              </a:spcBef>
            </a:pPr>
            <a:r>
              <a:rPr lang="zh-CN" altLang="en-US" dirty="0"/>
              <a:t>磁头碰撞</a:t>
            </a:r>
            <a:endParaRPr lang="zh-CN" altLang="en-US" dirty="0"/>
          </a:p>
          <a:p>
            <a:pPr lvl="1" indent="-436245" eaLnBrk="1" hangingPunct="1">
              <a:spcBef>
                <a:spcPct val="50000"/>
              </a:spcBef>
            </a:pPr>
            <a:r>
              <a:rPr lang="zh-CN" altLang="en-US" dirty="0"/>
              <a:t>操作系统的某种潜在错误</a:t>
            </a:r>
            <a:endParaRPr lang="zh-CN" altLang="en-US" dirty="0"/>
          </a:p>
          <a:p>
            <a:pPr lvl="1" indent="-436245" eaLnBrk="1" hangingPunct="1">
              <a:spcBef>
                <a:spcPct val="50000"/>
              </a:spcBef>
            </a:pPr>
            <a:r>
              <a:rPr lang="zh-CN" altLang="en-US" dirty="0"/>
              <a:t>瞬时强磁场干扰</a:t>
            </a:r>
            <a:endParaRPr lang="en-US" altLang="zh-CN" dirty="0"/>
          </a:p>
          <a:p>
            <a:pPr lvl="1" indent="-436245" eaLnBrk="1" hangingPunct="1">
              <a:spcBef>
                <a:spcPct val="50000"/>
              </a:spcBef>
            </a:pPr>
            <a:r>
              <a:rPr lang="zh-CN" altLang="en-US" dirty="0"/>
              <a:t>此类故障</a:t>
            </a:r>
            <a:r>
              <a:rPr lang="zh-CN" altLang="en-US" b="1" dirty="0">
                <a:solidFill>
                  <a:srgbClr val="FF0000"/>
                </a:solidFill>
              </a:rPr>
              <a:t>可能性小</a:t>
            </a:r>
            <a:r>
              <a:rPr lang="zh-CN" altLang="en-US" dirty="0"/>
              <a:t>，但</a:t>
            </a:r>
            <a:r>
              <a:rPr lang="zh-CN" altLang="en-US" b="1" dirty="0">
                <a:solidFill>
                  <a:srgbClr val="FF0000"/>
                </a:solidFill>
              </a:rPr>
              <a:t>破坏性最大</a:t>
            </a:r>
            <a:endParaRPr lang="zh-CN" altLang="en-US" b="1" dirty="0">
              <a:solidFill>
                <a:srgbClr val="FF0000"/>
              </a:solidFill>
            </a:endParaRPr>
          </a:p>
        </p:txBody>
      </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四、计算机病毒</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30722" name="Rectangle 3"/>
          <p:cNvSpPr>
            <a:spLocks noGrp="1"/>
          </p:cNvSpPr>
          <p:nvPr>
            <p:ph idx="1"/>
          </p:nvPr>
        </p:nvSpPr>
        <p:spPr>
          <a:ln/>
        </p:spPr>
        <p:txBody>
          <a:bodyPr vert="horz" wrap="square" lIns="91440" tIns="45720" rIns="91440" bIns="45720" anchor="t" anchorCtr="0"/>
          <a:p>
            <a:pPr eaLnBrk="1" hangingPunct="1">
              <a:lnSpc>
                <a:spcPct val="120000"/>
              </a:lnSpc>
            </a:pPr>
            <a:r>
              <a:rPr lang="zh-CN" altLang="en-US" dirty="0"/>
              <a:t>计算机病毒</a:t>
            </a:r>
            <a:endParaRPr lang="zh-CN" altLang="en-US" dirty="0"/>
          </a:p>
          <a:p>
            <a:pPr lvl="1" indent="-436245" eaLnBrk="1" hangingPunct="1">
              <a:lnSpc>
                <a:spcPct val="120000"/>
              </a:lnSpc>
            </a:pPr>
            <a:r>
              <a:rPr lang="zh-CN" altLang="en-US" dirty="0"/>
              <a:t>一种人为的故障或破坏，是一些恶作剧者研制的一种计算机程序</a:t>
            </a:r>
            <a:endParaRPr lang="zh-CN" altLang="en-US" dirty="0"/>
          </a:p>
          <a:p>
            <a:pPr lvl="1" indent="-436245" eaLnBrk="1" hangingPunct="1">
              <a:lnSpc>
                <a:spcPct val="120000"/>
              </a:lnSpc>
            </a:pPr>
            <a:r>
              <a:rPr lang="zh-CN" altLang="en-US" dirty="0"/>
              <a:t>可以繁殖和传播</a:t>
            </a:r>
            <a:endParaRPr lang="zh-CN" altLang="en-US" dirty="0"/>
          </a:p>
          <a:p>
            <a:pPr eaLnBrk="1" hangingPunct="1">
              <a:lnSpc>
                <a:spcPct val="120000"/>
              </a:lnSpc>
            </a:pPr>
            <a:r>
              <a:rPr lang="zh-CN" altLang="en-US" dirty="0"/>
              <a:t>危害</a:t>
            </a:r>
            <a:endParaRPr lang="zh-CN" altLang="en-US" dirty="0"/>
          </a:p>
          <a:p>
            <a:pPr lvl="1" indent="-436245" eaLnBrk="1" hangingPunct="1">
              <a:lnSpc>
                <a:spcPct val="140000"/>
              </a:lnSpc>
            </a:pPr>
            <a:r>
              <a:rPr lang="zh-CN" altLang="en-US" dirty="0"/>
              <a:t>破坏、盗窃系统中的数据</a:t>
            </a:r>
            <a:endParaRPr lang="zh-CN" altLang="en-US" dirty="0"/>
          </a:p>
          <a:p>
            <a:pPr lvl="1" indent="-436245" eaLnBrk="1" hangingPunct="1">
              <a:lnSpc>
                <a:spcPct val="140000"/>
              </a:lnSpc>
            </a:pPr>
            <a:r>
              <a:rPr lang="zh-CN" altLang="en-US" dirty="0"/>
              <a:t>破坏系统文件</a:t>
            </a:r>
            <a:endParaRPr lang="zh-CN" altLang="en-US" dirty="0"/>
          </a:p>
          <a:p>
            <a:pPr lvl="2" indent="-394970" eaLnBrk="1" hangingPunct="1">
              <a:buNone/>
            </a:pPr>
            <a:endParaRPr lang="en-US" altLang="zh-CN" dirty="0"/>
          </a:p>
        </p:txBody>
      </p:sp>
    </p:spTree>
  </p:cSld>
  <p:clrMapOvr>
    <a:masterClrMapping/>
  </p:clrMapOvr>
  <p:transition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故障小结</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31746" name="Rectangle 3"/>
          <p:cNvSpPr>
            <a:spLocks noGrp="1"/>
          </p:cNvSpPr>
          <p:nvPr>
            <p:ph idx="1"/>
          </p:nvPr>
        </p:nvSpPr>
        <p:spPr>
          <a:xfrm>
            <a:off x="250825" y="1143000"/>
            <a:ext cx="8569325" cy="5094288"/>
          </a:xfrm>
          <a:ln/>
        </p:spPr>
        <p:txBody>
          <a:bodyPr vert="horz" wrap="square" lIns="91440" tIns="45720" rIns="91440" bIns="45720" anchor="t" anchorCtr="0"/>
          <a:p>
            <a:pPr eaLnBrk="1" hangingPunct="1"/>
            <a:r>
              <a:rPr lang="zh-CN" altLang="en-US" sz="2800" dirty="0"/>
              <a:t>各类故障，对数据库的影响有两种可能性</a:t>
            </a:r>
            <a:endParaRPr lang="zh-CN" altLang="en-US" sz="2800" dirty="0"/>
          </a:p>
          <a:p>
            <a:pPr lvl="1" indent="-436245" eaLnBrk="1" hangingPunct="1">
              <a:buFont typeface="Wingdings" panose="05000000000000000000" pitchFamily="2" charset="2"/>
              <a:buChar char="n"/>
            </a:pPr>
            <a:r>
              <a:rPr lang="zh-CN" altLang="en-US" sz="2400" dirty="0"/>
              <a:t>一是</a:t>
            </a:r>
            <a:r>
              <a:rPr lang="zh-CN" altLang="en-US" sz="2400" dirty="0">
                <a:solidFill>
                  <a:srgbClr val="FF0000"/>
                </a:solidFill>
              </a:rPr>
              <a:t>数据库本身被破坏</a:t>
            </a:r>
            <a:r>
              <a:rPr lang="zh-CN" altLang="en-US" sz="2400" dirty="0"/>
              <a:t>（例如：</a:t>
            </a:r>
            <a:r>
              <a:rPr lang="zh-CN" altLang="en-US" sz="2400" dirty="0">
                <a:solidFill>
                  <a:srgbClr val="0000FF"/>
                </a:solidFill>
              </a:rPr>
              <a:t>计算机病毒和介质故障</a:t>
            </a:r>
            <a:r>
              <a:rPr lang="zh-CN" altLang="en-US" sz="2400" dirty="0"/>
              <a:t>）</a:t>
            </a:r>
            <a:endParaRPr lang="zh-CN" altLang="en-US" sz="2400" dirty="0"/>
          </a:p>
          <a:p>
            <a:pPr lvl="1" indent="-436245" eaLnBrk="1" hangingPunct="1">
              <a:buFont typeface="Wingdings" panose="05000000000000000000" pitchFamily="2" charset="2"/>
              <a:buChar char="n"/>
            </a:pPr>
            <a:r>
              <a:rPr lang="zh-CN" altLang="en-US" sz="2400" dirty="0"/>
              <a:t>二是</a:t>
            </a:r>
            <a:r>
              <a:rPr lang="zh-CN" altLang="en-US" sz="2400" dirty="0">
                <a:solidFill>
                  <a:srgbClr val="FF0000"/>
                </a:solidFill>
              </a:rPr>
              <a:t>数据库没有被破坏</a:t>
            </a:r>
            <a:r>
              <a:rPr lang="zh-CN" altLang="en-US" sz="2400" dirty="0"/>
              <a:t>，但数据可能</a:t>
            </a:r>
            <a:r>
              <a:rPr lang="zh-CN" altLang="en-US" sz="2400" dirty="0">
                <a:solidFill>
                  <a:srgbClr val="FF0000"/>
                </a:solidFill>
              </a:rPr>
              <a:t>不正确</a:t>
            </a:r>
            <a:r>
              <a:rPr lang="zh-CN" altLang="en-US" sz="2400" dirty="0"/>
              <a:t>，这是由于事务的运行被非正常终止造成的。（例如：</a:t>
            </a:r>
            <a:r>
              <a:rPr lang="zh-CN" altLang="en-US" sz="2400" dirty="0">
                <a:solidFill>
                  <a:srgbClr val="0000FF"/>
                </a:solidFill>
              </a:rPr>
              <a:t>系统故障和事务故障</a:t>
            </a:r>
            <a:r>
              <a:rPr lang="zh-CN" altLang="en-US" sz="2400" dirty="0"/>
              <a:t>）</a:t>
            </a:r>
            <a:endParaRPr lang="en-US" altLang="zh-CN" sz="2400" dirty="0"/>
          </a:p>
          <a:p>
            <a:pPr eaLnBrk="1" hangingPunct="1"/>
            <a:r>
              <a:rPr lang="zh-CN" altLang="en-US" sz="2800" dirty="0"/>
              <a:t>恢复的基本原理：</a:t>
            </a:r>
            <a:r>
              <a:rPr lang="zh-CN" altLang="en-US" sz="2800" b="1" dirty="0">
                <a:solidFill>
                  <a:srgbClr val="FF0000"/>
                </a:solidFill>
              </a:rPr>
              <a:t>冗余</a:t>
            </a:r>
            <a:r>
              <a:rPr lang="zh-CN" altLang="en-US" sz="2800" dirty="0"/>
              <a:t>。</a:t>
            </a:r>
            <a:endParaRPr lang="en-US" altLang="zh-CN" sz="2800" dirty="0"/>
          </a:p>
          <a:p>
            <a:pPr lvl="1" indent="-436245" eaLnBrk="1" hangingPunct="1"/>
            <a:r>
              <a:rPr lang="zh-CN" altLang="en-US" sz="2400" dirty="0"/>
              <a:t>实现技术相当复杂。</a:t>
            </a:r>
            <a:endParaRPr lang="en-US" altLang="zh-CN" sz="2400" dirty="0"/>
          </a:p>
          <a:p>
            <a:pPr lvl="1" indent="-436245" eaLnBrk="1" hangingPunct="1"/>
            <a:r>
              <a:rPr lang="zh-CN" altLang="en-US" sz="2400" dirty="0"/>
              <a:t>占</a:t>
            </a:r>
            <a:r>
              <a:rPr lang="en-US" altLang="zh-CN" sz="2400" dirty="0"/>
              <a:t>10%</a:t>
            </a:r>
            <a:r>
              <a:rPr lang="zh-CN" altLang="en-US" sz="2400" dirty="0"/>
              <a:t>的代码。</a:t>
            </a:r>
            <a:endParaRPr lang="en-US" altLang="zh-CN" sz="2400" dirty="0"/>
          </a:p>
          <a:p>
            <a:pPr lvl="1" indent="-436245" eaLnBrk="1" hangingPunct="1"/>
            <a:r>
              <a:rPr lang="zh-CN" altLang="en-US" sz="2400" dirty="0"/>
              <a:t>恢复的技术：</a:t>
            </a:r>
            <a:r>
              <a:rPr lang="zh-CN" altLang="en-US" sz="2400" dirty="0">
                <a:solidFill>
                  <a:srgbClr val="FF0000"/>
                </a:solidFill>
              </a:rPr>
              <a:t>建立冗余数据</a:t>
            </a:r>
            <a:r>
              <a:rPr lang="zh-CN" altLang="en-US" sz="2400" dirty="0"/>
              <a:t>，并利用冗余数据恢复数据库。</a:t>
            </a:r>
            <a:endParaRPr lang="en-US" altLang="zh-CN" sz="2400" dirty="0"/>
          </a:p>
          <a:p>
            <a:pPr lvl="1" indent="-436245" eaLnBrk="1" hangingPunct="1"/>
            <a:r>
              <a:rPr lang="zh-CN" altLang="en-US" sz="2400" dirty="0"/>
              <a:t>建立冗余数据：</a:t>
            </a:r>
            <a:r>
              <a:rPr lang="zh-CN" altLang="en-US" sz="2400" dirty="0">
                <a:solidFill>
                  <a:srgbClr val="FF0000"/>
                </a:solidFill>
              </a:rPr>
              <a:t>数据转储</a:t>
            </a:r>
            <a:r>
              <a:rPr lang="zh-CN" altLang="en-US" sz="2400" dirty="0"/>
              <a:t>（后备副本）和</a:t>
            </a:r>
            <a:r>
              <a:rPr lang="zh-CN" altLang="en-US" sz="2400" dirty="0">
                <a:solidFill>
                  <a:srgbClr val="FF0000"/>
                </a:solidFill>
              </a:rPr>
              <a:t>登记日志文件</a:t>
            </a:r>
            <a:r>
              <a:rPr lang="zh-CN" altLang="en-US" sz="2400" dirty="0"/>
              <a:t>。</a:t>
            </a:r>
            <a:endParaRPr lang="zh-CN" altLang="en-US" sz="2400" dirty="0"/>
          </a:p>
        </p:txBody>
      </p:sp>
    </p:spTree>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第十章  数据库恢复技术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32770" name="Rectangle 3"/>
          <p:cNvSpPr>
            <a:spLocks noGrp="1"/>
          </p:cNvSpPr>
          <p:nvPr>
            <p:ph idx="1"/>
          </p:nvPr>
        </p:nvSpPr>
        <p:spPr>
          <a:xfrm>
            <a:off x="642938" y="1285875"/>
            <a:ext cx="7931150" cy="4495800"/>
          </a:xfrm>
          <a:ln/>
        </p:spPr>
        <p:txBody>
          <a:bodyPr vert="horz" wrap="square" lIns="91440" tIns="45720" rIns="91440" bIns="45720" anchor="t" anchorCtr="0"/>
          <a:p>
            <a:pPr marL="411480" indent="-470535" eaLnBrk="1" hangingPunct="1">
              <a:lnSpc>
                <a:spcPct val="130000"/>
              </a:lnSpc>
              <a:buNone/>
            </a:pPr>
            <a:r>
              <a:rPr lang="en-US" altLang="zh-CN" sz="2400" b="1" dirty="0"/>
              <a:t>10.1  </a:t>
            </a:r>
            <a:r>
              <a:rPr lang="zh-CN" altLang="en-US" sz="2400" b="1" dirty="0"/>
              <a:t>事务的基本概念</a:t>
            </a:r>
            <a:endParaRPr lang="zh-CN" altLang="en-US" sz="2400" b="1" dirty="0"/>
          </a:p>
          <a:p>
            <a:pPr marL="411480" indent="-470535" eaLnBrk="1" hangingPunct="1">
              <a:lnSpc>
                <a:spcPct val="130000"/>
              </a:lnSpc>
              <a:buNone/>
            </a:pPr>
            <a:r>
              <a:rPr lang="en-US" altLang="zh-CN" sz="2400" b="1" dirty="0"/>
              <a:t>10.2  </a:t>
            </a:r>
            <a:r>
              <a:rPr lang="zh-CN" altLang="en-US" sz="2400" b="1" dirty="0"/>
              <a:t>数据库恢复概述</a:t>
            </a:r>
            <a:endParaRPr lang="zh-CN" altLang="en-US" sz="2400" b="1" dirty="0"/>
          </a:p>
          <a:p>
            <a:pPr marL="411480" indent="-470535" eaLnBrk="1" hangingPunct="1">
              <a:lnSpc>
                <a:spcPct val="130000"/>
              </a:lnSpc>
              <a:buNone/>
            </a:pPr>
            <a:r>
              <a:rPr lang="en-US" altLang="zh-CN" sz="2400" b="1" dirty="0"/>
              <a:t>10.3  </a:t>
            </a:r>
            <a:r>
              <a:rPr lang="zh-CN" altLang="en-US" sz="2400" b="1" dirty="0"/>
              <a:t>故障的种类</a:t>
            </a:r>
            <a:endParaRPr lang="zh-CN" altLang="en-US" sz="2400" b="1" dirty="0"/>
          </a:p>
          <a:p>
            <a:pPr marL="411480" indent="-470535" eaLnBrk="1" hangingPunct="1">
              <a:lnSpc>
                <a:spcPct val="130000"/>
              </a:lnSpc>
              <a:buNone/>
            </a:pPr>
            <a:r>
              <a:rPr lang="en-US" altLang="zh-CN" sz="2400" b="1" dirty="0">
                <a:solidFill>
                  <a:srgbClr val="009900"/>
                </a:solidFill>
              </a:rPr>
              <a:t>10.4  </a:t>
            </a:r>
            <a:r>
              <a:rPr lang="zh-CN" altLang="en-US" sz="2400" b="1" dirty="0">
                <a:solidFill>
                  <a:srgbClr val="009900"/>
                </a:solidFill>
              </a:rPr>
              <a:t>恢复的实现技术</a:t>
            </a:r>
            <a:endParaRPr lang="zh-CN" altLang="en-US" sz="2400" b="1" dirty="0">
              <a:solidFill>
                <a:srgbClr val="009900"/>
              </a:solidFill>
            </a:endParaRPr>
          </a:p>
          <a:p>
            <a:pPr marL="411480" indent="-470535" eaLnBrk="1" hangingPunct="1">
              <a:lnSpc>
                <a:spcPct val="130000"/>
              </a:lnSpc>
              <a:buNone/>
            </a:pPr>
            <a:r>
              <a:rPr lang="en-US" altLang="zh-CN" sz="2400" b="1" dirty="0"/>
              <a:t>10.5  </a:t>
            </a:r>
            <a:r>
              <a:rPr lang="zh-CN" altLang="en-US" sz="2400" b="1" dirty="0"/>
              <a:t>恢复策略</a:t>
            </a:r>
            <a:endParaRPr lang="zh-CN" altLang="en-US" sz="2400" b="1" dirty="0"/>
          </a:p>
          <a:p>
            <a:pPr marL="411480" indent="-470535" eaLnBrk="1" hangingPunct="1">
              <a:lnSpc>
                <a:spcPct val="130000"/>
              </a:lnSpc>
              <a:buNone/>
            </a:pPr>
            <a:r>
              <a:rPr lang="en-US" altLang="zh-CN" sz="2400" b="1" dirty="0"/>
              <a:t>10.6  </a:t>
            </a:r>
            <a:r>
              <a:rPr lang="zh-CN" altLang="en-US" sz="2400" b="1" dirty="0"/>
              <a:t>具有检查点的恢复技术</a:t>
            </a:r>
            <a:endParaRPr lang="zh-CN" altLang="en-US" sz="2400" b="1" dirty="0"/>
          </a:p>
          <a:p>
            <a:pPr marL="411480" indent="-470535" eaLnBrk="1" hangingPunct="1">
              <a:lnSpc>
                <a:spcPct val="130000"/>
              </a:lnSpc>
              <a:buNone/>
            </a:pPr>
            <a:r>
              <a:rPr lang="en-US" altLang="zh-CN" sz="2400" b="1" dirty="0"/>
              <a:t>10.7  </a:t>
            </a:r>
            <a:r>
              <a:rPr lang="zh-CN" altLang="en-US" sz="2400" b="1" dirty="0"/>
              <a:t>数据库镜像</a:t>
            </a:r>
            <a:endParaRPr lang="zh-CN" altLang="en-US" sz="2400" b="1" dirty="0"/>
          </a:p>
          <a:p>
            <a:pPr marL="411480" indent="-470535" eaLnBrk="1" hangingPunct="1">
              <a:lnSpc>
                <a:spcPct val="130000"/>
              </a:lnSpc>
              <a:buNone/>
            </a:pPr>
            <a:r>
              <a:rPr lang="en-US" altLang="zh-CN" sz="2400" b="1" dirty="0"/>
              <a:t>10.8  </a:t>
            </a:r>
            <a:r>
              <a:rPr lang="zh-CN" altLang="en-US" sz="2400" b="1" dirty="0"/>
              <a:t>小结</a:t>
            </a:r>
            <a:endParaRPr lang="zh-CN" altLang="en-US" sz="2400" b="1" dirty="0"/>
          </a:p>
        </p:txBody>
      </p:sp>
    </p:spTree>
  </p:cSld>
  <p:clrMapOvr>
    <a:masterClrMapping/>
  </p:clrMapOvr>
  <p:transition advClick="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10.4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恢复的实现技术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33794" name="Rectangle 3"/>
          <p:cNvSpPr>
            <a:spLocks noGrp="1"/>
          </p:cNvSpPr>
          <p:nvPr>
            <p:ph idx="1"/>
          </p:nvPr>
        </p:nvSpPr>
        <p:spPr>
          <a:xfrm>
            <a:off x="642938" y="1071563"/>
            <a:ext cx="7772400" cy="5143500"/>
          </a:xfrm>
          <a:ln/>
        </p:spPr>
        <p:txBody>
          <a:bodyPr vert="horz" wrap="square" lIns="91440" tIns="45720" rIns="91440" bIns="45720" anchor="t" anchorCtr="0"/>
          <a:p>
            <a:pPr eaLnBrk="1" hangingPunct="1">
              <a:lnSpc>
                <a:spcPct val="160000"/>
              </a:lnSpc>
              <a:spcBef>
                <a:spcPct val="0"/>
              </a:spcBef>
            </a:pPr>
            <a:r>
              <a:rPr lang="zh-CN" altLang="en-US" sz="2800" dirty="0"/>
              <a:t>恢复操作的基本原理：</a:t>
            </a:r>
            <a:r>
              <a:rPr lang="zh-CN" altLang="en-US" sz="2800" b="1" dirty="0">
                <a:solidFill>
                  <a:srgbClr val="FF0000"/>
                </a:solidFill>
              </a:rPr>
              <a:t>冗余</a:t>
            </a:r>
            <a:endParaRPr lang="zh-CN" altLang="en-US" sz="2800" b="1" dirty="0">
              <a:solidFill>
                <a:srgbClr val="FF0000"/>
              </a:solidFill>
            </a:endParaRPr>
          </a:p>
          <a:p>
            <a:pPr eaLnBrk="1" hangingPunct="1">
              <a:lnSpc>
                <a:spcPct val="160000"/>
              </a:lnSpc>
              <a:spcBef>
                <a:spcPct val="0"/>
              </a:spcBef>
              <a:buNone/>
            </a:pPr>
            <a:r>
              <a:rPr lang="zh-CN" altLang="en-US" sz="2400" dirty="0"/>
              <a:t>	利用存储在系统其它地方的</a:t>
            </a:r>
            <a:r>
              <a:rPr lang="zh-CN" altLang="en-US" sz="2400" b="1" dirty="0">
                <a:solidFill>
                  <a:srgbClr val="FF0000"/>
                </a:solidFill>
              </a:rPr>
              <a:t>冗余数据</a:t>
            </a:r>
            <a:r>
              <a:rPr lang="zh-CN" altLang="en-US" sz="2400" dirty="0"/>
              <a:t>来</a:t>
            </a:r>
            <a:r>
              <a:rPr lang="zh-CN" altLang="en-US" sz="2400" b="1" dirty="0">
                <a:solidFill>
                  <a:srgbClr val="0000FF"/>
                </a:solidFill>
              </a:rPr>
              <a:t>重建数据库中已被破坏或不正确的那部分数据</a:t>
            </a:r>
            <a:endParaRPr lang="zh-CN" altLang="en-US" sz="2400" b="1" dirty="0">
              <a:solidFill>
                <a:srgbClr val="0000FF"/>
              </a:solidFill>
            </a:endParaRPr>
          </a:p>
          <a:p>
            <a:pPr eaLnBrk="1" hangingPunct="1">
              <a:lnSpc>
                <a:spcPct val="160000"/>
              </a:lnSpc>
              <a:spcBef>
                <a:spcPct val="0"/>
              </a:spcBef>
            </a:pPr>
            <a:r>
              <a:rPr lang="zh-CN" altLang="en-US" sz="2800" dirty="0"/>
              <a:t>恢复机制涉及的关键问题</a:t>
            </a:r>
            <a:endParaRPr lang="zh-CN" altLang="en-US" sz="2800" dirty="0"/>
          </a:p>
          <a:p>
            <a:pPr marL="762000" lvl="1" indent="-304800" eaLnBrk="1" hangingPunct="1">
              <a:lnSpc>
                <a:spcPct val="160000"/>
              </a:lnSpc>
              <a:spcBef>
                <a:spcPct val="0"/>
              </a:spcBef>
              <a:buFont typeface="Wingdings" panose="05000000000000000000" pitchFamily="2" charset="2"/>
              <a:buAutoNum type="arabicPeriod"/>
            </a:pPr>
            <a:r>
              <a:rPr lang="zh-CN" altLang="en-US" sz="2400" dirty="0"/>
              <a:t>如何建立冗余数据</a:t>
            </a:r>
            <a:endParaRPr lang="zh-CN" altLang="en-US" sz="2400" dirty="0"/>
          </a:p>
          <a:p>
            <a:pPr marL="1200150" lvl="2" indent="-285750" eaLnBrk="1" hangingPunct="1">
              <a:lnSpc>
                <a:spcPct val="160000"/>
              </a:lnSpc>
              <a:spcBef>
                <a:spcPct val="0"/>
              </a:spcBef>
              <a:buClr>
                <a:schemeClr val="accent1"/>
              </a:buClr>
              <a:buSzPct val="75000"/>
              <a:buFont typeface="Wingdings" panose="05000000000000000000" pitchFamily="2" charset="2"/>
              <a:buChar char="n"/>
            </a:pPr>
            <a:r>
              <a:rPr lang="zh-CN" altLang="en-US" sz="2400" b="1" dirty="0">
                <a:solidFill>
                  <a:srgbClr val="FF0000"/>
                </a:solidFill>
              </a:rPr>
              <a:t>数据转储</a:t>
            </a:r>
            <a:r>
              <a:rPr lang="zh-CN" altLang="en-US" sz="2400" dirty="0"/>
              <a:t>（</a:t>
            </a:r>
            <a:r>
              <a:rPr lang="en-US" altLang="zh-CN" sz="2400" dirty="0"/>
              <a:t>backup</a:t>
            </a:r>
            <a:r>
              <a:rPr lang="zh-CN" altLang="en-US" sz="2400" dirty="0"/>
              <a:t>）</a:t>
            </a:r>
            <a:endParaRPr lang="zh-CN" altLang="en-US" sz="2400" dirty="0"/>
          </a:p>
          <a:p>
            <a:pPr marL="1200150" lvl="2" indent="-285750" eaLnBrk="1" hangingPunct="1">
              <a:lnSpc>
                <a:spcPct val="160000"/>
              </a:lnSpc>
              <a:spcBef>
                <a:spcPct val="0"/>
              </a:spcBef>
              <a:buClr>
                <a:schemeClr val="accent1"/>
              </a:buClr>
              <a:buSzPct val="75000"/>
              <a:buFont typeface="Wingdings" panose="05000000000000000000" pitchFamily="2" charset="2"/>
              <a:buChar char="n"/>
            </a:pPr>
            <a:r>
              <a:rPr lang="zh-CN" altLang="en-US" sz="2400" b="1" dirty="0">
                <a:solidFill>
                  <a:srgbClr val="FF0000"/>
                </a:solidFill>
              </a:rPr>
              <a:t>登录日志文件</a:t>
            </a:r>
            <a:r>
              <a:rPr lang="zh-CN" altLang="en-US" sz="2400" dirty="0"/>
              <a:t>（</a:t>
            </a:r>
            <a:r>
              <a:rPr lang="en-US" altLang="zh-CN" sz="2400" dirty="0"/>
              <a:t>logging</a:t>
            </a:r>
            <a:r>
              <a:rPr lang="zh-CN" altLang="en-US" sz="2400" dirty="0"/>
              <a:t>）</a:t>
            </a:r>
            <a:endParaRPr lang="zh-CN" altLang="en-US" sz="2400" dirty="0"/>
          </a:p>
          <a:p>
            <a:pPr marL="762000" lvl="1" indent="-304800" eaLnBrk="1" hangingPunct="1">
              <a:lnSpc>
                <a:spcPct val="160000"/>
              </a:lnSpc>
              <a:spcBef>
                <a:spcPct val="0"/>
              </a:spcBef>
              <a:buFont typeface="Wingdings" panose="05000000000000000000" pitchFamily="2" charset="2"/>
              <a:buAutoNum type="arabicPeriod"/>
            </a:pPr>
            <a:r>
              <a:rPr lang="zh-CN" altLang="en-US" sz="2400" dirty="0"/>
              <a:t> 如何利用这些冗余数据实施数据库恢复</a:t>
            </a:r>
            <a:endParaRPr lang="zh-CN" altLang="en-US" sz="2400" dirty="0"/>
          </a:p>
          <a:p>
            <a:pPr marL="762000" lvl="1" indent="-304800" eaLnBrk="1" hangingPunct="1">
              <a:lnSpc>
                <a:spcPct val="80000"/>
              </a:lnSpc>
              <a:buNone/>
            </a:pPr>
            <a:r>
              <a:rPr lang="zh-CN" altLang="en-US" sz="1400" dirty="0"/>
              <a:t>　　</a:t>
            </a:r>
            <a:endParaRPr lang="zh-CN" altLang="en-US" sz="1400" dirty="0"/>
          </a:p>
        </p:txBody>
      </p:sp>
    </p:spTree>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10.4.1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数据转储</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34818" name="Rectangle 3"/>
          <p:cNvSpPr>
            <a:spLocks noGrp="1"/>
          </p:cNvSpPr>
          <p:nvPr>
            <p:ph idx="1"/>
          </p:nvPr>
        </p:nvSpPr>
        <p:spPr>
          <a:ln/>
        </p:spPr>
        <p:txBody>
          <a:bodyPr vert="horz" wrap="square" lIns="91440" tIns="45720" rIns="91440" bIns="45720" anchor="t" anchorCtr="0"/>
          <a:p>
            <a:pPr eaLnBrk="1" hangingPunct="1">
              <a:lnSpc>
                <a:spcPct val="140000"/>
              </a:lnSpc>
              <a:buNone/>
            </a:pPr>
            <a:r>
              <a:rPr lang="zh-CN" altLang="en-US" dirty="0">
                <a:solidFill>
                  <a:srgbClr val="FF0000"/>
                </a:solidFill>
              </a:rPr>
              <a:t>一、什么是数据转储</a:t>
            </a:r>
            <a:endParaRPr lang="zh-CN" altLang="en-US" dirty="0">
              <a:solidFill>
                <a:srgbClr val="FF0000"/>
              </a:solidFill>
            </a:endParaRPr>
          </a:p>
          <a:p>
            <a:pPr eaLnBrk="1" hangingPunct="1">
              <a:lnSpc>
                <a:spcPct val="140000"/>
              </a:lnSpc>
              <a:buNone/>
            </a:pPr>
            <a:r>
              <a:rPr lang="zh-CN" altLang="en-US" dirty="0"/>
              <a:t>二、转储方法</a:t>
            </a:r>
            <a:endParaRPr lang="zh-CN" altLang="en-US" dirty="0"/>
          </a:p>
        </p:txBody>
      </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一、什么是数据转储</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35842" name="Rectangle 3"/>
          <p:cNvSpPr>
            <a:spLocks noGrp="1"/>
          </p:cNvSpPr>
          <p:nvPr>
            <p:ph idx="1"/>
          </p:nvPr>
        </p:nvSpPr>
        <p:spPr>
          <a:ln/>
        </p:spPr>
        <p:txBody>
          <a:bodyPr vert="horz" wrap="square" lIns="91440" tIns="45720" rIns="91440" bIns="45720" anchor="t" anchorCtr="0"/>
          <a:p>
            <a:pPr eaLnBrk="1" hangingPunct="1"/>
            <a:r>
              <a:rPr lang="zh-CN" altLang="en-US" sz="2800" dirty="0"/>
              <a:t>转储是指：</a:t>
            </a:r>
            <a:r>
              <a:rPr lang="en-US" altLang="zh-CN" sz="2800" dirty="0"/>
              <a:t>DBA</a:t>
            </a:r>
            <a:r>
              <a:rPr lang="zh-CN" altLang="en-US" sz="2800" dirty="0"/>
              <a:t>定期地将整个数据库复制到磁带或另一个磁盘上保存起来的过程，备用的数据称为</a:t>
            </a:r>
            <a:r>
              <a:rPr lang="zh-CN" altLang="en-US" sz="2800" b="1" dirty="0">
                <a:solidFill>
                  <a:srgbClr val="FF0000"/>
                </a:solidFill>
              </a:rPr>
              <a:t>后备副本</a:t>
            </a:r>
            <a:r>
              <a:rPr lang="zh-CN" altLang="en-US" sz="2800" dirty="0"/>
              <a:t>或后援副本</a:t>
            </a:r>
            <a:endParaRPr lang="zh-CN" altLang="en-US" sz="2800" dirty="0"/>
          </a:p>
          <a:p>
            <a:pPr eaLnBrk="1" hangingPunct="1"/>
            <a:r>
              <a:rPr lang="zh-CN" altLang="en-US" sz="2800" dirty="0"/>
              <a:t>如何使用</a:t>
            </a:r>
            <a:endParaRPr lang="zh-CN" altLang="en-US" sz="2800" dirty="0"/>
          </a:p>
          <a:p>
            <a:pPr lvl="1" indent="-436245" eaLnBrk="1" hangingPunct="1">
              <a:spcBef>
                <a:spcPct val="0"/>
              </a:spcBef>
            </a:pPr>
            <a:r>
              <a:rPr lang="en-US" altLang="zh-CN" dirty="0"/>
              <a:t>1.</a:t>
            </a:r>
            <a:r>
              <a:rPr lang="zh-CN" altLang="en-US" dirty="0"/>
              <a:t>数据库遭到破坏后可以将后备副本</a:t>
            </a:r>
            <a:r>
              <a:rPr lang="zh-CN" altLang="en-US" b="1" dirty="0">
                <a:solidFill>
                  <a:srgbClr val="FF0000"/>
                </a:solidFill>
              </a:rPr>
              <a:t>重新装入</a:t>
            </a:r>
            <a:endParaRPr lang="zh-CN" altLang="en-US" b="1" dirty="0">
              <a:solidFill>
                <a:srgbClr val="FF0000"/>
              </a:solidFill>
            </a:endParaRPr>
          </a:p>
          <a:p>
            <a:pPr lvl="1" indent="-436245" eaLnBrk="1" hangingPunct="1">
              <a:spcBef>
                <a:spcPct val="0"/>
              </a:spcBef>
            </a:pPr>
            <a:r>
              <a:rPr lang="en-US" altLang="zh-CN" dirty="0"/>
              <a:t>2.</a:t>
            </a:r>
            <a:r>
              <a:rPr lang="zh-CN" altLang="en-US" dirty="0"/>
              <a:t>重装后备副本只能将数据库恢复到转储时的状态，要想恢复到故障发生时的状态，必须重新运行</a:t>
            </a:r>
            <a:r>
              <a:rPr lang="zh-CN" altLang="en-US" b="1" dirty="0">
                <a:solidFill>
                  <a:srgbClr val="FF0000"/>
                </a:solidFill>
              </a:rPr>
              <a:t>自转储以后</a:t>
            </a:r>
            <a:r>
              <a:rPr lang="zh-CN" altLang="en-US" dirty="0"/>
              <a:t>的所有</a:t>
            </a:r>
            <a:r>
              <a:rPr lang="zh-CN" altLang="en-US" b="1" dirty="0">
                <a:solidFill>
                  <a:srgbClr val="FF0000"/>
                </a:solidFill>
              </a:rPr>
              <a:t>更新事务</a:t>
            </a:r>
            <a:r>
              <a:rPr lang="zh-CN" altLang="en-US" dirty="0">
                <a:solidFill>
                  <a:srgbClr val="FF0000"/>
                </a:solidFill>
              </a:rPr>
              <a:t>。</a:t>
            </a:r>
            <a:endParaRPr lang="en-US" altLang="zh-CN" dirty="0">
              <a:solidFill>
                <a:srgbClr val="FF0000"/>
              </a:solidFill>
            </a:endParaRPr>
          </a:p>
          <a:p>
            <a:pPr eaLnBrk="1" hangingPunct="1">
              <a:spcBef>
                <a:spcPct val="0"/>
              </a:spcBef>
            </a:pPr>
            <a:endParaRPr lang="zh-CN" altLang="en-US" dirty="0">
              <a:solidFill>
                <a:srgbClr val="FF0000"/>
              </a:solidFill>
            </a:endParaRPr>
          </a:p>
        </p:txBody>
      </p:sp>
    </p:spTree>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a:ln/>
        </p:spPr>
        <p:txBody>
          <a:bodyPr vert="horz" wrap="square" lIns="91440" tIns="45720" rIns="91440" bIns="45720" anchor="b" anchorCtr="0"/>
          <a:p>
            <a:r>
              <a:rPr lang="zh-CN" altLang="en-US" dirty="0"/>
              <a:t>例：转储与恢复</a:t>
            </a:r>
            <a:endParaRPr lang="zh-CN" altLang="en-US" dirty="0"/>
          </a:p>
        </p:txBody>
      </p:sp>
      <p:pic>
        <p:nvPicPr>
          <p:cNvPr id="36866" name="Picture 2"/>
          <p:cNvPicPr>
            <a:picLocks noGrp="1" noChangeAspect="1"/>
          </p:cNvPicPr>
          <p:nvPr>
            <p:ph idx="1"/>
          </p:nvPr>
        </p:nvPicPr>
        <p:blipFill>
          <a:blip r:embed="rId1"/>
          <a:stretch>
            <a:fillRect/>
          </a:stretch>
        </p:blipFill>
        <p:spPr>
          <a:xfrm>
            <a:off x="357188" y="1214438"/>
            <a:ext cx="8001000" cy="3949700"/>
          </a:xfrm>
          <a:ln/>
        </p:spPr>
      </p:pic>
      <p:sp>
        <p:nvSpPr>
          <p:cNvPr id="36867" name="TextBox 4"/>
          <p:cNvSpPr txBox="1"/>
          <p:nvPr/>
        </p:nvSpPr>
        <p:spPr>
          <a:xfrm>
            <a:off x="857250" y="5429250"/>
            <a:ext cx="7072313" cy="369888"/>
          </a:xfrm>
          <a:prstGeom prst="rect">
            <a:avLst/>
          </a:prstGeom>
          <a:noFill/>
          <a:ln w="9525">
            <a:noFill/>
          </a:ln>
        </p:spPr>
        <p:txBody>
          <a:bodyPr anchor="t" anchorCtr="0">
            <a:spAutoFit/>
          </a:bodyPr>
          <a:p>
            <a:r>
              <a:rPr lang="en-US" altLang="zh-CN" dirty="0">
                <a:latin typeface="Verdana" panose="020B0604030504040204" pitchFamily="34" charset="0"/>
                <a:ea typeface="宋体" panose="02010600030101010101" pitchFamily="2" charset="-122"/>
              </a:rPr>
              <a:t>Ta</a:t>
            </a:r>
            <a:r>
              <a:rPr lang="zh-CN" altLang="en-US" dirty="0">
                <a:latin typeface="Verdana" panose="020B0604030504040204" pitchFamily="34" charset="0"/>
                <a:ea typeface="宋体" panose="02010600030101010101" pitchFamily="2" charset="-122"/>
              </a:rPr>
              <a:t>处开始转储，</a:t>
            </a:r>
            <a:r>
              <a:rPr lang="en-US" altLang="zh-CN" dirty="0">
                <a:latin typeface="Verdana" panose="020B0604030504040204" pitchFamily="34" charset="0"/>
                <a:ea typeface="宋体" panose="02010600030101010101" pitchFamily="2" charset="-122"/>
              </a:rPr>
              <a:t>Tb</a:t>
            </a:r>
            <a:r>
              <a:rPr lang="zh-CN" altLang="en-US" dirty="0">
                <a:latin typeface="Verdana" panose="020B0604030504040204" pitchFamily="34" charset="0"/>
                <a:ea typeface="宋体" panose="02010600030101010101" pitchFamily="2" charset="-122"/>
              </a:rPr>
              <a:t>处转储完成，</a:t>
            </a:r>
            <a:r>
              <a:rPr lang="en-US" altLang="zh-CN" dirty="0">
                <a:latin typeface="Verdana" panose="020B0604030504040204" pitchFamily="34" charset="0"/>
                <a:ea typeface="宋体" panose="02010600030101010101" pitchFamily="2" charset="-122"/>
              </a:rPr>
              <a:t>Tf</a:t>
            </a:r>
            <a:r>
              <a:rPr lang="zh-CN" altLang="en-US" dirty="0">
                <a:latin typeface="Verdana" panose="020B0604030504040204" pitchFamily="34" charset="0"/>
                <a:ea typeface="宋体" panose="02010600030101010101" pitchFamily="2" charset="-122"/>
              </a:rPr>
              <a:t>处发生故障</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1"/>
          <p:cNvSpPr>
            <a:spLocks noGrp="1"/>
          </p:cNvSpPr>
          <p:nvPr>
            <p:ph type="title"/>
          </p:nvPr>
        </p:nvSpPr>
        <p:spPr>
          <a:ln/>
        </p:spPr>
        <p:txBody>
          <a:bodyPr vert="horz" wrap="square" lIns="91440" tIns="45720" rIns="91440" bIns="45720" anchor="b" anchorCtr="0"/>
          <a:p>
            <a:r>
              <a:rPr lang="zh-CN" altLang="en-US" dirty="0"/>
              <a:t>备份时间</a:t>
            </a:r>
            <a:endParaRPr lang="zh-CN" altLang="en-US" dirty="0"/>
          </a:p>
        </p:txBody>
      </p:sp>
      <p:sp>
        <p:nvSpPr>
          <p:cNvPr id="37890" name="内容占位符 2"/>
          <p:cNvSpPr>
            <a:spLocks noGrp="1"/>
          </p:cNvSpPr>
          <p:nvPr>
            <p:ph idx="1"/>
          </p:nvPr>
        </p:nvSpPr>
        <p:spPr>
          <a:ln/>
        </p:spPr>
        <p:txBody>
          <a:bodyPr vert="horz" wrap="square" lIns="91440" tIns="45720" rIns="91440" bIns="45720" anchor="t" anchorCtr="0"/>
          <a:p>
            <a:r>
              <a:rPr lang="zh-CN" altLang="en-US" dirty="0"/>
              <a:t>转储费时，费资源，不能频繁进行，</a:t>
            </a:r>
            <a:r>
              <a:rPr lang="en-US" altLang="zh-CN" dirty="0"/>
              <a:t>DBA</a:t>
            </a:r>
            <a:r>
              <a:rPr lang="zh-CN" altLang="en-US" dirty="0"/>
              <a:t>应确定一个适当的转储周期。</a:t>
            </a:r>
            <a:endParaRPr lang="en-US" altLang="zh-CN" dirty="0"/>
          </a:p>
          <a:p>
            <a:r>
              <a:rPr lang="zh-CN" altLang="en-US" dirty="0"/>
              <a:t>备份时间：</a:t>
            </a:r>
            <a:r>
              <a:rPr lang="zh-CN" altLang="en-US" dirty="0">
                <a:solidFill>
                  <a:srgbClr val="FF0000"/>
                </a:solidFill>
              </a:rPr>
              <a:t>周期性</a:t>
            </a:r>
            <a:r>
              <a:rPr lang="zh-CN" altLang="en-US" dirty="0"/>
              <a:t>的备份</a:t>
            </a:r>
            <a:endParaRPr lang="en-US" altLang="zh-CN" dirty="0"/>
          </a:p>
          <a:p>
            <a:r>
              <a:rPr lang="zh-CN" altLang="en-US" dirty="0"/>
              <a:t>备份周期：跟很多因素有关</a:t>
            </a:r>
            <a:endParaRPr lang="en-US" altLang="zh-CN" dirty="0"/>
          </a:p>
          <a:p>
            <a:r>
              <a:rPr lang="zh-CN" altLang="en-US" dirty="0"/>
              <a:t>一些重要操作后最好立刻备份</a:t>
            </a:r>
            <a:endParaRPr lang="en-US" altLang="zh-CN" dirty="0"/>
          </a:p>
          <a:p>
            <a:r>
              <a:rPr lang="zh-CN" altLang="en-US" dirty="0"/>
              <a:t>银行备份：</a:t>
            </a:r>
            <a:r>
              <a:rPr lang="zh-CN" altLang="en-US" dirty="0">
                <a:solidFill>
                  <a:srgbClr val="FF0000"/>
                </a:solidFill>
              </a:rPr>
              <a:t>近乎实时</a:t>
            </a:r>
            <a:r>
              <a:rPr lang="zh-CN" altLang="en-US" dirty="0"/>
              <a:t>的备份要求、远程的数据保护及快速的系统恢复，在线、自动化数据备份。</a:t>
            </a:r>
            <a:endParaRPr lang="zh-CN" altLang="en-US" dirty="0"/>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二、转储方法</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38914" name="Rectangle 3"/>
          <p:cNvSpPr>
            <a:spLocks noGrp="1"/>
          </p:cNvSpPr>
          <p:nvPr>
            <p:ph idx="1"/>
          </p:nvPr>
        </p:nvSpPr>
        <p:spPr>
          <a:ln/>
        </p:spPr>
        <p:txBody>
          <a:bodyPr vert="horz" wrap="square" lIns="91440" tIns="45720" rIns="91440" bIns="45720" anchor="t" anchorCtr="0"/>
          <a:p>
            <a:pPr eaLnBrk="1" hangingPunct="1">
              <a:lnSpc>
                <a:spcPct val="140000"/>
              </a:lnSpc>
              <a:buNone/>
            </a:pPr>
            <a:r>
              <a:rPr lang="en-US" altLang="zh-CN" dirty="0"/>
              <a:t>1</a:t>
            </a:r>
            <a:r>
              <a:rPr lang="zh-CN" altLang="en-US" dirty="0"/>
              <a:t>．静态转储与动态转储</a:t>
            </a:r>
            <a:endParaRPr lang="zh-CN" altLang="en-US" dirty="0"/>
          </a:p>
          <a:p>
            <a:pPr eaLnBrk="1" hangingPunct="1">
              <a:lnSpc>
                <a:spcPct val="140000"/>
              </a:lnSpc>
              <a:buNone/>
            </a:pPr>
            <a:r>
              <a:rPr lang="en-US" altLang="zh-CN" dirty="0"/>
              <a:t>2</a:t>
            </a:r>
            <a:r>
              <a:rPr lang="zh-CN" altLang="en-US" dirty="0"/>
              <a:t>．海量转储与增量转储</a:t>
            </a:r>
            <a:endParaRPr lang="zh-CN" altLang="en-US" dirty="0"/>
          </a:p>
          <a:p>
            <a:pPr eaLnBrk="1" hangingPunct="1">
              <a:lnSpc>
                <a:spcPct val="140000"/>
              </a:lnSpc>
              <a:buNone/>
            </a:pPr>
            <a:r>
              <a:rPr lang="en-US" altLang="zh-CN" dirty="0"/>
              <a:t>3</a:t>
            </a:r>
            <a:r>
              <a:rPr lang="zh-CN" altLang="en-US" dirty="0"/>
              <a:t>．转储方法小结</a:t>
            </a:r>
            <a:endParaRPr lang="zh-CN" altLang="en-US" dirty="0"/>
          </a:p>
        </p:txBody>
      </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静态转储</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39938" name="Rectangle 3"/>
          <p:cNvSpPr>
            <a:spLocks noGrp="1"/>
          </p:cNvSpPr>
          <p:nvPr>
            <p:ph idx="1"/>
          </p:nvPr>
        </p:nvSpPr>
        <p:spPr>
          <a:xfrm>
            <a:off x="642938" y="1143000"/>
            <a:ext cx="8215312" cy="5072063"/>
          </a:xfrm>
          <a:ln/>
        </p:spPr>
        <p:txBody>
          <a:bodyPr vert="horz" wrap="square" lIns="91440" tIns="45720" rIns="91440" bIns="45720" anchor="t" anchorCtr="0"/>
          <a:p>
            <a:pPr eaLnBrk="1" hangingPunct="1">
              <a:lnSpc>
                <a:spcPct val="120000"/>
              </a:lnSpc>
            </a:pPr>
            <a:r>
              <a:rPr lang="zh-CN" altLang="en-US" sz="2800" dirty="0"/>
              <a:t>在系统中</a:t>
            </a:r>
            <a:r>
              <a:rPr lang="zh-CN" altLang="en-US" sz="2800" b="1" dirty="0">
                <a:solidFill>
                  <a:srgbClr val="FF0000"/>
                </a:solidFill>
              </a:rPr>
              <a:t>无运行事务时</a:t>
            </a:r>
            <a:r>
              <a:rPr lang="zh-CN" altLang="en-US" sz="2800" dirty="0"/>
              <a:t>进行的转储操作</a:t>
            </a:r>
            <a:endParaRPr lang="zh-CN" altLang="en-US" sz="2800" dirty="0"/>
          </a:p>
          <a:p>
            <a:pPr eaLnBrk="1" hangingPunct="1">
              <a:lnSpc>
                <a:spcPct val="120000"/>
              </a:lnSpc>
            </a:pPr>
            <a:r>
              <a:rPr lang="zh-CN" altLang="en-US" sz="2800" dirty="0"/>
              <a:t>转储开始时数据库处于一致性状态</a:t>
            </a:r>
            <a:endParaRPr lang="zh-CN" altLang="en-US" sz="2800" dirty="0"/>
          </a:p>
          <a:p>
            <a:pPr eaLnBrk="1" hangingPunct="1">
              <a:lnSpc>
                <a:spcPct val="120000"/>
              </a:lnSpc>
            </a:pPr>
            <a:r>
              <a:rPr lang="zh-CN" altLang="en-US" sz="2800" dirty="0"/>
              <a:t>转储期间不允许对数据库的任何存取、修改活动</a:t>
            </a:r>
            <a:endParaRPr lang="zh-CN" altLang="en-US" sz="2800" dirty="0"/>
          </a:p>
          <a:p>
            <a:pPr eaLnBrk="1" hangingPunct="1">
              <a:lnSpc>
                <a:spcPct val="120000"/>
              </a:lnSpc>
            </a:pPr>
            <a:r>
              <a:rPr lang="zh-CN" altLang="en-US" sz="2800" dirty="0"/>
              <a:t>得到的一定是一个数据一致性的副本 </a:t>
            </a:r>
            <a:endParaRPr lang="zh-CN" altLang="en-US" sz="2800" dirty="0"/>
          </a:p>
          <a:p>
            <a:pPr eaLnBrk="1" hangingPunct="1">
              <a:lnSpc>
                <a:spcPct val="120000"/>
              </a:lnSpc>
            </a:pPr>
            <a:r>
              <a:rPr lang="zh-CN" altLang="en-US" sz="2800" dirty="0"/>
              <a:t>优点：实现简单</a:t>
            </a:r>
            <a:endParaRPr lang="zh-CN" altLang="en-US" sz="2800" dirty="0"/>
          </a:p>
          <a:p>
            <a:pPr eaLnBrk="1" hangingPunct="1">
              <a:lnSpc>
                <a:spcPct val="120000"/>
              </a:lnSpc>
            </a:pPr>
            <a:r>
              <a:rPr lang="zh-CN" altLang="en-US" sz="2800" dirty="0"/>
              <a:t>缺点：降低了数据库的可用性</a:t>
            </a:r>
            <a:endParaRPr lang="zh-CN" altLang="en-US" sz="2800" dirty="0"/>
          </a:p>
          <a:p>
            <a:pPr lvl="1" indent="-436245" eaLnBrk="1" hangingPunct="1">
              <a:lnSpc>
                <a:spcPct val="120000"/>
              </a:lnSpc>
            </a:pPr>
            <a:r>
              <a:rPr lang="zh-CN" altLang="en-US" sz="2400" dirty="0"/>
              <a:t>转储必须等待正运行的用户事务结束 </a:t>
            </a:r>
            <a:endParaRPr lang="zh-CN" altLang="en-US" sz="2400" dirty="0"/>
          </a:p>
          <a:p>
            <a:pPr lvl="1" indent="-436245" eaLnBrk="1" hangingPunct="1">
              <a:lnSpc>
                <a:spcPct val="120000"/>
              </a:lnSpc>
            </a:pPr>
            <a:r>
              <a:rPr lang="zh-CN" altLang="en-US" sz="2400" dirty="0"/>
              <a:t>新的事务必须等转储结束</a:t>
            </a:r>
            <a:endParaRPr lang="zh-CN" altLang="en-US" sz="2400" dirty="0"/>
          </a:p>
        </p:txBody>
      </p:sp>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动态转储</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40962" name="Rectangle 3"/>
          <p:cNvSpPr>
            <a:spLocks noGrp="1"/>
          </p:cNvSpPr>
          <p:nvPr>
            <p:ph idx="1"/>
          </p:nvPr>
        </p:nvSpPr>
        <p:spPr>
          <a:xfrm>
            <a:off x="566738" y="1143000"/>
            <a:ext cx="8362950" cy="5214938"/>
          </a:xfrm>
          <a:ln/>
        </p:spPr>
        <p:txBody>
          <a:bodyPr vert="horz" wrap="square" lIns="91440" tIns="45720" rIns="91440" bIns="45720" anchor="t" anchorCtr="0"/>
          <a:p>
            <a:pPr eaLnBrk="1" hangingPunct="1">
              <a:lnSpc>
                <a:spcPct val="120000"/>
              </a:lnSpc>
              <a:spcBef>
                <a:spcPts val="300"/>
              </a:spcBef>
            </a:pPr>
            <a:r>
              <a:rPr lang="zh-CN" altLang="en-US" sz="2800" dirty="0"/>
              <a:t>转储操作与用户事务并发进行</a:t>
            </a:r>
            <a:endParaRPr lang="zh-CN" altLang="en-US" sz="2800" dirty="0"/>
          </a:p>
          <a:p>
            <a:pPr eaLnBrk="1" hangingPunct="1">
              <a:lnSpc>
                <a:spcPct val="120000"/>
              </a:lnSpc>
              <a:spcBef>
                <a:spcPts val="300"/>
              </a:spcBef>
            </a:pPr>
            <a:r>
              <a:rPr lang="zh-CN" altLang="en-US" sz="2800" dirty="0"/>
              <a:t>转储期间允许对数据库进行存取或修改</a:t>
            </a:r>
            <a:endParaRPr lang="zh-CN" altLang="en-US" sz="2800" dirty="0"/>
          </a:p>
          <a:p>
            <a:pPr eaLnBrk="1" hangingPunct="1">
              <a:lnSpc>
                <a:spcPct val="120000"/>
              </a:lnSpc>
              <a:spcBef>
                <a:spcPts val="300"/>
              </a:spcBef>
            </a:pPr>
            <a:r>
              <a:rPr lang="zh-CN" altLang="en-US" sz="2800" dirty="0"/>
              <a:t>优点</a:t>
            </a:r>
            <a:endParaRPr lang="zh-CN" altLang="en-US" sz="2800" dirty="0"/>
          </a:p>
          <a:p>
            <a:pPr lvl="1" indent="-436245" eaLnBrk="1" hangingPunct="1">
              <a:lnSpc>
                <a:spcPct val="120000"/>
              </a:lnSpc>
              <a:spcBef>
                <a:spcPts val="300"/>
              </a:spcBef>
            </a:pPr>
            <a:r>
              <a:rPr lang="zh-CN" altLang="en-US" sz="2400" dirty="0"/>
              <a:t>不用等待正在运行的用户事务结束</a:t>
            </a:r>
            <a:endParaRPr lang="zh-CN" altLang="en-US" sz="2400" dirty="0"/>
          </a:p>
          <a:p>
            <a:pPr lvl="1" indent="-436245" eaLnBrk="1" hangingPunct="1">
              <a:lnSpc>
                <a:spcPct val="120000"/>
              </a:lnSpc>
              <a:spcBef>
                <a:spcPts val="300"/>
              </a:spcBef>
            </a:pPr>
            <a:r>
              <a:rPr lang="zh-CN" altLang="en-US" sz="2400" dirty="0"/>
              <a:t>不会影响新事务的运行</a:t>
            </a:r>
            <a:endParaRPr lang="zh-CN" altLang="en-US" sz="2400" dirty="0"/>
          </a:p>
          <a:p>
            <a:pPr eaLnBrk="1" hangingPunct="1">
              <a:lnSpc>
                <a:spcPct val="120000"/>
              </a:lnSpc>
              <a:spcBef>
                <a:spcPts val="300"/>
              </a:spcBef>
            </a:pPr>
            <a:r>
              <a:rPr lang="zh-CN" altLang="en-US" sz="2800" dirty="0"/>
              <a:t>动态转储的缺点</a:t>
            </a:r>
            <a:endParaRPr lang="zh-CN" altLang="en-US" sz="2800" dirty="0"/>
          </a:p>
          <a:p>
            <a:pPr lvl="1" indent="-436245" eaLnBrk="1" hangingPunct="1">
              <a:lnSpc>
                <a:spcPct val="120000"/>
              </a:lnSpc>
            </a:pPr>
            <a:r>
              <a:rPr lang="zh-CN" altLang="en-US" sz="2400" dirty="0"/>
              <a:t>不能保证副本中的数据正确有效</a:t>
            </a:r>
            <a:endParaRPr lang="en-US" altLang="zh-CN" sz="2400" dirty="0"/>
          </a:p>
          <a:p>
            <a:pPr lvl="1" indent="-436245" eaLnBrk="1" hangingPunct="1">
              <a:lnSpc>
                <a:spcPct val="120000"/>
              </a:lnSpc>
            </a:pPr>
            <a:r>
              <a:rPr lang="en-US" altLang="zh-CN" sz="2400" dirty="0"/>
              <a:t>[</a:t>
            </a:r>
            <a:r>
              <a:rPr lang="zh-CN" altLang="en-US" sz="2400" dirty="0"/>
              <a:t>例</a:t>
            </a:r>
            <a:r>
              <a:rPr lang="en-US" altLang="zh-CN" sz="2400" dirty="0"/>
              <a:t>]</a:t>
            </a:r>
            <a:r>
              <a:rPr lang="zh-CN" altLang="en-US" sz="2400" dirty="0"/>
              <a:t>在转储期间的某个时刻</a:t>
            </a:r>
            <a:r>
              <a:rPr lang="en-US" altLang="zh-CN" sz="2400" i="1" dirty="0"/>
              <a:t>T</a:t>
            </a:r>
            <a:r>
              <a:rPr lang="en-US" altLang="zh-CN" sz="2400" dirty="0"/>
              <a:t>c</a:t>
            </a:r>
            <a:r>
              <a:rPr lang="zh-CN" altLang="en-US" sz="2400" dirty="0"/>
              <a:t>，系统把数据</a:t>
            </a:r>
            <a:r>
              <a:rPr lang="en-US" altLang="zh-CN" sz="2400" dirty="0"/>
              <a:t>A=100</a:t>
            </a:r>
            <a:r>
              <a:rPr lang="zh-CN" altLang="en-US" sz="2400" dirty="0"/>
              <a:t>转储到磁带上，而在下一时刻</a:t>
            </a:r>
            <a:r>
              <a:rPr lang="en-US" altLang="zh-CN" sz="2400" i="1" dirty="0"/>
              <a:t>T</a:t>
            </a:r>
            <a:r>
              <a:rPr lang="en-US" altLang="zh-CN" sz="2400" dirty="0"/>
              <a:t>d</a:t>
            </a:r>
            <a:r>
              <a:rPr lang="zh-CN" altLang="en-US" sz="2400" dirty="0"/>
              <a:t>，某一事务将</a:t>
            </a:r>
            <a:r>
              <a:rPr lang="en-US" altLang="zh-CN" sz="2400" dirty="0"/>
              <a:t>A</a:t>
            </a:r>
            <a:r>
              <a:rPr lang="zh-CN" altLang="en-US" sz="2400" dirty="0"/>
              <a:t>改为</a:t>
            </a:r>
            <a:r>
              <a:rPr lang="en-US" altLang="zh-CN" sz="2400" dirty="0"/>
              <a:t>200</a:t>
            </a:r>
            <a:r>
              <a:rPr lang="zh-CN" altLang="en-US" sz="2400" dirty="0"/>
              <a:t>。转储结束后，后备副本上的</a:t>
            </a:r>
            <a:r>
              <a:rPr lang="en-US" altLang="zh-CN" sz="2400" dirty="0"/>
              <a:t>A</a:t>
            </a:r>
            <a:r>
              <a:rPr lang="zh-CN" altLang="en-US" sz="2400" dirty="0"/>
              <a:t>已是过时的数据了</a:t>
            </a:r>
            <a:endParaRPr lang="zh-CN" altLang="en-US" sz="2400" dirty="0"/>
          </a:p>
        </p:txBody>
      </p:sp>
    </p:spTree>
  </p:cSld>
  <p:clrMapOvr>
    <a:masterClrMapping/>
  </p:clrMapOvr>
  <p:transition advClick="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动态转储</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41986" name="Rectangle 3"/>
          <p:cNvSpPr>
            <a:spLocks noGrp="1"/>
          </p:cNvSpPr>
          <p:nvPr>
            <p:ph idx="1"/>
          </p:nvPr>
        </p:nvSpPr>
        <p:spPr>
          <a:ln/>
        </p:spPr>
        <p:txBody>
          <a:bodyPr vert="horz" wrap="square" lIns="91440" tIns="45720" rIns="91440" bIns="45720" anchor="t" anchorCtr="0"/>
          <a:p>
            <a:pPr eaLnBrk="1" hangingPunct="1">
              <a:lnSpc>
                <a:spcPct val="110000"/>
              </a:lnSpc>
              <a:spcBef>
                <a:spcPct val="60000"/>
              </a:spcBef>
            </a:pPr>
            <a:r>
              <a:rPr lang="zh-CN" altLang="en-US" dirty="0"/>
              <a:t>利用动态转储得到的副本进行故障恢复</a:t>
            </a:r>
            <a:endParaRPr lang="zh-CN" altLang="en-US" dirty="0"/>
          </a:p>
          <a:p>
            <a:pPr lvl="1" indent="-436245" eaLnBrk="1" hangingPunct="1">
              <a:lnSpc>
                <a:spcPct val="140000"/>
              </a:lnSpc>
              <a:spcBef>
                <a:spcPct val="60000"/>
              </a:spcBef>
            </a:pPr>
            <a:r>
              <a:rPr lang="zh-CN" altLang="en-US" dirty="0"/>
              <a:t>需要把</a:t>
            </a:r>
            <a:r>
              <a:rPr lang="zh-CN" altLang="en-US" b="1" dirty="0">
                <a:solidFill>
                  <a:srgbClr val="FF0000"/>
                </a:solidFill>
              </a:rPr>
              <a:t>动态转储期间</a:t>
            </a:r>
            <a:r>
              <a:rPr lang="zh-CN" altLang="en-US" dirty="0"/>
              <a:t>各事务对数据库的修改活动登记下来，建立日志文件</a:t>
            </a:r>
            <a:endParaRPr lang="zh-CN" altLang="en-US" dirty="0"/>
          </a:p>
          <a:p>
            <a:pPr lvl="1" indent="-436245" eaLnBrk="1" hangingPunct="1">
              <a:lnSpc>
                <a:spcPct val="140000"/>
              </a:lnSpc>
              <a:spcBef>
                <a:spcPct val="60000"/>
              </a:spcBef>
            </a:pPr>
            <a:r>
              <a:rPr lang="zh-CN" altLang="en-US" b="1" dirty="0">
                <a:solidFill>
                  <a:srgbClr val="FF0000"/>
                </a:solidFill>
              </a:rPr>
              <a:t>后备副本</a:t>
            </a:r>
            <a:r>
              <a:rPr lang="en-US" altLang="zh-CN" b="1" dirty="0">
                <a:solidFill>
                  <a:srgbClr val="FF0000"/>
                </a:solidFill>
              </a:rPr>
              <a:t>+</a:t>
            </a:r>
            <a:r>
              <a:rPr lang="zh-CN" altLang="en-US" b="1" dirty="0">
                <a:solidFill>
                  <a:srgbClr val="FF0000"/>
                </a:solidFill>
              </a:rPr>
              <a:t>日志文件，</a:t>
            </a:r>
            <a:r>
              <a:rPr lang="zh-CN" altLang="en-US" dirty="0"/>
              <a:t>才能把数据库恢复到某一时刻的正确状态</a:t>
            </a:r>
            <a:endParaRPr lang="zh-CN" altLang="en-US" dirty="0"/>
          </a:p>
        </p:txBody>
      </p:sp>
    </p:spTree>
  </p:cSld>
  <p:clrMapOvr>
    <a:masterClrMapping/>
  </p:clrMapOvr>
  <p:transition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2</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．海量转储与增量转储</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43010" name="Rectangle 3"/>
          <p:cNvSpPr>
            <a:spLocks noGrp="1"/>
          </p:cNvSpPr>
          <p:nvPr>
            <p:ph idx="1"/>
          </p:nvPr>
        </p:nvSpPr>
        <p:spPr>
          <a:ln/>
        </p:spPr>
        <p:txBody>
          <a:bodyPr vert="horz" wrap="square" lIns="91440" tIns="45720" rIns="91440" bIns="45720" anchor="t" anchorCtr="0"/>
          <a:p>
            <a:pPr eaLnBrk="1" hangingPunct="1">
              <a:lnSpc>
                <a:spcPct val="90000"/>
              </a:lnSpc>
            </a:pPr>
            <a:r>
              <a:rPr lang="zh-CN" altLang="en-US" sz="2800" dirty="0"/>
              <a:t>海量转储</a:t>
            </a:r>
            <a:r>
              <a:rPr lang="en-US" altLang="zh-CN" sz="2800" dirty="0"/>
              <a:t>: </a:t>
            </a:r>
            <a:r>
              <a:rPr lang="zh-CN" altLang="en-US" sz="2800" dirty="0"/>
              <a:t>每次转储全部数据库</a:t>
            </a:r>
            <a:endParaRPr lang="en-US" altLang="zh-CN" sz="2800" dirty="0"/>
          </a:p>
          <a:p>
            <a:pPr eaLnBrk="1" hangingPunct="1">
              <a:lnSpc>
                <a:spcPct val="90000"/>
              </a:lnSpc>
              <a:buNone/>
            </a:pPr>
            <a:endParaRPr lang="zh-CN" altLang="en-US" sz="3200" dirty="0"/>
          </a:p>
          <a:p>
            <a:pPr eaLnBrk="1" hangingPunct="1">
              <a:lnSpc>
                <a:spcPct val="90000"/>
              </a:lnSpc>
            </a:pPr>
            <a:r>
              <a:rPr lang="zh-CN" altLang="en-US" sz="2800" dirty="0"/>
              <a:t>增量转储</a:t>
            </a:r>
            <a:r>
              <a:rPr lang="en-US" altLang="zh-CN" sz="2800" dirty="0"/>
              <a:t>: </a:t>
            </a:r>
            <a:r>
              <a:rPr lang="zh-CN" altLang="en-US" sz="2800" dirty="0"/>
              <a:t>只转储上次转储后更新过的数据</a:t>
            </a:r>
            <a:endParaRPr lang="zh-CN" altLang="en-US" sz="3200" dirty="0"/>
          </a:p>
          <a:p>
            <a:pPr lvl="3" eaLnBrk="1" hangingPunct="1">
              <a:lnSpc>
                <a:spcPct val="90000"/>
              </a:lnSpc>
            </a:pPr>
            <a:endParaRPr lang="zh-CN" altLang="en-US" dirty="0"/>
          </a:p>
          <a:p>
            <a:pPr eaLnBrk="1" hangingPunct="1">
              <a:lnSpc>
                <a:spcPct val="90000"/>
              </a:lnSpc>
            </a:pPr>
            <a:r>
              <a:rPr lang="zh-CN" altLang="en-US" sz="2800" dirty="0"/>
              <a:t>海量转储与增量转储比较</a:t>
            </a:r>
            <a:endParaRPr lang="zh-CN" altLang="en-US" sz="2800" dirty="0"/>
          </a:p>
          <a:p>
            <a:pPr lvl="1" indent="-436245" eaLnBrk="1" hangingPunct="1">
              <a:lnSpc>
                <a:spcPct val="140000"/>
              </a:lnSpc>
            </a:pPr>
            <a:r>
              <a:rPr lang="zh-CN" altLang="en-US" sz="2400" dirty="0"/>
              <a:t>从恢复角度看，使用海量转储得到的后备副本进行恢复往往</a:t>
            </a:r>
            <a:r>
              <a:rPr lang="zh-CN" altLang="en-US" sz="2400" dirty="0">
                <a:solidFill>
                  <a:srgbClr val="FF0000"/>
                </a:solidFill>
              </a:rPr>
              <a:t>更方便</a:t>
            </a:r>
            <a:endParaRPr lang="zh-CN" altLang="en-US" sz="2400" dirty="0">
              <a:solidFill>
                <a:srgbClr val="FF0000"/>
              </a:solidFill>
            </a:endParaRPr>
          </a:p>
          <a:p>
            <a:pPr lvl="1" indent="-436245" eaLnBrk="1" hangingPunct="1">
              <a:lnSpc>
                <a:spcPct val="140000"/>
              </a:lnSpc>
            </a:pPr>
            <a:r>
              <a:rPr lang="zh-CN" altLang="en-US" sz="2400" dirty="0"/>
              <a:t>但如果数据库很大，事务处理又十分频繁，则增量转储方式更实用</a:t>
            </a:r>
            <a:r>
              <a:rPr lang="zh-CN" altLang="en-US" sz="2400" dirty="0">
                <a:solidFill>
                  <a:srgbClr val="FF0000"/>
                </a:solidFill>
              </a:rPr>
              <a:t>更有效</a:t>
            </a:r>
            <a:endParaRPr lang="zh-CN" altLang="en-US" sz="2400" dirty="0">
              <a:solidFill>
                <a:srgbClr val="FF0000"/>
              </a:solidFill>
            </a:endParaRPr>
          </a:p>
        </p:txBody>
      </p:sp>
    </p:spTree>
  </p:cSld>
  <p:clrMapOvr>
    <a:masterClrMapping/>
  </p:clrMapOvr>
  <p:transition advClick="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3</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．转储方法小结</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44034" name="Rectangle 3"/>
          <p:cNvSpPr>
            <a:spLocks noGrp="1"/>
          </p:cNvSpPr>
          <p:nvPr>
            <p:ph idx="1"/>
          </p:nvPr>
        </p:nvSpPr>
        <p:spPr>
          <a:ln/>
        </p:spPr>
        <p:txBody>
          <a:bodyPr vert="horz" wrap="square" lIns="91440" tIns="45720" rIns="91440" bIns="45720" anchor="t" anchorCtr="0"/>
          <a:p>
            <a:pPr eaLnBrk="1" hangingPunct="1"/>
            <a:r>
              <a:rPr lang="zh-CN" altLang="en-US" dirty="0"/>
              <a:t>转储方法分类</a:t>
            </a:r>
            <a:endParaRPr lang="zh-CN" altLang="en-US" dirty="0"/>
          </a:p>
        </p:txBody>
      </p:sp>
      <p:grpSp>
        <p:nvGrpSpPr>
          <p:cNvPr id="44035" name="Group 4"/>
          <p:cNvGrpSpPr/>
          <p:nvPr/>
        </p:nvGrpSpPr>
        <p:grpSpPr>
          <a:xfrm>
            <a:off x="1071563" y="2214563"/>
            <a:ext cx="6781800" cy="2286000"/>
            <a:chOff x="-3" y="-3"/>
            <a:chExt cx="2282" cy="1734"/>
          </a:xfrm>
        </p:grpSpPr>
        <p:grpSp>
          <p:nvGrpSpPr>
            <p:cNvPr id="44036" name="Group 5"/>
            <p:cNvGrpSpPr/>
            <p:nvPr/>
          </p:nvGrpSpPr>
          <p:grpSpPr>
            <a:xfrm>
              <a:off x="0" y="0"/>
              <a:ext cx="2276" cy="1728"/>
              <a:chOff x="0" y="0"/>
              <a:chExt cx="2276" cy="1728"/>
            </a:xfrm>
          </p:grpSpPr>
          <p:grpSp>
            <p:nvGrpSpPr>
              <p:cNvPr id="44037" name="Group 6"/>
              <p:cNvGrpSpPr/>
              <p:nvPr/>
            </p:nvGrpSpPr>
            <p:grpSpPr>
              <a:xfrm>
                <a:off x="0" y="0"/>
                <a:ext cx="852" cy="768"/>
                <a:chOff x="0" y="0"/>
                <a:chExt cx="852" cy="768"/>
              </a:xfrm>
            </p:grpSpPr>
            <p:sp>
              <p:nvSpPr>
                <p:cNvPr id="44038" name="Rectangle 7"/>
                <p:cNvSpPr/>
                <p:nvPr/>
              </p:nvSpPr>
              <p:spPr>
                <a:xfrm>
                  <a:off x="43" y="0"/>
                  <a:ext cx="766" cy="768"/>
                </a:xfrm>
                <a:prstGeom prst="rect">
                  <a:avLst/>
                </a:prstGeom>
                <a:noFill/>
                <a:ln w="28575">
                  <a:noFill/>
                </a:ln>
              </p:spPr>
              <p:txBody>
                <a:bodyPr lIns="90000" tIns="46800" rIns="90000" bIns="46800" anchor="t" anchorCtr="0"/>
                <a:p>
                  <a:r>
                    <a:rPr lang="en-US" altLang="zh-CN" sz="1000" dirty="0">
                      <a:latin typeface="Verdana" panose="020B0604030504040204" pitchFamily="34" charset="0"/>
                      <a:ea typeface="宋体" panose="02010600030101010101" pitchFamily="2" charset="-122"/>
                    </a:rPr>
                    <a:t> </a:t>
                  </a:r>
                  <a:endParaRPr lang="en-US" altLang="zh-CN" sz="1000" dirty="0">
                    <a:latin typeface="Verdana" panose="020B0604030504040204" pitchFamily="34" charset="0"/>
                    <a:ea typeface="宋体" panose="02010600030101010101" pitchFamily="2" charset="-122"/>
                  </a:endParaRPr>
                </a:p>
                <a:p>
                  <a:pPr eaLnBrk="0" hangingPunct="0"/>
                  <a:endParaRPr lang="en-US" altLang="zh-CN" sz="2400" dirty="0">
                    <a:latin typeface="Verdana" panose="020B0604030504040204" pitchFamily="34" charset="0"/>
                    <a:ea typeface="宋体" panose="02010600030101010101" pitchFamily="2" charset="-122"/>
                  </a:endParaRPr>
                </a:p>
              </p:txBody>
            </p:sp>
            <p:sp>
              <p:nvSpPr>
                <p:cNvPr id="44039" name="Rectangle 8"/>
                <p:cNvSpPr/>
                <p:nvPr/>
              </p:nvSpPr>
              <p:spPr>
                <a:xfrm>
                  <a:off x="0" y="0"/>
                  <a:ext cx="852" cy="768"/>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40" name="Group 9"/>
              <p:cNvGrpSpPr/>
              <p:nvPr/>
            </p:nvGrpSpPr>
            <p:grpSpPr>
              <a:xfrm>
                <a:off x="852" y="0"/>
                <a:ext cx="1424" cy="384"/>
                <a:chOff x="852" y="0"/>
                <a:chExt cx="1424" cy="384"/>
              </a:xfrm>
            </p:grpSpPr>
            <p:sp>
              <p:nvSpPr>
                <p:cNvPr id="44041" name="Rectangle 10"/>
                <p:cNvSpPr/>
                <p:nvPr/>
              </p:nvSpPr>
              <p:spPr>
                <a:xfrm>
                  <a:off x="895" y="0"/>
                  <a:ext cx="1338" cy="384"/>
                </a:xfrm>
                <a:prstGeom prst="rect">
                  <a:avLst/>
                </a:prstGeom>
                <a:noFill/>
                <a:ln w="28575">
                  <a:noFill/>
                </a:ln>
              </p:spPr>
              <p:txBody>
                <a:bodyPr lIns="90000" tIns="46800" rIns="90000" bIns="46800" anchor="t" anchorCtr="0"/>
                <a:p>
                  <a:r>
                    <a:rPr lang="zh-CN" altLang="en-US" sz="2000" dirty="0">
                      <a:latin typeface="Verdana" panose="020B0604030504040204" pitchFamily="34" charset="0"/>
                      <a:ea typeface="宋体" panose="02010600030101010101" pitchFamily="2" charset="-122"/>
                    </a:rPr>
                    <a:t>转储状态</a:t>
                  </a:r>
                  <a:endParaRPr lang="zh-CN" altLang="en-US" sz="2400" dirty="0">
                    <a:latin typeface="Verdana" panose="020B0604030504040204" pitchFamily="34" charset="0"/>
                    <a:ea typeface="宋体" panose="02010600030101010101" pitchFamily="2" charset="-122"/>
                  </a:endParaRPr>
                </a:p>
              </p:txBody>
            </p:sp>
            <p:sp>
              <p:nvSpPr>
                <p:cNvPr id="44042" name="Rectangle 11"/>
                <p:cNvSpPr/>
                <p:nvPr/>
              </p:nvSpPr>
              <p:spPr>
                <a:xfrm>
                  <a:off x="852" y="0"/>
                  <a:ext cx="1424" cy="384"/>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43" name="Group 12"/>
              <p:cNvGrpSpPr/>
              <p:nvPr/>
            </p:nvGrpSpPr>
            <p:grpSpPr>
              <a:xfrm>
                <a:off x="852" y="384"/>
                <a:ext cx="750" cy="384"/>
                <a:chOff x="852" y="384"/>
                <a:chExt cx="750" cy="384"/>
              </a:xfrm>
            </p:grpSpPr>
            <p:sp>
              <p:nvSpPr>
                <p:cNvPr id="44044" name="Rectangle 13"/>
                <p:cNvSpPr/>
                <p:nvPr/>
              </p:nvSpPr>
              <p:spPr>
                <a:xfrm>
                  <a:off x="895" y="384"/>
                  <a:ext cx="664" cy="384"/>
                </a:xfrm>
                <a:prstGeom prst="rect">
                  <a:avLst/>
                </a:prstGeom>
                <a:noFill/>
                <a:ln w="28575">
                  <a:noFill/>
                </a:ln>
              </p:spPr>
              <p:txBody>
                <a:bodyPr lIns="90000" tIns="46800" rIns="90000" bIns="46800" anchor="t" anchorCtr="0"/>
                <a:p>
                  <a:r>
                    <a:rPr lang="zh-CN" altLang="en-US" sz="2000" dirty="0">
                      <a:latin typeface="Verdana" panose="020B0604030504040204" pitchFamily="34" charset="0"/>
                      <a:ea typeface="宋体" panose="02010600030101010101" pitchFamily="2" charset="-122"/>
                    </a:rPr>
                    <a:t>动态转储</a:t>
                  </a:r>
                  <a:endParaRPr lang="zh-CN" altLang="en-US" sz="2000" dirty="0">
                    <a:latin typeface="Verdana" panose="020B0604030504040204" pitchFamily="34" charset="0"/>
                    <a:ea typeface="宋体" panose="02010600030101010101" pitchFamily="2" charset="-122"/>
                  </a:endParaRPr>
                </a:p>
              </p:txBody>
            </p:sp>
            <p:sp>
              <p:nvSpPr>
                <p:cNvPr id="44045" name="Rectangle 14"/>
                <p:cNvSpPr/>
                <p:nvPr/>
              </p:nvSpPr>
              <p:spPr>
                <a:xfrm>
                  <a:off x="852" y="384"/>
                  <a:ext cx="750" cy="384"/>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46" name="Group 15"/>
              <p:cNvGrpSpPr/>
              <p:nvPr/>
            </p:nvGrpSpPr>
            <p:grpSpPr>
              <a:xfrm>
                <a:off x="1602" y="384"/>
                <a:ext cx="674" cy="384"/>
                <a:chOff x="1602" y="384"/>
                <a:chExt cx="674" cy="384"/>
              </a:xfrm>
            </p:grpSpPr>
            <p:sp>
              <p:nvSpPr>
                <p:cNvPr id="44047" name="Rectangle 16"/>
                <p:cNvSpPr/>
                <p:nvPr/>
              </p:nvSpPr>
              <p:spPr>
                <a:xfrm>
                  <a:off x="1645" y="384"/>
                  <a:ext cx="588" cy="384"/>
                </a:xfrm>
                <a:prstGeom prst="rect">
                  <a:avLst/>
                </a:prstGeom>
                <a:noFill/>
                <a:ln w="28575">
                  <a:noFill/>
                </a:ln>
              </p:spPr>
              <p:txBody>
                <a:bodyPr lIns="90000" tIns="46800" rIns="90000" bIns="46800" anchor="t" anchorCtr="0"/>
                <a:p>
                  <a:r>
                    <a:rPr lang="zh-CN" altLang="en-US" sz="2000" dirty="0">
                      <a:latin typeface="Verdana" panose="020B0604030504040204" pitchFamily="34" charset="0"/>
                      <a:ea typeface="宋体" panose="02010600030101010101" pitchFamily="2" charset="-122"/>
                    </a:rPr>
                    <a:t>静态转储</a:t>
                  </a:r>
                  <a:endParaRPr lang="zh-CN" altLang="en-US" sz="2400" dirty="0">
                    <a:latin typeface="Verdana" panose="020B0604030504040204" pitchFamily="34" charset="0"/>
                    <a:ea typeface="宋体" panose="02010600030101010101" pitchFamily="2" charset="-122"/>
                  </a:endParaRPr>
                </a:p>
              </p:txBody>
            </p:sp>
            <p:sp>
              <p:nvSpPr>
                <p:cNvPr id="44048" name="Rectangle 17"/>
                <p:cNvSpPr/>
                <p:nvPr/>
              </p:nvSpPr>
              <p:spPr>
                <a:xfrm>
                  <a:off x="1602" y="384"/>
                  <a:ext cx="674" cy="384"/>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49" name="Group 18"/>
              <p:cNvGrpSpPr/>
              <p:nvPr/>
            </p:nvGrpSpPr>
            <p:grpSpPr>
              <a:xfrm>
                <a:off x="0" y="768"/>
                <a:ext cx="338" cy="960"/>
                <a:chOff x="0" y="768"/>
                <a:chExt cx="338" cy="960"/>
              </a:xfrm>
            </p:grpSpPr>
            <p:sp>
              <p:nvSpPr>
                <p:cNvPr id="44050" name="Rectangle 19"/>
                <p:cNvSpPr/>
                <p:nvPr/>
              </p:nvSpPr>
              <p:spPr>
                <a:xfrm>
                  <a:off x="43" y="768"/>
                  <a:ext cx="252" cy="960"/>
                </a:xfrm>
                <a:prstGeom prst="rect">
                  <a:avLst/>
                </a:prstGeom>
                <a:noFill/>
                <a:ln w="28575">
                  <a:noFill/>
                </a:ln>
              </p:spPr>
              <p:txBody>
                <a:bodyPr lIns="90000" tIns="46800" rIns="90000" bIns="46800" anchor="t" anchorCtr="0"/>
                <a:p>
                  <a:r>
                    <a:rPr lang="zh-CN" altLang="en-US" sz="2000" dirty="0">
                      <a:latin typeface="Verdana" panose="020B0604030504040204" pitchFamily="34" charset="0"/>
                      <a:ea typeface="宋体" panose="02010600030101010101" pitchFamily="2" charset="-122"/>
                    </a:rPr>
                    <a:t>转储方式</a:t>
                  </a:r>
                  <a:endParaRPr lang="zh-CN" altLang="en-US" sz="2400" dirty="0">
                    <a:latin typeface="Verdana" panose="020B0604030504040204" pitchFamily="34" charset="0"/>
                    <a:ea typeface="宋体" panose="02010600030101010101" pitchFamily="2" charset="-122"/>
                  </a:endParaRPr>
                </a:p>
              </p:txBody>
            </p:sp>
            <p:sp>
              <p:nvSpPr>
                <p:cNvPr id="44051" name="Rectangle 20"/>
                <p:cNvSpPr/>
                <p:nvPr/>
              </p:nvSpPr>
              <p:spPr>
                <a:xfrm>
                  <a:off x="0" y="768"/>
                  <a:ext cx="338" cy="96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52" name="Group 21"/>
              <p:cNvGrpSpPr/>
              <p:nvPr/>
            </p:nvGrpSpPr>
            <p:grpSpPr>
              <a:xfrm>
                <a:off x="338" y="768"/>
                <a:ext cx="514" cy="480"/>
                <a:chOff x="338" y="768"/>
                <a:chExt cx="514" cy="480"/>
              </a:xfrm>
            </p:grpSpPr>
            <p:sp>
              <p:nvSpPr>
                <p:cNvPr id="44053" name="Rectangle 22"/>
                <p:cNvSpPr/>
                <p:nvPr/>
              </p:nvSpPr>
              <p:spPr>
                <a:xfrm>
                  <a:off x="381" y="768"/>
                  <a:ext cx="428" cy="480"/>
                </a:xfrm>
                <a:prstGeom prst="rect">
                  <a:avLst/>
                </a:prstGeom>
                <a:noFill/>
                <a:ln w="28575">
                  <a:noFill/>
                </a:ln>
              </p:spPr>
              <p:txBody>
                <a:bodyPr lIns="90000" tIns="46800" rIns="90000" bIns="46800" anchor="t" anchorCtr="0"/>
                <a:p>
                  <a:r>
                    <a:rPr lang="zh-CN" altLang="en-US" sz="2000" dirty="0">
                      <a:latin typeface="Verdana" panose="020B0604030504040204" pitchFamily="34" charset="0"/>
                      <a:ea typeface="宋体" panose="02010600030101010101" pitchFamily="2" charset="-122"/>
                    </a:rPr>
                    <a:t>海量转储</a:t>
                  </a:r>
                  <a:endParaRPr lang="zh-CN" altLang="en-US" sz="2000" dirty="0">
                    <a:latin typeface="Verdana" panose="020B0604030504040204" pitchFamily="34" charset="0"/>
                    <a:ea typeface="宋体" panose="02010600030101010101" pitchFamily="2" charset="-122"/>
                  </a:endParaRPr>
                </a:p>
                <a:p>
                  <a:pPr eaLnBrk="0" hangingPunct="0"/>
                  <a:endParaRPr lang="en-US" altLang="zh-CN" sz="2400" dirty="0">
                    <a:latin typeface="Verdana" panose="020B0604030504040204" pitchFamily="34" charset="0"/>
                    <a:ea typeface="宋体" panose="02010600030101010101" pitchFamily="2" charset="-122"/>
                  </a:endParaRPr>
                </a:p>
              </p:txBody>
            </p:sp>
            <p:sp>
              <p:nvSpPr>
                <p:cNvPr id="44054" name="Rectangle 23"/>
                <p:cNvSpPr/>
                <p:nvPr/>
              </p:nvSpPr>
              <p:spPr>
                <a:xfrm>
                  <a:off x="338" y="768"/>
                  <a:ext cx="514"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55" name="Group 24"/>
              <p:cNvGrpSpPr/>
              <p:nvPr/>
            </p:nvGrpSpPr>
            <p:grpSpPr>
              <a:xfrm>
                <a:off x="852" y="768"/>
                <a:ext cx="750" cy="480"/>
                <a:chOff x="852" y="768"/>
                <a:chExt cx="750" cy="480"/>
              </a:xfrm>
            </p:grpSpPr>
            <p:sp>
              <p:nvSpPr>
                <p:cNvPr id="44056" name="Rectangle 25"/>
                <p:cNvSpPr/>
                <p:nvPr/>
              </p:nvSpPr>
              <p:spPr>
                <a:xfrm>
                  <a:off x="895" y="768"/>
                  <a:ext cx="664" cy="480"/>
                </a:xfrm>
                <a:prstGeom prst="rect">
                  <a:avLst/>
                </a:prstGeom>
                <a:noFill/>
                <a:ln w="28575">
                  <a:noFill/>
                </a:ln>
              </p:spPr>
              <p:txBody>
                <a:bodyPr lIns="90000" tIns="46800" rIns="90000" bIns="46800" anchor="t" anchorCtr="0"/>
                <a:p>
                  <a:r>
                    <a:rPr lang="zh-CN" altLang="en-US" sz="2000" dirty="0">
                      <a:solidFill>
                        <a:srgbClr val="FF0000"/>
                      </a:solidFill>
                      <a:latin typeface="Verdana" panose="020B0604030504040204" pitchFamily="34" charset="0"/>
                      <a:ea typeface="宋体" panose="02010600030101010101" pitchFamily="2" charset="-122"/>
                    </a:rPr>
                    <a:t>动态海量转储</a:t>
                  </a:r>
                  <a:endParaRPr lang="zh-CN" altLang="en-US" sz="2000" dirty="0">
                    <a:solidFill>
                      <a:srgbClr val="FF0000"/>
                    </a:solidFill>
                    <a:latin typeface="Verdana" panose="020B0604030504040204" pitchFamily="34" charset="0"/>
                    <a:ea typeface="宋体" panose="02010600030101010101" pitchFamily="2" charset="-122"/>
                  </a:endParaRPr>
                </a:p>
              </p:txBody>
            </p:sp>
            <p:sp>
              <p:nvSpPr>
                <p:cNvPr id="44057" name="Rectangle 26"/>
                <p:cNvSpPr/>
                <p:nvPr/>
              </p:nvSpPr>
              <p:spPr>
                <a:xfrm>
                  <a:off x="852" y="768"/>
                  <a:ext cx="750"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58" name="Group 27"/>
              <p:cNvGrpSpPr/>
              <p:nvPr/>
            </p:nvGrpSpPr>
            <p:grpSpPr>
              <a:xfrm>
                <a:off x="1602" y="768"/>
                <a:ext cx="674" cy="480"/>
                <a:chOff x="1602" y="768"/>
                <a:chExt cx="674" cy="480"/>
              </a:xfrm>
            </p:grpSpPr>
            <p:sp>
              <p:nvSpPr>
                <p:cNvPr id="44059" name="Rectangle 28"/>
                <p:cNvSpPr/>
                <p:nvPr/>
              </p:nvSpPr>
              <p:spPr>
                <a:xfrm>
                  <a:off x="1645" y="768"/>
                  <a:ext cx="588" cy="480"/>
                </a:xfrm>
                <a:prstGeom prst="rect">
                  <a:avLst/>
                </a:prstGeom>
                <a:noFill/>
                <a:ln w="28575">
                  <a:noFill/>
                </a:ln>
              </p:spPr>
              <p:txBody>
                <a:bodyPr lIns="90000" tIns="46800" rIns="90000" bIns="46800" anchor="t" anchorCtr="0"/>
                <a:p>
                  <a:r>
                    <a:rPr lang="zh-CN" altLang="en-US" sz="2000" dirty="0">
                      <a:solidFill>
                        <a:srgbClr val="FF0000"/>
                      </a:solidFill>
                      <a:latin typeface="Verdana" panose="020B0604030504040204" pitchFamily="34" charset="0"/>
                      <a:ea typeface="宋体" panose="02010600030101010101" pitchFamily="2" charset="-122"/>
                    </a:rPr>
                    <a:t>静态海量转储</a:t>
                  </a:r>
                  <a:endParaRPr lang="zh-CN" altLang="en-US" sz="2000" dirty="0">
                    <a:solidFill>
                      <a:srgbClr val="FF0000"/>
                    </a:solidFill>
                    <a:latin typeface="Verdana" panose="020B0604030504040204" pitchFamily="34" charset="0"/>
                    <a:ea typeface="宋体" panose="02010600030101010101" pitchFamily="2" charset="-122"/>
                  </a:endParaRPr>
                </a:p>
              </p:txBody>
            </p:sp>
            <p:sp>
              <p:nvSpPr>
                <p:cNvPr id="44060" name="Rectangle 29"/>
                <p:cNvSpPr/>
                <p:nvPr/>
              </p:nvSpPr>
              <p:spPr>
                <a:xfrm>
                  <a:off x="1602" y="768"/>
                  <a:ext cx="674"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61" name="Group 30"/>
              <p:cNvGrpSpPr/>
              <p:nvPr/>
            </p:nvGrpSpPr>
            <p:grpSpPr>
              <a:xfrm>
                <a:off x="338" y="1248"/>
                <a:ext cx="514" cy="480"/>
                <a:chOff x="338" y="1248"/>
                <a:chExt cx="514" cy="480"/>
              </a:xfrm>
            </p:grpSpPr>
            <p:sp>
              <p:nvSpPr>
                <p:cNvPr id="44062" name="Rectangle 31"/>
                <p:cNvSpPr/>
                <p:nvPr/>
              </p:nvSpPr>
              <p:spPr>
                <a:xfrm>
                  <a:off x="381" y="1248"/>
                  <a:ext cx="428" cy="480"/>
                </a:xfrm>
                <a:prstGeom prst="rect">
                  <a:avLst/>
                </a:prstGeom>
                <a:noFill/>
                <a:ln w="28575">
                  <a:noFill/>
                </a:ln>
              </p:spPr>
              <p:txBody>
                <a:bodyPr lIns="90000" tIns="46800" rIns="90000" bIns="46800" anchor="t" anchorCtr="0"/>
                <a:p>
                  <a:r>
                    <a:rPr lang="zh-CN" altLang="en-US" sz="2000" dirty="0">
                      <a:latin typeface="Verdana" panose="020B0604030504040204" pitchFamily="34" charset="0"/>
                      <a:ea typeface="宋体" panose="02010600030101010101" pitchFamily="2" charset="-122"/>
                    </a:rPr>
                    <a:t>增量转储</a:t>
                  </a:r>
                  <a:endParaRPr lang="zh-CN" altLang="en-US" sz="4400" dirty="0">
                    <a:latin typeface="Verdana" panose="020B0604030504040204" pitchFamily="34" charset="0"/>
                    <a:ea typeface="宋体" panose="02010600030101010101" pitchFamily="2" charset="-122"/>
                  </a:endParaRPr>
                </a:p>
              </p:txBody>
            </p:sp>
            <p:sp>
              <p:nvSpPr>
                <p:cNvPr id="44063" name="Rectangle 32"/>
                <p:cNvSpPr/>
                <p:nvPr/>
              </p:nvSpPr>
              <p:spPr>
                <a:xfrm>
                  <a:off x="338" y="1248"/>
                  <a:ext cx="514"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64" name="Group 33"/>
              <p:cNvGrpSpPr/>
              <p:nvPr/>
            </p:nvGrpSpPr>
            <p:grpSpPr>
              <a:xfrm>
                <a:off x="852" y="1248"/>
                <a:ext cx="750" cy="480"/>
                <a:chOff x="852" y="1248"/>
                <a:chExt cx="750" cy="480"/>
              </a:xfrm>
            </p:grpSpPr>
            <p:sp>
              <p:nvSpPr>
                <p:cNvPr id="44065" name="Rectangle 34"/>
                <p:cNvSpPr/>
                <p:nvPr/>
              </p:nvSpPr>
              <p:spPr>
                <a:xfrm>
                  <a:off x="895" y="1248"/>
                  <a:ext cx="664" cy="480"/>
                </a:xfrm>
                <a:prstGeom prst="rect">
                  <a:avLst/>
                </a:prstGeom>
                <a:noFill/>
                <a:ln w="28575">
                  <a:noFill/>
                </a:ln>
              </p:spPr>
              <p:txBody>
                <a:bodyPr lIns="90000" tIns="46800" rIns="90000" bIns="46800" anchor="t" anchorCtr="0"/>
                <a:p>
                  <a:r>
                    <a:rPr lang="zh-CN" altLang="en-US" sz="2000" dirty="0">
                      <a:solidFill>
                        <a:srgbClr val="FF0000"/>
                      </a:solidFill>
                      <a:latin typeface="Verdana" panose="020B0604030504040204" pitchFamily="34" charset="0"/>
                      <a:ea typeface="宋体" panose="02010600030101010101" pitchFamily="2" charset="-122"/>
                    </a:rPr>
                    <a:t>动态增量转储</a:t>
                  </a:r>
                  <a:endParaRPr lang="zh-CN" altLang="en-US" sz="2000" dirty="0">
                    <a:solidFill>
                      <a:srgbClr val="FF0000"/>
                    </a:solidFill>
                    <a:latin typeface="Verdana" panose="020B0604030504040204" pitchFamily="34" charset="0"/>
                    <a:ea typeface="宋体" panose="02010600030101010101" pitchFamily="2" charset="-122"/>
                  </a:endParaRPr>
                </a:p>
              </p:txBody>
            </p:sp>
            <p:sp>
              <p:nvSpPr>
                <p:cNvPr id="44066" name="Rectangle 35"/>
                <p:cNvSpPr/>
                <p:nvPr/>
              </p:nvSpPr>
              <p:spPr>
                <a:xfrm>
                  <a:off x="852" y="1248"/>
                  <a:ext cx="750"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44067" name="Group 36"/>
              <p:cNvGrpSpPr/>
              <p:nvPr/>
            </p:nvGrpSpPr>
            <p:grpSpPr>
              <a:xfrm>
                <a:off x="1602" y="1248"/>
                <a:ext cx="674" cy="480"/>
                <a:chOff x="1602" y="1248"/>
                <a:chExt cx="674" cy="480"/>
              </a:xfrm>
            </p:grpSpPr>
            <p:sp>
              <p:nvSpPr>
                <p:cNvPr id="44068" name="Rectangle 37"/>
                <p:cNvSpPr/>
                <p:nvPr/>
              </p:nvSpPr>
              <p:spPr>
                <a:xfrm>
                  <a:off x="1645" y="1248"/>
                  <a:ext cx="588" cy="480"/>
                </a:xfrm>
                <a:prstGeom prst="rect">
                  <a:avLst/>
                </a:prstGeom>
                <a:noFill/>
                <a:ln w="28575">
                  <a:noFill/>
                </a:ln>
              </p:spPr>
              <p:txBody>
                <a:bodyPr lIns="90000" tIns="46800" rIns="90000" bIns="46800" anchor="t" anchorCtr="0"/>
                <a:p>
                  <a:r>
                    <a:rPr lang="zh-CN" altLang="en-US" sz="2000" dirty="0">
                      <a:solidFill>
                        <a:srgbClr val="FF0000"/>
                      </a:solidFill>
                      <a:latin typeface="Verdana" panose="020B0604030504040204" pitchFamily="34" charset="0"/>
                      <a:ea typeface="宋体" panose="02010600030101010101" pitchFamily="2" charset="-122"/>
                    </a:rPr>
                    <a:t>静态增量转储</a:t>
                  </a:r>
                  <a:endParaRPr lang="zh-CN" altLang="en-US" sz="2000" dirty="0">
                    <a:solidFill>
                      <a:srgbClr val="FF0000"/>
                    </a:solidFill>
                    <a:latin typeface="Verdana" panose="020B0604030504040204" pitchFamily="34" charset="0"/>
                    <a:ea typeface="宋体" panose="02010600030101010101" pitchFamily="2" charset="-122"/>
                  </a:endParaRPr>
                </a:p>
              </p:txBody>
            </p:sp>
            <p:sp>
              <p:nvSpPr>
                <p:cNvPr id="44069" name="Rectangle 38"/>
                <p:cNvSpPr/>
                <p:nvPr/>
              </p:nvSpPr>
              <p:spPr>
                <a:xfrm>
                  <a:off x="1602" y="1248"/>
                  <a:ext cx="674" cy="480"/>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sp>
          <p:nvSpPr>
            <p:cNvPr id="44070" name="Rectangle 39"/>
            <p:cNvSpPr/>
            <p:nvPr/>
          </p:nvSpPr>
          <p:spPr>
            <a:xfrm>
              <a:off x="-3" y="-3"/>
              <a:ext cx="2282" cy="1734"/>
            </a:xfrm>
            <a:prstGeom prst="rect">
              <a:avLst/>
            </a:prstGeom>
            <a:noFill/>
            <a:ln w="11112"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spTree>
  </p:cSld>
  <p:clrMapOvr>
    <a:masterClrMapping/>
  </p:clrMapOvr>
  <p:transition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10.4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恢复的实现技术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45058" name="Rectangle 3"/>
          <p:cNvSpPr>
            <a:spLocks noGrp="1"/>
          </p:cNvSpPr>
          <p:nvPr>
            <p:ph idx="1"/>
          </p:nvPr>
        </p:nvSpPr>
        <p:spPr>
          <a:ln/>
        </p:spPr>
        <p:txBody>
          <a:bodyPr vert="horz" wrap="square" lIns="91440" tIns="45720" rIns="91440" bIns="45720" anchor="t" anchorCtr="0"/>
          <a:p>
            <a:pPr eaLnBrk="1" hangingPunct="1">
              <a:lnSpc>
                <a:spcPct val="160000"/>
              </a:lnSpc>
              <a:buNone/>
            </a:pPr>
            <a:r>
              <a:rPr lang="en-US" altLang="zh-CN" dirty="0"/>
              <a:t>10.4.1  </a:t>
            </a:r>
            <a:r>
              <a:rPr lang="zh-CN" altLang="en-US" dirty="0"/>
              <a:t>数据转储</a:t>
            </a:r>
            <a:endParaRPr lang="zh-CN" altLang="en-US" dirty="0"/>
          </a:p>
          <a:p>
            <a:pPr eaLnBrk="1" hangingPunct="1">
              <a:lnSpc>
                <a:spcPct val="160000"/>
              </a:lnSpc>
              <a:buNone/>
            </a:pPr>
            <a:r>
              <a:rPr lang="en-US" altLang="zh-CN" dirty="0">
                <a:solidFill>
                  <a:srgbClr val="FF00FF"/>
                </a:solidFill>
              </a:rPr>
              <a:t>10.4.2  </a:t>
            </a:r>
            <a:r>
              <a:rPr lang="zh-CN" altLang="en-US" dirty="0">
                <a:solidFill>
                  <a:srgbClr val="FF00FF"/>
                </a:solidFill>
              </a:rPr>
              <a:t>登记日志文件</a:t>
            </a:r>
            <a:endParaRPr lang="zh-CN" altLang="en-US" dirty="0">
              <a:solidFill>
                <a:srgbClr val="FF00FF"/>
              </a:solidFill>
            </a:endParaRPr>
          </a:p>
        </p:txBody>
      </p:sp>
    </p:spTree>
  </p:cSld>
  <p:clrMapOvr>
    <a:masterClrMapping/>
  </p:clrMapOvr>
  <p:transition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10.4.2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登记日志文件</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46082" name="Rectangle 3"/>
          <p:cNvSpPr>
            <a:spLocks noGrp="1"/>
          </p:cNvSpPr>
          <p:nvPr>
            <p:ph idx="1"/>
          </p:nvPr>
        </p:nvSpPr>
        <p:spPr>
          <a:ln/>
        </p:spPr>
        <p:txBody>
          <a:bodyPr vert="horz" wrap="square" lIns="91440" tIns="45720" rIns="91440" bIns="45720" anchor="t" anchorCtr="0"/>
          <a:p>
            <a:pPr eaLnBrk="1" hangingPunct="1">
              <a:lnSpc>
                <a:spcPct val="160000"/>
              </a:lnSpc>
              <a:buNone/>
            </a:pPr>
            <a:r>
              <a:rPr lang="zh-CN" altLang="en-US" dirty="0">
                <a:solidFill>
                  <a:srgbClr val="FF00FF"/>
                </a:solidFill>
              </a:rPr>
              <a:t>一、日志文件的格式和内容</a:t>
            </a:r>
            <a:endParaRPr lang="zh-CN" altLang="en-US" dirty="0">
              <a:solidFill>
                <a:srgbClr val="FF00FF"/>
              </a:solidFill>
            </a:endParaRPr>
          </a:p>
          <a:p>
            <a:pPr eaLnBrk="1" hangingPunct="1">
              <a:lnSpc>
                <a:spcPct val="160000"/>
              </a:lnSpc>
              <a:buNone/>
            </a:pPr>
            <a:r>
              <a:rPr lang="zh-CN" altLang="en-US" dirty="0"/>
              <a:t>二、日志文件的作用</a:t>
            </a:r>
            <a:endParaRPr lang="zh-CN" altLang="en-US" dirty="0"/>
          </a:p>
          <a:p>
            <a:pPr eaLnBrk="1" hangingPunct="1">
              <a:lnSpc>
                <a:spcPct val="160000"/>
              </a:lnSpc>
              <a:buNone/>
            </a:pPr>
            <a:r>
              <a:rPr lang="zh-CN" altLang="en-US" dirty="0"/>
              <a:t>三、登记日志文件</a:t>
            </a:r>
            <a:endParaRPr lang="zh-CN" altLang="en-US" dirty="0"/>
          </a:p>
          <a:p>
            <a:pPr eaLnBrk="1" hangingPunct="1">
              <a:buNone/>
            </a:pPr>
            <a:endParaRPr lang="en-US" altLang="zh-CN" dirty="0"/>
          </a:p>
        </p:txBody>
      </p:sp>
    </p:spTree>
  </p:cSld>
  <p:clrMapOvr>
    <a:masterClrMapping/>
  </p:clrMapOvr>
  <p:transition advClick="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一、日志文件的格式和内容</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47106" name="Rectangle 3"/>
          <p:cNvSpPr>
            <a:spLocks noGrp="1"/>
          </p:cNvSpPr>
          <p:nvPr>
            <p:ph idx="1"/>
          </p:nvPr>
        </p:nvSpPr>
        <p:spPr>
          <a:xfrm>
            <a:off x="500063" y="1428750"/>
            <a:ext cx="8002587" cy="4495800"/>
          </a:xfrm>
          <a:ln/>
        </p:spPr>
        <p:txBody>
          <a:bodyPr vert="horz" wrap="square" lIns="91440" tIns="45720" rIns="91440" bIns="45720" anchor="t" anchorCtr="0"/>
          <a:p>
            <a:pPr eaLnBrk="1" hangingPunct="1">
              <a:lnSpc>
                <a:spcPct val="130000"/>
              </a:lnSpc>
            </a:pPr>
            <a:r>
              <a:rPr lang="zh-CN" altLang="en-US" dirty="0"/>
              <a:t>什么是日志文件</a:t>
            </a:r>
            <a:endParaRPr lang="zh-CN" altLang="en-US" sz="2400" dirty="0"/>
          </a:p>
          <a:p>
            <a:pPr lvl="1" indent="-436245" eaLnBrk="1" hangingPunct="1">
              <a:lnSpc>
                <a:spcPct val="130000"/>
              </a:lnSpc>
              <a:buNone/>
            </a:pPr>
            <a:r>
              <a:rPr lang="zh-CN" altLang="en-US" dirty="0"/>
              <a:t>日志文件</a:t>
            </a:r>
            <a:r>
              <a:rPr lang="en-US" altLang="zh-CN" dirty="0"/>
              <a:t>(log)</a:t>
            </a:r>
            <a:r>
              <a:rPr lang="zh-CN" altLang="en-US" dirty="0"/>
              <a:t>是用来记录</a:t>
            </a:r>
            <a:r>
              <a:rPr lang="zh-CN" altLang="en-US" b="1" dirty="0">
                <a:solidFill>
                  <a:srgbClr val="FF0000"/>
                </a:solidFill>
              </a:rPr>
              <a:t>事务对数据库的更新操作</a:t>
            </a:r>
            <a:r>
              <a:rPr lang="zh-CN" altLang="en-US" dirty="0"/>
              <a:t>的文件</a:t>
            </a:r>
            <a:endParaRPr lang="zh-CN" altLang="en-US" sz="2000" dirty="0"/>
          </a:p>
          <a:p>
            <a:pPr eaLnBrk="1" hangingPunct="1">
              <a:lnSpc>
                <a:spcPct val="130000"/>
              </a:lnSpc>
            </a:pPr>
            <a:r>
              <a:rPr lang="zh-CN" altLang="en-US" dirty="0"/>
              <a:t>日志文件的两种格式</a:t>
            </a:r>
            <a:endParaRPr lang="zh-CN" altLang="en-US" dirty="0"/>
          </a:p>
          <a:p>
            <a:pPr lvl="1" indent="-436245" eaLnBrk="1" hangingPunct="1">
              <a:lnSpc>
                <a:spcPct val="130000"/>
              </a:lnSpc>
              <a:buSzPct val="75000"/>
              <a:buFont typeface="Wingdings" panose="05000000000000000000" pitchFamily="2" charset="2"/>
              <a:buChar char="n"/>
            </a:pPr>
            <a:r>
              <a:rPr lang="zh-CN" altLang="en-US" dirty="0"/>
              <a:t>以</a:t>
            </a:r>
            <a:r>
              <a:rPr lang="zh-CN" altLang="en-US" b="1" dirty="0">
                <a:solidFill>
                  <a:srgbClr val="FF0000"/>
                </a:solidFill>
              </a:rPr>
              <a:t>记录</a:t>
            </a:r>
            <a:r>
              <a:rPr lang="zh-CN" altLang="en-US" dirty="0"/>
              <a:t>为单位的日志文件</a:t>
            </a:r>
            <a:endParaRPr lang="zh-CN" altLang="en-US" dirty="0"/>
          </a:p>
          <a:p>
            <a:pPr lvl="1" indent="-436245" eaLnBrk="1" hangingPunct="1">
              <a:lnSpc>
                <a:spcPct val="130000"/>
              </a:lnSpc>
              <a:buSzPct val="75000"/>
              <a:buFont typeface="Wingdings" panose="05000000000000000000" pitchFamily="2" charset="2"/>
              <a:buChar char="n"/>
            </a:pPr>
            <a:r>
              <a:rPr lang="zh-CN" altLang="en-US" dirty="0"/>
              <a:t>以</a:t>
            </a:r>
            <a:r>
              <a:rPr lang="zh-CN" altLang="en-US" b="1" dirty="0">
                <a:solidFill>
                  <a:srgbClr val="FF0000"/>
                </a:solidFill>
              </a:rPr>
              <a:t>数据块</a:t>
            </a:r>
            <a:r>
              <a:rPr lang="zh-CN" altLang="en-US" dirty="0"/>
              <a:t>为单位的日志文件</a:t>
            </a:r>
            <a:endParaRPr lang="zh-CN" altLang="en-US" sz="2000" dirty="0"/>
          </a:p>
        </p:txBody>
      </p:sp>
    </p:spTree>
  </p:cSld>
  <p:clrMapOvr>
    <a:masterClrMapping/>
  </p:clrMapOvr>
  <p:transition advClick="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日志文件的格式和内容（续）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48130" name="Rectangle 3"/>
          <p:cNvSpPr>
            <a:spLocks noGrp="1"/>
          </p:cNvSpPr>
          <p:nvPr>
            <p:ph idx="1"/>
          </p:nvPr>
        </p:nvSpPr>
        <p:spPr>
          <a:ln/>
        </p:spPr>
        <p:txBody>
          <a:bodyPr vert="horz" wrap="square" lIns="91440" tIns="45720" rIns="91440" bIns="45720" anchor="t" anchorCtr="0"/>
          <a:p>
            <a:pPr eaLnBrk="1" hangingPunct="1">
              <a:lnSpc>
                <a:spcPct val="140000"/>
              </a:lnSpc>
            </a:pPr>
            <a:r>
              <a:rPr lang="zh-CN" altLang="en-US" dirty="0"/>
              <a:t>以记录为单位的日志文件内容</a:t>
            </a:r>
            <a:endParaRPr lang="zh-CN" altLang="en-US" dirty="0"/>
          </a:p>
          <a:p>
            <a:pPr lvl="1" indent="-436245" eaLnBrk="1" hangingPunct="1">
              <a:lnSpc>
                <a:spcPct val="140000"/>
              </a:lnSpc>
              <a:spcBef>
                <a:spcPct val="50000"/>
              </a:spcBef>
            </a:pPr>
            <a:r>
              <a:rPr lang="zh-CN" altLang="en-US" sz="2400" dirty="0"/>
              <a:t>各个事务的开始标记</a:t>
            </a:r>
            <a:r>
              <a:rPr lang="en-US" altLang="zh-CN" sz="2400" dirty="0"/>
              <a:t>(BEGIN TRANSACTION)</a:t>
            </a:r>
            <a:endParaRPr lang="en-US" altLang="zh-CN" sz="2400" dirty="0"/>
          </a:p>
          <a:p>
            <a:pPr lvl="1" indent="-436245" eaLnBrk="1" hangingPunct="1">
              <a:lnSpc>
                <a:spcPct val="140000"/>
              </a:lnSpc>
              <a:spcBef>
                <a:spcPct val="50000"/>
              </a:spcBef>
            </a:pPr>
            <a:r>
              <a:rPr lang="zh-CN" altLang="en-US" sz="2400" dirty="0"/>
              <a:t>各个事务的结束标记</a:t>
            </a:r>
            <a:r>
              <a:rPr lang="en-US" altLang="zh-CN" sz="2400" dirty="0"/>
              <a:t>(COMMIT</a:t>
            </a:r>
            <a:r>
              <a:rPr lang="zh-CN" altLang="en-US" sz="2400" dirty="0"/>
              <a:t>或</a:t>
            </a:r>
            <a:r>
              <a:rPr lang="en-US" altLang="zh-CN" sz="2400" dirty="0"/>
              <a:t>ROLLBACK)</a:t>
            </a:r>
            <a:endParaRPr lang="en-US" altLang="zh-CN" sz="2400" dirty="0"/>
          </a:p>
          <a:p>
            <a:pPr lvl="1" indent="-436245" eaLnBrk="1" hangingPunct="1">
              <a:lnSpc>
                <a:spcPct val="140000"/>
              </a:lnSpc>
              <a:spcBef>
                <a:spcPct val="50000"/>
              </a:spcBef>
            </a:pPr>
            <a:r>
              <a:rPr lang="zh-CN" altLang="en-US" sz="2400" dirty="0"/>
              <a:t>各个事务的所有更新操作</a:t>
            </a:r>
            <a:endParaRPr lang="zh-CN" altLang="en-US" sz="2400" dirty="0"/>
          </a:p>
          <a:p>
            <a:pPr eaLnBrk="1" hangingPunct="1">
              <a:lnSpc>
                <a:spcPct val="140000"/>
              </a:lnSpc>
              <a:spcBef>
                <a:spcPct val="50000"/>
              </a:spcBef>
              <a:buNone/>
            </a:pPr>
            <a:r>
              <a:rPr lang="zh-CN" altLang="en-US" sz="2400" dirty="0"/>
              <a:t>     以上均作为日志文件中的一个日志记录 </a:t>
            </a:r>
            <a:r>
              <a:rPr lang="en-US" altLang="zh-CN" sz="2400" dirty="0"/>
              <a:t>(log  record)</a:t>
            </a:r>
            <a:endParaRPr lang="en-US" altLang="zh-CN" sz="2400" dirty="0"/>
          </a:p>
        </p:txBody>
      </p:sp>
    </p:spTree>
  </p:cSld>
  <p:clrMapOvr>
    <a:masterClrMapping/>
  </p:clrMapOvr>
  <p:transition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日志文件的格式和内容（续）</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49154" name="Rectangle 3"/>
          <p:cNvSpPr>
            <a:spLocks noGrp="1"/>
          </p:cNvSpPr>
          <p:nvPr>
            <p:ph idx="1"/>
          </p:nvPr>
        </p:nvSpPr>
        <p:spPr>
          <a:xfrm>
            <a:off x="714375" y="1285875"/>
            <a:ext cx="8064500" cy="4114800"/>
          </a:xfrm>
          <a:ln/>
        </p:spPr>
        <p:txBody>
          <a:bodyPr vert="horz" wrap="square" lIns="91440" tIns="45720" rIns="91440" bIns="45720" anchor="t" anchorCtr="0"/>
          <a:p>
            <a:pPr eaLnBrk="1" hangingPunct="1"/>
            <a:r>
              <a:rPr lang="zh-CN" altLang="en-US" dirty="0"/>
              <a:t>以记录为单位的日志文件，每条日志记录的内容</a:t>
            </a:r>
            <a:endParaRPr lang="zh-CN" altLang="en-US" sz="2400" dirty="0"/>
          </a:p>
          <a:p>
            <a:pPr lvl="1" indent="-436245" eaLnBrk="1" hangingPunct="1">
              <a:lnSpc>
                <a:spcPct val="160000"/>
              </a:lnSpc>
            </a:pPr>
            <a:r>
              <a:rPr lang="zh-CN" altLang="en-US" sz="2200" dirty="0"/>
              <a:t>事务标识（标明是哪个事务） </a:t>
            </a:r>
            <a:endParaRPr lang="zh-CN" altLang="en-US" sz="2200" dirty="0"/>
          </a:p>
          <a:p>
            <a:pPr lvl="1" indent="-436245" eaLnBrk="1" hangingPunct="1">
              <a:lnSpc>
                <a:spcPct val="160000"/>
              </a:lnSpc>
            </a:pPr>
            <a:r>
              <a:rPr lang="zh-CN" altLang="en-US" sz="2200" dirty="0"/>
              <a:t>操作类型（插入、删除或修改）</a:t>
            </a:r>
            <a:endParaRPr lang="zh-CN" altLang="en-US" sz="2200" dirty="0"/>
          </a:p>
          <a:p>
            <a:pPr lvl="1" indent="-436245" eaLnBrk="1" hangingPunct="1">
              <a:lnSpc>
                <a:spcPct val="160000"/>
              </a:lnSpc>
            </a:pPr>
            <a:r>
              <a:rPr lang="zh-CN" altLang="en-US" sz="2200" dirty="0"/>
              <a:t>操作对象（记录内部标识）</a:t>
            </a:r>
            <a:endParaRPr lang="zh-CN" altLang="en-US" sz="2200" dirty="0"/>
          </a:p>
          <a:p>
            <a:pPr lvl="1" indent="-436245" eaLnBrk="1" hangingPunct="1">
              <a:lnSpc>
                <a:spcPct val="160000"/>
              </a:lnSpc>
            </a:pPr>
            <a:r>
              <a:rPr lang="zh-CN" altLang="en-US" sz="2200" dirty="0"/>
              <a:t>更新前数据的</a:t>
            </a:r>
            <a:r>
              <a:rPr lang="zh-CN" altLang="en-US" sz="2200" dirty="0">
                <a:solidFill>
                  <a:srgbClr val="FF0000"/>
                </a:solidFill>
              </a:rPr>
              <a:t>旧值</a:t>
            </a:r>
            <a:r>
              <a:rPr lang="zh-CN" altLang="en-US" sz="2200" dirty="0"/>
              <a:t>（对插入操作而言，此项为空值）</a:t>
            </a:r>
            <a:endParaRPr lang="zh-CN" altLang="en-US" sz="2200" dirty="0"/>
          </a:p>
          <a:p>
            <a:pPr lvl="1" indent="-436245" eaLnBrk="1" hangingPunct="1">
              <a:lnSpc>
                <a:spcPct val="160000"/>
              </a:lnSpc>
            </a:pPr>
            <a:r>
              <a:rPr lang="zh-CN" altLang="en-US" sz="2200" dirty="0"/>
              <a:t>更新后数据的</a:t>
            </a:r>
            <a:r>
              <a:rPr lang="zh-CN" altLang="en-US" sz="2200" dirty="0">
                <a:solidFill>
                  <a:srgbClr val="FF0000"/>
                </a:solidFill>
              </a:rPr>
              <a:t>新值</a:t>
            </a:r>
            <a:r>
              <a:rPr lang="zh-CN" altLang="en-US" sz="2200" dirty="0"/>
              <a:t>（对删除操作而言</a:t>
            </a:r>
            <a:r>
              <a:rPr lang="en-US" altLang="zh-CN" sz="2200" dirty="0"/>
              <a:t>, </a:t>
            </a:r>
            <a:r>
              <a:rPr lang="zh-CN" altLang="en-US" sz="2200" dirty="0"/>
              <a:t>此项为空值）</a:t>
            </a:r>
            <a:endParaRPr lang="zh-CN" altLang="en-US" sz="2200" dirty="0"/>
          </a:p>
        </p:txBody>
      </p:sp>
    </p:spTree>
  </p:cSld>
  <p:clrMapOvr>
    <a:masterClrMapping/>
  </p:clrMapOvr>
  <p:transition advClick="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日志文件的格式和内容（续）</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50178" name="Rectangle 3"/>
          <p:cNvSpPr>
            <a:spLocks noGrp="1"/>
          </p:cNvSpPr>
          <p:nvPr>
            <p:ph idx="1"/>
          </p:nvPr>
        </p:nvSpPr>
        <p:spPr>
          <a:xfrm>
            <a:off x="714375" y="1571625"/>
            <a:ext cx="7772400" cy="4114800"/>
          </a:xfrm>
          <a:ln/>
        </p:spPr>
        <p:txBody>
          <a:bodyPr vert="horz" wrap="square" lIns="91440" tIns="45720" rIns="91440" bIns="45720" anchor="t" anchorCtr="0"/>
          <a:p>
            <a:pPr eaLnBrk="1" hangingPunct="1"/>
            <a:r>
              <a:rPr lang="zh-CN" altLang="en-US" dirty="0"/>
              <a:t>以数据块为单位的日志文件，每条日志记录的内容</a:t>
            </a:r>
            <a:endParaRPr lang="zh-CN" altLang="en-US" sz="2400" dirty="0"/>
          </a:p>
          <a:p>
            <a:pPr lvl="1" indent="-436245" eaLnBrk="1" hangingPunct="1">
              <a:spcBef>
                <a:spcPct val="60000"/>
              </a:spcBef>
            </a:pPr>
            <a:r>
              <a:rPr lang="zh-CN" altLang="en-US" dirty="0"/>
              <a:t>事务标识（标明是那个事务）</a:t>
            </a:r>
            <a:endParaRPr lang="zh-CN" altLang="en-US" dirty="0"/>
          </a:p>
          <a:p>
            <a:pPr lvl="1" indent="-436245" eaLnBrk="1" hangingPunct="1">
              <a:spcBef>
                <a:spcPct val="60000"/>
              </a:spcBef>
            </a:pPr>
            <a:r>
              <a:rPr lang="zh-CN" altLang="en-US" dirty="0"/>
              <a:t>被更新的数据块：更新前的整个数据块和更新后的整个数据块。</a:t>
            </a:r>
            <a:endParaRPr lang="zh-CN" altLang="en-US" dirty="0"/>
          </a:p>
        </p:txBody>
      </p:sp>
    </p:spTree>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二、日志文件的作用</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51202" name="Rectangle 3"/>
          <p:cNvSpPr>
            <a:spLocks noGrp="1"/>
          </p:cNvSpPr>
          <p:nvPr>
            <p:ph idx="1"/>
          </p:nvPr>
        </p:nvSpPr>
        <p:spPr>
          <a:ln/>
        </p:spPr>
        <p:txBody>
          <a:bodyPr vert="horz" wrap="square" lIns="91440" tIns="45720" rIns="91440" bIns="45720" anchor="t" anchorCtr="0"/>
          <a:p>
            <a:pPr eaLnBrk="1" hangingPunct="1">
              <a:lnSpc>
                <a:spcPct val="130000"/>
              </a:lnSpc>
            </a:pPr>
            <a:r>
              <a:rPr lang="zh-CN" altLang="en-US" dirty="0"/>
              <a:t>进行</a:t>
            </a:r>
            <a:r>
              <a:rPr lang="zh-CN" altLang="en-US" dirty="0">
                <a:solidFill>
                  <a:srgbClr val="FF0000"/>
                </a:solidFill>
              </a:rPr>
              <a:t>事务</a:t>
            </a:r>
            <a:r>
              <a:rPr lang="zh-CN" altLang="en-US" dirty="0"/>
              <a:t>故障恢复</a:t>
            </a:r>
            <a:endParaRPr lang="zh-CN" altLang="en-US" dirty="0"/>
          </a:p>
          <a:p>
            <a:pPr eaLnBrk="1" hangingPunct="1">
              <a:lnSpc>
                <a:spcPct val="130000"/>
              </a:lnSpc>
            </a:pPr>
            <a:r>
              <a:rPr lang="zh-CN" altLang="en-US" dirty="0"/>
              <a:t>进行</a:t>
            </a:r>
            <a:r>
              <a:rPr lang="zh-CN" altLang="en-US" dirty="0">
                <a:solidFill>
                  <a:srgbClr val="FF0000"/>
                </a:solidFill>
              </a:rPr>
              <a:t>系统</a:t>
            </a:r>
            <a:r>
              <a:rPr lang="zh-CN" altLang="en-US" dirty="0"/>
              <a:t>故障恢复</a:t>
            </a:r>
            <a:endParaRPr lang="zh-CN" altLang="en-US" dirty="0"/>
          </a:p>
          <a:p>
            <a:pPr eaLnBrk="1" hangingPunct="1">
              <a:lnSpc>
                <a:spcPct val="130000"/>
              </a:lnSpc>
            </a:pPr>
            <a:r>
              <a:rPr lang="zh-CN" altLang="en-US" dirty="0">
                <a:solidFill>
                  <a:srgbClr val="FF0000"/>
                </a:solidFill>
              </a:rPr>
              <a:t>协助后备副本</a:t>
            </a:r>
            <a:r>
              <a:rPr lang="zh-CN" altLang="en-US" dirty="0"/>
              <a:t>进行</a:t>
            </a:r>
            <a:r>
              <a:rPr lang="zh-CN" altLang="en-US" dirty="0">
                <a:solidFill>
                  <a:srgbClr val="FF0000"/>
                </a:solidFill>
              </a:rPr>
              <a:t>介质</a:t>
            </a:r>
            <a:r>
              <a:rPr lang="zh-CN" altLang="en-US" dirty="0"/>
              <a:t>故障恢复</a:t>
            </a:r>
            <a:endParaRPr lang="zh-CN" altLang="en-US" dirty="0"/>
          </a:p>
        </p:txBody>
      </p:sp>
    </p:spTree>
  </p:cSld>
  <p:clrMapOvr>
    <a:masterClrMapping/>
  </p:clrMapOvr>
  <p:transition advClick="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9" name="Rectangle 2"/>
          <p:cNvSpPr>
            <a:spLocks noGrp="1" noChangeArrowheads="1"/>
          </p:cNvSpPr>
          <p:nvPr>
            <p:ph type="title"/>
          </p:nvPr>
        </p:nvSpPr>
        <p:spPr>
          <a:xfrm>
            <a:off x="285750" y="214313"/>
            <a:ext cx="85725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rPr>
              <a:t>利用静态转储副本和日志文件进行恢复</a:t>
            </a:r>
            <a:endPar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endParaRPr>
          </a:p>
        </p:txBody>
      </p:sp>
      <p:sp>
        <p:nvSpPr>
          <p:cNvPr id="52226" name="Rectangle 3"/>
          <p:cNvSpPr>
            <a:spLocks noGrp="1"/>
          </p:cNvSpPr>
          <p:nvPr>
            <p:ph idx="1"/>
          </p:nvPr>
        </p:nvSpPr>
        <p:spPr>
          <a:ln/>
        </p:spPr>
        <p:txBody>
          <a:bodyPr vert="horz" wrap="square" lIns="91440" tIns="45720" rIns="91440" bIns="45720" anchor="t" anchorCtr="0"/>
          <a:p>
            <a:pPr eaLnBrk="1" hangingPunct="1">
              <a:buNone/>
            </a:pPr>
            <a:r>
              <a:rPr lang="en-US" altLang="zh-CN" dirty="0"/>
              <a:t> </a:t>
            </a:r>
            <a:endParaRPr lang="en-US" altLang="zh-CN" dirty="0"/>
          </a:p>
        </p:txBody>
      </p:sp>
      <p:sp>
        <p:nvSpPr>
          <p:cNvPr id="52227" name="Text Box 4"/>
          <p:cNvSpPr txBox="1"/>
          <p:nvPr/>
        </p:nvSpPr>
        <p:spPr>
          <a:xfrm>
            <a:off x="539750" y="1916113"/>
            <a:ext cx="8280400" cy="3960812"/>
          </a:xfrm>
          <a:prstGeom prst="rect">
            <a:avLst/>
          </a:prstGeom>
          <a:noFill/>
          <a:ln w="9525">
            <a:noFill/>
          </a:ln>
        </p:spPr>
        <p:txBody>
          <a:bodyPr anchor="t" anchorCtr="0"/>
          <a:p>
            <a:pPr algn="just" eaLnBrk="0" hangingPunct="0">
              <a:lnSpc>
                <a:spcPct val="160000"/>
              </a:lnSpc>
            </a:pPr>
            <a:r>
              <a:rPr lang="en-US" altLang="zh-CN" sz="2000" dirty="0">
                <a:latin typeface="Verdana" panose="020B0604030504040204" pitchFamily="34" charset="0"/>
                <a:ea typeface="宋体" panose="02010600030101010101" pitchFamily="2" charset="-122"/>
              </a:rPr>
              <a:t>                                   </a:t>
            </a:r>
            <a:r>
              <a:rPr lang="zh-CN" altLang="en-US" sz="2000" dirty="0">
                <a:latin typeface="Verdana" panose="020B0604030504040204" pitchFamily="34" charset="0"/>
                <a:ea typeface="宋体" panose="02010600030101010101" pitchFamily="2" charset="-122"/>
              </a:rPr>
              <a:t>静态</a:t>
            </a:r>
            <a:r>
              <a:rPr lang="zh-CN" altLang="en-US" sz="2000" dirty="0">
                <a:latin typeface="宋体" panose="02010600030101010101" pitchFamily="2" charset="-122"/>
                <a:ea typeface="宋体" panose="02010600030101010101" pitchFamily="2" charset="-122"/>
              </a:rPr>
              <a:t>转储</a:t>
            </a:r>
            <a:r>
              <a:rPr lang="zh-CN" altLang="en-US" sz="16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运行事务   </a:t>
            </a:r>
            <a:endParaRPr lang="zh-CN" altLang="en-US" dirty="0">
              <a:latin typeface="宋体" panose="02010600030101010101" pitchFamily="2" charset="-122"/>
              <a:ea typeface="宋体" panose="02010600030101010101" pitchFamily="2" charset="-122"/>
            </a:endParaRPr>
          </a:p>
          <a:p>
            <a:pPr algn="just" eaLnBrk="0" hangingPunct="0">
              <a:lnSpc>
                <a:spcPct val="160000"/>
              </a:lnSpc>
            </a:pPr>
            <a:r>
              <a:rPr lang="zh-CN" altLang="en-US" sz="2000" dirty="0">
                <a:latin typeface="宋体" panose="02010600030101010101" pitchFamily="2" charset="-122"/>
                <a:ea typeface="宋体" panose="02010600030101010101" pitchFamily="2" charset="-122"/>
              </a:rPr>
              <a:t>正常运行</a:t>
            </a:r>
            <a:r>
              <a:rPr lang="zh-CN" altLang="en-US" dirty="0">
                <a:latin typeface="宋体" panose="02010600030101010101" pitchFamily="2" charset="-122"/>
                <a:ea typeface="宋体" panose="02010600030101010101" pitchFamily="2" charset="-122"/>
              </a:rPr>
              <a:t>     ─┼───────┼─────────────</a:t>
            </a:r>
            <a:endParaRPr lang="zh-CN" altLang="en-US" dirty="0">
              <a:latin typeface="宋体" panose="02010600030101010101" pitchFamily="2" charset="-122"/>
              <a:ea typeface="宋体" panose="02010600030101010101" pitchFamily="2" charset="-122"/>
            </a:endParaRPr>
          </a:p>
          <a:p>
            <a:pPr algn="just" eaLnBrk="0" hangingPunct="0">
              <a:lnSpc>
                <a:spcPct val="160000"/>
              </a:lnSpc>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Ta        </a:t>
            </a: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Tb        </a:t>
            </a:r>
            <a:r>
              <a:rPr lang="en-US" altLang="zh-CN" sz="2000" dirty="0">
                <a:latin typeface="宋体" panose="02010600030101010101" pitchFamily="2" charset="-122"/>
                <a:ea typeface="宋体" panose="02010600030101010101" pitchFamily="2" charset="-122"/>
              </a:rPr>
              <a:t>          Tf</a:t>
            </a:r>
            <a:endParaRPr lang="en-US" altLang="zh-CN" sz="2000" dirty="0">
              <a:latin typeface="宋体" panose="02010600030101010101" pitchFamily="2" charset="-122"/>
              <a:ea typeface="宋体" panose="02010600030101010101" pitchFamily="2" charset="-122"/>
            </a:endParaRPr>
          </a:p>
          <a:p>
            <a:pPr algn="just" eaLnBrk="0" hangingPunct="0">
              <a:lnSpc>
                <a:spcPct val="160000"/>
              </a:lnSpc>
            </a:pPr>
            <a:r>
              <a:rPr lang="en-US" altLang="zh-CN" sz="2000" dirty="0">
                <a:latin typeface="宋体" panose="02010600030101010101" pitchFamily="2" charset="-122"/>
                <a:ea typeface="宋体" panose="02010600030101010101" pitchFamily="2" charset="-122"/>
              </a:rPr>
              <a:t>	                     └</a:t>
            </a:r>
            <a:r>
              <a:rPr lang="en-US" altLang="zh-CN" dirty="0">
                <a:latin typeface="Verdana" panose="020B0604030504040204" pitchFamily="34" charset="0"/>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重装后备副本</a:t>
            </a:r>
            <a:r>
              <a:rPr lang="zh-CN" altLang="en-US"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利用日志文件恢复   继续运行</a:t>
            </a:r>
            <a:endParaRPr lang="zh-CN" altLang="en-US" sz="2000" dirty="0">
              <a:latin typeface="宋体" panose="02010600030101010101" pitchFamily="2" charset="-122"/>
              <a:ea typeface="宋体" panose="02010600030101010101" pitchFamily="2" charset="-122"/>
            </a:endParaRPr>
          </a:p>
          <a:p>
            <a:pPr algn="just" eaLnBrk="0" hangingPunct="0">
              <a:lnSpc>
                <a:spcPct val="160000"/>
              </a:lnSpc>
            </a:pPr>
            <a:r>
              <a:rPr lang="zh-CN" altLang="en-US" sz="2000" dirty="0">
                <a:latin typeface="宋体" panose="02010600030101010101" pitchFamily="2" charset="-122"/>
                <a:ea typeface="宋体" panose="02010600030101010101" pitchFamily="2" charset="-122"/>
              </a:rPr>
              <a:t>恢复</a:t>
            </a:r>
            <a:r>
              <a:rPr lang="zh-CN" altLang="en-US" sz="1600"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        </a:t>
            </a:r>
            <a:r>
              <a:rPr lang="zh-CN" altLang="en-US" dirty="0">
                <a:latin typeface="Verdana" panose="020B0604030504040204" pitchFamily="34" charset="0"/>
                <a:ea typeface="宋体" panose="02010600030101010101" pitchFamily="2" charset="-122"/>
              </a:rPr>
              <a:t>─┼───────┼┈ ┈ ┈ ┈ ┈ ┈ ┈ ┈ ┼────</a:t>
            </a:r>
            <a:endParaRPr lang="zh-CN" altLang="en-US" dirty="0">
              <a:latin typeface="Verdana" panose="020B0604030504040204" pitchFamily="34" charset="0"/>
              <a:ea typeface="宋体" panose="02010600030101010101" pitchFamily="2" charset="-122"/>
            </a:endParaRPr>
          </a:p>
        </p:txBody>
      </p:sp>
      <p:sp>
        <p:nvSpPr>
          <p:cNvPr id="52228" name="Text Box 5"/>
          <p:cNvSpPr txBox="1"/>
          <p:nvPr/>
        </p:nvSpPr>
        <p:spPr>
          <a:xfrm>
            <a:off x="4932363" y="3068638"/>
            <a:ext cx="1565275" cy="806450"/>
          </a:xfrm>
          <a:prstGeom prst="rect">
            <a:avLst/>
          </a:prstGeom>
          <a:noFill/>
          <a:ln w="25400">
            <a:noFill/>
          </a:ln>
        </p:spPr>
        <p:txBody>
          <a:bodyPr wrap="none" anchor="t" anchorCtr="0">
            <a:spAutoFit/>
          </a:bodyPr>
          <a:p>
            <a:pPr marL="342900" indent="-342900" eaLnBrk="0" hangingPunct="0">
              <a:lnSpc>
                <a:spcPct val="160000"/>
              </a:lnSpc>
            </a:pPr>
            <a:r>
              <a:rPr lang="zh-CN" altLang="en-US" dirty="0">
                <a:latin typeface="Verdana" panose="020B0604030504040204" pitchFamily="34" charset="0"/>
                <a:ea typeface="宋体" panose="02010600030101010101" pitchFamily="2" charset="-122"/>
              </a:rPr>
              <a:t>登记日志文件</a:t>
            </a:r>
            <a:endParaRPr lang="zh-CN" altLang="en-US" dirty="0">
              <a:latin typeface="Verdana" panose="020B0604030504040204" pitchFamily="34" charset="0"/>
              <a:ea typeface="宋体" panose="02010600030101010101" pitchFamily="2" charset="-122"/>
            </a:endParaRPr>
          </a:p>
          <a:p>
            <a:pPr marL="342900" indent="-342900"/>
            <a:endParaRPr lang="en-US" altLang="zh-CN" dirty="0">
              <a:latin typeface="Verdana" panose="020B0604030504040204" pitchFamily="34" charset="0"/>
              <a:ea typeface="宋体" panose="02010600030101010101" pitchFamily="2" charset="-122"/>
            </a:endParaRPr>
          </a:p>
        </p:txBody>
      </p:sp>
      <p:sp>
        <p:nvSpPr>
          <p:cNvPr id="52229" name="Text Box 6"/>
          <p:cNvSpPr txBox="1"/>
          <p:nvPr/>
        </p:nvSpPr>
        <p:spPr>
          <a:xfrm>
            <a:off x="6443663" y="2420938"/>
            <a:ext cx="936625" cy="366712"/>
          </a:xfrm>
          <a:prstGeom prst="rect">
            <a:avLst/>
          </a:prstGeom>
          <a:noFill/>
          <a:ln w="25400">
            <a:noFill/>
          </a:ln>
        </p:spPr>
        <p:txBody>
          <a:bodyPr anchor="t" anchorCtr="0">
            <a:spAutoFit/>
          </a:bodyPr>
          <a:p>
            <a:pPr marL="342900" indent="-342900">
              <a:spcBef>
                <a:spcPct val="50000"/>
              </a:spcBef>
            </a:pPr>
            <a:r>
              <a:rPr lang="en-US" altLang="zh-CN" dirty="0">
                <a:latin typeface="Verdana" panose="020B0604030504040204" pitchFamily="34" charset="0"/>
                <a:ea typeface="宋体" panose="02010600030101010101" pitchFamily="2" charset="-122"/>
              </a:rPr>
              <a:t>↓</a:t>
            </a:r>
            <a:endParaRPr lang="en-US" altLang="zh-CN"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利用静态转储副本和日志文件进行恢复（续）</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53250" name="Rectangle 3"/>
          <p:cNvSpPr>
            <a:spLocks noGrp="1"/>
          </p:cNvSpPr>
          <p:nvPr>
            <p:ph idx="1"/>
          </p:nvPr>
        </p:nvSpPr>
        <p:spPr>
          <a:ln/>
        </p:spPr>
        <p:txBody>
          <a:bodyPr vert="horz" wrap="square" lIns="91440" tIns="45720" rIns="91440" bIns="45720" anchor="t" anchorCtr="0"/>
          <a:p>
            <a:pPr eaLnBrk="1" hangingPunct="1">
              <a:lnSpc>
                <a:spcPct val="130000"/>
              </a:lnSpc>
              <a:buNone/>
            </a:pPr>
            <a:r>
              <a:rPr lang="zh-CN" altLang="en-US" sz="2400" dirty="0"/>
              <a:t>上图中：</a:t>
            </a:r>
            <a:endParaRPr lang="zh-CN" altLang="en-US" sz="2400" dirty="0"/>
          </a:p>
          <a:p>
            <a:pPr eaLnBrk="1" hangingPunct="1">
              <a:lnSpc>
                <a:spcPct val="130000"/>
              </a:lnSpc>
            </a:pPr>
            <a:r>
              <a:rPr lang="zh-CN" altLang="en-US" sz="2400" dirty="0"/>
              <a:t>系统在</a:t>
            </a:r>
            <a:r>
              <a:rPr lang="en-US" altLang="zh-CN" sz="2400" i="1" dirty="0"/>
              <a:t>T</a:t>
            </a:r>
            <a:r>
              <a:rPr lang="en-US" altLang="zh-CN" sz="2400" baseline="-25000" dirty="0"/>
              <a:t>a</a:t>
            </a:r>
            <a:r>
              <a:rPr lang="zh-CN" altLang="en-US" sz="2400" dirty="0"/>
              <a:t>时刻停止运行事务，进行数据库转储</a:t>
            </a:r>
            <a:endParaRPr lang="zh-CN" altLang="en-US" sz="2400" dirty="0"/>
          </a:p>
          <a:p>
            <a:pPr eaLnBrk="1" hangingPunct="1">
              <a:lnSpc>
                <a:spcPct val="130000"/>
              </a:lnSpc>
            </a:pPr>
            <a:r>
              <a:rPr lang="zh-CN" altLang="en-US" sz="2400" dirty="0"/>
              <a:t>在</a:t>
            </a:r>
            <a:r>
              <a:rPr lang="en-US" altLang="zh-CN" sz="2400" i="1" dirty="0"/>
              <a:t>T</a:t>
            </a:r>
            <a:r>
              <a:rPr lang="en-US" altLang="zh-CN" sz="2400" baseline="-25000" dirty="0"/>
              <a:t>b</a:t>
            </a:r>
            <a:r>
              <a:rPr lang="zh-CN" altLang="en-US" sz="2400" dirty="0"/>
              <a:t>时刻转储完毕，得到</a:t>
            </a:r>
            <a:r>
              <a:rPr lang="en-US" altLang="zh-CN" sz="2400" i="1" dirty="0"/>
              <a:t>T</a:t>
            </a:r>
            <a:r>
              <a:rPr lang="en-US" altLang="zh-CN" sz="2400" baseline="-25000" dirty="0"/>
              <a:t>b</a:t>
            </a:r>
            <a:r>
              <a:rPr lang="zh-CN" altLang="en-US" sz="2400" dirty="0"/>
              <a:t>时刻的数据库一致性副本</a:t>
            </a:r>
            <a:endParaRPr lang="zh-CN" altLang="en-US" sz="2400" dirty="0"/>
          </a:p>
          <a:p>
            <a:pPr eaLnBrk="1" hangingPunct="1">
              <a:lnSpc>
                <a:spcPct val="130000"/>
              </a:lnSpc>
            </a:pPr>
            <a:r>
              <a:rPr lang="zh-CN" altLang="en-US" sz="2400" dirty="0"/>
              <a:t>系统运行到</a:t>
            </a:r>
            <a:r>
              <a:rPr lang="en-US" altLang="zh-CN" sz="2400" i="1" dirty="0"/>
              <a:t>T</a:t>
            </a:r>
            <a:r>
              <a:rPr lang="en-US" altLang="zh-CN" sz="2400" baseline="-25000" dirty="0"/>
              <a:t>f</a:t>
            </a:r>
            <a:r>
              <a:rPr lang="zh-CN" altLang="en-US" sz="2400" dirty="0"/>
              <a:t>时刻发生故障</a:t>
            </a:r>
            <a:endParaRPr lang="zh-CN" altLang="en-US" sz="2400" dirty="0"/>
          </a:p>
          <a:p>
            <a:pPr eaLnBrk="1" hangingPunct="1">
              <a:lnSpc>
                <a:spcPct val="130000"/>
              </a:lnSpc>
            </a:pPr>
            <a:r>
              <a:rPr lang="zh-CN" altLang="en-US" sz="2400" dirty="0"/>
              <a:t>为恢复数据库，首先由</a:t>
            </a:r>
            <a:r>
              <a:rPr lang="en-US" altLang="zh-CN" sz="2400" dirty="0"/>
              <a:t>DBA</a:t>
            </a:r>
            <a:r>
              <a:rPr lang="zh-CN" altLang="en-US" sz="2400" dirty="0"/>
              <a:t>重装数据库后备副本，将数据库恢复至</a:t>
            </a:r>
            <a:r>
              <a:rPr lang="en-US" altLang="zh-CN" sz="2400" i="1" dirty="0"/>
              <a:t>T</a:t>
            </a:r>
            <a:r>
              <a:rPr lang="en-US" altLang="zh-CN" sz="2400" baseline="-25000" dirty="0"/>
              <a:t>b</a:t>
            </a:r>
            <a:r>
              <a:rPr lang="zh-CN" altLang="en-US" sz="2400" dirty="0"/>
              <a:t>时刻的状态</a:t>
            </a:r>
            <a:endParaRPr lang="zh-CN" altLang="en-US" sz="2400" dirty="0"/>
          </a:p>
          <a:p>
            <a:pPr eaLnBrk="1" hangingPunct="1">
              <a:lnSpc>
                <a:spcPct val="130000"/>
              </a:lnSpc>
            </a:pPr>
            <a:r>
              <a:rPr lang="zh-CN" altLang="en-US" sz="2400" dirty="0"/>
              <a:t>重新运行自</a:t>
            </a:r>
            <a:r>
              <a:rPr lang="en-US" altLang="zh-CN" sz="2400" i="1" dirty="0"/>
              <a:t>T</a:t>
            </a:r>
            <a:r>
              <a:rPr lang="en-US" altLang="zh-CN" sz="2400" baseline="-25000" dirty="0"/>
              <a:t>b</a:t>
            </a:r>
            <a:r>
              <a:rPr lang="zh-CN" altLang="en-US" sz="2400" dirty="0"/>
              <a:t>～</a:t>
            </a:r>
            <a:r>
              <a:rPr lang="en-US" altLang="zh-CN" sz="2400" i="1" dirty="0"/>
              <a:t>T</a:t>
            </a:r>
            <a:r>
              <a:rPr lang="en-US" altLang="zh-CN" sz="2400" baseline="-25000" dirty="0"/>
              <a:t>f</a:t>
            </a:r>
            <a:r>
              <a:rPr lang="zh-CN" altLang="en-US" sz="2400" dirty="0"/>
              <a:t>时刻的所有更新事务，把数据库恢复到故障发生前的一致状态。即利用日志文件把已完成的事务进行重做，把发生故障时尚未完成的事务进行撤销。</a:t>
            </a:r>
            <a:endParaRPr lang="zh-CN" altLang="en-US" sz="2400" dirty="0"/>
          </a:p>
        </p:txBody>
      </p:sp>
    </p:spTree>
  </p:cSld>
  <p:clrMapOvr>
    <a:masterClrMapping/>
  </p:clrMapOvr>
  <p:transition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三、登记日志文件</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54274" name="Rectangle 3"/>
          <p:cNvSpPr>
            <a:spLocks noGrp="1"/>
          </p:cNvSpPr>
          <p:nvPr>
            <p:ph idx="1"/>
          </p:nvPr>
        </p:nvSpPr>
        <p:spPr>
          <a:xfrm>
            <a:off x="642938" y="1357313"/>
            <a:ext cx="7772400" cy="4429125"/>
          </a:xfrm>
          <a:ln/>
        </p:spPr>
        <p:txBody>
          <a:bodyPr vert="horz" wrap="square" lIns="91440" tIns="45720" rIns="91440" bIns="45720" anchor="t" anchorCtr="0"/>
          <a:p>
            <a:pPr eaLnBrk="1" hangingPunct="1">
              <a:lnSpc>
                <a:spcPct val="130000"/>
              </a:lnSpc>
            </a:pPr>
            <a:r>
              <a:rPr lang="zh-CN" altLang="en-US" sz="3200" dirty="0"/>
              <a:t>基本原则</a:t>
            </a:r>
            <a:endParaRPr lang="zh-CN" altLang="en-US" sz="3200" dirty="0"/>
          </a:p>
          <a:p>
            <a:pPr lvl="1" indent="-436245" eaLnBrk="1" hangingPunct="1">
              <a:lnSpc>
                <a:spcPct val="120000"/>
              </a:lnSpc>
              <a:spcBef>
                <a:spcPct val="40000"/>
              </a:spcBef>
            </a:pPr>
            <a:r>
              <a:rPr lang="zh-CN" altLang="en-US" dirty="0"/>
              <a:t>登记的次序</a:t>
            </a:r>
            <a:r>
              <a:rPr lang="zh-CN" altLang="en-US" dirty="0">
                <a:solidFill>
                  <a:srgbClr val="FF0000"/>
                </a:solidFill>
              </a:rPr>
              <a:t>严格按并行事务执行的时间</a:t>
            </a:r>
            <a:r>
              <a:rPr lang="zh-CN" altLang="en-US" dirty="0"/>
              <a:t>次序</a:t>
            </a:r>
            <a:endParaRPr lang="zh-CN" altLang="en-US" dirty="0"/>
          </a:p>
          <a:p>
            <a:pPr lvl="1" indent="-436245" eaLnBrk="1" hangingPunct="1">
              <a:lnSpc>
                <a:spcPct val="120000"/>
              </a:lnSpc>
              <a:spcBef>
                <a:spcPct val="40000"/>
              </a:spcBef>
            </a:pPr>
            <a:r>
              <a:rPr lang="zh-CN" altLang="en-US" dirty="0"/>
              <a:t>必须</a:t>
            </a:r>
            <a:r>
              <a:rPr lang="zh-CN" altLang="en-US" b="1" dirty="0">
                <a:solidFill>
                  <a:srgbClr val="FF0000"/>
                </a:solidFill>
              </a:rPr>
              <a:t>先写日志文件</a:t>
            </a:r>
            <a:r>
              <a:rPr lang="zh-CN" altLang="en-US" dirty="0"/>
              <a:t>，</a:t>
            </a:r>
            <a:r>
              <a:rPr lang="zh-CN" altLang="en-US" b="1" dirty="0">
                <a:solidFill>
                  <a:srgbClr val="FF0000"/>
                </a:solidFill>
              </a:rPr>
              <a:t>后写数据库</a:t>
            </a:r>
            <a:endParaRPr lang="zh-CN" altLang="en-US" b="1" dirty="0">
              <a:solidFill>
                <a:srgbClr val="FF0000"/>
              </a:solidFill>
            </a:endParaRPr>
          </a:p>
          <a:p>
            <a:pPr lvl="2" indent="-394970" eaLnBrk="1" hangingPunct="1">
              <a:lnSpc>
                <a:spcPct val="120000"/>
              </a:lnSpc>
              <a:buFont typeface="Wingdings" panose="05000000000000000000" pitchFamily="2" charset="2"/>
              <a:buChar char="Ø"/>
            </a:pPr>
            <a:r>
              <a:rPr lang="zh-CN" altLang="en-US" sz="2400" dirty="0"/>
              <a:t>写日志文件操作：把表示这个修改的日志记录</a:t>
            </a:r>
            <a:endParaRPr lang="zh-CN" altLang="en-US" sz="2400" dirty="0"/>
          </a:p>
          <a:p>
            <a:pPr lvl="2" indent="-394970" eaLnBrk="1" hangingPunct="1">
              <a:lnSpc>
                <a:spcPct val="120000"/>
              </a:lnSpc>
              <a:buNone/>
            </a:pPr>
            <a:r>
              <a:rPr lang="zh-CN" altLang="en-US" sz="2400" dirty="0"/>
              <a:t>   写到日志文件</a:t>
            </a:r>
            <a:endParaRPr lang="zh-CN" altLang="en-US" sz="2400" dirty="0"/>
          </a:p>
          <a:p>
            <a:pPr lvl="2" indent="-394970" eaLnBrk="1" hangingPunct="1">
              <a:lnSpc>
                <a:spcPct val="120000"/>
              </a:lnSpc>
              <a:buFont typeface="Wingdings" panose="05000000000000000000" pitchFamily="2" charset="2"/>
              <a:buChar char="Ø"/>
            </a:pPr>
            <a:r>
              <a:rPr lang="zh-CN" altLang="en-US" sz="2400" dirty="0"/>
              <a:t>写数据库操作：把对数据的修改写到数据库中</a:t>
            </a:r>
            <a:endParaRPr lang="zh-CN" altLang="en-US" sz="2400" dirty="0"/>
          </a:p>
          <a:p>
            <a:pPr lvl="1" indent="-436245" eaLnBrk="1" hangingPunct="1">
              <a:buFont typeface="Wingdings" panose="05000000000000000000" pitchFamily="2" charset="2"/>
              <a:buChar char="p"/>
            </a:pPr>
            <a:endParaRPr lang="en-US" altLang="zh-CN" dirty="0"/>
          </a:p>
        </p:txBody>
      </p:sp>
    </p:spTree>
  </p:cSld>
  <p:clrMapOvr>
    <a:masterClrMapping/>
  </p:clrMapOvr>
  <p:transition advClick="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Grp="1"/>
          </p:cNvSpPr>
          <p:nvPr>
            <p:ph type="title"/>
          </p:nvPr>
        </p:nvSpPr>
        <p:spPr>
          <a:ln/>
        </p:spPr>
        <p:txBody>
          <a:bodyPr vert="horz" wrap="square" lIns="91440" tIns="45720" rIns="91440" bIns="45720" anchor="b" anchorCtr="0"/>
          <a:p>
            <a:pPr marL="342900" indent="-342900" eaLnBrk="1" hangingPunct="1">
              <a:lnSpc>
                <a:spcPct val="120000"/>
              </a:lnSpc>
            </a:pPr>
            <a:r>
              <a:rPr lang="zh-CN" altLang="en-US" sz="2800" dirty="0"/>
              <a:t>为什么要先</a:t>
            </a:r>
            <a:r>
              <a:rPr lang="zh-CN" altLang="en-US" sz="2800" dirty="0">
                <a:solidFill>
                  <a:srgbClr val="FF0000"/>
                </a:solidFill>
              </a:rPr>
              <a:t>写日志文件，后写数据库？</a:t>
            </a:r>
            <a:endParaRPr lang="en-US" altLang="zh-CN" sz="2800" dirty="0"/>
          </a:p>
        </p:txBody>
      </p:sp>
      <p:sp>
        <p:nvSpPr>
          <p:cNvPr id="55298" name="Rectangle 3"/>
          <p:cNvSpPr>
            <a:spLocks noGrp="1"/>
          </p:cNvSpPr>
          <p:nvPr>
            <p:ph idx="1"/>
          </p:nvPr>
        </p:nvSpPr>
        <p:spPr>
          <a:xfrm>
            <a:off x="571500" y="1143000"/>
            <a:ext cx="8248650" cy="5072063"/>
          </a:xfrm>
          <a:ln/>
        </p:spPr>
        <p:txBody>
          <a:bodyPr vert="horz" wrap="square" lIns="91440" tIns="45720" rIns="91440" bIns="45720" anchor="t" anchorCtr="0"/>
          <a:p>
            <a:pPr eaLnBrk="1" hangingPunct="1">
              <a:lnSpc>
                <a:spcPct val="120000"/>
              </a:lnSpc>
            </a:pPr>
            <a:r>
              <a:rPr lang="zh-CN" altLang="en-US" sz="2800" b="1" dirty="0">
                <a:solidFill>
                  <a:srgbClr val="FF0000"/>
                </a:solidFill>
              </a:rPr>
              <a:t>数据库</a:t>
            </a:r>
            <a:r>
              <a:rPr lang="zh-CN" altLang="en-US" sz="2800" dirty="0"/>
              <a:t>只记录最后的数据状态</a:t>
            </a:r>
            <a:endParaRPr lang="en-US" altLang="zh-CN" sz="2800" dirty="0"/>
          </a:p>
          <a:p>
            <a:pPr eaLnBrk="1" hangingPunct="1">
              <a:lnSpc>
                <a:spcPct val="120000"/>
              </a:lnSpc>
            </a:pPr>
            <a:r>
              <a:rPr lang="zh-CN" altLang="en-US" sz="2800" b="1" dirty="0">
                <a:solidFill>
                  <a:srgbClr val="FF0000"/>
                </a:solidFill>
              </a:rPr>
              <a:t>日志</a:t>
            </a:r>
            <a:r>
              <a:rPr lang="zh-CN" altLang="en-US" sz="2800" dirty="0"/>
              <a:t>记录所有数据库变化的状态，变化前的和变化后的。</a:t>
            </a:r>
            <a:endParaRPr lang="zh-CN" altLang="en-US" sz="2800" dirty="0"/>
          </a:p>
          <a:p>
            <a:pPr lvl="1" indent="-436245" eaLnBrk="1" hangingPunct="1">
              <a:lnSpc>
                <a:spcPct val="120000"/>
              </a:lnSpc>
            </a:pPr>
            <a:r>
              <a:rPr lang="zh-CN" altLang="en-US" sz="2400" dirty="0"/>
              <a:t>写数据库和写日志文件是两个不同的操作</a:t>
            </a:r>
            <a:endParaRPr lang="zh-CN" altLang="en-US" sz="2400" dirty="0"/>
          </a:p>
          <a:p>
            <a:pPr lvl="1" indent="-436245" eaLnBrk="1" hangingPunct="1">
              <a:lnSpc>
                <a:spcPct val="120000"/>
              </a:lnSpc>
            </a:pPr>
            <a:r>
              <a:rPr lang="zh-CN" altLang="en-US" sz="2400" dirty="0"/>
              <a:t>在</a:t>
            </a:r>
            <a:r>
              <a:rPr lang="zh-CN" altLang="en-US" sz="2400" dirty="0">
                <a:solidFill>
                  <a:srgbClr val="FF0000"/>
                </a:solidFill>
              </a:rPr>
              <a:t>这两个操作之间</a:t>
            </a:r>
            <a:r>
              <a:rPr lang="zh-CN" altLang="en-US" sz="2400" dirty="0"/>
              <a:t>可能发生故障</a:t>
            </a:r>
            <a:endParaRPr lang="zh-CN" altLang="en-US" sz="2400" dirty="0"/>
          </a:p>
          <a:p>
            <a:pPr lvl="1" indent="-436245" eaLnBrk="1" hangingPunct="1">
              <a:lnSpc>
                <a:spcPct val="120000"/>
              </a:lnSpc>
            </a:pPr>
            <a:r>
              <a:rPr lang="zh-CN" altLang="en-US" sz="2400" dirty="0"/>
              <a:t>如果先写了数据库修改，而在日志文件中没有登记下这个修改，则以后就无法恢复这个修改了</a:t>
            </a:r>
            <a:endParaRPr lang="zh-CN" altLang="en-US" sz="2400" dirty="0"/>
          </a:p>
          <a:p>
            <a:pPr lvl="1" indent="-436245" eaLnBrk="1" hangingPunct="1">
              <a:lnSpc>
                <a:spcPct val="120000"/>
              </a:lnSpc>
            </a:pPr>
            <a:r>
              <a:rPr lang="zh-CN" altLang="en-US" sz="2400" dirty="0"/>
              <a:t>如果先写日志，但没有修改数据库，按日志文件恢复时只不过是多执行一次不必要的</a:t>
            </a:r>
            <a:r>
              <a:rPr lang="en-US" altLang="zh-CN" sz="2400" dirty="0"/>
              <a:t>UNDO</a:t>
            </a:r>
            <a:r>
              <a:rPr lang="zh-CN" altLang="en-US" sz="2400" dirty="0"/>
              <a:t>操作，并不会影响数据库的正确性</a:t>
            </a:r>
            <a:endParaRPr lang="en-US" altLang="zh-CN" sz="2400" dirty="0"/>
          </a:p>
        </p:txBody>
      </p:sp>
    </p:spTree>
  </p:cSld>
  <p:clrMapOvr>
    <a:masterClrMapping/>
  </p:clrMapOvr>
  <p:transition advClick="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1"/>
          <p:cNvSpPr>
            <a:spLocks noGrp="1"/>
          </p:cNvSpPr>
          <p:nvPr>
            <p:ph type="title"/>
          </p:nvPr>
        </p:nvSpPr>
        <p:spPr>
          <a:ln/>
        </p:spPr>
        <p:txBody>
          <a:bodyPr vert="horz" wrap="square" lIns="91440" tIns="45720" rIns="91440" bIns="45720" anchor="b" anchorCtr="0"/>
          <a:p>
            <a:r>
              <a:rPr lang="zh-CN" altLang="en-US" dirty="0"/>
              <a:t>举例</a:t>
            </a:r>
            <a:endParaRPr lang="zh-CN" altLang="en-US" dirty="0"/>
          </a:p>
        </p:txBody>
      </p:sp>
      <p:sp>
        <p:nvSpPr>
          <p:cNvPr id="56322" name="内容占位符 2"/>
          <p:cNvSpPr>
            <a:spLocks noGrp="1"/>
          </p:cNvSpPr>
          <p:nvPr>
            <p:ph idx="1"/>
          </p:nvPr>
        </p:nvSpPr>
        <p:spPr>
          <a:xfrm>
            <a:off x="566738" y="1143000"/>
            <a:ext cx="8001000" cy="642938"/>
          </a:xfrm>
          <a:ln/>
        </p:spPr>
        <p:txBody>
          <a:bodyPr vert="horz" wrap="square" lIns="91440" tIns="45720" rIns="91440" bIns="45720" anchor="t" anchorCtr="0"/>
          <a:p>
            <a:r>
              <a:rPr lang="en-US" altLang="zh-CN" dirty="0"/>
              <a:t>Update student Set sage=99</a:t>
            </a:r>
            <a:endParaRPr lang="en-US" altLang="zh-CN" dirty="0"/>
          </a:p>
          <a:p>
            <a:endParaRPr lang="zh-CN" altLang="en-US" dirty="0"/>
          </a:p>
        </p:txBody>
      </p:sp>
      <p:sp>
        <p:nvSpPr>
          <p:cNvPr id="56323" name="TextBox 3"/>
          <p:cNvSpPr txBox="1"/>
          <p:nvPr/>
        </p:nvSpPr>
        <p:spPr>
          <a:xfrm>
            <a:off x="500063" y="1857375"/>
            <a:ext cx="3786187" cy="3786188"/>
          </a:xfrm>
          <a:prstGeom prst="rect">
            <a:avLst/>
          </a:prstGeom>
          <a:noFill/>
          <a:ln w="9525" cap="flat" cmpd="sng">
            <a:solidFill>
              <a:schemeClr val="accent2"/>
            </a:solidFill>
            <a:prstDash val="solid"/>
            <a:miter/>
            <a:headEnd type="none" w="med" len="med"/>
            <a:tailEnd type="none" w="med" len="med"/>
          </a:ln>
        </p:spPr>
        <p:txBody>
          <a:bodyPr anchor="t" anchorCtr="0">
            <a:spAutoFit/>
          </a:bodyPr>
          <a:p>
            <a:r>
              <a:rPr lang="zh-CN" altLang="en-US" sz="2400" dirty="0">
                <a:latin typeface="Verdana" panose="020B0604030504040204" pitchFamily="34" charset="0"/>
                <a:ea typeface="宋体" panose="02010600030101010101" pitchFamily="2" charset="-122"/>
              </a:rPr>
              <a:t>正确的步骤：</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1</a:t>
            </a:r>
            <a:r>
              <a:rPr lang="zh-CN" altLang="en-US" sz="2400" dirty="0">
                <a:latin typeface="Verdana" panose="020B0604030504040204" pitchFamily="34" charset="0"/>
                <a:ea typeface="宋体" panose="02010600030101010101" pitchFamily="2" charset="-122"/>
              </a:rPr>
              <a:t>、 先写日志，日志中保存的有所有学生之前的年龄，和修改后的年龄。</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2 </a:t>
            </a:r>
            <a:r>
              <a:rPr lang="zh-CN" altLang="en-US" sz="2400" dirty="0">
                <a:latin typeface="Verdana" panose="020B0604030504040204" pitchFamily="34" charset="0"/>
                <a:ea typeface="宋体" panose="02010600030101010101" pitchFamily="2" charset="-122"/>
              </a:rPr>
              <a:t>、再改数据库，把数据库中所有学生的年龄都改为</a:t>
            </a:r>
            <a:r>
              <a:rPr lang="en-US" altLang="zh-CN" sz="2400" dirty="0">
                <a:latin typeface="Verdana" panose="020B0604030504040204" pitchFamily="34" charset="0"/>
                <a:ea typeface="宋体" panose="02010600030101010101" pitchFamily="2" charset="-122"/>
              </a:rPr>
              <a:t>99</a:t>
            </a:r>
            <a:r>
              <a:rPr lang="zh-CN" altLang="en-US" sz="2400" dirty="0">
                <a:latin typeface="Verdana" panose="020B0604030504040204" pitchFamily="34" charset="0"/>
                <a:ea typeface="宋体" panose="02010600030101010101" pitchFamily="2" charset="-122"/>
              </a:rPr>
              <a:t>。也许数据库中还没有保存，断电了。</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3 </a:t>
            </a:r>
            <a:r>
              <a:rPr lang="zh-CN" altLang="en-US" sz="2400" dirty="0">
                <a:latin typeface="Verdana" panose="020B0604030504040204" pitchFamily="34" charset="0"/>
                <a:ea typeface="宋体" panose="02010600030101010101" pitchFamily="2" charset="-122"/>
              </a:rPr>
              <a:t>、如果要撤销，要恢复，用日志恢复即可。</a:t>
            </a:r>
            <a:endParaRPr lang="zh-CN" altLang="en-US" sz="2400" dirty="0">
              <a:latin typeface="Verdana" panose="020B0604030504040204" pitchFamily="34" charset="0"/>
              <a:ea typeface="宋体" panose="02010600030101010101" pitchFamily="2" charset="-122"/>
            </a:endParaRPr>
          </a:p>
        </p:txBody>
      </p:sp>
      <p:sp>
        <p:nvSpPr>
          <p:cNvPr id="56324" name="TextBox 4"/>
          <p:cNvSpPr txBox="1"/>
          <p:nvPr/>
        </p:nvSpPr>
        <p:spPr>
          <a:xfrm>
            <a:off x="4714875" y="1928813"/>
            <a:ext cx="3286125" cy="3786187"/>
          </a:xfrm>
          <a:prstGeom prst="rect">
            <a:avLst/>
          </a:prstGeom>
          <a:noFill/>
          <a:ln w="9525" cap="flat" cmpd="sng">
            <a:solidFill>
              <a:schemeClr val="accent2"/>
            </a:solidFill>
            <a:prstDash val="solid"/>
            <a:miter/>
            <a:headEnd type="none" w="med" len="med"/>
            <a:tailEnd type="none" w="med" len="med"/>
          </a:ln>
        </p:spPr>
        <p:txBody>
          <a:bodyPr anchor="t" anchorCtr="0">
            <a:spAutoFit/>
          </a:bodyPr>
          <a:p>
            <a:r>
              <a:rPr lang="zh-CN" altLang="en-US" sz="2400" dirty="0">
                <a:latin typeface="Verdana" panose="020B0604030504040204" pitchFamily="34" charset="0"/>
                <a:ea typeface="宋体" panose="02010600030101010101" pitchFamily="2" charset="-122"/>
              </a:rPr>
              <a:t>错误的步骤：</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1</a:t>
            </a:r>
            <a:r>
              <a:rPr lang="zh-CN" altLang="en-US" sz="2400" dirty="0">
                <a:latin typeface="Verdana" panose="020B0604030504040204" pitchFamily="34" charset="0"/>
                <a:ea typeface="宋体" panose="02010600030101010101" pitchFamily="2" charset="-122"/>
              </a:rPr>
              <a:t> 、先改数据库，把数据库中所有学生的年龄都改为</a:t>
            </a:r>
            <a:r>
              <a:rPr lang="en-US" altLang="zh-CN" sz="2400" dirty="0">
                <a:latin typeface="Verdana" panose="020B0604030504040204" pitchFamily="34" charset="0"/>
                <a:ea typeface="宋体" panose="02010600030101010101" pitchFamily="2" charset="-122"/>
              </a:rPr>
              <a:t>99</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2</a:t>
            </a:r>
            <a:r>
              <a:rPr lang="zh-CN" altLang="en-US" sz="2400" dirty="0">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 </a:t>
            </a:r>
            <a:r>
              <a:rPr lang="zh-CN" altLang="en-US" sz="2400" dirty="0">
                <a:latin typeface="Verdana" panose="020B0604030504040204" pitchFamily="34" charset="0"/>
                <a:ea typeface="宋体" panose="02010600030101010101" pitchFamily="2" charset="-122"/>
              </a:rPr>
              <a:t>再写日志，正要写日志，突然断电了。</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3 </a:t>
            </a:r>
            <a:r>
              <a:rPr lang="zh-CN" altLang="en-US" sz="2400" dirty="0">
                <a:latin typeface="Verdana" panose="020B0604030504040204" pitchFamily="34" charset="0"/>
                <a:ea typeface="宋体" panose="02010600030101010101" pitchFamily="2" charset="-122"/>
              </a:rPr>
              <a:t>、如果是事务的一部分，需要撤销刚才的操作，日志中也没有，就无法撤销。</a:t>
            </a:r>
            <a:endParaRPr lang="zh-CN" altLang="en-US" sz="24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第十章  数据库恢复技术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57346" name="Rectangle 3"/>
          <p:cNvSpPr>
            <a:spLocks noGrp="1"/>
          </p:cNvSpPr>
          <p:nvPr>
            <p:ph idx="1"/>
          </p:nvPr>
        </p:nvSpPr>
        <p:spPr>
          <a:xfrm>
            <a:off x="857250" y="1357313"/>
            <a:ext cx="7859713" cy="4495800"/>
          </a:xfrm>
          <a:ln/>
        </p:spPr>
        <p:txBody>
          <a:bodyPr vert="horz" wrap="square" lIns="91440" tIns="45720" rIns="91440" bIns="45720" anchor="t" anchorCtr="0"/>
          <a:p>
            <a:pPr marL="411480" indent="-470535" eaLnBrk="1" hangingPunct="1">
              <a:lnSpc>
                <a:spcPct val="130000"/>
              </a:lnSpc>
              <a:buNone/>
            </a:pPr>
            <a:r>
              <a:rPr lang="en-US" altLang="zh-CN" sz="2400" b="1" dirty="0"/>
              <a:t>10.1  </a:t>
            </a:r>
            <a:r>
              <a:rPr lang="zh-CN" altLang="en-US" sz="2400" b="1" dirty="0"/>
              <a:t>事务的基本概念</a:t>
            </a:r>
            <a:endParaRPr lang="zh-CN" altLang="en-US" sz="2400" b="1" dirty="0"/>
          </a:p>
          <a:p>
            <a:pPr marL="411480" indent="-470535" eaLnBrk="1" hangingPunct="1">
              <a:lnSpc>
                <a:spcPct val="130000"/>
              </a:lnSpc>
              <a:buNone/>
            </a:pPr>
            <a:r>
              <a:rPr lang="en-US" altLang="zh-CN" sz="2400" b="1" dirty="0"/>
              <a:t>10.2  </a:t>
            </a:r>
            <a:r>
              <a:rPr lang="zh-CN" altLang="en-US" sz="2400" b="1" dirty="0"/>
              <a:t>数据库恢复概述</a:t>
            </a:r>
            <a:endParaRPr lang="zh-CN" altLang="en-US" sz="2400" b="1" dirty="0"/>
          </a:p>
          <a:p>
            <a:pPr marL="411480" indent="-470535" eaLnBrk="1" hangingPunct="1">
              <a:lnSpc>
                <a:spcPct val="130000"/>
              </a:lnSpc>
              <a:buNone/>
            </a:pPr>
            <a:r>
              <a:rPr lang="en-US" altLang="zh-CN" sz="2400" b="1" dirty="0"/>
              <a:t>10.3  </a:t>
            </a:r>
            <a:r>
              <a:rPr lang="zh-CN" altLang="en-US" sz="2400" b="1" dirty="0"/>
              <a:t>故障的种类</a:t>
            </a:r>
            <a:endParaRPr lang="zh-CN" altLang="en-US" sz="2400" b="1" dirty="0"/>
          </a:p>
          <a:p>
            <a:pPr marL="411480" indent="-470535" eaLnBrk="1" hangingPunct="1">
              <a:lnSpc>
                <a:spcPct val="130000"/>
              </a:lnSpc>
              <a:buNone/>
            </a:pPr>
            <a:r>
              <a:rPr lang="en-US" altLang="zh-CN" sz="2400" b="1" dirty="0"/>
              <a:t>10.4  </a:t>
            </a:r>
            <a:r>
              <a:rPr lang="zh-CN" altLang="en-US" sz="2400" b="1" dirty="0"/>
              <a:t>恢复的实现技术</a:t>
            </a:r>
            <a:endParaRPr lang="zh-CN" altLang="en-US" sz="2400" b="1" dirty="0"/>
          </a:p>
          <a:p>
            <a:pPr marL="411480" indent="-470535" eaLnBrk="1" hangingPunct="1">
              <a:lnSpc>
                <a:spcPct val="130000"/>
              </a:lnSpc>
              <a:buNone/>
            </a:pPr>
            <a:r>
              <a:rPr lang="en-US" altLang="zh-CN" sz="2400" b="1" dirty="0">
                <a:solidFill>
                  <a:srgbClr val="009900"/>
                </a:solidFill>
              </a:rPr>
              <a:t>10.5  </a:t>
            </a:r>
            <a:r>
              <a:rPr lang="zh-CN" altLang="en-US" sz="2400" b="1" dirty="0">
                <a:solidFill>
                  <a:srgbClr val="009900"/>
                </a:solidFill>
              </a:rPr>
              <a:t>恢复策略</a:t>
            </a:r>
            <a:endParaRPr lang="zh-CN" altLang="en-US" sz="2400" b="1" dirty="0">
              <a:solidFill>
                <a:srgbClr val="009900"/>
              </a:solidFill>
            </a:endParaRPr>
          </a:p>
          <a:p>
            <a:pPr marL="411480" indent="-470535" eaLnBrk="1" hangingPunct="1">
              <a:lnSpc>
                <a:spcPct val="130000"/>
              </a:lnSpc>
              <a:buNone/>
            </a:pPr>
            <a:r>
              <a:rPr lang="en-US" altLang="zh-CN" sz="2400" b="1" dirty="0"/>
              <a:t>10.6  </a:t>
            </a:r>
            <a:r>
              <a:rPr lang="zh-CN" altLang="en-US" sz="2400" b="1" dirty="0"/>
              <a:t>具有检查点的恢复技术</a:t>
            </a:r>
            <a:endParaRPr lang="zh-CN" altLang="en-US" sz="2400" b="1" dirty="0"/>
          </a:p>
          <a:p>
            <a:pPr marL="411480" indent="-470535" eaLnBrk="1" hangingPunct="1">
              <a:lnSpc>
                <a:spcPct val="130000"/>
              </a:lnSpc>
              <a:buNone/>
            </a:pPr>
            <a:r>
              <a:rPr lang="en-US" altLang="zh-CN" sz="2400" b="1" dirty="0"/>
              <a:t>10.7  </a:t>
            </a:r>
            <a:r>
              <a:rPr lang="zh-CN" altLang="en-US" sz="2400" b="1" dirty="0"/>
              <a:t>数据库镜像</a:t>
            </a:r>
            <a:endParaRPr lang="zh-CN" altLang="en-US" sz="2400" b="1" dirty="0"/>
          </a:p>
          <a:p>
            <a:pPr marL="411480" indent="-470535" eaLnBrk="1" hangingPunct="1">
              <a:lnSpc>
                <a:spcPct val="130000"/>
              </a:lnSpc>
              <a:buNone/>
            </a:pPr>
            <a:r>
              <a:rPr lang="en-US" altLang="zh-CN" sz="2400" b="1" dirty="0"/>
              <a:t>10.8   </a:t>
            </a:r>
            <a:r>
              <a:rPr lang="zh-CN" altLang="en-US" sz="2400" b="1" dirty="0"/>
              <a:t>小结</a:t>
            </a:r>
            <a:endParaRPr lang="zh-CN" altLang="en-US" sz="2400" b="1" dirty="0"/>
          </a:p>
        </p:txBody>
      </p:sp>
    </p:spTree>
  </p:cSld>
  <p:clrMapOvr>
    <a:masterClrMapping/>
  </p:clrMapOvr>
  <p:transition advClick="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10.5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恢复策略</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58371" name="Rectangle 3"/>
          <p:cNvSpPr>
            <a:spLocks noGrp="1" noChangeArrowheads="1"/>
          </p:cNvSpPr>
          <p:nvPr>
            <p:ph idx="1"/>
          </p:nvPr>
        </p:nvSpPr>
        <p:spPr>
          <a:xfrm>
            <a:off x="642938" y="1214438"/>
            <a:ext cx="8002588" cy="5072063"/>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dirty="0" smtClean="0">
                <a:ln>
                  <a:noFill/>
                </a:ln>
                <a:solidFill>
                  <a:srgbClr val="3333FF"/>
                </a:solidFill>
                <a:effectLst/>
                <a:uLnTx/>
                <a:uFillTx/>
                <a:latin typeface="+mn-lt"/>
                <a:ea typeface="+mn-ea"/>
                <a:cs typeface="+mn-cs"/>
              </a:rPr>
              <a:t>10.5.1  </a:t>
            </a:r>
            <a:r>
              <a:rPr kumimoji="0" lang="zh-CN" altLang="en-US" sz="3000" b="1" i="0" u="none" strike="noStrike" kern="0" cap="none" spc="0" normalizeH="0" baseline="0" noProof="0" dirty="0" smtClean="0">
                <a:ln>
                  <a:noFill/>
                </a:ln>
                <a:solidFill>
                  <a:srgbClr val="3333FF"/>
                </a:solidFill>
                <a:effectLst/>
                <a:uLnTx/>
                <a:uFillTx/>
                <a:latin typeface="+mn-lt"/>
                <a:ea typeface="+mn-ea"/>
                <a:cs typeface="+mn-cs"/>
              </a:rPr>
              <a:t>事务故障的恢复</a:t>
            </a:r>
            <a:endParaRPr kumimoji="0" lang="zh-CN" altLang="en-US" sz="3000" b="1" i="0" u="none" strike="noStrike" kern="0" cap="none" spc="0" normalizeH="0" baseline="0" noProof="0" dirty="0" smtClean="0">
              <a:ln>
                <a:noFill/>
              </a:ln>
              <a:solidFill>
                <a:srgbClr val="3333FF"/>
              </a:solidFill>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dirty="0" smtClean="0">
                <a:ln>
                  <a:noFill/>
                </a:ln>
                <a:solidFill>
                  <a:schemeClr val="tx1"/>
                </a:solidFill>
                <a:effectLst/>
                <a:uLnTx/>
                <a:uFillTx/>
                <a:latin typeface="+mn-lt"/>
                <a:ea typeface="+mn-ea"/>
                <a:cs typeface="+mn-cs"/>
              </a:rPr>
              <a:t>10.5.2  </a:t>
            </a:r>
            <a:r>
              <a:rPr kumimoji="0" lang="zh-CN" altLang="en-US" sz="3000" b="1" i="0" u="none" strike="noStrike" kern="0" cap="none" spc="0" normalizeH="0" baseline="0" noProof="0" dirty="0" smtClean="0">
                <a:ln>
                  <a:noFill/>
                </a:ln>
                <a:solidFill>
                  <a:schemeClr val="tx1"/>
                </a:solidFill>
                <a:effectLst/>
                <a:uLnTx/>
                <a:uFillTx/>
                <a:latin typeface="+mn-lt"/>
                <a:ea typeface="+mn-ea"/>
                <a:cs typeface="+mn-cs"/>
              </a:rPr>
              <a:t>系统故障的恢复</a:t>
            </a:r>
            <a:endParaRPr kumimoji="0" lang="zh-CN" altLang="en-US" sz="3000" b="1"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dirty="0" smtClean="0">
                <a:ln>
                  <a:noFill/>
                </a:ln>
                <a:solidFill>
                  <a:schemeClr val="tx1"/>
                </a:solidFill>
                <a:effectLst/>
                <a:uLnTx/>
                <a:uFillTx/>
                <a:latin typeface="+mn-lt"/>
                <a:ea typeface="+mn-ea"/>
                <a:cs typeface="+mn-cs"/>
              </a:rPr>
              <a:t>10.5.3  </a:t>
            </a:r>
            <a:r>
              <a:rPr kumimoji="0" lang="zh-CN" altLang="en-US" sz="3000" b="1" i="0" u="none" strike="noStrike" kern="0" cap="none" spc="0" normalizeH="0" baseline="0" noProof="0" dirty="0" smtClean="0">
                <a:ln>
                  <a:noFill/>
                </a:ln>
                <a:solidFill>
                  <a:schemeClr val="tx1"/>
                </a:solidFill>
                <a:effectLst/>
                <a:uLnTx/>
                <a:uFillTx/>
                <a:latin typeface="+mn-lt"/>
                <a:ea typeface="+mn-ea"/>
                <a:cs typeface="+mn-cs"/>
              </a:rPr>
              <a:t>介质故障的恢复</a:t>
            </a:r>
            <a:endParaRPr kumimoji="0" lang="en-US" altLang="zh-CN" sz="3000" b="1"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3000" b="1"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0" algn="l" defTabSz="914400" rtl="0" eaLnBrk="1" fontAlgn="base" latinLnBrk="0" hangingPunct="1">
              <a:lnSpc>
                <a:spcPct val="100000"/>
              </a:lnSpc>
              <a:spcBef>
                <a:spcPts val="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smtClean="0">
                <a:ln>
                  <a:noFill/>
                </a:ln>
                <a:solidFill>
                  <a:schemeClr val="tx1"/>
                </a:solidFill>
                <a:effectLst/>
                <a:uLnTx/>
                <a:uFillTx/>
                <a:latin typeface="+mn-lt"/>
                <a:ea typeface="+mn-ea"/>
                <a:cs typeface="+mn-cs"/>
              </a:rPr>
              <a:t>    事务故障和系统故障，都是数据没有被破坏，只是数据不一致了，要从现在的不一致状态恢复到一致的状态。</a:t>
            </a:r>
            <a:r>
              <a:rPr kumimoji="0" lang="zh-CN" altLang="en-US" sz="3000" b="1" i="0" u="none" strike="noStrike" kern="0" cap="none" spc="0" normalizeH="0" baseline="0" noProof="0" dirty="0" smtClean="0">
                <a:ln>
                  <a:noFill/>
                </a:ln>
                <a:solidFill>
                  <a:srgbClr val="FF0000"/>
                </a:solidFill>
                <a:effectLst/>
                <a:uLnTx/>
                <a:uFillTx/>
                <a:latin typeface="+mn-lt"/>
                <a:ea typeface="+mn-ea"/>
                <a:cs typeface="+mn-cs"/>
              </a:rPr>
              <a:t>逆向的</a:t>
            </a:r>
            <a:r>
              <a:rPr kumimoji="0" lang="zh-CN" altLang="en-US" sz="3000" b="1"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3000" b="1"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0" algn="l" defTabSz="914400" rtl="0" eaLnBrk="1" fontAlgn="base" latinLnBrk="0" hangingPunct="1">
              <a:lnSpc>
                <a:spcPct val="100000"/>
              </a:lnSpc>
              <a:spcBef>
                <a:spcPts val="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smtClean="0">
                <a:ln>
                  <a:noFill/>
                </a:ln>
                <a:solidFill>
                  <a:schemeClr val="tx1"/>
                </a:solidFill>
                <a:effectLst/>
                <a:uLnTx/>
                <a:uFillTx/>
                <a:latin typeface="+mn-lt"/>
                <a:ea typeface="+mn-ea"/>
                <a:cs typeface="+mn-cs"/>
              </a:rPr>
              <a:t>    介质故障是数据被破坏了，只有用备份的数据进行恢复。</a:t>
            </a:r>
            <a:r>
              <a:rPr kumimoji="0" lang="zh-CN" altLang="en-US" sz="3000" b="1" i="0" u="none" strike="noStrike" kern="0" cap="none" spc="0" normalizeH="0" baseline="0" noProof="0" dirty="0" smtClean="0">
                <a:ln>
                  <a:noFill/>
                </a:ln>
                <a:solidFill>
                  <a:srgbClr val="FF0000"/>
                </a:solidFill>
                <a:effectLst/>
                <a:uLnTx/>
                <a:uFillTx/>
                <a:latin typeface="+mn-lt"/>
                <a:ea typeface="+mn-ea"/>
                <a:cs typeface="+mn-cs"/>
              </a:rPr>
              <a:t>正向的</a:t>
            </a:r>
            <a:r>
              <a:rPr kumimoji="0" lang="zh-CN" altLang="en-US" sz="3000" b="1"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30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10.5.1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事务故障的恢复</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59394" name="Rectangle 3"/>
          <p:cNvSpPr>
            <a:spLocks noGrp="1"/>
          </p:cNvSpPr>
          <p:nvPr>
            <p:ph idx="1"/>
          </p:nvPr>
        </p:nvSpPr>
        <p:spPr>
          <a:xfrm>
            <a:off x="566738" y="1143000"/>
            <a:ext cx="8001000" cy="5022850"/>
          </a:xfrm>
          <a:ln/>
        </p:spPr>
        <p:txBody>
          <a:bodyPr vert="horz" wrap="square" lIns="91440" tIns="45720" rIns="91440" bIns="45720" anchor="t" anchorCtr="0"/>
          <a:p>
            <a:pPr eaLnBrk="1" hangingPunct="1">
              <a:spcBef>
                <a:spcPts val="200"/>
              </a:spcBef>
            </a:pPr>
            <a:r>
              <a:rPr lang="zh-CN" altLang="en-US" sz="2800" dirty="0"/>
              <a:t>事务故障：事务在运行至正常终止点前被终止</a:t>
            </a:r>
            <a:endParaRPr lang="en-US" altLang="zh-CN" sz="2800" dirty="0"/>
          </a:p>
          <a:p>
            <a:pPr eaLnBrk="1" hangingPunct="1">
              <a:spcBef>
                <a:spcPts val="200"/>
              </a:spcBef>
            </a:pPr>
            <a:r>
              <a:rPr lang="zh-CN" altLang="en-US" sz="2800" b="1" dirty="0">
                <a:solidFill>
                  <a:srgbClr val="FF0000"/>
                </a:solidFill>
              </a:rPr>
              <a:t>注意：</a:t>
            </a:r>
            <a:r>
              <a:rPr lang="zh-CN" altLang="en-US" sz="2800" dirty="0"/>
              <a:t>这里指的是一个事务没有执行完，被强制中断了，</a:t>
            </a:r>
            <a:r>
              <a:rPr lang="zh-CN" altLang="en-US" sz="2800" dirty="0">
                <a:solidFill>
                  <a:srgbClr val="FF0000"/>
                </a:solidFill>
              </a:rPr>
              <a:t>只做了事务的一部分</a:t>
            </a:r>
            <a:r>
              <a:rPr lang="zh-CN" altLang="en-US" sz="2800" dirty="0"/>
              <a:t>，造成的数据库中的数据不一致。因为事务中的操作要么全做，要么不做。</a:t>
            </a:r>
            <a:endParaRPr lang="zh-CN" altLang="en-US" sz="2800" dirty="0"/>
          </a:p>
          <a:p>
            <a:pPr eaLnBrk="1" hangingPunct="1">
              <a:spcBef>
                <a:spcPts val="200"/>
              </a:spcBef>
            </a:pPr>
            <a:r>
              <a:rPr lang="zh-CN" altLang="en-US" sz="2800" dirty="0"/>
              <a:t>恢复方法</a:t>
            </a:r>
            <a:endParaRPr lang="zh-CN" altLang="en-US" sz="2800" dirty="0"/>
          </a:p>
          <a:p>
            <a:pPr lvl="1" indent="-436245" eaLnBrk="1" hangingPunct="1">
              <a:spcBef>
                <a:spcPts val="200"/>
              </a:spcBef>
            </a:pPr>
            <a:r>
              <a:rPr lang="zh-CN" altLang="en-US" sz="2400" dirty="0"/>
              <a:t>由恢复子系统应利用</a:t>
            </a:r>
            <a:r>
              <a:rPr lang="zh-CN" altLang="en-US" sz="2400" b="1" dirty="0">
                <a:solidFill>
                  <a:srgbClr val="FF0000"/>
                </a:solidFill>
              </a:rPr>
              <a:t>日志文件  撤消</a:t>
            </a:r>
            <a:r>
              <a:rPr lang="zh-CN" altLang="en-US" sz="2400" dirty="0"/>
              <a:t>（</a:t>
            </a:r>
            <a:r>
              <a:rPr lang="en-US" altLang="zh-CN" sz="2400" dirty="0"/>
              <a:t>UNDO</a:t>
            </a:r>
            <a:r>
              <a:rPr lang="zh-CN" altLang="en-US" sz="2400" dirty="0"/>
              <a:t>）此事务已对数据库进行的修改</a:t>
            </a:r>
            <a:endParaRPr lang="zh-CN" altLang="en-US" sz="2400" dirty="0"/>
          </a:p>
          <a:p>
            <a:pPr eaLnBrk="1" hangingPunct="1">
              <a:spcBef>
                <a:spcPts val="200"/>
              </a:spcBef>
            </a:pPr>
            <a:r>
              <a:rPr lang="zh-CN" altLang="en-US" sz="2800" dirty="0">
                <a:solidFill>
                  <a:srgbClr val="FF0000"/>
                </a:solidFill>
              </a:rPr>
              <a:t>事务故障的恢复由系统自动完成</a:t>
            </a:r>
            <a:r>
              <a:rPr lang="zh-CN" altLang="en-US" sz="2800" dirty="0"/>
              <a:t>，对用户是透明的，不需要用户干预</a:t>
            </a:r>
            <a:endParaRPr lang="zh-CN" altLang="en-US" sz="2800" dirty="0"/>
          </a:p>
        </p:txBody>
      </p:sp>
    </p:spTree>
  </p:cSld>
  <p:clrMapOvr>
    <a:masterClrMapping/>
  </p:clrMapOvr>
  <p:transition advClick="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事务故障的恢复步骤</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60418" name="Rectangle 3"/>
          <p:cNvSpPr>
            <a:spLocks noGrp="1"/>
          </p:cNvSpPr>
          <p:nvPr>
            <p:ph idx="1"/>
          </p:nvPr>
        </p:nvSpPr>
        <p:spPr>
          <a:xfrm>
            <a:off x="500063" y="1214438"/>
            <a:ext cx="7986712" cy="4114800"/>
          </a:xfrm>
          <a:ln/>
        </p:spPr>
        <p:txBody>
          <a:bodyPr vert="horz" wrap="square" lIns="91440" tIns="45720" rIns="91440" bIns="45720" anchor="t" anchorCtr="0"/>
          <a:p>
            <a:pPr eaLnBrk="1" hangingPunct="1">
              <a:lnSpc>
                <a:spcPct val="150000"/>
              </a:lnSpc>
              <a:buNone/>
            </a:pPr>
            <a:r>
              <a:rPr lang="en-US" altLang="zh-CN" sz="2400" dirty="0"/>
              <a:t>1. </a:t>
            </a:r>
            <a:r>
              <a:rPr lang="zh-CN" altLang="en-US" sz="2400" b="1" dirty="0">
                <a:solidFill>
                  <a:srgbClr val="FF0000"/>
                </a:solidFill>
              </a:rPr>
              <a:t>反向扫描</a:t>
            </a:r>
            <a:r>
              <a:rPr lang="zh-CN" altLang="en-US" sz="2400" dirty="0"/>
              <a:t>文件日志（即从最后向前扫描日志文件），查找该事务的更新操作。</a:t>
            </a:r>
            <a:endParaRPr lang="zh-CN" altLang="en-US" sz="2400" dirty="0"/>
          </a:p>
          <a:p>
            <a:pPr eaLnBrk="1" hangingPunct="1">
              <a:lnSpc>
                <a:spcPct val="150000"/>
              </a:lnSpc>
              <a:buNone/>
            </a:pPr>
            <a:r>
              <a:rPr lang="en-US" altLang="zh-CN" sz="2400" dirty="0"/>
              <a:t>2. </a:t>
            </a:r>
            <a:r>
              <a:rPr lang="zh-CN" altLang="en-US" sz="2400" dirty="0"/>
              <a:t>对该事务的更新操作执行</a:t>
            </a:r>
            <a:r>
              <a:rPr lang="zh-CN" altLang="en-US" sz="2400" b="1" dirty="0">
                <a:solidFill>
                  <a:srgbClr val="FF0000"/>
                </a:solidFill>
              </a:rPr>
              <a:t>逆操作</a:t>
            </a:r>
            <a:r>
              <a:rPr lang="zh-CN" altLang="en-US" sz="2400" dirty="0"/>
              <a:t>。即将日志记录中“更新前的值” 写入数据库。</a:t>
            </a:r>
            <a:endParaRPr lang="zh-CN" altLang="en-US" sz="2400" dirty="0"/>
          </a:p>
          <a:p>
            <a:pPr lvl="1" indent="-436245" eaLnBrk="1" hangingPunct="1">
              <a:lnSpc>
                <a:spcPct val="150000"/>
              </a:lnSpc>
            </a:pPr>
            <a:r>
              <a:rPr lang="zh-CN" altLang="en-US" sz="2200" dirty="0"/>
              <a:t>插入操作， “更新前的值”为空，则相当于做删除操作</a:t>
            </a:r>
            <a:endParaRPr lang="zh-CN" altLang="en-US" sz="2200" dirty="0"/>
          </a:p>
          <a:p>
            <a:pPr lvl="1" indent="-436245" eaLnBrk="1" hangingPunct="1">
              <a:lnSpc>
                <a:spcPct val="150000"/>
              </a:lnSpc>
            </a:pPr>
            <a:r>
              <a:rPr lang="zh-CN" altLang="en-US" sz="2200" dirty="0"/>
              <a:t>删除操作，“更新后的值”为空，则相当于做插入操作</a:t>
            </a:r>
            <a:endParaRPr lang="zh-CN" altLang="en-US" sz="2200" dirty="0"/>
          </a:p>
          <a:p>
            <a:pPr lvl="1" indent="-436245" eaLnBrk="1" hangingPunct="1">
              <a:lnSpc>
                <a:spcPct val="150000"/>
              </a:lnSpc>
            </a:pPr>
            <a:r>
              <a:rPr lang="zh-CN" altLang="en-US" sz="2200" dirty="0"/>
              <a:t>若是修改操作，则相当于用修改前值代替修改后值</a:t>
            </a:r>
            <a:r>
              <a:rPr lang="zh-CN" altLang="en-US" sz="2000" dirty="0"/>
              <a:t> </a:t>
            </a:r>
            <a:endParaRPr lang="zh-CN" altLang="en-US" sz="2000" dirty="0"/>
          </a:p>
        </p:txBody>
      </p:sp>
    </p:spTree>
  </p:cSld>
  <p:clrMapOvr>
    <a:masterClrMapping/>
  </p:clrMapOvr>
  <p:transition advClick="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事务故障的恢复步骤</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61442" name="Rectangle 3"/>
          <p:cNvSpPr>
            <a:spLocks noGrp="1"/>
          </p:cNvSpPr>
          <p:nvPr>
            <p:ph idx="1"/>
          </p:nvPr>
        </p:nvSpPr>
        <p:spPr>
          <a:xfrm>
            <a:off x="566738" y="1143000"/>
            <a:ext cx="8001000" cy="5094288"/>
          </a:xfrm>
          <a:ln/>
        </p:spPr>
        <p:txBody>
          <a:bodyPr vert="horz" wrap="square" lIns="91440" tIns="45720" rIns="91440" bIns="45720" anchor="t" anchorCtr="0"/>
          <a:p>
            <a:pPr eaLnBrk="1" hangingPunct="1">
              <a:buNone/>
            </a:pPr>
            <a:r>
              <a:rPr lang="en-US" altLang="zh-CN" sz="2400" dirty="0"/>
              <a:t>3. </a:t>
            </a:r>
            <a:r>
              <a:rPr lang="zh-CN" altLang="en-US" sz="2400" dirty="0">
                <a:solidFill>
                  <a:srgbClr val="FF0000"/>
                </a:solidFill>
              </a:rPr>
              <a:t>继续反向扫描</a:t>
            </a:r>
            <a:r>
              <a:rPr lang="zh-CN" altLang="en-US" sz="2400" dirty="0"/>
              <a:t>日志文件，查找该事务的其他更新操作，并做同样处理。</a:t>
            </a:r>
            <a:endParaRPr lang="zh-CN" altLang="en-US" sz="2400" dirty="0"/>
          </a:p>
          <a:p>
            <a:pPr eaLnBrk="1" hangingPunct="1">
              <a:buNone/>
            </a:pPr>
            <a:r>
              <a:rPr lang="en-US" altLang="zh-CN" sz="2400" dirty="0"/>
              <a:t>4. </a:t>
            </a:r>
            <a:r>
              <a:rPr lang="zh-CN" altLang="en-US" sz="2400" dirty="0"/>
              <a:t>如此处理下去，</a:t>
            </a:r>
            <a:r>
              <a:rPr lang="zh-CN" altLang="en-US" sz="2400" dirty="0">
                <a:solidFill>
                  <a:srgbClr val="FF0000"/>
                </a:solidFill>
              </a:rPr>
              <a:t>直至</a:t>
            </a:r>
            <a:r>
              <a:rPr lang="zh-CN" altLang="en-US" sz="2400" dirty="0"/>
              <a:t>读到此</a:t>
            </a:r>
            <a:r>
              <a:rPr lang="zh-CN" altLang="en-US" sz="2400" dirty="0">
                <a:solidFill>
                  <a:srgbClr val="FF0000"/>
                </a:solidFill>
              </a:rPr>
              <a:t>事务的开始标记</a:t>
            </a:r>
            <a:r>
              <a:rPr lang="zh-CN" altLang="en-US" sz="2400" dirty="0"/>
              <a:t>，事务故障恢复就完成了。</a:t>
            </a:r>
            <a:endParaRPr lang="en-US" altLang="zh-CN" sz="2400" dirty="0"/>
          </a:p>
          <a:p>
            <a:pPr eaLnBrk="1" hangingPunct="1"/>
            <a:endParaRPr lang="en-US" altLang="zh-CN" sz="2400" dirty="0"/>
          </a:p>
        </p:txBody>
      </p:sp>
    </p:spTree>
  </p:cSld>
  <p:clrMapOvr>
    <a:masterClrMapping/>
  </p:clrMapOvr>
  <p:transition advClick="0"/>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1"/>
          <p:cNvSpPr>
            <a:spLocks noGrp="1"/>
          </p:cNvSpPr>
          <p:nvPr>
            <p:ph type="title"/>
          </p:nvPr>
        </p:nvSpPr>
        <p:spPr>
          <a:ln/>
        </p:spPr>
        <p:txBody>
          <a:bodyPr vert="horz" wrap="square" lIns="91440" tIns="45720" rIns="91440" bIns="45720" anchor="b" anchorCtr="0"/>
          <a:p>
            <a:r>
              <a:rPr lang="zh-CN" altLang="en-US" sz="4000" b="1" dirty="0">
                <a:solidFill>
                  <a:srgbClr val="FF0000"/>
                </a:solidFill>
              </a:rPr>
              <a:t>总结</a:t>
            </a:r>
            <a:endParaRPr lang="zh-CN" altLang="en-US" dirty="0"/>
          </a:p>
        </p:txBody>
      </p:sp>
      <p:sp>
        <p:nvSpPr>
          <p:cNvPr id="62466" name="内容占位符 2"/>
          <p:cNvSpPr>
            <a:spLocks noGrp="1"/>
          </p:cNvSpPr>
          <p:nvPr>
            <p:ph idx="1"/>
          </p:nvPr>
        </p:nvSpPr>
        <p:spPr>
          <a:xfrm>
            <a:off x="500063" y="1143000"/>
            <a:ext cx="8001000" cy="4876800"/>
          </a:xfrm>
          <a:ln/>
        </p:spPr>
        <p:txBody>
          <a:bodyPr vert="horz" wrap="square" lIns="91440" tIns="45720" rIns="91440" bIns="45720" anchor="t" anchorCtr="0"/>
          <a:p>
            <a:pPr eaLnBrk="1" hangingPunct="1">
              <a:buNone/>
            </a:pPr>
            <a:r>
              <a:rPr lang="zh-CN" altLang="en-US" sz="2800" b="1" dirty="0">
                <a:solidFill>
                  <a:srgbClr val="FF0000"/>
                </a:solidFill>
              </a:rPr>
              <a:t>总结</a:t>
            </a:r>
            <a:r>
              <a:rPr lang="zh-CN" altLang="en-US" sz="2800" dirty="0"/>
              <a:t>：类似于</a:t>
            </a:r>
            <a:r>
              <a:rPr lang="en-US" altLang="zh-CN" sz="2800" dirty="0"/>
              <a:t>word</a:t>
            </a:r>
            <a:r>
              <a:rPr lang="zh-CN" altLang="en-US" sz="2800" dirty="0"/>
              <a:t>里面的撤销操作。</a:t>
            </a:r>
            <a:endParaRPr lang="en-US" altLang="zh-CN" sz="2800" dirty="0"/>
          </a:p>
          <a:p>
            <a:pPr eaLnBrk="1" hangingPunct="1">
              <a:buNone/>
            </a:pPr>
            <a:r>
              <a:rPr lang="zh-CN" altLang="en-US" sz="2800" dirty="0"/>
              <a:t>日志文件：</a:t>
            </a:r>
            <a:endParaRPr lang="en-US" altLang="zh-CN" sz="2800" dirty="0"/>
          </a:p>
          <a:p>
            <a:pPr eaLnBrk="1" hangingPunct="1">
              <a:buNone/>
            </a:pPr>
            <a:r>
              <a:rPr lang="en-US" altLang="zh-CN" sz="2800" dirty="0"/>
              <a:t>1.Begin transaction </a:t>
            </a:r>
            <a:endParaRPr lang="en-US" altLang="zh-CN" sz="2800" dirty="0"/>
          </a:p>
          <a:p>
            <a:pPr eaLnBrk="1" hangingPunct="1">
              <a:buNone/>
            </a:pPr>
            <a:r>
              <a:rPr lang="en-US" altLang="zh-CN" sz="2800" dirty="0"/>
              <a:t>2.Insert into sc values(’003’,’C1’, 90)</a:t>
            </a:r>
            <a:endParaRPr lang="en-US" altLang="zh-CN" sz="2800" dirty="0"/>
          </a:p>
          <a:p>
            <a:pPr eaLnBrk="1" hangingPunct="1">
              <a:buNone/>
            </a:pPr>
            <a:r>
              <a:rPr lang="en-US" altLang="zh-CN" sz="2800" dirty="0"/>
              <a:t>3.Update set grade=100 where sno=’003’ and cno=’C1’</a:t>
            </a:r>
            <a:endParaRPr lang="en-US" altLang="zh-CN" sz="2800" dirty="0"/>
          </a:p>
          <a:p>
            <a:pPr eaLnBrk="1" hangingPunct="1">
              <a:buNone/>
            </a:pPr>
            <a:r>
              <a:rPr lang="en-US" altLang="zh-CN" sz="2800" dirty="0"/>
              <a:t>4.Delete from sc where sno=’003’</a:t>
            </a:r>
            <a:endParaRPr lang="en-US" altLang="zh-CN" sz="2800" dirty="0"/>
          </a:p>
          <a:p>
            <a:pPr eaLnBrk="1" hangingPunct="1">
              <a:buNone/>
            </a:pPr>
            <a:r>
              <a:rPr lang="en-US" altLang="zh-CN" sz="2800" dirty="0"/>
              <a:t>5  ……</a:t>
            </a:r>
            <a:endParaRPr lang="zh-CN" altLang="en-US" sz="2000" dirty="0"/>
          </a:p>
          <a:p>
            <a:pPr>
              <a:buNone/>
            </a:pPr>
            <a:r>
              <a:rPr lang="en-US" altLang="zh-CN" dirty="0"/>
              <a:t>6 …….</a:t>
            </a:r>
            <a:endParaRPr lang="en-US" altLang="zh-CN" dirty="0"/>
          </a:p>
          <a:p>
            <a:pPr>
              <a:buNone/>
            </a:pPr>
            <a:r>
              <a:rPr lang="en-US" altLang="zh-CN" dirty="0"/>
              <a:t>7.commit</a:t>
            </a:r>
            <a:endParaRPr lang="zh-CN" altLang="en-US" dirty="0"/>
          </a:p>
        </p:txBody>
      </p:sp>
    </p:spTree>
  </p:cSld>
  <p:clrMapOvr>
    <a:masterClrMapping/>
  </p:clrMapOvr>
  <p:transition advClick="0"/>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10.5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恢复策略</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63490" name="Rectangle 3"/>
          <p:cNvSpPr>
            <a:spLocks noGrp="1"/>
          </p:cNvSpPr>
          <p:nvPr>
            <p:ph idx="1"/>
          </p:nvPr>
        </p:nvSpPr>
        <p:spPr>
          <a:xfrm>
            <a:off x="827088" y="1828800"/>
            <a:ext cx="7859712" cy="4495800"/>
          </a:xfrm>
          <a:ln/>
        </p:spPr>
        <p:txBody>
          <a:bodyPr vert="horz" wrap="square" lIns="91440" tIns="45720" rIns="91440" bIns="45720" anchor="t" anchorCtr="0"/>
          <a:p>
            <a:pPr eaLnBrk="1" hangingPunct="1">
              <a:lnSpc>
                <a:spcPct val="180000"/>
              </a:lnSpc>
              <a:buNone/>
            </a:pPr>
            <a:r>
              <a:rPr lang="en-US" altLang="zh-CN" b="1" dirty="0"/>
              <a:t>10.5.1  </a:t>
            </a:r>
            <a:r>
              <a:rPr lang="zh-CN" altLang="en-US" b="1" dirty="0"/>
              <a:t>事务故障的恢复</a:t>
            </a:r>
            <a:endParaRPr lang="zh-CN" altLang="en-US" b="1" dirty="0"/>
          </a:p>
          <a:p>
            <a:pPr eaLnBrk="1" hangingPunct="1">
              <a:lnSpc>
                <a:spcPct val="180000"/>
              </a:lnSpc>
              <a:buNone/>
            </a:pPr>
            <a:r>
              <a:rPr lang="en-US" altLang="zh-CN" b="1" dirty="0">
                <a:solidFill>
                  <a:srgbClr val="3333FF"/>
                </a:solidFill>
              </a:rPr>
              <a:t>10.5.2  </a:t>
            </a:r>
            <a:r>
              <a:rPr lang="zh-CN" altLang="en-US" b="1" dirty="0">
                <a:solidFill>
                  <a:srgbClr val="3333FF"/>
                </a:solidFill>
              </a:rPr>
              <a:t>系统故障的恢复</a:t>
            </a:r>
            <a:endParaRPr lang="zh-CN" altLang="en-US" b="1" dirty="0">
              <a:solidFill>
                <a:srgbClr val="3333FF"/>
              </a:solidFill>
            </a:endParaRPr>
          </a:p>
          <a:p>
            <a:pPr eaLnBrk="1" hangingPunct="1">
              <a:lnSpc>
                <a:spcPct val="180000"/>
              </a:lnSpc>
              <a:buNone/>
            </a:pPr>
            <a:r>
              <a:rPr lang="en-US" altLang="zh-CN" b="1" dirty="0"/>
              <a:t>10.5.3  </a:t>
            </a:r>
            <a:r>
              <a:rPr lang="zh-CN" altLang="en-US" b="1" dirty="0"/>
              <a:t>介质故障的恢复</a:t>
            </a:r>
            <a:endParaRPr lang="zh-CN" altLang="en-US" b="1" dirty="0"/>
          </a:p>
          <a:p>
            <a:pPr eaLnBrk="1" hangingPunct="1">
              <a:buNone/>
            </a:pPr>
            <a:endParaRPr lang="en-US" altLang="zh-CN" b="1" dirty="0"/>
          </a:p>
        </p:txBody>
      </p:sp>
    </p:spTree>
  </p:cSld>
  <p:clrMapOvr>
    <a:masterClrMapping/>
  </p:clrMapOvr>
  <p:transition advClick="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10.5.2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系统故障的恢复</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55300" name="Rectangle 3"/>
          <p:cNvSpPr>
            <a:spLocks noGrp="1" noChangeArrowheads="1"/>
          </p:cNvSpPr>
          <p:nvPr>
            <p:ph idx="1"/>
          </p:nvPr>
        </p:nvSpPr>
        <p:spPr>
          <a:xfrm>
            <a:off x="642938" y="1285875"/>
            <a:ext cx="8077200" cy="4848225"/>
          </a:xfrm>
        </p:spPr>
        <p:txBody>
          <a:bodyPr vert="horz" wrap="square" lIns="91440" tIns="45720" rIns="91440" bIns="45720" numCol="1" anchor="t" anchorCtr="0" compatLnSpc="1">
            <a:normAutofit fontScale="92500" lnSpcReduction="20000"/>
          </a:bodyPr>
          <a:lstStyle/>
          <a:p>
            <a:pPr marL="411480" marR="0" lvl="0" indent="-469900" algn="l" defTabSz="914400" rtl="0" eaLnBrk="1" fontAlgn="auto" latinLnBrk="0" hangingPunct="1">
              <a:lnSpc>
                <a:spcPct val="130000"/>
              </a:lnSpc>
              <a:spcBef>
                <a:spcPct val="20000"/>
              </a:spcBef>
              <a:spcAft>
                <a:spcPts val="0"/>
              </a:spcAft>
              <a:buClr>
                <a:schemeClr val="accent2"/>
              </a:buClr>
              <a:buSzTx/>
              <a:buFont typeface="Wingdings" panose="05000000000000000000"/>
              <a:buChar char=""/>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系统故障造成数据库不一致状态的原因</a:t>
            </a: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a:p>
            <a:pPr marL="740410" marR="0" lvl="1" indent="-436880" algn="l" defTabSz="914400" rtl="0" eaLnBrk="1" fontAlgn="auto" latinLnBrk="0" hangingPunct="1">
              <a:lnSpc>
                <a:spcPct val="130000"/>
              </a:lnSpc>
              <a:spcBef>
                <a:spcPct val="20000"/>
              </a:spcBef>
              <a:spcAft>
                <a:spcPts val="0"/>
              </a:spcAft>
              <a:buClr>
                <a:schemeClr val="accent2"/>
              </a:buClr>
              <a:buSzTx/>
              <a:buFont typeface="Wingdings" panose="05000000000000000000"/>
              <a:buChar char=""/>
              <a:defRPr/>
            </a:pPr>
            <a:r>
              <a:rPr kumimoji="0" lang="zh-CN" altLang="en-US" sz="2800" b="0" i="0" u="none" strike="noStrike" kern="0" cap="none" spc="0" normalizeH="0" baseline="0" noProof="0" dirty="0" smtClean="0">
                <a:ln>
                  <a:noFill/>
                </a:ln>
                <a:solidFill>
                  <a:srgbClr val="FF0000"/>
                </a:solidFill>
                <a:effectLst/>
                <a:uLnTx/>
                <a:uFillTx/>
                <a:latin typeface="+mn-lt"/>
                <a:ea typeface="+mn-ea"/>
                <a:cs typeface="+mn-ea"/>
              </a:rPr>
              <a:t>未完成事务</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对数据库的更新已写入数据库</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ea"/>
            </a:endParaRPr>
          </a:p>
          <a:p>
            <a:pPr marL="740410" marR="0" lvl="1" indent="-436880" algn="l" defTabSz="914400" rtl="0" eaLnBrk="1" fontAlgn="auto" latinLnBrk="0" hangingPunct="1">
              <a:lnSpc>
                <a:spcPct val="130000"/>
              </a:lnSpc>
              <a:spcBef>
                <a:spcPct val="20000"/>
              </a:spcBef>
              <a:spcAft>
                <a:spcPts val="0"/>
              </a:spcAft>
              <a:buClr>
                <a:schemeClr val="accent2"/>
              </a:buClr>
              <a:buSzTx/>
              <a:buFont typeface="Wingdings" panose="05000000000000000000"/>
              <a:buChar char=""/>
              <a:defRPr/>
            </a:pPr>
            <a:r>
              <a:rPr kumimoji="0" lang="zh-CN" altLang="en-US" sz="2800" b="0" i="0" u="none" strike="noStrike" kern="0" cap="none" spc="0" normalizeH="0" baseline="0" noProof="0" dirty="0" smtClean="0">
                <a:ln>
                  <a:noFill/>
                </a:ln>
                <a:solidFill>
                  <a:srgbClr val="FF0000"/>
                </a:solidFill>
                <a:effectLst/>
                <a:uLnTx/>
                <a:uFillTx/>
                <a:latin typeface="+mn-lt"/>
                <a:ea typeface="+mn-ea"/>
                <a:cs typeface="+mn-ea"/>
              </a:rPr>
              <a:t>已提交事务</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对数据库的更新还留在缓冲区没来得及写入数据库</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ea"/>
            </a:endParaRPr>
          </a:p>
          <a:p>
            <a:pPr marL="411480" marR="0" lvl="0" indent="-469900" algn="l" defTabSz="914400" rtl="0" eaLnBrk="1" fontAlgn="auto" latinLnBrk="0" hangingPunct="1">
              <a:lnSpc>
                <a:spcPct val="130000"/>
              </a:lnSpc>
              <a:spcBef>
                <a:spcPct val="20000"/>
              </a:spcBef>
              <a:spcAft>
                <a:spcPts val="0"/>
              </a:spcAft>
              <a:buClr>
                <a:schemeClr val="accent2"/>
              </a:buClr>
              <a:buSzTx/>
              <a:buFont typeface="Wingdings" panose="05000000000000000000"/>
              <a:buChar char=""/>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恢复方法</a:t>
            </a: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a:p>
            <a:pPr marL="740410" marR="0" lvl="1" indent="-436880" algn="l" defTabSz="914400" rtl="0" eaLnBrk="1" fontAlgn="auto" latinLnBrk="0" hangingPunct="1">
              <a:lnSpc>
                <a:spcPct val="130000"/>
              </a:lnSpc>
              <a:spcBef>
                <a:spcPct val="20000"/>
              </a:spcBef>
              <a:spcAft>
                <a:spcPts val="0"/>
              </a:spcAft>
              <a:buClr>
                <a:schemeClr val="accent2"/>
              </a:buClr>
              <a:buSzTx/>
              <a:buFont typeface="Wingdings" panose="05000000000000000000"/>
              <a:buChar char=""/>
              <a:defRPr/>
            </a:pPr>
            <a:r>
              <a:rPr kumimoji="0" lang="en-US" altLang="zh-CN" sz="2800" b="0" i="0" u="none" strike="noStrike" kern="0" cap="none" spc="0" normalizeH="0" baseline="0" noProof="0" dirty="0" smtClean="0">
                <a:ln>
                  <a:noFill/>
                </a:ln>
                <a:solidFill>
                  <a:schemeClr val="tx1"/>
                </a:solidFill>
                <a:effectLst/>
                <a:uLnTx/>
                <a:uFillTx/>
                <a:latin typeface="+mn-lt"/>
                <a:ea typeface="+mn-ea"/>
                <a:cs typeface="+mn-ea"/>
              </a:rPr>
              <a:t>1. Undo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故障发生时未完成的事务</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ea"/>
            </a:endParaRPr>
          </a:p>
          <a:p>
            <a:pPr marL="740410" marR="0" lvl="1" indent="-436880" algn="l" defTabSz="914400" rtl="0" eaLnBrk="1" fontAlgn="auto" latinLnBrk="0" hangingPunct="1">
              <a:lnSpc>
                <a:spcPct val="130000"/>
              </a:lnSpc>
              <a:spcBef>
                <a:spcPct val="20000"/>
              </a:spcBef>
              <a:spcAft>
                <a:spcPts val="0"/>
              </a:spcAft>
              <a:buClr>
                <a:schemeClr val="accent2"/>
              </a:buClr>
              <a:buSzTx/>
              <a:buFont typeface="Wingdings" panose="05000000000000000000"/>
              <a:buChar char=""/>
              <a:defRPr/>
            </a:pPr>
            <a:r>
              <a:rPr kumimoji="0" lang="en-US" altLang="zh-CN" sz="2800" b="0" i="0" u="none" strike="noStrike" kern="0" cap="none" spc="0" normalizeH="0" baseline="0" noProof="0" dirty="0" smtClean="0">
                <a:ln>
                  <a:noFill/>
                </a:ln>
                <a:solidFill>
                  <a:schemeClr val="tx1"/>
                </a:solidFill>
                <a:effectLst/>
                <a:uLnTx/>
                <a:uFillTx/>
                <a:latin typeface="+mn-lt"/>
                <a:ea typeface="+mn-ea"/>
                <a:cs typeface="+mn-ea"/>
              </a:rPr>
              <a:t>2. Redo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已完成的事务</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ea"/>
            </a:endParaRPr>
          </a:p>
          <a:p>
            <a:pPr marL="411480" marR="0" lvl="0" indent="-469900" algn="l" defTabSz="914400" rtl="0" eaLnBrk="1" fontAlgn="auto" latinLnBrk="0" hangingPunct="1">
              <a:lnSpc>
                <a:spcPct val="130000"/>
              </a:lnSpc>
              <a:spcBef>
                <a:spcPct val="20000"/>
              </a:spcBef>
              <a:spcAft>
                <a:spcPts val="0"/>
              </a:spcAft>
              <a:buClr>
                <a:schemeClr val="accent2"/>
              </a:buClr>
              <a:buSzTx/>
              <a:buFont typeface="Wingdings" panose="05000000000000000000"/>
              <a:buChar char=""/>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系统故障的恢复由系统在</a:t>
            </a:r>
            <a:r>
              <a:rPr kumimoji="0" lang="zh-CN" altLang="en-US" sz="3000" b="1" i="0" u="sng" strike="noStrike" kern="0" cap="none" spc="0" normalizeH="0" baseline="0" noProof="0" dirty="0" smtClean="0">
                <a:ln>
                  <a:noFill/>
                </a:ln>
                <a:solidFill>
                  <a:srgbClr val="FF0000"/>
                </a:solidFill>
                <a:effectLst/>
                <a:uLnTx/>
                <a:uFillTx/>
                <a:latin typeface="+mn-lt"/>
                <a:ea typeface="+mn-ea"/>
                <a:cs typeface="+mn-cs"/>
              </a:rPr>
              <a:t>重新启动时</a:t>
            </a:r>
            <a:r>
              <a:rPr kumimoji="0" lang="zh-CN" altLang="en-US" sz="3500" b="1" i="0" u="none" strike="noStrike" kern="0" cap="none" spc="0" normalizeH="0" baseline="0" noProof="0" dirty="0" smtClean="0">
                <a:ln>
                  <a:noFill/>
                </a:ln>
                <a:solidFill>
                  <a:srgbClr val="0000FF"/>
                </a:solidFill>
                <a:effectLst/>
                <a:uLnTx/>
                <a:uFillTx/>
                <a:latin typeface="+mn-lt"/>
                <a:ea typeface="+mn-ea"/>
                <a:cs typeface="+mn-cs"/>
              </a:rPr>
              <a:t>自动完成</a:t>
            </a: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，不需要用户干预</a:t>
            </a: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1"/>
          <p:cNvSpPr>
            <a:spLocks noGrp="1"/>
          </p:cNvSpPr>
          <p:nvPr>
            <p:ph type="title"/>
          </p:nvPr>
        </p:nvSpPr>
        <p:spPr>
          <a:xfrm>
            <a:off x="468313" y="260350"/>
            <a:ext cx="8001000" cy="735013"/>
          </a:xfrm>
          <a:ln/>
        </p:spPr>
        <p:txBody>
          <a:bodyPr vert="horz" wrap="square" lIns="91440" tIns="45720" rIns="91440" bIns="45720" anchor="b" anchorCtr="0"/>
          <a:p>
            <a:r>
              <a:rPr lang="zh-CN" altLang="en-US" dirty="0"/>
              <a:t>利用日志文件</a:t>
            </a:r>
            <a:endParaRPr lang="zh-CN" altLang="en-US" dirty="0"/>
          </a:p>
        </p:txBody>
      </p:sp>
      <p:sp>
        <p:nvSpPr>
          <p:cNvPr id="65538" name="内容占位符 2"/>
          <p:cNvSpPr>
            <a:spLocks noGrp="1"/>
          </p:cNvSpPr>
          <p:nvPr>
            <p:ph idx="1"/>
          </p:nvPr>
        </p:nvSpPr>
        <p:spPr>
          <a:ln/>
        </p:spPr>
        <p:txBody>
          <a:bodyPr vert="horz" wrap="square" lIns="91440" tIns="45720" rIns="91440" bIns="45720" anchor="t" anchorCtr="0"/>
          <a:p>
            <a:r>
              <a:rPr lang="zh-CN" altLang="en-US" dirty="0"/>
              <a:t>利用日志文件进行数据库恢复是：恢复子系统必须</a:t>
            </a:r>
            <a:r>
              <a:rPr lang="zh-CN" altLang="en-US" dirty="0">
                <a:solidFill>
                  <a:srgbClr val="FF0000"/>
                </a:solidFill>
              </a:rPr>
              <a:t>搜索整个日志</a:t>
            </a:r>
            <a:r>
              <a:rPr lang="zh-CN" altLang="en-US" dirty="0"/>
              <a:t>，确定哪些事务需要重做，哪些事务需要撤销。</a:t>
            </a:r>
            <a:endParaRPr lang="en-US" altLang="zh-CN" dirty="0"/>
          </a:p>
          <a:p>
            <a:pPr marL="739775" lvl="1" indent="-436245" eaLnBrk="1" hangingPunct="1">
              <a:lnSpc>
                <a:spcPct val="130000"/>
              </a:lnSpc>
              <a:buFont typeface="Wingdings" panose="05000000000000000000" pitchFamily="2" charset="2"/>
              <a:buChar char=""/>
            </a:pPr>
            <a:r>
              <a:rPr lang="en-US" altLang="zh-CN" dirty="0"/>
              <a:t>1. Undo </a:t>
            </a:r>
            <a:r>
              <a:rPr lang="zh-CN" altLang="en-US" dirty="0"/>
              <a:t>故障发生时未完成的事务</a:t>
            </a:r>
            <a:endParaRPr lang="zh-CN" altLang="en-US" dirty="0"/>
          </a:p>
          <a:p>
            <a:pPr marL="739775" lvl="1" indent="-436245" eaLnBrk="1" hangingPunct="1">
              <a:lnSpc>
                <a:spcPct val="130000"/>
              </a:lnSpc>
              <a:buFont typeface="Wingdings" panose="05000000000000000000" pitchFamily="2" charset="2"/>
              <a:buChar char=""/>
            </a:pPr>
            <a:r>
              <a:rPr lang="en-US" altLang="zh-CN" dirty="0"/>
              <a:t>2. Redo </a:t>
            </a:r>
            <a:r>
              <a:rPr lang="zh-CN" altLang="en-US" dirty="0"/>
              <a:t>故障发生时已完成的事务</a:t>
            </a:r>
            <a:endParaRPr lang="zh-CN" altLang="en-US" dirty="0"/>
          </a:p>
          <a:p>
            <a:endParaRPr lang="zh-CN" altLang="en-US" dirty="0"/>
          </a:p>
        </p:txBody>
      </p:sp>
    </p:spTree>
  </p:cSld>
  <p:clrMapOvr>
    <a:masterClrMapping/>
  </p:clrMapOvr>
  <p:transition advClick="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系统故障的恢复步骤</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66562" name="Rectangle 3"/>
          <p:cNvSpPr>
            <a:spLocks noGrp="1"/>
          </p:cNvSpPr>
          <p:nvPr>
            <p:ph idx="1"/>
          </p:nvPr>
        </p:nvSpPr>
        <p:spPr>
          <a:xfrm>
            <a:off x="214313" y="1143000"/>
            <a:ext cx="8786812" cy="3071813"/>
          </a:xfrm>
          <a:ln/>
        </p:spPr>
        <p:txBody>
          <a:bodyPr vert="horz" wrap="square" lIns="91440" tIns="45720" rIns="91440" bIns="45720" anchor="t" anchorCtr="0"/>
          <a:p>
            <a:pPr marL="411480" indent="-470535" eaLnBrk="1" hangingPunct="1">
              <a:spcBef>
                <a:spcPts val="500"/>
              </a:spcBef>
              <a:buNone/>
            </a:pPr>
            <a:r>
              <a:rPr lang="en-US" altLang="zh-CN" sz="2400" dirty="0"/>
              <a:t>1.</a:t>
            </a:r>
            <a:r>
              <a:rPr lang="en-US" altLang="zh-CN" sz="2600" dirty="0"/>
              <a:t>	</a:t>
            </a:r>
            <a:r>
              <a:rPr lang="zh-CN" altLang="en-US" sz="2600" dirty="0"/>
              <a:t>正向扫描日志文件（</a:t>
            </a:r>
            <a:r>
              <a:rPr lang="zh-CN" altLang="en-US" sz="2600" b="1" dirty="0">
                <a:solidFill>
                  <a:srgbClr val="008000"/>
                </a:solidFill>
              </a:rPr>
              <a:t>即从头扫描整个日志文件</a:t>
            </a:r>
            <a:r>
              <a:rPr lang="zh-CN" altLang="en-US" sz="2600" dirty="0"/>
              <a:t>）</a:t>
            </a:r>
            <a:endParaRPr lang="zh-CN" altLang="en-US" dirty="0"/>
          </a:p>
          <a:p>
            <a:pPr marL="739775" lvl="1" indent="-436245" eaLnBrk="1" hangingPunct="1">
              <a:spcBef>
                <a:spcPts val="500"/>
              </a:spcBef>
              <a:buFont typeface="Wingdings" panose="05000000000000000000" pitchFamily="2" charset="2"/>
              <a:buChar char=""/>
            </a:pPr>
            <a:r>
              <a:rPr lang="zh-CN" altLang="en-US" dirty="0"/>
              <a:t>重做</a:t>
            </a:r>
            <a:r>
              <a:rPr lang="en-US" altLang="zh-CN" dirty="0"/>
              <a:t>(REDO) </a:t>
            </a:r>
            <a:r>
              <a:rPr lang="zh-CN" altLang="en-US" dirty="0"/>
              <a:t>队列</a:t>
            </a:r>
            <a:r>
              <a:rPr lang="en-US" altLang="zh-CN" dirty="0"/>
              <a:t>: </a:t>
            </a:r>
            <a:r>
              <a:rPr lang="zh-CN" altLang="en-US" dirty="0"/>
              <a:t>在故障发生前</a:t>
            </a:r>
            <a:r>
              <a:rPr lang="zh-CN" altLang="en-US" b="1" dirty="0">
                <a:solidFill>
                  <a:srgbClr val="FF0000"/>
                </a:solidFill>
              </a:rPr>
              <a:t>已经提交</a:t>
            </a:r>
            <a:r>
              <a:rPr lang="zh-CN" altLang="en-US" dirty="0"/>
              <a:t>的事务</a:t>
            </a:r>
            <a:endParaRPr lang="zh-CN" altLang="en-US" dirty="0"/>
          </a:p>
          <a:p>
            <a:pPr marL="995680" lvl="2" eaLnBrk="1" hangingPunct="1">
              <a:spcBef>
                <a:spcPts val="500"/>
              </a:spcBef>
              <a:buFont typeface="Wingdings" panose="05000000000000000000" pitchFamily="2" charset="2"/>
              <a:buChar char="Ø"/>
            </a:pPr>
            <a:r>
              <a:rPr lang="zh-CN" altLang="en-US" dirty="0"/>
              <a:t>这些事务既有</a:t>
            </a:r>
            <a:r>
              <a:rPr lang="en-US" altLang="zh-CN" b="1" dirty="0">
                <a:solidFill>
                  <a:srgbClr val="0000FF"/>
                </a:solidFill>
              </a:rPr>
              <a:t>BEGIN</a:t>
            </a:r>
            <a:r>
              <a:rPr lang="en-US" altLang="zh-CN" dirty="0"/>
              <a:t> TRANSACTION</a:t>
            </a:r>
            <a:r>
              <a:rPr lang="zh-CN" altLang="en-US" dirty="0"/>
              <a:t>记录，也有</a:t>
            </a:r>
            <a:r>
              <a:rPr lang="en-US" altLang="zh-CN" b="1" dirty="0">
                <a:solidFill>
                  <a:srgbClr val="0000FF"/>
                </a:solidFill>
              </a:rPr>
              <a:t>COMMIT</a:t>
            </a:r>
            <a:r>
              <a:rPr lang="zh-CN" altLang="en-US" dirty="0"/>
              <a:t>记录：</a:t>
            </a:r>
            <a:r>
              <a:rPr lang="en-US" altLang="zh-CN" dirty="0"/>
              <a:t>t1</a:t>
            </a:r>
            <a:r>
              <a:rPr lang="zh-CN" altLang="en-US" dirty="0"/>
              <a:t>，</a:t>
            </a:r>
            <a:r>
              <a:rPr lang="en-US" altLang="zh-CN" dirty="0"/>
              <a:t>t3</a:t>
            </a:r>
            <a:endParaRPr lang="zh-CN" altLang="en-US" dirty="0"/>
          </a:p>
          <a:p>
            <a:pPr marL="739775" lvl="1" indent="-436245" eaLnBrk="1" hangingPunct="1">
              <a:spcBef>
                <a:spcPts val="500"/>
              </a:spcBef>
              <a:buFont typeface="Wingdings" panose="05000000000000000000" pitchFamily="2" charset="2"/>
              <a:buChar char=""/>
            </a:pPr>
            <a:r>
              <a:rPr lang="zh-CN" altLang="en-US" dirty="0"/>
              <a:t>撤销 </a:t>
            </a:r>
            <a:r>
              <a:rPr lang="en-US" altLang="zh-CN" dirty="0"/>
              <a:t>(Undo)</a:t>
            </a:r>
            <a:r>
              <a:rPr lang="zh-CN" altLang="en-US" dirty="0"/>
              <a:t>队列</a:t>
            </a:r>
            <a:r>
              <a:rPr lang="en-US" altLang="zh-CN" dirty="0"/>
              <a:t>:</a:t>
            </a:r>
            <a:r>
              <a:rPr lang="zh-CN" altLang="en-US" dirty="0"/>
              <a:t>故障发生时</a:t>
            </a:r>
            <a:r>
              <a:rPr lang="zh-CN" altLang="en-US" b="1" dirty="0">
                <a:solidFill>
                  <a:srgbClr val="FF0000"/>
                </a:solidFill>
              </a:rPr>
              <a:t>尚未完成</a:t>
            </a:r>
            <a:r>
              <a:rPr lang="zh-CN" altLang="en-US" dirty="0"/>
              <a:t>的事务</a:t>
            </a:r>
            <a:endParaRPr lang="zh-CN" altLang="en-US" dirty="0"/>
          </a:p>
          <a:p>
            <a:pPr marL="995680" lvl="2" eaLnBrk="1" hangingPunct="1">
              <a:spcBef>
                <a:spcPts val="500"/>
              </a:spcBef>
              <a:buFont typeface="Wingdings" panose="05000000000000000000" pitchFamily="2" charset="2"/>
              <a:buChar char="Ø"/>
            </a:pPr>
            <a:r>
              <a:rPr lang="zh-CN" altLang="en-US" dirty="0"/>
              <a:t> 这些事务只有</a:t>
            </a:r>
            <a:r>
              <a:rPr lang="en-US" altLang="zh-CN" b="1" dirty="0">
                <a:solidFill>
                  <a:srgbClr val="0000FF"/>
                </a:solidFill>
              </a:rPr>
              <a:t>BEGIN </a:t>
            </a:r>
            <a:r>
              <a:rPr lang="en-US" altLang="zh-CN" dirty="0"/>
              <a:t>TRANSACTION</a:t>
            </a:r>
            <a:r>
              <a:rPr lang="zh-CN" altLang="en-US" dirty="0"/>
              <a:t>记录，</a:t>
            </a:r>
            <a:r>
              <a:rPr lang="zh-CN" altLang="en-US" b="1" dirty="0">
                <a:solidFill>
                  <a:srgbClr val="0000FF"/>
                </a:solidFill>
              </a:rPr>
              <a:t>无相应的</a:t>
            </a:r>
            <a:r>
              <a:rPr lang="en-US" altLang="zh-CN" b="1" dirty="0">
                <a:solidFill>
                  <a:srgbClr val="0000FF"/>
                </a:solidFill>
              </a:rPr>
              <a:t>COMMIT</a:t>
            </a:r>
            <a:r>
              <a:rPr lang="zh-CN" altLang="en-US" dirty="0"/>
              <a:t>记录 </a:t>
            </a:r>
            <a:endParaRPr lang="zh-CN" altLang="en-US" dirty="0"/>
          </a:p>
        </p:txBody>
      </p:sp>
      <p:grpSp>
        <p:nvGrpSpPr>
          <p:cNvPr id="66563" name="组合 34"/>
          <p:cNvGrpSpPr/>
          <p:nvPr/>
        </p:nvGrpSpPr>
        <p:grpSpPr>
          <a:xfrm>
            <a:off x="1214438" y="4143375"/>
            <a:ext cx="4857750" cy="2071688"/>
            <a:chOff x="1214414" y="4143380"/>
            <a:chExt cx="4857784" cy="2071702"/>
          </a:xfrm>
        </p:grpSpPr>
        <p:cxnSp>
          <p:nvCxnSpPr>
            <p:cNvPr id="5" name="直接连接符 4"/>
            <p:cNvCxnSpPr/>
            <p:nvPr/>
          </p:nvCxnSpPr>
          <p:spPr>
            <a:xfrm rot="16200000" flipH="1">
              <a:off x="3036082" y="5179231"/>
              <a:ext cx="2000264" cy="714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rot="5400000">
              <a:off x="1501752" y="4786321"/>
              <a:ext cx="28416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643042" y="4929198"/>
              <a:ext cx="1285884"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5400000">
              <a:off x="2787636" y="4792671"/>
              <a:ext cx="28416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a:off x="2201051" y="5641196"/>
              <a:ext cx="2841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357422" y="5784866"/>
              <a:ext cx="3000396"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rot="5400000">
              <a:off x="5216528" y="5640402"/>
              <a:ext cx="28416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6571" name="TextBox 19"/>
            <p:cNvSpPr txBox="1"/>
            <p:nvPr/>
          </p:nvSpPr>
          <p:spPr>
            <a:xfrm>
              <a:off x="2428860" y="4357694"/>
              <a:ext cx="857256" cy="369332"/>
            </a:xfrm>
            <a:prstGeom prst="rect">
              <a:avLst/>
            </a:prstGeom>
            <a:noFill/>
            <a:ln w="9525">
              <a:noFill/>
            </a:ln>
          </p:spPr>
          <p:txBody>
            <a:bodyPr anchor="t" anchorCtr="0">
              <a:spAutoFit/>
            </a:bodyPr>
            <a:p>
              <a:r>
                <a:rPr lang="en-US" altLang="zh-CN" dirty="0">
                  <a:solidFill>
                    <a:srgbClr val="FF0000"/>
                  </a:solidFill>
                  <a:latin typeface="Verdana" panose="020B0604030504040204" pitchFamily="34" charset="0"/>
                  <a:ea typeface="宋体" panose="02010600030101010101" pitchFamily="2" charset="-122"/>
                </a:rPr>
                <a:t>REDO</a:t>
              </a:r>
              <a:endParaRPr lang="zh-CN" altLang="en-US" dirty="0">
                <a:solidFill>
                  <a:srgbClr val="FF0000"/>
                </a:solidFill>
                <a:latin typeface="Verdana" panose="020B0604030504040204" pitchFamily="34" charset="0"/>
                <a:ea typeface="宋体" panose="02010600030101010101" pitchFamily="2" charset="-122"/>
              </a:endParaRPr>
            </a:p>
          </p:txBody>
        </p:sp>
        <p:sp>
          <p:nvSpPr>
            <p:cNvPr id="66572" name="TextBox 20"/>
            <p:cNvSpPr txBox="1"/>
            <p:nvPr/>
          </p:nvSpPr>
          <p:spPr>
            <a:xfrm>
              <a:off x="4572000" y="5072074"/>
              <a:ext cx="1000132" cy="369332"/>
            </a:xfrm>
            <a:prstGeom prst="rect">
              <a:avLst/>
            </a:prstGeom>
            <a:noFill/>
            <a:ln w="9525">
              <a:noFill/>
            </a:ln>
          </p:spPr>
          <p:txBody>
            <a:bodyPr anchor="t" anchorCtr="0">
              <a:spAutoFit/>
            </a:bodyPr>
            <a:p>
              <a:r>
                <a:rPr lang="en-US" altLang="zh-CN" dirty="0">
                  <a:solidFill>
                    <a:srgbClr val="FF0000"/>
                  </a:solidFill>
                  <a:latin typeface="Verdana" panose="020B0604030504040204" pitchFamily="34" charset="0"/>
                  <a:ea typeface="宋体" panose="02010600030101010101" pitchFamily="2" charset="-122"/>
                </a:rPr>
                <a:t>UNDO</a:t>
              </a:r>
              <a:endParaRPr lang="zh-CN" altLang="en-US" dirty="0">
                <a:solidFill>
                  <a:srgbClr val="FF0000"/>
                </a:solidFill>
                <a:latin typeface="Verdana" panose="020B0604030504040204" pitchFamily="34" charset="0"/>
                <a:ea typeface="宋体" panose="02010600030101010101" pitchFamily="2" charset="-122"/>
              </a:endParaRPr>
            </a:p>
          </p:txBody>
        </p:sp>
        <p:sp>
          <p:nvSpPr>
            <p:cNvPr id="66573" name="TextBox 21"/>
            <p:cNvSpPr txBox="1"/>
            <p:nvPr/>
          </p:nvSpPr>
          <p:spPr>
            <a:xfrm>
              <a:off x="4000496" y="4143380"/>
              <a:ext cx="1785950" cy="369332"/>
            </a:xfrm>
            <a:prstGeom prst="rect">
              <a:avLst/>
            </a:prstGeom>
            <a:noFill/>
            <a:ln w="9525">
              <a:noFill/>
            </a:ln>
          </p:spPr>
          <p:txBody>
            <a:bodyPr anchor="t" anchorCtr="0">
              <a:spAutoFit/>
            </a:bodyPr>
            <a:p>
              <a:r>
                <a:rPr lang="en-US" altLang="zh-CN" b="1" dirty="0">
                  <a:latin typeface="Verdana" panose="020B0604030504040204" pitchFamily="34" charset="0"/>
                  <a:ea typeface="宋体" panose="02010600030101010101" pitchFamily="2" charset="-122"/>
                </a:rPr>
                <a:t>Tf</a:t>
              </a:r>
              <a:r>
                <a:rPr lang="zh-CN" altLang="en-US" b="1" dirty="0">
                  <a:latin typeface="Verdana" panose="020B0604030504040204" pitchFamily="34" charset="0"/>
                  <a:ea typeface="宋体" panose="02010600030101010101" pitchFamily="2" charset="-122"/>
                </a:rPr>
                <a:t>（系统故障）</a:t>
              </a:r>
              <a:endParaRPr lang="zh-CN" altLang="en-US" b="1" dirty="0">
                <a:latin typeface="Verdana" panose="020B0604030504040204" pitchFamily="34" charset="0"/>
                <a:ea typeface="宋体" panose="02010600030101010101" pitchFamily="2" charset="-122"/>
              </a:endParaRPr>
            </a:p>
          </p:txBody>
        </p:sp>
        <p:sp>
          <p:nvSpPr>
            <p:cNvPr id="66574" name="TextBox 22"/>
            <p:cNvSpPr txBox="1"/>
            <p:nvPr/>
          </p:nvSpPr>
          <p:spPr>
            <a:xfrm>
              <a:off x="1214414" y="4929198"/>
              <a:ext cx="1000132" cy="369332"/>
            </a:xfrm>
            <a:prstGeom prst="rect">
              <a:avLst/>
            </a:prstGeom>
            <a:noFill/>
            <a:ln w="9525">
              <a:noFill/>
            </a:ln>
          </p:spPr>
          <p:txBody>
            <a:bodyPr anchor="t" anchorCtr="0">
              <a:spAutoFit/>
            </a:bodyPr>
            <a:p>
              <a:r>
                <a:rPr lang="en-US" altLang="zh-CN" dirty="0">
                  <a:solidFill>
                    <a:srgbClr val="0000FF"/>
                  </a:solidFill>
                  <a:latin typeface="Verdana" panose="020B0604030504040204" pitchFamily="34" charset="0"/>
                  <a:ea typeface="宋体" panose="02010600030101010101" pitchFamily="2" charset="-122"/>
                </a:rPr>
                <a:t>BEGIN</a:t>
              </a:r>
              <a:endParaRPr lang="zh-CN" altLang="en-US" dirty="0">
                <a:solidFill>
                  <a:srgbClr val="0000FF"/>
                </a:solidFill>
                <a:latin typeface="Verdana" panose="020B0604030504040204" pitchFamily="34" charset="0"/>
                <a:ea typeface="宋体" panose="02010600030101010101" pitchFamily="2" charset="-122"/>
              </a:endParaRPr>
            </a:p>
          </p:txBody>
        </p:sp>
        <p:sp>
          <p:nvSpPr>
            <p:cNvPr id="66575" name="TextBox 23"/>
            <p:cNvSpPr txBox="1"/>
            <p:nvPr/>
          </p:nvSpPr>
          <p:spPr>
            <a:xfrm>
              <a:off x="1785918" y="5786454"/>
              <a:ext cx="1000132" cy="369332"/>
            </a:xfrm>
            <a:prstGeom prst="rect">
              <a:avLst/>
            </a:prstGeom>
            <a:noFill/>
            <a:ln w="9525">
              <a:noFill/>
            </a:ln>
          </p:spPr>
          <p:txBody>
            <a:bodyPr anchor="t" anchorCtr="0">
              <a:spAutoFit/>
            </a:bodyPr>
            <a:p>
              <a:r>
                <a:rPr lang="en-US" altLang="zh-CN" dirty="0">
                  <a:solidFill>
                    <a:srgbClr val="0000FF"/>
                  </a:solidFill>
                  <a:latin typeface="Verdana" panose="020B0604030504040204" pitchFamily="34" charset="0"/>
                  <a:ea typeface="宋体" panose="02010600030101010101" pitchFamily="2" charset="-122"/>
                </a:rPr>
                <a:t>BEGIN</a:t>
              </a:r>
              <a:endParaRPr lang="zh-CN" altLang="en-US" dirty="0">
                <a:solidFill>
                  <a:srgbClr val="0000FF"/>
                </a:solidFill>
                <a:latin typeface="Verdana" panose="020B0604030504040204" pitchFamily="34" charset="0"/>
                <a:ea typeface="宋体" panose="02010600030101010101" pitchFamily="2" charset="-122"/>
              </a:endParaRPr>
            </a:p>
          </p:txBody>
        </p:sp>
        <p:sp>
          <p:nvSpPr>
            <p:cNvPr id="66576" name="TextBox 24"/>
            <p:cNvSpPr txBox="1"/>
            <p:nvPr/>
          </p:nvSpPr>
          <p:spPr>
            <a:xfrm>
              <a:off x="2643174" y="4929198"/>
              <a:ext cx="1214446" cy="369332"/>
            </a:xfrm>
            <a:prstGeom prst="rect">
              <a:avLst/>
            </a:prstGeom>
            <a:noFill/>
            <a:ln w="9525">
              <a:noFill/>
            </a:ln>
          </p:spPr>
          <p:txBody>
            <a:bodyPr anchor="t" anchorCtr="0">
              <a:spAutoFit/>
            </a:bodyPr>
            <a:p>
              <a:r>
                <a:rPr lang="en-US" altLang="zh-CN" dirty="0">
                  <a:solidFill>
                    <a:srgbClr val="0000FF"/>
                  </a:solidFill>
                  <a:latin typeface="Verdana" panose="020B0604030504040204" pitchFamily="34" charset="0"/>
                  <a:ea typeface="宋体" panose="02010600030101010101" pitchFamily="2" charset="-122"/>
                </a:rPr>
                <a:t>COMMIT</a:t>
              </a:r>
              <a:endParaRPr lang="zh-CN" altLang="en-US" dirty="0">
                <a:solidFill>
                  <a:srgbClr val="0000FF"/>
                </a:solidFill>
                <a:latin typeface="Verdana" panose="020B0604030504040204" pitchFamily="34" charset="0"/>
                <a:ea typeface="宋体" panose="02010600030101010101" pitchFamily="2" charset="-122"/>
              </a:endParaRPr>
            </a:p>
          </p:txBody>
        </p:sp>
        <p:sp>
          <p:nvSpPr>
            <p:cNvPr id="66577" name="TextBox 25"/>
            <p:cNvSpPr txBox="1"/>
            <p:nvPr/>
          </p:nvSpPr>
          <p:spPr>
            <a:xfrm>
              <a:off x="4857752" y="5786454"/>
              <a:ext cx="1214446" cy="369332"/>
            </a:xfrm>
            <a:prstGeom prst="rect">
              <a:avLst/>
            </a:prstGeom>
            <a:noFill/>
            <a:ln w="9525">
              <a:noFill/>
            </a:ln>
          </p:spPr>
          <p:txBody>
            <a:bodyPr anchor="t" anchorCtr="0">
              <a:spAutoFit/>
            </a:bodyPr>
            <a:p>
              <a:r>
                <a:rPr lang="en-US" altLang="zh-CN" dirty="0">
                  <a:solidFill>
                    <a:srgbClr val="0000FF"/>
                  </a:solidFill>
                  <a:latin typeface="Verdana" panose="020B0604030504040204" pitchFamily="34" charset="0"/>
                  <a:ea typeface="宋体" panose="02010600030101010101" pitchFamily="2" charset="-122"/>
                </a:rPr>
                <a:t>COMMIT</a:t>
              </a:r>
              <a:endParaRPr lang="zh-CN" altLang="en-US" dirty="0">
                <a:solidFill>
                  <a:srgbClr val="0000FF"/>
                </a:solidFill>
                <a:latin typeface="Verdana" panose="020B0604030504040204" pitchFamily="34" charset="0"/>
                <a:ea typeface="宋体" panose="02010600030101010101" pitchFamily="2" charset="-122"/>
              </a:endParaRPr>
            </a:p>
          </p:txBody>
        </p:sp>
      </p:grpSp>
    </p:spTree>
  </p:cSld>
  <p:clrMapOvr>
    <a:masterClrMapping/>
  </p:clrMapOvr>
  <p:transition advClick="0"/>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系统故障的恢复步骤</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57348" name="Rectangle 3"/>
          <p:cNvSpPr>
            <a:spLocks noGrp="1" noChangeArrowheads="1"/>
          </p:cNvSpPr>
          <p:nvPr>
            <p:ph idx="1"/>
          </p:nvPr>
        </p:nvSpPr>
        <p:spPr>
          <a:xfrm>
            <a:off x="428625" y="1357313"/>
            <a:ext cx="7772400" cy="4114800"/>
          </a:xfrm>
        </p:spPr>
        <p:txBody>
          <a:bodyPr vert="horz" wrap="square" lIns="91440" tIns="45720" rIns="91440" bIns="45720" numCol="1" anchor="t" anchorCtr="0" compatLnSpc="1">
            <a:normAutofit lnSpcReduction="10000"/>
          </a:bodyPr>
          <a:lstStyle/>
          <a:p>
            <a:pPr marL="411480" marR="0" lvl="0" indent="-469900" algn="l" defTabSz="914400" rtl="0" eaLnBrk="1" fontAlgn="auto" latinLnBrk="0" hangingPunct="1">
              <a:lnSpc>
                <a:spcPct val="130000"/>
              </a:lnSpc>
              <a:spcBef>
                <a:spcPct val="20000"/>
              </a:spcBef>
              <a:spcAft>
                <a:spcPts val="0"/>
              </a:spcAft>
              <a:buClr>
                <a:schemeClr val="accent2"/>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2.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对撤销</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(Undo)</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队列事务进行撤销</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(UNDO)</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处理</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a:p>
            <a:pPr marL="996950" marR="0" lvl="2" indent="-395605" algn="l" defTabSz="914400" rtl="0" eaLnBrk="1" fontAlgn="auto" latinLnBrk="0" hangingPunct="1">
              <a:lnSpc>
                <a:spcPct val="130000"/>
              </a:lnSpc>
              <a:spcBef>
                <a:spcPct val="20000"/>
              </a:spcBef>
              <a:spcAft>
                <a:spcPts val="0"/>
              </a:spcAft>
              <a:buClr>
                <a:schemeClr val="accent1"/>
              </a:buClr>
              <a:buSzPct val="75000"/>
              <a:buFont typeface="Wingdings" panose="05000000000000000000" pitchFamily="2" charset="2"/>
              <a:buChar char="n"/>
              <a:defRPr/>
            </a:pPr>
            <a:r>
              <a:rPr kumimoji="0" lang="zh-CN" altLang="en-US" sz="2300" b="1" i="0" u="none" strike="noStrike" kern="0" cap="none" spc="0" normalizeH="0" baseline="0" noProof="0" dirty="0" smtClean="0">
                <a:ln>
                  <a:noFill/>
                </a:ln>
                <a:solidFill>
                  <a:srgbClr val="0000FF"/>
                </a:solidFill>
                <a:effectLst/>
                <a:uLnTx/>
                <a:uFillTx/>
                <a:latin typeface="+mn-lt"/>
                <a:ea typeface="+mn-ea"/>
                <a:cs typeface="+mn-ea"/>
              </a:rPr>
              <a:t>反向扫描日志文件</a:t>
            </a:r>
            <a:r>
              <a:rPr kumimoji="0" lang="zh-CN" altLang="en-US" sz="2300" b="0" i="0" u="none" strike="noStrike" kern="0" cap="none" spc="0" normalizeH="0" baseline="0" noProof="0" dirty="0" smtClean="0">
                <a:ln>
                  <a:noFill/>
                </a:ln>
                <a:solidFill>
                  <a:schemeClr val="tx1"/>
                </a:solidFill>
                <a:effectLst/>
                <a:uLnTx/>
                <a:uFillTx/>
                <a:latin typeface="+mn-lt"/>
                <a:ea typeface="+mn-ea"/>
                <a:cs typeface="+mn-ea"/>
              </a:rPr>
              <a:t>，对每个</a:t>
            </a:r>
            <a:r>
              <a:rPr kumimoji="0" lang="en-US" altLang="zh-CN" sz="2300" b="0" i="0" u="none" strike="noStrike" kern="0" cap="none" spc="0" normalizeH="0" baseline="0" noProof="0" dirty="0" smtClean="0">
                <a:ln>
                  <a:noFill/>
                </a:ln>
                <a:solidFill>
                  <a:schemeClr val="tx1"/>
                </a:solidFill>
                <a:effectLst/>
                <a:uLnTx/>
                <a:uFillTx/>
                <a:latin typeface="+mn-lt"/>
                <a:ea typeface="+mn-ea"/>
                <a:cs typeface="+mn-ea"/>
              </a:rPr>
              <a:t>UNDO</a:t>
            </a:r>
            <a:r>
              <a:rPr kumimoji="0" lang="zh-CN" altLang="en-US" sz="2300" b="0" i="0" u="none" strike="noStrike" kern="0" cap="none" spc="0" normalizeH="0" baseline="0" noProof="0" dirty="0" smtClean="0">
                <a:ln>
                  <a:noFill/>
                </a:ln>
                <a:solidFill>
                  <a:schemeClr val="tx1"/>
                </a:solidFill>
                <a:effectLst/>
                <a:uLnTx/>
                <a:uFillTx/>
                <a:latin typeface="+mn-lt"/>
                <a:ea typeface="+mn-ea"/>
                <a:cs typeface="+mn-ea"/>
              </a:rPr>
              <a:t>事务的更新操作执行逆操作</a:t>
            </a:r>
            <a:r>
              <a:rPr kumimoji="0" lang="en-US" altLang="zh-CN" sz="2300" b="0" i="0" u="none" strike="noStrike" kern="0" cap="none" spc="0" normalizeH="0" baseline="0" noProof="0" dirty="0" smtClean="0">
                <a:ln>
                  <a:noFill/>
                </a:ln>
                <a:solidFill>
                  <a:schemeClr val="tx1"/>
                </a:solidFill>
                <a:effectLst/>
                <a:uLnTx/>
                <a:uFillTx/>
                <a:latin typeface="+mn-lt"/>
                <a:ea typeface="+mn-ea"/>
                <a:cs typeface="+mn-ea"/>
              </a:rPr>
              <a:t>t2</a:t>
            </a:r>
            <a:r>
              <a:rPr kumimoji="0" lang="zh-CN" altLang="en-US" sz="2300" b="0" i="0" u="none" strike="noStrike" kern="0" cap="none" spc="0" normalizeH="0" baseline="0" noProof="0" dirty="0" smtClean="0">
                <a:ln>
                  <a:noFill/>
                </a:ln>
                <a:solidFill>
                  <a:schemeClr val="tx1"/>
                </a:solidFill>
                <a:effectLst/>
                <a:uLnTx/>
                <a:uFillTx/>
                <a:latin typeface="+mn-lt"/>
                <a:ea typeface="+mn-ea"/>
                <a:cs typeface="+mn-ea"/>
              </a:rPr>
              <a:t>，</a:t>
            </a:r>
            <a:r>
              <a:rPr kumimoji="0" lang="en-US" altLang="zh-CN" sz="2300" b="0" i="0" u="none" strike="noStrike" kern="0" cap="none" spc="0" normalizeH="0" baseline="0" noProof="0" dirty="0" smtClean="0">
                <a:ln>
                  <a:noFill/>
                </a:ln>
                <a:solidFill>
                  <a:schemeClr val="tx1"/>
                </a:solidFill>
                <a:effectLst/>
                <a:uLnTx/>
                <a:uFillTx/>
                <a:latin typeface="+mn-lt"/>
                <a:ea typeface="+mn-ea"/>
                <a:cs typeface="+mn-ea"/>
              </a:rPr>
              <a:t>t4</a:t>
            </a:r>
            <a:endParaRPr kumimoji="0" lang="zh-CN" altLang="en-US" sz="2300" b="0" i="0" u="none" strike="noStrike" kern="0" cap="none" spc="0" normalizeH="0" baseline="0" noProof="0" dirty="0" smtClean="0">
              <a:ln>
                <a:noFill/>
              </a:ln>
              <a:solidFill>
                <a:schemeClr val="tx1"/>
              </a:solidFill>
              <a:effectLst/>
              <a:uLnTx/>
              <a:uFillTx/>
              <a:latin typeface="+mn-lt"/>
              <a:ea typeface="+mn-ea"/>
              <a:cs typeface="+mn-ea"/>
            </a:endParaRPr>
          </a:p>
          <a:p>
            <a:pPr marL="996950" marR="0" lvl="2" indent="-395605" algn="l" defTabSz="914400" rtl="0" eaLnBrk="1" fontAlgn="auto" latinLnBrk="0" hangingPunct="1">
              <a:lnSpc>
                <a:spcPct val="130000"/>
              </a:lnSpc>
              <a:spcBef>
                <a:spcPct val="20000"/>
              </a:spcBef>
              <a:spcAft>
                <a:spcPts val="0"/>
              </a:spcAft>
              <a:buClr>
                <a:schemeClr val="accent1"/>
              </a:buClr>
              <a:buSzPct val="75000"/>
              <a:buFont typeface="Wingdings" panose="05000000000000000000" pitchFamily="2" charset="2"/>
              <a:buChar char="n"/>
              <a:defRPr/>
            </a:pPr>
            <a:r>
              <a:rPr kumimoji="0" lang="zh-CN" altLang="en-US" sz="2300" b="0" i="0" u="none" strike="noStrike" kern="0" cap="none" spc="0" normalizeH="0" baseline="0" noProof="0" dirty="0" smtClean="0">
                <a:ln>
                  <a:noFill/>
                </a:ln>
                <a:solidFill>
                  <a:schemeClr val="tx1"/>
                </a:solidFill>
                <a:effectLst/>
                <a:uLnTx/>
                <a:uFillTx/>
                <a:latin typeface="+mn-lt"/>
                <a:ea typeface="+mn-ea"/>
                <a:cs typeface="+mn-ea"/>
              </a:rPr>
              <a:t>即将日志记录中“更新前的值”写入数据库 </a:t>
            </a:r>
            <a:endParaRPr kumimoji="0" lang="zh-CN" altLang="en-US" sz="2000" b="0" i="0" u="none" strike="noStrike" kern="0" cap="none" spc="0" normalizeH="0" baseline="0" noProof="0" dirty="0" smtClean="0">
              <a:ln>
                <a:noFill/>
              </a:ln>
              <a:solidFill>
                <a:schemeClr val="tx1"/>
              </a:solidFill>
              <a:effectLst/>
              <a:uLnTx/>
              <a:uFillTx/>
              <a:latin typeface="+mn-lt"/>
              <a:ea typeface="+mn-ea"/>
              <a:cs typeface="+mn-ea"/>
            </a:endParaRPr>
          </a:p>
          <a:p>
            <a:pPr marL="411480" marR="0" lvl="0" indent="-469900" algn="l" defTabSz="914400" rtl="0" eaLnBrk="1" fontAlgn="auto" latinLnBrk="0" hangingPunct="1">
              <a:lnSpc>
                <a:spcPct val="130000"/>
              </a:lnSpc>
              <a:spcBef>
                <a:spcPct val="20000"/>
              </a:spcBef>
              <a:spcAft>
                <a:spcPts val="0"/>
              </a:spcAft>
              <a:buClr>
                <a:schemeClr val="accent2"/>
              </a:buClr>
              <a:buSzTx/>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3.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对重做</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(Redo)</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队列事务进行重做</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(REDO)</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处理</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a:p>
            <a:pPr marL="996950" marR="0" lvl="2" indent="-395605" algn="l" defTabSz="914400" rtl="0" eaLnBrk="1" fontAlgn="auto" latinLnBrk="0" hangingPunct="1">
              <a:lnSpc>
                <a:spcPct val="130000"/>
              </a:lnSpc>
              <a:spcBef>
                <a:spcPct val="20000"/>
              </a:spcBef>
              <a:spcAft>
                <a:spcPts val="0"/>
              </a:spcAft>
              <a:buClr>
                <a:schemeClr val="accent1"/>
              </a:buClr>
              <a:buSzPct val="75000"/>
              <a:buFont typeface="Wingdings" panose="05000000000000000000" pitchFamily="2" charset="2"/>
              <a:buChar char="n"/>
              <a:defRPr/>
            </a:pPr>
            <a:r>
              <a:rPr kumimoji="0" lang="zh-CN" altLang="en-US" sz="2300" b="1" i="0" u="none" strike="noStrike" kern="0" cap="none" spc="0" normalizeH="0" baseline="0" noProof="0" dirty="0" smtClean="0">
                <a:ln>
                  <a:noFill/>
                </a:ln>
                <a:solidFill>
                  <a:srgbClr val="0000FF"/>
                </a:solidFill>
                <a:effectLst/>
                <a:uLnTx/>
                <a:uFillTx/>
                <a:latin typeface="+mn-lt"/>
                <a:ea typeface="+mn-ea"/>
                <a:cs typeface="+mn-ea"/>
              </a:rPr>
              <a:t>正向扫描日志文件</a:t>
            </a:r>
            <a:r>
              <a:rPr kumimoji="0" lang="zh-CN" altLang="en-US" sz="2300" b="0" i="0" u="none" strike="noStrike" kern="0" cap="none" spc="0" normalizeH="0" baseline="0" noProof="0" dirty="0" smtClean="0">
                <a:ln>
                  <a:noFill/>
                </a:ln>
                <a:solidFill>
                  <a:schemeClr val="tx1"/>
                </a:solidFill>
                <a:effectLst/>
                <a:uLnTx/>
                <a:uFillTx/>
                <a:latin typeface="+mn-lt"/>
                <a:ea typeface="+mn-ea"/>
                <a:cs typeface="+mn-ea"/>
              </a:rPr>
              <a:t>，对每个</a:t>
            </a:r>
            <a:r>
              <a:rPr kumimoji="0" lang="en-US" altLang="zh-CN" sz="2300" b="0" i="0" u="none" strike="noStrike" kern="0" cap="none" spc="0" normalizeH="0" baseline="0" noProof="0" dirty="0" smtClean="0">
                <a:ln>
                  <a:noFill/>
                </a:ln>
                <a:solidFill>
                  <a:schemeClr val="tx1"/>
                </a:solidFill>
                <a:effectLst/>
                <a:uLnTx/>
                <a:uFillTx/>
                <a:latin typeface="+mn-lt"/>
                <a:ea typeface="+mn-ea"/>
                <a:cs typeface="+mn-ea"/>
              </a:rPr>
              <a:t>REDO</a:t>
            </a:r>
            <a:r>
              <a:rPr kumimoji="0" lang="zh-CN" altLang="en-US" sz="2300" b="0" i="0" u="none" strike="noStrike" kern="0" cap="none" spc="0" normalizeH="0" baseline="0" noProof="0" dirty="0" smtClean="0">
                <a:ln>
                  <a:noFill/>
                </a:ln>
                <a:solidFill>
                  <a:schemeClr val="tx1"/>
                </a:solidFill>
                <a:effectLst/>
                <a:uLnTx/>
                <a:uFillTx/>
                <a:latin typeface="+mn-lt"/>
                <a:ea typeface="+mn-ea"/>
                <a:cs typeface="+mn-ea"/>
              </a:rPr>
              <a:t>事务重新执行登记的操作</a:t>
            </a:r>
            <a:endParaRPr kumimoji="0" lang="zh-CN" altLang="en-US" sz="2300" b="0" i="0" u="none" strike="noStrike" kern="0" cap="none" spc="0" normalizeH="0" baseline="0" noProof="0" dirty="0" smtClean="0">
              <a:ln>
                <a:noFill/>
              </a:ln>
              <a:solidFill>
                <a:schemeClr val="tx1"/>
              </a:solidFill>
              <a:effectLst/>
              <a:uLnTx/>
              <a:uFillTx/>
              <a:latin typeface="+mn-lt"/>
              <a:ea typeface="+mn-ea"/>
              <a:cs typeface="+mn-ea"/>
            </a:endParaRPr>
          </a:p>
          <a:p>
            <a:pPr marL="996950" marR="0" lvl="2" indent="-395605" algn="l" defTabSz="914400" rtl="0" eaLnBrk="1" fontAlgn="auto" latinLnBrk="0" hangingPunct="1">
              <a:lnSpc>
                <a:spcPct val="130000"/>
              </a:lnSpc>
              <a:spcBef>
                <a:spcPct val="20000"/>
              </a:spcBef>
              <a:spcAft>
                <a:spcPts val="0"/>
              </a:spcAft>
              <a:buClr>
                <a:schemeClr val="accent1"/>
              </a:buClr>
              <a:buSzPct val="75000"/>
              <a:buFont typeface="Wingdings" panose="05000000000000000000" pitchFamily="2" charset="2"/>
              <a:buChar char="n"/>
              <a:defRPr/>
            </a:pPr>
            <a:r>
              <a:rPr kumimoji="0" lang="zh-CN" altLang="en-US" sz="2300" b="0" i="0" u="none" strike="noStrike" kern="0" cap="none" spc="0" normalizeH="0" baseline="0" noProof="0" dirty="0" smtClean="0">
                <a:ln>
                  <a:noFill/>
                </a:ln>
                <a:solidFill>
                  <a:schemeClr val="tx1"/>
                </a:solidFill>
                <a:effectLst/>
                <a:uLnTx/>
                <a:uFillTx/>
                <a:latin typeface="+mn-lt"/>
                <a:ea typeface="+mn-ea"/>
                <a:cs typeface="+mn-ea"/>
              </a:rPr>
              <a:t>即将日志记录中“更新后的值”写入数据库 </a:t>
            </a:r>
            <a:endParaRPr kumimoji="0" lang="zh-CN" altLang="en-US" sz="2300" b="0" i="0" u="none" strike="noStrike" kern="0" cap="none" spc="0" normalizeH="0" baseline="0" noProof="0" dirty="0" smtClean="0">
              <a:ln>
                <a:noFill/>
              </a:ln>
              <a:solidFill>
                <a:schemeClr val="tx1"/>
              </a:solidFill>
              <a:effectLst/>
              <a:uLnTx/>
              <a:uFillTx/>
              <a:latin typeface="+mn-lt"/>
              <a:ea typeface="+mn-ea"/>
              <a:cs typeface="+mn-ea"/>
            </a:endParaRPr>
          </a:p>
        </p:txBody>
      </p:sp>
    </p:spTree>
  </p:cSld>
  <p:clrMapOvr>
    <a:masterClrMapping/>
  </p:clrMapOvr>
  <p:transition advClick="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标题 1"/>
          <p:cNvSpPr>
            <a:spLocks noGrp="1"/>
          </p:cNvSpPr>
          <p:nvPr>
            <p:ph type="title"/>
          </p:nvPr>
        </p:nvSpPr>
        <p:spPr>
          <a:ln/>
        </p:spPr>
        <p:txBody>
          <a:bodyPr vert="horz" wrap="square" lIns="91440" tIns="45720" rIns="91440" bIns="45720" anchor="b" anchorCtr="0"/>
          <a:p>
            <a:r>
              <a:rPr lang="zh-CN" altLang="en-US" sz="4000" b="1" dirty="0">
                <a:solidFill>
                  <a:srgbClr val="FF0000"/>
                </a:solidFill>
              </a:rPr>
              <a:t>练习</a:t>
            </a:r>
            <a:r>
              <a:rPr lang="en-US" altLang="zh-CN" sz="4000" b="1" dirty="0">
                <a:solidFill>
                  <a:srgbClr val="FF0000"/>
                </a:solidFill>
              </a:rPr>
              <a:t>+</a:t>
            </a:r>
            <a:r>
              <a:rPr lang="zh-CN" altLang="en-US" sz="4000" b="1" dirty="0">
                <a:solidFill>
                  <a:srgbClr val="FF0000"/>
                </a:solidFill>
              </a:rPr>
              <a:t>提问</a:t>
            </a:r>
            <a:r>
              <a:rPr lang="zh-CN" altLang="en-US" sz="4000" b="1" dirty="0"/>
              <a:t>：课后习题，第</a:t>
            </a:r>
            <a:r>
              <a:rPr lang="en-US" altLang="zh-CN" sz="4000" b="1" dirty="0"/>
              <a:t>4</a:t>
            </a:r>
            <a:r>
              <a:rPr lang="zh-CN" altLang="en-US" sz="4000" b="1" dirty="0"/>
              <a:t>、</a:t>
            </a:r>
            <a:r>
              <a:rPr lang="en-US" altLang="zh-CN" sz="4000" b="1" dirty="0"/>
              <a:t>5</a:t>
            </a:r>
            <a:r>
              <a:rPr lang="zh-CN" altLang="en-US" sz="4000" b="1" dirty="0"/>
              <a:t>题</a:t>
            </a:r>
            <a:endParaRPr lang="zh-CN" altLang="en-US" dirty="0"/>
          </a:p>
        </p:txBody>
      </p:sp>
      <p:sp>
        <p:nvSpPr>
          <p:cNvPr id="68610" name="内容占位符 2"/>
          <p:cNvSpPr>
            <a:spLocks noGrp="1"/>
          </p:cNvSpPr>
          <p:nvPr>
            <p:ph idx="1"/>
          </p:nvPr>
        </p:nvSpPr>
        <p:spPr>
          <a:ln/>
        </p:spPr>
        <p:txBody>
          <a:bodyPr vert="horz" wrap="square" lIns="91440" tIns="45720" rIns="91440" bIns="45720" anchor="t" anchorCtr="0"/>
          <a:p>
            <a:r>
              <a:rPr lang="zh-CN" altLang="en-US" dirty="0"/>
              <a:t>重做：有开始，有提交</a:t>
            </a:r>
            <a:endParaRPr lang="en-US" altLang="zh-CN" dirty="0"/>
          </a:p>
          <a:p>
            <a:r>
              <a:rPr lang="zh-CN" altLang="en-US" dirty="0"/>
              <a:t>撤销：有开始，无提交</a:t>
            </a:r>
            <a:endParaRPr lang="en-US" altLang="zh-CN" dirty="0"/>
          </a:p>
          <a:p>
            <a:endParaRPr lang="zh-CN" altLang="en-US" dirty="0"/>
          </a:p>
        </p:txBody>
      </p:sp>
    </p:spTree>
  </p:cSld>
  <p:clrMapOvr>
    <a:masterClrMapping/>
  </p:clrMapOvr>
  <p:transition advClick="0"/>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10.5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恢复策略</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69634" name="Rectangle 3"/>
          <p:cNvSpPr>
            <a:spLocks noGrp="1"/>
          </p:cNvSpPr>
          <p:nvPr>
            <p:ph idx="1"/>
          </p:nvPr>
        </p:nvSpPr>
        <p:spPr>
          <a:xfrm>
            <a:off x="755650" y="1828800"/>
            <a:ext cx="7931150" cy="4495800"/>
          </a:xfrm>
          <a:ln/>
        </p:spPr>
        <p:txBody>
          <a:bodyPr vert="horz" wrap="square" lIns="91440" tIns="45720" rIns="91440" bIns="45720" anchor="t" anchorCtr="0"/>
          <a:p>
            <a:pPr eaLnBrk="1" hangingPunct="1">
              <a:lnSpc>
                <a:spcPct val="180000"/>
              </a:lnSpc>
              <a:buNone/>
            </a:pPr>
            <a:r>
              <a:rPr lang="en-US" altLang="zh-CN" b="1" dirty="0"/>
              <a:t>10.5.1  </a:t>
            </a:r>
            <a:r>
              <a:rPr lang="zh-CN" altLang="en-US" b="1" dirty="0"/>
              <a:t>事务故障的恢复</a:t>
            </a:r>
            <a:endParaRPr lang="zh-CN" altLang="en-US" b="1" dirty="0"/>
          </a:p>
          <a:p>
            <a:pPr eaLnBrk="1" hangingPunct="1">
              <a:lnSpc>
                <a:spcPct val="180000"/>
              </a:lnSpc>
              <a:buNone/>
            </a:pPr>
            <a:r>
              <a:rPr lang="en-US" altLang="zh-CN" b="1" dirty="0"/>
              <a:t>10.5.2  </a:t>
            </a:r>
            <a:r>
              <a:rPr lang="zh-CN" altLang="en-US" b="1" dirty="0"/>
              <a:t>系统故障的恢复</a:t>
            </a:r>
            <a:endParaRPr lang="zh-CN" altLang="en-US" b="1" dirty="0"/>
          </a:p>
          <a:p>
            <a:pPr eaLnBrk="1" hangingPunct="1">
              <a:lnSpc>
                <a:spcPct val="180000"/>
              </a:lnSpc>
              <a:buNone/>
            </a:pPr>
            <a:r>
              <a:rPr lang="en-US" altLang="zh-CN" b="1" dirty="0">
                <a:solidFill>
                  <a:srgbClr val="3333FF"/>
                </a:solidFill>
              </a:rPr>
              <a:t>10.5.3  </a:t>
            </a:r>
            <a:r>
              <a:rPr lang="zh-CN" altLang="en-US" b="1" dirty="0">
                <a:solidFill>
                  <a:srgbClr val="3333FF"/>
                </a:solidFill>
              </a:rPr>
              <a:t>介质故障的恢复</a:t>
            </a:r>
            <a:endParaRPr lang="zh-CN" altLang="en-US" b="1" dirty="0">
              <a:solidFill>
                <a:srgbClr val="3333FF"/>
              </a:solidFill>
            </a:endParaRPr>
          </a:p>
          <a:p>
            <a:pPr eaLnBrk="1" hangingPunct="1">
              <a:buNone/>
            </a:pPr>
            <a:endParaRPr lang="en-US" altLang="zh-CN" b="1" dirty="0">
              <a:solidFill>
                <a:srgbClr val="3333FF"/>
              </a:solidFill>
            </a:endParaRPr>
          </a:p>
        </p:txBody>
      </p:sp>
    </p:spTree>
  </p:cSld>
  <p:clrMapOvr>
    <a:masterClrMapping/>
  </p:clrMapOvr>
  <p:transition advClick="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10.5.3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介质故障的恢复</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70658" name="Rectangle 3"/>
          <p:cNvSpPr>
            <a:spLocks noGrp="1"/>
          </p:cNvSpPr>
          <p:nvPr>
            <p:ph idx="1"/>
          </p:nvPr>
        </p:nvSpPr>
        <p:spPr>
          <a:ln/>
        </p:spPr>
        <p:txBody>
          <a:bodyPr vert="horz" wrap="square" lIns="91440" tIns="45720" rIns="91440" bIns="45720" anchor="t" anchorCtr="0"/>
          <a:p>
            <a:pPr marL="533400" indent="-533400" eaLnBrk="1" hangingPunct="1">
              <a:lnSpc>
                <a:spcPct val="190000"/>
              </a:lnSpc>
              <a:buNone/>
            </a:pPr>
            <a:r>
              <a:rPr lang="zh-CN" altLang="en-US" dirty="0"/>
              <a:t>发生介质故障后，磁盘上的物理数据和日志文件被破坏，只有用备份的数据进行恢复。</a:t>
            </a:r>
            <a:endParaRPr lang="en-US" altLang="zh-CN" dirty="0"/>
          </a:p>
          <a:p>
            <a:pPr marL="533400" indent="-533400" eaLnBrk="1" hangingPunct="1">
              <a:lnSpc>
                <a:spcPct val="190000"/>
              </a:lnSpc>
              <a:buNone/>
            </a:pPr>
            <a:r>
              <a:rPr lang="en-US" altLang="zh-CN" dirty="0"/>
              <a:t>1.</a:t>
            </a:r>
            <a:r>
              <a:rPr lang="zh-CN" altLang="en-US" dirty="0"/>
              <a:t>重装数据库</a:t>
            </a:r>
            <a:endParaRPr lang="zh-CN" altLang="en-US" dirty="0"/>
          </a:p>
          <a:p>
            <a:pPr marL="533400" indent="-533400" eaLnBrk="1" hangingPunct="1">
              <a:lnSpc>
                <a:spcPct val="190000"/>
              </a:lnSpc>
              <a:buNone/>
            </a:pPr>
            <a:r>
              <a:rPr lang="en-US" altLang="zh-CN" dirty="0"/>
              <a:t>2.</a:t>
            </a:r>
            <a:r>
              <a:rPr lang="zh-CN" altLang="en-US" dirty="0"/>
              <a:t>重做已完成的事务</a:t>
            </a:r>
            <a:endParaRPr lang="zh-CN" altLang="en-US" dirty="0"/>
          </a:p>
          <a:p>
            <a:pPr marL="533400" indent="-533400" eaLnBrk="1" hangingPunct="1"/>
            <a:endParaRPr lang="en-US" altLang="zh-CN" dirty="0"/>
          </a:p>
        </p:txBody>
      </p:sp>
    </p:spTree>
  </p:cSld>
  <p:clrMapOvr>
    <a:masterClrMapping/>
  </p:clrMapOvr>
  <p:transition advClick="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介质故障的恢复（续）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60420" name="Rectangle 3"/>
          <p:cNvSpPr>
            <a:spLocks noGrp="1" noChangeArrowheads="1"/>
          </p:cNvSpPr>
          <p:nvPr>
            <p:ph idx="1"/>
          </p:nvPr>
        </p:nvSpPr>
        <p:spPr>
          <a:xfrm>
            <a:off x="357188" y="1214438"/>
            <a:ext cx="8572500" cy="5000625"/>
          </a:xfrm>
        </p:spPr>
        <p:txBody>
          <a:bodyPr vert="horz" wrap="square" lIns="91440" tIns="45720" rIns="91440" bIns="45720" numCol="1" anchor="t" anchorCtr="0" compatLnSpc="1">
            <a:normAutofit lnSpcReduction="10000"/>
          </a:bodyPr>
          <a:lstStyle/>
          <a:p>
            <a:pPr marL="411480" marR="0" lvl="0" indent="-469900" algn="l" defTabSz="914400" rtl="0" eaLnBrk="1" fontAlgn="auto" latinLnBrk="0" hangingPunct="1">
              <a:lnSpc>
                <a:spcPct val="90000"/>
              </a:lnSpc>
              <a:spcBef>
                <a:spcPct val="20000"/>
              </a:spcBef>
              <a:spcAft>
                <a:spcPts val="0"/>
              </a:spcAft>
              <a:buClr>
                <a:schemeClr val="accent2"/>
              </a:buClr>
              <a:buSzTx/>
              <a:buFont typeface="Wingdings" panose="05000000000000000000"/>
              <a:buChar char=""/>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恢复步骤</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a:p>
            <a:pPr marL="411480" marR="0" lvl="0" indent="-469900" algn="l" defTabSz="914400" rtl="0" eaLnBrk="1" fontAlgn="auto" latinLnBrk="0" hangingPunct="1">
              <a:lnSpc>
                <a:spcPct val="140000"/>
              </a:lnSpc>
              <a:spcBef>
                <a:spcPct val="40000"/>
              </a:spcBef>
              <a:spcAft>
                <a:spcPts val="0"/>
              </a:spcAft>
              <a:buClr>
                <a:schemeClr val="accent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1.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装入最新的后备数据库副本</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离故障发生时刻最近的转储副本</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，使数据库恢复到最近一次转储时的一致性状态。</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cs"/>
            </a:endParaRPr>
          </a:p>
          <a:p>
            <a:pPr marL="740410" marR="0" lvl="1" indent="-436880" algn="l" defTabSz="914400" rtl="0" eaLnBrk="1" fontAlgn="auto" latinLnBrk="0" hangingPunct="1">
              <a:lnSpc>
                <a:spcPct val="140000"/>
              </a:lnSpc>
              <a:spcBef>
                <a:spcPct val="40000"/>
              </a:spcBef>
              <a:spcAft>
                <a:spcPts val="0"/>
              </a:spcAft>
              <a:buClr>
                <a:schemeClr val="accent2"/>
              </a:buClr>
              <a:buSzPct val="75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对于静态转储的数据库副本，装入后数据库即处于一致性状态</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ea"/>
            </a:endParaRPr>
          </a:p>
          <a:p>
            <a:pPr marL="740410" marR="0" lvl="1" indent="-436880" algn="l" defTabSz="914400" rtl="0" eaLnBrk="1" fontAlgn="auto" latinLnBrk="0" hangingPunct="1">
              <a:lnSpc>
                <a:spcPct val="140000"/>
              </a:lnSpc>
              <a:spcBef>
                <a:spcPct val="40000"/>
              </a:spcBef>
              <a:spcAft>
                <a:spcPts val="0"/>
              </a:spcAft>
              <a:buClr>
                <a:schemeClr val="accent2"/>
              </a:buClr>
              <a:buSzPct val="75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对于动态转储的数据库副本，还须同时装入转储时刻的日志文件副本，利用与恢复系统故障的方法（即</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ea"/>
              </a:rPr>
              <a:t>REDO+UNDO</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），才能将数据库恢复到一致性状态。</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ea"/>
            </a:endParaRPr>
          </a:p>
        </p:txBody>
      </p:sp>
    </p:spTree>
  </p:cSld>
  <p:clrMapOvr>
    <a:masterClrMapping/>
  </p:clrMapOvr>
  <p:transition advClick="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介质故障的恢复（续）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72706" name="Rectangle 3"/>
          <p:cNvSpPr>
            <a:spLocks noGrp="1"/>
          </p:cNvSpPr>
          <p:nvPr>
            <p:ph idx="1"/>
          </p:nvPr>
        </p:nvSpPr>
        <p:spPr>
          <a:xfrm>
            <a:off x="571500" y="1214438"/>
            <a:ext cx="8137525" cy="4114800"/>
          </a:xfrm>
          <a:ln/>
        </p:spPr>
        <p:txBody>
          <a:bodyPr vert="horz" wrap="square" lIns="91440" tIns="45720" rIns="91440" bIns="45720" anchor="t" anchorCtr="0"/>
          <a:p>
            <a:pPr eaLnBrk="1" hangingPunct="1">
              <a:lnSpc>
                <a:spcPct val="130000"/>
              </a:lnSpc>
              <a:buNone/>
            </a:pPr>
            <a:r>
              <a:rPr lang="en-US" altLang="zh-CN" sz="2800" dirty="0"/>
              <a:t>2. </a:t>
            </a:r>
            <a:r>
              <a:rPr lang="zh-CN" altLang="en-US" sz="2800" dirty="0"/>
              <a:t>装入有关的日志文件副本</a:t>
            </a:r>
            <a:r>
              <a:rPr lang="en-US" altLang="zh-CN" sz="2800" dirty="0"/>
              <a:t>(</a:t>
            </a:r>
            <a:r>
              <a:rPr lang="zh-CN" altLang="en-US" sz="2800" dirty="0"/>
              <a:t>转储结束时刻的日志文件副本</a:t>
            </a:r>
            <a:r>
              <a:rPr lang="en-US" altLang="zh-CN" sz="2800" dirty="0"/>
              <a:t>) </a:t>
            </a:r>
            <a:r>
              <a:rPr lang="zh-CN" altLang="en-US" sz="2800" dirty="0"/>
              <a:t>，重做已完成的事务。</a:t>
            </a:r>
            <a:endParaRPr lang="zh-CN" altLang="en-US" sz="2800" dirty="0"/>
          </a:p>
          <a:p>
            <a:pPr lvl="1" indent="-436245" eaLnBrk="1" hangingPunct="1">
              <a:lnSpc>
                <a:spcPct val="130000"/>
              </a:lnSpc>
              <a:spcBef>
                <a:spcPct val="50000"/>
              </a:spcBef>
            </a:pPr>
            <a:r>
              <a:rPr lang="zh-CN" altLang="en-US" sz="2400" dirty="0"/>
              <a:t>首先扫描日志文件，找出故障发生时</a:t>
            </a:r>
            <a:r>
              <a:rPr lang="zh-CN" altLang="en-US" sz="2400" b="1" dirty="0">
                <a:solidFill>
                  <a:srgbClr val="FF0000"/>
                </a:solidFill>
              </a:rPr>
              <a:t>已提交</a:t>
            </a:r>
            <a:r>
              <a:rPr lang="zh-CN" altLang="en-US" sz="2400" dirty="0"/>
              <a:t>的事务的标识，将其记入</a:t>
            </a:r>
            <a:r>
              <a:rPr lang="zh-CN" altLang="en-US" sz="2400" b="1" dirty="0">
                <a:solidFill>
                  <a:srgbClr val="FF0000"/>
                </a:solidFill>
              </a:rPr>
              <a:t>重做</a:t>
            </a:r>
            <a:r>
              <a:rPr lang="zh-CN" altLang="en-US" sz="2400" dirty="0"/>
              <a:t>队列。</a:t>
            </a:r>
            <a:endParaRPr lang="zh-CN" altLang="en-US" sz="2400" dirty="0"/>
          </a:p>
          <a:p>
            <a:pPr lvl="1" indent="-436245" eaLnBrk="1" hangingPunct="1">
              <a:lnSpc>
                <a:spcPct val="130000"/>
              </a:lnSpc>
              <a:spcBef>
                <a:spcPct val="50000"/>
              </a:spcBef>
            </a:pPr>
            <a:r>
              <a:rPr lang="zh-CN" altLang="en-US" sz="2400" dirty="0"/>
              <a:t>然后正向扫描日志文件，对重做队列中的所有事务进行重做处理。即将日志记录中“更新后的值”写入数据库。</a:t>
            </a:r>
            <a:endParaRPr lang="zh-CN" altLang="en-US" sz="2400" dirty="0"/>
          </a:p>
        </p:txBody>
      </p:sp>
    </p:spTree>
  </p:cSld>
  <p:clrMapOvr>
    <a:masterClrMapping/>
  </p:clrMapOvr>
  <p:transition advClick="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介质故障的恢复（续）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73730" name="Rectangle 3"/>
          <p:cNvSpPr>
            <a:spLocks noGrp="1"/>
          </p:cNvSpPr>
          <p:nvPr>
            <p:ph idx="1"/>
          </p:nvPr>
        </p:nvSpPr>
        <p:spPr>
          <a:ln/>
        </p:spPr>
        <p:txBody>
          <a:bodyPr vert="horz" wrap="square" lIns="91440" tIns="45720" rIns="91440" bIns="45720" anchor="t" anchorCtr="0"/>
          <a:p>
            <a:pPr eaLnBrk="1" hangingPunct="1">
              <a:lnSpc>
                <a:spcPct val="140000"/>
              </a:lnSpc>
              <a:buNone/>
            </a:pPr>
            <a:r>
              <a:rPr lang="zh-CN" altLang="en-US" dirty="0"/>
              <a:t>介质故障的恢复</a:t>
            </a:r>
            <a:r>
              <a:rPr lang="zh-CN" altLang="en-US" b="1" dirty="0">
                <a:solidFill>
                  <a:srgbClr val="0000FF"/>
                </a:solidFill>
              </a:rPr>
              <a:t>需要</a:t>
            </a:r>
            <a:r>
              <a:rPr lang="en-US" altLang="zh-CN" b="1" dirty="0">
                <a:solidFill>
                  <a:srgbClr val="0000FF"/>
                </a:solidFill>
              </a:rPr>
              <a:t>DBA</a:t>
            </a:r>
            <a:r>
              <a:rPr lang="zh-CN" altLang="en-US" b="1" dirty="0">
                <a:solidFill>
                  <a:srgbClr val="0000FF"/>
                </a:solidFill>
              </a:rPr>
              <a:t>介入</a:t>
            </a:r>
            <a:endParaRPr lang="zh-CN" altLang="en-US" b="1" dirty="0">
              <a:solidFill>
                <a:srgbClr val="0000FF"/>
              </a:solidFill>
            </a:endParaRPr>
          </a:p>
          <a:p>
            <a:pPr eaLnBrk="1" hangingPunct="1">
              <a:lnSpc>
                <a:spcPct val="140000"/>
              </a:lnSpc>
              <a:spcBef>
                <a:spcPct val="40000"/>
              </a:spcBef>
            </a:pPr>
            <a:r>
              <a:rPr lang="en-US" altLang="zh-CN" sz="2800" dirty="0"/>
              <a:t>DBA</a:t>
            </a:r>
            <a:r>
              <a:rPr lang="zh-CN" altLang="en-US" sz="2800" dirty="0"/>
              <a:t>的工作</a:t>
            </a:r>
            <a:endParaRPr lang="zh-CN" altLang="en-US" sz="2800" dirty="0"/>
          </a:p>
          <a:p>
            <a:pPr lvl="1" indent="-436245" eaLnBrk="1" hangingPunct="1">
              <a:lnSpc>
                <a:spcPct val="140000"/>
              </a:lnSpc>
              <a:spcBef>
                <a:spcPct val="40000"/>
              </a:spcBef>
            </a:pPr>
            <a:r>
              <a:rPr lang="zh-CN" altLang="en-US" dirty="0"/>
              <a:t>重装最近转储的</a:t>
            </a:r>
            <a:r>
              <a:rPr lang="zh-CN" altLang="en-US" b="1" dirty="0">
                <a:solidFill>
                  <a:srgbClr val="0000FF"/>
                </a:solidFill>
              </a:rPr>
              <a:t>数据库副本</a:t>
            </a:r>
            <a:r>
              <a:rPr lang="zh-CN" altLang="en-US" dirty="0"/>
              <a:t>和有关的</a:t>
            </a:r>
            <a:r>
              <a:rPr lang="zh-CN" altLang="en-US" b="1" dirty="0">
                <a:solidFill>
                  <a:srgbClr val="0000FF"/>
                </a:solidFill>
              </a:rPr>
              <a:t>各日志文件副本</a:t>
            </a:r>
            <a:endParaRPr lang="zh-CN" altLang="en-US" b="1" dirty="0">
              <a:solidFill>
                <a:srgbClr val="0000FF"/>
              </a:solidFill>
            </a:endParaRPr>
          </a:p>
          <a:p>
            <a:pPr lvl="1" indent="-436245" eaLnBrk="1" hangingPunct="1">
              <a:lnSpc>
                <a:spcPct val="140000"/>
              </a:lnSpc>
              <a:spcBef>
                <a:spcPct val="40000"/>
              </a:spcBef>
            </a:pPr>
            <a:r>
              <a:rPr lang="zh-CN" altLang="en-US" dirty="0"/>
              <a:t>执行系统提供的</a:t>
            </a:r>
            <a:r>
              <a:rPr lang="zh-CN" altLang="en-US" b="1" dirty="0">
                <a:solidFill>
                  <a:srgbClr val="0000FF"/>
                </a:solidFill>
              </a:rPr>
              <a:t>恢复命令</a:t>
            </a:r>
            <a:endParaRPr lang="zh-CN" altLang="en-US" b="1" dirty="0">
              <a:solidFill>
                <a:srgbClr val="0000FF"/>
              </a:solidFill>
            </a:endParaRPr>
          </a:p>
          <a:p>
            <a:pPr eaLnBrk="1" hangingPunct="1">
              <a:lnSpc>
                <a:spcPct val="140000"/>
              </a:lnSpc>
              <a:spcBef>
                <a:spcPct val="40000"/>
              </a:spcBef>
            </a:pPr>
            <a:r>
              <a:rPr lang="zh-CN" altLang="en-US" sz="2800" dirty="0"/>
              <a:t>具体的恢复操作仍由</a:t>
            </a:r>
            <a:r>
              <a:rPr lang="en-US" altLang="zh-CN" sz="2800" dirty="0"/>
              <a:t>DBMS</a:t>
            </a:r>
            <a:r>
              <a:rPr lang="zh-CN" altLang="en-US" sz="2800" dirty="0"/>
              <a:t>完成</a:t>
            </a:r>
            <a:endParaRPr lang="zh-CN" altLang="en-US" sz="3200" dirty="0"/>
          </a:p>
        </p:txBody>
      </p:sp>
    </p:spTree>
  </p:cSld>
  <p:clrMapOvr>
    <a:masterClrMapping/>
  </p:clrMapOvr>
  <p:transition advClick="0"/>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第十章  数据库恢复技术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74754" name="Rectangle 3"/>
          <p:cNvSpPr>
            <a:spLocks noGrp="1"/>
          </p:cNvSpPr>
          <p:nvPr>
            <p:ph idx="1"/>
          </p:nvPr>
        </p:nvSpPr>
        <p:spPr>
          <a:xfrm>
            <a:off x="714375" y="1285875"/>
            <a:ext cx="8002588" cy="4495800"/>
          </a:xfrm>
          <a:ln/>
        </p:spPr>
        <p:txBody>
          <a:bodyPr vert="horz" wrap="square" lIns="91440" tIns="45720" rIns="91440" bIns="45720" anchor="t" anchorCtr="0"/>
          <a:p>
            <a:pPr marL="411480" indent="-470535" eaLnBrk="1" hangingPunct="1">
              <a:lnSpc>
                <a:spcPct val="130000"/>
              </a:lnSpc>
              <a:buNone/>
            </a:pPr>
            <a:r>
              <a:rPr lang="en-US" altLang="zh-CN" sz="2400" b="1" dirty="0"/>
              <a:t>10.1  </a:t>
            </a:r>
            <a:r>
              <a:rPr lang="zh-CN" altLang="en-US" sz="2400" b="1" dirty="0"/>
              <a:t>事务的基本概念</a:t>
            </a:r>
            <a:endParaRPr lang="zh-CN" altLang="en-US" sz="2400" b="1" dirty="0"/>
          </a:p>
          <a:p>
            <a:pPr marL="411480" indent="-470535" eaLnBrk="1" hangingPunct="1">
              <a:lnSpc>
                <a:spcPct val="130000"/>
              </a:lnSpc>
              <a:buNone/>
            </a:pPr>
            <a:r>
              <a:rPr lang="en-US" altLang="zh-CN" sz="2400" b="1" dirty="0"/>
              <a:t>10.2  </a:t>
            </a:r>
            <a:r>
              <a:rPr lang="zh-CN" altLang="en-US" sz="2400" b="1" dirty="0"/>
              <a:t>数据库恢复概述</a:t>
            </a:r>
            <a:endParaRPr lang="zh-CN" altLang="en-US" sz="2400" b="1" dirty="0"/>
          </a:p>
          <a:p>
            <a:pPr marL="411480" indent="-470535" eaLnBrk="1" hangingPunct="1">
              <a:lnSpc>
                <a:spcPct val="130000"/>
              </a:lnSpc>
              <a:buNone/>
            </a:pPr>
            <a:r>
              <a:rPr lang="en-US" altLang="zh-CN" sz="2400" b="1" dirty="0"/>
              <a:t>10.3  </a:t>
            </a:r>
            <a:r>
              <a:rPr lang="zh-CN" altLang="en-US" sz="2400" b="1" dirty="0"/>
              <a:t>故障的种类</a:t>
            </a:r>
            <a:endParaRPr lang="zh-CN" altLang="en-US" sz="2400" b="1" dirty="0"/>
          </a:p>
          <a:p>
            <a:pPr marL="411480" indent="-470535" eaLnBrk="1" hangingPunct="1">
              <a:lnSpc>
                <a:spcPct val="130000"/>
              </a:lnSpc>
              <a:buNone/>
            </a:pPr>
            <a:r>
              <a:rPr lang="en-US" altLang="zh-CN" sz="2400" b="1" dirty="0"/>
              <a:t>10.4  </a:t>
            </a:r>
            <a:r>
              <a:rPr lang="zh-CN" altLang="en-US" sz="2400" b="1" dirty="0"/>
              <a:t>恢复的实现技术</a:t>
            </a:r>
            <a:endParaRPr lang="zh-CN" altLang="en-US" sz="2400" b="1" dirty="0"/>
          </a:p>
          <a:p>
            <a:pPr marL="411480" indent="-470535" eaLnBrk="1" hangingPunct="1">
              <a:lnSpc>
                <a:spcPct val="130000"/>
              </a:lnSpc>
              <a:buNone/>
            </a:pPr>
            <a:r>
              <a:rPr lang="en-US" altLang="zh-CN" sz="2400" b="1" dirty="0"/>
              <a:t>10.5  </a:t>
            </a:r>
            <a:r>
              <a:rPr lang="zh-CN" altLang="en-US" sz="2400" b="1" dirty="0"/>
              <a:t>恢复策略</a:t>
            </a:r>
            <a:endParaRPr lang="zh-CN" altLang="en-US" sz="2400" b="1" dirty="0"/>
          </a:p>
          <a:p>
            <a:pPr marL="411480" indent="-470535" eaLnBrk="1" hangingPunct="1">
              <a:lnSpc>
                <a:spcPct val="130000"/>
              </a:lnSpc>
              <a:buNone/>
            </a:pPr>
            <a:r>
              <a:rPr lang="en-US" altLang="zh-CN" sz="2400" b="1" dirty="0">
                <a:solidFill>
                  <a:srgbClr val="009900"/>
                </a:solidFill>
              </a:rPr>
              <a:t>10.6  </a:t>
            </a:r>
            <a:r>
              <a:rPr lang="zh-CN" altLang="en-US" sz="2400" b="1" dirty="0">
                <a:solidFill>
                  <a:srgbClr val="009900"/>
                </a:solidFill>
              </a:rPr>
              <a:t>具有检查点的恢复技术</a:t>
            </a:r>
            <a:endParaRPr lang="zh-CN" altLang="en-US" sz="2400" b="1" dirty="0">
              <a:solidFill>
                <a:srgbClr val="009900"/>
              </a:solidFill>
            </a:endParaRPr>
          </a:p>
          <a:p>
            <a:pPr marL="411480" indent="-470535" eaLnBrk="1" hangingPunct="1">
              <a:lnSpc>
                <a:spcPct val="130000"/>
              </a:lnSpc>
              <a:buNone/>
            </a:pPr>
            <a:r>
              <a:rPr lang="en-US" altLang="zh-CN" sz="2400" b="1" dirty="0"/>
              <a:t>10.7  </a:t>
            </a:r>
            <a:r>
              <a:rPr lang="zh-CN" altLang="en-US" sz="2400" b="1" dirty="0"/>
              <a:t>数据库镜像</a:t>
            </a:r>
            <a:endParaRPr lang="zh-CN" altLang="en-US" sz="2400" b="1" dirty="0"/>
          </a:p>
          <a:p>
            <a:pPr marL="411480" indent="-470535" eaLnBrk="1" hangingPunct="1">
              <a:lnSpc>
                <a:spcPct val="130000"/>
              </a:lnSpc>
              <a:buNone/>
            </a:pPr>
            <a:r>
              <a:rPr lang="en-US" altLang="zh-CN" sz="2400" b="1" dirty="0"/>
              <a:t>10.8    </a:t>
            </a:r>
            <a:r>
              <a:rPr lang="zh-CN" altLang="en-US" sz="2400" b="1" dirty="0"/>
              <a:t>小结</a:t>
            </a:r>
            <a:endParaRPr lang="zh-CN" altLang="en-US" sz="2400" b="1" dirty="0"/>
          </a:p>
        </p:txBody>
      </p:sp>
    </p:spTree>
  </p:cSld>
  <p:clrMapOvr>
    <a:masterClrMapping/>
  </p:clrMapOvr>
  <p:transition advClick="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10.6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具有检查点的恢复技术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75778" name="Rectangle 3"/>
          <p:cNvSpPr>
            <a:spLocks noGrp="1"/>
          </p:cNvSpPr>
          <p:nvPr>
            <p:ph idx="1"/>
          </p:nvPr>
        </p:nvSpPr>
        <p:spPr>
          <a:ln/>
        </p:spPr>
        <p:txBody>
          <a:bodyPr vert="horz" wrap="square" lIns="91440" tIns="45720" rIns="91440" bIns="45720" anchor="t" anchorCtr="0"/>
          <a:p>
            <a:pPr eaLnBrk="1" hangingPunct="1">
              <a:lnSpc>
                <a:spcPct val="160000"/>
              </a:lnSpc>
              <a:buNone/>
            </a:pPr>
            <a:r>
              <a:rPr lang="zh-CN" altLang="en-US" b="1" dirty="0">
                <a:solidFill>
                  <a:srgbClr val="FF0000"/>
                </a:solidFill>
              </a:rPr>
              <a:t>一、问题的提出</a:t>
            </a:r>
            <a:endParaRPr lang="zh-CN" altLang="en-US" b="1" dirty="0">
              <a:solidFill>
                <a:srgbClr val="FF0000"/>
              </a:solidFill>
            </a:endParaRPr>
          </a:p>
          <a:p>
            <a:pPr eaLnBrk="1" hangingPunct="1">
              <a:lnSpc>
                <a:spcPct val="160000"/>
              </a:lnSpc>
              <a:buNone/>
            </a:pPr>
            <a:r>
              <a:rPr lang="zh-CN" altLang="en-US" dirty="0"/>
              <a:t>二、检查点技术</a:t>
            </a:r>
            <a:endParaRPr lang="zh-CN" altLang="en-US" dirty="0"/>
          </a:p>
          <a:p>
            <a:pPr eaLnBrk="1" hangingPunct="1">
              <a:lnSpc>
                <a:spcPct val="160000"/>
              </a:lnSpc>
              <a:buNone/>
            </a:pPr>
            <a:r>
              <a:rPr lang="zh-CN" altLang="en-US" dirty="0"/>
              <a:t>三、利用检查点的恢复策略</a:t>
            </a:r>
            <a:endParaRPr lang="zh-CN" altLang="en-US" dirty="0"/>
          </a:p>
        </p:txBody>
      </p:sp>
    </p:spTree>
  </p:cSld>
  <p:clrMapOvr>
    <a:masterClrMapping/>
  </p:clrMapOvr>
  <p:transition advClick="0"/>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rPr>
              <a:t>一、问题的提出</a:t>
            </a:r>
            <a:endPar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endParaRPr>
          </a:p>
        </p:txBody>
      </p:sp>
      <p:sp>
        <p:nvSpPr>
          <p:cNvPr id="76802" name="Rectangle 3"/>
          <p:cNvSpPr>
            <a:spLocks noGrp="1"/>
          </p:cNvSpPr>
          <p:nvPr>
            <p:ph idx="1"/>
          </p:nvPr>
        </p:nvSpPr>
        <p:spPr>
          <a:xfrm>
            <a:off x="285750" y="1214438"/>
            <a:ext cx="8572500" cy="4786312"/>
          </a:xfrm>
          <a:ln/>
        </p:spPr>
        <p:txBody>
          <a:bodyPr vert="horz" wrap="square" lIns="91440" tIns="45720" rIns="91440" bIns="45720" anchor="t" anchorCtr="0"/>
          <a:p>
            <a:pPr eaLnBrk="1" hangingPunct="1"/>
            <a:r>
              <a:rPr lang="zh-CN" altLang="en-US" dirty="0"/>
              <a:t>利用日志文件进行数据库恢复是，恢复子系统必须搜索日志，确定哪些事务需要重做，哪些事务需要撤销。一般来说需要</a:t>
            </a:r>
            <a:r>
              <a:rPr lang="zh-CN" altLang="en-US" dirty="0">
                <a:solidFill>
                  <a:srgbClr val="FF0000"/>
                </a:solidFill>
              </a:rPr>
              <a:t>检查所有日志</a:t>
            </a:r>
            <a:r>
              <a:rPr lang="zh-CN" altLang="en-US" dirty="0"/>
              <a:t>。</a:t>
            </a:r>
            <a:endParaRPr lang="en-US" altLang="zh-CN" dirty="0"/>
          </a:p>
          <a:p>
            <a:pPr eaLnBrk="1" hangingPunct="1"/>
            <a:r>
              <a:rPr lang="zh-CN" altLang="en-US" dirty="0"/>
              <a:t>两个问题</a:t>
            </a:r>
            <a:endParaRPr lang="zh-CN" altLang="en-US" dirty="0"/>
          </a:p>
          <a:p>
            <a:pPr lvl="1" indent="-436245" eaLnBrk="1" hangingPunct="1">
              <a:lnSpc>
                <a:spcPct val="170000"/>
              </a:lnSpc>
            </a:pPr>
            <a:r>
              <a:rPr lang="zh-CN" altLang="en-US" b="1" dirty="0">
                <a:solidFill>
                  <a:srgbClr val="FF0000"/>
                </a:solidFill>
              </a:rPr>
              <a:t>搜索整个日志</a:t>
            </a:r>
            <a:r>
              <a:rPr lang="zh-CN" altLang="en-US" dirty="0"/>
              <a:t>将耗费大量的时间</a:t>
            </a:r>
            <a:endParaRPr lang="zh-CN" altLang="en-US" dirty="0"/>
          </a:p>
          <a:p>
            <a:pPr lvl="1" indent="-436245" eaLnBrk="1" hangingPunct="1">
              <a:lnSpc>
                <a:spcPct val="170000"/>
              </a:lnSpc>
            </a:pPr>
            <a:r>
              <a:rPr lang="en-US" altLang="zh-CN" dirty="0"/>
              <a:t>REDO</a:t>
            </a:r>
            <a:r>
              <a:rPr lang="zh-CN" altLang="en-US" dirty="0"/>
              <a:t>处理：重新执行，浪费了大量时间</a:t>
            </a:r>
            <a:endParaRPr lang="en-US" altLang="zh-CN" dirty="0"/>
          </a:p>
          <a:p>
            <a:pPr eaLnBrk="1" hangingPunct="1">
              <a:lnSpc>
                <a:spcPct val="170000"/>
              </a:lnSpc>
            </a:pPr>
            <a:r>
              <a:rPr lang="zh-CN" altLang="en-US" b="1" dirty="0">
                <a:solidFill>
                  <a:srgbClr val="FF0000"/>
                </a:solidFill>
              </a:rPr>
              <a:t>恢复的速度</a:t>
            </a:r>
            <a:r>
              <a:rPr lang="zh-CN" altLang="en-US" dirty="0"/>
              <a:t>也是衡量</a:t>
            </a:r>
            <a:r>
              <a:rPr lang="en-US" altLang="zh-CN" dirty="0"/>
              <a:t>DBMS</a:t>
            </a:r>
            <a:r>
              <a:rPr lang="zh-CN" altLang="en-US" dirty="0"/>
              <a:t>的性能的重要指标</a:t>
            </a:r>
            <a:endParaRPr lang="zh-CN" altLang="en-US" dirty="0"/>
          </a:p>
        </p:txBody>
      </p:sp>
    </p:spTree>
  </p:cSld>
  <p:clrMapOvr>
    <a:masterClrMapping/>
  </p:clrMapOvr>
  <p:transition advClick="0"/>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7825" name="Group 36"/>
          <p:cNvGrpSpPr/>
          <p:nvPr/>
        </p:nvGrpSpPr>
        <p:grpSpPr>
          <a:xfrm>
            <a:off x="739775" y="1428750"/>
            <a:ext cx="7664450" cy="3984625"/>
            <a:chOff x="930" y="1071"/>
            <a:chExt cx="4320" cy="3084"/>
          </a:xfrm>
        </p:grpSpPr>
        <p:sp>
          <p:nvSpPr>
            <p:cNvPr id="77826" name="Freeform 5"/>
            <p:cNvSpPr/>
            <p:nvPr/>
          </p:nvSpPr>
          <p:spPr>
            <a:xfrm>
              <a:off x="2043" y="1453"/>
              <a:ext cx="1" cy="2278"/>
            </a:xfrm>
            <a:custGeom>
              <a:avLst/>
              <a:gdLst/>
              <a:ahLst/>
              <a:cxnLst>
                <a:cxn ang="0">
                  <a:pos x="0" y="0"/>
                </a:cxn>
                <a:cxn ang="0">
                  <a:pos x="0" y="623"/>
                </a:cxn>
              </a:cxnLst>
              <a:pathLst>
                <a:path w="3" h="2423">
                  <a:moveTo>
                    <a:pt x="0" y="0"/>
                  </a:moveTo>
                  <a:lnTo>
                    <a:pt x="3" y="2423"/>
                  </a:lnTo>
                </a:path>
              </a:pathLst>
            </a:custGeom>
            <a:noFill/>
            <a:ln w="6350" cap="flat" cmpd="sng">
              <a:solidFill>
                <a:srgbClr val="000000"/>
              </a:solidFill>
              <a:prstDash val="solid"/>
              <a:round/>
              <a:headEnd type="none" w="med" len="med"/>
              <a:tailEnd type="none" w="med" len="med"/>
            </a:ln>
          </p:spPr>
          <p:txBody>
            <a:bodyPr/>
            <a:p>
              <a:endParaRPr lang="zh-CN" altLang="en-US"/>
            </a:p>
          </p:txBody>
        </p:sp>
        <p:sp>
          <p:nvSpPr>
            <p:cNvPr id="77827" name="Freeform 6"/>
            <p:cNvSpPr/>
            <p:nvPr/>
          </p:nvSpPr>
          <p:spPr>
            <a:xfrm>
              <a:off x="4069" y="1466"/>
              <a:ext cx="0" cy="2280"/>
            </a:xfrm>
            <a:custGeom>
              <a:avLst/>
              <a:gdLst/>
              <a:ahLst/>
              <a:cxnLst>
                <a:cxn ang="0">
                  <a:pos x="0" y="0"/>
                </a:cxn>
                <a:cxn ang="0">
                  <a:pos x="0" y="636"/>
                </a:cxn>
              </a:cxnLst>
              <a:pathLst>
                <a:path w="1" h="2423">
                  <a:moveTo>
                    <a:pt x="0" y="0"/>
                  </a:moveTo>
                  <a:lnTo>
                    <a:pt x="1" y="2423"/>
                  </a:lnTo>
                </a:path>
              </a:pathLst>
            </a:custGeom>
            <a:noFill/>
            <a:ln w="6350" cap="flat" cmpd="sng">
              <a:solidFill>
                <a:srgbClr val="000000"/>
              </a:solidFill>
              <a:prstDash val="solid"/>
              <a:round/>
              <a:headEnd type="none" w="med" len="med"/>
              <a:tailEnd type="none" w="med" len="med"/>
            </a:ln>
          </p:spPr>
          <p:txBody>
            <a:bodyPr/>
            <a:p>
              <a:endParaRPr lang="zh-CN" altLang="en-US"/>
            </a:p>
          </p:txBody>
        </p:sp>
        <p:sp>
          <p:nvSpPr>
            <p:cNvPr id="77828" name="Freeform 7"/>
            <p:cNvSpPr/>
            <p:nvPr/>
          </p:nvSpPr>
          <p:spPr>
            <a:xfrm>
              <a:off x="1059" y="2423"/>
              <a:ext cx="1260" cy="1"/>
            </a:xfrm>
            <a:custGeom>
              <a:avLst/>
              <a:gdLst/>
              <a:ahLst/>
              <a:cxnLst>
                <a:cxn ang="0">
                  <a:pos x="0" y="0"/>
                </a:cxn>
                <a:cxn ang="0">
                  <a:pos x="5363" y="0"/>
                </a:cxn>
              </a:cxnLst>
              <a:pathLst>
                <a:path w="1176" h="1">
                  <a:moveTo>
                    <a:pt x="0" y="0"/>
                  </a:moveTo>
                  <a:lnTo>
                    <a:pt x="1176"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29" name="Freeform 8"/>
            <p:cNvSpPr/>
            <p:nvPr/>
          </p:nvSpPr>
          <p:spPr>
            <a:xfrm>
              <a:off x="1063" y="2308"/>
              <a:ext cx="1" cy="98"/>
            </a:xfrm>
            <a:custGeom>
              <a:avLst/>
              <a:gdLst/>
              <a:ahLst/>
              <a:cxnLst>
                <a:cxn ang="0">
                  <a:pos x="0" y="0"/>
                </a:cxn>
                <a:cxn ang="0">
                  <a:pos x="0" y="23"/>
                </a:cxn>
              </a:cxnLst>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30" name="Freeform 9"/>
            <p:cNvSpPr/>
            <p:nvPr/>
          </p:nvSpPr>
          <p:spPr>
            <a:xfrm>
              <a:off x="2306" y="2278"/>
              <a:ext cx="1" cy="145"/>
            </a:xfrm>
            <a:custGeom>
              <a:avLst/>
              <a:gdLst/>
              <a:ahLst/>
              <a:cxnLst>
                <a:cxn ang="0">
                  <a:pos x="0" y="0"/>
                </a:cxn>
                <a:cxn ang="0">
                  <a:pos x="0" y="7689"/>
                </a:cxn>
              </a:cxnLst>
              <a:pathLst>
                <a:path w="1" h="120">
                  <a:moveTo>
                    <a:pt x="0" y="0"/>
                  </a:moveTo>
                  <a:lnTo>
                    <a:pt x="0" y="12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31" name="Line 10"/>
            <p:cNvSpPr/>
            <p:nvPr/>
          </p:nvSpPr>
          <p:spPr>
            <a:xfrm>
              <a:off x="1444" y="2792"/>
              <a:ext cx="2622" cy="0"/>
            </a:xfrm>
            <a:prstGeom prst="line">
              <a:avLst/>
            </a:prstGeom>
            <a:ln w="9525" cap="flat" cmpd="sng">
              <a:solidFill>
                <a:srgbClr val="000000"/>
              </a:solidFill>
              <a:prstDash val="solid"/>
              <a:round/>
              <a:headEnd type="none" w="med" len="med"/>
              <a:tailEnd type="none" w="med" len="med"/>
            </a:ln>
          </p:spPr>
        </p:sp>
        <p:sp>
          <p:nvSpPr>
            <p:cNvPr id="77832" name="Line 11"/>
            <p:cNvSpPr/>
            <p:nvPr/>
          </p:nvSpPr>
          <p:spPr>
            <a:xfrm>
              <a:off x="4066" y="2792"/>
              <a:ext cx="579" cy="0"/>
            </a:xfrm>
            <a:prstGeom prst="line">
              <a:avLst/>
            </a:prstGeom>
            <a:ln w="9525" cap="flat" cmpd="sng">
              <a:solidFill>
                <a:srgbClr val="000000"/>
              </a:solidFill>
              <a:prstDash val="dash"/>
              <a:round/>
              <a:headEnd type="none" w="med" len="med"/>
              <a:tailEnd type="none" w="med" len="med"/>
            </a:ln>
          </p:spPr>
        </p:sp>
        <p:sp>
          <p:nvSpPr>
            <p:cNvPr id="77833" name="Freeform 12"/>
            <p:cNvSpPr/>
            <p:nvPr/>
          </p:nvSpPr>
          <p:spPr>
            <a:xfrm>
              <a:off x="4645" y="2687"/>
              <a:ext cx="1" cy="104"/>
            </a:xfrm>
            <a:custGeom>
              <a:avLst/>
              <a:gdLst/>
              <a:ahLst/>
              <a:cxnLst>
                <a:cxn ang="0">
                  <a:pos x="0" y="0"/>
                </a:cxn>
                <a:cxn ang="0">
                  <a:pos x="0" y="27"/>
                </a:cxn>
              </a:cxnLst>
              <a:pathLst>
                <a:path w="1" h="111">
                  <a:moveTo>
                    <a:pt x="0" y="0"/>
                  </a:moveTo>
                  <a:lnTo>
                    <a:pt x="0" y="111"/>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34" name="Line 13"/>
            <p:cNvSpPr/>
            <p:nvPr/>
          </p:nvSpPr>
          <p:spPr>
            <a:xfrm>
              <a:off x="1446" y="2682"/>
              <a:ext cx="0" cy="114"/>
            </a:xfrm>
            <a:prstGeom prst="line">
              <a:avLst/>
            </a:prstGeom>
            <a:ln w="9525" cap="flat" cmpd="sng">
              <a:solidFill>
                <a:srgbClr val="000000"/>
              </a:solidFill>
              <a:prstDash val="solid"/>
              <a:round/>
              <a:headEnd type="none" w="med" len="med"/>
              <a:tailEnd type="none" w="med" len="med"/>
            </a:ln>
          </p:spPr>
        </p:sp>
        <p:sp>
          <p:nvSpPr>
            <p:cNvPr id="77835" name="Freeform 14"/>
            <p:cNvSpPr/>
            <p:nvPr/>
          </p:nvSpPr>
          <p:spPr>
            <a:xfrm>
              <a:off x="2159" y="3197"/>
              <a:ext cx="1109" cy="5"/>
            </a:xfrm>
            <a:custGeom>
              <a:avLst/>
              <a:gdLst/>
              <a:ahLst/>
              <a:cxnLst>
                <a:cxn ang="0">
                  <a:pos x="0" y="5"/>
                </a:cxn>
                <a:cxn ang="0">
                  <a:pos x="4" y="0"/>
                </a:cxn>
              </a:cxnLst>
              <a:pathLst>
                <a:path w="1465" h="5">
                  <a:moveTo>
                    <a:pt x="0" y="5"/>
                  </a:moveTo>
                  <a:lnTo>
                    <a:pt x="1465"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36" name="Freeform 15"/>
            <p:cNvSpPr/>
            <p:nvPr/>
          </p:nvSpPr>
          <p:spPr>
            <a:xfrm>
              <a:off x="2151" y="3094"/>
              <a:ext cx="2" cy="108"/>
            </a:xfrm>
            <a:custGeom>
              <a:avLst/>
              <a:gdLst/>
              <a:ahLst/>
              <a:cxnLst>
                <a:cxn ang="0">
                  <a:pos x="1" y="0"/>
                </a:cxn>
                <a:cxn ang="0">
                  <a:pos x="0" y="29"/>
                </a:cxn>
              </a:cxnLst>
              <a:pathLst>
                <a:path w="4" h="115">
                  <a:moveTo>
                    <a:pt x="4" y="0"/>
                  </a:moveTo>
                  <a:lnTo>
                    <a:pt x="0" y="11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37" name="Freeform 16"/>
            <p:cNvSpPr/>
            <p:nvPr/>
          </p:nvSpPr>
          <p:spPr>
            <a:xfrm>
              <a:off x="3272" y="3112"/>
              <a:ext cx="1" cy="90"/>
            </a:xfrm>
            <a:custGeom>
              <a:avLst/>
              <a:gdLst/>
              <a:ahLst/>
              <a:cxnLst>
                <a:cxn ang="0">
                  <a:pos x="0" y="0"/>
                </a:cxn>
                <a:cxn ang="0">
                  <a:pos x="1" y="29"/>
                </a:cxn>
              </a:cxnLst>
              <a:pathLst>
                <a:path w="1" h="95">
                  <a:moveTo>
                    <a:pt x="0" y="0"/>
                  </a:moveTo>
                  <a:lnTo>
                    <a:pt x="1" y="9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38" name="Line 17"/>
            <p:cNvSpPr/>
            <p:nvPr/>
          </p:nvSpPr>
          <p:spPr>
            <a:xfrm>
              <a:off x="2627" y="3630"/>
              <a:ext cx="1492" cy="0"/>
            </a:xfrm>
            <a:prstGeom prst="line">
              <a:avLst/>
            </a:prstGeom>
            <a:ln w="9525" cap="flat" cmpd="sng">
              <a:solidFill>
                <a:srgbClr val="000000"/>
              </a:solidFill>
              <a:prstDash val="solid"/>
              <a:round/>
              <a:headEnd type="none" w="med" len="med"/>
              <a:tailEnd type="none" w="med" len="med"/>
            </a:ln>
          </p:spPr>
        </p:sp>
        <p:sp>
          <p:nvSpPr>
            <p:cNvPr id="77839" name="Line 18"/>
            <p:cNvSpPr/>
            <p:nvPr/>
          </p:nvSpPr>
          <p:spPr>
            <a:xfrm>
              <a:off x="2627" y="3517"/>
              <a:ext cx="0" cy="113"/>
            </a:xfrm>
            <a:prstGeom prst="line">
              <a:avLst/>
            </a:prstGeom>
            <a:ln w="9525" cap="flat" cmpd="sng">
              <a:solidFill>
                <a:srgbClr val="000000"/>
              </a:solidFill>
              <a:prstDash val="solid"/>
              <a:round/>
              <a:headEnd type="none" w="med" len="med"/>
              <a:tailEnd type="none" w="med" len="med"/>
            </a:ln>
          </p:spPr>
        </p:sp>
        <p:sp>
          <p:nvSpPr>
            <p:cNvPr id="77840" name="Freeform 19"/>
            <p:cNvSpPr/>
            <p:nvPr/>
          </p:nvSpPr>
          <p:spPr>
            <a:xfrm>
              <a:off x="4425" y="3535"/>
              <a:ext cx="0" cy="91"/>
            </a:xfrm>
            <a:custGeom>
              <a:avLst/>
              <a:gdLst/>
              <a:ahLst/>
              <a:cxnLst>
                <a:cxn ang="0">
                  <a:pos x="0" y="0"/>
                </a:cxn>
                <a:cxn ang="0">
                  <a:pos x="0" y="23"/>
                </a:cxn>
              </a:cxnLst>
              <a:pathLst>
                <a:path w="1" h="97">
                  <a:moveTo>
                    <a:pt x="0" y="0"/>
                  </a:moveTo>
                  <a:lnTo>
                    <a:pt x="0" y="9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41" name="Line 20"/>
            <p:cNvSpPr/>
            <p:nvPr/>
          </p:nvSpPr>
          <p:spPr>
            <a:xfrm>
              <a:off x="4141" y="3626"/>
              <a:ext cx="284" cy="0"/>
            </a:xfrm>
            <a:prstGeom prst="line">
              <a:avLst/>
            </a:prstGeom>
            <a:ln w="9525" cap="flat" cmpd="sng">
              <a:solidFill>
                <a:srgbClr val="000000"/>
              </a:solidFill>
              <a:prstDash val="dash"/>
              <a:round/>
              <a:headEnd type="none" w="med" len="med"/>
              <a:tailEnd type="none" w="med" len="med"/>
            </a:ln>
          </p:spPr>
        </p:sp>
        <p:sp>
          <p:nvSpPr>
            <p:cNvPr id="77842" name="Text Box 21"/>
            <p:cNvSpPr txBox="1"/>
            <p:nvPr/>
          </p:nvSpPr>
          <p:spPr>
            <a:xfrm>
              <a:off x="1671" y="1071"/>
              <a:ext cx="897" cy="423"/>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c </a:t>
              </a:r>
              <a:r>
                <a:rPr lang="en-US" altLang="zh-CN" dirty="0">
                  <a:latin typeface="Verdana" panose="020B0604030504040204" pitchFamily="34" charset="0"/>
                  <a:ea typeface="宋体" panose="02010600030101010101" pitchFamily="2" charset="-122"/>
                </a:rPr>
                <a:t>(</a:t>
              </a:r>
              <a:r>
                <a:rPr lang="zh-CN" altLang="en-US" dirty="0">
                  <a:latin typeface="Verdana" panose="020B0604030504040204" pitchFamily="34" charset="0"/>
                  <a:ea typeface="宋体" panose="02010600030101010101" pitchFamily="2" charset="-122"/>
                </a:rPr>
                <a:t>检查点</a:t>
              </a:r>
              <a:r>
                <a:rPr lang="en-US" altLang="zh-CN" dirty="0">
                  <a:latin typeface="Verdana" panose="020B0604030504040204" pitchFamily="34" charset="0"/>
                  <a:ea typeface="宋体" panose="02010600030101010101" pitchFamily="2" charset="-122"/>
                </a:rPr>
                <a:t>)</a:t>
              </a:r>
              <a:endParaRPr lang="en-US" altLang="zh-CN" dirty="0">
                <a:latin typeface="Verdana" panose="020B0604030504040204" pitchFamily="34" charset="0"/>
                <a:ea typeface="宋体" panose="02010600030101010101" pitchFamily="2" charset="-122"/>
              </a:endParaRPr>
            </a:p>
          </p:txBody>
        </p:sp>
        <p:sp>
          <p:nvSpPr>
            <p:cNvPr id="77843" name="Text Box 22"/>
            <p:cNvSpPr txBox="1"/>
            <p:nvPr/>
          </p:nvSpPr>
          <p:spPr>
            <a:xfrm>
              <a:off x="3658" y="1086"/>
              <a:ext cx="896" cy="422"/>
            </a:xfrm>
            <a:prstGeom prst="rect">
              <a:avLst/>
            </a:prstGeom>
            <a:noFill/>
            <a:ln w="9525">
              <a:noFill/>
            </a:ln>
          </p:spPr>
          <p:txBody>
            <a:bodyPr anchor="t" anchorCtr="0"/>
            <a:p>
              <a:pPr algn="just" eaLnBrk="0" hangingPunct="0"/>
              <a:r>
                <a:rPr lang="en-US" altLang="zh-CN" sz="1600" dirty="0">
                  <a:latin typeface="Verdana" panose="020B0604030504040204" pitchFamily="34" charset="0"/>
                  <a:ea typeface="宋体" panose="02010600030101010101" pitchFamily="2" charset="-122"/>
                </a:rPr>
                <a:t>T</a:t>
              </a:r>
              <a:r>
                <a:rPr lang="en-US" altLang="zh-CN" sz="1600" baseline="-25000" dirty="0">
                  <a:latin typeface="Verdana" panose="020B0604030504040204" pitchFamily="34" charset="0"/>
                  <a:ea typeface="宋体" panose="02010600030101010101" pitchFamily="2" charset="-122"/>
                </a:rPr>
                <a:t>f</a:t>
              </a:r>
              <a:r>
                <a:rPr lang="en-US" altLang="zh-CN" sz="1600" dirty="0">
                  <a:latin typeface="Verdana" panose="020B0604030504040204" pitchFamily="34" charset="0"/>
                  <a:ea typeface="宋体" panose="02010600030101010101" pitchFamily="2" charset="-122"/>
                </a:rPr>
                <a:t>(</a:t>
              </a:r>
              <a:r>
                <a:rPr lang="zh-CN" altLang="en-US" sz="1600" dirty="0">
                  <a:latin typeface="Verdana" panose="020B0604030504040204" pitchFamily="34" charset="0"/>
                  <a:ea typeface="宋体" panose="02010600030101010101" pitchFamily="2" charset="-122"/>
                </a:rPr>
                <a:t>系统故障</a:t>
              </a:r>
              <a:r>
                <a:rPr lang="en-US" altLang="zh-CN" sz="1600" dirty="0">
                  <a:latin typeface="Verdana" panose="020B0604030504040204" pitchFamily="34" charset="0"/>
                  <a:ea typeface="宋体" panose="02010600030101010101" pitchFamily="2" charset="-122"/>
                </a:rPr>
                <a:t>)</a:t>
              </a:r>
              <a:endParaRPr lang="en-US" altLang="zh-CN" sz="1600" dirty="0">
                <a:latin typeface="Verdana" panose="020B0604030504040204" pitchFamily="34" charset="0"/>
                <a:ea typeface="宋体" panose="02010600030101010101" pitchFamily="2" charset="-122"/>
              </a:endParaRPr>
            </a:p>
          </p:txBody>
        </p:sp>
        <p:sp>
          <p:nvSpPr>
            <p:cNvPr id="77844" name="Text Box 23"/>
            <p:cNvSpPr txBox="1"/>
            <p:nvPr/>
          </p:nvSpPr>
          <p:spPr>
            <a:xfrm>
              <a:off x="2267" y="2060"/>
              <a:ext cx="716" cy="422"/>
            </a:xfrm>
            <a:prstGeom prst="rect">
              <a:avLst/>
            </a:prstGeom>
            <a:noFill/>
            <a:ln w="9525">
              <a:noFill/>
            </a:ln>
          </p:spPr>
          <p:txBody>
            <a:bodyPr anchor="t" anchorCtr="0"/>
            <a:p>
              <a:pPr eaLnBrk="0" hangingPunct="0"/>
              <a:r>
                <a:rPr lang="en-US" altLang="zh-CN" sz="1200" dirty="0">
                  <a:latin typeface="Verdana" panose="020B0604030504040204" pitchFamily="34" charset="0"/>
                  <a:ea typeface="宋体" panose="02010600030101010101" pitchFamily="2" charset="-122"/>
                </a:rPr>
                <a:t> </a:t>
              </a:r>
              <a:endParaRPr lang="en-US" altLang="zh-CN" sz="1600" dirty="0">
                <a:latin typeface="Verdana" panose="020B0604030504040204" pitchFamily="34" charset="0"/>
                <a:ea typeface="宋体" panose="02010600030101010101" pitchFamily="2" charset="-122"/>
              </a:endParaRPr>
            </a:p>
          </p:txBody>
        </p:sp>
        <p:sp>
          <p:nvSpPr>
            <p:cNvPr id="77845" name="Text Box 24"/>
            <p:cNvSpPr txBox="1"/>
            <p:nvPr/>
          </p:nvSpPr>
          <p:spPr>
            <a:xfrm>
              <a:off x="4610" y="2454"/>
              <a:ext cx="640" cy="423"/>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UNDO</a:t>
              </a:r>
              <a:endParaRPr lang="en-US" altLang="zh-CN" sz="2400" dirty="0">
                <a:latin typeface="Verdana" panose="020B0604030504040204" pitchFamily="34" charset="0"/>
                <a:ea typeface="宋体" panose="02010600030101010101" pitchFamily="2" charset="-122"/>
              </a:endParaRPr>
            </a:p>
          </p:txBody>
        </p:sp>
        <p:sp>
          <p:nvSpPr>
            <p:cNvPr id="77846" name="Text Box 25"/>
            <p:cNvSpPr txBox="1"/>
            <p:nvPr/>
          </p:nvSpPr>
          <p:spPr>
            <a:xfrm>
              <a:off x="4376" y="3281"/>
              <a:ext cx="589" cy="422"/>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UNDO</a:t>
              </a:r>
              <a:endParaRPr lang="en-US" altLang="zh-CN" sz="1600" dirty="0">
                <a:latin typeface="Verdana" panose="020B0604030504040204" pitchFamily="34" charset="0"/>
                <a:ea typeface="宋体" panose="02010600030101010101" pitchFamily="2" charset="-122"/>
              </a:endParaRPr>
            </a:p>
          </p:txBody>
        </p:sp>
        <p:sp>
          <p:nvSpPr>
            <p:cNvPr id="77847" name="Text Box 26"/>
            <p:cNvSpPr txBox="1"/>
            <p:nvPr/>
          </p:nvSpPr>
          <p:spPr>
            <a:xfrm>
              <a:off x="1100" y="3731"/>
              <a:ext cx="2685" cy="424"/>
            </a:xfrm>
            <a:prstGeom prst="rect">
              <a:avLst/>
            </a:prstGeom>
            <a:noFill/>
            <a:ln w="9525">
              <a:noFill/>
            </a:ln>
          </p:spPr>
          <p:txBody>
            <a:bodyPr anchor="t" anchorCtr="0"/>
            <a:p>
              <a:pPr eaLnBrk="0" hangingPunct="0"/>
              <a:r>
                <a:rPr lang="en-US" altLang="zh-CN" sz="2000" dirty="0">
                  <a:latin typeface="Verdana" panose="020B0604030504040204" pitchFamily="34" charset="0"/>
                  <a:ea typeface="宋体" panose="02010600030101010101" pitchFamily="2" charset="-122"/>
                </a:rPr>
                <a:t> </a:t>
              </a:r>
              <a:endParaRPr lang="en-US" altLang="zh-CN" sz="1600" dirty="0">
                <a:latin typeface="Verdana" panose="020B0604030504040204" pitchFamily="34" charset="0"/>
                <a:ea typeface="宋体" panose="02010600030101010101" pitchFamily="2" charset="-122"/>
              </a:endParaRPr>
            </a:p>
          </p:txBody>
        </p:sp>
        <p:sp>
          <p:nvSpPr>
            <p:cNvPr id="77848" name="Text Box 27"/>
            <p:cNvSpPr txBox="1"/>
            <p:nvPr/>
          </p:nvSpPr>
          <p:spPr>
            <a:xfrm>
              <a:off x="1084" y="2118"/>
              <a:ext cx="463" cy="422"/>
            </a:xfrm>
            <a:prstGeom prst="rect">
              <a:avLst/>
            </a:prstGeom>
            <a:noFill/>
            <a:ln w="9525">
              <a:noFill/>
            </a:ln>
          </p:spPr>
          <p:txBody>
            <a:bodyPr anchor="t" anchorCtr="0"/>
            <a:p>
              <a:pPr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2</a:t>
              </a:r>
              <a:endParaRPr lang="en-US" altLang="zh-CN" sz="1600" dirty="0">
                <a:latin typeface="Verdana" panose="020B0604030504040204" pitchFamily="34" charset="0"/>
                <a:ea typeface="宋体" panose="02010600030101010101" pitchFamily="2" charset="-122"/>
              </a:endParaRPr>
            </a:p>
          </p:txBody>
        </p:sp>
        <p:sp>
          <p:nvSpPr>
            <p:cNvPr id="77849" name="Text Box 28"/>
            <p:cNvSpPr txBox="1"/>
            <p:nvPr/>
          </p:nvSpPr>
          <p:spPr>
            <a:xfrm>
              <a:off x="1496" y="2525"/>
              <a:ext cx="714" cy="424"/>
            </a:xfrm>
            <a:prstGeom prst="rect">
              <a:avLst/>
            </a:prstGeom>
            <a:noFill/>
            <a:ln w="9525">
              <a:noFill/>
            </a:ln>
          </p:spPr>
          <p:txBody>
            <a:bodyPr anchor="t" anchorCtr="0"/>
            <a:p>
              <a:pPr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3</a:t>
              </a:r>
              <a:endParaRPr lang="en-US" altLang="zh-CN" sz="1600" dirty="0">
                <a:latin typeface="Verdana" panose="020B0604030504040204" pitchFamily="34" charset="0"/>
                <a:ea typeface="宋体" panose="02010600030101010101" pitchFamily="2" charset="-122"/>
              </a:endParaRPr>
            </a:p>
          </p:txBody>
        </p:sp>
        <p:sp>
          <p:nvSpPr>
            <p:cNvPr id="77850" name="Text Box 29"/>
            <p:cNvSpPr txBox="1"/>
            <p:nvPr/>
          </p:nvSpPr>
          <p:spPr>
            <a:xfrm>
              <a:off x="2164" y="2874"/>
              <a:ext cx="715" cy="424"/>
            </a:xfrm>
            <a:prstGeom prst="rect">
              <a:avLst/>
            </a:prstGeom>
            <a:noFill/>
            <a:ln w="9525">
              <a:noFill/>
            </a:ln>
          </p:spPr>
          <p:txBody>
            <a:bodyPr anchor="t" anchorCtr="0"/>
            <a:p>
              <a:pPr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4</a:t>
              </a:r>
              <a:endParaRPr lang="en-US" altLang="zh-CN" sz="1400" dirty="0">
                <a:latin typeface="Verdana" panose="020B0604030504040204" pitchFamily="34" charset="0"/>
                <a:ea typeface="宋体" panose="02010600030101010101" pitchFamily="2" charset="-122"/>
              </a:endParaRPr>
            </a:p>
            <a:p>
              <a:pPr eaLnBrk="0" hangingPunct="0"/>
              <a:endParaRPr lang="en-US" altLang="zh-CN" sz="1400" dirty="0">
                <a:latin typeface="Verdana" panose="020B0604030504040204" pitchFamily="34" charset="0"/>
                <a:ea typeface="宋体" panose="02010600030101010101" pitchFamily="2" charset="-122"/>
              </a:endParaRPr>
            </a:p>
          </p:txBody>
        </p:sp>
        <p:sp>
          <p:nvSpPr>
            <p:cNvPr id="77851" name="Text Box 30"/>
            <p:cNvSpPr txBox="1"/>
            <p:nvPr/>
          </p:nvSpPr>
          <p:spPr>
            <a:xfrm>
              <a:off x="2661" y="3299"/>
              <a:ext cx="715" cy="522"/>
            </a:xfrm>
            <a:prstGeom prst="rect">
              <a:avLst/>
            </a:prstGeom>
            <a:noFill/>
            <a:ln w="9525">
              <a:noFill/>
            </a:ln>
          </p:spPr>
          <p:txBody>
            <a:bodyPr anchor="t" anchorCtr="0"/>
            <a:p>
              <a:pPr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5</a:t>
              </a:r>
              <a:endParaRPr lang="en-US" altLang="zh-CN" sz="1400" dirty="0">
                <a:latin typeface="Verdana" panose="020B0604030504040204" pitchFamily="34" charset="0"/>
                <a:ea typeface="宋体" panose="02010600030101010101" pitchFamily="2" charset="-122"/>
              </a:endParaRPr>
            </a:p>
          </p:txBody>
        </p:sp>
        <p:sp>
          <p:nvSpPr>
            <p:cNvPr id="77852" name="Text Box 31"/>
            <p:cNvSpPr txBox="1"/>
            <p:nvPr/>
          </p:nvSpPr>
          <p:spPr>
            <a:xfrm>
              <a:off x="1247" y="1661"/>
              <a:ext cx="897" cy="424"/>
            </a:xfrm>
            <a:prstGeom prst="rect">
              <a:avLst/>
            </a:prstGeom>
            <a:noFill/>
            <a:ln w="9525">
              <a:noFill/>
            </a:ln>
          </p:spPr>
          <p:txBody>
            <a:bodyPr anchor="t" anchorCtr="0"/>
            <a:p>
              <a:pPr algn="just" eaLnBrk="0" hangingPunct="0"/>
              <a:endParaRPr lang="en-US" altLang="zh-CN" sz="1600" dirty="0">
                <a:latin typeface="Verdana" panose="020B0604030504040204" pitchFamily="34" charset="0"/>
                <a:ea typeface="宋体" panose="02010600030101010101" pitchFamily="2" charset="-122"/>
              </a:endParaRPr>
            </a:p>
          </p:txBody>
        </p:sp>
        <p:sp>
          <p:nvSpPr>
            <p:cNvPr id="77853" name="Text Box 32"/>
            <p:cNvSpPr txBox="1"/>
            <p:nvPr/>
          </p:nvSpPr>
          <p:spPr>
            <a:xfrm>
              <a:off x="981" y="1711"/>
              <a:ext cx="477" cy="422"/>
            </a:xfrm>
            <a:prstGeom prst="rect">
              <a:avLst/>
            </a:prstGeom>
            <a:noFill/>
            <a:ln w="9525">
              <a:noFill/>
            </a:ln>
          </p:spPr>
          <p:txBody>
            <a:bodyPr anchor="t" anchorCtr="0"/>
            <a:p>
              <a:pPr algn="just"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1</a:t>
              </a:r>
              <a:endParaRPr lang="en-US" altLang="zh-CN" sz="1600" dirty="0">
                <a:latin typeface="Verdana" panose="020B0604030504040204" pitchFamily="34" charset="0"/>
                <a:ea typeface="宋体" panose="02010600030101010101" pitchFamily="2" charset="-122"/>
              </a:endParaRPr>
            </a:p>
          </p:txBody>
        </p:sp>
        <p:sp>
          <p:nvSpPr>
            <p:cNvPr id="77854" name="Freeform 33"/>
            <p:cNvSpPr/>
            <p:nvPr/>
          </p:nvSpPr>
          <p:spPr>
            <a:xfrm>
              <a:off x="930" y="2045"/>
              <a:ext cx="463" cy="1"/>
            </a:xfrm>
            <a:custGeom>
              <a:avLst/>
              <a:gdLst/>
              <a:ahLst/>
              <a:cxnLst>
                <a:cxn ang="0">
                  <a:pos x="0" y="0"/>
                </a:cxn>
                <a:cxn ang="0">
                  <a:pos x="1985" y="0"/>
                </a:cxn>
              </a:cxnLst>
              <a:pathLst>
                <a:path w="432" h="1">
                  <a:moveTo>
                    <a:pt x="0" y="0"/>
                  </a:moveTo>
                  <a:lnTo>
                    <a:pt x="432"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55" name="Freeform 34"/>
            <p:cNvSpPr/>
            <p:nvPr/>
          </p:nvSpPr>
          <p:spPr>
            <a:xfrm>
              <a:off x="930" y="1938"/>
              <a:ext cx="1" cy="101"/>
            </a:xfrm>
            <a:custGeom>
              <a:avLst/>
              <a:gdLst/>
              <a:ahLst/>
              <a:cxnLst>
                <a:cxn ang="0">
                  <a:pos x="0" y="0"/>
                </a:cxn>
                <a:cxn ang="0">
                  <a:pos x="0" y="30"/>
                </a:cxn>
              </a:cxnLst>
              <a:pathLst>
                <a:path w="3" h="107">
                  <a:moveTo>
                    <a:pt x="0" y="0"/>
                  </a:moveTo>
                  <a:lnTo>
                    <a:pt x="3" y="10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7856" name="Freeform 35"/>
            <p:cNvSpPr/>
            <p:nvPr/>
          </p:nvSpPr>
          <p:spPr>
            <a:xfrm>
              <a:off x="1393" y="1941"/>
              <a:ext cx="1" cy="98"/>
            </a:xfrm>
            <a:custGeom>
              <a:avLst/>
              <a:gdLst/>
              <a:ahLst/>
              <a:cxnLst>
                <a:cxn ang="0">
                  <a:pos x="0" y="0"/>
                </a:cxn>
                <a:cxn ang="0">
                  <a:pos x="0" y="23"/>
                </a:cxn>
              </a:cxnLst>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p>
              <a:endParaRPr lang="zh-CN" altLang="en-US"/>
            </a:p>
          </p:txBody>
        </p:sp>
      </p:grpSp>
      <p:sp>
        <p:nvSpPr>
          <p:cNvPr id="34" name="Rectangle 2"/>
          <p:cNvSpPr txBox="1">
            <a:spLocks noChangeArrowheads="1"/>
          </p:cNvSpPr>
          <p:nvPr/>
        </p:nvSpPr>
        <p:spPr>
          <a:xfrm>
            <a:off x="571500" y="214313"/>
            <a:ext cx="8001000" cy="735013"/>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1200" cap="none" spc="0" normalizeH="0" baseline="0" noProof="0" dirty="0" smtClean="0">
                <a:ln>
                  <a:noFill/>
                </a:ln>
                <a:solidFill>
                  <a:schemeClr val="tx2">
                    <a:satMod val="200000"/>
                  </a:schemeClr>
                </a:solidFill>
                <a:effectLst/>
                <a:uLnTx/>
                <a:uFillTx/>
                <a:latin typeface="+mj-lt"/>
                <a:ea typeface="+mj-ea"/>
                <a:cs typeface="+mj-cs"/>
              </a:rPr>
              <a:t>不用检查点</a:t>
            </a:r>
            <a:endParaRPr kumimoji="0" lang="zh-CN" altLang="en-US" sz="3800" b="0" i="0" u="none" strike="noStrike" kern="1200" cap="none" spc="0" normalizeH="0" baseline="0" noProof="0" dirty="0" smtClean="0">
              <a:ln>
                <a:noFill/>
              </a:ln>
              <a:solidFill>
                <a:schemeClr val="tx2">
                  <a:satMod val="200000"/>
                </a:schemeClr>
              </a:solidFill>
              <a:effectLst/>
              <a:uLnTx/>
              <a:uFillTx/>
              <a:latin typeface="+mj-lt"/>
              <a:ea typeface="+mj-ea"/>
              <a:cs typeface="+mj-cs"/>
            </a:endParaRPr>
          </a:p>
        </p:txBody>
      </p:sp>
      <p:sp>
        <p:nvSpPr>
          <p:cNvPr id="35" name="TextBox 34"/>
          <p:cNvSpPr txBox="1"/>
          <p:nvPr/>
        </p:nvSpPr>
        <p:spPr>
          <a:xfrm>
            <a:off x="739775" y="5229225"/>
            <a:ext cx="6784975" cy="954088"/>
          </a:xfrm>
          <a:prstGeom prst="rect">
            <a:avLst/>
          </a:prstGeom>
          <a:noFill/>
          <a:ln w="9525">
            <a:noFill/>
          </a:ln>
        </p:spPr>
        <p:txBody>
          <a:bodyPr anchor="t" anchorCtr="0">
            <a:spAutoFit/>
          </a:bodyPr>
          <a:p>
            <a:r>
              <a:rPr lang="en-US" altLang="zh-CN" sz="2800" dirty="0">
                <a:latin typeface="Verdana" panose="020B0604030504040204" pitchFamily="34" charset="0"/>
                <a:ea typeface="宋体" panose="02010600030101010101" pitchFamily="2" charset="-122"/>
              </a:rPr>
              <a:t>REDO</a:t>
            </a:r>
            <a:r>
              <a:rPr lang="zh-CN" altLang="en-US" sz="2800" dirty="0">
                <a:latin typeface="Verdana" panose="020B0604030504040204" pitchFamily="34" charset="0"/>
                <a:ea typeface="宋体" panose="02010600030101010101" pitchFamily="2" charset="-122"/>
              </a:rPr>
              <a:t>：</a:t>
            </a:r>
            <a:r>
              <a:rPr lang="en-US" altLang="zh-CN" sz="2800" dirty="0">
                <a:latin typeface="Verdana" panose="020B0604030504040204" pitchFamily="34" charset="0"/>
                <a:ea typeface="宋体" panose="02010600030101010101" pitchFamily="2" charset="-122"/>
              </a:rPr>
              <a:t>T1</a:t>
            </a:r>
            <a:r>
              <a:rPr lang="zh-CN" altLang="en-US" sz="2800" dirty="0">
                <a:latin typeface="Verdana" panose="020B0604030504040204" pitchFamily="34" charset="0"/>
                <a:ea typeface="宋体" panose="02010600030101010101" pitchFamily="2" charset="-122"/>
              </a:rPr>
              <a:t>、</a:t>
            </a:r>
            <a:r>
              <a:rPr lang="en-US" altLang="zh-CN" sz="2800" dirty="0">
                <a:latin typeface="Verdana" panose="020B0604030504040204" pitchFamily="34" charset="0"/>
                <a:ea typeface="宋体" panose="02010600030101010101" pitchFamily="2" charset="-122"/>
              </a:rPr>
              <a:t>T2</a:t>
            </a:r>
            <a:r>
              <a:rPr lang="zh-CN" altLang="en-US" sz="2800" dirty="0">
                <a:latin typeface="Verdana" panose="020B0604030504040204" pitchFamily="34" charset="0"/>
                <a:ea typeface="宋体" panose="02010600030101010101" pitchFamily="2" charset="-122"/>
              </a:rPr>
              <a:t>、</a:t>
            </a:r>
            <a:r>
              <a:rPr lang="en-US" altLang="zh-CN" sz="2800" dirty="0">
                <a:latin typeface="Verdana" panose="020B0604030504040204" pitchFamily="34" charset="0"/>
                <a:ea typeface="宋体" panose="02010600030101010101" pitchFamily="2" charset="-122"/>
              </a:rPr>
              <a:t>T4</a:t>
            </a:r>
            <a:endParaRPr lang="en-US" altLang="zh-CN" sz="2800" dirty="0">
              <a:latin typeface="Verdana" panose="020B0604030504040204" pitchFamily="34" charset="0"/>
              <a:ea typeface="宋体" panose="02010600030101010101" pitchFamily="2" charset="-122"/>
            </a:endParaRPr>
          </a:p>
          <a:p>
            <a:r>
              <a:rPr lang="en-US" altLang="zh-CN" sz="2800" dirty="0">
                <a:latin typeface="Verdana" panose="020B0604030504040204" pitchFamily="34" charset="0"/>
                <a:ea typeface="宋体" panose="02010600030101010101" pitchFamily="2" charset="-122"/>
              </a:rPr>
              <a:t>UNDO</a:t>
            </a:r>
            <a:r>
              <a:rPr lang="zh-CN" altLang="en-US" sz="2800" dirty="0">
                <a:latin typeface="Verdana" panose="020B0604030504040204" pitchFamily="34" charset="0"/>
                <a:ea typeface="宋体" panose="02010600030101010101" pitchFamily="2" charset="-122"/>
              </a:rPr>
              <a:t>：</a:t>
            </a:r>
            <a:r>
              <a:rPr lang="en-US" altLang="zh-CN" sz="2800" dirty="0">
                <a:latin typeface="Verdana" panose="020B0604030504040204" pitchFamily="34" charset="0"/>
                <a:ea typeface="宋体" panose="02010600030101010101" pitchFamily="2" charset="-122"/>
              </a:rPr>
              <a:t>T3</a:t>
            </a:r>
            <a:r>
              <a:rPr lang="zh-CN" altLang="en-US" sz="2800" dirty="0">
                <a:latin typeface="Verdana" panose="020B0604030504040204" pitchFamily="34" charset="0"/>
                <a:ea typeface="宋体" panose="02010600030101010101" pitchFamily="2" charset="-122"/>
              </a:rPr>
              <a:t>、</a:t>
            </a:r>
            <a:r>
              <a:rPr lang="en-US" altLang="zh-CN" sz="2800" dirty="0">
                <a:latin typeface="Verdana" panose="020B0604030504040204" pitchFamily="34" charset="0"/>
                <a:ea typeface="宋体" panose="02010600030101010101" pitchFamily="2" charset="-122"/>
              </a:rPr>
              <a:t>T5</a:t>
            </a:r>
            <a:endParaRPr lang="en-US" altLang="zh-CN" sz="2800"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8849" name="Group 36"/>
          <p:cNvGrpSpPr/>
          <p:nvPr/>
        </p:nvGrpSpPr>
        <p:grpSpPr>
          <a:xfrm>
            <a:off x="361950" y="1476375"/>
            <a:ext cx="8064500" cy="3789363"/>
            <a:chOff x="930" y="1071"/>
            <a:chExt cx="4320" cy="2750"/>
          </a:xfrm>
        </p:grpSpPr>
        <p:sp>
          <p:nvSpPr>
            <p:cNvPr id="78850" name="Freeform 5"/>
            <p:cNvSpPr/>
            <p:nvPr/>
          </p:nvSpPr>
          <p:spPr>
            <a:xfrm>
              <a:off x="2043" y="1453"/>
              <a:ext cx="1" cy="2278"/>
            </a:xfrm>
            <a:custGeom>
              <a:avLst/>
              <a:gdLst/>
              <a:ahLst/>
              <a:cxnLst>
                <a:cxn ang="0">
                  <a:pos x="0" y="0"/>
                </a:cxn>
                <a:cxn ang="0">
                  <a:pos x="0" y="623"/>
                </a:cxn>
              </a:cxnLst>
              <a:pathLst>
                <a:path w="3" h="2423">
                  <a:moveTo>
                    <a:pt x="0" y="0"/>
                  </a:moveTo>
                  <a:lnTo>
                    <a:pt x="3" y="2423"/>
                  </a:lnTo>
                </a:path>
              </a:pathLst>
            </a:custGeom>
            <a:noFill/>
            <a:ln w="6350" cap="flat" cmpd="sng">
              <a:solidFill>
                <a:srgbClr val="000000"/>
              </a:solidFill>
              <a:prstDash val="solid"/>
              <a:round/>
              <a:headEnd type="none" w="med" len="med"/>
              <a:tailEnd type="none" w="med" len="med"/>
            </a:ln>
          </p:spPr>
          <p:txBody>
            <a:bodyPr/>
            <a:p>
              <a:endParaRPr lang="zh-CN" altLang="en-US"/>
            </a:p>
          </p:txBody>
        </p:sp>
        <p:sp>
          <p:nvSpPr>
            <p:cNvPr id="78851" name="Freeform 6"/>
            <p:cNvSpPr/>
            <p:nvPr/>
          </p:nvSpPr>
          <p:spPr>
            <a:xfrm>
              <a:off x="4069" y="1466"/>
              <a:ext cx="0" cy="2280"/>
            </a:xfrm>
            <a:custGeom>
              <a:avLst/>
              <a:gdLst/>
              <a:ahLst/>
              <a:cxnLst>
                <a:cxn ang="0">
                  <a:pos x="0" y="0"/>
                </a:cxn>
                <a:cxn ang="0">
                  <a:pos x="0" y="636"/>
                </a:cxn>
              </a:cxnLst>
              <a:pathLst>
                <a:path w="1" h="2423">
                  <a:moveTo>
                    <a:pt x="0" y="0"/>
                  </a:moveTo>
                  <a:lnTo>
                    <a:pt x="1" y="2423"/>
                  </a:lnTo>
                </a:path>
              </a:pathLst>
            </a:custGeom>
            <a:noFill/>
            <a:ln w="6350" cap="flat" cmpd="sng">
              <a:solidFill>
                <a:srgbClr val="000000"/>
              </a:solidFill>
              <a:prstDash val="solid"/>
              <a:round/>
              <a:headEnd type="none" w="med" len="med"/>
              <a:tailEnd type="none" w="med" len="med"/>
            </a:ln>
          </p:spPr>
          <p:txBody>
            <a:bodyPr/>
            <a:p>
              <a:endParaRPr lang="zh-CN" altLang="en-US"/>
            </a:p>
          </p:txBody>
        </p:sp>
        <p:sp>
          <p:nvSpPr>
            <p:cNvPr id="78852" name="Freeform 7"/>
            <p:cNvSpPr/>
            <p:nvPr/>
          </p:nvSpPr>
          <p:spPr>
            <a:xfrm>
              <a:off x="1059" y="2423"/>
              <a:ext cx="1260" cy="1"/>
            </a:xfrm>
            <a:custGeom>
              <a:avLst/>
              <a:gdLst/>
              <a:ahLst/>
              <a:cxnLst>
                <a:cxn ang="0">
                  <a:pos x="0" y="0"/>
                </a:cxn>
                <a:cxn ang="0">
                  <a:pos x="5363" y="0"/>
                </a:cxn>
              </a:cxnLst>
              <a:pathLst>
                <a:path w="1176" h="1">
                  <a:moveTo>
                    <a:pt x="0" y="0"/>
                  </a:moveTo>
                  <a:lnTo>
                    <a:pt x="1176"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53" name="Freeform 8"/>
            <p:cNvSpPr/>
            <p:nvPr/>
          </p:nvSpPr>
          <p:spPr>
            <a:xfrm>
              <a:off x="1063" y="2308"/>
              <a:ext cx="1" cy="98"/>
            </a:xfrm>
            <a:custGeom>
              <a:avLst/>
              <a:gdLst/>
              <a:ahLst/>
              <a:cxnLst>
                <a:cxn ang="0">
                  <a:pos x="0" y="0"/>
                </a:cxn>
                <a:cxn ang="0">
                  <a:pos x="0" y="23"/>
                </a:cxn>
              </a:cxnLst>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54" name="Freeform 9"/>
            <p:cNvSpPr/>
            <p:nvPr/>
          </p:nvSpPr>
          <p:spPr>
            <a:xfrm>
              <a:off x="2306" y="2278"/>
              <a:ext cx="1" cy="145"/>
            </a:xfrm>
            <a:custGeom>
              <a:avLst/>
              <a:gdLst/>
              <a:ahLst/>
              <a:cxnLst>
                <a:cxn ang="0">
                  <a:pos x="0" y="0"/>
                </a:cxn>
                <a:cxn ang="0">
                  <a:pos x="0" y="7689"/>
                </a:cxn>
              </a:cxnLst>
              <a:pathLst>
                <a:path w="1" h="120">
                  <a:moveTo>
                    <a:pt x="0" y="0"/>
                  </a:moveTo>
                  <a:lnTo>
                    <a:pt x="0" y="12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55" name="Line 10"/>
            <p:cNvSpPr/>
            <p:nvPr/>
          </p:nvSpPr>
          <p:spPr>
            <a:xfrm>
              <a:off x="1444" y="2792"/>
              <a:ext cx="2622" cy="0"/>
            </a:xfrm>
            <a:prstGeom prst="line">
              <a:avLst/>
            </a:prstGeom>
            <a:ln w="9525" cap="flat" cmpd="sng">
              <a:solidFill>
                <a:srgbClr val="000000"/>
              </a:solidFill>
              <a:prstDash val="solid"/>
              <a:round/>
              <a:headEnd type="none" w="med" len="med"/>
              <a:tailEnd type="none" w="med" len="med"/>
            </a:ln>
          </p:spPr>
        </p:sp>
        <p:sp>
          <p:nvSpPr>
            <p:cNvPr id="78856" name="Line 11"/>
            <p:cNvSpPr/>
            <p:nvPr/>
          </p:nvSpPr>
          <p:spPr>
            <a:xfrm>
              <a:off x="4066" y="2792"/>
              <a:ext cx="579" cy="0"/>
            </a:xfrm>
            <a:prstGeom prst="line">
              <a:avLst/>
            </a:prstGeom>
            <a:ln w="9525" cap="flat" cmpd="sng">
              <a:solidFill>
                <a:srgbClr val="000000"/>
              </a:solidFill>
              <a:prstDash val="dash"/>
              <a:round/>
              <a:headEnd type="none" w="med" len="med"/>
              <a:tailEnd type="none" w="med" len="med"/>
            </a:ln>
          </p:spPr>
        </p:sp>
        <p:sp>
          <p:nvSpPr>
            <p:cNvPr id="78857" name="Freeform 12"/>
            <p:cNvSpPr/>
            <p:nvPr/>
          </p:nvSpPr>
          <p:spPr>
            <a:xfrm>
              <a:off x="4645" y="2687"/>
              <a:ext cx="1" cy="104"/>
            </a:xfrm>
            <a:custGeom>
              <a:avLst/>
              <a:gdLst/>
              <a:ahLst/>
              <a:cxnLst>
                <a:cxn ang="0">
                  <a:pos x="0" y="0"/>
                </a:cxn>
                <a:cxn ang="0">
                  <a:pos x="0" y="27"/>
                </a:cxn>
              </a:cxnLst>
              <a:pathLst>
                <a:path w="1" h="111">
                  <a:moveTo>
                    <a:pt x="0" y="0"/>
                  </a:moveTo>
                  <a:lnTo>
                    <a:pt x="0" y="111"/>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58" name="Line 13"/>
            <p:cNvSpPr/>
            <p:nvPr/>
          </p:nvSpPr>
          <p:spPr>
            <a:xfrm>
              <a:off x="1446" y="2682"/>
              <a:ext cx="0" cy="114"/>
            </a:xfrm>
            <a:prstGeom prst="line">
              <a:avLst/>
            </a:prstGeom>
            <a:ln w="9525" cap="flat" cmpd="sng">
              <a:solidFill>
                <a:srgbClr val="000000"/>
              </a:solidFill>
              <a:prstDash val="solid"/>
              <a:round/>
              <a:headEnd type="none" w="med" len="med"/>
              <a:tailEnd type="none" w="med" len="med"/>
            </a:ln>
          </p:spPr>
        </p:sp>
        <p:sp>
          <p:nvSpPr>
            <p:cNvPr id="78859" name="Freeform 14"/>
            <p:cNvSpPr/>
            <p:nvPr/>
          </p:nvSpPr>
          <p:spPr>
            <a:xfrm>
              <a:off x="2159" y="3197"/>
              <a:ext cx="1109" cy="5"/>
            </a:xfrm>
            <a:custGeom>
              <a:avLst/>
              <a:gdLst/>
              <a:ahLst/>
              <a:cxnLst>
                <a:cxn ang="0">
                  <a:pos x="0" y="5"/>
                </a:cxn>
                <a:cxn ang="0">
                  <a:pos x="4" y="0"/>
                </a:cxn>
              </a:cxnLst>
              <a:pathLst>
                <a:path w="1465" h="5">
                  <a:moveTo>
                    <a:pt x="0" y="5"/>
                  </a:moveTo>
                  <a:lnTo>
                    <a:pt x="1465"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60" name="Freeform 15"/>
            <p:cNvSpPr/>
            <p:nvPr/>
          </p:nvSpPr>
          <p:spPr>
            <a:xfrm>
              <a:off x="2151" y="3094"/>
              <a:ext cx="2" cy="108"/>
            </a:xfrm>
            <a:custGeom>
              <a:avLst/>
              <a:gdLst/>
              <a:ahLst/>
              <a:cxnLst>
                <a:cxn ang="0">
                  <a:pos x="1" y="0"/>
                </a:cxn>
                <a:cxn ang="0">
                  <a:pos x="0" y="29"/>
                </a:cxn>
              </a:cxnLst>
              <a:pathLst>
                <a:path w="4" h="115">
                  <a:moveTo>
                    <a:pt x="4" y="0"/>
                  </a:moveTo>
                  <a:lnTo>
                    <a:pt x="0" y="11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61" name="Freeform 16"/>
            <p:cNvSpPr/>
            <p:nvPr/>
          </p:nvSpPr>
          <p:spPr>
            <a:xfrm>
              <a:off x="3272" y="3112"/>
              <a:ext cx="1" cy="90"/>
            </a:xfrm>
            <a:custGeom>
              <a:avLst/>
              <a:gdLst/>
              <a:ahLst/>
              <a:cxnLst>
                <a:cxn ang="0">
                  <a:pos x="0" y="0"/>
                </a:cxn>
                <a:cxn ang="0">
                  <a:pos x="1" y="29"/>
                </a:cxn>
              </a:cxnLst>
              <a:pathLst>
                <a:path w="1" h="95">
                  <a:moveTo>
                    <a:pt x="0" y="0"/>
                  </a:moveTo>
                  <a:lnTo>
                    <a:pt x="1" y="9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62" name="Line 17"/>
            <p:cNvSpPr/>
            <p:nvPr/>
          </p:nvSpPr>
          <p:spPr>
            <a:xfrm>
              <a:off x="2627" y="3630"/>
              <a:ext cx="1492" cy="0"/>
            </a:xfrm>
            <a:prstGeom prst="line">
              <a:avLst/>
            </a:prstGeom>
            <a:ln w="9525" cap="flat" cmpd="sng">
              <a:solidFill>
                <a:srgbClr val="000000"/>
              </a:solidFill>
              <a:prstDash val="solid"/>
              <a:round/>
              <a:headEnd type="none" w="med" len="med"/>
              <a:tailEnd type="none" w="med" len="med"/>
            </a:ln>
          </p:spPr>
        </p:sp>
        <p:sp>
          <p:nvSpPr>
            <p:cNvPr id="78863" name="Line 18"/>
            <p:cNvSpPr/>
            <p:nvPr/>
          </p:nvSpPr>
          <p:spPr>
            <a:xfrm>
              <a:off x="2627" y="3517"/>
              <a:ext cx="0" cy="113"/>
            </a:xfrm>
            <a:prstGeom prst="line">
              <a:avLst/>
            </a:prstGeom>
            <a:ln w="9525" cap="flat" cmpd="sng">
              <a:solidFill>
                <a:srgbClr val="000000"/>
              </a:solidFill>
              <a:prstDash val="solid"/>
              <a:round/>
              <a:headEnd type="none" w="med" len="med"/>
              <a:tailEnd type="none" w="med" len="med"/>
            </a:ln>
          </p:spPr>
        </p:sp>
        <p:sp>
          <p:nvSpPr>
            <p:cNvPr id="78864" name="Freeform 19"/>
            <p:cNvSpPr/>
            <p:nvPr/>
          </p:nvSpPr>
          <p:spPr>
            <a:xfrm>
              <a:off x="4425" y="3535"/>
              <a:ext cx="0" cy="91"/>
            </a:xfrm>
            <a:custGeom>
              <a:avLst/>
              <a:gdLst/>
              <a:ahLst/>
              <a:cxnLst>
                <a:cxn ang="0">
                  <a:pos x="0" y="0"/>
                </a:cxn>
                <a:cxn ang="0">
                  <a:pos x="0" y="23"/>
                </a:cxn>
              </a:cxnLst>
              <a:pathLst>
                <a:path w="1" h="97">
                  <a:moveTo>
                    <a:pt x="0" y="0"/>
                  </a:moveTo>
                  <a:lnTo>
                    <a:pt x="0" y="9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65" name="Line 20"/>
            <p:cNvSpPr/>
            <p:nvPr/>
          </p:nvSpPr>
          <p:spPr>
            <a:xfrm>
              <a:off x="4141" y="3626"/>
              <a:ext cx="284" cy="0"/>
            </a:xfrm>
            <a:prstGeom prst="line">
              <a:avLst/>
            </a:prstGeom>
            <a:ln w="9525" cap="flat" cmpd="sng">
              <a:solidFill>
                <a:srgbClr val="000000"/>
              </a:solidFill>
              <a:prstDash val="dash"/>
              <a:round/>
              <a:headEnd type="none" w="med" len="med"/>
              <a:tailEnd type="none" w="med" len="med"/>
            </a:ln>
          </p:spPr>
        </p:sp>
        <p:sp>
          <p:nvSpPr>
            <p:cNvPr id="78866" name="Text Box 21"/>
            <p:cNvSpPr txBox="1"/>
            <p:nvPr/>
          </p:nvSpPr>
          <p:spPr>
            <a:xfrm>
              <a:off x="1671" y="1071"/>
              <a:ext cx="897" cy="423"/>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c </a:t>
              </a:r>
              <a:r>
                <a:rPr lang="en-US" altLang="zh-CN" dirty="0">
                  <a:latin typeface="Verdana" panose="020B0604030504040204" pitchFamily="34" charset="0"/>
                  <a:ea typeface="宋体" panose="02010600030101010101" pitchFamily="2" charset="-122"/>
                </a:rPr>
                <a:t>(</a:t>
              </a:r>
              <a:r>
                <a:rPr lang="zh-CN" altLang="en-US" dirty="0">
                  <a:latin typeface="Verdana" panose="020B0604030504040204" pitchFamily="34" charset="0"/>
                  <a:ea typeface="宋体" panose="02010600030101010101" pitchFamily="2" charset="-122"/>
                </a:rPr>
                <a:t>检查点</a:t>
              </a:r>
              <a:r>
                <a:rPr lang="en-US" altLang="zh-CN" dirty="0">
                  <a:latin typeface="Verdana" panose="020B0604030504040204" pitchFamily="34" charset="0"/>
                  <a:ea typeface="宋体" panose="02010600030101010101" pitchFamily="2" charset="-122"/>
                </a:rPr>
                <a:t>)</a:t>
              </a:r>
              <a:endParaRPr lang="en-US" altLang="zh-CN" dirty="0">
                <a:latin typeface="Verdana" panose="020B0604030504040204" pitchFamily="34" charset="0"/>
                <a:ea typeface="宋体" panose="02010600030101010101" pitchFamily="2" charset="-122"/>
              </a:endParaRPr>
            </a:p>
          </p:txBody>
        </p:sp>
        <p:sp>
          <p:nvSpPr>
            <p:cNvPr id="78867" name="Text Box 22"/>
            <p:cNvSpPr txBox="1"/>
            <p:nvPr/>
          </p:nvSpPr>
          <p:spPr>
            <a:xfrm>
              <a:off x="3658" y="1086"/>
              <a:ext cx="896" cy="422"/>
            </a:xfrm>
            <a:prstGeom prst="rect">
              <a:avLst/>
            </a:prstGeom>
            <a:noFill/>
            <a:ln w="9525">
              <a:noFill/>
            </a:ln>
          </p:spPr>
          <p:txBody>
            <a:bodyPr anchor="t" anchorCtr="0"/>
            <a:p>
              <a:pPr algn="just" eaLnBrk="0" hangingPunct="0"/>
              <a:r>
                <a:rPr lang="en-US" altLang="zh-CN" sz="1600" dirty="0">
                  <a:latin typeface="Verdana" panose="020B0604030504040204" pitchFamily="34" charset="0"/>
                  <a:ea typeface="宋体" panose="02010600030101010101" pitchFamily="2" charset="-122"/>
                </a:rPr>
                <a:t>T</a:t>
              </a:r>
              <a:r>
                <a:rPr lang="en-US" altLang="zh-CN" sz="1600" baseline="-25000" dirty="0">
                  <a:latin typeface="Verdana" panose="020B0604030504040204" pitchFamily="34" charset="0"/>
                  <a:ea typeface="宋体" panose="02010600030101010101" pitchFamily="2" charset="-122"/>
                </a:rPr>
                <a:t>f</a:t>
              </a:r>
              <a:r>
                <a:rPr lang="en-US" altLang="zh-CN" sz="1600" dirty="0">
                  <a:latin typeface="Verdana" panose="020B0604030504040204" pitchFamily="34" charset="0"/>
                  <a:ea typeface="宋体" panose="02010600030101010101" pitchFamily="2" charset="-122"/>
                </a:rPr>
                <a:t>(</a:t>
              </a:r>
              <a:r>
                <a:rPr lang="zh-CN" altLang="en-US" sz="1600" dirty="0">
                  <a:latin typeface="Verdana" panose="020B0604030504040204" pitchFamily="34" charset="0"/>
                  <a:ea typeface="宋体" panose="02010600030101010101" pitchFamily="2" charset="-122"/>
                </a:rPr>
                <a:t>系统故障</a:t>
              </a:r>
              <a:r>
                <a:rPr lang="en-US" altLang="zh-CN" sz="1600" dirty="0">
                  <a:latin typeface="Verdana" panose="020B0604030504040204" pitchFamily="34" charset="0"/>
                  <a:ea typeface="宋体" panose="02010600030101010101" pitchFamily="2" charset="-122"/>
                </a:rPr>
                <a:t>)</a:t>
              </a:r>
              <a:endParaRPr lang="en-US" altLang="zh-CN" sz="1600" dirty="0">
                <a:latin typeface="Verdana" panose="020B0604030504040204" pitchFamily="34" charset="0"/>
                <a:ea typeface="宋体" panose="02010600030101010101" pitchFamily="2" charset="-122"/>
              </a:endParaRPr>
            </a:p>
          </p:txBody>
        </p:sp>
        <p:sp>
          <p:nvSpPr>
            <p:cNvPr id="78868" name="Text Box 23"/>
            <p:cNvSpPr txBox="1"/>
            <p:nvPr/>
          </p:nvSpPr>
          <p:spPr>
            <a:xfrm>
              <a:off x="2267" y="2060"/>
              <a:ext cx="716" cy="422"/>
            </a:xfrm>
            <a:prstGeom prst="rect">
              <a:avLst/>
            </a:prstGeom>
            <a:noFill/>
            <a:ln w="9525">
              <a:noFill/>
            </a:ln>
          </p:spPr>
          <p:txBody>
            <a:bodyPr anchor="t" anchorCtr="0"/>
            <a:p>
              <a:pPr eaLnBrk="0" hangingPunct="0"/>
              <a:r>
                <a:rPr lang="en-US" altLang="zh-CN" sz="1200" dirty="0">
                  <a:latin typeface="Verdana" panose="020B0604030504040204" pitchFamily="34" charset="0"/>
                  <a:ea typeface="宋体" panose="02010600030101010101" pitchFamily="2" charset="-122"/>
                </a:rPr>
                <a:t> </a:t>
              </a:r>
              <a:endParaRPr lang="en-US" altLang="zh-CN" sz="1600" dirty="0">
                <a:latin typeface="Verdana" panose="020B0604030504040204" pitchFamily="34" charset="0"/>
                <a:ea typeface="宋体" panose="02010600030101010101" pitchFamily="2" charset="-122"/>
              </a:endParaRPr>
            </a:p>
          </p:txBody>
        </p:sp>
        <p:sp>
          <p:nvSpPr>
            <p:cNvPr id="78869" name="Text Box 24"/>
            <p:cNvSpPr txBox="1"/>
            <p:nvPr/>
          </p:nvSpPr>
          <p:spPr>
            <a:xfrm>
              <a:off x="4610" y="2454"/>
              <a:ext cx="640" cy="423"/>
            </a:xfrm>
            <a:prstGeom prst="rect">
              <a:avLst/>
            </a:prstGeom>
            <a:noFill/>
            <a:ln w="9525">
              <a:noFill/>
            </a:ln>
          </p:spPr>
          <p:txBody>
            <a:bodyPr anchor="t" anchorCtr="0"/>
            <a:p>
              <a:pPr algn="just" eaLnBrk="0" hangingPunct="0"/>
              <a:endParaRPr lang="en-US" altLang="zh-CN" sz="2400" dirty="0">
                <a:latin typeface="Verdana" panose="020B0604030504040204" pitchFamily="34" charset="0"/>
                <a:ea typeface="宋体" panose="02010600030101010101" pitchFamily="2" charset="-122"/>
              </a:endParaRPr>
            </a:p>
          </p:txBody>
        </p:sp>
        <p:sp>
          <p:nvSpPr>
            <p:cNvPr id="78870" name="Text Box 25"/>
            <p:cNvSpPr txBox="1"/>
            <p:nvPr/>
          </p:nvSpPr>
          <p:spPr>
            <a:xfrm>
              <a:off x="4376" y="3281"/>
              <a:ext cx="589" cy="422"/>
            </a:xfrm>
            <a:prstGeom prst="rect">
              <a:avLst/>
            </a:prstGeom>
            <a:noFill/>
            <a:ln w="9525">
              <a:noFill/>
            </a:ln>
          </p:spPr>
          <p:txBody>
            <a:bodyPr anchor="t" anchorCtr="0"/>
            <a:p>
              <a:pPr algn="just" eaLnBrk="0" hangingPunct="0"/>
              <a:endParaRPr lang="en-US" altLang="zh-CN" sz="1600" dirty="0">
                <a:latin typeface="Verdana" panose="020B0604030504040204" pitchFamily="34" charset="0"/>
                <a:ea typeface="宋体" panose="02010600030101010101" pitchFamily="2" charset="-122"/>
              </a:endParaRPr>
            </a:p>
          </p:txBody>
        </p:sp>
        <p:sp>
          <p:nvSpPr>
            <p:cNvPr id="78871" name="Text Box 26"/>
            <p:cNvSpPr txBox="1"/>
            <p:nvPr/>
          </p:nvSpPr>
          <p:spPr>
            <a:xfrm>
              <a:off x="3192" y="2877"/>
              <a:ext cx="716" cy="424"/>
            </a:xfrm>
            <a:prstGeom prst="rect">
              <a:avLst/>
            </a:prstGeom>
            <a:noFill/>
            <a:ln w="9525">
              <a:noFill/>
            </a:ln>
          </p:spPr>
          <p:txBody>
            <a:bodyPr anchor="t" anchorCtr="0"/>
            <a:p>
              <a:pPr eaLnBrk="0" hangingPunct="0"/>
              <a:r>
                <a:rPr lang="en-US" altLang="zh-CN" sz="1200" dirty="0">
                  <a:latin typeface="Verdana" panose="020B0604030504040204" pitchFamily="34" charset="0"/>
                  <a:ea typeface="宋体" panose="02010600030101010101" pitchFamily="2" charset="-122"/>
                </a:rPr>
                <a:t> </a:t>
              </a:r>
              <a:endParaRPr lang="en-US" altLang="zh-CN" sz="1600" dirty="0">
                <a:latin typeface="Verdana" panose="020B0604030504040204" pitchFamily="34" charset="0"/>
                <a:ea typeface="宋体" panose="02010600030101010101" pitchFamily="2" charset="-122"/>
              </a:endParaRPr>
            </a:p>
          </p:txBody>
        </p:sp>
        <p:sp>
          <p:nvSpPr>
            <p:cNvPr id="78872" name="Text Box 27"/>
            <p:cNvSpPr txBox="1"/>
            <p:nvPr/>
          </p:nvSpPr>
          <p:spPr>
            <a:xfrm>
              <a:off x="1084" y="2118"/>
              <a:ext cx="463" cy="422"/>
            </a:xfrm>
            <a:prstGeom prst="rect">
              <a:avLst/>
            </a:prstGeom>
            <a:noFill/>
            <a:ln w="9525">
              <a:noFill/>
            </a:ln>
          </p:spPr>
          <p:txBody>
            <a:bodyPr anchor="t" anchorCtr="0"/>
            <a:p>
              <a:pPr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2</a:t>
              </a:r>
              <a:endParaRPr lang="en-US" altLang="zh-CN" sz="1600" dirty="0">
                <a:latin typeface="Verdana" panose="020B0604030504040204" pitchFamily="34" charset="0"/>
                <a:ea typeface="宋体" panose="02010600030101010101" pitchFamily="2" charset="-122"/>
              </a:endParaRPr>
            </a:p>
          </p:txBody>
        </p:sp>
        <p:sp>
          <p:nvSpPr>
            <p:cNvPr id="78873" name="Text Box 28"/>
            <p:cNvSpPr txBox="1"/>
            <p:nvPr/>
          </p:nvSpPr>
          <p:spPr>
            <a:xfrm>
              <a:off x="1496" y="2525"/>
              <a:ext cx="714" cy="424"/>
            </a:xfrm>
            <a:prstGeom prst="rect">
              <a:avLst/>
            </a:prstGeom>
            <a:noFill/>
            <a:ln w="9525">
              <a:noFill/>
            </a:ln>
          </p:spPr>
          <p:txBody>
            <a:bodyPr anchor="t" anchorCtr="0"/>
            <a:p>
              <a:pPr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3</a:t>
              </a:r>
              <a:endParaRPr lang="en-US" altLang="zh-CN" sz="1600" dirty="0">
                <a:latin typeface="Verdana" panose="020B0604030504040204" pitchFamily="34" charset="0"/>
                <a:ea typeface="宋体" panose="02010600030101010101" pitchFamily="2" charset="-122"/>
              </a:endParaRPr>
            </a:p>
          </p:txBody>
        </p:sp>
        <p:sp>
          <p:nvSpPr>
            <p:cNvPr id="78874" name="Text Box 29"/>
            <p:cNvSpPr txBox="1"/>
            <p:nvPr/>
          </p:nvSpPr>
          <p:spPr>
            <a:xfrm>
              <a:off x="2164" y="2874"/>
              <a:ext cx="715" cy="424"/>
            </a:xfrm>
            <a:prstGeom prst="rect">
              <a:avLst/>
            </a:prstGeom>
            <a:noFill/>
            <a:ln w="9525">
              <a:noFill/>
            </a:ln>
          </p:spPr>
          <p:txBody>
            <a:bodyPr anchor="t" anchorCtr="0"/>
            <a:p>
              <a:pPr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4</a:t>
              </a:r>
              <a:endParaRPr lang="en-US" altLang="zh-CN" sz="1400" dirty="0">
                <a:latin typeface="Verdana" panose="020B0604030504040204" pitchFamily="34" charset="0"/>
                <a:ea typeface="宋体" panose="02010600030101010101" pitchFamily="2" charset="-122"/>
              </a:endParaRPr>
            </a:p>
            <a:p>
              <a:pPr eaLnBrk="0" hangingPunct="0"/>
              <a:endParaRPr lang="en-US" altLang="zh-CN" sz="1400" dirty="0">
                <a:latin typeface="Verdana" panose="020B0604030504040204" pitchFamily="34" charset="0"/>
                <a:ea typeface="宋体" panose="02010600030101010101" pitchFamily="2" charset="-122"/>
              </a:endParaRPr>
            </a:p>
          </p:txBody>
        </p:sp>
        <p:sp>
          <p:nvSpPr>
            <p:cNvPr id="78875" name="Text Box 30"/>
            <p:cNvSpPr txBox="1"/>
            <p:nvPr/>
          </p:nvSpPr>
          <p:spPr>
            <a:xfrm>
              <a:off x="2661" y="3299"/>
              <a:ext cx="715" cy="522"/>
            </a:xfrm>
            <a:prstGeom prst="rect">
              <a:avLst/>
            </a:prstGeom>
            <a:noFill/>
            <a:ln w="9525">
              <a:noFill/>
            </a:ln>
          </p:spPr>
          <p:txBody>
            <a:bodyPr anchor="t" anchorCtr="0"/>
            <a:p>
              <a:pPr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5</a:t>
              </a:r>
              <a:endParaRPr lang="en-US" altLang="zh-CN" sz="1400" dirty="0">
                <a:latin typeface="Verdana" panose="020B0604030504040204" pitchFamily="34" charset="0"/>
                <a:ea typeface="宋体" panose="02010600030101010101" pitchFamily="2" charset="-122"/>
              </a:endParaRPr>
            </a:p>
          </p:txBody>
        </p:sp>
        <p:sp>
          <p:nvSpPr>
            <p:cNvPr id="78876" name="Text Box 31"/>
            <p:cNvSpPr txBox="1"/>
            <p:nvPr/>
          </p:nvSpPr>
          <p:spPr>
            <a:xfrm>
              <a:off x="1247" y="1661"/>
              <a:ext cx="897" cy="424"/>
            </a:xfrm>
            <a:prstGeom prst="rect">
              <a:avLst/>
            </a:prstGeom>
            <a:noFill/>
            <a:ln w="9525">
              <a:noFill/>
            </a:ln>
          </p:spPr>
          <p:txBody>
            <a:bodyPr anchor="t" anchorCtr="0"/>
            <a:p>
              <a:pPr algn="just" eaLnBrk="0" hangingPunct="0"/>
              <a:endParaRPr lang="en-US" altLang="zh-CN" sz="1600" dirty="0">
                <a:latin typeface="Verdana" panose="020B0604030504040204" pitchFamily="34" charset="0"/>
                <a:ea typeface="宋体" panose="02010600030101010101" pitchFamily="2" charset="-122"/>
              </a:endParaRPr>
            </a:p>
          </p:txBody>
        </p:sp>
        <p:sp>
          <p:nvSpPr>
            <p:cNvPr id="78877" name="Text Box 32"/>
            <p:cNvSpPr txBox="1"/>
            <p:nvPr/>
          </p:nvSpPr>
          <p:spPr>
            <a:xfrm>
              <a:off x="981" y="1711"/>
              <a:ext cx="477" cy="422"/>
            </a:xfrm>
            <a:prstGeom prst="rect">
              <a:avLst/>
            </a:prstGeom>
            <a:noFill/>
            <a:ln w="9525">
              <a:noFill/>
            </a:ln>
          </p:spPr>
          <p:txBody>
            <a:bodyPr anchor="t" anchorCtr="0"/>
            <a:p>
              <a:pPr algn="just"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1</a:t>
              </a:r>
              <a:endParaRPr lang="en-US" altLang="zh-CN" sz="1600" dirty="0">
                <a:latin typeface="Verdana" panose="020B0604030504040204" pitchFamily="34" charset="0"/>
                <a:ea typeface="宋体" panose="02010600030101010101" pitchFamily="2" charset="-122"/>
              </a:endParaRPr>
            </a:p>
          </p:txBody>
        </p:sp>
        <p:sp>
          <p:nvSpPr>
            <p:cNvPr id="78878" name="Freeform 33"/>
            <p:cNvSpPr/>
            <p:nvPr/>
          </p:nvSpPr>
          <p:spPr>
            <a:xfrm>
              <a:off x="930" y="2045"/>
              <a:ext cx="463" cy="1"/>
            </a:xfrm>
            <a:custGeom>
              <a:avLst/>
              <a:gdLst/>
              <a:ahLst/>
              <a:cxnLst>
                <a:cxn ang="0">
                  <a:pos x="0" y="0"/>
                </a:cxn>
                <a:cxn ang="0">
                  <a:pos x="1985" y="0"/>
                </a:cxn>
              </a:cxnLst>
              <a:pathLst>
                <a:path w="432" h="1">
                  <a:moveTo>
                    <a:pt x="0" y="0"/>
                  </a:moveTo>
                  <a:lnTo>
                    <a:pt x="432"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79" name="Freeform 34"/>
            <p:cNvSpPr/>
            <p:nvPr/>
          </p:nvSpPr>
          <p:spPr>
            <a:xfrm>
              <a:off x="930" y="1938"/>
              <a:ext cx="1" cy="101"/>
            </a:xfrm>
            <a:custGeom>
              <a:avLst/>
              <a:gdLst/>
              <a:ahLst/>
              <a:cxnLst>
                <a:cxn ang="0">
                  <a:pos x="0" y="0"/>
                </a:cxn>
                <a:cxn ang="0">
                  <a:pos x="0" y="30"/>
                </a:cxn>
              </a:cxnLst>
              <a:pathLst>
                <a:path w="3" h="107">
                  <a:moveTo>
                    <a:pt x="0" y="0"/>
                  </a:moveTo>
                  <a:lnTo>
                    <a:pt x="3" y="10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8880" name="Freeform 35"/>
            <p:cNvSpPr/>
            <p:nvPr/>
          </p:nvSpPr>
          <p:spPr>
            <a:xfrm>
              <a:off x="1393" y="1941"/>
              <a:ext cx="1" cy="98"/>
            </a:xfrm>
            <a:custGeom>
              <a:avLst/>
              <a:gdLst/>
              <a:ahLst/>
              <a:cxnLst>
                <a:cxn ang="0">
                  <a:pos x="0" y="0"/>
                </a:cxn>
                <a:cxn ang="0">
                  <a:pos x="0" y="23"/>
                </a:cxn>
              </a:cxnLst>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p>
              <a:endParaRPr lang="zh-CN" altLang="en-US"/>
            </a:p>
          </p:txBody>
        </p:sp>
      </p:grpSp>
      <p:sp>
        <p:nvSpPr>
          <p:cNvPr id="34" name="Rectangle 2"/>
          <p:cNvSpPr txBox="1">
            <a:spLocks noChangeArrowheads="1"/>
          </p:cNvSpPr>
          <p:nvPr/>
        </p:nvSpPr>
        <p:spPr>
          <a:xfrm>
            <a:off x="571500" y="317500"/>
            <a:ext cx="8001000" cy="735013"/>
          </a:xfrm>
          <a:prstGeom prst="rect">
            <a:avLst/>
          </a:prstGeom>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1200" cap="none" spc="0" normalizeH="0" baseline="0" noProof="0" dirty="0" smtClean="0">
                <a:ln>
                  <a:noFill/>
                </a:ln>
                <a:solidFill>
                  <a:schemeClr val="tx2">
                    <a:satMod val="200000"/>
                  </a:schemeClr>
                </a:solidFill>
                <a:effectLst/>
                <a:uLnTx/>
                <a:uFillTx/>
                <a:latin typeface="+mj-lt"/>
                <a:ea typeface="+mj-ea"/>
                <a:cs typeface="+mj-cs"/>
              </a:rPr>
              <a:t>用检查点</a:t>
            </a:r>
            <a:endParaRPr kumimoji="0" lang="zh-CN" altLang="en-US" sz="3800" b="0" i="0" u="none" strike="noStrike" kern="1200" cap="none" spc="0" normalizeH="0" baseline="0" noProof="0" dirty="0" smtClean="0">
              <a:ln>
                <a:noFill/>
              </a:ln>
              <a:solidFill>
                <a:schemeClr val="tx2">
                  <a:satMod val="200000"/>
                </a:schemeClr>
              </a:solidFill>
              <a:effectLst/>
              <a:uLnTx/>
              <a:uFillTx/>
              <a:latin typeface="+mj-lt"/>
              <a:ea typeface="+mj-ea"/>
              <a:cs typeface="+mj-cs"/>
            </a:endParaRPr>
          </a:p>
        </p:txBody>
      </p:sp>
      <p:sp>
        <p:nvSpPr>
          <p:cNvPr id="35" name="TextBox 34"/>
          <p:cNvSpPr txBox="1"/>
          <p:nvPr/>
        </p:nvSpPr>
        <p:spPr>
          <a:xfrm>
            <a:off x="739775" y="5229225"/>
            <a:ext cx="6784975" cy="954088"/>
          </a:xfrm>
          <a:prstGeom prst="rect">
            <a:avLst/>
          </a:prstGeom>
          <a:noFill/>
          <a:ln w="9525">
            <a:noFill/>
          </a:ln>
        </p:spPr>
        <p:txBody>
          <a:bodyPr anchor="t" anchorCtr="0">
            <a:spAutoFit/>
          </a:bodyPr>
          <a:p>
            <a:r>
              <a:rPr lang="en-US" altLang="zh-CN" sz="2800" dirty="0">
                <a:latin typeface="Verdana" panose="020B0604030504040204" pitchFamily="34" charset="0"/>
                <a:ea typeface="宋体" panose="02010600030101010101" pitchFamily="2" charset="-122"/>
              </a:rPr>
              <a:t>REDO</a:t>
            </a:r>
            <a:r>
              <a:rPr lang="zh-CN" altLang="en-US" sz="2800" dirty="0">
                <a:latin typeface="Verdana" panose="020B0604030504040204" pitchFamily="34" charset="0"/>
                <a:ea typeface="宋体" panose="02010600030101010101" pitchFamily="2" charset="-122"/>
              </a:rPr>
              <a:t>：</a:t>
            </a:r>
            <a:r>
              <a:rPr lang="en-US" altLang="zh-CN" sz="2800" dirty="0">
                <a:latin typeface="Verdana" panose="020B0604030504040204" pitchFamily="34" charset="0"/>
                <a:ea typeface="宋体" panose="02010600030101010101" pitchFamily="2" charset="-122"/>
              </a:rPr>
              <a:t>T2</a:t>
            </a:r>
            <a:r>
              <a:rPr lang="zh-CN" altLang="en-US" sz="2800" dirty="0">
                <a:latin typeface="Verdana" panose="020B0604030504040204" pitchFamily="34" charset="0"/>
                <a:ea typeface="宋体" panose="02010600030101010101" pitchFamily="2" charset="-122"/>
              </a:rPr>
              <a:t>、</a:t>
            </a:r>
            <a:r>
              <a:rPr lang="en-US" altLang="zh-CN" sz="2800" dirty="0">
                <a:latin typeface="Verdana" panose="020B0604030504040204" pitchFamily="34" charset="0"/>
                <a:ea typeface="宋体" panose="02010600030101010101" pitchFamily="2" charset="-122"/>
              </a:rPr>
              <a:t>T4</a:t>
            </a:r>
            <a:endParaRPr lang="en-US" altLang="zh-CN" sz="2800" dirty="0">
              <a:latin typeface="Verdana" panose="020B0604030504040204" pitchFamily="34" charset="0"/>
              <a:ea typeface="宋体" panose="02010600030101010101" pitchFamily="2" charset="-122"/>
            </a:endParaRPr>
          </a:p>
          <a:p>
            <a:r>
              <a:rPr lang="en-US" altLang="zh-CN" sz="2800" dirty="0">
                <a:latin typeface="Verdana" panose="020B0604030504040204" pitchFamily="34" charset="0"/>
                <a:ea typeface="宋体" panose="02010600030101010101" pitchFamily="2" charset="-122"/>
              </a:rPr>
              <a:t>UNDO</a:t>
            </a:r>
            <a:r>
              <a:rPr lang="zh-CN" altLang="en-US" sz="2800" dirty="0">
                <a:latin typeface="Verdana" panose="020B0604030504040204" pitchFamily="34" charset="0"/>
                <a:ea typeface="宋体" panose="02010600030101010101" pitchFamily="2" charset="-122"/>
              </a:rPr>
              <a:t>：</a:t>
            </a:r>
            <a:r>
              <a:rPr lang="en-US" altLang="zh-CN" sz="2800" dirty="0">
                <a:latin typeface="Verdana" panose="020B0604030504040204" pitchFamily="34" charset="0"/>
                <a:ea typeface="宋体" panose="02010600030101010101" pitchFamily="2" charset="-122"/>
              </a:rPr>
              <a:t>T3</a:t>
            </a:r>
            <a:r>
              <a:rPr lang="zh-CN" altLang="en-US" sz="2800" dirty="0">
                <a:latin typeface="Verdana" panose="020B0604030504040204" pitchFamily="34" charset="0"/>
                <a:ea typeface="宋体" panose="02010600030101010101" pitchFamily="2" charset="-122"/>
              </a:rPr>
              <a:t>、</a:t>
            </a:r>
            <a:r>
              <a:rPr lang="en-US" altLang="zh-CN" sz="2800" dirty="0">
                <a:latin typeface="Verdana" panose="020B0604030504040204" pitchFamily="34" charset="0"/>
                <a:ea typeface="宋体" panose="02010600030101010101" pitchFamily="2" charset="-122"/>
              </a:rPr>
              <a:t>T5</a:t>
            </a:r>
            <a:endParaRPr lang="en-US" altLang="zh-CN" sz="2800"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解决方案</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79874" name="Rectangle 3"/>
          <p:cNvSpPr>
            <a:spLocks noGrp="1"/>
          </p:cNvSpPr>
          <p:nvPr>
            <p:ph idx="1"/>
          </p:nvPr>
        </p:nvSpPr>
        <p:spPr>
          <a:xfrm>
            <a:off x="714375" y="1285875"/>
            <a:ext cx="7848600" cy="4786313"/>
          </a:xfrm>
          <a:ln/>
        </p:spPr>
        <p:txBody>
          <a:bodyPr vert="horz" wrap="square" lIns="91440" tIns="45720" rIns="91440" bIns="45720" anchor="t" anchorCtr="0"/>
          <a:p>
            <a:pPr eaLnBrk="1" hangingPunct="1">
              <a:lnSpc>
                <a:spcPct val="120000"/>
              </a:lnSpc>
            </a:pPr>
            <a:r>
              <a:rPr lang="zh-CN" altLang="en-US" dirty="0"/>
              <a:t>具有检查点（</a:t>
            </a:r>
            <a:r>
              <a:rPr lang="en-US" altLang="zh-CN" dirty="0"/>
              <a:t>checkpoint</a:t>
            </a:r>
            <a:r>
              <a:rPr lang="zh-CN" altLang="en-US" dirty="0"/>
              <a:t>）的恢复技术</a:t>
            </a:r>
            <a:endParaRPr lang="zh-CN" altLang="en-US" sz="2400" dirty="0"/>
          </a:p>
          <a:p>
            <a:pPr lvl="1" indent="-436245" eaLnBrk="1" hangingPunct="1">
              <a:lnSpc>
                <a:spcPct val="170000"/>
              </a:lnSpc>
              <a:spcBef>
                <a:spcPct val="30000"/>
              </a:spcBef>
            </a:pPr>
            <a:r>
              <a:rPr lang="zh-CN" altLang="en-US" dirty="0"/>
              <a:t>在</a:t>
            </a:r>
            <a:r>
              <a:rPr lang="zh-CN" altLang="en-US" b="1" dirty="0">
                <a:solidFill>
                  <a:srgbClr val="FF0000"/>
                </a:solidFill>
              </a:rPr>
              <a:t>日志文件</a:t>
            </a:r>
            <a:r>
              <a:rPr lang="zh-CN" altLang="en-US" dirty="0"/>
              <a:t>中增加</a:t>
            </a:r>
            <a:r>
              <a:rPr lang="zh-CN" altLang="en-US" b="1" dirty="0">
                <a:solidFill>
                  <a:srgbClr val="FF0000"/>
                </a:solidFill>
              </a:rPr>
              <a:t>检查点记录</a:t>
            </a:r>
            <a:r>
              <a:rPr lang="zh-CN" altLang="en-US" dirty="0"/>
              <a:t>（</a:t>
            </a:r>
            <a:r>
              <a:rPr lang="en-US" altLang="zh-CN" dirty="0"/>
              <a:t>checkpoint</a:t>
            </a:r>
            <a:r>
              <a:rPr lang="zh-CN" altLang="en-US" dirty="0"/>
              <a:t>）</a:t>
            </a:r>
            <a:endParaRPr lang="zh-CN" altLang="en-US" dirty="0"/>
          </a:p>
          <a:p>
            <a:pPr lvl="1" indent="-436245" eaLnBrk="1" hangingPunct="1">
              <a:lnSpc>
                <a:spcPct val="170000"/>
              </a:lnSpc>
              <a:spcBef>
                <a:spcPct val="30000"/>
              </a:spcBef>
            </a:pPr>
            <a:r>
              <a:rPr lang="zh-CN" altLang="en-US" dirty="0"/>
              <a:t>增加</a:t>
            </a:r>
            <a:r>
              <a:rPr lang="zh-CN" altLang="en-US" b="1" dirty="0">
                <a:solidFill>
                  <a:srgbClr val="FF0000"/>
                </a:solidFill>
              </a:rPr>
              <a:t>重新开始文件</a:t>
            </a:r>
            <a:endParaRPr lang="zh-CN" altLang="en-US" b="1" dirty="0">
              <a:solidFill>
                <a:srgbClr val="FF0000"/>
              </a:solidFill>
            </a:endParaRPr>
          </a:p>
          <a:p>
            <a:pPr lvl="1" indent="-436245" eaLnBrk="1" hangingPunct="1">
              <a:lnSpc>
                <a:spcPct val="170000"/>
              </a:lnSpc>
              <a:spcBef>
                <a:spcPct val="30000"/>
              </a:spcBef>
            </a:pPr>
            <a:r>
              <a:rPr lang="zh-CN" altLang="en-US" dirty="0"/>
              <a:t>恢复子系统在登录日志文件期间</a:t>
            </a:r>
            <a:r>
              <a:rPr lang="zh-CN" altLang="en-US" b="1" dirty="0">
                <a:solidFill>
                  <a:srgbClr val="FF0000"/>
                </a:solidFill>
              </a:rPr>
              <a:t>动态地维护</a:t>
            </a:r>
            <a:r>
              <a:rPr lang="zh-CN" altLang="en-US" dirty="0"/>
              <a:t>日志</a:t>
            </a:r>
            <a:endParaRPr lang="zh-CN" altLang="en-US" dirty="0"/>
          </a:p>
        </p:txBody>
      </p:sp>
    </p:spTree>
  </p:cSld>
  <p:clrMapOvr>
    <a:masterClrMapping/>
  </p:clrMapOvr>
  <p:transition advClick="0"/>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二、检查点技术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80898" name="Rectangle 3"/>
          <p:cNvSpPr>
            <a:spLocks noGrp="1"/>
          </p:cNvSpPr>
          <p:nvPr>
            <p:ph idx="1"/>
          </p:nvPr>
        </p:nvSpPr>
        <p:spPr>
          <a:ln/>
        </p:spPr>
        <p:txBody>
          <a:bodyPr vert="horz" wrap="square" lIns="91440" tIns="45720" rIns="91440" bIns="45720" anchor="t" anchorCtr="0"/>
          <a:p>
            <a:pPr eaLnBrk="1" hangingPunct="1">
              <a:lnSpc>
                <a:spcPct val="150000"/>
              </a:lnSpc>
            </a:pPr>
            <a:r>
              <a:rPr lang="zh-CN" altLang="en-US" dirty="0"/>
              <a:t>检查点记录的内容</a:t>
            </a:r>
            <a:endParaRPr lang="zh-CN" altLang="en-US" sz="2400" dirty="0"/>
          </a:p>
          <a:p>
            <a:pPr lvl="1" indent="-436245" eaLnBrk="1" hangingPunct="1">
              <a:lnSpc>
                <a:spcPct val="150000"/>
              </a:lnSpc>
            </a:pPr>
            <a:r>
              <a:rPr lang="en-US" altLang="zh-CN" dirty="0"/>
              <a:t>1. </a:t>
            </a:r>
            <a:r>
              <a:rPr lang="zh-CN" altLang="en-US" dirty="0"/>
              <a:t>建立检查点时刻</a:t>
            </a:r>
            <a:r>
              <a:rPr lang="zh-CN" altLang="en-US" b="1" dirty="0">
                <a:solidFill>
                  <a:srgbClr val="FF0000"/>
                </a:solidFill>
              </a:rPr>
              <a:t>所有正在执行的事务</a:t>
            </a:r>
            <a:r>
              <a:rPr lang="zh-CN" altLang="en-US" dirty="0"/>
              <a:t>清单</a:t>
            </a:r>
            <a:endParaRPr lang="zh-CN" altLang="en-US" dirty="0"/>
          </a:p>
          <a:p>
            <a:pPr lvl="1" indent="-436245" eaLnBrk="1" hangingPunct="1">
              <a:lnSpc>
                <a:spcPct val="150000"/>
              </a:lnSpc>
            </a:pPr>
            <a:r>
              <a:rPr lang="en-US" altLang="zh-CN" dirty="0"/>
              <a:t>2. </a:t>
            </a:r>
            <a:r>
              <a:rPr lang="zh-CN" altLang="en-US" dirty="0"/>
              <a:t>这些事务最近一个日志记录的地址</a:t>
            </a:r>
            <a:endParaRPr lang="zh-CN" altLang="en-US" dirty="0"/>
          </a:p>
          <a:p>
            <a:pPr eaLnBrk="1" hangingPunct="1">
              <a:lnSpc>
                <a:spcPct val="150000"/>
              </a:lnSpc>
            </a:pPr>
            <a:r>
              <a:rPr lang="zh-CN" altLang="en-US" dirty="0"/>
              <a:t>重新开始文件的内容</a:t>
            </a:r>
            <a:endParaRPr lang="zh-CN" altLang="en-US" sz="2400" dirty="0"/>
          </a:p>
          <a:p>
            <a:pPr lvl="1" indent="-436245" eaLnBrk="1" hangingPunct="1">
              <a:lnSpc>
                <a:spcPct val="150000"/>
              </a:lnSpc>
            </a:pPr>
            <a:r>
              <a:rPr lang="zh-CN" altLang="en-US" dirty="0"/>
              <a:t>记录</a:t>
            </a:r>
            <a:r>
              <a:rPr lang="zh-CN" altLang="en-US" dirty="0">
                <a:solidFill>
                  <a:srgbClr val="FF0000"/>
                </a:solidFill>
              </a:rPr>
              <a:t>各个检查点记录</a:t>
            </a:r>
            <a:r>
              <a:rPr lang="zh-CN" altLang="en-US" dirty="0"/>
              <a:t>在</a:t>
            </a:r>
            <a:r>
              <a:rPr lang="zh-CN" altLang="en-US" dirty="0">
                <a:solidFill>
                  <a:srgbClr val="FF0000"/>
                </a:solidFill>
              </a:rPr>
              <a:t>日志文件中的地址</a:t>
            </a:r>
            <a:endParaRPr lang="zh-CN" altLang="en-US" dirty="0">
              <a:solidFill>
                <a:srgbClr val="FF0000"/>
              </a:solidFill>
            </a:endParaRPr>
          </a:p>
          <a:p>
            <a:pPr eaLnBrk="1" hangingPunct="1"/>
            <a:endParaRPr lang="en-US" altLang="zh-CN" dirty="0"/>
          </a:p>
        </p:txBody>
      </p:sp>
    </p:spTree>
  </p:cSld>
  <p:clrMapOvr>
    <a:masterClrMapping/>
  </p:clrMapOvr>
  <p:transition advClick="0"/>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检查点技术（续）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pic>
        <p:nvPicPr>
          <p:cNvPr id="81922" name="Picture 5" descr="103"/>
          <p:cNvPicPr>
            <a:picLocks noChangeAspect="1"/>
          </p:cNvPicPr>
          <p:nvPr/>
        </p:nvPicPr>
        <p:blipFill>
          <a:blip r:embed="rId1"/>
          <a:stretch>
            <a:fillRect/>
          </a:stretch>
        </p:blipFill>
        <p:spPr>
          <a:xfrm>
            <a:off x="539750" y="1773238"/>
            <a:ext cx="7991475" cy="3470275"/>
          </a:xfrm>
          <a:prstGeom prst="rect">
            <a:avLst/>
          </a:prstGeom>
          <a:noFill/>
          <a:ln w="9525">
            <a:noFill/>
          </a:ln>
        </p:spPr>
      </p:pic>
      <p:sp>
        <p:nvSpPr>
          <p:cNvPr id="81923" name="Text Box 6"/>
          <p:cNvSpPr txBox="1"/>
          <p:nvPr/>
        </p:nvSpPr>
        <p:spPr>
          <a:xfrm>
            <a:off x="2411413" y="5661025"/>
            <a:ext cx="4752975" cy="366713"/>
          </a:xfrm>
          <a:prstGeom prst="rect">
            <a:avLst/>
          </a:prstGeom>
          <a:noFill/>
          <a:ln w="25400">
            <a:noFill/>
          </a:ln>
        </p:spPr>
        <p:txBody>
          <a:bodyPr anchor="t" anchorCtr="0">
            <a:spAutoFit/>
          </a:bodyPr>
          <a:p>
            <a:pPr marL="342900" indent="-342900">
              <a:spcBef>
                <a:spcPct val="50000"/>
              </a:spcBef>
            </a:pPr>
            <a:r>
              <a:rPr lang="zh-CN" altLang="en-US" dirty="0">
                <a:latin typeface="Verdana" panose="020B0604030504040204" pitchFamily="34" charset="0"/>
                <a:ea typeface="宋体" panose="02010600030101010101" pitchFamily="2" charset="-122"/>
              </a:rPr>
              <a:t>具有检查点的日志文件和重新开始文件 </a:t>
            </a:r>
            <a:endParaRPr lang="zh-CN" altLang="en-US" dirty="0">
              <a:latin typeface="Verdana" panose="020B0604030504040204" pitchFamily="34" charset="0"/>
              <a:ea typeface="宋体" panose="02010600030101010101" pitchFamily="2" charset="-122"/>
            </a:endParaRPr>
          </a:p>
        </p:txBody>
      </p:sp>
      <p:cxnSp>
        <p:nvCxnSpPr>
          <p:cNvPr id="3" name="直接连接符 2"/>
          <p:cNvCxnSpPr/>
          <p:nvPr/>
        </p:nvCxnSpPr>
        <p:spPr>
          <a:xfrm>
            <a:off x="2051050" y="2133600"/>
            <a:ext cx="20161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2051050" y="2565400"/>
            <a:ext cx="20161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1926" name="TextBox 5"/>
          <p:cNvSpPr txBox="1"/>
          <p:nvPr/>
        </p:nvSpPr>
        <p:spPr>
          <a:xfrm>
            <a:off x="2886075" y="2852738"/>
            <a:ext cx="461963" cy="576262"/>
          </a:xfrm>
          <a:prstGeom prst="rect">
            <a:avLst/>
          </a:prstGeom>
          <a:noFill/>
          <a:ln w="9525">
            <a:noFill/>
          </a:ln>
        </p:spPr>
        <p:txBody>
          <a:bodyPr vert="eaVert" anchor="t" anchorCtr="0">
            <a:spAutoFit/>
          </a:bodyPr>
          <a:p>
            <a:r>
              <a:rPr lang="en-US" altLang="zh-CN" dirty="0">
                <a:latin typeface="Verdana" panose="020B0604030504040204" pitchFamily="34" charset="0"/>
                <a:ea typeface="宋体" panose="02010600030101010101" pitchFamily="2" charset="-122"/>
              </a:rPr>
              <a:t>……</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动态维护日志文件的方法</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69636" name="Rectangle 3"/>
          <p:cNvSpPr>
            <a:spLocks noGrp="1" noChangeArrowheads="1"/>
          </p:cNvSpPr>
          <p:nvPr>
            <p:ph idx="1"/>
          </p:nvPr>
        </p:nvSpPr>
        <p:spPr>
          <a:xfrm>
            <a:off x="323850" y="1125538"/>
            <a:ext cx="8604250" cy="5183188"/>
          </a:xfrm>
        </p:spPr>
        <p:txBody>
          <a:bodyPr vert="horz" wrap="square" lIns="91440" tIns="45720" rIns="91440" bIns="45720" numCol="1" anchor="t" anchorCtr="0" compatLnSpc="1">
            <a:normAutofit fontScale="25000" lnSpcReduction="20000"/>
          </a:bodyPr>
          <a:lstStyle/>
          <a:p>
            <a:pPr marL="411480" marR="0" lvl="0" indent="-469900" algn="l" defTabSz="914400" rtl="0" eaLnBrk="1" fontAlgn="auto" latinLnBrk="0" hangingPunct="1">
              <a:lnSpc>
                <a:spcPts val="2500"/>
              </a:lnSpc>
              <a:spcBef>
                <a:spcPct val="20000"/>
              </a:spcBef>
              <a:spcAft>
                <a:spcPts val="0"/>
              </a:spcAft>
              <a:buClr>
                <a:schemeClr val="accent2"/>
              </a:buClr>
              <a:buSzTx/>
              <a:buFont typeface="Wingdings" panose="05000000000000000000"/>
              <a:buChar char=""/>
              <a:defRPr/>
            </a:pPr>
            <a:r>
              <a:rPr kumimoji="0" lang="zh-CN" altLang="en-US" sz="11200" b="0" i="0" u="none" strike="noStrike" kern="0" cap="none" spc="0" normalizeH="0" baseline="0" noProof="0" dirty="0" smtClean="0">
                <a:ln>
                  <a:noFill/>
                </a:ln>
                <a:solidFill>
                  <a:schemeClr val="tx1"/>
                </a:solidFill>
                <a:effectLst/>
                <a:uLnTx/>
                <a:uFillTx/>
                <a:latin typeface="+mn-lt"/>
                <a:ea typeface="+mn-ea"/>
                <a:cs typeface="+mn-cs"/>
              </a:rPr>
              <a:t>动态维护日志文件的方法</a:t>
            </a:r>
            <a:endParaRPr kumimoji="0" lang="zh-CN" altLang="en-US" sz="11200" b="0" i="0" u="none" strike="noStrike" kern="0" cap="none" spc="0" normalizeH="0" baseline="0" noProof="0" dirty="0" smtClean="0">
              <a:ln>
                <a:noFill/>
              </a:ln>
              <a:solidFill>
                <a:schemeClr val="tx1"/>
              </a:solidFill>
              <a:effectLst/>
              <a:uLnTx/>
              <a:uFillTx/>
              <a:latin typeface="+mn-lt"/>
              <a:ea typeface="+mn-ea"/>
              <a:cs typeface="+mn-cs"/>
            </a:endParaRPr>
          </a:p>
          <a:p>
            <a:pPr marL="740410" marR="0" lvl="1" indent="-436880" algn="l" defTabSz="914400" rtl="0" eaLnBrk="1" fontAlgn="auto" latinLnBrk="0" hangingPunct="1">
              <a:lnSpc>
                <a:spcPts val="2500"/>
              </a:lnSpc>
              <a:spcBef>
                <a:spcPct val="20000"/>
              </a:spcBef>
              <a:spcAft>
                <a:spcPts val="0"/>
              </a:spcAft>
              <a:buClr>
                <a:schemeClr val="accent2"/>
              </a:buClr>
              <a:buSzTx/>
              <a:buFont typeface="Wingdings" panose="05000000000000000000" pitchFamily="2" charset="2"/>
              <a:buNone/>
              <a:defRPr/>
            </a:pPr>
            <a:r>
              <a:rPr kumimoji="0" lang="zh-CN" altLang="en-US" sz="9600" b="0" i="0" u="none" strike="noStrike" kern="0" cap="none" spc="0" normalizeH="0" baseline="0" noProof="0" dirty="0" smtClean="0">
                <a:ln>
                  <a:noFill/>
                </a:ln>
                <a:solidFill>
                  <a:schemeClr val="tx1"/>
                </a:solidFill>
                <a:effectLst/>
                <a:uLnTx/>
                <a:uFillTx/>
                <a:latin typeface="+mn-lt"/>
                <a:ea typeface="+mn-ea"/>
                <a:cs typeface="+mn-ea"/>
              </a:rPr>
              <a:t>周期性地执行如下操作：建立检查点，保存数据库状态。</a:t>
            </a:r>
            <a:endParaRPr kumimoji="0" lang="zh-CN" altLang="en-US" sz="9600" b="0" i="0" u="none" strike="noStrike" kern="0" cap="none" spc="0" normalizeH="0" baseline="0" noProof="0" dirty="0" smtClean="0">
              <a:ln>
                <a:noFill/>
              </a:ln>
              <a:solidFill>
                <a:schemeClr val="tx1"/>
              </a:solidFill>
              <a:effectLst/>
              <a:uLnTx/>
              <a:uFillTx/>
              <a:latin typeface="+mn-lt"/>
              <a:ea typeface="+mn-ea"/>
              <a:cs typeface="+mn-ea"/>
            </a:endParaRPr>
          </a:p>
          <a:p>
            <a:pPr marL="740410" marR="0" lvl="1" indent="-436880" algn="l" defTabSz="914400" rtl="0" eaLnBrk="1" fontAlgn="auto" latinLnBrk="0" hangingPunct="1">
              <a:lnSpc>
                <a:spcPts val="2500"/>
              </a:lnSpc>
              <a:spcBef>
                <a:spcPct val="20000"/>
              </a:spcBef>
              <a:spcAft>
                <a:spcPts val="0"/>
              </a:spcAft>
              <a:buClr>
                <a:schemeClr val="accent2"/>
              </a:buClr>
              <a:buSzTx/>
              <a:buFont typeface="Wingdings" panose="05000000000000000000" pitchFamily="2" charset="2"/>
              <a:buNone/>
              <a:defRPr/>
            </a:pPr>
            <a:r>
              <a:rPr kumimoji="0" lang="zh-CN" altLang="en-US" sz="9600" b="0" i="0" u="none" strike="noStrike" kern="0" cap="none" spc="0" normalizeH="0" baseline="0" noProof="0" dirty="0" smtClean="0">
                <a:ln>
                  <a:noFill/>
                </a:ln>
                <a:solidFill>
                  <a:schemeClr val="tx1"/>
                </a:solidFill>
                <a:effectLst/>
                <a:uLnTx/>
                <a:uFillTx/>
                <a:latin typeface="+mn-lt"/>
                <a:ea typeface="+mn-ea"/>
                <a:cs typeface="+mn-ea"/>
              </a:rPr>
              <a:t>具体步骤是：</a:t>
            </a:r>
            <a:endParaRPr kumimoji="0" lang="zh-CN" altLang="en-US" sz="9600" b="0" i="0" u="none" strike="noStrike" kern="0" cap="none" spc="0" normalizeH="0" baseline="0" noProof="0" dirty="0" smtClean="0">
              <a:ln>
                <a:noFill/>
              </a:ln>
              <a:solidFill>
                <a:schemeClr val="tx1"/>
              </a:solidFill>
              <a:effectLst/>
              <a:uLnTx/>
              <a:uFillTx/>
              <a:latin typeface="+mn-lt"/>
              <a:ea typeface="+mn-ea"/>
              <a:cs typeface="+mn-ea"/>
            </a:endParaRPr>
          </a:p>
          <a:p>
            <a:pPr marL="360045" marR="0" lvl="1" indent="-436880" algn="l" defTabSz="914400" rtl="0" eaLnBrk="1" fontAlgn="auto" latinLnBrk="0" hangingPunct="1">
              <a:lnSpc>
                <a:spcPts val="2500"/>
              </a:lnSpc>
              <a:spcBef>
                <a:spcPct val="20000"/>
              </a:spcBef>
              <a:spcAft>
                <a:spcPts val="0"/>
              </a:spcAft>
              <a:buClr>
                <a:schemeClr val="accent2"/>
              </a:buClr>
              <a:buSzPct val="75000"/>
              <a:buFont typeface="Wingdings" panose="05000000000000000000" pitchFamily="2" charset="2"/>
              <a:buChar char="n"/>
              <a:defRPr/>
            </a:pPr>
            <a:r>
              <a:rPr kumimoji="0" lang="en-US" altLang="zh-CN" sz="9600" b="0" i="0" u="none" strike="noStrike" kern="0" cap="none" spc="0" normalizeH="0" baseline="0" noProof="0" dirty="0" smtClean="0">
                <a:ln>
                  <a:noFill/>
                </a:ln>
                <a:solidFill>
                  <a:schemeClr val="tx1"/>
                </a:solidFill>
                <a:effectLst/>
                <a:uLnTx/>
                <a:uFillTx/>
                <a:latin typeface="+mn-lt"/>
                <a:ea typeface="+mn-ea"/>
                <a:cs typeface="+mn-ea"/>
              </a:rPr>
              <a:t>1.</a:t>
            </a:r>
            <a:r>
              <a:rPr kumimoji="0" lang="zh-CN" altLang="en-US" sz="9600" b="0" i="0" u="none" strike="noStrike" kern="0" cap="none" spc="0" normalizeH="0" baseline="0" noProof="0" dirty="0" smtClean="0">
                <a:ln>
                  <a:noFill/>
                </a:ln>
                <a:solidFill>
                  <a:schemeClr val="tx1"/>
                </a:solidFill>
                <a:effectLst/>
                <a:uLnTx/>
                <a:uFillTx/>
                <a:latin typeface="+mn-lt"/>
                <a:ea typeface="+mn-ea"/>
                <a:cs typeface="+mn-ea"/>
              </a:rPr>
              <a:t>将当前</a:t>
            </a:r>
            <a:r>
              <a:rPr kumimoji="0" lang="zh-CN" altLang="en-US" sz="9600" b="1" i="0" u="none" strike="noStrike" kern="0" cap="none" spc="0" normalizeH="0" baseline="0" noProof="0" dirty="0" smtClean="0">
                <a:ln>
                  <a:noFill/>
                </a:ln>
                <a:solidFill>
                  <a:srgbClr val="FF0000"/>
                </a:solidFill>
                <a:effectLst/>
                <a:uLnTx/>
                <a:uFillTx/>
                <a:latin typeface="+mn-lt"/>
                <a:ea typeface="+mn-ea"/>
                <a:cs typeface="+mn-ea"/>
              </a:rPr>
              <a:t>日志</a:t>
            </a:r>
            <a:r>
              <a:rPr kumimoji="0" lang="zh-CN" altLang="en-US" sz="9600" b="0" i="0" u="none" strike="noStrike" kern="0" cap="none" spc="0" normalizeH="0" baseline="0" noProof="0" dirty="0" smtClean="0">
                <a:ln>
                  <a:noFill/>
                </a:ln>
                <a:solidFill>
                  <a:schemeClr val="tx1"/>
                </a:solidFill>
                <a:effectLst/>
                <a:uLnTx/>
                <a:uFillTx/>
                <a:latin typeface="+mn-lt"/>
                <a:ea typeface="+mn-ea"/>
                <a:cs typeface="+mn-ea"/>
              </a:rPr>
              <a:t>缓冲区中的所有日志记录，写入磁盘的日志文件上。</a:t>
            </a:r>
            <a:r>
              <a:rPr kumimoji="0" lang="zh-CN" altLang="en-US" sz="9600" b="1" i="0" u="none" strike="noStrike" kern="0" cap="none" spc="0" normalizeH="0" baseline="0" noProof="0" dirty="0" smtClean="0">
                <a:ln>
                  <a:noFill/>
                </a:ln>
                <a:solidFill>
                  <a:srgbClr val="0000FF"/>
                </a:solidFill>
                <a:effectLst/>
                <a:uLnTx/>
                <a:uFillTx/>
                <a:latin typeface="+mn-lt"/>
                <a:ea typeface="+mn-ea"/>
                <a:cs typeface="+mn-ea"/>
              </a:rPr>
              <a:t>即写日志</a:t>
            </a:r>
            <a:r>
              <a:rPr kumimoji="0" lang="zh-CN" altLang="en-US" sz="9600" b="0" i="0" u="none" strike="noStrike" kern="0" cap="none" spc="0" normalizeH="0" baseline="0" noProof="0" dirty="0" smtClean="0">
                <a:ln>
                  <a:noFill/>
                </a:ln>
                <a:solidFill>
                  <a:schemeClr val="tx1"/>
                </a:solidFill>
                <a:effectLst/>
                <a:uLnTx/>
                <a:uFillTx/>
                <a:latin typeface="+mn-lt"/>
                <a:ea typeface="+mn-ea"/>
                <a:cs typeface="+mn-ea"/>
              </a:rPr>
              <a:t>。</a:t>
            </a:r>
            <a:endParaRPr kumimoji="0" lang="zh-CN" altLang="en-US" sz="9600" b="0" i="0" u="none" strike="noStrike" kern="0" cap="none" spc="0" normalizeH="0" baseline="0" noProof="0" dirty="0" smtClean="0">
              <a:ln>
                <a:noFill/>
              </a:ln>
              <a:solidFill>
                <a:schemeClr val="tx1"/>
              </a:solidFill>
              <a:effectLst/>
              <a:uLnTx/>
              <a:uFillTx/>
              <a:latin typeface="+mn-lt"/>
              <a:ea typeface="+mn-ea"/>
              <a:cs typeface="+mn-ea"/>
            </a:endParaRPr>
          </a:p>
          <a:p>
            <a:pPr marL="360045" marR="0" lvl="1" indent="-436880" algn="l" defTabSz="914400" rtl="0" eaLnBrk="1" fontAlgn="auto" latinLnBrk="0" hangingPunct="1">
              <a:lnSpc>
                <a:spcPts val="2500"/>
              </a:lnSpc>
              <a:spcBef>
                <a:spcPct val="40000"/>
              </a:spcBef>
              <a:spcAft>
                <a:spcPts val="0"/>
              </a:spcAft>
              <a:buClr>
                <a:schemeClr val="accent2"/>
              </a:buClr>
              <a:buSzPct val="75000"/>
              <a:buFont typeface="Wingdings" panose="05000000000000000000" pitchFamily="2" charset="2"/>
              <a:buChar char="n"/>
              <a:defRPr/>
            </a:pPr>
            <a:r>
              <a:rPr kumimoji="0" lang="en-US" altLang="zh-CN" sz="9600" b="0" i="0" u="none" strike="noStrike" kern="0" cap="none" spc="0" normalizeH="0" baseline="0" noProof="0" dirty="0" smtClean="0">
                <a:ln>
                  <a:noFill/>
                </a:ln>
                <a:solidFill>
                  <a:schemeClr val="tx1"/>
                </a:solidFill>
                <a:effectLst/>
                <a:uLnTx/>
                <a:uFillTx/>
                <a:latin typeface="+mn-lt"/>
                <a:ea typeface="+mn-ea"/>
                <a:cs typeface="+mn-ea"/>
              </a:rPr>
              <a:t>2.</a:t>
            </a:r>
            <a:r>
              <a:rPr kumimoji="0" lang="zh-CN" altLang="en-US" sz="9600" b="0" i="0" u="none" strike="noStrike" kern="0" cap="none" spc="0" normalizeH="0" baseline="0" noProof="0" dirty="0" smtClean="0">
                <a:ln>
                  <a:noFill/>
                </a:ln>
                <a:solidFill>
                  <a:schemeClr val="tx1"/>
                </a:solidFill>
                <a:effectLst/>
                <a:uLnTx/>
                <a:uFillTx/>
                <a:latin typeface="+mn-lt"/>
                <a:ea typeface="+mn-ea"/>
                <a:cs typeface="+mn-ea"/>
              </a:rPr>
              <a:t>在日志文件中写入一个</a:t>
            </a:r>
            <a:r>
              <a:rPr kumimoji="0" lang="zh-CN" altLang="en-US" sz="9600" b="1" i="0" u="none" strike="noStrike" kern="0" cap="none" spc="0" normalizeH="0" baseline="0" noProof="0" dirty="0" smtClean="0">
                <a:ln>
                  <a:noFill/>
                </a:ln>
                <a:solidFill>
                  <a:srgbClr val="FF0000"/>
                </a:solidFill>
                <a:effectLst/>
                <a:uLnTx/>
                <a:uFillTx/>
                <a:latin typeface="+mn-lt"/>
                <a:ea typeface="+mn-ea"/>
                <a:cs typeface="+mn-ea"/>
              </a:rPr>
              <a:t>检查点记录</a:t>
            </a:r>
            <a:endParaRPr kumimoji="0" lang="zh-CN" altLang="en-US" sz="9600" b="1" i="0" u="none" strike="noStrike" kern="0" cap="none" spc="0" normalizeH="0" baseline="0" noProof="0" dirty="0" smtClean="0">
              <a:ln>
                <a:noFill/>
              </a:ln>
              <a:solidFill>
                <a:srgbClr val="FF0000"/>
              </a:solidFill>
              <a:effectLst/>
              <a:uLnTx/>
              <a:uFillTx/>
              <a:latin typeface="+mn-lt"/>
              <a:ea typeface="+mn-ea"/>
              <a:cs typeface="+mn-ea"/>
            </a:endParaRPr>
          </a:p>
          <a:p>
            <a:pPr marL="360045" marR="0" lvl="1" indent="-436880" algn="l" defTabSz="914400" rtl="0" eaLnBrk="1" fontAlgn="auto" latinLnBrk="0" hangingPunct="1">
              <a:lnSpc>
                <a:spcPts val="2500"/>
              </a:lnSpc>
              <a:spcBef>
                <a:spcPct val="40000"/>
              </a:spcBef>
              <a:spcAft>
                <a:spcPts val="0"/>
              </a:spcAft>
              <a:buClr>
                <a:schemeClr val="accent2"/>
              </a:buClr>
              <a:buSzPct val="75000"/>
              <a:buFont typeface="Wingdings" panose="05000000000000000000" pitchFamily="2" charset="2"/>
              <a:buChar char="n"/>
              <a:defRPr/>
            </a:pPr>
            <a:r>
              <a:rPr kumimoji="0" lang="en-US" altLang="zh-CN" sz="9600" b="0" i="0" u="none" strike="noStrike" kern="0" cap="none" spc="0" normalizeH="0" baseline="0" noProof="0" dirty="0" smtClean="0">
                <a:ln>
                  <a:noFill/>
                </a:ln>
                <a:solidFill>
                  <a:schemeClr val="tx1"/>
                </a:solidFill>
                <a:effectLst/>
                <a:uLnTx/>
                <a:uFillTx/>
                <a:latin typeface="+mn-lt"/>
                <a:ea typeface="+mn-ea"/>
                <a:cs typeface="+mn-ea"/>
              </a:rPr>
              <a:t>3.</a:t>
            </a:r>
            <a:r>
              <a:rPr kumimoji="0" lang="zh-CN" altLang="en-US" sz="9600" b="0" i="0" u="none" strike="noStrike" kern="0" cap="none" spc="0" normalizeH="0" baseline="0" noProof="0" dirty="0" smtClean="0">
                <a:ln>
                  <a:noFill/>
                </a:ln>
                <a:solidFill>
                  <a:schemeClr val="tx1"/>
                </a:solidFill>
                <a:effectLst/>
                <a:uLnTx/>
                <a:uFillTx/>
                <a:latin typeface="+mn-lt"/>
                <a:ea typeface="+mn-ea"/>
                <a:cs typeface="+mn-ea"/>
              </a:rPr>
              <a:t>将当前</a:t>
            </a:r>
            <a:r>
              <a:rPr kumimoji="0" lang="zh-CN" altLang="en-US" sz="9600" b="1" i="0" u="none" strike="noStrike" kern="0" cap="none" spc="0" normalizeH="0" baseline="0" noProof="0" dirty="0" smtClean="0">
                <a:ln>
                  <a:noFill/>
                </a:ln>
                <a:solidFill>
                  <a:srgbClr val="FF0000"/>
                </a:solidFill>
                <a:effectLst/>
                <a:uLnTx/>
                <a:uFillTx/>
                <a:latin typeface="+mn-lt"/>
                <a:ea typeface="+mn-ea"/>
                <a:cs typeface="+mn-ea"/>
              </a:rPr>
              <a:t>数据</a:t>
            </a:r>
            <a:r>
              <a:rPr kumimoji="0" lang="zh-CN" altLang="en-US" sz="9600" b="0" i="0" u="none" strike="noStrike" kern="0" cap="none" spc="0" normalizeH="0" baseline="0" noProof="0" dirty="0" smtClean="0">
                <a:ln>
                  <a:noFill/>
                </a:ln>
                <a:solidFill>
                  <a:schemeClr val="tx1"/>
                </a:solidFill>
                <a:effectLst/>
                <a:uLnTx/>
                <a:uFillTx/>
                <a:latin typeface="+mn-lt"/>
                <a:ea typeface="+mn-ea"/>
                <a:cs typeface="+mn-ea"/>
              </a:rPr>
              <a:t>缓冲区的所有数据记录写入磁盘的数据库中。</a:t>
            </a:r>
            <a:r>
              <a:rPr kumimoji="0" lang="zh-CN" altLang="en-US" sz="9600" b="1" i="0" u="none" strike="noStrike" kern="0" cap="none" spc="0" normalizeH="0" baseline="0" noProof="0" dirty="0" smtClean="0">
                <a:ln>
                  <a:noFill/>
                </a:ln>
                <a:solidFill>
                  <a:srgbClr val="0000FF"/>
                </a:solidFill>
                <a:effectLst/>
                <a:uLnTx/>
                <a:uFillTx/>
                <a:latin typeface="+mn-lt"/>
                <a:ea typeface="+mn-ea"/>
                <a:cs typeface="+mn-ea"/>
              </a:rPr>
              <a:t>即写数据库。</a:t>
            </a:r>
            <a:endParaRPr kumimoji="0" lang="zh-CN" altLang="en-US" sz="9600" b="1" i="0" u="none" strike="noStrike" kern="0" cap="none" spc="0" normalizeH="0" baseline="0" noProof="0" dirty="0" smtClean="0">
              <a:ln>
                <a:noFill/>
              </a:ln>
              <a:solidFill>
                <a:srgbClr val="0000FF"/>
              </a:solidFill>
              <a:effectLst/>
              <a:uLnTx/>
              <a:uFillTx/>
              <a:latin typeface="+mn-lt"/>
              <a:ea typeface="+mn-ea"/>
              <a:cs typeface="+mn-ea"/>
            </a:endParaRPr>
          </a:p>
          <a:p>
            <a:pPr marL="360045" marR="0" lvl="1" indent="-436880" algn="l" defTabSz="914400" rtl="0" eaLnBrk="1" fontAlgn="auto" latinLnBrk="0" hangingPunct="1">
              <a:lnSpc>
                <a:spcPts val="2500"/>
              </a:lnSpc>
              <a:spcBef>
                <a:spcPct val="40000"/>
              </a:spcBef>
              <a:spcAft>
                <a:spcPts val="0"/>
              </a:spcAft>
              <a:buClr>
                <a:schemeClr val="accent2"/>
              </a:buClr>
              <a:buSzPct val="75000"/>
              <a:buFont typeface="Wingdings" panose="05000000000000000000" pitchFamily="2" charset="2"/>
              <a:buChar char="n"/>
              <a:defRPr/>
            </a:pPr>
            <a:r>
              <a:rPr kumimoji="0" lang="en-US" altLang="zh-CN" sz="9600" b="0" i="0" u="none" strike="noStrike" kern="0" cap="none" spc="0" normalizeH="0" baseline="0" noProof="0" dirty="0" smtClean="0">
                <a:ln>
                  <a:noFill/>
                </a:ln>
                <a:solidFill>
                  <a:schemeClr val="tx1"/>
                </a:solidFill>
                <a:effectLst/>
                <a:uLnTx/>
                <a:uFillTx/>
                <a:latin typeface="+mn-lt"/>
                <a:ea typeface="+mn-ea"/>
                <a:cs typeface="+mn-ea"/>
              </a:rPr>
              <a:t>4.</a:t>
            </a:r>
            <a:r>
              <a:rPr kumimoji="0" lang="zh-CN" altLang="en-US" sz="9600" b="0" i="0" u="none" strike="noStrike" kern="0" cap="none" spc="0" normalizeH="0" baseline="0" noProof="0" dirty="0" smtClean="0">
                <a:ln>
                  <a:noFill/>
                </a:ln>
                <a:solidFill>
                  <a:schemeClr val="tx1"/>
                </a:solidFill>
                <a:effectLst/>
                <a:uLnTx/>
                <a:uFillTx/>
                <a:latin typeface="+mn-lt"/>
                <a:ea typeface="+mn-ea"/>
                <a:cs typeface="+mn-ea"/>
              </a:rPr>
              <a:t>把检查点记录在日志文件中的地址写入到</a:t>
            </a:r>
            <a:r>
              <a:rPr kumimoji="0" lang="zh-CN" altLang="en-US" sz="9600" b="0" i="0" u="none" strike="noStrike" kern="0" cap="none" spc="0" normalizeH="0" baseline="0" noProof="0" dirty="0" smtClean="0">
                <a:ln>
                  <a:noFill/>
                </a:ln>
                <a:solidFill>
                  <a:srgbClr val="FF0000"/>
                </a:solidFill>
                <a:effectLst/>
                <a:uLnTx/>
                <a:uFillTx/>
                <a:latin typeface="+mn-lt"/>
                <a:ea typeface="+mn-ea"/>
                <a:cs typeface="+mn-ea"/>
              </a:rPr>
              <a:t>重新开始文件。</a:t>
            </a:r>
            <a:endParaRPr kumimoji="0" lang="en-US" altLang="zh-CN" sz="9600" b="0" i="0" u="none" strike="noStrike" kern="0" cap="none" spc="0" normalizeH="0" baseline="0" noProof="0" dirty="0" smtClean="0">
              <a:ln>
                <a:noFill/>
              </a:ln>
              <a:solidFill>
                <a:srgbClr val="FF0000"/>
              </a:solidFill>
              <a:effectLst/>
              <a:uLnTx/>
              <a:uFillTx/>
              <a:latin typeface="+mn-lt"/>
              <a:ea typeface="+mn-ea"/>
              <a:cs typeface="+mn-ea"/>
            </a:endParaRPr>
          </a:p>
          <a:p>
            <a:pPr marL="360045" marR="0" lvl="1" indent="-436880" algn="l" defTabSz="914400" rtl="0" eaLnBrk="1" fontAlgn="auto" latinLnBrk="0" hangingPunct="1">
              <a:lnSpc>
                <a:spcPts val="2500"/>
              </a:lnSpc>
              <a:spcBef>
                <a:spcPct val="40000"/>
              </a:spcBef>
              <a:spcAft>
                <a:spcPts val="0"/>
              </a:spcAft>
              <a:buClr>
                <a:schemeClr val="accent2"/>
              </a:buClr>
              <a:buSzPct val="75000"/>
              <a:buFont typeface="Wingdings" panose="05000000000000000000" pitchFamily="2" charset="2"/>
              <a:buChar char="n"/>
              <a:defRPr/>
            </a:pPr>
            <a:r>
              <a:rPr kumimoji="0" lang="zh-CN" altLang="en-US" sz="9600" b="0" i="0" u="none" strike="noStrike" kern="0" cap="none" spc="0" normalizeH="0" baseline="0" noProof="0" dirty="0" smtClean="0">
                <a:ln>
                  <a:noFill/>
                </a:ln>
                <a:solidFill>
                  <a:srgbClr val="FF0000"/>
                </a:solidFill>
                <a:effectLst/>
                <a:uLnTx/>
                <a:uFillTx/>
                <a:latin typeface="+mn-lt"/>
                <a:ea typeface="+mn-ea"/>
                <a:cs typeface="+mn-ea"/>
              </a:rPr>
              <a:t>总结：先写日志文件（包括检查点记录），然后写数据文件，然后是从新开始文件。</a:t>
            </a:r>
            <a:endParaRPr kumimoji="0" lang="en-US" altLang="zh-CN" sz="9600" b="0" i="0" u="none" strike="noStrike" kern="0" cap="none" spc="0" normalizeH="0" baseline="0" noProof="0" dirty="0" smtClean="0">
              <a:ln>
                <a:noFill/>
              </a:ln>
              <a:solidFill>
                <a:srgbClr val="FF0000"/>
              </a:solidFill>
              <a:effectLst/>
              <a:uLnTx/>
              <a:uFillTx/>
              <a:latin typeface="+mn-lt"/>
              <a:ea typeface="+mn-ea"/>
              <a:cs typeface="+mn-ea"/>
            </a:endParaRPr>
          </a:p>
          <a:p>
            <a:pPr marL="360045" marR="0" lvl="1" indent="-436880" algn="l" defTabSz="914400" rtl="0" eaLnBrk="1" fontAlgn="auto" latinLnBrk="0" hangingPunct="1">
              <a:lnSpc>
                <a:spcPts val="2500"/>
              </a:lnSpc>
              <a:spcBef>
                <a:spcPct val="40000"/>
              </a:spcBef>
              <a:spcAft>
                <a:spcPts val="0"/>
              </a:spcAft>
              <a:buClr>
                <a:schemeClr val="accent2"/>
              </a:buClr>
              <a:buSzPct val="75000"/>
              <a:buFont typeface="Wingdings" panose="05000000000000000000" pitchFamily="2" charset="2"/>
              <a:buChar char="n"/>
              <a:defRPr/>
            </a:pPr>
            <a:r>
              <a:rPr kumimoji="0" lang="zh-CN" altLang="en-US" sz="9600" b="0" i="0" u="none" strike="noStrike" kern="0" cap="none" spc="0" normalizeH="0" baseline="0" noProof="0" dirty="0" smtClean="0">
                <a:ln>
                  <a:noFill/>
                </a:ln>
                <a:solidFill>
                  <a:srgbClr val="FF0000"/>
                </a:solidFill>
                <a:effectLst/>
                <a:uLnTx/>
                <a:uFillTx/>
                <a:latin typeface="+mn-lt"/>
                <a:ea typeface="+mn-ea"/>
                <a:cs typeface="+mn-ea"/>
              </a:rPr>
              <a:t>在重新开始文件中找到的最近一个检查点记录之前的内容都已经写入磁盘。</a:t>
            </a:r>
            <a:endParaRPr kumimoji="0" lang="en-US" altLang="zh-CN" sz="9600" b="0" i="0" u="none" strike="noStrike" kern="0" cap="none" spc="0" normalizeH="0" baseline="0" noProof="0" dirty="0" smtClean="0">
              <a:ln>
                <a:noFill/>
              </a:ln>
              <a:solidFill>
                <a:srgbClr val="FF0000"/>
              </a:solidFill>
              <a:effectLst/>
              <a:uLnTx/>
              <a:uFillTx/>
              <a:latin typeface="+mn-lt"/>
              <a:ea typeface="+mn-ea"/>
              <a:cs typeface="+mn-ea"/>
            </a:endParaRPr>
          </a:p>
          <a:p>
            <a:pPr marL="360045" marR="0" lvl="1" indent="-436880" algn="l" defTabSz="914400" rtl="0" eaLnBrk="1" fontAlgn="auto" latinLnBrk="0" hangingPunct="1">
              <a:lnSpc>
                <a:spcPts val="2500"/>
              </a:lnSpc>
              <a:spcBef>
                <a:spcPct val="40000"/>
              </a:spcBef>
              <a:spcAft>
                <a:spcPts val="0"/>
              </a:spcAft>
              <a:buClr>
                <a:schemeClr val="accent2"/>
              </a:buClr>
              <a:buSzPct val="75000"/>
              <a:buFont typeface="Wingdings" panose="05000000000000000000" pitchFamily="2" charset="2"/>
              <a:buChar char="n"/>
              <a:defRPr/>
            </a:pPr>
            <a:r>
              <a:rPr kumimoji="0" lang="zh-CN" altLang="en-US" sz="9600" b="0" i="0" u="none" strike="noStrike" kern="0" cap="none" spc="0" normalizeH="0" baseline="0" noProof="0" dirty="0" smtClean="0">
                <a:ln>
                  <a:noFill/>
                </a:ln>
                <a:solidFill>
                  <a:srgbClr val="FF0000"/>
                </a:solidFill>
                <a:effectLst/>
                <a:uLnTx/>
                <a:uFillTx/>
                <a:latin typeface="+mn-lt"/>
                <a:ea typeface="+mn-ea"/>
                <a:cs typeface="+mn-ea"/>
              </a:rPr>
              <a:t>思考：检查点是检查什么的？</a:t>
            </a:r>
            <a:endParaRPr kumimoji="0" lang="zh-CN" altLang="en-US" sz="9600" b="0" i="0" u="none" strike="noStrike" kern="0" cap="none" spc="0" normalizeH="0" baseline="0" noProof="0" dirty="0" smtClean="0">
              <a:ln>
                <a:noFill/>
              </a:ln>
              <a:solidFill>
                <a:srgbClr val="FF0000"/>
              </a:solidFill>
              <a:effectLst/>
              <a:uLnTx/>
              <a:uFillTx/>
              <a:latin typeface="+mn-lt"/>
              <a:ea typeface="+mn-ea"/>
              <a:cs typeface="+mn-ea"/>
            </a:endParaRPr>
          </a:p>
        </p:txBody>
      </p:sp>
    </p:spTree>
  </p:cSld>
  <p:clrMapOvr>
    <a:masterClrMapping/>
  </p:clrMapOvr>
  <p:transition advClick="0"/>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建立检查点</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83970" name="Rectangle 3"/>
          <p:cNvSpPr>
            <a:spLocks noGrp="1"/>
          </p:cNvSpPr>
          <p:nvPr>
            <p:ph idx="1"/>
          </p:nvPr>
        </p:nvSpPr>
        <p:spPr>
          <a:ln/>
        </p:spPr>
        <p:txBody>
          <a:bodyPr vert="horz" wrap="square" lIns="91440" tIns="45720" rIns="91440" bIns="45720" anchor="t" anchorCtr="0"/>
          <a:p>
            <a:pPr eaLnBrk="1" hangingPunct="1">
              <a:lnSpc>
                <a:spcPct val="130000"/>
              </a:lnSpc>
            </a:pPr>
            <a:r>
              <a:rPr lang="zh-CN" altLang="en-US" dirty="0"/>
              <a:t>恢复子系统可以定期或不定期地建立检查点</a:t>
            </a:r>
            <a:r>
              <a:rPr lang="en-US" altLang="zh-CN" dirty="0"/>
              <a:t>,</a:t>
            </a:r>
            <a:r>
              <a:rPr lang="zh-CN" altLang="en-US" dirty="0"/>
              <a:t>保存数据库状态 </a:t>
            </a:r>
            <a:endParaRPr lang="zh-CN" altLang="en-US" dirty="0"/>
          </a:p>
          <a:p>
            <a:pPr lvl="1" indent="-436245" eaLnBrk="1" hangingPunct="1">
              <a:lnSpc>
                <a:spcPct val="130000"/>
              </a:lnSpc>
              <a:buFont typeface="Wingdings" panose="05000000000000000000" pitchFamily="2" charset="2"/>
              <a:buChar char="n"/>
            </a:pPr>
            <a:r>
              <a:rPr lang="zh-CN" altLang="en-US" dirty="0"/>
              <a:t>定期</a:t>
            </a:r>
            <a:endParaRPr lang="zh-CN" altLang="en-US" dirty="0"/>
          </a:p>
          <a:p>
            <a:pPr lvl="2" indent="-394970" eaLnBrk="1" hangingPunct="1">
              <a:lnSpc>
                <a:spcPct val="130000"/>
              </a:lnSpc>
              <a:buFont typeface="Wingdings" panose="05000000000000000000" pitchFamily="2" charset="2"/>
              <a:buChar char="Ø"/>
            </a:pPr>
            <a:r>
              <a:rPr lang="zh-CN" altLang="en-US" dirty="0"/>
              <a:t>按照预定的一个时间间隔，如每隔一小时建立一个检查点 </a:t>
            </a:r>
            <a:endParaRPr lang="zh-CN" altLang="en-US" dirty="0"/>
          </a:p>
          <a:p>
            <a:pPr lvl="1" indent="-436245" eaLnBrk="1" hangingPunct="1">
              <a:lnSpc>
                <a:spcPct val="130000"/>
              </a:lnSpc>
              <a:buFont typeface="Wingdings" panose="05000000000000000000" pitchFamily="2" charset="2"/>
              <a:buChar char="n"/>
            </a:pPr>
            <a:r>
              <a:rPr lang="zh-CN" altLang="en-US" dirty="0"/>
              <a:t>不定期</a:t>
            </a:r>
            <a:endParaRPr lang="zh-CN" altLang="en-US" dirty="0"/>
          </a:p>
          <a:p>
            <a:pPr lvl="2" indent="-394970" eaLnBrk="1" hangingPunct="1">
              <a:lnSpc>
                <a:spcPct val="130000"/>
              </a:lnSpc>
              <a:buFont typeface="Wingdings" panose="05000000000000000000" pitchFamily="2" charset="2"/>
              <a:buChar char="Ø"/>
            </a:pPr>
            <a:r>
              <a:rPr lang="zh-CN" altLang="en-US" dirty="0"/>
              <a:t>按照某种规则，如日志文件已写满一半建立一个检查点</a:t>
            </a:r>
            <a:endParaRPr lang="zh-CN" altLang="en-US" dirty="0"/>
          </a:p>
        </p:txBody>
      </p:sp>
    </p:spTree>
  </p:cSld>
  <p:clrMapOvr>
    <a:masterClrMapping/>
  </p:clrMapOvr>
  <p:transition advClick="0"/>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三、利用检查点的恢复策略</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84994" name="Rectangle 3"/>
          <p:cNvSpPr>
            <a:spLocks noGrp="1"/>
          </p:cNvSpPr>
          <p:nvPr>
            <p:ph idx="1"/>
          </p:nvPr>
        </p:nvSpPr>
        <p:spPr>
          <a:xfrm>
            <a:off x="323850" y="1143000"/>
            <a:ext cx="8424863" cy="4876800"/>
          </a:xfrm>
          <a:ln/>
        </p:spPr>
        <p:txBody>
          <a:bodyPr vert="horz" wrap="square" lIns="91440" tIns="45720" rIns="91440" bIns="45720" anchor="t" anchorCtr="0"/>
          <a:p>
            <a:pPr eaLnBrk="1" hangingPunct="1">
              <a:lnSpc>
                <a:spcPct val="165000"/>
              </a:lnSpc>
              <a:spcBef>
                <a:spcPct val="60000"/>
              </a:spcBef>
            </a:pPr>
            <a:r>
              <a:rPr lang="zh-CN" altLang="en-US" dirty="0"/>
              <a:t>使用检查点方法可以</a:t>
            </a:r>
            <a:r>
              <a:rPr lang="zh-CN" altLang="en-US" b="1" dirty="0">
                <a:solidFill>
                  <a:srgbClr val="FF0000"/>
                </a:solidFill>
              </a:rPr>
              <a:t>改善恢复效率</a:t>
            </a:r>
            <a:endParaRPr lang="zh-CN" altLang="en-US" b="1" dirty="0">
              <a:solidFill>
                <a:srgbClr val="FF0000"/>
              </a:solidFill>
            </a:endParaRPr>
          </a:p>
          <a:p>
            <a:pPr lvl="1" indent="-436245" eaLnBrk="1" hangingPunct="1">
              <a:lnSpc>
                <a:spcPct val="165000"/>
              </a:lnSpc>
              <a:spcBef>
                <a:spcPct val="60000"/>
              </a:spcBef>
              <a:buSzPct val="75000"/>
              <a:buFont typeface="Wingdings" panose="05000000000000000000" pitchFamily="2" charset="2"/>
              <a:buChar char="n"/>
            </a:pPr>
            <a:r>
              <a:rPr lang="zh-CN" altLang="en-US" sz="2400" dirty="0"/>
              <a:t>当事务</a:t>
            </a:r>
            <a:r>
              <a:rPr lang="en-US" altLang="zh-CN" sz="2400" dirty="0"/>
              <a:t>T</a:t>
            </a:r>
            <a:r>
              <a:rPr lang="zh-CN" altLang="en-US" sz="2400" dirty="0"/>
              <a:t>在一个检查点之前提交，</a:t>
            </a:r>
            <a:r>
              <a:rPr lang="en-US" altLang="zh-CN" sz="2400" dirty="0"/>
              <a:t>T</a:t>
            </a:r>
            <a:r>
              <a:rPr lang="zh-CN" altLang="en-US" sz="2400" dirty="0"/>
              <a:t>对数据库所做的修改已写入数据库，写入时间是在这个检查点建立之前或在这个检查点建立之时。 </a:t>
            </a:r>
            <a:endParaRPr lang="zh-CN" altLang="en-US" sz="2400" dirty="0"/>
          </a:p>
          <a:p>
            <a:pPr lvl="1" indent="-436245" eaLnBrk="1" hangingPunct="1">
              <a:lnSpc>
                <a:spcPct val="165000"/>
              </a:lnSpc>
              <a:spcBef>
                <a:spcPct val="60000"/>
              </a:spcBef>
              <a:buSzPct val="75000"/>
              <a:buFont typeface="Wingdings" panose="05000000000000000000" pitchFamily="2" charset="2"/>
              <a:buChar char="n"/>
            </a:pPr>
            <a:r>
              <a:rPr lang="zh-CN" altLang="en-US" sz="2400" dirty="0"/>
              <a:t>在进行恢复处理时，没有必要对事务</a:t>
            </a:r>
            <a:r>
              <a:rPr lang="en-US" altLang="zh-CN" sz="2400" dirty="0"/>
              <a:t>T</a:t>
            </a:r>
            <a:r>
              <a:rPr lang="zh-CN" altLang="en-US" sz="2400" dirty="0"/>
              <a:t>执行</a:t>
            </a:r>
            <a:r>
              <a:rPr lang="en-US" altLang="zh-CN" sz="2400" dirty="0"/>
              <a:t>REDO</a:t>
            </a:r>
            <a:r>
              <a:rPr lang="zh-CN" altLang="en-US" sz="2400" dirty="0"/>
              <a:t>操作。</a:t>
            </a:r>
            <a:endParaRPr lang="zh-CN" altLang="en-US" sz="2400" dirty="0"/>
          </a:p>
          <a:p>
            <a:pPr eaLnBrk="1" hangingPunct="1"/>
            <a:endParaRPr lang="en-US" altLang="zh-CN" dirty="0"/>
          </a:p>
        </p:txBody>
      </p:sp>
    </p:spTree>
  </p:cSld>
  <p:clrMapOvr>
    <a:masterClrMapping/>
  </p:clrMapOvr>
  <p:transition advClick="0"/>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利用检查点的恢复策略（续）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grpSp>
        <p:nvGrpSpPr>
          <p:cNvPr id="86018" name="Group 36"/>
          <p:cNvGrpSpPr/>
          <p:nvPr/>
        </p:nvGrpSpPr>
        <p:grpSpPr>
          <a:xfrm>
            <a:off x="1476375" y="2205038"/>
            <a:ext cx="6858000" cy="4365625"/>
            <a:chOff x="930" y="1071"/>
            <a:chExt cx="4320" cy="2750"/>
          </a:xfrm>
        </p:grpSpPr>
        <p:sp>
          <p:nvSpPr>
            <p:cNvPr id="86019" name="Freeform 5"/>
            <p:cNvSpPr/>
            <p:nvPr/>
          </p:nvSpPr>
          <p:spPr>
            <a:xfrm>
              <a:off x="2043" y="1453"/>
              <a:ext cx="1" cy="2278"/>
            </a:xfrm>
            <a:custGeom>
              <a:avLst/>
              <a:gdLst/>
              <a:ahLst/>
              <a:cxnLst>
                <a:cxn ang="0">
                  <a:pos x="0" y="0"/>
                </a:cxn>
                <a:cxn ang="0">
                  <a:pos x="0" y="623"/>
                </a:cxn>
              </a:cxnLst>
              <a:pathLst>
                <a:path w="3" h="2423">
                  <a:moveTo>
                    <a:pt x="0" y="0"/>
                  </a:moveTo>
                  <a:lnTo>
                    <a:pt x="3" y="2423"/>
                  </a:lnTo>
                </a:path>
              </a:pathLst>
            </a:custGeom>
            <a:noFill/>
            <a:ln w="6350" cap="flat" cmpd="sng">
              <a:solidFill>
                <a:srgbClr val="000000"/>
              </a:solidFill>
              <a:prstDash val="solid"/>
              <a:round/>
              <a:headEnd type="none" w="med" len="med"/>
              <a:tailEnd type="none" w="med" len="med"/>
            </a:ln>
          </p:spPr>
          <p:txBody>
            <a:bodyPr/>
            <a:p>
              <a:endParaRPr lang="zh-CN" altLang="en-US"/>
            </a:p>
          </p:txBody>
        </p:sp>
        <p:sp>
          <p:nvSpPr>
            <p:cNvPr id="86020" name="Freeform 6"/>
            <p:cNvSpPr/>
            <p:nvPr/>
          </p:nvSpPr>
          <p:spPr>
            <a:xfrm>
              <a:off x="4069" y="1466"/>
              <a:ext cx="0" cy="2280"/>
            </a:xfrm>
            <a:custGeom>
              <a:avLst/>
              <a:gdLst/>
              <a:ahLst/>
              <a:cxnLst>
                <a:cxn ang="0">
                  <a:pos x="0" y="0"/>
                </a:cxn>
                <a:cxn ang="0">
                  <a:pos x="0" y="636"/>
                </a:cxn>
              </a:cxnLst>
              <a:pathLst>
                <a:path w="1" h="2423">
                  <a:moveTo>
                    <a:pt x="0" y="0"/>
                  </a:moveTo>
                  <a:lnTo>
                    <a:pt x="1" y="2423"/>
                  </a:lnTo>
                </a:path>
              </a:pathLst>
            </a:custGeom>
            <a:noFill/>
            <a:ln w="6350" cap="flat" cmpd="sng">
              <a:solidFill>
                <a:srgbClr val="000000"/>
              </a:solidFill>
              <a:prstDash val="solid"/>
              <a:round/>
              <a:headEnd type="none" w="med" len="med"/>
              <a:tailEnd type="none" w="med" len="med"/>
            </a:ln>
          </p:spPr>
          <p:txBody>
            <a:bodyPr/>
            <a:p>
              <a:endParaRPr lang="zh-CN" altLang="en-US"/>
            </a:p>
          </p:txBody>
        </p:sp>
        <p:sp>
          <p:nvSpPr>
            <p:cNvPr id="86021" name="Freeform 7"/>
            <p:cNvSpPr/>
            <p:nvPr/>
          </p:nvSpPr>
          <p:spPr>
            <a:xfrm>
              <a:off x="1059" y="2423"/>
              <a:ext cx="1260" cy="1"/>
            </a:xfrm>
            <a:custGeom>
              <a:avLst/>
              <a:gdLst/>
              <a:ahLst/>
              <a:cxnLst>
                <a:cxn ang="0">
                  <a:pos x="0" y="0"/>
                </a:cxn>
                <a:cxn ang="0">
                  <a:pos x="5363" y="0"/>
                </a:cxn>
              </a:cxnLst>
              <a:pathLst>
                <a:path w="1176" h="1">
                  <a:moveTo>
                    <a:pt x="0" y="0"/>
                  </a:moveTo>
                  <a:lnTo>
                    <a:pt x="1176"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22" name="Freeform 8"/>
            <p:cNvSpPr/>
            <p:nvPr/>
          </p:nvSpPr>
          <p:spPr>
            <a:xfrm>
              <a:off x="1063" y="2308"/>
              <a:ext cx="1" cy="98"/>
            </a:xfrm>
            <a:custGeom>
              <a:avLst/>
              <a:gdLst/>
              <a:ahLst/>
              <a:cxnLst>
                <a:cxn ang="0">
                  <a:pos x="0" y="0"/>
                </a:cxn>
                <a:cxn ang="0">
                  <a:pos x="0" y="23"/>
                </a:cxn>
              </a:cxnLst>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23" name="Freeform 9"/>
            <p:cNvSpPr/>
            <p:nvPr/>
          </p:nvSpPr>
          <p:spPr>
            <a:xfrm>
              <a:off x="2306" y="2278"/>
              <a:ext cx="1" cy="145"/>
            </a:xfrm>
            <a:custGeom>
              <a:avLst/>
              <a:gdLst/>
              <a:ahLst/>
              <a:cxnLst>
                <a:cxn ang="0">
                  <a:pos x="0" y="0"/>
                </a:cxn>
                <a:cxn ang="0">
                  <a:pos x="0" y="7689"/>
                </a:cxn>
              </a:cxnLst>
              <a:pathLst>
                <a:path w="1" h="120">
                  <a:moveTo>
                    <a:pt x="0" y="0"/>
                  </a:moveTo>
                  <a:lnTo>
                    <a:pt x="0" y="12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24" name="Line 10"/>
            <p:cNvSpPr/>
            <p:nvPr/>
          </p:nvSpPr>
          <p:spPr>
            <a:xfrm>
              <a:off x="1444" y="2792"/>
              <a:ext cx="2622" cy="0"/>
            </a:xfrm>
            <a:prstGeom prst="line">
              <a:avLst/>
            </a:prstGeom>
            <a:ln w="9525" cap="flat" cmpd="sng">
              <a:solidFill>
                <a:srgbClr val="000000"/>
              </a:solidFill>
              <a:prstDash val="solid"/>
              <a:round/>
              <a:headEnd type="none" w="med" len="med"/>
              <a:tailEnd type="none" w="med" len="med"/>
            </a:ln>
          </p:spPr>
        </p:sp>
        <p:sp>
          <p:nvSpPr>
            <p:cNvPr id="86025" name="Line 11"/>
            <p:cNvSpPr/>
            <p:nvPr/>
          </p:nvSpPr>
          <p:spPr>
            <a:xfrm>
              <a:off x="4066" y="2792"/>
              <a:ext cx="579" cy="0"/>
            </a:xfrm>
            <a:prstGeom prst="line">
              <a:avLst/>
            </a:prstGeom>
            <a:ln w="9525" cap="flat" cmpd="sng">
              <a:solidFill>
                <a:srgbClr val="000000"/>
              </a:solidFill>
              <a:prstDash val="dash"/>
              <a:round/>
              <a:headEnd type="none" w="med" len="med"/>
              <a:tailEnd type="none" w="med" len="med"/>
            </a:ln>
          </p:spPr>
        </p:sp>
        <p:sp>
          <p:nvSpPr>
            <p:cNvPr id="86026" name="Freeform 12"/>
            <p:cNvSpPr/>
            <p:nvPr/>
          </p:nvSpPr>
          <p:spPr>
            <a:xfrm>
              <a:off x="4645" y="2687"/>
              <a:ext cx="1" cy="104"/>
            </a:xfrm>
            <a:custGeom>
              <a:avLst/>
              <a:gdLst/>
              <a:ahLst/>
              <a:cxnLst>
                <a:cxn ang="0">
                  <a:pos x="0" y="0"/>
                </a:cxn>
                <a:cxn ang="0">
                  <a:pos x="0" y="27"/>
                </a:cxn>
              </a:cxnLst>
              <a:pathLst>
                <a:path w="1" h="111">
                  <a:moveTo>
                    <a:pt x="0" y="0"/>
                  </a:moveTo>
                  <a:lnTo>
                    <a:pt x="0" y="111"/>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27" name="Line 13"/>
            <p:cNvSpPr/>
            <p:nvPr/>
          </p:nvSpPr>
          <p:spPr>
            <a:xfrm>
              <a:off x="1446" y="2682"/>
              <a:ext cx="0" cy="114"/>
            </a:xfrm>
            <a:prstGeom prst="line">
              <a:avLst/>
            </a:prstGeom>
            <a:ln w="9525" cap="flat" cmpd="sng">
              <a:solidFill>
                <a:srgbClr val="000000"/>
              </a:solidFill>
              <a:prstDash val="solid"/>
              <a:round/>
              <a:headEnd type="none" w="med" len="med"/>
              <a:tailEnd type="none" w="med" len="med"/>
            </a:ln>
          </p:spPr>
        </p:sp>
        <p:sp>
          <p:nvSpPr>
            <p:cNvPr id="86028" name="Freeform 14"/>
            <p:cNvSpPr/>
            <p:nvPr/>
          </p:nvSpPr>
          <p:spPr>
            <a:xfrm>
              <a:off x="2159" y="3197"/>
              <a:ext cx="1109" cy="5"/>
            </a:xfrm>
            <a:custGeom>
              <a:avLst/>
              <a:gdLst/>
              <a:ahLst/>
              <a:cxnLst>
                <a:cxn ang="0">
                  <a:pos x="0" y="5"/>
                </a:cxn>
                <a:cxn ang="0">
                  <a:pos x="4" y="0"/>
                </a:cxn>
              </a:cxnLst>
              <a:pathLst>
                <a:path w="1465" h="5">
                  <a:moveTo>
                    <a:pt x="0" y="5"/>
                  </a:moveTo>
                  <a:lnTo>
                    <a:pt x="1465"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29" name="Freeform 15"/>
            <p:cNvSpPr/>
            <p:nvPr/>
          </p:nvSpPr>
          <p:spPr>
            <a:xfrm>
              <a:off x="2151" y="3094"/>
              <a:ext cx="2" cy="108"/>
            </a:xfrm>
            <a:custGeom>
              <a:avLst/>
              <a:gdLst/>
              <a:ahLst/>
              <a:cxnLst>
                <a:cxn ang="0">
                  <a:pos x="1" y="0"/>
                </a:cxn>
                <a:cxn ang="0">
                  <a:pos x="0" y="29"/>
                </a:cxn>
              </a:cxnLst>
              <a:pathLst>
                <a:path w="4" h="115">
                  <a:moveTo>
                    <a:pt x="4" y="0"/>
                  </a:moveTo>
                  <a:lnTo>
                    <a:pt x="0" y="11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30" name="Freeform 16"/>
            <p:cNvSpPr/>
            <p:nvPr/>
          </p:nvSpPr>
          <p:spPr>
            <a:xfrm>
              <a:off x="3272" y="3112"/>
              <a:ext cx="1" cy="90"/>
            </a:xfrm>
            <a:custGeom>
              <a:avLst/>
              <a:gdLst/>
              <a:ahLst/>
              <a:cxnLst>
                <a:cxn ang="0">
                  <a:pos x="0" y="0"/>
                </a:cxn>
                <a:cxn ang="0">
                  <a:pos x="1" y="29"/>
                </a:cxn>
              </a:cxnLst>
              <a:pathLst>
                <a:path w="1" h="95">
                  <a:moveTo>
                    <a:pt x="0" y="0"/>
                  </a:moveTo>
                  <a:lnTo>
                    <a:pt x="1" y="9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31" name="Line 17"/>
            <p:cNvSpPr/>
            <p:nvPr/>
          </p:nvSpPr>
          <p:spPr>
            <a:xfrm>
              <a:off x="2627" y="3630"/>
              <a:ext cx="1492" cy="0"/>
            </a:xfrm>
            <a:prstGeom prst="line">
              <a:avLst/>
            </a:prstGeom>
            <a:ln w="9525" cap="flat" cmpd="sng">
              <a:solidFill>
                <a:srgbClr val="000000"/>
              </a:solidFill>
              <a:prstDash val="solid"/>
              <a:round/>
              <a:headEnd type="none" w="med" len="med"/>
              <a:tailEnd type="none" w="med" len="med"/>
            </a:ln>
          </p:spPr>
        </p:sp>
        <p:sp>
          <p:nvSpPr>
            <p:cNvPr id="86032" name="Line 18"/>
            <p:cNvSpPr/>
            <p:nvPr/>
          </p:nvSpPr>
          <p:spPr>
            <a:xfrm>
              <a:off x="2627" y="3517"/>
              <a:ext cx="0" cy="113"/>
            </a:xfrm>
            <a:prstGeom prst="line">
              <a:avLst/>
            </a:prstGeom>
            <a:ln w="9525" cap="flat" cmpd="sng">
              <a:solidFill>
                <a:srgbClr val="000000"/>
              </a:solidFill>
              <a:prstDash val="solid"/>
              <a:round/>
              <a:headEnd type="none" w="med" len="med"/>
              <a:tailEnd type="none" w="med" len="med"/>
            </a:ln>
          </p:spPr>
        </p:sp>
        <p:sp>
          <p:nvSpPr>
            <p:cNvPr id="86033" name="Freeform 19"/>
            <p:cNvSpPr/>
            <p:nvPr/>
          </p:nvSpPr>
          <p:spPr>
            <a:xfrm>
              <a:off x="4425" y="3535"/>
              <a:ext cx="0" cy="91"/>
            </a:xfrm>
            <a:custGeom>
              <a:avLst/>
              <a:gdLst/>
              <a:ahLst/>
              <a:cxnLst>
                <a:cxn ang="0">
                  <a:pos x="0" y="0"/>
                </a:cxn>
                <a:cxn ang="0">
                  <a:pos x="0" y="23"/>
                </a:cxn>
              </a:cxnLst>
              <a:pathLst>
                <a:path w="1" h="97">
                  <a:moveTo>
                    <a:pt x="0" y="0"/>
                  </a:moveTo>
                  <a:lnTo>
                    <a:pt x="0" y="9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34" name="Line 20"/>
            <p:cNvSpPr/>
            <p:nvPr/>
          </p:nvSpPr>
          <p:spPr>
            <a:xfrm>
              <a:off x="4141" y="3626"/>
              <a:ext cx="284" cy="0"/>
            </a:xfrm>
            <a:prstGeom prst="line">
              <a:avLst/>
            </a:prstGeom>
            <a:ln w="9525" cap="flat" cmpd="sng">
              <a:solidFill>
                <a:srgbClr val="000000"/>
              </a:solidFill>
              <a:prstDash val="dash"/>
              <a:round/>
              <a:headEnd type="none" w="med" len="med"/>
              <a:tailEnd type="none" w="med" len="med"/>
            </a:ln>
          </p:spPr>
        </p:sp>
        <p:sp>
          <p:nvSpPr>
            <p:cNvPr id="86035" name="Text Box 21"/>
            <p:cNvSpPr txBox="1"/>
            <p:nvPr/>
          </p:nvSpPr>
          <p:spPr>
            <a:xfrm>
              <a:off x="1671" y="1071"/>
              <a:ext cx="897" cy="423"/>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c </a:t>
              </a:r>
              <a:r>
                <a:rPr lang="en-US" altLang="zh-CN" dirty="0">
                  <a:latin typeface="Verdana" panose="020B0604030504040204" pitchFamily="34" charset="0"/>
                  <a:ea typeface="宋体" panose="02010600030101010101" pitchFamily="2" charset="-122"/>
                </a:rPr>
                <a:t>(</a:t>
              </a:r>
              <a:r>
                <a:rPr lang="zh-CN" altLang="en-US" dirty="0">
                  <a:latin typeface="Verdana" panose="020B0604030504040204" pitchFamily="34" charset="0"/>
                  <a:ea typeface="宋体" panose="02010600030101010101" pitchFamily="2" charset="-122"/>
                </a:rPr>
                <a:t>检查点</a:t>
              </a:r>
              <a:r>
                <a:rPr lang="en-US" altLang="zh-CN" dirty="0">
                  <a:latin typeface="Verdana" panose="020B0604030504040204" pitchFamily="34" charset="0"/>
                  <a:ea typeface="宋体" panose="02010600030101010101" pitchFamily="2" charset="-122"/>
                </a:rPr>
                <a:t>)</a:t>
              </a:r>
              <a:endParaRPr lang="en-US" altLang="zh-CN" dirty="0">
                <a:latin typeface="Verdana" panose="020B0604030504040204" pitchFamily="34" charset="0"/>
                <a:ea typeface="宋体" panose="02010600030101010101" pitchFamily="2" charset="-122"/>
              </a:endParaRPr>
            </a:p>
          </p:txBody>
        </p:sp>
        <p:sp>
          <p:nvSpPr>
            <p:cNvPr id="86036" name="Text Box 22"/>
            <p:cNvSpPr txBox="1"/>
            <p:nvPr/>
          </p:nvSpPr>
          <p:spPr>
            <a:xfrm>
              <a:off x="3658" y="1086"/>
              <a:ext cx="896" cy="422"/>
            </a:xfrm>
            <a:prstGeom prst="rect">
              <a:avLst/>
            </a:prstGeom>
            <a:noFill/>
            <a:ln w="9525">
              <a:noFill/>
            </a:ln>
          </p:spPr>
          <p:txBody>
            <a:bodyPr anchor="t" anchorCtr="0"/>
            <a:p>
              <a:pPr algn="just" eaLnBrk="0" hangingPunct="0"/>
              <a:r>
                <a:rPr lang="en-US" altLang="zh-CN" sz="1600" dirty="0">
                  <a:latin typeface="Verdana" panose="020B0604030504040204" pitchFamily="34" charset="0"/>
                  <a:ea typeface="宋体" panose="02010600030101010101" pitchFamily="2" charset="-122"/>
                </a:rPr>
                <a:t>T</a:t>
              </a:r>
              <a:r>
                <a:rPr lang="en-US" altLang="zh-CN" sz="1600" baseline="-25000" dirty="0">
                  <a:latin typeface="Verdana" panose="020B0604030504040204" pitchFamily="34" charset="0"/>
                  <a:ea typeface="宋体" panose="02010600030101010101" pitchFamily="2" charset="-122"/>
                </a:rPr>
                <a:t>f</a:t>
              </a:r>
              <a:r>
                <a:rPr lang="en-US" altLang="zh-CN" sz="1600" dirty="0">
                  <a:latin typeface="Verdana" panose="020B0604030504040204" pitchFamily="34" charset="0"/>
                  <a:ea typeface="宋体" panose="02010600030101010101" pitchFamily="2" charset="-122"/>
                </a:rPr>
                <a:t>(</a:t>
              </a:r>
              <a:r>
                <a:rPr lang="zh-CN" altLang="en-US" sz="1600" dirty="0">
                  <a:latin typeface="Verdana" panose="020B0604030504040204" pitchFamily="34" charset="0"/>
                  <a:ea typeface="宋体" panose="02010600030101010101" pitchFamily="2" charset="-122"/>
                </a:rPr>
                <a:t>系统故障</a:t>
              </a:r>
              <a:r>
                <a:rPr lang="en-US" altLang="zh-CN" sz="1600" dirty="0">
                  <a:latin typeface="Verdana" panose="020B0604030504040204" pitchFamily="34" charset="0"/>
                  <a:ea typeface="宋体" panose="02010600030101010101" pitchFamily="2" charset="-122"/>
                </a:rPr>
                <a:t>)</a:t>
              </a:r>
              <a:endParaRPr lang="en-US" altLang="zh-CN" sz="1600" dirty="0">
                <a:latin typeface="Verdana" panose="020B0604030504040204" pitchFamily="34" charset="0"/>
                <a:ea typeface="宋体" panose="02010600030101010101" pitchFamily="2" charset="-122"/>
              </a:endParaRPr>
            </a:p>
          </p:txBody>
        </p:sp>
        <p:sp>
          <p:nvSpPr>
            <p:cNvPr id="86037" name="Text Box 23"/>
            <p:cNvSpPr txBox="1"/>
            <p:nvPr/>
          </p:nvSpPr>
          <p:spPr>
            <a:xfrm>
              <a:off x="2267" y="2060"/>
              <a:ext cx="716" cy="422"/>
            </a:xfrm>
            <a:prstGeom prst="rect">
              <a:avLst/>
            </a:prstGeom>
            <a:noFill/>
            <a:ln w="9525">
              <a:noFill/>
            </a:ln>
          </p:spPr>
          <p:txBody>
            <a:bodyPr anchor="t" anchorCtr="0"/>
            <a:p>
              <a:pPr eaLnBrk="0" hangingPunct="0"/>
              <a:r>
                <a:rPr lang="en-US" altLang="zh-CN" sz="1200" dirty="0">
                  <a:latin typeface="Verdana" panose="020B0604030504040204" pitchFamily="34" charset="0"/>
                  <a:ea typeface="宋体" panose="02010600030101010101" pitchFamily="2" charset="-122"/>
                </a:rPr>
                <a:t> </a:t>
              </a:r>
              <a:r>
                <a:rPr lang="en-US" altLang="zh-CN" dirty="0">
                  <a:latin typeface="Verdana" panose="020B0604030504040204" pitchFamily="34" charset="0"/>
                  <a:ea typeface="宋体" panose="02010600030101010101" pitchFamily="2" charset="-122"/>
                </a:rPr>
                <a:t>REDO</a:t>
              </a:r>
              <a:endParaRPr lang="en-US" altLang="zh-CN" sz="1600" dirty="0">
                <a:latin typeface="Verdana" panose="020B0604030504040204" pitchFamily="34" charset="0"/>
                <a:ea typeface="宋体" panose="02010600030101010101" pitchFamily="2" charset="-122"/>
              </a:endParaRPr>
            </a:p>
          </p:txBody>
        </p:sp>
        <p:sp>
          <p:nvSpPr>
            <p:cNvPr id="86038" name="Text Box 24"/>
            <p:cNvSpPr txBox="1"/>
            <p:nvPr/>
          </p:nvSpPr>
          <p:spPr>
            <a:xfrm>
              <a:off x="4610" y="2454"/>
              <a:ext cx="640" cy="423"/>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UNDO</a:t>
              </a:r>
              <a:endParaRPr lang="en-US" altLang="zh-CN" sz="2400" dirty="0">
                <a:latin typeface="Verdana" panose="020B0604030504040204" pitchFamily="34" charset="0"/>
                <a:ea typeface="宋体" panose="02010600030101010101" pitchFamily="2" charset="-122"/>
              </a:endParaRPr>
            </a:p>
          </p:txBody>
        </p:sp>
        <p:sp>
          <p:nvSpPr>
            <p:cNvPr id="86039" name="Text Box 25"/>
            <p:cNvSpPr txBox="1"/>
            <p:nvPr/>
          </p:nvSpPr>
          <p:spPr>
            <a:xfrm>
              <a:off x="4376" y="3281"/>
              <a:ext cx="589" cy="422"/>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UNDO</a:t>
              </a:r>
              <a:endParaRPr lang="en-US" altLang="zh-CN" sz="1600" dirty="0">
                <a:latin typeface="Verdana" panose="020B0604030504040204" pitchFamily="34" charset="0"/>
                <a:ea typeface="宋体" panose="02010600030101010101" pitchFamily="2" charset="-122"/>
              </a:endParaRPr>
            </a:p>
          </p:txBody>
        </p:sp>
        <p:sp>
          <p:nvSpPr>
            <p:cNvPr id="86040" name="Text Box 26"/>
            <p:cNvSpPr txBox="1"/>
            <p:nvPr/>
          </p:nvSpPr>
          <p:spPr>
            <a:xfrm>
              <a:off x="3192" y="2877"/>
              <a:ext cx="716" cy="424"/>
            </a:xfrm>
            <a:prstGeom prst="rect">
              <a:avLst/>
            </a:prstGeom>
            <a:noFill/>
            <a:ln w="9525">
              <a:noFill/>
            </a:ln>
          </p:spPr>
          <p:txBody>
            <a:bodyPr anchor="t" anchorCtr="0"/>
            <a:p>
              <a:pPr eaLnBrk="0" hangingPunct="0"/>
              <a:r>
                <a:rPr lang="en-US" altLang="zh-CN" sz="1200" dirty="0">
                  <a:latin typeface="Verdana" panose="020B0604030504040204" pitchFamily="34" charset="0"/>
                  <a:ea typeface="宋体" panose="02010600030101010101" pitchFamily="2" charset="-122"/>
                </a:rPr>
                <a:t> </a:t>
              </a:r>
              <a:r>
                <a:rPr lang="en-US" altLang="zh-CN" dirty="0">
                  <a:latin typeface="Verdana" panose="020B0604030504040204" pitchFamily="34" charset="0"/>
                  <a:ea typeface="宋体" panose="02010600030101010101" pitchFamily="2" charset="-122"/>
                </a:rPr>
                <a:t>REDO</a:t>
              </a:r>
              <a:endParaRPr lang="en-US" altLang="zh-CN" sz="1600" dirty="0">
                <a:latin typeface="Verdana" panose="020B0604030504040204" pitchFamily="34" charset="0"/>
                <a:ea typeface="宋体" panose="02010600030101010101" pitchFamily="2" charset="-122"/>
              </a:endParaRPr>
            </a:p>
          </p:txBody>
        </p:sp>
        <p:sp>
          <p:nvSpPr>
            <p:cNvPr id="86041" name="Text Box 27"/>
            <p:cNvSpPr txBox="1"/>
            <p:nvPr/>
          </p:nvSpPr>
          <p:spPr>
            <a:xfrm>
              <a:off x="1084" y="2118"/>
              <a:ext cx="463" cy="422"/>
            </a:xfrm>
            <a:prstGeom prst="rect">
              <a:avLst/>
            </a:prstGeom>
            <a:noFill/>
            <a:ln w="9525">
              <a:noFill/>
            </a:ln>
          </p:spPr>
          <p:txBody>
            <a:bodyPr anchor="t" anchorCtr="0"/>
            <a:p>
              <a:pPr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2</a:t>
              </a:r>
              <a:endParaRPr lang="en-US" altLang="zh-CN" sz="1600" dirty="0">
                <a:latin typeface="Verdana" panose="020B0604030504040204" pitchFamily="34" charset="0"/>
                <a:ea typeface="宋体" panose="02010600030101010101" pitchFamily="2" charset="-122"/>
              </a:endParaRPr>
            </a:p>
          </p:txBody>
        </p:sp>
        <p:sp>
          <p:nvSpPr>
            <p:cNvPr id="86042" name="Text Box 28"/>
            <p:cNvSpPr txBox="1"/>
            <p:nvPr/>
          </p:nvSpPr>
          <p:spPr>
            <a:xfrm>
              <a:off x="1496" y="2525"/>
              <a:ext cx="714" cy="424"/>
            </a:xfrm>
            <a:prstGeom prst="rect">
              <a:avLst/>
            </a:prstGeom>
            <a:noFill/>
            <a:ln w="9525">
              <a:noFill/>
            </a:ln>
          </p:spPr>
          <p:txBody>
            <a:bodyPr anchor="t" anchorCtr="0"/>
            <a:p>
              <a:pPr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3</a:t>
              </a:r>
              <a:endParaRPr lang="en-US" altLang="zh-CN" sz="1600" dirty="0">
                <a:latin typeface="Verdana" panose="020B0604030504040204" pitchFamily="34" charset="0"/>
                <a:ea typeface="宋体" panose="02010600030101010101" pitchFamily="2" charset="-122"/>
              </a:endParaRPr>
            </a:p>
          </p:txBody>
        </p:sp>
        <p:sp>
          <p:nvSpPr>
            <p:cNvPr id="86043" name="Text Box 29"/>
            <p:cNvSpPr txBox="1"/>
            <p:nvPr/>
          </p:nvSpPr>
          <p:spPr>
            <a:xfrm>
              <a:off x="2164" y="2874"/>
              <a:ext cx="715" cy="424"/>
            </a:xfrm>
            <a:prstGeom prst="rect">
              <a:avLst/>
            </a:prstGeom>
            <a:noFill/>
            <a:ln w="9525">
              <a:noFill/>
            </a:ln>
          </p:spPr>
          <p:txBody>
            <a:bodyPr anchor="t" anchorCtr="0"/>
            <a:p>
              <a:pPr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4</a:t>
              </a:r>
              <a:endParaRPr lang="en-US" altLang="zh-CN" sz="1400" dirty="0">
                <a:latin typeface="Verdana" panose="020B0604030504040204" pitchFamily="34" charset="0"/>
                <a:ea typeface="宋体" panose="02010600030101010101" pitchFamily="2" charset="-122"/>
              </a:endParaRPr>
            </a:p>
            <a:p>
              <a:pPr eaLnBrk="0" hangingPunct="0"/>
              <a:endParaRPr lang="en-US" altLang="zh-CN" sz="1400" dirty="0">
                <a:latin typeface="Verdana" panose="020B0604030504040204" pitchFamily="34" charset="0"/>
                <a:ea typeface="宋体" panose="02010600030101010101" pitchFamily="2" charset="-122"/>
              </a:endParaRPr>
            </a:p>
          </p:txBody>
        </p:sp>
        <p:sp>
          <p:nvSpPr>
            <p:cNvPr id="86044" name="Text Box 30"/>
            <p:cNvSpPr txBox="1"/>
            <p:nvPr/>
          </p:nvSpPr>
          <p:spPr>
            <a:xfrm>
              <a:off x="2661" y="3299"/>
              <a:ext cx="715" cy="522"/>
            </a:xfrm>
            <a:prstGeom prst="rect">
              <a:avLst/>
            </a:prstGeom>
            <a:noFill/>
            <a:ln w="9525">
              <a:noFill/>
            </a:ln>
          </p:spPr>
          <p:txBody>
            <a:bodyPr anchor="t" anchorCtr="0"/>
            <a:p>
              <a:pPr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5</a:t>
              </a:r>
              <a:endParaRPr lang="en-US" altLang="zh-CN" sz="1400" dirty="0">
                <a:latin typeface="Verdana" panose="020B0604030504040204" pitchFamily="34" charset="0"/>
                <a:ea typeface="宋体" panose="02010600030101010101" pitchFamily="2" charset="-122"/>
              </a:endParaRPr>
            </a:p>
          </p:txBody>
        </p:sp>
        <p:sp>
          <p:nvSpPr>
            <p:cNvPr id="86045" name="Text Box 31"/>
            <p:cNvSpPr txBox="1"/>
            <p:nvPr/>
          </p:nvSpPr>
          <p:spPr>
            <a:xfrm>
              <a:off x="1247" y="1661"/>
              <a:ext cx="897" cy="424"/>
            </a:xfrm>
            <a:prstGeom prst="rect">
              <a:avLst/>
            </a:prstGeom>
            <a:noFill/>
            <a:ln w="9525">
              <a:noFill/>
            </a:ln>
          </p:spPr>
          <p:txBody>
            <a:bodyPr anchor="t" anchorCtr="0"/>
            <a:p>
              <a:pPr algn="just" eaLnBrk="0" hangingPunct="0"/>
              <a:r>
                <a:rPr lang="zh-CN" altLang="en-US" dirty="0">
                  <a:latin typeface="Verdana" panose="020B0604030504040204" pitchFamily="34" charset="0"/>
                  <a:ea typeface="宋体" panose="02010600030101010101" pitchFamily="2" charset="-122"/>
                </a:rPr>
                <a:t>不要</a:t>
              </a:r>
              <a:r>
                <a:rPr lang="en-US" altLang="zh-CN" dirty="0">
                  <a:latin typeface="Verdana" panose="020B0604030504040204" pitchFamily="34" charset="0"/>
                  <a:ea typeface="宋体" panose="02010600030101010101" pitchFamily="2" charset="-122"/>
                </a:rPr>
                <a:t>REDO</a:t>
              </a:r>
              <a:endParaRPr lang="en-US" altLang="zh-CN" sz="1600" dirty="0">
                <a:latin typeface="Verdana" panose="020B0604030504040204" pitchFamily="34" charset="0"/>
                <a:ea typeface="宋体" panose="02010600030101010101" pitchFamily="2" charset="-122"/>
              </a:endParaRPr>
            </a:p>
          </p:txBody>
        </p:sp>
        <p:sp>
          <p:nvSpPr>
            <p:cNvPr id="86046" name="Text Box 32"/>
            <p:cNvSpPr txBox="1"/>
            <p:nvPr/>
          </p:nvSpPr>
          <p:spPr>
            <a:xfrm>
              <a:off x="981" y="1711"/>
              <a:ext cx="477" cy="422"/>
            </a:xfrm>
            <a:prstGeom prst="rect">
              <a:avLst/>
            </a:prstGeom>
            <a:noFill/>
            <a:ln w="9525">
              <a:noFill/>
            </a:ln>
          </p:spPr>
          <p:txBody>
            <a:bodyPr anchor="t" anchorCtr="0"/>
            <a:p>
              <a:pPr algn="just"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1</a:t>
              </a:r>
              <a:endParaRPr lang="en-US" altLang="zh-CN" sz="1600" dirty="0">
                <a:latin typeface="Verdana" panose="020B0604030504040204" pitchFamily="34" charset="0"/>
                <a:ea typeface="宋体" panose="02010600030101010101" pitchFamily="2" charset="-122"/>
              </a:endParaRPr>
            </a:p>
          </p:txBody>
        </p:sp>
        <p:sp>
          <p:nvSpPr>
            <p:cNvPr id="86047" name="Freeform 33"/>
            <p:cNvSpPr/>
            <p:nvPr/>
          </p:nvSpPr>
          <p:spPr>
            <a:xfrm>
              <a:off x="930" y="2045"/>
              <a:ext cx="463" cy="1"/>
            </a:xfrm>
            <a:custGeom>
              <a:avLst/>
              <a:gdLst/>
              <a:ahLst/>
              <a:cxnLst>
                <a:cxn ang="0">
                  <a:pos x="0" y="0"/>
                </a:cxn>
                <a:cxn ang="0">
                  <a:pos x="1985" y="0"/>
                </a:cxn>
              </a:cxnLst>
              <a:pathLst>
                <a:path w="432" h="1">
                  <a:moveTo>
                    <a:pt x="0" y="0"/>
                  </a:moveTo>
                  <a:lnTo>
                    <a:pt x="432"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48" name="Freeform 34"/>
            <p:cNvSpPr/>
            <p:nvPr/>
          </p:nvSpPr>
          <p:spPr>
            <a:xfrm>
              <a:off x="930" y="1938"/>
              <a:ext cx="1" cy="101"/>
            </a:xfrm>
            <a:custGeom>
              <a:avLst/>
              <a:gdLst/>
              <a:ahLst/>
              <a:cxnLst>
                <a:cxn ang="0">
                  <a:pos x="0" y="0"/>
                </a:cxn>
                <a:cxn ang="0">
                  <a:pos x="0" y="30"/>
                </a:cxn>
              </a:cxnLst>
              <a:pathLst>
                <a:path w="3" h="107">
                  <a:moveTo>
                    <a:pt x="0" y="0"/>
                  </a:moveTo>
                  <a:lnTo>
                    <a:pt x="3" y="10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86049" name="Freeform 35"/>
            <p:cNvSpPr/>
            <p:nvPr/>
          </p:nvSpPr>
          <p:spPr>
            <a:xfrm>
              <a:off x="1393" y="1941"/>
              <a:ext cx="1" cy="98"/>
            </a:xfrm>
            <a:custGeom>
              <a:avLst/>
              <a:gdLst/>
              <a:ahLst/>
              <a:cxnLst>
                <a:cxn ang="0">
                  <a:pos x="0" y="0"/>
                </a:cxn>
                <a:cxn ang="0">
                  <a:pos x="0" y="23"/>
                </a:cxn>
              </a:cxnLst>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p>
              <a:endParaRPr lang="zh-CN" altLang="en-US"/>
            </a:p>
          </p:txBody>
        </p:sp>
      </p:grpSp>
      <p:sp>
        <p:nvSpPr>
          <p:cNvPr id="86050" name="Text Box 37"/>
          <p:cNvSpPr txBox="1"/>
          <p:nvPr/>
        </p:nvSpPr>
        <p:spPr>
          <a:xfrm>
            <a:off x="323850" y="1700213"/>
            <a:ext cx="8369300" cy="396875"/>
          </a:xfrm>
          <a:prstGeom prst="rect">
            <a:avLst/>
          </a:prstGeom>
          <a:noFill/>
          <a:ln w="25400">
            <a:noFill/>
          </a:ln>
        </p:spPr>
        <p:txBody>
          <a:bodyPr wrap="none" anchor="t" anchorCtr="0">
            <a:spAutoFit/>
          </a:bodyPr>
          <a:p>
            <a:pPr marL="342900" indent="-342900"/>
            <a:r>
              <a:rPr lang="zh-CN" altLang="en-US" sz="2000" dirty="0">
                <a:latin typeface="Verdana" panose="020B0604030504040204" pitchFamily="34" charset="0"/>
                <a:ea typeface="宋体" panose="02010600030101010101" pitchFamily="2" charset="-122"/>
              </a:rPr>
              <a:t>系统出现故障时，恢复子系统将根据事务的不同状态采取不同的恢复策略</a:t>
            </a:r>
            <a:r>
              <a:rPr lang="zh-CN" altLang="en-US" dirty="0">
                <a:latin typeface="Verdana" panose="020B0604030504040204" pitchFamily="34" charset="0"/>
                <a:ea typeface="宋体" panose="02010600030101010101" pitchFamily="2" charset="-122"/>
              </a:rPr>
              <a:t> </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利用检查点的恢复策略（续）</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87042" name="Rectangle 3"/>
          <p:cNvSpPr>
            <a:spLocks noGrp="1"/>
          </p:cNvSpPr>
          <p:nvPr>
            <p:ph idx="1"/>
          </p:nvPr>
        </p:nvSpPr>
        <p:spPr>
          <a:ln/>
        </p:spPr>
        <p:txBody>
          <a:bodyPr vert="horz" wrap="square" lIns="91440" tIns="45720" rIns="91440" bIns="45720" anchor="t" anchorCtr="0"/>
          <a:p>
            <a:pPr marL="411480" indent="-470535" eaLnBrk="1" hangingPunct="1">
              <a:lnSpc>
                <a:spcPct val="110000"/>
              </a:lnSpc>
              <a:buClr>
                <a:schemeClr val="accent1"/>
              </a:buClr>
              <a:buSzPct val="75000"/>
            </a:pPr>
            <a:r>
              <a:rPr lang="en-US" altLang="zh-CN" sz="2200" dirty="0"/>
              <a:t>T1</a:t>
            </a:r>
            <a:r>
              <a:rPr lang="zh-CN" altLang="en-US" sz="2200" dirty="0"/>
              <a:t>：在检查点之前提交</a:t>
            </a:r>
            <a:endParaRPr lang="zh-CN" altLang="en-US" sz="2200" dirty="0"/>
          </a:p>
          <a:p>
            <a:pPr marL="411480" indent="-470535" eaLnBrk="1" hangingPunct="1">
              <a:lnSpc>
                <a:spcPct val="110000"/>
              </a:lnSpc>
              <a:buClr>
                <a:schemeClr val="accent1"/>
              </a:buClr>
              <a:buSzPct val="75000"/>
            </a:pPr>
            <a:r>
              <a:rPr lang="en-US" altLang="zh-CN" sz="2200" dirty="0"/>
              <a:t>T2</a:t>
            </a:r>
            <a:r>
              <a:rPr lang="zh-CN" altLang="en-US" sz="2200" dirty="0"/>
              <a:t>：在检查点之前开始执行，在检查点之后故障点之前提交</a:t>
            </a:r>
            <a:endParaRPr lang="zh-CN" altLang="en-US" sz="2200" dirty="0"/>
          </a:p>
          <a:p>
            <a:pPr marL="411480" indent="-470535" eaLnBrk="1" hangingPunct="1">
              <a:lnSpc>
                <a:spcPct val="110000"/>
              </a:lnSpc>
              <a:buClr>
                <a:schemeClr val="accent1"/>
              </a:buClr>
              <a:buSzPct val="75000"/>
            </a:pPr>
            <a:r>
              <a:rPr lang="en-US" altLang="zh-CN" sz="2200" dirty="0"/>
              <a:t>T3</a:t>
            </a:r>
            <a:r>
              <a:rPr lang="zh-CN" altLang="en-US" sz="2200" dirty="0"/>
              <a:t>：在检查点之前开始执行，在故障点时还未完成</a:t>
            </a:r>
            <a:endParaRPr lang="zh-CN" altLang="en-US" sz="2200" dirty="0"/>
          </a:p>
          <a:p>
            <a:pPr marL="411480" indent="-470535" eaLnBrk="1" hangingPunct="1">
              <a:lnSpc>
                <a:spcPct val="110000"/>
              </a:lnSpc>
              <a:buClr>
                <a:schemeClr val="accent1"/>
              </a:buClr>
              <a:buSzPct val="75000"/>
            </a:pPr>
            <a:r>
              <a:rPr lang="en-US" altLang="zh-CN" sz="2200" dirty="0"/>
              <a:t>T4</a:t>
            </a:r>
            <a:r>
              <a:rPr lang="zh-CN" altLang="en-US" sz="2200" dirty="0"/>
              <a:t>：在检查点之后开始执行，在故障点之前提交</a:t>
            </a:r>
            <a:endParaRPr lang="zh-CN" altLang="en-US" sz="2200" dirty="0"/>
          </a:p>
          <a:p>
            <a:pPr marL="411480" indent="-470535" eaLnBrk="1" hangingPunct="1">
              <a:lnSpc>
                <a:spcPct val="110000"/>
              </a:lnSpc>
              <a:buClr>
                <a:schemeClr val="accent1"/>
              </a:buClr>
              <a:buSzPct val="75000"/>
            </a:pPr>
            <a:r>
              <a:rPr lang="en-US" altLang="zh-CN" sz="2200" dirty="0"/>
              <a:t>T5</a:t>
            </a:r>
            <a:r>
              <a:rPr lang="zh-CN" altLang="en-US" sz="2200" dirty="0"/>
              <a:t>：在检查点之后开始执行，在故障点时还未完成</a:t>
            </a:r>
            <a:endParaRPr lang="zh-CN" altLang="en-US" sz="2200" dirty="0"/>
          </a:p>
          <a:p>
            <a:pPr marL="411480" indent="-470535" eaLnBrk="1" hangingPunct="1">
              <a:lnSpc>
                <a:spcPct val="110000"/>
              </a:lnSpc>
              <a:buNone/>
            </a:pPr>
            <a:r>
              <a:rPr lang="zh-CN" altLang="en-US" sz="2200" dirty="0"/>
              <a:t>恢复策略：</a:t>
            </a:r>
            <a:endParaRPr lang="zh-CN" altLang="en-US" sz="2200" dirty="0"/>
          </a:p>
          <a:p>
            <a:pPr marL="411480" indent="-470535" eaLnBrk="1" hangingPunct="1">
              <a:lnSpc>
                <a:spcPct val="110000"/>
              </a:lnSpc>
              <a:buClr>
                <a:schemeClr val="accent1"/>
              </a:buClr>
              <a:buSzPct val="75000"/>
            </a:pPr>
            <a:r>
              <a:rPr lang="en-US" altLang="zh-CN" sz="2200" dirty="0"/>
              <a:t>T3</a:t>
            </a:r>
            <a:r>
              <a:rPr lang="zh-CN" altLang="en-US" sz="2200" dirty="0"/>
              <a:t>和</a:t>
            </a:r>
            <a:r>
              <a:rPr lang="en-US" altLang="zh-CN" sz="2200" dirty="0"/>
              <a:t>T5</a:t>
            </a:r>
            <a:r>
              <a:rPr lang="zh-CN" altLang="en-US" sz="2200" dirty="0"/>
              <a:t>在故障发生时还未完成，所以予以撤销</a:t>
            </a:r>
            <a:endParaRPr lang="zh-CN" altLang="en-US" sz="2200" dirty="0"/>
          </a:p>
          <a:p>
            <a:pPr marL="411480" indent="-470535" eaLnBrk="1" hangingPunct="1">
              <a:lnSpc>
                <a:spcPct val="110000"/>
              </a:lnSpc>
              <a:buClr>
                <a:schemeClr val="accent1"/>
              </a:buClr>
              <a:buSzPct val="75000"/>
            </a:pPr>
            <a:r>
              <a:rPr lang="en-US" altLang="zh-CN" sz="2200" dirty="0"/>
              <a:t>T2</a:t>
            </a:r>
            <a:r>
              <a:rPr lang="zh-CN" altLang="en-US" sz="2200" dirty="0"/>
              <a:t>和</a:t>
            </a:r>
            <a:r>
              <a:rPr lang="en-US" altLang="zh-CN" sz="2200" dirty="0"/>
              <a:t>T4</a:t>
            </a:r>
            <a:r>
              <a:rPr lang="zh-CN" altLang="en-US" sz="2200" dirty="0"/>
              <a:t>在检查点之后才提交，它们对数据库所做的修改在故障发生时可能还在缓冲区中，尚未写入数据库，所以要</a:t>
            </a:r>
            <a:r>
              <a:rPr lang="en-US" altLang="zh-CN" sz="2200" dirty="0"/>
              <a:t>REDO</a:t>
            </a:r>
            <a:endParaRPr lang="en-US" altLang="zh-CN" sz="2200" dirty="0"/>
          </a:p>
          <a:p>
            <a:pPr marL="411480" indent="-470535" eaLnBrk="1" hangingPunct="1">
              <a:lnSpc>
                <a:spcPct val="110000"/>
              </a:lnSpc>
              <a:buClr>
                <a:schemeClr val="accent1"/>
              </a:buClr>
              <a:buSzPct val="75000"/>
            </a:pPr>
            <a:r>
              <a:rPr lang="en-US" altLang="zh-CN" sz="2200" dirty="0"/>
              <a:t>T1</a:t>
            </a:r>
            <a:r>
              <a:rPr lang="zh-CN" altLang="en-US" sz="2200" dirty="0"/>
              <a:t>在检查点之前已提交，所以不必执行</a:t>
            </a:r>
            <a:r>
              <a:rPr lang="en-US" altLang="zh-CN" sz="2200" dirty="0"/>
              <a:t>REDO</a:t>
            </a:r>
            <a:r>
              <a:rPr lang="zh-CN" altLang="en-US" sz="2200" dirty="0"/>
              <a:t>操作</a:t>
            </a:r>
            <a:endParaRPr lang="zh-CN" altLang="en-US" sz="2200" dirty="0"/>
          </a:p>
        </p:txBody>
      </p:sp>
    </p:spTree>
  </p:cSld>
  <p:clrMapOvr>
    <a:masterClrMapping/>
  </p:clrMapOvr>
  <p:transition advClick="0"/>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利用检查点的恢复步骤</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88066" name="Rectangle 3"/>
          <p:cNvSpPr>
            <a:spLocks noGrp="1"/>
          </p:cNvSpPr>
          <p:nvPr>
            <p:ph idx="1"/>
          </p:nvPr>
        </p:nvSpPr>
        <p:spPr>
          <a:ln/>
        </p:spPr>
        <p:txBody>
          <a:bodyPr vert="horz" wrap="square" lIns="91440" tIns="45720" rIns="91440" bIns="45720" anchor="t" anchorCtr="0"/>
          <a:p>
            <a:pPr marL="533400" indent="-533400" eaLnBrk="1" hangingPunct="1">
              <a:lnSpc>
                <a:spcPct val="200000"/>
              </a:lnSpc>
              <a:buNone/>
            </a:pPr>
            <a:r>
              <a:rPr lang="en-US" altLang="zh-CN" sz="2800" dirty="0"/>
              <a:t>   1.</a:t>
            </a:r>
            <a:r>
              <a:rPr lang="zh-CN" altLang="en-US" sz="2800" dirty="0"/>
              <a:t>从</a:t>
            </a:r>
            <a:r>
              <a:rPr lang="zh-CN" altLang="en-US" sz="2800" b="1" dirty="0">
                <a:solidFill>
                  <a:srgbClr val="0000FF"/>
                </a:solidFill>
              </a:rPr>
              <a:t>重新开始文件中</a:t>
            </a:r>
            <a:r>
              <a:rPr lang="zh-CN" altLang="en-US" sz="2800" dirty="0"/>
              <a:t>找到最后一个</a:t>
            </a:r>
            <a:r>
              <a:rPr lang="zh-CN" altLang="en-US" sz="2800" b="1" dirty="0">
                <a:solidFill>
                  <a:srgbClr val="0000FF"/>
                </a:solidFill>
              </a:rPr>
              <a:t>检查点记录在日志文件中的地址</a:t>
            </a:r>
            <a:r>
              <a:rPr lang="zh-CN" altLang="en-US" sz="2800" dirty="0"/>
              <a:t>，由该地址在日志文件中找到最后一个检查点记录</a:t>
            </a:r>
            <a:endParaRPr lang="zh-CN" altLang="en-US" sz="2800" dirty="0"/>
          </a:p>
        </p:txBody>
      </p:sp>
    </p:spTree>
  </p:cSld>
  <p:clrMapOvr>
    <a:masterClrMapping/>
  </p:clrMapOvr>
  <p:transition advClick="0"/>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利用检查点的恢复策略（续）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89090" name="Rectangle 3"/>
          <p:cNvSpPr>
            <a:spLocks noGrp="1"/>
          </p:cNvSpPr>
          <p:nvPr>
            <p:ph idx="1"/>
          </p:nvPr>
        </p:nvSpPr>
        <p:spPr>
          <a:xfrm>
            <a:off x="642938" y="1285875"/>
            <a:ext cx="7924800" cy="4114800"/>
          </a:xfrm>
          <a:ln/>
        </p:spPr>
        <p:txBody>
          <a:bodyPr vert="horz" wrap="square" lIns="91440" tIns="45720" rIns="91440" bIns="45720" anchor="t" anchorCtr="0"/>
          <a:p>
            <a:pPr eaLnBrk="1" hangingPunct="1">
              <a:lnSpc>
                <a:spcPct val="110000"/>
              </a:lnSpc>
              <a:buNone/>
            </a:pPr>
            <a:r>
              <a:rPr lang="en-US" altLang="zh-CN" sz="2800" dirty="0"/>
              <a:t>2.</a:t>
            </a:r>
            <a:r>
              <a:rPr lang="zh-CN" altLang="en-US" sz="2800" dirty="0"/>
              <a:t>由</a:t>
            </a:r>
            <a:r>
              <a:rPr lang="zh-CN" altLang="en-US" sz="2800" b="1" dirty="0">
                <a:solidFill>
                  <a:srgbClr val="FF0000"/>
                </a:solidFill>
              </a:rPr>
              <a:t>该检查点记录</a:t>
            </a:r>
            <a:r>
              <a:rPr lang="zh-CN" altLang="en-US" sz="2800" dirty="0"/>
              <a:t>得到检查点建立时刻所有</a:t>
            </a:r>
            <a:r>
              <a:rPr lang="zh-CN" altLang="en-US" sz="2800" b="1" dirty="0">
                <a:solidFill>
                  <a:srgbClr val="FF0000"/>
                </a:solidFill>
              </a:rPr>
              <a:t>正在执行的事务清单</a:t>
            </a:r>
            <a:r>
              <a:rPr lang="en-US" altLang="zh-CN" sz="2800" dirty="0"/>
              <a:t>ACTIVE-LIST</a:t>
            </a:r>
            <a:endParaRPr lang="en-US" altLang="zh-CN" sz="2800" dirty="0"/>
          </a:p>
          <a:p>
            <a:pPr lvl="1" indent="-436245" eaLnBrk="1" hangingPunct="1">
              <a:lnSpc>
                <a:spcPct val="110000"/>
              </a:lnSpc>
            </a:pPr>
            <a:r>
              <a:rPr lang="zh-CN" altLang="en-US" dirty="0"/>
              <a:t>建立两个事务队列</a:t>
            </a:r>
            <a:endParaRPr lang="zh-CN" altLang="en-US" dirty="0"/>
          </a:p>
          <a:p>
            <a:pPr lvl="2" indent="-394970" eaLnBrk="1" hangingPunct="1">
              <a:lnSpc>
                <a:spcPct val="110000"/>
              </a:lnSpc>
            </a:pPr>
            <a:r>
              <a:rPr lang="en-US" altLang="zh-CN" dirty="0"/>
              <a:t>UNDO-LIST </a:t>
            </a:r>
            <a:endParaRPr lang="en-US" altLang="zh-CN" dirty="0"/>
          </a:p>
          <a:p>
            <a:pPr lvl="2" indent="-394970" eaLnBrk="1" hangingPunct="1">
              <a:lnSpc>
                <a:spcPct val="110000"/>
              </a:lnSpc>
            </a:pPr>
            <a:r>
              <a:rPr lang="en-US" altLang="zh-CN" dirty="0"/>
              <a:t>REDO-LIST </a:t>
            </a:r>
            <a:endParaRPr lang="en-US" altLang="zh-CN" dirty="0"/>
          </a:p>
          <a:p>
            <a:pPr lvl="1" indent="-436245" eaLnBrk="1" hangingPunct="1">
              <a:lnSpc>
                <a:spcPct val="110000"/>
              </a:lnSpc>
              <a:spcBef>
                <a:spcPct val="40000"/>
              </a:spcBef>
            </a:pPr>
            <a:r>
              <a:rPr lang="en-US" altLang="zh-CN" dirty="0"/>
              <a:t>REDO-LIST </a:t>
            </a:r>
            <a:r>
              <a:rPr lang="zh-CN" altLang="en-US" dirty="0"/>
              <a:t>队列：初始为空。</a:t>
            </a:r>
            <a:endParaRPr lang="en-US" altLang="zh-CN" dirty="0"/>
          </a:p>
          <a:p>
            <a:pPr lvl="1" indent="-436245" eaLnBrk="1" hangingPunct="1">
              <a:lnSpc>
                <a:spcPct val="110000"/>
              </a:lnSpc>
              <a:spcBef>
                <a:spcPct val="40000"/>
              </a:spcBef>
            </a:pPr>
            <a:r>
              <a:rPr lang="en-US" altLang="zh-CN" dirty="0"/>
              <a:t>UNDO-LIST</a:t>
            </a:r>
            <a:r>
              <a:rPr lang="zh-CN" altLang="en-US" dirty="0"/>
              <a:t>队列：初始为</a:t>
            </a:r>
            <a:r>
              <a:rPr lang="en-US" altLang="zh-CN" dirty="0"/>
              <a:t>ACTIVE-LIST</a:t>
            </a:r>
            <a:r>
              <a:rPr lang="zh-CN" altLang="en-US" dirty="0"/>
              <a:t>中的事务</a:t>
            </a:r>
            <a:endParaRPr lang="zh-CN" altLang="en-US" b="1" dirty="0"/>
          </a:p>
        </p:txBody>
      </p:sp>
    </p:spTree>
  </p:cSld>
  <p:clrMapOvr>
    <a:masterClrMapping/>
  </p:clrMapOvr>
  <p:transition advClick="0"/>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rPr>
              <a:t>利用检查点的恢复策略（续）</a:t>
            </a:r>
            <a:endPar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endParaRPr>
          </a:p>
        </p:txBody>
      </p:sp>
      <p:sp>
        <p:nvSpPr>
          <p:cNvPr id="90114" name="Rectangle 3"/>
          <p:cNvSpPr>
            <a:spLocks noGrp="1"/>
          </p:cNvSpPr>
          <p:nvPr>
            <p:ph idx="1"/>
          </p:nvPr>
        </p:nvSpPr>
        <p:spPr>
          <a:xfrm>
            <a:off x="642938" y="1285875"/>
            <a:ext cx="7772400" cy="4114800"/>
          </a:xfrm>
          <a:ln/>
        </p:spPr>
        <p:txBody>
          <a:bodyPr vert="horz" wrap="square" lIns="91440" tIns="45720" rIns="91440" bIns="45720" anchor="t" anchorCtr="0"/>
          <a:p>
            <a:pPr eaLnBrk="1" hangingPunct="1">
              <a:lnSpc>
                <a:spcPct val="130000"/>
              </a:lnSpc>
              <a:buNone/>
            </a:pPr>
            <a:r>
              <a:rPr lang="en-US" altLang="zh-CN" sz="2400" dirty="0"/>
              <a:t>3.</a:t>
            </a:r>
            <a:r>
              <a:rPr lang="zh-CN" altLang="en-US" sz="2400" dirty="0"/>
              <a:t>从</a:t>
            </a:r>
            <a:r>
              <a:rPr lang="zh-CN" altLang="en-US" sz="2400" b="1" dirty="0">
                <a:solidFill>
                  <a:srgbClr val="FF0000"/>
                </a:solidFill>
              </a:rPr>
              <a:t>检查点开始</a:t>
            </a:r>
            <a:r>
              <a:rPr lang="zh-CN" altLang="en-US" sz="2400" dirty="0"/>
              <a:t>正向扫描日志文件，直到日志文件结束</a:t>
            </a:r>
            <a:endParaRPr lang="zh-CN" altLang="en-US" sz="2400" dirty="0"/>
          </a:p>
          <a:p>
            <a:pPr lvl="1" indent="-436245" eaLnBrk="1" hangingPunct="1">
              <a:lnSpc>
                <a:spcPct val="130000"/>
              </a:lnSpc>
            </a:pPr>
            <a:r>
              <a:rPr lang="zh-CN" altLang="en-US" sz="2200" dirty="0"/>
              <a:t>如有新开始的事务</a:t>
            </a:r>
            <a:r>
              <a:rPr lang="en-US" altLang="zh-CN" sz="2200" dirty="0"/>
              <a:t>T</a:t>
            </a:r>
            <a:r>
              <a:rPr lang="en-US" altLang="zh-CN" sz="2200" baseline="-25000" dirty="0"/>
              <a:t>i</a:t>
            </a:r>
            <a:r>
              <a:rPr lang="zh-CN" altLang="en-US" sz="2200" dirty="0"/>
              <a:t>，把</a:t>
            </a:r>
            <a:r>
              <a:rPr lang="en-US" altLang="zh-CN" sz="2200" dirty="0"/>
              <a:t>T</a:t>
            </a:r>
            <a:r>
              <a:rPr lang="en-US" altLang="zh-CN" sz="2200" baseline="-25000" dirty="0"/>
              <a:t>i</a:t>
            </a:r>
            <a:r>
              <a:rPr lang="zh-CN" altLang="en-US" sz="2200" dirty="0"/>
              <a:t>暂时放入</a:t>
            </a:r>
            <a:r>
              <a:rPr lang="en-US" altLang="zh-CN" sz="2200" dirty="0"/>
              <a:t>UNDO-LIST</a:t>
            </a:r>
            <a:r>
              <a:rPr lang="zh-CN" altLang="en-US" sz="2200" dirty="0"/>
              <a:t>队列</a:t>
            </a:r>
            <a:endParaRPr lang="zh-CN" altLang="en-US" sz="2200" dirty="0"/>
          </a:p>
          <a:p>
            <a:pPr lvl="1" indent="-436245" eaLnBrk="1" hangingPunct="1">
              <a:lnSpc>
                <a:spcPct val="130000"/>
              </a:lnSpc>
            </a:pPr>
            <a:r>
              <a:rPr lang="zh-CN" altLang="en-US" sz="2200" dirty="0"/>
              <a:t>如有提交的事务</a:t>
            </a:r>
            <a:r>
              <a:rPr lang="en-US" altLang="zh-CN" sz="2200" dirty="0"/>
              <a:t>T</a:t>
            </a:r>
            <a:r>
              <a:rPr lang="en-US" altLang="zh-CN" sz="2200" baseline="-25000" dirty="0"/>
              <a:t>j</a:t>
            </a:r>
            <a:r>
              <a:rPr lang="zh-CN" altLang="en-US" sz="2200" dirty="0"/>
              <a:t>，把</a:t>
            </a:r>
            <a:r>
              <a:rPr lang="en-US" altLang="zh-CN" sz="2200" dirty="0"/>
              <a:t>T</a:t>
            </a:r>
            <a:r>
              <a:rPr lang="en-US" altLang="zh-CN" sz="2200" baseline="-25000" dirty="0"/>
              <a:t>j</a:t>
            </a:r>
            <a:r>
              <a:rPr lang="zh-CN" altLang="en-US" sz="2200" dirty="0"/>
              <a:t>从</a:t>
            </a:r>
            <a:r>
              <a:rPr lang="en-US" altLang="zh-CN" sz="2200" dirty="0"/>
              <a:t>UNDO-LIST</a:t>
            </a:r>
            <a:r>
              <a:rPr lang="zh-CN" altLang="en-US" sz="2200" dirty="0"/>
              <a:t>队列移到</a:t>
            </a:r>
            <a:r>
              <a:rPr lang="en-US" altLang="zh-CN" sz="2200" dirty="0"/>
              <a:t>REDO-LIST</a:t>
            </a:r>
            <a:r>
              <a:rPr lang="zh-CN" altLang="en-US" sz="2200" dirty="0"/>
              <a:t>队列</a:t>
            </a:r>
            <a:endParaRPr lang="zh-CN" altLang="en-US" sz="2200" dirty="0"/>
          </a:p>
        </p:txBody>
      </p:sp>
      <p:grpSp>
        <p:nvGrpSpPr>
          <p:cNvPr id="90115" name="Group 36"/>
          <p:cNvGrpSpPr/>
          <p:nvPr/>
        </p:nvGrpSpPr>
        <p:grpSpPr>
          <a:xfrm>
            <a:off x="1116013" y="3357563"/>
            <a:ext cx="7343775" cy="3068637"/>
            <a:chOff x="930" y="1071"/>
            <a:chExt cx="4320" cy="2750"/>
          </a:xfrm>
        </p:grpSpPr>
        <p:sp>
          <p:nvSpPr>
            <p:cNvPr id="90116" name="Freeform 5"/>
            <p:cNvSpPr/>
            <p:nvPr/>
          </p:nvSpPr>
          <p:spPr>
            <a:xfrm>
              <a:off x="2043" y="1453"/>
              <a:ext cx="1" cy="2278"/>
            </a:xfrm>
            <a:custGeom>
              <a:avLst/>
              <a:gdLst/>
              <a:ahLst/>
              <a:cxnLst>
                <a:cxn ang="0">
                  <a:pos x="0" y="0"/>
                </a:cxn>
                <a:cxn ang="0">
                  <a:pos x="0" y="623"/>
                </a:cxn>
              </a:cxnLst>
              <a:pathLst>
                <a:path w="3" h="2423">
                  <a:moveTo>
                    <a:pt x="0" y="0"/>
                  </a:moveTo>
                  <a:lnTo>
                    <a:pt x="3" y="2423"/>
                  </a:lnTo>
                </a:path>
              </a:pathLst>
            </a:custGeom>
            <a:noFill/>
            <a:ln w="6350" cap="flat" cmpd="sng">
              <a:solidFill>
                <a:srgbClr val="000000"/>
              </a:solidFill>
              <a:prstDash val="solid"/>
              <a:round/>
              <a:headEnd type="none" w="med" len="med"/>
              <a:tailEnd type="none" w="med" len="med"/>
            </a:ln>
          </p:spPr>
          <p:txBody>
            <a:bodyPr/>
            <a:p>
              <a:endParaRPr lang="zh-CN" altLang="en-US"/>
            </a:p>
          </p:txBody>
        </p:sp>
        <p:sp>
          <p:nvSpPr>
            <p:cNvPr id="90117" name="Freeform 6"/>
            <p:cNvSpPr/>
            <p:nvPr/>
          </p:nvSpPr>
          <p:spPr>
            <a:xfrm>
              <a:off x="4069" y="1466"/>
              <a:ext cx="0" cy="2280"/>
            </a:xfrm>
            <a:custGeom>
              <a:avLst/>
              <a:gdLst/>
              <a:ahLst/>
              <a:cxnLst>
                <a:cxn ang="0">
                  <a:pos x="0" y="0"/>
                </a:cxn>
                <a:cxn ang="0">
                  <a:pos x="0" y="636"/>
                </a:cxn>
              </a:cxnLst>
              <a:pathLst>
                <a:path w="1" h="2423">
                  <a:moveTo>
                    <a:pt x="0" y="0"/>
                  </a:moveTo>
                  <a:lnTo>
                    <a:pt x="1" y="2423"/>
                  </a:lnTo>
                </a:path>
              </a:pathLst>
            </a:custGeom>
            <a:noFill/>
            <a:ln w="6350" cap="flat" cmpd="sng">
              <a:solidFill>
                <a:srgbClr val="000000"/>
              </a:solidFill>
              <a:prstDash val="solid"/>
              <a:round/>
              <a:headEnd type="none" w="med" len="med"/>
              <a:tailEnd type="none" w="med" len="med"/>
            </a:ln>
          </p:spPr>
          <p:txBody>
            <a:bodyPr/>
            <a:p>
              <a:endParaRPr lang="zh-CN" altLang="en-US"/>
            </a:p>
          </p:txBody>
        </p:sp>
        <p:sp>
          <p:nvSpPr>
            <p:cNvPr id="90118" name="Freeform 7"/>
            <p:cNvSpPr/>
            <p:nvPr/>
          </p:nvSpPr>
          <p:spPr>
            <a:xfrm>
              <a:off x="1059" y="2423"/>
              <a:ext cx="1260" cy="1"/>
            </a:xfrm>
            <a:custGeom>
              <a:avLst/>
              <a:gdLst/>
              <a:ahLst/>
              <a:cxnLst>
                <a:cxn ang="0">
                  <a:pos x="0" y="0"/>
                </a:cxn>
                <a:cxn ang="0">
                  <a:pos x="5363" y="0"/>
                </a:cxn>
              </a:cxnLst>
              <a:pathLst>
                <a:path w="1176" h="1">
                  <a:moveTo>
                    <a:pt x="0" y="0"/>
                  </a:moveTo>
                  <a:lnTo>
                    <a:pt x="1176"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19" name="Freeform 8"/>
            <p:cNvSpPr/>
            <p:nvPr/>
          </p:nvSpPr>
          <p:spPr>
            <a:xfrm>
              <a:off x="1063" y="2308"/>
              <a:ext cx="1" cy="98"/>
            </a:xfrm>
            <a:custGeom>
              <a:avLst/>
              <a:gdLst/>
              <a:ahLst/>
              <a:cxnLst>
                <a:cxn ang="0">
                  <a:pos x="0" y="0"/>
                </a:cxn>
                <a:cxn ang="0">
                  <a:pos x="0" y="23"/>
                </a:cxn>
              </a:cxnLst>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20" name="Freeform 9"/>
            <p:cNvSpPr/>
            <p:nvPr/>
          </p:nvSpPr>
          <p:spPr>
            <a:xfrm>
              <a:off x="2306" y="2278"/>
              <a:ext cx="1" cy="145"/>
            </a:xfrm>
            <a:custGeom>
              <a:avLst/>
              <a:gdLst/>
              <a:ahLst/>
              <a:cxnLst>
                <a:cxn ang="0">
                  <a:pos x="0" y="0"/>
                </a:cxn>
                <a:cxn ang="0">
                  <a:pos x="0" y="7689"/>
                </a:cxn>
              </a:cxnLst>
              <a:pathLst>
                <a:path w="1" h="120">
                  <a:moveTo>
                    <a:pt x="0" y="0"/>
                  </a:moveTo>
                  <a:lnTo>
                    <a:pt x="0" y="12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21" name="Line 10"/>
            <p:cNvSpPr/>
            <p:nvPr/>
          </p:nvSpPr>
          <p:spPr>
            <a:xfrm>
              <a:off x="1444" y="2792"/>
              <a:ext cx="2622" cy="0"/>
            </a:xfrm>
            <a:prstGeom prst="line">
              <a:avLst/>
            </a:prstGeom>
            <a:ln w="9525" cap="flat" cmpd="sng">
              <a:solidFill>
                <a:srgbClr val="000000"/>
              </a:solidFill>
              <a:prstDash val="solid"/>
              <a:round/>
              <a:headEnd type="none" w="med" len="med"/>
              <a:tailEnd type="none" w="med" len="med"/>
            </a:ln>
          </p:spPr>
        </p:sp>
        <p:sp>
          <p:nvSpPr>
            <p:cNvPr id="90122" name="Line 11"/>
            <p:cNvSpPr/>
            <p:nvPr/>
          </p:nvSpPr>
          <p:spPr>
            <a:xfrm>
              <a:off x="4066" y="2792"/>
              <a:ext cx="579" cy="0"/>
            </a:xfrm>
            <a:prstGeom prst="line">
              <a:avLst/>
            </a:prstGeom>
            <a:ln w="9525" cap="flat" cmpd="sng">
              <a:solidFill>
                <a:srgbClr val="000000"/>
              </a:solidFill>
              <a:prstDash val="dash"/>
              <a:round/>
              <a:headEnd type="none" w="med" len="med"/>
              <a:tailEnd type="none" w="med" len="med"/>
            </a:ln>
          </p:spPr>
        </p:sp>
        <p:sp>
          <p:nvSpPr>
            <p:cNvPr id="90123" name="Freeform 12"/>
            <p:cNvSpPr/>
            <p:nvPr/>
          </p:nvSpPr>
          <p:spPr>
            <a:xfrm>
              <a:off x="4645" y="2687"/>
              <a:ext cx="1" cy="104"/>
            </a:xfrm>
            <a:custGeom>
              <a:avLst/>
              <a:gdLst/>
              <a:ahLst/>
              <a:cxnLst>
                <a:cxn ang="0">
                  <a:pos x="0" y="0"/>
                </a:cxn>
                <a:cxn ang="0">
                  <a:pos x="0" y="27"/>
                </a:cxn>
              </a:cxnLst>
              <a:pathLst>
                <a:path w="1" h="111">
                  <a:moveTo>
                    <a:pt x="0" y="0"/>
                  </a:moveTo>
                  <a:lnTo>
                    <a:pt x="0" y="111"/>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24" name="Line 13"/>
            <p:cNvSpPr/>
            <p:nvPr/>
          </p:nvSpPr>
          <p:spPr>
            <a:xfrm>
              <a:off x="1446" y="2682"/>
              <a:ext cx="0" cy="114"/>
            </a:xfrm>
            <a:prstGeom prst="line">
              <a:avLst/>
            </a:prstGeom>
            <a:ln w="9525" cap="flat" cmpd="sng">
              <a:solidFill>
                <a:srgbClr val="000000"/>
              </a:solidFill>
              <a:prstDash val="solid"/>
              <a:round/>
              <a:headEnd type="none" w="med" len="med"/>
              <a:tailEnd type="none" w="med" len="med"/>
            </a:ln>
          </p:spPr>
        </p:sp>
        <p:sp>
          <p:nvSpPr>
            <p:cNvPr id="90125" name="Freeform 14"/>
            <p:cNvSpPr/>
            <p:nvPr/>
          </p:nvSpPr>
          <p:spPr>
            <a:xfrm>
              <a:off x="2159" y="3197"/>
              <a:ext cx="1109" cy="5"/>
            </a:xfrm>
            <a:custGeom>
              <a:avLst/>
              <a:gdLst/>
              <a:ahLst/>
              <a:cxnLst>
                <a:cxn ang="0">
                  <a:pos x="0" y="5"/>
                </a:cxn>
                <a:cxn ang="0">
                  <a:pos x="4" y="0"/>
                </a:cxn>
              </a:cxnLst>
              <a:pathLst>
                <a:path w="1465" h="5">
                  <a:moveTo>
                    <a:pt x="0" y="5"/>
                  </a:moveTo>
                  <a:lnTo>
                    <a:pt x="1465"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26" name="Freeform 15"/>
            <p:cNvSpPr/>
            <p:nvPr/>
          </p:nvSpPr>
          <p:spPr>
            <a:xfrm>
              <a:off x="2151" y="3094"/>
              <a:ext cx="2" cy="108"/>
            </a:xfrm>
            <a:custGeom>
              <a:avLst/>
              <a:gdLst/>
              <a:ahLst/>
              <a:cxnLst>
                <a:cxn ang="0">
                  <a:pos x="1" y="0"/>
                </a:cxn>
                <a:cxn ang="0">
                  <a:pos x="0" y="29"/>
                </a:cxn>
              </a:cxnLst>
              <a:pathLst>
                <a:path w="4" h="115">
                  <a:moveTo>
                    <a:pt x="4" y="0"/>
                  </a:moveTo>
                  <a:lnTo>
                    <a:pt x="0" y="11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27" name="Freeform 16"/>
            <p:cNvSpPr/>
            <p:nvPr/>
          </p:nvSpPr>
          <p:spPr>
            <a:xfrm>
              <a:off x="3272" y="3112"/>
              <a:ext cx="1" cy="90"/>
            </a:xfrm>
            <a:custGeom>
              <a:avLst/>
              <a:gdLst/>
              <a:ahLst/>
              <a:cxnLst>
                <a:cxn ang="0">
                  <a:pos x="0" y="0"/>
                </a:cxn>
                <a:cxn ang="0">
                  <a:pos x="1" y="29"/>
                </a:cxn>
              </a:cxnLst>
              <a:pathLst>
                <a:path w="1" h="95">
                  <a:moveTo>
                    <a:pt x="0" y="0"/>
                  </a:moveTo>
                  <a:lnTo>
                    <a:pt x="1" y="95"/>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28" name="Line 17"/>
            <p:cNvSpPr/>
            <p:nvPr/>
          </p:nvSpPr>
          <p:spPr>
            <a:xfrm>
              <a:off x="2627" y="3630"/>
              <a:ext cx="1492" cy="0"/>
            </a:xfrm>
            <a:prstGeom prst="line">
              <a:avLst/>
            </a:prstGeom>
            <a:ln w="9525" cap="flat" cmpd="sng">
              <a:solidFill>
                <a:srgbClr val="000000"/>
              </a:solidFill>
              <a:prstDash val="solid"/>
              <a:round/>
              <a:headEnd type="none" w="med" len="med"/>
              <a:tailEnd type="none" w="med" len="med"/>
            </a:ln>
          </p:spPr>
        </p:sp>
        <p:sp>
          <p:nvSpPr>
            <p:cNvPr id="90129" name="Line 18"/>
            <p:cNvSpPr/>
            <p:nvPr/>
          </p:nvSpPr>
          <p:spPr>
            <a:xfrm>
              <a:off x="2627" y="3517"/>
              <a:ext cx="0" cy="113"/>
            </a:xfrm>
            <a:prstGeom prst="line">
              <a:avLst/>
            </a:prstGeom>
            <a:ln w="9525" cap="flat" cmpd="sng">
              <a:solidFill>
                <a:srgbClr val="000000"/>
              </a:solidFill>
              <a:prstDash val="solid"/>
              <a:round/>
              <a:headEnd type="none" w="med" len="med"/>
              <a:tailEnd type="none" w="med" len="med"/>
            </a:ln>
          </p:spPr>
        </p:sp>
        <p:sp>
          <p:nvSpPr>
            <p:cNvPr id="90130" name="Freeform 19"/>
            <p:cNvSpPr/>
            <p:nvPr/>
          </p:nvSpPr>
          <p:spPr>
            <a:xfrm>
              <a:off x="4425" y="3535"/>
              <a:ext cx="0" cy="91"/>
            </a:xfrm>
            <a:custGeom>
              <a:avLst/>
              <a:gdLst/>
              <a:ahLst/>
              <a:cxnLst>
                <a:cxn ang="0">
                  <a:pos x="0" y="0"/>
                </a:cxn>
                <a:cxn ang="0">
                  <a:pos x="0" y="23"/>
                </a:cxn>
              </a:cxnLst>
              <a:pathLst>
                <a:path w="1" h="97">
                  <a:moveTo>
                    <a:pt x="0" y="0"/>
                  </a:moveTo>
                  <a:lnTo>
                    <a:pt x="0" y="9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31" name="Line 20"/>
            <p:cNvSpPr/>
            <p:nvPr/>
          </p:nvSpPr>
          <p:spPr>
            <a:xfrm>
              <a:off x="4141" y="3626"/>
              <a:ext cx="284" cy="0"/>
            </a:xfrm>
            <a:prstGeom prst="line">
              <a:avLst/>
            </a:prstGeom>
            <a:ln w="9525" cap="flat" cmpd="sng">
              <a:solidFill>
                <a:srgbClr val="000000"/>
              </a:solidFill>
              <a:prstDash val="dash"/>
              <a:round/>
              <a:headEnd type="none" w="med" len="med"/>
              <a:tailEnd type="none" w="med" len="med"/>
            </a:ln>
          </p:spPr>
        </p:sp>
        <p:sp>
          <p:nvSpPr>
            <p:cNvPr id="90132" name="Text Box 21"/>
            <p:cNvSpPr txBox="1"/>
            <p:nvPr/>
          </p:nvSpPr>
          <p:spPr>
            <a:xfrm>
              <a:off x="1671" y="1071"/>
              <a:ext cx="897" cy="423"/>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c </a:t>
              </a:r>
              <a:r>
                <a:rPr lang="en-US" altLang="zh-CN" dirty="0">
                  <a:latin typeface="Verdana" panose="020B0604030504040204" pitchFamily="34" charset="0"/>
                  <a:ea typeface="宋体" panose="02010600030101010101" pitchFamily="2" charset="-122"/>
                </a:rPr>
                <a:t>(</a:t>
              </a:r>
              <a:r>
                <a:rPr lang="zh-CN" altLang="en-US" dirty="0">
                  <a:latin typeface="Verdana" panose="020B0604030504040204" pitchFamily="34" charset="0"/>
                  <a:ea typeface="宋体" panose="02010600030101010101" pitchFamily="2" charset="-122"/>
                </a:rPr>
                <a:t>检查点</a:t>
              </a:r>
              <a:r>
                <a:rPr lang="en-US" altLang="zh-CN" dirty="0">
                  <a:latin typeface="Verdana" panose="020B0604030504040204" pitchFamily="34" charset="0"/>
                  <a:ea typeface="宋体" panose="02010600030101010101" pitchFamily="2" charset="-122"/>
                </a:rPr>
                <a:t>)</a:t>
              </a:r>
              <a:endParaRPr lang="en-US" altLang="zh-CN" dirty="0">
                <a:latin typeface="Verdana" panose="020B0604030504040204" pitchFamily="34" charset="0"/>
                <a:ea typeface="宋体" panose="02010600030101010101" pitchFamily="2" charset="-122"/>
              </a:endParaRPr>
            </a:p>
          </p:txBody>
        </p:sp>
        <p:sp>
          <p:nvSpPr>
            <p:cNvPr id="90133" name="Text Box 22"/>
            <p:cNvSpPr txBox="1"/>
            <p:nvPr/>
          </p:nvSpPr>
          <p:spPr>
            <a:xfrm>
              <a:off x="3658" y="1086"/>
              <a:ext cx="896" cy="422"/>
            </a:xfrm>
            <a:prstGeom prst="rect">
              <a:avLst/>
            </a:prstGeom>
            <a:noFill/>
            <a:ln w="9525">
              <a:noFill/>
            </a:ln>
          </p:spPr>
          <p:txBody>
            <a:bodyPr anchor="t" anchorCtr="0"/>
            <a:p>
              <a:pPr algn="just" eaLnBrk="0" hangingPunct="0"/>
              <a:r>
                <a:rPr lang="en-US" altLang="zh-CN" sz="1600" dirty="0">
                  <a:latin typeface="Verdana" panose="020B0604030504040204" pitchFamily="34" charset="0"/>
                  <a:ea typeface="宋体" panose="02010600030101010101" pitchFamily="2" charset="-122"/>
                </a:rPr>
                <a:t>T</a:t>
              </a:r>
              <a:r>
                <a:rPr lang="en-US" altLang="zh-CN" sz="1600" baseline="-25000" dirty="0">
                  <a:latin typeface="Verdana" panose="020B0604030504040204" pitchFamily="34" charset="0"/>
                  <a:ea typeface="宋体" panose="02010600030101010101" pitchFamily="2" charset="-122"/>
                </a:rPr>
                <a:t>f</a:t>
              </a:r>
              <a:r>
                <a:rPr lang="en-US" altLang="zh-CN" sz="1600" dirty="0">
                  <a:latin typeface="Verdana" panose="020B0604030504040204" pitchFamily="34" charset="0"/>
                  <a:ea typeface="宋体" panose="02010600030101010101" pitchFamily="2" charset="-122"/>
                </a:rPr>
                <a:t>(</a:t>
              </a:r>
              <a:r>
                <a:rPr lang="zh-CN" altLang="en-US" sz="1600" dirty="0">
                  <a:latin typeface="Verdana" panose="020B0604030504040204" pitchFamily="34" charset="0"/>
                  <a:ea typeface="宋体" panose="02010600030101010101" pitchFamily="2" charset="-122"/>
                </a:rPr>
                <a:t>系统故障</a:t>
              </a:r>
              <a:r>
                <a:rPr lang="en-US" altLang="zh-CN" sz="1600" dirty="0">
                  <a:latin typeface="Verdana" panose="020B0604030504040204" pitchFamily="34" charset="0"/>
                  <a:ea typeface="宋体" panose="02010600030101010101" pitchFamily="2" charset="-122"/>
                </a:rPr>
                <a:t>)</a:t>
              </a:r>
              <a:endParaRPr lang="en-US" altLang="zh-CN" sz="1600" dirty="0">
                <a:latin typeface="Verdana" panose="020B0604030504040204" pitchFamily="34" charset="0"/>
                <a:ea typeface="宋体" panose="02010600030101010101" pitchFamily="2" charset="-122"/>
              </a:endParaRPr>
            </a:p>
          </p:txBody>
        </p:sp>
        <p:sp>
          <p:nvSpPr>
            <p:cNvPr id="90134" name="Text Box 23"/>
            <p:cNvSpPr txBox="1"/>
            <p:nvPr/>
          </p:nvSpPr>
          <p:spPr>
            <a:xfrm>
              <a:off x="2267" y="2060"/>
              <a:ext cx="716" cy="422"/>
            </a:xfrm>
            <a:prstGeom prst="rect">
              <a:avLst/>
            </a:prstGeom>
            <a:noFill/>
            <a:ln w="9525">
              <a:noFill/>
            </a:ln>
          </p:spPr>
          <p:txBody>
            <a:bodyPr anchor="t" anchorCtr="0"/>
            <a:p>
              <a:pPr eaLnBrk="0" hangingPunct="0"/>
              <a:r>
                <a:rPr lang="en-US" altLang="zh-CN" sz="1200" dirty="0">
                  <a:latin typeface="Verdana" panose="020B0604030504040204" pitchFamily="34" charset="0"/>
                  <a:ea typeface="宋体" panose="02010600030101010101" pitchFamily="2" charset="-122"/>
                </a:rPr>
                <a:t> </a:t>
              </a:r>
              <a:r>
                <a:rPr lang="en-US" altLang="zh-CN" dirty="0">
                  <a:latin typeface="Verdana" panose="020B0604030504040204" pitchFamily="34" charset="0"/>
                  <a:ea typeface="宋体" panose="02010600030101010101" pitchFamily="2" charset="-122"/>
                </a:rPr>
                <a:t>REDO</a:t>
              </a:r>
              <a:endParaRPr lang="en-US" altLang="zh-CN" sz="1600" dirty="0">
                <a:latin typeface="Verdana" panose="020B0604030504040204" pitchFamily="34" charset="0"/>
                <a:ea typeface="宋体" panose="02010600030101010101" pitchFamily="2" charset="-122"/>
              </a:endParaRPr>
            </a:p>
          </p:txBody>
        </p:sp>
        <p:sp>
          <p:nvSpPr>
            <p:cNvPr id="90135" name="Text Box 24"/>
            <p:cNvSpPr txBox="1"/>
            <p:nvPr/>
          </p:nvSpPr>
          <p:spPr>
            <a:xfrm>
              <a:off x="4610" y="2454"/>
              <a:ext cx="640" cy="423"/>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UNDO</a:t>
              </a:r>
              <a:endParaRPr lang="en-US" altLang="zh-CN" sz="2400" dirty="0">
                <a:latin typeface="Verdana" panose="020B0604030504040204" pitchFamily="34" charset="0"/>
                <a:ea typeface="宋体" panose="02010600030101010101" pitchFamily="2" charset="-122"/>
              </a:endParaRPr>
            </a:p>
          </p:txBody>
        </p:sp>
        <p:sp>
          <p:nvSpPr>
            <p:cNvPr id="90136" name="Text Box 25"/>
            <p:cNvSpPr txBox="1"/>
            <p:nvPr/>
          </p:nvSpPr>
          <p:spPr>
            <a:xfrm>
              <a:off x="4376" y="3281"/>
              <a:ext cx="589" cy="422"/>
            </a:xfrm>
            <a:prstGeom prst="rect">
              <a:avLst/>
            </a:prstGeom>
            <a:noFill/>
            <a:ln w="9525">
              <a:noFill/>
            </a:ln>
          </p:spPr>
          <p:txBody>
            <a:bodyPr anchor="t" anchorCtr="0"/>
            <a:p>
              <a:pPr algn="just" eaLnBrk="0" hangingPunct="0"/>
              <a:r>
                <a:rPr lang="en-US" altLang="zh-CN" dirty="0">
                  <a:latin typeface="Verdana" panose="020B0604030504040204" pitchFamily="34" charset="0"/>
                  <a:ea typeface="宋体" panose="02010600030101010101" pitchFamily="2" charset="-122"/>
                </a:rPr>
                <a:t>UNDO</a:t>
              </a:r>
              <a:endParaRPr lang="en-US" altLang="zh-CN" sz="1600" dirty="0">
                <a:latin typeface="Verdana" panose="020B0604030504040204" pitchFamily="34" charset="0"/>
                <a:ea typeface="宋体" panose="02010600030101010101" pitchFamily="2" charset="-122"/>
              </a:endParaRPr>
            </a:p>
          </p:txBody>
        </p:sp>
        <p:sp>
          <p:nvSpPr>
            <p:cNvPr id="90137" name="Text Box 26"/>
            <p:cNvSpPr txBox="1"/>
            <p:nvPr/>
          </p:nvSpPr>
          <p:spPr>
            <a:xfrm>
              <a:off x="3192" y="2877"/>
              <a:ext cx="716" cy="424"/>
            </a:xfrm>
            <a:prstGeom prst="rect">
              <a:avLst/>
            </a:prstGeom>
            <a:noFill/>
            <a:ln w="9525">
              <a:noFill/>
            </a:ln>
          </p:spPr>
          <p:txBody>
            <a:bodyPr anchor="t" anchorCtr="0"/>
            <a:p>
              <a:pPr eaLnBrk="0" hangingPunct="0"/>
              <a:r>
                <a:rPr lang="en-US" altLang="zh-CN" sz="1200" dirty="0">
                  <a:latin typeface="Verdana" panose="020B0604030504040204" pitchFamily="34" charset="0"/>
                  <a:ea typeface="宋体" panose="02010600030101010101" pitchFamily="2" charset="-122"/>
                </a:rPr>
                <a:t> </a:t>
              </a:r>
              <a:r>
                <a:rPr lang="en-US" altLang="zh-CN" dirty="0">
                  <a:latin typeface="Verdana" panose="020B0604030504040204" pitchFamily="34" charset="0"/>
                  <a:ea typeface="宋体" panose="02010600030101010101" pitchFamily="2" charset="-122"/>
                </a:rPr>
                <a:t>REDO</a:t>
              </a:r>
              <a:endParaRPr lang="en-US" altLang="zh-CN" sz="1600" dirty="0">
                <a:latin typeface="Verdana" panose="020B0604030504040204" pitchFamily="34" charset="0"/>
                <a:ea typeface="宋体" panose="02010600030101010101" pitchFamily="2" charset="-122"/>
              </a:endParaRPr>
            </a:p>
          </p:txBody>
        </p:sp>
        <p:sp>
          <p:nvSpPr>
            <p:cNvPr id="90138" name="Text Box 27"/>
            <p:cNvSpPr txBox="1"/>
            <p:nvPr/>
          </p:nvSpPr>
          <p:spPr>
            <a:xfrm>
              <a:off x="1084" y="2118"/>
              <a:ext cx="463" cy="422"/>
            </a:xfrm>
            <a:prstGeom prst="rect">
              <a:avLst/>
            </a:prstGeom>
            <a:noFill/>
            <a:ln w="9525">
              <a:noFill/>
            </a:ln>
          </p:spPr>
          <p:txBody>
            <a:bodyPr anchor="t" anchorCtr="0"/>
            <a:p>
              <a:pPr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2</a:t>
              </a:r>
              <a:endParaRPr lang="en-US" altLang="zh-CN" sz="1600" dirty="0">
                <a:latin typeface="Verdana" panose="020B0604030504040204" pitchFamily="34" charset="0"/>
                <a:ea typeface="宋体" panose="02010600030101010101" pitchFamily="2" charset="-122"/>
              </a:endParaRPr>
            </a:p>
          </p:txBody>
        </p:sp>
        <p:sp>
          <p:nvSpPr>
            <p:cNvPr id="90139" name="Text Box 28"/>
            <p:cNvSpPr txBox="1"/>
            <p:nvPr/>
          </p:nvSpPr>
          <p:spPr>
            <a:xfrm>
              <a:off x="1496" y="2525"/>
              <a:ext cx="714" cy="424"/>
            </a:xfrm>
            <a:prstGeom prst="rect">
              <a:avLst/>
            </a:prstGeom>
            <a:noFill/>
            <a:ln w="9525">
              <a:noFill/>
            </a:ln>
          </p:spPr>
          <p:txBody>
            <a:bodyPr anchor="t" anchorCtr="0"/>
            <a:p>
              <a:pPr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3</a:t>
              </a:r>
              <a:endParaRPr lang="en-US" altLang="zh-CN" sz="1600" dirty="0">
                <a:latin typeface="Verdana" panose="020B0604030504040204" pitchFamily="34" charset="0"/>
                <a:ea typeface="宋体" panose="02010600030101010101" pitchFamily="2" charset="-122"/>
              </a:endParaRPr>
            </a:p>
          </p:txBody>
        </p:sp>
        <p:sp>
          <p:nvSpPr>
            <p:cNvPr id="90140" name="Text Box 29"/>
            <p:cNvSpPr txBox="1"/>
            <p:nvPr/>
          </p:nvSpPr>
          <p:spPr>
            <a:xfrm>
              <a:off x="2164" y="2874"/>
              <a:ext cx="715" cy="424"/>
            </a:xfrm>
            <a:prstGeom prst="rect">
              <a:avLst/>
            </a:prstGeom>
            <a:noFill/>
            <a:ln w="9525">
              <a:noFill/>
            </a:ln>
          </p:spPr>
          <p:txBody>
            <a:bodyPr anchor="t" anchorCtr="0"/>
            <a:p>
              <a:pPr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4</a:t>
              </a:r>
              <a:endParaRPr lang="en-US" altLang="zh-CN" sz="1400" dirty="0">
                <a:latin typeface="Verdana" panose="020B0604030504040204" pitchFamily="34" charset="0"/>
                <a:ea typeface="宋体" panose="02010600030101010101" pitchFamily="2" charset="-122"/>
              </a:endParaRPr>
            </a:p>
            <a:p>
              <a:pPr eaLnBrk="0" hangingPunct="0"/>
              <a:endParaRPr lang="en-US" altLang="zh-CN" sz="1400" dirty="0">
                <a:latin typeface="Verdana" panose="020B0604030504040204" pitchFamily="34" charset="0"/>
                <a:ea typeface="宋体" panose="02010600030101010101" pitchFamily="2" charset="-122"/>
              </a:endParaRPr>
            </a:p>
          </p:txBody>
        </p:sp>
        <p:sp>
          <p:nvSpPr>
            <p:cNvPr id="90141" name="Text Box 30"/>
            <p:cNvSpPr txBox="1"/>
            <p:nvPr/>
          </p:nvSpPr>
          <p:spPr>
            <a:xfrm>
              <a:off x="2661" y="3299"/>
              <a:ext cx="715" cy="522"/>
            </a:xfrm>
            <a:prstGeom prst="rect">
              <a:avLst/>
            </a:prstGeom>
            <a:noFill/>
            <a:ln w="9525">
              <a:noFill/>
            </a:ln>
          </p:spPr>
          <p:txBody>
            <a:bodyPr anchor="t" anchorCtr="0"/>
            <a:p>
              <a:pPr eaLnBrk="0" hangingPunct="0"/>
              <a:r>
                <a:rPr lang="en-US" altLang="zh-CN" dirty="0">
                  <a:latin typeface="Verdana" panose="020B0604030504040204" pitchFamily="34" charset="0"/>
                  <a:ea typeface="宋体" panose="02010600030101010101" pitchFamily="2" charset="-122"/>
                </a:rPr>
                <a:t>T</a:t>
              </a:r>
              <a:r>
                <a:rPr lang="en-US" altLang="zh-CN" baseline="-25000" dirty="0">
                  <a:latin typeface="Verdana" panose="020B0604030504040204" pitchFamily="34" charset="0"/>
                  <a:ea typeface="宋体" panose="02010600030101010101" pitchFamily="2" charset="-122"/>
                </a:rPr>
                <a:t>5</a:t>
              </a:r>
              <a:endParaRPr lang="en-US" altLang="zh-CN" sz="1400" dirty="0">
                <a:latin typeface="Verdana" panose="020B0604030504040204" pitchFamily="34" charset="0"/>
                <a:ea typeface="宋体" panose="02010600030101010101" pitchFamily="2" charset="-122"/>
              </a:endParaRPr>
            </a:p>
          </p:txBody>
        </p:sp>
        <p:sp>
          <p:nvSpPr>
            <p:cNvPr id="90142" name="Text Box 31"/>
            <p:cNvSpPr txBox="1"/>
            <p:nvPr/>
          </p:nvSpPr>
          <p:spPr>
            <a:xfrm>
              <a:off x="1247" y="1661"/>
              <a:ext cx="897" cy="424"/>
            </a:xfrm>
            <a:prstGeom prst="rect">
              <a:avLst/>
            </a:prstGeom>
            <a:noFill/>
            <a:ln w="9525">
              <a:noFill/>
            </a:ln>
          </p:spPr>
          <p:txBody>
            <a:bodyPr anchor="t" anchorCtr="0"/>
            <a:p>
              <a:pPr algn="just" eaLnBrk="0" hangingPunct="0"/>
              <a:r>
                <a:rPr lang="zh-CN" altLang="en-US" dirty="0">
                  <a:latin typeface="Verdana" panose="020B0604030504040204" pitchFamily="34" charset="0"/>
                  <a:ea typeface="宋体" panose="02010600030101010101" pitchFamily="2" charset="-122"/>
                </a:rPr>
                <a:t>不要</a:t>
              </a:r>
              <a:r>
                <a:rPr lang="en-US" altLang="zh-CN" dirty="0">
                  <a:latin typeface="Verdana" panose="020B0604030504040204" pitchFamily="34" charset="0"/>
                  <a:ea typeface="宋体" panose="02010600030101010101" pitchFamily="2" charset="-122"/>
                </a:rPr>
                <a:t>REDO</a:t>
              </a:r>
              <a:endParaRPr lang="en-US" altLang="zh-CN" sz="1600" dirty="0">
                <a:latin typeface="Verdana" panose="020B0604030504040204" pitchFamily="34" charset="0"/>
                <a:ea typeface="宋体" panose="02010600030101010101" pitchFamily="2" charset="-122"/>
              </a:endParaRPr>
            </a:p>
          </p:txBody>
        </p:sp>
        <p:sp>
          <p:nvSpPr>
            <p:cNvPr id="90143" name="Text Box 32"/>
            <p:cNvSpPr txBox="1"/>
            <p:nvPr/>
          </p:nvSpPr>
          <p:spPr>
            <a:xfrm>
              <a:off x="981" y="1711"/>
              <a:ext cx="477" cy="422"/>
            </a:xfrm>
            <a:prstGeom prst="rect">
              <a:avLst/>
            </a:prstGeom>
            <a:noFill/>
            <a:ln w="9525">
              <a:noFill/>
            </a:ln>
          </p:spPr>
          <p:txBody>
            <a:bodyPr anchor="t" anchorCtr="0"/>
            <a:p>
              <a:pPr algn="just" eaLnBrk="0" hangingPunct="0"/>
              <a:r>
                <a:rPr lang="en-US" altLang="zh-CN" sz="2000" dirty="0">
                  <a:latin typeface="Verdana" panose="020B0604030504040204" pitchFamily="34" charset="0"/>
                  <a:ea typeface="宋体" panose="02010600030101010101" pitchFamily="2" charset="-122"/>
                </a:rPr>
                <a:t>T</a:t>
              </a:r>
              <a:r>
                <a:rPr lang="en-US" altLang="zh-CN" sz="2000" baseline="-25000" dirty="0">
                  <a:latin typeface="Verdana" panose="020B0604030504040204" pitchFamily="34" charset="0"/>
                  <a:ea typeface="宋体" panose="02010600030101010101" pitchFamily="2" charset="-122"/>
                </a:rPr>
                <a:t>1</a:t>
              </a:r>
              <a:endParaRPr lang="en-US" altLang="zh-CN" sz="1600" dirty="0">
                <a:latin typeface="Verdana" panose="020B0604030504040204" pitchFamily="34" charset="0"/>
                <a:ea typeface="宋体" panose="02010600030101010101" pitchFamily="2" charset="-122"/>
              </a:endParaRPr>
            </a:p>
          </p:txBody>
        </p:sp>
        <p:sp>
          <p:nvSpPr>
            <p:cNvPr id="90144" name="Freeform 33"/>
            <p:cNvSpPr/>
            <p:nvPr/>
          </p:nvSpPr>
          <p:spPr>
            <a:xfrm>
              <a:off x="930" y="2045"/>
              <a:ext cx="463" cy="1"/>
            </a:xfrm>
            <a:custGeom>
              <a:avLst/>
              <a:gdLst/>
              <a:ahLst/>
              <a:cxnLst>
                <a:cxn ang="0">
                  <a:pos x="0" y="0"/>
                </a:cxn>
                <a:cxn ang="0">
                  <a:pos x="1985" y="0"/>
                </a:cxn>
              </a:cxnLst>
              <a:pathLst>
                <a:path w="432" h="1">
                  <a:moveTo>
                    <a:pt x="0" y="0"/>
                  </a:moveTo>
                  <a:lnTo>
                    <a:pt x="432"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45" name="Freeform 34"/>
            <p:cNvSpPr/>
            <p:nvPr/>
          </p:nvSpPr>
          <p:spPr>
            <a:xfrm>
              <a:off x="930" y="1938"/>
              <a:ext cx="1" cy="101"/>
            </a:xfrm>
            <a:custGeom>
              <a:avLst/>
              <a:gdLst/>
              <a:ahLst/>
              <a:cxnLst>
                <a:cxn ang="0">
                  <a:pos x="0" y="0"/>
                </a:cxn>
                <a:cxn ang="0">
                  <a:pos x="0" y="30"/>
                </a:cxn>
              </a:cxnLst>
              <a:pathLst>
                <a:path w="3" h="107">
                  <a:moveTo>
                    <a:pt x="0" y="0"/>
                  </a:moveTo>
                  <a:lnTo>
                    <a:pt x="3" y="10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90146" name="Freeform 35"/>
            <p:cNvSpPr/>
            <p:nvPr/>
          </p:nvSpPr>
          <p:spPr>
            <a:xfrm>
              <a:off x="1393" y="1941"/>
              <a:ext cx="1" cy="98"/>
            </a:xfrm>
            <a:custGeom>
              <a:avLst/>
              <a:gdLst/>
              <a:ahLst/>
              <a:cxnLst>
                <a:cxn ang="0">
                  <a:pos x="0" y="0"/>
                </a:cxn>
                <a:cxn ang="0">
                  <a:pos x="0" y="23"/>
                </a:cxn>
              </a:cxnLst>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p>
              <a:endParaRPr lang="zh-CN" altLang="en-US"/>
            </a:p>
          </p:txBody>
        </p:sp>
      </p:grpSp>
    </p:spTree>
  </p:cSld>
  <p:clrMapOvr>
    <a:masterClrMapping/>
  </p:clrMapOvr>
  <p:transition advClick="0"/>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标题 1"/>
          <p:cNvSpPr>
            <a:spLocks noGrp="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rPr>
              <a:t>利用检查点的恢复策略（续）</a:t>
            </a:r>
            <a:endParaRPr kumimoji="0" lang="zh-CN" altLang="en-US" sz="3800" b="0" i="0" u="none" strike="noStrike" kern="0" cap="none" spc="0" normalizeH="0" baseline="0" noProof="0" dirty="0" smtClean="0">
              <a:ln>
                <a:noFill/>
              </a:ln>
              <a:solidFill>
                <a:schemeClr val="tx2"/>
              </a:solidFill>
              <a:effectLst/>
              <a:uLnTx/>
              <a:uFillTx/>
              <a:latin typeface="+mj-lt"/>
              <a:ea typeface="+mj-ea"/>
              <a:cs typeface="+mj-cs"/>
            </a:endParaRPr>
          </a:p>
        </p:txBody>
      </p:sp>
      <p:sp>
        <p:nvSpPr>
          <p:cNvPr id="91138" name="内容占位符 2"/>
          <p:cNvSpPr>
            <a:spLocks noGrp="1"/>
          </p:cNvSpPr>
          <p:nvPr>
            <p:ph idx="1"/>
          </p:nvPr>
        </p:nvSpPr>
        <p:spPr>
          <a:ln/>
        </p:spPr>
        <p:txBody>
          <a:bodyPr vert="horz" wrap="square" lIns="91440" tIns="45720" rIns="91440" bIns="45720" anchor="t" anchorCtr="0"/>
          <a:p>
            <a:pPr eaLnBrk="1" hangingPunct="1">
              <a:lnSpc>
                <a:spcPct val="130000"/>
              </a:lnSpc>
              <a:buNone/>
            </a:pPr>
            <a:r>
              <a:rPr lang="en-US" altLang="zh-CN" sz="3200" dirty="0"/>
              <a:t>4.</a:t>
            </a:r>
            <a:r>
              <a:rPr lang="zh-CN" altLang="en-US" sz="3200" dirty="0"/>
              <a:t>对</a:t>
            </a:r>
            <a:r>
              <a:rPr lang="en-US" altLang="zh-CN" sz="3200" dirty="0"/>
              <a:t>UNDO-LIST</a:t>
            </a:r>
            <a:r>
              <a:rPr lang="zh-CN" altLang="en-US" sz="3200" dirty="0"/>
              <a:t>中的每个事务执行</a:t>
            </a:r>
            <a:r>
              <a:rPr lang="en-US" altLang="zh-CN" sz="3200" dirty="0"/>
              <a:t>UNDO</a:t>
            </a:r>
            <a:r>
              <a:rPr lang="zh-CN" altLang="en-US" sz="3200" dirty="0"/>
              <a:t>操作</a:t>
            </a:r>
            <a:endParaRPr lang="zh-CN" altLang="en-US" sz="3200" dirty="0"/>
          </a:p>
          <a:p>
            <a:pPr eaLnBrk="1" hangingPunct="1">
              <a:lnSpc>
                <a:spcPct val="130000"/>
              </a:lnSpc>
              <a:buNone/>
            </a:pPr>
            <a:r>
              <a:rPr lang="zh-CN" altLang="en-US" sz="3200" dirty="0"/>
              <a:t>    对</a:t>
            </a:r>
            <a:r>
              <a:rPr lang="en-US" altLang="zh-CN" sz="3200" dirty="0"/>
              <a:t>REDO-LIST</a:t>
            </a:r>
            <a:r>
              <a:rPr lang="zh-CN" altLang="en-US" sz="3200" dirty="0"/>
              <a:t>中的每个事务执行</a:t>
            </a:r>
            <a:r>
              <a:rPr lang="en-US" altLang="zh-CN" sz="3200" dirty="0"/>
              <a:t>REDO</a:t>
            </a:r>
            <a:r>
              <a:rPr lang="zh-CN" altLang="en-US" sz="3200" dirty="0"/>
              <a:t>操作</a:t>
            </a:r>
            <a:endParaRPr lang="en-US" altLang="zh-CN" sz="3200" dirty="0"/>
          </a:p>
          <a:p>
            <a:pPr eaLnBrk="1" hangingPunct="1">
              <a:lnSpc>
                <a:spcPct val="130000"/>
              </a:lnSpc>
              <a:buNone/>
            </a:pPr>
            <a:r>
              <a:rPr lang="zh-CN" altLang="en-US" sz="2800" b="1" dirty="0">
                <a:solidFill>
                  <a:srgbClr val="0000FF"/>
                </a:solidFill>
              </a:rPr>
              <a:t>总结</a:t>
            </a:r>
            <a:r>
              <a:rPr lang="zh-CN" altLang="en-US" sz="2800" dirty="0"/>
              <a:t>：具有检查点的恢复技术，</a:t>
            </a:r>
            <a:r>
              <a:rPr lang="zh-CN" altLang="en-US" sz="2800" dirty="0">
                <a:solidFill>
                  <a:srgbClr val="FF0000"/>
                </a:solidFill>
              </a:rPr>
              <a:t>不用扫描</a:t>
            </a:r>
            <a:r>
              <a:rPr lang="zh-CN" altLang="en-US" sz="2800" dirty="0">
                <a:solidFill>
                  <a:srgbClr val="0000FF"/>
                </a:solidFill>
              </a:rPr>
              <a:t>整个日志文件</a:t>
            </a:r>
            <a:r>
              <a:rPr lang="zh-CN" altLang="en-US" sz="2800" dirty="0"/>
              <a:t>，从</a:t>
            </a:r>
            <a:r>
              <a:rPr lang="zh-CN" altLang="en-US" sz="2800" dirty="0">
                <a:solidFill>
                  <a:srgbClr val="FF0000"/>
                </a:solidFill>
              </a:rPr>
              <a:t>最近一个检查点</a:t>
            </a:r>
            <a:r>
              <a:rPr lang="zh-CN" altLang="en-US" sz="2800" dirty="0"/>
              <a:t>开始扫描即可；</a:t>
            </a:r>
            <a:r>
              <a:rPr lang="zh-CN" altLang="en-US" sz="2800" dirty="0">
                <a:solidFill>
                  <a:srgbClr val="FF0000"/>
                </a:solidFill>
              </a:rPr>
              <a:t>不用重做</a:t>
            </a:r>
            <a:r>
              <a:rPr lang="zh-CN" altLang="en-US" sz="2800" dirty="0">
                <a:solidFill>
                  <a:srgbClr val="0000FF"/>
                </a:solidFill>
              </a:rPr>
              <a:t>所有的提交事务</a:t>
            </a:r>
            <a:r>
              <a:rPr lang="zh-CN" altLang="en-US" sz="2800" dirty="0"/>
              <a:t>，有些已经把数据写入到数据库中的事务，就不用重做了。</a:t>
            </a:r>
            <a:endParaRPr lang="zh-CN" altLang="en-US" sz="2800" dirty="0"/>
          </a:p>
          <a:p>
            <a:endParaRPr lang="zh-CN" altLang="en-US" dirty="0"/>
          </a:p>
        </p:txBody>
      </p:sp>
    </p:spTree>
  </p:cSld>
  <p:clrMapOvr>
    <a:masterClrMapping/>
  </p:clrMapOvr>
  <p:transition advClick="0"/>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txBox="1"/>
          <p:nvPr/>
        </p:nvSpPr>
        <p:spPr>
          <a:xfrm>
            <a:off x="571500" y="214313"/>
            <a:ext cx="8001000" cy="735012"/>
          </a:xfrm>
          <a:prstGeom prst="rect">
            <a:avLst/>
          </a:prstGeom>
          <a:noFill/>
          <a:ln w="9525">
            <a:noFill/>
          </a:ln>
        </p:spPr>
        <p:txBody>
          <a:bodyPr anchor="t" anchorCtr="0"/>
          <a:p>
            <a:pPr>
              <a:buClrTx/>
              <a:buFontTx/>
            </a:pPr>
            <a:r>
              <a:rPr lang="zh-CN" altLang="en-US" sz="3800" dirty="0">
                <a:solidFill>
                  <a:srgbClr val="000000"/>
                </a:solidFill>
                <a:latin typeface="Verdana" panose="020B0604030504040204" pitchFamily="34" charset="0"/>
                <a:ea typeface="宋体" panose="02010600030101010101" pitchFamily="2" charset="-122"/>
              </a:rPr>
              <a:t>利用检查点恢复的练习：</a:t>
            </a:r>
            <a:endParaRPr lang="zh-CN" altLang="en-US" sz="3800" dirty="0">
              <a:solidFill>
                <a:srgbClr val="000000"/>
              </a:solidFill>
              <a:latin typeface="Verdana" panose="020B0604030504040204" pitchFamily="34" charset="0"/>
              <a:ea typeface="宋体" panose="02010600030101010101" pitchFamily="2" charset="-122"/>
            </a:endParaRPr>
          </a:p>
        </p:txBody>
      </p:sp>
      <p:sp>
        <p:nvSpPr>
          <p:cNvPr id="86020" name="TextBox 3"/>
          <p:cNvSpPr txBox="1"/>
          <p:nvPr/>
        </p:nvSpPr>
        <p:spPr>
          <a:xfrm>
            <a:off x="6450013" y="1327150"/>
            <a:ext cx="2244725" cy="3346450"/>
          </a:xfrm>
          <a:prstGeom prst="rect">
            <a:avLst/>
          </a:prstGeom>
          <a:noFill/>
          <a:ln w="9525">
            <a:noFill/>
          </a:ln>
        </p:spPr>
        <p:txBody>
          <a:bodyPr anchor="t" anchorCtr="0"/>
          <a:p>
            <a:r>
              <a:rPr lang="zh-CN" altLang="en-US" sz="2400" dirty="0">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1</a:t>
            </a:r>
            <a:r>
              <a:rPr lang="zh-CN" altLang="en-US" sz="2400" dirty="0">
                <a:latin typeface="Verdana" panose="020B0604030504040204" pitchFamily="34" charset="0"/>
                <a:ea typeface="宋体" panose="02010600030101010101" pitchFamily="2" charset="-122"/>
              </a:rPr>
              <a:t>）如果故障发生在</a:t>
            </a:r>
            <a:r>
              <a:rPr lang="en-US" altLang="zh-CN" sz="2400" dirty="0">
                <a:latin typeface="Verdana" panose="020B0604030504040204" pitchFamily="34" charset="0"/>
                <a:ea typeface="宋体" panose="02010600030101010101" pitchFamily="2" charset="-122"/>
              </a:rPr>
              <a:t>23</a:t>
            </a:r>
            <a:r>
              <a:rPr lang="zh-CN" altLang="en-US" sz="2400" dirty="0">
                <a:latin typeface="Verdana" panose="020B0604030504040204" pitchFamily="34" charset="0"/>
                <a:ea typeface="宋体" panose="02010600030101010101" pitchFamily="2" charset="-122"/>
              </a:rPr>
              <a:t>之后，如何恢复？</a:t>
            </a:r>
            <a:endParaRPr lang="en-US" altLang="zh-CN" sz="2400" dirty="0">
              <a:latin typeface="Verdana" panose="020B0604030504040204" pitchFamily="34" charset="0"/>
              <a:ea typeface="宋体" panose="02010600030101010101" pitchFamily="2" charset="-122"/>
            </a:endParaRPr>
          </a:p>
          <a:p>
            <a:r>
              <a:rPr lang="zh-CN" altLang="en-US" sz="2400" dirty="0">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2</a:t>
            </a:r>
            <a:r>
              <a:rPr lang="zh-CN" altLang="en-US" sz="2400" dirty="0">
                <a:latin typeface="Verdana" panose="020B0604030504040204" pitchFamily="34" charset="0"/>
                <a:ea typeface="宋体" panose="02010600030101010101" pitchFamily="2" charset="-122"/>
              </a:rPr>
              <a:t>）如果故障发生在</a:t>
            </a:r>
            <a:r>
              <a:rPr lang="en-US" altLang="zh-CN" sz="2400" dirty="0">
                <a:latin typeface="Verdana" panose="020B0604030504040204" pitchFamily="34" charset="0"/>
                <a:ea typeface="宋体" panose="02010600030101010101" pitchFamily="2" charset="-122"/>
              </a:rPr>
              <a:t>19</a:t>
            </a:r>
            <a:r>
              <a:rPr lang="zh-CN" altLang="en-US" sz="2400" dirty="0">
                <a:latin typeface="Verdana" panose="020B0604030504040204" pitchFamily="34" charset="0"/>
                <a:ea typeface="宋体" panose="02010600030101010101" pitchFamily="2" charset="-122"/>
              </a:rPr>
              <a:t>之后，如何恢复？</a:t>
            </a:r>
            <a:endParaRPr lang="en-US" altLang="zh-CN" sz="2400" dirty="0">
              <a:latin typeface="Verdana" panose="020B0604030504040204" pitchFamily="34" charset="0"/>
              <a:ea typeface="宋体" panose="02010600030101010101" pitchFamily="2" charset="-122"/>
            </a:endParaRPr>
          </a:p>
          <a:p>
            <a:r>
              <a:rPr lang="zh-CN" altLang="en-US" sz="2400" dirty="0">
                <a:latin typeface="Verdana" panose="020B0604030504040204" pitchFamily="34" charset="0"/>
                <a:ea typeface="宋体" panose="02010600030101010101" pitchFamily="2" charset="-122"/>
              </a:rPr>
              <a:t>特别注意回滚状态的事务。</a:t>
            </a:r>
            <a:endParaRPr lang="zh-CN" altLang="en-US" sz="2400" dirty="0">
              <a:latin typeface="Verdana" panose="020B0604030504040204" pitchFamily="34" charset="0"/>
              <a:ea typeface="宋体" panose="02010600030101010101" pitchFamily="2" charset="-122"/>
            </a:endParaRPr>
          </a:p>
        </p:txBody>
      </p:sp>
      <p:sp>
        <p:nvSpPr>
          <p:cNvPr id="86021" name="TextBox 6"/>
          <p:cNvSpPr txBox="1"/>
          <p:nvPr/>
        </p:nvSpPr>
        <p:spPr>
          <a:xfrm>
            <a:off x="357188" y="5357813"/>
            <a:ext cx="8286750" cy="1200150"/>
          </a:xfrm>
          <a:prstGeom prst="rect">
            <a:avLst/>
          </a:prstGeom>
          <a:noFill/>
          <a:ln w="9525">
            <a:noFill/>
          </a:ln>
        </p:spPr>
        <p:txBody>
          <a:bodyPr anchor="t" anchorCtr="0">
            <a:spAutoFit/>
          </a:bodyPr>
          <a:p>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1</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 T4</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T5</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T7</a:t>
            </a:r>
            <a:r>
              <a:rPr lang="zh-CN" altLang="en-US" dirty="0">
                <a:latin typeface="Verdana" panose="020B0604030504040204" pitchFamily="34" charset="0"/>
                <a:ea typeface="宋体" panose="02010600030101010101" pitchFamily="2" charset="-122"/>
              </a:rPr>
              <a:t>撤销， </a:t>
            </a:r>
            <a:r>
              <a:rPr lang="en-US" altLang="zh-CN" dirty="0">
                <a:latin typeface="Verdana" panose="020B0604030504040204" pitchFamily="34" charset="0"/>
                <a:ea typeface="宋体" panose="02010600030101010101" pitchFamily="2" charset="-122"/>
              </a:rPr>
              <a:t>T3</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T6</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T8 </a:t>
            </a:r>
            <a:r>
              <a:rPr lang="zh-CN" altLang="en-US" dirty="0">
                <a:latin typeface="Verdana" panose="020B0604030504040204" pitchFamily="34" charset="0"/>
                <a:ea typeface="宋体" panose="02010600030101010101" pitchFamily="2" charset="-122"/>
              </a:rPr>
              <a:t>重做，</a:t>
            </a: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T2</a:t>
            </a:r>
            <a:r>
              <a:rPr lang="zh-CN" altLang="en-US" dirty="0">
                <a:latin typeface="Verdana" panose="020B0604030504040204" pitchFamily="34" charset="0"/>
                <a:ea typeface="宋体" panose="02010600030101010101" pitchFamily="2" charset="-122"/>
              </a:rPr>
              <a:t>不操作</a:t>
            </a:r>
            <a:endParaRPr lang="en-US" altLang="zh-CN" dirty="0">
              <a:latin typeface="Verdana" panose="020B0604030504040204" pitchFamily="34" charset="0"/>
              <a:ea typeface="宋体" panose="02010600030101010101" pitchFamily="2" charset="-122"/>
            </a:endParaRPr>
          </a:p>
          <a:p>
            <a:r>
              <a:rPr lang="en-US" altLang="zh-CN" dirty="0">
                <a:latin typeface="Verdana" panose="020B0604030504040204" pitchFamily="34" charset="0"/>
                <a:ea typeface="宋体" panose="02010600030101010101" pitchFamily="2" charset="-122"/>
              </a:rPr>
              <a:t>T2</a:t>
            </a:r>
            <a:r>
              <a:rPr lang="zh-CN" altLang="en-US" dirty="0">
                <a:latin typeface="Verdana" panose="020B0604030504040204" pitchFamily="34" charset="0"/>
                <a:ea typeface="宋体" panose="02010600030101010101" pitchFamily="2" charset="-122"/>
              </a:rPr>
              <a:t>撤销是在检查点前，已经写入数据库，所以不用再撤销了，</a:t>
            </a:r>
            <a:r>
              <a:rPr lang="en-US" altLang="zh-CN" dirty="0">
                <a:latin typeface="Verdana" panose="020B0604030504040204" pitchFamily="34" charset="0"/>
                <a:ea typeface="宋体" panose="02010600030101010101" pitchFamily="2" charset="-122"/>
              </a:rPr>
              <a:t>T4</a:t>
            </a:r>
            <a:r>
              <a:rPr lang="zh-CN" altLang="en-US" dirty="0">
                <a:latin typeface="Verdana" panose="020B0604030504040204" pitchFamily="34" charset="0"/>
                <a:ea typeface="宋体" panose="02010600030101010101" pitchFamily="2" charset="-122"/>
              </a:rPr>
              <a:t>的撤销是在检查点之后，还可能没有写入数据库，所以要重新撤销一下。</a:t>
            </a:r>
            <a:endParaRPr lang="en-US" altLang="zh-CN" dirty="0">
              <a:latin typeface="Verdana" panose="020B0604030504040204" pitchFamily="34" charset="0"/>
              <a:ea typeface="宋体" panose="02010600030101010101" pitchFamily="2" charset="-122"/>
            </a:endParaRPr>
          </a:p>
          <a:p>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2</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T4</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T5</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 T6</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T7</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T8 </a:t>
            </a:r>
            <a:r>
              <a:rPr lang="zh-CN" altLang="en-US" dirty="0">
                <a:latin typeface="Verdana" panose="020B0604030504040204" pitchFamily="34" charset="0"/>
                <a:ea typeface="宋体" panose="02010600030101010101" pitchFamily="2" charset="-122"/>
              </a:rPr>
              <a:t>撤销，</a:t>
            </a:r>
            <a:r>
              <a:rPr lang="en-US" altLang="zh-CN" dirty="0">
                <a:latin typeface="Verdana" panose="020B0604030504040204" pitchFamily="34" charset="0"/>
                <a:ea typeface="宋体" panose="02010600030101010101" pitchFamily="2" charset="-122"/>
              </a:rPr>
              <a:t> T3</a:t>
            </a:r>
            <a:r>
              <a:rPr lang="zh-CN" altLang="en-US" dirty="0">
                <a:latin typeface="Verdana" panose="020B0604030504040204" pitchFamily="34" charset="0"/>
                <a:ea typeface="宋体" panose="02010600030101010101" pitchFamily="2" charset="-122"/>
              </a:rPr>
              <a:t>，重做， </a:t>
            </a: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T2</a:t>
            </a:r>
            <a:r>
              <a:rPr lang="zh-CN" altLang="en-US" dirty="0">
                <a:latin typeface="Verdana" panose="020B0604030504040204" pitchFamily="34" charset="0"/>
                <a:ea typeface="宋体" panose="02010600030101010101" pitchFamily="2" charset="-122"/>
              </a:rPr>
              <a:t>不操作</a:t>
            </a:r>
            <a:endParaRPr lang="en-US" altLang="zh-CN" dirty="0">
              <a:latin typeface="Verdana" panose="020B0604030504040204" pitchFamily="34" charset="0"/>
              <a:ea typeface="宋体" panose="02010600030101010101" pitchFamily="2" charset="-122"/>
            </a:endParaRPr>
          </a:p>
        </p:txBody>
      </p:sp>
      <p:pic>
        <p:nvPicPr>
          <p:cNvPr id="92164" name="Picture 2"/>
          <p:cNvPicPr>
            <a:picLocks noChangeAspect="1"/>
          </p:cNvPicPr>
          <p:nvPr/>
        </p:nvPicPr>
        <p:blipFill>
          <a:blip r:embed="rId1"/>
          <a:stretch>
            <a:fillRect/>
          </a:stretch>
        </p:blipFill>
        <p:spPr>
          <a:xfrm>
            <a:off x="250825" y="1052513"/>
            <a:ext cx="5905500" cy="4262437"/>
          </a:xfrm>
          <a:prstGeom prst="rect">
            <a:avLst/>
          </a:prstGeom>
          <a:noFill/>
          <a:ln w="9525">
            <a:noFill/>
          </a:ln>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0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p:bldP spid="8602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第十章  数据库恢复技术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93186" name="Rectangle 3"/>
          <p:cNvSpPr>
            <a:spLocks noGrp="1"/>
          </p:cNvSpPr>
          <p:nvPr>
            <p:ph idx="1"/>
          </p:nvPr>
        </p:nvSpPr>
        <p:spPr>
          <a:xfrm>
            <a:off x="571500" y="1357313"/>
            <a:ext cx="7786688" cy="4495800"/>
          </a:xfrm>
          <a:ln/>
        </p:spPr>
        <p:txBody>
          <a:bodyPr vert="horz" wrap="square" lIns="91440" tIns="45720" rIns="91440" bIns="45720" anchor="t" anchorCtr="0"/>
          <a:p>
            <a:pPr marL="411480" indent="-470535" eaLnBrk="1" hangingPunct="1">
              <a:lnSpc>
                <a:spcPct val="130000"/>
              </a:lnSpc>
              <a:buNone/>
            </a:pPr>
            <a:r>
              <a:rPr lang="en-US" altLang="zh-CN" sz="2400" b="1" dirty="0"/>
              <a:t>10.1  </a:t>
            </a:r>
            <a:r>
              <a:rPr lang="zh-CN" altLang="en-US" sz="2400" b="1" dirty="0"/>
              <a:t>事务的基本概念</a:t>
            </a:r>
            <a:endParaRPr lang="zh-CN" altLang="en-US" sz="2400" b="1" dirty="0"/>
          </a:p>
          <a:p>
            <a:pPr marL="411480" indent="-470535" eaLnBrk="1" hangingPunct="1">
              <a:lnSpc>
                <a:spcPct val="130000"/>
              </a:lnSpc>
              <a:buNone/>
            </a:pPr>
            <a:r>
              <a:rPr lang="en-US" altLang="zh-CN" sz="2400" b="1" dirty="0"/>
              <a:t>10.2  </a:t>
            </a:r>
            <a:r>
              <a:rPr lang="zh-CN" altLang="en-US" sz="2400" b="1" dirty="0"/>
              <a:t>数据库恢复概述</a:t>
            </a:r>
            <a:endParaRPr lang="zh-CN" altLang="en-US" sz="2400" b="1" dirty="0"/>
          </a:p>
          <a:p>
            <a:pPr marL="411480" indent="-470535" eaLnBrk="1" hangingPunct="1">
              <a:lnSpc>
                <a:spcPct val="130000"/>
              </a:lnSpc>
              <a:buNone/>
            </a:pPr>
            <a:r>
              <a:rPr lang="en-US" altLang="zh-CN" sz="2400" b="1" dirty="0"/>
              <a:t>10.3  </a:t>
            </a:r>
            <a:r>
              <a:rPr lang="zh-CN" altLang="en-US" sz="2400" b="1" dirty="0"/>
              <a:t>故障的种类</a:t>
            </a:r>
            <a:endParaRPr lang="zh-CN" altLang="en-US" sz="2400" b="1" dirty="0"/>
          </a:p>
          <a:p>
            <a:pPr marL="411480" indent="-470535" eaLnBrk="1" hangingPunct="1">
              <a:lnSpc>
                <a:spcPct val="130000"/>
              </a:lnSpc>
              <a:buNone/>
            </a:pPr>
            <a:r>
              <a:rPr lang="en-US" altLang="zh-CN" sz="2400" b="1" dirty="0"/>
              <a:t>10.4  </a:t>
            </a:r>
            <a:r>
              <a:rPr lang="zh-CN" altLang="en-US" sz="2400" b="1" dirty="0"/>
              <a:t>恢复的实现技术</a:t>
            </a:r>
            <a:endParaRPr lang="zh-CN" altLang="en-US" sz="2400" b="1" dirty="0"/>
          </a:p>
          <a:p>
            <a:pPr marL="411480" indent="-470535" eaLnBrk="1" hangingPunct="1">
              <a:lnSpc>
                <a:spcPct val="130000"/>
              </a:lnSpc>
              <a:buNone/>
            </a:pPr>
            <a:r>
              <a:rPr lang="en-US" altLang="zh-CN" sz="2400" b="1" dirty="0"/>
              <a:t>10.5  </a:t>
            </a:r>
            <a:r>
              <a:rPr lang="zh-CN" altLang="en-US" sz="2400" b="1" dirty="0"/>
              <a:t>恢复策略</a:t>
            </a:r>
            <a:endParaRPr lang="zh-CN" altLang="en-US" sz="2400" b="1" dirty="0"/>
          </a:p>
          <a:p>
            <a:pPr marL="411480" indent="-470535" eaLnBrk="1" hangingPunct="1">
              <a:lnSpc>
                <a:spcPct val="130000"/>
              </a:lnSpc>
              <a:buNone/>
            </a:pPr>
            <a:r>
              <a:rPr lang="en-US" altLang="zh-CN" sz="2400" b="1" dirty="0"/>
              <a:t>10.6  </a:t>
            </a:r>
            <a:r>
              <a:rPr lang="zh-CN" altLang="en-US" sz="2400" b="1" dirty="0"/>
              <a:t>具有检查点的恢复技术</a:t>
            </a:r>
            <a:endParaRPr lang="zh-CN" altLang="en-US" sz="2400" b="1" dirty="0"/>
          </a:p>
          <a:p>
            <a:pPr marL="411480" indent="-470535" eaLnBrk="1" hangingPunct="1">
              <a:lnSpc>
                <a:spcPct val="130000"/>
              </a:lnSpc>
              <a:buNone/>
            </a:pPr>
            <a:r>
              <a:rPr lang="en-US" altLang="zh-CN" sz="2400" b="1" dirty="0">
                <a:solidFill>
                  <a:srgbClr val="009900"/>
                </a:solidFill>
              </a:rPr>
              <a:t>10.7  </a:t>
            </a:r>
            <a:r>
              <a:rPr lang="zh-CN" altLang="en-US" sz="2400" b="1" dirty="0">
                <a:solidFill>
                  <a:srgbClr val="009900"/>
                </a:solidFill>
              </a:rPr>
              <a:t>数据库镜像</a:t>
            </a:r>
            <a:endParaRPr lang="zh-CN" altLang="en-US" sz="2400" b="1" dirty="0">
              <a:solidFill>
                <a:srgbClr val="009900"/>
              </a:solidFill>
            </a:endParaRPr>
          </a:p>
          <a:p>
            <a:pPr marL="411480" indent="-470535" eaLnBrk="1" hangingPunct="1">
              <a:lnSpc>
                <a:spcPct val="130000"/>
              </a:lnSpc>
              <a:buNone/>
            </a:pPr>
            <a:r>
              <a:rPr lang="en-US" altLang="zh-CN" sz="2400" b="1" dirty="0"/>
              <a:t>10.8  </a:t>
            </a:r>
            <a:r>
              <a:rPr lang="zh-CN" altLang="en-US" sz="2400" b="1" dirty="0"/>
              <a:t>小结</a:t>
            </a:r>
            <a:endParaRPr lang="zh-CN" altLang="en-US" sz="2400" b="1" dirty="0"/>
          </a:p>
        </p:txBody>
      </p:sp>
    </p:spTree>
  </p:cSld>
  <p:clrMapOvr>
    <a:masterClrMapping/>
  </p:clrMapOvr>
  <p:transition advClick="0"/>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10.7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数据库镜像</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94210" name="Rectangle 3"/>
          <p:cNvSpPr>
            <a:spLocks noGrp="1"/>
          </p:cNvSpPr>
          <p:nvPr>
            <p:ph idx="1"/>
          </p:nvPr>
        </p:nvSpPr>
        <p:spPr>
          <a:ln/>
        </p:spPr>
        <p:txBody>
          <a:bodyPr vert="horz" wrap="square" lIns="91440" tIns="45720" rIns="91440" bIns="45720" anchor="t" anchorCtr="0"/>
          <a:p>
            <a:pPr eaLnBrk="1" hangingPunct="1">
              <a:lnSpc>
                <a:spcPct val="120000"/>
              </a:lnSpc>
            </a:pPr>
            <a:r>
              <a:rPr lang="zh-CN" altLang="en-US" sz="2800" b="1" dirty="0">
                <a:solidFill>
                  <a:srgbClr val="FF0000"/>
                </a:solidFill>
              </a:rPr>
              <a:t>介质故障</a:t>
            </a:r>
            <a:r>
              <a:rPr lang="zh-CN" altLang="en-US" sz="2800" dirty="0"/>
              <a:t>是对系统影响最为严重的一种故障，严重影响数据库的可用性</a:t>
            </a:r>
            <a:endParaRPr lang="zh-CN" altLang="en-US" sz="2800" dirty="0"/>
          </a:p>
          <a:p>
            <a:pPr lvl="1" indent="-436245" eaLnBrk="1" hangingPunct="1">
              <a:lnSpc>
                <a:spcPct val="120000"/>
              </a:lnSpc>
            </a:pPr>
            <a:r>
              <a:rPr lang="zh-CN" altLang="en-US" sz="2400" dirty="0"/>
              <a:t>介质故障恢复比较费时</a:t>
            </a:r>
            <a:endParaRPr lang="zh-CN" altLang="en-US" sz="2400" dirty="0"/>
          </a:p>
          <a:p>
            <a:pPr lvl="1" indent="-436245" eaLnBrk="1" hangingPunct="1">
              <a:lnSpc>
                <a:spcPct val="120000"/>
              </a:lnSpc>
            </a:pPr>
            <a:r>
              <a:rPr lang="zh-CN" altLang="en-US" sz="2400" dirty="0"/>
              <a:t>为预防介质故障，</a:t>
            </a:r>
            <a:r>
              <a:rPr lang="en-US" altLang="zh-CN" sz="2400" dirty="0"/>
              <a:t>DBA</a:t>
            </a:r>
            <a:r>
              <a:rPr lang="zh-CN" altLang="en-US" sz="2400" dirty="0"/>
              <a:t>必须周期性地转储数据库</a:t>
            </a:r>
            <a:endParaRPr lang="en-US" altLang="zh-CN" sz="2400" dirty="0"/>
          </a:p>
          <a:p>
            <a:pPr lvl="1" indent="-436245" eaLnBrk="1" hangingPunct="1">
              <a:lnSpc>
                <a:spcPct val="120000"/>
              </a:lnSpc>
            </a:pPr>
            <a:r>
              <a:rPr lang="zh-CN" altLang="en-US" sz="2400" dirty="0"/>
              <a:t>出现介质故障时，应用全部中断，恢复费时</a:t>
            </a:r>
            <a:endParaRPr lang="zh-CN" altLang="en-US" sz="2400" dirty="0"/>
          </a:p>
          <a:p>
            <a:pPr eaLnBrk="1" hangingPunct="1">
              <a:lnSpc>
                <a:spcPct val="120000"/>
              </a:lnSpc>
            </a:pPr>
            <a:r>
              <a:rPr lang="zh-CN" altLang="en-US" sz="2800" dirty="0"/>
              <a:t>提高数据库可用性的解决方案</a:t>
            </a:r>
            <a:endParaRPr lang="zh-CN" altLang="en-US" sz="2800" dirty="0"/>
          </a:p>
          <a:p>
            <a:pPr lvl="1" indent="-436245" eaLnBrk="1" hangingPunct="1">
              <a:lnSpc>
                <a:spcPct val="120000"/>
              </a:lnSpc>
            </a:pPr>
            <a:r>
              <a:rPr lang="zh-CN" altLang="en-US" dirty="0"/>
              <a:t>数据库镜像（</a:t>
            </a:r>
            <a:r>
              <a:rPr lang="en-US" altLang="zh-CN" dirty="0"/>
              <a:t>Mirror</a:t>
            </a:r>
            <a:r>
              <a:rPr lang="zh-CN" altLang="en-US" dirty="0"/>
              <a:t>）</a:t>
            </a:r>
            <a:endParaRPr lang="en-US" altLang="zh-CN" dirty="0"/>
          </a:p>
          <a:p>
            <a:pPr eaLnBrk="1" hangingPunct="1">
              <a:lnSpc>
                <a:spcPct val="120000"/>
              </a:lnSpc>
            </a:pPr>
            <a:r>
              <a:rPr lang="zh-CN" altLang="en-US" dirty="0"/>
              <a:t>随着技术的发展，磁盘容量越来越大，越来越便宜。</a:t>
            </a:r>
            <a:endParaRPr lang="zh-CN" altLang="en-US" dirty="0"/>
          </a:p>
        </p:txBody>
      </p:sp>
    </p:spTree>
  </p:cSld>
  <p:clrMapOvr>
    <a:masterClrMapping/>
  </p:clrMapOvr>
  <p:transition advClick="0"/>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数据库镜像（续）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95234" name="Rectangle 3"/>
          <p:cNvSpPr>
            <a:spLocks noGrp="1"/>
          </p:cNvSpPr>
          <p:nvPr>
            <p:ph idx="1"/>
          </p:nvPr>
        </p:nvSpPr>
        <p:spPr>
          <a:ln/>
        </p:spPr>
        <p:txBody>
          <a:bodyPr vert="horz" wrap="square" lIns="91440" tIns="45720" rIns="91440" bIns="45720" anchor="t" anchorCtr="0"/>
          <a:p>
            <a:pPr eaLnBrk="1" hangingPunct="1"/>
            <a:r>
              <a:rPr lang="zh-CN" altLang="en-US" dirty="0"/>
              <a:t>数据库镜像</a:t>
            </a:r>
            <a:endParaRPr lang="zh-CN" altLang="en-US" sz="2400" dirty="0"/>
          </a:p>
          <a:p>
            <a:pPr lvl="1" indent="-436245" eaLnBrk="1" hangingPunct="1">
              <a:lnSpc>
                <a:spcPct val="130000"/>
              </a:lnSpc>
              <a:spcBef>
                <a:spcPct val="60000"/>
              </a:spcBef>
            </a:pPr>
            <a:r>
              <a:rPr lang="en-US" altLang="zh-CN" dirty="0"/>
              <a:t>DBMS</a:t>
            </a:r>
            <a:r>
              <a:rPr lang="zh-CN" altLang="en-US" dirty="0"/>
              <a:t>自动把整个数据库或其中的关键数据复制到另一个磁盘上</a:t>
            </a:r>
            <a:endParaRPr lang="zh-CN" altLang="en-US" dirty="0"/>
          </a:p>
          <a:p>
            <a:pPr lvl="1" indent="-436245" eaLnBrk="1" hangingPunct="1">
              <a:lnSpc>
                <a:spcPct val="130000"/>
              </a:lnSpc>
              <a:spcBef>
                <a:spcPct val="60000"/>
              </a:spcBef>
            </a:pPr>
            <a:r>
              <a:rPr lang="en-US" altLang="zh-CN" dirty="0"/>
              <a:t>DBMS</a:t>
            </a:r>
            <a:r>
              <a:rPr lang="zh-CN" altLang="en-US" dirty="0"/>
              <a:t>自动保证镜像数据与主数据库的一致性</a:t>
            </a:r>
            <a:endParaRPr lang="en-US" altLang="zh-CN" dirty="0"/>
          </a:p>
          <a:p>
            <a:pPr lvl="1" indent="-436245" eaLnBrk="1" hangingPunct="1">
              <a:lnSpc>
                <a:spcPct val="130000"/>
              </a:lnSpc>
              <a:spcBef>
                <a:spcPct val="60000"/>
              </a:spcBef>
            </a:pPr>
            <a:r>
              <a:rPr lang="zh-CN" altLang="en-US" dirty="0"/>
              <a:t>每当主数据库更新时，</a:t>
            </a:r>
            <a:r>
              <a:rPr lang="en-US" altLang="zh-CN" dirty="0"/>
              <a:t>DBMS</a:t>
            </a:r>
            <a:r>
              <a:rPr lang="zh-CN" altLang="en-US" dirty="0"/>
              <a:t>自动把更新后的数据复制过去（如下图所示）</a:t>
            </a:r>
            <a:endParaRPr lang="zh-CN" altLang="en-US" dirty="0"/>
          </a:p>
          <a:p>
            <a:pPr lvl="1" indent="-436245" eaLnBrk="1" hangingPunct="1">
              <a:lnSpc>
                <a:spcPct val="130000"/>
              </a:lnSpc>
              <a:spcBef>
                <a:spcPct val="60000"/>
              </a:spcBef>
              <a:buNone/>
            </a:pPr>
            <a:r>
              <a:rPr lang="zh-CN" altLang="en-US" dirty="0"/>
              <a:t>   </a:t>
            </a:r>
            <a:endParaRPr lang="zh-CN" altLang="en-US" dirty="0"/>
          </a:p>
        </p:txBody>
      </p:sp>
    </p:spTree>
  </p:cSld>
  <p:clrMapOvr>
    <a:masterClrMapping/>
  </p:clrMapOvr>
  <p:transition advClick="0"/>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2" name="Rectangle 6"/>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数据库镜像（续）</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graphicFrame>
        <p:nvGraphicFramePr>
          <p:cNvPr id="97282" name="Object 5"/>
          <p:cNvGraphicFramePr>
            <a:graphicFrameLocks noGrp="1" noChangeAspect="1"/>
          </p:cNvGraphicFramePr>
          <p:nvPr>
            <p:ph idx="1"/>
          </p:nvPr>
        </p:nvGraphicFramePr>
        <p:xfrm>
          <a:off x="539750" y="2492375"/>
          <a:ext cx="8228013" cy="2574925"/>
        </p:xfrm>
        <a:graphic>
          <a:graphicData uri="http://schemas.openxmlformats.org/presentationml/2006/ole">
            <mc:AlternateContent xmlns:mc="http://schemas.openxmlformats.org/markup-compatibility/2006">
              <mc:Choice xmlns:v="urn:schemas-microsoft-com:vml" Requires="v">
                <p:oleObj spid="_x0000_s3076" name="" r:id="rId1" imgW="23698200" imgH="7416800" progId="Photoshop.Image.7">
                  <p:embed/>
                </p:oleObj>
              </mc:Choice>
              <mc:Fallback>
                <p:oleObj name="" r:id="rId1" imgW="23698200" imgH="7416800" progId="Photoshop.Image.7">
                  <p:embed/>
                  <p:pic>
                    <p:nvPicPr>
                      <p:cNvPr id="0" name="图片 3075"/>
                      <p:cNvPicPr/>
                      <p:nvPr/>
                    </p:nvPicPr>
                    <p:blipFill>
                      <a:blip r:embed="rId2"/>
                      <a:stretch>
                        <a:fillRect/>
                      </a:stretch>
                    </p:blipFill>
                    <p:spPr>
                      <a:xfrm>
                        <a:off x="539750" y="2492375"/>
                        <a:ext cx="8228013" cy="2574925"/>
                      </a:xfrm>
                      <a:prstGeom prst="rect">
                        <a:avLst/>
                      </a:prstGeom>
                      <a:noFill/>
                      <a:ln w="38100">
                        <a:miter/>
                      </a:ln>
                    </p:spPr>
                  </p:pic>
                </p:oleObj>
              </mc:Fallback>
            </mc:AlternateContent>
          </a:graphicData>
        </a:graphic>
      </p:graphicFrame>
    </p:spTree>
  </p:cSld>
  <p:clrMapOvr>
    <a:masterClrMapping/>
  </p:clrMapOvr>
  <p:transition advClick="0"/>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6" name="Rectangle 2"/>
          <p:cNvSpPr>
            <a:spLocks noGrp="1" noChangeArrowheads="1"/>
          </p:cNvSpPr>
          <p:nvPr>
            <p:ph type="title"/>
          </p:nvPr>
        </p:nvSpPr>
        <p:spPr>
          <a:xfrm>
            <a:off x="500063" y="428625"/>
            <a:ext cx="7391400" cy="56356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rPr>
              <a:t>数据库镜像的用途</a:t>
            </a:r>
            <a:endParaRPr kumimoji="0" lang="zh-CN" altLang="en-US" sz="3800" b="0" i="0" u="none" strike="noStrike" kern="0" cap="none" spc="0" normalizeH="0" baseline="0" noProof="0" dirty="0" smtClean="0">
              <a:ln>
                <a:noFill/>
              </a:ln>
              <a:solidFill>
                <a:schemeClr val="tx2">
                  <a:satMod val="200000"/>
                </a:schemeClr>
              </a:solidFill>
              <a:effectLst/>
              <a:uLnTx/>
              <a:uFillTx/>
              <a:latin typeface="+mj-lt"/>
              <a:ea typeface="+mj-ea"/>
              <a:cs typeface="+mj-cs"/>
            </a:endParaRPr>
          </a:p>
        </p:txBody>
      </p:sp>
      <p:sp>
        <p:nvSpPr>
          <p:cNvPr id="3077" name="Rectangle 3"/>
          <p:cNvSpPr>
            <a:spLocks noGrp="1" noChangeArrowheads="1"/>
          </p:cNvSpPr>
          <p:nvPr>
            <p:ph type="body" sz="half" idx="1"/>
          </p:nvPr>
        </p:nvSpPr>
        <p:spPr>
          <a:xfrm>
            <a:off x="428625" y="1214438"/>
            <a:ext cx="7859713" cy="1887538"/>
          </a:xfrm>
        </p:spPr>
        <p:txBody>
          <a:bodyPr vert="horz" wrap="square" lIns="91440" tIns="45720" rIns="91440" bIns="45720" numCol="1" anchor="t" anchorCtr="0" compatLnSpc="1">
            <a:normAutofit lnSpcReduction="10000"/>
          </a:bodyPr>
          <a:lstStyle/>
          <a:p>
            <a:pPr marL="411480" marR="0" lvl="0" indent="-469900" algn="l" defTabSz="914400" rtl="0" eaLnBrk="1" fontAlgn="auto" latinLnBrk="0" hangingPunct="1">
              <a:lnSpc>
                <a:spcPct val="120000"/>
              </a:lnSpc>
              <a:spcBef>
                <a:spcPct val="20000"/>
              </a:spcBef>
              <a:spcAft>
                <a:spcPts val="0"/>
              </a:spcAft>
              <a:buClr>
                <a:schemeClr val="accent2"/>
              </a:buClr>
              <a:buSzTx/>
              <a:buFont typeface="Wingdings" panose="05000000000000000000"/>
              <a:buChar char=""/>
              <a:defRPr/>
            </a:pPr>
            <a:r>
              <a:rPr kumimoji="0" lang="zh-CN" altLang="en-US" sz="2200" b="0" i="0" u="none" strike="noStrike" kern="0" cap="none" spc="0" normalizeH="0" baseline="0" noProof="0" dirty="0" smtClean="0">
                <a:ln>
                  <a:noFill/>
                </a:ln>
                <a:solidFill>
                  <a:schemeClr val="tx1"/>
                </a:solidFill>
                <a:effectLst/>
                <a:uLnTx/>
                <a:uFillTx/>
                <a:latin typeface="+mn-lt"/>
                <a:ea typeface="+mn-ea"/>
                <a:cs typeface="+mn-cs"/>
              </a:rPr>
              <a:t>出现介质故障时</a:t>
            </a:r>
            <a:endParaRPr kumimoji="0" lang="zh-CN" altLang="en-US" sz="2200" b="0" i="0" u="none" strike="noStrike" kern="0" cap="none" spc="0" normalizeH="0" baseline="0" noProof="0" dirty="0" smtClean="0">
              <a:ln>
                <a:noFill/>
              </a:ln>
              <a:solidFill>
                <a:schemeClr val="tx1"/>
              </a:solidFill>
              <a:effectLst/>
              <a:uLnTx/>
              <a:uFillTx/>
              <a:latin typeface="+mn-lt"/>
              <a:ea typeface="+mn-ea"/>
              <a:cs typeface="+mn-cs"/>
            </a:endParaRPr>
          </a:p>
          <a:p>
            <a:pPr marL="740410" marR="0" lvl="1" indent="-436880" algn="l" defTabSz="914400" rtl="0" eaLnBrk="1" fontAlgn="auto" latinLnBrk="0" hangingPunct="1">
              <a:lnSpc>
                <a:spcPct val="120000"/>
              </a:lnSpc>
              <a:spcBef>
                <a:spcPct val="20000"/>
              </a:spcBef>
              <a:spcAft>
                <a:spcPts val="0"/>
              </a:spcAft>
              <a:buClr>
                <a:schemeClr val="accent2"/>
              </a:buClr>
              <a:buSzTx/>
              <a:buFont typeface="Wingdings" panose="05000000000000000000"/>
              <a:buChar char=""/>
              <a:defRPr/>
            </a:pPr>
            <a:r>
              <a:rPr kumimoji="0" lang="zh-CN" altLang="en-US" sz="2200" b="0" i="0" u="none" strike="noStrike" kern="0" cap="none" spc="0" normalizeH="0" baseline="0" noProof="0" dirty="0" smtClean="0">
                <a:ln>
                  <a:noFill/>
                </a:ln>
                <a:solidFill>
                  <a:schemeClr val="tx1"/>
                </a:solidFill>
                <a:effectLst/>
                <a:uLnTx/>
                <a:uFillTx/>
                <a:latin typeface="+mn-lt"/>
                <a:ea typeface="+mn-ea"/>
                <a:cs typeface="+mn-ea"/>
              </a:rPr>
              <a:t>可由镜像磁盘继续提供使用 </a:t>
            </a:r>
            <a:endParaRPr kumimoji="0" lang="zh-CN" altLang="en-US" sz="2200" b="0" i="0" u="none" strike="noStrike" kern="0" cap="none" spc="0" normalizeH="0" baseline="0" noProof="0" dirty="0" smtClean="0">
              <a:ln>
                <a:noFill/>
              </a:ln>
              <a:solidFill>
                <a:schemeClr val="tx1"/>
              </a:solidFill>
              <a:effectLst/>
              <a:uLnTx/>
              <a:uFillTx/>
              <a:latin typeface="+mn-lt"/>
              <a:ea typeface="+mn-ea"/>
              <a:cs typeface="+mn-ea"/>
            </a:endParaRPr>
          </a:p>
          <a:p>
            <a:pPr marL="740410" marR="0" lvl="1" indent="-436880" algn="l" defTabSz="914400" rtl="0" eaLnBrk="1" fontAlgn="auto" latinLnBrk="0" hangingPunct="1">
              <a:lnSpc>
                <a:spcPct val="120000"/>
              </a:lnSpc>
              <a:spcBef>
                <a:spcPct val="20000"/>
              </a:spcBef>
              <a:spcAft>
                <a:spcPts val="0"/>
              </a:spcAft>
              <a:buClr>
                <a:schemeClr val="accent2"/>
              </a:buClr>
              <a:buSzTx/>
              <a:buFont typeface="Wingdings" panose="05000000000000000000"/>
              <a:buChar char=""/>
              <a:defRPr/>
            </a:pPr>
            <a:r>
              <a:rPr kumimoji="0" lang="zh-CN" altLang="en-US" sz="2200" b="0" i="0" u="none" strike="noStrike" kern="0" cap="none" spc="0" normalizeH="0" baseline="0" noProof="0" dirty="0" smtClean="0">
                <a:ln>
                  <a:noFill/>
                </a:ln>
                <a:solidFill>
                  <a:schemeClr val="tx1"/>
                </a:solidFill>
                <a:effectLst/>
                <a:uLnTx/>
                <a:uFillTx/>
                <a:latin typeface="+mn-lt"/>
                <a:ea typeface="+mn-ea"/>
                <a:cs typeface="+mn-ea"/>
              </a:rPr>
              <a:t>同时</a:t>
            </a:r>
            <a:r>
              <a:rPr kumimoji="0" lang="en-US" altLang="zh-CN" sz="2200" b="0" i="0" u="none" strike="noStrike" kern="0" cap="none" spc="0" normalizeH="0" baseline="0" noProof="0" dirty="0" smtClean="0">
                <a:ln>
                  <a:noFill/>
                </a:ln>
                <a:solidFill>
                  <a:schemeClr val="tx1"/>
                </a:solidFill>
                <a:effectLst/>
                <a:uLnTx/>
                <a:uFillTx/>
                <a:latin typeface="+mn-lt"/>
                <a:ea typeface="+mn-ea"/>
                <a:cs typeface="+mn-ea"/>
              </a:rPr>
              <a:t>DBMS</a:t>
            </a:r>
            <a:r>
              <a:rPr kumimoji="0" lang="zh-CN" altLang="en-US" sz="2200" b="0" i="0" u="none" strike="noStrike" kern="0" cap="none" spc="0" normalizeH="0" baseline="0" noProof="0" dirty="0" smtClean="0">
                <a:ln>
                  <a:noFill/>
                </a:ln>
                <a:solidFill>
                  <a:schemeClr val="tx1"/>
                </a:solidFill>
                <a:effectLst/>
                <a:uLnTx/>
                <a:uFillTx/>
                <a:latin typeface="+mn-lt"/>
                <a:ea typeface="+mn-ea"/>
                <a:cs typeface="+mn-ea"/>
              </a:rPr>
              <a:t>自动利用镜像磁盘数据进行数据库的恢复</a:t>
            </a:r>
            <a:endParaRPr kumimoji="0" lang="zh-CN" altLang="en-US" sz="2200" b="0" i="0" u="none" strike="noStrike" kern="0" cap="none" spc="0" normalizeH="0" baseline="0" noProof="0" dirty="0" smtClean="0">
              <a:ln>
                <a:noFill/>
              </a:ln>
              <a:solidFill>
                <a:schemeClr val="tx1"/>
              </a:solidFill>
              <a:effectLst/>
              <a:uLnTx/>
              <a:uFillTx/>
              <a:latin typeface="+mn-lt"/>
              <a:ea typeface="+mn-ea"/>
              <a:cs typeface="+mn-ea"/>
            </a:endParaRPr>
          </a:p>
          <a:p>
            <a:pPr marL="740410" marR="0" lvl="1" indent="-436880" algn="l" defTabSz="914400" rtl="0" eaLnBrk="1" fontAlgn="auto" latinLnBrk="0" hangingPunct="1">
              <a:lnSpc>
                <a:spcPct val="120000"/>
              </a:lnSpc>
              <a:spcBef>
                <a:spcPct val="20000"/>
              </a:spcBef>
              <a:spcAft>
                <a:spcPts val="0"/>
              </a:spcAft>
              <a:buClr>
                <a:schemeClr val="accent2"/>
              </a:buClr>
              <a:buSzTx/>
              <a:buFont typeface="Wingdings" panose="05000000000000000000"/>
              <a:buChar char=""/>
              <a:defRPr/>
            </a:pPr>
            <a:r>
              <a:rPr kumimoji="0" lang="zh-CN" altLang="en-US" sz="2200" b="0" i="0" u="none" strike="noStrike" kern="0" cap="none" spc="0" normalizeH="0" baseline="0" noProof="0" dirty="0" smtClean="0">
                <a:ln>
                  <a:noFill/>
                </a:ln>
                <a:solidFill>
                  <a:schemeClr val="tx1"/>
                </a:solidFill>
                <a:effectLst/>
                <a:uLnTx/>
                <a:uFillTx/>
                <a:latin typeface="+mn-lt"/>
                <a:ea typeface="+mn-ea"/>
                <a:cs typeface="+mn-ea"/>
              </a:rPr>
              <a:t>不需要关闭系统和重装数据库副本</a:t>
            </a:r>
            <a:r>
              <a:rPr kumimoji="0" lang="en-US" altLang="zh-CN" sz="2200" b="0" i="0" u="none" strike="noStrike" kern="0" cap="none" spc="0" normalizeH="0" baseline="0" noProof="0" dirty="0" smtClean="0">
                <a:ln>
                  <a:noFill/>
                </a:ln>
                <a:solidFill>
                  <a:schemeClr val="tx1"/>
                </a:solidFill>
                <a:effectLst/>
                <a:uLnTx/>
                <a:uFillTx/>
                <a:latin typeface="+mn-lt"/>
                <a:ea typeface="+mn-ea"/>
                <a:cs typeface="+mn-ea"/>
              </a:rPr>
              <a:t>(</a:t>
            </a:r>
            <a:r>
              <a:rPr kumimoji="0" lang="zh-CN" altLang="en-US" sz="2200" b="0" i="0" u="none" strike="noStrike" kern="0" cap="none" spc="0" normalizeH="0" baseline="0" noProof="0" dirty="0" smtClean="0">
                <a:ln>
                  <a:noFill/>
                </a:ln>
                <a:solidFill>
                  <a:schemeClr val="tx1"/>
                </a:solidFill>
                <a:effectLst/>
                <a:uLnTx/>
                <a:uFillTx/>
                <a:latin typeface="+mn-lt"/>
                <a:ea typeface="+mn-ea"/>
                <a:cs typeface="+mn-ea"/>
              </a:rPr>
              <a:t>如下图所示</a:t>
            </a:r>
            <a:r>
              <a:rPr kumimoji="0" lang="en-US" altLang="zh-CN" sz="2200" b="0" i="0" u="none" strike="noStrike" kern="0" cap="none" spc="0" normalizeH="0" baseline="0" noProof="0" dirty="0" smtClean="0">
                <a:ln>
                  <a:noFill/>
                </a:ln>
                <a:solidFill>
                  <a:schemeClr val="tx1"/>
                </a:solidFill>
                <a:effectLst/>
                <a:uLnTx/>
                <a:uFillTx/>
                <a:latin typeface="+mn-lt"/>
                <a:ea typeface="+mn-ea"/>
                <a:cs typeface="+mn-ea"/>
              </a:rPr>
              <a:t>)</a:t>
            </a:r>
            <a:endParaRPr kumimoji="0" lang="en-US" altLang="zh-CN" sz="2200" b="0" i="0" u="none" strike="noStrike" kern="0" cap="none" spc="0" normalizeH="0" baseline="0" noProof="0" dirty="0" smtClean="0">
              <a:ln>
                <a:noFill/>
              </a:ln>
              <a:solidFill>
                <a:schemeClr val="tx1"/>
              </a:solidFill>
              <a:effectLst/>
              <a:uLnTx/>
              <a:uFillTx/>
              <a:latin typeface="+mn-lt"/>
              <a:ea typeface="+mn-ea"/>
              <a:cs typeface="+mn-ea"/>
            </a:endParaRPr>
          </a:p>
        </p:txBody>
      </p:sp>
      <p:graphicFrame>
        <p:nvGraphicFramePr>
          <p:cNvPr id="98307" name="Object 4"/>
          <p:cNvGraphicFramePr>
            <a:graphicFrameLocks noGrp="1" noChangeAspect="1"/>
          </p:cNvGraphicFramePr>
          <p:nvPr>
            <p:ph sz="half" idx="2"/>
          </p:nvPr>
        </p:nvGraphicFramePr>
        <p:xfrm>
          <a:off x="642938" y="3429000"/>
          <a:ext cx="7272337" cy="2395538"/>
        </p:xfrm>
        <a:graphic>
          <a:graphicData uri="http://schemas.openxmlformats.org/presentationml/2006/ole">
            <mc:AlternateContent xmlns:mc="http://schemas.openxmlformats.org/markup-compatibility/2006">
              <mc:Choice xmlns:v="urn:schemas-microsoft-com:vml" Requires="v">
                <p:oleObj spid="_x0000_s2" name="" r:id="rId1" imgW="23672800" imgH="7797800" progId="Photoshop.Image.7">
                  <p:embed/>
                </p:oleObj>
              </mc:Choice>
              <mc:Fallback>
                <p:oleObj name="" r:id="rId1" imgW="23672800" imgH="7797800" progId="Photoshop.Image.7">
                  <p:embed/>
                  <p:pic>
                    <p:nvPicPr>
                      <p:cNvPr id="0" name="图片 1"/>
                      <p:cNvPicPr/>
                      <p:nvPr/>
                    </p:nvPicPr>
                    <p:blipFill>
                      <a:blip r:embed="rId2"/>
                      <a:stretch>
                        <a:fillRect/>
                      </a:stretch>
                    </p:blipFill>
                    <p:spPr>
                      <a:xfrm>
                        <a:off x="642938" y="3429000"/>
                        <a:ext cx="7272337" cy="2395538"/>
                      </a:xfrm>
                      <a:prstGeom prst="rect">
                        <a:avLst/>
                      </a:prstGeom>
                      <a:noFill/>
                      <a:ln w="38100">
                        <a:miter/>
                      </a:ln>
                    </p:spPr>
                  </p:pic>
                </p:oleObj>
              </mc:Fallback>
            </mc:AlternateContent>
          </a:graphicData>
        </a:graphic>
      </p:graphicFrame>
    </p:spTree>
  </p:cSld>
  <p:clrMapOvr>
    <a:masterClrMapping/>
  </p:clrMapOvr>
  <p:transition advClick="0"/>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数据库镜像（续）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99330" name="Rectangle 8"/>
          <p:cNvSpPr/>
          <p:nvPr/>
        </p:nvSpPr>
        <p:spPr>
          <a:xfrm>
            <a:off x="642938" y="1214438"/>
            <a:ext cx="7488237" cy="4511675"/>
          </a:xfrm>
          <a:prstGeom prst="rect">
            <a:avLst/>
          </a:prstGeom>
          <a:noFill/>
          <a:ln w="25400">
            <a:noFill/>
          </a:ln>
        </p:spPr>
        <p:txBody>
          <a:bodyPr anchor="t" anchorCtr="0">
            <a:spAutoFit/>
          </a:bodyPr>
          <a:p>
            <a:pPr marL="342900" indent="-342900">
              <a:lnSpc>
                <a:spcPct val="240000"/>
              </a:lnSpc>
              <a:buFont typeface="Wingdings" panose="05000000000000000000" pitchFamily="2" charset="2"/>
              <a:buChar char="v"/>
            </a:pPr>
            <a:r>
              <a:rPr lang="zh-CN" altLang="en-US" sz="2800" dirty="0">
                <a:latin typeface="Verdana" panose="020B0604030504040204" pitchFamily="34" charset="0"/>
                <a:ea typeface="宋体" panose="02010600030101010101" pitchFamily="2" charset="-122"/>
              </a:rPr>
              <a:t>没有出现故障时</a:t>
            </a:r>
            <a:endParaRPr lang="zh-CN" altLang="en-US" sz="2800" dirty="0">
              <a:latin typeface="Verdana" panose="020B0604030504040204" pitchFamily="34" charset="0"/>
              <a:ea typeface="宋体" panose="02010600030101010101" pitchFamily="2" charset="-122"/>
            </a:endParaRPr>
          </a:p>
          <a:p>
            <a:pPr lvl="2" indent="0" eaLnBrk="1" hangingPunct="1">
              <a:lnSpc>
                <a:spcPct val="240000"/>
              </a:lnSpc>
              <a:buFont typeface="Wingdings" panose="05000000000000000000" pitchFamily="2" charset="2"/>
              <a:buChar char="n"/>
            </a:pPr>
            <a:r>
              <a:rPr lang="zh-CN" altLang="en-US" sz="2400" dirty="0">
                <a:latin typeface="Verdana" panose="020B0604030504040204" pitchFamily="34" charset="0"/>
                <a:ea typeface="宋体" panose="02010600030101010101" pitchFamily="2" charset="-122"/>
              </a:rPr>
              <a:t>可用于并发操作</a:t>
            </a:r>
            <a:endParaRPr lang="zh-CN" altLang="en-US" sz="2400" dirty="0">
              <a:latin typeface="Verdana" panose="020B0604030504040204" pitchFamily="34" charset="0"/>
              <a:ea typeface="宋体" panose="02010600030101010101" pitchFamily="2" charset="-122"/>
            </a:endParaRPr>
          </a:p>
          <a:p>
            <a:pPr lvl="2" indent="0" eaLnBrk="1" hangingPunct="1">
              <a:lnSpc>
                <a:spcPct val="240000"/>
              </a:lnSpc>
              <a:buFont typeface="Wingdings" panose="05000000000000000000" pitchFamily="2" charset="2"/>
              <a:buChar char="n"/>
            </a:pPr>
            <a:r>
              <a:rPr lang="zh-CN" altLang="en-US" sz="2400" dirty="0">
                <a:latin typeface="Verdana" panose="020B0604030504040204" pitchFamily="34" charset="0"/>
                <a:ea typeface="宋体" panose="02010600030101010101" pitchFamily="2" charset="-122"/>
              </a:rPr>
              <a:t>一个用户对数据加排他锁修改数据，其他用户可以读镜像数据库上的数据，而不必等待该用户释放锁 </a:t>
            </a:r>
            <a:endParaRPr lang="zh-CN" altLang="en-US" sz="24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rPr>
              <a:t>数据库镜像（续）</a:t>
            </a:r>
            <a:endParaRPr kumimoji="0" lang="zh-CN" altLang="en-US" sz="32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00354" name="Rectangle 3"/>
          <p:cNvSpPr>
            <a:spLocks noGrp="1"/>
          </p:cNvSpPr>
          <p:nvPr>
            <p:ph idx="1"/>
          </p:nvPr>
        </p:nvSpPr>
        <p:spPr>
          <a:ln/>
        </p:spPr>
        <p:txBody>
          <a:bodyPr vert="horz" wrap="square" lIns="91440" tIns="45720" rIns="91440" bIns="45720" anchor="t" anchorCtr="0"/>
          <a:p>
            <a:pPr eaLnBrk="1" hangingPunct="1">
              <a:lnSpc>
                <a:spcPct val="210000"/>
              </a:lnSpc>
            </a:pPr>
            <a:r>
              <a:rPr lang="zh-CN" altLang="en-US" dirty="0"/>
              <a:t>频繁地复制数据自然会降低系统运行效率</a:t>
            </a:r>
            <a:endParaRPr lang="zh-CN" altLang="en-US" dirty="0"/>
          </a:p>
          <a:p>
            <a:pPr lvl="1" indent="-436245" eaLnBrk="1" hangingPunct="1">
              <a:lnSpc>
                <a:spcPct val="210000"/>
              </a:lnSpc>
              <a:buFont typeface="Wingdings" panose="05000000000000000000" pitchFamily="2" charset="2"/>
              <a:buChar char="n"/>
            </a:pPr>
            <a:r>
              <a:rPr lang="zh-CN" altLang="en-US" dirty="0"/>
              <a:t>在实际应用中用户往往只选择对</a:t>
            </a:r>
            <a:r>
              <a:rPr lang="zh-CN" altLang="en-US" b="1" dirty="0">
                <a:solidFill>
                  <a:srgbClr val="FF0000"/>
                </a:solidFill>
              </a:rPr>
              <a:t>关键数据</a:t>
            </a:r>
            <a:r>
              <a:rPr lang="zh-CN" altLang="en-US" dirty="0"/>
              <a:t>和</a:t>
            </a:r>
            <a:r>
              <a:rPr lang="zh-CN" altLang="en-US" b="1" dirty="0">
                <a:solidFill>
                  <a:srgbClr val="FF0000"/>
                </a:solidFill>
              </a:rPr>
              <a:t>日志文件</a:t>
            </a:r>
            <a:r>
              <a:rPr lang="zh-CN" altLang="en-US" dirty="0"/>
              <a:t>镜像，而不是对整个数据库进行镜像</a:t>
            </a:r>
            <a:endParaRPr lang="zh-CN" altLang="en-US" dirty="0"/>
          </a:p>
        </p:txBody>
      </p:sp>
    </p:spTree>
  </p:cSld>
  <p:clrMapOvr>
    <a:masterClrMapping/>
  </p:clrMapOvr>
  <p:transition advClick="0"/>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7"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第十章  数据库恢复技术</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01378" name="Rectangle 3"/>
          <p:cNvSpPr>
            <a:spLocks noGrp="1"/>
          </p:cNvSpPr>
          <p:nvPr>
            <p:ph idx="1"/>
          </p:nvPr>
        </p:nvSpPr>
        <p:spPr>
          <a:xfrm>
            <a:off x="571500" y="1214438"/>
            <a:ext cx="7931150" cy="4495800"/>
          </a:xfrm>
          <a:ln/>
        </p:spPr>
        <p:txBody>
          <a:bodyPr vert="horz" wrap="square" lIns="91440" tIns="45720" rIns="91440" bIns="45720" anchor="t" anchorCtr="0"/>
          <a:p>
            <a:pPr marL="411480" indent="-470535" eaLnBrk="1" hangingPunct="1">
              <a:lnSpc>
                <a:spcPct val="130000"/>
              </a:lnSpc>
              <a:buNone/>
            </a:pPr>
            <a:r>
              <a:rPr lang="en-US" altLang="zh-CN" sz="2400" b="1" dirty="0"/>
              <a:t>10.1  </a:t>
            </a:r>
            <a:r>
              <a:rPr lang="zh-CN" altLang="en-US" sz="2400" b="1" dirty="0"/>
              <a:t>事务的基本概念</a:t>
            </a:r>
            <a:endParaRPr lang="zh-CN" altLang="en-US" sz="2400" b="1" dirty="0"/>
          </a:p>
          <a:p>
            <a:pPr marL="411480" indent="-470535" eaLnBrk="1" hangingPunct="1">
              <a:lnSpc>
                <a:spcPct val="130000"/>
              </a:lnSpc>
              <a:buNone/>
            </a:pPr>
            <a:r>
              <a:rPr lang="en-US" altLang="zh-CN" sz="2400" b="1" dirty="0"/>
              <a:t>10.2  </a:t>
            </a:r>
            <a:r>
              <a:rPr lang="zh-CN" altLang="en-US" sz="2400" b="1" dirty="0"/>
              <a:t>数据库恢复概述</a:t>
            </a:r>
            <a:endParaRPr lang="zh-CN" altLang="en-US" sz="2400" b="1" dirty="0"/>
          </a:p>
          <a:p>
            <a:pPr marL="411480" indent="-470535" eaLnBrk="1" hangingPunct="1">
              <a:lnSpc>
                <a:spcPct val="130000"/>
              </a:lnSpc>
              <a:buNone/>
            </a:pPr>
            <a:r>
              <a:rPr lang="en-US" altLang="zh-CN" sz="2400" b="1" dirty="0"/>
              <a:t>10.3  </a:t>
            </a:r>
            <a:r>
              <a:rPr lang="zh-CN" altLang="en-US" sz="2400" b="1" dirty="0"/>
              <a:t>故障的种类</a:t>
            </a:r>
            <a:endParaRPr lang="zh-CN" altLang="en-US" sz="2400" b="1" dirty="0"/>
          </a:p>
          <a:p>
            <a:pPr marL="411480" indent="-470535" eaLnBrk="1" hangingPunct="1">
              <a:lnSpc>
                <a:spcPct val="130000"/>
              </a:lnSpc>
              <a:buNone/>
            </a:pPr>
            <a:r>
              <a:rPr lang="en-US" altLang="zh-CN" sz="2400" b="1" dirty="0"/>
              <a:t>10.4  </a:t>
            </a:r>
            <a:r>
              <a:rPr lang="zh-CN" altLang="en-US" sz="2400" b="1" dirty="0"/>
              <a:t>恢复的实现技术</a:t>
            </a:r>
            <a:endParaRPr lang="zh-CN" altLang="en-US" sz="2400" b="1" dirty="0"/>
          </a:p>
          <a:p>
            <a:pPr marL="411480" indent="-470535" eaLnBrk="1" hangingPunct="1">
              <a:lnSpc>
                <a:spcPct val="130000"/>
              </a:lnSpc>
              <a:buNone/>
            </a:pPr>
            <a:r>
              <a:rPr lang="en-US" altLang="zh-CN" sz="2400" b="1" dirty="0"/>
              <a:t>10.5  </a:t>
            </a:r>
            <a:r>
              <a:rPr lang="zh-CN" altLang="en-US" sz="2400" b="1" dirty="0"/>
              <a:t>恢复策略</a:t>
            </a:r>
            <a:endParaRPr lang="zh-CN" altLang="en-US" sz="2400" b="1" dirty="0"/>
          </a:p>
          <a:p>
            <a:pPr marL="411480" indent="-470535" eaLnBrk="1" hangingPunct="1">
              <a:lnSpc>
                <a:spcPct val="130000"/>
              </a:lnSpc>
              <a:buNone/>
            </a:pPr>
            <a:r>
              <a:rPr lang="en-US" altLang="zh-CN" sz="2400" b="1" dirty="0"/>
              <a:t>10.6  </a:t>
            </a:r>
            <a:r>
              <a:rPr lang="zh-CN" altLang="en-US" sz="2400" b="1" dirty="0"/>
              <a:t>具有检查点的恢复技术</a:t>
            </a:r>
            <a:endParaRPr lang="zh-CN" altLang="en-US" sz="2400" b="1" dirty="0"/>
          </a:p>
          <a:p>
            <a:pPr marL="411480" indent="-470535" eaLnBrk="1" hangingPunct="1">
              <a:lnSpc>
                <a:spcPct val="130000"/>
              </a:lnSpc>
              <a:buNone/>
            </a:pPr>
            <a:r>
              <a:rPr lang="en-US" altLang="zh-CN" sz="2400" b="1" dirty="0"/>
              <a:t>10.7  </a:t>
            </a:r>
            <a:r>
              <a:rPr lang="zh-CN" altLang="en-US" sz="2400" b="1" dirty="0"/>
              <a:t>数据库镜像</a:t>
            </a:r>
            <a:endParaRPr lang="zh-CN" altLang="en-US" sz="2400" b="1" dirty="0"/>
          </a:p>
          <a:p>
            <a:pPr marL="411480" indent="-470535" eaLnBrk="1" hangingPunct="1">
              <a:lnSpc>
                <a:spcPct val="130000"/>
              </a:lnSpc>
              <a:buNone/>
            </a:pPr>
            <a:r>
              <a:rPr lang="en-US" altLang="zh-CN" sz="2400" b="1" dirty="0">
                <a:solidFill>
                  <a:srgbClr val="009900"/>
                </a:solidFill>
              </a:rPr>
              <a:t>10.8  </a:t>
            </a:r>
            <a:r>
              <a:rPr lang="zh-CN" altLang="en-US" sz="2400" b="1" dirty="0">
                <a:solidFill>
                  <a:srgbClr val="009900"/>
                </a:solidFill>
              </a:rPr>
              <a:t>小结</a:t>
            </a:r>
            <a:endParaRPr lang="zh-CN" altLang="en-US" sz="2400" b="1" dirty="0">
              <a:solidFill>
                <a:srgbClr val="009900"/>
              </a:solidFill>
            </a:endParaRPr>
          </a:p>
        </p:txBody>
      </p:sp>
    </p:spTree>
  </p:cSld>
  <p:clrMapOvr>
    <a:masterClrMapping/>
  </p:clrMapOvr>
  <p:transition advClick="0"/>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1"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800" b="0" i="0" u="none" strike="noStrike" kern="0" cap="none" spc="0" normalizeH="0" baseline="0" noProof="0" smtClean="0">
                <a:ln>
                  <a:noFill/>
                </a:ln>
                <a:solidFill>
                  <a:schemeClr val="tx2">
                    <a:satMod val="200000"/>
                  </a:schemeClr>
                </a:solidFill>
                <a:effectLst/>
                <a:uLnTx/>
                <a:uFillTx/>
                <a:latin typeface="+mj-lt"/>
                <a:ea typeface="+mj-ea"/>
                <a:cs typeface="+mj-cs"/>
              </a:rPr>
              <a:t>10.8 </a:t>
            </a: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小结</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02402" name="Rectangle 3"/>
          <p:cNvSpPr>
            <a:spLocks noGrp="1"/>
          </p:cNvSpPr>
          <p:nvPr>
            <p:ph idx="1"/>
          </p:nvPr>
        </p:nvSpPr>
        <p:spPr>
          <a:ln/>
        </p:spPr>
        <p:txBody>
          <a:bodyPr vert="horz" wrap="square" lIns="91440" tIns="45720" rIns="91440" bIns="45720" anchor="t" anchorCtr="0"/>
          <a:p>
            <a:pPr eaLnBrk="1" hangingPunct="1">
              <a:lnSpc>
                <a:spcPct val="180000"/>
              </a:lnSpc>
            </a:pPr>
            <a:r>
              <a:rPr lang="zh-CN" altLang="en-US" sz="2400" dirty="0"/>
              <a:t>如果数据库只包含成功事务提交的结果，就说数据库处于一致性状态。保证数据一致性是对数据库的最基本的要求。</a:t>
            </a:r>
            <a:endParaRPr lang="zh-CN" altLang="en-US" sz="2400" dirty="0"/>
          </a:p>
          <a:p>
            <a:pPr eaLnBrk="1" hangingPunct="1">
              <a:lnSpc>
                <a:spcPct val="180000"/>
              </a:lnSpc>
            </a:pPr>
            <a:r>
              <a:rPr lang="zh-CN" altLang="en-US" sz="2400" dirty="0"/>
              <a:t>事务是数据库的逻辑工作单位</a:t>
            </a:r>
            <a:endParaRPr lang="zh-CN" altLang="en-US" sz="2400" dirty="0"/>
          </a:p>
          <a:p>
            <a:pPr lvl="1" indent="-436245" eaLnBrk="1" hangingPunct="1">
              <a:lnSpc>
                <a:spcPct val="180000"/>
              </a:lnSpc>
            </a:pPr>
            <a:r>
              <a:rPr lang="en-US" altLang="zh-CN" dirty="0"/>
              <a:t>DBMS</a:t>
            </a:r>
            <a:r>
              <a:rPr lang="zh-CN" altLang="en-US" dirty="0"/>
              <a:t>保证系统中一切事务的原子性、一致性、隔离性和持续性</a:t>
            </a:r>
            <a:endParaRPr lang="zh-CN" altLang="en-US" dirty="0"/>
          </a:p>
          <a:p>
            <a:pPr eaLnBrk="1" hangingPunct="1"/>
            <a:endParaRPr lang="en-US" altLang="zh-CN" sz="2400" dirty="0"/>
          </a:p>
        </p:txBody>
      </p:sp>
    </p:spTree>
  </p:cSld>
  <p:clrMapOvr>
    <a:masterClrMapping/>
  </p:clrMapOvr>
  <p:transition advClick="0"/>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5"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小结（续）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03426" name="Rectangle 3"/>
          <p:cNvSpPr>
            <a:spLocks noGrp="1"/>
          </p:cNvSpPr>
          <p:nvPr>
            <p:ph idx="1"/>
          </p:nvPr>
        </p:nvSpPr>
        <p:spPr>
          <a:ln/>
        </p:spPr>
        <p:txBody>
          <a:bodyPr vert="horz" wrap="square" lIns="91440" tIns="45720" rIns="91440" bIns="45720" anchor="t" anchorCtr="0"/>
          <a:p>
            <a:pPr marL="411480" indent="-470535" eaLnBrk="1" hangingPunct="1">
              <a:lnSpc>
                <a:spcPct val="220000"/>
              </a:lnSpc>
              <a:buFont typeface="Wingdings" panose="05000000000000000000" pitchFamily="2" charset="2"/>
              <a:buChar char=""/>
            </a:pPr>
            <a:r>
              <a:rPr lang="en-US" altLang="zh-CN" sz="2400" dirty="0"/>
              <a:t>DBMS</a:t>
            </a:r>
            <a:r>
              <a:rPr lang="zh-CN" altLang="en-US" sz="2400" dirty="0"/>
              <a:t>必须对事务故障、系统故障和介质故障进行恢复</a:t>
            </a:r>
            <a:endParaRPr lang="zh-CN" altLang="en-US" sz="2400" dirty="0"/>
          </a:p>
          <a:p>
            <a:pPr marL="411480" indent="-470535" eaLnBrk="1" hangingPunct="1">
              <a:lnSpc>
                <a:spcPct val="220000"/>
              </a:lnSpc>
              <a:buFont typeface="Wingdings" panose="05000000000000000000" pitchFamily="2" charset="2"/>
              <a:buChar char=""/>
            </a:pPr>
            <a:r>
              <a:rPr lang="zh-CN" altLang="en-US" sz="2400" dirty="0"/>
              <a:t>恢复中最经常使用的技术：数据库转储和登记日志文件</a:t>
            </a:r>
            <a:endParaRPr lang="zh-CN" altLang="en-US" sz="2400" dirty="0"/>
          </a:p>
          <a:p>
            <a:pPr marL="411480" indent="-470535" eaLnBrk="1" hangingPunct="1">
              <a:lnSpc>
                <a:spcPct val="220000"/>
              </a:lnSpc>
              <a:buFont typeface="Wingdings" panose="05000000000000000000" pitchFamily="2" charset="2"/>
              <a:buChar char=""/>
            </a:pPr>
            <a:r>
              <a:rPr lang="zh-CN" altLang="en-US" sz="2400" dirty="0"/>
              <a:t>恢复的基本原理：利用存储在</a:t>
            </a:r>
            <a:r>
              <a:rPr lang="zh-CN" altLang="en-US" sz="2400" dirty="0">
                <a:solidFill>
                  <a:srgbClr val="FF0000"/>
                </a:solidFill>
              </a:rPr>
              <a:t>后备副本、日志文件和数据库镜像</a:t>
            </a:r>
            <a:r>
              <a:rPr lang="zh-CN" altLang="en-US" sz="2400" dirty="0"/>
              <a:t>中的</a:t>
            </a:r>
            <a:r>
              <a:rPr lang="zh-CN" altLang="en-US" sz="2400" b="1" dirty="0">
                <a:solidFill>
                  <a:srgbClr val="FF0000"/>
                </a:solidFill>
              </a:rPr>
              <a:t>冗余数据</a:t>
            </a:r>
            <a:r>
              <a:rPr lang="zh-CN" altLang="en-US" sz="2400" dirty="0"/>
              <a:t>来重建数据库</a:t>
            </a:r>
            <a:endParaRPr lang="zh-CN" altLang="en-US" sz="2400" dirty="0"/>
          </a:p>
        </p:txBody>
      </p:sp>
    </p:spTree>
  </p:cSld>
  <p:clrMapOvr>
    <a:masterClrMapping/>
  </p:clrMapOvr>
  <p:transition advClick="0"/>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9"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小结（续）</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04450" name="Rectangle 3"/>
          <p:cNvSpPr>
            <a:spLocks noGrp="1"/>
          </p:cNvSpPr>
          <p:nvPr>
            <p:ph idx="1"/>
          </p:nvPr>
        </p:nvSpPr>
        <p:spPr>
          <a:ln/>
        </p:spPr>
        <p:txBody>
          <a:bodyPr vert="horz" wrap="square" lIns="91440" tIns="45720" rIns="91440" bIns="45720" anchor="t" anchorCtr="0"/>
          <a:p>
            <a:pPr eaLnBrk="1" hangingPunct="1">
              <a:lnSpc>
                <a:spcPct val="140000"/>
              </a:lnSpc>
            </a:pPr>
            <a:r>
              <a:rPr lang="zh-CN" altLang="en-US" dirty="0"/>
              <a:t>常用恢复技术</a:t>
            </a:r>
            <a:endParaRPr lang="zh-CN" altLang="en-US" dirty="0"/>
          </a:p>
          <a:p>
            <a:pPr lvl="1" indent="-436245" eaLnBrk="1" hangingPunct="1">
              <a:lnSpc>
                <a:spcPct val="140000"/>
              </a:lnSpc>
            </a:pPr>
            <a:r>
              <a:rPr lang="zh-CN" altLang="en-US" dirty="0"/>
              <a:t>事务故障的恢复</a:t>
            </a:r>
            <a:endParaRPr lang="zh-CN" altLang="en-US" dirty="0"/>
          </a:p>
          <a:p>
            <a:pPr lvl="2" indent="-394970" eaLnBrk="1" hangingPunct="1">
              <a:lnSpc>
                <a:spcPct val="140000"/>
              </a:lnSpc>
              <a:buFont typeface="Wingdings" panose="05000000000000000000" pitchFamily="2" charset="2"/>
              <a:buChar char="Ø"/>
            </a:pPr>
            <a:r>
              <a:rPr lang="en-US" altLang="zh-CN" dirty="0"/>
              <a:t>UNDO</a:t>
            </a:r>
            <a:endParaRPr lang="en-US" altLang="zh-CN" dirty="0"/>
          </a:p>
          <a:p>
            <a:pPr lvl="1" indent="-436245" eaLnBrk="1" hangingPunct="1">
              <a:lnSpc>
                <a:spcPct val="140000"/>
              </a:lnSpc>
            </a:pPr>
            <a:r>
              <a:rPr lang="zh-CN" altLang="en-US" dirty="0"/>
              <a:t>系统故障的恢复</a:t>
            </a:r>
            <a:endParaRPr lang="zh-CN" altLang="en-US" dirty="0"/>
          </a:p>
          <a:p>
            <a:pPr lvl="2" indent="-394970" eaLnBrk="1" hangingPunct="1">
              <a:lnSpc>
                <a:spcPct val="140000"/>
              </a:lnSpc>
              <a:buFont typeface="Wingdings" panose="05000000000000000000" pitchFamily="2" charset="2"/>
              <a:buChar char="Ø"/>
            </a:pPr>
            <a:r>
              <a:rPr lang="en-US" altLang="zh-CN" dirty="0"/>
              <a:t>UNDO + REDO</a:t>
            </a:r>
            <a:endParaRPr lang="en-US" altLang="zh-CN" dirty="0"/>
          </a:p>
          <a:p>
            <a:pPr lvl="1" indent="-436245" eaLnBrk="1" hangingPunct="1">
              <a:lnSpc>
                <a:spcPct val="140000"/>
              </a:lnSpc>
            </a:pPr>
            <a:r>
              <a:rPr lang="zh-CN" altLang="en-US" b="1" dirty="0">
                <a:solidFill>
                  <a:srgbClr val="0000FF"/>
                </a:solidFill>
              </a:rPr>
              <a:t>介质故障的恢复</a:t>
            </a:r>
            <a:endParaRPr lang="zh-CN" altLang="en-US" b="1" dirty="0">
              <a:solidFill>
                <a:srgbClr val="0000FF"/>
              </a:solidFill>
            </a:endParaRPr>
          </a:p>
          <a:p>
            <a:pPr lvl="2" indent="-394970" eaLnBrk="1" hangingPunct="1">
              <a:lnSpc>
                <a:spcPct val="140000"/>
              </a:lnSpc>
              <a:buFont typeface="Wingdings" panose="05000000000000000000" pitchFamily="2" charset="2"/>
              <a:buChar char="Ø"/>
            </a:pPr>
            <a:r>
              <a:rPr lang="zh-CN" altLang="en-US" b="1" dirty="0">
                <a:solidFill>
                  <a:srgbClr val="0000FF"/>
                </a:solidFill>
              </a:rPr>
              <a:t>重装备份并恢复到一致性状态 </a:t>
            </a:r>
            <a:r>
              <a:rPr lang="en-US" altLang="zh-CN" b="1" dirty="0">
                <a:solidFill>
                  <a:srgbClr val="0000FF"/>
                </a:solidFill>
              </a:rPr>
              <a:t>+ REDO</a:t>
            </a:r>
            <a:endParaRPr lang="en-US" altLang="zh-CN" b="1" dirty="0">
              <a:solidFill>
                <a:srgbClr val="0000FF"/>
              </a:solidFill>
            </a:endParaRPr>
          </a:p>
        </p:txBody>
      </p:sp>
    </p:spTree>
  </p:cSld>
  <p:clrMapOvr>
    <a:masterClrMapping/>
  </p:clrMapOvr>
  <p:transition advClick="0"/>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3" name="Rectangle 2"/>
          <p:cNvSpPr>
            <a:spLocks noGrp="1" noChangeArrowheads="1"/>
          </p:cNvSpPr>
          <p:nvPr>
            <p:ph type="title"/>
          </p:nvPr>
        </p:nvSpPr>
        <p:spPr>
          <a:xfrm>
            <a:off x="571500" y="214313"/>
            <a:ext cx="8001000" cy="735013"/>
          </a:xfrm>
        </p:spPr>
        <p:txBody>
          <a:bodyPr vert="horz" wrap="square" lIns="91440" tIns="45720" rIns="91440" bIns="4572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rPr>
              <a:t>小结（续） </a:t>
            </a:r>
            <a:endParaRPr kumimoji="0" lang="zh-CN" altLang="en-US" sz="3800" b="0" i="0" u="none" strike="noStrike" kern="0" cap="none" spc="0" normalizeH="0" baseline="0" noProof="0" smtClean="0">
              <a:ln>
                <a:noFill/>
              </a:ln>
              <a:solidFill>
                <a:schemeClr val="tx2">
                  <a:satMod val="200000"/>
                </a:schemeClr>
              </a:solidFill>
              <a:effectLst/>
              <a:uLnTx/>
              <a:uFillTx/>
              <a:latin typeface="+mj-lt"/>
              <a:ea typeface="+mj-ea"/>
              <a:cs typeface="+mj-cs"/>
            </a:endParaRPr>
          </a:p>
        </p:txBody>
      </p:sp>
      <p:sp>
        <p:nvSpPr>
          <p:cNvPr id="105474" name="Rectangle 3"/>
          <p:cNvSpPr>
            <a:spLocks noGrp="1"/>
          </p:cNvSpPr>
          <p:nvPr>
            <p:ph idx="1"/>
          </p:nvPr>
        </p:nvSpPr>
        <p:spPr>
          <a:ln/>
        </p:spPr>
        <p:txBody>
          <a:bodyPr vert="horz" wrap="square" lIns="91440" tIns="45720" rIns="91440" bIns="45720" anchor="t" anchorCtr="0"/>
          <a:p>
            <a:pPr eaLnBrk="1" hangingPunct="1">
              <a:lnSpc>
                <a:spcPct val="130000"/>
              </a:lnSpc>
            </a:pPr>
            <a:r>
              <a:rPr lang="zh-CN" altLang="en-US" dirty="0"/>
              <a:t>提高恢复效率的技术</a:t>
            </a:r>
            <a:endParaRPr lang="zh-CN" altLang="en-US" dirty="0"/>
          </a:p>
          <a:p>
            <a:pPr lvl="1" indent="-436245" eaLnBrk="1" hangingPunct="1">
              <a:lnSpc>
                <a:spcPct val="130000"/>
              </a:lnSpc>
            </a:pPr>
            <a:r>
              <a:rPr lang="zh-CN" altLang="en-US" dirty="0"/>
              <a:t>检查点技术</a:t>
            </a:r>
            <a:endParaRPr lang="zh-CN" altLang="en-US" dirty="0"/>
          </a:p>
          <a:p>
            <a:pPr lvl="2" indent="-394970" eaLnBrk="1" hangingPunct="1">
              <a:lnSpc>
                <a:spcPct val="130000"/>
              </a:lnSpc>
              <a:buFont typeface="Wingdings" panose="05000000000000000000" pitchFamily="2" charset="2"/>
              <a:buChar char="Ø"/>
            </a:pPr>
            <a:r>
              <a:rPr lang="zh-CN" altLang="en-US" sz="2600" dirty="0"/>
              <a:t>可以提高系统故障的恢复效率</a:t>
            </a:r>
            <a:endParaRPr lang="zh-CN" altLang="en-US" sz="2600" dirty="0"/>
          </a:p>
          <a:p>
            <a:pPr lvl="2" indent="-394970" eaLnBrk="1" hangingPunct="1">
              <a:lnSpc>
                <a:spcPct val="130000"/>
              </a:lnSpc>
              <a:buFont typeface="Wingdings" panose="05000000000000000000" pitchFamily="2" charset="2"/>
              <a:buChar char="Ø"/>
            </a:pPr>
            <a:r>
              <a:rPr lang="zh-CN" altLang="en-US" sz="2600" dirty="0"/>
              <a:t>可以在一定程度上提高利用动态转储备份进行介质故障恢复的效率</a:t>
            </a:r>
            <a:endParaRPr lang="zh-CN" altLang="en-US" sz="2600" dirty="0"/>
          </a:p>
          <a:p>
            <a:pPr lvl="1" indent="-436245" eaLnBrk="1" hangingPunct="1">
              <a:lnSpc>
                <a:spcPct val="130000"/>
              </a:lnSpc>
              <a:spcBef>
                <a:spcPct val="60000"/>
              </a:spcBef>
            </a:pPr>
            <a:r>
              <a:rPr lang="zh-CN" altLang="en-US" dirty="0"/>
              <a:t>镜像技术</a:t>
            </a:r>
            <a:endParaRPr lang="zh-CN" altLang="en-US" dirty="0"/>
          </a:p>
          <a:p>
            <a:pPr lvl="2" indent="-394970" eaLnBrk="1" hangingPunct="1">
              <a:lnSpc>
                <a:spcPct val="130000"/>
              </a:lnSpc>
              <a:buFont typeface="Wingdings" panose="05000000000000000000" pitchFamily="2" charset="2"/>
              <a:buChar char="Ø"/>
            </a:pPr>
            <a:r>
              <a:rPr lang="zh-CN" altLang="en-US" dirty="0"/>
              <a:t>镜像</a:t>
            </a:r>
            <a:r>
              <a:rPr lang="zh-CN" altLang="en-US" sz="2600" dirty="0"/>
              <a:t>技术可以改善介质故障的恢复效率</a:t>
            </a:r>
            <a:endParaRPr lang="zh-CN" altLang="en-US" sz="2600" dirty="0"/>
          </a:p>
        </p:txBody>
      </p:sp>
    </p:spTree>
  </p:cSld>
  <p:clrMapOvr>
    <a:masterClrMapping/>
  </p:clrMapOvr>
  <p:transition advClick="0"/>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10913</Words>
  <Application>WPS 演示</Application>
  <PresentationFormat>全屏显示(4:3)</PresentationFormat>
  <Paragraphs>947</Paragraphs>
  <Slides>97</Slides>
  <Notes>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97</vt:i4>
      </vt:variant>
    </vt:vector>
  </HeadingPairs>
  <TitlesOfParts>
    <vt:vector size="112" baseType="lpstr">
      <vt:lpstr>Arial</vt:lpstr>
      <vt:lpstr>宋体</vt:lpstr>
      <vt:lpstr>Wingdings</vt:lpstr>
      <vt:lpstr>Verdana</vt:lpstr>
      <vt:lpstr>Calibri</vt:lpstr>
      <vt:lpstr>楷体_GB2312</vt:lpstr>
      <vt:lpstr>新宋体</vt:lpstr>
      <vt:lpstr>Arial Black</vt:lpstr>
      <vt:lpstr>隶书</vt:lpstr>
      <vt:lpstr>微软雅黑</vt:lpstr>
      <vt:lpstr>Arial Unicode MS</vt:lpstr>
      <vt:lpstr>Wingdings</vt:lpstr>
      <vt:lpstr>Profile</vt:lpstr>
      <vt:lpstr>Photoshop.Image.7</vt:lpstr>
      <vt:lpstr>Photoshop.Image.7</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补充知识</dc:title>
  <dc:creator>微软用户</dc:creator>
  <cp:lastModifiedBy>shr</cp:lastModifiedBy>
  <cp:revision>112</cp:revision>
  <dcterms:created xsi:type="dcterms:W3CDTF">2014-03-04T01:24:19Z</dcterms:created>
  <dcterms:modified xsi:type="dcterms:W3CDTF">2026-05-31T08:26:59Z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EAAC12882F4B4CB0B8317E1F83A8C580_12</vt:lpwstr>
  </property>
  <property fmtid="{D5CDD505-2E9C-101B-9397-08002B2CF9AE}" pid="3" name="KSOProductBuildVer">
    <vt:lpwstr>2052-12.1.0.26375</vt:lpwstr>
  </property>
</Properties>
</file>