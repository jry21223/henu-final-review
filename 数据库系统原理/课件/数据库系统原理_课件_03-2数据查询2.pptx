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91" r:id="rId3"/>
    <p:sldId id="392" r:id="rId4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66" r:id="rId15"/>
    <p:sldId id="467" r:id="rId16"/>
    <p:sldId id="482" r:id="rId17"/>
    <p:sldId id="481" r:id="rId18"/>
    <p:sldId id="402" r:id="rId19"/>
    <p:sldId id="403" r:id="rId20"/>
    <p:sldId id="404" r:id="rId21"/>
    <p:sldId id="406" r:id="rId22"/>
    <p:sldId id="407" r:id="rId23"/>
    <p:sldId id="408" r:id="rId24"/>
    <p:sldId id="468" r:id="rId25"/>
    <p:sldId id="475" r:id="rId26"/>
    <p:sldId id="476" r:id="rId27"/>
    <p:sldId id="464" r:id="rId28"/>
    <p:sldId id="477" r:id="rId29"/>
    <p:sldId id="409" r:id="rId30"/>
    <p:sldId id="410" r:id="rId31"/>
    <p:sldId id="411" r:id="rId32"/>
    <p:sldId id="412" r:id="rId33"/>
    <p:sldId id="414" r:id="rId34"/>
    <p:sldId id="415" r:id="rId35"/>
    <p:sldId id="416" r:id="rId36"/>
    <p:sldId id="417" r:id="rId37"/>
    <p:sldId id="478" r:id="rId38"/>
    <p:sldId id="418" r:id="rId39"/>
    <p:sldId id="419" r:id="rId40"/>
    <p:sldId id="420" r:id="rId41"/>
    <p:sldId id="421" r:id="rId42"/>
    <p:sldId id="422" r:id="rId43"/>
    <p:sldId id="473" r:id="rId44"/>
    <p:sldId id="423" r:id="rId45"/>
    <p:sldId id="424" r:id="rId46"/>
    <p:sldId id="479" r:id="rId47"/>
    <p:sldId id="425" r:id="rId48"/>
    <p:sldId id="426" r:id="rId49"/>
    <p:sldId id="474" r:id="rId50"/>
    <p:sldId id="469" r:id="rId51"/>
    <p:sldId id="470" r:id="rId52"/>
    <p:sldId id="428" r:id="rId53"/>
    <p:sldId id="429" r:id="rId54"/>
    <p:sldId id="430" r:id="rId55"/>
    <p:sldId id="431" r:id="rId56"/>
    <p:sldId id="471" r:id="rId57"/>
    <p:sldId id="434" r:id="rId58"/>
    <p:sldId id="435" r:id="rId59"/>
    <p:sldId id="436" r:id="rId60"/>
    <p:sldId id="437" r:id="rId61"/>
    <p:sldId id="439" r:id="rId62"/>
    <p:sldId id="440" r:id="rId63"/>
    <p:sldId id="443" r:id="rId64"/>
    <p:sldId id="480" r:id="rId65"/>
    <p:sldId id="444" r:id="rId66"/>
    <p:sldId id="445" r:id="rId67"/>
    <p:sldId id="446" r:id="rId68"/>
    <p:sldId id="447" r:id="rId69"/>
    <p:sldId id="448" r:id="rId70"/>
    <p:sldId id="449" r:id="rId71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163"/>
    <p:restoredTop sz="95081"/>
  </p:normalViewPr>
  <p:slideViewPr>
    <p:cSldViewPr showGuides="1">
      <p:cViewPr varScale="1">
        <p:scale>
          <a:sx n="85" d="100"/>
          <a:sy n="85" d="100"/>
        </p:scale>
        <p:origin x="-164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CC1D49-8AC3-46BA-AECD-D44FDE678DB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475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475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577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578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680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680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782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782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885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885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987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7987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089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090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192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192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294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294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397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397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499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499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601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602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704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704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806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806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909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909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011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011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113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114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216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216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318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318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421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421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523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523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625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626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728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728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830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830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9933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9933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3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035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035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137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138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240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240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342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342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445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45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4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547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547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649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650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5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752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752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85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854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854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0957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957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059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059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161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162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264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264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36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366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366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6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469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469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571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571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67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6739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6740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77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7763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776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7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8787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8788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98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19811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9812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08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20835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0836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</a:cxnLst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Object 1026"/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9563100" imgH="1600200" progId="">
                  <p:embed/>
                </p:oleObj>
              </mc:Choice>
              <mc:Fallback>
                <p:oleObj name="" r:id="rId2" imgW="9563100" imgH="1600200" progId="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Freeform 1027"/>
          <p:cNvSpPr/>
          <p:nvPr/>
        </p:nvSpPr>
        <p:spPr>
          <a:xfrm>
            <a:off x="-11112" y="280988"/>
            <a:ext cx="9155112" cy="1620837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78" name="Freeform 1028"/>
          <p:cNvSpPr/>
          <p:nvPr/>
        </p:nvSpPr>
        <p:spPr>
          <a:xfrm>
            <a:off x="-20637" y="533400"/>
            <a:ext cx="9161462" cy="100647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3079" name="Group 1029"/>
          <p:cNvGrpSpPr/>
          <p:nvPr/>
        </p:nvGrpSpPr>
        <p:grpSpPr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13" name="Oval 1030"/>
            <p:cNvSpPr>
              <a:spLocks noChangeArrowheads="1"/>
            </p:cNvSpPr>
            <p:nvPr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Oval 1031"/>
            <p:cNvSpPr>
              <a:spLocks noChangeArrowheads="1"/>
            </p:cNvSpPr>
            <p:nvPr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080" name="Group 1032"/>
          <p:cNvGrpSpPr/>
          <p:nvPr/>
        </p:nvGrpSpPr>
        <p:grpSpPr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6" name="Oval 1033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Oval 1034"/>
            <p:cNvSpPr>
              <a:spLocks noChangeArrowheads="1"/>
            </p:cNvSpPr>
            <p:nvPr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081" name="Group 1035"/>
          <p:cNvGrpSpPr/>
          <p:nvPr/>
        </p:nvGrpSpPr>
        <p:grpSpPr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9" name="Oval 1036"/>
            <p:cNvSpPr>
              <a:spLocks noChangeArrowheads="1"/>
            </p:cNvSpPr>
            <p:nvPr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Oval 1037"/>
            <p:cNvSpPr>
              <a:spLocks noChangeArrowheads="1"/>
            </p:cNvSpPr>
            <p:nvPr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533400"/>
            <a:ext cx="7696200" cy="4873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536700"/>
            <a:ext cx="4019550" cy="49403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05350" y="1536700"/>
            <a:ext cx="4019550" cy="23939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05350" y="4083050"/>
            <a:ext cx="4019550" cy="23939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2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4191000" y="6534150"/>
            <a:ext cx="838200" cy="26193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p>
            <a:pPr algn="ct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2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381000" y="6534150"/>
            <a:ext cx="1905000" cy="261938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3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1500" y="214313"/>
            <a:ext cx="8001000" cy="73501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566738" y="1143000"/>
            <a:ext cx="80010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571500" y="1000125"/>
            <a:ext cx="7958138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0" y="0"/>
              </a:cxn>
              <a:cxn ang="0">
                <a:pos x="2147483647" y="0"/>
              </a:cxn>
            </a:cxnLst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48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</a:fld>
            <a:endParaRPr lang="en-US" altLang="zh-CN" dirty="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advClick="0"/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标题 4"/>
          <p:cNvSpPr>
            <a:spLocks noGrp="1"/>
          </p:cNvSpPr>
          <p:nvPr>
            <p:ph type="title"/>
          </p:nvPr>
        </p:nvSpPr>
        <p:spPr>
          <a:xfrm>
            <a:off x="2286000" y="2643188"/>
            <a:ext cx="4175125" cy="995362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 sz="6000" dirty="0"/>
              <a:t>嵌套查询</a:t>
            </a:r>
            <a:endParaRPr lang="zh-CN" altLang="en-US" sz="6000" dirty="0"/>
          </a:p>
        </p:txBody>
      </p:sp>
      <p:sp>
        <p:nvSpPr>
          <p:cNvPr id="4099" name="页脚占位符 3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3.4  </a:t>
            </a:r>
            <a:r>
              <a:rPr lang="zh-CN" altLang="en-US" dirty="0"/>
              <a:t>数据查询 </a:t>
            </a:r>
            <a:endParaRPr lang="zh-CN" altLang="en-US" dirty="0"/>
          </a:p>
        </p:txBody>
      </p:sp>
      <p:sp>
        <p:nvSpPr>
          <p:cNvPr id="5124" name="Rectangle 3"/>
          <p:cNvSpPr>
            <a:spLocks noGrp="1"/>
          </p:cNvSpPr>
          <p:nvPr>
            <p:ph idx="1"/>
          </p:nvPr>
        </p:nvSpPr>
        <p:spPr>
          <a:xfrm>
            <a:off x="1116013" y="1268413"/>
            <a:ext cx="6170612" cy="4548187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60000"/>
              </a:lnSpc>
            </a:pPr>
            <a:r>
              <a:rPr lang="en-US" altLang="zh-CN" b="1" dirty="0"/>
              <a:t>3.4.1 </a:t>
            </a:r>
            <a:r>
              <a:rPr lang="zh-CN" altLang="en-US" b="1" dirty="0"/>
              <a:t>单表查询</a:t>
            </a:r>
            <a:endParaRPr lang="zh-CN" altLang="en-US" b="1" dirty="0"/>
          </a:p>
          <a:p>
            <a:pPr algn="just" eaLnBrk="1" hangingPunct="1">
              <a:lnSpc>
                <a:spcPct val="160000"/>
              </a:lnSpc>
            </a:pPr>
            <a:r>
              <a:rPr lang="en-US" altLang="zh-CN" b="1" dirty="0"/>
              <a:t>3.4.2 </a:t>
            </a:r>
            <a:r>
              <a:rPr lang="zh-CN" altLang="en-US" b="1" dirty="0"/>
              <a:t>连接查询</a:t>
            </a:r>
            <a:endParaRPr lang="zh-CN" altLang="en-US" b="1" dirty="0"/>
          </a:p>
          <a:p>
            <a:pPr algn="just" eaLnBrk="1" hangingPunct="1">
              <a:lnSpc>
                <a:spcPct val="160000"/>
              </a:lnSpc>
            </a:pPr>
            <a:r>
              <a:rPr lang="en-US" altLang="zh-CN" b="1" dirty="0">
                <a:solidFill>
                  <a:srgbClr val="3333FF"/>
                </a:solidFill>
              </a:rPr>
              <a:t>3.4.3 </a:t>
            </a:r>
            <a:r>
              <a:rPr lang="zh-CN" altLang="en-US" b="1" dirty="0">
                <a:solidFill>
                  <a:srgbClr val="3333FF"/>
                </a:solidFill>
              </a:rPr>
              <a:t>嵌套查询</a:t>
            </a:r>
            <a:endParaRPr lang="zh-CN" altLang="en-US" b="1" dirty="0">
              <a:solidFill>
                <a:srgbClr val="3333FF"/>
              </a:solidFill>
            </a:endParaRPr>
          </a:p>
          <a:p>
            <a:pPr algn="just" eaLnBrk="1" hangingPunct="1">
              <a:lnSpc>
                <a:spcPct val="160000"/>
              </a:lnSpc>
            </a:pPr>
            <a:r>
              <a:rPr lang="en-US" altLang="zh-CN" b="1" dirty="0"/>
              <a:t>3.4.4 </a:t>
            </a:r>
            <a:r>
              <a:rPr lang="zh-CN" altLang="en-US" b="1" dirty="0"/>
              <a:t>集合查询</a:t>
            </a:r>
            <a:endParaRPr lang="zh-CN" altLang="en-US" b="1" dirty="0"/>
          </a:p>
          <a:p>
            <a:pPr algn="just" eaLnBrk="1" hangingPunct="1">
              <a:lnSpc>
                <a:spcPct val="160000"/>
              </a:lnSpc>
            </a:pPr>
            <a:r>
              <a:rPr lang="en-US" altLang="zh-CN" b="1" dirty="0"/>
              <a:t>3.4.5 Select</a:t>
            </a:r>
            <a:r>
              <a:rPr lang="zh-CN" altLang="en-US" b="1" dirty="0"/>
              <a:t>语句的一般形式</a:t>
            </a:r>
            <a:r>
              <a:rPr lang="zh-CN" altLang="en-US" dirty="0"/>
              <a:t> </a:t>
            </a:r>
            <a:endParaRPr lang="zh-CN" altLang="en-US" dirty="0"/>
          </a:p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614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嵌套查询</a:t>
            </a:r>
            <a:endParaRPr lang="zh-CN" altLang="en-US" dirty="0"/>
          </a:p>
        </p:txBody>
      </p:sp>
      <p:sp>
        <p:nvSpPr>
          <p:cNvPr id="6148" name="Rectangle 3"/>
          <p:cNvSpPr>
            <a:spLocks noGrp="1"/>
          </p:cNvSpPr>
          <p:nvPr>
            <p:ph idx="1"/>
          </p:nvPr>
        </p:nvSpPr>
        <p:spPr>
          <a:xfrm>
            <a:off x="684213" y="1268413"/>
            <a:ext cx="7772400" cy="201612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嵌套查询概述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  <a:spcAft>
                <a:spcPct val="40000"/>
              </a:spcAft>
            </a:pPr>
            <a:r>
              <a:rPr lang="zh-CN" altLang="en-US" sz="2000" dirty="0"/>
              <a:t>一个</a:t>
            </a:r>
            <a:r>
              <a:rPr lang="en-US" altLang="zh-CN" sz="2000" dirty="0"/>
              <a:t>SELECT-FROM-WHERE</a:t>
            </a:r>
            <a:r>
              <a:rPr lang="zh-CN" altLang="en-US" sz="2000" dirty="0"/>
              <a:t>语句称为一个</a:t>
            </a:r>
            <a:r>
              <a:rPr lang="zh-CN" altLang="en-US" sz="2000" b="1" dirty="0">
                <a:solidFill>
                  <a:srgbClr val="FF00FF"/>
                </a:solidFill>
              </a:rPr>
              <a:t>查询块</a:t>
            </a:r>
            <a:endParaRPr lang="zh-CN" altLang="en-US" sz="2000" b="1" dirty="0">
              <a:solidFill>
                <a:srgbClr val="FF00FF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/>
              <a:t>将一个查询块嵌套在另一个查询块的</a:t>
            </a:r>
            <a:r>
              <a:rPr lang="en-US" altLang="zh-CN" sz="2000" b="1" dirty="0">
                <a:solidFill>
                  <a:srgbClr val="FF0000"/>
                </a:solidFill>
              </a:rPr>
              <a:t>WHERE</a:t>
            </a:r>
            <a:r>
              <a:rPr lang="zh-CN" altLang="en-US" sz="2000" b="1" dirty="0">
                <a:solidFill>
                  <a:srgbClr val="FF0000"/>
                </a:solidFill>
              </a:rPr>
              <a:t>子句或</a:t>
            </a:r>
            <a:r>
              <a:rPr lang="en-US" altLang="zh-CN" sz="2000" b="1" dirty="0">
                <a:solidFill>
                  <a:srgbClr val="FF0000"/>
                </a:solidFill>
              </a:rPr>
              <a:t>HAVING</a:t>
            </a:r>
            <a:r>
              <a:rPr lang="zh-CN" altLang="en-US" sz="2000" b="1" dirty="0">
                <a:solidFill>
                  <a:srgbClr val="FF0000"/>
                </a:solidFill>
              </a:rPr>
              <a:t>短语</a:t>
            </a:r>
            <a:r>
              <a:rPr lang="zh-CN" altLang="en-US" sz="2000" dirty="0"/>
              <a:t>的条件中的查询称为</a:t>
            </a:r>
            <a:r>
              <a:rPr lang="zh-CN" altLang="en-US" sz="2000" b="1" dirty="0">
                <a:solidFill>
                  <a:srgbClr val="FF00FF"/>
                </a:solidFill>
              </a:rPr>
              <a:t>嵌套查询</a:t>
            </a:r>
            <a:r>
              <a:rPr lang="zh-CN" altLang="en-US" sz="2000" dirty="0"/>
              <a:t>      </a:t>
            </a:r>
            <a:endParaRPr lang="zh-CN" altLang="en-US" sz="2000" dirty="0"/>
          </a:p>
        </p:txBody>
      </p:sp>
      <p:sp>
        <p:nvSpPr>
          <p:cNvPr id="647172" name="Rectangle 4"/>
          <p:cNvSpPr/>
          <p:nvPr/>
        </p:nvSpPr>
        <p:spPr>
          <a:xfrm>
            <a:off x="457200" y="3429000"/>
            <a:ext cx="8229600" cy="24653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r>
              <a:rPr lang="en-US" altLang="zh-CN" sz="2000" dirty="0">
                <a:latin typeface="Arial" panose="020B0604020202020204" pitchFamily="34" charset="0"/>
              </a:rPr>
              <a:t>  </a:t>
            </a:r>
            <a:r>
              <a:rPr lang="en-US" altLang="zh-CN" sz="2000" dirty="0">
                <a:latin typeface="Verdana" panose="020B0604030504040204" pitchFamily="34" charset="0"/>
              </a:rPr>
              <a:t>SELECT Sname </a:t>
            </a:r>
            <a:r>
              <a:rPr lang="en-US" altLang="zh-CN" sz="1600" dirty="0">
                <a:latin typeface="Verdana" panose="020B0604030504040204" pitchFamily="34" charset="0"/>
              </a:rPr>
              <a:t>/*</a:t>
            </a:r>
            <a:r>
              <a:rPr lang="zh-CN" altLang="en-US" sz="1600" dirty="0">
                <a:latin typeface="Verdana" panose="020B0604030504040204" pitchFamily="34" charset="0"/>
              </a:rPr>
              <a:t>外层查询</a:t>
            </a:r>
            <a:r>
              <a:rPr lang="en-US" altLang="zh-CN" sz="1600" dirty="0">
                <a:latin typeface="Verdana" panose="020B0604030504040204" pitchFamily="34" charset="0"/>
              </a:rPr>
              <a:t>/</a:t>
            </a:r>
            <a:r>
              <a:rPr lang="zh-CN" altLang="en-US" sz="1600" dirty="0">
                <a:latin typeface="Verdana" panose="020B0604030504040204" pitchFamily="34" charset="0"/>
              </a:rPr>
              <a:t>父查询 </a:t>
            </a:r>
            <a:r>
              <a:rPr lang="zh-CN" altLang="en-US" sz="2000" b="1" dirty="0">
                <a:solidFill>
                  <a:srgbClr val="0000FF"/>
                </a:solidFill>
                <a:latin typeface="Verdana" panose="020B0604030504040204" pitchFamily="34" charset="0"/>
              </a:rPr>
              <a:t>注意</a:t>
            </a:r>
            <a:r>
              <a:rPr lang="zh-CN" altLang="en-US" sz="1600" dirty="0">
                <a:latin typeface="Verdana" panose="020B0604030504040204" pitchFamily="34" charset="0"/>
              </a:rPr>
              <a:t>：这里不能写</a:t>
            </a:r>
            <a:r>
              <a:rPr lang="en-US" altLang="zh-CN" sz="1600" dirty="0">
                <a:latin typeface="Verdana" panose="020B0604030504040204" pitchFamily="34" charset="0"/>
              </a:rPr>
              <a:t>sc.cno</a:t>
            </a:r>
            <a:r>
              <a:rPr lang="zh-CN" altLang="en-US" sz="1600" dirty="0">
                <a:latin typeface="Verdana" panose="020B0604030504040204" pitchFamily="34" charset="0"/>
              </a:rPr>
              <a:t>或</a:t>
            </a:r>
            <a:r>
              <a:rPr lang="en-US" altLang="zh-CN" sz="1600" dirty="0">
                <a:latin typeface="Verdana" panose="020B0604030504040204" pitchFamily="34" charset="0"/>
              </a:rPr>
              <a:t>sc.grade</a:t>
            </a:r>
            <a:r>
              <a:rPr lang="zh-CN" altLang="en-US" sz="1600" dirty="0">
                <a:latin typeface="Verdana" panose="020B0604030504040204" pitchFamily="34" charset="0"/>
              </a:rPr>
              <a:t>*</a:t>
            </a:r>
            <a:r>
              <a:rPr lang="en-US" altLang="zh-CN" sz="1600" dirty="0">
                <a:latin typeface="Verdana" panose="020B0604030504040204" pitchFamily="34" charset="0"/>
              </a:rPr>
              <a:t>/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r>
              <a:rPr lang="en-US" altLang="zh-CN" sz="2000" dirty="0">
                <a:latin typeface="Verdana" panose="020B0604030504040204" pitchFamily="34" charset="0"/>
              </a:rPr>
              <a:t>     FROM Student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r>
              <a:rPr lang="en-US" altLang="zh-CN" sz="2000" dirty="0">
                <a:latin typeface="Verdana" panose="020B0604030504040204" pitchFamily="34" charset="0"/>
              </a:rPr>
              <a:t>     WHERE Sno IN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r>
              <a:rPr lang="en-US" altLang="zh-CN" sz="2000" dirty="0">
                <a:latin typeface="Verdana" panose="020B0604030504040204" pitchFamily="34" charset="0"/>
              </a:rPr>
              <a:t>           (SELECT Sno       /*</a:t>
            </a:r>
            <a:r>
              <a:rPr lang="zh-CN" altLang="en-US" sz="2000" dirty="0">
                <a:latin typeface="Verdana" panose="020B0604030504040204" pitchFamily="34" charset="0"/>
              </a:rPr>
              <a:t>内层查询</a:t>
            </a:r>
            <a:r>
              <a:rPr lang="en-US" altLang="zh-CN" sz="2000" dirty="0">
                <a:latin typeface="Verdana" panose="020B0604030504040204" pitchFamily="34" charset="0"/>
              </a:rPr>
              <a:t>/</a:t>
            </a:r>
            <a:r>
              <a:rPr lang="zh-CN" altLang="en-US" sz="2000" dirty="0">
                <a:latin typeface="Verdana" panose="020B0604030504040204" pitchFamily="34" charset="0"/>
              </a:rPr>
              <a:t>子查询*</a:t>
            </a:r>
            <a:r>
              <a:rPr lang="en-US" altLang="zh-CN" sz="2000" dirty="0">
                <a:latin typeface="Verdana" panose="020B0604030504040204" pitchFamily="34" charset="0"/>
              </a:rPr>
              <a:t>/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r>
              <a:rPr lang="en-US" altLang="zh-CN" sz="2000" dirty="0">
                <a:latin typeface="Verdana" panose="020B0604030504040204" pitchFamily="34" charset="0"/>
              </a:rPr>
              <a:t>             FROM SC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r>
              <a:rPr lang="en-US" altLang="zh-CN" sz="2000" dirty="0">
                <a:latin typeface="Verdana" panose="020B0604030504040204" pitchFamily="34" charset="0"/>
              </a:rPr>
              <a:t>             WHERE Cno= '2')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Verdana" panose="020B0604030504040204" pitchFamily="34" charset="0"/>
              </a:rPr>
              <a:t>外层查询的结果列只能是外层表里面的列，不能取内层查询表里面的列名。</a:t>
            </a:r>
            <a:endParaRPr lang="en-US" altLang="zh-CN" sz="2000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endParaRPr lang="en-US" altLang="zh-CN" sz="20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7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嵌套查询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323850" y="1143000"/>
            <a:ext cx="8424863" cy="4876800"/>
          </a:xfrm>
          <a:ln/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18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子查询</a:t>
            </a:r>
            <a:r>
              <a:rPr lang="zh-CN" altLang="en-US" b="1" dirty="0"/>
              <a:t>的限制</a:t>
            </a:r>
            <a:endParaRPr lang="zh-CN" altLang="en-US" b="1" dirty="0"/>
          </a:p>
          <a:p>
            <a:pPr lvl="2"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400" b="1" dirty="0"/>
              <a:t>SQL</a:t>
            </a:r>
            <a:r>
              <a:rPr lang="zh-CN" altLang="en-US" sz="2400" b="1" dirty="0"/>
              <a:t>标准中规定：子查询中不能使用</a:t>
            </a:r>
            <a:r>
              <a:rPr lang="en-US" altLang="zh-CN" sz="2400" b="1" dirty="0"/>
              <a:t>ORDER BY</a:t>
            </a:r>
            <a:r>
              <a:rPr lang="zh-CN" altLang="en-US" sz="2400" b="1" dirty="0"/>
              <a:t>子句</a:t>
            </a:r>
            <a:endParaRPr lang="en-US" altLang="zh-CN" sz="2400" b="1" dirty="0"/>
          </a:p>
          <a:p>
            <a:pPr lvl="2" eaLnBrk="1" hangingPunct="1">
              <a:lnSpc>
                <a:spcPct val="11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/>
              <a:t>注意：</a:t>
            </a:r>
            <a:r>
              <a:rPr lang="en-US" altLang="zh-CN" sz="2400" b="1" dirty="0"/>
              <a:t>MySQL</a:t>
            </a:r>
            <a:r>
              <a:rPr lang="zh-CN" altLang="en-US" sz="2400" b="1" dirty="0"/>
              <a:t>中可以，但一般不使用</a:t>
            </a:r>
            <a:endParaRPr lang="en-US" altLang="zh-CN" sz="2400" b="1" dirty="0"/>
          </a:p>
          <a:p>
            <a:pPr lvl="1" eaLnBrk="1" hangingPunct="1">
              <a:lnSpc>
                <a:spcPct val="180000"/>
              </a:lnSpc>
            </a:pPr>
            <a:r>
              <a:rPr lang="zh-CN" altLang="en-US" b="1" dirty="0"/>
              <a:t>父查询中可以使用</a:t>
            </a:r>
            <a:r>
              <a:rPr lang="en-US" altLang="zh-CN" b="1" dirty="0"/>
              <a:t>order by</a:t>
            </a:r>
            <a:endParaRPr lang="en-US" altLang="zh-CN" dirty="0"/>
          </a:p>
          <a:p>
            <a:pPr lvl="1" eaLnBrk="1" hangingPunct="1">
              <a:lnSpc>
                <a:spcPct val="180000"/>
              </a:lnSpc>
            </a:pPr>
            <a:r>
              <a:rPr lang="zh-CN" altLang="en-US" dirty="0"/>
              <a:t>层层嵌套方式反映了 </a:t>
            </a:r>
            <a:r>
              <a:rPr lang="en-US" altLang="zh-CN" dirty="0"/>
              <a:t>SQL</a:t>
            </a:r>
            <a:r>
              <a:rPr lang="zh-CN" altLang="en-US" dirty="0"/>
              <a:t>语言的结构化</a:t>
            </a:r>
            <a:endParaRPr lang="zh-CN" altLang="en-US" dirty="0"/>
          </a:p>
          <a:p>
            <a:pPr lvl="1" eaLnBrk="1" hangingPunct="1">
              <a:lnSpc>
                <a:spcPct val="18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有些嵌套查询</a:t>
            </a:r>
            <a:r>
              <a:rPr lang="zh-CN" altLang="en-US" dirty="0"/>
              <a:t>可以用</a:t>
            </a:r>
            <a:r>
              <a:rPr lang="zh-CN" altLang="en-US" dirty="0">
                <a:solidFill>
                  <a:srgbClr val="FF0000"/>
                </a:solidFill>
              </a:rPr>
              <a:t>连接运算替代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嵌套查询求解方法</a:t>
            </a:r>
            <a:endParaRPr lang="zh-CN" altLang="en-US" dirty="0"/>
          </a:p>
        </p:txBody>
      </p:sp>
      <p:sp>
        <p:nvSpPr>
          <p:cNvPr id="651267" name="Rectangle 3"/>
          <p:cNvSpPr>
            <a:spLocks noGrp="1"/>
          </p:cNvSpPr>
          <p:nvPr>
            <p:ph idx="1"/>
          </p:nvPr>
        </p:nvSpPr>
        <p:spPr>
          <a:xfrm>
            <a:off x="500063" y="1143000"/>
            <a:ext cx="8358187" cy="201612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</a:pPr>
            <a:r>
              <a:rPr lang="zh-CN" altLang="en-US" sz="2800" b="1" dirty="0"/>
              <a:t>不相关子查询：</a:t>
            </a:r>
            <a:endParaRPr lang="zh-CN" altLang="en-US" sz="2800" b="1" dirty="0"/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>
                <a:solidFill>
                  <a:srgbClr val="0000FF"/>
                </a:solidFill>
              </a:rPr>
              <a:t>子查询的查询条件不依赖于父查询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10000"/>
              </a:lnSpc>
            </a:pPr>
            <a:r>
              <a:rPr lang="zh-CN" altLang="en-US" sz="2400" dirty="0"/>
              <a:t>由里向外 逐层处理。即每个子查询在上一级查询处理之前求解，子查询的结果用于建立其父查询的查找条件。</a:t>
            </a:r>
            <a:endParaRPr lang="zh-CN" altLang="en-US" sz="2000" dirty="0"/>
          </a:p>
        </p:txBody>
      </p:sp>
      <p:sp>
        <p:nvSpPr>
          <p:cNvPr id="651268" name="Rectangle 4"/>
          <p:cNvSpPr/>
          <p:nvPr/>
        </p:nvSpPr>
        <p:spPr>
          <a:xfrm>
            <a:off x="457200" y="3429000"/>
            <a:ext cx="8229600" cy="2752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Arial" panose="020B0604020202020204" pitchFamily="34" charset="0"/>
              </a:rPr>
              <a:t>相关子查询：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子查询的查询条件依赖于父查询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zh-CN" altLang="en-US" sz="2000" dirty="0">
                <a:latin typeface="Arial" panose="020B0604020202020204" pitchFamily="34" charset="0"/>
              </a:rPr>
              <a:t>首先取外层查询中表的第一个元组，根据它与内层查询相关的属性值处理内层查询，若</a:t>
            </a:r>
            <a:r>
              <a:rPr lang="en-US" altLang="zh-CN" sz="2000" dirty="0">
                <a:latin typeface="Arial" panose="020B0604020202020204" pitchFamily="34" charset="0"/>
              </a:rPr>
              <a:t>WHERE</a:t>
            </a:r>
            <a:r>
              <a:rPr lang="zh-CN" altLang="en-US" sz="2000" dirty="0">
                <a:latin typeface="Arial" panose="020B0604020202020204" pitchFamily="34" charset="0"/>
              </a:rPr>
              <a:t>子句返回值为真，则取此元组放入结果表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zh-CN" altLang="en-US" sz="2000" dirty="0">
                <a:latin typeface="Arial" panose="020B0604020202020204" pitchFamily="34" charset="0"/>
              </a:rPr>
              <a:t>然后再取外层表的下一个元组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12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zh-CN" altLang="en-US" sz="2000" dirty="0">
                <a:latin typeface="Arial" panose="020B0604020202020204" pitchFamily="34" charset="0"/>
              </a:rPr>
              <a:t>重复这一过程，直至外层表全部检查完为止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charRg st="8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>
                                            <p:txEl>
                                              <p:charRg st="24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267" grpId="0" build="p"/>
      <p:bldP spid="6512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3.4.3  </a:t>
            </a:r>
            <a:r>
              <a:rPr lang="zh-CN" altLang="en-US" dirty="0"/>
              <a:t>嵌套查询</a:t>
            </a:r>
            <a:endParaRPr lang="zh-CN" altLang="en-US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en-US" altLang="zh-CN" dirty="0"/>
              <a:t>  </a:t>
            </a:r>
            <a:r>
              <a:rPr lang="zh-CN" altLang="en-US" dirty="0">
                <a:solidFill>
                  <a:srgbClr val="FF0000"/>
                </a:solidFill>
              </a:rPr>
              <a:t>一、带有</a:t>
            </a:r>
            <a:r>
              <a:rPr lang="en-US" altLang="zh-CN" dirty="0">
                <a:solidFill>
                  <a:srgbClr val="FF0000"/>
                </a:solidFill>
              </a:rPr>
              <a:t>IN</a:t>
            </a:r>
            <a:r>
              <a:rPr lang="zh-CN" altLang="en-US" dirty="0">
                <a:solidFill>
                  <a:srgbClr val="FF0000"/>
                </a:solidFill>
              </a:rPr>
              <a:t>谓词的子查询 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二、带有比较运算符的子查询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三、带有</a:t>
            </a:r>
            <a:r>
              <a:rPr lang="en-US" altLang="zh-CN" dirty="0"/>
              <a:t>ANY</a:t>
            </a:r>
            <a:r>
              <a:rPr lang="zh-CN" altLang="en-US" dirty="0"/>
              <a:t>（</a:t>
            </a:r>
            <a:r>
              <a:rPr lang="en-US" altLang="zh-CN" dirty="0"/>
              <a:t>SOME</a:t>
            </a:r>
            <a:r>
              <a:rPr lang="zh-CN" altLang="en-US" dirty="0"/>
              <a:t>）或</a:t>
            </a:r>
            <a:r>
              <a:rPr lang="en-US" altLang="zh-CN" dirty="0"/>
              <a:t>ALL</a:t>
            </a:r>
            <a:r>
              <a:rPr lang="zh-CN" altLang="en-US" dirty="0"/>
              <a:t>谓词的子查询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四、带有</a:t>
            </a:r>
            <a:r>
              <a:rPr lang="en-US" altLang="zh-CN" dirty="0"/>
              <a:t>EXISTS</a:t>
            </a:r>
            <a:r>
              <a:rPr lang="zh-CN" altLang="en-US" dirty="0"/>
              <a:t>谓词的子查询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一、带有</a:t>
            </a:r>
            <a:r>
              <a:rPr lang="en-US" altLang="zh-CN" dirty="0"/>
              <a:t>IN</a:t>
            </a:r>
            <a:r>
              <a:rPr lang="zh-CN" altLang="en-US" dirty="0"/>
              <a:t>谓词的子查询</a:t>
            </a:r>
            <a:endParaRPr lang="zh-CN" altLang="en-US" dirty="0"/>
          </a:p>
        </p:txBody>
      </p:sp>
      <p:sp>
        <p:nvSpPr>
          <p:cNvPr id="655363" name="Rectangle 3"/>
          <p:cNvSpPr>
            <a:spLocks noGrp="1"/>
          </p:cNvSpPr>
          <p:nvPr>
            <p:ph idx="1"/>
          </p:nvPr>
        </p:nvSpPr>
        <p:spPr>
          <a:xfrm>
            <a:off x="539750" y="1757363"/>
            <a:ext cx="8229600" cy="2463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dirty="0"/>
              <a:t>此查询要求可以分步来完成</a:t>
            </a:r>
            <a:endParaRPr lang="zh-CN" altLang="en-US" sz="2400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2000" dirty="0"/>
              <a:t>① 确定“刘晨”所在系名             </a:t>
            </a:r>
            <a:endParaRPr lang="zh-CN" altLang="en-US" sz="2000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2000" dirty="0"/>
              <a:t>     </a:t>
            </a:r>
            <a:r>
              <a:rPr lang="en-US" altLang="zh-CN" sz="1800" dirty="0"/>
              <a:t>SELECT  Sdept  </a:t>
            </a:r>
            <a:endParaRPr lang="en-US" altLang="zh-CN" sz="1800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1800" dirty="0"/>
              <a:t>      FROM     Student                            </a:t>
            </a:r>
            <a:endParaRPr lang="en-US" altLang="zh-CN" sz="1800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1800" dirty="0"/>
              <a:t>      WHERE  Sname= ' </a:t>
            </a:r>
            <a:r>
              <a:rPr lang="zh-CN" altLang="en-US" sz="1800" dirty="0"/>
              <a:t>刘晨 </a:t>
            </a:r>
            <a:r>
              <a:rPr lang="en-US" altLang="zh-CN" sz="1800" dirty="0"/>
              <a:t>'</a:t>
            </a:r>
            <a:r>
              <a:rPr lang="zh-CN" altLang="en-US" sz="1800" dirty="0"/>
              <a:t>；</a:t>
            </a:r>
            <a:endParaRPr lang="zh-CN" altLang="en-US" sz="1800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1800" dirty="0"/>
              <a:t>      </a:t>
            </a:r>
            <a:r>
              <a:rPr lang="zh-CN" altLang="en-US" sz="1800" dirty="0">
                <a:solidFill>
                  <a:srgbClr val="FF3300"/>
                </a:solidFill>
              </a:rPr>
              <a:t>结果为： </a:t>
            </a:r>
            <a:r>
              <a:rPr lang="en-US" altLang="zh-CN" sz="1800" dirty="0">
                <a:solidFill>
                  <a:srgbClr val="FF3300"/>
                </a:solidFill>
              </a:rPr>
              <a:t>CS</a:t>
            </a:r>
            <a:endParaRPr lang="en-US" altLang="zh-CN" sz="1800" dirty="0">
              <a:solidFill>
                <a:srgbClr val="FF3300"/>
              </a:solidFill>
            </a:endParaRPr>
          </a:p>
        </p:txBody>
      </p:sp>
      <p:sp>
        <p:nvSpPr>
          <p:cNvPr id="655364" name="Rectangle 4"/>
          <p:cNvSpPr/>
          <p:nvPr/>
        </p:nvSpPr>
        <p:spPr>
          <a:xfrm>
            <a:off x="900113" y="4221163"/>
            <a:ext cx="6562725" cy="203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② </a:t>
            </a:r>
            <a:r>
              <a:rPr lang="zh-CN" altLang="en-US" sz="2000" dirty="0">
                <a:latin typeface="Arial" panose="020B0604020202020204" pitchFamily="34" charset="0"/>
              </a:rPr>
              <a:t>查找所有在</a:t>
            </a:r>
            <a:r>
              <a:rPr lang="en-US" altLang="zh-CN" sz="2000" dirty="0">
                <a:latin typeface="Arial" panose="020B0604020202020204" pitchFamily="34" charset="0"/>
              </a:rPr>
              <a:t>CS</a:t>
            </a:r>
            <a:r>
              <a:rPr lang="zh-CN" altLang="en-US" sz="2000" dirty="0">
                <a:latin typeface="Arial" panose="020B0604020202020204" pitchFamily="34" charset="0"/>
              </a:rPr>
              <a:t>系学习的学生。    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sz="2000" dirty="0">
                <a:latin typeface="Arial" panose="020B0604020202020204" pitchFamily="34" charset="0"/>
              </a:rPr>
              <a:t>        </a:t>
            </a:r>
            <a:r>
              <a:rPr lang="en-US" altLang="zh-CN" sz="2000" dirty="0">
                <a:latin typeface="Arial" panose="020B0604020202020204" pitchFamily="34" charset="0"/>
              </a:rPr>
              <a:t>SELECT   Sno,Sname,Sdept    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        FROM      Student                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        WHERE  Sdept= ' CS '</a:t>
            </a:r>
            <a:r>
              <a:rPr lang="zh-CN" altLang="en-US" sz="2000" dirty="0">
                <a:latin typeface="Arial" panose="020B0604020202020204" pitchFamily="34" charset="0"/>
              </a:rPr>
              <a:t>； 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FF3300"/>
                </a:solidFill>
                <a:latin typeface="Arial" panose="020B0604020202020204" pitchFamily="34" charset="0"/>
              </a:rPr>
              <a:t>       </a:t>
            </a:r>
            <a:endParaRPr lang="zh-CN" altLang="en-US" dirty="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10246" name="Rectangle 28"/>
          <p:cNvSpPr/>
          <p:nvPr/>
        </p:nvSpPr>
        <p:spPr>
          <a:xfrm>
            <a:off x="611188" y="1196975"/>
            <a:ext cx="7848600" cy="493713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Verdana" panose="020B0604030504040204" pitchFamily="34" charset="0"/>
              </a:rPr>
              <a:t>[</a:t>
            </a:r>
            <a:r>
              <a:rPr lang="zh-CN" altLang="en-US" sz="2400" dirty="0">
                <a:latin typeface="Verdana" panose="020B0604030504040204" pitchFamily="34" charset="0"/>
              </a:rPr>
              <a:t>例</a:t>
            </a:r>
            <a:r>
              <a:rPr lang="en-US" altLang="zh-CN" sz="2400" dirty="0">
                <a:latin typeface="Verdana" panose="020B0604030504040204" pitchFamily="34" charset="0"/>
              </a:rPr>
              <a:t>39]  </a:t>
            </a:r>
            <a:r>
              <a:rPr lang="zh-CN" altLang="en-US" sz="2400" dirty="0">
                <a:latin typeface="Verdana" panose="020B0604030504040204" pitchFamily="34" charset="0"/>
              </a:rPr>
              <a:t>查询与“刘晨”在同一个系学习的学生。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charRg st="13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charRg st="39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charRg st="60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charRg st="111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charRg st="139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3" grpId="0" build="p"/>
      <p:bldP spid="6553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带有</a:t>
            </a:r>
            <a:r>
              <a:rPr lang="en-US" altLang="zh-CN" dirty="0"/>
              <a:t>IN</a:t>
            </a:r>
            <a:r>
              <a:rPr lang="zh-CN" altLang="en-US" dirty="0"/>
              <a:t>谓词的子查询（续）</a:t>
            </a:r>
            <a:endParaRPr lang="zh-CN" altLang="en-US" dirty="0"/>
          </a:p>
        </p:txBody>
      </p:sp>
      <p:sp>
        <p:nvSpPr>
          <p:cNvPr id="81924" name="Rectangle 3"/>
          <p:cNvSpPr>
            <a:spLocks noGrp="1"/>
          </p:cNvSpPr>
          <p:nvPr>
            <p:ph idx="1"/>
          </p:nvPr>
        </p:nvSpPr>
        <p:spPr>
          <a:xfrm>
            <a:off x="500063" y="1143000"/>
            <a:ext cx="8229600" cy="40719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/>
              <a:t>将第一步查询嵌入到第二步查询的条件中</a:t>
            </a:r>
            <a:endParaRPr lang="zh-CN" altLang="en-US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SELECT Sno,Sname,Sdept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	FROM Student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	WHERE Sdept </a:t>
            </a:r>
            <a:r>
              <a:rPr lang="en-US" altLang="zh-CN" sz="2400" dirty="0">
                <a:solidFill>
                  <a:srgbClr val="FF3300"/>
                </a:solidFill>
              </a:rPr>
              <a:t> IN</a:t>
            </a:r>
            <a:endParaRPr lang="en-US" altLang="zh-CN" sz="2400" dirty="0">
              <a:solidFill>
                <a:srgbClr val="FF33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     (SELECT Sdept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      FROM Student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      WHERE Sname= '</a:t>
            </a:r>
            <a:r>
              <a:rPr lang="zh-CN" altLang="en-US" sz="2400" dirty="0"/>
              <a:t>刘晨</a:t>
            </a:r>
            <a:r>
              <a:rPr lang="en-US" altLang="zh-CN" sz="2400" dirty="0"/>
              <a:t>')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/>
              <a:t>思考</a:t>
            </a:r>
            <a:r>
              <a:rPr lang="en-US" altLang="zh-CN" sz="2400" dirty="0"/>
              <a:t>1</a:t>
            </a:r>
            <a:r>
              <a:rPr lang="zh-CN" altLang="en-US" sz="2400" dirty="0"/>
              <a:t>：如果想排除刘晨本人，如何处理？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/>
              <a:t>思考</a:t>
            </a:r>
            <a:r>
              <a:rPr lang="en-US" altLang="zh-CN" sz="2400" dirty="0"/>
              <a:t>2</a:t>
            </a:r>
            <a:r>
              <a:rPr lang="zh-CN" altLang="en-US" sz="2400" dirty="0"/>
              <a:t>：如果有两个学生都叫刘晨，而且属于不同的系，查询结果会如何？</a:t>
            </a:r>
            <a:endParaRPr lang="zh-CN" altLang="en-US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sz="2400" dirty="0"/>
              <a:t>    </a:t>
            </a:r>
            <a:endParaRPr lang="zh-CN" altLang="en-US" sz="2400" dirty="0"/>
          </a:p>
        </p:txBody>
      </p:sp>
      <p:sp>
        <p:nvSpPr>
          <p:cNvPr id="11269" name="AutoShape 4">
            <a:hlinkClick r:id="" action="ppaction://hlinkshowjump?jump=nextslide"/>
          </p:cNvPr>
          <p:cNvSpPr/>
          <p:nvPr/>
        </p:nvSpPr>
        <p:spPr>
          <a:xfrm>
            <a:off x="8153400" y="6248400"/>
            <a:ext cx="304800" cy="304800"/>
          </a:xfrm>
          <a:prstGeom prst="actionButtonForwardNext">
            <a:avLst/>
          </a:prstGeom>
          <a:noFill/>
          <a:ln w="28575">
            <a:noFill/>
          </a:ln>
        </p:spPr>
        <p:txBody>
          <a:bodyPr wrap="none" lIns="90000" tIns="46800" rIns="90000" bIns="46800" anchor="ctr" anchorCtr="0"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11270" name="Text Box 5"/>
          <p:cNvSpPr txBox="1"/>
          <p:nvPr/>
        </p:nvSpPr>
        <p:spPr>
          <a:xfrm>
            <a:off x="7605713" y="6172200"/>
            <a:ext cx="180975" cy="457200"/>
          </a:xfrm>
          <a:prstGeom prst="rect">
            <a:avLst/>
          </a:prstGeom>
          <a:noFill/>
          <a:ln w="28575">
            <a:noFill/>
          </a:ln>
        </p:spPr>
        <p:txBody>
          <a:bodyPr wrap="none" lIns="90000" tIns="46800" rIns="90000" bIns="46800" anchor="ctr" anchorCtr="0">
            <a:spAutoFit/>
          </a:bodyPr>
          <a:p>
            <a:pPr>
              <a:spcBef>
                <a:spcPct val="50000"/>
              </a:spcBef>
            </a:pPr>
            <a:endParaRPr lang="zh-CN" altLang="zh-CN" sz="2400" dirty="0">
              <a:latin typeface="Verdana" panose="020B0604030504040204" pitchFamily="34" charset="0"/>
            </a:endParaRPr>
          </a:p>
        </p:txBody>
      </p:sp>
      <p:sp>
        <p:nvSpPr>
          <p:cNvPr id="657414" name="Rectangle 6"/>
          <p:cNvSpPr/>
          <p:nvPr/>
        </p:nvSpPr>
        <p:spPr>
          <a:xfrm>
            <a:off x="357188" y="5357813"/>
            <a:ext cx="8143875" cy="46196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lvl="1" indent="-342900"/>
            <a:r>
              <a:rPr lang="zh-CN" altLang="en-US" sz="2400" dirty="0">
                <a:solidFill>
                  <a:srgbClr val="FF3300"/>
                </a:solidFill>
                <a:latin typeface="Verdana" panose="020B0604030504040204" pitchFamily="34" charset="0"/>
              </a:rPr>
              <a:t>此查询为不相关子查询：</a:t>
            </a: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</a:rPr>
              <a:t>子查询的查询条件不依赖于父查询</a:t>
            </a:r>
            <a:endParaRPr lang="zh-CN" altLang="en-US" sz="2400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4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charRg st="1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24">
                                            <p:txEl>
                                              <p:charRg st="19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charRg st="46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24">
                                            <p:txEl>
                                              <p:charRg st="46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charRg st="64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24">
                                            <p:txEl>
                                              <p:charRg st="64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charRg st="84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24">
                                            <p:txEl>
                                              <p:charRg st="84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charRg st="116" end="1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1924">
                                            <p:txEl>
                                              <p:charRg st="116" end="1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charRg st="148" end="1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1924">
                                            <p:txEl>
                                              <p:charRg st="148" end="1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charRg st="187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1924">
                                            <p:txEl>
                                              <p:charRg st="187" end="2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charRg st="207" end="2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1924">
                                            <p:txEl>
                                              <p:charRg st="207" end="2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charRg st="241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1924">
                                            <p:txEl>
                                              <p:charRg st="241" end="2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build="p"/>
      <p:bldP spid="6574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带有</a:t>
            </a:r>
            <a:r>
              <a:rPr lang="en-US" altLang="zh-CN" dirty="0"/>
              <a:t>IN</a:t>
            </a:r>
            <a:r>
              <a:rPr lang="zh-CN" altLang="en-US" dirty="0"/>
              <a:t>谓词的子查询（续）</a:t>
            </a:r>
            <a:endParaRPr lang="zh-CN" altLang="en-US" dirty="0"/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468313" y="1341438"/>
            <a:ext cx="8229600" cy="449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60000"/>
              </a:lnSpc>
              <a:buNone/>
            </a:pPr>
            <a:r>
              <a:rPr lang="en-US" altLang="zh-CN" dirty="0"/>
              <a:t> </a:t>
            </a:r>
            <a:r>
              <a:rPr lang="zh-CN" altLang="en-US" dirty="0"/>
              <a:t>用自身连接完成</a:t>
            </a: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39]</a:t>
            </a:r>
            <a:r>
              <a:rPr lang="zh-CN" altLang="en-US" dirty="0"/>
              <a:t>查询要求</a:t>
            </a:r>
            <a:endParaRPr lang="zh-CN" altLang="en-US" dirty="0"/>
          </a:p>
          <a:p>
            <a:pPr eaLnBrk="1" hangingPunct="1">
              <a:lnSpc>
                <a:spcPct val="160000"/>
              </a:lnSpc>
              <a:buNone/>
            </a:pPr>
            <a:r>
              <a:rPr lang="zh-CN" altLang="en-US" dirty="0"/>
              <a:t>     </a:t>
            </a:r>
            <a:r>
              <a:rPr lang="en-US" altLang="zh-CN" sz="2400" dirty="0"/>
              <a:t>SELECT  </a:t>
            </a:r>
            <a:r>
              <a:rPr lang="en-US" altLang="zh-CN" sz="2400" dirty="0">
                <a:solidFill>
                  <a:srgbClr val="D75B5B"/>
                </a:solidFill>
              </a:rPr>
              <a:t>S1</a:t>
            </a:r>
            <a:r>
              <a:rPr lang="en-US" altLang="zh-CN" sz="2400" dirty="0"/>
              <a:t>.Sno,</a:t>
            </a:r>
            <a:r>
              <a:rPr lang="en-US" altLang="zh-CN" sz="2400" dirty="0">
                <a:solidFill>
                  <a:srgbClr val="D75B5B"/>
                </a:solidFill>
              </a:rPr>
              <a:t>S1</a:t>
            </a:r>
            <a:r>
              <a:rPr lang="en-US" altLang="zh-CN" sz="2400" dirty="0"/>
              <a:t>.Sname,</a:t>
            </a:r>
            <a:r>
              <a:rPr lang="en-US" altLang="zh-CN" sz="2400" dirty="0">
                <a:solidFill>
                  <a:srgbClr val="D75B5B"/>
                </a:solidFill>
              </a:rPr>
              <a:t>S1</a:t>
            </a:r>
            <a:r>
              <a:rPr lang="en-US" altLang="zh-CN" sz="2400" dirty="0"/>
              <a:t>.Sdept</a:t>
            </a:r>
            <a:endParaRPr lang="en-US" altLang="zh-CN" sz="2400" dirty="0"/>
          </a:p>
          <a:p>
            <a:pPr eaLnBrk="1" hangingPunct="1">
              <a:lnSpc>
                <a:spcPct val="160000"/>
              </a:lnSpc>
              <a:buNone/>
            </a:pPr>
            <a:r>
              <a:rPr lang="en-US" altLang="zh-CN" sz="2400" dirty="0"/>
              <a:t>      FROM     Student </a:t>
            </a:r>
            <a:r>
              <a:rPr lang="en-US" altLang="zh-CN" sz="2400" dirty="0">
                <a:solidFill>
                  <a:srgbClr val="D75B5B"/>
                </a:solidFill>
              </a:rPr>
              <a:t>S1</a:t>
            </a:r>
            <a:r>
              <a:rPr lang="en-US" altLang="zh-CN" sz="2400" dirty="0"/>
              <a:t>,Student </a:t>
            </a:r>
            <a:r>
              <a:rPr lang="en-US" altLang="zh-CN" sz="2400" dirty="0">
                <a:solidFill>
                  <a:srgbClr val="D75B5B"/>
                </a:solidFill>
              </a:rPr>
              <a:t>S2</a:t>
            </a:r>
            <a:endParaRPr lang="en-US" altLang="zh-CN" sz="2400" dirty="0"/>
          </a:p>
          <a:p>
            <a:pPr eaLnBrk="1" hangingPunct="1">
              <a:lnSpc>
                <a:spcPct val="160000"/>
              </a:lnSpc>
              <a:buNone/>
            </a:pPr>
            <a:r>
              <a:rPr lang="en-US" altLang="zh-CN" sz="2400" dirty="0"/>
              <a:t>      WHERE  </a:t>
            </a:r>
            <a:r>
              <a:rPr lang="en-US" altLang="zh-CN" sz="2400" dirty="0">
                <a:solidFill>
                  <a:srgbClr val="D75B5B"/>
                </a:solidFill>
              </a:rPr>
              <a:t>S1</a:t>
            </a:r>
            <a:r>
              <a:rPr lang="en-US" altLang="zh-CN" sz="2400" dirty="0"/>
              <a:t>.Sdept = </a:t>
            </a:r>
            <a:r>
              <a:rPr lang="en-US" altLang="zh-CN" sz="2400" dirty="0">
                <a:solidFill>
                  <a:srgbClr val="D75B5B"/>
                </a:solidFill>
              </a:rPr>
              <a:t>S2</a:t>
            </a:r>
            <a:r>
              <a:rPr lang="en-US" altLang="zh-CN" sz="2400" dirty="0"/>
              <a:t>.Sdept  AND</a:t>
            </a:r>
            <a:endParaRPr lang="en-US" altLang="zh-CN" sz="2400" dirty="0"/>
          </a:p>
          <a:p>
            <a:pPr eaLnBrk="1" hangingPunct="1">
              <a:lnSpc>
                <a:spcPct val="160000"/>
              </a:lnSpc>
              <a:buNone/>
            </a:pPr>
            <a:r>
              <a:rPr lang="en-US" altLang="zh-CN" sz="2400" dirty="0"/>
              <a:t>                      </a:t>
            </a:r>
            <a:r>
              <a:rPr lang="en-US" altLang="zh-CN" sz="2400" dirty="0">
                <a:solidFill>
                  <a:srgbClr val="D75B5B"/>
                </a:solidFill>
              </a:rPr>
              <a:t>S2</a:t>
            </a:r>
            <a:r>
              <a:rPr lang="en-US" altLang="zh-CN" sz="2400" dirty="0"/>
              <a:t>.Sname = '</a:t>
            </a:r>
            <a:r>
              <a:rPr lang="zh-CN" altLang="en-US" sz="2400" dirty="0"/>
              <a:t>刘晨</a:t>
            </a:r>
            <a:r>
              <a:rPr lang="en-US" altLang="zh-CN" sz="2400" dirty="0"/>
              <a:t>'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带有</a:t>
            </a:r>
            <a:r>
              <a:rPr lang="en-US" altLang="zh-CN" dirty="0"/>
              <a:t>IN</a:t>
            </a:r>
            <a:r>
              <a:rPr lang="zh-CN" altLang="en-US" dirty="0"/>
              <a:t>谓词的子查询（续）</a:t>
            </a:r>
            <a:endParaRPr lang="zh-CN" altLang="en-US" dirty="0"/>
          </a:p>
        </p:txBody>
      </p:sp>
      <p:sp>
        <p:nvSpPr>
          <p:cNvPr id="661507" name="Rectangle 3"/>
          <p:cNvSpPr>
            <a:spLocks noGrp="1"/>
          </p:cNvSpPr>
          <p:nvPr>
            <p:ph idx="1"/>
          </p:nvPr>
        </p:nvSpPr>
        <p:spPr>
          <a:xfrm>
            <a:off x="500063" y="1785938"/>
            <a:ext cx="7920037" cy="44640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/>
              <a:t>	 </a:t>
            </a:r>
            <a:r>
              <a:rPr lang="en-US" altLang="zh-CN" sz="2000" dirty="0"/>
              <a:t>SELECT Sno,Sname </a:t>
            </a:r>
            <a:endParaRPr lang="en-US" altLang="zh-CN" sz="20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1800" dirty="0"/>
              <a:t>FROM    Student</a:t>
            </a:r>
            <a:endParaRPr lang="en-US" altLang="zh-CN" sz="18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1800" dirty="0"/>
              <a:t>WHERE Sno  </a:t>
            </a:r>
            <a:r>
              <a:rPr lang="en-US" altLang="zh-CN" sz="1800" dirty="0">
                <a:solidFill>
                  <a:srgbClr val="FF3300"/>
                </a:solidFill>
              </a:rPr>
              <a:t>IN</a:t>
            </a:r>
            <a:endParaRPr lang="en-US" altLang="zh-CN" sz="1800" dirty="0">
              <a:solidFill>
                <a:srgbClr val="FF3300"/>
              </a:solidFill>
            </a:endParaRPr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en-US" altLang="zh-CN" sz="1800" dirty="0"/>
              <a:t>       ( SELECT Sno</a:t>
            </a:r>
            <a:endParaRPr lang="en-US" altLang="zh-CN" sz="1600" dirty="0">
              <a:solidFill>
                <a:srgbClr val="FF3399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1800" dirty="0"/>
              <a:t>                FROM    SC</a:t>
            </a:r>
            <a:endParaRPr lang="en-US" altLang="zh-CN" sz="18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1800" dirty="0"/>
              <a:t>                WHERE  Cno </a:t>
            </a:r>
            <a:r>
              <a:rPr lang="en-US" altLang="zh-CN" sz="1800" dirty="0">
                <a:solidFill>
                  <a:srgbClr val="FF3300"/>
                </a:solidFill>
              </a:rPr>
              <a:t>IN</a:t>
            </a:r>
            <a:endParaRPr lang="en-US" altLang="zh-CN" sz="1800" dirty="0">
              <a:solidFill>
                <a:srgbClr val="FF33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1800" dirty="0"/>
              <a:t>                     ( SELECT Cno </a:t>
            </a:r>
            <a:endParaRPr lang="en-US" altLang="zh-CN" sz="18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1800" dirty="0"/>
              <a:t>                       FROM Course</a:t>
            </a:r>
            <a:endParaRPr lang="en-US" altLang="zh-CN" sz="18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1800" dirty="0"/>
              <a:t>                       WHERE Cname= '</a:t>
            </a:r>
            <a:r>
              <a:rPr lang="zh-CN" altLang="en-US" sz="1800" dirty="0"/>
              <a:t>信息系统</a:t>
            </a:r>
            <a:r>
              <a:rPr lang="en-US" altLang="zh-CN" sz="1800" dirty="0"/>
              <a:t>'</a:t>
            </a:r>
            <a:endParaRPr lang="zh-CN" altLang="en-US" sz="18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1800" dirty="0"/>
              <a:t>                     </a:t>
            </a:r>
            <a:r>
              <a:rPr lang="en-US" altLang="zh-CN" sz="1800" dirty="0"/>
              <a:t>)</a:t>
            </a:r>
            <a:endParaRPr lang="en-US" altLang="zh-CN" sz="18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1800" dirty="0"/>
              <a:t>              );</a:t>
            </a:r>
            <a:endParaRPr lang="en-US" altLang="zh-CN" sz="1800" dirty="0"/>
          </a:p>
        </p:txBody>
      </p:sp>
      <p:sp>
        <p:nvSpPr>
          <p:cNvPr id="661508" name="Rectangle 4"/>
          <p:cNvSpPr/>
          <p:nvPr/>
        </p:nvSpPr>
        <p:spPr>
          <a:xfrm>
            <a:off x="5076825" y="2205038"/>
            <a:ext cx="3889375" cy="642937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dirty="0">
                <a:solidFill>
                  <a:srgbClr val="FF3399"/>
                </a:solidFill>
                <a:latin typeface="Verdana" panose="020B0604030504040204" pitchFamily="34" charset="0"/>
              </a:rPr>
              <a:t>③ </a:t>
            </a:r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最后在</a:t>
            </a:r>
            <a:r>
              <a:rPr lang="en-US" altLang="zh-CN" dirty="0">
                <a:solidFill>
                  <a:srgbClr val="FF3399"/>
                </a:solidFill>
                <a:latin typeface="Verdana" panose="020B0604030504040204" pitchFamily="34" charset="0"/>
              </a:rPr>
              <a:t>Student</a:t>
            </a:r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关系中</a:t>
            </a:r>
            <a:endParaRPr lang="zh-CN" altLang="en-US" dirty="0">
              <a:solidFill>
                <a:srgbClr val="FF3399"/>
              </a:solidFill>
              <a:latin typeface="Verdana" panose="020B0604030504040204" pitchFamily="34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     取出</a:t>
            </a:r>
            <a:r>
              <a:rPr lang="en-US" altLang="zh-CN" dirty="0">
                <a:solidFill>
                  <a:srgbClr val="FF3399"/>
                </a:solidFill>
                <a:latin typeface="Verdana" panose="020B0604030504040204" pitchFamily="34" charset="0"/>
              </a:rPr>
              <a:t>Sno</a:t>
            </a:r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和</a:t>
            </a:r>
            <a:r>
              <a:rPr lang="en-US" altLang="zh-CN" dirty="0">
                <a:solidFill>
                  <a:srgbClr val="FF3399"/>
                </a:solidFill>
                <a:latin typeface="Verdana" panose="020B0604030504040204" pitchFamily="34" charset="0"/>
              </a:rPr>
              <a:t>Sname</a:t>
            </a:r>
            <a:endParaRPr lang="en-US" altLang="zh-CN" dirty="0">
              <a:solidFill>
                <a:srgbClr val="FF3399"/>
              </a:solidFill>
              <a:latin typeface="Verdana" panose="020B0604030504040204" pitchFamily="34" charset="0"/>
            </a:endParaRPr>
          </a:p>
        </p:txBody>
      </p:sp>
      <p:sp>
        <p:nvSpPr>
          <p:cNvPr id="661509" name="Rectangle 5"/>
          <p:cNvSpPr/>
          <p:nvPr/>
        </p:nvSpPr>
        <p:spPr>
          <a:xfrm>
            <a:off x="5076825" y="3284538"/>
            <a:ext cx="2813050" cy="64135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/>
            <a:r>
              <a:rPr lang="en-US" altLang="zh-CN" dirty="0">
                <a:solidFill>
                  <a:srgbClr val="FF3399"/>
                </a:solidFill>
                <a:latin typeface="Verdana" panose="020B0604030504040204" pitchFamily="34" charset="0"/>
              </a:rPr>
              <a:t>② </a:t>
            </a:r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然后在</a:t>
            </a:r>
            <a:r>
              <a:rPr lang="en-US" altLang="zh-CN" dirty="0">
                <a:solidFill>
                  <a:srgbClr val="FF3399"/>
                </a:solidFill>
                <a:latin typeface="Verdana" panose="020B0604030504040204" pitchFamily="34" charset="0"/>
              </a:rPr>
              <a:t>SC</a:t>
            </a:r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关系中找出选</a:t>
            </a:r>
            <a:endParaRPr lang="zh-CN" altLang="en-US" dirty="0">
              <a:solidFill>
                <a:srgbClr val="FF3399"/>
              </a:solidFill>
              <a:latin typeface="Verdana" panose="020B0604030504040204" pitchFamily="34" charset="0"/>
            </a:endParaRPr>
          </a:p>
          <a:p>
            <a:pPr marL="342900" indent="-342900"/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    修了</a:t>
            </a:r>
            <a:r>
              <a:rPr lang="en-US" altLang="zh-CN" dirty="0">
                <a:solidFill>
                  <a:srgbClr val="FF3399"/>
                </a:solidFill>
                <a:latin typeface="Verdana" panose="020B0604030504040204" pitchFamily="34" charset="0"/>
              </a:rPr>
              <a:t>3</a:t>
            </a:r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号课程的学生学号</a:t>
            </a:r>
            <a:endParaRPr lang="zh-CN" altLang="en-US" dirty="0">
              <a:solidFill>
                <a:srgbClr val="FF3399"/>
              </a:solidFill>
              <a:latin typeface="Verdana" panose="020B0604030504040204" pitchFamily="34" charset="0"/>
            </a:endParaRPr>
          </a:p>
        </p:txBody>
      </p:sp>
      <p:sp>
        <p:nvSpPr>
          <p:cNvPr id="661510" name="Rectangle 6"/>
          <p:cNvSpPr/>
          <p:nvPr/>
        </p:nvSpPr>
        <p:spPr>
          <a:xfrm>
            <a:off x="5083175" y="4221163"/>
            <a:ext cx="3592513" cy="8604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dirty="0">
                <a:solidFill>
                  <a:srgbClr val="FF3399"/>
                </a:solidFill>
                <a:latin typeface="Verdana" panose="020B0604030504040204" pitchFamily="34" charset="0"/>
              </a:rPr>
              <a:t>① </a:t>
            </a:r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首先在</a:t>
            </a:r>
            <a:r>
              <a:rPr lang="en-US" altLang="zh-CN" dirty="0">
                <a:solidFill>
                  <a:srgbClr val="FF3399"/>
                </a:solidFill>
                <a:latin typeface="Verdana" panose="020B0604030504040204" pitchFamily="34" charset="0"/>
              </a:rPr>
              <a:t>Course</a:t>
            </a:r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关系中找出</a:t>
            </a:r>
            <a:endParaRPr lang="zh-CN" altLang="en-US" dirty="0">
              <a:solidFill>
                <a:srgbClr val="FF3399"/>
              </a:solidFill>
              <a:latin typeface="Verdana" panose="020B060403050404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     “信息系统”的课程号，为</a:t>
            </a:r>
            <a:r>
              <a:rPr lang="en-US" altLang="zh-CN" dirty="0">
                <a:solidFill>
                  <a:srgbClr val="FF3399"/>
                </a:solidFill>
                <a:latin typeface="Verdana" panose="020B0604030504040204" pitchFamily="34" charset="0"/>
              </a:rPr>
              <a:t>3</a:t>
            </a:r>
            <a:r>
              <a:rPr lang="zh-CN" altLang="en-US" dirty="0">
                <a:solidFill>
                  <a:srgbClr val="FF3399"/>
                </a:solidFill>
                <a:latin typeface="Verdana" panose="020B0604030504040204" pitchFamily="34" charset="0"/>
              </a:rPr>
              <a:t>号</a:t>
            </a:r>
            <a:endParaRPr lang="zh-CN" altLang="en-US" dirty="0">
              <a:solidFill>
                <a:srgbClr val="FF3399"/>
              </a:solidFill>
              <a:latin typeface="Verdana" panose="020B0604030504040204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endParaRPr lang="en-US" altLang="zh-CN" dirty="0">
              <a:solidFill>
                <a:srgbClr val="FF3399"/>
              </a:solidFill>
              <a:latin typeface="Verdana" panose="020B0604030504040204" pitchFamily="34" charset="0"/>
            </a:endParaRPr>
          </a:p>
        </p:txBody>
      </p:sp>
      <p:sp>
        <p:nvSpPr>
          <p:cNvPr id="13320" name="Rectangle 7"/>
          <p:cNvSpPr/>
          <p:nvPr/>
        </p:nvSpPr>
        <p:spPr>
          <a:xfrm>
            <a:off x="500063" y="1268413"/>
            <a:ext cx="7667625" cy="530225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Verdana" panose="020B0604030504040204" pitchFamily="34" charset="0"/>
              </a:rPr>
              <a:t>[</a:t>
            </a:r>
            <a:r>
              <a:rPr lang="zh-CN" altLang="en-US" sz="2400" dirty="0">
                <a:latin typeface="Verdana" panose="020B0604030504040204" pitchFamily="34" charset="0"/>
              </a:rPr>
              <a:t>例</a:t>
            </a:r>
            <a:r>
              <a:rPr lang="en-US" altLang="zh-CN" sz="2400" dirty="0">
                <a:latin typeface="Verdana" panose="020B0604030504040204" pitchFamily="34" charset="0"/>
              </a:rPr>
              <a:t>40]</a:t>
            </a:r>
            <a:r>
              <a:rPr lang="zh-CN" altLang="en-US" sz="2400" dirty="0">
                <a:latin typeface="Verdana" panose="020B0604030504040204" pitchFamily="34" charset="0"/>
              </a:rPr>
              <a:t>查询选修了课程名为“信息系统”的学生学号和姓名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charRg st="20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charRg st="36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charRg st="50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charRg st="70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charRg st="97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charRg st="127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charRg st="162" end="1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charRg st="197" end="2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charRg st="240" end="2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7">
                                            <p:txEl>
                                              <p:charRg st="263" end="2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07" grpId="0" build="p"/>
      <p:bldP spid="661508" grpId="0"/>
      <p:bldP spid="661509" grpId="0"/>
      <p:bldP spid="6615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带有</a:t>
            </a:r>
            <a:r>
              <a:rPr lang="en-US" altLang="zh-CN" dirty="0"/>
              <a:t>IN</a:t>
            </a:r>
            <a:r>
              <a:rPr lang="zh-CN" altLang="en-US" dirty="0"/>
              <a:t>谓词的子查询（续）</a:t>
            </a:r>
            <a:endParaRPr lang="zh-CN" altLang="en-US" dirty="0"/>
          </a:p>
        </p:txBody>
      </p:sp>
      <p:sp>
        <p:nvSpPr>
          <p:cNvPr id="1434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zh-CN" altLang="en-US" dirty="0">
                <a:latin typeface="宋体" panose="02010600030101010101" pitchFamily="2" charset="-122"/>
              </a:rPr>
              <a:t>用连接查询实现</a:t>
            </a:r>
            <a:r>
              <a:rPr lang="en-US" altLang="zh-CN" dirty="0">
                <a:latin typeface="宋体" panose="02010600030101010101" pitchFamily="2" charset="-122"/>
              </a:rPr>
              <a:t>[</a:t>
            </a:r>
            <a:r>
              <a:rPr lang="zh-CN" altLang="en-US" dirty="0">
                <a:latin typeface="宋体" panose="02010600030101010101" pitchFamily="2" charset="-122"/>
              </a:rPr>
              <a:t>例</a:t>
            </a:r>
            <a:r>
              <a:rPr lang="en-US" altLang="zh-CN" dirty="0">
                <a:latin typeface="宋体" panose="02010600030101010101" pitchFamily="2" charset="-122"/>
              </a:rPr>
              <a:t>40]</a:t>
            </a:r>
            <a:endParaRPr lang="en-US" altLang="zh-CN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dirty="0"/>
              <a:t>     </a:t>
            </a:r>
            <a:r>
              <a:rPr lang="en-US" altLang="zh-CN" sz="2400" dirty="0"/>
              <a:t>SELECT Student.Sno,Sname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dirty="0"/>
              <a:t>      FROM    Student</a:t>
            </a:r>
            <a:r>
              <a:rPr lang="zh-CN" altLang="en-US" sz="2400" dirty="0"/>
              <a:t>，</a:t>
            </a:r>
            <a:r>
              <a:rPr lang="en-US" altLang="zh-CN" sz="2400" dirty="0"/>
              <a:t>SC</a:t>
            </a:r>
            <a:r>
              <a:rPr lang="zh-CN" altLang="en-US" sz="2400" dirty="0"/>
              <a:t>，</a:t>
            </a:r>
            <a:r>
              <a:rPr lang="en-US" altLang="zh-CN" sz="2400" dirty="0"/>
              <a:t>Course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dirty="0"/>
              <a:t>      WHERE Student.Sno = SC.Sno  AND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dirty="0"/>
              <a:t>                     SC.Cno = Course.Cno AND</a:t>
            </a:r>
            <a:endParaRPr lang="en-US" altLang="zh-CN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dirty="0"/>
              <a:t>                     Course.Cname= '</a:t>
            </a:r>
            <a:r>
              <a:rPr lang="zh-CN" altLang="en-US" sz="2400" dirty="0"/>
              <a:t>信息系统</a:t>
            </a:r>
            <a:r>
              <a:rPr lang="en-US" altLang="zh-CN" sz="2400" dirty="0"/>
              <a:t>' </a:t>
            </a:r>
            <a:r>
              <a:rPr lang="zh-CN" altLang="en-US" sz="2400" dirty="0"/>
              <a:t>；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1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0">
                                            <p:txEl>
                                              <p:charRg st="1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0">
                                            <p:txEl>
                                              <p:charRg st="1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43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0">
                                            <p:txEl>
                                              <p:charRg st="43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0">
                                            <p:txEl>
                                              <p:charRg st="43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75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40">
                                            <p:txEl>
                                              <p:charRg st="75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340">
                                            <p:txEl>
                                              <p:charRg st="75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0">
                                            <p:txEl>
                                              <p:char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40">
                                            <p:txEl>
                                              <p:char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charRg st="158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40">
                                            <p:txEl>
                                              <p:charRg st="158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40">
                                            <p:txEl>
                                              <p:charRg st="158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讨论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143000"/>
            <a:ext cx="8001000" cy="5165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选修了学分是</a:t>
            </a: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分的那些课程的学生的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学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号和姓名。</a:t>
            </a:r>
            <a:endParaRPr kumimoji="0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sno,Sname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FROM Student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WHERE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sno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(SELECT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Sno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FROM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WHERE </a:t>
            </a:r>
            <a:r>
              <a:rPr kumimoji="0" lang="en-US" altLang="zh-CN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Cno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(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Cno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from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Course 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where </a:t>
            </a:r>
            <a:r>
              <a:rPr kumimoji="0" lang="en-US" altLang="zh-CN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Ccredit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=4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2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3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43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1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charRg st="61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79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charRg st="79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0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charRg st="110" end="1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39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charRg st="139" end="1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3" end="2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charRg st="173" end="2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10" end="2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charRg st="210" end="2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50" end="2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charRg st="250" end="2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94" end="3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charRg st="294" end="3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23" end="3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charRg st="323" end="3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提问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查询选修了课程的男生的选课信息，输出学号和课号。</a:t>
            </a: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用嵌套查询</a:t>
            </a: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sno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,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cno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from SC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where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Sno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in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3502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(  select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Sno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from Student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83502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where 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Ssex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=‘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男</a:t>
            </a:r>
            <a:r>
              <a:rPr kumimoji="0" lang="en-US" altLang="zh-CN" sz="2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’</a:t>
            </a:r>
            <a:endParaRPr kumimoji="0" lang="en-US" altLang="zh-CN" sz="21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835025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r>
              <a:rPr kumimoji="0" lang="en-US" altLang="zh-CN" sz="21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      </a:t>
            </a:r>
            <a:r>
              <a:rPr kumimoji="0" lang="en-US" altLang="zh-CN" sz="23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)</a:t>
            </a:r>
            <a:endParaRPr kumimoji="0" lang="en-US" altLang="zh-CN" sz="21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2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9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2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0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2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36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例题</a:t>
            </a:r>
            <a:endParaRPr lang="zh-CN" altLang="en-US" dirty="0"/>
          </a:p>
        </p:txBody>
      </p:sp>
      <p:sp>
        <p:nvSpPr>
          <p:cNvPr id="17411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查询选修了课程的男生的选课信息，输出学号和姓名。</a:t>
            </a:r>
            <a:r>
              <a:rPr lang="en-US" altLang="zh-CN" dirty="0"/>
              <a:t>(</a:t>
            </a:r>
            <a:r>
              <a:rPr lang="zh-CN" altLang="en-US" dirty="0"/>
              <a:t>用嵌套查询</a:t>
            </a:r>
            <a:r>
              <a:rPr lang="en-US" altLang="zh-CN" dirty="0"/>
              <a:t>)</a:t>
            </a:r>
            <a:endParaRPr lang="en-US" altLang="zh-CN" dirty="0"/>
          </a:p>
          <a:p>
            <a:pPr>
              <a:buNone/>
            </a:pPr>
            <a:r>
              <a:rPr lang="en-US" altLang="zh-CN" sz="3200" dirty="0"/>
              <a:t>select sno , Sname </a:t>
            </a:r>
            <a:endParaRPr lang="en-US" altLang="zh-CN" sz="3200" dirty="0"/>
          </a:p>
          <a:p>
            <a:pPr>
              <a:buNone/>
            </a:pPr>
            <a:r>
              <a:rPr lang="en-US" altLang="zh-CN" sz="3200" dirty="0"/>
              <a:t>     from Student </a:t>
            </a:r>
            <a:endParaRPr lang="en-US" altLang="zh-CN" sz="3200" dirty="0"/>
          </a:p>
          <a:p>
            <a:pPr>
              <a:buNone/>
            </a:pPr>
            <a:r>
              <a:rPr lang="en-US" altLang="zh-CN" sz="3200" dirty="0"/>
              <a:t>     where  Ssex ='</a:t>
            </a:r>
            <a:r>
              <a:rPr lang="zh-CN" altLang="en-US" sz="3200" dirty="0"/>
              <a:t>男</a:t>
            </a:r>
            <a:r>
              <a:rPr lang="en-US" altLang="zh-CN" sz="3200" dirty="0"/>
              <a:t>' </a:t>
            </a:r>
            <a:endParaRPr lang="en-US" altLang="zh-CN" sz="3200" dirty="0"/>
          </a:p>
          <a:p>
            <a:pPr>
              <a:buNone/>
            </a:pPr>
            <a:r>
              <a:rPr lang="en-US" altLang="zh-CN" sz="3200" dirty="0"/>
              <a:t>     and Sno in</a:t>
            </a:r>
            <a:endParaRPr lang="en-US" altLang="zh-CN" sz="3200" dirty="0"/>
          </a:p>
          <a:p>
            <a:pPr>
              <a:buNone/>
            </a:pPr>
            <a:r>
              <a:rPr lang="en-US" altLang="zh-CN" sz="3200" dirty="0"/>
              <a:t>                   (select Sno from sc )</a:t>
            </a:r>
            <a:endParaRPr lang="en-US" altLang="zh-CN" sz="3200" dirty="0"/>
          </a:p>
          <a:p>
            <a:pPr>
              <a:buNone/>
            </a:pPr>
            <a:r>
              <a:rPr lang="en-US" altLang="zh-CN" sz="3200" dirty="0"/>
              <a:t>                    </a:t>
            </a:r>
            <a:endParaRPr lang="en-US" altLang="zh-CN" sz="3200" dirty="0"/>
          </a:p>
          <a:p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32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charRg st="32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charRg st="32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52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charRg st="52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charRg st="52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71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charRg st="71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11">
                                            <p:txEl>
                                              <p:charRg st="71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94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1">
                                            <p:txEl>
                                              <p:charRg st="94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1">
                                            <p:txEl>
                                              <p:charRg st="94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110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1">
                                            <p:txEl>
                                              <p:charRg st="110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11">
                                            <p:txEl>
                                              <p:charRg st="110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提问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查询被选修的学分是</a:t>
            </a:r>
            <a:r>
              <a:rPr lang="en-US" altLang="zh-CN" dirty="0"/>
              <a:t>4</a:t>
            </a:r>
            <a:r>
              <a:rPr lang="zh-CN" altLang="en-US" dirty="0"/>
              <a:t>分的课程的课程号和课程名。（嵌套查询）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Select cno</a:t>
            </a:r>
            <a:r>
              <a:rPr lang="zh-CN" altLang="en-US" dirty="0"/>
              <a:t>，</a:t>
            </a:r>
            <a:r>
              <a:rPr lang="en-US" altLang="zh-CN" dirty="0"/>
              <a:t>cname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From course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Where ccredit=4 and cno in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    (select cno from sc)</a:t>
            </a:r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charRg st="3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charRg st="3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7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charRg st="47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charRg st="47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9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charRg st="59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charRg st="59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charRg st="8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charRg st="8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3.4.3  </a:t>
            </a:r>
            <a:r>
              <a:rPr lang="zh-CN" altLang="en-US" dirty="0"/>
              <a:t>嵌套查询</a:t>
            </a:r>
            <a:endParaRPr lang="zh-CN" altLang="en-US" dirty="0"/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en-US" altLang="zh-CN" dirty="0"/>
              <a:t>  </a:t>
            </a:r>
            <a:r>
              <a:rPr lang="zh-CN" altLang="en-US" dirty="0"/>
              <a:t>一、带有</a:t>
            </a:r>
            <a:r>
              <a:rPr lang="en-US" altLang="zh-CN" dirty="0"/>
              <a:t>IN</a:t>
            </a:r>
            <a:r>
              <a:rPr lang="zh-CN" altLang="en-US" dirty="0"/>
              <a:t>谓词的子查询 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accent1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二、带有比较运算符的子查询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三、带有</a:t>
            </a:r>
            <a:r>
              <a:rPr lang="en-US" altLang="zh-CN" dirty="0"/>
              <a:t>ANY</a:t>
            </a:r>
            <a:r>
              <a:rPr lang="zh-CN" altLang="en-US" dirty="0"/>
              <a:t>（</a:t>
            </a:r>
            <a:r>
              <a:rPr lang="en-US" altLang="zh-CN" dirty="0"/>
              <a:t>SOME</a:t>
            </a:r>
            <a:r>
              <a:rPr lang="zh-CN" altLang="en-US" dirty="0"/>
              <a:t>）或</a:t>
            </a:r>
            <a:r>
              <a:rPr lang="en-US" altLang="zh-CN" dirty="0"/>
              <a:t>ALL</a:t>
            </a:r>
            <a:r>
              <a:rPr lang="zh-CN" altLang="en-US" dirty="0"/>
              <a:t>谓词的子查询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四、带有</a:t>
            </a:r>
            <a:r>
              <a:rPr lang="en-US" altLang="zh-CN" dirty="0"/>
              <a:t>EXISTS</a:t>
            </a:r>
            <a:r>
              <a:rPr lang="zh-CN" altLang="en-US" dirty="0"/>
              <a:t>谓词的子查询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二、带有比较运算符的子查询</a:t>
            </a:r>
            <a:endParaRPr lang="zh-CN" altLang="en-US" sz="3200" dirty="0"/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60000"/>
              </a:lnSpc>
            </a:pPr>
            <a:r>
              <a:rPr lang="en-US" altLang="zh-CN" dirty="0"/>
              <a:t> </a:t>
            </a:r>
            <a:r>
              <a:rPr lang="zh-CN" altLang="en-US" dirty="0"/>
              <a:t>当能确切知道内层查询返回</a:t>
            </a:r>
            <a:r>
              <a:rPr lang="zh-CN" altLang="en-US" dirty="0">
                <a:solidFill>
                  <a:srgbClr val="FF3300"/>
                </a:solidFill>
              </a:rPr>
              <a:t>单值</a:t>
            </a:r>
            <a:r>
              <a:rPr lang="zh-CN" altLang="en-US" dirty="0"/>
              <a:t>时，可用比较运算符（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r>
              <a:rPr lang="en-US" altLang="zh-CN" dirty="0"/>
              <a:t>&lt;</a:t>
            </a:r>
            <a:r>
              <a:rPr lang="zh-CN" altLang="en-US" dirty="0"/>
              <a:t>，</a:t>
            </a:r>
            <a:r>
              <a:rPr lang="en-US" altLang="zh-CN" dirty="0"/>
              <a:t>=</a:t>
            </a:r>
            <a:r>
              <a:rPr lang="zh-CN" altLang="en-US" dirty="0"/>
              <a:t>，</a:t>
            </a:r>
            <a:r>
              <a:rPr lang="en-US" altLang="zh-CN" dirty="0"/>
              <a:t>&gt;=</a:t>
            </a:r>
            <a:r>
              <a:rPr lang="zh-CN" altLang="en-US" dirty="0"/>
              <a:t>，</a:t>
            </a:r>
            <a:r>
              <a:rPr lang="en-US" altLang="zh-CN" dirty="0"/>
              <a:t>&lt;=</a:t>
            </a:r>
            <a:r>
              <a:rPr lang="zh-CN" altLang="en-US" dirty="0"/>
              <a:t>，</a:t>
            </a:r>
            <a:r>
              <a:rPr lang="en-US" altLang="zh-CN" dirty="0"/>
              <a:t>!=</a:t>
            </a:r>
            <a:r>
              <a:rPr lang="zh-CN" altLang="en-US" dirty="0"/>
              <a:t>或</a:t>
            </a:r>
            <a:r>
              <a:rPr lang="en-US" altLang="zh-CN" dirty="0"/>
              <a:t>&lt; &gt;</a:t>
            </a:r>
            <a:r>
              <a:rPr lang="zh-CN" altLang="en-US" dirty="0"/>
              <a:t>）。</a:t>
            </a:r>
            <a:endParaRPr lang="zh-CN" altLang="en-US" dirty="0"/>
          </a:p>
          <a:p>
            <a:pPr eaLnBrk="1" hangingPunct="1">
              <a:lnSpc>
                <a:spcPct val="160000"/>
              </a:lnSpc>
            </a:pPr>
            <a:r>
              <a:rPr lang="zh-CN" altLang="en-US" dirty="0"/>
              <a:t> 与</a:t>
            </a:r>
            <a:r>
              <a:rPr lang="en-US" altLang="zh-CN" dirty="0"/>
              <a:t>ANY</a:t>
            </a:r>
            <a:r>
              <a:rPr lang="zh-CN" altLang="en-US" dirty="0"/>
              <a:t>或</a:t>
            </a:r>
            <a:r>
              <a:rPr lang="en-US" altLang="zh-CN" dirty="0"/>
              <a:t>ALL</a:t>
            </a:r>
            <a:r>
              <a:rPr lang="zh-CN" altLang="en-US" dirty="0"/>
              <a:t>谓词配合使用</a:t>
            </a:r>
            <a:endParaRPr lang="zh-CN" altLang="en-US" dirty="0"/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带有比较运算符的子查询（续）</a:t>
            </a:r>
            <a:endParaRPr lang="zh-CN" altLang="en-US" sz="3200" dirty="0"/>
          </a:p>
        </p:txBody>
      </p:sp>
      <p:sp>
        <p:nvSpPr>
          <p:cNvPr id="669699" name="Rectangle 3"/>
          <p:cNvSpPr>
            <a:spLocks noGrp="1"/>
          </p:cNvSpPr>
          <p:nvPr>
            <p:ph idx="1"/>
          </p:nvPr>
        </p:nvSpPr>
        <p:spPr>
          <a:xfrm>
            <a:off x="500063" y="2268538"/>
            <a:ext cx="8229600" cy="35877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SELECT Sno,Sname,Sdept</a:t>
            </a:r>
            <a:endParaRPr lang="en-US" altLang="zh-CN" sz="2400" dirty="0"/>
          </a:p>
          <a:p>
            <a:pPr lvl="1" eaLnBrk="1" hangingPunct="1">
              <a:lnSpc>
                <a:spcPct val="130000"/>
              </a:lnSpc>
              <a:buFont typeface="宋体" panose="02010600030101010101" pitchFamily="2" charset="-122"/>
              <a:buNone/>
            </a:pPr>
            <a:r>
              <a:rPr lang="en-US" altLang="zh-CN" dirty="0"/>
              <a:t>FROM    Student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Font typeface="宋体" panose="02010600030101010101" pitchFamily="2" charset="-122"/>
              <a:buNone/>
            </a:pPr>
            <a:r>
              <a:rPr lang="en-US" altLang="zh-CN" dirty="0"/>
              <a:t>WHERE Sdept  </a:t>
            </a:r>
            <a:r>
              <a:rPr lang="en-US" altLang="zh-CN" dirty="0">
                <a:solidFill>
                  <a:srgbClr val="D75B5B"/>
                </a:solidFill>
              </a:rPr>
              <a:t>=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Font typeface="宋体" panose="02010600030101010101" pitchFamily="2" charset="-122"/>
              <a:buNone/>
            </a:pPr>
            <a:r>
              <a:rPr lang="en-US" altLang="zh-CN" dirty="0"/>
              <a:t>                   (SELECT Sdept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Font typeface="宋体" panose="02010600030101010101" pitchFamily="2" charset="-122"/>
              <a:buNone/>
            </a:pPr>
            <a:r>
              <a:rPr lang="en-US" altLang="zh-CN" dirty="0"/>
              <a:t>                    FROM    Student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Font typeface="宋体" panose="02010600030101010101" pitchFamily="2" charset="-122"/>
              <a:buNone/>
            </a:pPr>
            <a:r>
              <a:rPr lang="en-US" altLang="zh-CN" dirty="0"/>
              <a:t>                    WHERE Sname= '</a:t>
            </a:r>
            <a:r>
              <a:rPr lang="zh-CN" altLang="en-US" dirty="0"/>
              <a:t>刘晨</a:t>
            </a:r>
            <a:r>
              <a:rPr lang="en-US" altLang="zh-CN" dirty="0"/>
              <a:t>')</a:t>
            </a:r>
            <a:r>
              <a:rPr lang="zh-CN" altLang="en-US" dirty="0"/>
              <a:t>；</a:t>
            </a:r>
            <a:endParaRPr lang="zh-CN" altLang="en-US" dirty="0"/>
          </a:p>
        </p:txBody>
      </p:sp>
      <p:sp>
        <p:nvSpPr>
          <p:cNvPr id="21509" name="Rectangle 4"/>
          <p:cNvSpPr/>
          <p:nvPr/>
        </p:nvSpPr>
        <p:spPr>
          <a:xfrm>
            <a:off x="857250" y="1196975"/>
            <a:ext cx="7920038" cy="9683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lnSpc>
                <a:spcPct val="120000"/>
              </a:lnSpc>
            </a:pPr>
            <a:r>
              <a:rPr lang="zh-CN" altLang="en-US" sz="2400" dirty="0">
                <a:latin typeface="Verdana" panose="020B0604030504040204" pitchFamily="34" charset="0"/>
              </a:rPr>
              <a:t>例：假设一个学生只可能在一个系学习，并且必须属于一个系，则在</a:t>
            </a:r>
            <a:r>
              <a:rPr lang="en-US" altLang="zh-CN" sz="2400" dirty="0">
                <a:latin typeface="Verdana" panose="020B0604030504040204" pitchFamily="34" charset="0"/>
              </a:rPr>
              <a:t>[</a:t>
            </a:r>
            <a:r>
              <a:rPr lang="zh-CN" altLang="en-US" sz="2400" dirty="0">
                <a:latin typeface="Verdana" panose="020B0604030504040204" pitchFamily="34" charset="0"/>
              </a:rPr>
              <a:t>例</a:t>
            </a:r>
            <a:r>
              <a:rPr lang="en-US" altLang="zh-CN" sz="2400" dirty="0">
                <a:latin typeface="Verdana" panose="020B0604030504040204" pitchFamily="34" charset="0"/>
              </a:rPr>
              <a:t>39]</a:t>
            </a:r>
            <a:r>
              <a:rPr lang="zh-CN" altLang="en-US" sz="2400" dirty="0">
                <a:latin typeface="Verdana" panose="020B0604030504040204" pitchFamily="34" charset="0"/>
              </a:rPr>
              <a:t>可以</a:t>
            </a:r>
            <a:r>
              <a:rPr lang="zh-CN" altLang="en-US" sz="2400" dirty="0">
                <a:solidFill>
                  <a:srgbClr val="D75B5B"/>
                </a:solidFill>
                <a:latin typeface="Verdana" panose="020B0604030504040204" pitchFamily="34" charset="0"/>
              </a:rPr>
              <a:t>用 </a:t>
            </a:r>
            <a:r>
              <a:rPr lang="en-US" altLang="zh-CN" sz="2400" dirty="0">
                <a:solidFill>
                  <a:srgbClr val="D75B5B"/>
                </a:solidFill>
                <a:latin typeface="Verdana" panose="020B0604030504040204" pitchFamily="34" charset="0"/>
              </a:rPr>
              <a:t>= </a:t>
            </a:r>
            <a:r>
              <a:rPr lang="zh-CN" altLang="en-US" sz="2400" dirty="0">
                <a:solidFill>
                  <a:srgbClr val="D75B5B"/>
                </a:solidFill>
                <a:latin typeface="Verdana" panose="020B0604030504040204" pitchFamily="34" charset="0"/>
              </a:rPr>
              <a:t>代替</a:t>
            </a:r>
            <a:r>
              <a:rPr lang="en-US" altLang="zh-CN" sz="2400" dirty="0">
                <a:solidFill>
                  <a:srgbClr val="D75B5B"/>
                </a:solidFill>
                <a:latin typeface="Verdana" panose="020B0604030504040204" pitchFamily="34" charset="0"/>
              </a:rPr>
              <a:t>IN</a:t>
            </a:r>
            <a:r>
              <a:rPr lang="en-US" altLang="zh-CN" sz="2400" dirty="0">
                <a:latin typeface="Verdana" panose="020B0604030504040204" pitchFamily="34" charset="0"/>
              </a:rPr>
              <a:t> </a:t>
            </a:r>
            <a:r>
              <a:rPr lang="zh-CN" altLang="en-US" sz="2400" dirty="0">
                <a:latin typeface="Verdana" panose="020B0604030504040204" pitchFamily="34" charset="0"/>
              </a:rPr>
              <a:t>：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charRg st="28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charRg st="44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charRg st="59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charRg st="92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charRg st="128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969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带有比较运算符的子查询（续）</a:t>
            </a:r>
            <a:endParaRPr lang="zh-CN" altLang="en-US" sz="3200" dirty="0"/>
          </a:p>
        </p:txBody>
      </p:sp>
      <p:sp>
        <p:nvSpPr>
          <p:cNvPr id="673795" name="Rectangle 3"/>
          <p:cNvSpPr>
            <a:spLocks noGrp="1"/>
          </p:cNvSpPr>
          <p:nvPr>
            <p:ph idx="1"/>
          </p:nvPr>
        </p:nvSpPr>
        <p:spPr>
          <a:xfrm>
            <a:off x="385763" y="2278063"/>
            <a:ext cx="8578850" cy="34575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/>
              <a:t>    </a:t>
            </a:r>
            <a:r>
              <a:rPr lang="en-US" altLang="zh-CN" sz="2400" dirty="0"/>
              <a:t>SELECT Sno,</a:t>
            </a:r>
            <a:r>
              <a:rPr lang="zh-CN" altLang="en-US" sz="2400" dirty="0"/>
              <a:t> </a:t>
            </a:r>
            <a:r>
              <a:rPr lang="en-US" altLang="zh-CN" sz="2400" dirty="0"/>
              <a:t>Cno</a:t>
            </a:r>
            <a:endParaRPr lang="en-US" altLang="zh-CN" sz="2400" dirty="0"/>
          </a:p>
          <a:p>
            <a:pPr lvl="1" eaLnBrk="1" hangingPunct="1">
              <a:buNone/>
            </a:pPr>
            <a:r>
              <a:rPr lang="en-US" altLang="zh-CN" dirty="0"/>
              <a:t>FROM  SC  x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WHERE Grade &gt;=( SELECT AVG(Grade) 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		                         FROM  SC y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                     WHERE y.Sno=</a:t>
            </a:r>
            <a:r>
              <a:rPr lang="en-US" altLang="zh-CN" b="1" dirty="0">
                <a:solidFill>
                  <a:srgbClr val="FF0000"/>
                </a:solidFill>
              </a:rPr>
              <a:t>x.Sno</a:t>
            </a:r>
            <a:r>
              <a:rPr lang="en-US" altLang="zh-CN" dirty="0"/>
              <a:t> ) ;</a:t>
            </a:r>
            <a:endParaRPr lang="en-US" altLang="zh-CN" dirty="0"/>
          </a:p>
        </p:txBody>
      </p:sp>
      <p:sp>
        <p:nvSpPr>
          <p:cNvPr id="22533" name="Rectangle 5"/>
          <p:cNvSpPr/>
          <p:nvPr/>
        </p:nvSpPr>
        <p:spPr>
          <a:xfrm>
            <a:off x="755650" y="1268413"/>
            <a:ext cx="8137525" cy="954087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/>
            <a:r>
              <a:rPr lang="zh-CN" altLang="en-US" sz="2800" dirty="0">
                <a:latin typeface="Verdana" panose="020B0604030504040204" pitchFamily="34" charset="0"/>
              </a:rPr>
              <a:t>［例</a:t>
            </a:r>
            <a:r>
              <a:rPr lang="en-US" altLang="zh-CN" sz="2800" dirty="0">
                <a:latin typeface="Verdana" panose="020B0604030504040204" pitchFamily="34" charset="0"/>
              </a:rPr>
              <a:t>41</a:t>
            </a:r>
            <a:r>
              <a:rPr lang="zh-CN" altLang="en-US" sz="2800" dirty="0">
                <a:latin typeface="Verdana" panose="020B0604030504040204" pitchFamily="34" charset="0"/>
              </a:rPr>
              <a:t>］找出每个学生超过他选修的所有课程的平均成绩的课程号。要求输出：学号和课程号。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673798" name="Rectangle 6"/>
          <p:cNvSpPr/>
          <p:nvPr/>
        </p:nvSpPr>
        <p:spPr>
          <a:xfrm>
            <a:off x="642938" y="5143500"/>
            <a:ext cx="7715250" cy="95408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/>
            <a:r>
              <a:rPr lang="zh-CN" altLang="en-US" sz="2800" b="1" dirty="0">
                <a:solidFill>
                  <a:srgbClr val="FF3300"/>
                </a:solidFill>
                <a:latin typeface="Verdana" panose="020B0604030504040204" pitchFamily="34" charset="0"/>
              </a:rPr>
              <a:t>此查询为相关子查询：</a:t>
            </a:r>
            <a:r>
              <a:rPr lang="zh-CN" altLang="en-US" sz="2800" dirty="0">
                <a:solidFill>
                  <a:srgbClr val="0000FF"/>
                </a:solidFill>
                <a:latin typeface="Verdana" panose="020B0604030504040204" pitchFamily="34" charset="0"/>
              </a:rPr>
              <a:t>子查询的查询条件依赖于</a:t>
            </a:r>
            <a:endParaRPr lang="en-US" altLang="zh-CN" sz="2800" dirty="0">
              <a:solidFill>
                <a:srgbClr val="0000FF"/>
              </a:solidFill>
              <a:latin typeface="Verdana" panose="020B0604030504040204" pitchFamily="34" charset="0"/>
            </a:endParaRPr>
          </a:p>
          <a:p>
            <a:pPr marL="342900" indent="-342900"/>
            <a:r>
              <a:rPr lang="en-US" altLang="zh-CN" sz="2800" dirty="0">
                <a:solidFill>
                  <a:srgbClr val="0000FF"/>
                </a:solidFill>
                <a:latin typeface="Verdana" panose="020B0604030504040204" pitchFamily="34" charset="0"/>
              </a:rPr>
              <a:t>                             </a:t>
            </a:r>
            <a:r>
              <a:rPr lang="zh-CN" altLang="en-US" sz="2800" dirty="0">
                <a:solidFill>
                  <a:srgbClr val="0000FF"/>
                </a:solidFill>
                <a:latin typeface="Verdana" panose="020B0604030504040204" pitchFamily="34" charset="0"/>
              </a:rPr>
              <a:t>父查询</a:t>
            </a:r>
            <a:endParaRPr lang="zh-CN" altLang="en-US" sz="2800" b="1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3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67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105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5" grpId="0" build="p"/>
      <p:bldP spid="67379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2355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带有比较运算符的子查询（续）</a:t>
            </a:r>
            <a:endParaRPr lang="zh-CN" altLang="en-US" sz="3200" dirty="0"/>
          </a:p>
        </p:txBody>
      </p:sp>
      <p:sp>
        <p:nvSpPr>
          <p:cNvPr id="23556" name="Rectangle 3"/>
          <p:cNvSpPr>
            <a:spLocks noGrp="1"/>
          </p:cNvSpPr>
          <p:nvPr>
            <p:ph idx="1"/>
          </p:nvPr>
        </p:nvSpPr>
        <p:spPr>
          <a:xfrm>
            <a:off x="500063" y="1268413"/>
            <a:ext cx="8229600" cy="6762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</a:pPr>
            <a:r>
              <a:rPr lang="zh-CN" altLang="en-US" b="1" dirty="0"/>
              <a:t>可能的执行过程：</a:t>
            </a:r>
            <a:r>
              <a:rPr lang="zh-CN" altLang="en-US" sz="2400" dirty="0"/>
              <a:t> </a:t>
            </a:r>
            <a:endParaRPr lang="zh-CN" altLang="en-US" sz="2400" dirty="0"/>
          </a:p>
        </p:txBody>
      </p:sp>
      <p:sp>
        <p:nvSpPr>
          <p:cNvPr id="675844" name="Rectangle 4"/>
          <p:cNvSpPr/>
          <p:nvPr/>
        </p:nvSpPr>
        <p:spPr>
          <a:xfrm>
            <a:off x="828675" y="4060825"/>
            <a:ext cx="8064500" cy="2033588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</a:pPr>
            <a:r>
              <a:rPr lang="en-US" altLang="zh-CN" sz="2400" dirty="0">
                <a:latin typeface="Verdana" panose="020B0604030504040204" pitchFamily="34" charset="0"/>
              </a:rPr>
              <a:t>2. </a:t>
            </a:r>
            <a:r>
              <a:rPr lang="zh-CN" altLang="en-US" sz="2400" dirty="0">
                <a:latin typeface="Verdana" panose="020B0604030504040204" pitchFamily="34" charset="0"/>
              </a:rPr>
              <a:t>执行内层查询，得到值</a:t>
            </a:r>
            <a:r>
              <a:rPr lang="en-US" altLang="zh-CN" sz="2400" dirty="0">
                <a:latin typeface="Verdana" panose="020B0604030504040204" pitchFamily="34" charset="0"/>
              </a:rPr>
              <a:t>88</a:t>
            </a:r>
            <a:r>
              <a:rPr lang="zh-CN" altLang="en-US" sz="2400" dirty="0">
                <a:latin typeface="Verdana" panose="020B0604030504040204" pitchFamily="34" charset="0"/>
              </a:rPr>
              <a:t>（近似值），用该值代替内层查询，得到外层查询：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marL="342900" indent="-342900">
              <a:lnSpc>
                <a:spcPct val="110000"/>
              </a:lnSpc>
            </a:pPr>
            <a:r>
              <a:rPr lang="zh-CN" altLang="en-US" sz="2400" dirty="0">
                <a:latin typeface="Verdana" panose="020B0604030504040204" pitchFamily="34" charset="0"/>
              </a:rPr>
              <a:t>       </a:t>
            </a:r>
            <a:r>
              <a:rPr lang="en-US" altLang="zh-CN" sz="2000" dirty="0">
                <a:latin typeface="Verdana" panose="020B0604030504040204" pitchFamily="34" charset="0"/>
              </a:rPr>
              <a:t>SELECT Sno,</a:t>
            </a:r>
            <a:r>
              <a:rPr lang="zh-CN" altLang="en-US" sz="2000" dirty="0">
                <a:latin typeface="Verdana" panose="020B0604030504040204" pitchFamily="34" charset="0"/>
              </a:rPr>
              <a:t> </a:t>
            </a:r>
            <a:r>
              <a:rPr lang="en-US" altLang="zh-CN" sz="2000" dirty="0">
                <a:latin typeface="Verdana" panose="020B0604030504040204" pitchFamily="34" charset="0"/>
              </a:rPr>
              <a:t>Cno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pPr marL="342900" indent="-342900">
              <a:lnSpc>
                <a:spcPct val="110000"/>
              </a:lnSpc>
            </a:pPr>
            <a:r>
              <a:rPr lang="en-US" altLang="zh-CN" sz="2000" dirty="0">
                <a:latin typeface="Verdana" panose="020B0604030504040204" pitchFamily="34" charset="0"/>
              </a:rPr>
              <a:t>        FROM  SC x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pPr marL="342900" indent="-342900">
              <a:lnSpc>
                <a:spcPct val="110000"/>
              </a:lnSpc>
            </a:pPr>
            <a:r>
              <a:rPr lang="en-US" altLang="zh-CN" sz="2000" dirty="0">
                <a:latin typeface="Verdana" panose="020B0604030504040204" pitchFamily="34" charset="0"/>
              </a:rPr>
              <a:t>        WHERE Grade &gt;=88</a:t>
            </a:r>
            <a:r>
              <a:rPr lang="zh-CN" altLang="en-US" sz="2000" dirty="0">
                <a:latin typeface="Verdana" panose="020B0604030504040204" pitchFamily="34" charset="0"/>
              </a:rPr>
              <a:t>；</a:t>
            </a:r>
            <a:r>
              <a:rPr lang="zh-CN" altLang="en-US" sz="2400" dirty="0">
                <a:latin typeface="Verdana" panose="020B0604030504040204" pitchFamily="34" charset="0"/>
              </a:rPr>
              <a:t> 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675845" name="Rectangle 5"/>
          <p:cNvSpPr/>
          <p:nvPr/>
        </p:nvSpPr>
        <p:spPr>
          <a:xfrm>
            <a:off x="828675" y="1973263"/>
            <a:ext cx="7704138" cy="19669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</a:pPr>
            <a:r>
              <a:rPr lang="en-US" altLang="zh-CN" sz="2400" dirty="0">
                <a:latin typeface="Verdana" panose="020B0604030504040204" pitchFamily="34" charset="0"/>
              </a:rPr>
              <a:t>1. </a:t>
            </a:r>
            <a:r>
              <a:rPr lang="zh-CN" altLang="en-US" sz="2400" dirty="0">
                <a:latin typeface="Verdana" panose="020B0604030504040204" pitchFamily="34" charset="0"/>
              </a:rPr>
              <a:t>从外层查询中取出</a:t>
            </a:r>
            <a:r>
              <a:rPr lang="en-US" altLang="zh-CN" sz="2400" dirty="0">
                <a:latin typeface="Verdana" panose="020B0604030504040204" pitchFamily="34" charset="0"/>
              </a:rPr>
              <a:t>SC</a:t>
            </a:r>
            <a:r>
              <a:rPr lang="zh-CN" altLang="en-US" sz="2400" dirty="0">
                <a:latin typeface="Verdana" panose="020B0604030504040204" pitchFamily="34" charset="0"/>
              </a:rPr>
              <a:t>的一个元组</a:t>
            </a:r>
            <a:r>
              <a:rPr lang="en-US" altLang="zh-CN" sz="2400" dirty="0">
                <a:latin typeface="Verdana" panose="020B0604030504040204" pitchFamily="34" charset="0"/>
              </a:rPr>
              <a:t>x</a:t>
            </a:r>
            <a:r>
              <a:rPr lang="zh-CN" altLang="en-US" sz="2400" dirty="0">
                <a:latin typeface="Verdana" panose="020B0604030504040204" pitchFamily="34" charset="0"/>
              </a:rPr>
              <a:t>，将元组</a:t>
            </a:r>
            <a:r>
              <a:rPr lang="en-US" altLang="zh-CN" sz="2400" dirty="0">
                <a:latin typeface="Verdana" panose="020B0604030504040204" pitchFamily="34" charset="0"/>
              </a:rPr>
              <a:t>x</a:t>
            </a:r>
            <a:r>
              <a:rPr lang="zh-CN" altLang="en-US" sz="2400" dirty="0">
                <a:latin typeface="Verdana" panose="020B0604030504040204" pitchFamily="34" charset="0"/>
              </a:rPr>
              <a:t>的</a:t>
            </a:r>
            <a:r>
              <a:rPr lang="en-US" altLang="zh-CN" sz="2400" dirty="0">
                <a:latin typeface="Verdana" panose="020B0604030504040204" pitchFamily="34" charset="0"/>
              </a:rPr>
              <a:t>Sno</a:t>
            </a:r>
            <a:r>
              <a:rPr lang="zh-CN" altLang="en-US" sz="2400" dirty="0">
                <a:latin typeface="Verdana" panose="020B0604030504040204" pitchFamily="34" charset="0"/>
              </a:rPr>
              <a:t>值（</a:t>
            </a:r>
            <a:r>
              <a:rPr lang="en-US" altLang="zh-CN" sz="2400" dirty="0">
                <a:latin typeface="Verdana" panose="020B0604030504040204" pitchFamily="34" charset="0"/>
              </a:rPr>
              <a:t>200215121</a:t>
            </a:r>
            <a:r>
              <a:rPr lang="zh-CN" altLang="en-US" sz="2400" dirty="0">
                <a:latin typeface="Verdana" panose="020B0604030504040204" pitchFamily="34" charset="0"/>
              </a:rPr>
              <a:t>）传送给内层查询。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marL="342900" indent="-342900">
              <a:lnSpc>
                <a:spcPct val="110000"/>
              </a:lnSpc>
            </a:pPr>
            <a:r>
              <a:rPr lang="zh-CN" altLang="en-US" sz="2400" dirty="0">
                <a:latin typeface="Verdana" panose="020B0604030504040204" pitchFamily="34" charset="0"/>
              </a:rPr>
              <a:t>       </a:t>
            </a:r>
            <a:r>
              <a:rPr lang="en-US" altLang="zh-CN" sz="2000" dirty="0">
                <a:latin typeface="Verdana" panose="020B0604030504040204" pitchFamily="34" charset="0"/>
              </a:rPr>
              <a:t>SELECT  AVG(Grade)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pPr marL="342900" indent="-342900">
              <a:lnSpc>
                <a:spcPct val="110000"/>
              </a:lnSpc>
            </a:pPr>
            <a:r>
              <a:rPr lang="en-US" altLang="zh-CN" sz="2000" dirty="0">
                <a:latin typeface="Verdana" panose="020B0604030504040204" pitchFamily="34" charset="0"/>
              </a:rPr>
              <a:t>        FROM  SC  y 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pPr marL="342900" indent="-342900">
              <a:lnSpc>
                <a:spcPct val="110000"/>
              </a:lnSpc>
            </a:pPr>
            <a:r>
              <a:rPr lang="en-US" altLang="zh-CN" sz="2000" dirty="0">
                <a:latin typeface="Verdana" panose="020B0604030504040204" pitchFamily="34" charset="0"/>
              </a:rPr>
              <a:t>        WHERE  y.Sno='200215121';</a:t>
            </a:r>
            <a:endParaRPr lang="en-US" altLang="zh-CN" sz="20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44" grpId="0"/>
      <p:bldP spid="6758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带有比较运算符的子查询（续）</a:t>
            </a:r>
            <a:endParaRPr lang="zh-CN" altLang="en-US" sz="3200" dirty="0"/>
          </a:p>
        </p:txBody>
      </p:sp>
      <p:sp>
        <p:nvSpPr>
          <p:cNvPr id="677891" name="Rectangle 3"/>
          <p:cNvSpPr>
            <a:spLocks noGrp="1"/>
          </p:cNvSpPr>
          <p:nvPr>
            <p:ph idx="1"/>
          </p:nvPr>
        </p:nvSpPr>
        <p:spPr>
          <a:xfrm>
            <a:off x="684213" y="2708275"/>
            <a:ext cx="8229600" cy="2624138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dirty="0"/>
              <a:t>4. </a:t>
            </a:r>
            <a:r>
              <a:rPr lang="zh-CN" altLang="en-US" sz="2400" dirty="0"/>
              <a:t>外层查询取出下一个元组重复做上述</a:t>
            </a:r>
            <a:r>
              <a:rPr lang="en-US" altLang="zh-CN" sz="2400" dirty="0"/>
              <a:t>1</a:t>
            </a:r>
            <a:r>
              <a:rPr lang="zh-CN" altLang="en-US" sz="2400" dirty="0"/>
              <a:t>至</a:t>
            </a:r>
            <a:r>
              <a:rPr lang="en-US" altLang="zh-CN" sz="2400" dirty="0"/>
              <a:t>3</a:t>
            </a:r>
            <a:r>
              <a:rPr lang="zh-CN" altLang="en-US" sz="2400" dirty="0"/>
              <a:t>步骤，直到外层的</a:t>
            </a:r>
            <a:r>
              <a:rPr lang="en-US" altLang="zh-CN" sz="2400" dirty="0"/>
              <a:t>SC</a:t>
            </a:r>
            <a:r>
              <a:rPr lang="zh-CN" altLang="en-US" sz="2400" dirty="0"/>
              <a:t>元组全部处理完毕。结果为</a:t>
            </a:r>
            <a:r>
              <a:rPr lang="en-US" altLang="zh-CN" sz="2400" dirty="0"/>
              <a:t>:</a:t>
            </a:r>
            <a:endParaRPr lang="en-US" altLang="zh-CN" sz="2400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200215121</a:t>
            </a:r>
            <a:r>
              <a:rPr lang="zh-CN" altLang="en-US" sz="2000" dirty="0"/>
              <a:t>，</a:t>
            </a:r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200215121</a:t>
            </a:r>
            <a:r>
              <a:rPr lang="zh-CN" altLang="en-US" sz="2000" dirty="0"/>
              <a:t>，</a:t>
            </a:r>
            <a:r>
              <a:rPr lang="en-US" altLang="zh-CN" sz="2000" dirty="0"/>
              <a:t>3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200215122</a:t>
            </a:r>
            <a:r>
              <a:rPr lang="zh-CN" altLang="en-US" sz="2000" dirty="0"/>
              <a:t>，</a:t>
            </a:r>
            <a:r>
              <a:rPr lang="en-US" altLang="zh-CN" sz="2000" dirty="0"/>
              <a:t>2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pPr eaLnBrk="1" hangingPunct="1">
              <a:lnSpc>
                <a:spcPct val="130000"/>
              </a:lnSpc>
            </a:pPr>
            <a:endParaRPr lang="en-US" altLang="zh-CN" sz="2400" dirty="0"/>
          </a:p>
        </p:txBody>
      </p:sp>
      <p:sp>
        <p:nvSpPr>
          <p:cNvPr id="24581" name="Rectangle 4"/>
          <p:cNvSpPr/>
          <p:nvPr/>
        </p:nvSpPr>
        <p:spPr>
          <a:xfrm>
            <a:off x="684213" y="1341438"/>
            <a:ext cx="4572000" cy="123031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</a:pPr>
            <a:r>
              <a:rPr lang="en-US" altLang="zh-CN" sz="2400" dirty="0">
                <a:latin typeface="Verdana" panose="020B0604030504040204" pitchFamily="34" charset="0"/>
              </a:rPr>
              <a:t>3. </a:t>
            </a:r>
            <a:r>
              <a:rPr lang="zh-CN" altLang="en-US" sz="2400" dirty="0">
                <a:latin typeface="Verdana" panose="020B0604030504040204" pitchFamily="34" charset="0"/>
              </a:rPr>
              <a:t>执行这个查询，得到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marL="342900" indent="-342900">
              <a:lnSpc>
                <a:spcPct val="110000"/>
              </a:lnSpc>
            </a:pPr>
            <a:r>
              <a:rPr lang="zh-CN" altLang="en-US" sz="2400" dirty="0">
                <a:latin typeface="Verdana" panose="020B0604030504040204" pitchFamily="34" charset="0"/>
              </a:rPr>
              <a:t>    </a:t>
            </a:r>
            <a:r>
              <a:rPr lang="zh-CN" altLang="en-US" sz="2000" dirty="0">
                <a:latin typeface="Verdana" panose="020B0604030504040204" pitchFamily="34" charset="0"/>
              </a:rPr>
              <a:t>（</a:t>
            </a:r>
            <a:r>
              <a:rPr lang="en-US" altLang="zh-CN" sz="2000" dirty="0">
                <a:latin typeface="Verdana" panose="020B0604030504040204" pitchFamily="34" charset="0"/>
              </a:rPr>
              <a:t>200215121</a:t>
            </a:r>
            <a:r>
              <a:rPr lang="zh-CN" altLang="en-US" sz="2000" dirty="0">
                <a:latin typeface="Verdana" panose="020B0604030504040204" pitchFamily="34" charset="0"/>
              </a:rPr>
              <a:t>，</a:t>
            </a:r>
            <a:r>
              <a:rPr lang="en-US" altLang="zh-CN" sz="2000" dirty="0">
                <a:latin typeface="Verdana" panose="020B0604030504040204" pitchFamily="34" charset="0"/>
              </a:rPr>
              <a:t>1</a:t>
            </a:r>
            <a:r>
              <a:rPr lang="zh-CN" altLang="en-US" sz="2000" dirty="0">
                <a:latin typeface="Verdana" panose="020B0604030504040204" pitchFamily="34" charset="0"/>
              </a:rPr>
              <a:t>）</a:t>
            </a:r>
            <a:endParaRPr lang="zh-CN" altLang="en-US" sz="2000" dirty="0">
              <a:latin typeface="Verdana" panose="020B0604030504040204" pitchFamily="34" charset="0"/>
            </a:endParaRPr>
          </a:p>
          <a:p>
            <a:pPr marL="342900" indent="-342900">
              <a:lnSpc>
                <a:spcPct val="110000"/>
              </a:lnSpc>
            </a:pPr>
            <a:r>
              <a:rPr lang="zh-CN" altLang="en-US" sz="2000" dirty="0">
                <a:latin typeface="Verdana" panose="020B0604030504040204" pitchFamily="34" charset="0"/>
              </a:rPr>
              <a:t>     （</a:t>
            </a:r>
            <a:r>
              <a:rPr lang="en-US" altLang="zh-CN" sz="2000" dirty="0">
                <a:latin typeface="Verdana" panose="020B0604030504040204" pitchFamily="34" charset="0"/>
              </a:rPr>
              <a:t>200215121</a:t>
            </a:r>
            <a:r>
              <a:rPr lang="zh-CN" altLang="en-US" sz="2000" dirty="0">
                <a:latin typeface="Verdana" panose="020B0604030504040204" pitchFamily="34" charset="0"/>
              </a:rPr>
              <a:t>，</a:t>
            </a:r>
            <a:r>
              <a:rPr lang="en-US" altLang="zh-CN" sz="2000" dirty="0">
                <a:latin typeface="Verdana" panose="020B0604030504040204" pitchFamily="34" charset="0"/>
              </a:rPr>
              <a:t>3</a:t>
            </a:r>
            <a:r>
              <a:rPr lang="zh-CN" altLang="en-US" sz="2000" dirty="0">
                <a:latin typeface="Verdana" panose="020B0604030504040204" pitchFamily="34" charset="0"/>
              </a:rPr>
              <a:t>） </a:t>
            </a:r>
            <a:endParaRPr lang="zh-CN" altLang="en-US" sz="2000" dirty="0">
              <a:latin typeface="Verdana" panose="020B0604030504040204" pitchFamily="34" charset="0"/>
            </a:endParaRPr>
          </a:p>
        </p:txBody>
      </p:sp>
      <p:sp>
        <p:nvSpPr>
          <p:cNvPr id="24582" name="TextBox 3"/>
          <p:cNvSpPr txBox="1"/>
          <p:nvPr/>
        </p:nvSpPr>
        <p:spPr>
          <a:xfrm>
            <a:off x="214313" y="5262563"/>
            <a:ext cx="8786812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Verdana" panose="020B0604030504040204" pitchFamily="34" charset="0"/>
              </a:rPr>
              <a:t>简单总结：内层查询的结果值（或为唯一的，或为一个集合），是为外层的条件所用，但是，内层查询时需要外层提供一些内容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charRg st="46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charRg st="60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charRg st="74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891" grpId="0" build="p"/>
      <p:bldP spid="2458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214313" y="214313"/>
            <a:ext cx="8643937" cy="735012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思考：</a:t>
            </a:r>
            <a:r>
              <a:rPr lang="zh-CN" altLang="en-US" sz="4000" dirty="0"/>
              <a:t>如果要求输出学号和课程名呢</a:t>
            </a:r>
            <a:endParaRPr lang="zh-CN" altLang="en-US" dirty="0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566738" y="1289050"/>
            <a:ext cx="8001000" cy="4876800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dirty="0"/>
              <a:t>SELECT Sno,Cname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FROM  SC x,Course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WHERE x.cno=course.cno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and Grade &gt;=( SELECT AVG(Grade)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	       FROM  SC y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          WHERE y.Sno=x.Sno) </a:t>
            </a:r>
            <a:endParaRPr lang="zh-CN" altLang="en-US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7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charRg st="17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35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charRg st="35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59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charRg st="59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92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27">
                                            <p:txEl>
                                              <p:charRg st="92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charRg st="112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27">
                                            <p:txEl>
                                              <p:charRg st="112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2662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带有比较运算符的子查询（续）</a:t>
            </a:r>
            <a:endParaRPr lang="zh-CN" altLang="en-US" sz="3200" dirty="0"/>
          </a:p>
        </p:txBody>
      </p:sp>
      <p:sp>
        <p:nvSpPr>
          <p:cNvPr id="673795" name="Rectangle 3"/>
          <p:cNvSpPr>
            <a:spLocks noGrp="1"/>
          </p:cNvSpPr>
          <p:nvPr>
            <p:ph idx="1"/>
          </p:nvPr>
        </p:nvSpPr>
        <p:spPr>
          <a:xfrm>
            <a:off x="785813" y="2500313"/>
            <a:ext cx="8229600" cy="34575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/>
              <a:t>    </a:t>
            </a:r>
            <a:r>
              <a:rPr lang="en-US" altLang="zh-CN" sz="2400" dirty="0"/>
              <a:t>SELECT Sno,</a:t>
            </a:r>
            <a:r>
              <a:rPr lang="zh-CN" altLang="en-US" sz="2400" dirty="0"/>
              <a:t> </a:t>
            </a:r>
            <a:r>
              <a:rPr lang="en-US" altLang="zh-CN" sz="2400" dirty="0"/>
              <a:t>Cno</a:t>
            </a:r>
            <a:endParaRPr lang="en-US" altLang="zh-CN" sz="2400" dirty="0"/>
          </a:p>
          <a:p>
            <a:pPr lvl="1" eaLnBrk="1" hangingPunct="1">
              <a:buNone/>
            </a:pPr>
            <a:r>
              <a:rPr lang="en-US" altLang="zh-CN" dirty="0"/>
              <a:t>FROM  SC  x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WHERE Grade &gt;=( SELECT AVG(Grade) 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		                           FROM  SC y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                  WHERE y.cno=</a:t>
            </a:r>
            <a:r>
              <a:rPr lang="en-US" altLang="zh-CN" b="1" dirty="0">
                <a:solidFill>
                  <a:srgbClr val="FF0000"/>
                </a:solidFill>
              </a:rPr>
              <a:t>x.cno</a:t>
            </a:r>
            <a:r>
              <a:rPr lang="en-US" altLang="zh-CN" dirty="0"/>
              <a:t> ) ;</a:t>
            </a:r>
            <a:endParaRPr lang="en-US" altLang="zh-CN" dirty="0"/>
          </a:p>
        </p:txBody>
      </p:sp>
      <p:sp>
        <p:nvSpPr>
          <p:cNvPr id="26629" name="Rectangle 5"/>
          <p:cNvSpPr/>
          <p:nvPr/>
        </p:nvSpPr>
        <p:spPr>
          <a:xfrm>
            <a:off x="755650" y="1341438"/>
            <a:ext cx="8280400" cy="1384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/>
            <a:r>
              <a:rPr lang="zh-CN" altLang="en-US" sz="2800" dirty="0">
                <a:latin typeface="Verdana" panose="020B0604030504040204" pitchFamily="34" charset="0"/>
              </a:rPr>
              <a:t>［例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</a:rPr>
              <a:t>（扩展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</a:rPr>
              <a:t>）］</a:t>
            </a:r>
            <a:r>
              <a:rPr lang="zh-CN" altLang="en-US" sz="2800" dirty="0">
                <a:latin typeface="Verdana" panose="020B0604030504040204" pitchFamily="34" charset="0"/>
              </a:rPr>
              <a:t>找出每个学生课程成绩超过本门课程的平均成绩的课程号。输出：</a:t>
            </a:r>
            <a:r>
              <a:rPr lang="en-US" altLang="zh-CN" sz="2800" dirty="0">
                <a:latin typeface="Verdana" panose="020B0604030504040204" pitchFamily="34" charset="0"/>
              </a:rPr>
              <a:t>Sno,</a:t>
            </a:r>
            <a:r>
              <a:rPr lang="zh-CN" altLang="en-US" sz="2800" dirty="0">
                <a:latin typeface="Verdana" panose="020B0604030504040204" pitchFamily="34" charset="0"/>
              </a:rPr>
              <a:t> </a:t>
            </a:r>
            <a:r>
              <a:rPr lang="en-US" altLang="zh-CN" sz="2800" dirty="0">
                <a:latin typeface="Verdana" panose="020B0604030504040204" pitchFamily="34" charset="0"/>
              </a:rPr>
              <a:t>Cno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marL="342900" indent="-342900"/>
            <a:endParaRPr lang="zh-CN" altLang="en-US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3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67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107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2765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带有比较运算符的子查询（续）</a:t>
            </a:r>
            <a:endParaRPr lang="zh-CN" altLang="en-US" sz="3200" dirty="0"/>
          </a:p>
        </p:txBody>
      </p:sp>
      <p:sp>
        <p:nvSpPr>
          <p:cNvPr id="673795" name="Rectangle 3"/>
          <p:cNvSpPr>
            <a:spLocks noGrp="1"/>
          </p:cNvSpPr>
          <p:nvPr>
            <p:ph idx="1"/>
          </p:nvPr>
        </p:nvSpPr>
        <p:spPr>
          <a:xfrm>
            <a:off x="785813" y="2500313"/>
            <a:ext cx="8229600" cy="345757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/>
              <a:t>    </a:t>
            </a:r>
            <a:r>
              <a:rPr lang="en-US" altLang="zh-CN" sz="2400" dirty="0"/>
              <a:t>SELECT Cno,</a:t>
            </a:r>
            <a:r>
              <a:rPr lang="zh-CN" altLang="en-US" sz="2400" dirty="0"/>
              <a:t> </a:t>
            </a:r>
            <a:r>
              <a:rPr lang="en-US" altLang="zh-CN" sz="2400" dirty="0"/>
              <a:t>Sno</a:t>
            </a:r>
            <a:endParaRPr lang="en-US" altLang="zh-CN" sz="2400" dirty="0"/>
          </a:p>
          <a:p>
            <a:pPr lvl="1" eaLnBrk="1" hangingPunct="1">
              <a:buNone/>
            </a:pPr>
            <a:r>
              <a:rPr lang="en-US" altLang="zh-CN" dirty="0"/>
              <a:t>FROM  SC  x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WHERE Grade =( SELECT max(Grade) 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		                       FROM  SC y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                   WHERE y.cno=</a:t>
            </a:r>
            <a:r>
              <a:rPr lang="en-US" altLang="zh-CN" b="1" dirty="0">
                <a:solidFill>
                  <a:srgbClr val="FF0000"/>
                </a:solidFill>
              </a:rPr>
              <a:t>x.cno</a:t>
            </a:r>
            <a:r>
              <a:rPr lang="en-US" altLang="zh-CN" dirty="0"/>
              <a:t> ) ;</a:t>
            </a:r>
            <a:endParaRPr lang="en-US" altLang="zh-CN" dirty="0"/>
          </a:p>
        </p:txBody>
      </p:sp>
      <p:sp>
        <p:nvSpPr>
          <p:cNvPr id="27653" name="Rectangle 5"/>
          <p:cNvSpPr/>
          <p:nvPr/>
        </p:nvSpPr>
        <p:spPr>
          <a:xfrm>
            <a:off x="755650" y="1341438"/>
            <a:ext cx="7848600" cy="13843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/>
            <a:r>
              <a:rPr lang="zh-CN" altLang="en-US" sz="2800" dirty="0">
                <a:latin typeface="Verdana" panose="020B0604030504040204" pitchFamily="34" charset="0"/>
              </a:rPr>
              <a:t>［例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</a:rPr>
              <a:t>（扩展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Verdana" panose="020B0604030504040204" pitchFamily="34" charset="0"/>
              </a:rPr>
              <a:t>）］</a:t>
            </a:r>
            <a:r>
              <a:rPr lang="zh-CN" altLang="en-US" sz="2800" dirty="0">
                <a:latin typeface="Verdana" panose="020B0604030504040204" pitchFamily="34" charset="0"/>
              </a:rPr>
              <a:t>查找每门课考试成绩最高的学生的学号。输出：</a:t>
            </a:r>
            <a:r>
              <a:rPr lang="en-US" altLang="zh-CN" sz="2800" dirty="0">
                <a:latin typeface="Verdana" panose="020B0604030504040204" pitchFamily="34" charset="0"/>
              </a:rPr>
              <a:t>Cno,</a:t>
            </a:r>
            <a:r>
              <a:rPr lang="zh-CN" altLang="en-US" sz="2800" dirty="0">
                <a:latin typeface="Verdana" panose="020B0604030504040204" pitchFamily="34" charset="0"/>
              </a:rPr>
              <a:t> </a:t>
            </a:r>
            <a:r>
              <a:rPr lang="en-US" altLang="zh-CN" sz="2800" dirty="0">
                <a:latin typeface="Verdana" panose="020B0604030504040204" pitchFamily="34" charset="0"/>
              </a:rPr>
              <a:t>Sno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marL="342900" indent="-342900"/>
            <a:endParaRPr lang="zh-CN" altLang="en-US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20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32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66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5">
                                            <p:txEl>
                                              <p:charRg st="102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提问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157288"/>
            <a:ext cx="8253412" cy="4071937"/>
          </a:xfrm>
          <a:ln/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查询比自己所在系的学生平均年龄低的学生的学号和姓名。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零件表中，查询每种颜色的零件中最重的那种零件的</a:t>
            </a:r>
            <a:r>
              <a:rPr lang="en-US" altLang="zh-CN" dirty="0"/>
              <a:t>PNO</a:t>
            </a:r>
            <a:r>
              <a:rPr lang="zh-CN" altLang="en-US" dirty="0"/>
              <a:t>，要求输出</a:t>
            </a:r>
            <a:r>
              <a:rPr lang="en-US" altLang="zh-CN" dirty="0"/>
              <a:t>pno,color,weight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</a:t>
            </a:r>
            <a:r>
              <a:rPr lang="zh-CN" altLang="en-US" dirty="0"/>
              <a:t>（</a:t>
            </a:r>
            <a:r>
              <a:rPr lang="en-US" altLang="zh-CN" dirty="0"/>
              <a:t>pno</a:t>
            </a:r>
            <a:r>
              <a:rPr lang="zh-CN" altLang="en-US" dirty="0"/>
              <a:t>，</a:t>
            </a:r>
            <a:r>
              <a:rPr lang="en-US" altLang="zh-CN" dirty="0"/>
              <a:t>pname</a:t>
            </a:r>
            <a:r>
              <a:rPr lang="zh-CN" altLang="en-US" dirty="0"/>
              <a:t>，</a:t>
            </a:r>
            <a:r>
              <a:rPr lang="en-US" altLang="zh-CN" dirty="0"/>
              <a:t>color</a:t>
            </a:r>
            <a:r>
              <a:rPr lang="zh-CN" altLang="en-US" dirty="0"/>
              <a:t>，</a:t>
            </a:r>
            <a:r>
              <a:rPr lang="en-US" altLang="zh-CN" dirty="0"/>
              <a:t>weight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0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30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2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82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矩形 1"/>
          <p:cNvSpPr/>
          <p:nvPr/>
        </p:nvSpPr>
        <p:spPr>
          <a:xfrm>
            <a:off x="323850" y="476250"/>
            <a:ext cx="6551613" cy="2678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1.select sno</a:t>
            </a:r>
            <a:r>
              <a:rPr lang="zh-CN" altLang="en-US" sz="2800" dirty="0">
                <a:latin typeface="Verdana" panose="020B0604030504040204" pitchFamily="34" charset="0"/>
              </a:rPr>
              <a:t>，</a:t>
            </a:r>
            <a:r>
              <a:rPr lang="en-US" altLang="zh-CN" sz="2800" dirty="0">
                <a:latin typeface="Verdana" panose="020B0604030504040204" pitchFamily="34" charset="0"/>
              </a:rPr>
              <a:t>sname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from student s1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where sage&lt;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lvl="2"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(select avg(sage)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        from student s2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lvl="2"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where s2.sdept=s1.sdept )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29699" name="矩形 2"/>
          <p:cNvSpPr/>
          <p:nvPr/>
        </p:nvSpPr>
        <p:spPr>
          <a:xfrm>
            <a:off x="2243138" y="3573463"/>
            <a:ext cx="6624637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2.select pno,color,weight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from p p1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where weight=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lvl="2"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(select max(weight)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lvl="2"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from p p2</a:t>
            </a:r>
            <a:endParaRPr lang="en-US" altLang="zh-CN" sz="2800" dirty="0">
              <a:latin typeface="Verdana" panose="020B0604030504040204" pitchFamily="34" charset="0"/>
            </a:endParaRPr>
          </a:p>
          <a:p>
            <a:pPr lvl="2"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where p2.color=p1.color )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3072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3.4.3  </a:t>
            </a:r>
            <a:r>
              <a:rPr lang="zh-CN" altLang="en-US" dirty="0"/>
              <a:t>嵌套查询</a:t>
            </a:r>
            <a:endParaRPr lang="zh-CN" altLang="en-US" dirty="0"/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en-US" altLang="zh-CN" dirty="0"/>
              <a:t>  </a:t>
            </a:r>
            <a:r>
              <a:rPr lang="zh-CN" altLang="en-US" dirty="0"/>
              <a:t>一、带有</a:t>
            </a:r>
            <a:r>
              <a:rPr lang="en-US" altLang="zh-CN" dirty="0"/>
              <a:t>IN</a:t>
            </a:r>
            <a:r>
              <a:rPr lang="zh-CN" altLang="en-US" dirty="0"/>
              <a:t>谓词的子查询 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二、 带有比较运算符的子查询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  三、 带有</a:t>
            </a:r>
            <a:r>
              <a:rPr lang="en-US" altLang="zh-CN" dirty="0">
                <a:solidFill>
                  <a:srgbClr val="FF0000"/>
                </a:solidFill>
              </a:rPr>
              <a:t>ANY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SOME</a:t>
            </a:r>
            <a:r>
              <a:rPr lang="zh-CN" altLang="en-US" dirty="0">
                <a:solidFill>
                  <a:srgbClr val="FF0000"/>
                </a:solidFill>
              </a:rPr>
              <a:t>）或</a:t>
            </a:r>
            <a:r>
              <a:rPr lang="en-US" altLang="zh-CN" dirty="0">
                <a:solidFill>
                  <a:srgbClr val="FF0000"/>
                </a:solidFill>
              </a:rPr>
              <a:t>ALL</a:t>
            </a:r>
            <a:r>
              <a:rPr lang="zh-CN" altLang="en-US" dirty="0">
                <a:solidFill>
                  <a:srgbClr val="FF0000"/>
                </a:solidFill>
              </a:rPr>
              <a:t>谓词的子查询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四、 带有</a:t>
            </a:r>
            <a:r>
              <a:rPr lang="en-US" altLang="zh-CN" dirty="0"/>
              <a:t>EXISTS</a:t>
            </a:r>
            <a:r>
              <a:rPr lang="zh-CN" altLang="en-US" dirty="0"/>
              <a:t>谓词的子查询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dirty="0"/>
              <a:t>三、带有</a:t>
            </a:r>
            <a:r>
              <a:rPr lang="en-US" altLang="zh-CN" sz="2800" dirty="0"/>
              <a:t>ANY</a:t>
            </a:r>
            <a:r>
              <a:rPr lang="zh-CN" altLang="en-US" sz="2800" dirty="0"/>
              <a:t>（</a:t>
            </a:r>
            <a:r>
              <a:rPr lang="en-US" altLang="zh-CN" sz="2800" dirty="0"/>
              <a:t>SOME</a:t>
            </a:r>
            <a:r>
              <a:rPr lang="zh-CN" altLang="en-US" sz="2800" dirty="0"/>
              <a:t>）或</a:t>
            </a:r>
            <a:r>
              <a:rPr lang="en-US" altLang="zh-CN" sz="2800" dirty="0"/>
              <a:t>ALL</a:t>
            </a:r>
            <a:r>
              <a:rPr lang="zh-CN" altLang="en-US" sz="2800" dirty="0"/>
              <a:t>谓词的子查询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31748" name="Rectangle 3"/>
          <p:cNvSpPr>
            <a:spLocks noGrp="1"/>
          </p:cNvSpPr>
          <p:nvPr>
            <p:ph idx="1"/>
          </p:nvPr>
        </p:nvSpPr>
        <p:spPr>
          <a:xfrm>
            <a:off x="971550" y="1700213"/>
            <a:ext cx="7772400" cy="4114800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lnSpc>
                <a:spcPct val="130000"/>
              </a:lnSpc>
              <a:buFont typeface="宋体" panose="02010600030101010101" pitchFamily="2" charset="-122"/>
              <a:buNone/>
            </a:pPr>
            <a:r>
              <a:rPr lang="zh-CN" altLang="en-US" dirty="0"/>
              <a:t>谓词语义</a:t>
            </a:r>
            <a:endParaRPr lang="zh-CN" altLang="en-US" dirty="0"/>
          </a:p>
          <a:p>
            <a:pPr marL="990600" lvl="1" indent="-533400" eaLnBrk="1" hangingPunct="1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dirty="0"/>
              <a:t>ANY</a:t>
            </a:r>
            <a:r>
              <a:rPr lang="zh-CN" altLang="en-US" dirty="0"/>
              <a:t>：</a:t>
            </a:r>
            <a:r>
              <a:rPr lang="zh-CN" altLang="en-US" b="1" dirty="0">
                <a:solidFill>
                  <a:srgbClr val="0000FF"/>
                </a:solidFill>
              </a:rPr>
              <a:t>某个值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990600" lvl="1" indent="-533400" eaLnBrk="1" hangingPunct="1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en-US" altLang="zh-CN" dirty="0"/>
              <a:t>ALL</a:t>
            </a:r>
            <a:r>
              <a:rPr lang="zh-CN" altLang="en-US" dirty="0"/>
              <a:t>：所有值</a:t>
            </a:r>
            <a:endParaRPr lang="zh-CN" altLang="en-US" dirty="0"/>
          </a:p>
          <a:p>
            <a:pPr marL="609600" indent="-609600" eaLnBrk="1" hangingPunct="1">
              <a:lnSpc>
                <a:spcPct val="130000"/>
              </a:lnSpc>
              <a:buFont typeface="宋体" panose="02010600030101010101" pitchFamily="2" charset="-122"/>
              <a:buChar char="●"/>
            </a:pPr>
            <a:endParaRPr lang="zh-CN" altLang="en-US" dirty="0"/>
          </a:p>
          <a:p>
            <a:pPr marL="609600" indent="-609600" eaLnBrk="1" hangingPunct="1">
              <a:buNone/>
            </a:pPr>
            <a:endParaRPr lang="zh-CN" altLang="en-US" dirty="0"/>
          </a:p>
          <a:p>
            <a:pPr marL="609600" indent="-609600"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3277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400" dirty="0"/>
              <a:t>带有</a:t>
            </a:r>
            <a:r>
              <a:rPr lang="en-US" altLang="zh-CN" sz="2400" dirty="0"/>
              <a:t>ANY</a:t>
            </a:r>
            <a:r>
              <a:rPr lang="zh-CN" altLang="en-US" sz="2400" dirty="0"/>
              <a:t>（</a:t>
            </a:r>
            <a:r>
              <a:rPr lang="en-US" altLang="zh-CN" sz="2400" dirty="0"/>
              <a:t>SOME</a:t>
            </a:r>
            <a:r>
              <a:rPr lang="zh-CN" altLang="en-US" sz="2400" dirty="0"/>
              <a:t>）或</a:t>
            </a:r>
            <a:r>
              <a:rPr lang="en-US" altLang="zh-CN" sz="2400" dirty="0"/>
              <a:t>ALL</a:t>
            </a:r>
            <a:r>
              <a:rPr lang="zh-CN" altLang="en-US" sz="2400" dirty="0"/>
              <a:t>谓词的子查询 （续）</a:t>
            </a:r>
            <a:endParaRPr lang="zh-CN" altLang="en-US" sz="2400" dirty="0"/>
          </a:p>
        </p:txBody>
      </p:sp>
      <p:sp>
        <p:nvSpPr>
          <p:cNvPr id="32772" name="Rectangle 3"/>
          <p:cNvSpPr>
            <a:spLocks noGrp="1"/>
          </p:cNvSpPr>
          <p:nvPr>
            <p:ph idx="1"/>
          </p:nvPr>
        </p:nvSpPr>
        <p:spPr>
          <a:xfrm>
            <a:off x="684213" y="1196975"/>
            <a:ext cx="7772400" cy="4419600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zh-CN" altLang="en-US" sz="2400" dirty="0"/>
              <a:t>需要配合使用比较运算符</a:t>
            </a:r>
            <a:endParaRPr lang="zh-CN" altLang="en-US" sz="24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&gt; ANY	</a:t>
            </a:r>
            <a:r>
              <a:rPr lang="zh-CN" altLang="en-US" sz="1800" dirty="0"/>
              <a:t>大于子查询结果中的某个值       </a:t>
            </a:r>
            <a:endParaRPr lang="zh-CN" altLang="en-US" sz="18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&gt; ALL	</a:t>
            </a:r>
            <a:r>
              <a:rPr lang="zh-CN" altLang="en-US" sz="1800" dirty="0"/>
              <a:t>大于子查询结果中的所有值</a:t>
            </a:r>
            <a:endParaRPr lang="zh-CN" altLang="en-US" sz="18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&lt; ANY	</a:t>
            </a:r>
            <a:r>
              <a:rPr lang="zh-CN" altLang="en-US" sz="1800" dirty="0"/>
              <a:t>小于子查询结果中的某个值    </a:t>
            </a:r>
            <a:endParaRPr lang="zh-CN" altLang="en-US" sz="18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&lt; ALL	</a:t>
            </a:r>
            <a:r>
              <a:rPr lang="zh-CN" altLang="en-US" sz="1800" dirty="0"/>
              <a:t>小于子查询结果中的所有值</a:t>
            </a:r>
            <a:endParaRPr lang="zh-CN" altLang="en-US" sz="18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&gt;= ANY	</a:t>
            </a:r>
            <a:r>
              <a:rPr lang="zh-CN" altLang="en-US" sz="1800" dirty="0"/>
              <a:t>大于等于子查询结果中的某个值    </a:t>
            </a:r>
            <a:endParaRPr lang="zh-CN" altLang="en-US" sz="18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&gt;= ALL	</a:t>
            </a:r>
            <a:r>
              <a:rPr lang="zh-CN" altLang="en-US" sz="1800" dirty="0"/>
              <a:t>大于等于子查询结果中的所有值</a:t>
            </a:r>
            <a:endParaRPr lang="zh-CN" altLang="en-US" sz="18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&lt;= ANY	</a:t>
            </a:r>
            <a:r>
              <a:rPr lang="zh-CN" altLang="en-US" sz="1800" dirty="0"/>
              <a:t>小于等于子查询结果中的某个值    </a:t>
            </a:r>
            <a:endParaRPr lang="zh-CN" altLang="en-US" sz="18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&lt;= ALL	</a:t>
            </a:r>
            <a:r>
              <a:rPr lang="zh-CN" altLang="en-US" sz="1800" dirty="0"/>
              <a:t>小于等于子查询结果中的所有值</a:t>
            </a:r>
            <a:endParaRPr lang="zh-CN" altLang="en-US" sz="18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= ANY	</a:t>
            </a:r>
            <a:r>
              <a:rPr lang="zh-CN" altLang="en-US" sz="1800" dirty="0"/>
              <a:t>等于子查询结果中的某个值        </a:t>
            </a:r>
            <a:endParaRPr lang="zh-CN" altLang="en-US" sz="18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=ALL	</a:t>
            </a:r>
            <a:r>
              <a:rPr lang="zh-CN" altLang="en-US" sz="1800" dirty="0"/>
              <a:t>等于子查询结果中的所有值（通常没有实际意义）</a:t>
            </a:r>
            <a:endParaRPr lang="zh-CN" altLang="en-US" sz="18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!=</a:t>
            </a:r>
            <a:r>
              <a:rPr lang="zh-CN" altLang="en-US" sz="1800" dirty="0"/>
              <a:t>（或</a:t>
            </a:r>
            <a:r>
              <a:rPr lang="en-US" altLang="zh-CN" sz="1800" dirty="0"/>
              <a:t>&lt;&gt;</a:t>
            </a:r>
            <a:r>
              <a:rPr lang="zh-CN" altLang="en-US" sz="1800" dirty="0"/>
              <a:t>）</a:t>
            </a:r>
            <a:r>
              <a:rPr lang="en-US" altLang="zh-CN" sz="1800" dirty="0"/>
              <a:t>ANY	</a:t>
            </a:r>
            <a:r>
              <a:rPr lang="zh-CN" altLang="en-US" sz="1800" dirty="0"/>
              <a:t>不等于子查询结果中的某个值</a:t>
            </a:r>
            <a:endParaRPr lang="zh-CN" altLang="en-US" sz="1800" dirty="0"/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dirty="0"/>
              <a:t>!=</a:t>
            </a:r>
            <a:r>
              <a:rPr lang="zh-CN" altLang="en-US" sz="1800" dirty="0"/>
              <a:t>（或</a:t>
            </a:r>
            <a:r>
              <a:rPr lang="en-US" altLang="zh-CN" sz="1800" dirty="0"/>
              <a:t>&lt;&gt;</a:t>
            </a:r>
            <a:r>
              <a:rPr lang="zh-CN" altLang="en-US" sz="1800" dirty="0"/>
              <a:t>）</a:t>
            </a:r>
            <a:r>
              <a:rPr lang="en-US" altLang="zh-CN" sz="1800" dirty="0"/>
              <a:t>ALL	</a:t>
            </a:r>
            <a:r>
              <a:rPr lang="zh-CN" altLang="en-US" sz="1800" dirty="0"/>
              <a:t>不等于子查询结果中的任何一个值</a:t>
            </a:r>
            <a:endParaRPr lang="zh-CN" altLang="en-US" sz="2000" dirty="0"/>
          </a:p>
        </p:txBody>
      </p:sp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400" dirty="0"/>
              <a:t>带有</a:t>
            </a:r>
            <a:r>
              <a:rPr lang="en-US" altLang="zh-CN" sz="2400" dirty="0"/>
              <a:t>ANY</a:t>
            </a:r>
            <a:r>
              <a:rPr lang="zh-CN" altLang="en-US" sz="2400" dirty="0"/>
              <a:t>（</a:t>
            </a:r>
            <a:r>
              <a:rPr lang="en-US" altLang="zh-CN" sz="2400" dirty="0"/>
              <a:t>SOME</a:t>
            </a:r>
            <a:r>
              <a:rPr lang="zh-CN" altLang="en-US" sz="2400" dirty="0"/>
              <a:t>）或</a:t>
            </a:r>
            <a:r>
              <a:rPr lang="en-US" altLang="zh-CN" sz="2400" dirty="0"/>
              <a:t>ALL</a:t>
            </a:r>
            <a:r>
              <a:rPr lang="zh-CN" altLang="en-US" sz="2400" dirty="0"/>
              <a:t>谓词的子查询 （续）</a:t>
            </a:r>
            <a:endParaRPr lang="zh-CN" altLang="en-US" sz="2400" dirty="0"/>
          </a:p>
        </p:txBody>
      </p:sp>
      <p:sp>
        <p:nvSpPr>
          <p:cNvPr id="686083" name="Rectangle 3"/>
          <p:cNvSpPr>
            <a:spLocks noGrp="1"/>
          </p:cNvSpPr>
          <p:nvPr>
            <p:ph idx="1"/>
          </p:nvPr>
        </p:nvSpPr>
        <p:spPr>
          <a:xfrm>
            <a:off x="285750" y="2143125"/>
            <a:ext cx="8572500" cy="4071938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800" dirty="0"/>
              <a:t>    </a:t>
            </a:r>
            <a:r>
              <a:rPr lang="en-US" altLang="zh-CN" sz="2400" dirty="0"/>
              <a:t>SELECT Sname</a:t>
            </a:r>
            <a:r>
              <a:rPr lang="zh-CN" altLang="en-US" sz="2400" dirty="0"/>
              <a:t>，</a:t>
            </a:r>
            <a:r>
              <a:rPr lang="en-US" altLang="zh-CN" sz="2400" dirty="0"/>
              <a:t>Sage</a:t>
            </a:r>
            <a:endParaRPr lang="en-US" altLang="zh-CN" sz="2400" dirty="0"/>
          </a:p>
          <a:p>
            <a:pPr marL="990600" lvl="1" indent="-533400" eaLnBrk="1" hangingPunct="1">
              <a:lnSpc>
                <a:spcPct val="11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FROM    Student</a:t>
            </a:r>
            <a:endParaRPr lang="en-US" altLang="zh-CN" sz="2400" dirty="0"/>
          </a:p>
          <a:p>
            <a:pPr marL="990600" lvl="1" indent="-533400" eaLnBrk="1" hangingPunct="1">
              <a:lnSpc>
                <a:spcPct val="11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WHERE Sage &lt; </a:t>
            </a:r>
            <a:r>
              <a:rPr lang="en-US" altLang="zh-CN" sz="2400" dirty="0">
                <a:solidFill>
                  <a:srgbClr val="D75B5B"/>
                </a:solidFill>
              </a:rPr>
              <a:t>ANY</a:t>
            </a:r>
            <a:r>
              <a:rPr lang="en-US" altLang="zh-CN" sz="2400" dirty="0"/>
              <a:t> (SELECT  Sage</a:t>
            </a:r>
            <a:endParaRPr lang="en-US" altLang="zh-CN" sz="2400" dirty="0"/>
          </a:p>
          <a:p>
            <a:pPr marL="990600" lvl="1" indent="-533400" eaLnBrk="1" hangingPunct="1">
              <a:lnSpc>
                <a:spcPct val="11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        FROM    Student</a:t>
            </a:r>
            <a:endParaRPr lang="en-US" altLang="zh-CN" sz="2400" dirty="0"/>
          </a:p>
          <a:p>
            <a:pPr marL="990600" lvl="1" indent="-533400" eaLnBrk="1" hangingPunct="1">
              <a:lnSpc>
                <a:spcPct val="11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        WHERE Sdept= ' CS ')</a:t>
            </a:r>
            <a:endParaRPr lang="en-US" altLang="zh-CN" sz="2400" dirty="0"/>
          </a:p>
          <a:p>
            <a:pPr marL="990600" lvl="1" indent="-533400" eaLnBrk="1" hangingPunct="1">
              <a:lnSpc>
                <a:spcPct val="11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      </a:t>
            </a:r>
            <a:r>
              <a:rPr lang="en-US" altLang="zh-CN" sz="2400" dirty="0">
                <a:solidFill>
                  <a:srgbClr val="D75B5B"/>
                </a:solidFill>
              </a:rPr>
              <a:t>AND Sdept &lt;&gt; ‘CS '</a:t>
            </a:r>
            <a:r>
              <a:rPr lang="en-US" altLang="zh-CN" sz="2400" dirty="0"/>
              <a:t> ; /*</a:t>
            </a:r>
            <a:r>
              <a:rPr lang="zh-CN" altLang="en-US" sz="2400" dirty="0"/>
              <a:t>父查询块中的条件 *</a:t>
            </a:r>
            <a:r>
              <a:rPr lang="en-US" altLang="zh-CN" sz="2400" dirty="0"/>
              <a:t>/</a:t>
            </a:r>
            <a:endParaRPr lang="en-US" altLang="zh-CN" dirty="0"/>
          </a:p>
        </p:txBody>
      </p:sp>
      <p:sp>
        <p:nvSpPr>
          <p:cNvPr id="33797" name="Rectangle 4"/>
          <p:cNvSpPr/>
          <p:nvPr/>
        </p:nvSpPr>
        <p:spPr>
          <a:xfrm>
            <a:off x="500063" y="1357313"/>
            <a:ext cx="8208962" cy="830262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宋体" panose="02010600030101010101" pitchFamily="2" charset="-122"/>
            </a:pPr>
            <a:r>
              <a:rPr lang="en-US" altLang="zh-CN" sz="2400" dirty="0">
                <a:latin typeface="Verdana" panose="020B0604030504040204" pitchFamily="34" charset="0"/>
              </a:rPr>
              <a:t>[</a:t>
            </a:r>
            <a:r>
              <a:rPr lang="zh-CN" altLang="en-US" sz="2400" dirty="0">
                <a:latin typeface="Verdana" panose="020B0604030504040204" pitchFamily="34" charset="0"/>
              </a:rPr>
              <a:t>例</a:t>
            </a:r>
            <a:r>
              <a:rPr lang="en-US" altLang="zh-CN" sz="2400" dirty="0">
                <a:latin typeface="Verdana" panose="020B0604030504040204" pitchFamily="34" charset="0"/>
              </a:rPr>
              <a:t>42]  </a:t>
            </a:r>
            <a:r>
              <a:rPr lang="zh-CN" altLang="en-US" sz="2400" dirty="0">
                <a:latin typeface="Verdana" panose="020B0604030504040204" pitchFamily="34" charset="0"/>
              </a:rPr>
              <a:t>查询其他系中比计算机科学</a:t>
            </a:r>
            <a:r>
              <a:rPr lang="zh-CN" altLang="en-US" sz="2400" dirty="0">
                <a:solidFill>
                  <a:srgbClr val="FF0000"/>
                </a:solidFill>
                <a:latin typeface="Verdana" panose="020B0604030504040204" pitchFamily="34" charset="0"/>
              </a:rPr>
              <a:t>某</a:t>
            </a:r>
            <a:r>
              <a:rPr lang="zh-CN" altLang="en-US" sz="2400" dirty="0">
                <a:solidFill>
                  <a:srgbClr val="FF3300"/>
                </a:solidFill>
                <a:latin typeface="Verdana" panose="020B0604030504040204" pitchFamily="34" charset="0"/>
              </a:rPr>
              <a:t>一</a:t>
            </a:r>
            <a:r>
              <a:rPr lang="zh-CN" altLang="en-US" sz="2400" dirty="0">
                <a:latin typeface="Verdana" panose="020B0604030504040204" pitchFamily="34" charset="0"/>
              </a:rPr>
              <a:t>学生年龄小的学生姓名和年龄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charRg st="38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charRg st="69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charRg st="116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charRg st="168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08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348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400" dirty="0"/>
              <a:t>带有</a:t>
            </a:r>
            <a:r>
              <a:rPr lang="en-US" altLang="zh-CN" sz="2400" dirty="0"/>
              <a:t>ANY</a:t>
            </a:r>
            <a:r>
              <a:rPr lang="zh-CN" altLang="en-US" sz="2400" dirty="0"/>
              <a:t>（</a:t>
            </a:r>
            <a:r>
              <a:rPr lang="en-US" altLang="zh-CN" sz="2400" dirty="0"/>
              <a:t>SOME</a:t>
            </a:r>
            <a:r>
              <a:rPr lang="zh-CN" altLang="en-US" sz="2400" dirty="0"/>
              <a:t>）或</a:t>
            </a:r>
            <a:r>
              <a:rPr lang="en-US" altLang="zh-CN" sz="2400" dirty="0"/>
              <a:t>ALL</a:t>
            </a:r>
            <a:r>
              <a:rPr lang="zh-CN" altLang="en-US" sz="2400" dirty="0"/>
              <a:t>谓词的子查询 （续）</a:t>
            </a:r>
            <a:endParaRPr lang="zh-CN" altLang="en-US" sz="2400" dirty="0"/>
          </a:p>
        </p:txBody>
      </p:sp>
      <p:sp>
        <p:nvSpPr>
          <p:cNvPr id="34820" name="Rectangle 3"/>
          <p:cNvSpPr>
            <a:spLocks noGrp="1"/>
          </p:cNvSpPr>
          <p:nvPr>
            <p:ph idx="1"/>
          </p:nvPr>
        </p:nvSpPr>
        <p:spPr>
          <a:xfrm>
            <a:off x="684213" y="1412875"/>
            <a:ext cx="7772400" cy="4572000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zh-CN" altLang="en-US" dirty="0"/>
              <a:t>用聚集函数实现</a:t>
            </a: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42]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endParaRPr lang="en-US" altLang="zh-CN" sz="2400" dirty="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SELECT Sname</a:t>
            </a:r>
            <a:r>
              <a:rPr lang="zh-CN" altLang="en-US" sz="2400" dirty="0"/>
              <a:t>，</a:t>
            </a:r>
            <a:r>
              <a:rPr lang="en-US" altLang="zh-CN" sz="2400" dirty="0"/>
              <a:t>Sage</a:t>
            </a:r>
            <a:endParaRPr lang="en-US" altLang="zh-CN" sz="2400" dirty="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FROM   Student</a:t>
            </a:r>
            <a:endParaRPr lang="en-US" altLang="zh-CN" sz="2400" dirty="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WHERE Sage &lt; </a:t>
            </a:r>
            <a:endParaRPr lang="en-US" altLang="zh-CN" sz="2400" dirty="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      (SELECT </a:t>
            </a:r>
            <a:r>
              <a:rPr lang="en-US" altLang="zh-CN" sz="2400" dirty="0">
                <a:solidFill>
                  <a:srgbClr val="FF3399"/>
                </a:solidFill>
              </a:rPr>
              <a:t>MAX(Sage)</a:t>
            </a:r>
            <a:endParaRPr lang="en-US" altLang="zh-CN" sz="2400" dirty="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        FROM Student</a:t>
            </a:r>
            <a:endParaRPr lang="en-US" altLang="zh-CN" sz="2400" dirty="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        WHERE Sdept= ‘CS ')</a:t>
            </a:r>
            <a:endParaRPr lang="en-US" altLang="zh-CN" sz="2400" dirty="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      AND Sdept &lt;&gt; ' CS ’ ;</a:t>
            </a:r>
            <a:endParaRPr lang="en-US" altLang="zh-CN" sz="2400" dirty="0"/>
          </a:p>
        </p:txBody>
      </p:sp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400" dirty="0"/>
              <a:t>带有</a:t>
            </a:r>
            <a:r>
              <a:rPr lang="en-US" altLang="zh-CN" sz="2400" dirty="0"/>
              <a:t>ANY</a:t>
            </a:r>
            <a:r>
              <a:rPr lang="zh-CN" altLang="en-US" sz="2400" dirty="0"/>
              <a:t>（</a:t>
            </a:r>
            <a:r>
              <a:rPr lang="en-US" altLang="zh-CN" sz="2400" dirty="0"/>
              <a:t>SOME</a:t>
            </a:r>
            <a:r>
              <a:rPr lang="zh-CN" altLang="en-US" sz="2400" dirty="0"/>
              <a:t>）或</a:t>
            </a:r>
            <a:r>
              <a:rPr lang="en-US" altLang="zh-CN" sz="2400" dirty="0"/>
              <a:t>ALL</a:t>
            </a:r>
            <a:r>
              <a:rPr lang="zh-CN" altLang="en-US" sz="2400" dirty="0"/>
              <a:t>谓词的子查询 （续）</a:t>
            </a:r>
            <a:endParaRPr lang="zh-CN" altLang="en-US" sz="2400" dirty="0"/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755650" y="1412875"/>
            <a:ext cx="7772400" cy="952500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43]  </a:t>
            </a:r>
            <a:r>
              <a:rPr lang="zh-CN" altLang="en-US" sz="2400" dirty="0"/>
              <a:t>查询其他系中比计算机科学系</a:t>
            </a:r>
            <a:r>
              <a:rPr lang="zh-CN" altLang="en-US" sz="2400" dirty="0">
                <a:solidFill>
                  <a:srgbClr val="FF3300"/>
                </a:solidFill>
              </a:rPr>
              <a:t>所有</a:t>
            </a:r>
            <a:r>
              <a:rPr lang="zh-CN" altLang="en-US" sz="2400" dirty="0"/>
              <a:t>学生年龄都小的学生姓名及年龄。</a:t>
            </a:r>
            <a:endParaRPr lang="zh-CN" altLang="en-US" sz="2400" dirty="0"/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endParaRPr lang="en-US" altLang="zh-CN" sz="2400" dirty="0"/>
          </a:p>
        </p:txBody>
      </p:sp>
      <p:sp>
        <p:nvSpPr>
          <p:cNvPr id="692228" name="Rectangle 4"/>
          <p:cNvSpPr/>
          <p:nvPr/>
        </p:nvSpPr>
        <p:spPr>
          <a:xfrm>
            <a:off x="884238" y="2581275"/>
            <a:ext cx="6769100" cy="301307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lvl="1"/>
            <a:r>
              <a:rPr lang="zh-CN" altLang="en-US" sz="2400" dirty="0">
                <a:latin typeface="Verdana" panose="020B0604030504040204" pitchFamily="34" charset="0"/>
              </a:rPr>
              <a:t>方法一：用</a:t>
            </a:r>
            <a:r>
              <a:rPr lang="en-US" altLang="zh-CN" sz="2400" dirty="0">
                <a:latin typeface="Verdana" panose="020B0604030504040204" pitchFamily="34" charset="0"/>
              </a:rPr>
              <a:t>ALL</a:t>
            </a:r>
            <a:r>
              <a:rPr lang="zh-CN" altLang="en-US" sz="2400" dirty="0">
                <a:latin typeface="Verdana" panose="020B0604030504040204" pitchFamily="34" charset="0"/>
              </a:rPr>
              <a:t>谓词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lvl="1"/>
            <a:r>
              <a:rPr lang="zh-CN" altLang="en-US" sz="2400" dirty="0">
                <a:latin typeface="Verdana" panose="020B0604030504040204" pitchFamily="34" charset="0"/>
              </a:rPr>
              <a:t>    </a:t>
            </a:r>
            <a:r>
              <a:rPr lang="en-US" altLang="zh-CN" sz="2400" dirty="0">
                <a:latin typeface="Arial" panose="020B0604020202020204" pitchFamily="34" charset="0"/>
              </a:rPr>
              <a:t>SELECT Sname</a:t>
            </a:r>
            <a:r>
              <a:rPr lang="zh-CN" altLang="en-US" sz="2400" dirty="0">
                <a:latin typeface="Arial" panose="020B0604020202020204" pitchFamily="34" charset="0"/>
              </a:rPr>
              <a:t>，</a:t>
            </a:r>
            <a:r>
              <a:rPr lang="en-US" altLang="zh-CN" sz="2400" dirty="0">
                <a:latin typeface="Arial" panose="020B0604020202020204" pitchFamily="34" charset="0"/>
              </a:rPr>
              <a:t>Sage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</a:rPr>
              <a:t>    FROM Student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</a:rPr>
              <a:t>    WHERE Sage &lt; ALL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</a:rPr>
              <a:t>                           (SELECT Sage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</a:rPr>
              <a:t>                            FROM Student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</a:rPr>
              <a:t>                            WHERE Sdept= ' CS ')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lvl="1"/>
            <a:r>
              <a:rPr lang="en-US" altLang="zh-CN" sz="2400" dirty="0">
                <a:latin typeface="Arial" panose="020B0604020202020204" pitchFamily="34" charset="0"/>
              </a:rPr>
              <a:t>           AND Sdept &lt;&gt; ' CS ’;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400" dirty="0"/>
              <a:t>带有</a:t>
            </a:r>
            <a:r>
              <a:rPr lang="en-US" altLang="zh-CN" sz="2400" dirty="0"/>
              <a:t>ANY</a:t>
            </a:r>
            <a:r>
              <a:rPr lang="zh-CN" altLang="en-US" sz="2400" dirty="0"/>
              <a:t>（</a:t>
            </a:r>
            <a:r>
              <a:rPr lang="en-US" altLang="zh-CN" sz="2400" dirty="0"/>
              <a:t>SOME</a:t>
            </a:r>
            <a:r>
              <a:rPr lang="zh-CN" altLang="en-US" sz="2400" dirty="0"/>
              <a:t>）或</a:t>
            </a:r>
            <a:r>
              <a:rPr lang="en-US" altLang="zh-CN" sz="2400" dirty="0"/>
              <a:t>ALL</a:t>
            </a:r>
            <a:r>
              <a:rPr lang="zh-CN" altLang="en-US" sz="2400" dirty="0"/>
              <a:t>谓词的子查询 （续）</a:t>
            </a:r>
            <a:endParaRPr lang="zh-CN" altLang="en-US" sz="2400" dirty="0"/>
          </a:p>
        </p:txBody>
      </p:sp>
      <p:sp>
        <p:nvSpPr>
          <p:cNvPr id="36868" name="Rectangle 3"/>
          <p:cNvSpPr>
            <a:spLocks noGrp="1"/>
          </p:cNvSpPr>
          <p:nvPr>
            <p:ph idx="1"/>
          </p:nvPr>
        </p:nvSpPr>
        <p:spPr>
          <a:xfrm>
            <a:off x="838200" y="1828800"/>
            <a:ext cx="7772400" cy="4572000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      </a:t>
            </a:r>
            <a:r>
              <a:rPr lang="zh-CN" altLang="en-US" sz="2400" dirty="0"/>
              <a:t>方法二：用聚集函数</a:t>
            </a:r>
            <a:endParaRPr lang="zh-CN" altLang="en-US" sz="2400" dirty="0"/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zh-CN" altLang="en-US" sz="2400" dirty="0"/>
              <a:t>        </a:t>
            </a:r>
            <a:r>
              <a:rPr lang="en-US" altLang="zh-CN" sz="2400" dirty="0"/>
              <a:t>SELECT Sname</a:t>
            </a:r>
            <a:r>
              <a:rPr lang="zh-CN" altLang="en-US" sz="2400" dirty="0"/>
              <a:t>，</a:t>
            </a:r>
            <a:r>
              <a:rPr lang="en-US" altLang="zh-CN" sz="2400" dirty="0"/>
              <a:t>Sage</a:t>
            </a:r>
            <a:endParaRPr lang="en-US" altLang="zh-CN" sz="2400" dirty="0"/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       FROM Student</a:t>
            </a:r>
            <a:endParaRPr lang="en-US" altLang="zh-CN" sz="2400" dirty="0"/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       WHERE Sage &lt; </a:t>
            </a:r>
            <a:endParaRPr lang="en-US" altLang="zh-CN" sz="2400" dirty="0"/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        (SELECT </a:t>
            </a:r>
            <a:r>
              <a:rPr lang="en-US" altLang="zh-CN" sz="2400" dirty="0">
                <a:solidFill>
                  <a:srgbClr val="FF3399"/>
                </a:solidFill>
              </a:rPr>
              <a:t>MIN(Sage)</a:t>
            </a:r>
            <a:endParaRPr lang="en-US" altLang="zh-CN" sz="2400" dirty="0"/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         FROM Student</a:t>
            </a:r>
            <a:endParaRPr lang="en-US" altLang="zh-CN" sz="2400" dirty="0"/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         WHERE Sdept= ' CS ')</a:t>
            </a:r>
            <a:endParaRPr lang="en-US" altLang="zh-CN" sz="2400" dirty="0"/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             AND Sdept &lt;&gt;' CS ’;</a:t>
            </a:r>
            <a:endParaRPr lang="en-US" altLang="zh-CN" sz="2400" dirty="0"/>
          </a:p>
        </p:txBody>
      </p:sp>
    </p:spTree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400" dirty="0"/>
              <a:t>带有</a:t>
            </a:r>
            <a:r>
              <a:rPr lang="en-US" altLang="zh-CN" sz="2400" dirty="0"/>
              <a:t>ANY</a:t>
            </a:r>
            <a:r>
              <a:rPr lang="zh-CN" altLang="en-US" sz="2400" dirty="0"/>
              <a:t>（</a:t>
            </a:r>
            <a:r>
              <a:rPr lang="en-US" altLang="zh-CN" sz="2400" dirty="0"/>
              <a:t>SOME</a:t>
            </a:r>
            <a:r>
              <a:rPr lang="zh-CN" altLang="en-US" sz="2400" dirty="0"/>
              <a:t>）或</a:t>
            </a:r>
            <a:r>
              <a:rPr lang="en-US" altLang="zh-CN" sz="2400" dirty="0"/>
              <a:t>ALL</a:t>
            </a:r>
            <a:r>
              <a:rPr lang="zh-CN" altLang="en-US" sz="2400" dirty="0"/>
              <a:t>谓词的子查询 （续）</a:t>
            </a:r>
            <a:endParaRPr lang="zh-CN" altLang="en-US" sz="2400" dirty="0"/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539750" y="2133600"/>
            <a:ext cx="8318500" cy="561975"/>
          </a:xfrm>
          <a:ln/>
        </p:spPr>
        <p:txBody>
          <a:bodyPr vert="horz" wrap="square" lIns="91440" tIns="45720" rIns="91440" bIns="45720" anchor="t" anchorCtr="0"/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zh-CN" altLang="en-US" sz="2000" dirty="0"/>
              <a:t>表</a:t>
            </a:r>
            <a:r>
              <a:rPr lang="en-US" altLang="zh-CN" sz="2000" dirty="0"/>
              <a:t>3.5 ANY</a:t>
            </a:r>
            <a:r>
              <a:rPr lang="zh-CN" altLang="en-US" sz="2000" dirty="0"/>
              <a:t>（或</a:t>
            </a:r>
            <a:r>
              <a:rPr lang="en-US" altLang="zh-CN" sz="2000" dirty="0"/>
              <a:t>SOME</a:t>
            </a:r>
            <a:r>
              <a:rPr lang="zh-CN" altLang="en-US" sz="2000" dirty="0"/>
              <a:t>），</a:t>
            </a:r>
            <a:r>
              <a:rPr lang="en-US" altLang="zh-CN" sz="2000" dirty="0"/>
              <a:t>ALL</a:t>
            </a:r>
            <a:r>
              <a:rPr lang="zh-CN" altLang="en-US" sz="2000" dirty="0"/>
              <a:t>谓词与聚集函数、</a:t>
            </a:r>
            <a:r>
              <a:rPr lang="en-US" altLang="zh-CN" sz="2000" dirty="0"/>
              <a:t>IN</a:t>
            </a:r>
            <a:r>
              <a:rPr lang="zh-CN" altLang="en-US" sz="2000" dirty="0"/>
              <a:t>谓词的等价转换关系 </a:t>
            </a:r>
            <a:endParaRPr lang="zh-CN" altLang="en-US" sz="2000" dirty="0"/>
          </a:p>
        </p:txBody>
      </p:sp>
      <p:grpSp>
        <p:nvGrpSpPr>
          <p:cNvPr id="37893" name="Group 4"/>
          <p:cNvGrpSpPr/>
          <p:nvPr/>
        </p:nvGrpSpPr>
        <p:grpSpPr>
          <a:xfrm>
            <a:off x="539750" y="2781300"/>
            <a:ext cx="8299450" cy="2057400"/>
            <a:chOff x="-3" y="-3"/>
            <a:chExt cx="4065" cy="1302"/>
          </a:xfrm>
        </p:grpSpPr>
        <p:grpSp>
          <p:nvGrpSpPr>
            <p:cNvPr id="37894" name="Group 5"/>
            <p:cNvGrpSpPr/>
            <p:nvPr/>
          </p:nvGrpSpPr>
          <p:grpSpPr>
            <a:xfrm>
              <a:off x="0" y="0"/>
              <a:ext cx="4059" cy="1296"/>
              <a:chOff x="0" y="0"/>
              <a:chExt cx="4059" cy="1296"/>
            </a:xfrm>
          </p:grpSpPr>
          <p:grpSp>
            <p:nvGrpSpPr>
              <p:cNvPr id="37896" name="Group 6"/>
              <p:cNvGrpSpPr/>
              <p:nvPr/>
            </p:nvGrpSpPr>
            <p:grpSpPr>
              <a:xfrm>
                <a:off x="0" y="0"/>
                <a:ext cx="493" cy="432"/>
                <a:chOff x="0" y="0"/>
                <a:chExt cx="493" cy="432"/>
              </a:xfrm>
            </p:grpSpPr>
            <p:sp>
              <p:nvSpPr>
                <p:cNvPr id="37957" name="Rectangle 7"/>
                <p:cNvSpPr/>
                <p:nvPr/>
              </p:nvSpPr>
              <p:spPr>
                <a:xfrm>
                  <a:off x="44" y="0"/>
                  <a:ext cx="406" cy="37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900" dirty="0">
                      <a:latin typeface="Verdana" panose="020B0604030504040204" pitchFamily="34" charset="0"/>
                    </a:rPr>
                    <a:t> </a:t>
                  </a:r>
                  <a:endParaRPr lang="en-US" altLang="zh-CN" sz="900" dirty="0">
                    <a:latin typeface="Verdana" panose="020B0604030504040204" pitchFamily="34" charset="0"/>
                  </a:endParaRPr>
                </a:p>
                <a:p>
                  <a:endParaRPr lang="en-US" altLang="zh-CN" sz="24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58" name="Rectangle 8"/>
                <p:cNvSpPr/>
                <p:nvPr/>
              </p:nvSpPr>
              <p:spPr>
                <a:xfrm>
                  <a:off x="0" y="0"/>
                  <a:ext cx="493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897" name="Group 9"/>
              <p:cNvGrpSpPr/>
              <p:nvPr/>
            </p:nvGrpSpPr>
            <p:grpSpPr>
              <a:xfrm>
                <a:off x="493" y="0"/>
                <a:ext cx="396" cy="432"/>
                <a:chOff x="493" y="0"/>
                <a:chExt cx="396" cy="432"/>
              </a:xfrm>
            </p:grpSpPr>
            <p:sp>
              <p:nvSpPr>
                <p:cNvPr id="37955" name="Rectangle 10"/>
                <p:cNvSpPr/>
                <p:nvPr/>
              </p:nvSpPr>
              <p:spPr>
                <a:xfrm>
                  <a:off x="536" y="0"/>
                  <a:ext cx="310" cy="2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defTabSz="914400"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dirty="0">
                      <a:latin typeface="Verdana" panose="020B0604030504040204" pitchFamily="34" charset="0"/>
                    </a:rPr>
                    <a:t> =</a:t>
                  </a:r>
                  <a:endParaRPr lang="en-US" altLang="zh-CN" sz="24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56" name="Rectangle 11"/>
                <p:cNvSpPr/>
                <p:nvPr/>
              </p:nvSpPr>
              <p:spPr>
                <a:xfrm>
                  <a:off x="493" y="0"/>
                  <a:ext cx="396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898" name="Group 12"/>
              <p:cNvGrpSpPr/>
              <p:nvPr/>
            </p:nvGrpSpPr>
            <p:grpSpPr>
              <a:xfrm>
                <a:off x="889" y="0"/>
                <a:ext cx="656" cy="432"/>
                <a:chOff x="889" y="0"/>
                <a:chExt cx="656" cy="432"/>
              </a:xfrm>
            </p:grpSpPr>
            <p:sp>
              <p:nvSpPr>
                <p:cNvPr id="37953" name="Rectangle 13"/>
                <p:cNvSpPr/>
                <p:nvPr/>
              </p:nvSpPr>
              <p:spPr>
                <a:xfrm>
                  <a:off x="934" y="0"/>
                  <a:ext cx="568" cy="2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400" dirty="0">
                      <a:latin typeface="Verdana" panose="020B0604030504040204" pitchFamily="34" charset="0"/>
                    </a:rPr>
                    <a:t> </a:t>
                  </a:r>
                  <a:r>
                    <a:rPr lang="en-US" altLang="zh-CN" sz="2000" dirty="0">
                      <a:latin typeface="Verdana" panose="020B0604030504040204" pitchFamily="34" charset="0"/>
                    </a:rPr>
                    <a:t>&lt;&gt;</a:t>
                  </a:r>
                  <a:r>
                    <a:rPr lang="zh-CN" altLang="en-US" sz="2000" dirty="0">
                      <a:latin typeface="Verdana" panose="020B0604030504040204" pitchFamily="34" charset="0"/>
                    </a:rPr>
                    <a:t>或</a:t>
                  </a:r>
                  <a:r>
                    <a:rPr lang="en-US" altLang="zh-CN" sz="2000" dirty="0">
                      <a:latin typeface="Verdana" panose="020B0604030504040204" pitchFamily="34" charset="0"/>
                    </a:rPr>
                    <a:t>!=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54" name="Rectangle 14"/>
                <p:cNvSpPr/>
                <p:nvPr/>
              </p:nvSpPr>
              <p:spPr>
                <a:xfrm>
                  <a:off x="889" y="0"/>
                  <a:ext cx="656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899" name="Group 15"/>
              <p:cNvGrpSpPr/>
              <p:nvPr/>
            </p:nvGrpSpPr>
            <p:grpSpPr>
              <a:xfrm>
                <a:off x="1545" y="0"/>
                <a:ext cx="617" cy="432"/>
                <a:chOff x="1545" y="0"/>
                <a:chExt cx="617" cy="432"/>
              </a:xfrm>
            </p:grpSpPr>
            <p:sp>
              <p:nvSpPr>
                <p:cNvPr id="37951" name="Rectangle 16"/>
                <p:cNvSpPr/>
                <p:nvPr/>
              </p:nvSpPr>
              <p:spPr>
                <a:xfrm>
                  <a:off x="1588" y="0"/>
                  <a:ext cx="530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defTabSz="914400"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000" dirty="0">
                      <a:latin typeface="Verdana" panose="020B0604030504040204" pitchFamily="34" charset="0"/>
                    </a:rPr>
                    <a:t>   &lt;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52" name="Rectangle 17"/>
                <p:cNvSpPr/>
                <p:nvPr/>
              </p:nvSpPr>
              <p:spPr>
                <a:xfrm>
                  <a:off x="1545" y="0"/>
                  <a:ext cx="617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00" name="Group 18"/>
              <p:cNvGrpSpPr/>
              <p:nvPr/>
            </p:nvGrpSpPr>
            <p:grpSpPr>
              <a:xfrm>
                <a:off x="2162" y="0"/>
                <a:ext cx="655" cy="432"/>
                <a:chOff x="2162" y="0"/>
                <a:chExt cx="655" cy="432"/>
              </a:xfrm>
            </p:grpSpPr>
            <p:sp>
              <p:nvSpPr>
                <p:cNvPr id="37949" name="Rectangle 19"/>
                <p:cNvSpPr/>
                <p:nvPr/>
              </p:nvSpPr>
              <p:spPr>
                <a:xfrm>
                  <a:off x="2205" y="0"/>
                  <a:ext cx="569" cy="2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defTabSz="914400"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dirty="0">
                      <a:latin typeface="Verdana" panose="020B0604030504040204" pitchFamily="34" charset="0"/>
                    </a:rPr>
                    <a:t>  &lt;=</a:t>
                  </a:r>
                  <a:endParaRPr lang="en-US" altLang="zh-CN" sz="24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50" name="Rectangle 20"/>
                <p:cNvSpPr/>
                <p:nvPr/>
              </p:nvSpPr>
              <p:spPr>
                <a:xfrm>
                  <a:off x="2162" y="0"/>
                  <a:ext cx="655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01" name="Group 21"/>
              <p:cNvGrpSpPr/>
              <p:nvPr/>
            </p:nvGrpSpPr>
            <p:grpSpPr>
              <a:xfrm>
                <a:off x="2817" y="0"/>
                <a:ext cx="587" cy="432"/>
                <a:chOff x="2817" y="0"/>
                <a:chExt cx="587" cy="432"/>
              </a:xfrm>
            </p:grpSpPr>
            <p:sp>
              <p:nvSpPr>
                <p:cNvPr id="37947" name="Rectangle 22"/>
                <p:cNvSpPr/>
                <p:nvPr/>
              </p:nvSpPr>
              <p:spPr>
                <a:xfrm>
                  <a:off x="2860" y="0"/>
                  <a:ext cx="501" cy="2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defTabSz="914400"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dirty="0">
                      <a:latin typeface="Verdana" panose="020B0604030504040204" pitchFamily="34" charset="0"/>
                    </a:rPr>
                    <a:t>  &gt;</a:t>
                  </a:r>
                  <a:endParaRPr lang="en-US" altLang="zh-CN" sz="24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48" name="Rectangle 23"/>
                <p:cNvSpPr/>
                <p:nvPr/>
              </p:nvSpPr>
              <p:spPr>
                <a:xfrm>
                  <a:off x="2817" y="0"/>
                  <a:ext cx="587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02" name="Group 24"/>
              <p:cNvGrpSpPr/>
              <p:nvPr/>
            </p:nvGrpSpPr>
            <p:grpSpPr>
              <a:xfrm>
                <a:off x="3404" y="0"/>
                <a:ext cx="655" cy="432"/>
                <a:chOff x="3404" y="0"/>
                <a:chExt cx="655" cy="432"/>
              </a:xfrm>
            </p:grpSpPr>
            <p:sp>
              <p:nvSpPr>
                <p:cNvPr id="37945" name="Rectangle 25"/>
                <p:cNvSpPr/>
                <p:nvPr/>
              </p:nvSpPr>
              <p:spPr>
                <a:xfrm>
                  <a:off x="3447" y="0"/>
                  <a:ext cx="568" cy="2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defTabSz="914400"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dirty="0">
                      <a:latin typeface="Verdana" panose="020B0604030504040204" pitchFamily="34" charset="0"/>
                    </a:rPr>
                    <a:t>  &gt;=</a:t>
                  </a:r>
                  <a:endParaRPr lang="en-US" altLang="zh-CN" sz="24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46" name="Rectangle 26"/>
                <p:cNvSpPr/>
                <p:nvPr/>
              </p:nvSpPr>
              <p:spPr>
                <a:xfrm>
                  <a:off x="3404" y="0"/>
                  <a:ext cx="655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03" name="Group 27"/>
              <p:cNvGrpSpPr/>
              <p:nvPr/>
            </p:nvGrpSpPr>
            <p:grpSpPr>
              <a:xfrm>
                <a:off x="0" y="432"/>
                <a:ext cx="493" cy="432"/>
                <a:chOff x="0" y="432"/>
                <a:chExt cx="493" cy="432"/>
              </a:xfrm>
            </p:grpSpPr>
            <p:sp>
              <p:nvSpPr>
                <p:cNvPr id="37943" name="Rectangle 28"/>
                <p:cNvSpPr/>
                <p:nvPr/>
              </p:nvSpPr>
              <p:spPr>
                <a:xfrm>
                  <a:off x="44" y="434"/>
                  <a:ext cx="406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000" dirty="0">
                      <a:latin typeface="Verdana" panose="020B0604030504040204" pitchFamily="34" charset="0"/>
                    </a:rPr>
                    <a:t>ANY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44" name="Rectangle 29"/>
                <p:cNvSpPr/>
                <p:nvPr/>
              </p:nvSpPr>
              <p:spPr>
                <a:xfrm>
                  <a:off x="0" y="432"/>
                  <a:ext cx="493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04" name="Group 30"/>
              <p:cNvGrpSpPr/>
              <p:nvPr/>
            </p:nvGrpSpPr>
            <p:grpSpPr>
              <a:xfrm>
                <a:off x="493" y="432"/>
                <a:ext cx="396" cy="432"/>
                <a:chOff x="493" y="432"/>
                <a:chExt cx="396" cy="432"/>
              </a:xfrm>
            </p:grpSpPr>
            <p:sp>
              <p:nvSpPr>
                <p:cNvPr id="37941" name="Rectangle 31"/>
                <p:cNvSpPr/>
                <p:nvPr/>
              </p:nvSpPr>
              <p:spPr>
                <a:xfrm>
                  <a:off x="536" y="434"/>
                  <a:ext cx="310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1500" dirty="0">
                      <a:latin typeface="Verdana" panose="020B0604030504040204" pitchFamily="34" charset="0"/>
                    </a:rPr>
                    <a:t> </a:t>
                  </a:r>
                  <a:r>
                    <a:rPr lang="en-US" altLang="zh-CN" sz="2000" dirty="0">
                      <a:latin typeface="Verdana" panose="020B0604030504040204" pitchFamily="34" charset="0"/>
                    </a:rPr>
                    <a:t> IN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42" name="Rectangle 32"/>
                <p:cNvSpPr/>
                <p:nvPr/>
              </p:nvSpPr>
              <p:spPr>
                <a:xfrm>
                  <a:off x="493" y="432"/>
                  <a:ext cx="396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05" name="Group 33"/>
              <p:cNvGrpSpPr/>
              <p:nvPr/>
            </p:nvGrpSpPr>
            <p:grpSpPr>
              <a:xfrm>
                <a:off x="889" y="432"/>
                <a:ext cx="656" cy="432"/>
                <a:chOff x="889" y="432"/>
                <a:chExt cx="656" cy="432"/>
              </a:xfrm>
            </p:grpSpPr>
            <p:sp>
              <p:nvSpPr>
                <p:cNvPr id="37939" name="Rectangle 34"/>
                <p:cNvSpPr/>
                <p:nvPr/>
              </p:nvSpPr>
              <p:spPr>
                <a:xfrm>
                  <a:off x="934" y="434"/>
                  <a:ext cx="56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1500" dirty="0">
                      <a:latin typeface="Verdana" panose="020B0604030504040204" pitchFamily="34" charset="0"/>
                    </a:rPr>
                    <a:t>    </a:t>
                  </a:r>
                  <a:r>
                    <a:rPr lang="en-US" altLang="zh-CN" sz="2000" dirty="0">
                      <a:latin typeface="Verdana" panose="020B0604030504040204" pitchFamily="34" charset="0"/>
                    </a:rPr>
                    <a:t>- -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40" name="Rectangle 35"/>
                <p:cNvSpPr/>
                <p:nvPr/>
              </p:nvSpPr>
              <p:spPr>
                <a:xfrm>
                  <a:off x="889" y="432"/>
                  <a:ext cx="656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06" name="Group 36"/>
              <p:cNvGrpSpPr/>
              <p:nvPr/>
            </p:nvGrpSpPr>
            <p:grpSpPr>
              <a:xfrm>
                <a:off x="1545" y="432"/>
                <a:ext cx="617" cy="432"/>
                <a:chOff x="1545" y="432"/>
                <a:chExt cx="617" cy="432"/>
              </a:xfrm>
            </p:grpSpPr>
            <p:sp>
              <p:nvSpPr>
                <p:cNvPr id="37937" name="Rectangle 37"/>
                <p:cNvSpPr/>
                <p:nvPr/>
              </p:nvSpPr>
              <p:spPr>
                <a:xfrm>
                  <a:off x="1588" y="434"/>
                  <a:ext cx="530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1500" dirty="0">
                      <a:latin typeface="Verdana" panose="020B0604030504040204" pitchFamily="34" charset="0"/>
                    </a:rPr>
                    <a:t> </a:t>
                  </a:r>
                  <a:r>
                    <a:rPr lang="en-US" altLang="zh-CN" sz="2000" dirty="0">
                      <a:latin typeface="Verdana" panose="020B0604030504040204" pitchFamily="34" charset="0"/>
                    </a:rPr>
                    <a:t>&lt;MAX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38" name="Rectangle 38"/>
                <p:cNvSpPr/>
                <p:nvPr/>
              </p:nvSpPr>
              <p:spPr>
                <a:xfrm>
                  <a:off x="1545" y="432"/>
                  <a:ext cx="617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07" name="Group 39"/>
              <p:cNvGrpSpPr/>
              <p:nvPr/>
            </p:nvGrpSpPr>
            <p:grpSpPr>
              <a:xfrm>
                <a:off x="2162" y="432"/>
                <a:ext cx="655" cy="432"/>
                <a:chOff x="2162" y="432"/>
                <a:chExt cx="655" cy="432"/>
              </a:xfrm>
            </p:grpSpPr>
            <p:sp>
              <p:nvSpPr>
                <p:cNvPr id="37935" name="Rectangle 40"/>
                <p:cNvSpPr/>
                <p:nvPr/>
              </p:nvSpPr>
              <p:spPr>
                <a:xfrm>
                  <a:off x="2205" y="434"/>
                  <a:ext cx="569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000" dirty="0">
                      <a:latin typeface="Verdana" panose="020B0604030504040204" pitchFamily="34" charset="0"/>
                    </a:rPr>
                    <a:t>&lt;=MAX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36" name="Rectangle 41"/>
                <p:cNvSpPr/>
                <p:nvPr/>
              </p:nvSpPr>
              <p:spPr>
                <a:xfrm>
                  <a:off x="2162" y="432"/>
                  <a:ext cx="655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08" name="Group 42"/>
              <p:cNvGrpSpPr/>
              <p:nvPr/>
            </p:nvGrpSpPr>
            <p:grpSpPr>
              <a:xfrm>
                <a:off x="2817" y="432"/>
                <a:ext cx="587" cy="432"/>
                <a:chOff x="2817" y="432"/>
                <a:chExt cx="587" cy="432"/>
              </a:xfrm>
            </p:grpSpPr>
            <p:sp>
              <p:nvSpPr>
                <p:cNvPr id="37933" name="Rectangle 43"/>
                <p:cNvSpPr/>
                <p:nvPr/>
              </p:nvSpPr>
              <p:spPr>
                <a:xfrm>
                  <a:off x="2860" y="434"/>
                  <a:ext cx="501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000" dirty="0">
                      <a:latin typeface="Verdana" panose="020B0604030504040204" pitchFamily="34" charset="0"/>
                    </a:rPr>
                    <a:t>&gt;MIN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34" name="Rectangle 44"/>
                <p:cNvSpPr/>
                <p:nvPr/>
              </p:nvSpPr>
              <p:spPr>
                <a:xfrm>
                  <a:off x="2817" y="432"/>
                  <a:ext cx="587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09" name="Group 45"/>
              <p:cNvGrpSpPr/>
              <p:nvPr/>
            </p:nvGrpSpPr>
            <p:grpSpPr>
              <a:xfrm>
                <a:off x="3404" y="432"/>
                <a:ext cx="655" cy="432"/>
                <a:chOff x="3404" y="432"/>
                <a:chExt cx="655" cy="432"/>
              </a:xfrm>
            </p:grpSpPr>
            <p:sp>
              <p:nvSpPr>
                <p:cNvPr id="37931" name="Rectangle 46"/>
                <p:cNvSpPr/>
                <p:nvPr/>
              </p:nvSpPr>
              <p:spPr>
                <a:xfrm>
                  <a:off x="3447" y="434"/>
                  <a:ext cx="56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000" dirty="0">
                      <a:latin typeface="Verdana" panose="020B0604030504040204" pitchFamily="34" charset="0"/>
                    </a:rPr>
                    <a:t>&gt;= MIN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32" name="Rectangle 47"/>
                <p:cNvSpPr/>
                <p:nvPr/>
              </p:nvSpPr>
              <p:spPr>
                <a:xfrm>
                  <a:off x="3404" y="432"/>
                  <a:ext cx="655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10" name="Group 48"/>
              <p:cNvGrpSpPr/>
              <p:nvPr/>
            </p:nvGrpSpPr>
            <p:grpSpPr>
              <a:xfrm>
                <a:off x="0" y="864"/>
                <a:ext cx="493" cy="432"/>
                <a:chOff x="0" y="864"/>
                <a:chExt cx="493" cy="432"/>
              </a:xfrm>
            </p:grpSpPr>
            <p:sp>
              <p:nvSpPr>
                <p:cNvPr id="37929" name="Rectangle 49"/>
                <p:cNvSpPr/>
                <p:nvPr/>
              </p:nvSpPr>
              <p:spPr>
                <a:xfrm>
                  <a:off x="44" y="864"/>
                  <a:ext cx="406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000" dirty="0">
                      <a:latin typeface="Verdana" panose="020B0604030504040204" pitchFamily="34" charset="0"/>
                    </a:rPr>
                    <a:t>ALL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30" name="Rectangle 50"/>
                <p:cNvSpPr/>
                <p:nvPr/>
              </p:nvSpPr>
              <p:spPr>
                <a:xfrm>
                  <a:off x="0" y="864"/>
                  <a:ext cx="493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11" name="Group 51"/>
              <p:cNvGrpSpPr/>
              <p:nvPr/>
            </p:nvGrpSpPr>
            <p:grpSpPr>
              <a:xfrm>
                <a:off x="493" y="864"/>
                <a:ext cx="396" cy="432"/>
                <a:chOff x="493" y="864"/>
                <a:chExt cx="396" cy="432"/>
              </a:xfrm>
            </p:grpSpPr>
            <p:sp>
              <p:nvSpPr>
                <p:cNvPr id="37927" name="Rectangle 52"/>
                <p:cNvSpPr/>
                <p:nvPr/>
              </p:nvSpPr>
              <p:spPr>
                <a:xfrm>
                  <a:off x="536" y="864"/>
                  <a:ext cx="351" cy="25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000" dirty="0">
                      <a:latin typeface="Verdana" panose="020B0604030504040204" pitchFamily="34" charset="0"/>
                    </a:rPr>
                    <a:t>  - -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28" name="Rectangle 53"/>
                <p:cNvSpPr/>
                <p:nvPr/>
              </p:nvSpPr>
              <p:spPr>
                <a:xfrm>
                  <a:off x="493" y="864"/>
                  <a:ext cx="396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12" name="Group 54"/>
              <p:cNvGrpSpPr/>
              <p:nvPr/>
            </p:nvGrpSpPr>
            <p:grpSpPr>
              <a:xfrm>
                <a:off x="889" y="864"/>
                <a:ext cx="656" cy="432"/>
                <a:chOff x="889" y="864"/>
                <a:chExt cx="656" cy="432"/>
              </a:xfrm>
            </p:grpSpPr>
            <p:sp>
              <p:nvSpPr>
                <p:cNvPr id="37925" name="Rectangle 55"/>
                <p:cNvSpPr/>
                <p:nvPr/>
              </p:nvSpPr>
              <p:spPr>
                <a:xfrm>
                  <a:off x="934" y="864"/>
                  <a:ext cx="56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000" dirty="0">
                      <a:latin typeface="Verdana" panose="020B0604030504040204" pitchFamily="34" charset="0"/>
                    </a:rPr>
                    <a:t> </a:t>
                  </a:r>
                  <a:r>
                    <a:rPr lang="en-US" altLang="zh-CN" dirty="0">
                      <a:latin typeface="Verdana" panose="020B0604030504040204" pitchFamily="34" charset="0"/>
                    </a:rPr>
                    <a:t>NOT IN</a:t>
                  </a:r>
                  <a:endParaRPr lang="en-US" altLang="zh-CN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26" name="Rectangle 56"/>
                <p:cNvSpPr/>
                <p:nvPr/>
              </p:nvSpPr>
              <p:spPr>
                <a:xfrm>
                  <a:off x="889" y="864"/>
                  <a:ext cx="656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13" name="Group 57"/>
              <p:cNvGrpSpPr/>
              <p:nvPr/>
            </p:nvGrpSpPr>
            <p:grpSpPr>
              <a:xfrm>
                <a:off x="1545" y="864"/>
                <a:ext cx="617" cy="432"/>
                <a:chOff x="1545" y="864"/>
                <a:chExt cx="617" cy="432"/>
              </a:xfrm>
            </p:grpSpPr>
            <p:sp>
              <p:nvSpPr>
                <p:cNvPr id="37923" name="Rectangle 58"/>
                <p:cNvSpPr/>
                <p:nvPr/>
              </p:nvSpPr>
              <p:spPr>
                <a:xfrm>
                  <a:off x="1588" y="864"/>
                  <a:ext cx="530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1300" dirty="0">
                      <a:latin typeface="Verdana" panose="020B0604030504040204" pitchFamily="34" charset="0"/>
                    </a:rPr>
                    <a:t> </a:t>
                  </a:r>
                  <a:r>
                    <a:rPr lang="en-US" altLang="zh-CN" sz="2000" dirty="0">
                      <a:latin typeface="Verdana" panose="020B0604030504040204" pitchFamily="34" charset="0"/>
                    </a:rPr>
                    <a:t>&lt;MIN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24" name="Rectangle 59"/>
                <p:cNvSpPr/>
                <p:nvPr/>
              </p:nvSpPr>
              <p:spPr>
                <a:xfrm>
                  <a:off x="1545" y="864"/>
                  <a:ext cx="617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14" name="Group 60"/>
              <p:cNvGrpSpPr/>
              <p:nvPr/>
            </p:nvGrpSpPr>
            <p:grpSpPr>
              <a:xfrm>
                <a:off x="2162" y="864"/>
                <a:ext cx="655" cy="432"/>
                <a:chOff x="2162" y="864"/>
                <a:chExt cx="655" cy="432"/>
              </a:xfrm>
            </p:grpSpPr>
            <p:sp>
              <p:nvSpPr>
                <p:cNvPr id="37921" name="Rectangle 61"/>
                <p:cNvSpPr/>
                <p:nvPr/>
              </p:nvSpPr>
              <p:spPr>
                <a:xfrm>
                  <a:off x="2205" y="864"/>
                  <a:ext cx="569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000" dirty="0">
                      <a:latin typeface="Verdana" panose="020B0604030504040204" pitchFamily="34" charset="0"/>
                    </a:rPr>
                    <a:t>&lt;= MIN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22" name="Rectangle 62"/>
                <p:cNvSpPr/>
                <p:nvPr/>
              </p:nvSpPr>
              <p:spPr>
                <a:xfrm>
                  <a:off x="2162" y="864"/>
                  <a:ext cx="655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15" name="Group 63"/>
              <p:cNvGrpSpPr/>
              <p:nvPr/>
            </p:nvGrpSpPr>
            <p:grpSpPr>
              <a:xfrm>
                <a:off x="2817" y="864"/>
                <a:ext cx="587" cy="432"/>
                <a:chOff x="2817" y="864"/>
                <a:chExt cx="587" cy="432"/>
              </a:xfrm>
            </p:grpSpPr>
            <p:sp>
              <p:nvSpPr>
                <p:cNvPr id="37919" name="Rectangle 64"/>
                <p:cNvSpPr/>
                <p:nvPr/>
              </p:nvSpPr>
              <p:spPr>
                <a:xfrm>
                  <a:off x="2860" y="864"/>
                  <a:ext cx="501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sz="2000" dirty="0">
                      <a:latin typeface="Verdana" panose="020B0604030504040204" pitchFamily="34" charset="0"/>
                    </a:rPr>
                    <a:t>&gt;MAX</a:t>
                  </a:r>
                  <a:endParaRPr lang="en-US" altLang="zh-CN" sz="2000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20" name="Rectangle 65"/>
                <p:cNvSpPr/>
                <p:nvPr/>
              </p:nvSpPr>
              <p:spPr>
                <a:xfrm>
                  <a:off x="2817" y="864"/>
                  <a:ext cx="587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  <p:grpSp>
            <p:nvGrpSpPr>
              <p:cNvPr id="37916" name="Group 66"/>
              <p:cNvGrpSpPr/>
              <p:nvPr/>
            </p:nvGrpSpPr>
            <p:grpSpPr>
              <a:xfrm>
                <a:off x="3404" y="864"/>
                <a:ext cx="655" cy="432"/>
                <a:chOff x="3404" y="864"/>
                <a:chExt cx="655" cy="432"/>
              </a:xfrm>
            </p:grpSpPr>
            <p:sp>
              <p:nvSpPr>
                <p:cNvPr id="37917" name="Rectangle 67"/>
                <p:cNvSpPr/>
                <p:nvPr/>
              </p:nvSpPr>
              <p:spPr>
                <a:xfrm>
                  <a:off x="3447" y="864"/>
                  <a:ext cx="568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r>
                    <a:rPr lang="en-US" altLang="zh-CN" dirty="0">
                      <a:latin typeface="Verdana" panose="020B0604030504040204" pitchFamily="34" charset="0"/>
                    </a:rPr>
                    <a:t>&gt;= MAX</a:t>
                  </a:r>
                  <a:endParaRPr lang="en-US" altLang="zh-CN" dirty="0"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37918" name="Rectangle 68"/>
                <p:cNvSpPr/>
                <p:nvPr/>
              </p:nvSpPr>
              <p:spPr>
                <a:xfrm>
                  <a:off x="3404" y="864"/>
                  <a:ext cx="655" cy="432"/>
                </a:xfrm>
                <a:prstGeom prst="rect">
                  <a:avLst/>
                </a:prstGeom>
                <a:noFill/>
                <a:ln w="7" cap="flat" cmpd="sng">
                  <a:solidFill>
                    <a:srgbClr val="A0A0A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>
                  <a:spAutoFit/>
                </a:bodyPr>
                <a:p>
                  <a:endParaRPr lang="zh-CN" altLang="en-US" dirty="0">
                    <a:latin typeface="Verdana" panose="020B0604030504040204" pitchFamily="34" charset="0"/>
                  </a:endParaRPr>
                </a:p>
              </p:txBody>
            </p:sp>
          </p:grpSp>
        </p:grpSp>
        <p:sp>
          <p:nvSpPr>
            <p:cNvPr id="37895" name="Rectangle 69"/>
            <p:cNvSpPr/>
            <p:nvPr/>
          </p:nvSpPr>
          <p:spPr>
            <a:xfrm>
              <a:off x="-3" y="-3"/>
              <a:ext cx="4065" cy="1302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endParaRPr lang="zh-CN" altLang="en-US" dirty="0">
                <a:latin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提问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157288"/>
            <a:ext cx="8253412" cy="4071937"/>
          </a:xfrm>
          <a:ln/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查询比所有女生年龄小的学生的学号和姓名。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 查询比某个蓝色零件的重量轻的零件的零件号和零件名。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</a:t>
            </a:r>
            <a:r>
              <a:rPr lang="zh-CN" altLang="en-US" dirty="0"/>
              <a:t>（</a:t>
            </a:r>
            <a:r>
              <a:rPr lang="en-US" altLang="zh-CN" dirty="0"/>
              <a:t>pno</a:t>
            </a:r>
            <a:r>
              <a:rPr lang="zh-CN" altLang="en-US" dirty="0"/>
              <a:t>，</a:t>
            </a:r>
            <a:r>
              <a:rPr lang="en-US" altLang="zh-CN" dirty="0"/>
              <a:t>pname</a:t>
            </a:r>
            <a:r>
              <a:rPr lang="zh-CN" altLang="en-US" dirty="0"/>
              <a:t>，</a:t>
            </a:r>
            <a:r>
              <a:rPr lang="en-US" altLang="zh-CN" dirty="0"/>
              <a:t>color</a:t>
            </a:r>
            <a:r>
              <a:rPr lang="zh-CN" altLang="en-US" dirty="0"/>
              <a:t>，</a:t>
            </a:r>
            <a:r>
              <a:rPr lang="en-US" altLang="zh-CN" dirty="0"/>
              <a:t>weight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3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23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2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52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3.4.3  </a:t>
            </a:r>
            <a:r>
              <a:rPr lang="zh-CN" altLang="en-US" dirty="0"/>
              <a:t>嵌套查询</a:t>
            </a:r>
            <a:endParaRPr lang="zh-CN" altLang="en-US" dirty="0"/>
          </a:p>
        </p:txBody>
      </p:sp>
      <p:sp>
        <p:nvSpPr>
          <p:cNvPr id="3994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buNone/>
            </a:pPr>
            <a:r>
              <a:rPr lang="en-US" altLang="zh-CN" dirty="0"/>
              <a:t>  </a:t>
            </a:r>
            <a:r>
              <a:rPr lang="zh-CN" altLang="en-US" dirty="0"/>
              <a:t>一、带有</a:t>
            </a:r>
            <a:r>
              <a:rPr lang="en-US" altLang="zh-CN" dirty="0"/>
              <a:t>IN</a:t>
            </a:r>
            <a:r>
              <a:rPr lang="zh-CN" altLang="en-US" dirty="0"/>
              <a:t>谓词的子查询 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二、 带有比较运算符的子查询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三、 带有</a:t>
            </a:r>
            <a:r>
              <a:rPr lang="en-US" altLang="zh-CN" dirty="0"/>
              <a:t>ANY</a:t>
            </a:r>
            <a:r>
              <a:rPr lang="zh-CN" altLang="en-US" dirty="0"/>
              <a:t>（</a:t>
            </a:r>
            <a:r>
              <a:rPr lang="en-US" altLang="zh-CN" dirty="0"/>
              <a:t>SOME</a:t>
            </a:r>
            <a:r>
              <a:rPr lang="zh-CN" altLang="en-US" dirty="0"/>
              <a:t>）或</a:t>
            </a:r>
            <a:r>
              <a:rPr lang="en-US" altLang="zh-CN" dirty="0"/>
              <a:t>ALL</a:t>
            </a:r>
            <a:r>
              <a:rPr lang="zh-CN" altLang="en-US" dirty="0"/>
              <a:t>谓词的子查询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  </a:t>
            </a:r>
            <a:r>
              <a:rPr lang="zh-CN" altLang="en-US" b="1" dirty="0">
                <a:solidFill>
                  <a:srgbClr val="FF0000"/>
                </a:solidFill>
              </a:rPr>
              <a:t>四、 带有</a:t>
            </a:r>
            <a:r>
              <a:rPr lang="en-US" altLang="zh-CN" b="1" dirty="0">
                <a:solidFill>
                  <a:srgbClr val="FF0000"/>
                </a:solidFill>
              </a:rPr>
              <a:t>EXISTS</a:t>
            </a:r>
            <a:r>
              <a:rPr lang="zh-CN" altLang="en-US" b="1" dirty="0">
                <a:solidFill>
                  <a:srgbClr val="FF0000"/>
                </a:solidFill>
              </a:rPr>
              <a:t>谓词的子查询（大部分都是相关子查询）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4096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</a:t>
            </a:r>
            <a:r>
              <a:rPr lang="en-US" altLang="zh-CN" sz="3200" dirty="0"/>
              <a:t>EXISTS</a:t>
            </a:r>
            <a:r>
              <a:rPr lang="zh-CN" altLang="en-US" sz="3200" dirty="0"/>
              <a:t>谓词的子查询</a:t>
            </a:r>
            <a:r>
              <a:rPr lang="en-US" altLang="zh-CN" sz="3200" dirty="0"/>
              <a:t>(</a:t>
            </a:r>
            <a:r>
              <a:rPr lang="zh-CN" altLang="en-US" sz="3200" dirty="0"/>
              <a:t>续）</a:t>
            </a:r>
            <a:endParaRPr lang="zh-CN" altLang="en-US" sz="3200" dirty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071563"/>
            <a:ext cx="7921625" cy="27860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1" indent="-469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1. EXISTS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谓词      存在量词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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 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带有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EXISTS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谓词的子查询不返回任何数据，只产生逻辑真值“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true”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或逻辑假值“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false”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。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304925" marR="0" lvl="2" indent="-39560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若内层查询结果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非空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，则外层的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WHERE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子句返回</a:t>
            </a:r>
            <a:r>
              <a:rPr kumimoji="0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真值</a:t>
            </a:r>
            <a:endParaRPr kumimoji="0" lang="zh-CN" altLang="en-US" sz="18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304925" marR="0" lvl="2" indent="-395605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若内层查询结果为空，则外层的</a:t>
            </a:r>
            <a:r>
              <a:rPr kumimoji="0" lang="en-US" altLang="zh-CN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WHERE</a:t>
            </a:r>
            <a:r>
              <a:rPr kumimoji="0" lang="zh-CN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子句返回假值</a:t>
            </a:r>
            <a:endParaRPr kumimoji="0" lang="zh-CN" alt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908050" marR="0" lvl="1" indent="-43688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由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EXISTS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引出的子查询，其目标列表达式通常都用* ，因为带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EXISTS</a:t>
            </a: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的子查询只返回真值或假值，给出列名无实际意义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700421" name="Rectangle 5"/>
          <p:cNvSpPr/>
          <p:nvPr/>
        </p:nvSpPr>
        <p:spPr>
          <a:xfrm>
            <a:off x="928688" y="3929063"/>
            <a:ext cx="7772400" cy="12858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Arial" panose="020B0604020202020204" pitchFamily="34" charset="0"/>
              </a:rPr>
              <a:t>2. NOT EXISTS</a:t>
            </a:r>
            <a:r>
              <a:rPr lang="zh-CN" altLang="en-US" sz="2000" dirty="0">
                <a:latin typeface="Arial" panose="020B0604020202020204" pitchFamily="34" charset="0"/>
              </a:rPr>
              <a:t>谓词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 marL="1143000" lvl="2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Arial" panose="020B0604020202020204" pitchFamily="34" charset="0"/>
              </a:rPr>
              <a:t>若内层查询结果非空，则外层的</a:t>
            </a:r>
            <a:r>
              <a:rPr lang="en-US" altLang="zh-CN" dirty="0">
                <a:latin typeface="Arial" panose="020B0604020202020204" pitchFamily="34" charset="0"/>
              </a:rPr>
              <a:t>WHERE</a:t>
            </a:r>
            <a:r>
              <a:rPr lang="zh-CN" altLang="en-US" dirty="0">
                <a:latin typeface="Arial" panose="020B0604020202020204" pitchFamily="34" charset="0"/>
              </a:rPr>
              <a:t>子句返回假值</a:t>
            </a:r>
            <a:endParaRPr lang="zh-CN" altLang="en-US" dirty="0">
              <a:latin typeface="Arial" panose="020B0604020202020204" pitchFamily="34" charset="0"/>
            </a:endParaRPr>
          </a:p>
          <a:p>
            <a:pPr marL="1143000" lvl="2" indent="-22860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</a:pPr>
            <a:r>
              <a:rPr lang="zh-CN" altLang="en-US" dirty="0">
                <a:latin typeface="Arial" panose="020B0604020202020204" pitchFamily="34" charset="0"/>
              </a:rPr>
              <a:t>若内层查询结果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为空</a:t>
            </a:r>
            <a:r>
              <a:rPr lang="zh-CN" altLang="en-US" dirty="0">
                <a:latin typeface="Arial" panose="020B0604020202020204" pitchFamily="34" charset="0"/>
              </a:rPr>
              <a:t>，则外层的</a:t>
            </a:r>
            <a:r>
              <a:rPr lang="en-US" altLang="zh-CN" dirty="0">
                <a:latin typeface="Arial" panose="020B0604020202020204" pitchFamily="34" charset="0"/>
              </a:rPr>
              <a:t>WHERE</a:t>
            </a:r>
            <a:r>
              <a:rPr lang="zh-CN" altLang="en-US" dirty="0">
                <a:latin typeface="Arial" panose="020B0604020202020204" pitchFamily="34" charset="0"/>
              </a:rPr>
              <a:t>子句返回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真值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0966" name="TextBox 5"/>
          <p:cNvSpPr txBox="1"/>
          <p:nvPr/>
        </p:nvSpPr>
        <p:spPr>
          <a:xfrm>
            <a:off x="500063" y="5214938"/>
            <a:ext cx="8358187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EXISTS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：内层只要有结果，外层对应的记录会被输出。</a:t>
            </a:r>
            <a:endParaRPr lang="en-US" altLang="zh-CN" sz="2400" b="1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NOT EXISTS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：内层没有找到任何结果，外层会被输出。</a:t>
            </a:r>
            <a:endParaRPr lang="zh-CN" altLang="en-US" sz="2400" b="1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0421" grpId="0"/>
      <p:bldP spid="4096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4198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</a:t>
            </a:r>
            <a:r>
              <a:rPr lang="en-US" altLang="zh-CN" sz="3200" dirty="0"/>
              <a:t>EXISTS</a:t>
            </a:r>
            <a:r>
              <a:rPr lang="zh-CN" altLang="en-US" sz="3200" dirty="0"/>
              <a:t>谓词的子查询</a:t>
            </a:r>
            <a:r>
              <a:rPr lang="en-US" altLang="zh-CN" sz="3200" dirty="0"/>
              <a:t>(</a:t>
            </a:r>
            <a:r>
              <a:rPr lang="zh-CN" altLang="en-US" sz="3200" dirty="0"/>
              <a:t>续）</a:t>
            </a:r>
            <a:endParaRPr lang="zh-CN" altLang="en-US" sz="3200" dirty="0"/>
          </a:p>
        </p:txBody>
      </p:sp>
      <p:sp>
        <p:nvSpPr>
          <p:cNvPr id="702467" name="Rectangle 3"/>
          <p:cNvSpPr>
            <a:spLocks noGrp="1"/>
          </p:cNvSpPr>
          <p:nvPr>
            <p:ph idx="1"/>
          </p:nvPr>
        </p:nvSpPr>
        <p:spPr>
          <a:xfrm>
            <a:off x="622300" y="1835150"/>
            <a:ext cx="7772400" cy="302101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Font typeface="宋体" panose="02010600030101010101" pitchFamily="2" charset="-122"/>
              <a:buNone/>
            </a:pPr>
            <a:r>
              <a:rPr lang="zh-CN" altLang="en-US" sz="2400" dirty="0"/>
              <a:t>思路分析：</a:t>
            </a:r>
            <a:endParaRPr lang="zh-CN" altLang="en-US" sz="2400" dirty="0"/>
          </a:p>
          <a:p>
            <a:pPr lvl="1" eaLnBrk="1" hangingPunct="1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</a:pPr>
            <a:r>
              <a:rPr lang="zh-CN" altLang="en-US" sz="2000" dirty="0"/>
              <a:t>本查询涉及</a:t>
            </a:r>
            <a:r>
              <a:rPr lang="en-US" altLang="zh-CN" sz="2000" dirty="0"/>
              <a:t>Student</a:t>
            </a:r>
            <a:r>
              <a:rPr lang="zh-CN" altLang="en-US" sz="2000" dirty="0"/>
              <a:t>和</a:t>
            </a:r>
            <a:r>
              <a:rPr lang="en-US" altLang="zh-CN" sz="2000" dirty="0"/>
              <a:t>SC</a:t>
            </a:r>
            <a:r>
              <a:rPr lang="zh-CN" altLang="en-US" sz="2000" dirty="0"/>
              <a:t>关系</a:t>
            </a:r>
            <a:endParaRPr lang="zh-CN" altLang="en-US" sz="2000" dirty="0"/>
          </a:p>
          <a:p>
            <a:pPr lvl="1" eaLnBrk="1" hangingPunct="1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</a:pPr>
            <a:r>
              <a:rPr lang="zh-CN" altLang="en-US" sz="2000" dirty="0"/>
              <a:t>在</a:t>
            </a:r>
            <a:r>
              <a:rPr lang="en-US" altLang="zh-CN" sz="2000" dirty="0"/>
              <a:t>Student</a:t>
            </a:r>
            <a:r>
              <a:rPr lang="zh-CN" altLang="en-US" sz="2000" dirty="0"/>
              <a:t>中依次取每个元组的</a:t>
            </a:r>
            <a:r>
              <a:rPr lang="en-US" altLang="zh-CN" sz="2000" dirty="0"/>
              <a:t>Sno</a:t>
            </a:r>
            <a:r>
              <a:rPr lang="zh-CN" altLang="en-US" sz="2000" dirty="0"/>
              <a:t>值，用此值去检查</a:t>
            </a:r>
            <a:r>
              <a:rPr lang="en-US" altLang="zh-CN" sz="2000" dirty="0"/>
              <a:t>SC</a:t>
            </a:r>
            <a:r>
              <a:rPr lang="zh-CN" altLang="en-US" sz="2000" dirty="0"/>
              <a:t>关系</a:t>
            </a:r>
            <a:endParaRPr lang="zh-CN" altLang="en-US" sz="2000" dirty="0"/>
          </a:p>
          <a:p>
            <a:pPr lvl="1" eaLnBrk="1" hangingPunct="1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</a:pPr>
            <a:r>
              <a:rPr lang="zh-CN" altLang="en-US" sz="2000" dirty="0"/>
              <a:t>若</a:t>
            </a:r>
            <a:r>
              <a:rPr lang="en-US" altLang="zh-CN" sz="2000" dirty="0"/>
              <a:t>SC</a:t>
            </a:r>
            <a:r>
              <a:rPr lang="zh-CN" altLang="en-US" sz="2000" dirty="0"/>
              <a:t>中存在这样的元组，其</a:t>
            </a:r>
            <a:r>
              <a:rPr lang="en-US" altLang="zh-CN" sz="2000" dirty="0"/>
              <a:t>Sno</a:t>
            </a:r>
            <a:r>
              <a:rPr lang="zh-CN" altLang="en-US" sz="2000" dirty="0"/>
              <a:t>值等于此</a:t>
            </a:r>
            <a:r>
              <a:rPr lang="en-US" altLang="zh-CN" sz="2000" dirty="0"/>
              <a:t>Student.Sno</a:t>
            </a:r>
            <a:r>
              <a:rPr lang="zh-CN" altLang="en-US" sz="2000" dirty="0"/>
              <a:t>值，并且其</a:t>
            </a:r>
            <a:r>
              <a:rPr lang="en-US" altLang="zh-CN" sz="2000" dirty="0"/>
              <a:t>Cno= '1'</a:t>
            </a:r>
            <a:r>
              <a:rPr lang="zh-CN" altLang="en-US" sz="2000" dirty="0"/>
              <a:t>，则取此</a:t>
            </a:r>
            <a:r>
              <a:rPr lang="en-US" altLang="zh-CN" sz="2000" dirty="0"/>
              <a:t>Student.Sname</a:t>
            </a:r>
            <a:r>
              <a:rPr lang="zh-CN" altLang="en-US" sz="2000" dirty="0"/>
              <a:t>送入结果关系</a:t>
            </a:r>
            <a:endParaRPr lang="zh-CN" altLang="en-US" sz="2000" dirty="0"/>
          </a:p>
        </p:txBody>
      </p:sp>
      <p:sp>
        <p:nvSpPr>
          <p:cNvPr id="41989" name="Rectangle 4"/>
          <p:cNvSpPr/>
          <p:nvPr/>
        </p:nvSpPr>
        <p:spPr>
          <a:xfrm>
            <a:off x="611188" y="1341438"/>
            <a:ext cx="6026150" cy="457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/>
            <a:r>
              <a:rPr lang="en-US" altLang="zh-CN" sz="2400" dirty="0">
                <a:latin typeface="Verdana" panose="020B0604030504040204" pitchFamily="34" charset="0"/>
              </a:rPr>
              <a:t>[</a:t>
            </a:r>
            <a:r>
              <a:rPr lang="zh-CN" altLang="en-US" sz="2400" dirty="0">
                <a:latin typeface="Verdana" panose="020B0604030504040204" pitchFamily="34" charset="0"/>
              </a:rPr>
              <a:t>例</a:t>
            </a:r>
            <a:r>
              <a:rPr lang="en-US" altLang="zh-CN" sz="2400" dirty="0">
                <a:latin typeface="Verdana" panose="020B0604030504040204" pitchFamily="34" charset="0"/>
              </a:rPr>
              <a:t>44]</a:t>
            </a:r>
            <a:r>
              <a:rPr lang="zh-CN" altLang="en-US" sz="2400" dirty="0">
                <a:latin typeface="Verdana" panose="020B0604030504040204" pitchFamily="34" charset="0"/>
              </a:rPr>
              <a:t>查询所有选修了</a:t>
            </a:r>
            <a:r>
              <a:rPr lang="en-US" altLang="zh-CN" sz="2400" dirty="0">
                <a:latin typeface="Verdana" panose="020B0604030504040204" pitchFamily="34" charset="0"/>
              </a:rPr>
              <a:t>1</a:t>
            </a:r>
            <a:r>
              <a:rPr lang="zh-CN" altLang="en-US" sz="2400" dirty="0">
                <a:latin typeface="Verdana" panose="020B0604030504040204" pitchFamily="34" charset="0"/>
              </a:rPr>
              <a:t>号课程的学生姓名。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charRg st="6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charRg st="24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467">
                                            <p:txEl>
                                              <p:charRg st="57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2467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4301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带有</a:t>
            </a:r>
            <a:r>
              <a:rPr lang="en-US" altLang="zh-CN" dirty="0"/>
              <a:t>EXISTS</a:t>
            </a:r>
            <a:r>
              <a:rPr lang="zh-CN" altLang="en-US" dirty="0"/>
              <a:t>谓词的子查询</a:t>
            </a:r>
            <a:r>
              <a:rPr lang="en-US" altLang="zh-CN" dirty="0"/>
              <a:t>(</a:t>
            </a:r>
            <a:r>
              <a:rPr lang="zh-CN" altLang="en-US" dirty="0"/>
              <a:t>续）</a:t>
            </a:r>
            <a:endParaRPr lang="zh-CN" altLang="en-US" dirty="0"/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755650" y="1412875"/>
            <a:ext cx="8229600" cy="244792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75000"/>
            </a:pPr>
            <a:r>
              <a:rPr lang="zh-CN" altLang="en-US" sz="2400" dirty="0">
                <a:latin typeface="宋体" panose="02010600030101010101" pitchFamily="2" charset="-122"/>
              </a:rPr>
              <a:t>用嵌套查询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000" dirty="0"/>
              <a:t>     </a:t>
            </a:r>
            <a:r>
              <a:rPr lang="en-US" altLang="zh-CN" sz="2000" dirty="0"/>
              <a:t>SELECT Sname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FROM </a:t>
            </a:r>
            <a:r>
              <a:rPr lang="en-US" altLang="zh-CN" sz="2000" dirty="0">
                <a:solidFill>
                  <a:srgbClr val="FF3399"/>
                </a:solidFill>
              </a:rPr>
              <a:t>Student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WHERE EXISTS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            (SELECT </a:t>
            </a:r>
            <a:r>
              <a:rPr lang="en-US" altLang="zh-CN" sz="2000" dirty="0">
                <a:solidFill>
                  <a:srgbClr val="FF3399"/>
                </a:solidFill>
              </a:rPr>
              <a:t>*</a:t>
            </a:r>
            <a:endParaRPr lang="en-US" altLang="zh-CN" sz="2000" dirty="0">
              <a:solidFill>
                <a:srgbClr val="FF3399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             FROM SC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             WHERE Sno=</a:t>
            </a:r>
            <a:r>
              <a:rPr lang="en-US" altLang="zh-CN" sz="2000" dirty="0">
                <a:solidFill>
                  <a:srgbClr val="FF3399"/>
                </a:solidFill>
              </a:rPr>
              <a:t>Student.Sno</a:t>
            </a:r>
            <a:r>
              <a:rPr lang="en-US" altLang="zh-CN" sz="2000" dirty="0"/>
              <a:t> AND Cno= ' 1 ')</a:t>
            </a:r>
            <a:r>
              <a:rPr lang="zh-CN" altLang="en-US" sz="2000" dirty="0"/>
              <a:t>；</a:t>
            </a:r>
            <a:endParaRPr lang="zh-CN" altLang="en-US" sz="200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dirty="0">
                <a:latin typeface="宋体" panose="02010600030101010101" pitchFamily="2" charset="-122"/>
              </a:rPr>
              <a:t>  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  <p:sp>
        <p:nvSpPr>
          <p:cNvPr id="704516" name="Rectangle 4"/>
          <p:cNvSpPr/>
          <p:nvPr/>
        </p:nvSpPr>
        <p:spPr>
          <a:xfrm>
            <a:off x="323850" y="3889375"/>
            <a:ext cx="8229600" cy="18446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宋体" panose="02010600030101010101" pitchFamily="2" charset="-122"/>
              </a:rPr>
              <a:t>用连接运算</a:t>
            </a:r>
            <a:endParaRPr lang="zh-CN" altLang="en-US" sz="2400" dirty="0">
              <a:latin typeface="宋体" panose="02010600030101010101" pitchFamily="2" charset="-122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zh-CN" altLang="en-US" sz="2000" dirty="0">
                <a:latin typeface="宋体" panose="02010600030101010101" pitchFamily="2" charset="-122"/>
              </a:rPr>
              <a:t>	</a:t>
            </a:r>
            <a:r>
              <a:rPr lang="en-US" altLang="zh-CN" sz="2000" dirty="0">
                <a:latin typeface="Arial" panose="020B0604020202020204" pitchFamily="34" charset="0"/>
              </a:rPr>
              <a:t>SELECT Sname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	FROM Student, SC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	WHERE Student.Sno=SC.Sno AND SC.Cno= '1';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43014" name="TextBox 1"/>
          <p:cNvSpPr txBox="1"/>
          <p:nvPr/>
        </p:nvSpPr>
        <p:spPr>
          <a:xfrm>
            <a:off x="4427538" y="1989138"/>
            <a:ext cx="3673475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000" b="1" dirty="0">
                <a:solidFill>
                  <a:srgbClr val="0000FF"/>
                </a:solidFill>
                <a:latin typeface="Verdana" panose="020B0604030504040204" pitchFamily="34" charset="0"/>
              </a:rPr>
              <a:t>外层往内层传递一个值，查一下在内层中的表中有没有。</a:t>
            </a:r>
            <a:endParaRPr lang="zh-CN" altLang="en-US" sz="2000" b="1" dirty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2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2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6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2">
                                            <p:txEl>
                                              <p:charRg st="6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2">
                                            <p:txEl>
                                              <p:charRg st="6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24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12">
                                            <p:txEl>
                                              <p:charRg st="24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12">
                                            <p:txEl>
                                              <p:charRg st="24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4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2">
                                            <p:txEl>
                                              <p:charRg st="4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2">
                                            <p:txEl>
                                              <p:charRg st="4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6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12">
                                            <p:txEl>
                                              <p:charRg st="6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2">
                                            <p:txEl>
                                              <p:charRg st="60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89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012">
                                            <p:txEl>
                                              <p:charRg st="89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012">
                                            <p:txEl>
                                              <p:charRg st="89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117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012">
                                            <p:txEl>
                                              <p:charRg st="117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012">
                                            <p:txEl>
                                              <p:charRg st="117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charRg st="176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3012">
                                            <p:txEl>
                                              <p:charRg st="176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3012">
                                            <p:txEl>
                                              <p:charRg st="176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uild="p"/>
      <p:bldP spid="7045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带有</a:t>
            </a:r>
            <a:r>
              <a:rPr lang="en-US" altLang="zh-CN" dirty="0"/>
              <a:t>EXISTS</a:t>
            </a:r>
            <a:r>
              <a:rPr lang="zh-CN" altLang="en-US" dirty="0"/>
              <a:t>谓词的子查询</a:t>
            </a:r>
            <a:r>
              <a:rPr lang="en-US" altLang="zh-CN" dirty="0"/>
              <a:t>(</a:t>
            </a:r>
            <a:r>
              <a:rPr lang="zh-CN" altLang="en-US" dirty="0"/>
              <a:t>续）</a:t>
            </a:r>
            <a:endParaRPr lang="zh-CN" altLang="en-US" dirty="0"/>
          </a:p>
        </p:txBody>
      </p:sp>
      <p:sp>
        <p:nvSpPr>
          <p:cNvPr id="706563" name="Rectangle 3"/>
          <p:cNvSpPr>
            <a:spLocks noGrp="1"/>
          </p:cNvSpPr>
          <p:nvPr>
            <p:ph idx="1"/>
          </p:nvPr>
        </p:nvSpPr>
        <p:spPr>
          <a:xfrm>
            <a:off x="357188" y="2125663"/>
            <a:ext cx="8532812" cy="3736975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10000"/>
              </a:lnSpc>
              <a:buNone/>
            </a:pPr>
            <a:r>
              <a:rPr lang="en-US" altLang="zh-CN" sz="2400" dirty="0"/>
              <a:t>         SELECT Sname</a:t>
            </a:r>
            <a:endParaRPr lang="en-US" altLang="zh-CN" sz="2400" dirty="0"/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en-US" altLang="zh-CN" sz="2000" dirty="0"/>
              <a:t>     </a:t>
            </a:r>
            <a:r>
              <a:rPr lang="en-US" altLang="zh-CN" dirty="0"/>
              <a:t>FROM </a:t>
            </a:r>
            <a:r>
              <a:rPr lang="en-US" altLang="zh-CN" dirty="0">
                <a:solidFill>
                  <a:srgbClr val="FF3300"/>
                </a:solidFill>
              </a:rPr>
              <a:t>Student</a:t>
            </a:r>
            <a:endParaRPr lang="en-US" altLang="zh-CN" dirty="0">
              <a:solidFill>
                <a:srgbClr val="FF3300"/>
              </a:solidFill>
            </a:endParaRPr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en-US" altLang="zh-CN" dirty="0"/>
              <a:t>     WHERE NOT EXISTS</a:t>
            </a:r>
            <a:endParaRPr lang="en-US" altLang="zh-CN" dirty="0"/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en-US" altLang="zh-CN" dirty="0"/>
              <a:t>                   (SELECT *</a:t>
            </a:r>
            <a:endParaRPr lang="en-US" altLang="zh-CN" dirty="0"/>
          </a:p>
          <a:p>
            <a:pPr lvl="1" algn="just" eaLnBrk="1" hangingPunct="1">
              <a:lnSpc>
                <a:spcPct val="110000"/>
              </a:lnSpc>
              <a:buNone/>
            </a:pPr>
            <a:r>
              <a:rPr lang="en-US" altLang="zh-CN" dirty="0"/>
              <a:t>                    FROM SC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dirty="0"/>
              <a:t>                    WHERE Sno = </a:t>
            </a:r>
            <a:r>
              <a:rPr lang="en-US" altLang="zh-CN" dirty="0">
                <a:solidFill>
                  <a:srgbClr val="FF3300"/>
                </a:solidFill>
              </a:rPr>
              <a:t>Student</a:t>
            </a:r>
            <a:r>
              <a:rPr lang="en-US" altLang="zh-CN" dirty="0">
                <a:solidFill>
                  <a:schemeClr val="hlink"/>
                </a:solidFill>
              </a:rPr>
              <a:t>.</a:t>
            </a:r>
            <a:r>
              <a:rPr lang="en-US" altLang="zh-CN" dirty="0"/>
              <a:t>Sno AND Cno='1')</a:t>
            </a:r>
            <a:r>
              <a:rPr lang="zh-CN" altLang="en-US" dirty="0"/>
              <a:t>；</a:t>
            </a:r>
            <a:endParaRPr lang="zh-CN" altLang="en-US" dirty="0"/>
          </a:p>
        </p:txBody>
      </p:sp>
      <p:sp>
        <p:nvSpPr>
          <p:cNvPr id="44037" name="Rectangle 4"/>
          <p:cNvSpPr/>
          <p:nvPr/>
        </p:nvSpPr>
        <p:spPr>
          <a:xfrm>
            <a:off x="1000125" y="1268413"/>
            <a:ext cx="6823075" cy="5191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/>
            <a:r>
              <a:rPr lang="en-US" altLang="zh-CN" sz="2800" dirty="0">
                <a:latin typeface="Verdana" panose="020B0604030504040204" pitchFamily="34" charset="0"/>
              </a:rPr>
              <a:t>[</a:t>
            </a:r>
            <a:r>
              <a:rPr lang="zh-CN" altLang="en-US" sz="2800" dirty="0">
                <a:latin typeface="Verdana" panose="020B0604030504040204" pitchFamily="34" charset="0"/>
              </a:rPr>
              <a:t>例</a:t>
            </a:r>
            <a:r>
              <a:rPr lang="en-US" altLang="zh-CN" sz="2800" dirty="0">
                <a:latin typeface="Verdana" panose="020B0604030504040204" pitchFamily="34" charset="0"/>
              </a:rPr>
              <a:t>45]  </a:t>
            </a:r>
            <a:r>
              <a:rPr lang="zh-CN" altLang="en-US" sz="2800" dirty="0">
                <a:latin typeface="Verdana" panose="020B0604030504040204" pitchFamily="34" charset="0"/>
              </a:rPr>
              <a:t>查询没有选修</a:t>
            </a:r>
            <a:r>
              <a:rPr lang="en-US" altLang="zh-CN" sz="2800" dirty="0">
                <a:latin typeface="Verdana" panose="020B0604030504040204" pitchFamily="34" charset="0"/>
              </a:rPr>
              <a:t>1</a:t>
            </a:r>
            <a:r>
              <a:rPr lang="zh-CN" altLang="en-US" sz="2800" dirty="0">
                <a:latin typeface="Verdana" panose="020B0604030504040204" pitchFamily="34" charset="0"/>
              </a:rPr>
              <a:t>号课程的学生姓名。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charRg st="2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charRg st="40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charRg st="62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charRg st="91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63">
                                            <p:txEl>
                                              <p:charRg st="119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6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用</a:t>
            </a:r>
            <a:r>
              <a:rPr lang="en-US" altLang="zh-CN" dirty="0"/>
              <a:t>not in </a:t>
            </a:r>
            <a:r>
              <a:rPr lang="zh-CN" altLang="en-US" dirty="0"/>
              <a:t>查询</a:t>
            </a: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45]</a:t>
            </a:r>
            <a:endParaRPr lang="zh-CN" altLang="en-US" dirty="0"/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 dirty="0"/>
              <a:t>select sname </a:t>
            </a: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from Student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where Sno not in</a:t>
            </a:r>
            <a:endParaRPr lang="en-US" altLang="zh-CN" dirty="0"/>
          </a:p>
          <a:p>
            <a:pPr marL="1624330" lvl="4" indent="0">
              <a:buNone/>
            </a:pPr>
            <a:r>
              <a:rPr lang="en-US" altLang="zh-CN" sz="3200" dirty="0"/>
              <a:t>(select Sno from SC</a:t>
            </a:r>
            <a:endParaRPr lang="en-US" altLang="zh-CN" sz="3200" dirty="0"/>
          </a:p>
          <a:p>
            <a:pPr marL="1624330" lvl="4" indent="0">
              <a:buNone/>
            </a:pPr>
            <a:r>
              <a:rPr lang="en-US" altLang="zh-CN" sz="3200" dirty="0"/>
              <a:t> where Cno=‘1')</a:t>
            </a:r>
            <a:endParaRPr lang="zh-CN" altLang="en-US" sz="32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1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9">
                                            <p:txEl>
                                              <p:charRg st="1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59">
                                            <p:txEl>
                                              <p:charRg st="1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2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59">
                                            <p:txEl>
                                              <p:charRg st="2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59">
                                            <p:txEl>
                                              <p:charRg st="2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44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059">
                                            <p:txEl>
                                              <p:charRg st="44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059">
                                            <p:txEl>
                                              <p:charRg st="44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charRg st="64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059">
                                            <p:txEl>
                                              <p:charRg st="64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059">
                                            <p:txEl>
                                              <p:charRg st="64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带有</a:t>
            </a:r>
            <a:r>
              <a:rPr lang="en-US" altLang="zh-CN" dirty="0"/>
              <a:t>EXISTS</a:t>
            </a:r>
            <a:r>
              <a:rPr lang="zh-CN" altLang="en-US" dirty="0"/>
              <a:t>谓词的子查询</a:t>
            </a:r>
            <a:r>
              <a:rPr lang="en-US" altLang="zh-CN" dirty="0"/>
              <a:t>(</a:t>
            </a:r>
            <a:r>
              <a:rPr lang="zh-CN" altLang="en-US" dirty="0"/>
              <a:t>续）</a:t>
            </a:r>
            <a:endParaRPr lang="zh-CN" altLang="en-US" dirty="0"/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468313" y="1412875"/>
            <a:ext cx="8229600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sz="3200" dirty="0"/>
              <a:t>不同形式的查询间的替换</a:t>
            </a:r>
            <a:endParaRPr lang="zh-CN" altLang="en-US" sz="3200" dirty="0"/>
          </a:p>
          <a:p>
            <a:pPr lvl="1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dirty="0"/>
              <a:t>一些带</a:t>
            </a:r>
            <a:r>
              <a:rPr lang="en-US" altLang="zh-CN" dirty="0"/>
              <a:t>EXISTS</a:t>
            </a:r>
            <a:r>
              <a:rPr lang="zh-CN" altLang="en-US" dirty="0"/>
              <a:t>或</a:t>
            </a:r>
            <a:r>
              <a:rPr lang="en-US" altLang="zh-CN" dirty="0"/>
              <a:t>NOT EXISTS</a:t>
            </a:r>
            <a:r>
              <a:rPr lang="zh-CN" altLang="en-US" dirty="0"/>
              <a:t>谓词的子查询不能被其他形式的子查询等价替换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dirty="0"/>
              <a:t>所有带</a:t>
            </a:r>
            <a:r>
              <a:rPr lang="en-US" altLang="zh-CN" dirty="0"/>
              <a:t>IN</a:t>
            </a:r>
            <a:r>
              <a:rPr lang="zh-CN" altLang="en-US" dirty="0"/>
              <a:t>谓词、比较运算符、</a:t>
            </a:r>
            <a:r>
              <a:rPr lang="en-US" altLang="zh-CN" dirty="0"/>
              <a:t>ANY</a:t>
            </a:r>
            <a:r>
              <a:rPr lang="zh-CN" altLang="en-US" dirty="0"/>
              <a:t>和</a:t>
            </a:r>
            <a:r>
              <a:rPr lang="en-US" altLang="zh-CN" dirty="0"/>
              <a:t>ALL</a:t>
            </a:r>
            <a:r>
              <a:rPr lang="zh-CN" altLang="en-US" dirty="0"/>
              <a:t>谓词的</a:t>
            </a:r>
            <a:r>
              <a:rPr lang="zh-CN" altLang="en-US" b="1" dirty="0"/>
              <a:t>子查询</a:t>
            </a:r>
            <a:r>
              <a:rPr lang="zh-CN" altLang="en-US" dirty="0"/>
              <a:t>都</a:t>
            </a:r>
            <a:r>
              <a:rPr lang="zh-CN" altLang="en-US" b="1" dirty="0">
                <a:solidFill>
                  <a:srgbClr val="0000FF"/>
                </a:solidFill>
              </a:rPr>
              <a:t>能用</a:t>
            </a:r>
            <a:r>
              <a:rPr lang="zh-CN" altLang="en-US" dirty="0"/>
              <a:t>带</a:t>
            </a:r>
            <a:r>
              <a:rPr lang="en-US" altLang="zh-CN" dirty="0"/>
              <a:t>EXISTS</a:t>
            </a:r>
            <a:r>
              <a:rPr lang="zh-CN" altLang="en-US" dirty="0"/>
              <a:t>谓词的子查询等价替换</a:t>
            </a:r>
            <a:endParaRPr lang="zh-CN" altLang="en-US" sz="20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带有</a:t>
            </a:r>
            <a:r>
              <a:rPr lang="en-US" altLang="zh-CN" dirty="0"/>
              <a:t>EXISTS</a:t>
            </a:r>
            <a:r>
              <a:rPr lang="zh-CN" altLang="en-US" dirty="0"/>
              <a:t>谓词的子查询</a:t>
            </a:r>
            <a:r>
              <a:rPr lang="en-US" altLang="zh-CN" dirty="0"/>
              <a:t>(</a:t>
            </a:r>
            <a:r>
              <a:rPr lang="zh-CN" altLang="en-US" dirty="0"/>
              <a:t>续）</a:t>
            </a:r>
            <a:endParaRPr lang="zh-CN" altLang="en-US" dirty="0"/>
          </a:p>
        </p:txBody>
      </p:sp>
      <p:sp>
        <p:nvSpPr>
          <p:cNvPr id="710659" name="Rectangle 3"/>
          <p:cNvSpPr>
            <a:spLocks noGrp="1"/>
          </p:cNvSpPr>
          <p:nvPr>
            <p:ph idx="1"/>
          </p:nvPr>
        </p:nvSpPr>
        <p:spPr>
          <a:xfrm>
            <a:off x="571500" y="2000250"/>
            <a:ext cx="8229600" cy="36004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dirty="0"/>
              <a:t>可以用带</a:t>
            </a:r>
            <a:r>
              <a:rPr lang="en-US" altLang="zh-CN" sz="2400" dirty="0"/>
              <a:t>EXISTS</a:t>
            </a:r>
            <a:r>
              <a:rPr lang="zh-CN" altLang="en-US" sz="2400" dirty="0"/>
              <a:t>谓词的子查询替换：</a:t>
            </a:r>
            <a:endParaRPr lang="zh-CN" altLang="en-US" sz="2400" dirty="0"/>
          </a:p>
          <a:p>
            <a:pPr lvl="1" eaLnBrk="1" hangingPunct="1">
              <a:buNone/>
            </a:pPr>
            <a:r>
              <a:rPr lang="zh-CN" altLang="en-US" sz="2000" dirty="0"/>
              <a:t>     </a:t>
            </a:r>
            <a:r>
              <a:rPr lang="en-US" altLang="zh-CN" dirty="0"/>
              <a:t>SELECT Sno</a:t>
            </a:r>
            <a:r>
              <a:rPr lang="zh-CN" altLang="en-US" dirty="0"/>
              <a:t>，</a:t>
            </a:r>
            <a:r>
              <a:rPr lang="en-US" altLang="zh-CN" dirty="0"/>
              <a:t>Sname</a:t>
            </a:r>
            <a:r>
              <a:rPr lang="zh-CN" altLang="en-US" dirty="0"/>
              <a:t>，</a:t>
            </a:r>
            <a:r>
              <a:rPr lang="en-US" altLang="zh-CN" dirty="0"/>
              <a:t>Sdept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FROM Student S1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WHERE </a:t>
            </a:r>
            <a:r>
              <a:rPr lang="en-US" altLang="zh-CN" dirty="0">
                <a:solidFill>
                  <a:srgbClr val="FF3300"/>
                </a:solidFill>
              </a:rPr>
              <a:t>EXISTS</a:t>
            </a:r>
            <a:endParaRPr lang="en-US" altLang="zh-CN" dirty="0">
              <a:solidFill>
                <a:srgbClr val="FF3300"/>
              </a:solidFill>
            </a:endParaRPr>
          </a:p>
          <a:p>
            <a:pPr lvl="1" eaLnBrk="1" hangingPunct="1">
              <a:buNone/>
            </a:pPr>
            <a:r>
              <a:rPr lang="en-US" altLang="zh-CN" dirty="0"/>
              <a:t>             </a:t>
            </a:r>
            <a:r>
              <a:rPr lang="zh-CN" altLang="en-US" dirty="0"/>
              <a:t>　   </a:t>
            </a:r>
            <a:r>
              <a:rPr lang="en-US" altLang="zh-CN" dirty="0"/>
              <a:t>(SELECT *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              FROM Student S2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WHERE S2.Sdept = S1.Sdept AND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                   S2.Sname = ‘</a:t>
            </a:r>
            <a:r>
              <a:rPr lang="zh-CN" altLang="en-US" dirty="0"/>
              <a:t>刘晨’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zh-CN" altLang="en-US" dirty="0"/>
          </a:p>
        </p:txBody>
      </p:sp>
      <p:sp>
        <p:nvSpPr>
          <p:cNvPr id="47109" name="Rectangle 4"/>
          <p:cNvSpPr/>
          <p:nvPr/>
        </p:nvSpPr>
        <p:spPr>
          <a:xfrm>
            <a:off x="571500" y="1357313"/>
            <a:ext cx="7848600" cy="5191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/>
            <a:r>
              <a:rPr lang="zh-CN" altLang="en-US" sz="2800" dirty="0">
                <a:latin typeface="Verdana" panose="020B0604030504040204" pitchFamily="34" charset="0"/>
              </a:rPr>
              <a:t>例：</a:t>
            </a:r>
            <a:r>
              <a:rPr lang="en-US" altLang="zh-CN" sz="2800" dirty="0">
                <a:latin typeface="Verdana" panose="020B0604030504040204" pitchFamily="34" charset="0"/>
              </a:rPr>
              <a:t>[</a:t>
            </a:r>
            <a:r>
              <a:rPr lang="zh-CN" altLang="en-US" sz="2800" dirty="0">
                <a:latin typeface="Verdana" panose="020B0604030504040204" pitchFamily="34" charset="0"/>
              </a:rPr>
              <a:t>例</a:t>
            </a:r>
            <a:r>
              <a:rPr lang="en-US" altLang="zh-CN" sz="2800" dirty="0">
                <a:latin typeface="Verdana" panose="020B0604030504040204" pitchFamily="34" charset="0"/>
              </a:rPr>
              <a:t>39]</a:t>
            </a:r>
            <a:r>
              <a:rPr lang="zh-CN" altLang="en-US" sz="2800" dirty="0">
                <a:latin typeface="Verdana" panose="020B0604030504040204" pitchFamily="34" charset="0"/>
              </a:rPr>
              <a:t>查询与“刘晨”在同一个系学习的学生。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710661" name="Text Box 5"/>
          <p:cNvSpPr txBox="1"/>
          <p:nvPr/>
        </p:nvSpPr>
        <p:spPr>
          <a:xfrm>
            <a:off x="357188" y="5786438"/>
            <a:ext cx="3960812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spcBef>
                <a:spcPct val="50000"/>
              </a:spcBef>
            </a:pPr>
            <a:r>
              <a:rPr lang="zh-CN" altLang="en-US" sz="2400" dirty="0">
                <a:solidFill>
                  <a:srgbClr val="FF3300"/>
                </a:solidFill>
                <a:latin typeface="Verdana" panose="020B0604030504040204" pitchFamily="34" charset="0"/>
              </a:rPr>
              <a:t>用</a:t>
            </a:r>
            <a:r>
              <a:rPr lang="en-US" altLang="zh-CN" sz="2400" dirty="0">
                <a:solidFill>
                  <a:srgbClr val="FF3300"/>
                </a:solidFill>
                <a:latin typeface="Verdana" panose="020B0604030504040204" pitchFamily="34" charset="0"/>
              </a:rPr>
              <a:t>EXISTS</a:t>
            </a:r>
            <a:r>
              <a:rPr lang="zh-CN" altLang="en-US" sz="2400" dirty="0">
                <a:solidFill>
                  <a:srgbClr val="FF3300"/>
                </a:solidFill>
                <a:latin typeface="Verdana" panose="020B0604030504040204" pitchFamily="34" charset="0"/>
              </a:rPr>
              <a:t>谓词代替</a:t>
            </a:r>
            <a:r>
              <a:rPr lang="en-US" altLang="zh-CN" sz="2400" dirty="0">
                <a:solidFill>
                  <a:srgbClr val="FF3300"/>
                </a:solidFill>
                <a:latin typeface="Verdana" panose="020B0604030504040204" pitchFamily="34" charset="0"/>
              </a:rPr>
              <a:t>IN</a:t>
            </a:r>
            <a:r>
              <a:rPr lang="zh-CN" altLang="en-US" sz="2400" dirty="0">
                <a:solidFill>
                  <a:srgbClr val="FF3300"/>
                </a:solidFill>
                <a:latin typeface="Verdana" panose="020B0604030504040204" pitchFamily="34" charset="0"/>
              </a:rPr>
              <a:t>谓词</a:t>
            </a:r>
            <a:endParaRPr lang="zh-CN" altLang="en-US" sz="2400" dirty="0">
              <a:solidFill>
                <a:srgbClr val="FF33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charRg st="2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charRg st="4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charRg st="68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charRg st="85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charRg st="112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charRg st="149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charRg st="179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59" grpId="0" build="p"/>
      <p:bldP spid="71066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提问</a:t>
            </a:r>
            <a:endParaRPr lang="zh-CN" altLang="en-US" dirty="0"/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</a:t>
            </a:r>
            <a:r>
              <a:rPr kumimoji="0" lang="en-US" altLang="zh-CN" sz="32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EXISTS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谓词写出查询代码</a:t>
            </a:r>
            <a:endParaRPr kumimoji="0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查询“</a:t>
            </a: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200215121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”这个学生选修的课程的课程号和课程名有哪些。</a:t>
            </a:r>
            <a:endParaRPr kumimoji="0" lang="zh-CN" altLang="en-US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en-US" altLang="zh-CN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查询“</a:t>
            </a:r>
            <a:r>
              <a:rPr kumimoji="0" lang="en-US" altLang="zh-CN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200215121</a:t>
            </a:r>
            <a:r>
              <a:rPr kumimoji="0" lang="zh-CN" alt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”这个学生没有选修的课程的课程号和课程名有哪些。</a:t>
            </a:r>
            <a:endParaRPr kumimoji="0" lang="zh-CN" altLang="en-US" sz="3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</a:t>
            </a:r>
            <a:r>
              <a:rPr lang="en-US" altLang="zh-CN" sz="3200" dirty="0"/>
              <a:t>EXISTS</a:t>
            </a:r>
            <a:r>
              <a:rPr lang="zh-CN" altLang="en-US" sz="3200" dirty="0"/>
              <a:t>谓词的子查询</a:t>
            </a:r>
            <a:r>
              <a:rPr lang="en-US" altLang="zh-CN" sz="3200" dirty="0"/>
              <a:t>(</a:t>
            </a:r>
            <a:r>
              <a:rPr lang="zh-CN" altLang="en-US" sz="3200" dirty="0"/>
              <a:t>续</a:t>
            </a:r>
            <a:r>
              <a:rPr lang="en-US" altLang="zh-CN" sz="3200" dirty="0"/>
              <a:t>)</a:t>
            </a:r>
            <a:endParaRPr lang="en-US" altLang="zh-CN" sz="3200" dirty="0"/>
          </a:p>
        </p:txBody>
      </p:sp>
      <p:sp>
        <p:nvSpPr>
          <p:cNvPr id="852996" name="Rectangle 4"/>
          <p:cNvSpPr/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/>
              <a:t>用</a:t>
            </a:r>
            <a:r>
              <a:rPr lang="en-US" altLang="zh-CN" dirty="0"/>
              <a:t>EXISTS/NOT EXISTS</a:t>
            </a:r>
            <a:r>
              <a:rPr lang="zh-CN" altLang="en-US" dirty="0"/>
              <a:t>实现全称量词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zh-CN" altLang="en-US" b="1" dirty="0">
                <a:solidFill>
                  <a:srgbClr val="FF0000"/>
                </a:solidFill>
              </a:rPr>
              <a:t>难点</a:t>
            </a:r>
            <a:r>
              <a:rPr lang="en-US" altLang="zh-CN" b="1" dirty="0">
                <a:solidFill>
                  <a:srgbClr val="FF0000"/>
                </a:solidFill>
              </a:rPr>
              <a:t>)     (</a:t>
            </a:r>
            <a:r>
              <a:rPr lang="zh-CN" altLang="zh-CN" b="1" dirty="0">
                <a:solidFill>
                  <a:srgbClr val="FF0000"/>
                </a:solidFill>
              </a:rPr>
              <a:t>今年不讲</a:t>
            </a:r>
            <a:r>
              <a:rPr lang="en-US" altLang="zh-CN" b="1" dirty="0">
                <a:solidFill>
                  <a:srgbClr val="FF0000"/>
                </a:solidFill>
              </a:rPr>
              <a:t>P45--P54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)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FF0000"/>
                </a:solidFill>
              </a:rPr>
              <a:t>SQL</a:t>
            </a:r>
            <a:r>
              <a:rPr lang="zh-CN" altLang="en-US" b="1" dirty="0">
                <a:solidFill>
                  <a:srgbClr val="FF0000"/>
                </a:solidFill>
              </a:rPr>
              <a:t>语言</a:t>
            </a:r>
            <a:r>
              <a:rPr lang="zh-CN" altLang="en-US" dirty="0"/>
              <a:t>中</a:t>
            </a:r>
            <a:r>
              <a:rPr lang="zh-CN" altLang="en-US" b="1" dirty="0">
                <a:solidFill>
                  <a:srgbClr val="0000FF"/>
                </a:solidFill>
              </a:rPr>
              <a:t>没有</a:t>
            </a:r>
            <a:r>
              <a:rPr lang="zh-CN" altLang="en-US" dirty="0">
                <a:solidFill>
                  <a:srgbClr val="FF0000"/>
                </a:solidFill>
              </a:rPr>
              <a:t>全称量词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</a:t>
            </a:r>
            <a:r>
              <a:rPr lang="zh-CN" altLang="en-US" dirty="0"/>
              <a:t> （</a:t>
            </a:r>
            <a:r>
              <a:rPr lang="en-US" altLang="zh-CN" dirty="0"/>
              <a:t>For all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可以把带有全称量词的谓词转换为等价的带有存在量词的谓词：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dirty="0"/>
              <a:t>P</a:t>
            </a:r>
            <a:r>
              <a:rPr lang="zh-CN" altLang="en-US" dirty="0"/>
              <a:t>表示学生选修了课程，</a:t>
            </a:r>
            <a:r>
              <a:rPr lang="en-US" altLang="zh-CN" dirty="0"/>
              <a:t>x</a:t>
            </a:r>
            <a:r>
              <a:rPr lang="zh-CN" altLang="en-US" dirty="0"/>
              <a:t>表示课程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/>
              <a:t>       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dirty="0"/>
              <a:t>x)P ≡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 (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 x(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 P))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/>
              <a:t>            没有一门课是他不选修的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/>
              <a:t>    </a:t>
            </a:r>
            <a:endParaRPr lang="en-US" altLang="zh-CN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6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2996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2996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6">
                                            <p:txEl>
                                              <p:charRg st="29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2996">
                                            <p:txEl>
                                              <p:charRg st="29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2996">
                                            <p:txEl>
                                              <p:charRg st="29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6">
                                            <p:txEl>
                                              <p:charRg st="53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2996">
                                            <p:txEl>
                                              <p:charRg st="53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2996">
                                            <p:txEl>
                                              <p:charRg st="53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6">
                                            <p:txEl>
                                              <p:charRg st="82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52996">
                                            <p:txEl>
                                              <p:charRg st="82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52996">
                                            <p:txEl>
                                              <p:charRg st="82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6">
                                            <p:txEl>
                                              <p:charRg st="99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52996">
                                            <p:txEl>
                                              <p:charRg st="99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52996">
                                            <p:txEl>
                                              <p:charRg st="99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6">
                                            <p:txEl>
                                              <p:charRg st="128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52996">
                                            <p:txEl>
                                              <p:charRg st="128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52996">
                                            <p:txEl>
                                              <p:charRg st="128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96">
                                            <p:txEl>
                                              <p:charRg st="152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52996">
                                            <p:txEl>
                                              <p:charRg st="152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52996">
                                            <p:txEl>
                                              <p:charRg st="152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2996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带有</a:t>
            </a:r>
            <a:r>
              <a:rPr lang="en-US" altLang="zh-CN" dirty="0"/>
              <a:t>EXISTS</a:t>
            </a:r>
            <a:r>
              <a:rPr lang="zh-CN" altLang="en-US" dirty="0"/>
              <a:t>谓词的子查询</a:t>
            </a:r>
            <a:r>
              <a:rPr lang="en-US" altLang="zh-CN" dirty="0"/>
              <a:t>(</a:t>
            </a:r>
            <a:r>
              <a:rPr lang="zh-CN" altLang="en-US" dirty="0"/>
              <a:t>续）</a:t>
            </a:r>
            <a:endParaRPr lang="zh-CN" altLang="en-US" dirty="0"/>
          </a:p>
        </p:txBody>
      </p:sp>
      <p:sp>
        <p:nvSpPr>
          <p:cNvPr id="712707" name="Rectangle 3"/>
          <p:cNvSpPr>
            <a:spLocks noGrp="1"/>
          </p:cNvSpPr>
          <p:nvPr>
            <p:ph idx="1"/>
          </p:nvPr>
        </p:nvSpPr>
        <p:spPr>
          <a:xfrm>
            <a:off x="827088" y="2060575"/>
            <a:ext cx="7772400" cy="4114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SELECT Sname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FROM Student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WHERE NOT EXISTS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             </a:t>
            </a:r>
            <a:r>
              <a:rPr lang="zh-CN" altLang="en-US" sz="2000" dirty="0"/>
              <a:t>（</a:t>
            </a:r>
            <a:r>
              <a:rPr lang="en-US" altLang="zh-CN" sz="2000" dirty="0"/>
              <a:t>SELECT *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                 FROM Course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                 WHERE NOT EXISTS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                               (SELECT *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                                FROM SC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                                WHERE Sno= Student.Sno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                                      AND Cno= Course.Cno</a:t>
            </a:r>
            <a:endParaRPr lang="en-US" altLang="zh-CN" sz="20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en-US" altLang="zh-CN" sz="2000" dirty="0"/>
              <a:t>                                       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pPr lvl="1" algn="just" eaLnBrk="1" hangingPunct="1">
              <a:lnSpc>
                <a:spcPct val="90000"/>
              </a:lnSpc>
              <a:buNone/>
            </a:pPr>
            <a:r>
              <a:rPr lang="zh-CN" altLang="en-US" sz="2000" dirty="0"/>
              <a:t>                       ）；</a:t>
            </a:r>
            <a:endParaRPr lang="zh-CN" altLang="en-US" sz="2000" dirty="0"/>
          </a:p>
        </p:txBody>
      </p:sp>
      <p:sp>
        <p:nvSpPr>
          <p:cNvPr id="50181" name="Rectangle 4"/>
          <p:cNvSpPr/>
          <p:nvPr/>
        </p:nvSpPr>
        <p:spPr>
          <a:xfrm>
            <a:off x="755650" y="1484313"/>
            <a:ext cx="6556375" cy="47625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800" dirty="0">
                <a:latin typeface="Verdana" panose="020B0604030504040204" pitchFamily="34" charset="0"/>
              </a:rPr>
              <a:t>[</a:t>
            </a:r>
            <a:r>
              <a:rPr lang="zh-CN" altLang="en-US" sz="2800" dirty="0">
                <a:latin typeface="Verdana" panose="020B0604030504040204" pitchFamily="34" charset="0"/>
              </a:rPr>
              <a:t>例</a:t>
            </a:r>
            <a:r>
              <a:rPr lang="en-US" altLang="zh-CN" sz="2800" dirty="0">
                <a:latin typeface="Verdana" panose="020B0604030504040204" pitchFamily="34" charset="0"/>
              </a:rPr>
              <a:t>46] </a:t>
            </a:r>
            <a:r>
              <a:rPr lang="zh-CN" altLang="en-US" sz="2800" dirty="0">
                <a:latin typeface="Verdana" panose="020B0604030504040204" pitchFamily="34" charset="0"/>
              </a:rPr>
              <a:t>查询选修了全部课程的学生姓名。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50182" name="TextBox 5"/>
          <p:cNvSpPr txBox="1"/>
          <p:nvPr/>
        </p:nvSpPr>
        <p:spPr>
          <a:xfrm>
            <a:off x="214313" y="4714875"/>
            <a:ext cx="4933950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NOT EXISTS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内层结果为空</a:t>
            </a:r>
            <a:endParaRPr lang="en-US" altLang="zh-CN" sz="2400" b="1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外层会被返回（输出）</a:t>
            </a:r>
            <a:endParaRPr lang="en-US" altLang="zh-CN" sz="2400" b="1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NOT EXISTS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内层结果不为空</a:t>
            </a:r>
            <a:endParaRPr lang="en-US" altLang="zh-CN" sz="2400" b="1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</a:rPr>
              <a:t>外层不会被返回（输出）</a:t>
            </a:r>
            <a:endParaRPr lang="en-US" altLang="zh-CN" sz="2400" b="1" dirty="0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  <p:sp>
        <p:nvSpPr>
          <p:cNvPr id="50183" name="TextBox 1"/>
          <p:cNvSpPr txBox="1"/>
          <p:nvPr/>
        </p:nvSpPr>
        <p:spPr>
          <a:xfrm>
            <a:off x="6227763" y="2060575"/>
            <a:ext cx="2736850" cy="923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latin typeface="Verdana" panose="020B0604030504040204" pitchFamily="34" charset="0"/>
              </a:rPr>
              <a:t>For </a:t>
            </a:r>
            <a:endParaRPr lang="en-US" altLang="zh-CN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    for</a:t>
            </a:r>
            <a:endParaRPr lang="en-US" altLang="zh-CN" dirty="0">
              <a:latin typeface="Verdana" panose="020B0604030504040204" pitchFamily="34" charset="0"/>
            </a:endParaRPr>
          </a:p>
          <a:p>
            <a:r>
              <a:rPr lang="en-US" altLang="zh-CN" dirty="0">
                <a:latin typeface="Verdana" panose="020B0604030504040204" pitchFamily="34" charset="0"/>
              </a:rPr>
              <a:t>        for</a:t>
            </a: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1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32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49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79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115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156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204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251" end="3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313" end="3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378" end="4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419" end="4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707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 dirty="0"/>
              <a:t>For </a:t>
            </a:r>
            <a:r>
              <a:rPr lang="zh-CN" altLang="en-US" dirty="0"/>
              <a:t>学号</a:t>
            </a:r>
            <a:r>
              <a:rPr lang="en-US" altLang="zh-CN" dirty="0"/>
              <a:t>(001,002,003,….)student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print sno    (not exists)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for </a:t>
            </a:r>
            <a:r>
              <a:rPr lang="zh-CN" altLang="en-US" dirty="0"/>
              <a:t>课号</a:t>
            </a:r>
            <a:r>
              <a:rPr lang="en-US" altLang="zh-CN" dirty="0"/>
              <a:t>(c1,c2,c3,….)course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return cno  (not exists)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for  sc(1,2,3,4,5,6,7…..)sc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(001,c1)</a:t>
            </a:r>
            <a:r>
              <a:rPr lang="zh-CN" altLang="en-US" dirty="0"/>
              <a:t>在</a:t>
            </a:r>
            <a:r>
              <a:rPr lang="en-US" altLang="zh-CN" dirty="0"/>
              <a:t>sc</a:t>
            </a:r>
            <a:r>
              <a:rPr lang="zh-CN" altLang="en-US" dirty="0"/>
              <a:t>里面是否存在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提问</a:t>
            </a:r>
            <a:endParaRPr lang="zh-CN" altLang="en-US" dirty="0"/>
          </a:p>
        </p:txBody>
      </p:sp>
      <p:sp>
        <p:nvSpPr>
          <p:cNvPr id="52227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查询购买了所有图书的读者的信息读者号和姓名</a:t>
            </a:r>
            <a:endParaRPr lang="en-US" altLang="zh-CN" dirty="0"/>
          </a:p>
          <a:p>
            <a:r>
              <a:rPr lang="en-US" altLang="zh-CN" dirty="0"/>
              <a:t>Reader(rno,rname)</a:t>
            </a:r>
            <a:endParaRPr lang="en-US" altLang="zh-CN" dirty="0"/>
          </a:p>
          <a:p>
            <a:r>
              <a:rPr lang="en-US" altLang="zh-CN" dirty="0"/>
              <a:t>Book(bno,bname)</a:t>
            </a:r>
            <a:endParaRPr lang="en-US" altLang="zh-CN" dirty="0"/>
          </a:p>
          <a:p>
            <a:r>
              <a:rPr lang="en-US" altLang="zh-CN" dirty="0"/>
              <a:t>R_b(rno,bno)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571500" y="336550"/>
            <a:ext cx="8001000" cy="735013"/>
          </a:xfrm>
          <a:ln/>
        </p:spPr>
        <p:txBody>
          <a:bodyPr vert="horz" wrap="square" lIns="91440" tIns="45720" rIns="91440" bIns="45720" anchor="b" anchorCtr="0"/>
          <a:p>
            <a:r>
              <a:rPr lang="zh-CN" altLang="en-US" sz="2800" dirty="0"/>
              <a:t>查询至少选修了学生</a:t>
            </a:r>
            <a:r>
              <a:rPr lang="en-US" altLang="zh-CN" sz="2800" dirty="0"/>
              <a:t>200215122</a:t>
            </a:r>
            <a:r>
              <a:rPr lang="zh-CN" altLang="en-US" sz="2800" dirty="0"/>
              <a:t>选修的全部课程的学生的学号和姓名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zh-CN" sz="2400" dirty="0"/>
              <a:t>SELECT sno,Sname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FROM Student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WHERE NOT EXISTS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    (</a:t>
            </a:r>
            <a:r>
              <a:rPr lang="en-US" altLang="zh-CN" sz="2400" dirty="0">
                <a:solidFill>
                  <a:srgbClr val="FF0000"/>
                </a:solidFill>
              </a:rPr>
              <a:t>SELECT *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      FROM sc sc1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       WHERE sc1.sno='200215122'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400" dirty="0"/>
              <a:t>        and NOT EXISTS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         (SELECT *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           FROM sc SC2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            WHERE sc2.Sno= Student.Sno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             AND sc2.Cno= sc1.Cno</a:t>
            </a:r>
            <a:endParaRPr lang="en-US" altLang="zh-CN" sz="2400" dirty="0"/>
          </a:p>
          <a:p>
            <a:pPr>
              <a:buNone/>
            </a:pPr>
            <a:r>
              <a:rPr lang="zh-CN" altLang="en-US" sz="1800" dirty="0"/>
              <a:t>                </a:t>
            </a:r>
            <a:r>
              <a:rPr lang="en-US" altLang="zh-CN" sz="1800" dirty="0"/>
              <a:t>)</a:t>
            </a:r>
            <a:endParaRPr lang="en-US" altLang="zh-CN" sz="1800" dirty="0"/>
          </a:p>
          <a:p>
            <a:pPr>
              <a:buNone/>
            </a:pPr>
            <a:r>
              <a:rPr lang="zh-CN" altLang="en-US" sz="1800" dirty="0"/>
              <a:t>          </a:t>
            </a:r>
            <a:r>
              <a:rPr lang="en-US" altLang="zh-CN" sz="1800" dirty="0"/>
              <a:t>)</a:t>
            </a:r>
            <a:endParaRPr lang="zh-CN" altLang="en-US" sz="1800" dirty="0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17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30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6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charRg st="66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9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charRg st="89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7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charRg st="127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0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charRg st="150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4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charRg st="174" end="2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02" end="2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charRg st="202" end="2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46" end="2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charRg st="246" end="2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85" end="3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charRg st="285" end="3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303" end="3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charRg st="303" end="3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</a:t>
            </a:r>
            <a:r>
              <a:rPr lang="en-US" altLang="zh-CN" sz="3200" dirty="0"/>
              <a:t>EXISTS</a:t>
            </a:r>
            <a:r>
              <a:rPr lang="zh-CN" altLang="en-US" sz="3200" dirty="0"/>
              <a:t>谓词的子查询</a:t>
            </a:r>
            <a:r>
              <a:rPr lang="en-US" altLang="zh-CN" sz="3200" dirty="0"/>
              <a:t>(</a:t>
            </a:r>
            <a:r>
              <a:rPr lang="zh-CN" altLang="en-US" sz="3200" dirty="0"/>
              <a:t>续）</a:t>
            </a:r>
            <a:endParaRPr lang="zh-CN" altLang="en-US" sz="3200" dirty="0"/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400" dirty="0"/>
              <a:t>用</a:t>
            </a:r>
            <a:r>
              <a:rPr lang="en-US" altLang="zh-CN" sz="2400" dirty="0"/>
              <a:t>EXISTS/NOT EXISTS</a:t>
            </a:r>
            <a:r>
              <a:rPr lang="zh-CN" altLang="en-US" sz="2400" dirty="0"/>
              <a:t>实现逻辑蕴函</a:t>
            </a:r>
            <a:r>
              <a:rPr lang="en-US" altLang="zh-CN" sz="2400" dirty="0"/>
              <a:t>(</a:t>
            </a:r>
            <a:r>
              <a:rPr lang="zh-CN" altLang="en-US" sz="2400" dirty="0"/>
              <a:t>难点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lvl="1" eaLnBrk="1" hangingPunct="1">
              <a:lnSpc>
                <a:spcPct val="130000"/>
              </a:lnSpc>
            </a:pPr>
            <a:r>
              <a:rPr lang="en-US" altLang="zh-CN" dirty="0"/>
              <a:t>SQL</a:t>
            </a:r>
            <a:r>
              <a:rPr lang="zh-CN" altLang="en-US" dirty="0"/>
              <a:t>语言中没有蕴函</a:t>
            </a:r>
            <a:r>
              <a:rPr lang="en-US" altLang="zh-CN" dirty="0"/>
              <a:t>(Implication)</a:t>
            </a:r>
            <a:r>
              <a:rPr lang="zh-CN" altLang="en-US" dirty="0"/>
              <a:t>逻辑运算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可以利用谓词演算将逻辑蕴函谓词等价转换为：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                 </a:t>
            </a:r>
            <a:r>
              <a:rPr lang="en-US" altLang="zh-CN" sz="2400" dirty="0"/>
              <a:t>p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q ≡ 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 p∨q </a:t>
            </a:r>
            <a:endParaRPr lang="en-US" altLang="zh-CN" sz="2400" dirty="0"/>
          </a:p>
        </p:txBody>
      </p:sp>
    </p:spTree>
  </p:cSld>
  <p:clrMapOvr>
    <a:masterClrMapping/>
  </p:clrMapOvr>
  <p:transition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5529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</a:t>
            </a:r>
            <a:r>
              <a:rPr lang="en-US" altLang="zh-CN" sz="3200" dirty="0"/>
              <a:t>EXISTS</a:t>
            </a:r>
            <a:r>
              <a:rPr lang="zh-CN" altLang="en-US" sz="3200" dirty="0"/>
              <a:t>谓词的子查询</a:t>
            </a:r>
            <a:r>
              <a:rPr lang="en-US" altLang="zh-CN" sz="3200" dirty="0"/>
              <a:t>(</a:t>
            </a:r>
            <a:r>
              <a:rPr lang="zh-CN" altLang="en-US" sz="3200" dirty="0"/>
              <a:t>续）</a:t>
            </a:r>
            <a:endParaRPr lang="zh-CN" altLang="en-US" sz="3200" dirty="0"/>
          </a:p>
        </p:txBody>
      </p:sp>
      <p:sp>
        <p:nvSpPr>
          <p:cNvPr id="716803" name="Rectangle 3"/>
          <p:cNvSpPr>
            <a:spLocks noGrp="1"/>
          </p:cNvSpPr>
          <p:nvPr>
            <p:ph idx="1"/>
          </p:nvPr>
        </p:nvSpPr>
        <p:spPr>
          <a:xfrm>
            <a:off x="457200" y="2492375"/>
            <a:ext cx="8229600" cy="383222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zh-CN" altLang="en-US" sz="2400" dirty="0"/>
              <a:t>解题思路：</a:t>
            </a:r>
            <a:endParaRPr lang="zh-CN" altLang="en-US" sz="2400" dirty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Char char="n"/>
            </a:pPr>
            <a:r>
              <a:rPr lang="zh-CN" altLang="en-US" sz="2100" dirty="0"/>
              <a:t>用逻辑蕴函表达：查询学号为</a:t>
            </a:r>
            <a:r>
              <a:rPr lang="en-US" altLang="zh-CN" sz="2100" dirty="0"/>
              <a:t>x</a:t>
            </a:r>
            <a:r>
              <a:rPr lang="zh-CN" altLang="en-US" sz="2100" dirty="0"/>
              <a:t>的学生，对所有的课程</a:t>
            </a:r>
            <a:r>
              <a:rPr lang="en-US" altLang="zh-CN" sz="2100" dirty="0"/>
              <a:t>y</a:t>
            </a:r>
            <a:r>
              <a:rPr lang="zh-CN" altLang="en-US" sz="2100" dirty="0"/>
              <a:t>，只要</a:t>
            </a:r>
            <a:r>
              <a:rPr lang="en-US" altLang="zh-CN" sz="2100" dirty="0"/>
              <a:t>200215122</a:t>
            </a:r>
            <a:r>
              <a:rPr lang="zh-CN" altLang="en-US" sz="2100" dirty="0"/>
              <a:t>学生选修了课程</a:t>
            </a:r>
            <a:r>
              <a:rPr lang="en-US" altLang="zh-CN" sz="2100" dirty="0"/>
              <a:t>y</a:t>
            </a:r>
            <a:r>
              <a:rPr lang="zh-CN" altLang="en-US" sz="2100" dirty="0"/>
              <a:t>，则</a:t>
            </a:r>
            <a:r>
              <a:rPr lang="en-US" altLang="zh-CN" sz="2100" dirty="0"/>
              <a:t>x</a:t>
            </a:r>
            <a:r>
              <a:rPr lang="zh-CN" altLang="en-US" sz="2100" dirty="0"/>
              <a:t>也选修了</a:t>
            </a:r>
            <a:r>
              <a:rPr lang="en-US" altLang="zh-CN" sz="2100" dirty="0"/>
              <a:t>y</a:t>
            </a:r>
            <a:r>
              <a:rPr lang="zh-CN" altLang="en-US" sz="2100" dirty="0"/>
              <a:t>。</a:t>
            </a:r>
            <a:endParaRPr lang="zh-CN" altLang="en-US" sz="2100" dirty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Char char="n"/>
            </a:pPr>
            <a:r>
              <a:rPr lang="zh-CN" altLang="en-US" sz="2100" dirty="0"/>
              <a:t>形式化表示：</a:t>
            </a:r>
            <a:endParaRPr lang="zh-CN" altLang="en-US" sz="2100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zh-CN" altLang="en-US" sz="2100" dirty="0"/>
              <a:t>	用</a:t>
            </a:r>
            <a:r>
              <a:rPr lang="en-US" altLang="zh-CN" sz="2100" dirty="0"/>
              <a:t>P</a:t>
            </a:r>
            <a:r>
              <a:rPr lang="zh-CN" altLang="en-US" sz="2100" dirty="0"/>
              <a:t>表示谓词 “学生</a:t>
            </a:r>
            <a:r>
              <a:rPr lang="en-US" altLang="zh-CN" sz="2100" dirty="0"/>
              <a:t>200215122</a:t>
            </a:r>
            <a:r>
              <a:rPr lang="zh-CN" altLang="en-US" sz="2100" dirty="0"/>
              <a:t>选修了课程</a:t>
            </a:r>
            <a:r>
              <a:rPr lang="en-US" altLang="zh-CN" sz="2100" dirty="0"/>
              <a:t>y”</a:t>
            </a:r>
            <a:endParaRPr lang="en-US" altLang="zh-CN" sz="2100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2100" dirty="0"/>
              <a:t>	</a:t>
            </a:r>
            <a:r>
              <a:rPr lang="zh-CN" altLang="en-US" sz="2100" dirty="0"/>
              <a:t>用</a:t>
            </a:r>
            <a:r>
              <a:rPr lang="en-US" altLang="zh-CN" sz="2100" dirty="0"/>
              <a:t>q</a:t>
            </a:r>
            <a:r>
              <a:rPr lang="zh-CN" altLang="en-US" sz="2100" dirty="0"/>
              <a:t>表示谓词 “学生</a:t>
            </a:r>
            <a:r>
              <a:rPr lang="en-US" altLang="zh-CN" sz="2100" dirty="0"/>
              <a:t>x</a:t>
            </a:r>
            <a:r>
              <a:rPr lang="zh-CN" altLang="en-US" sz="2100" dirty="0"/>
              <a:t>选修了课程</a:t>
            </a:r>
            <a:r>
              <a:rPr lang="en-US" altLang="zh-CN" sz="2100" dirty="0"/>
              <a:t>y”</a:t>
            </a:r>
            <a:endParaRPr lang="en-US" altLang="zh-CN" sz="2100" dirty="0"/>
          </a:p>
          <a:p>
            <a:pPr lvl="1" eaLnBrk="1" hangingPunct="1">
              <a:lnSpc>
                <a:spcPct val="110000"/>
              </a:lnSpc>
              <a:buNone/>
            </a:pPr>
            <a:r>
              <a:rPr lang="en-US" altLang="zh-CN" sz="2100" dirty="0"/>
              <a:t>	</a:t>
            </a:r>
            <a:r>
              <a:rPr lang="zh-CN" altLang="en-US" sz="2100" dirty="0"/>
              <a:t>则上述查询为</a:t>
            </a:r>
            <a:r>
              <a:rPr lang="en-US" altLang="zh-CN" sz="2100" dirty="0"/>
              <a:t>: (</a:t>
            </a:r>
            <a:r>
              <a:rPr lang="en-US" altLang="zh-CN" sz="2100" dirty="0">
                <a:sym typeface="Symbol" panose="05050102010706020507" pitchFamily="18" charset="2"/>
              </a:rPr>
              <a:t></a:t>
            </a:r>
            <a:r>
              <a:rPr lang="en-US" altLang="zh-CN" sz="2100" dirty="0"/>
              <a:t>y) p </a:t>
            </a:r>
            <a:r>
              <a:rPr lang="en-US" altLang="zh-CN" sz="2100" dirty="0">
                <a:sym typeface="Symbol" panose="05050102010706020507" pitchFamily="18" charset="2"/>
              </a:rPr>
              <a:t></a:t>
            </a:r>
            <a:r>
              <a:rPr lang="en-US" altLang="zh-CN" sz="2100" dirty="0"/>
              <a:t> q</a:t>
            </a:r>
            <a:r>
              <a:rPr lang="en-US" altLang="zh-CN" sz="1800" dirty="0"/>
              <a:t> </a:t>
            </a:r>
            <a:endParaRPr lang="en-US" altLang="zh-CN" sz="1800" dirty="0"/>
          </a:p>
        </p:txBody>
      </p:sp>
      <p:sp>
        <p:nvSpPr>
          <p:cNvPr id="55301" name="Rectangle 4"/>
          <p:cNvSpPr/>
          <p:nvPr/>
        </p:nvSpPr>
        <p:spPr>
          <a:xfrm>
            <a:off x="250825" y="1557338"/>
            <a:ext cx="8642350" cy="8953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</a:pPr>
            <a:r>
              <a:rPr lang="en-US" altLang="zh-CN" sz="2400" dirty="0">
                <a:latin typeface="Verdana" panose="020B0604030504040204" pitchFamily="34" charset="0"/>
              </a:rPr>
              <a:t> [</a:t>
            </a:r>
            <a:r>
              <a:rPr lang="zh-CN" altLang="en-US" sz="2400" dirty="0">
                <a:latin typeface="Verdana" panose="020B0604030504040204" pitchFamily="34" charset="0"/>
              </a:rPr>
              <a:t>例</a:t>
            </a:r>
            <a:r>
              <a:rPr lang="en-US" altLang="zh-CN" sz="2400" dirty="0">
                <a:latin typeface="Verdana" panose="020B0604030504040204" pitchFamily="34" charset="0"/>
              </a:rPr>
              <a:t>47]</a:t>
            </a:r>
            <a:r>
              <a:rPr lang="zh-CN" altLang="en-US" sz="2400" dirty="0">
                <a:latin typeface="Verdana" panose="020B0604030504040204" pitchFamily="34" charset="0"/>
              </a:rPr>
              <a:t>查询至少选修了学生</a:t>
            </a:r>
            <a:r>
              <a:rPr lang="en-US" altLang="zh-CN" sz="2400" dirty="0">
                <a:latin typeface="Verdana" panose="020B0604030504040204" pitchFamily="34" charset="0"/>
              </a:rPr>
              <a:t>200215122</a:t>
            </a:r>
            <a:r>
              <a:rPr lang="zh-CN" altLang="en-US" sz="2400" dirty="0">
                <a:latin typeface="Verdana" panose="020B0604030504040204" pitchFamily="34" charset="0"/>
              </a:rPr>
              <a:t>选修的全部课程的学生号码。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charRg st="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charRg st="61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charRg st="68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charRg st="96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charRg st="116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</a:t>
            </a:r>
            <a:r>
              <a:rPr lang="en-US" altLang="zh-CN" sz="3200" dirty="0"/>
              <a:t>EXISTS</a:t>
            </a:r>
            <a:r>
              <a:rPr lang="zh-CN" altLang="en-US" sz="3200" dirty="0"/>
              <a:t>谓词的子查询</a:t>
            </a:r>
            <a:r>
              <a:rPr lang="en-US" altLang="zh-CN" sz="3200" dirty="0"/>
              <a:t>(</a:t>
            </a:r>
            <a:r>
              <a:rPr lang="zh-CN" altLang="en-US" sz="3200" dirty="0"/>
              <a:t>续）</a:t>
            </a:r>
            <a:endParaRPr lang="zh-CN" altLang="en-US" sz="3200" dirty="0"/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18161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70000"/>
            </a:pPr>
            <a:r>
              <a:rPr lang="zh-CN" altLang="en-US" sz="2400" dirty="0"/>
              <a:t>等价变换：</a:t>
            </a:r>
            <a:endParaRPr lang="zh-CN" altLang="en-US" sz="240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400" dirty="0"/>
              <a:t>    	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y)</a:t>
            </a:r>
            <a:r>
              <a:rPr lang="en-US" altLang="zh-CN" sz="2400" dirty="0">
                <a:solidFill>
                  <a:srgbClr val="FF3399"/>
                </a:solidFill>
              </a:rPr>
              <a:t>p </a:t>
            </a:r>
            <a:r>
              <a:rPr lang="en-US" altLang="zh-CN" sz="2400" dirty="0">
                <a:solidFill>
                  <a:srgbClr val="FF3399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FF3399"/>
                </a:solidFill>
              </a:rPr>
              <a:t> q</a:t>
            </a:r>
            <a:r>
              <a:rPr lang="en-US" altLang="zh-CN" sz="2400" dirty="0"/>
              <a:t>  ≡  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 (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/>
              <a:t>y (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FF3399"/>
                </a:solidFill>
              </a:rPr>
              <a:t>p </a:t>
            </a:r>
            <a:r>
              <a:rPr lang="en-US" altLang="zh-CN" sz="2400" dirty="0">
                <a:solidFill>
                  <a:srgbClr val="FF3399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FF3399"/>
                </a:solidFill>
              </a:rPr>
              <a:t> q</a:t>
            </a:r>
            <a:r>
              <a:rPr lang="en-US" altLang="zh-CN" sz="2400" dirty="0"/>
              <a:t> ))</a:t>
            </a:r>
            <a:endParaRPr lang="en-US" altLang="zh-CN" sz="240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  ≡  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 (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/>
              <a:t>y (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 p∨ q) ))</a:t>
            </a:r>
            <a:endParaRPr lang="en-US" altLang="zh-CN" sz="2400" dirty="0"/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400" dirty="0"/>
              <a:t>               ≡  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/>
              <a:t>y(p∧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q)</a:t>
            </a:r>
            <a:endParaRPr lang="en-US" altLang="zh-CN" sz="2400" dirty="0"/>
          </a:p>
          <a:p>
            <a:pPr algn="just" eaLnBrk="1" hangingPunct="1">
              <a:lnSpc>
                <a:spcPct val="90000"/>
              </a:lnSpc>
              <a:buNone/>
            </a:pPr>
            <a:endParaRPr lang="en-US" altLang="zh-CN" sz="2400" dirty="0"/>
          </a:p>
        </p:txBody>
      </p:sp>
      <p:sp>
        <p:nvSpPr>
          <p:cNvPr id="56325" name="Rectangle 4"/>
          <p:cNvSpPr/>
          <p:nvPr/>
        </p:nvSpPr>
        <p:spPr>
          <a:xfrm>
            <a:off x="468313" y="3500438"/>
            <a:ext cx="8064500" cy="11144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lnSpc>
                <a:spcPct val="140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Verdana" panose="020B0604030504040204" pitchFamily="34" charset="0"/>
              </a:rPr>
              <a:t>变换后语义：不存在这样的课程</a:t>
            </a:r>
            <a:r>
              <a:rPr lang="en-US" altLang="zh-CN" sz="2400" dirty="0">
                <a:latin typeface="Verdana" panose="020B0604030504040204" pitchFamily="34" charset="0"/>
              </a:rPr>
              <a:t>y</a:t>
            </a:r>
            <a:r>
              <a:rPr lang="zh-CN" altLang="en-US" sz="2400" dirty="0">
                <a:latin typeface="Verdana" panose="020B0604030504040204" pitchFamily="34" charset="0"/>
              </a:rPr>
              <a:t>，学生</a:t>
            </a:r>
            <a:r>
              <a:rPr lang="en-US" altLang="zh-CN" sz="2400" dirty="0">
                <a:latin typeface="Verdana" panose="020B0604030504040204" pitchFamily="34" charset="0"/>
              </a:rPr>
              <a:t>200215122</a:t>
            </a:r>
            <a:r>
              <a:rPr lang="zh-CN" altLang="en-US" sz="2400" dirty="0">
                <a:latin typeface="Verdana" panose="020B0604030504040204" pitchFamily="34" charset="0"/>
              </a:rPr>
              <a:t>选修了</a:t>
            </a:r>
            <a:r>
              <a:rPr lang="en-US" altLang="zh-CN" sz="2400" dirty="0">
                <a:latin typeface="Verdana" panose="020B0604030504040204" pitchFamily="34" charset="0"/>
              </a:rPr>
              <a:t>y</a:t>
            </a:r>
            <a:r>
              <a:rPr lang="zh-CN" altLang="en-US" sz="2400" dirty="0">
                <a:latin typeface="Verdana" panose="020B0604030504040204" pitchFamily="34" charset="0"/>
              </a:rPr>
              <a:t>，而学生</a:t>
            </a:r>
            <a:r>
              <a:rPr lang="en-US" altLang="zh-CN" sz="2400" dirty="0">
                <a:latin typeface="Verdana" panose="020B0604030504040204" pitchFamily="34" charset="0"/>
              </a:rPr>
              <a:t>x</a:t>
            </a:r>
            <a:r>
              <a:rPr lang="zh-CN" altLang="en-US" sz="2400" dirty="0">
                <a:latin typeface="Verdana" panose="020B0604030504040204" pitchFamily="34" charset="0"/>
              </a:rPr>
              <a:t>没有选。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5734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带有</a:t>
            </a:r>
            <a:r>
              <a:rPr lang="en-US" altLang="zh-CN" sz="3200" dirty="0"/>
              <a:t>EXISTS</a:t>
            </a:r>
            <a:r>
              <a:rPr lang="zh-CN" altLang="en-US" sz="3200" dirty="0"/>
              <a:t>谓词的子查询</a:t>
            </a:r>
            <a:r>
              <a:rPr lang="en-US" altLang="zh-CN" sz="3200" dirty="0"/>
              <a:t>(</a:t>
            </a:r>
            <a:r>
              <a:rPr lang="zh-CN" altLang="en-US" sz="3200" dirty="0"/>
              <a:t>续）</a:t>
            </a:r>
            <a:r>
              <a:rPr lang="zh-CN" altLang="en-US" sz="4000" dirty="0">
                <a:cs typeface="Times New Roman" panose="02020603050405020304" pitchFamily="18" charset="0"/>
              </a:rPr>
              <a:t> </a:t>
            </a:r>
            <a:endParaRPr lang="zh-CN" altLang="en-US" sz="4000" dirty="0"/>
          </a:p>
        </p:txBody>
      </p:sp>
      <p:sp>
        <p:nvSpPr>
          <p:cNvPr id="57348" name="Rectangle 3"/>
          <p:cNvSpPr>
            <a:spLocks noGrp="1"/>
          </p:cNvSpPr>
          <p:nvPr>
            <p:ph idx="1"/>
          </p:nvPr>
        </p:nvSpPr>
        <p:spPr>
          <a:xfrm>
            <a:off x="838200" y="1484313"/>
            <a:ext cx="7772400" cy="5029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Clr>
                <a:schemeClr val="accent1"/>
              </a:buClr>
              <a:buSzPct val="70000"/>
            </a:pPr>
            <a:r>
              <a:rPr lang="zh-CN" altLang="en-US" sz="2400" dirty="0"/>
              <a:t>用</a:t>
            </a:r>
            <a:r>
              <a:rPr lang="en-US" altLang="zh-CN" sz="2400" dirty="0"/>
              <a:t>NOT EXISTS</a:t>
            </a:r>
            <a:r>
              <a:rPr lang="zh-CN" altLang="en-US" sz="2400" dirty="0"/>
              <a:t>谓词表示</a:t>
            </a:r>
            <a:r>
              <a:rPr lang="zh-CN" altLang="en-US" dirty="0"/>
              <a:t>：     </a:t>
            </a:r>
            <a:endParaRPr lang="zh-CN" altLang="en-US" dirty="0"/>
          </a:p>
          <a:p>
            <a:pPr algn="just" eaLnBrk="1" hangingPunct="1">
              <a:buSzPct val="50000"/>
              <a:buFont typeface="宋体" panose="02010600030101010101" pitchFamily="2" charset="-122"/>
              <a:buNone/>
            </a:pPr>
            <a:r>
              <a:rPr lang="zh-CN" altLang="en-US" dirty="0"/>
              <a:t>     </a:t>
            </a:r>
            <a:r>
              <a:rPr lang="en-US" altLang="zh-CN" sz="2000" dirty="0"/>
              <a:t>SELECT DISTINCT Sno</a:t>
            </a:r>
            <a:endParaRPr lang="en-US" altLang="zh-CN" sz="2000" dirty="0"/>
          </a:p>
          <a:p>
            <a:pPr algn="just" eaLnBrk="1" hangingPunct="1">
              <a:buSzPct val="50000"/>
              <a:buFont typeface="宋体" panose="02010600030101010101" pitchFamily="2" charset="-122"/>
              <a:buNone/>
            </a:pPr>
            <a:r>
              <a:rPr lang="en-US" altLang="zh-CN" sz="2000" dirty="0"/>
              <a:t>       FROM SC </a:t>
            </a:r>
            <a:r>
              <a:rPr lang="en-US" altLang="zh-CN" sz="2000" dirty="0">
                <a:solidFill>
                  <a:srgbClr val="FF3399"/>
                </a:solidFill>
              </a:rPr>
              <a:t>SCX</a:t>
            </a:r>
            <a:endParaRPr lang="en-US" altLang="zh-CN" sz="2000" dirty="0"/>
          </a:p>
          <a:p>
            <a:pPr algn="just" eaLnBrk="1" hangingPunct="1">
              <a:buSzPct val="50000"/>
              <a:buFont typeface="宋体" panose="02010600030101010101" pitchFamily="2" charset="-122"/>
              <a:buNone/>
            </a:pPr>
            <a:r>
              <a:rPr lang="en-US" altLang="zh-CN" sz="2000" dirty="0"/>
              <a:t>       WHERE NOT EXISTS</a:t>
            </a:r>
            <a:endParaRPr lang="en-US" altLang="zh-CN" sz="2000" dirty="0"/>
          </a:p>
          <a:p>
            <a:pPr algn="just" eaLnBrk="1" hangingPunct="1">
              <a:buSzPct val="50000"/>
              <a:buFont typeface="宋体" panose="02010600030101010101" pitchFamily="2" charset="-122"/>
              <a:buNone/>
            </a:pPr>
            <a:r>
              <a:rPr lang="en-US" altLang="zh-CN" sz="2000" dirty="0"/>
              <a:t>                     (SELECT *</a:t>
            </a:r>
            <a:endParaRPr lang="en-US" altLang="zh-CN" sz="2000" dirty="0"/>
          </a:p>
          <a:p>
            <a:pPr algn="just" eaLnBrk="1" hangingPunct="1">
              <a:buSzPct val="50000"/>
              <a:buFont typeface="宋体" panose="02010600030101010101" pitchFamily="2" charset="-122"/>
              <a:buNone/>
            </a:pPr>
            <a:r>
              <a:rPr lang="en-US" altLang="zh-CN" sz="2000" dirty="0"/>
              <a:t>                      FROM SC </a:t>
            </a:r>
            <a:r>
              <a:rPr lang="en-US" altLang="zh-CN" sz="2000" dirty="0">
                <a:solidFill>
                  <a:srgbClr val="0099FF"/>
                </a:solidFill>
              </a:rPr>
              <a:t>SCY</a:t>
            </a:r>
            <a:endParaRPr lang="en-US" altLang="zh-CN" sz="2000" dirty="0"/>
          </a:p>
          <a:p>
            <a:pPr algn="just" eaLnBrk="1" hangingPunct="1">
              <a:buSzPct val="50000"/>
              <a:buFont typeface="宋体" panose="02010600030101010101" pitchFamily="2" charset="-122"/>
              <a:buNone/>
            </a:pPr>
            <a:r>
              <a:rPr lang="en-US" altLang="zh-CN" sz="2000" dirty="0"/>
              <a:t>                      WHERE SCY.Sno = ' 200215122 '  AND</a:t>
            </a:r>
            <a:endParaRPr lang="en-US" altLang="zh-CN" sz="2000" dirty="0"/>
          </a:p>
          <a:p>
            <a:pPr algn="just" eaLnBrk="1" hangingPunct="1">
              <a:buSzPct val="50000"/>
              <a:buFont typeface="宋体" panose="02010600030101010101" pitchFamily="2" charset="-122"/>
              <a:buNone/>
            </a:pPr>
            <a:r>
              <a:rPr lang="en-US" altLang="zh-CN" sz="2000" dirty="0"/>
              <a:t>                                    NOT EXISTS</a:t>
            </a:r>
            <a:endParaRPr lang="en-US" altLang="zh-CN" sz="2000" dirty="0"/>
          </a:p>
          <a:p>
            <a:pPr algn="just" eaLnBrk="1" hangingPunct="1">
              <a:buSzPct val="50000"/>
              <a:buFont typeface="宋体" panose="02010600030101010101" pitchFamily="2" charset="-122"/>
              <a:buNone/>
            </a:pPr>
            <a:r>
              <a:rPr lang="en-US" altLang="zh-CN" sz="2000" dirty="0"/>
              <a:t>                                    (SELECT *</a:t>
            </a:r>
            <a:endParaRPr lang="en-US" altLang="zh-CN" sz="2000" dirty="0"/>
          </a:p>
          <a:p>
            <a:pPr algn="just" eaLnBrk="1" hangingPunct="1">
              <a:buSzPct val="50000"/>
              <a:buFont typeface="宋体" panose="02010600030101010101" pitchFamily="2" charset="-122"/>
              <a:buNone/>
            </a:pPr>
            <a:r>
              <a:rPr lang="en-US" altLang="zh-CN" sz="2000" dirty="0"/>
              <a:t>                                     FROM SC SCZ</a:t>
            </a:r>
            <a:endParaRPr lang="en-US" altLang="zh-CN" sz="2000" dirty="0"/>
          </a:p>
          <a:p>
            <a:pPr algn="just" eaLnBrk="1" hangingPunct="1">
              <a:buSzPct val="50000"/>
              <a:buFont typeface="宋体" panose="02010600030101010101" pitchFamily="2" charset="-122"/>
              <a:buNone/>
            </a:pPr>
            <a:r>
              <a:rPr lang="en-US" altLang="zh-CN" sz="2000" dirty="0"/>
              <a:t>                                     WHERE SCZ.Sno=</a:t>
            </a:r>
            <a:r>
              <a:rPr lang="en-US" altLang="zh-CN" sz="2000" dirty="0">
                <a:solidFill>
                  <a:srgbClr val="FF3399"/>
                </a:solidFill>
              </a:rPr>
              <a:t>SCX</a:t>
            </a:r>
            <a:r>
              <a:rPr lang="en-US" altLang="zh-CN" sz="2000" dirty="0"/>
              <a:t>.Sno AND</a:t>
            </a:r>
            <a:endParaRPr lang="en-US" altLang="zh-CN" sz="2000" dirty="0"/>
          </a:p>
          <a:p>
            <a:pPr eaLnBrk="1" hangingPunct="1">
              <a:buSzPct val="50000"/>
              <a:buFont typeface="宋体" panose="02010600030101010101" pitchFamily="2" charset="-122"/>
              <a:buNone/>
            </a:pPr>
            <a:r>
              <a:rPr lang="en-US" altLang="zh-CN" sz="2000" dirty="0"/>
              <a:t>                                                   SCZ.Cno=</a:t>
            </a:r>
            <a:r>
              <a:rPr lang="en-US" altLang="zh-CN" sz="2000" dirty="0">
                <a:solidFill>
                  <a:srgbClr val="0099FF"/>
                </a:solidFill>
              </a:rPr>
              <a:t>SCY</a:t>
            </a:r>
            <a:r>
              <a:rPr lang="en-US" altLang="zh-CN" sz="2000" dirty="0"/>
              <a:t>.Cno))</a:t>
            </a:r>
            <a:r>
              <a:rPr lang="zh-CN" altLang="en-US" sz="2000" dirty="0"/>
              <a:t>；</a:t>
            </a:r>
            <a:endParaRPr lang="zh-CN" altLang="en-US" sz="2000" dirty="0"/>
          </a:p>
        </p:txBody>
      </p:sp>
    </p:spTree>
  </p:cSld>
  <p:clrMapOvr>
    <a:masterClrMapping/>
  </p:clrMapOvr>
  <p:transition advClick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/>
              <a:t>提问</a:t>
            </a:r>
            <a:endParaRPr lang="zh-CN" altLang="en-US" dirty="0"/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>
          <a:xfrm>
            <a:off x="566738" y="1143000"/>
            <a:ext cx="8326437" cy="4876800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en-US" dirty="0"/>
              <a:t>查询至少购买了</a:t>
            </a:r>
            <a:r>
              <a:rPr lang="en-US" altLang="zh-CN" dirty="0"/>
              <a:t>r1</a:t>
            </a:r>
            <a:r>
              <a:rPr lang="zh-CN" altLang="en-US" dirty="0"/>
              <a:t>读者所买的所有图书的读者编号</a:t>
            </a:r>
            <a:endParaRPr lang="en-US" altLang="zh-CN" dirty="0"/>
          </a:p>
          <a:p>
            <a:r>
              <a:rPr lang="en-US" altLang="zh-CN" dirty="0"/>
              <a:t>Reader(rno,rname)</a:t>
            </a:r>
            <a:endParaRPr lang="en-US" altLang="zh-CN" dirty="0"/>
          </a:p>
          <a:p>
            <a:r>
              <a:rPr lang="en-US" altLang="zh-CN" dirty="0"/>
              <a:t>Book(bno,bname)</a:t>
            </a:r>
            <a:endParaRPr lang="en-US" altLang="zh-CN" dirty="0"/>
          </a:p>
          <a:p>
            <a:r>
              <a:rPr lang="en-US" altLang="zh-CN" dirty="0"/>
              <a:t>R_b(rno,bno)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5939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3.4  </a:t>
            </a:r>
            <a:r>
              <a:rPr lang="zh-CN" altLang="en-US" dirty="0"/>
              <a:t>数据查询 </a:t>
            </a:r>
            <a:endParaRPr lang="zh-CN" altLang="en-US" dirty="0"/>
          </a:p>
        </p:txBody>
      </p:sp>
      <p:sp>
        <p:nvSpPr>
          <p:cNvPr id="59396" name="Rectangle 3"/>
          <p:cNvSpPr>
            <a:spLocks noGrp="1"/>
          </p:cNvSpPr>
          <p:nvPr>
            <p:ph idx="1"/>
          </p:nvPr>
        </p:nvSpPr>
        <p:spPr>
          <a:xfrm>
            <a:off x="1143000" y="1357313"/>
            <a:ext cx="6572250" cy="4038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50000"/>
              </a:lnSpc>
            </a:pPr>
            <a:r>
              <a:rPr lang="en-US" altLang="zh-CN" b="1" dirty="0"/>
              <a:t>3.4.1 </a:t>
            </a:r>
            <a:r>
              <a:rPr lang="zh-CN" altLang="en-US" b="1" dirty="0"/>
              <a:t>单表查询</a:t>
            </a:r>
            <a:endParaRPr lang="zh-CN" altLang="en-US" b="1" dirty="0"/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 dirty="0"/>
              <a:t>3.4.2 </a:t>
            </a:r>
            <a:r>
              <a:rPr lang="zh-CN" altLang="en-US" b="1" dirty="0"/>
              <a:t>连接查询</a:t>
            </a:r>
            <a:endParaRPr lang="zh-CN" altLang="en-US" b="1" dirty="0"/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 dirty="0"/>
              <a:t>3.4.3 </a:t>
            </a:r>
            <a:r>
              <a:rPr lang="zh-CN" altLang="en-US" b="1" dirty="0"/>
              <a:t>嵌套查询</a:t>
            </a:r>
            <a:endParaRPr lang="zh-CN" altLang="en-US" b="1" dirty="0"/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 dirty="0">
                <a:solidFill>
                  <a:srgbClr val="3333FF"/>
                </a:solidFill>
              </a:rPr>
              <a:t>3.4.4 </a:t>
            </a:r>
            <a:r>
              <a:rPr lang="zh-CN" altLang="en-US" b="1" dirty="0">
                <a:solidFill>
                  <a:srgbClr val="3333FF"/>
                </a:solidFill>
              </a:rPr>
              <a:t>集合查询</a:t>
            </a:r>
            <a:endParaRPr lang="zh-CN" altLang="en-US" b="1" dirty="0">
              <a:solidFill>
                <a:srgbClr val="3333FF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 dirty="0"/>
              <a:t>3.4.5 Select</a:t>
            </a:r>
            <a:r>
              <a:rPr lang="zh-CN" altLang="en-US" b="1" dirty="0"/>
              <a:t>语句的一般形式 </a:t>
            </a:r>
            <a:endParaRPr lang="zh-CN" altLang="en-US" b="1" dirty="0"/>
          </a:p>
        </p:txBody>
      </p:sp>
    </p:spTree>
  </p:cSld>
  <p:clrMapOvr>
    <a:masterClrMapping/>
  </p:clrMapOvr>
  <p:transition advClick="0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3.4.4 </a:t>
            </a:r>
            <a:r>
              <a:rPr lang="zh-CN" altLang="en-US" dirty="0"/>
              <a:t>集合查询</a:t>
            </a:r>
            <a:endParaRPr lang="zh-CN" altLang="en-US" dirty="0"/>
          </a:p>
        </p:txBody>
      </p:sp>
      <p:sp>
        <p:nvSpPr>
          <p:cNvPr id="60420" name="Rectangle 3"/>
          <p:cNvSpPr>
            <a:spLocks noGrp="1"/>
          </p:cNvSpPr>
          <p:nvPr>
            <p:ph idx="1"/>
          </p:nvPr>
        </p:nvSpPr>
        <p:spPr>
          <a:xfrm>
            <a:off x="420688" y="1341438"/>
            <a:ext cx="8229600" cy="23749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dirty="0"/>
              <a:t>集合操作的种类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并操作</a:t>
            </a:r>
            <a:r>
              <a:rPr lang="en-US" altLang="zh-CN" dirty="0"/>
              <a:t>UNION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交操作</a:t>
            </a:r>
            <a:r>
              <a:rPr lang="en-US" altLang="zh-CN" dirty="0"/>
              <a:t>INTERSECT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MySQL</a:t>
            </a:r>
            <a:r>
              <a:rPr lang="zh-CN" altLang="en-US" dirty="0">
                <a:solidFill>
                  <a:srgbClr val="FF0000"/>
                </a:solidFill>
              </a:rPr>
              <a:t>不支持）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差操作</a:t>
            </a:r>
            <a:r>
              <a:rPr lang="en-US" altLang="zh-CN" dirty="0"/>
              <a:t>EXCEPT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MySQL</a:t>
            </a:r>
            <a:r>
              <a:rPr lang="zh-CN" altLang="en-US" dirty="0">
                <a:solidFill>
                  <a:srgbClr val="FF0000"/>
                </a:solidFill>
              </a:rPr>
              <a:t>不支持）</a:t>
            </a:r>
            <a:endParaRPr lang="en-US" altLang="zh-CN" dirty="0"/>
          </a:p>
        </p:txBody>
      </p:sp>
      <p:sp>
        <p:nvSpPr>
          <p:cNvPr id="60421" name="Rectangle 4"/>
          <p:cNvSpPr/>
          <p:nvPr/>
        </p:nvSpPr>
        <p:spPr>
          <a:xfrm>
            <a:off x="323850" y="4005263"/>
            <a:ext cx="8424863" cy="11176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lnSpc>
                <a:spcPct val="12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sz="2800" dirty="0">
                <a:latin typeface="Verdana" panose="020B0604030504040204" pitchFamily="34" charset="0"/>
              </a:rPr>
              <a:t>参加集合操作的各查询结果的列数必须相同；对应项的数据类型也必须相同 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6144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集合查询（续）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727043" name="Rectangle 3"/>
          <p:cNvSpPr>
            <a:spLocks noGrp="1"/>
          </p:cNvSpPr>
          <p:nvPr>
            <p:ph idx="1"/>
          </p:nvPr>
        </p:nvSpPr>
        <p:spPr>
          <a:xfrm>
            <a:off x="528638" y="1757363"/>
            <a:ext cx="8435975" cy="2535237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000" dirty="0"/>
              <a:t>方法一：</a:t>
            </a:r>
            <a:endParaRPr lang="zh-CN" altLang="en-US" sz="2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1800" dirty="0"/>
              <a:t>        </a:t>
            </a:r>
            <a:r>
              <a:rPr lang="en-US" altLang="zh-CN" sz="1800" dirty="0"/>
              <a:t>SELECT *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800" dirty="0"/>
              <a:t>        FROM Student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800" dirty="0"/>
              <a:t>        WHERE Sdept= 'CS'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800" dirty="0"/>
              <a:t>        </a:t>
            </a:r>
            <a:r>
              <a:rPr lang="en-US" altLang="zh-CN" sz="1800" dirty="0">
                <a:solidFill>
                  <a:srgbClr val="FF3300"/>
                </a:solidFill>
              </a:rPr>
              <a:t>UNION</a:t>
            </a:r>
            <a:endParaRPr lang="en-US" altLang="zh-CN" sz="1800" dirty="0">
              <a:solidFill>
                <a:srgbClr val="FF3300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800" dirty="0"/>
              <a:t>        SELECT *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800" dirty="0"/>
              <a:t>        FROM Student</a:t>
            </a:r>
            <a:endParaRPr lang="en-US" altLang="zh-CN" sz="18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1800" dirty="0"/>
              <a:t>        WHERE Sage&lt;=19</a:t>
            </a:r>
            <a:r>
              <a:rPr lang="zh-CN" altLang="en-US" sz="1800" dirty="0"/>
              <a:t>；</a:t>
            </a:r>
            <a:endParaRPr lang="zh-CN" altLang="en-US" sz="1800" dirty="0"/>
          </a:p>
        </p:txBody>
      </p:sp>
      <p:sp>
        <p:nvSpPr>
          <p:cNvPr id="727044" name="Rectangle 4"/>
          <p:cNvSpPr/>
          <p:nvPr/>
        </p:nvSpPr>
        <p:spPr>
          <a:xfrm>
            <a:off x="590550" y="4924425"/>
            <a:ext cx="8229600" cy="1600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sz="2000" dirty="0">
                <a:latin typeface="Arial" panose="020B0604020202020204" pitchFamily="34" charset="0"/>
              </a:rPr>
              <a:t>方法二：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sz="2000" dirty="0">
                <a:latin typeface="Arial" panose="020B0604020202020204" pitchFamily="34" charset="0"/>
              </a:rPr>
              <a:t>       </a:t>
            </a:r>
            <a:r>
              <a:rPr lang="en-US" altLang="zh-CN" dirty="0">
                <a:latin typeface="Arial" panose="020B0604020202020204" pitchFamily="34" charset="0"/>
              </a:rPr>
              <a:t>SELECT  DISTINCT  *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    FROM Student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    WHERE Sdept= 'CS'  OR  Sage&lt;=19</a:t>
            </a:r>
            <a:r>
              <a:rPr lang="zh-CN" altLang="en-US" dirty="0">
                <a:latin typeface="Arial" panose="020B0604020202020204" pitchFamily="34" charset="0"/>
              </a:rPr>
              <a:t>；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61446" name="Rectangle 5"/>
          <p:cNvSpPr/>
          <p:nvPr/>
        </p:nvSpPr>
        <p:spPr>
          <a:xfrm>
            <a:off x="395288" y="1341438"/>
            <a:ext cx="828040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/>
            <a:r>
              <a:rPr lang="en-US" altLang="zh-CN" sz="2400" dirty="0">
                <a:latin typeface="Verdana" panose="020B0604030504040204" pitchFamily="34" charset="0"/>
              </a:rPr>
              <a:t>[</a:t>
            </a:r>
            <a:r>
              <a:rPr lang="zh-CN" altLang="en-US" sz="2400" dirty="0">
                <a:latin typeface="Verdana" panose="020B0604030504040204" pitchFamily="34" charset="0"/>
              </a:rPr>
              <a:t>例</a:t>
            </a:r>
            <a:r>
              <a:rPr lang="en-US" altLang="zh-CN" sz="2400" dirty="0">
                <a:latin typeface="Verdana" panose="020B0604030504040204" pitchFamily="34" charset="0"/>
              </a:rPr>
              <a:t>48]  </a:t>
            </a:r>
            <a:r>
              <a:rPr lang="zh-CN" altLang="en-US" sz="2400" dirty="0">
                <a:latin typeface="Verdana" panose="020B0604030504040204" pitchFamily="34" charset="0"/>
              </a:rPr>
              <a:t>查询计算机科学系的学生及年龄不大于</a:t>
            </a:r>
            <a:r>
              <a:rPr lang="en-US" altLang="zh-CN" sz="2400" dirty="0">
                <a:latin typeface="Verdana" panose="020B0604030504040204" pitchFamily="34" charset="0"/>
              </a:rPr>
              <a:t>19</a:t>
            </a:r>
            <a:r>
              <a:rPr lang="zh-CN" altLang="en-US" sz="2400" dirty="0">
                <a:latin typeface="Verdana" panose="020B0604030504040204" pitchFamily="34" charset="0"/>
              </a:rPr>
              <a:t>岁的学生。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727046" name="Rectangle 6"/>
          <p:cNvSpPr/>
          <p:nvPr/>
        </p:nvSpPr>
        <p:spPr>
          <a:xfrm>
            <a:off x="468313" y="4221163"/>
            <a:ext cx="7632700" cy="6953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lvl="1">
              <a:lnSpc>
                <a:spcPct val="110000"/>
              </a:lnSpc>
              <a:buClr>
                <a:srgbClr val="3333FF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latin typeface="Verdana" panose="020B0604030504040204" pitchFamily="34" charset="0"/>
              </a:rPr>
              <a:t>UNION</a:t>
            </a:r>
            <a:r>
              <a:rPr lang="zh-CN" altLang="en-US" dirty="0">
                <a:latin typeface="Verdana" panose="020B0604030504040204" pitchFamily="34" charset="0"/>
              </a:rPr>
              <a:t>：将多个查询结果合并起来时，系统自动</a:t>
            </a:r>
            <a:r>
              <a:rPr lang="zh-CN" altLang="en-US" dirty="0">
                <a:solidFill>
                  <a:srgbClr val="FF3300"/>
                </a:solidFill>
                <a:latin typeface="Verdana" panose="020B0604030504040204" pitchFamily="34" charset="0"/>
              </a:rPr>
              <a:t>去掉</a:t>
            </a:r>
            <a:r>
              <a:rPr lang="zh-CN" altLang="en-US" dirty="0">
                <a:latin typeface="Verdana" panose="020B0604030504040204" pitchFamily="34" charset="0"/>
              </a:rPr>
              <a:t>重复元组。</a:t>
            </a:r>
            <a:endParaRPr lang="zh-CN" altLang="en-US" dirty="0">
              <a:latin typeface="Verdana" panose="020B0604030504040204" pitchFamily="34" charset="0"/>
            </a:endParaRPr>
          </a:p>
          <a:p>
            <a:pPr lvl="1">
              <a:lnSpc>
                <a:spcPct val="110000"/>
              </a:lnSpc>
              <a:buClr>
                <a:srgbClr val="3333FF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dirty="0">
                <a:latin typeface="Verdana" panose="020B0604030504040204" pitchFamily="34" charset="0"/>
              </a:rPr>
              <a:t>UNION ALL</a:t>
            </a:r>
            <a:r>
              <a:rPr lang="zh-CN" altLang="en-US" dirty="0">
                <a:latin typeface="Verdana" panose="020B0604030504040204" pitchFamily="34" charset="0"/>
              </a:rPr>
              <a:t>：将多个查询结果合并起来时，</a:t>
            </a:r>
            <a:r>
              <a:rPr lang="zh-CN" altLang="en-US" dirty="0">
                <a:solidFill>
                  <a:srgbClr val="FF3300"/>
                </a:solidFill>
                <a:latin typeface="Verdana" panose="020B0604030504040204" pitchFamily="34" charset="0"/>
              </a:rPr>
              <a:t>保留</a:t>
            </a:r>
            <a:r>
              <a:rPr lang="zh-CN" altLang="en-US" dirty="0">
                <a:latin typeface="Verdana" panose="020B0604030504040204" pitchFamily="34" charset="0"/>
              </a:rPr>
              <a:t>重复元组 </a:t>
            </a:r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charRg st="5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charRg st="22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charRg st="43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charRg st="69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charRg st="83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charRg st="100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3">
                                            <p:txEl>
                                              <p:charRg st="121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43" grpId="0" build="p"/>
      <p:bldP spid="727044" grpId="0"/>
      <p:bldP spid="72704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624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集合查询（续）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729091" name="Rectangle 3"/>
          <p:cNvSpPr>
            <a:spLocks noGrp="1"/>
          </p:cNvSpPr>
          <p:nvPr>
            <p:ph idx="1"/>
          </p:nvPr>
        </p:nvSpPr>
        <p:spPr>
          <a:xfrm>
            <a:off x="468313" y="1916113"/>
            <a:ext cx="8001000" cy="396081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/>
              <a:t>             SELECT Sno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dirty="0"/>
              <a:t>         </a:t>
            </a:r>
            <a:r>
              <a:rPr lang="en-US" altLang="zh-CN" dirty="0"/>
              <a:t>FROM SC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/>
              <a:t>        WHERE Cno=' 1 '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olidFill>
                  <a:srgbClr val="FF3300"/>
                </a:solidFill>
              </a:rPr>
              <a:t>UNION</a:t>
            </a:r>
            <a:endParaRPr lang="en-US" altLang="zh-CN" dirty="0">
              <a:solidFill>
                <a:srgbClr val="FF3300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/>
              <a:t>        SELECT Sno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/>
              <a:t>        FROM SC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/>
              <a:t>        WHERE Cno= ' 2 '</a:t>
            </a:r>
            <a:r>
              <a:rPr lang="zh-CN" altLang="en-US" dirty="0"/>
              <a:t>；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None/>
            </a:pPr>
            <a:endParaRPr lang="en-US" altLang="zh-CN" dirty="0"/>
          </a:p>
        </p:txBody>
      </p:sp>
      <p:sp>
        <p:nvSpPr>
          <p:cNvPr id="62469" name="Rectangle 5"/>
          <p:cNvSpPr/>
          <p:nvPr/>
        </p:nvSpPr>
        <p:spPr>
          <a:xfrm>
            <a:off x="684213" y="1268413"/>
            <a:ext cx="8067675" cy="519112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/>
            <a:r>
              <a:rPr lang="en-US" altLang="zh-CN" sz="2800" dirty="0">
                <a:latin typeface="Verdana" panose="020B0604030504040204" pitchFamily="34" charset="0"/>
              </a:rPr>
              <a:t>[</a:t>
            </a:r>
            <a:r>
              <a:rPr lang="zh-CN" altLang="en-US" sz="2800" dirty="0">
                <a:latin typeface="Verdana" panose="020B0604030504040204" pitchFamily="34" charset="0"/>
              </a:rPr>
              <a:t>例</a:t>
            </a:r>
            <a:r>
              <a:rPr lang="en-US" altLang="zh-CN" sz="2800" dirty="0">
                <a:latin typeface="Verdana" panose="020B0604030504040204" pitchFamily="34" charset="0"/>
              </a:rPr>
              <a:t>49]  </a:t>
            </a:r>
            <a:r>
              <a:rPr lang="zh-CN" altLang="en-US" sz="2800" dirty="0">
                <a:latin typeface="Verdana" panose="020B0604030504040204" pitchFamily="34" charset="0"/>
              </a:rPr>
              <a:t>查询选修了课程</a:t>
            </a:r>
            <a:r>
              <a:rPr lang="en-US" altLang="zh-CN" sz="2800" dirty="0">
                <a:latin typeface="Verdana" panose="020B0604030504040204" pitchFamily="34" charset="0"/>
              </a:rPr>
              <a:t>1</a:t>
            </a:r>
            <a:r>
              <a:rPr lang="zh-CN" altLang="en-US" sz="2800" dirty="0">
                <a:latin typeface="Verdana" panose="020B0604030504040204" pitchFamily="34" charset="0"/>
              </a:rPr>
              <a:t>或者选修了课程</a:t>
            </a:r>
            <a:r>
              <a:rPr lang="en-US" altLang="zh-CN" sz="2800" dirty="0">
                <a:latin typeface="Verdana" panose="020B0604030504040204" pitchFamily="34" charset="0"/>
              </a:rPr>
              <a:t>2</a:t>
            </a:r>
            <a:r>
              <a:rPr lang="zh-CN" altLang="en-US" sz="2800" dirty="0">
                <a:latin typeface="Verdana" panose="020B0604030504040204" pitchFamily="34" charset="0"/>
              </a:rPr>
              <a:t>的学生。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>
                                            <p:txEl>
                                              <p:charRg st="24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>
                                            <p:txEl>
                                              <p:charRg st="41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>
                                            <p:txEl>
                                              <p:charRg st="65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>
                                            <p:txEl>
                                              <p:charRg st="7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>
                                            <p:txEl>
                                              <p:charRg st="98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091">
                                            <p:txEl>
                                              <p:charRg st="114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091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6349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集合查询（续）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851971" name="Rectangle 3"/>
          <p:cNvSpPr>
            <a:spLocks noGrp="1"/>
          </p:cNvSpPr>
          <p:nvPr>
            <p:ph idx="1"/>
          </p:nvPr>
        </p:nvSpPr>
        <p:spPr>
          <a:xfrm>
            <a:off x="446088" y="1831975"/>
            <a:ext cx="8229600" cy="23177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1800" dirty="0"/>
              <a:t>                      SELECT *</a:t>
            </a:r>
            <a:endParaRPr lang="en-US" altLang="zh-CN" sz="1800" dirty="0"/>
          </a:p>
          <a:p>
            <a:pPr lvl="3" eaLnBrk="1" hangingPunct="1">
              <a:buFontTx/>
              <a:buNone/>
            </a:pPr>
            <a:r>
              <a:rPr lang="en-US" altLang="zh-CN" sz="1800" dirty="0"/>
              <a:t>FROM Student</a:t>
            </a:r>
            <a:endParaRPr lang="en-US" altLang="zh-CN" sz="1800" dirty="0"/>
          </a:p>
          <a:p>
            <a:pPr lvl="3" eaLnBrk="1" hangingPunct="1">
              <a:buFontTx/>
              <a:buNone/>
            </a:pPr>
            <a:r>
              <a:rPr lang="en-US" altLang="zh-CN" sz="1800" dirty="0"/>
              <a:t>WHERE Sdept='CS' </a:t>
            </a:r>
            <a:endParaRPr lang="en-US" altLang="zh-CN" sz="1800" dirty="0"/>
          </a:p>
          <a:p>
            <a:pPr lvl="3" eaLnBrk="1" hangingPunct="1">
              <a:buFontTx/>
              <a:buNone/>
            </a:pPr>
            <a:r>
              <a:rPr lang="en-US" altLang="zh-CN" sz="1800" dirty="0">
                <a:solidFill>
                  <a:srgbClr val="FF3300"/>
                </a:solidFill>
              </a:rPr>
              <a:t>INTERSECT</a:t>
            </a:r>
            <a:endParaRPr lang="en-US" altLang="zh-CN" sz="1800" dirty="0">
              <a:solidFill>
                <a:srgbClr val="FF3300"/>
              </a:solidFill>
            </a:endParaRPr>
          </a:p>
          <a:p>
            <a:pPr lvl="3" eaLnBrk="1" hangingPunct="1">
              <a:buFontTx/>
              <a:buNone/>
            </a:pPr>
            <a:r>
              <a:rPr lang="en-US" altLang="zh-CN" sz="1800" dirty="0"/>
              <a:t>SELECT *</a:t>
            </a:r>
            <a:endParaRPr lang="en-US" altLang="zh-CN" sz="1800" dirty="0"/>
          </a:p>
          <a:p>
            <a:pPr lvl="3" eaLnBrk="1" hangingPunct="1">
              <a:buFontTx/>
              <a:buNone/>
            </a:pPr>
            <a:r>
              <a:rPr lang="en-US" altLang="zh-CN" sz="1800" dirty="0"/>
              <a:t>FROM Student</a:t>
            </a:r>
            <a:endParaRPr lang="en-US" altLang="zh-CN" sz="1800" dirty="0"/>
          </a:p>
          <a:p>
            <a:pPr lvl="3" eaLnBrk="1" hangingPunct="1">
              <a:buFontTx/>
              <a:buNone/>
            </a:pPr>
            <a:r>
              <a:rPr lang="en-US" altLang="zh-CN" sz="1800" dirty="0"/>
              <a:t>WHERE Sage&lt;=19</a:t>
            </a:r>
            <a:r>
              <a:rPr lang="en-US" altLang="zh-CN" sz="1600" dirty="0"/>
              <a:t> </a:t>
            </a:r>
            <a:endParaRPr lang="en-US" altLang="zh-CN" sz="1400" dirty="0"/>
          </a:p>
        </p:txBody>
      </p:sp>
      <p:sp>
        <p:nvSpPr>
          <p:cNvPr id="851972" name="Rectangle 4"/>
          <p:cNvSpPr/>
          <p:nvPr/>
        </p:nvSpPr>
        <p:spPr>
          <a:xfrm>
            <a:off x="468313" y="4221163"/>
            <a:ext cx="8229600" cy="1600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[</a:t>
            </a:r>
            <a:r>
              <a:rPr lang="zh-CN" altLang="en-US" sz="2000" dirty="0">
                <a:latin typeface="Arial" panose="020B0604020202020204" pitchFamily="34" charset="0"/>
              </a:rPr>
              <a:t>例</a:t>
            </a:r>
            <a:r>
              <a:rPr lang="en-US" altLang="zh-CN" sz="2000" dirty="0">
                <a:latin typeface="Arial" panose="020B0604020202020204" pitchFamily="34" charset="0"/>
              </a:rPr>
              <a:t>50] </a:t>
            </a:r>
            <a:r>
              <a:rPr lang="zh-CN" altLang="en-US" sz="2000" dirty="0">
                <a:latin typeface="Arial" panose="020B0604020202020204" pitchFamily="34" charset="0"/>
              </a:rPr>
              <a:t>实际上就是查询计算机科学系中年龄不大于</a:t>
            </a:r>
            <a:r>
              <a:rPr lang="en-US" altLang="zh-CN" sz="2000" dirty="0">
                <a:latin typeface="Arial" panose="020B0604020202020204" pitchFamily="34" charset="0"/>
              </a:rPr>
              <a:t>19</a:t>
            </a:r>
            <a:r>
              <a:rPr lang="zh-CN" altLang="en-US" sz="2000" dirty="0">
                <a:latin typeface="Arial" panose="020B0604020202020204" pitchFamily="34" charset="0"/>
              </a:rPr>
              <a:t>岁的学生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sz="2000" dirty="0">
                <a:latin typeface="Arial" panose="020B0604020202020204" pitchFamily="34" charset="0"/>
              </a:rPr>
              <a:t>		</a:t>
            </a:r>
            <a:r>
              <a:rPr lang="en-US" altLang="zh-CN" dirty="0">
                <a:latin typeface="Arial" panose="020B0604020202020204" pitchFamily="34" charset="0"/>
              </a:rPr>
              <a:t>SELECT *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    	FROM Student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    	WHERE Sdept= 'CS' AND  Sage&lt;=19</a:t>
            </a:r>
            <a:r>
              <a:rPr lang="zh-CN" altLang="en-US" dirty="0">
                <a:latin typeface="Arial" panose="020B0604020202020204" pitchFamily="34" charset="0"/>
              </a:rPr>
              <a:t>；</a:t>
            </a:r>
            <a:endParaRPr lang="zh-CN" altLang="en-US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3494" name="Rectangle 5"/>
          <p:cNvSpPr/>
          <p:nvPr/>
        </p:nvSpPr>
        <p:spPr>
          <a:xfrm>
            <a:off x="250825" y="1196975"/>
            <a:ext cx="8893175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宋体" panose="02010600030101010101" pitchFamily="2" charset="-122"/>
            </a:pPr>
            <a:r>
              <a:rPr lang="en-US" altLang="zh-CN" sz="2400" dirty="0">
                <a:latin typeface="Verdana" panose="020B0604030504040204" pitchFamily="34" charset="0"/>
              </a:rPr>
              <a:t>[</a:t>
            </a:r>
            <a:r>
              <a:rPr lang="zh-CN" altLang="en-US" sz="2400" dirty="0">
                <a:latin typeface="Verdana" panose="020B0604030504040204" pitchFamily="34" charset="0"/>
              </a:rPr>
              <a:t>例</a:t>
            </a:r>
            <a:r>
              <a:rPr lang="en-US" altLang="zh-CN" sz="2400" dirty="0">
                <a:latin typeface="Verdana" panose="020B0604030504040204" pitchFamily="34" charset="0"/>
              </a:rPr>
              <a:t>50]  </a:t>
            </a:r>
            <a:r>
              <a:rPr lang="zh-CN" altLang="en-US" sz="2400" dirty="0">
                <a:latin typeface="Verdana" panose="020B0604030504040204" pitchFamily="34" charset="0"/>
              </a:rPr>
              <a:t>查询计算机科学系的学生与年龄不大于</a:t>
            </a:r>
            <a:r>
              <a:rPr lang="en-US" altLang="zh-CN" sz="2400" dirty="0">
                <a:latin typeface="Verdana" panose="020B0604030504040204" pitchFamily="34" charset="0"/>
              </a:rPr>
              <a:t>19</a:t>
            </a:r>
            <a:r>
              <a:rPr lang="zh-CN" altLang="en-US" sz="2400" dirty="0">
                <a:latin typeface="Verdana" panose="020B0604030504040204" pitchFamily="34" charset="0"/>
              </a:rPr>
              <a:t>岁的学生的交集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charRg st="31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charRg st="44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charRg st="62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charRg st="72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charRg st="81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1">
                                            <p:txEl>
                                              <p:charRg st="94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1971" grpId="0" build="p"/>
      <p:bldP spid="85197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6451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>
                <a:latin typeface="宋体" panose="02010600030101010101" pitchFamily="2" charset="-122"/>
              </a:rPr>
              <a:t>集合查询（续）</a:t>
            </a:r>
            <a:endParaRPr lang="zh-CN" altLang="en-US" sz="3200" dirty="0">
              <a:latin typeface="宋体" panose="02010600030101010101" pitchFamily="2" charset="-122"/>
            </a:endParaRPr>
          </a:p>
        </p:txBody>
      </p:sp>
      <p:sp>
        <p:nvSpPr>
          <p:cNvPr id="64516" name="Rectangle 4"/>
          <p:cNvSpPr/>
          <p:nvPr/>
        </p:nvSpPr>
        <p:spPr>
          <a:xfrm>
            <a:off x="976313" y="1987550"/>
            <a:ext cx="7772400" cy="23050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          SELECT Sno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FROM SC</a:t>
            </a:r>
            <a:endParaRPr lang="en-US" altLang="zh-CN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WHERE Cno=' 1 ' </a:t>
            </a:r>
            <a:endParaRPr lang="en-US" altLang="zh-CN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FF3300"/>
                </a:solidFill>
                <a:latin typeface="Arial" panose="020B0604020202020204" pitchFamily="34" charset="0"/>
              </a:rPr>
              <a:t>INTERSECT</a:t>
            </a:r>
            <a:endParaRPr lang="en-US" altLang="zh-CN" dirty="0">
              <a:solidFill>
                <a:srgbClr val="FF3300"/>
              </a:solidFill>
              <a:latin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SELECT Sno</a:t>
            </a:r>
            <a:endParaRPr lang="en-US" altLang="zh-CN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FROM SC</a:t>
            </a:r>
            <a:endParaRPr lang="en-US" altLang="zh-CN" dirty="0">
              <a:latin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WHERE Cno='2 '</a:t>
            </a:r>
            <a:r>
              <a:rPr lang="zh-CN" altLang="en-US" dirty="0">
                <a:latin typeface="Arial" panose="020B0604020202020204" pitchFamily="34" charset="0"/>
              </a:rPr>
              <a:t>；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31142" name="Rectangle 6"/>
          <p:cNvSpPr>
            <a:spLocks noGrp="1"/>
          </p:cNvSpPr>
          <p:nvPr>
            <p:ph idx="1"/>
          </p:nvPr>
        </p:nvSpPr>
        <p:spPr>
          <a:xfrm>
            <a:off x="735013" y="4149725"/>
            <a:ext cx="8229600" cy="19431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000" dirty="0"/>
              <a:t>[</a:t>
            </a:r>
            <a:r>
              <a:rPr lang="zh-CN" altLang="en-US" sz="2000" dirty="0"/>
              <a:t>例</a:t>
            </a:r>
            <a:r>
              <a:rPr lang="en-US" altLang="zh-CN" sz="2000" dirty="0"/>
              <a:t>51]  </a:t>
            </a:r>
            <a:r>
              <a:rPr lang="zh-CN" altLang="en-US" sz="2000" dirty="0"/>
              <a:t>实际上是查询既选修了课程</a:t>
            </a:r>
            <a:r>
              <a:rPr lang="en-US" altLang="zh-CN" sz="2000" dirty="0"/>
              <a:t>1</a:t>
            </a:r>
            <a:r>
              <a:rPr lang="zh-CN" altLang="en-US" sz="2000" dirty="0"/>
              <a:t>又选修了课程</a:t>
            </a:r>
            <a:r>
              <a:rPr lang="en-US" altLang="zh-CN" sz="2000" dirty="0"/>
              <a:t>2</a:t>
            </a:r>
            <a:r>
              <a:rPr lang="zh-CN" altLang="en-US" sz="2000" dirty="0"/>
              <a:t>的学生</a:t>
            </a:r>
            <a:endParaRPr lang="zh-CN" altLang="en-US" sz="2000" dirty="0"/>
          </a:p>
          <a:p>
            <a:pPr lvl="1" eaLnBrk="1" hangingPunct="1">
              <a:buNone/>
            </a:pPr>
            <a:r>
              <a:rPr lang="zh-CN" altLang="en-US" sz="1600" dirty="0"/>
              <a:t>          </a:t>
            </a:r>
            <a:r>
              <a:rPr lang="en-US" altLang="zh-CN" sz="1800" dirty="0"/>
              <a:t>SELECT Sno</a:t>
            </a:r>
            <a:endParaRPr lang="en-US" altLang="zh-CN" sz="1800" dirty="0"/>
          </a:p>
          <a:p>
            <a:pPr lvl="1" eaLnBrk="1" hangingPunct="1">
              <a:buNone/>
            </a:pPr>
            <a:r>
              <a:rPr lang="en-US" altLang="zh-CN" sz="1800" dirty="0"/>
              <a:t>          FROM SC</a:t>
            </a:r>
            <a:endParaRPr lang="en-US" altLang="zh-CN" sz="1800" dirty="0"/>
          </a:p>
          <a:p>
            <a:pPr lvl="1" eaLnBrk="1" hangingPunct="1">
              <a:buNone/>
            </a:pPr>
            <a:r>
              <a:rPr lang="en-US" altLang="zh-CN" sz="1800" dirty="0"/>
              <a:t>          WHERE Cno=' 1 ' AND Sno IN</a:t>
            </a:r>
            <a:endParaRPr lang="en-US" altLang="zh-CN" sz="1800" dirty="0"/>
          </a:p>
          <a:p>
            <a:pPr lvl="1" eaLnBrk="1" hangingPunct="1">
              <a:buNone/>
            </a:pPr>
            <a:r>
              <a:rPr lang="en-US" altLang="zh-CN" sz="1800" dirty="0"/>
              <a:t>                         (SELECT Sno     FROM SC    WHERE Cno=' 2 ')</a:t>
            </a:r>
            <a:r>
              <a:rPr lang="zh-CN" altLang="en-US" sz="1800" dirty="0"/>
              <a:t>；</a:t>
            </a:r>
            <a:endParaRPr lang="zh-CN" altLang="en-US" sz="1400" dirty="0"/>
          </a:p>
        </p:txBody>
      </p:sp>
      <p:sp>
        <p:nvSpPr>
          <p:cNvPr id="64518" name="Rectangle 7"/>
          <p:cNvSpPr/>
          <p:nvPr/>
        </p:nvSpPr>
        <p:spPr>
          <a:xfrm>
            <a:off x="684213" y="1052513"/>
            <a:ext cx="7991475" cy="89535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Verdana" panose="020B0604030504040204" pitchFamily="34" charset="0"/>
              </a:rPr>
              <a:t>[</a:t>
            </a:r>
            <a:r>
              <a:rPr lang="zh-CN" altLang="en-US" sz="2400" dirty="0">
                <a:latin typeface="Verdana" panose="020B0604030504040204" pitchFamily="34" charset="0"/>
              </a:rPr>
              <a:t>例</a:t>
            </a:r>
            <a:r>
              <a:rPr lang="en-US" altLang="zh-CN" sz="2400" dirty="0">
                <a:latin typeface="Verdana" panose="020B0604030504040204" pitchFamily="34" charset="0"/>
              </a:rPr>
              <a:t>51]  </a:t>
            </a:r>
            <a:r>
              <a:rPr lang="zh-CN" altLang="en-US" sz="2400" dirty="0">
                <a:latin typeface="Verdana" panose="020B0604030504040204" pitchFamily="34" charset="0"/>
              </a:rPr>
              <a:t>查询选修课程</a:t>
            </a:r>
            <a:r>
              <a:rPr lang="en-US" altLang="zh-CN" sz="2400" dirty="0">
                <a:latin typeface="Verdana" panose="020B0604030504040204" pitchFamily="34" charset="0"/>
              </a:rPr>
              <a:t>1</a:t>
            </a:r>
            <a:r>
              <a:rPr lang="zh-CN" altLang="en-US" sz="2400" dirty="0">
                <a:latin typeface="Verdana" panose="020B0604030504040204" pitchFamily="34" charset="0"/>
              </a:rPr>
              <a:t>的学生集合与选修课程</a:t>
            </a:r>
            <a:r>
              <a:rPr lang="en-US" altLang="zh-CN" sz="2400" dirty="0">
                <a:latin typeface="Verdana" panose="020B0604030504040204" pitchFamily="34" charset="0"/>
              </a:rPr>
              <a:t>2</a:t>
            </a:r>
            <a:r>
              <a:rPr lang="zh-CN" altLang="en-US" sz="2400" dirty="0">
                <a:latin typeface="Verdana" panose="020B0604030504040204" pitchFamily="34" charset="0"/>
              </a:rPr>
              <a:t>的学生集合的交集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2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2">
                                            <p:txEl>
                                              <p:charRg st="3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2">
                                            <p:txEl>
                                              <p:charRg st="52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2">
                                            <p:txEl>
                                              <p:charRg st="70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42">
                                            <p:txEl>
                                              <p:charRg st="107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142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6553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集合查询（续）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735235" name="Rectangle 3"/>
          <p:cNvSpPr>
            <a:spLocks noGrp="1"/>
          </p:cNvSpPr>
          <p:nvPr>
            <p:ph idx="1"/>
          </p:nvPr>
        </p:nvSpPr>
        <p:spPr>
          <a:xfrm>
            <a:off x="785813" y="1928813"/>
            <a:ext cx="7772400" cy="23749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000" dirty="0"/>
              <a:t>          SELECT *</a:t>
            </a:r>
            <a:endParaRPr lang="en-US" altLang="zh-CN" sz="2000" dirty="0"/>
          </a:p>
          <a:p>
            <a:pPr lvl="1" eaLnBrk="1" hangingPunct="1">
              <a:buNone/>
            </a:pPr>
            <a:r>
              <a:rPr lang="en-US" altLang="zh-CN" sz="1800" dirty="0"/>
              <a:t>    FROM Student</a:t>
            </a:r>
            <a:endParaRPr lang="en-US" altLang="zh-CN" sz="1800" dirty="0"/>
          </a:p>
          <a:p>
            <a:pPr lvl="1" eaLnBrk="1" hangingPunct="1">
              <a:buNone/>
            </a:pPr>
            <a:r>
              <a:rPr lang="en-US" altLang="zh-CN" sz="1800" dirty="0"/>
              <a:t>    WHERE Sdept='CS'</a:t>
            </a:r>
            <a:endParaRPr lang="en-US" altLang="zh-CN" sz="1800" dirty="0"/>
          </a:p>
          <a:p>
            <a:pPr lvl="1" eaLnBrk="1" hangingPunct="1">
              <a:buNone/>
            </a:pPr>
            <a:r>
              <a:rPr lang="en-US" altLang="zh-CN" sz="1800" dirty="0"/>
              <a:t>    </a:t>
            </a:r>
            <a:r>
              <a:rPr lang="en-US" altLang="zh-CN" sz="1800" dirty="0">
                <a:solidFill>
                  <a:srgbClr val="FF3300"/>
                </a:solidFill>
              </a:rPr>
              <a:t>EXCEPT</a:t>
            </a:r>
            <a:endParaRPr lang="en-US" altLang="zh-CN" sz="1800" dirty="0">
              <a:solidFill>
                <a:srgbClr val="FF3300"/>
              </a:solidFill>
            </a:endParaRPr>
          </a:p>
          <a:p>
            <a:pPr lvl="1" eaLnBrk="1" hangingPunct="1">
              <a:buNone/>
            </a:pPr>
            <a:r>
              <a:rPr lang="en-US" altLang="zh-CN" sz="1800" dirty="0"/>
              <a:t>    SELECT  *</a:t>
            </a:r>
            <a:endParaRPr lang="en-US" altLang="zh-CN" sz="1800" dirty="0"/>
          </a:p>
          <a:p>
            <a:pPr lvl="1" eaLnBrk="1" hangingPunct="1">
              <a:buNone/>
            </a:pPr>
            <a:r>
              <a:rPr lang="en-US" altLang="zh-CN" sz="1800" dirty="0"/>
              <a:t>    FROM Student</a:t>
            </a:r>
            <a:endParaRPr lang="en-US" altLang="zh-CN" sz="1800" dirty="0"/>
          </a:p>
          <a:p>
            <a:pPr lvl="1" eaLnBrk="1" hangingPunct="1">
              <a:buNone/>
            </a:pPr>
            <a:r>
              <a:rPr lang="en-US" altLang="zh-CN" sz="1800" dirty="0"/>
              <a:t>    WHERE Sage &lt;=19;</a:t>
            </a:r>
            <a:endParaRPr lang="en-US" altLang="zh-CN" sz="1800" dirty="0"/>
          </a:p>
        </p:txBody>
      </p:sp>
      <p:sp>
        <p:nvSpPr>
          <p:cNvPr id="735236" name="Rectangle 4"/>
          <p:cNvSpPr/>
          <p:nvPr/>
        </p:nvSpPr>
        <p:spPr>
          <a:xfrm>
            <a:off x="500063" y="4214813"/>
            <a:ext cx="8229600" cy="20716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   [</a:t>
            </a:r>
            <a:r>
              <a:rPr lang="zh-CN" altLang="en-US" sz="2000" dirty="0">
                <a:latin typeface="Arial" panose="020B0604020202020204" pitchFamily="34" charset="0"/>
              </a:rPr>
              <a:t>例</a:t>
            </a:r>
            <a:r>
              <a:rPr lang="en-US" altLang="zh-CN" sz="2000" dirty="0">
                <a:latin typeface="Arial" panose="020B0604020202020204" pitchFamily="34" charset="0"/>
              </a:rPr>
              <a:t>52]</a:t>
            </a:r>
            <a:r>
              <a:rPr lang="zh-CN" altLang="en-US" sz="2000" dirty="0">
                <a:latin typeface="Arial" panose="020B0604020202020204" pitchFamily="34" charset="0"/>
              </a:rPr>
              <a:t>实际上是查询计算机科学系中年龄大于</a:t>
            </a:r>
            <a:r>
              <a:rPr lang="en-US" altLang="zh-CN" sz="2000" dirty="0">
                <a:latin typeface="Arial" panose="020B0604020202020204" pitchFamily="34" charset="0"/>
              </a:rPr>
              <a:t>19</a:t>
            </a:r>
            <a:r>
              <a:rPr lang="zh-CN" altLang="en-US" sz="2000" dirty="0">
                <a:latin typeface="Arial" panose="020B0604020202020204" pitchFamily="34" charset="0"/>
              </a:rPr>
              <a:t>岁的学生</a:t>
            </a:r>
            <a:endParaRPr lang="zh-CN" altLang="en-US" sz="2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</a:rPr>
              <a:t>               </a:t>
            </a:r>
            <a:r>
              <a:rPr lang="en-US" altLang="zh-CN" dirty="0">
                <a:latin typeface="Arial" panose="020B0604020202020204" pitchFamily="34" charset="0"/>
              </a:rPr>
              <a:t>SELECT *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           FROM Student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</a:rPr>
              <a:t>               WHERE Sdept= 'CS' AND  Sage&gt;19</a:t>
            </a:r>
            <a:r>
              <a:rPr lang="zh-CN" altLang="en-US" dirty="0">
                <a:latin typeface="Arial" panose="020B0604020202020204" pitchFamily="34" charset="0"/>
              </a:rPr>
              <a:t>；</a:t>
            </a:r>
            <a:endParaRPr lang="en-US" altLang="zh-CN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5542" name="Rectangle 5"/>
          <p:cNvSpPr/>
          <p:nvPr/>
        </p:nvSpPr>
        <p:spPr>
          <a:xfrm>
            <a:off x="571500" y="1143000"/>
            <a:ext cx="8064500" cy="82232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宋体" panose="02010600030101010101" pitchFamily="2" charset="-122"/>
            </a:pPr>
            <a:r>
              <a:rPr lang="en-US" altLang="zh-CN" sz="2400" dirty="0">
                <a:latin typeface="Verdana" panose="020B0604030504040204" pitchFamily="34" charset="0"/>
              </a:rPr>
              <a:t>[</a:t>
            </a:r>
            <a:r>
              <a:rPr lang="zh-CN" altLang="en-US" sz="2400" dirty="0">
                <a:latin typeface="Verdana" panose="020B0604030504040204" pitchFamily="34" charset="0"/>
              </a:rPr>
              <a:t>例</a:t>
            </a:r>
            <a:r>
              <a:rPr lang="en-US" altLang="zh-CN" sz="2400" dirty="0">
                <a:latin typeface="Verdana" panose="020B0604030504040204" pitchFamily="34" charset="0"/>
              </a:rPr>
              <a:t>52]  </a:t>
            </a:r>
            <a:r>
              <a:rPr lang="zh-CN" altLang="en-US" sz="2400" dirty="0">
                <a:latin typeface="Verdana" panose="020B0604030504040204" pitchFamily="34" charset="0"/>
              </a:rPr>
              <a:t>查询计算机科学系的学生与年龄不大于</a:t>
            </a:r>
            <a:r>
              <a:rPr lang="en-US" altLang="zh-CN" sz="2400" dirty="0">
                <a:latin typeface="Verdana" panose="020B0604030504040204" pitchFamily="34" charset="0"/>
              </a:rPr>
              <a:t>19</a:t>
            </a:r>
            <a:r>
              <a:rPr lang="zh-CN" altLang="en-US" sz="2400" dirty="0">
                <a:latin typeface="Verdana" panose="020B0604030504040204" pitchFamily="34" charset="0"/>
              </a:rPr>
              <a:t>岁的学生的差集。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charRg st="1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charRg st="3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charRg st="57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charRg st="6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charRg st="82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charRg st="99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35" grpId="0" build="p"/>
      <p:bldP spid="73523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rPr lang="zh-CN" altLang="en-US" dirty="0">
                <a:latin typeface="Arial" panose="020B0604020202020204" pitchFamily="34" charset="0"/>
              </a:rPr>
              <a:t>提问（用集合查询）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：查询至少选修了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号和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号课程的学生的学号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：查询有哪些学生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没有选修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/>
                <a:cs typeface="楷体_GB2312"/>
              </a:rPr>
              <a:t>C2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楷体_GB2312"/>
                <a:cs typeface="楷体_GB2312"/>
              </a:rPr>
              <a:t>这门课的学生学号和姓名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_GB231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_GB231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3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楷体_GB2312"/>
                <a:cs typeface="楷体_GB2312"/>
              </a:rPr>
              <a:t>：查询‘刘晨’没有选修的课程的课程号</a:t>
            </a: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4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：查询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CS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系和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系的全体学生是学号和姓名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Click="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6758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3.4  </a:t>
            </a:r>
            <a:r>
              <a:rPr lang="zh-CN" altLang="en-US" dirty="0"/>
              <a:t>数据查询 </a:t>
            </a:r>
            <a:endParaRPr lang="zh-CN" altLang="en-US" dirty="0"/>
          </a:p>
        </p:txBody>
      </p:sp>
      <p:sp>
        <p:nvSpPr>
          <p:cNvPr id="67588" name="Rectangle 3"/>
          <p:cNvSpPr>
            <a:spLocks noGrp="1"/>
          </p:cNvSpPr>
          <p:nvPr>
            <p:ph idx="1"/>
          </p:nvPr>
        </p:nvSpPr>
        <p:spPr>
          <a:xfrm>
            <a:off x="1042988" y="1916113"/>
            <a:ext cx="6886575" cy="4038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40000"/>
              </a:lnSpc>
            </a:pPr>
            <a:r>
              <a:rPr lang="en-US" altLang="zh-CN" b="1" dirty="0"/>
              <a:t>3.4.1 </a:t>
            </a:r>
            <a:r>
              <a:rPr lang="zh-CN" altLang="en-US" b="1" dirty="0"/>
              <a:t>单表查询</a:t>
            </a:r>
            <a:endParaRPr lang="zh-CN" altLang="en-US" b="1" dirty="0"/>
          </a:p>
          <a:p>
            <a:pPr algn="just" eaLnBrk="1" hangingPunct="1">
              <a:lnSpc>
                <a:spcPct val="140000"/>
              </a:lnSpc>
            </a:pPr>
            <a:r>
              <a:rPr lang="en-US" altLang="zh-CN" b="1" dirty="0"/>
              <a:t>3.4.2 </a:t>
            </a:r>
            <a:r>
              <a:rPr lang="zh-CN" altLang="en-US" b="1" dirty="0"/>
              <a:t>连接查询</a:t>
            </a:r>
            <a:endParaRPr lang="zh-CN" altLang="en-US" b="1" dirty="0"/>
          </a:p>
          <a:p>
            <a:pPr algn="just" eaLnBrk="1" hangingPunct="1">
              <a:lnSpc>
                <a:spcPct val="140000"/>
              </a:lnSpc>
            </a:pPr>
            <a:r>
              <a:rPr lang="en-US" altLang="zh-CN" b="1" dirty="0"/>
              <a:t>3.4.3 </a:t>
            </a:r>
            <a:r>
              <a:rPr lang="zh-CN" altLang="en-US" b="1" dirty="0"/>
              <a:t>嵌套查询</a:t>
            </a:r>
            <a:endParaRPr lang="zh-CN" altLang="en-US" b="1" dirty="0"/>
          </a:p>
          <a:p>
            <a:pPr algn="just" eaLnBrk="1" hangingPunct="1">
              <a:lnSpc>
                <a:spcPct val="140000"/>
              </a:lnSpc>
            </a:pPr>
            <a:r>
              <a:rPr lang="en-US" altLang="zh-CN" b="1" dirty="0"/>
              <a:t>3.4.4 </a:t>
            </a:r>
            <a:r>
              <a:rPr lang="zh-CN" altLang="en-US" b="1" dirty="0"/>
              <a:t>集合查询</a:t>
            </a:r>
            <a:endParaRPr lang="zh-CN" altLang="en-US" b="1" dirty="0"/>
          </a:p>
          <a:p>
            <a:pPr algn="just" eaLnBrk="1" hangingPunct="1">
              <a:lnSpc>
                <a:spcPct val="140000"/>
              </a:lnSpc>
            </a:pPr>
            <a:r>
              <a:rPr lang="en-US" altLang="zh-CN" b="1" dirty="0">
                <a:solidFill>
                  <a:srgbClr val="3333FF"/>
                </a:solidFill>
              </a:rPr>
              <a:t>3.4.5 Select</a:t>
            </a:r>
            <a:r>
              <a:rPr lang="zh-CN" altLang="en-US" b="1" dirty="0">
                <a:solidFill>
                  <a:srgbClr val="3333FF"/>
                </a:solidFill>
              </a:rPr>
              <a:t>语句的一般形式</a:t>
            </a:r>
            <a:r>
              <a:rPr lang="zh-CN" altLang="en-US" b="1" dirty="0"/>
              <a:t> </a:t>
            </a:r>
            <a:endParaRPr lang="zh-CN" altLang="en-US" b="1" dirty="0"/>
          </a:p>
        </p:txBody>
      </p:sp>
    </p:spTree>
  </p:cSld>
  <p:clrMapOvr>
    <a:masterClrMapping/>
  </p:clrMapOvr>
  <p:transition advClick="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6861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3.4.5 </a:t>
            </a:r>
            <a:r>
              <a:rPr lang="en-US" altLang="zh-CN" sz="3200" dirty="0"/>
              <a:t>SELECT</a:t>
            </a:r>
            <a:r>
              <a:rPr lang="zh-CN" altLang="en-US" sz="3200" dirty="0"/>
              <a:t>语句的一般格式</a:t>
            </a:r>
            <a:endParaRPr lang="zh-CN" altLang="en-US" sz="4000" dirty="0"/>
          </a:p>
        </p:txBody>
      </p:sp>
      <p:sp>
        <p:nvSpPr>
          <p:cNvPr id="68612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ClrTx/>
              <a:buNone/>
            </a:pPr>
            <a:r>
              <a:rPr lang="en-US" altLang="zh-CN" sz="2400" dirty="0">
                <a:solidFill>
                  <a:schemeClr val="hlink"/>
                </a:solidFill>
              </a:rPr>
              <a:t> SELECT</a:t>
            </a:r>
            <a:r>
              <a:rPr lang="en-US" altLang="zh-CN" sz="2400" dirty="0"/>
              <a:t> [ALL|DISTINCT]  </a:t>
            </a:r>
            <a:endParaRPr lang="en-US" altLang="zh-CN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400" dirty="0"/>
              <a:t>   &lt;</a:t>
            </a:r>
            <a:r>
              <a:rPr lang="zh-CN" altLang="en-US" sz="2400" dirty="0"/>
              <a:t>目标列表达式</a:t>
            </a:r>
            <a:r>
              <a:rPr lang="en-US" altLang="zh-CN" sz="2400" dirty="0"/>
              <a:t>&gt; [</a:t>
            </a:r>
            <a:r>
              <a:rPr lang="zh-CN" altLang="en-US" sz="2400" dirty="0"/>
              <a:t>别名</a:t>
            </a:r>
            <a:r>
              <a:rPr lang="en-US" altLang="zh-CN" sz="2400" dirty="0"/>
              <a:t>] [ </a:t>
            </a:r>
            <a:r>
              <a:rPr lang="zh-CN" altLang="en-US" sz="2400" dirty="0"/>
              <a:t>，</a:t>
            </a:r>
            <a:r>
              <a:rPr lang="en-US" altLang="zh-CN" sz="2400" dirty="0"/>
              <a:t>&lt;</a:t>
            </a:r>
            <a:r>
              <a:rPr lang="zh-CN" altLang="en-US" sz="2400" dirty="0"/>
              <a:t>目标列表达式</a:t>
            </a:r>
            <a:r>
              <a:rPr lang="en-US" altLang="zh-CN" sz="2400" dirty="0"/>
              <a:t>&gt; [</a:t>
            </a:r>
            <a:r>
              <a:rPr lang="zh-CN" altLang="en-US" sz="2400" dirty="0"/>
              <a:t>别名</a:t>
            </a:r>
            <a:r>
              <a:rPr lang="en-US" altLang="zh-CN" sz="2400" dirty="0"/>
              <a:t>]] …</a:t>
            </a:r>
            <a:endParaRPr lang="en-US" altLang="zh-CN" sz="2400" dirty="0"/>
          </a:p>
          <a:p>
            <a:pPr eaLnBrk="1" hangingPunct="1">
              <a:lnSpc>
                <a:spcPct val="140000"/>
              </a:lnSpc>
              <a:buClrTx/>
              <a:buNone/>
            </a:pPr>
            <a:r>
              <a:rPr lang="en-US" altLang="zh-CN" sz="2400" dirty="0">
                <a:solidFill>
                  <a:schemeClr val="hlink"/>
                </a:solidFill>
              </a:rPr>
              <a:t> FROM</a:t>
            </a:r>
            <a:r>
              <a:rPr lang="en-US" altLang="zh-CN" sz="2400" dirty="0">
                <a:solidFill>
                  <a:srgbClr val="FF3399"/>
                </a:solidFill>
              </a:rPr>
              <a:t>    </a:t>
            </a:r>
            <a:r>
              <a:rPr lang="en-US" altLang="zh-CN" sz="2400" dirty="0"/>
              <a:t>&lt;</a:t>
            </a:r>
            <a:r>
              <a:rPr lang="zh-CN" altLang="en-US" sz="2400" dirty="0"/>
              <a:t>表名或视图名</a:t>
            </a:r>
            <a:r>
              <a:rPr lang="en-US" altLang="zh-CN" sz="2400" dirty="0"/>
              <a:t>&gt; [</a:t>
            </a:r>
            <a:r>
              <a:rPr lang="zh-CN" altLang="en-US" sz="2400" dirty="0"/>
              <a:t>别名</a:t>
            </a:r>
            <a:r>
              <a:rPr lang="en-US" altLang="zh-CN" sz="2400" dirty="0"/>
              <a:t>] </a:t>
            </a:r>
            <a:endParaRPr lang="en-US" altLang="zh-CN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400" dirty="0"/>
              <a:t>             [ </a:t>
            </a:r>
            <a:r>
              <a:rPr lang="zh-CN" altLang="en-US" sz="2400" dirty="0"/>
              <a:t>，</a:t>
            </a:r>
            <a:r>
              <a:rPr lang="en-US" altLang="zh-CN" sz="2400" dirty="0"/>
              <a:t>&lt;</a:t>
            </a:r>
            <a:r>
              <a:rPr lang="zh-CN" altLang="en-US" sz="2400" dirty="0"/>
              <a:t>表名或视图名</a:t>
            </a:r>
            <a:r>
              <a:rPr lang="en-US" altLang="zh-CN" sz="2400" dirty="0"/>
              <a:t>&gt; [</a:t>
            </a:r>
            <a:r>
              <a:rPr lang="zh-CN" altLang="en-US" sz="2400" dirty="0"/>
              <a:t>别名</a:t>
            </a:r>
            <a:r>
              <a:rPr lang="en-US" altLang="zh-CN" sz="2400" dirty="0"/>
              <a:t>]] …</a:t>
            </a:r>
            <a:endParaRPr lang="en-US" altLang="zh-CN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400" dirty="0"/>
              <a:t> [</a:t>
            </a:r>
            <a:r>
              <a:rPr lang="en-US" altLang="zh-CN" sz="2400" dirty="0">
                <a:solidFill>
                  <a:schemeClr val="hlink"/>
                </a:solidFill>
              </a:rPr>
              <a:t>WHERE</a:t>
            </a:r>
            <a:r>
              <a:rPr lang="en-US" altLang="zh-CN" sz="2400" dirty="0"/>
              <a:t> &lt;</a:t>
            </a:r>
            <a:r>
              <a:rPr lang="zh-CN" altLang="en-US" sz="2400" dirty="0"/>
              <a:t>条件表达式</a:t>
            </a:r>
            <a:r>
              <a:rPr lang="en-US" altLang="zh-CN" sz="2400" dirty="0"/>
              <a:t>&gt;]</a:t>
            </a:r>
            <a:endParaRPr lang="en-US" altLang="zh-CN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400" dirty="0"/>
              <a:t> [</a:t>
            </a:r>
            <a:r>
              <a:rPr lang="en-US" altLang="zh-CN" sz="2400" dirty="0">
                <a:solidFill>
                  <a:schemeClr val="hlink"/>
                </a:solidFill>
              </a:rPr>
              <a:t>GROUP BY</a:t>
            </a:r>
            <a:r>
              <a:rPr lang="en-US" altLang="zh-CN" sz="2400" dirty="0"/>
              <a:t> &lt;</a:t>
            </a:r>
            <a:r>
              <a:rPr lang="zh-CN" altLang="en-US" sz="2400" dirty="0"/>
              <a:t>列名</a:t>
            </a:r>
            <a:r>
              <a:rPr lang="en-US" altLang="zh-CN" sz="2400" dirty="0"/>
              <a:t>1&gt; [</a:t>
            </a:r>
            <a:r>
              <a:rPr lang="en-US" altLang="zh-CN" sz="2400" dirty="0">
                <a:solidFill>
                  <a:schemeClr val="hlink"/>
                </a:solidFill>
              </a:rPr>
              <a:t>HAVING</a:t>
            </a:r>
            <a:r>
              <a:rPr lang="en-US" altLang="zh-CN" sz="2400" b="1" dirty="0">
                <a:solidFill>
                  <a:srgbClr val="FF3399"/>
                </a:solidFill>
              </a:rPr>
              <a:t>    </a:t>
            </a:r>
            <a:r>
              <a:rPr lang="en-US" altLang="zh-CN" sz="2400" dirty="0"/>
              <a:t>&lt;</a:t>
            </a:r>
            <a:r>
              <a:rPr lang="zh-CN" altLang="en-US" sz="2400" dirty="0"/>
              <a:t>条件表达式</a:t>
            </a:r>
            <a:r>
              <a:rPr lang="en-US" altLang="zh-CN" sz="2400" dirty="0"/>
              <a:t>&gt;]]</a:t>
            </a:r>
            <a:endParaRPr lang="en-US" altLang="zh-CN" sz="2400" dirty="0"/>
          </a:p>
          <a:p>
            <a:pPr eaLnBrk="1" hangingPunct="1">
              <a:lnSpc>
                <a:spcPct val="140000"/>
              </a:lnSpc>
              <a:buNone/>
            </a:pPr>
            <a:r>
              <a:rPr lang="en-US" altLang="zh-CN" sz="2400" dirty="0"/>
              <a:t> [</a:t>
            </a:r>
            <a:r>
              <a:rPr lang="en-US" altLang="zh-CN" sz="2400" dirty="0">
                <a:solidFill>
                  <a:schemeClr val="hlink"/>
                </a:solidFill>
              </a:rPr>
              <a:t>ORDER BY</a:t>
            </a:r>
            <a:r>
              <a:rPr lang="en-US" altLang="zh-CN" sz="2400" dirty="0"/>
              <a:t> &lt;</a:t>
            </a:r>
            <a:r>
              <a:rPr lang="zh-CN" altLang="en-US" sz="2400" dirty="0"/>
              <a:t>列名</a:t>
            </a:r>
            <a:r>
              <a:rPr lang="en-US" altLang="zh-CN" sz="2400" dirty="0"/>
              <a:t>2&gt; [ASC|DESC]</a:t>
            </a:r>
            <a:r>
              <a:rPr lang="en-US" altLang="zh-CN" sz="2000" dirty="0"/>
              <a:t> </a:t>
            </a:r>
            <a:endParaRPr lang="en-US" altLang="zh-CN" sz="2000" dirty="0"/>
          </a:p>
        </p:txBody>
      </p:sp>
    </p:spTree>
  </p:cSld>
  <p:clrMapOvr>
    <a:masterClrMapping/>
  </p:clrMapOvr>
  <p:transition advClick="0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SELECT</a:t>
            </a:r>
            <a:r>
              <a:rPr lang="zh-CN" altLang="en-US" sz="3200" dirty="0"/>
              <a:t>语句的一般格式（续）</a:t>
            </a:r>
            <a:endParaRPr lang="zh-CN" altLang="en-US" sz="3200" dirty="0"/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>
          <a:xfrm>
            <a:off x="500063" y="1071563"/>
            <a:ext cx="8229600" cy="5286375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目标列表达式格式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dirty="0"/>
              <a:t>(1) *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dirty="0"/>
              <a:t>(1) [ &lt;</a:t>
            </a:r>
            <a:r>
              <a:rPr lang="zh-CN" altLang="en-US" dirty="0"/>
              <a:t>表名</a:t>
            </a:r>
            <a:r>
              <a:rPr lang="en-US" altLang="zh-CN" dirty="0"/>
              <a:t>&gt;.] *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dirty="0"/>
              <a:t>(3) COUNT  ([DISTINCT|ALL] *)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dirty="0"/>
              <a:t>(2) [&lt;</a:t>
            </a:r>
            <a:r>
              <a:rPr lang="zh-CN" altLang="en-US" dirty="0"/>
              <a:t>表名</a:t>
            </a:r>
            <a:r>
              <a:rPr lang="en-US" altLang="zh-CN" dirty="0"/>
              <a:t>&gt;.]&lt;</a:t>
            </a:r>
            <a:r>
              <a:rPr lang="zh-CN" altLang="en-US" dirty="0"/>
              <a:t>属性列名表达式</a:t>
            </a:r>
            <a:r>
              <a:rPr lang="en-US" altLang="zh-CN" dirty="0"/>
              <a:t>&gt;[</a:t>
            </a:r>
            <a:r>
              <a:rPr lang="zh-CN" altLang="en-US" dirty="0"/>
              <a:t>，</a:t>
            </a:r>
            <a:r>
              <a:rPr lang="en-US" altLang="zh-CN" dirty="0"/>
              <a:t>[&lt;</a:t>
            </a:r>
            <a:r>
              <a:rPr lang="zh-CN" altLang="en-US" dirty="0"/>
              <a:t>表名</a:t>
            </a:r>
            <a:r>
              <a:rPr lang="en-US" altLang="zh-CN" dirty="0"/>
              <a:t>&gt;.]&lt;</a:t>
            </a:r>
            <a:r>
              <a:rPr lang="zh-CN" altLang="en-US" dirty="0"/>
              <a:t>属性列名表达式</a:t>
            </a:r>
            <a:r>
              <a:rPr lang="en-US" altLang="zh-CN" dirty="0"/>
              <a:t>&gt;] …</a:t>
            </a:r>
            <a:endParaRPr lang="en-US" altLang="zh-CN" dirty="0"/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dirty="0"/>
              <a:t>   </a:t>
            </a:r>
            <a:r>
              <a:rPr lang="zh-CN" altLang="en-US" sz="2400" dirty="0"/>
              <a:t>其中</a:t>
            </a:r>
            <a:r>
              <a:rPr lang="en-US" altLang="zh-CN" sz="2400" dirty="0"/>
              <a:t>&lt;</a:t>
            </a:r>
            <a:r>
              <a:rPr lang="zh-CN" altLang="en-US" sz="2400" dirty="0"/>
              <a:t>属性列名表达式</a:t>
            </a:r>
            <a:r>
              <a:rPr lang="en-US" altLang="zh-CN" sz="2400" dirty="0"/>
              <a:t>&gt;</a:t>
            </a:r>
            <a:r>
              <a:rPr lang="zh-CN" altLang="en-US" sz="2400" dirty="0"/>
              <a:t>可以是由</a:t>
            </a:r>
            <a:r>
              <a:rPr lang="zh-CN" altLang="en-US" sz="2400" dirty="0">
                <a:solidFill>
                  <a:schemeClr val="hlink"/>
                </a:solidFill>
              </a:rPr>
              <a:t>属性列</a:t>
            </a:r>
            <a:r>
              <a:rPr lang="zh-CN" altLang="en-US" sz="2400" dirty="0"/>
              <a:t>、作用于属性列的</a:t>
            </a:r>
            <a:r>
              <a:rPr lang="zh-CN" altLang="en-US" sz="2400" dirty="0">
                <a:solidFill>
                  <a:schemeClr val="hlink"/>
                </a:solidFill>
              </a:rPr>
              <a:t>聚集函数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chemeClr val="hlink"/>
                </a:solidFill>
              </a:rPr>
              <a:t>常量</a:t>
            </a:r>
            <a:r>
              <a:rPr lang="zh-CN" altLang="en-US" sz="2400" dirty="0"/>
              <a:t>的任意算术运算（</a:t>
            </a:r>
            <a:r>
              <a:rPr lang="en-US" altLang="zh-CN" sz="2400" dirty="0"/>
              <a:t>+</a:t>
            </a:r>
            <a:r>
              <a:rPr lang="zh-CN" altLang="en-US" sz="2400" dirty="0"/>
              <a:t>，</a:t>
            </a:r>
            <a:r>
              <a:rPr lang="en-US" altLang="zh-CN" sz="2400" dirty="0"/>
              <a:t>-</a:t>
            </a:r>
            <a:r>
              <a:rPr lang="zh-CN" altLang="en-US" sz="2400" dirty="0"/>
              <a:t>，*，</a:t>
            </a:r>
            <a:r>
              <a:rPr lang="en-US" altLang="zh-CN" sz="2400" dirty="0"/>
              <a:t>/</a:t>
            </a:r>
            <a:r>
              <a:rPr lang="zh-CN" altLang="en-US" sz="2400" dirty="0"/>
              <a:t>）组成的运算公式。</a:t>
            </a:r>
            <a:endParaRPr lang="zh-CN" altLang="en-US" dirty="0"/>
          </a:p>
        </p:txBody>
      </p:sp>
    </p:spTree>
  </p:cSld>
  <p:clrMapOvr>
    <a:masterClrMapping/>
  </p:clrMapOvr>
  <p:transition advClick="0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7065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SELECT</a:t>
            </a:r>
            <a:r>
              <a:rPr lang="zh-CN" altLang="en-US" sz="3200" dirty="0"/>
              <a:t>语句的一般格式（续）</a:t>
            </a:r>
            <a:endParaRPr lang="zh-CN" altLang="en-US" sz="3200" dirty="0"/>
          </a:p>
        </p:txBody>
      </p:sp>
      <p:sp>
        <p:nvSpPr>
          <p:cNvPr id="70660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聚集函数的一般格式为：</a:t>
            </a:r>
            <a:endParaRPr lang="zh-CN" altLang="en-US" dirty="0"/>
          </a:p>
        </p:txBody>
      </p:sp>
      <p:sp>
        <p:nvSpPr>
          <p:cNvPr id="70661" name="Rectangle 4"/>
          <p:cNvSpPr/>
          <p:nvPr/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        COUNT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        SUM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        AVG            ( [DISTINCT | ALL ]  &lt;</a:t>
            </a:r>
            <a:r>
              <a:rPr lang="zh-CN" altLang="en-US" sz="2400" dirty="0">
                <a:latin typeface="Arial" panose="020B0604020202020204" pitchFamily="34" charset="0"/>
              </a:rPr>
              <a:t>列名</a:t>
            </a:r>
            <a:r>
              <a:rPr lang="en-US" altLang="zh-CN" sz="2400" dirty="0">
                <a:latin typeface="Arial" panose="020B0604020202020204" pitchFamily="34" charset="0"/>
              </a:rPr>
              <a:t>&gt; )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        MAX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        MIN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endParaRPr lang="en-US" altLang="zh-CN" sz="24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       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70662" name="AutoShape 5"/>
          <p:cNvSpPr/>
          <p:nvPr/>
        </p:nvSpPr>
        <p:spPr>
          <a:xfrm>
            <a:off x="1943100" y="2492375"/>
            <a:ext cx="1908175" cy="2209800"/>
          </a:xfrm>
          <a:prstGeom prst="bracePair">
            <a:avLst>
              <a:gd name="adj" fmla="val 8333"/>
            </a:avLst>
          </a:prstGeom>
          <a:noFill/>
          <a:ln w="63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7168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SELECT</a:t>
            </a:r>
            <a:r>
              <a:rPr lang="zh-CN" altLang="en-US" sz="3200" dirty="0"/>
              <a:t>语句的一般格式（续）</a:t>
            </a:r>
            <a:endParaRPr lang="zh-CN" altLang="en-US" sz="3200" dirty="0"/>
          </a:p>
        </p:txBody>
      </p:sp>
      <p:sp>
        <p:nvSpPr>
          <p:cNvPr id="71684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WHERE</a:t>
            </a:r>
            <a:r>
              <a:rPr lang="zh-CN" altLang="en-US" dirty="0"/>
              <a:t>子句的条件表达式有以下可选格式：</a:t>
            </a:r>
            <a:endParaRPr lang="zh-CN" altLang="en-US" dirty="0"/>
          </a:p>
        </p:txBody>
      </p:sp>
      <p:sp>
        <p:nvSpPr>
          <p:cNvPr id="860164" name="Rectangle 4"/>
          <p:cNvSpPr/>
          <p:nvPr/>
        </p:nvSpPr>
        <p:spPr>
          <a:xfrm>
            <a:off x="755650" y="2420938"/>
            <a:ext cx="7772400" cy="21605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(1)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                       </a:t>
            </a:r>
            <a:r>
              <a:rPr lang="en-US" altLang="zh-CN" sz="2000" dirty="0">
                <a:latin typeface="Arial" panose="020B0604020202020204" pitchFamily="34" charset="0"/>
              </a:rPr>
              <a:t>&lt;</a:t>
            </a:r>
            <a:r>
              <a:rPr lang="zh-CN" altLang="en-US" sz="2000" dirty="0">
                <a:latin typeface="Arial" panose="020B0604020202020204" pitchFamily="34" charset="0"/>
              </a:rPr>
              <a:t>属性列名</a:t>
            </a:r>
            <a:r>
              <a:rPr lang="en-US" altLang="zh-CN" sz="2000" dirty="0">
                <a:latin typeface="Arial" panose="020B0604020202020204" pitchFamily="34" charset="0"/>
              </a:rPr>
              <a:t>&gt;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&lt;</a:t>
            </a:r>
            <a:r>
              <a:rPr lang="zh-CN" altLang="en-US" sz="2000" dirty="0">
                <a:latin typeface="Arial" panose="020B0604020202020204" pitchFamily="34" charset="0"/>
              </a:rPr>
              <a:t>属性列名</a:t>
            </a:r>
            <a:r>
              <a:rPr lang="en-US" altLang="zh-CN" sz="2000" dirty="0">
                <a:latin typeface="Arial" panose="020B0604020202020204" pitchFamily="34" charset="0"/>
              </a:rPr>
              <a:t>&gt; θ      &lt;</a:t>
            </a:r>
            <a:r>
              <a:rPr lang="zh-CN" altLang="en-US" sz="2000" dirty="0">
                <a:latin typeface="Arial" panose="020B0604020202020204" pitchFamily="34" charset="0"/>
              </a:rPr>
              <a:t>常量</a:t>
            </a:r>
            <a:r>
              <a:rPr lang="en-US" altLang="zh-CN" sz="2000" dirty="0">
                <a:latin typeface="Arial" panose="020B0604020202020204" pitchFamily="34" charset="0"/>
              </a:rPr>
              <a:t>&gt;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742950" lvl="1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			         [ANY|ALL] (SELECT</a:t>
            </a:r>
            <a:r>
              <a:rPr lang="zh-CN" altLang="en-US" sz="2000" dirty="0">
                <a:latin typeface="Arial" panose="020B0604020202020204" pitchFamily="34" charset="0"/>
              </a:rPr>
              <a:t>语句</a:t>
            </a:r>
            <a:r>
              <a:rPr lang="en-US" altLang="zh-CN" sz="2000" dirty="0">
                <a:latin typeface="Arial" panose="020B0604020202020204" pitchFamily="34" charset="0"/>
              </a:rPr>
              <a:t>)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860165" name="AutoShape 5"/>
          <p:cNvSpPr/>
          <p:nvPr/>
        </p:nvSpPr>
        <p:spPr>
          <a:xfrm>
            <a:off x="2987675" y="2924175"/>
            <a:ext cx="3529013" cy="1219200"/>
          </a:xfrm>
          <a:prstGeom prst="bracePair">
            <a:avLst>
              <a:gd name="adj" fmla="val 8333"/>
            </a:avLst>
          </a:prstGeom>
          <a:noFill/>
          <a:ln w="63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860166" name="Rectangle 6"/>
          <p:cNvSpPr/>
          <p:nvPr/>
        </p:nvSpPr>
        <p:spPr>
          <a:xfrm>
            <a:off x="633413" y="4365625"/>
            <a:ext cx="8763000" cy="2311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 (2)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800" dirty="0">
                <a:latin typeface="Arial" panose="020B0604020202020204" pitchFamily="34" charset="0"/>
              </a:rPr>
              <a:t>				        </a:t>
            </a:r>
            <a:r>
              <a:rPr lang="en-US" altLang="zh-CN" sz="2000" dirty="0">
                <a:latin typeface="Arial" panose="020B0604020202020204" pitchFamily="34" charset="0"/>
              </a:rPr>
              <a:t>&lt;</a:t>
            </a:r>
            <a:r>
              <a:rPr lang="zh-CN" altLang="en-US" sz="2000" dirty="0">
                <a:latin typeface="Arial" panose="020B0604020202020204" pitchFamily="34" charset="0"/>
              </a:rPr>
              <a:t>属性列名</a:t>
            </a:r>
            <a:r>
              <a:rPr lang="en-US" altLang="zh-CN" sz="2000" dirty="0">
                <a:latin typeface="Arial" panose="020B0604020202020204" pitchFamily="34" charset="0"/>
              </a:rPr>
              <a:t>&gt;                   &lt;</a:t>
            </a:r>
            <a:r>
              <a:rPr lang="zh-CN" altLang="en-US" sz="2000" dirty="0">
                <a:latin typeface="Arial" panose="020B0604020202020204" pitchFamily="34" charset="0"/>
              </a:rPr>
              <a:t>属性列名</a:t>
            </a:r>
            <a:r>
              <a:rPr lang="en-US" altLang="zh-CN" sz="2000" dirty="0">
                <a:latin typeface="Arial" panose="020B0604020202020204" pitchFamily="34" charset="0"/>
              </a:rPr>
              <a:t>&gt;</a:t>
            </a:r>
            <a:r>
              <a:rPr lang="en-US" altLang="zh-CN" sz="2400" dirty="0">
                <a:latin typeface="Arial" panose="020B0604020202020204" pitchFamily="34" charset="0"/>
              </a:rPr>
              <a:t> 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&lt;</a:t>
            </a:r>
            <a:r>
              <a:rPr lang="zh-CN" altLang="en-US" sz="2000" dirty="0">
                <a:latin typeface="Arial" panose="020B0604020202020204" pitchFamily="34" charset="0"/>
              </a:rPr>
              <a:t>属性列名</a:t>
            </a:r>
            <a:r>
              <a:rPr lang="en-US" altLang="zh-CN" sz="2000" dirty="0">
                <a:latin typeface="Arial" panose="020B0604020202020204" pitchFamily="34" charset="0"/>
              </a:rPr>
              <a:t>&gt; </a:t>
            </a:r>
            <a:r>
              <a:rPr lang="en-US" altLang="zh-CN" dirty="0">
                <a:latin typeface="Arial" panose="020B0604020202020204" pitchFamily="34" charset="0"/>
              </a:rPr>
              <a:t>[NOT] BETWEEN</a:t>
            </a:r>
            <a:r>
              <a:rPr lang="en-US" altLang="zh-CN" sz="24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latin typeface="Arial" panose="020B0604020202020204" pitchFamily="34" charset="0"/>
              </a:rPr>
              <a:t>&lt;</a:t>
            </a:r>
            <a:r>
              <a:rPr lang="zh-CN" altLang="en-US" sz="2000" dirty="0">
                <a:latin typeface="Arial" panose="020B0604020202020204" pitchFamily="34" charset="0"/>
              </a:rPr>
              <a:t>常量</a:t>
            </a:r>
            <a:r>
              <a:rPr lang="en-US" altLang="zh-CN" sz="2000" dirty="0">
                <a:latin typeface="Arial" panose="020B0604020202020204" pitchFamily="34" charset="0"/>
              </a:rPr>
              <a:t>&gt;                AND</a:t>
            </a:r>
            <a:r>
              <a:rPr lang="en-US" altLang="zh-CN" sz="2400" dirty="0">
                <a:latin typeface="Arial" panose="020B0604020202020204" pitchFamily="34" charset="0"/>
              </a:rPr>
              <a:t>   </a:t>
            </a:r>
            <a:r>
              <a:rPr lang="en-US" altLang="zh-CN" sz="2000" dirty="0">
                <a:latin typeface="Arial" panose="020B0604020202020204" pitchFamily="34" charset="0"/>
              </a:rPr>
              <a:t>&lt;</a:t>
            </a:r>
            <a:r>
              <a:rPr lang="zh-CN" altLang="en-US" sz="2000" dirty="0">
                <a:latin typeface="Arial" panose="020B0604020202020204" pitchFamily="34" charset="0"/>
              </a:rPr>
              <a:t>常量</a:t>
            </a:r>
            <a:r>
              <a:rPr lang="en-US" altLang="zh-CN" sz="2000" dirty="0">
                <a:latin typeface="Arial" panose="020B0604020202020204" pitchFamily="34" charset="0"/>
              </a:rPr>
              <a:t>&gt;     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000" dirty="0">
                <a:latin typeface="Arial" panose="020B0604020202020204" pitchFamily="34" charset="0"/>
              </a:rPr>
              <a:t>                            	            (SELECT</a:t>
            </a:r>
            <a:r>
              <a:rPr lang="zh-CN" altLang="en-US" sz="2000" dirty="0">
                <a:latin typeface="Arial" panose="020B0604020202020204" pitchFamily="34" charset="0"/>
              </a:rPr>
              <a:t>语句</a:t>
            </a:r>
            <a:r>
              <a:rPr lang="en-US" altLang="zh-CN" sz="2000" dirty="0">
                <a:latin typeface="Arial" panose="020B0604020202020204" pitchFamily="34" charset="0"/>
              </a:rPr>
              <a:t>)             (SELECT</a:t>
            </a:r>
            <a:r>
              <a:rPr lang="zh-CN" altLang="en-US" sz="2000" dirty="0">
                <a:latin typeface="Arial" panose="020B0604020202020204" pitchFamily="34" charset="0"/>
              </a:rPr>
              <a:t>语句</a:t>
            </a:r>
            <a:r>
              <a:rPr lang="en-US" altLang="zh-CN" sz="2000" dirty="0">
                <a:latin typeface="Arial" panose="020B0604020202020204" pitchFamily="34" charset="0"/>
              </a:rPr>
              <a:t>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  <p:sp>
        <p:nvSpPr>
          <p:cNvPr id="860167" name="AutoShape 7"/>
          <p:cNvSpPr/>
          <p:nvPr/>
        </p:nvSpPr>
        <p:spPr>
          <a:xfrm>
            <a:off x="4035425" y="4940300"/>
            <a:ext cx="2120900" cy="1368425"/>
          </a:xfrm>
          <a:prstGeom prst="bracePair">
            <a:avLst>
              <a:gd name="adj" fmla="val 8333"/>
            </a:avLst>
          </a:prstGeom>
          <a:noFill/>
          <a:ln w="63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860168" name="AutoShape 8"/>
          <p:cNvSpPr/>
          <p:nvPr/>
        </p:nvSpPr>
        <p:spPr>
          <a:xfrm>
            <a:off x="6732588" y="4870450"/>
            <a:ext cx="2016125" cy="1511300"/>
          </a:xfrm>
          <a:prstGeom prst="bracePair">
            <a:avLst>
              <a:gd name="adj" fmla="val 8333"/>
            </a:avLst>
          </a:prstGeom>
          <a:noFill/>
          <a:ln w="63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64" grpId="0"/>
      <p:bldP spid="860165" grpId="0" animBg="1"/>
      <p:bldP spid="860166" grpId="0"/>
      <p:bldP spid="860167" grpId="0" animBg="1"/>
      <p:bldP spid="86016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r>
              <a:rPr lang="en-US" altLang="zh-CN" sz="1200" dirty="0"/>
              <a:t>An Introduction to Database System</a:t>
            </a:r>
            <a:endParaRPr lang="en-US" altLang="zh-CN" sz="1200" dirty="0"/>
          </a:p>
        </p:txBody>
      </p:sp>
      <p:sp>
        <p:nvSpPr>
          <p:cNvPr id="7270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SELECT</a:t>
            </a:r>
            <a:r>
              <a:rPr lang="zh-CN" altLang="en-US" sz="3200" dirty="0"/>
              <a:t>语句的一般格式（续）</a:t>
            </a:r>
            <a:endParaRPr lang="zh-CN" altLang="en-US" sz="3200" dirty="0"/>
          </a:p>
        </p:txBody>
      </p:sp>
      <p:sp>
        <p:nvSpPr>
          <p:cNvPr id="72708" name="Rectangle 4"/>
          <p:cNvSpPr/>
          <p:nvPr/>
        </p:nvSpPr>
        <p:spPr>
          <a:xfrm>
            <a:off x="539750" y="1630363"/>
            <a:ext cx="7772400" cy="18716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</a:rPr>
              <a:t>（</a:t>
            </a:r>
            <a:r>
              <a:rPr lang="en-US" altLang="zh-CN" sz="2400" dirty="0">
                <a:latin typeface="Arial" panose="020B0604020202020204" pitchFamily="34" charset="0"/>
              </a:rPr>
              <a:t>3</a:t>
            </a:r>
            <a:r>
              <a:rPr lang="zh-CN" altLang="en-US" sz="2400" dirty="0">
                <a:latin typeface="Arial" panose="020B0604020202020204" pitchFamily="34" charset="0"/>
              </a:rPr>
              <a:t>）                         </a:t>
            </a:r>
            <a:r>
              <a:rPr lang="en-US" altLang="zh-CN" sz="2000" dirty="0">
                <a:latin typeface="Arial" panose="020B0604020202020204" pitchFamily="34" charset="0"/>
              </a:rPr>
              <a:t>(&lt;</a:t>
            </a:r>
            <a:r>
              <a:rPr lang="zh-CN" altLang="en-US" sz="2000" dirty="0">
                <a:latin typeface="Arial" panose="020B0604020202020204" pitchFamily="34" charset="0"/>
              </a:rPr>
              <a:t>值</a:t>
            </a:r>
            <a:r>
              <a:rPr lang="en-US" altLang="zh-CN" sz="2000" dirty="0">
                <a:latin typeface="Arial" panose="020B0604020202020204" pitchFamily="34" charset="0"/>
              </a:rPr>
              <a:t>1&gt;[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&lt;</a:t>
            </a:r>
            <a:r>
              <a:rPr lang="zh-CN" altLang="en-US" sz="2000" dirty="0">
                <a:latin typeface="Arial" panose="020B0604020202020204" pitchFamily="34" charset="0"/>
              </a:rPr>
              <a:t>值</a:t>
            </a:r>
            <a:r>
              <a:rPr lang="en-US" altLang="zh-CN" sz="2000" dirty="0">
                <a:latin typeface="Arial" panose="020B0604020202020204" pitchFamily="34" charset="0"/>
              </a:rPr>
              <a:t>2&gt; ] …)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</a:rPr>
              <a:t>&lt;</a:t>
            </a:r>
            <a:r>
              <a:rPr lang="zh-CN" altLang="en-US" sz="2000" dirty="0">
                <a:latin typeface="Arial" panose="020B0604020202020204" pitchFamily="34" charset="0"/>
              </a:rPr>
              <a:t>属性列名</a:t>
            </a:r>
            <a:r>
              <a:rPr lang="en-US" altLang="zh-CN" sz="2000" dirty="0">
                <a:latin typeface="Arial" panose="020B0604020202020204" pitchFamily="34" charset="0"/>
              </a:rPr>
              <a:t>&gt; [NOT] IN</a:t>
            </a:r>
            <a:r>
              <a:rPr lang="en-US" altLang="zh-CN" sz="2400" dirty="0">
                <a:latin typeface="Arial" panose="020B0604020202020204" pitchFamily="34" charset="0"/>
              </a:rPr>
              <a:t>                    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</a:rPr>
              <a:t>                                   (SELECT</a:t>
            </a:r>
            <a:r>
              <a:rPr lang="zh-CN" altLang="en-US" sz="2400" dirty="0">
                <a:latin typeface="Arial" panose="020B0604020202020204" pitchFamily="34" charset="0"/>
              </a:rPr>
              <a:t>语句</a:t>
            </a:r>
            <a:r>
              <a:rPr lang="en-US" altLang="zh-CN" sz="2400" dirty="0">
                <a:latin typeface="Arial" panose="020B0604020202020204" pitchFamily="34" charset="0"/>
              </a:rPr>
              <a:t>)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72709" name="AutoShape 5"/>
          <p:cNvSpPr/>
          <p:nvPr/>
        </p:nvSpPr>
        <p:spPr>
          <a:xfrm>
            <a:off x="3203575" y="1628775"/>
            <a:ext cx="3024188" cy="1439863"/>
          </a:xfrm>
          <a:prstGeom prst="bracePair">
            <a:avLst>
              <a:gd name="adj" fmla="val 8333"/>
            </a:avLst>
          </a:prstGeom>
          <a:noFill/>
          <a:ln w="63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862214" name="Rectangle 6"/>
          <p:cNvSpPr/>
          <p:nvPr/>
        </p:nvSpPr>
        <p:spPr>
          <a:xfrm>
            <a:off x="755650" y="3213100"/>
            <a:ext cx="6203950" cy="4572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Verdana" panose="020B0604030504040204" pitchFamily="34" charset="0"/>
              </a:rPr>
              <a:t>(4)   &lt;</a:t>
            </a:r>
            <a:r>
              <a:rPr lang="zh-CN" altLang="en-US" sz="2400" dirty="0">
                <a:latin typeface="Verdana" panose="020B0604030504040204" pitchFamily="34" charset="0"/>
              </a:rPr>
              <a:t>属性列名</a:t>
            </a:r>
            <a:r>
              <a:rPr lang="en-US" altLang="zh-CN" sz="2400" dirty="0">
                <a:latin typeface="Verdana" panose="020B0604030504040204" pitchFamily="34" charset="0"/>
              </a:rPr>
              <a:t>&gt; [NOT] LIKE &lt;</a:t>
            </a:r>
            <a:r>
              <a:rPr lang="zh-CN" altLang="en-US" sz="2400" dirty="0">
                <a:latin typeface="Verdana" panose="020B0604030504040204" pitchFamily="34" charset="0"/>
              </a:rPr>
              <a:t>匹配串</a:t>
            </a:r>
            <a:r>
              <a:rPr lang="en-US" altLang="zh-CN" sz="2400" dirty="0">
                <a:latin typeface="Verdana" panose="020B0604030504040204" pitchFamily="34" charset="0"/>
              </a:rPr>
              <a:t>&gt;</a:t>
            </a:r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862215" name="Rectangle 7"/>
          <p:cNvSpPr/>
          <p:nvPr/>
        </p:nvSpPr>
        <p:spPr>
          <a:xfrm>
            <a:off x="755650" y="3860800"/>
            <a:ext cx="4397375" cy="420688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Verdana" panose="020B0604030504040204" pitchFamily="34" charset="0"/>
              </a:rPr>
              <a:t>(5)  &lt;</a:t>
            </a:r>
            <a:r>
              <a:rPr lang="zh-CN" altLang="en-US" sz="2400" dirty="0">
                <a:latin typeface="Verdana" panose="020B0604030504040204" pitchFamily="34" charset="0"/>
              </a:rPr>
              <a:t>属性列名</a:t>
            </a:r>
            <a:r>
              <a:rPr lang="en-US" altLang="zh-CN" sz="2400" dirty="0">
                <a:latin typeface="Verdana" panose="020B0604030504040204" pitchFamily="34" charset="0"/>
              </a:rPr>
              <a:t>&gt; IS [NOT] NULL</a:t>
            </a:r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862216" name="Rectangle 8"/>
          <p:cNvSpPr/>
          <p:nvPr/>
        </p:nvSpPr>
        <p:spPr>
          <a:xfrm>
            <a:off x="755650" y="4437063"/>
            <a:ext cx="4637088" cy="457200"/>
          </a:xfrm>
          <a:prstGeom prst="rect">
            <a:avLst/>
          </a:prstGeom>
          <a:noFill/>
          <a:ln w="25400">
            <a:noFill/>
          </a:ln>
        </p:spPr>
        <p:txBody>
          <a:bodyPr wrap="none">
            <a:spAutoFit/>
          </a:bodyPr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dirty="0">
                <a:latin typeface="Verdana" panose="020B0604030504040204" pitchFamily="34" charset="0"/>
              </a:rPr>
              <a:t>(6)  [NOT] EXISTS (SELECT</a:t>
            </a:r>
            <a:r>
              <a:rPr lang="zh-CN" altLang="en-US" sz="2400" dirty="0">
                <a:latin typeface="Verdana" panose="020B0604030504040204" pitchFamily="34" charset="0"/>
              </a:rPr>
              <a:t>语句</a:t>
            </a:r>
            <a:r>
              <a:rPr lang="en-US" altLang="zh-CN" sz="2400" dirty="0">
                <a:latin typeface="Verdana" panose="020B0604030504040204" pitchFamily="34" charset="0"/>
              </a:rPr>
              <a:t>)</a:t>
            </a:r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862217" name="AutoShape 9"/>
          <p:cNvSpPr/>
          <p:nvPr/>
        </p:nvSpPr>
        <p:spPr>
          <a:xfrm>
            <a:off x="2482850" y="5327650"/>
            <a:ext cx="936625" cy="909638"/>
          </a:xfrm>
          <a:prstGeom prst="bracePair">
            <a:avLst>
              <a:gd name="adj" fmla="val 8333"/>
            </a:avLst>
          </a:prstGeom>
          <a:noFill/>
          <a:ln w="63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862218" name="AutoShape 10"/>
          <p:cNvSpPr/>
          <p:nvPr/>
        </p:nvSpPr>
        <p:spPr>
          <a:xfrm>
            <a:off x="5292725" y="5327650"/>
            <a:ext cx="935038" cy="909638"/>
          </a:xfrm>
          <a:prstGeom prst="bracePair">
            <a:avLst>
              <a:gd name="adj" fmla="val 8333"/>
            </a:avLst>
          </a:prstGeom>
          <a:noFill/>
          <a:ln w="63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862219" name="AutoShape 11"/>
          <p:cNvSpPr/>
          <p:nvPr/>
        </p:nvSpPr>
        <p:spPr>
          <a:xfrm>
            <a:off x="5146675" y="5229225"/>
            <a:ext cx="2881313" cy="1223963"/>
          </a:xfrm>
          <a:prstGeom prst="bracketPair">
            <a:avLst>
              <a:gd name="adj" fmla="val 16667"/>
            </a:avLst>
          </a:prstGeom>
          <a:noFill/>
          <a:ln w="635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Verdana" panose="020B0604030504040204" pitchFamily="34" charset="0"/>
            </a:endParaRPr>
          </a:p>
        </p:txBody>
      </p:sp>
      <p:sp>
        <p:nvSpPr>
          <p:cNvPr id="862220" name="Rectangle 12"/>
          <p:cNvSpPr/>
          <p:nvPr/>
        </p:nvSpPr>
        <p:spPr>
          <a:xfrm>
            <a:off x="754063" y="4937125"/>
            <a:ext cx="7921625" cy="1371600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p>
            <a:pPr marL="342900" indent="-342900"/>
            <a:r>
              <a:rPr lang="en-US" altLang="zh-CN" sz="2400" dirty="0">
                <a:latin typeface="Verdana" panose="020B0604030504040204" pitchFamily="34" charset="0"/>
              </a:rPr>
              <a:t>(7)</a:t>
            </a:r>
            <a:r>
              <a:rPr lang="en-US" altLang="zh-CN" sz="2000" dirty="0">
                <a:latin typeface="Verdana" panose="020B0604030504040204" pitchFamily="34" charset="0"/>
              </a:rPr>
              <a:t>  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pPr marL="342900" indent="-342900"/>
            <a:r>
              <a:rPr lang="en-US" altLang="zh-CN" sz="2000" dirty="0">
                <a:latin typeface="Verdana" panose="020B0604030504040204" pitchFamily="34" charset="0"/>
              </a:rPr>
              <a:t>                             AND                                    AND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pPr marL="342900" indent="-342900"/>
            <a:r>
              <a:rPr lang="en-US" altLang="zh-CN" sz="2000" dirty="0">
                <a:latin typeface="Verdana" panose="020B0604030504040204" pitchFamily="34" charset="0"/>
              </a:rPr>
              <a:t>&lt;</a:t>
            </a:r>
            <a:r>
              <a:rPr lang="zh-CN" altLang="en-US" sz="2000" dirty="0">
                <a:latin typeface="Verdana" panose="020B0604030504040204" pitchFamily="34" charset="0"/>
              </a:rPr>
              <a:t>条件表达式</a:t>
            </a:r>
            <a:r>
              <a:rPr lang="en-US" altLang="zh-CN" sz="2000" dirty="0">
                <a:latin typeface="Verdana" panose="020B0604030504040204" pitchFamily="34" charset="0"/>
              </a:rPr>
              <a:t>&gt;                 &lt;</a:t>
            </a:r>
            <a:r>
              <a:rPr lang="zh-CN" altLang="en-US" sz="2000" dirty="0">
                <a:latin typeface="Verdana" panose="020B0604030504040204" pitchFamily="34" charset="0"/>
              </a:rPr>
              <a:t>条件表达式</a:t>
            </a:r>
            <a:r>
              <a:rPr lang="en-US" altLang="zh-CN" sz="2000" dirty="0">
                <a:latin typeface="Verdana" panose="020B0604030504040204" pitchFamily="34" charset="0"/>
              </a:rPr>
              <a:t>&gt;                     &lt;</a:t>
            </a:r>
            <a:r>
              <a:rPr lang="zh-CN" altLang="en-US" sz="2000" dirty="0">
                <a:latin typeface="Verdana" panose="020B0604030504040204" pitchFamily="34" charset="0"/>
              </a:rPr>
              <a:t>条件表达式</a:t>
            </a:r>
            <a:r>
              <a:rPr lang="en-US" altLang="zh-CN" sz="2000" dirty="0">
                <a:latin typeface="Verdana" panose="020B0604030504040204" pitchFamily="34" charset="0"/>
              </a:rPr>
              <a:t>&gt;    … </a:t>
            </a:r>
            <a:endParaRPr lang="en-US" altLang="zh-CN" sz="2000" dirty="0">
              <a:latin typeface="Verdana" panose="020B0604030504040204" pitchFamily="34" charset="0"/>
            </a:endParaRPr>
          </a:p>
          <a:p>
            <a:pPr marL="342900" indent="-342900"/>
            <a:r>
              <a:rPr lang="en-US" altLang="zh-CN" sz="2000" dirty="0">
                <a:latin typeface="Verdana" panose="020B0604030504040204" pitchFamily="34" charset="0"/>
              </a:rPr>
              <a:t>                              OR                                       OR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2214" grpId="0"/>
      <p:bldP spid="862215" grpId="0"/>
      <p:bldP spid="862216" grpId="0"/>
      <p:bldP spid="862217" grpId="0" animBg="1"/>
      <p:bldP spid="862218" grpId="0" animBg="1"/>
      <p:bldP spid="862219" grpId="0" animBg="1"/>
      <p:bldP spid="862220" grpId="0"/>
    </p:bld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15359</Words>
  <Application>WPS 演示</Application>
  <PresentationFormat/>
  <Paragraphs>932</Paragraphs>
  <Slides>68</Slides>
  <Notes>46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68</vt:i4>
      </vt:variant>
    </vt:vector>
  </HeadingPairs>
  <TitlesOfParts>
    <vt:vector size="81" baseType="lpstr">
      <vt:lpstr>Arial</vt:lpstr>
      <vt:lpstr>宋体</vt:lpstr>
      <vt:lpstr>Wingdings</vt:lpstr>
      <vt:lpstr>Verdana</vt:lpstr>
      <vt:lpstr>Calibri</vt:lpstr>
      <vt:lpstr>Symbol</vt:lpstr>
      <vt:lpstr>Times New Roman</vt:lpstr>
      <vt:lpstr>楷体_GB2312</vt:lpstr>
      <vt:lpstr>新宋体</vt:lpstr>
      <vt:lpstr>微软雅黑</vt:lpstr>
      <vt:lpstr>Arial Unicode MS</vt:lpstr>
      <vt:lpstr>楷体_GB2312</vt:lpstr>
      <vt:lpstr>Profile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补充知识</dc:title>
  <dc:creator>微软用户</dc:creator>
  <cp:lastModifiedBy>shr</cp:lastModifiedBy>
  <cp:revision>226</cp:revision>
  <dcterms:created xsi:type="dcterms:W3CDTF">2014-03-04T01:24:19Z</dcterms:created>
  <dcterms:modified xsi:type="dcterms:W3CDTF">2026-04-26T14:07:19Z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64FE409523DC4F548CB45E9FF760C76E_12</vt:lpwstr>
  </property>
</Properties>
</file>