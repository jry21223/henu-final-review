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01" r:id="rId3"/>
    <p:sldId id="440" r:id="rId5"/>
    <p:sldId id="441" r:id="rId6"/>
    <p:sldId id="442" r:id="rId7"/>
    <p:sldId id="444" r:id="rId8"/>
    <p:sldId id="447" r:id="rId9"/>
    <p:sldId id="449" r:id="rId10"/>
    <p:sldId id="451" r:id="rId11"/>
    <p:sldId id="453" r:id="rId12"/>
    <p:sldId id="454" r:id="rId13"/>
    <p:sldId id="455" r:id="rId14"/>
    <p:sldId id="456" r:id="rId15"/>
    <p:sldId id="457" r:id="rId16"/>
    <p:sldId id="458" r:id="rId17"/>
    <p:sldId id="460" r:id="rId18"/>
    <p:sldId id="463" r:id="rId19"/>
    <p:sldId id="464" r:id="rId20"/>
    <p:sldId id="465" r:id="rId21"/>
    <p:sldId id="466" r:id="rId22"/>
    <p:sldId id="467" r:id="rId23"/>
    <p:sldId id="469" r:id="rId24"/>
    <p:sldId id="471" r:id="rId25"/>
    <p:sldId id="472" r:id="rId26"/>
    <p:sldId id="516" r:id="rId27"/>
    <p:sldId id="523" r:id="rId28"/>
    <p:sldId id="522" r:id="rId29"/>
    <p:sldId id="473" r:id="rId30"/>
    <p:sldId id="474" r:id="rId31"/>
    <p:sldId id="475" r:id="rId32"/>
    <p:sldId id="477" r:id="rId33"/>
    <p:sldId id="524" r:id="rId34"/>
    <p:sldId id="525" r:id="rId35"/>
    <p:sldId id="527" r:id="rId36"/>
    <p:sldId id="528" r:id="rId37"/>
    <p:sldId id="529" r:id="rId38"/>
    <p:sldId id="530" r:id="rId39"/>
    <p:sldId id="531" r:id="rId40"/>
    <p:sldId id="532" r:id="rId41"/>
    <p:sldId id="533" r:id="rId42"/>
    <p:sldId id="526" r:id="rId43"/>
    <p:sldId id="521" r:id="rId44"/>
    <p:sldId id="478" r:id="rId45"/>
    <p:sldId id="479" r:id="rId46"/>
    <p:sldId id="480" r:id="rId47"/>
    <p:sldId id="482" r:id="rId48"/>
    <p:sldId id="484" r:id="rId49"/>
    <p:sldId id="490" r:id="rId50"/>
    <p:sldId id="491" r:id="rId51"/>
    <p:sldId id="492" r:id="rId52"/>
    <p:sldId id="498" r:id="rId53"/>
    <p:sldId id="499" r:id="rId54"/>
    <p:sldId id="500" r:id="rId55"/>
    <p:sldId id="503" r:id="rId56"/>
    <p:sldId id="504" r:id="rId57"/>
    <p:sldId id="505" r:id="rId58"/>
    <p:sldId id="506" r:id="rId59"/>
    <p:sldId id="507" r:id="rId60"/>
    <p:sldId id="508" r:id="rId61"/>
    <p:sldId id="509" r:id="rId62"/>
    <p:sldId id="510" r:id="rId63"/>
    <p:sldId id="511" r:id="rId64"/>
    <p:sldId id="512" r:id="rId65"/>
    <p:sldId id="519" r:id="rId66"/>
    <p:sldId id="513" r:id="rId67"/>
    <p:sldId id="517" r:id="rId68"/>
    <p:sldId id="518" r:id="rId69"/>
    <p:sldId id="520" r:id="rId70"/>
    <p:sldId id="534" r:id="rId71"/>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73"/>
    <p:restoredTop sz="94660"/>
  </p:normalViewPr>
  <p:slideViewPr>
    <p:cSldViewPr showGuides="1">
      <p:cViewPr varScale="1">
        <p:scale>
          <a:sx n="84" d="100"/>
          <a:sy n="84" d="100"/>
        </p:scale>
        <p:origin x="-1572"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60326F6-FDEA-4E7B-BECF-99B694461115}" type="datetimeFigureOut">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buNone/>
            </a:pPr>
            <a:fld id="{9A0DB2DC-4C9A-4742-B13C-FB6460FD3503}" type="slidenum">
              <a:rPr lang="zh-CN" altLang="en-US" sz="1200" strike="noStrike" noProof="1" dirty="0">
                <a:latin typeface="Verdana" panose="020B060403050404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6146" name="Rectangle 2"/>
          <p:cNvSpPr>
            <a:spLocks noTextEdit="1"/>
          </p:cNvSpPr>
          <p:nvPr>
            <p:ph type="sldImg"/>
          </p:nvPr>
        </p:nvSpPr>
        <p:spPr>
          <a:ln>
            <a:solidFill>
              <a:srgbClr val="000000"/>
            </a:solidFill>
            <a:miter/>
          </a:ln>
        </p:spPr>
      </p:sp>
      <p:sp>
        <p:nvSpPr>
          <p:cNvPr id="614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8194" name="Rectangle 2"/>
          <p:cNvSpPr>
            <a:spLocks noGrp="1" noRot="1" noChangeAspect="1" noTextEdit="1"/>
          </p:cNvSpPr>
          <p:nvPr>
            <p:ph type="sldImg"/>
          </p:nvPr>
        </p:nvSpPr>
        <p:spPr>
          <a:ln>
            <a:solidFill>
              <a:srgbClr val="000000"/>
            </a:solidFill>
            <a:miter/>
          </a:ln>
        </p:spPr>
      </p:sp>
      <p:sp>
        <p:nvSpPr>
          <p:cNvPr id="819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0242" name="Rectangle 2"/>
          <p:cNvSpPr>
            <a:spLocks noGrp="1" noRot="1" noChangeAspect="1" noTextEdit="1"/>
          </p:cNvSpPr>
          <p:nvPr>
            <p:ph type="sldImg"/>
          </p:nvPr>
        </p:nvSpPr>
        <p:spPr>
          <a:ln>
            <a:solidFill>
              <a:srgbClr val="000000"/>
            </a:solidFill>
            <a:miter/>
          </a:ln>
        </p:spPr>
      </p:sp>
      <p:sp>
        <p:nvSpPr>
          <p:cNvPr id="1024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2290" name="Rectangle 2"/>
          <p:cNvSpPr>
            <a:spLocks noGrp="1" noRot="1" noChangeAspect="1" noTextEdit="1"/>
          </p:cNvSpPr>
          <p:nvPr>
            <p:ph type="sldImg"/>
          </p:nvPr>
        </p:nvSpPr>
        <p:spPr>
          <a:ln>
            <a:solidFill>
              <a:srgbClr val="000000"/>
            </a:solidFill>
            <a:miter/>
          </a:ln>
        </p:spPr>
      </p:sp>
      <p:sp>
        <p:nvSpPr>
          <p:cNvPr id="1229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4338" name="Rectangle 2"/>
          <p:cNvSpPr>
            <a:spLocks noGrp="1" noRot="1" noChangeAspect="1" noTextEdit="1"/>
          </p:cNvSpPr>
          <p:nvPr>
            <p:ph type="sldImg"/>
          </p:nvPr>
        </p:nvSpPr>
        <p:spPr>
          <a:ln>
            <a:solidFill>
              <a:srgbClr val="000000"/>
            </a:solidFill>
            <a:miter/>
          </a:ln>
        </p:spPr>
      </p:sp>
      <p:sp>
        <p:nvSpPr>
          <p:cNvPr id="1433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6386" name="Rectangle 2"/>
          <p:cNvSpPr>
            <a:spLocks noGrp="1" noRot="1" noChangeAspect="1" noTextEdit="1"/>
          </p:cNvSpPr>
          <p:nvPr>
            <p:ph type="sldImg"/>
          </p:nvPr>
        </p:nvSpPr>
        <p:spPr>
          <a:ln>
            <a:solidFill>
              <a:srgbClr val="000000"/>
            </a:solidFill>
            <a:miter/>
          </a:ln>
        </p:spPr>
      </p:sp>
      <p:sp>
        <p:nvSpPr>
          <p:cNvPr id="1638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8434" name="Rectangle 2"/>
          <p:cNvSpPr>
            <a:spLocks noGrp="1" noRot="1" noChangeAspect="1" noTextEdit="1"/>
          </p:cNvSpPr>
          <p:nvPr>
            <p:ph type="sldImg"/>
          </p:nvPr>
        </p:nvSpPr>
        <p:spPr>
          <a:ln>
            <a:solidFill>
              <a:srgbClr val="000000"/>
            </a:solidFill>
            <a:miter/>
          </a:ln>
        </p:spPr>
      </p:sp>
      <p:sp>
        <p:nvSpPr>
          <p:cNvPr id="1843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20482" name="Rectangle 2"/>
          <p:cNvSpPr>
            <a:spLocks noGrp="1" noRot="1" noChangeAspect="1" noTextEdit="1"/>
          </p:cNvSpPr>
          <p:nvPr>
            <p:ph type="sldImg"/>
          </p:nvPr>
        </p:nvSpPr>
        <p:spPr>
          <a:ln>
            <a:solidFill>
              <a:srgbClr val="000000"/>
            </a:solidFill>
            <a:miter/>
          </a:ln>
        </p:spPr>
      </p:sp>
      <p:sp>
        <p:nvSpPr>
          <p:cNvPr id="2048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22530" name="Rectangle 2"/>
          <p:cNvSpPr>
            <a:spLocks noGrp="1" noRot="1" noChangeAspect="1" noTextEdit="1"/>
          </p:cNvSpPr>
          <p:nvPr>
            <p:ph type="sldImg"/>
          </p:nvPr>
        </p:nvSpPr>
        <p:spPr>
          <a:ln>
            <a:solidFill>
              <a:srgbClr val="000000"/>
            </a:solidFill>
            <a:miter/>
          </a:ln>
        </p:spPr>
      </p:sp>
      <p:sp>
        <p:nvSpPr>
          <p:cNvPr id="2253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24578" name="Rectangle 2"/>
          <p:cNvSpPr>
            <a:spLocks noGrp="1" noRot="1" noChangeAspect="1" noTextEdit="1"/>
          </p:cNvSpPr>
          <p:nvPr>
            <p:ph type="sldImg"/>
          </p:nvPr>
        </p:nvSpPr>
        <p:spPr>
          <a:ln>
            <a:solidFill>
              <a:srgbClr val="000000"/>
            </a:solidFill>
            <a:miter/>
          </a:ln>
        </p:spPr>
      </p:sp>
      <p:sp>
        <p:nvSpPr>
          <p:cNvPr id="2457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26626" name="Rectangle 2"/>
          <p:cNvSpPr>
            <a:spLocks noGrp="1" noRot="1" noChangeAspect="1" noTextEdit="1"/>
          </p:cNvSpPr>
          <p:nvPr>
            <p:ph type="sldImg"/>
          </p:nvPr>
        </p:nvSpPr>
        <p:spPr>
          <a:ln>
            <a:solidFill>
              <a:srgbClr val="000000"/>
            </a:solidFill>
            <a:miter/>
          </a:ln>
        </p:spPr>
      </p:sp>
      <p:sp>
        <p:nvSpPr>
          <p:cNvPr id="2662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28674" name="Rectangle 2"/>
          <p:cNvSpPr>
            <a:spLocks noGrp="1" noRot="1" noChangeAspect="1" noTextEdit="1"/>
          </p:cNvSpPr>
          <p:nvPr>
            <p:ph type="sldImg"/>
          </p:nvPr>
        </p:nvSpPr>
        <p:spPr>
          <a:ln>
            <a:solidFill>
              <a:srgbClr val="000000"/>
            </a:solidFill>
            <a:miter/>
          </a:ln>
        </p:spPr>
      </p:sp>
      <p:sp>
        <p:nvSpPr>
          <p:cNvPr id="2867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30722" name="Rectangle 2"/>
          <p:cNvSpPr>
            <a:spLocks noGrp="1" noRot="1" noChangeAspect="1" noTextEdit="1"/>
          </p:cNvSpPr>
          <p:nvPr>
            <p:ph type="sldImg"/>
          </p:nvPr>
        </p:nvSpPr>
        <p:spPr>
          <a:ln>
            <a:solidFill>
              <a:srgbClr val="000000"/>
            </a:solidFill>
            <a:miter/>
          </a:ln>
        </p:spPr>
      </p:sp>
      <p:sp>
        <p:nvSpPr>
          <p:cNvPr id="3072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32770" name="Rectangle 2"/>
          <p:cNvSpPr>
            <a:spLocks noGrp="1" noRot="1" noChangeAspect="1" noTextEdit="1"/>
          </p:cNvSpPr>
          <p:nvPr>
            <p:ph type="sldImg"/>
          </p:nvPr>
        </p:nvSpPr>
        <p:spPr>
          <a:ln>
            <a:solidFill>
              <a:srgbClr val="000000"/>
            </a:solidFill>
            <a:miter/>
          </a:ln>
        </p:spPr>
      </p:sp>
      <p:sp>
        <p:nvSpPr>
          <p:cNvPr id="3277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35842" name="Rectangle 2"/>
          <p:cNvSpPr>
            <a:spLocks noGrp="1" noRot="1" noChangeAspect="1" noTextEdit="1"/>
          </p:cNvSpPr>
          <p:nvPr>
            <p:ph type="sldImg"/>
          </p:nvPr>
        </p:nvSpPr>
        <p:spPr>
          <a:ln>
            <a:solidFill>
              <a:srgbClr val="000000"/>
            </a:solidFill>
            <a:miter/>
          </a:ln>
        </p:spPr>
      </p:sp>
      <p:sp>
        <p:nvSpPr>
          <p:cNvPr id="3584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37890" name="Rectangle 2"/>
          <p:cNvSpPr>
            <a:spLocks noGrp="1" noRot="1" noChangeAspect="1" noTextEdit="1"/>
          </p:cNvSpPr>
          <p:nvPr>
            <p:ph type="sldImg"/>
          </p:nvPr>
        </p:nvSpPr>
        <p:spPr>
          <a:ln>
            <a:solidFill>
              <a:srgbClr val="000000"/>
            </a:solidFill>
            <a:miter/>
          </a:ln>
        </p:spPr>
      </p:sp>
      <p:sp>
        <p:nvSpPr>
          <p:cNvPr id="3789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39938" name="Rectangle 2"/>
          <p:cNvSpPr>
            <a:spLocks noGrp="1" noRot="1" noChangeAspect="1" noTextEdit="1"/>
          </p:cNvSpPr>
          <p:nvPr>
            <p:ph type="sldImg"/>
          </p:nvPr>
        </p:nvSpPr>
        <p:spPr>
          <a:ln>
            <a:solidFill>
              <a:srgbClr val="000000"/>
            </a:solidFill>
            <a:miter/>
          </a:ln>
        </p:spPr>
      </p:sp>
      <p:sp>
        <p:nvSpPr>
          <p:cNvPr id="3993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41986" name="Rectangle 2"/>
          <p:cNvSpPr>
            <a:spLocks noGrp="1" noRot="1" noChangeAspect="1" noTextEdit="1"/>
          </p:cNvSpPr>
          <p:nvPr>
            <p:ph type="sldImg"/>
          </p:nvPr>
        </p:nvSpPr>
        <p:spPr>
          <a:ln>
            <a:solidFill>
              <a:srgbClr val="000000"/>
            </a:solidFill>
            <a:miter/>
          </a:ln>
        </p:spPr>
      </p:sp>
      <p:sp>
        <p:nvSpPr>
          <p:cNvPr id="4198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44034" name="Rectangle 2"/>
          <p:cNvSpPr>
            <a:spLocks noGrp="1" noRot="1" noChangeAspect="1" noTextEdit="1"/>
          </p:cNvSpPr>
          <p:nvPr>
            <p:ph type="sldImg"/>
          </p:nvPr>
        </p:nvSpPr>
        <p:spPr>
          <a:ln>
            <a:solidFill>
              <a:srgbClr val="000000"/>
            </a:solidFill>
            <a:miter/>
          </a:ln>
        </p:spPr>
      </p:sp>
      <p:sp>
        <p:nvSpPr>
          <p:cNvPr id="4403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48130" name="Rectangle 2"/>
          <p:cNvSpPr>
            <a:spLocks noTextEdit="1"/>
          </p:cNvSpPr>
          <p:nvPr>
            <p:ph type="sldImg"/>
          </p:nvPr>
        </p:nvSpPr>
        <p:spPr>
          <a:ln>
            <a:solidFill>
              <a:srgbClr val="000000"/>
            </a:solidFill>
            <a:miter/>
          </a:ln>
        </p:spPr>
      </p:sp>
      <p:sp>
        <p:nvSpPr>
          <p:cNvPr id="4813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50178" name="Rectangle 2"/>
          <p:cNvSpPr>
            <a:spLocks noGrp="1" noRot="1" noChangeAspect="1" noTextEdit="1"/>
          </p:cNvSpPr>
          <p:nvPr>
            <p:ph type="sldImg"/>
          </p:nvPr>
        </p:nvSpPr>
        <p:spPr>
          <a:ln>
            <a:solidFill>
              <a:srgbClr val="000000"/>
            </a:solidFill>
            <a:miter/>
          </a:ln>
        </p:spPr>
      </p:sp>
      <p:sp>
        <p:nvSpPr>
          <p:cNvPr id="5017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幻灯片图像占位符 1"/>
          <p:cNvSpPr>
            <a:spLocks noGrp="1" noRot="1" noChangeAspect="1" noTextEdit="1"/>
          </p:cNvSpPr>
          <p:nvPr>
            <p:ph type="sldImg"/>
          </p:nvPr>
        </p:nvSpPr>
        <p:spPr>
          <a:ln>
            <a:solidFill>
              <a:srgbClr val="000000"/>
            </a:solidFill>
            <a:miter/>
          </a:ln>
        </p:spPr>
      </p:sp>
      <p:sp>
        <p:nvSpPr>
          <p:cNvPr id="532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3251"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55298" name="Rectangle 2"/>
          <p:cNvSpPr>
            <a:spLocks noTextEdit="1"/>
          </p:cNvSpPr>
          <p:nvPr>
            <p:ph type="sldImg"/>
          </p:nvPr>
        </p:nvSpPr>
        <p:spPr>
          <a:ln>
            <a:solidFill>
              <a:srgbClr val="000000"/>
            </a:solidFill>
            <a:miter/>
          </a:ln>
        </p:spPr>
      </p:sp>
      <p:sp>
        <p:nvSpPr>
          <p:cNvPr id="5529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57346" name="Rectangle 2"/>
          <p:cNvSpPr>
            <a:spLocks noTextEdit="1"/>
          </p:cNvSpPr>
          <p:nvPr>
            <p:ph type="sldImg"/>
          </p:nvPr>
        </p:nvSpPr>
        <p:spPr>
          <a:ln>
            <a:solidFill>
              <a:srgbClr val="000000"/>
            </a:solidFill>
            <a:miter/>
          </a:ln>
        </p:spPr>
      </p:sp>
      <p:sp>
        <p:nvSpPr>
          <p:cNvPr id="5734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59394" name="Rectangle 2"/>
          <p:cNvSpPr>
            <a:spLocks noTextEdit="1"/>
          </p:cNvSpPr>
          <p:nvPr>
            <p:ph type="sldImg"/>
          </p:nvPr>
        </p:nvSpPr>
        <p:spPr>
          <a:ln>
            <a:solidFill>
              <a:srgbClr val="000000"/>
            </a:solidFill>
            <a:miter/>
          </a:ln>
        </p:spPr>
      </p:sp>
      <p:sp>
        <p:nvSpPr>
          <p:cNvPr id="5939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61442" name="Rectangle 2"/>
          <p:cNvSpPr>
            <a:spLocks noTextEdit="1"/>
          </p:cNvSpPr>
          <p:nvPr>
            <p:ph type="sldImg"/>
          </p:nvPr>
        </p:nvSpPr>
        <p:spPr>
          <a:ln>
            <a:solidFill>
              <a:srgbClr val="000000"/>
            </a:solidFill>
            <a:miter/>
          </a:ln>
        </p:spPr>
      </p:sp>
      <p:sp>
        <p:nvSpPr>
          <p:cNvPr id="6144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63490" name="Rectangle 2"/>
          <p:cNvSpPr>
            <a:spLocks noTextEdit="1"/>
          </p:cNvSpPr>
          <p:nvPr>
            <p:ph type="sldImg"/>
          </p:nvPr>
        </p:nvSpPr>
        <p:spPr>
          <a:ln>
            <a:solidFill>
              <a:srgbClr val="000000"/>
            </a:solidFill>
            <a:miter/>
          </a:ln>
        </p:spPr>
      </p:sp>
      <p:sp>
        <p:nvSpPr>
          <p:cNvPr id="6349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65538" name="Rectangle 2"/>
          <p:cNvSpPr>
            <a:spLocks noTextEdit="1"/>
          </p:cNvSpPr>
          <p:nvPr>
            <p:ph type="sldImg"/>
          </p:nvPr>
        </p:nvSpPr>
        <p:spPr>
          <a:ln>
            <a:solidFill>
              <a:srgbClr val="000000"/>
            </a:solidFill>
            <a:miter/>
          </a:ln>
        </p:spPr>
      </p:sp>
      <p:sp>
        <p:nvSpPr>
          <p:cNvPr id="6553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67586" name="Rectangle 2"/>
          <p:cNvSpPr>
            <a:spLocks noTextEdit="1"/>
          </p:cNvSpPr>
          <p:nvPr>
            <p:ph type="sldImg"/>
          </p:nvPr>
        </p:nvSpPr>
        <p:spPr>
          <a:ln>
            <a:solidFill>
              <a:srgbClr val="000000"/>
            </a:solidFill>
            <a:miter/>
          </a:ln>
        </p:spPr>
      </p:sp>
      <p:sp>
        <p:nvSpPr>
          <p:cNvPr id="6758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69634" name="Rectangle 2"/>
          <p:cNvSpPr>
            <a:spLocks noTextEdit="1"/>
          </p:cNvSpPr>
          <p:nvPr>
            <p:ph type="sldImg"/>
          </p:nvPr>
        </p:nvSpPr>
        <p:spPr>
          <a:ln>
            <a:solidFill>
              <a:srgbClr val="000000"/>
            </a:solidFill>
            <a:miter/>
          </a:ln>
        </p:spPr>
      </p:sp>
      <p:sp>
        <p:nvSpPr>
          <p:cNvPr id="6963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71682" name="Rectangle 2"/>
          <p:cNvSpPr>
            <a:spLocks noTextEdit="1"/>
          </p:cNvSpPr>
          <p:nvPr>
            <p:ph type="sldImg"/>
          </p:nvPr>
        </p:nvSpPr>
        <p:spPr>
          <a:ln>
            <a:solidFill>
              <a:srgbClr val="000000"/>
            </a:solidFill>
            <a:miter/>
          </a:ln>
        </p:spPr>
      </p:sp>
      <p:sp>
        <p:nvSpPr>
          <p:cNvPr id="7168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73730" name="Rectangle 2"/>
          <p:cNvSpPr>
            <a:spLocks noTextEdit="1"/>
          </p:cNvSpPr>
          <p:nvPr>
            <p:ph type="sldImg"/>
          </p:nvPr>
        </p:nvSpPr>
        <p:spPr>
          <a:ln>
            <a:solidFill>
              <a:srgbClr val="000000"/>
            </a:solidFill>
            <a:miter/>
          </a:ln>
        </p:spPr>
      </p:sp>
      <p:sp>
        <p:nvSpPr>
          <p:cNvPr id="7373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75778" name="Rectangle 2"/>
          <p:cNvSpPr>
            <a:spLocks noTextEdit="1"/>
          </p:cNvSpPr>
          <p:nvPr>
            <p:ph type="sldImg"/>
          </p:nvPr>
        </p:nvSpPr>
        <p:spPr>
          <a:ln>
            <a:solidFill>
              <a:srgbClr val="000000"/>
            </a:solidFill>
            <a:miter/>
          </a:ln>
        </p:spPr>
      </p:sp>
      <p:sp>
        <p:nvSpPr>
          <p:cNvPr id="7577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77826" name="Rectangle 2"/>
          <p:cNvSpPr>
            <a:spLocks noTextEdit="1"/>
          </p:cNvSpPr>
          <p:nvPr>
            <p:ph type="sldImg"/>
          </p:nvPr>
        </p:nvSpPr>
        <p:spPr>
          <a:ln>
            <a:solidFill>
              <a:srgbClr val="000000"/>
            </a:solidFill>
            <a:miter/>
          </a:ln>
        </p:spPr>
      </p:sp>
      <p:sp>
        <p:nvSpPr>
          <p:cNvPr id="7782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79874" name="Rectangle 2"/>
          <p:cNvSpPr>
            <a:spLocks noTextEdit="1"/>
          </p:cNvSpPr>
          <p:nvPr>
            <p:ph type="sldImg"/>
          </p:nvPr>
        </p:nvSpPr>
        <p:spPr>
          <a:ln>
            <a:solidFill>
              <a:srgbClr val="000000"/>
            </a:solidFill>
            <a:miter/>
          </a:ln>
        </p:spPr>
      </p:sp>
      <p:sp>
        <p:nvSpPr>
          <p:cNvPr id="7987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81922" name="Rectangle 2"/>
          <p:cNvSpPr>
            <a:spLocks noTextEdit="1"/>
          </p:cNvSpPr>
          <p:nvPr>
            <p:ph type="sldImg"/>
          </p:nvPr>
        </p:nvSpPr>
        <p:spPr>
          <a:ln>
            <a:solidFill>
              <a:srgbClr val="000000"/>
            </a:solidFill>
            <a:miter/>
          </a:ln>
        </p:spPr>
      </p:sp>
      <p:sp>
        <p:nvSpPr>
          <p:cNvPr id="8192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83970" name="Rectangle 2"/>
          <p:cNvSpPr>
            <a:spLocks noTextEdit="1"/>
          </p:cNvSpPr>
          <p:nvPr>
            <p:ph type="sldImg"/>
          </p:nvPr>
        </p:nvSpPr>
        <p:spPr>
          <a:ln>
            <a:solidFill>
              <a:srgbClr val="000000"/>
            </a:solidFill>
            <a:miter/>
          </a:ln>
        </p:spPr>
      </p:sp>
      <p:sp>
        <p:nvSpPr>
          <p:cNvPr id="8397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87042" name="Rectangle 2"/>
          <p:cNvSpPr>
            <a:spLocks noTextEdit="1"/>
          </p:cNvSpPr>
          <p:nvPr>
            <p:ph type="sldImg"/>
          </p:nvPr>
        </p:nvSpPr>
        <p:spPr>
          <a:ln>
            <a:solidFill>
              <a:srgbClr val="000000"/>
            </a:solidFill>
            <a:miter/>
          </a:ln>
        </p:spPr>
      </p:sp>
      <p:sp>
        <p:nvSpPr>
          <p:cNvPr id="8704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90114" name="Rectangle 2"/>
          <p:cNvSpPr>
            <a:spLocks noTextEdit="1"/>
          </p:cNvSpPr>
          <p:nvPr>
            <p:ph type="sldImg"/>
          </p:nvPr>
        </p:nvSpPr>
        <p:spPr>
          <a:ln>
            <a:solidFill>
              <a:srgbClr val="000000"/>
            </a:solidFill>
            <a:miter/>
          </a:ln>
        </p:spPr>
      </p:sp>
      <p:sp>
        <p:nvSpPr>
          <p:cNvPr id="9011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92162" name="Rectangle 2"/>
          <p:cNvSpPr>
            <a:spLocks noTextEdit="1"/>
          </p:cNvSpPr>
          <p:nvPr>
            <p:ph type="sldImg"/>
          </p:nvPr>
        </p:nvSpPr>
        <p:spPr>
          <a:ln>
            <a:solidFill>
              <a:srgbClr val="000000"/>
            </a:solidFill>
            <a:miter/>
          </a:ln>
        </p:spPr>
      </p:sp>
      <p:sp>
        <p:nvSpPr>
          <p:cNvPr id="9216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94210" name="Rectangle 2"/>
          <p:cNvSpPr>
            <a:spLocks noTextEdit="1"/>
          </p:cNvSpPr>
          <p:nvPr>
            <p:ph type="sldImg"/>
          </p:nvPr>
        </p:nvSpPr>
        <p:spPr>
          <a:ln>
            <a:solidFill>
              <a:srgbClr val="000000"/>
            </a:solidFill>
            <a:miter/>
          </a:ln>
        </p:spPr>
      </p:sp>
      <p:sp>
        <p:nvSpPr>
          <p:cNvPr id="9421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96258" name="Rectangle 2"/>
          <p:cNvSpPr>
            <a:spLocks noTextEdit="1"/>
          </p:cNvSpPr>
          <p:nvPr>
            <p:ph type="sldImg"/>
          </p:nvPr>
        </p:nvSpPr>
        <p:spPr>
          <a:ln>
            <a:solidFill>
              <a:srgbClr val="000000"/>
            </a:solidFill>
            <a:miter/>
          </a:ln>
        </p:spPr>
      </p:sp>
      <p:sp>
        <p:nvSpPr>
          <p:cNvPr id="9625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98306" name="Rectangle 2"/>
          <p:cNvSpPr>
            <a:spLocks noTextEdit="1"/>
          </p:cNvSpPr>
          <p:nvPr>
            <p:ph type="sldImg"/>
          </p:nvPr>
        </p:nvSpPr>
        <p:spPr>
          <a:ln>
            <a:solidFill>
              <a:srgbClr val="000000"/>
            </a:solidFill>
            <a:miter/>
          </a:ln>
        </p:spPr>
      </p:sp>
      <p:sp>
        <p:nvSpPr>
          <p:cNvPr id="98307"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100354" name="Rectangle 2"/>
          <p:cNvSpPr>
            <a:spLocks noTextEdit="1"/>
          </p:cNvSpPr>
          <p:nvPr>
            <p:ph type="sldImg"/>
          </p:nvPr>
        </p:nvSpPr>
        <p:spPr>
          <a:ln>
            <a:solidFill>
              <a:srgbClr val="000000"/>
            </a:solidFill>
            <a:miter/>
          </a:ln>
        </p:spPr>
      </p:sp>
      <p:sp>
        <p:nvSpPr>
          <p:cNvPr id="10035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102402" name="Rectangle 2"/>
          <p:cNvSpPr>
            <a:spLocks noTextEdit="1"/>
          </p:cNvSpPr>
          <p:nvPr>
            <p:ph type="sldImg"/>
          </p:nvPr>
        </p:nvSpPr>
        <p:spPr>
          <a:ln>
            <a:solidFill>
              <a:srgbClr val="000000"/>
            </a:solidFill>
            <a:miter/>
          </a:ln>
        </p:spPr>
      </p:sp>
      <p:sp>
        <p:nvSpPr>
          <p:cNvPr id="10240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06498" name="Rectangle 2"/>
          <p:cNvSpPr>
            <a:spLocks noGrp="1" noRot="1" noChangeAspect="1" noTextEdit="1"/>
          </p:cNvSpPr>
          <p:nvPr>
            <p:ph type="sldImg"/>
          </p:nvPr>
        </p:nvSpPr>
        <p:spPr>
          <a:ln>
            <a:solidFill>
              <a:srgbClr val="000000"/>
            </a:solidFill>
            <a:miter/>
          </a:ln>
        </p:spPr>
      </p:sp>
      <p:sp>
        <p:nvSpPr>
          <p:cNvPr id="106499"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08546" name="Rectangle 2"/>
          <p:cNvSpPr>
            <a:spLocks noGrp="1" noRot="1" noChangeAspect="1" noTextEdit="1"/>
          </p:cNvSpPr>
          <p:nvPr>
            <p:ph type="sldImg"/>
          </p:nvPr>
        </p:nvSpPr>
        <p:spPr>
          <a:ln>
            <a:solidFill>
              <a:srgbClr val="000000"/>
            </a:solidFill>
            <a:miter/>
          </a:ln>
        </p:spPr>
      </p:sp>
      <p:sp>
        <p:nvSpPr>
          <p:cNvPr id="108547" name="Rectangle 3"/>
          <p:cNvSpPr>
            <a:spLocks noGrp="1"/>
          </p:cNvSpPr>
          <p:nvPr>
            <p:ph type="body"/>
          </p:nvPr>
        </p:nvSpPr>
        <p:spPr>
          <a:noFill/>
          <a:ln>
            <a:noFill/>
          </a:ln>
        </p:spPr>
        <p:txBody>
          <a:bodyPr wrap="square" lIns="91440" tIns="45720" rIns="91440" bIns="45720" anchor="t" anchorCtr="0"/>
          <a:p>
            <a:pPr lvl="0"/>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11618" name="Rectangle 2"/>
          <p:cNvSpPr>
            <a:spLocks noGrp="1" noRot="1" noChangeAspect="1" noTextEdit="1"/>
          </p:cNvSpPr>
          <p:nvPr>
            <p:ph type="sldImg"/>
          </p:nvPr>
        </p:nvSpPr>
        <p:spPr>
          <a:ln>
            <a:solidFill>
              <a:srgbClr val="000000"/>
            </a:solidFill>
            <a:miter/>
          </a:ln>
        </p:spPr>
      </p:sp>
      <p:sp>
        <p:nvSpPr>
          <p:cNvPr id="111619" name="Rectangle 3"/>
          <p:cNvSpPr>
            <a:spLocks noGrp="1"/>
          </p:cNvSpPr>
          <p:nvPr>
            <p:ph type="body"/>
          </p:nvPr>
        </p:nvSpPr>
        <p:spPr>
          <a:noFill/>
          <a:ln>
            <a:noFill/>
          </a:ln>
        </p:spPr>
        <p:txBody>
          <a:bodyPr wrap="square" lIns="91440" tIns="45720" rIns="91440" bIns="45720" anchor="t" anchorCtr="0"/>
          <a:p>
            <a:pPr lvl="0"/>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15714" name="Rectangle 2"/>
          <p:cNvSpPr>
            <a:spLocks noGrp="1" noRot="1" noChangeAspect="1" noTextEdit="1"/>
          </p:cNvSpPr>
          <p:nvPr>
            <p:ph type="sldImg"/>
          </p:nvPr>
        </p:nvSpPr>
        <p:spPr>
          <a:ln>
            <a:solidFill>
              <a:srgbClr val="000000"/>
            </a:solidFill>
            <a:miter/>
          </a:ln>
        </p:spPr>
      </p:sp>
      <p:sp>
        <p:nvSpPr>
          <p:cNvPr id="115715"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17762" name="Rectangle 2"/>
          <p:cNvSpPr>
            <a:spLocks noGrp="1" noRot="1" noChangeAspect="1" noTextEdit="1"/>
          </p:cNvSpPr>
          <p:nvPr>
            <p:ph type="sldImg"/>
          </p:nvPr>
        </p:nvSpPr>
        <p:spPr>
          <a:ln>
            <a:solidFill>
              <a:srgbClr val="000000"/>
            </a:solidFill>
            <a:miter/>
          </a:ln>
        </p:spPr>
      </p:sp>
      <p:sp>
        <p:nvSpPr>
          <p:cNvPr id="117763"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7"/>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en-US" altLang="zh-CN" sz="1200" dirty="0"/>
            </a:fld>
            <a:endParaRPr lang="en-US" altLang="zh-CN" sz="1200" dirty="0"/>
          </a:p>
        </p:txBody>
      </p:sp>
      <p:sp>
        <p:nvSpPr>
          <p:cNvPr id="119810" name="Rectangle 2"/>
          <p:cNvSpPr>
            <a:spLocks noGrp="1" noRot="1" noChangeAspect="1" noTextEdit="1"/>
          </p:cNvSpPr>
          <p:nvPr>
            <p:ph type="sldImg"/>
          </p:nvPr>
        </p:nvSpPr>
        <p:spPr>
          <a:ln>
            <a:solidFill>
              <a:srgbClr val="000000"/>
            </a:solidFill>
            <a:miter/>
          </a:ln>
        </p:spPr>
      </p:sp>
      <p:sp>
        <p:nvSpPr>
          <p:cNvPr id="119811" name="Rectangle 3"/>
          <p:cNvSpPr>
            <a:spLocks noGrp="1"/>
          </p:cNvSpPr>
          <p:nvPr>
            <p:ph type="body"/>
          </p:nvPr>
        </p:nvSpPr>
        <p:spPr>
          <a:noFill/>
          <a:ln>
            <a:noFill/>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21506" name="Rectangle 2"/>
          <p:cNvSpPr>
            <a:spLocks noGrp="1" noChangeArrowheads="1"/>
          </p:cNvSpPr>
          <p:nvPr>
            <p:ph type="ctrTitle"/>
          </p:nvPr>
        </p:nvSpPr>
        <p:spPr>
          <a:xfrm>
            <a:off x="685800" y="990600"/>
            <a:ext cx="77724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2150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p>
            <a:pPr algn="r" fontAlgn="base">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graphicFrame>
        <p:nvGraphicFramePr>
          <p:cNvPr id="3076" name="Object 1026"/>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7" name="" r:id="rId2" imgW="9563100" imgH="1600200" progId="">
                  <p:embed/>
                </p:oleObj>
              </mc:Choice>
              <mc:Fallback>
                <p:oleObj name="" r:id="rId2" imgW="9563100" imgH="1600200" progId="">
                  <p:embed/>
                  <p:pic>
                    <p:nvPicPr>
                      <p:cNvPr id="0" name="图片 6"/>
                      <p:cNvPicPr/>
                      <p:nvPr/>
                    </p:nvPicPr>
                    <p:blipFill>
                      <a:blip r:embed="rId3"/>
                      <a:stretch>
                        <a:fillRect/>
                      </a:stretch>
                    </p:blipFill>
                    <p:spPr>
                      <a:xfrm>
                        <a:off x="0" y="0"/>
                        <a:ext cx="9144000" cy="1200150"/>
                      </a:xfrm>
                      <a:prstGeom prst="rect">
                        <a:avLst/>
                      </a:prstGeom>
                      <a:noFill/>
                      <a:ln w="38100">
                        <a:noFill/>
                        <a:miter/>
                      </a:ln>
                    </p:spPr>
                  </p:pic>
                </p:oleObj>
              </mc:Fallback>
            </mc:AlternateContent>
          </a:graphicData>
        </a:graphic>
      </p:graphicFrame>
      <p:sp>
        <p:nvSpPr>
          <p:cNvPr id="3077" name="Freeform 1027"/>
          <p:cNvSpPr/>
          <p:nvPr/>
        </p:nvSpPr>
        <p:spPr>
          <a:xfrm>
            <a:off x="-11112" y="280988"/>
            <a:ext cx="9155112" cy="1620837"/>
          </a:xfrm>
          <a:custGeom>
            <a:avLst/>
            <a:gdLst/>
            <a:ahLst/>
            <a:cxnLst>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Lst>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w="9525">
            <a:noFill/>
          </a:ln>
        </p:spPr>
        <p:txBody>
          <a:bodyPr/>
          <a:p>
            <a:endParaRPr lang="zh-CN" altLang="en-US"/>
          </a:p>
        </p:txBody>
      </p:sp>
      <p:sp>
        <p:nvSpPr>
          <p:cNvPr id="3078" name="Freeform 1028"/>
          <p:cNvSpPr/>
          <p:nvPr/>
        </p:nvSpPr>
        <p:spPr>
          <a:xfrm>
            <a:off x="-20637" y="533400"/>
            <a:ext cx="9161462" cy="10064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ln>
        </p:spPr>
        <p:txBody>
          <a:bodyPr/>
          <a:p>
            <a:endParaRPr lang="zh-CN" altLang="en-US"/>
          </a:p>
        </p:txBody>
      </p:sp>
      <p:grpSp>
        <p:nvGrpSpPr>
          <p:cNvPr id="3079" name="Group 1029"/>
          <p:cNvGrpSpPr/>
          <p:nvPr/>
        </p:nvGrpSpPr>
        <p:grpSpPr>
          <a:xfrm>
            <a:off x="7740650" y="347663"/>
            <a:ext cx="387350" cy="366712"/>
            <a:chOff x="4752" y="1200"/>
            <a:chExt cx="288" cy="288"/>
          </a:xfrm>
        </p:grpSpPr>
        <p:sp>
          <p:nvSpPr>
            <p:cNvPr id="13" name="Oval 1030"/>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Oval 1031"/>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3082" name="Group 1032"/>
          <p:cNvGrpSpPr/>
          <p:nvPr/>
        </p:nvGrpSpPr>
        <p:grpSpPr>
          <a:xfrm>
            <a:off x="8153400" y="53975"/>
            <a:ext cx="609600" cy="592138"/>
            <a:chOff x="4992" y="816"/>
            <a:chExt cx="576" cy="576"/>
          </a:xfrm>
        </p:grpSpPr>
        <p:sp>
          <p:nvSpPr>
            <p:cNvPr id="16" name="Oval 1033"/>
            <p:cNvSpPr>
              <a:spLocks noChangeArrowheads="1"/>
            </p:cNvSpPr>
            <p:nvPr/>
          </p:nvSpPr>
          <p:spPr bwMode="gray">
            <a:xfrm>
              <a:off x="4992" y="816"/>
              <a:ext cx="576" cy="576"/>
            </a:xfrm>
            <a:prstGeom prst="ellipse">
              <a:avLst/>
            </a:prstGeom>
            <a:solidFill>
              <a:schemeClr val="accent1">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Oval 1034"/>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3085" name="Group 1035"/>
          <p:cNvGrpSpPr/>
          <p:nvPr/>
        </p:nvGrpSpPr>
        <p:grpSpPr>
          <a:xfrm>
            <a:off x="171450" y="819150"/>
            <a:ext cx="720725" cy="762000"/>
            <a:chOff x="4992" y="816"/>
            <a:chExt cx="576" cy="576"/>
          </a:xfrm>
        </p:grpSpPr>
        <p:sp>
          <p:nvSpPr>
            <p:cNvPr id="19" name="Oval 1036"/>
            <p:cNvSpPr>
              <a:spLocks noChangeArrowheads="1"/>
            </p:cNvSpPr>
            <p:nvPr/>
          </p:nvSpPr>
          <p:spPr bwMode="gray">
            <a:xfrm>
              <a:off x="4992" y="816"/>
              <a:ext cx="576" cy="576"/>
            </a:xfrm>
            <a:prstGeom prst="ellipse">
              <a:avLst/>
            </a:prstGeom>
            <a:solidFill>
              <a:schemeClr val="tx2">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 name="Oval 1037"/>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标题 1"/>
          <p:cNvSpPr>
            <a:spLocks noGrp="1"/>
          </p:cNvSpPr>
          <p:nvPr>
            <p:ph type="title"/>
          </p:nvPr>
        </p:nvSpPr>
        <p:spPr>
          <a:xfrm>
            <a:off x="1066800" y="533400"/>
            <a:ext cx="7696200" cy="4873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533400" y="1536700"/>
            <a:ext cx="4019550" cy="49403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705350" y="1536700"/>
            <a:ext cx="401955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705350" y="4083050"/>
            <a:ext cx="401955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21" name="灯片编号占位符 5"/>
          <p:cNvSpPr>
            <a:spLocks noGrp="1"/>
          </p:cNvSpPr>
          <p:nvPr>
            <p:ph type="sldNum" sz="quarter" idx="4"/>
          </p:nvPr>
        </p:nvSpPr>
        <p:spPr bwMode="auto">
          <a:xfrm>
            <a:off x="4191000" y="6534150"/>
            <a:ext cx="838200" cy="261938"/>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
        <p:nvSpPr>
          <p:cNvPr id="22" name="日期占位符 6"/>
          <p:cNvSpPr>
            <a:spLocks noGrp="1"/>
          </p:cNvSpPr>
          <p:nvPr>
            <p:ph type="dt" sz="half" idx="12"/>
          </p:nvPr>
        </p:nvSpPr>
        <p:spPr bwMode="auto">
          <a:xfrm>
            <a:off x="381000" y="6534150"/>
            <a:ext cx="1905000" cy="261938"/>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3"/>
          </p:nvPr>
        </p:nvSpPr>
        <p:spPr>
          <a:xfrm>
            <a:off x="3124200" y="6245225"/>
            <a:ext cx="28956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Rectangle 2"/>
          <p:cNvSpPr>
            <a:spLocks noGrp="1"/>
          </p:cNvSpPr>
          <p:nvPr>
            <p:ph type="title"/>
          </p:nvPr>
        </p:nvSpPr>
        <p:spPr>
          <a:xfrm>
            <a:off x="571500" y="214313"/>
            <a:ext cx="8001000" cy="735012"/>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566738" y="1143000"/>
            <a:ext cx="8001000" cy="4876800"/>
          </a:xfrm>
          <a:prstGeom prst="rect">
            <a:avLst/>
          </a:prstGeom>
          <a:noFill/>
          <a:ln w="9525">
            <a:noFill/>
          </a:ln>
        </p:spPr>
        <p:txBody>
          <a:bodyPr anchor="t" anchorCtr="0"/>
          <a:p>
            <a:pPr lvl="0"/>
            <a:r>
              <a:rPr lang="zh-CN" altLang="en-US" dirty="0"/>
              <a:t>单击此处编辑母版文本样式</a:t>
            </a:r>
            <a:endParaRPr lang="zh-CN" altLang="en-US" dirty="0"/>
          </a:p>
          <a:p>
            <a:pPr lvl="1" indent="-436245"/>
            <a:r>
              <a:rPr lang="zh-CN" altLang="en-US" dirty="0"/>
              <a:t>第二级</a:t>
            </a:r>
            <a:endParaRPr lang="zh-CN" altLang="en-US" dirty="0"/>
          </a:p>
          <a:p>
            <a:pPr lvl="2" indent="-394970"/>
            <a:r>
              <a:rPr lang="zh-CN" altLang="en-US" dirty="0"/>
              <a:t>第三级</a:t>
            </a:r>
            <a:endParaRPr lang="zh-CN" altLang="en-US" dirty="0"/>
          </a:p>
          <a:p>
            <a:pPr lvl="3" indent="-387350"/>
            <a:r>
              <a:rPr lang="zh-CN" altLang="en-US" dirty="0"/>
              <a:t>第四级</a:t>
            </a:r>
            <a:endParaRPr lang="zh-CN" altLang="en-US" dirty="0"/>
          </a:p>
          <a:p>
            <a:pPr lvl="4" indent="-398780"/>
            <a:r>
              <a:rPr lang="zh-CN" altLang="en-US" dirty="0"/>
              <a:t>第五级</a:t>
            </a:r>
            <a:endParaRPr lang="zh-CN" altLang="en-US" dirty="0"/>
          </a:p>
        </p:txBody>
      </p:sp>
      <p:sp>
        <p:nvSpPr>
          <p:cNvPr id="1028" name="AutoShape 4"/>
          <p:cNvSpPr/>
          <p:nvPr/>
        </p:nvSpPr>
        <p:spPr>
          <a:xfrm>
            <a:off x="571500" y="1000125"/>
            <a:ext cx="7958138"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1029" name="Line 5"/>
          <p:cNvSpPr/>
          <p:nvPr/>
        </p:nvSpPr>
        <p:spPr>
          <a:xfrm flipV="1">
            <a:off x="609600" y="6172200"/>
            <a:ext cx="79248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5122" name="Rectangle 2"/>
          <p:cNvSpPr>
            <a:spLocks noGrp="1"/>
          </p:cNvSpPr>
          <p:nvPr>
            <p:ph type="title"/>
          </p:nvPr>
        </p:nvSpPr>
        <p:spPr>
          <a:ln/>
        </p:spPr>
        <p:txBody>
          <a:bodyPr vert="horz" wrap="square" lIns="91440" tIns="45720" rIns="91440" bIns="45720" anchor="b" anchorCtr="0"/>
          <a:p>
            <a:pPr eaLnBrk="1" hangingPunct="1"/>
            <a:r>
              <a:rPr lang="zh-CN" altLang="en-US" sz="3200" dirty="0"/>
              <a:t>第三章</a:t>
            </a:r>
            <a:r>
              <a:rPr lang="zh-CN" altLang="en-US" sz="3200" dirty="0">
                <a:ea typeface="黑体" panose="02010609060101010101" pitchFamily="49" charset="-122"/>
              </a:rPr>
              <a:t>  </a:t>
            </a:r>
            <a:r>
              <a:rPr lang="zh-CN" altLang="en-US" sz="3200" dirty="0"/>
              <a:t>关系数据库标准语言</a:t>
            </a:r>
            <a:r>
              <a:rPr lang="en-US" altLang="zh-CN" sz="3200" dirty="0">
                <a:ea typeface="黑体" panose="02010609060101010101" pitchFamily="49" charset="-122"/>
              </a:rPr>
              <a:t>SQL</a:t>
            </a:r>
            <a:endParaRPr lang="en-US" altLang="zh-CN" sz="3200" dirty="0">
              <a:ea typeface="黑体" panose="02010609060101010101" pitchFamily="49" charset="-122"/>
            </a:endParaRPr>
          </a:p>
        </p:txBody>
      </p:sp>
      <p:sp>
        <p:nvSpPr>
          <p:cNvPr id="5123" name="Rectangle 3"/>
          <p:cNvSpPr>
            <a:spLocks noGrp="1"/>
          </p:cNvSpPr>
          <p:nvPr>
            <p:ph idx="1"/>
          </p:nvPr>
        </p:nvSpPr>
        <p:spPr>
          <a:xfrm>
            <a:off x="928688" y="1285875"/>
            <a:ext cx="6508750" cy="4464050"/>
          </a:xfrm>
          <a:ln/>
        </p:spPr>
        <p:txBody>
          <a:bodyPr vert="horz" wrap="square" lIns="91440" tIns="45720" rIns="91440" bIns="45720" anchor="t" anchorCtr="0"/>
          <a:p>
            <a:pPr algn="just" eaLnBrk="1" hangingPunct="1">
              <a:lnSpc>
                <a:spcPct val="120000"/>
              </a:lnSpc>
              <a:buNone/>
            </a:pPr>
            <a:r>
              <a:rPr lang="en-US" altLang="zh-CN" b="1" dirty="0"/>
              <a:t>3.1 SQL</a:t>
            </a:r>
            <a:r>
              <a:rPr lang="zh-CN" altLang="en-US" b="1" dirty="0"/>
              <a:t>概述</a:t>
            </a:r>
            <a:endParaRPr lang="zh-CN" altLang="en-US" b="1" dirty="0"/>
          </a:p>
          <a:p>
            <a:pPr algn="just" eaLnBrk="1" hangingPunct="1">
              <a:lnSpc>
                <a:spcPct val="120000"/>
              </a:lnSpc>
              <a:buNone/>
            </a:pPr>
            <a:r>
              <a:rPr lang="en-US" altLang="zh-CN" b="1" dirty="0"/>
              <a:t>3.2 </a:t>
            </a:r>
            <a:r>
              <a:rPr lang="zh-CN" altLang="en-US" b="1" dirty="0"/>
              <a:t>学生</a:t>
            </a:r>
            <a:r>
              <a:rPr lang="en-US" altLang="zh-CN" b="1" dirty="0"/>
              <a:t>-</a:t>
            </a:r>
            <a:r>
              <a:rPr lang="zh-CN" altLang="en-US" b="1" dirty="0"/>
              <a:t>课程数据库</a:t>
            </a:r>
            <a:endParaRPr lang="zh-CN" altLang="en-US" b="1" dirty="0"/>
          </a:p>
          <a:p>
            <a:pPr algn="just" eaLnBrk="1" hangingPunct="1">
              <a:lnSpc>
                <a:spcPct val="120000"/>
              </a:lnSpc>
              <a:buNone/>
            </a:pPr>
            <a:r>
              <a:rPr lang="en-US" altLang="zh-CN" b="1" dirty="0"/>
              <a:t>3.3 </a:t>
            </a:r>
            <a:r>
              <a:rPr lang="zh-CN" altLang="en-US" b="1" dirty="0"/>
              <a:t>数据定义</a:t>
            </a:r>
            <a:endParaRPr lang="zh-CN" altLang="en-US" b="1" dirty="0"/>
          </a:p>
          <a:p>
            <a:pPr algn="just" eaLnBrk="1" hangingPunct="1">
              <a:lnSpc>
                <a:spcPct val="120000"/>
              </a:lnSpc>
              <a:buNone/>
            </a:pPr>
            <a:r>
              <a:rPr lang="en-US" altLang="zh-CN" b="1" dirty="0"/>
              <a:t>3.4 </a:t>
            </a:r>
            <a:r>
              <a:rPr lang="zh-CN" altLang="en-US" b="1" dirty="0"/>
              <a:t>数据查询</a:t>
            </a:r>
            <a:endParaRPr lang="zh-CN" altLang="en-US" b="1" dirty="0"/>
          </a:p>
          <a:p>
            <a:pPr algn="just" eaLnBrk="1" hangingPunct="1">
              <a:lnSpc>
                <a:spcPct val="120000"/>
              </a:lnSpc>
              <a:buNone/>
            </a:pPr>
            <a:r>
              <a:rPr lang="en-US" altLang="zh-CN" b="1" dirty="0">
                <a:solidFill>
                  <a:srgbClr val="FF0000"/>
                </a:solidFill>
              </a:rPr>
              <a:t>3.5 </a:t>
            </a:r>
            <a:r>
              <a:rPr lang="zh-CN" altLang="en-US" b="1" dirty="0">
                <a:solidFill>
                  <a:srgbClr val="FF0000"/>
                </a:solidFill>
              </a:rPr>
              <a:t>数据更新</a:t>
            </a:r>
            <a:endParaRPr lang="zh-CN" altLang="en-US" b="1" dirty="0">
              <a:solidFill>
                <a:srgbClr val="FF0000"/>
              </a:solidFill>
            </a:endParaRPr>
          </a:p>
          <a:p>
            <a:pPr algn="just" eaLnBrk="1" hangingPunct="1">
              <a:lnSpc>
                <a:spcPct val="120000"/>
              </a:lnSpc>
              <a:buNone/>
            </a:pPr>
            <a:r>
              <a:rPr lang="en-US" altLang="zh-CN" b="1" dirty="0"/>
              <a:t>3.6 </a:t>
            </a:r>
            <a:r>
              <a:rPr lang="zh-CN" altLang="en-US" b="1" dirty="0"/>
              <a:t>视图</a:t>
            </a:r>
            <a:endParaRPr lang="zh-CN" altLang="en-US" b="1" dirty="0"/>
          </a:p>
          <a:p>
            <a:pPr algn="just" eaLnBrk="1" hangingPunct="1">
              <a:lnSpc>
                <a:spcPct val="120000"/>
              </a:lnSpc>
              <a:buNone/>
            </a:pPr>
            <a:r>
              <a:rPr lang="en-US" altLang="zh-CN" b="1" dirty="0"/>
              <a:t>3.7 </a:t>
            </a:r>
            <a:r>
              <a:rPr lang="zh-CN" altLang="en-US" b="1" dirty="0"/>
              <a:t>小结</a:t>
            </a:r>
            <a:endParaRPr lang="zh-CN" altLang="en-US" b="1" dirty="0"/>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7170"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3.5  </a:t>
            </a:r>
            <a:r>
              <a:rPr lang="zh-CN" altLang="en-US" dirty="0"/>
              <a:t>数 据 更 新 </a:t>
            </a:r>
            <a:endParaRPr lang="zh-CN" altLang="en-US" dirty="0"/>
          </a:p>
        </p:txBody>
      </p:sp>
      <p:sp>
        <p:nvSpPr>
          <p:cNvPr id="7171" name="Rectangle 3"/>
          <p:cNvSpPr>
            <a:spLocks noGrp="1"/>
          </p:cNvSpPr>
          <p:nvPr>
            <p:ph idx="1"/>
          </p:nvPr>
        </p:nvSpPr>
        <p:spPr>
          <a:xfrm>
            <a:off x="827088" y="1844675"/>
            <a:ext cx="7427912" cy="4495800"/>
          </a:xfrm>
          <a:ln/>
        </p:spPr>
        <p:txBody>
          <a:bodyPr vert="horz" wrap="square" lIns="91440" tIns="45720" rIns="91440" bIns="45720" anchor="t" anchorCtr="0"/>
          <a:p>
            <a:pPr algn="just" eaLnBrk="1" hangingPunct="1">
              <a:lnSpc>
                <a:spcPct val="180000"/>
              </a:lnSpc>
              <a:buNone/>
            </a:pPr>
            <a:r>
              <a:rPr lang="en-US" altLang="zh-CN" b="1" dirty="0">
                <a:solidFill>
                  <a:srgbClr val="0033CC"/>
                </a:solidFill>
              </a:rPr>
              <a:t>3.5.1  </a:t>
            </a:r>
            <a:r>
              <a:rPr lang="zh-CN" altLang="en-US" b="1" dirty="0">
                <a:solidFill>
                  <a:srgbClr val="0033CC"/>
                </a:solidFill>
              </a:rPr>
              <a:t>插入数据</a:t>
            </a:r>
            <a:endParaRPr lang="zh-CN" altLang="en-US" b="1" dirty="0">
              <a:solidFill>
                <a:srgbClr val="0033CC"/>
              </a:solidFill>
            </a:endParaRPr>
          </a:p>
          <a:p>
            <a:pPr algn="just" eaLnBrk="1" hangingPunct="1">
              <a:lnSpc>
                <a:spcPct val="180000"/>
              </a:lnSpc>
              <a:buNone/>
            </a:pPr>
            <a:r>
              <a:rPr lang="en-US" altLang="zh-CN" b="1" dirty="0"/>
              <a:t>3.5.2  </a:t>
            </a:r>
            <a:r>
              <a:rPr lang="zh-CN" altLang="en-US" b="1" dirty="0"/>
              <a:t>修改数据</a:t>
            </a:r>
            <a:endParaRPr lang="zh-CN" altLang="en-US" b="1" dirty="0"/>
          </a:p>
          <a:p>
            <a:pPr eaLnBrk="1" hangingPunct="1">
              <a:lnSpc>
                <a:spcPct val="180000"/>
              </a:lnSpc>
              <a:buNone/>
            </a:pPr>
            <a:r>
              <a:rPr lang="en-US" altLang="zh-CN" b="1" dirty="0"/>
              <a:t>3.5.3  </a:t>
            </a:r>
            <a:r>
              <a:rPr lang="zh-CN" altLang="en-US" b="1" dirty="0"/>
              <a:t>删除数据</a:t>
            </a:r>
            <a:r>
              <a:rPr lang="zh-CN" altLang="en-US" dirty="0"/>
              <a:t> </a:t>
            </a:r>
            <a:endParaRPr lang="zh-CN" altLang="en-US" dirty="0"/>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9218"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3.5.1  </a:t>
            </a:r>
            <a:r>
              <a:rPr lang="zh-CN" altLang="en-US" dirty="0"/>
              <a:t>插入数据</a:t>
            </a:r>
            <a:endParaRPr lang="zh-CN" altLang="en-US" dirty="0"/>
          </a:p>
        </p:txBody>
      </p:sp>
      <p:sp>
        <p:nvSpPr>
          <p:cNvPr id="9219" name="Rectangle 3"/>
          <p:cNvSpPr>
            <a:spLocks noGrp="1"/>
          </p:cNvSpPr>
          <p:nvPr>
            <p:ph idx="1"/>
          </p:nvPr>
        </p:nvSpPr>
        <p:spPr>
          <a:ln/>
        </p:spPr>
        <p:txBody>
          <a:bodyPr vert="horz" wrap="square" lIns="91440" tIns="45720" rIns="91440" bIns="45720" anchor="t" anchorCtr="0"/>
          <a:p>
            <a:pPr eaLnBrk="1" hangingPunct="1">
              <a:lnSpc>
                <a:spcPct val="140000"/>
              </a:lnSpc>
            </a:pPr>
            <a:r>
              <a:rPr lang="zh-CN" altLang="en-US" dirty="0"/>
              <a:t>两种插入数据方式</a:t>
            </a:r>
            <a:endParaRPr lang="zh-CN" altLang="en-US" dirty="0"/>
          </a:p>
          <a:p>
            <a:pPr lvl="1" indent="-436245" eaLnBrk="1" hangingPunct="1">
              <a:lnSpc>
                <a:spcPct val="140000"/>
              </a:lnSpc>
              <a:buNone/>
            </a:pPr>
            <a:r>
              <a:rPr lang="en-US" altLang="zh-CN" dirty="0"/>
              <a:t>1. </a:t>
            </a:r>
            <a:r>
              <a:rPr lang="zh-CN" altLang="en-US" dirty="0"/>
              <a:t>插入元组</a:t>
            </a:r>
            <a:endParaRPr lang="zh-CN" altLang="en-US" dirty="0"/>
          </a:p>
          <a:p>
            <a:pPr lvl="1" indent="-436245" eaLnBrk="1" hangingPunct="1">
              <a:lnSpc>
                <a:spcPct val="140000"/>
              </a:lnSpc>
              <a:buNone/>
            </a:pPr>
            <a:r>
              <a:rPr lang="en-US" altLang="zh-CN" dirty="0"/>
              <a:t>2. </a:t>
            </a:r>
            <a:r>
              <a:rPr lang="zh-CN" altLang="en-US" dirty="0"/>
              <a:t>插入子查询结果</a:t>
            </a:r>
            <a:endParaRPr lang="zh-CN" altLang="en-US" dirty="0"/>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1266"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一、插入元组</a:t>
            </a:r>
            <a:endParaRPr lang="zh-CN" altLang="en-US" dirty="0"/>
          </a:p>
        </p:txBody>
      </p:sp>
      <p:sp>
        <p:nvSpPr>
          <p:cNvPr id="7172" name="Rectangle 3"/>
          <p:cNvSpPr>
            <a:spLocks noGrp="1" noChangeArrowheads="1"/>
          </p:cNvSpPr>
          <p:nvPr>
            <p:ph idx="1"/>
          </p:nvPr>
        </p:nvSpPr>
        <p:spPr>
          <a:xfrm>
            <a:off x="323850" y="1143000"/>
            <a:ext cx="8569325" cy="4876800"/>
          </a:xfrm>
        </p:spPr>
        <p:txBody>
          <a:bodyPr vert="horz" wrap="square" lIns="91440" tIns="45720" rIns="91440" bIns="45720" numCol="1" anchor="t" anchorCtr="0" compatLnSpc="1"/>
          <a:lstStyle/>
          <a:p>
            <a:pPr marL="609600" marR="0" lvl="1" indent="-6096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语句格式：将新元组插入指定表中</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a:p>
            <a:pPr marL="609600" marR="0" lvl="0" indent="-6096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INSERT</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INTO &lt;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表名</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&gt; [(&lt;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属性列</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1&gt;[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属性列</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2 &gt;…)]</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VALUES (&lt;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常量</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1&gt;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常量</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2&gt;]    …           )</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INTO</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子句</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1" fontAlgn="base" latinLnBrk="0" hangingPunct="1">
              <a:lnSpc>
                <a:spcPct val="110000"/>
              </a:lnSpc>
              <a:spcBef>
                <a:spcPct val="20000"/>
              </a:spcBef>
              <a:spcAft>
                <a:spcPct val="0"/>
              </a:spcAft>
              <a:buClr>
                <a:schemeClr val="accent2"/>
              </a:buClr>
              <a:buSzPct val="75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uLnTx/>
                <a:uFillTx/>
                <a:latin typeface="+mn-lt"/>
                <a:ea typeface="+mn-ea"/>
                <a:cs typeface="+mn-ea"/>
              </a:rPr>
              <a:t>属性列的顺序可与表定义中的顺序不一致</a:t>
            </a:r>
            <a:endParaRPr kumimoji="0" lang="zh-CN" altLang="en-US" sz="2000" b="0" i="0" u="none" strike="noStrike" kern="0" cap="none" spc="0" normalizeH="0" baseline="0" noProof="0" dirty="0" smtClean="0">
              <a:ln>
                <a:noFill/>
              </a:ln>
              <a:solidFill>
                <a:schemeClr val="tx1"/>
              </a:solidFill>
              <a:effectLst/>
              <a:uLnTx/>
              <a:uFillTx/>
              <a:latin typeface="+mn-lt"/>
              <a:ea typeface="+mn-ea"/>
              <a:cs typeface="+mn-ea"/>
            </a:endParaRPr>
          </a:p>
          <a:p>
            <a:pPr marL="908050" marR="0" lvl="1" indent="-436880" algn="l" defTabSz="914400" rtl="0" eaLnBrk="1" fontAlgn="base" latinLnBrk="0" hangingPunct="1">
              <a:lnSpc>
                <a:spcPct val="110000"/>
              </a:lnSpc>
              <a:spcBef>
                <a:spcPct val="20000"/>
              </a:spcBef>
              <a:spcAft>
                <a:spcPct val="0"/>
              </a:spcAft>
              <a:buClr>
                <a:schemeClr val="accent2"/>
              </a:buClr>
              <a:buSzPct val="75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uLnTx/>
                <a:uFillTx/>
                <a:latin typeface="+mn-lt"/>
                <a:ea typeface="+mn-ea"/>
                <a:cs typeface="+mn-ea"/>
              </a:rPr>
              <a:t>没有指定属性列</a:t>
            </a:r>
            <a:endParaRPr kumimoji="0" lang="zh-CN" altLang="en-US" sz="2000" b="0" i="0" u="none" strike="noStrike" kern="0" cap="none" spc="0" normalizeH="0" baseline="0" noProof="0" dirty="0" smtClean="0">
              <a:ln>
                <a:noFill/>
              </a:ln>
              <a:solidFill>
                <a:schemeClr val="tx1"/>
              </a:solidFill>
              <a:effectLst/>
              <a:uLnTx/>
              <a:uFillTx/>
              <a:latin typeface="+mn-lt"/>
              <a:ea typeface="+mn-ea"/>
              <a:cs typeface="+mn-ea"/>
            </a:endParaRPr>
          </a:p>
          <a:p>
            <a:pPr marL="908050" marR="0" lvl="1" indent="-436880" algn="l" defTabSz="914400" rtl="0" eaLnBrk="1" fontAlgn="base" latinLnBrk="0" hangingPunct="1">
              <a:lnSpc>
                <a:spcPct val="110000"/>
              </a:lnSpc>
              <a:spcBef>
                <a:spcPct val="20000"/>
              </a:spcBef>
              <a:spcAft>
                <a:spcPct val="0"/>
              </a:spcAft>
              <a:buClr>
                <a:schemeClr val="accent2"/>
              </a:buClr>
              <a:buSzPct val="75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uLnTx/>
                <a:uFillTx/>
                <a:latin typeface="+mn-lt"/>
                <a:ea typeface="+mn-ea"/>
                <a:cs typeface="+mn-ea"/>
              </a:rPr>
              <a:t>指定部分属性列</a:t>
            </a:r>
            <a:endParaRPr kumimoji="0" lang="zh-CN" altLang="en-US" sz="2000" b="0" i="0" u="none" strike="noStrike" kern="0" cap="none" spc="0" normalizeH="0" baseline="0" noProof="0" dirty="0" smtClean="0">
              <a:ln>
                <a:noFill/>
              </a:ln>
              <a:solidFill>
                <a:schemeClr val="tx1"/>
              </a:solidFill>
              <a:effectLst/>
              <a:uLnTx/>
              <a:uFillTx/>
              <a:latin typeface="+mn-lt"/>
              <a:ea typeface="+mn-ea"/>
              <a:cs typeface="+mn-ea"/>
            </a:endParaRPr>
          </a:p>
          <a:p>
            <a:pPr marL="469900" marR="0" lvl="1"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ea"/>
              </a:rPr>
              <a:t>VALUES</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提供的值必须与</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ea"/>
              </a:rPr>
              <a:t>INTO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ea"/>
              </a:rPr>
              <a:t>子句匹配：值的个数和类型</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3314"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插入元组（续）</a:t>
            </a:r>
            <a:endParaRPr lang="zh-CN" altLang="en-US" dirty="0"/>
          </a:p>
        </p:txBody>
      </p:sp>
      <p:sp>
        <p:nvSpPr>
          <p:cNvPr id="184324" name="Rectangle 3"/>
          <p:cNvSpPr>
            <a:spLocks noGrp="1"/>
          </p:cNvSpPr>
          <p:nvPr>
            <p:ph idx="1"/>
          </p:nvPr>
        </p:nvSpPr>
        <p:spPr>
          <a:xfrm>
            <a:off x="500063" y="1357313"/>
            <a:ext cx="8229600" cy="2392362"/>
          </a:xfrm>
          <a:ln/>
        </p:spPr>
        <p:txBody>
          <a:bodyPr vert="horz" wrap="square" lIns="91440" tIns="45720" rIns="91440" bIns="45720" anchor="t" anchorCtr="0"/>
          <a:p>
            <a:pPr eaLnBrk="1" hangingPunct="1">
              <a:lnSpc>
                <a:spcPct val="110000"/>
              </a:lnSpc>
              <a:buNone/>
            </a:pPr>
            <a:r>
              <a:rPr lang="zh-CN" altLang="en-US" sz="2000" dirty="0"/>
              <a:t>［例</a:t>
            </a:r>
            <a:r>
              <a:rPr lang="en-US" altLang="zh-CN" sz="2000" dirty="0"/>
              <a:t>1</a:t>
            </a:r>
            <a:r>
              <a:rPr lang="zh-CN" altLang="en-US" sz="2000" dirty="0"/>
              <a:t>］  将一个新学生元组（学号：</a:t>
            </a:r>
            <a:r>
              <a:rPr lang="en-US" altLang="zh-CN" sz="2000" dirty="0"/>
              <a:t>200215128</a:t>
            </a:r>
            <a:r>
              <a:rPr lang="zh-CN" altLang="en-US" sz="2000" dirty="0"/>
              <a:t>；姓名：陈冬；性别：男；所在系：</a:t>
            </a:r>
            <a:r>
              <a:rPr lang="en-US" altLang="zh-CN" sz="2000" dirty="0"/>
              <a:t>IS</a:t>
            </a:r>
            <a:r>
              <a:rPr lang="zh-CN" altLang="en-US" sz="2000" dirty="0"/>
              <a:t>；年龄：</a:t>
            </a:r>
            <a:r>
              <a:rPr lang="en-US" altLang="zh-CN" sz="2000" dirty="0"/>
              <a:t>18</a:t>
            </a:r>
            <a:r>
              <a:rPr lang="zh-CN" altLang="en-US" sz="2000" dirty="0"/>
              <a:t>岁）插入到</a:t>
            </a:r>
            <a:r>
              <a:rPr lang="en-US" altLang="zh-CN" sz="2000" dirty="0"/>
              <a:t>Student</a:t>
            </a:r>
            <a:r>
              <a:rPr lang="zh-CN" altLang="en-US" sz="2000" dirty="0"/>
              <a:t>表中。</a:t>
            </a:r>
            <a:endParaRPr lang="zh-CN" altLang="en-US" sz="2000" dirty="0"/>
          </a:p>
          <a:p>
            <a:pPr eaLnBrk="1" hangingPunct="1">
              <a:lnSpc>
                <a:spcPct val="110000"/>
              </a:lnSpc>
              <a:buNone/>
            </a:pPr>
            <a:r>
              <a:rPr lang="zh-CN" altLang="en-US" sz="2000" dirty="0"/>
              <a:t>          </a:t>
            </a:r>
            <a:r>
              <a:rPr lang="en-US" altLang="zh-CN" sz="2000" dirty="0"/>
              <a:t>INSERT</a:t>
            </a:r>
            <a:endParaRPr lang="en-US" altLang="zh-CN" sz="2000" dirty="0"/>
          </a:p>
          <a:p>
            <a:pPr eaLnBrk="1" hangingPunct="1">
              <a:lnSpc>
                <a:spcPct val="110000"/>
              </a:lnSpc>
              <a:buNone/>
            </a:pPr>
            <a:r>
              <a:rPr lang="en-US" altLang="zh-CN" sz="2000" dirty="0"/>
              <a:t>          INTO  Student (Sno</a:t>
            </a:r>
            <a:r>
              <a:rPr lang="zh-CN" altLang="en-US" sz="2000" dirty="0"/>
              <a:t>，</a:t>
            </a:r>
            <a:r>
              <a:rPr lang="en-US" altLang="zh-CN" sz="2000" dirty="0"/>
              <a:t>Sname</a:t>
            </a:r>
            <a:r>
              <a:rPr lang="zh-CN" altLang="en-US" sz="2000" dirty="0"/>
              <a:t>，</a:t>
            </a:r>
            <a:r>
              <a:rPr lang="en-US" altLang="zh-CN" sz="2000" dirty="0"/>
              <a:t>Ssex</a:t>
            </a:r>
            <a:r>
              <a:rPr lang="zh-CN" altLang="en-US" sz="2000" dirty="0"/>
              <a:t>，</a:t>
            </a:r>
            <a:r>
              <a:rPr lang="en-US" altLang="zh-CN" sz="2000" dirty="0"/>
              <a:t>Sdept</a:t>
            </a:r>
            <a:r>
              <a:rPr lang="zh-CN" altLang="en-US" sz="2000" dirty="0"/>
              <a:t>，</a:t>
            </a:r>
            <a:r>
              <a:rPr lang="en-US" altLang="zh-CN" sz="2000" dirty="0"/>
              <a:t>Sage)</a:t>
            </a:r>
            <a:endParaRPr lang="en-US" altLang="zh-CN" sz="2000" dirty="0"/>
          </a:p>
          <a:p>
            <a:pPr eaLnBrk="1" hangingPunct="1">
              <a:lnSpc>
                <a:spcPct val="110000"/>
              </a:lnSpc>
              <a:buNone/>
            </a:pPr>
            <a:r>
              <a:rPr lang="en-US" altLang="zh-CN" sz="2000" dirty="0"/>
              <a:t>          VALUES ('200215128'</a:t>
            </a:r>
            <a:r>
              <a:rPr lang="zh-CN" altLang="en-US" sz="2000" dirty="0"/>
              <a:t>，</a:t>
            </a:r>
            <a:r>
              <a:rPr lang="en-US" altLang="zh-CN" sz="2000" dirty="0"/>
              <a:t>'</a:t>
            </a:r>
            <a:r>
              <a:rPr lang="zh-CN" altLang="en-US" sz="2000" dirty="0"/>
              <a:t>陈冬</a:t>
            </a:r>
            <a:r>
              <a:rPr lang="en-US" altLang="zh-CN" sz="2000" dirty="0"/>
              <a:t>'</a:t>
            </a:r>
            <a:r>
              <a:rPr lang="zh-CN" altLang="en-US" sz="2000" dirty="0"/>
              <a:t>，</a:t>
            </a:r>
            <a:r>
              <a:rPr lang="en-US" altLang="zh-CN" sz="2000" dirty="0"/>
              <a:t>'</a:t>
            </a:r>
            <a:r>
              <a:rPr lang="zh-CN" altLang="en-US" sz="2000" dirty="0"/>
              <a:t>男</a:t>
            </a:r>
            <a:r>
              <a:rPr lang="en-US" altLang="zh-CN" sz="2000" dirty="0"/>
              <a:t>'</a:t>
            </a:r>
            <a:r>
              <a:rPr lang="zh-CN" altLang="en-US" sz="2000" dirty="0"/>
              <a:t>，</a:t>
            </a:r>
            <a:r>
              <a:rPr lang="en-US" altLang="zh-CN" sz="2000" dirty="0"/>
              <a:t>'IS'</a:t>
            </a:r>
            <a:r>
              <a:rPr lang="zh-CN" altLang="en-US" sz="2000" dirty="0"/>
              <a:t>，</a:t>
            </a:r>
            <a:r>
              <a:rPr lang="en-US" altLang="zh-CN" sz="2000" dirty="0"/>
              <a:t>18)</a:t>
            </a:r>
            <a:r>
              <a:rPr lang="zh-CN" altLang="en-US" sz="2000" dirty="0"/>
              <a:t>；</a:t>
            </a:r>
            <a:endParaRPr lang="zh-CN" altLang="en-US" sz="2000" dirty="0"/>
          </a:p>
          <a:p>
            <a:pPr eaLnBrk="1" hangingPunct="1">
              <a:lnSpc>
                <a:spcPct val="110000"/>
              </a:lnSpc>
              <a:buNone/>
            </a:pPr>
            <a:endParaRPr lang="en-US" altLang="zh-CN" sz="2000" dirty="0"/>
          </a:p>
        </p:txBody>
      </p:sp>
      <p:sp>
        <p:nvSpPr>
          <p:cNvPr id="8" name="Rectangle 4"/>
          <p:cNvSpPr/>
          <p:nvPr/>
        </p:nvSpPr>
        <p:spPr>
          <a:xfrm>
            <a:off x="357188" y="3929063"/>
            <a:ext cx="8362950" cy="2247900"/>
          </a:xfrm>
          <a:prstGeom prst="rect">
            <a:avLst/>
          </a:prstGeom>
          <a:noFill/>
          <a:ln w="9525">
            <a:noFill/>
          </a:ln>
        </p:spPr>
        <p:txBody>
          <a:bodyPr anchor="t" anchorCtr="0"/>
          <a:p>
            <a:pPr marL="342900" indent="-342900">
              <a:lnSpc>
                <a:spcPct val="120000"/>
              </a:lnSpc>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［例</a:t>
            </a:r>
            <a:r>
              <a:rPr lang="en-US" altLang="zh-CN"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  将学生张成民的信息插入到</a:t>
            </a:r>
            <a:r>
              <a:rPr lang="en-US" altLang="zh-CN" sz="2000" dirty="0">
                <a:latin typeface="Arial" panose="020B0604020202020204" pitchFamily="34" charset="0"/>
                <a:ea typeface="宋体" panose="02010600030101010101" pitchFamily="2" charset="-122"/>
              </a:rPr>
              <a:t>Student</a:t>
            </a:r>
            <a:r>
              <a:rPr lang="zh-CN" altLang="en-US" sz="2000" dirty="0">
                <a:latin typeface="Arial" panose="020B0604020202020204" pitchFamily="34" charset="0"/>
                <a:ea typeface="宋体" panose="02010600030101010101" pitchFamily="2" charset="-122"/>
              </a:rPr>
              <a:t>表中。</a:t>
            </a:r>
            <a:endParaRPr lang="zh-CN" altLang="en-US" sz="2000" dirty="0">
              <a:latin typeface="Arial" panose="020B0604020202020204" pitchFamily="34" charset="0"/>
              <a:ea typeface="宋体" panose="02010600030101010101" pitchFamily="2" charset="-122"/>
            </a:endParaRPr>
          </a:p>
          <a:p>
            <a:pPr marL="342900" indent="-342900">
              <a:lnSpc>
                <a:spcPct val="120000"/>
              </a:lnSpc>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             </a:t>
            </a:r>
            <a:r>
              <a:rPr lang="en-US" altLang="zh-CN" sz="2000" dirty="0">
                <a:latin typeface="Arial" panose="020B0604020202020204" pitchFamily="34" charset="0"/>
                <a:ea typeface="宋体" panose="02010600030101010101" pitchFamily="2" charset="-122"/>
              </a:rPr>
              <a:t>INSERT</a:t>
            </a:r>
            <a:endParaRPr lang="en-US" altLang="zh-CN" sz="2000" dirty="0">
              <a:latin typeface="Arial" panose="020B0604020202020204" pitchFamily="34" charset="0"/>
              <a:ea typeface="宋体" panose="02010600030101010101" pitchFamily="2" charset="-122"/>
            </a:endParaRPr>
          </a:p>
          <a:p>
            <a:pPr marL="342900" indent="-342900">
              <a:lnSpc>
                <a:spcPct val="120000"/>
              </a:lnSpc>
              <a:spcBef>
                <a:spcPct val="20000"/>
              </a:spcBef>
              <a:buClr>
                <a:schemeClr val="hlink"/>
              </a:buClr>
              <a:buFont typeface="Wingdings" panose="05000000000000000000" pitchFamily="2" charset="2"/>
            </a:pPr>
            <a:r>
              <a:rPr lang="en-US" altLang="zh-CN" sz="2000" dirty="0">
                <a:latin typeface="Arial" panose="020B0604020202020204" pitchFamily="34" charset="0"/>
                <a:ea typeface="宋体" panose="02010600030101010101" pitchFamily="2" charset="-122"/>
              </a:rPr>
              <a:t>    		INTO  Student</a:t>
            </a:r>
            <a:endParaRPr lang="en-US" altLang="zh-CN" sz="2000" dirty="0">
              <a:latin typeface="Arial" panose="020B0604020202020204" pitchFamily="34" charset="0"/>
              <a:ea typeface="宋体" panose="02010600030101010101" pitchFamily="2" charset="-122"/>
            </a:endParaRPr>
          </a:p>
          <a:p>
            <a:pPr marL="342900" indent="-342900">
              <a:lnSpc>
                <a:spcPct val="120000"/>
              </a:lnSpc>
              <a:spcBef>
                <a:spcPct val="20000"/>
              </a:spcBef>
              <a:buClr>
                <a:schemeClr val="hlink"/>
              </a:buClr>
              <a:buFont typeface="Wingdings" panose="05000000000000000000" pitchFamily="2" charset="2"/>
            </a:pPr>
            <a:r>
              <a:rPr lang="en-US" altLang="zh-CN" sz="2000" dirty="0">
                <a:latin typeface="Arial" panose="020B0604020202020204" pitchFamily="34" charset="0"/>
                <a:ea typeface="宋体" panose="02010600030101010101" pitchFamily="2" charset="-122"/>
              </a:rPr>
              <a:t>    		VALUES (‘200215126’</a:t>
            </a:r>
            <a:r>
              <a:rPr lang="zh-CN" altLang="en-US" sz="2000" dirty="0">
                <a:latin typeface="Arial" panose="020B0604020202020204" pitchFamily="34" charset="0"/>
                <a:ea typeface="宋体" panose="02010600030101010101" pitchFamily="2" charset="-122"/>
              </a:rPr>
              <a:t>， ‘张成民’， ‘男’，</a:t>
            </a:r>
            <a:r>
              <a:rPr lang="en-US" altLang="zh-CN" sz="2000" dirty="0">
                <a:latin typeface="Arial" panose="020B0604020202020204" pitchFamily="34" charset="0"/>
                <a:ea typeface="宋体" panose="02010600030101010101" pitchFamily="2" charset="-122"/>
              </a:rPr>
              <a:t>18</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'CS'); </a:t>
            </a:r>
            <a:endParaRPr lang="en-US" altLang="zh-CN" sz="20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184324">
                                            <p:txEl>
                                              <p:charRg st="67" end="84"/>
                                            </p:txEl>
                                          </p:spTgt>
                                        </p:tgtEl>
                                        <p:attrNameLst>
                                          <p:attrName>style.visibility</p:attrName>
                                        </p:attrNameLst>
                                      </p:cBhvr>
                                      <p:to>
                                        <p:strVal val="visible"/>
                                      </p:to>
                                    </p:set>
                                    <p:anim calcmode="lin" valueType="num">
                                      <p:cBhvr>
                                        <p:cTn id="7" dur="2000" fill="hold"/>
                                        <p:tgtEl>
                                          <p:spTgt spid="184324">
                                            <p:txEl>
                                              <p:charRg st="67" end="8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2000" fill="hold"/>
                                        <p:tgtEl>
                                          <p:spTgt spid="184324">
                                            <p:txEl>
                                              <p:charRg st="67" end="8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2000" fill="hold"/>
                                        <p:tgtEl>
                                          <p:spTgt spid="184324">
                                            <p:txEl>
                                              <p:charRg st="67" end="84"/>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2000" fill="hold"/>
                                        <p:tgtEl>
                                          <p:spTgt spid="184324">
                                            <p:txEl>
                                              <p:charRg st="67" end="84"/>
                                            </p:txEl>
                                          </p:spTgt>
                                        </p:tgtEl>
                                        <p:attrNameLst>
                                          <p:attrName>ppt_y</p:attrName>
                                        </p:attrNameLst>
                                      </p:cBhvr>
                                      <p:tavLst>
                                        <p:tav tm="0">
                                          <p:val>
                                            <p:strVal val="#ppt_y"/>
                                          </p:val>
                                        </p:tav>
                                        <p:tav tm="100000">
                                          <p:val>
                                            <p:strVal val="#ppt_y"/>
                                          </p:val>
                                        </p:tav>
                                      </p:tavLst>
                                    </p:anim>
                                  </p:childTnLst>
                                </p:cTn>
                              </p:par>
                              <p:par>
                                <p:cTn id="11" presetID="39" presetClass="entr" presetSubtype="0" accel="100000" fill="hold" nodeType="withEffect">
                                  <p:stCondLst>
                                    <p:cond delay="0"/>
                                  </p:stCondLst>
                                  <p:childTnLst>
                                    <p:set>
                                      <p:cBhvr>
                                        <p:cTn id="12" dur="1" fill="hold">
                                          <p:stCondLst>
                                            <p:cond delay="0"/>
                                          </p:stCondLst>
                                        </p:cTn>
                                        <p:tgtEl>
                                          <p:spTgt spid="184324">
                                            <p:txEl>
                                              <p:charRg st="84" end="136"/>
                                            </p:txEl>
                                          </p:spTgt>
                                        </p:tgtEl>
                                        <p:attrNameLst>
                                          <p:attrName>style.visibility</p:attrName>
                                        </p:attrNameLst>
                                      </p:cBhvr>
                                      <p:to>
                                        <p:strVal val="visible"/>
                                      </p:to>
                                    </p:set>
                                    <p:anim calcmode="lin" valueType="num">
                                      <p:cBhvr>
                                        <p:cTn id="13" dur="500" fill="hold"/>
                                        <p:tgtEl>
                                          <p:spTgt spid="184324">
                                            <p:txEl>
                                              <p:charRg st="84" end="136"/>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4" dur="500" fill="hold"/>
                                        <p:tgtEl>
                                          <p:spTgt spid="184324">
                                            <p:txEl>
                                              <p:charRg st="84" end="136"/>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5" dur="500" fill="hold"/>
                                        <p:tgtEl>
                                          <p:spTgt spid="184324">
                                            <p:txEl>
                                              <p:charRg st="84" end="136"/>
                                            </p:txEl>
                                          </p:spTgt>
                                        </p:tgtEl>
                                        <p:attrNameLst>
                                          <p:attrName>ppt_x</p:attrName>
                                        </p:attrNameLst>
                                      </p:cBhvr>
                                      <p:tavLst>
                                        <p:tav tm="0">
                                          <p:val>
                                            <p:strVal val="#ppt_x-.3"/>
                                          </p:val>
                                        </p:tav>
                                        <p:tav tm="50000">
                                          <p:val>
                                            <p:strVal val="#ppt_x"/>
                                          </p:val>
                                        </p:tav>
                                        <p:tav tm="100000">
                                          <p:val>
                                            <p:strVal val="#ppt_x"/>
                                          </p:val>
                                        </p:tav>
                                      </p:tavLst>
                                    </p:anim>
                                    <p:anim calcmode="lin" valueType="num">
                                      <p:cBhvr>
                                        <p:cTn id="16" dur="500" fill="hold"/>
                                        <p:tgtEl>
                                          <p:spTgt spid="184324">
                                            <p:txEl>
                                              <p:charRg st="84" end="136"/>
                                            </p:txEl>
                                          </p:spTgt>
                                        </p:tgtEl>
                                        <p:attrNameLst>
                                          <p:attrName>ppt_y</p:attrName>
                                        </p:attrNameLst>
                                      </p:cBhvr>
                                      <p:tavLst>
                                        <p:tav tm="0">
                                          <p:val>
                                            <p:strVal val="#ppt_y"/>
                                          </p:val>
                                        </p:tav>
                                        <p:tav tm="100000">
                                          <p:val>
                                            <p:strVal val="#ppt_y"/>
                                          </p:val>
                                        </p:tav>
                                      </p:tavLst>
                                    </p:anim>
                                  </p:childTnLst>
                                </p:cTn>
                              </p:par>
                              <p:par>
                                <p:cTn id="17" presetID="39" presetClass="entr" presetSubtype="0" accel="100000" fill="hold" nodeType="withEffect">
                                  <p:stCondLst>
                                    <p:cond delay="0"/>
                                  </p:stCondLst>
                                  <p:childTnLst>
                                    <p:set>
                                      <p:cBhvr>
                                        <p:cTn id="18" dur="1" fill="hold">
                                          <p:stCondLst>
                                            <p:cond delay="0"/>
                                          </p:stCondLst>
                                        </p:cTn>
                                        <p:tgtEl>
                                          <p:spTgt spid="184324">
                                            <p:txEl>
                                              <p:charRg st="136" end="185"/>
                                            </p:txEl>
                                          </p:spTgt>
                                        </p:tgtEl>
                                        <p:attrNameLst>
                                          <p:attrName>style.visibility</p:attrName>
                                        </p:attrNameLst>
                                      </p:cBhvr>
                                      <p:to>
                                        <p:strVal val="visible"/>
                                      </p:to>
                                    </p:set>
                                    <p:anim calcmode="lin" valueType="num">
                                      <p:cBhvr>
                                        <p:cTn id="19" dur="500" fill="hold"/>
                                        <p:tgtEl>
                                          <p:spTgt spid="184324">
                                            <p:txEl>
                                              <p:charRg st="136" end="185"/>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0" dur="500" fill="hold"/>
                                        <p:tgtEl>
                                          <p:spTgt spid="184324">
                                            <p:txEl>
                                              <p:charRg st="136" end="185"/>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1" dur="500" fill="hold"/>
                                        <p:tgtEl>
                                          <p:spTgt spid="184324">
                                            <p:txEl>
                                              <p:charRg st="136" end="185"/>
                                            </p:txEl>
                                          </p:spTgt>
                                        </p:tgtEl>
                                        <p:attrNameLst>
                                          <p:attrName>ppt_x</p:attrName>
                                        </p:attrNameLst>
                                      </p:cBhvr>
                                      <p:tavLst>
                                        <p:tav tm="0">
                                          <p:val>
                                            <p:strVal val="#ppt_x-.3"/>
                                          </p:val>
                                        </p:tav>
                                        <p:tav tm="50000">
                                          <p:val>
                                            <p:strVal val="#ppt_x"/>
                                          </p:val>
                                        </p:tav>
                                        <p:tav tm="100000">
                                          <p:val>
                                            <p:strVal val="#ppt_x"/>
                                          </p:val>
                                        </p:tav>
                                      </p:tavLst>
                                    </p:anim>
                                    <p:anim calcmode="lin" valueType="num">
                                      <p:cBhvr>
                                        <p:cTn id="22" dur="500" fill="hold"/>
                                        <p:tgtEl>
                                          <p:spTgt spid="184324">
                                            <p:txEl>
                                              <p:charRg st="136" end="185"/>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8">
                                            <p:txEl>
                                              <p:charRg st="29" end="49"/>
                                            </p:txEl>
                                          </p:spTgt>
                                        </p:tgtEl>
                                        <p:attrNameLst>
                                          <p:attrName>style.visibility</p:attrName>
                                        </p:attrNameLst>
                                      </p:cBhvr>
                                      <p:to>
                                        <p:strVal val="visible"/>
                                      </p:to>
                                    </p:set>
                                    <p:animEffect transition="in" filter="diamond(in)">
                                      <p:cBhvr>
                                        <p:cTn id="27" dur="2000"/>
                                        <p:tgtEl>
                                          <p:spTgt spid="8">
                                            <p:txEl>
                                              <p:charRg st="29" end="49"/>
                                            </p:txEl>
                                          </p:spTgt>
                                        </p:tgtEl>
                                      </p:cBhvr>
                                    </p:animEffect>
                                  </p:childTnLst>
                                </p:cTn>
                              </p:par>
                              <p:par>
                                <p:cTn id="28" presetID="8" presetClass="entr" presetSubtype="16" fill="hold" nodeType="withEffect">
                                  <p:stCondLst>
                                    <p:cond delay="0"/>
                                  </p:stCondLst>
                                  <p:childTnLst>
                                    <p:set>
                                      <p:cBhvr>
                                        <p:cTn id="29" dur="1" fill="hold">
                                          <p:stCondLst>
                                            <p:cond delay="0"/>
                                          </p:stCondLst>
                                        </p:cTn>
                                        <p:tgtEl>
                                          <p:spTgt spid="8">
                                            <p:txEl>
                                              <p:charRg st="49" end="69"/>
                                            </p:txEl>
                                          </p:spTgt>
                                        </p:tgtEl>
                                        <p:attrNameLst>
                                          <p:attrName>style.visibility</p:attrName>
                                        </p:attrNameLst>
                                      </p:cBhvr>
                                      <p:to>
                                        <p:strVal val="visible"/>
                                      </p:to>
                                    </p:set>
                                    <p:animEffect transition="in" filter="diamond(in)">
                                      <p:cBhvr>
                                        <p:cTn id="30" dur="2000"/>
                                        <p:tgtEl>
                                          <p:spTgt spid="8">
                                            <p:txEl>
                                              <p:charRg st="49" end="69"/>
                                            </p:txEl>
                                          </p:spTgt>
                                        </p:tgtEl>
                                      </p:cBhvr>
                                    </p:animEffect>
                                  </p:childTnLst>
                                </p:cTn>
                              </p:par>
                              <p:par>
                                <p:cTn id="31" presetID="8" presetClass="entr" presetSubtype="16" fill="hold" nodeType="withEffect">
                                  <p:stCondLst>
                                    <p:cond delay="0"/>
                                  </p:stCondLst>
                                  <p:childTnLst>
                                    <p:set>
                                      <p:cBhvr>
                                        <p:cTn id="32" dur="1" fill="hold">
                                          <p:stCondLst>
                                            <p:cond delay="0"/>
                                          </p:stCondLst>
                                        </p:cTn>
                                        <p:tgtEl>
                                          <p:spTgt spid="8">
                                            <p:txEl>
                                              <p:charRg st="69" end="118"/>
                                            </p:txEl>
                                          </p:spTgt>
                                        </p:tgtEl>
                                        <p:attrNameLst>
                                          <p:attrName>style.visibility</p:attrName>
                                        </p:attrNameLst>
                                      </p:cBhvr>
                                      <p:to>
                                        <p:strVal val="visible"/>
                                      </p:to>
                                    </p:set>
                                    <p:animEffect transition="in" filter="diamond(in)">
                                      <p:cBhvr>
                                        <p:cTn id="33" dur="2000"/>
                                        <p:tgtEl>
                                          <p:spTgt spid="8">
                                            <p:txEl>
                                              <p:charRg st="69"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5362"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sz="3200" dirty="0"/>
              <a:t>插入元组（续）</a:t>
            </a:r>
            <a:endParaRPr lang="zh-CN" altLang="en-US" sz="3200" dirty="0"/>
          </a:p>
        </p:txBody>
      </p:sp>
      <p:sp>
        <p:nvSpPr>
          <p:cNvPr id="15363" name="Rectangle 3"/>
          <p:cNvSpPr>
            <a:spLocks noGrp="1"/>
          </p:cNvSpPr>
          <p:nvPr>
            <p:ph idx="1"/>
          </p:nvPr>
        </p:nvSpPr>
        <p:spPr>
          <a:xfrm>
            <a:off x="428625" y="1285875"/>
            <a:ext cx="8229600" cy="1887538"/>
          </a:xfrm>
          <a:ln/>
        </p:spPr>
        <p:txBody>
          <a:bodyPr vert="horz" wrap="square" lIns="91440" tIns="45720" rIns="91440" bIns="45720" anchor="t" anchorCtr="0"/>
          <a:p>
            <a:pPr eaLnBrk="1" hangingPunct="1">
              <a:lnSpc>
                <a:spcPct val="120000"/>
              </a:lnSpc>
              <a:buNone/>
            </a:pPr>
            <a:r>
              <a:rPr lang="zh-CN" altLang="en-US" sz="2400" dirty="0"/>
              <a:t>［例</a:t>
            </a:r>
            <a:r>
              <a:rPr lang="en-US" altLang="zh-CN" sz="2400" dirty="0"/>
              <a:t>3</a:t>
            </a:r>
            <a:r>
              <a:rPr lang="zh-CN" altLang="en-US" sz="2400" dirty="0"/>
              <a:t>］  插入一条选课记录</a:t>
            </a:r>
            <a:r>
              <a:rPr lang="en-US" altLang="zh-CN" sz="2400" dirty="0"/>
              <a:t>( '200215128'</a:t>
            </a:r>
            <a:r>
              <a:rPr lang="zh-CN" altLang="en-US" sz="2400" dirty="0"/>
              <a:t>，</a:t>
            </a:r>
            <a:r>
              <a:rPr lang="en-US" altLang="zh-CN" sz="2400" dirty="0"/>
              <a:t>'1 ')</a:t>
            </a:r>
            <a:r>
              <a:rPr lang="zh-CN" altLang="en-US" sz="2400" dirty="0"/>
              <a:t>。</a:t>
            </a:r>
            <a:endParaRPr lang="zh-CN" altLang="en-US" sz="2400" dirty="0"/>
          </a:p>
          <a:p>
            <a:pPr eaLnBrk="1" hangingPunct="1">
              <a:lnSpc>
                <a:spcPct val="120000"/>
              </a:lnSpc>
              <a:buNone/>
            </a:pPr>
            <a:r>
              <a:rPr lang="zh-CN" altLang="en-US" sz="2000" dirty="0"/>
              <a:t>    </a:t>
            </a:r>
            <a:r>
              <a:rPr lang="en-US" altLang="zh-CN" sz="2000" dirty="0"/>
              <a:t>INSERT</a:t>
            </a:r>
            <a:endParaRPr lang="en-US" altLang="zh-CN" sz="2000" dirty="0"/>
          </a:p>
          <a:p>
            <a:pPr eaLnBrk="1" hangingPunct="1">
              <a:lnSpc>
                <a:spcPct val="120000"/>
              </a:lnSpc>
              <a:buNone/>
            </a:pPr>
            <a:r>
              <a:rPr lang="en-US" altLang="zh-CN" sz="2000" dirty="0"/>
              <a:t>    INTO SC(Sno</a:t>
            </a:r>
            <a:r>
              <a:rPr lang="zh-CN" altLang="en-US" sz="2000" dirty="0"/>
              <a:t>，</a:t>
            </a:r>
            <a:r>
              <a:rPr lang="en-US" altLang="zh-CN" sz="2000" dirty="0"/>
              <a:t>Cno)</a:t>
            </a:r>
            <a:endParaRPr lang="en-US" altLang="zh-CN" sz="2000" dirty="0"/>
          </a:p>
          <a:p>
            <a:pPr eaLnBrk="1" hangingPunct="1">
              <a:lnSpc>
                <a:spcPct val="120000"/>
              </a:lnSpc>
              <a:buNone/>
            </a:pPr>
            <a:r>
              <a:rPr lang="en-US" altLang="zh-CN" sz="2000" dirty="0"/>
              <a:t>    VALUES (‘ 200215128 ’</a:t>
            </a:r>
            <a:r>
              <a:rPr lang="zh-CN" altLang="en-US" sz="2000" dirty="0"/>
              <a:t>，‘ </a:t>
            </a:r>
            <a:r>
              <a:rPr lang="en-US" altLang="zh-CN" sz="2000" dirty="0"/>
              <a:t>1 ’)</a:t>
            </a:r>
            <a:r>
              <a:rPr lang="zh-CN" altLang="en-US" sz="2000" dirty="0"/>
              <a:t>；   </a:t>
            </a:r>
            <a:endParaRPr lang="zh-CN" altLang="en-US" sz="2000" dirty="0"/>
          </a:p>
        </p:txBody>
      </p:sp>
      <p:sp>
        <p:nvSpPr>
          <p:cNvPr id="757764" name="Rectangle 4"/>
          <p:cNvSpPr/>
          <p:nvPr/>
        </p:nvSpPr>
        <p:spPr>
          <a:xfrm>
            <a:off x="714375" y="3429000"/>
            <a:ext cx="7200900" cy="457200"/>
          </a:xfrm>
          <a:prstGeom prst="rect">
            <a:avLst/>
          </a:prstGeom>
          <a:noFill/>
          <a:ln w="25400">
            <a:noFill/>
          </a:ln>
        </p:spPr>
        <p:txBody>
          <a:bodyPr anchor="t" anchorCtr="0">
            <a:spAutoFit/>
          </a:bodyPr>
          <a:p>
            <a:pPr marL="342900" indent="-342900"/>
            <a:r>
              <a:rPr lang="en-US" altLang="zh-CN" sz="2400" dirty="0">
                <a:latin typeface="Verdana" panose="020B0604030504040204" pitchFamily="34" charset="0"/>
                <a:ea typeface="宋体" panose="02010600030101010101" pitchFamily="2" charset="-122"/>
              </a:rPr>
              <a:t>RDBMS</a:t>
            </a:r>
            <a:r>
              <a:rPr lang="zh-CN" altLang="en-US" sz="2400" dirty="0">
                <a:latin typeface="Verdana" panose="020B0604030504040204" pitchFamily="34" charset="0"/>
                <a:ea typeface="宋体" panose="02010600030101010101" pitchFamily="2" charset="-122"/>
              </a:rPr>
              <a:t>将在新插入记录的</a:t>
            </a:r>
            <a:r>
              <a:rPr lang="en-US" altLang="zh-CN" sz="2400" dirty="0">
                <a:latin typeface="Verdana" panose="020B0604030504040204" pitchFamily="34" charset="0"/>
                <a:ea typeface="宋体" panose="02010600030101010101" pitchFamily="2" charset="-122"/>
              </a:rPr>
              <a:t>Grade</a:t>
            </a:r>
            <a:r>
              <a:rPr lang="zh-CN" altLang="en-US" sz="2400" dirty="0">
                <a:latin typeface="Verdana" panose="020B0604030504040204" pitchFamily="34" charset="0"/>
                <a:ea typeface="宋体" panose="02010600030101010101" pitchFamily="2" charset="-122"/>
              </a:rPr>
              <a:t>列上自动地赋空值。   </a:t>
            </a:r>
            <a:endParaRPr lang="zh-CN" altLang="en-US" sz="2400" dirty="0">
              <a:latin typeface="Verdana" panose="020B0604030504040204" pitchFamily="34" charset="0"/>
              <a:ea typeface="宋体" panose="02010600030101010101" pitchFamily="2" charset="-122"/>
            </a:endParaRPr>
          </a:p>
        </p:txBody>
      </p:sp>
      <p:sp>
        <p:nvSpPr>
          <p:cNvPr id="757765" name="Rectangle 5"/>
          <p:cNvSpPr/>
          <p:nvPr/>
        </p:nvSpPr>
        <p:spPr>
          <a:xfrm>
            <a:off x="785813" y="4214813"/>
            <a:ext cx="7058025" cy="1552575"/>
          </a:xfrm>
          <a:prstGeom prst="rect">
            <a:avLst/>
          </a:prstGeom>
          <a:noFill/>
          <a:ln w="25400">
            <a:noFill/>
          </a:ln>
        </p:spPr>
        <p:txBody>
          <a:bodyPr anchor="t" anchorCtr="0">
            <a:spAutoFit/>
          </a:bodyPr>
          <a:p>
            <a:pPr marL="342900" indent="-342900"/>
            <a:r>
              <a:rPr lang="zh-CN" altLang="en-US" sz="2400" dirty="0">
                <a:latin typeface="Verdana" panose="020B0604030504040204" pitchFamily="34" charset="0"/>
                <a:ea typeface="宋体" panose="02010600030101010101" pitchFamily="2" charset="-122"/>
              </a:rPr>
              <a:t>或者：</a:t>
            </a:r>
            <a:endParaRPr lang="zh-CN" altLang="en-US" sz="2400" dirty="0">
              <a:latin typeface="Verdana" panose="020B0604030504040204" pitchFamily="34" charset="0"/>
              <a:ea typeface="宋体" panose="02010600030101010101" pitchFamily="2" charset="-122"/>
            </a:endParaRPr>
          </a:p>
          <a:p>
            <a:pPr marL="342900" indent="-342900"/>
            <a:r>
              <a:rPr lang="zh-CN" altLang="en-US" sz="2400" dirty="0">
                <a:latin typeface="Verdana" panose="020B0604030504040204" pitchFamily="34" charset="0"/>
                <a:ea typeface="宋体" panose="02010600030101010101" pitchFamily="2" charset="-122"/>
              </a:rPr>
              <a:t>    </a:t>
            </a:r>
            <a:r>
              <a:rPr lang="en-US" altLang="zh-CN" sz="2400" dirty="0">
                <a:latin typeface="Verdana" panose="020B0604030504040204" pitchFamily="34" charset="0"/>
                <a:ea typeface="宋体" panose="02010600030101010101" pitchFamily="2" charset="-122"/>
              </a:rPr>
              <a:t>INSERT</a:t>
            </a:r>
            <a:endParaRPr lang="en-US" altLang="zh-CN" sz="2400" dirty="0">
              <a:latin typeface="Verdana" panose="020B0604030504040204" pitchFamily="34" charset="0"/>
              <a:ea typeface="宋体" panose="02010600030101010101" pitchFamily="2" charset="-122"/>
            </a:endParaRPr>
          </a:p>
          <a:p>
            <a:pPr marL="342900" indent="-342900"/>
            <a:r>
              <a:rPr lang="en-US" altLang="zh-CN" sz="2400" dirty="0">
                <a:latin typeface="Verdana" panose="020B0604030504040204" pitchFamily="34" charset="0"/>
                <a:ea typeface="宋体" panose="02010600030101010101" pitchFamily="2" charset="-122"/>
              </a:rPr>
              <a:t>    INTO SC</a:t>
            </a:r>
            <a:endParaRPr lang="en-US" altLang="zh-CN" sz="2400" dirty="0">
              <a:latin typeface="Verdana" panose="020B0604030504040204" pitchFamily="34" charset="0"/>
              <a:ea typeface="宋体" panose="02010600030101010101" pitchFamily="2" charset="-122"/>
            </a:endParaRPr>
          </a:p>
          <a:p>
            <a:pPr marL="342900" indent="-342900"/>
            <a:r>
              <a:rPr lang="en-US" altLang="zh-CN" sz="2400" dirty="0">
                <a:latin typeface="Verdana" panose="020B0604030504040204" pitchFamily="34" charset="0"/>
                <a:ea typeface="宋体" panose="02010600030101010101" pitchFamily="2" charset="-122"/>
              </a:rPr>
              <a:t>    VALUES (' 200215128 '</a:t>
            </a:r>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 1 '</a:t>
            </a:r>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NULL)</a:t>
            </a:r>
            <a:r>
              <a:rPr lang="zh-CN" altLang="en-US" sz="2400" dirty="0">
                <a:latin typeface="Verdana" panose="020B0604030504040204" pitchFamily="34" charset="0"/>
                <a:ea typeface="宋体" panose="02010600030101010101" pitchFamily="2" charset="-122"/>
              </a:rPr>
              <a:t>；</a:t>
            </a:r>
            <a:endParaRPr lang="zh-CN" altLang="en-US" sz="24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4" grpId="0"/>
      <p:bldP spid="75776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7410"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二、插入子查询结果</a:t>
            </a:r>
            <a:endParaRPr lang="zh-CN" altLang="en-US" dirty="0"/>
          </a:p>
        </p:txBody>
      </p:sp>
      <p:sp>
        <p:nvSpPr>
          <p:cNvPr id="17411" name="Rectangle 3"/>
          <p:cNvSpPr>
            <a:spLocks noGrp="1"/>
          </p:cNvSpPr>
          <p:nvPr>
            <p:ph idx="1"/>
          </p:nvPr>
        </p:nvSpPr>
        <p:spPr>
          <a:ln/>
        </p:spPr>
        <p:txBody>
          <a:bodyPr vert="horz" wrap="square" lIns="91440" tIns="45720" rIns="91440" bIns="45720" anchor="t" anchorCtr="0"/>
          <a:p>
            <a:pPr eaLnBrk="1" hangingPunct="1"/>
            <a:r>
              <a:rPr lang="zh-CN" altLang="en-US" dirty="0"/>
              <a:t>语句格式</a:t>
            </a:r>
            <a:endParaRPr lang="zh-CN" altLang="en-US" dirty="0"/>
          </a:p>
          <a:p>
            <a:pPr eaLnBrk="1" hangingPunct="1">
              <a:buNone/>
            </a:pPr>
            <a:r>
              <a:rPr lang="zh-CN" altLang="en-US" dirty="0"/>
              <a:t>    </a:t>
            </a:r>
            <a:r>
              <a:rPr lang="en-US" altLang="zh-CN" dirty="0"/>
              <a:t>INSERT </a:t>
            </a:r>
            <a:endParaRPr lang="en-US" altLang="zh-CN" dirty="0"/>
          </a:p>
          <a:p>
            <a:pPr eaLnBrk="1" hangingPunct="1">
              <a:buNone/>
            </a:pPr>
            <a:r>
              <a:rPr lang="en-US" altLang="zh-CN" dirty="0"/>
              <a:t>    INTO </a:t>
            </a:r>
            <a:r>
              <a:rPr lang="en-US" altLang="zh-CN" sz="2000" dirty="0"/>
              <a:t>&lt;</a:t>
            </a:r>
            <a:r>
              <a:rPr lang="zh-CN" altLang="en-US" sz="2000" dirty="0"/>
              <a:t>表名</a:t>
            </a:r>
            <a:r>
              <a:rPr lang="en-US" altLang="zh-CN" sz="2000" dirty="0"/>
              <a:t>&gt;  [(&lt;</a:t>
            </a:r>
            <a:r>
              <a:rPr lang="zh-CN" altLang="en-US" sz="2000" dirty="0"/>
              <a:t>属性列</a:t>
            </a:r>
            <a:r>
              <a:rPr lang="en-US" altLang="zh-CN" sz="2000" dirty="0"/>
              <a:t>1&gt; [</a:t>
            </a:r>
            <a:r>
              <a:rPr lang="zh-CN" altLang="en-US" sz="2000" dirty="0"/>
              <a:t>，</a:t>
            </a:r>
            <a:r>
              <a:rPr lang="en-US" altLang="zh-CN" sz="2000" dirty="0"/>
              <a:t>&lt;</a:t>
            </a:r>
            <a:r>
              <a:rPr lang="zh-CN" altLang="en-US" sz="2000" dirty="0"/>
              <a:t>属性列</a:t>
            </a:r>
            <a:r>
              <a:rPr lang="en-US" altLang="zh-CN" sz="2000" dirty="0"/>
              <a:t>2&gt;…  )]</a:t>
            </a:r>
            <a:endParaRPr lang="en-US" altLang="zh-CN" sz="2000" dirty="0"/>
          </a:p>
          <a:p>
            <a:pPr eaLnBrk="1" hangingPunct="1">
              <a:buNone/>
            </a:pPr>
            <a:r>
              <a:rPr lang="en-US" altLang="zh-CN" dirty="0"/>
              <a:t>    </a:t>
            </a:r>
            <a:r>
              <a:rPr lang="zh-CN" altLang="en-US" dirty="0"/>
              <a:t>子查询；</a:t>
            </a:r>
            <a:endParaRPr lang="zh-CN" altLang="en-US" dirty="0"/>
          </a:p>
          <a:p>
            <a:pPr eaLnBrk="1" hangingPunct="1"/>
            <a:r>
              <a:rPr lang="zh-CN" altLang="en-US" dirty="0"/>
              <a:t>功能：</a:t>
            </a:r>
            <a:r>
              <a:rPr lang="zh-CN" altLang="en-US" b="1" dirty="0">
                <a:solidFill>
                  <a:srgbClr val="0000FF"/>
                </a:solidFill>
              </a:rPr>
              <a:t>将子查询结果插入指定表中</a:t>
            </a:r>
            <a:endParaRPr lang="en-US" altLang="zh-CN" b="1" dirty="0">
              <a:solidFill>
                <a:srgbClr val="0000FF"/>
              </a:solidFill>
            </a:endParaRPr>
          </a:p>
          <a:p>
            <a:pPr eaLnBrk="1" hangingPunct="1">
              <a:lnSpc>
                <a:spcPct val="90000"/>
              </a:lnSpc>
            </a:pPr>
            <a:r>
              <a:rPr lang="en-US" altLang="zh-CN" sz="2800" dirty="0"/>
              <a:t>INTO</a:t>
            </a:r>
            <a:r>
              <a:rPr lang="zh-CN" altLang="en-US" sz="2800" dirty="0"/>
              <a:t>子句</a:t>
            </a:r>
            <a:r>
              <a:rPr lang="en-US" altLang="zh-CN" sz="2800" dirty="0"/>
              <a:t>(</a:t>
            </a:r>
            <a:r>
              <a:rPr lang="zh-CN" altLang="en-US" sz="2800" dirty="0"/>
              <a:t>与插入元组类似</a:t>
            </a:r>
            <a:r>
              <a:rPr lang="en-US" altLang="zh-CN" sz="2800" dirty="0"/>
              <a:t>)</a:t>
            </a:r>
            <a:endParaRPr lang="en-US" altLang="zh-CN" sz="2800" dirty="0"/>
          </a:p>
          <a:p>
            <a:pPr eaLnBrk="1" hangingPunct="1">
              <a:lnSpc>
                <a:spcPct val="90000"/>
              </a:lnSpc>
            </a:pPr>
            <a:r>
              <a:rPr lang="en-US" altLang="zh-CN" sz="2800" dirty="0"/>
              <a:t> </a:t>
            </a:r>
            <a:r>
              <a:rPr lang="zh-CN" altLang="en-US" sz="2800" dirty="0"/>
              <a:t>子查询</a:t>
            </a:r>
            <a:endParaRPr lang="zh-CN" altLang="en-US" sz="2800" dirty="0"/>
          </a:p>
          <a:p>
            <a:pPr lvl="1" indent="-436245" eaLnBrk="1" hangingPunct="1">
              <a:lnSpc>
                <a:spcPct val="90000"/>
              </a:lnSpc>
              <a:buSzPct val="75000"/>
              <a:buFont typeface="Wingdings" panose="05000000000000000000" pitchFamily="2" charset="2"/>
              <a:buChar char="n"/>
            </a:pPr>
            <a:r>
              <a:rPr lang="en-US" altLang="zh-CN" dirty="0"/>
              <a:t>SELECT</a:t>
            </a:r>
            <a:r>
              <a:rPr lang="zh-CN" altLang="en-US" dirty="0"/>
              <a:t>子句目标列必须与</a:t>
            </a:r>
            <a:r>
              <a:rPr lang="en-US" altLang="zh-CN" dirty="0"/>
              <a:t>INTO</a:t>
            </a:r>
            <a:r>
              <a:rPr lang="zh-CN" altLang="en-US" dirty="0"/>
              <a:t>子句匹配</a:t>
            </a:r>
            <a:endParaRPr lang="zh-CN" altLang="en-US" dirty="0"/>
          </a:p>
          <a:p>
            <a:pPr lvl="2" indent="-394970" eaLnBrk="1" hangingPunct="1">
              <a:lnSpc>
                <a:spcPct val="90000"/>
              </a:lnSpc>
              <a:buClrTx/>
              <a:buFont typeface="Wingdings" panose="05000000000000000000" pitchFamily="2" charset="2"/>
              <a:buChar char="Ø"/>
            </a:pPr>
            <a:r>
              <a:rPr lang="zh-CN" altLang="en-US" sz="2600" dirty="0"/>
              <a:t>值的个数，值的类型</a:t>
            </a:r>
            <a:endParaRPr lang="zh-CN" altLang="en-US" sz="2000" dirty="0"/>
          </a:p>
          <a:p>
            <a:pPr eaLnBrk="1" hangingPunct="1">
              <a:buNone/>
            </a:pPr>
            <a:endParaRPr lang="zh-CN" altLang="en-US" dirty="0"/>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9458"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插入子查询结果（续）</a:t>
            </a:r>
            <a:endParaRPr lang="zh-CN" altLang="en-US" dirty="0"/>
          </a:p>
        </p:txBody>
      </p:sp>
      <p:sp>
        <p:nvSpPr>
          <p:cNvPr id="763907" name="Rectangle 3"/>
          <p:cNvSpPr>
            <a:spLocks noGrp="1"/>
          </p:cNvSpPr>
          <p:nvPr>
            <p:ph idx="1"/>
          </p:nvPr>
        </p:nvSpPr>
        <p:spPr>
          <a:xfrm>
            <a:off x="457200" y="2492375"/>
            <a:ext cx="8686800" cy="1441450"/>
          </a:xfrm>
          <a:ln/>
        </p:spPr>
        <p:txBody>
          <a:bodyPr vert="horz" wrap="square" lIns="91440" tIns="45720" rIns="91440" bIns="45720" anchor="t" anchorCtr="0"/>
          <a:p>
            <a:pPr eaLnBrk="1" hangingPunct="1">
              <a:lnSpc>
                <a:spcPct val="90000"/>
              </a:lnSpc>
              <a:buNone/>
            </a:pPr>
            <a:r>
              <a:rPr lang="zh-CN" altLang="en-US" sz="2000" dirty="0"/>
              <a:t>第一步：建表</a:t>
            </a:r>
            <a:endParaRPr lang="zh-CN" altLang="en-US" sz="2000" dirty="0"/>
          </a:p>
          <a:p>
            <a:pPr lvl="1" indent="-436245" eaLnBrk="1" hangingPunct="1">
              <a:lnSpc>
                <a:spcPct val="90000"/>
              </a:lnSpc>
              <a:buNone/>
            </a:pPr>
            <a:r>
              <a:rPr lang="zh-CN" altLang="en-US" sz="1600" dirty="0"/>
              <a:t>      </a:t>
            </a:r>
            <a:r>
              <a:rPr lang="en-US" altLang="zh-CN" sz="1800" dirty="0"/>
              <a:t>CREATE  TABLE  Dept_age</a:t>
            </a:r>
            <a:endParaRPr lang="en-US" altLang="zh-CN" sz="1800" dirty="0"/>
          </a:p>
          <a:p>
            <a:pPr lvl="1" indent="-436245" eaLnBrk="1" hangingPunct="1">
              <a:lnSpc>
                <a:spcPct val="90000"/>
              </a:lnSpc>
              <a:buNone/>
            </a:pPr>
            <a:r>
              <a:rPr lang="en-US" altLang="zh-CN" sz="1800" dirty="0"/>
              <a:t>          (Sdept  CHAR(15)</a:t>
            </a:r>
            <a:r>
              <a:rPr lang="zh-CN" altLang="en-US" sz="1800" dirty="0"/>
              <a:t>，</a:t>
            </a:r>
            <a:r>
              <a:rPr lang="en-US" altLang="zh-CN" sz="1800" dirty="0"/>
              <a:t>           	/* </a:t>
            </a:r>
            <a:r>
              <a:rPr lang="zh-CN" altLang="en-US" sz="1800" dirty="0"/>
              <a:t>系名*</a:t>
            </a:r>
            <a:r>
              <a:rPr lang="en-US" altLang="zh-CN" sz="1800" dirty="0"/>
              <a:t>/</a:t>
            </a:r>
            <a:endParaRPr lang="en-US" altLang="zh-CN" sz="1800" dirty="0"/>
          </a:p>
          <a:p>
            <a:pPr lvl="1" indent="-436245" eaLnBrk="1" hangingPunct="1">
              <a:lnSpc>
                <a:spcPct val="90000"/>
              </a:lnSpc>
              <a:buNone/>
            </a:pPr>
            <a:r>
              <a:rPr lang="en-US" altLang="zh-CN" sz="1800" dirty="0"/>
              <a:t>           Avg_age SMALLINT)</a:t>
            </a:r>
            <a:r>
              <a:rPr lang="zh-CN" altLang="en-US" sz="1800" dirty="0"/>
              <a:t>；   	</a:t>
            </a:r>
            <a:r>
              <a:rPr lang="en-US" altLang="zh-CN" sz="1800" dirty="0"/>
              <a:t>/*</a:t>
            </a:r>
            <a:r>
              <a:rPr lang="zh-CN" altLang="en-US" sz="1800" dirty="0"/>
              <a:t>学生平均年龄*</a:t>
            </a:r>
            <a:r>
              <a:rPr lang="en-US" altLang="zh-CN" sz="1800" dirty="0"/>
              <a:t>/                                        </a:t>
            </a:r>
            <a:endParaRPr lang="en-US" altLang="zh-CN" sz="1800" dirty="0"/>
          </a:p>
        </p:txBody>
      </p:sp>
      <p:sp>
        <p:nvSpPr>
          <p:cNvPr id="763908" name="Rectangle 4"/>
          <p:cNvSpPr/>
          <p:nvPr/>
        </p:nvSpPr>
        <p:spPr>
          <a:xfrm>
            <a:off x="468313" y="3933825"/>
            <a:ext cx="8229600" cy="2160588"/>
          </a:xfrm>
          <a:prstGeom prst="rect">
            <a:avLst/>
          </a:prstGeom>
          <a:noFill/>
          <a:ln w="9525">
            <a:noFill/>
          </a:ln>
        </p:spPr>
        <p:txBody>
          <a:bodyPr anchor="t" anchorCtr="0"/>
          <a:p>
            <a:pPr marL="342900" indent="-342900">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第二步：插入数据</a:t>
            </a:r>
            <a:endParaRPr lang="zh-CN" altLang="en-US" sz="20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        </a:t>
            </a:r>
            <a:r>
              <a:rPr lang="en-US" altLang="zh-CN" dirty="0">
                <a:latin typeface="Arial" panose="020B0604020202020204" pitchFamily="34" charset="0"/>
                <a:ea typeface="宋体" panose="02010600030101010101" pitchFamily="2" charset="-122"/>
              </a:rPr>
              <a:t>INSERT</a:t>
            </a:r>
            <a:endParaRPr lang="en-US" altLang="zh-CN"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dirty="0">
                <a:latin typeface="Arial" panose="020B0604020202020204" pitchFamily="34" charset="0"/>
                <a:ea typeface="宋体" panose="02010600030101010101" pitchFamily="2" charset="-122"/>
              </a:rPr>
              <a:t>         INTO  Dept_age(Sdept</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Avg_age)</a:t>
            </a:r>
            <a:endParaRPr lang="en-US" altLang="zh-CN"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dirty="0">
                <a:latin typeface="Arial" panose="020B0604020202020204" pitchFamily="34" charset="0"/>
                <a:ea typeface="宋体" panose="02010600030101010101" pitchFamily="2" charset="-122"/>
              </a:rPr>
              <a:t>              SELECT  Sdept</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AVG(Sage)</a:t>
            </a:r>
            <a:endParaRPr lang="en-US" altLang="zh-CN"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dirty="0">
                <a:latin typeface="Arial" panose="020B0604020202020204" pitchFamily="34" charset="0"/>
                <a:ea typeface="宋体" panose="02010600030101010101" pitchFamily="2" charset="-122"/>
              </a:rPr>
              <a:t>              FROM  Student</a:t>
            </a:r>
            <a:endParaRPr lang="en-US" altLang="zh-CN"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dirty="0">
                <a:latin typeface="Arial" panose="020B0604020202020204" pitchFamily="34" charset="0"/>
                <a:ea typeface="宋体" panose="02010600030101010101" pitchFamily="2" charset="-122"/>
              </a:rPr>
              <a:t>              GROUP BY Sdept</a:t>
            </a:r>
            <a:r>
              <a:rPr lang="zh-CN" altLang="en-US"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19461" name="Rectangle 5"/>
          <p:cNvSpPr/>
          <p:nvPr/>
        </p:nvSpPr>
        <p:spPr>
          <a:xfrm>
            <a:off x="539750" y="1628775"/>
            <a:ext cx="8064500" cy="895350"/>
          </a:xfrm>
          <a:prstGeom prst="rect">
            <a:avLst/>
          </a:prstGeom>
          <a:noFill/>
          <a:ln w="25400">
            <a:noFill/>
          </a:ln>
        </p:spPr>
        <p:txBody>
          <a:bodyPr anchor="t" anchorCtr="0">
            <a:spAutoFit/>
          </a:bodyPr>
          <a:p>
            <a:pPr marL="342900" indent="-342900">
              <a:lnSpc>
                <a:spcPct val="110000"/>
              </a:lnSpc>
            </a:pP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例</a:t>
            </a:r>
            <a:r>
              <a:rPr lang="en-US" altLang="zh-CN" sz="2400" dirty="0">
                <a:latin typeface="Verdana" panose="020B0604030504040204" pitchFamily="34" charset="0"/>
                <a:ea typeface="宋体" panose="02010600030101010101" pitchFamily="2" charset="-122"/>
              </a:rPr>
              <a:t>4]  </a:t>
            </a:r>
            <a:r>
              <a:rPr lang="zh-CN" altLang="en-US" sz="2400" dirty="0">
                <a:latin typeface="Verdana" panose="020B0604030504040204" pitchFamily="34" charset="0"/>
                <a:ea typeface="宋体" panose="02010600030101010101" pitchFamily="2" charset="-122"/>
              </a:rPr>
              <a:t>对每一个系，求学生的平均年龄，并把结果存入数据库。</a:t>
            </a:r>
            <a:endParaRPr lang="zh-CN" altLang="en-US" sz="24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3907">
                                            <p:txEl>
                                              <p:charRg st="0"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3907">
                                            <p:txEl>
                                              <p:charRg st="7" end="3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63907">
                                            <p:txEl>
                                              <p:charRg st="37" end="8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3907">
                                            <p:txEl>
                                              <p:charRg st="84" end="16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63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07" grpId="0" build="p"/>
      <p:bldP spid="76390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21506"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插入子查询结果（续）</a:t>
            </a:r>
            <a:endParaRPr lang="zh-CN" altLang="en-US" dirty="0"/>
          </a:p>
        </p:txBody>
      </p:sp>
      <p:sp>
        <p:nvSpPr>
          <p:cNvPr id="21507" name="Rectangle 3"/>
          <p:cNvSpPr>
            <a:spLocks noGrp="1"/>
          </p:cNvSpPr>
          <p:nvPr>
            <p:ph idx="1"/>
          </p:nvPr>
        </p:nvSpPr>
        <p:spPr>
          <a:xfrm>
            <a:off x="214313" y="3929063"/>
            <a:ext cx="8229600" cy="2071687"/>
          </a:xfrm>
          <a:ln/>
        </p:spPr>
        <p:txBody>
          <a:bodyPr vert="horz" wrap="square" lIns="91440" tIns="45720" rIns="91440" bIns="45720" anchor="t" anchorCtr="0"/>
          <a:p>
            <a:pPr eaLnBrk="1" hangingPunct="1">
              <a:lnSpc>
                <a:spcPct val="110000"/>
              </a:lnSpc>
              <a:buNone/>
            </a:pPr>
            <a:r>
              <a:rPr lang="en-US" altLang="zh-CN" sz="2400" dirty="0"/>
              <a:t>    RDBMS</a:t>
            </a:r>
            <a:r>
              <a:rPr lang="zh-CN" altLang="en-US" sz="2400" dirty="0"/>
              <a:t>在执行插入语句时会检查所插元组是否破坏表上已定义的完整性规则</a:t>
            </a:r>
            <a:endParaRPr lang="zh-CN" altLang="en-US" sz="2400" dirty="0"/>
          </a:p>
          <a:p>
            <a:pPr lvl="1" indent="-436245" eaLnBrk="1" hangingPunct="1">
              <a:lnSpc>
                <a:spcPct val="110000"/>
              </a:lnSpc>
            </a:pPr>
            <a:r>
              <a:rPr lang="zh-CN" altLang="en-US" sz="2000" dirty="0"/>
              <a:t>实体完整性</a:t>
            </a:r>
            <a:endParaRPr lang="zh-CN" altLang="en-US" sz="2000" dirty="0"/>
          </a:p>
          <a:p>
            <a:pPr lvl="1" indent="-436245" eaLnBrk="1" hangingPunct="1">
              <a:lnSpc>
                <a:spcPct val="110000"/>
              </a:lnSpc>
            </a:pPr>
            <a:r>
              <a:rPr lang="zh-CN" altLang="en-US" sz="2000" dirty="0"/>
              <a:t>参照完整性</a:t>
            </a:r>
            <a:endParaRPr lang="zh-CN" altLang="en-US" sz="2000" dirty="0"/>
          </a:p>
          <a:p>
            <a:pPr lvl="1" indent="-436245" eaLnBrk="1" hangingPunct="1">
              <a:lnSpc>
                <a:spcPct val="110000"/>
              </a:lnSpc>
            </a:pPr>
            <a:r>
              <a:rPr lang="zh-CN" altLang="en-US" sz="2000" dirty="0"/>
              <a:t>用户定义的完整性</a:t>
            </a:r>
            <a:endParaRPr lang="zh-CN" altLang="en-US" sz="2000" dirty="0"/>
          </a:p>
        </p:txBody>
      </p:sp>
      <p:sp>
        <p:nvSpPr>
          <p:cNvPr id="21508" name="矩形 4"/>
          <p:cNvSpPr/>
          <p:nvPr/>
        </p:nvSpPr>
        <p:spPr>
          <a:xfrm>
            <a:off x="107950" y="1196975"/>
            <a:ext cx="3887788" cy="2825750"/>
          </a:xfrm>
          <a:prstGeom prst="rect">
            <a:avLst/>
          </a:prstGeom>
          <a:noFill/>
          <a:ln w="9525">
            <a:noFill/>
          </a:ln>
        </p:spPr>
        <p:txBody>
          <a:bodyPr anchor="t" anchorCtr="0">
            <a:spAutoFit/>
          </a:bodyPr>
          <a:p>
            <a:pPr>
              <a:lnSpc>
                <a:spcPct val="140000"/>
              </a:lnSpc>
              <a:buFont typeface="Wingdings" panose="05000000000000000000" pitchFamily="2" charset="2"/>
              <a:buChar char="n"/>
            </a:pPr>
            <a:r>
              <a:rPr lang="zh-CN" altLang="en-US" sz="2400" dirty="0">
                <a:latin typeface="Verdana" panose="020B0604030504040204" pitchFamily="34" charset="0"/>
                <a:ea typeface="宋体" panose="02010600030101010101" pitchFamily="2" charset="-122"/>
              </a:rPr>
              <a:t>可以一次插入多个元组</a:t>
            </a:r>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en-US" altLang="zh-CN" sz="2400" dirty="0">
                <a:latin typeface="Verdana" panose="020B0604030504040204" pitchFamily="34" charset="0"/>
                <a:ea typeface="宋体" panose="02010600030101010101" pitchFamily="2" charset="-122"/>
              </a:rPr>
              <a:t>insert</a:t>
            </a:r>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en-US" altLang="zh-CN" sz="2400" dirty="0">
                <a:latin typeface="Verdana" panose="020B0604030504040204" pitchFamily="34" charset="0"/>
                <a:ea typeface="宋体" panose="02010600030101010101" pitchFamily="2" charset="-122"/>
              </a:rPr>
              <a:t>into </a:t>
            </a:r>
            <a:r>
              <a:rPr lang="zh-CN" altLang="en-US" sz="2400" dirty="0">
                <a:latin typeface="Verdana" panose="020B0604030504040204" pitchFamily="34" charset="0"/>
                <a:ea typeface="宋体" panose="02010600030101010101" pitchFamily="2" charset="-122"/>
              </a:rPr>
              <a:t>表名 </a:t>
            </a: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属性</a:t>
            </a:r>
            <a:r>
              <a:rPr lang="en-US" altLang="zh-CN" sz="2400" dirty="0">
                <a:latin typeface="Verdana" panose="020B0604030504040204" pitchFamily="34" charset="0"/>
                <a:ea typeface="宋体" panose="02010600030101010101" pitchFamily="2" charset="-122"/>
              </a:rPr>
              <a:t>)</a:t>
            </a:r>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en-US" altLang="zh-CN" sz="2400" dirty="0">
                <a:latin typeface="Verdana" panose="020B0604030504040204" pitchFamily="34" charset="0"/>
                <a:ea typeface="宋体" panose="02010600030101010101" pitchFamily="2" charset="-122"/>
              </a:rPr>
              <a:t>values </a:t>
            </a:r>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en-US" altLang="zh-CN" sz="2400" dirty="0">
                <a:latin typeface="Verdana" panose="020B0604030504040204" pitchFamily="34" charset="0"/>
                <a:ea typeface="宋体" panose="02010600030101010101" pitchFamily="2" charset="-122"/>
              </a:rPr>
              <a:t>(- - - - - ),</a:t>
            </a:r>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en-US" altLang="zh-CN" sz="2400" dirty="0">
                <a:latin typeface="Verdana" panose="020B0604030504040204" pitchFamily="34" charset="0"/>
                <a:ea typeface="宋体" panose="02010600030101010101" pitchFamily="2" charset="-122"/>
              </a:rPr>
              <a:t> (- - - - - ),</a:t>
            </a:r>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en-US" altLang="zh-CN" sz="2400" dirty="0">
                <a:latin typeface="Verdana" panose="020B0604030504040204" pitchFamily="34" charset="0"/>
                <a:ea typeface="宋体" panose="02010600030101010101" pitchFamily="2" charset="-122"/>
              </a:rPr>
              <a:t> (- - - - - )…...</a:t>
            </a:r>
            <a:endParaRPr lang="en-US" altLang="zh-CN" sz="2400" dirty="0">
              <a:latin typeface="Verdana" panose="020B0604030504040204" pitchFamily="34" charset="0"/>
              <a:ea typeface="宋体" panose="02010600030101010101" pitchFamily="2" charset="-122"/>
            </a:endParaRPr>
          </a:p>
        </p:txBody>
      </p:sp>
      <p:sp>
        <p:nvSpPr>
          <p:cNvPr id="21509" name="矩形 4"/>
          <p:cNvSpPr/>
          <p:nvPr/>
        </p:nvSpPr>
        <p:spPr>
          <a:xfrm>
            <a:off x="3924300" y="1196975"/>
            <a:ext cx="5040313" cy="2678113"/>
          </a:xfrm>
          <a:prstGeom prst="rect">
            <a:avLst/>
          </a:prstGeom>
          <a:noFill/>
          <a:ln w="9525">
            <a:noFill/>
          </a:ln>
        </p:spPr>
        <p:txBody>
          <a:bodyPr anchor="t" anchorCtr="0">
            <a:spAutoFit/>
          </a:bodyPr>
          <a:p>
            <a:pPr>
              <a:buFont typeface="Wingdings" panose="05000000000000000000" pitchFamily="2" charset="2"/>
            </a:pPr>
            <a:r>
              <a:rPr lang="zh-CN" altLang="en-US" sz="2400" dirty="0">
                <a:latin typeface="Verdana" panose="020B0604030504040204" pitchFamily="34" charset="0"/>
                <a:ea typeface="宋体" panose="02010600030101010101" pitchFamily="2" charset="-122"/>
              </a:rPr>
              <a:t>例如：</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insert</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into student(sno,sname)</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Values</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('000','</a:t>
            </a:r>
            <a:r>
              <a:rPr lang="zh-CN" altLang="en-US" sz="2400" dirty="0">
                <a:latin typeface="Verdana" panose="020B0604030504040204" pitchFamily="34" charset="0"/>
                <a:ea typeface="宋体" panose="02010600030101010101" pitchFamily="2" charset="-122"/>
              </a:rPr>
              <a:t>张三</a:t>
            </a:r>
            <a:r>
              <a:rPr lang="en-US" altLang="zh-CN" sz="2400" dirty="0">
                <a:latin typeface="Verdana" panose="020B0604030504040204" pitchFamily="34" charset="0"/>
                <a:ea typeface="宋体" panose="02010600030101010101" pitchFamily="2" charset="-122"/>
              </a:rPr>
              <a:t>'),</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('002','</a:t>
            </a:r>
            <a:r>
              <a:rPr lang="zh-CN" altLang="en-US" sz="2400" dirty="0">
                <a:latin typeface="Verdana" panose="020B0604030504040204" pitchFamily="34" charset="0"/>
                <a:ea typeface="宋体" panose="02010600030101010101" pitchFamily="2" charset="-122"/>
              </a:rPr>
              <a:t>李四</a:t>
            </a: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 </a:t>
            </a:r>
            <a:endParaRPr lang="zh-CN" altLang="en-US"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('003','</a:t>
            </a:r>
            <a:r>
              <a:rPr lang="zh-CN" altLang="en-US" sz="2400" dirty="0">
                <a:latin typeface="Verdana" panose="020B0604030504040204" pitchFamily="34" charset="0"/>
                <a:ea typeface="宋体" panose="02010600030101010101" pitchFamily="2" charset="-122"/>
              </a:rPr>
              <a:t>王五</a:t>
            </a:r>
            <a:r>
              <a:rPr lang="en-US" altLang="zh-CN" sz="2400" dirty="0">
                <a:latin typeface="Verdana" panose="020B0604030504040204" pitchFamily="34" charset="0"/>
                <a:ea typeface="宋体" panose="02010600030101010101" pitchFamily="2" charset="-122"/>
              </a:rPr>
              <a:t>')</a:t>
            </a:r>
            <a:endParaRPr lang="en-US" altLang="zh-CN" sz="24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23554"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3.5  </a:t>
            </a:r>
            <a:r>
              <a:rPr lang="zh-CN" altLang="en-US" dirty="0"/>
              <a:t>数 据 更 新 </a:t>
            </a:r>
            <a:endParaRPr lang="zh-CN" altLang="en-US" dirty="0"/>
          </a:p>
        </p:txBody>
      </p:sp>
      <p:sp>
        <p:nvSpPr>
          <p:cNvPr id="23555" name="Rectangle 3"/>
          <p:cNvSpPr>
            <a:spLocks noGrp="1"/>
          </p:cNvSpPr>
          <p:nvPr>
            <p:ph idx="1"/>
          </p:nvPr>
        </p:nvSpPr>
        <p:spPr>
          <a:ln/>
        </p:spPr>
        <p:txBody>
          <a:bodyPr vert="horz" wrap="square" lIns="91440" tIns="45720" rIns="91440" bIns="45720" anchor="t" anchorCtr="0"/>
          <a:p>
            <a:pPr algn="just" eaLnBrk="1" hangingPunct="1">
              <a:lnSpc>
                <a:spcPct val="180000"/>
              </a:lnSpc>
              <a:buNone/>
            </a:pPr>
            <a:r>
              <a:rPr lang="en-US" altLang="zh-CN" b="1" dirty="0"/>
              <a:t>3.5.1  </a:t>
            </a:r>
            <a:r>
              <a:rPr lang="zh-CN" altLang="en-US" b="1" dirty="0"/>
              <a:t>插入数据</a:t>
            </a:r>
            <a:endParaRPr lang="zh-CN" altLang="en-US" b="1" dirty="0"/>
          </a:p>
          <a:p>
            <a:pPr algn="just" eaLnBrk="1" hangingPunct="1">
              <a:lnSpc>
                <a:spcPct val="180000"/>
              </a:lnSpc>
              <a:buNone/>
            </a:pPr>
            <a:r>
              <a:rPr lang="en-US" altLang="zh-CN" b="1" dirty="0">
                <a:solidFill>
                  <a:srgbClr val="0033CC"/>
                </a:solidFill>
              </a:rPr>
              <a:t>3.5.2  </a:t>
            </a:r>
            <a:r>
              <a:rPr lang="zh-CN" altLang="en-US" b="1" dirty="0">
                <a:solidFill>
                  <a:srgbClr val="0033CC"/>
                </a:solidFill>
              </a:rPr>
              <a:t>修改数据</a:t>
            </a:r>
            <a:endParaRPr lang="zh-CN" altLang="en-US" b="1" dirty="0">
              <a:solidFill>
                <a:srgbClr val="0033CC"/>
              </a:solidFill>
            </a:endParaRPr>
          </a:p>
          <a:p>
            <a:pPr eaLnBrk="1" hangingPunct="1">
              <a:lnSpc>
                <a:spcPct val="180000"/>
              </a:lnSpc>
              <a:buNone/>
            </a:pPr>
            <a:r>
              <a:rPr lang="en-US" altLang="zh-CN" b="1" dirty="0"/>
              <a:t>3.5.3  </a:t>
            </a:r>
            <a:r>
              <a:rPr lang="zh-CN" altLang="en-US" b="1" dirty="0"/>
              <a:t>删除数据</a:t>
            </a:r>
            <a:r>
              <a:rPr lang="zh-CN" altLang="en-US" dirty="0"/>
              <a:t> </a:t>
            </a:r>
            <a:endParaRPr lang="zh-CN" altLang="en-US" dirty="0"/>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25602"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3.4.2  </a:t>
            </a:r>
            <a:r>
              <a:rPr lang="zh-CN" altLang="en-US" dirty="0"/>
              <a:t>修改数据</a:t>
            </a:r>
            <a:endParaRPr lang="zh-CN" altLang="en-US" dirty="0"/>
          </a:p>
        </p:txBody>
      </p:sp>
      <p:sp>
        <p:nvSpPr>
          <p:cNvPr id="25603" name="Rectangle 3"/>
          <p:cNvSpPr>
            <a:spLocks noGrp="1"/>
          </p:cNvSpPr>
          <p:nvPr>
            <p:ph idx="1"/>
          </p:nvPr>
        </p:nvSpPr>
        <p:spPr>
          <a:xfrm>
            <a:off x="762000" y="1828800"/>
            <a:ext cx="8153400" cy="3760788"/>
          </a:xfrm>
          <a:ln/>
        </p:spPr>
        <p:txBody>
          <a:bodyPr vert="horz" wrap="square" lIns="91440" tIns="45720" rIns="91440" bIns="45720" anchor="t" anchorCtr="0"/>
          <a:p>
            <a:pPr eaLnBrk="1" hangingPunct="1">
              <a:lnSpc>
                <a:spcPct val="90000"/>
              </a:lnSpc>
            </a:pPr>
            <a:r>
              <a:rPr lang="zh-CN" altLang="en-US" dirty="0"/>
              <a:t>语句格式</a:t>
            </a:r>
            <a:endParaRPr lang="zh-CN" altLang="en-US" dirty="0"/>
          </a:p>
          <a:p>
            <a:pPr eaLnBrk="1" hangingPunct="1">
              <a:lnSpc>
                <a:spcPct val="90000"/>
              </a:lnSpc>
              <a:buNone/>
            </a:pPr>
            <a:r>
              <a:rPr lang="zh-CN" altLang="en-US" dirty="0"/>
              <a:t>   </a:t>
            </a:r>
            <a:r>
              <a:rPr lang="en-US" altLang="zh-CN" sz="2400" dirty="0"/>
              <a:t>UPDATE  &lt;</a:t>
            </a:r>
            <a:r>
              <a:rPr lang="zh-CN" altLang="en-US" sz="2400" dirty="0"/>
              <a:t>表名</a:t>
            </a:r>
            <a:r>
              <a:rPr lang="en-US" altLang="zh-CN" sz="2400" dirty="0"/>
              <a:t>&gt;</a:t>
            </a:r>
            <a:endParaRPr lang="en-US" altLang="zh-CN" sz="2400" dirty="0"/>
          </a:p>
          <a:p>
            <a:pPr eaLnBrk="1" hangingPunct="1">
              <a:lnSpc>
                <a:spcPct val="90000"/>
              </a:lnSpc>
              <a:buNone/>
            </a:pPr>
            <a:r>
              <a:rPr lang="en-US" altLang="zh-CN" sz="2400" dirty="0"/>
              <a:t>    SET  &lt;</a:t>
            </a:r>
            <a:r>
              <a:rPr lang="zh-CN" altLang="en-US" sz="2400" dirty="0"/>
              <a:t>列名</a:t>
            </a:r>
            <a:r>
              <a:rPr lang="en-US" altLang="zh-CN" sz="2400" dirty="0"/>
              <a:t>&gt;=&lt;</a:t>
            </a:r>
            <a:r>
              <a:rPr lang="zh-CN" altLang="en-US" sz="2400" dirty="0"/>
              <a:t>表达式</a:t>
            </a:r>
            <a:r>
              <a:rPr lang="en-US" altLang="zh-CN" sz="2400" dirty="0"/>
              <a:t>&gt;[</a:t>
            </a:r>
            <a:r>
              <a:rPr lang="zh-CN" altLang="en-US" sz="2400" dirty="0"/>
              <a:t>，</a:t>
            </a:r>
            <a:r>
              <a:rPr lang="en-US" altLang="zh-CN" sz="2400" dirty="0"/>
              <a:t>&lt;</a:t>
            </a:r>
            <a:r>
              <a:rPr lang="zh-CN" altLang="en-US" sz="2400" dirty="0"/>
              <a:t>列名</a:t>
            </a:r>
            <a:r>
              <a:rPr lang="en-US" altLang="zh-CN" sz="2400" dirty="0"/>
              <a:t>&gt;=&lt;</a:t>
            </a:r>
            <a:r>
              <a:rPr lang="zh-CN" altLang="en-US" sz="2400" dirty="0"/>
              <a:t>表达式</a:t>
            </a:r>
            <a:r>
              <a:rPr lang="en-US" altLang="zh-CN" sz="2400" dirty="0"/>
              <a:t>&gt;]…</a:t>
            </a:r>
            <a:endParaRPr lang="en-US" altLang="zh-CN" sz="2400" dirty="0"/>
          </a:p>
          <a:p>
            <a:pPr eaLnBrk="1" hangingPunct="1">
              <a:lnSpc>
                <a:spcPct val="90000"/>
              </a:lnSpc>
              <a:buNone/>
            </a:pPr>
            <a:r>
              <a:rPr lang="en-US" altLang="zh-CN" sz="2400" dirty="0"/>
              <a:t>    [WHERE &lt;</a:t>
            </a:r>
            <a:r>
              <a:rPr lang="zh-CN" altLang="en-US" sz="2400" dirty="0"/>
              <a:t>条件</a:t>
            </a:r>
            <a:r>
              <a:rPr lang="en-US" altLang="zh-CN" sz="2400" dirty="0"/>
              <a:t>&gt;]</a:t>
            </a:r>
            <a:r>
              <a:rPr lang="zh-CN" altLang="en-US" sz="2400" dirty="0"/>
              <a:t>；</a:t>
            </a:r>
            <a:endParaRPr lang="zh-CN" altLang="en-US" sz="2400" dirty="0"/>
          </a:p>
          <a:p>
            <a:pPr lvl="1" indent="-436245" eaLnBrk="1" hangingPunct="1">
              <a:lnSpc>
                <a:spcPct val="90000"/>
              </a:lnSpc>
              <a:buNone/>
            </a:pPr>
            <a:endParaRPr lang="zh-CN" altLang="en-US" dirty="0"/>
          </a:p>
          <a:p>
            <a:pPr eaLnBrk="1" hangingPunct="1">
              <a:lnSpc>
                <a:spcPct val="90000"/>
              </a:lnSpc>
            </a:pPr>
            <a:r>
              <a:rPr lang="zh-CN" altLang="en-US" dirty="0"/>
              <a:t>功能</a:t>
            </a:r>
            <a:endParaRPr lang="zh-CN" altLang="en-US" dirty="0"/>
          </a:p>
          <a:p>
            <a:pPr lvl="1" indent="-436245" eaLnBrk="1" hangingPunct="1">
              <a:lnSpc>
                <a:spcPct val="110000"/>
              </a:lnSpc>
              <a:buSzPct val="75000"/>
              <a:buFont typeface="Wingdings" panose="05000000000000000000" pitchFamily="2" charset="2"/>
              <a:buChar char="n"/>
            </a:pPr>
            <a:r>
              <a:rPr lang="zh-CN" altLang="en-US" dirty="0"/>
              <a:t>修改指定表中满足</a:t>
            </a:r>
            <a:r>
              <a:rPr lang="en-US" altLang="zh-CN" dirty="0"/>
              <a:t>WHERE</a:t>
            </a:r>
            <a:r>
              <a:rPr lang="zh-CN" altLang="en-US" dirty="0"/>
              <a:t>子句条件的元组的指定列值</a:t>
            </a:r>
            <a:endParaRPr lang="zh-CN" altLang="en-US" dirty="0"/>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27650"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修改数据（续）</a:t>
            </a:r>
            <a:endParaRPr lang="zh-CN" altLang="en-US" dirty="0"/>
          </a:p>
        </p:txBody>
      </p:sp>
      <p:sp>
        <p:nvSpPr>
          <p:cNvPr id="27651" name="Rectangle 3"/>
          <p:cNvSpPr>
            <a:spLocks noGrp="1"/>
          </p:cNvSpPr>
          <p:nvPr>
            <p:ph idx="1"/>
          </p:nvPr>
        </p:nvSpPr>
        <p:spPr>
          <a:ln/>
        </p:spPr>
        <p:txBody>
          <a:bodyPr vert="horz" wrap="square" lIns="91440" tIns="45720" rIns="91440" bIns="45720" anchor="t" anchorCtr="0"/>
          <a:p>
            <a:pPr lvl="1" indent="-436245" eaLnBrk="1" hangingPunct="1">
              <a:lnSpc>
                <a:spcPct val="120000"/>
              </a:lnSpc>
              <a:buSzPct val="75000"/>
              <a:buFont typeface="Wingdings" panose="05000000000000000000" pitchFamily="2" charset="2"/>
              <a:buChar char="n"/>
            </a:pPr>
            <a:r>
              <a:rPr lang="en-US" altLang="zh-CN" dirty="0"/>
              <a:t>SET</a:t>
            </a:r>
            <a:r>
              <a:rPr lang="zh-CN" altLang="en-US" dirty="0"/>
              <a:t>子句</a:t>
            </a:r>
            <a:endParaRPr lang="zh-CN" altLang="en-US" dirty="0"/>
          </a:p>
          <a:p>
            <a:pPr lvl="2" indent="-394970" eaLnBrk="1" hangingPunct="1">
              <a:lnSpc>
                <a:spcPct val="120000"/>
              </a:lnSpc>
              <a:buClrTx/>
              <a:buFont typeface="Wingdings" panose="05000000000000000000" pitchFamily="2" charset="2"/>
              <a:buChar char="Ø"/>
            </a:pPr>
            <a:r>
              <a:rPr lang="zh-CN" altLang="en-US" sz="2000" dirty="0"/>
              <a:t>指定修改方式</a:t>
            </a:r>
            <a:endParaRPr lang="zh-CN" altLang="en-US" sz="2000" dirty="0"/>
          </a:p>
          <a:p>
            <a:pPr lvl="2" indent="-394970" eaLnBrk="1" hangingPunct="1">
              <a:lnSpc>
                <a:spcPct val="120000"/>
              </a:lnSpc>
              <a:buClrTx/>
              <a:buFont typeface="Wingdings" panose="05000000000000000000" pitchFamily="2" charset="2"/>
              <a:buChar char="Ø"/>
            </a:pPr>
            <a:r>
              <a:rPr lang="zh-CN" altLang="en-US" dirty="0"/>
              <a:t>要修改的列</a:t>
            </a:r>
            <a:endParaRPr lang="zh-CN" altLang="en-US" dirty="0"/>
          </a:p>
          <a:p>
            <a:pPr lvl="2" indent="-394970" eaLnBrk="1" hangingPunct="1">
              <a:lnSpc>
                <a:spcPct val="120000"/>
              </a:lnSpc>
              <a:buClrTx/>
              <a:buFont typeface="Wingdings" panose="05000000000000000000" pitchFamily="2" charset="2"/>
              <a:buChar char="Ø"/>
            </a:pPr>
            <a:r>
              <a:rPr lang="zh-CN" altLang="en-US" dirty="0"/>
              <a:t>修改后取值</a:t>
            </a:r>
            <a:endParaRPr lang="zh-CN" altLang="en-US" sz="3100" dirty="0"/>
          </a:p>
          <a:p>
            <a:pPr lvl="1" indent="-436245" eaLnBrk="1" hangingPunct="1">
              <a:lnSpc>
                <a:spcPct val="160000"/>
              </a:lnSpc>
              <a:buSzPct val="75000"/>
              <a:buFont typeface="Wingdings" panose="05000000000000000000" pitchFamily="2" charset="2"/>
              <a:buChar char="n"/>
            </a:pPr>
            <a:r>
              <a:rPr lang="en-US" altLang="zh-CN" dirty="0"/>
              <a:t>WHERE</a:t>
            </a:r>
            <a:r>
              <a:rPr lang="zh-CN" altLang="en-US" dirty="0"/>
              <a:t>子句</a:t>
            </a:r>
            <a:endParaRPr lang="zh-CN" altLang="en-US" dirty="0"/>
          </a:p>
          <a:p>
            <a:pPr lvl="2" indent="-394970" eaLnBrk="1" hangingPunct="1">
              <a:lnSpc>
                <a:spcPct val="120000"/>
              </a:lnSpc>
              <a:buClrTx/>
              <a:buFont typeface="Wingdings" panose="05000000000000000000" pitchFamily="2" charset="2"/>
              <a:buChar char="Ø"/>
            </a:pPr>
            <a:r>
              <a:rPr lang="zh-CN" altLang="en-US" dirty="0"/>
              <a:t>指定要修改的元组</a:t>
            </a:r>
            <a:endParaRPr lang="zh-CN" altLang="en-US" dirty="0"/>
          </a:p>
          <a:p>
            <a:pPr lvl="2" indent="-394970" eaLnBrk="1" hangingPunct="1">
              <a:lnSpc>
                <a:spcPct val="120000"/>
              </a:lnSpc>
              <a:buClrTx/>
              <a:buFont typeface="Wingdings" panose="05000000000000000000" pitchFamily="2" charset="2"/>
              <a:buChar char="Ø"/>
            </a:pPr>
            <a:r>
              <a:rPr lang="zh-CN" altLang="en-US" dirty="0"/>
              <a:t>缺省表示要修改表中的所有元组</a:t>
            </a:r>
            <a:endParaRPr lang="zh-CN" altLang="en-US" dirty="0"/>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29698"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修改数据（续）</a:t>
            </a:r>
            <a:endParaRPr lang="zh-CN" altLang="en-US" dirty="0"/>
          </a:p>
        </p:txBody>
      </p:sp>
      <p:sp>
        <p:nvSpPr>
          <p:cNvPr id="29699" name="Rectangle 3"/>
          <p:cNvSpPr>
            <a:spLocks noGrp="1"/>
          </p:cNvSpPr>
          <p:nvPr>
            <p:ph idx="1"/>
          </p:nvPr>
        </p:nvSpPr>
        <p:spPr>
          <a:ln/>
        </p:spPr>
        <p:txBody>
          <a:bodyPr vert="horz" wrap="square" lIns="91440" tIns="45720" rIns="91440" bIns="45720" anchor="t" anchorCtr="0"/>
          <a:p>
            <a:pPr eaLnBrk="1" hangingPunct="1">
              <a:lnSpc>
                <a:spcPct val="120000"/>
              </a:lnSpc>
            </a:pPr>
            <a:r>
              <a:rPr lang="zh-CN" altLang="en-US" sz="3200" dirty="0"/>
              <a:t>三种修改方式</a:t>
            </a:r>
            <a:endParaRPr lang="zh-CN" altLang="en-US" sz="3200" dirty="0"/>
          </a:p>
          <a:p>
            <a:pPr lvl="1" indent="-436245" eaLnBrk="1" hangingPunct="1">
              <a:lnSpc>
                <a:spcPct val="120000"/>
              </a:lnSpc>
              <a:buNone/>
            </a:pPr>
            <a:r>
              <a:rPr lang="en-US" altLang="zh-CN" dirty="0"/>
              <a:t>1. </a:t>
            </a:r>
            <a:r>
              <a:rPr lang="zh-CN" altLang="en-US" dirty="0"/>
              <a:t>修改某一个元组的值</a:t>
            </a:r>
            <a:endParaRPr lang="zh-CN" altLang="en-US" dirty="0"/>
          </a:p>
          <a:p>
            <a:pPr lvl="1" indent="-436245" eaLnBrk="1" hangingPunct="1">
              <a:lnSpc>
                <a:spcPct val="120000"/>
              </a:lnSpc>
              <a:buNone/>
            </a:pPr>
            <a:r>
              <a:rPr lang="en-US" altLang="zh-CN" dirty="0"/>
              <a:t>2. </a:t>
            </a:r>
            <a:r>
              <a:rPr lang="zh-CN" altLang="en-US" dirty="0">
                <a:solidFill>
                  <a:srgbClr val="FF0000"/>
                </a:solidFill>
              </a:rPr>
              <a:t>修改多个元组的值</a:t>
            </a:r>
            <a:endParaRPr lang="zh-CN" altLang="en-US" dirty="0"/>
          </a:p>
          <a:p>
            <a:pPr lvl="1" indent="-436245" eaLnBrk="1" hangingPunct="1">
              <a:lnSpc>
                <a:spcPct val="120000"/>
              </a:lnSpc>
              <a:buNone/>
            </a:pPr>
            <a:r>
              <a:rPr lang="en-US" altLang="zh-CN" dirty="0"/>
              <a:t>3. </a:t>
            </a:r>
            <a:r>
              <a:rPr lang="zh-CN" altLang="en-US" dirty="0">
                <a:solidFill>
                  <a:srgbClr val="FF0000"/>
                </a:solidFill>
              </a:rPr>
              <a:t>带子查询的修改语句</a:t>
            </a:r>
            <a:endParaRPr lang="zh-CN" altLang="en-US" dirty="0">
              <a:solidFill>
                <a:srgbClr val="FF0000"/>
              </a:solidFill>
            </a:endParaRP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31746"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修改数据（续）</a:t>
            </a:r>
            <a:endParaRPr lang="zh-CN" altLang="en-US" dirty="0"/>
          </a:p>
        </p:txBody>
      </p:sp>
      <p:sp>
        <p:nvSpPr>
          <p:cNvPr id="17412" name="Rectangle 3"/>
          <p:cNvSpPr>
            <a:spLocks noGrp="1"/>
          </p:cNvSpPr>
          <p:nvPr>
            <p:ph idx="1"/>
          </p:nvPr>
        </p:nvSpPr>
        <p:spPr>
          <a:xfrm>
            <a:off x="457200" y="1557338"/>
            <a:ext cx="8229600" cy="2159000"/>
          </a:xfrm>
          <a:ln/>
        </p:spPr>
        <p:txBody>
          <a:bodyPr vert="horz" wrap="square" lIns="91440" tIns="45720" rIns="91440" bIns="45720" anchor="t" anchorCtr="0"/>
          <a:p>
            <a:pPr algn="just" eaLnBrk="1" hangingPunct="1">
              <a:buNone/>
            </a:pPr>
            <a:r>
              <a:rPr lang="en-US" altLang="zh-CN" sz="3200" dirty="0"/>
              <a:t>[</a:t>
            </a:r>
            <a:r>
              <a:rPr lang="zh-CN" altLang="en-US" sz="3200" dirty="0">
                <a:ea typeface="黑体" panose="02010609060101010101" pitchFamily="49" charset="-122"/>
              </a:rPr>
              <a:t>例</a:t>
            </a:r>
            <a:r>
              <a:rPr lang="en-US" altLang="zh-CN" sz="3200" dirty="0"/>
              <a:t>5]  </a:t>
            </a:r>
            <a:r>
              <a:rPr lang="zh-CN" altLang="en-US" sz="3200" dirty="0"/>
              <a:t>将学生</a:t>
            </a:r>
            <a:r>
              <a:rPr lang="en-US" altLang="zh-CN" sz="3200" dirty="0"/>
              <a:t>200215121</a:t>
            </a:r>
            <a:r>
              <a:rPr lang="zh-CN" altLang="en-US" sz="3200" dirty="0"/>
              <a:t>的年龄改为</a:t>
            </a:r>
            <a:r>
              <a:rPr lang="en-US" altLang="zh-CN" sz="3200" dirty="0"/>
              <a:t>22</a:t>
            </a:r>
            <a:r>
              <a:rPr lang="zh-CN" altLang="en-US" sz="3200" dirty="0"/>
              <a:t>岁</a:t>
            </a:r>
            <a:endParaRPr lang="zh-CN" altLang="en-US" sz="3200" dirty="0"/>
          </a:p>
          <a:p>
            <a:pPr algn="just" eaLnBrk="1" hangingPunct="1">
              <a:buNone/>
            </a:pPr>
            <a:r>
              <a:rPr lang="zh-CN" altLang="en-US" sz="2800" dirty="0"/>
              <a:t>         </a:t>
            </a:r>
            <a:r>
              <a:rPr lang="en-US" altLang="zh-CN" sz="2800" dirty="0"/>
              <a:t>UPDATE  Student</a:t>
            </a:r>
            <a:endParaRPr lang="en-US" altLang="zh-CN" sz="2800" dirty="0"/>
          </a:p>
          <a:p>
            <a:pPr algn="just" eaLnBrk="1" hangingPunct="1">
              <a:buNone/>
            </a:pPr>
            <a:r>
              <a:rPr lang="en-US" altLang="zh-CN" sz="2800" dirty="0"/>
              <a:t>         SET Sage=22</a:t>
            </a:r>
            <a:endParaRPr lang="en-US" altLang="zh-CN" sz="2800" dirty="0"/>
          </a:p>
          <a:p>
            <a:pPr algn="just" eaLnBrk="1" hangingPunct="1">
              <a:buNone/>
            </a:pPr>
            <a:r>
              <a:rPr lang="en-US" altLang="zh-CN" sz="2800" dirty="0"/>
              <a:t>         WHERE  Sno=' 200215121 '</a:t>
            </a:r>
            <a:r>
              <a:rPr lang="zh-CN" altLang="en-US" sz="2800" dirty="0"/>
              <a:t>；</a:t>
            </a:r>
            <a:r>
              <a:rPr lang="zh-CN" altLang="en-US" sz="3200" dirty="0"/>
              <a:t> </a:t>
            </a:r>
            <a:endParaRPr lang="zh-CN" altLang="en-US" sz="3200" dirty="0"/>
          </a:p>
          <a:p>
            <a:pPr eaLnBrk="1" hangingPunct="1"/>
            <a:endParaRPr lang="en-US" altLang="zh-CN" sz="2400" dirty="0"/>
          </a:p>
        </p:txBody>
      </p:sp>
      <p:sp>
        <p:nvSpPr>
          <p:cNvPr id="6" name="Rectangle 4"/>
          <p:cNvSpPr/>
          <p:nvPr/>
        </p:nvSpPr>
        <p:spPr>
          <a:xfrm>
            <a:off x="500063" y="3786188"/>
            <a:ext cx="7858125" cy="579437"/>
          </a:xfrm>
          <a:prstGeom prst="rect">
            <a:avLst/>
          </a:prstGeom>
          <a:noFill/>
          <a:ln w="9525">
            <a:noFill/>
          </a:ln>
        </p:spPr>
        <p:txBody>
          <a:bodyPr anchor="t" anchorCtr="0"/>
          <a:p>
            <a:pPr marL="342900" indent="-342900">
              <a:lnSpc>
                <a:spcPct val="90000"/>
              </a:lnSpc>
              <a:spcBef>
                <a:spcPts val="900"/>
              </a:spcBef>
              <a:spcAft>
                <a:spcPts val="850"/>
              </a:spcAft>
              <a:buClr>
                <a:schemeClr val="hlink"/>
              </a:buClr>
              <a:buFont typeface="Wingdings" panose="05000000000000000000" pitchFamily="2" charset="2"/>
            </a:pPr>
            <a:r>
              <a:rPr lang="en-US" altLang="zh-CN" sz="3200" dirty="0">
                <a:latin typeface="Arial" panose="020B0604020202020204" pitchFamily="34" charset="0"/>
                <a:ea typeface="宋体" panose="02010600030101010101" pitchFamily="2" charset="-122"/>
              </a:rPr>
              <a:t>[</a:t>
            </a:r>
            <a:r>
              <a:rPr lang="zh-CN" altLang="en-US" sz="3200" dirty="0">
                <a:latin typeface="Arial" panose="020B0604020202020204" pitchFamily="34" charset="0"/>
                <a:ea typeface="黑体" panose="02010609060101010101" pitchFamily="49" charset="-122"/>
              </a:rPr>
              <a:t>例</a:t>
            </a:r>
            <a:r>
              <a:rPr lang="en-US" altLang="zh-CN" sz="3200" dirty="0">
                <a:latin typeface="Arial" panose="020B0604020202020204" pitchFamily="34" charset="0"/>
                <a:ea typeface="宋体" panose="02010600030101010101" pitchFamily="2" charset="-122"/>
              </a:rPr>
              <a:t>6]  </a:t>
            </a:r>
            <a:r>
              <a:rPr lang="zh-CN" altLang="en-US" sz="3200" dirty="0">
                <a:latin typeface="Arial" panose="020B0604020202020204" pitchFamily="34" charset="0"/>
                <a:ea typeface="宋体" panose="02010600030101010101" pitchFamily="2" charset="-122"/>
              </a:rPr>
              <a:t>将所有学生的年龄增加</a:t>
            </a:r>
            <a:r>
              <a:rPr lang="en-US" altLang="zh-CN" sz="3200" dirty="0">
                <a:latin typeface="Arial" panose="020B0604020202020204" pitchFamily="34" charset="0"/>
                <a:ea typeface="宋体" panose="02010600030101010101" pitchFamily="2" charset="-122"/>
              </a:rPr>
              <a:t>1</a:t>
            </a:r>
            <a:r>
              <a:rPr lang="zh-CN" altLang="en-US" sz="3200" dirty="0">
                <a:latin typeface="Arial" panose="020B0604020202020204" pitchFamily="34" charset="0"/>
                <a:ea typeface="宋体" panose="02010600030101010101" pitchFamily="2" charset="-122"/>
              </a:rPr>
              <a:t>岁</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endParaRPr lang="zh-CN" altLang="en-US"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endParaRPr lang="en-US" altLang="zh-CN" sz="2000" dirty="0">
              <a:latin typeface="Arial" panose="020B0604020202020204" pitchFamily="34" charset="0"/>
              <a:ea typeface="宋体" panose="02010600030101010101" pitchFamily="2" charset="-122"/>
            </a:endParaRPr>
          </a:p>
        </p:txBody>
      </p:sp>
      <p:sp>
        <p:nvSpPr>
          <p:cNvPr id="2" name="矩形 1"/>
          <p:cNvSpPr/>
          <p:nvPr/>
        </p:nvSpPr>
        <p:spPr>
          <a:xfrm>
            <a:off x="1258888" y="4724400"/>
            <a:ext cx="6192837" cy="954088"/>
          </a:xfrm>
          <a:prstGeom prst="rect">
            <a:avLst/>
          </a:prstGeom>
          <a:noFill/>
          <a:ln w="9525">
            <a:noFill/>
          </a:ln>
        </p:spPr>
        <p:txBody>
          <a:bodyPr anchor="t" anchorCtr="0">
            <a:spAutoFit/>
          </a:bodyPr>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UPDATE Student       </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SET Sage= Sage+1</a:t>
            </a:r>
            <a:r>
              <a:rPr lang="zh-CN" altLang="en-US" sz="2800" dirty="0">
                <a:latin typeface="Arial" panose="020B0604020202020204" pitchFamily="34" charset="0"/>
                <a:ea typeface="宋体" panose="02010600030101010101" pitchFamily="2" charset="-122"/>
              </a:rPr>
              <a:t>；</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2">
                                            <p:txEl>
                                              <p:charRg st="0" end="27"/>
                                            </p:txEl>
                                          </p:spTgt>
                                        </p:tgtEl>
                                        <p:attrNameLst>
                                          <p:attrName>style.visibility</p:attrName>
                                        </p:attrNameLst>
                                      </p:cBhvr>
                                      <p:to>
                                        <p:strVal val="visible"/>
                                      </p:to>
                                    </p:set>
                                    <p:anim calcmode="lin" valueType="num">
                                      <p:cBhvr additive="base">
                                        <p:cTn id="7" dur="500" fill="hold"/>
                                        <p:tgtEl>
                                          <p:spTgt spid="17412">
                                            <p:txEl>
                                              <p:charRg st="0" end="2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2">
                                            <p:txEl>
                                              <p:charRg st="0" end="2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2">
                                            <p:txEl>
                                              <p:charRg st="27" end="52"/>
                                            </p:txEl>
                                          </p:spTgt>
                                        </p:tgtEl>
                                        <p:attrNameLst>
                                          <p:attrName>style.visibility</p:attrName>
                                        </p:attrNameLst>
                                      </p:cBhvr>
                                      <p:to>
                                        <p:strVal val="visible"/>
                                      </p:to>
                                    </p:set>
                                    <p:anim calcmode="lin" valueType="num">
                                      <p:cBhvr additive="base">
                                        <p:cTn id="13" dur="500" fill="hold"/>
                                        <p:tgtEl>
                                          <p:spTgt spid="17412">
                                            <p:txEl>
                                              <p:charRg st="27" end="5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2">
                                            <p:txEl>
                                              <p:charRg st="27" end="5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12">
                                            <p:txEl>
                                              <p:charRg st="52" end="73"/>
                                            </p:txEl>
                                          </p:spTgt>
                                        </p:tgtEl>
                                        <p:attrNameLst>
                                          <p:attrName>style.visibility</p:attrName>
                                        </p:attrNameLst>
                                      </p:cBhvr>
                                      <p:to>
                                        <p:strVal val="visible"/>
                                      </p:to>
                                    </p:set>
                                    <p:anim calcmode="lin" valueType="num">
                                      <p:cBhvr additive="base">
                                        <p:cTn id="19" dur="500" fill="hold"/>
                                        <p:tgtEl>
                                          <p:spTgt spid="17412">
                                            <p:txEl>
                                              <p:charRg st="52" end="7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2">
                                            <p:txEl>
                                              <p:charRg st="52" end="7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412">
                                            <p:txEl>
                                              <p:charRg st="73" end="109"/>
                                            </p:txEl>
                                          </p:spTgt>
                                        </p:tgtEl>
                                        <p:attrNameLst>
                                          <p:attrName>style.visibility</p:attrName>
                                        </p:attrNameLst>
                                      </p:cBhvr>
                                      <p:to>
                                        <p:strVal val="visible"/>
                                      </p:to>
                                    </p:set>
                                    <p:anim calcmode="lin" valueType="num">
                                      <p:cBhvr additive="base">
                                        <p:cTn id="25" dur="500" fill="hold"/>
                                        <p:tgtEl>
                                          <p:spTgt spid="17412">
                                            <p:txEl>
                                              <p:charRg st="73" end="10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2">
                                            <p:txEl>
                                              <p:charRg st="73" end="109"/>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build="p"/>
      <p:bldP spid="6"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33794"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修改数据（续）</a:t>
            </a:r>
            <a:endParaRPr lang="zh-CN" altLang="en-US" dirty="0"/>
          </a:p>
        </p:txBody>
      </p:sp>
      <p:sp>
        <p:nvSpPr>
          <p:cNvPr id="7" name="Rectangle 5"/>
          <p:cNvSpPr/>
          <p:nvPr/>
        </p:nvSpPr>
        <p:spPr>
          <a:xfrm>
            <a:off x="357188" y="1643063"/>
            <a:ext cx="7772400" cy="3571875"/>
          </a:xfrm>
          <a:prstGeom prst="rect">
            <a:avLst/>
          </a:prstGeom>
          <a:noFill/>
          <a:ln w="9525">
            <a:noFill/>
          </a:ln>
        </p:spPr>
        <p:txBody>
          <a:bodyPr anchor="t" anchorCtr="0"/>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黑体" panose="02010609060101010101" pitchFamily="49" charset="-122"/>
              </a:rPr>
              <a:t>例</a:t>
            </a:r>
            <a:r>
              <a:rPr lang="en-US" altLang="zh-CN" sz="2800" dirty="0">
                <a:latin typeface="Arial" panose="020B0604020202020204" pitchFamily="34" charset="0"/>
                <a:ea typeface="黑体" panose="02010609060101010101" pitchFamily="49" charset="-122"/>
              </a:rPr>
              <a:t>7</a:t>
            </a:r>
            <a:r>
              <a:rPr lang="en-US" altLang="zh-CN" sz="2800" dirty="0">
                <a:latin typeface="Arial" panose="020B0604020202020204" pitchFamily="34" charset="0"/>
                <a:ea typeface="宋体" panose="02010600030101010101" pitchFamily="2" charset="-122"/>
              </a:rPr>
              <a:t>]  </a:t>
            </a:r>
            <a:r>
              <a:rPr lang="zh-CN" altLang="en-US" sz="2800" dirty="0">
                <a:latin typeface="Arial" panose="020B0604020202020204" pitchFamily="34" charset="0"/>
                <a:ea typeface="宋体" panose="02010600030101010101" pitchFamily="2" charset="-122"/>
              </a:rPr>
              <a:t>将计算机科学系全体学生的成绩置零。</a:t>
            </a:r>
            <a:endParaRPr lang="zh-CN" altLang="en-US" sz="20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        </a:t>
            </a:r>
            <a:r>
              <a:rPr lang="en-US" altLang="zh-CN" sz="2800" dirty="0">
                <a:latin typeface="Arial" panose="020B0604020202020204" pitchFamily="34" charset="0"/>
                <a:ea typeface="宋体" panose="02010600030101010101" pitchFamily="2" charset="-122"/>
              </a:rPr>
              <a:t>UPDATE SC</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SET  Grade=0</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WHERE  Sno in</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(SELETE sno</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FROM  Student</a:t>
            </a:r>
            <a:endParaRPr lang="en-US" altLang="zh-CN" sz="2800" dirty="0">
              <a:latin typeface="Arial" panose="020B0604020202020204" pitchFamily="34" charset="0"/>
              <a:ea typeface="宋体" panose="02010600030101010101" pitchFamily="2" charset="-122"/>
            </a:endParaRPr>
          </a:p>
          <a:p>
            <a:pPr marL="342900" indent="-342900" algn="just">
              <a:lnSpc>
                <a:spcPct val="90000"/>
              </a:lnSpc>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                        WHERE  sdept=‘CS’)</a:t>
            </a:r>
            <a:r>
              <a:rPr lang="zh-CN" altLang="en-US" sz="2800" dirty="0">
                <a:latin typeface="Arial" panose="020B0604020202020204" pitchFamily="34" charset="0"/>
                <a:ea typeface="宋体" panose="02010600030101010101" pitchFamily="2" charset="-122"/>
              </a:rPr>
              <a:t>；</a:t>
            </a:r>
            <a:endParaRPr lang="zh-CN" altLang="en-US" sz="32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charRg st="0" end="24"/>
                                            </p:txEl>
                                          </p:spTgt>
                                        </p:tgtEl>
                                        <p:attrNameLst>
                                          <p:attrName>style.visibility</p:attrName>
                                        </p:attrNameLst>
                                      </p:cBhvr>
                                      <p:to>
                                        <p:strVal val="visible"/>
                                      </p:to>
                                    </p:set>
                                    <p:anim calcmode="lin" valueType="num">
                                      <p:cBhvr additive="base">
                                        <p:cTn id="7" dur="500" fill="hold"/>
                                        <p:tgtEl>
                                          <p:spTgt spid="7">
                                            <p:txEl>
                                              <p:charRg st="0" end="2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charRg st="0" end="2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charRg st="24" end="42"/>
                                            </p:txEl>
                                          </p:spTgt>
                                        </p:tgtEl>
                                        <p:attrNameLst>
                                          <p:attrName>style.visibility</p:attrName>
                                        </p:attrNameLst>
                                      </p:cBhvr>
                                      <p:to>
                                        <p:strVal val="visible"/>
                                      </p:to>
                                    </p:set>
                                    <p:anim calcmode="lin" valueType="num">
                                      <p:cBhvr additive="base">
                                        <p:cTn id="13" dur="500" fill="hold"/>
                                        <p:tgtEl>
                                          <p:spTgt spid="7">
                                            <p:txEl>
                                              <p:charRg st="24" end="4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charRg st="24" end="4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charRg st="42" end="63"/>
                                            </p:txEl>
                                          </p:spTgt>
                                        </p:tgtEl>
                                        <p:attrNameLst>
                                          <p:attrName>style.visibility</p:attrName>
                                        </p:attrNameLst>
                                      </p:cBhvr>
                                      <p:to>
                                        <p:strVal val="visible"/>
                                      </p:to>
                                    </p:set>
                                    <p:anim calcmode="lin" valueType="num">
                                      <p:cBhvr additive="base">
                                        <p:cTn id="19" dur="500" fill="hold"/>
                                        <p:tgtEl>
                                          <p:spTgt spid="7">
                                            <p:txEl>
                                              <p:charRg st="42" end="6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charRg st="42" end="6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charRg st="63" end="85"/>
                                            </p:txEl>
                                          </p:spTgt>
                                        </p:tgtEl>
                                        <p:attrNameLst>
                                          <p:attrName>style.visibility</p:attrName>
                                        </p:attrNameLst>
                                      </p:cBhvr>
                                      <p:to>
                                        <p:strVal val="visible"/>
                                      </p:to>
                                    </p:set>
                                    <p:anim calcmode="lin" valueType="num">
                                      <p:cBhvr additive="base">
                                        <p:cTn id="25" dur="500" fill="hold"/>
                                        <p:tgtEl>
                                          <p:spTgt spid="7">
                                            <p:txEl>
                                              <p:charRg st="63" end="8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charRg st="63" end="8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charRg st="85" end="120"/>
                                            </p:txEl>
                                          </p:spTgt>
                                        </p:tgtEl>
                                        <p:attrNameLst>
                                          <p:attrName>style.visibility</p:attrName>
                                        </p:attrNameLst>
                                      </p:cBhvr>
                                      <p:to>
                                        <p:strVal val="visible"/>
                                      </p:to>
                                    </p:set>
                                    <p:anim calcmode="lin" valueType="num">
                                      <p:cBhvr additive="base">
                                        <p:cTn id="31" dur="500" fill="hold"/>
                                        <p:tgtEl>
                                          <p:spTgt spid="7">
                                            <p:txEl>
                                              <p:charRg st="85" end="12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charRg st="85" end="12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charRg st="120" end="158"/>
                                            </p:txEl>
                                          </p:spTgt>
                                        </p:tgtEl>
                                        <p:attrNameLst>
                                          <p:attrName>style.visibility</p:attrName>
                                        </p:attrNameLst>
                                      </p:cBhvr>
                                      <p:to>
                                        <p:strVal val="visible"/>
                                      </p:to>
                                    </p:set>
                                    <p:anim calcmode="lin" valueType="num">
                                      <p:cBhvr additive="base">
                                        <p:cTn id="37" dur="500" fill="hold"/>
                                        <p:tgtEl>
                                          <p:spTgt spid="7">
                                            <p:txEl>
                                              <p:charRg st="120" end="15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charRg st="120" end="15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xEl>
                                              <p:charRg st="158" end="202"/>
                                            </p:txEl>
                                          </p:spTgt>
                                        </p:tgtEl>
                                        <p:attrNameLst>
                                          <p:attrName>style.visibility</p:attrName>
                                        </p:attrNameLst>
                                      </p:cBhvr>
                                      <p:to>
                                        <p:strVal val="visible"/>
                                      </p:to>
                                    </p:set>
                                    <p:anim calcmode="lin" valueType="num">
                                      <p:cBhvr additive="base">
                                        <p:cTn id="43" dur="500" fill="hold"/>
                                        <p:tgtEl>
                                          <p:spTgt spid="7">
                                            <p:txEl>
                                              <p:charRg st="158" end="20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charRg st="158" end="20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34818"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修改数据（续）</a:t>
            </a:r>
            <a:endParaRPr lang="zh-CN" altLang="en-US" dirty="0"/>
          </a:p>
        </p:txBody>
      </p:sp>
      <p:sp>
        <p:nvSpPr>
          <p:cNvPr id="34819" name="Rectangle 3"/>
          <p:cNvSpPr>
            <a:spLocks noGrp="1"/>
          </p:cNvSpPr>
          <p:nvPr>
            <p:ph idx="1"/>
          </p:nvPr>
        </p:nvSpPr>
        <p:spPr>
          <a:ln/>
        </p:spPr>
        <p:txBody>
          <a:bodyPr vert="horz" wrap="square" lIns="91440" tIns="45720" rIns="91440" bIns="45720" anchor="t" anchorCtr="0"/>
          <a:p>
            <a:pPr eaLnBrk="1" hangingPunct="1">
              <a:lnSpc>
                <a:spcPct val="130000"/>
              </a:lnSpc>
              <a:buNone/>
            </a:pPr>
            <a:r>
              <a:rPr lang="en-US" altLang="zh-CN" dirty="0"/>
              <a:t>   RDBMS</a:t>
            </a:r>
            <a:r>
              <a:rPr lang="zh-CN" altLang="en-US" dirty="0"/>
              <a:t>在执行修改语句时会检查修改操作是否破坏表上已定义的完整性规则</a:t>
            </a:r>
            <a:endParaRPr lang="zh-CN" altLang="en-US" sz="3200" dirty="0"/>
          </a:p>
          <a:p>
            <a:pPr lvl="1" indent="-436245" eaLnBrk="1" hangingPunct="1">
              <a:lnSpc>
                <a:spcPct val="130000"/>
              </a:lnSpc>
              <a:buSzPct val="75000"/>
              <a:buFont typeface="Wingdings" panose="05000000000000000000" pitchFamily="2" charset="2"/>
              <a:buChar char="n"/>
            </a:pPr>
            <a:r>
              <a:rPr lang="zh-CN" altLang="en-US" dirty="0"/>
              <a:t>实体完整性</a:t>
            </a:r>
            <a:endParaRPr lang="zh-CN" altLang="en-US" dirty="0"/>
          </a:p>
          <a:p>
            <a:pPr lvl="1" indent="-436245" eaLnBrk="1" hangingPunct="1">
              <a:lnSpc>
                <a:spcPct val="130000"/>
              </a:lnSpc>
              <a:buSzPct val="75000"/>
              <a:buFont typeface="Wingdings" panose="05000000000000000000" pitchFamily="2" charset="2"/>
              <a:buChar char="n"/>
            </a:pPr>
            <a:r>
              <a:rPr lang="zh-CN" altLang="en-US" dirty="0"/>
              <a:t>主码不允许修改</a:t>
            </a:r>
            <a:endParaRPr lang="zh-CN" altLang="en-US" dirty="0"/>
          </a:p>
          <a:p>
            <a:pPr lvl="1" indent="-436245" eaLnBrk="1" hangingPunct="1">
              <a:lnSpc>
                <a:spcPct val="130000"/>
              </a:lnSpc>
              <a:buSzPct val="75000"/>
              <a:buFont typeface="Wingdings" panose="05000000000000000000" pitchFamily="2" charset="2"/>
              <a:buChar char="n"/>
            </a:pPr>
            <a:r>
              <a:rPr lang="zh-CN" altLang="en-US" dirty="0"/>
              <a:t>用户定义的完整性</a:t>
            </a:r>
            <a:endParaRPr lang="zh-CN" altLang="en-US" dirty="0"/>
          </a:p>
          <a:p>
            <a:pPr lvl="2" indent="-394970" eaLnBrk="1" hangingPunct="1">
              <a:lnSpc>
                <a:spcPct val="130000"/>
              </a:lnSpc>
              <a:buClrTx/>
              <a:buFont typeface="Wingdings" panose="05000000000000000000" pitchFamily="2" charset="2"/>
              <a:buChar char="Ø"/>
            </a:pPr>
            <a:r>
              <a:rPr lang="zh-CN" altLang="en-US" dirty="0"/>
              <a:t> </a:t>
            </a:r>
            <a:r>
              <a:rPr lang="en-US" altLang="zh-CN" dirty="0"/>
              <a:t>NOT NULL</a:t>
            </a:r>
            <a:r>
              <a:rPr lang="zh-CN" altLang="en-US" dirty="0"/>
              <a:t>约束</a:t>
            </a:r>
            <a:endParaRPr lang="zh-CN" altLang="en-US" dirty="0"/>
          </a:p>
          <a:p>
            <a:pPr lvl="2" indent="-394970" eaLnBrk="1" hangingPunct="1">
              <a:lnSpc>
                <a:spcPct val="130000"/>
              </a:lnSpc>
              <a:buClrTx/>
              <a:buFont typeface="Wingdings" panose="05000000000000000000" pitchFamily="2" charset="2"/>
              <a:buChar char="Ø"/>
            </a:pPr>
            <a:r>
              <a:rPr lang="zh-CN" altLang="en-US" dirty="0"/>
              <a:t> </a:t>
            </a:r>
            <a:r>
              <a:rPr lang="en-US" altLang="zh-CN" dirty="0"/>
              <a:t>UNIQUE</a:t>
            </a:r>
            <a:r>
              <a:rPr lang="zh-CN" altLang="en-US" dirty="0"/>
              <a:t>约束</a:t>
            </a:r>
            <a:endParaRPr lang="zh-CN" altLang="en-US" dirty="0"/>
          </a:p>
          <a:p>
            <a:pPr lvl="2" indent="-394970" eaLnBrk="1" hangingPunct="1">
              <a:lnSpc>
                <a:spcPct val="130000"/>
              </a:lnSpc>
              <a:buClrTx/>
              <a:buFont typeface="Wingdings" panose="05000000000000000000" pitchFamily="2" charset="2"/>
              <a:buChar char="Ø"/>
            </a:pPr>
            <a:r>
              <a:rPr lang="zh-CN" altLang="en-US" dirty="0"/>
              <a:t> 值域约束</a:t>
            </a:r>
            <a:endParaRPr lang="zh-CN" altLang="en-US" dirty="0"/>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36866"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3.5  </a:t>
            </a:r>
            <a:r>
              <a:rPr lang="zh-CN" altLang="en-US" dirty="0"/>
              <a:t>数 据 更 新 </a:t>
            </a:r>
            <a:endParaRPr lang="zh-CN" altLang="en-US" dirty="0"/>
          </a:p>
        </p:txBody>
      </p:sp>
      <p:sp>
        <p:nvSpPr>
          <p:cNvPr id="36867" name="Rectangle 3"/>
          <p:cNvSpPr>
            <a:spLocks noGrp="1"/>
          </p:cNvSpPr>
          <p:nvPr>
            <p:ph idx="1"/>
          </p:nvPr>
        </p:nvSpPr>
        <p:spPr>
          <a:xfrm>
            <a:off x="539750" y="1773238"/>
            <a:ext cx="7570788" cy="4495800"/>
          </a:xfrm>
          <a:ln/>
        </p:spPr>
        <p:txBody>
          <a:bodyPr vert="horz" wrap="square" lIns="91440" tIns="45720" rIns="91440" bIns="45720" anchor="t" anchorCtr="0"/>
          <a:p>
            <a:pPr algn="just" eaLnBrk="1" hangingPunct="1">
              <a:lnSpc>
                <a:spcPct val="200000"/>
              </a:lnSpc>
              <a:buNone/>
            </a:pPr>
            <a:r>
              <a:rPr lang="en-US" altLang="zh-CN" b="1" dirty="0"/>
              <a:t>3.5.1  </a:t>
            </a:r>
            <a:r>
              <a:rPr lang="zh-CN" altLang="en-US" b="1" dirty="0"/>
              <a:t>插入数据</a:t>
            </a:r>
            <a:endParaRPr lang="zh-CN" altLang="en-US" b="1" dirty="0"/>
          </a:p>
          <a:p>
            <a:pPr algn="just" eaLnBrk="1" hangingPunct="1">
              <a:lnSpc>
                <a:spcPct val="200000"/>
              </a:lnSpc>
              <a:buNone/>
            </a:pPr>
            <a:r>
              <a:rPr lang="en-US" altLang="zh-CN" b="1" dirty="0"/>
              <a:t>3.5.2  </a:t>
            </a:r>
            <a:r>
              <a:rPr lang="zh-CN" altLang="en-US" b="1" dirty="0"/>
              <a:t>修改数据</a:t>
            </a:r>
            <a:endParaRPr lang="zh-CN" altLang="en-US" b="1" dirty="0"/>
          </a:p>
          <a:p>
            <a:pPr eaLnBrk="1" hangingPunct="1">
              <a:lnSpc>
                <a:spcPct val="200000"/>
              </a:lnSpc>
              <a:buNone/>
            </a:pPr>
            <a:r>
              <a:rPr lang="en-US" altLang="zh-CN" b="1" dirty="0">
                <a:solidFill>
                  <a:srgbClr val="0033CC"/>
                </a:solidFill>
              </a:rPr>
              <a:t>3.5.3  </a:t>
            </a:r>
            <a:r>
              <a:rPr lang="zh-CN" altLang="en-US" b="1" dirty="0">
                <a:solidFill>
                  <a:srgbClr val="0033CC"/>
                </a:solidFill>
              </a:rPr>
              <a:t>删除数据 </a:t>
            </a:r>
            <a:endParaRPr lang="zh-CN" altLang="en-US" b="1" dirty="0">
              <a:solidFill>
                <a:srgbClr val="0033CC"/>
              </a:solidFill>
            </a:endParaRP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38914"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ea typeface="黑体" panose="02010609060101010101" pitchFamily="49" charset="-122"/>
              </a:rPr>
              <a:t>3.5.3  </a:t>
            </a:r>
            <a:r>
              <a:rPr lang="zh-CN" altLang="en-US" dirty="0"/>
              <a:t>删除数据</a:t>
            </a:r>
            <a:endParaRPr lang="zh-CN" altLang="en-US" dirty="0"/>
          </a:p>
        </p:txBody>
      </p:sp>
      <p:sp>
        <p:nvSpPr>
          <p:cNvPr id="38915" name="Rectangle 3"/>
          <p:cNvSpPr>
            <a:spLocks noGrp="1"/>
          </p:cNvSpPr>
          <p:nvPr>
            <p:ph idx="1"/>
          </p:nvPr>
        </p:nvSpPr>
        <p:spPr>
          <a:xfrm>
            <a:off x="714375" y="1357313"/>
            <a:ext cx="7772400" cy="4114800"/>
          </a:xfrm>
          <a:ln/>
        </p:spPr>
        <p:txBody>
          <a:bodyPr vert="horz" wrap="square" lIns="91440" tIns="45720" rIns="91440" bIns="45720" anchor="t" anchorCtr="0"/>
          <a:p>
            <a:pPr algn="just" eaLnBrk="1" hangingPunct="1">
              <a:lnSpc>
                <a:spcPct val="110000"/>
              </a:lnSpc>
            </a:pPr>
            <a:r>
              <a:rPr lang="zh-CN" altLang="en-US" sz="2400" dirty="0"/>
              <a:t>语句格式</a:t>
            </a:r>
            <a:endParaRPr lang="zh-CN" altLang="en-US" sz="2400" dirty="0"/>
          </a:p>
          <a:p>
            <a:pPr algn="just" eaLnBrk="1" hangingPunct="1">
              <a:lnSpc>
                <a:spcPct val="110000"/>
              </a:lnSpc>
              <a:buNone/>
            </a:pPr>
            <a:r>
              <a:rPr lang="zh-CN" altLang="en-US" sz="2200" dirty="0"/>
              <a:t>       </a:t>
            </a:r>
            <a:r>
              <a:rPr lang="en-US" altLang="zh-CN" sz="2200" dirty="0"/>
              <a:t>DELETE</a:t>
            </a:r>
            <a:endParaRPr lang="en-US" altLang="zh-CN" sz="2200" dirty="0"/>
          </a:p>
          <a:p>
            <a:pPr algn="just" eaLnBrk="1" hangingPunct="1">
              <a:lnSpc>
                <a:spcPct val="110000"/>
              </a:lnSpc>
              <a:buNone/>
            </a:pPr>
            <a:r>
              <a:rPr lang="en-US" altLang="zh-CN" sz="2200" dirty="0"/>
              <a:t>       FROM     &lt;</a:t>
            </a:r>
            <a:r>
              <a:rPr lang="zh-CN" altLang="en-US" sz="2200" dirty="0"/>
              <a:t>表名</a:t>
            </a:r>
            <a:r>
              <a:rPr lang="en-US" altLang="zh-CN" sz="2200" dirty="0"/>
              <a:t>&gt;</a:t>
            </a:r>
            <a:endParaRPr lang="en-US" altLang="zh-CN" sz="2200" dirty="0"/>
          </a:p>
          <a:p>
            <a:pPr algn="just" eaLnBrk="1" hangingPunct="1">
              <a:lnSpc>
                <a:spcPct val="110000"/>
              </a:lnSpc>
              <a:buNone/>
            </a:pPr>
            <a:r>
              <a:rPr lang="en-US" altLang="zh-CN" sz="2200" dirty="0"/>
              <a:t>       [WHERE &lt;</a:t>
            </a:r>
            <a:r>
              <a:rPr lang="zh-CN" altLang="en-US" sz="2200" dirty="0"/>
              <a:t>条件</a:t>
            </a:r>
            <a:r>
              <a:rPr lang="en-US" altLang="zh-CN" sz="2200" dirty="0"/>
              <a:t>&gt;]</a:t>
            </a:r>
            <a:r>
              <a:rPr lang="zh-CN" altLang="en-US" sz="2200" dirty="0"/>
              <a:t>；</a:t>
            </a:r>
            <a:endParaRPr lang="zh-CN" altLang="en-US" sz="2200" dirty="0"/>
          </a:p>
          <a:p>
            <a:pPr algn="just" eaLnBrk="1" hangingPunct="1">
              <a:lnSpc>
                <a:spcPct val="110000"/>
              </a:lnSpc>
            </a:pPr>
            <a:r>
              <a:rPr lang="zh-CN" altLang="en-US" sz="2400" dirty="0"/>
              <a:t>功能</a:t>
            </a:r>
            <a:endParaRPr lang="zh-CN" altLang="en-US" sz="2400" dirty="0"/>
          </a:p>
          <a:p>
            <a:pPr lvl="1" indent="-436245" algn="just" eaLnBrk="1" hangingPunct="1">
              <a:lnSpc>
                <a:spcPct val="110000"/>
              </a:lnSpc>
              <a:buSzPct val="75000"/>
              <a:buFont typeface="Wingdings" panose="05000000000000000000" pitchFamily="2" charset="2"/>
              <a:buChar char="n"/>
            </a:pPr>
            <a:r>
              <a:rPr lang="zh-CN" altLang="en-US" sz="2200" dirty="0"/>
              <a:t>删除指定表中满足</a:t>
            </a:r>
            <a:r>
              <a:rPr lang="en-US" altLang="zh-CN" sz="2200" dirty="0"/>
              <a:t>WHERE</a:t>
            </a:r>
            <a:r>
              <a:rPr lang="zh-CN" altLang="en-US" sz="2200" dirty="0"/>
              <a:t>子句条件的元组</a:t>
            </a:r>
            <a:endParaRPr lang="zh-CN" altLang="en-US" sz="2200" dirty="0"/>
          </a:p>
          <a:p>
            <a:pPr algn="just" eaLnBrk="1" hangingPunct="1">
              <a:lnSpc>
                <a:spcPct val="110000"/>
              </a:lnSpc>
            </a:pPr>
            <a:r>
              <a:rPr lang="en-US" altLang="zh-CN" sz="2400" dirty="0"/>
              <a:t>WHERE</a:t>
            </a:r>
            <a:r>
              <a:rPr lang="zh-CN" altLang="en-US" sz="2400" dirty="0"/>
              <a:t>子句</a:t>
            </a:r>
            <a:endParaRPr lang="zh-CN" altLang="en-US" sz="2400" dirty="0"/>
          </a:p>
          <a:p>
            <a:pPr lvl="1" indent="-436245" algn="just" eaLnBrk="1" hangingPunct="1">
              <a:lnSpc>
                <a:spcPct val="110000"/>
              </a:lnSpc>
              <a:buSzPct val="75000"/>
              <a:buFont typeface="Wingdings" panose="05000000000000000000" pitchFamily="2" charset="2"/>
              <a:buChar char="n"/>
            </a:pPr>
            <a:r>
              <a:rPr lang="zh-CN" altLang="en-US" sz="2200" dirty="0"/>
              <a:t>指定要删除的元组</a:t>
            </a:r>
            <a:endParaRPr lang="zh-CN" altLang="en-US" sz="2200" dirty="0"/>
          </a:p>
          <a:p>
            <a:pPr lvl="1" indent="-436245" algn="just" eaLnBrk="1" hangingPunct="1">
              <a:lnSpc>
                <a:spcPct val="110000"/>
              </a:lnSpc>
              <a:buSzPct val="75000"/>
              <a:buFont typeface="Wingdings" panose="05000000000000000000" pitchFamily="2" charset="2"/>
              <a:buChar char="n"/>
            </a:pPr>
            <a:r>
              <a:rPr lang="zh-CN" altLang="en-US" sz="2200" dirty="0"/>
              <a:t>缺省表示要删除表中的全部元组，表的定义仍在字典中</a:t>
            </a:r>
            <a:endParaRPr lang="zh-CN" altLang="en-US" sz="2200" dirty="0"/>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40962"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删除数据（续）</a:t>
            </a:r>
            <a:endParaRPr lang="zh-CN" altLang="en-US" dirty="0"/>
          </a:p>
        </p:txBody>
      </p:sp>
      <p:sp>
        <p:nvSpPr>
          <p:cNvPr id="40963" name="Rectangle 3"/>
          <p:cNvSpPr>
            <a:spLocks noGrp="1"/>
          </p:cNvSpPr>
          <p:nvPr>
            <p:ph idx="1"/>
          </p:nvPr>
        </p:nvSpPr>
        <p:spPr>
          <a:ln/>
        </p:spPr>
        <p:txBody>
          <a:bodyPr vert="horz" wrap="square" lIns="91440" tIns="45720" rIns="91440" bIns="45720" anchor="t" anchorCtr="0"/>
          <a:p>
            <a:pPr eaLnBrk="1" hangingPunct="1">
              <a:lnSpc>
                <a:spcPct val="120000"/>
              </a:lnSpc>
            </a:pPr>
            <a:r>
              <a:rPr lang="zh-CN" altLang="en-US" dirty="0"/>
              <a:t>三种删除方式</a:t>
            </a:r>
            <a:endParaRPr lang="zh-CN" altLang="en-US" dirty="0"/>
          </a:p>
          <a:p>
            <a:pPr lvl="1" indent="-436245" eaLnBrk="1" hangingPunct="1">
              <a:lnSpc>
                <a:spcPct val="170000"/>
              </a:lnSpc>
              <a:buNone/>
            </a:pPr>
            <a:r>
              <a:rPr lang="en-US" altLang="zh-CN" dirty="0"/>
              <a:t>1. </a:t>
            </a:r>
            <a:r>
              <a:rPr lang="zh-CN" altLang="en-US" dirty="0"/>
              <a:t>删除某一个元组的值</a:t>
            </a:r>
            <a:endParaRPr lang="zh-CN" altLang="en-US" dirty="0"/>
          </a:p>
          <a:p>
            <a:pPr lvl="1" indent="-436245" eaLnBrk="1" hangingPunct="1">
              <a:lnSpc>
                <a:spcPct val="170000"/>
              </a:lnSpc>
              <a:buNone/>
            </a:pPr>
            <a:r>
              <a:rPr lang="en-US" altLang="zh-CN" dirty="0"/>
              <a:t>2. </a:t>
            </a:r>
            <a:r>
              <a:rPr lang="zh-CN" altLang="en-US" dirty="0">
                <a:solidFill>
                  <a:srgbClr val="FF0000"/>
                </a:solidFill>
              </a:rPr>
              <a:t>删除多个元组的值</a:t>
            </a:r>
            <a:endParaRPr lang="zh-CN" altLang="en-US" dirty="0">
              <a:solidFill>
                <a:srgbClr val="FF0000"/>
              </a:solidFill>
            </a:endParaRPr>
          </a:p>
          <a:p>
            <a:pPr lvl="1" indent="-436245" eaLnBrk="1" hangingPunct="1">
              <a:lnSpc>
                <a:spcPct val="170000"/>
              </a:lnSpc>
              <a:buNone/>
            </a:pPr>
            <a:r>
              <a:rPr lang="en-US" altLang="zh-CN" dirty="0"/>
              <a:t>3. </a:t>
            </a:r>
            <a:r>
              <a:rPr lang="zh-CN" altLang="en-US" dirty="0">
                <a:solidFill>
                  <a:srgbClr val="FF0000"/>
                </a:solidFill>
              </a:rPr>
              <a:t>带子查询的删除语句</a:t>
            </a:r>
            <a:endParaRPr lang="zh-CN" altLang="en-US" dirty="0">
              <a:solidFill>
                <a:srgbClr val="FF0000"/>
              </a:solidFill>
            </a:endParaRP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43010"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删除数据（续）</a:t>
            </a:r>
            <a:endParaRPr lang="zh-CN" altLang="en-US" dirty="0"/>
          </a:p>
        </p:txBody>
      </p:sp>
      <p:sp>
        <p:nvSpPr>
          <p:cNvPr id="23556" name="Rectangle 3"/>
          <p:cNvSpPr>
            <a:spLocks noGrp="1"/>
          </p:cNvSpPr>
          <p:nvPr>
            <p:ph idx="1"/>
          </p:nvPr>
        </p:nvSpPr>
        <p:spPr>
          <a:xfrm>
            <a:off x="428625" y="1285875"/>
            <a:ext cx="8229600" cy="1600200"/>
          </a:xfrm>
          <a:ln/>
        </p:spPr>
        <p:txBody>
          <a:bodyPr vert="horz" wrap="square" lIns="91440" tIns="45720" rIns="91440" bIns="45720" anchor="t" anchorCtr="0"/>
          <a:p>
            <a:pPr eaLnBrk="1" hangingPunct="1">
              <a:lnSpc>
                <a:spcPct val="90000"/>
              </a:lnSpc>
              <a:buNone/>
            </a:pPr>
            <a:r>
              <a:rPr lang="en-US" altLang="zh-CN" sz="2000" dirty="0"/>
              <a:t>[</a:t>
            </a:r>
            <a:r>
              <a:rPr lang="zh-CN" altLang="en-US" dirty="0"/>
              <a:t>例</a:t>
            </a:r>
            <a:r>
              <a:rPr lang="en-US" altLang="zh-CN" dirty="0"/>
              <a:t>8]  </a:t>
            </a:r>
            <a:r>
              <a:rPr lang="zh-CN" altLang="en-US" dirty="0"/>
              <a:t>删除学号为</a:t>
            </a:r>
            <a:r>
              <a:rPr lang="en-US" altLang="zh-CN" dirty="0"/>
              <a:t>200215128</a:t>
            </a:r>
            <a:r>
              <a:rPr lang="zh-CN" altLang="en-US" dirty="0"/>
              <a:t>的学生记录。</a:t>
            </a:r>
            <a:endParaRPr lang="zh-CN" altLang="en-US" dirty="0"/>
          </a:p>
          <a:p>
            <a:pPr eaLnBrk="1" hangingPunct="1">
              <a:lnSpc>
                <a:spcPct val="90000"/>
              </a:lnSpc>
              <a:buNone/>
            </a:pPr>
            <a:r>
              <a:rPr lang="zh-CN" altLang="en-US" dirty="0"/>
              <a:t>        </a:t>
            </a:r>
            <a:r>
              <a:rPr lang="en-US" altLang="zh-CN" dirty="0"/>
              <a:t>DELETE</a:t>
            </a:r>
            <a:endParaRPr lang="en-US" altLang="zh-CN" dirty="0"/>
          </a:p>
          <a:p>
            <a:pPr eaLnBrk="1" hangingPunct="1">
              <a:lnSpc>
                <a:spcPct val="90000"/>
              </a:lnSpc>
              <a:buNone/>
            </a:pPr>
            <a:r>
              <a:rPr lang="en-US" altLang="zh-CN" dirty="0"/>
              <a:t>         FROM Student</a:t>
            </a:r>
            <a:endParaRPr lang="en-US" altLang="zh-CN" dirty="0"/>
          </a:p>
          <a:p>
            <a:pPr eaLnBrk="1" hangingPunct="1">
              <a:lnSpc>
                <a:spcPct val="90000"/>
              </a:lnSpc>
              <a:buNone/>
            </a:pPr>
            <a:r>
              <a:rPr lang="en-US" altLang="zh-CN" dirty="0"/>
              <a:t>         WHERE Sno= ‘200215128 '</a:t>
            </a:r>
            <a:r>
              <a:rPr lang="zh-CN" altLang="en-US" dirty="0"/>
              <a:t>；</a:t>
            </a:r>
            <a:endParaRPr lang="zh-CN" altLang="en-US" dirty="0"/>
          </a:p>
          <a:p>
            <a:pPr eaLnBrk="1" hangingPunct="1">
              <a:lnSpc>
                <a:spcPct val="90000"/>
              </a:lnSpc>
              <a:buNone/>
            </a:pPr>
            <a:endParaRPr lang="en-US" altLang="zh-CN" sz="2000" dirty="0"/>
          </a:p>
        </p:txBody>
      </p:sp>
      <p:sp>
        <p:nvSpPr>
          <p:cNvPr id="23557" name="Rectangle 4"/>
          <p:cNvSpPr/>
          <p:nvPr/>
        </p:nvSpPr>
        <p:spPr>
          <a:xfrm>
            <a:off x="285750" y="3857625"/>
            <a:ext cx="8229600" cy="1168400"/>
          </a:xfrm>
          <a:prstGeom prst="rect">
            <a:avLst/>
          </a:prstGeom>
          <a:noFill/>
          <a:ln w="9525">
            <a:noFill/>
          </a:ln>
        </p:spPr>
        <p:txBody>
          <a:bodyPr anchor="t" anchorCtr="0"/>
          <a:p>
            <a:pPr marL="342900" indent="-342900">
              <a:lnSpc>
                <a:spcPct val="90000"/>
              </a:lnSpc>
              <a:spcBef>
                <a:spcPct val="20000"/>
              </a:spcBef>
              <a:buClr>
                <a:schemeClr val="hlink"/>
              </a:buClr>
              <a:buFont typeface="Wingdings" panose="05000000000000000000" pitchFamily="2" charset="2"/>
            </a:pPr>
            <a:r>
              <a:rPr lang="en-US" altLang="zh-CN" sz="20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例</a:t>
            </a:r>
            <a:r>
              <a:rPr lang="en-US" altLang="zh-CN" sz="2400" dirty="0">
                <a:latin typeface="Arial" panose="020B0604020202020204" pitchFamily="34" charset="0"/>
                <a:ea typeface="宋体" panose="02010600030101010101" pitchFamily="2" charset="-122"/>
              </a:rPr>
              <a:t>9]  </a:t>
            </a:r>
            <a:r>
              <a:rPr lang="zh-CN" altLang="en-US" sz="2400" dirty="0">
                <a:latin typeface="Arial" panose="020B0604020202020204" pitchFamily="34" charset="0"/>
                <a:ea typeface="宋体" panose="02010600030101010101" pitchFamily="2" charset="-122"/>
              </a:rPr>
              <a:t>删除所有的学生选课记录。</a:t>
            </a:r>
            <a:endParaRPr lang="zh-CN" altLang="en-US" sz="2400" dirty="0">
              <a:latin typeface="Arial" panose="020B0604020202020204" pitchFamily="34" charset="0"/>
              <a:ea typeface="宋体" panose="02010600030101010101" pitchFamily="2" charset="-122"/>
            </a:endParaRPr>
          </a:p>
          <a:p>
            <a:pPr marL="342900" indent="-342900">
              <a:lnSpc>
                <a:spcPct val="90000"/>
              </a:lnSpc>
              <a:spcBef>
                <a:spcPct val="20000"/>
              </a:spcBef>
              <a:buClr>
                <a:schemeClr val="hlink"/>
              </a:buClr>
              <a:buFont typeface="Wingdings" panose="05000000000000000000" pitchFamily="2" charset="2"/>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DELETE</a:t>
            </a:r>
            <a:endParaRPr lang="en-US" altLang="zh-CN" sz="2400" dirty="0">
              <a:latin typeface="Arial" panose="020B0604020202020204" pitchFamily="34" charset="0"/>
              <a:ea typeface="宋体" panose="02010600030101010101" pitchFamily="2" charset="-122"/>
            </a:endParaRPr>
          </a:p>
          <a:p>
            <a:pPr marL="342900" indent="-342900">
              <a:lnSpc>
                <a:spcPct val="90000"/>
              </a:lnSpc>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FROM SC</a:t>
            </a:r>
            <a:r>
              <a:rPr lang="zh-CN" altLang="en-US"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6">
                                            <p:txEl>
                                              <p:charRg st="0" end="27"/>
                                            </p:txEl>
                                          </p:spTgt>
                                        </p:tgtEl>
                                        <p:attrNameLst>
                                          <p:attrName>style.visibility</p:attrName>
                                        </p:attrNameLst>
                                      </p:cBhvr>
                                      <p:to>
                                        <p:strVal val="visible"/>
                                      </p:to>
                                    </p:set>
                                    <p:anim calcmode="lin" valueType="num">
                                      <p:cBhvr additive="base">
                                        <p:cTn id="7" dur="500" fill="hold"/>
                                        <p:tgtEl>
                                          <p:spTgt spid="23556">
                                            <p:txEl>
                                              <p:charRg st="0" end="2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charRg st="0" end="2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6">
                                            <p:txEl>
                                              <p:charRg st="27" end="42"/>
                                            </p:txEl>
                                          </p:spTgt>
                                        </p:tgtEl>
                                        <p:attrNameLst>
                                          <p:attrName>style.visibility</p:attrName>
                                        </p:attrNameLst>
                                      </p:cBhvr>
                                      <p:to>
                                        <p:strVal val="visible"/>
                                      </p:to>
                                    </p:set>
                                    <p:anim calcmode="lin" valueType="num">
                                      <p:cBhvr additive="base">
                                        <p:cTn id="13" dur="500" fill="hold"/>
                                        <p:tgtEl>
                                          <p:spTgt spid="23556">
                                            <p:txEl>
                                              <p:charRg st="27" end="4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charRg st="27" end="4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6">
                                            <p:txEl>
                                              <p:charRg st="42" end="64"/>
                                            </p:txEl>
                                          </p:spTgt>
                                        </p:tgtEl>
                                        <p:attrNameLst>
                                          <p:attrName>style.visibility</p:attrName>
                                        </p:attrNameLst>
                                      </p:cBhvr>
                                      <p:to>
                                        <p:strVal val="visible"/>
                                      </p:to>
                                    </p:set>
                                    <p:anim calcmode="lin" valueType="num">
                                      <p:cBhvr additive="base">
                                        <p:cTn id="19" dur="500" fill="hold"/>
                                        <p:tgtEl>
                                          <p:spTgt spid="23556">
                                            <p:txEl>
                                              <p:charRg st="42" end="6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charRg st="42" end="6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556">
                                            <p:txEl>
                                              <p:charRg st="64" end="98"/>
                                            </p:txEl>
                                          </p:spTgt>
                                        </p:tgtEl>
                                        <p:attrNameLst>
                                          <p:attrName>style.visibility</p:attrName>
                                        </p:attrNameLst>
                                      </p:cBhvr>
                                      <p:to>
                                        <p:strVal val="visible"/>
                                      </p:to>
                                    </p:set>
                                    <p:anim calcmode="lin" valueType="num">
                                      <p:cBhvr additive="base">
                                        <p:cTn id="25" dur="500" fill="hold"/>
                                        <p:tgtEl>
                                          <p:spTgt spid="23556">
                                            <p:txEl>
                                              <p:charRg st="64" end="9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6">
                                            <p:txEl>
                                              <p:charRg st="64" end="9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557">
                                            <p:txEl>
                                              <p:charRg st="0" end="19"/>
                                            </p:txEl>
                                          </p:spTgt>
                                        </p:tgtEl>
                                        <p:attrNameLst>
                                          <p:attrName>style.visibility</p:attrName>
                                        </p:attrNameLst>
                                      </p:cBhvr>
                                      <p:to>
                                        <p:strVal val="visible"/>
                                      </p:to>
                                    </p:set>
                                    <p:anim calcmode="lin" valueType="num">
                                      <p:cBhvr additive="base">
                                        <p:cTn id="31" dur="500" fill="hold"/>
                                        <p:tgtEl>
                                          <p:spTgt spid="23557">
                                            <p:txEl>
                                              <p:charRg st="0" end="1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7">
                                            <p:txEl>
                                              <p:charRg st="0" end="1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3557">
                                            <p:txEl>
                                              <p:charRg st="19" end="34"/>
                                            </p:txEl>
                                          </p:spTgt>
                                        </p:tgtEl>
                                        <p:attrNameLst>
                                          <p:attrName>style.visibility</p:attrName>
                                        </p:attrNameLst>
                                      </p:cBhvr>
                                      <p:to>
                                        <p:strVal val="visible"/>
                                      </p:to>
                                    </p:set>
                                    <p:anim calcmode="lin" valueType="num">
                                      <p:cBhvr additive="base">
                                        <p:cTn id="37" dur="500" fill="hold"/>
                                        <p:tgtEl>
                                          <p:spTgt spid="23557">
                                            <p:txEl>
                                              <p:charRg st="19" end="3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57">
                                            <p:txEl>
                                              <p:charRg st="19" end="3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3557">
                                            <p:txEl>
                                              <p:charRg st="34" end="51"/>
                                            </p:txEl>
                                          </p:spTgt>
                                        </p:tgtEl>
                                        <p:attrNameLst>
                                          <p:attrName>style.visibility</p:attrName>
                                        </p:attrNameLst>
                                      </p:cBhvr>
                                      <p:to>
                                        <p:strVal val="visible"/>
                                      </p:to>
                                    </p:set>
                                    <p:anim calcmode="lin" valueType="num">
                                      <p:cBhvr additive="base">
                                        <p:cTn id="43" dur="500" fill="hold"/>
                                        <p:tgtEl>
                                          <p:spTgt spid="23557">
                                            <p:txEl>
                                              <p:charRg st="34" end="5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3557">
                                            <p:txEl>
                                              <p:charRg st="34" end="5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p:bldP spid="2355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45058"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删除数据（续）</a:t>
            </a:r>
            <a:endParaRPr lang="zh-CN" altLang="en-US" dirty="0"/>
          </a:p>
        </p:txBody>
      </p:sp>
      <p:sp>
        <p:nvSpPr>
          <p:cNvPr id="6" name="Rectangle 5"/>
          <p:cNvSpPr/>
          <p:nvPr/>
        </p:nvSpPr>
        <p:spPr>
          <a:xfrm>
            <a:off x="285750" y="1285875"/>
            <a:ext cx="8229600" cy="4714875"/>
          </a:xfrm>
          <a:prstGeom prst="rect">
            <a:avLst/>
          </a:prstGeom>
          <a:noFill/>
          <a:ln w="9525">
            <a:noFill/>
          </a:ln>
        </p:spPr>
        <p:txBody>
          <a:bodyPr anchor="t" anchorCtr="0"/>
          <a:p>
            <a:pPr marL="342900" indent="-342900">
              <a:spcBef>
                <a:spcPct val="20000"/>
              </a:spcBef>
              <a:buClr>
                <a:schemeClr val="hlink"/>
              </a:buClr>
              <a:buFont typeface="Wingdings" panose="05000000000000000000" pitchFamily="2" charset="2"/>
            </a:pPr>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例</a:t>
            </a:r>
            <a:r>
              <a:rPr lang="en-US" altLang="zh-CN" sz="2800" dirty="0">
                <a:latin typeface="Arial" panose="020B0604020202020204" pitchFamily="34" charset="0"/>
                <a:ea typeface="宋体" panose="02010600030101010101" pitchFamily="2" charset="-122"/>
              </a:rPr>
              <a:t>10]  </a:t>
            </a:r>
            <a:r>
              <a:rPr lang="zh-CN" altLang="en-US" sz="2800" dirty="0">
                <a:latin typeface="Arial" panose="020B0604020202020204" pitchFamily="34" charset="0"/>
                <a:ea typeface="宋体" panose="02010600030101010101" pitchFamily="2" charset="-122"/>
              </a:rPr>
              <a:t>删除计算机科学系所有学生的选课记录。</a:t>
            </a:r>
            <a:endParaRPr lang="zh-CN" altLang="en-US" sz="28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zh-CN" altLang="en-US" sz="20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DELETE</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FROM SC</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WHERE Sno in</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(select sno </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from student </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where sdept=</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CS</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chemeClr val="hlink"/>
              </a:buClr>
              <a:buFont typeface="Wingdings" panose="05000000000000000000" pitchFamily="2" charset="2"/>
            </a:pP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charRg st="0" end="26"/>
                                            </p:txEl>
                                          </p:spTgt>
                                        </p:tgtEl>
                                        <p:attrNameLst>
                                          <p:attrName>style.visibility</p:attrName>
                                        </p:attrNameLst>
                                      </p:cBhvr>
                                      <p:to>
                                        <p:strVal val="visible"/>
                                      </p:to>
                                    </p:set>
                                    <p:anim calcmode="lin" valueType="num">
                                      <p:cBhvr additive="base">
                                        <p:cTn id="7" dur="500" fill="hold"/>
                                        <p:tgtEl>
                                          <p:spTgt spid="6">
                                            <p:txEl>
                                              <p:charRg st="0" end="2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0" end="2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charRg st="26" end="41"/>
                                            </p:txEl>
                                          </p:spTgt>
                                        </p:tgtEl>
                                        <p:attrNameLst>
                                          <p:attrName>style.visibility</p:attrName>
                                        </p:attrNameLst>
                                      </p:cBhvr>
                                      <p:to>
                                        <p:strVal val="visible"/>
                                      </p:to>
                                    </p:set>
                                    <p:anim calcmode="lin" valueType="num">
                                      <p:cBhvr additive="base">
                                        <p:cTn id="13" dur="500" fill="hold"/>
                                        <p:tgtEl>
                                          <p:spTgt spid="6">
                                            <p:txEl>
                                              <p:charRg st="26" end="4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charRg st="26" end="4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charRg st="41" end="57"/>
                                            </p:txEl>
                                          </p:spTgt>
                                        </p:tgtEl>
                                        <p:attrNameLst>
                                          <p:attrName>style.visibility</p:attrName>
                                        </p:attrNameLst>
                                      </p:cBhvr>
                                      <p:to>
                                        <p:strVal val="visible"/>
                                      </p:to>
                                    </p:set>
                                    <p:anim calcmode="lin" valueType="num">
                                      <p:cBhvr additive="base">
                                        <p:cTn id="19" dur="500" fill="hold"/>
                                        <p:tgtEl>
                                          <p:spTgt spid="6">
                                            <p:txEl>
                                              <p:charRg st="41" end="5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charRg st="41" end="5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charRg st="57" end="78"/>
                                            </p:txEl>
                                          </p:spTgt>
                                        </p:tgtEl>
                                        <p:attrNameLst>
                                          <p:attrName>style.visibility</p:attrName>
                                        </p:attrNameLst>
                                      </p:cBhvr>
                                      <p:to>
                                        <p:strVal val="visible"/>
                                      </p:to>
                                    </p:set>
                                    <p:anim calcmode="lin" valueType="num">
                                      <p:cBhvr additive="base">
                                        <p:cTn id="25" dur="500" fill="hold"/>
                                        <p:tgtEl>
                                          <p:spTgt spid="6">
                                            <p:txEl>
                                              <p:charRg st="57" end="7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charRg st="57" end="7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charRg st="78" end="105"/>
                                            </p:txEl>
                                          </p:spTgt>
                                        </p:tgtEl>
                                        <p:attrNameLst>
                                          <p:attrName>style.visibility</p:attrName>
                                        </p:attrNameLst>
                                      </p:cBhvr>
                                      <p:to>
                                        <p:strVal val="visible"/>
                                      </p:to>
                                    </p:set>
                                    <p:anim calcmode="lin" valueType="num">
                                      <p:cBhvr additive="base">
                                        <p:cTn id="31" dur="500" fill="hold"/>
                                        <p:tgtEl>
                                          <p:spTgt spid="6">
                                            <p:txEl>
                                              <p:charRg st="78" end="10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charRg st="78" end="10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xEl>
                                              <p:charRg st="105" end="135"/>
                                            </p:txEl>
                                          </p:spTgt>
                                        </p:tgtEl>
                                        <p:attrNameLst>
                                          <p:attrName>style.visibility</p:attrName>
                                        </p:attrNameLst>
                                      </p:cBhvr>
                                      <p:to>
                                        <p:strVal val="visible"/>
                                      </p:to>
                                    </p:set>
                                    <p:anim calcmode="lin" valueType="num">
                                      <p:cBhvr additive="base">
                                        <p:cTn id="37" dur="500" fill="hold"/>
                                        <p:tgtEl>
                                          <p:spTgt spid="6">
                                            <p:txEl>
                                              <p:charRg st="105" end="13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charRg st="105" end="13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charRg st="135" end="170"/>
                                            </p:txEl>
                                          </p:spTgt>
                                        </p:tgtEl>
                                        <p:attrNameLst>
                                          <p:attrName>style.visibility</p:attrName>
                                        </p:attrNameLst>
                                      </p:cBhvr>
                                      <p:to>
                                        <p:strVal val="visible"/>
                                      </p:to>
                                    </p:set>
                                    <p:anim calcmode="lin" valueType="num">
                                      <p:cBhvr additive="base">
                                        <p:cTn id="43" dur="500" fill="hold"/>
                                        <p:tgtEl>
                                          <p:spTgt spid="6">
                                            <p:txEl>
                                              <p:charRg st="135" end="17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charRg st="135" end="17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a:ln/>
        </p:spPr>
        <p:txBody>
          <a:bodyPr vert="horz" wrap="square" lIns="91440" tIns="45720" rIns="91440" bIns="45720" anchor="b" anchorCtr="0"/>
          <a:p>
            <a:r>
              <a:rPr lang="zh-CN" altLang="en-US" dirty="0"/>
              <a:t>提问</a:t>
            </a:r>
            <a:endParaRPr lang="zh-CN" altLang="en-US" dirty="0"/>
          </a:p>
        </p:txBody>
      </p:sp>
      <p:sp>
        <p:nvSpPr>
          <p:cNvPr id="46082" name="内容占位符 2"/>
          <p:cNvSpPr>
            <a:spLocks noGrp="1"/>
          </p:cNvSpPr>
          <p:nvPr>
            <p:ph idx="1"/>
          </p:nvPr>
        </p:nvSpPr>
        <p:spPr>
          <a:ln/>
        </p:spPr>
        <p:txBody>
          <a:bodyPr vert="horz" wrap="square" lIns="91440" tIns="45720" rIns="91440" bIns="45720" anchor="t" anchorCtr="0"/>
          <a:p>
            <a:r>
              <a:rPr lang="en-US" altLang="zh-CN" dirty="0"/>
              <a:t>1.</a:t>
            </a:r>
            <a:r>
              <a:rPr lang="zh-CN" altLang="en-US" dirty="0"/>
              <a:t>删除所有女生的选课信息</a:t>
            </a:r>
            <a:endParaRPr lang="en-US" altLang="zh-CN" dirty="0"/>
          </a:p>
          <a:p>
            <a:r>
              <a:rPr lang="en-US" altLang="zh-CN" dirty="0"/>
              <a:t>2.</a:t>
            </a:r>
            <a:r>
              <a:rPr lang="zh-CN" altLang="en-US" dirty="0"/>
              <a:t>把所有</a:t>
            </a:r>
            <a:r>
              <a:rPr lang="en-US" altLang="zh-CN" dirty="0"/>
              <a:t>IS</a:t>
            </a:r>
            <a:r>
              <a:rPr lang="zh-CN" altLang="en-US" dirty="0"/>
              <a:t>系的学生的年龄增加</a:t>
            </a:r>
            <a:r>
              <a:rPr lang="en-US" altLang="zh-CN" dirty="0"/>
              <a:t>1</a:t>
            </a:r>
            <a:r>
              <a:rPr lang="zh-CN" altLang="en-US" dirty="0"/>
              <a:t>岁</a:t>
            </a:r>
            <a:endParaRPr lang="en-US" altLang="zh-CN" dirty="0"/>
          </a:p>
          <a:p>
            <a:endParaRPr lang="en-US" altLang="zh-CN" dirty="0"/>
          </a:p>
          <a:p>
            <a:r>
              <a:rPr lang="en-US" altLang="zh-CN" dirty="0"/>
              <a:t>3.</a:t>
            </a:r>
            <a:r>
              <a:rPr lang="zh-CN" altLang="en-US" dirty="0"/>
              <a:t>把所有男生的选课成绩都减少</a:t>
            </a:r>
            <a:r>
              <a:rPr lang="en-US" altLang="zh-CN" dirty="0"/>
              <a:t>2</a:t>
            </a:r>
            <a:r>
              <a:rPr lang="zh-CN" altLang="en-US" dirty="0"/>
              <a:t>分</a:t>
            </a:r>
            <a:endParaRPr lang="en-US" altLang="zh-CN" dirty="0"/>
          </a:p>
          <a:p>
            <a:r>
              <a:rPr lang="en-US" altLang="zh-CN" dirty="0"/>
              <a:t>4.</a:t>
            </a:r>
            <a:r>
              <a:rPr lang="zh-CN" altLang="en-US" dirty="0"/>
              <a:t>删除所有</a:t>
            </a:r>
            <a:r>
              <a:rPr lang="en-US" altLang="zh-CN" dirty="0"/>
              <a:t>1</a:t>
            </a:r>
            <a:r>
              <a:rPr lang="zh-CN" altLang="en-US" dirty="0"/>
              <a:t>号课程的选课信息</a:t>
            </a:r>
            <a:endParaRPr lang="en-US" altLang="zh-CN" dirty="0"/>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47106" name="Rectangle 2"/>
          <p:cNvSpPr>
            <a:spLocks noGrp="1"/>
          </p:cNvSpPr>
          <p:nvPr>
            <p:ph type="title"/>
          </p:nvPr>
        </p:nvSpPr>
        <p:spPr>
          <a:ln/>
        </p:spPr>
        <p:txBody>
          <a:bodyPr vert="horz" wrap="square" lIns="91440" tIns="45720" rIns="91440" bIns="45720" anchor="b" anchorCtr="0"/>
          <a:p>
            <a:pPr eaLnBrk="1" hangingPunct="1"/>
            <a:r>
              <a:rPr lang="zh-CN" altLang="en-US" sz="3200" dirty="0"/>
              <a:t>第三章</a:t>
            </a:r>
            <a:r>
              <a:rPr lang="zh-CN" altLang="en-US" sz="3200" dirty="0">
                <a:ea typeface="黑体" panose="02010609060101010101" pitchFamily="49" charset="-122"/>
              </a:rPr>
              <a:t>  </a:t>
            </a:r>
            <a:r>
              <a:rPr lang="zh-CN" altLang="en-US" sz="3200" dirty="0"/>
              <a:t>关系数据库标准语言</a:t>
            </a:r>
            <a:r>
              <a:rPr lang="en-US" altLang="zh-CN" sz="3200" dirty="0">
                <a:ea typeface="黑体" panose="02010609060101010101" pitchFamily="49" charset="-122"/>
              </a:rPr>
              <a:t>SQL</a:t>
            </a:r>
            <a:endParaRPr lang="en-US" altLang="zh-CN" sz="3200" dirty="0">
              <a:ea typeface="黑体" panose="02010609060101010101" pitchFamily="49" charset="-122"/>
            </a:endParaRPr>
          </a:p>
        </p:txBody>
      </p:sp>
      <p:sp>
        <p:nvSpPr>
          <p:cNvPr id="47107" name="Rectangle 3"/>
          <p:cNvSpPr>
            <a:spLocks noGrp="1"/>
          </p:cNvSpPr>
          <p:nvPr>
            <p:ph idx="1"/>
          </p:nvPr>
        </p:nvSpPr>
        <p:spPr>
          <a:xfrm>
            <a:off x="971550" y="1628775"/>
            <a:ext cx="6508750" cy="4464050"/>
          </a:xfrm>
          <a:ln/>
        </p:spPr>
        <p:txBody>
          <a:bodyPr vert="horz" wrap="square" lIns="91440" tIns="45720" rIns="91440" bIns="45720" anchor="t" anchorCtr="0"/>
          <a:p>
            <a:pPr algn="just" eaLnBrk="1" hangingPunct="1">
              <a:lnSpc>
                <a:spcPct val="120000"/>
              </a:lnSpc>
              <a:buNone/>
            </a:pPr>
            <a:r>
              <a:rPr lang="en-US" altLang="zh-CN" b="1" dirty="0"/>
              <a:t>3.1 SQL</a:t>
            </a:r>
            <a:r>
              <a:rPr lang="zh-CN" altLang="en-US" b="1" dirty="0"/>
              <a:t>概述</a:t>
            </a:r>
            <a:endParaRPr lang="zh-CN" altLang="en-US" b="1" dirty="0"/>
          </a:p>
          <a:p>
            <a:pPr algn="just" eaLnBrk="1" hangingPunct="1">
              <a:lnSpc>
                <a:spcPct val="120000"/>
              </a:lnSpc>
              <a:buNone/>
            </a:pPr>
            <a:r>
              <a:rPr lang="en-US" altLang="zh-CN" b="1" dirty="0"/>
              <a:t>3.2 </a:t>
            </a:r>
            <a:r>
              <a:rPr lang="zh-CN" altLang="en-US" b="1" dirty="0"/>
              <a:t>学生</a:t>
            </a:r>
            <a:r>
              <a:rPr lang="en-US" altLang="zh-CN" b="1" dirty="0"/>
              <a:t>-</a:t>
            </a:r>
            <a:r>
              <a:rPr lang="zh-CN" altLang="en-US" b="1" dirty="0"/>
              <a:t>课程数据库</a:t>
            </a:r>
            <a:endParaRPr lang="zh-CN" altLang="en-US" b="1" dirty="0"/>
          </a:p>
          <a:p>
            <a:pPr algn="just" eaLnBrk="1" hangingPunct="1">
              <a:lnSpc>
                <a:spcPct val="120000"/>
              </a:lnSpc>
              <a:buNone/>
            </a:pPr>
            <a:r>
              <a:rPr lang="en-US" altLang="zh-CN" b="1" dirty="0"/>
              <a:t>3.3 </a:t>
            </a:r>
            <a:r>
              <a:rPr lang="zh-CN" altLang="en-US" b="1" dirty="0"/>
              <a:t>数据定义</a:t>
            </a:r>
            <a:endParaRPr lang="zh-CN" altLang="en-US" b="1" dirty="0"/>
          </a:p>
          <a:p>
            <a:pPr algn="just" eaLnBrk="1" hangingPunct="1">
              <a:lnSpc>
                <a:spcPct val="120000"/>
              </a:lnSpc>
              <a:buNone/>
            </a:pPr>
            <a:r>
              <a:rPr lang="en-US" altLang="zh-CN" b="1" dirty="0"/>
              <a:t>3.4 </a:t>
            </a:r>
            <a:r>
              <a:rPr lang="zh-CN" altLang="en-US" b="1" dirty="0"/>
              <a:t>数据查询</a:t>
            </a:r>
            <a:endParaRPr lang="zh-CN" altLang="en-US" b="1" dirty="0"/>
          </a:p>
          <a:p>
            <a:pPr algn="just" eaLnBrk="1" hangingPunct="1">
              <a:lnSpc>
                <a:spcPct val="120000"/>
              </a:lnSpc>
              <a:buNone/>
            </a:pPr>
            <a:r>
              <a:rPr lang="en-US" altLang="zh-CN" b="1" dirty="0"/>
              <a:t>3.5 </a:t>
            </a:r>
            <a:r>
              <a:rPr lang="zh-CN" altLang="en-US" b="1" dirty="0"/>
              <a:t>数据更新</a:t>
            </a:r>
            <a:endParaRPr lang="zh-CN" altLang="en-US" b="1" dirty="0"/>
          </a:p>
          <a:p>
            <a:pPr algn="just" eaLnBrk="1" hangingPunct="1">
              <a:lnSpc>
                <a:spcPct val="120000"/>
              </a:lnSpc>
              <a:buNone/>
            </a:pPr>
            <a:r>
              <a:rPr lang="en-US" altLang="zh-CN" b="1" dirty="0">
                <a:solidFill>
                  <a:srgbClr val="FF0000"/>
                </a:solidFill>
              </a:rPr>
              <a:t>3.6 </a:t>
            </a:r>
            <a:r>
              <a:rPr lang="zh-CN" altLang="en-US" b="1" dirty="0">
                <a:solidFill>
                  <a:srgbClr val="FF0000"/>
                </a:solidFill>
              </a:rPr>
              <a:t>视图</a:t>
            </a:r>
            <a:endParaRPr lang="zh-CN" altLang="en-US" b="1" dirty="0">
              <a:solidFill>
                <a:srgbClr val="FF0000"/>
              </a:solidFill>
            </a:endParaRPr>
          </a:p>
          <a:p>
            <a:pPr algn="just" eaLnBrk="1" hangingPunct="1">
              <a:lnSpc>
                <a:spcPct val="120000"/>
              </a:lnSpc>
              <a:buNone/>
            </a:pPr>
            <a:r>
              <a:rPr lang="en-US" altLang="zh-CN" b="1" dirty="0"/>
              <a:t>3.7 </a:t>
            </a:r>
            <a:r>
              <a:rPr lang="zh-CN" altLang="en-US" b="1" dirty="0"/>
              <a:t>小结</a:t>
            </a:r>
            <a:endParaRPr lang="zh-CN" altLang="en-US" b="1" dirty="0"/>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1026"/>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SQL</a:t>
            </a:r>
            <a:r>
              <a:rPr lang="zh-CN" altLang="en-US" dirty="0"/>
              <a:t>的基本概念（续）</a:t>
            </a:r>
            <a:endParaRPr lang="zh-CN" altLang="en-US" dirty="0"/>
          </a:p>
        </p:txBody>
      </p:sp>
      <p:grpSp>
        <p:nvGrpSpPr>
          <p:cNvPr id="49154" name="Group 1055"/>
          <p:cNvGrpSpPr/>
          <p:nvPr/>
        </p:nvGrpSpPr>
        <p:grpSpPr>
          <a:xfrm>
            <a:off x="755650" y="2279650"/>
            <a:ext cx="7561263" cy="3816350"/>
            <a:chOff x="476" y="1117"/>
            <a:chExt cx="4763" cy="2404"/>
          </a:xfrm>
        </p:grpSpPr>
        <p:sp>
          <p:nvSpPr>
            <p:cNvPr id="49155" name="Rectangle 1028"/>
            <p:cNvSpPr/>
            <p:nvPr/>
          </p:nvSpPr>
          <p:spPr>
            <a:xfrm>
              <a:off x="1610" y="1117"/>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en-US" altLang="zh-CN" dirty="0">
                  <a:latin typeface="Verdana" panose="020B0604030504040204" pitchFamily="34" charset="0"/>
                  <a:ea typeface="宋体" panose="02010600030101010101" pitchFamily="2" charset="-122"/>
                </a:rPr>
                <a:t>SQL</a:t>
              </a:r>
              <a:endParaRPr lang="en-US" altLang="zh-CN" dirty="0">
                <a:latin typeface="Verdana" panose="020B0604030504040204" pitchFamily="34" charset="0"/>
                <a:ea typeface="宋体" panose="02010600030101010101" pitchFamily="2" charset="-122"/>
              </a:endParaRPr>
            </a:p>
          </p:txBody>
        </p:sp>
        <p:sp>
          <p:nvSpPr>
            <p:cNvPr id="49156" name="Rectangle 1029"/>
            <p:cNvSpPr/>
            <p:nvPr/>
          </p:nvSpPr>
          <p:spPr>
            <a:xfrm>
              <a:off x="3288" y="1797"/>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视图</a:t>
              </a:r>
              <a:r>
                <a:rPr lang="en-US" altLang="zh-CN" dirty="0">
                  <a:latin typeface="Verdana" panose="020B0604030504040204" pitchFamily="34" charset="0"/>
                  <a:ea typeface="宋体" panose="02010600030101010101" pitchFamily="2" charset="-122"/>
                </a:rPr>
                <a:t>2</a:t>
              </a:r>
              <a:endParaRPr lang="en-US" altLang="zh-CN" dirty="0">
                <a:latin typeface="Verdana" panose="020B0604030504040204" pitchFamily="34" charset="0"/>
                <a:ea typeface="宋体" panose="02010600030101010101" pitchFamily="2" charset="-122"/>
              </a:endParaRPr>
            </a:p>
          </p:txBody>
        </p:sp>
        <p:sp>
          <p:nvSpPr>
            <p:cNvPr id="49157" name="Rectangle 1030"/>
            <p:cNvSpPr/>
            <p:nvPr/>
          </p:nvSpPr>
          <p:spPr>
            <a:xfrm>
              <a:off x="1610" y="1797"/>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视图</a:t>
              </a:r>
              <a:r>
                <a:rPr lang="en-US" altLang="zh-CN" dirty="0">
                  <a:latin typeface="Verdana" panose="020B0604030504040204" pitchFamily="34" charset="0"/>
                  <a:ea typeface="宋体" panose="02010600030101010101" pitchFamily="2" charset="-122"/>
                </a:rPr>
                <a:t>1</a:t>
              </a:r>
              <a:endParaRPr lang="en-US" altLang="zh-CN" dirty="0">
                <a:latin typeface="Verdana" panose="020B0604030504040204" pitchFamily="34" charset="0"/>
                <a:ea typeface="宋体" panose="02010600030101010101" pitchFamily="2" charset="-122"/>
              </a:endParaRPr>
            </a:p>
          </p:txBody>
        </p:sp>
        <p:sp>
          <p:nvSpPr>
            <p:cNvPr id="49158" name="Rectangle 1031"/>
            <p:cNvSpPr/>
            <p:nvPr/>
          </p:nvSpPr>
          <p:spPr>
            <a:xfrm>
              <a:off x="1655" y="2478"/>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基本表</a:t>
              </a:r>
              <a:r>
                <a:rPr lang="en-US" altLang="zh-CN" dirty="0">
                  <a:latin typeface="Verdana" panose="020B0604030504040204" pitchFamily="34" charset="0"/>
                  <a:ea typeface="宋体" panose="02010600030101010101" pitchFamily="2" charset="-122"/>
                </a:rPr>
                <a:t>2</a:t>
              </a:r>
              <a:endParaRPr lang="en-US" altLang="zh-CN" dirty="0">
                <a:latin typeface="Verdana" panose="020B0604030504040204" pitchFamily="34" charset="0"/>
                <a:ea typeface="宋体" panose="02010600030101010101" pitchFamily="2" charset="-122"/>
              </a:endParaRPr>
            </a:p>
          </p:txBody>
        </p:sp>
        <p:sp>
          <p:nvSpPr>
            <p:cNvPr id="49159" name="Rectangle 1032"/>
            <p:cNvSpPr/>
            <p:nvPr/>
          </p:nvSpPr>
          <p:spPr>
            <a:xfrm>
              <a:off x="566" y="2478"/>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基本表</a:t>
              </a:r>
              <a:r>
                <a:rPr lang="en-US" altLang="zh-CN" dirty="0">
                  <a:latin typeface="Verdana" panose="020B0604030504040204" pitchFamily="34" charset="0"/>
                  <a:ea typeface="宋体" panose="02010600030101010101" pitchFamily="2" charset="-122"/>
                </a:rPr>
                <a:t>1</a:t>
              </a:r>
              <a:endParaRPr lang="en-US" altLang="zh-CN" dirty="0">
                <a:latin typeface="Verdana" panose="020B0604030504040204" pitchFamily="34" charset="0"/>
                <a:ea typeface="宋体" panose="02010600030101010101" pitchFamily="2" charset="-122"/>
              </a:endParaRPr>
            </a:p>
          </p:txBody>
        </p:sp>
        <p:sp>
          <p:nvSpPr>
            <p:cNvPr id="49160" name="Rectangle 1033"/>
            <p:cNvSpPr/>
            <p:nvPr/>
          </p:nvSpPr>
          <p:spPr>
            <a:xfrm>
              <a:off x="2744" y="2478"/>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基本表</a:t>
              </a:r>
              <a:r>
                <a:rPr lang="en-US" altLang="zh-CN" dirty="0">
                  <a:latin typeface="Verdana" panose="020B0604030504040204" pitchFamily="34" charset="0"/>
                  <a:ea typeface="宋体" panose="02010600030101010101" pitchFamily="2" charset="-122"/>
                </a:rPr>
                <a:t>3</a:t>
              </a:r>
              <a:endParaRPr lang="en-US" altLang="zh-CN" dirty="0">
                <a:latin typeface="Verdana" panose="020B0604030504040204" pitchFamily="34" charset="0"/>
                <a:ea typeface="宋体" panose="02010600030101010101" pitchFamily="2" charset="-122"/>
              </a:endParaRPr>
            </a:p>
          </p:txBody>
        </p:sp>
        <p:sp>
          <p:nvSpPr>
            <p:cNvPr id="49161" name="Rectangle 1034"/>
            <p:cNvSpPr/>
            <p:nvPr/>
          </p:nvSpPr>
          <p:spPr>
            <a:xfrm>
              <a:off x="3787" y="2478"/>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基本表</a:t>
              </a:r>
              <a:r>
                <a:rPr lang="en-US" altLang="zh-CN" dirty="0">
                  <a:latin typeface="Verdana" panose="020B0604030504040204" pitchFamily="34" charset="0"/>
                  <a:ea typeface="宋体" panose="02010600030101010101" pitchFamily="2" charset="-122"/>
                </a:rPr>
                <a:t>4</a:t>
              </a:r>
              <a:endParaRPr lang="en-US" altLang="zh-CN" dirty="0">
                <a:latin typeface="Verdana" panose="020B0604030504040204" pitchFamily="34" charset="0"/>
                <a:ea typeface="宋体" panose="02010600030101010101" pitchFamily="2" charset="-122"/>
              </a:endParaRPr>
            </a:p>
          </p:txBody>
        </p:sp>
        <p:sp>
          <p:nvSpPr>
            <p:cNvPr id="49162" name="Rectangle 1035"/>
            <p:cNvSpPr/>
            <p:nvPr/>
          </p:nvSpPr>
          <p:spPr>
            <a:xfrm>
              <a:off x="3787" y="3113"/>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存储文件</a:t>
              </a:r>
              <a:r>
                <a:rPr lang="en-US" altLang="zh-CN" dirty="0">
                  <a:latin typeface="Verdana" panose="020B0604030504040204" pitchFamily="34" charset="0"/>
                  <a:ea typeface="宋体" panose="02010600030101010101" pitchFamily="2" charset="-122"/>
                </a:rPr>
                <a:t>2</a:t>
              </a:r>
              <a:endParaRPr lang="en-US" altLang="zh-CN" dirty="0">
                <a:latin typeface="Verdana" panose="020B0604030504040204" pitchFamily="34" charset="0"/>
                <a:ea typeface="宋体" panose="02010600030101010101" pitchFamily="2" charset="-122"/>
              </a:endParaRPr>
            </a:p>
          </p:txBody>
        </p:sp>
        <p:sp>
          <p:nvSpPr>
            <p:cNvPr id="49163" name="Rectangle 1036"/>
            <p:cNvSpPr/>
            <p:nvPr/>
          </p:nvSpPr>
          <p:spPr>
            <a:xfrm>
              <a:off x="1655" y="3158"/>
              <a:ext cx="725" cy="3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p>
              <a:pPr marL="342900" indent="-342900" algn="ctr"/>
              <a:r>
                <a:rPr lang="zh-CN" altLang="en-US" dirty="0">
                  <a:latin typeface="Verdana" panose="020B0604030504040204" pitchFamily="34" charset="0"/>
                  <a:ea typeface="宋体" panose="02010600030101010101" pitchFamily="2" charset="-122"/>
                </a:rPr>
                <a:t>存储文件</a:t>
              </a:r>
              <a:r>
                <a:rPr lang="en-US" altLang="zh-CN" dirty="0">
                  <a:latin typeface="Verdana" panose="020B0604030504040204" pitchFamily="34" charset="0"/>
                  <a:ea typeface="宋体" panose="02010600030101010101" pitchFamily="2" charset="-122"/>
                </a:rPr>
                <a:t>1</a:t>
              </a:r>
              <a:endParaRPr lang="en-US" altLang="zh-CN" dirty="0">
                <a:latin typeface="Verdana" panose="020B0604030504040204" pitchFamily="34" charset="0"/>
                <a:ea typeface="宋体" panose="02010600030101010101" pitchFamily="2" charset="-122"/>
              </a:endParaRPr>
            </a:p>
          </p:txBody>
        </p:sp>
        <p:sp>
          <p:nvSpPr>
            <p:cNvPr id="49164" name="Line 1037"/>
            <p:cNvSpPr/>
            <p:nvPr/>
          </p:nvSpPr>
          <p:spPr>
            <a:xfrm flipH="1">
              <a:off x="748" y="1480"/>
              <a:ext cx="998" cy="998"/>
            </a:xfrm>
            <a:prstGeom prst="line">
              <a:avLst/>
            </a:prstGeom>
            <a:ln w="25400" cap="flat" cmpd="sng">
              <a:solidFill>
                <a:schemeClr val="tx1"/>
              </a:solidFill>
              <a:prstDash val="solid"/>
              <a:round/>
              <a:headEnd type="triangle" w="med" len="med"/>
              <a:tailEnd type="triangle" w="med" len="med"/>
            </a:ln>
          </p:spPr>
        </p:sp>
        <p:sp>
          <p:nvSpPr>
            <p:cNvPr id="49165" name="Line 1038"/>
            <p:cNvSpPr/>
            <p:nvPr/>
          </p:nvSpPr>
          <p:spPr>
            <a:xfrm>
              <a:off x="1927" y="1480"/>
              <a:ext cx="0" cy="317"/>
            </a:xfrm>
            <a:prstGeom prst="line">
              <a:avLst/>
            </a:prstGeom>
            <a:ln w="25400" cap="flat" cmpd="sng">
              <a:solidFill>
                <a:schemeClr val="tx1"/>
              </a:solidFill>
              <a:prstDash val="solid"/>
              <a:round/>
              <a:headEnd type="triangle" w="med" len="med"/>
              <a:tailEnd type="triangle" w="med" len="med"/>
            </a:ln>
          </p:spPr>
        </p:sp>
        <p:sp>
          <p:nvSpPr>
            <p:cNvPr id="49166" name="Line 1039"/>
            <p:cNvSpPr/>
            <p:nvPr/>
          </p:nvSpPr>
          <p:spPr>
            <a:xfrm>
              <a:off x="1927" y="2160"/>
              <a:ext cx="0" cy="317"/>
            </a:xfrm>
            <a:prstGeom prst="line">
              <a:avLst/>
            </a:prstGeom>
            <a:ln w="25400" cap="flat" cmpd="sng">
              <a:solidFill>
                <a:schemeClr val="tx1"/>
              </a:solidFill>
              <a:prstDash val="solid"/>
              <a:round/>
              <a:headEnd type="triangle" w="med" len="med"/>
              <a:tailEnd type="triangle" w="med" len="med"/>
            </a:ln>
          </p:spPr>
        </p:sp>
        <p:sp>
          <p:nvSpPr>
            <p:cNvPr id="49167" name="Line 1040"/>
            <p:cNvSpPr/>
            <p:nvPr/>
          </p:nvSpPr>
          <p:spPr>
            <a:xfrm>
              <a:off x="1927" y="2840"/>
              <a:ext cx="0" cy="318"/>
            </a:xfrm>
            <a:prstGeom prst="line">
              <a:avLst/>
            </a:prstGeom>
            <a:ln w="25400" cap="flat" cmpd="sng">
              <a:solidFill>
                <a:schemeClr val="tx1"/>
              </a:solidFill>
              <a:prstDash val="solid"/>
              <a:round/>
              <a:headEnd type="triangle" w="med" len="med"/>
              <a:tailEnd type="triangle" w="med" len="med"/>
            </a:ln>
          </p:spPr>
        </p:sp>
        <p:sp>
          <p:nvSpPr>
            <p:cNvPr id="49168" name="Line 1043"/>
            <p:cNvSpPr/>
            <p:nvPr/>
          </p:nvSpPr>
          <p:spPr>
            <a:xfrm>
              <a:off x="2200" y="1480"/>
              <a:ext cx="1315" cy="317"/>
            </a:xfrm>
            <a:prstGeom prst="line">
              <a:avLst/>
            </a:prstGeom>
            <a:ln w="25400" cap="flat" cmpd="sng">
              <a:solidFill>
                <a:schemeClr val="tx1"/>
              </a:solidFill>
              <a:prstDash val="solid"/>
              <a:round/>
              <a:headEnd type="triangle" w="med" len="med"/>
              <a:tailEnd type="triangle" w="med" len="med"/>
            </a:ln>
          </p:spPr>
        </p:sp>
        <p:sp>
          <p:nvSpPr>
            <p:cNvPr id="49169" name="Line 1044"/>
            <p:cNvSpPr/>
            <p:nvPr/>
          </p:nvSpPr>
          <p:spPr>
            <a:xfrm flipH="1">
              <a:off x="3152" y="2160"/>
              <a:ext cx="318" cy="318"/>
            </a:xfrm>
            <a:prstGeom prst="line">
              <a:avLst/>
            </a:prstGeom>
            <a:ln w="25400" cap="flat" cmpd="sng">
              <a:solidFill>
                <a:schemeClr val="tx1"/>
              </a:solidFill>
              <a:prstDash val="solid"/>
              <a:round/>
              <a:headEnd type="triangle" w="med" len="med"/>
              <a:tailEnd type="triangle" w="med" len="med"/>
            </a:ln>
          </p:spPr>
        </p:sp>
        <p:sp>
          <p:nvSpPr>
            <p:cNvPr id="49170" name="Line 1045"/>
            <p:cNvSpPr/>
            <p:nvPr/>
          </p:nvSpPr>
          <p:spPr>
            <a:xfrm>
              <a:off x="3787" y="2160"/>
              <a:ext cx="499" cy="318"/>
            </a:xfrm>
            <a:prstGeom prst="line">
              <a:avLst/>
            </a:prstGeom>
            <a:ln w="25400" cap="flat" cmpd="sng">
              <a:solidFill>
                <a:schemeClr val="tx1"/>
              </a:solidFill>
              <a:prstDash val="solid"/>
              <a:round/>
              <a:headEnd type="triangle" w="med" len="med"/>
              <a:tailEnd type="triangle" w="med" len="med"/>
            </a:ln>
          </p:spPr>
        </p:sp>
        <p:sp>
          <p:nvSpPr>
            <p:cNvPr id="49171" name="Line 1046"/>
            <p:cNvSpPr/>
            <p:nvPr/>
          </p:nvSpPr>
          <p:spPr>
            <a:xfrm>
              <a:off x="839" y="2840"/>
              <a:ext cx="1043" cy="318"/>
            </a:xfrm>
            <a:prstGeom prst="line">
              <a:avLst/>
            </a:prstGeom>
            <a:ln w="25400" cap="flat" cmpd="sng">
              <a:solidFill>
                <a:schemeClr val="tx1"/>
              </a:solidFill>
              <a:prstDash val="solid"/>
              <a:round/>
              <a:headEnd type="triangle" w="med" len="med"/>
              <a:tailEnd type="triangle" w="med" len="med"/>
            </a:ln>
          </p:spPr>
        </p:sp>
        <p:sp>
          <p:nvSpPr>
            <p:cNvPr id="49172" name="Line 1047"/>
            <p:cNvSpPr/>
            <p:nvPr/>
          </p:nvSpPr>
          <p:spPr>
            <a:xfrm flipH="1">
              <a:off x="2018" y="2840"/>
              <a:ext cx="1089" cy="318"/>
            </a:xfrm>
            <a:prstGeom prst="line">
              <a:avLst/>
            </a:prstGeom>
            <a:ln w="25400" cap="flat" cmpd="sng">
              <a:solidFill>
                <a:schemeClr val="tx1"/>
              </a:solidFill>
              <a:prstDash val="solid"/>
              <a:round/>
              <a:headEnd type="triangle" w="med" len="med"/>
              <a:tailEnd type="triangle" w="med" len="med"/>
            </a:ln>
          </p:spPr>
        </p:sp>
        <p:sp>
          <p:nvSpPr>
            <p:cNvPr id="49173" name="Line 1048"/>
            <p:cNvSpPr/>
            <p:nvPr/>
          </p:nvSpPr>
          <p:spPr>
            <a:xfrm>
              <a:off x="4150" y="2840"/>
              <a:ext cx="0" cy="273"/>
            </a:xfrm>
            <a:prstGeom prst="line">
              <a:avLst/>
            </a:prstGeom>
            <a:ln w="25400" cap="flat" cmpd="sng">
              <a:solidFill>
                <a:schemeClr val="tx1"/>
              </a:solidFill>
              <a:prstDash val="solid"/>
              <a:round/>
              <a:headEnd type="triangle" w="med" len="med"/>
              <a:tailEnd type="triangle" w="med" len="med"/>
            </a:ln>
          </p:spPr>
        </p:sp>
        <p:sp>
          <p:nvSpPr>
            <p:cNvPr id="49174" name="Line 1049"/>
            <p:cNvSpPr/>
            <p:nvPr/>
          </p:nvSpPr>
          <p:spPr>
            <a:xfrm>
              <a:off x="476" y="1616"/>
              <a:ext cx="4536" cy="0"/>
            </a:xfrm>
            <a:prstGeom prst="line">
              <a:avLst/>
            </a:prstGeom>
            <a:ln w="25400" cap="rnd" cmpd="sng">
              <a:solidFill>
                <a:schemeClr val="tx1"/>
              </a:solidFill>
              <a:prstDash val="sysDot"/>
              <a:round/>
              <a:headEnd type="none" w="med" len="med"/>
              <a:tailEnd type="none" w="med" len="med"/>
            </a:ln>
          </p:spPr>
        </p:sp>
        <p:sp>
          <p:nvSpPr>
            <p:cNvPr id="49175" name="Line 1050"/>
            <p:cNvSpPr/>
            <p:nvPr/>
          </p:nvSpPr>
          <p:spPr>
            <a:xfrm>
              <a:off x="497" y="2275"/>
              <a:ext cx="4536" cy="0"/>
            </a:xfrm>
            <a:prstGeom prst="line">
              <a:avLst/>
            </a:prstGeom>
            <a:ln w="25400" cap="rnd" cmpd="sng">
              <a:solidFill>
                <a:schemeClr val="tx1"/>
              </a:solidFill>
              <a:prstDash val="sysDot"/>
              <a:round/>
              <a:headEnd type="none" w="med" len="med"/>
              <a:tailEnd type="none" w="med" len="med"/>
            </a:ln>
          </p:spPr>
        </p:sp>
        <p:sp>
          <p:nvSpPr>
            <p:cNvPr id="49176" name="Line 1051"/>
            <p:cNvSpPr/>
            <p:nvPr/>
          </p:nvSpPr>
          <p:spPr>
            <a:xfrm>
              <a:off x="497" y="3007"/>
              <a:ext cx="4536" cy="0"/>
            </a:xfrm>
            <a:prstGeom prst="line">
              <a:avLst/>
            </a:prstGeom>
            <a:ln w="25400" cap="rnd" cmpd="sng">
              <a:solidFill>
                <a:schemeClr val="tx1"/>
              </a:solidFill>
              <a:prstDash val="sysDot"/>
              <a:round/>
              <a:headEnd type="none" w="med" len="med"/>
              <a:tailEnd type="none" w="med" len="med"/>
            </a:ln>
          </p:spPr>
        </p:sp>
        <p:sp>
          <p:nvSpPr>
            <p:cNvPr id="49177" name="Text Box 1052"/>
            <p:cNvSpPr txBox="1"/>
            <p:nvPr/>
          </p:nvSpPr>
          <p:spPr>
            <a:xfrm>
              <a:off x="4513" y="1888"/>
              <a:ext cx="681" cy="231"/>
            </a:xfrm>
            <a:prstGeom prst="rect">
              <a:avLst/>
            </a:prstGeom>
            <a:noFill/>
            <a:ln w="25400">
              <a:noFill/>
            </a:ln>
          </p:spPr>
          <p:txBody>
            <a:bodyPr anchor="t" anchorCtr="0">
              <a:spAutoFit/>
            </a:bodyPr>
            <a:p>
              <a:pPr marL="342900" indent="-342900" algn="ctr">
                <a:spcBef>
                  <a:spcPct val="50000"/>
                </a:spcBef>
              </a:pPr>
              <a:r>
                <a:rPr lang="zh-CN" altLang="en-US" dirty="0">
                  <a:latin typeface="Verdana" panose="020B0604030504040204" pitchFamily="34" charset="0"/>
                  <a:ea typeface="宋体" panose="02010600030101010101" pitchFamily="2" charset="-122"/>
                </a:rPr>
                <a:t>外模式</a:t>
              </a:r>
              <a:endParaRPr lang="zh-CN" altLang="en-US" dirty="0">
                <a:latin typeface="Verdana" panose="020B0604030504040204" pitchFamily="34" charset="0"/>
                <a:ea typeface="宋体" panose="02010600030101010101" pitchFamily="2" charset="-122"/>
              </a:endParaRPr>
            </a:p>
          </p:txBody>
        </p:sp>
        <p:sp>
          <p:nvSpPr>
            <p:cNvPr id="49178" name="Text Box 1053"/>
            <p:cNvSpPr txBox="1"/>
            <p:nvPr/>
          </p:nvSpPr>
          <p:spPr>
            <a:xfrm>
              <a:off x="4513" y="2523"/>
              <a:ext cx="681" cy="231"/>
            </a:xfrm>
            <a:prstGeom prst="rect">
              <a:avLst/>
            </a:prstGeom>
            <a:noFill/>
            <a:ln w="25400">
              <a:noFill/>
            </a:ln>
          </p:spPr>
          <p:txBody>
            <a:bodyPr anchor="t" anchorCtr="0">
              <a:spAutoFit/>
            </a:bodyPr>
            <a:p>
              <a:pPr marL="342900" indent="-342900" algn="ctr">
                <a:spcBef>
                  <a:spcPct val="50000"/>
                </a:spcBef>
              </a:pPr>
              <a:r>
                <a:rPr lang="zh-CN" altLang="en-US" dirty="0">
                  <a:latin typeface="Verdana" panose="020B0604030504040204" pitchFamily="34" charset="0"/>
                  <a:ea typeface="宋体" panose="02010600030101010101" pitchFamily="2" charset="-122"/>
                </a:rPr>
                <a:t>模 式</a:t>
              </a:r>
              <a:endParaRPr lang="zh-CN" altLang="en-US" dirty="0">
                <a:latin typeface="Verdana" panose="020B0604030504040204" pitchFamily="34" charset="0"/>
                <a:ea typeface="宋体" panose="02010600030101010101" pitchFamily="2" charset="-122"/>
              </a:endParaRPr>
            </a:p>
          </p:txBody>
        </p:sp>
        <p:sp>
          <p:nvSpPr>
            <p:cNvPr id="49179" name="Text Box 1054"/>
            <p:cNvSpPr txBox="1"/>
            <p:nvPr/>
          </p:nvSpPr>
          <p:spPr>
            <a:xfrm>
              <a:off x="4558" y="3203"/>
              <a:ext cx="681" cy="231"/>
            </a:xfrm>
            <a:prstGeom prst="rect">
              <a:avLst/>
            </a:prstGeom>
            <a:noFill/>
            <a:ln w="25400">
              <a:noFill/>
            </a:ln>
          </p:spPr>
          <p:txBody>
            <a:bodyPr anchor="t" anchorCtr="0">
              <a:spAutoFit/>
            </a:bodyPr>
            <a:p>
              <a:pPr marL="342900" indent="-342900" algn="ctr">
                <a:spcBef>
                  <a:spcPct val="50000"/>
                </a:spcBef>
              </a:pPr>
              <a:r>
                <a:rPr lang="zh-CN" altLang="en-US" dirty="0">
                  <a:latin typeface="Verdana" panose="020B0604030504040204" pitchFamily="34" charset="0"/>
                  <a:ea typeface="宋体" panose="02010600030101010101" pitchFamily="2" charset="-122"/>
                </a:rPr>
                <a:t>内模式</a:t>
              </a:r>
              <a:endParaRPr lang="zh-CN" altLang="en-US" dirty="0">
                <a:latin typeface="Verdana" panose="020B0604030504040204" pitchFamily="34" charset="0"/>
                <a:ea typeface="宋体" panose="02010600030101010101" pitchFamily="2" charset="-122"/>
              </a:endParaRPr>
            </a:p>
          </p:txBody>
        </p:sp>
      </p:grpSp>
      <p:sp>
        <p:nvSpPr>
          <p:cNvPr id="49180" name="Rectangle 1056"/>
          <p:cNvSpPr/>
          <p:nvPr/>
        </p:nvSpPr>
        <p:spPr>
          <a:xfrm>
            <a:off x="882650" y="1366838"/>
            <a:ext cx="4756150" cy="603250"/>
          </a:xfrm>
          <a:prstGeom prst="rect">
            <a:avLst/>
          </a:prstGeom>
          <a:noFill/>
          <a:ln w="25400">
            <a:noFill/>
          </a:ln>
        </p:spPr>
        <p:txBody>
          <a:bodyPr wrap="none" anchor="t" anchorCtr="0">
            <a:spAutoFit/>
          </a:bodyPr>
          <a:p>
            <a:pPr algn="ctr">
              <a:lnSpc>
                <a:spcPct val="140000"/>
              </a:lnSpc>
              <a:spcBef>
                <a:spcPct val="20000"/>
              </a:spcBef>
            </a:pPr>
            <a:r>
              <a:rPr lang="en-US" altLang="zh-CN" sz="2400" dirty="0">
                <a:latin typeface="Arial" panose="020B0604020202020204" pitchFamily="34" charset="0"/>
                <a:ea typeface="宋体" panose="02010600030101010101" pitchFamily="2" charset="-122"/>
              </a:rPr>
              <a:t>SQL</a:t>
            </a:r>
            <a:r>
              <a:rPr lang="zh-CN" altLang="en-US" sz="2400" dirty="0">
                <a:latin typeface="Arial" panose="020B0604020202020204" pitchFamily="34" charset="0"/>
                <a:ea typeface="宋体" panose="02010600030101010101" pitchFamily="2" charset="-122"/>
              </a:rPr>
              <a:t>支持关系数据库三级模式结构</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灯片编号占位符 3"/>
          <p:cNvSpPr>
            <a:spLocks noGrp="1"/>
          </p:cNvSpPr>
          <p:nvPr>
            <p:ph type="sldNum" sz="quarter" idx="12"/>
          </p:nvPr>
        </p:nvSpPr>
        <p:spPr>
          <a:xfrm>
            <a:off x="609600" y="6245225"/>
            <a:ext cx="1981200" cy="476250"/>
          </a:xfrm>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buSzTx/>
            </a:pPr>
            <a:fld id="{9A0DB2DC-4C9A-4742-B13C-FB6460FD3503}" type="slidenum">
              <a:rPr lang="en-US" altLang="zh-CN" sz="1200" dirty="0"/>
            </a:fld>
            <a:endParaRPr lang="en-US" altLang="zh-CN" sz="1200" dirty="0"/>
          </a:p>
        </p:txBody>
      </p:sp>
      <p:sp>
        <p:nvSpPr>
          <p:cNvPr id="51202" name="Rectangle 2"/>
          <p:cNvSpPr>
            <a:spLocks noGrp="1"/>
          </p:cNvSpPr>
          <p:nvPr>
            <p:ph type="title"/>
          </p:nvPr>
        </p:nvSpPr>
        <p:spPr>
          <a:xfrm>
            <a:off x="206375" y="115888"/>
            <a:ext cx="8686800" cy="850900"/>
          </a:xfrm>
          <a:ln/>
        </p:spPr>
        <p:txBody>
          <a:bodyPr vert="horz" wrap="square" lIns="91440" tIns="45720" rIns="91440" bIns="45720" anchor="b" anchorCtr="0"/>
          <a:p>
            <a:pPr eaLnBrk="1" hangingPunct="1"/>
            <a:r>
              <a:rPr lang="zh-CN" altLang="en-US" dirty="0"/>
              <a:t>数据库系统的三级模式结构</a:t>
            </a:r>
            <a:endParaRPr lang="zh-CN" altLang="en-US" dirty="0"/>
          </a:p>
        </p:txBody>
      </p:sp>
      <p:pic>
        <p:nvPicPr>
          <p:cNvPr id="51203" name="Picture 5" descr="database"/>
          <p:cNvPicPr>
            <a:picLocks noChangeAspect="1"/>
          </p:cNvPicPr>
          <p:nvPr/>
        </p:nvPicPr>
        <p:blipFill>
          <a:blip r:embed="rId1"/>
          <a:stretch>
            <a:fillRect/>
          </a:stretch>
        </p:blipFill>
        <p:spPr>
          <a:xfrm>
            <a:off x="1042988" y="1484313"/>
            <a:ext cx="7343775" cy="4451350"/>
          </a:xfrm>
          <a:prstGeom prst="rect">
            <a:avLst/>
          </a:prstGeom>
          <a:noFill/>
          <a:ln w="9525">
            <a:noFill/>
          </a:ln>
        </p:spPr>
      </p:pic>
      <p:sp>
        <p:nvSpPr>
          <p:cNvPr id="7" name="TextBox 6"/>
          <p:cNvSpPr txBox="1"/>
          <p:nvPr/>
        </p:nvSpPr>
        <p:spPr>
          <a:xfrm>
            <a:off x="714375" y="4286250"/>
            <a:ext cx="2071688" cy="708025"/>
          </a:xfrm>
          <a:prstGeom prst="rect">
            <a:avLst/>
          </a:prstGeom>
          <a:noFill/>
          <a:ln w="38100" cap="flat" cmpd="sng">
            <a:solidFill>
              <a:srgbClr val="FF0000"/>
            </a:solidFill>
            <a:prstDash val="solid"/>
            <a:miter/>
            <a:headEnd type="none" w="med" len="med"/>
            <a:tailEnd type="none" w="med" len="med"/>
          </a:ln>
        </p:spPr>
        <p:txBody>
          <a:bodyPr anchor="t" anchorCtr="0">
            <a:spAutoFit/>
          </a:bodyPr>
          <a:p>
            <a:r>
              <a:rPr lang="zh-CN" altLang="en-US" sz="2000" dirty="0">
                <a:latin typeface="Verdana" panose="020B0604030504040204" pitchFamily="34" charset="0"/>
                <a:ea typeface="宋体" panose="02010600030101010101" pitchFamily="2" charset="-122"/>
              </a:rPr>
              <a:t>逻辑模式</a:t>
            </a:r>
            <a:endParaRPr lang="en-US" altLang="zh-CN" sz="2000" dirty="0">
              <a:latin typeface="Verdana" panose="020B0604030504040204" pitchFamily="34" charset="0"/>
              <a:ea typeface="宋体" panose="02010600030101010101" pitchFamily="2" charset="-122"/>
            </a:endParaRPr>
          </a:p>
          <a:p>
            <a:r>
              <a:rPr lang="zh-CN" altLang="en-US" sz="2000" dirty="0">
                <a:latin typeface="Verdana" panose="020B0604030504040204" pitchFamily="34" charset="0"/>
                <a:ea typeface="宋体" panose="02010600030101010101" pitchFamily="2" charset="-122"/>
              </a:rPr>
              <a:t>（数据库设计）</a:t>
            </a:r>
            <a:endParaRPr lang="zh-CN" altLang="en-US" sz="2000" dirty="0">
              <a:latin typeface="Verdana" panose="020B0604030504040204" pitchFamily="34" charset="0"/>
              <a:ea typeface="宋体" panose="02010600030101010101" pitchFamily="2" charset="-122"/>
            </a:endParaRPr>
          </a:p>
        </p:txBody>
      </p:sp>
      <p:sp>
        <p:nvSpPr>
          <p:cNvPr id="8" name="TextBox 7"/>
          <p:cNvSpPr txBox="1"/>
          <p:nvPr/>
        </p:nvSpPr>
        <p:spPr>
          <a:xfrm>
            <a:off x="571500" y="5214938"/>
            <a:ext cx="2786063" cy="708025"/>
          </a:xfrm>
          <a:prstGeom prst="rect">
            <a:avLst/>
          </a:prstGeom>
          <a:noFill/>
          <a:ln w="38100" cap="flat" cmpd="sng">
            <a:solidFill>
              <a:srgbClr val="0000FF"/>
            </a:solidFill>
            <a:prstDash val="solid"/>
            <a:miter/>
            <a:headEnd type="none" w="med" len="med"/>
            <a:tailEnd type="none" w="med" len="med"/>
          </a:ln>
        </p:spPr>
        <p:txBody>
          <a:bodyPr anchor="t" anchorCtr="0">
            <a:spAutoFit/>
          </a:bodyPr>
          <a:p>
            <a:r>
              <a:rPr lang="zh-CN" altLang="en-US" sz="2000" dirty="0">
                <a:latin typeface="Verdana" panose="020B0604030504040204" pitchFamily="34" charset="0"/>
                <a:ea typeface="宋体" panose="02010600030101010101" pitchFamily="2" charset="-122"/>
              </a:rPr>
              <a:t>存储模式</a:t>
            </a:r>
            <a:endParaRPr lang="en-US" altLang="zh-CN" sz="2000" dirty="0">
              <a:latin typeface="Verdana" panose="020B0604030504040204" pitchFamily="34" charset="0"/>
              <a:ea typeface="宋体" panose="02010600030101010101" pitchFamily="2" charset="-122"/>
            </a:endParaRPr>
          </a:p>
          <a:p>
            <a:r>
              <a:rPr lang="zh-CN" altLang="en-US" sz="2000" dirty="0">
                <a:latin typeface="Verdana" panose="020B0604030504040204" pitchFamily="34" charset="0"/>
                <a:ea typeface="宋体" panose="02010600030101010101" pitchFamily="2" charset="-122"/>
              </a:rPr>
              <a:t>（物理结构，存储方式）</a:t>
            </a:r>
            <a:endParaRPr lang="zh-CN" altLang="en-US" sz="2000" dirty="0">
              <a:latin typeface="Verdana" panose="020B0604030504040204" pitchFamily="34" charset="0"/>
              <a:ea typeface="宋体" panose="02010600030101010101" pitchFamily="2" charset="-122"/>
            </a:endParaRPr>
          </a:p>
        </p:txBody>
      </p:sp>
      <p:sp>
        <p:nvSpPr>
          <p:cNvPr id="9" name="TextBox 8"/>
          <p:cNvSpPr txBox="1"/>
          <p:nvPr/>
        </p:nvSpPr>
        <p:spPr>
          <a:xfrm>
            <a:off x="428625" y="3429000"/>
            <a:ext cx="2428875" cy="708025"/>
          </a:xfrm>
          <a:prstGeom prst="rect">
            <a:avLst/>
          </a:prstGeom>
          <a:noFill/>
          <a:ln w="38100" cap="flat" cmpd="sng">
            <a:solidFill>
              <a:srgbClr val="FFC000"/>
            </a:solidFill>
            <a:prstDash val="solid"/>
            <a:miter/>
            <a:headEnd type="none" w="med" len="med"/>
            <a:tailEnd type="none" w="med" len="med"/>
          </a:ln>
        </p:spPr>
        <p:txBody>
          <a:bodyPr anchor="t" anchorCtr="0">
            <a:spAutoFit/>
          </a:bodyPr>
          <a:p>
            <a:r>
              <a:rPr lang="zh-CN" altLang="en-US" sz="2000" dirty="0">
                <a:latin typeface="Verdana" panose="020B0604030504040204" pitchFamily="34" charset="0"/>
                <a:ea typeface="宋体" panose="02010600030101010101" pitchFamily="2" charset="-122"/>
              </a:rPr>
              <a:t>子模式</a:t>
            </a:r>
            <a:endParaRPr lang="en-US" altLang="zh-CN" sz="2000" dirty="0">
              <a:latin typeface="Verdana" panose="020B0604030504040204" pitchFamily="34" charset="0"/>
              <a:ea typeface="宋体" panose="02010600030101010101" pitchFamily="2" charset="-122"/>
            </a:endParaRPr>
          </a:p>
          <a:p>
            <a:r>
              <a:rPr lang="zh-CN" altLang="en-US" sz="2000" dirty="0">
                <a:latin typeface="Verdana" panose="020B0604030504040204" pitchFamily="34" charset="0"/>
                <a:ea typeface="宋体" panose="02010600030101010101" pitchFamily="2" charset="-122"/>
              </a:rPr>
              <a:t>（用户模式，视图）</a:t>
            </a:r>
            <a:endParaRPr lang="zh-CN" altLang="en-US" sz="2000" dirty="0">
              <a:latin typeface="Verdana" panose="020B0604030504040204" pitchFamily="34" charset="0"/>
              <a:ea typeface="宋体" panose="02010600030101010101" pitchFamily="2" charset="-122"/>
            </a:endParaRPr>
          </a:p>
        </p:txBody>
      </p:sp>
      <p:cxnSp>
        <p:nvCxnSpPr>
          <p:cNvPr id="11" name="直接箭头连接符 10"/>
          <p:cNvCxnSpPr>
            <a:endCxn id="9" idx="0"/>
          </p:cNvCxnSpPr>
          <p:nvPr/>
        </p:nvCxnSpPr>
        <p:spPr>
          <a:xfrm rot="5400000">
            <a:off x="1428750" y="3143250"/>
            <a:ext cx="500063" cy="71438"/>
          </a:xfrm>
          <a:prstGeom prst="straightConnector1">
            <a:avLst/>
          </a:prstGeom>
          <a:ln w="57150" cap="sq" cmpd="sng">
            <a:solidFill>
              <a:srgbClr val="339933"/>
            </a:solidFill>
            <a:prstDash val="solid"/>
            <a:round/>
            <a:headEnd type="none" w="sm" len="sm"/>
            <a:tailEnd type="arrow" w="med" len="med"/>
          </a:ln>
        </p:spPr>
      </p:cxnSp>
      <p:cxnSp>
        <p:nvCxnSpPr>
          <p:cNvPr id="12" name="直接箭头连接符 11"/>
          <p:cNvCxnSpPr>
            <a:endCxn id="7" idx="3"/>
          </p:cNvCxnSpPr>
          <p:nvPr/>
        </p:nvCxnSpPr>
        <p:spPr>
          <a:xfrm rot="-10800000" flipV="1">
            <a:off x="2786063" y="3786188"/>
            <a:ext cx="1214437" cy="854075"/>
          </a:xfrm>
          <a:prstGeom prst="straightConnector1">
            <a:avLst/>
          </a:prstGeom>
          <a:ln w="57150" cap="sq" cmpd="sng">
            <a:solidFill>
              <a:srgbClr val="339933"/>
            </a:solidFill>
            <a:prstDash val="solid"/>
            <a:round/>
            <a:headEnd type="none" w="sm" len="sm"/>
            <a:tailEnd type="arrow" w="med" len="med"/>
          </a:ln>
        </p:spPr>
      </p:cxnSp>
      <p:cxnSp>
        <p:nvCxnSpPr>
          <p:cNvPr id="14" name="直接箭头连接符 13"/>
          <p:cNvCxnSpPr>
            <a:endCxn id="7" idx="3"/>
          </p:cNvCxnSpPr>
          <p:nvPr/>
        </p:nvCxnSpPr>
        <p:spPr>
          <a:xfrm rot="-10800000" flipV="1">
            <a:off x="3357563" y="4929188"/>
            <a:ext cx="642937" cy="571500"/>
          </a:xfrm>
          <a:prstGeom prst="straightConnector1">
            <a:avLst/>
          </a:prstGeom>
          <a:ln w="57150" cap="sq" cmpd="sng">
            <a:solidFill>
              <a:srgbClr val="339933"/>
            </a:solidFill>
            <a:prstDash val="solid"/>
            <a:round/>
            <a:headEnd type="none" w="sm" len="sm"/>
            <a:tailEnd type="arrow" w="med" len="med"/>
          </a:ln>
        </p:spPr>
      </p:cxn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ox(in)">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ox(in)">
                                      <p:cBhvr>
                                        <p:cTn id="15" dur="500"/>
                                        <p:tgtEl>
                                          <p:spTgt spid="8"/>
                                        </p:tgtEl>
                                      </p:cBhvr>
                                    </p:animEffect>
                                  </p:childTnLst>
                                </p:cTn>
                              </p:par>
                              <p:par>
                                <p:cTn id="16" presetID="4" presetClass="entr" presetSubtype="16"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ox(i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5" name="Picture 4" descr="三级模式"/>
          <p:cNvPicPr>
            <a:picLocks noChangeAspect="1"/>
          </p:cNvPicPr>
          <p:nvPr/>
        </p:nvPicPr>
        <p:blipFill>
          <a:blip r:embed="rId1"/>
          <a:stretch>
            <a:fillRect/>
          </a:stretch>
        </p:blipFill>
        <p:spPr>
          <a:xfrm>
            <a:off x="179388" y="404813"/>
            <a:ext cx="8964612" cy="5926137"/>
          </a:xfrm>
          <a:prstGeom prst="rect">
            <a:avLst/>
          </a:prstGeom>
          <a:noFill/>
          <a:ln w="9525">
            <a:noFill/>
          </a:ln>
        </p:spPr>
      </p:pic>
    </p:spTree>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54274" name="Rectangle 2"/>
          <p:cNvSpPr>
            <a:spLocks noGrp="1"/>
          </p:cNvSpPr>
          <p:nvPr>
            <p:ph type="title"/>
          </p:nvPr>
        </p:nvSpPr>
        <p:spPr>
          <a:ln/>
        </p:spPr>
        <p:txBody>
          <a:bodyPr vert="horz" wrap="square" lIns="91440" tIns="45720" rIns="91440" bIns="45720" anchor="b" anchorCtr="0"/>
          <a:p>
            <a:pPr eaLnBrk="1" hangingPunct="1"/>
            <a:r>
              <a:rPr lang="en-US" altLang="zh-CN" sz="3200" dirty="0"/>
              <a:t>3.6  </a:t>
            </a:r>
            <a:r>
              <a:rPr lang="zh-CN" altLang="en-US" sz="3200" dirty="0"/>
              <a:t>视  图</a:t>
            </a:r>
            <a:endParaRPr lang="zh-CN" altLang="en-US" dirty="0"/>
          </a:p>
        </p:txBody>
      </p:sp>
      <p:sp>
        <p:nvSpPr>
          <p:cNvPr id="27652" name="Rectangle 3"/>
          <p:cNvSpPr>
            <a:spLocks noGrp="1"/>
          </p:cNvSpPr>
          <p:nvPr>
            <p:ph idx="1"/>
          </p:nvPr>
        </p:nvSpPr>
        <p:spPr>
          <a:xfrm>
            <a:off x="684213" y="1143000"/>
            <a:ext cx="7816850" cy="3581400"/>
          </a:xfrm>
          <a:ln/>
        </p:spPr>
        <p:txBody>
          <a:bodyPr vert="horz" wrap="square" lIns="91440" tIns="45720" rIns="91440" bIns="45720" anchor="t" anchorCtr="0"/>
          <a:p>
            <a:pPr eaLnBrk="1" hangingPunct="1">
              <a:lnSpc>
                <a:spcPct val="110000"/>
              </a:lnSpc>
              <a:buNone/>
            </a:pPr>
            <a:r>
              <a:rPr lang="zh-CN" altLang="en-US" sz="2400" b="1" dirty="0"/>
              <a:t>视图：是从一个或多个表导出的表。</a:t>
            </a:r>
            <a:endParaRPr lang="en-US" altLang="zh-CN" sz="2400" b="1" dirty="0"/>
          </a:p>
          <a:p>
            <a:pPr eaLnBrk="1" hangingPunct="1">
              <a:lnSpc>
                <a:spcPct val="110000"/>
              </a:lnSpc>
              <a:buNone/>
            </a:pPr>
            <a:r>
              <a:rPr lang="zh-CN" altLang="en-US" sz="2400" b="1" dirty="0"/>
              <a:t>视图的特点</a:t>
            </a:r>
            <a:endParaRPr lang="zh-CN" altLang="en-US" sz="2400" b="1" dirty="0"/>
          </a:p>
          <a:p>
            <a:pPr eaLnBrk="1" hangingPunct="1">
              <a:lnSpc>
                <a:spcPct val="110000"/>
              </a:lnSpc>
            </a:pPr>
            <a:r>
              <a:rPr lang="zh-CN" altLang="en-US" sz="2000" b="1" dirty="0">
                <a:solidFill>
                  <a:srgbClr val="FF0000"/>
                </a:solidFill>
              </a:rPr>
              <a:t>虚表</a:t>
            </a:r>
            <a:r>
              <a:rPr lang="zh-CN" altLang="en-US" sz="2000" b="1" dirty="0"/>
              <a:t>，是从一个或几个基本表（或视图）导出的表</a:t>
            </a:r>
            <a:endParaRPr lang="zh-CN" altLang="en-US" sz="2000" b="1" dirty="0"/>
          </a:p>
          <a:p>
            <a:pPr eaLnBrk="1" hangingPunct="1">
              <a:lnSpc>
                <a:spcPct val="110000"/>
              </a:lnSpc>
              <a:spcBef>
                <a:spcPct val="40000"/>
              </a:spcBef>
            </a:pPr>
            <a:r>
              <a:rPr lang="zh-CN" altLang="en-US" sz="2000" b="1" dirty="0">
                <a:solidFill>
                  <a:srgbClr val="FF0000"/>
                </a:solidFill>
              </a:rPr>
              <a:t>只存放</a:t>
            </a:r>
            <a:r>
              <a:rPr lang="zh-CN" altLang="en-US" sz="2000" b="1" dirty="0"/>
              <a:t>视图的</a:t>
            </a:r>
            <a:r>
              <a:rPr lang="zh-CN" altLang="en-US" sz="2000" b="1" dirty="0">
                <a:solidFill>
                  <a:srgbClr val="FF0000"/>
                </a:solidFill>
              </a:rPr>
              <a:t>定义</a:t>
            </a:r>
            <a:r>
              <a:rPr lang="zh-CN" altLang="en-US" sz="2000" b="1" dirty="0"/>
              <a:t>，</a:t>
            </a:r>
            <a:r>
              <a:rPr lang="zh-CN" altLang="en-US" sz="2000" b="1" dirty="0">
                <a:solidFill>
                  <a:srgbClr val="FF0000"/>
                </a:solidFill>
              </a:rPr>
              <a:t>不存</a:t>
            </a:r>
            <a:r>
              <a:rPr lang="zh-CN" altLang="en-US" sz="2000" b="1" dirty="0"/>
              <a:t>放视图对应的</a:t>
            </a:r>
            <a:r>
              <a:rPr lang="zh-CN" altLang="en-US" sz="2000" b="1" dirty="0">
                <a:solidFill>
                  <a:srgbClr val="FF0000"/>
                </a:solidFill>
              </a:rPr>
              <a:t>数据</a:t>
            </a:r>
            <a:endParaRPr lang="zh-CN" altLang="en-US" sz="2000" b="1" dirty="0">
              <a:solidFill>
                <a:srgbClr val="FF0000"/>
              </a:solidFill>
            </a:endParaRPr>
          </a:p>
          <a:p>
            <a:pPr eaLnBrk="1" hangingPunct="1">
              <a:lnSpc>
                <a:spcPct val="110000"/>
              </a:lnSpc>
              <a:spcBef>
                <a:spcPct val="40000"/>
              </a:spcBef>
            </a:pPr>
            <a:r>
              <a:rPr lang="zh-CN" altLang="en-US" sz="2000" b="1" dirty="0"/>
              <a:t>基表中的数据</a:t>
            </a:r>
            <a:r>
              <a:rPr lang="zh-CN" altLang="en-US" sz="2000" b="1" dirty="0">
                <a:solidFill>
                  <a:srgbClr val="FF0000"/>
                </a:solidFill>
              </a:rPr>
              <a:t>发生变化</a:t>
            </a:r>
            <a:r>
              <a:rPr lang="zh-CN" altLang="en-US" sz="2000" b="1" dirty="0"/>
              <a:t>，从视图中查询出的数据也随之改变</a:t>
            </a:r>
            <a:endParaRPr lang="en-US" altLang="zh-CN" sz="2000" b="1" dirty="0"/>
          </a:p>
          <a:p>
            <a:pPr eaLnBrk="1" hangingPunct="1">
              <a:lnSpc>
                <a:spcPct val="110000"/>
              </a:lnSpc>
              <a:spcBef>
                <a:spcPct val="40000"/>
              </a:spcBef>
            </a:pPr>
            <a:r>
              <a:rPr lang="zh-CN" altLang="en-US" sz="2000" b="1" dirty="0"/>
              <a:t>视图只是一个</a:t>
            </a:r>
            <a:r>
              <a:rPr lang="zh-CN" altLang="en-US" sz="2000" b="1" dirty="0">
                <a:solidFill>
                  <a:srgbClr val="FF0000"/>
                </a:solidFill>
              </a:rPr>
              <a:t>窗口</a:t>
            </a:r>
            <a:r>
              <a:rPr lang="zh-CN" altLang="en-US" sz="2000" b="1" dirty="0"/>
              <a:t>，透过它可以看到数据库中自己感兴趣的数据</a:t>
            </a:r>
            <a:endParaRPr lang="en-US" altLang="zh-CN" sz="2000" b="1" dirty="0"/>
          </a:p>
          <a:p>
            <a:pPr eaLnBrk="1" hangingPunct="1">
              <a:lnSpc>
                <a:spcPct val="110000"/>
              </a:lnSpc>
              <a:spcBef>
                <a:spcPct val="40000"/>
              </a:spcBef>
            </a:pPr>
            <a:r>
              <a:rPr lang="zh-CN" altLang="en-US" sz="2000" b="1" dirty="0"/>
              <a:t>视图是从</a:t>
            </a:r>
            <a:r>
              <a:rPr lang="zh-CN" altLang="en-US" sz="2000" b="1" dirty="0">
                <a:solidFill>
                  <a:srgbClr val="FF0000"/>
                </a:solidFill>
              </a:rPr>
              <a:t>开发者</a:t>
            </a:r>
            <a:r>
              <a:rPr lang="zh-CN" altLang="en-US" sz="2000" b="1" dirty="0"/>
              <a:t>这角度建立的，项目负责人可以给每个项目小组设置不同的视图。</a:t>
            </a:r>
            <a:endParaRPr lang="zh-CN" altLang="en-US" sz="2000" b="1" dirty="0"/>
          </a:p>
        </p:txBody>
      </p:sp>
      <p:sp>
        <p:nvSpPr>
          <p:cNvPr id="790532" name="Rectangle 4"/>
          <p:cNvSpPr/>
          <p:nvPr/>
        </p:nvSpPr>
        <p:spPr>
          <a:xfrm>
            <a:off x="642938" y="4797425"/>
            <a:ext cx="7772400" cy="1257300"/>
          </a:xfrm>
          <a:prstGeom prst="rect">
            <a:avLst/>
          </a:prstGeom>
          <a:noFill/>
          <a:ln w="9525">
            <a:noFill/>
          </a:ln>
        </p:spPr>
        <p:txBody>
          <a:bodyPr anchor="t" anchorCtr="0"/>
          <a:p>
            <a:pPr marL="342900" indent="-342900">
              <a:lnSpc>
                <a:spcPct val="90000"/>
              </a:lnSpc>
              <a:spcBef>
                <a:spcPct val="20000"/>
              </a:spcBef>
              <a:buClr>
                <a:srgbClr val="7DA0D3"/>
              </a:buClr>
              <a:buFont typeface="Wingdings" panose="05000000000000000000" pitchFamily="2" charset="2"/>
            </a:pPr>
            <a:r>
              <a:rPr lang="zh-CN" altLang="en-US" sz="2400" b="1" dirty="0">
                <a:solidFill>
                  <a:srgbClr val="000000"/>
                </a:solidFill>
                <a:latin typeface="Verdana" panose="020B0604030504040204" pitchFamily="34" charset="0"/>
                <a:ea typeface="宋体" panose="02010600030101010101" pitchFamily="2" charset="-122"/>
              </a:rPr>
              <a:t>基于视图的操作</a:t>
            </a:r>
            <a:endParaRPr lang="zh-CN" altLang="en-US" sz="2000" b="1" dirty="0">
              <a:solidFill>
                <a:srgbClr val="000000"/>
              </a:solidFill>
              <a:latin typeface="Verdana" panose="020B0604030504040204" pitchFamily="34" charset="0"/>
              <a:ea typeface="宋体" panose="02010600030101010101" pitchFamily="2" charset="-122"/>
            </a:endParaRPr>
          </a:p>
          <a:p>
            <a:pPr marL="342900" indent="-342900">
              <a:lnSpc>
                <a:spcPct val="110000"/>
              </a:lnSpc>
              <a:spcBef>
                <a:spcPct val="20000"/>
              </a:spcBef>
              <a:buClr>
                <a:srgbClr val="7DA0D3"/>
              </a:buClr>
              <a:buFont typeface="Wingdings" panose="05000000000000000000" pitchFamily="2" charset="2"/>
              <a:buChar char="v"/>
            </a:pPr>
            <a:r>
              <a:rPr lang="zh-CN" altLang="en-US" b="1" dirty="0">
                <a:solidFill>
                  <a:srgbClr val="000000"/>
                </a:solidFill>
                <a:latin typeface="Verdana" panose="020B0604030504040204" pitchFamily="34" charset="0"/>
                <a:ea typeface="宋体" panose="02010600030101010101" pitchFamily="2" charset="-122"/>
              </a:rPr>
              <a:t> </a:t>
            </a:r>
            <a:r>
              <a:rPr lang="zh-CN" altLang="en-US" sz="2000" b="1" dirty="0">
                <a:solidFill>
                  <a:srgbClr val="000000"/>
                </a:solidFill>
                <a:latin typeface="Verdana" panose="020B0604030504040204" pitchFamily="34" charset="0"/>
                <a:ea typeface="宋体" panose="02010600030101010101" pitchFamily="2" charset="-122"/>
              </a:rPr>
              <a:t>查询， 插入，删除， 受限更新</a:t>
            </a:r>
            <a:endParaRPr lang="zh-CN" altLang="en-US" sz="2000" b="1" dirty="0">
              <a:solidFill>
                <a:srgbClr val="000000"/>
              </a:solidFill>
              <a:latin typeface="Verdana" panose="020B0604030504040204" pitchFamily="34" charset="0"/>
              <a:ea typeface="宋体" panose="02010600030101010101" pitchFamily="2" charset="-122"/>
            </a:endParaRPr>
          </a:p>
          <a:p>
            <a:pPr marL="342900" indent="-342900">
              <a:lnSpc>
                <a:spcPct val="110000"/>
              </a:lnSpc>
              <a:spcBef>
                <a:spcPct val="20000"/>
              </a:spcBef>
              <a:buClr>
                <a:srgbClr val="7DA0D3"/>
              </a:buClr>
              <a:buFont typeface="Wingdings" panose="05000000000000000000" pitchFamily="2" charset="2"/>
              <a:buChar char="v"/>
            </a:pPr>
            <a:r>
              <a:rPr lang="zh-CN" altLang="en-US" sz="2000" b="1" dirty="0">
                <a:solidFill>
                  <a:srgbClr val="000000"/>
                </a:solidFill>
                <a:latin typeface="Verdana" panose="020B0604030504040204" pitchFamily="34" charset="0"/>
                <a:ea typeface="宋体" panose="02010600030101010101" pitchFamily="2" charset="-122"/>
              </a:rPr>
              <a:t> 定义基于该视图的新视图</a:t>
            </a:r>
            <a:endParaRPr lang="zh-CN" altLang="en-US" sz="2000" b="1" dirty="0">
              <a:solidFill>
                <a:srgbClr val="00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2">
                                            <p:txEl>
                                              <p:charRg st="0" end="17"/>
                                            </p:txEl>
                                          </p:spTgt>
                                        </p:tgtEl>
                                        <p:attrNameLst>
                                          <p:attrName>style.visibility</p:attrName>
                                        </p:attrNameLst>
                                      </p:cBhvr>
                                      <p:to>
                                        <p:strVal val="visible"/>
                                      </p:to>
                                    </p:set>
                                    <p:anim calcmode="lin" valueType="num">
                                      <p:cBhvr additive="base">
                                        <p:cTn id="7" dur="500" fill="hold"/>
                                        <p:tgtEl>
                                          <p:spTgt spid="27652">
                                            <p:txEl>
                                              <p:charRg st="0" end="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2">
                                            <p:txEl>
                                              <p:charRg st="0" end="1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2">
                                            <p:txEl>
                                              <p:charRg st="17" end="23"/>
                                            </p:txEl>
                                          </p:spTgt>
                                        </p:tgtEl>
                                        <p:attrNameLst>
                                          <p:attrName>style.visibility</p:attrName>
                                        </p:attrNameLst>
                                      </p:cBhvr>
                                      <p:to>
                                        <p:strVal val="visible"/>
                                      </p:to>
                                    </p:set>
                                    <p:anim calcmode="lin" valueType="num">
                                      <p:cBhvr additive="base">
                                        <p:cTn id="13" dur="500" fill="hold"/>
                                        <p:tgtEl>
                                          <p:spTgt spid="27652">
                                            <p:txEl>
                                              <p:charRg st="17" end="2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2">
                                            <p:txEl>
                                              <p:charRg st="17" end="2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2">
                                            <p:txEl>
                                              <p:charRg st="23" end="46"/>
                                            </p:txEl>
                                          </p:spTgt>
                                        </p:tgtEl>
                                        <p:attrNameLst>
                                          <p:attrName>style.visibility</p:attrName>
                                        </p:attrNameLst>
                                      </p:cBhvr>
                                      <p:to>
                                        <p:strVal val="visible"/>
                                      </p:to>
                                    </p:set>
                                    <p:anim calcmode="lin" valueType="num">
                                      <p:cBhvr additive="base">
                                        <p:cTn id="19" dur="500" fill="hold"/>
                                        <p:tgtEl>
                                          <p:spTgt spid="27652">
                                            <p:txEl>
                                              <p:charRg st="23" end="4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2">
                                            <p:txEl>
                                              <p:charRg st="23" end="4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2">
                                            <p:txEl>
                                              <p:charRg st="46" end="66"/>
                                            </p:txEl>
                                          </p:spTgt>
                                        </p:tgtEl>
                                        <p:attrNameLst>
                                          <p:attrName>style.visibility</p:attrName>
                                        </p:attrNameLst>
                                      </p:cBhvr>
                                      <p:to>
                                        <p:strVal val="visible"/>
                                      </p:to>
                                    </p:set>
                                    <p:anim calcmode="lin" valueType="num">
                                      <p:cBhvr additive="base">
                                        <p:cTn id="25" dur="500" fill="hold"/>
                                        <p:tgtEl>
                                          <p:spTgt spid="27652">
                                            <p:txEl>
                                              <p:charRg st="46" end="6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2">
                                            <p:txEl>
                                              <p:charRg st="46" end="6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652">
                                            <p:txEl>
                                              <p:charRg st="66" end="93"/>
                                            </p:txEl>
                                          </p:spTgt>
                                        </p:tgtEl>
                                        <p:attrNameLst>
                                          <p:attrName>style.visibility</p:attrName>
                                        </p:attrNameLst>
                                      </p:cBhvr>
                                      <p:to>
                                        <p:strVal val="visible"/>
                                      </p:to>
                                    </p:set>
                                    <p:anim calcmode="lin" valueType="num">
                                      <p:cBhvr additive="base">
                                        <p:cTn id="31" dur="500" fill="hold"/>
                                        <p:tgtEl>
                                          <p:spTgt spid="27652">
                                            <p:txEl>
                                              <p:charRg st="66" end="9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2">
                                            <p:txEl>
                                              <p:charRg st="66" end="9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652">
                                            <p:txEl>
                                              <p:charRg st="93" end="122"/>
                                            </p:txEl>
                                          </p:spTgt>
                                        </p:tgtEl>
                                        <p:attrNameLst>
                                          <p:attrName>style.visibility</p:attrName>
                                        </p:attrNameLst>
                                      </p:cBhvr>
                                      <p:to>
                                        <p:strVal val="visible"/>
                                      </p:to>
                                    </p:set>
                                    <p:anim calcmode="lin" valueType="num">
                                      <p:cBhvr additive="base">
                                        <p:cTn id="37" dur="500" fill="hold"/>
                                        <p:tgtEl>
                                          <p:spTgt spid="27652">
                                            <p:txEl>
                                              <p:charRg st="93" end="12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652">
                                            <p:txEl>
                                              <p:charRg st="93" end="12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7652">
                                            <p:txEl>
                                              <p:charRg st="122" end="159"/>
                                            </p:txEl>
                                          </p:spTgt>
                                        </p:tgtEl>
                                        <p:attrNameLst>
                                          <p:attrName>style.visibility</p:attrName>
                                        </p:attrNameLst>
                                      </p:cBhvr>
                                      <p:to>
                                        <p:strVal val="visible"/>
                                      </p:to>
                                    </p:set>
                                    <p:anim calcmode="lin" valueType="num">
                                      <p:cBhvr additive="base">
                                        <p:cTn id="43" dur="500" fill="hold"/>
                                        <p:tgtEl>
                                          <p:spTgt spid="27652">
                                            <p:txEl>
                                              <p:charRg st="122" end="15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652">
                                            <p:txEl>
                                              <p:charRg st="122" end="15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90532"/>
                                        </p:tgtEl>
                                        <p:attrNameLst>
                                          <p:attrName>style.visibility</p:attrName>
                                        </p:attrNameLst>
                                      </p:cBhvr>
                                      <p:to>
                                        <p:strVal val="visible"/>
                                      </p:to>
                                    </p:set>
                                    <p:anim calcmode="lin" valueType="num">
                                      <p:cBhvr additive="base">
                                        <p:cTn id="49" dur="500" fill="hold"/>
                                        <p:tgtEl>
                                          <p:spTgt spid="790532"/>
                                        </p:tgtEl>
                                        <p:attrNameLst>
                                          <p:attrName>ppt_x</p:attrName>
                                        </p:attrNameLst>
                                      </p:cBhvr>
                                      <p:tavLst>
                                        <p:tav tm="0">
                                          <p:val>
                                            <p:strVal val="#ppt_x"/>
                                          </p:val>
                                        </p:tav>
                                        <p:tav tm="100000">
                                          <p:val>
                                            <p:strVal val="#ppt_x"/>
                                          </p:val>
                                        </p:tav>
                                      </p:tavLst>
                                    </p:anim>
                                    <p:anim calcmode="lin" valueType="num">
                                      <p:cBhvr additive="base">
                                        <p:cTn id="50" dur="500" fill="hold"/>
                                        <p:tgtEl>
                                          <p:spTgt spid="7905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uild="p"/>
      <p:bldP spid="7905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56322" name="Rectangle 2"/>
          <p:cNvSpPr>
            <a:spLocks noGrp="1"/>
          </p:cNvSpPr>
          <p:nvPr>
            <p:ph type="title"/>
          </p:nvPr>
        </p:nvSpPr>
        <p:spPr>
          <a:ln/>
        </p:spPr>
        <p:txBody>
          <a:bodyPr vert="horz" wrap="square" lIns="91440" tIns="45720" rIns="91440" bIns="45720" anchor="b" anchorCtr="0"/>
          <a:p>
            <a:pPr eaLnBrk="1" hangingPunct="1"/>
            <a:r>
              <a:rPr lang="en-US" altLang="zh-CN" sz="3200" dirty="0"/>
              <a:t>3.6  </a:t>
            </a:r>
            <a:r>
              <a:rPr lang="zh-CN" altLang="en-US" sz="3200" dirty="0"/>
              <a:t>视    图</a:t>
            </a:r>
            <a:endParaRPr lang="zh-CN" altLang="en-US" sz="3200" dirty="0"/>
          </a:p>
        </p:txBody>
      </p:sp>
      <p:sp>
        <p:nvSpPr>
          <p:cNvPr id="56323" name="Rectangle 3"/>
          <p:cNvSpPr>
            <a:spLocks noGrp="1"/>
          </p:cNvSpPr>
          <p:nvPr>
            <p:ph idx="1"/>
          </p:nvPr>
        </p:nvSpPr>
        <p:spPr>
          <a:xfrm>
            <a:off x="611188" y="1557338"/>
            <a:ext cx="7859712" cy="4495800"/>
          </a:xfrm>
          <a:ln/>
        </p:spPr>
        <p:txBody>
          <a:bodyPr vert="horz" wrap="square" lIns="91440" tIns="45720" rIns="91440" bIns="45720" anchor="t" anchorCtr="0"/>
          <a:p>
            <a:pPr eaLnBrk="1" hangingPunct="1">
              <a:lnSpc>
                <a:spcPct val="160000"/>
              </a:lnSpc>
              <a:buNone/>
            </a:pPr>
            <a:r>
              <a:rPr lang="en-US" altLang="zh-CN" b="1" dirty="0"/>
              <a:t>3.6.1  </a:t>
            </a:r>
            <a:r>
              <a:rPr lang="zh-CN" altLang="en-US" b="1" dirty="0"/>
              <a:t>定义视图</a:t>
            </a:r>
            <a:endParaRPr lang="zh-CN" altLang="en-US" b="1" dirty="0"/>
          </a:p>
          <a:p>
            <a:pPr eaLnBrk="1" hangingPunct="1">
              <a:lnSpc>
                <a:spcPct val="160000"/>
              </a:lnSpc>
              <a:buNone/>
            </a:pPr>
            <a:r>
              <a:rPr lang="en-US" altLang="zh-CN" b="1" dirty="0"/>
              <a:t>3.6.2  </a:t>
            </a:r>
            <a:r>
              <a:rPr lang="zh-CN" altLang="en-US" b="1" dirty="0"/>
              <a:t>查询视图</a:t>
            </a:r>
            <a:endParaRPr lang="zh-CN" altLang="en-US" b="1" dirty="0"/>
          </a:p>
          <a:p>
            <a:pPr eaLnBrk="1" hangingPunct="1">
              <a:lnSpc>
                <a:spcPct val="160000"/>
              </a:lnSpc>
              <a:buNone/>
            </a:pPr>
            <a:r>
              <a:rPr lang="en-US" altLang="zh-CN" b="1" dirty="0"/>
              <a:t>3.6.3  </a:t>
            </a:r>
            <a:r>
              <a:rPr lang="zh-CN" altLang="en-US" b="1" dirty="0"/>
              <a:t>更新视图</a:t>
            </a:r>
            <a:endParaRPr lang="zh-CN" altLang="en-US" b="1" dirty="0"/>
          </a:p>
          <a:p>
            <a:pPr eaLnBrk="1" hangingPunct="1">
              <a:lnSpc>
                <a:spcPct val="160000"/>
              </a:lnSpc>
              <a:buNone/>
            </a:pPr>
            <a:r>
              <a:rPr lang="en-US" altLang="zh-CN" b="1" dirty="0"/>
              <a:t>3.6.4  </a:t>
            </a:r>
            <a:r>
              <a:rPr lang="zh-CN" altLang="en-US" b="1" dirty="0"/>
              <a:t>视图的作用</a:t>
            </a:r>
            <a:endParaRPr lang="zh-CN" altLang="en-US" b="1" dirty="0"/>
          </a:p>
          <a:p>
            <a:pPr eaLnBrk="1" hangingPunct="1">
              <a:lnSpc>
                <a:spcPct val="110000"/>
              </a:lnSpc>
              <a:buNone/>
            </a:pPr>
            <a:endParaRPr lang="en-US" altLang="zh-CN" b="1" dirty="0"/>
          </a:p>
        </p:txBody>
      </p:sp>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58370" name="Rectangle 2"/>
          <p:cNvSpPr>
            <a:spLocks noGrp="1"/>
          </p:cNvSpPr>
          <p:nvPr>
            <p:ph type="title"/>
          </p:nvPr>
        </p:nvSpPr>
        <p:spPr>
          <a:ln/>
        </p:spPr>
        <p:txBody>
          <a:bodyPr vert="horz" wrap="square" lIns="91440" tIns="45720" rIns="91440" bIns="45720" anchor="b" anchorCtr="0"/>
          <a:p>
            <a:pPr eaLnBrk="1" hangingPunct="1"/>
            <a:r>
              <a:rPr lang="en-US" altLang="zh-CN" sz="3600" dirty="0"/>
              <a:t>3.6.1  </a:t>
            </a:r>
            <a:r>
              <a:rPr lang="zh-CN" altLang="en-US" sz="3600" dirty="0"/>
              <a:t>定义视图</a:t>
            </a:r>
            <a:endParaRPr lang="zh-CN" altLang="en-US" sz="3600" dirty="0"/>
          </a:p>
        </p:txBody>
      </p:sp>
      <p:sp>
        <p:nvSpPr>
          <p:cNvPr id="30724"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定义视图：</a:t>
            </a:r>
            <a:endParaRPr kumimoji="0" lang="en-US" altLang="zh-CN" sz="3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定义视图的语句格式</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rgbClr val="FF3399"/>
                </a:solidFill>
                <a:effectLst/>
                <a:uLnTx/>
                <a:uFillTx/>
                <a:latin typeface="+mn-lt"/>
                <a:ea typeface="+mn-ea"/>
                <a:cs typeface="+mn-cs"/>
              </a:rPr>
              <a:t>CREATE  VIEW</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视图名</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&gt;  [(&lt;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列名</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&gt;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列名</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&gt;]…)]</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rgbClr val="FF3399"/>
                </a:solidFill>
                <a:effectLst/>
                <a:uLnTx/>
                <a:uFillTx/>
                <a:latin typeface="+mn-lt"/>
                <a:ea typeface="+mn-ea"/>
                <a:cs typeface="+mn-cs"/>
              </a:rPr>
              <a:t>       AS</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&lt;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子查询</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&gt;</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2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rgbClr val="FF3399"/>
                </a:solidFill>
                <a:effectLst/>
                <a:uLnTx/>
                <a:uFillTx/>
                <a:latin typeface="+mn-lt"/>
                <a:ea typeface="+mn-ea"/>
                <a:cs typeface="+mn-cs"/>
              </a:rPr>
              <a:t>WITH  CHECK  OPTION</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4" name="圆角矩形标注 3"/>
          <p:cNvSpPr/>
          <p:nvPr/>
        </p:nvSpPr>
        <p:spPr>
          <a:xfrm>
            <a:off x="4859338" y="2420938"/>
            <a:ext cx="1614488" cy="776288"/>
          </a:xfrm>
          <a:prstGeom prst="wedgeRoundRectCallout">
            <a:avLst>
              <a:gd name="adj1" fmla="val -57202"/>
              <a:gd name="adj2" fmla="val 86619"/>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全部省略或全部指定</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
        <p:nvSpPr>
          <p:cNvPr id="8" name="圆角矩形标注 7"/>
          <p:cNvSpPr/>
          <p:nvPr/>
        </p:nvSpPr>
        <p:spPr>
          <a:xfrm>
            <a:off x="5867400" y="4076700"/>
            <a:ext cx="2997200" cy="865188"/>
          </a:xfrm>
          <a:prstGeom prst="wedgeRoundRectCallout">
            <a:avLst>
              <a:gd name="adj1" fmla="val -131026"/>
              <a:gd name="adj2" fmla="val -36238"/>
              <a:gd name="adj3" fmla="val 1666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子查询就是一条查询语句，不允许包含</a:t>
            </a:r>
            <a:r>
              <a:rPr kumimoji="0" lang="en-US" altLang="zh-CN" sz="1800" b="0" i="0" u="none" strike="noStrike" kern="1200" cap="none" spc="0" normalizeH="0" baseline="0" noProof="0" dirty="0">
                <a:ln>
                  <a:noFill/>
                </a:ln>
                <a:solidFill>
                  <a:srgbClr val="FF0000"/>
                </a:solidFill>
                <a:effectLst/>
                <a:uLnTx/>
                <a:uFillTx/>
                <a:latin typeface="+mn-lt"/>
                <a:ea typeface="+mn-ea"/>
                <a:cs typeface="+mn-cs"/>
              </a:rPr>
              <a:t>ORDER BY</a:t>
            </a: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和</a:t>
            </a:r>
            <a:r>
              <a:rPr kumimoji="0" lang="en-US" altLang="zh-CN" sz="1800" b="0" i="0" u="none" strike="noStrike" kern="1200" cap="none" spc="0" normalizeH="0" baseline="0" noProof="0" dirty="0">
                <a:ln>
                  <a:noFill/>
                </a:ln>
                <a:solidFill>
                  <a:srgbClr val="FF0000"/>
                </a:solidFill>
                <a:effectLst/>
                <a:uLnTx/>
                <a:uFillTx/>
                <a:latin typeface="+mn-lt"/>
                <a:ea typeface="+mn-ea"/>
                <a:cs typeface="+mn-cs"/>
              </a:rPr>
              <a:t>DISTINCT</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
        <p:nvSpPr>
          <p:cNvPr id="58374" name="矩形 4"/>
          <p:cNvSpPr/>
          <p:nvPr/>
        </p:nvSpPr>
        <p:spPr>
          <a:xfrm>
            <a:off x="4859338" y="1341438"/>
            <a:ext cx="3960812" cy="904875"/>
          </a:xfrm>
          <a:prstGeom prst="rect">
            <a:avLst/>
          </a:prstGeom>
          <a:noFill/>
          <a:ln w="9525">
            <a:noFill/>
          </a:ln>
        </p:spPr>
        <p:txBody>
          <a:bodyPr anchor="t" anchorCtr="0">
            <a:spAutoFit/>
          </a:bodyPr>
          <a:p>
            <a:pPr lvl="1" indent="0" eaLnBrk="1" hangingPunct="1">
              <a:lnSpc>
                <a:spcPct val="120000"/>
              </a:lnSpc>
            </a:pPr>
            <a:r>
              <a:rPr lang="zh-CN" altLang="en-US" sz="2200" dirty="0">
                <a:latin typeface="Verdana" panose="020B0604030504040204" pitchFamily="34" charset="0"/>
                <a:ea typeface="宋体" panose="02010600030101010101" pitchFamily="2" charset="-122"/>
              </a:rPr>
              <a:t>聚集函数，表达式</a:t>
            </a:r>
            <a:endParaRPr lang="en-US" altLang="zh-CN" sz="2200" dirty="0">
              <a:latin typeface="Verdana" panose="020B0604030504040204" pitchFamily="34" charset="0"/>
              <a:ea typeface="宋体" panose="02010600030101010101" pitchFamily="2" charset="-122"/>
            </a:endParaRPr>
          </a:p>
          <a:p>
            <a:pPr lvl="1" indent="0" eaLnBrk="1" hangingPunct="1">
              <a:lnSpc>
                <a:spcPct val="120000"/>
              </a:lnSpc>
            </a:pPr>
            <a:r>
              <a:rPr lang="zh-CN" altLang="en-US" sz="2200" dirty="0">
                <a:latin typeface="Verdana" panose="020B0604030504040204" pitchFamily="34" charset="0"/>
                <a:ea typeface="宋体" panose="02010600030101010101" pitchFamily="2" charset="-122"/>
              </a:rPr>
              <a:t>多表连接，用了共同字段</a:t>
            </a:r>
            <a:endParaRPr lang="en-US" altLang="zh-CN" sz="22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60418" name="Rectangle 2"/>
          <p:cNvSpPr>
            <a:spLocks noGrp="1"/>
          </p:cNvSpPr>
          <p:nvPr>
            <p:ph type="title"/>
          </p:nvPr>
        </p:nvSpPr>
        <p:spPr>
          <a:ln/>
        </p:spPr>
        <p:txBody>
          <a:bodyPr vert="horz" wrap="square" lIns="91440" tIns="45720" rIns="91440" bIns="45720" anchor="b" anchorCtr="0"/>
          <a:p>
            <a:pPr eaLnBrk="1" hangingPunct="1"/>
            <a:r>
              <a:rPr lang="en-US" altLang="zh-CN" sz="3600" dirty="0"/>
              <a:t>3.6.1  </a:t>
            </a:r>
            <a:r>
              <a:rPr lang="zh-CN" altLang="en-US" sz="3600" dirty="0"/>
              <a:t>定义视图</a:t>
            </a:r>
            <a:endParaRPr lang="zh-CN" altLang="en-US" sz="3600" dirty="0"/>
          </a:p>
        </p:txBody>
      </p:sp>
      <p:sp>
        <p:nvSpPr>
          <p:cNvPr id="20484" name="Rectangle 3"/>
          <p:cNvSpPr>
            <a:spLocks noGrp="1" noChangeArrowheads="1"/>
          </p:cNvSpPr>
          <p:nvPr>
            <p:ph idx="1"/>
          </p:nvPr>
        </p:nvSpPr>
        <p:spPr>
          <a:xfrm>
            <a:off x="539750" y="2060575"/>
            <a:ext cx="8229600" cy="3240088"/>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例</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建立信息系学生的视图。</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CREATE VIEW </a:t>
            </a:r>
            <a:r>
              <a:rPr kumimoji="0" lang="en-US" altLang="zh-CN" sz="2000" b="0" i="0" u="none" strike="noStrike" kern="0" cap="none" spc="0" normalizeH="0" baseline="0" noProof="0" dirty="0" err="1" smtClean="0">
                <a:ln>
                  <a:noFill/>
                </a:ln>
                <a:solidFill>
                  <a:schemeClr val="tx1"/>
                </a:solidFill>
                <a:effectLst/>
                <a:uLnTx/>
                <a:uFillTx/>
                <a:latin typeface="+mn-lt"/>
                <a:ea typeface="+mn-ea"/>
                <a:cs typeface="+mn-cs"/>
              </a:rPr>
              <a:t>IS_Student</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        AS </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        SELECT </a:t>
            </a:r>
            <a:r>
              <a:rPr kumimoji="0" lang="en-US" altLang="zh-CN" sz="2000" b="0" i="0" u="none" strike="noStrike" kern="0" cap="none" spc="0" normalizeH="0" baseline="0" noProof="0" dirty="0" err="1" smtClean="0">
                <a:ln>
                  <a:noFill/>
                </a:ln>
                <a:solidFill>
                  <a:schemeClr val="tx1"/>
                </a:solidFill>
                <a:effectLst/>
                <a:uLnTx/>
                <a:uFillTx/>
                <a:latin typeface="+mn-lt"/>
                <a:ea typeface="+mn-ea"/>
                <a:cs typeface="+mn-cs"/>
              </a:rPr>
              <a:t>Sno,Sname,Sage,sdept</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        FROM  Student</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        WHERE  </a:t>
            </a:r>
            <a:r>
              <a:rPr kumimoji="0" lang="en-US" altLang="zh-CN" sz="2000" b="0" i="0" u="none" strike="noStrike" kern="0" cap="none" spc="0" normalizeH="0" baseline="0" noProof="0" dirty="0" err="1" smtClean="0">
                <a:ln>
                  <a:noFill/>
                </a:ln>
                <a:solidFill>
                  <a:schemeClr val="tx1"/>
                </a:solidFill>
                <a:effectLst/>
                <a:uLnTx/>
                <a:uFillTx/>
                <a:latin typeface="+mn-lt"/>
                <a:ea typeface="+mn-ea"/>
                <a:cs typeface="+mn-cs"/>
              </a:rPr>
              <a:t>Sdept</a:t>
            </a:r>
            <a:r>
              <a:rPr kumimoji="0" lang="en-US" altLang="zh-CN" sz="2000" b="0" i="0" u="none" strike="noStrike" kern="0" cap="none" spc="0" normalizeH="0" baseline="0" noProof="0" dirty="0" smtClean="0">
                <a:ln>
                  <a:noFill/>
                </a:ln>
                <a:solidFill>
                  <a:schemeClr val="tx1"/>
                </a:solidFill>
                <a:effectLst/>
                <a:uLnTx/>
                <a:uFillTx/>
                <a:latin typeface="+mn-lt"/>
                <a:ea typeface="+mn-ea"/>
                <a:cs typeface="+mn-cs"/>
              </a:rPr>
              <a:t>= 'IS</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p:txBody>
      </p:sp>
      <p:sp>
        <p:nvSpPr>
          <p:cNvPr id="7" name="Rectangle 3"/>
          <p:cNvSpPr txBox="1">
            <a:spLocks noChangeArrowheads="1"/>
          </p:cNvSpPr>
          <p:nvPr/>
        </p:nvSpPr>
        <p:spPr bwMode="auto">
          <a:xfrm>
            <a:off x="420688" y="1196975"/>
            <a:ext cx="82296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基于一个表的视图</a:t>
            </a:r>
            <a:endParaRPr kumimoji="0" lang="zh-CN" altLang="en-US" sz="14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62466" name="Rectangle 2"/>
          <p:cNvSpPr>
            <a:spLocks noGrp="1"/>
          </p:cNvSpPr>
          <p:nvPr>
            <p:ph type="title"/>
          </p:nvPr>
        </p:nvSpPr>
        <p:spPr>
          <a:ln/>
        </p:spPr>
        <p:txBody>
          <a:bodyPr vert="horz" wrap="square" lIns="91440" tIns="45720" rIns="91440" bIns="45720" anchor="b" anchorCtr="0"/>
          <a:p>
            <a:pPr eaLnBrk="1" hangingPunct="1"/>
            <a:r>
              <a:rPr lang="en-US" altLang="zh-CN" sz="3600" dirty="0"/>
              <a:t>3.6.1  </a:t>
            </a:r>
            <a:r>
              <a:rPr lang="zh-CN" altLang="en-US" sz="3600" dirty="0"/>
              <a:t>定义视图</a:t>
            </a:r>
            <a:endParaRPr lang="zh-CN" altLang="en-US" sz="3600" dirty="0"/>
          </a:p>
        </p:txBody>
      </p:sp>
      <p:sp>
        <p:nvSpPr>
          <p:cNvPr id="62467" name="Rectangle 3"/>
          <p:cNvSpPr>
            <a:spLocks noGrp="1"/>
          </p:cNvSpPr>
          <p:nvPr>
            <p:ph idx="1"/>
          </p:nvPr>
        </p:nvSpPr>
        <p:spPr>
          <a:xfrm>
            <a:off x="420688" y="1196975"/>
            <a:ext cx="8229600" cy="736600"/>
          </a:xfrm>
          <a:ln/>
        </p:spPr>
        <p:txBody>
          <a:bodyPr vert="horz" wrap="square" lIns="91440" tIns="45720" rIns="91440" bIns="45720" anchor="t" anchorCtr="0"/>
          <a:p>
            <a:pPr eaLnBrk="1" hangingPunct="1"/>
            <a:r>
              <a:rPr lang="zh-CN" altLang="en-US" sz="3200" dirty="0"/>
              <a:t>分组视图</a:t>
            </a:r>
            <a:endParaRPr lang="zh-CN" altLang="en-US" sz="1400" dirty="0"/>
          </a:p>
        </p:txBody>
      </p:sp>
      <p:sp>
        <p:nvSpPr>
          <p:cNvPr id="808964" name="Rectangle 4"/>
          <p:cNvSpPr/>
          <p:nvPr/>
        </p:nvSpPr>
        <p:spPr>
          <a:xfrm>
            <a:off x="539750" y="1989138"/>
            <a:ext cx="7993063" cy="904875"/>
          </a:xfrm>
          <a:prstGeom prst="rect">
            <a:avLst/>
          </a:prstGeom>
          <a:noFill/>
          <a:ln w="25400">
            <a:noFill/>
          </a:ln>
        </p:spPr>
        <p:txBody>
          <a:bodyPr anchor="t" anchorCtr="0">
            <a:spAutoFit/>
          </a:bodyPr>
          <a:p>
            <a:pPr marL="342900" indent="-342900">
              <a:lnSpc>
                <a:spcPct val="110000"/>
              </a:lnSpc>
            </a:pPr>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例</a:t>
            </a: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Times New Roman" panose="02020603050405020304" pitchFamily="18" charset="0"/>
                <a:ea typeface="宋体" panose="02010600030101010101" pitchFamily="2" charset="-122"/>
              </a:rPr>
              <a:t>将学生的学号及他的平均成绩定义为一个视图</a:t>
            </a:r>
            <a:endParaRPr lang="zh-CN" altLang="en-US" sz="2400" dirty="0">
              <a:solidFill>
                <a:srgbClr val="000000"/>
              </a:solidFill>
              <a:latin typeface="Times New Roman" panose="02020603050405020304" pitchFamily="18" charset="0"/>
              <a:ea typeface="宋体" panose="02010600030101010101" pitchFamily="2" charset="-122"/>
            </a:endParaRPr>
          </a:p>
          <a:p>
            <a:pPr marL="342900" indent="-342900">
              <a:lnSpc>
                <a:spcPct val="110000"/>
              </a:lnSpc>
            </a:pPr>
            <a:r>
              <a:rPr lang="zh-CN" altLang="en-US" sz="2400" dirty="0">
                <a:solidFill>
                  <a:srgbClr val="000000"/>
                </a:solidFill>
                <a:latin typeface="Times New Roman" panose="02020603050405020304" pitchFamily="18" charset="0"/>
                <a:ea typeface="宋体" panose="02010600030101010101" pitchFamily="2" charset="-122"/>
              </a:rPr>
              <a:t>	       假设</a:t>
            </a:r>
            <a:r>
              <a:rPr lang="en-US" altLang="zh-CN" sz="2400" dirty="0">
                <a:solidFill>
                  <a:srgbClr val="000000"/>
                </a:solidFill>
                <a:latin typeface="Times New Roman" panose="02020603050405020304" pitchFamily="18" charset="0"/>
                <a:ea typeface="宋体" panose="02010600030101010101" pitchFamily="2" charset="-122"/>
              </a:rPr>
              <a:t>SC</a:t>
            </a:r>
            <a:r>
              <a:rPr lang="zh-CN" altLang="en-US" sz="2400" dirty="0">
                <a:solidFill>
                  <a:srgbClr val="000000"/>
                </a:solidFill>
                <a:latin typeface="Times New Roman" panose="02020603050405020304" pitchFamily="18" charset="0"/>
                <a:ea typeface="宋体" panose="02010600030101010101" pitchFamily="2" charset="-122"/>
              </a:rPr>
              <a:t>表中“成绩”列</a:t>
            </a:r>
            <a:r>
              <a:rPr lang="en-US" altLang="zh-CN" sz="2400" dirty="0">
                <a:solidFill>
                  <a:srgbClr val="000000"/>
                </a:solidFill>
                <a:latin typeface="Times New Roman" panose="02020603050405020304" pitchFamily="18" charset="0"/>
                <a:ea typeface="宋体" panose="02010600030101010101" pitchFamily="2" charset="-122"/>
              </a:rPr>
              <a:t>Grade</a:t>
            </a:r>
            <a:r>
              <a:rPr lang="zh-CN" altLang="en-US" sz="2400" dirty="0">
                <a:solidFill>
                  <a:srgbClr val="000000"/>
                </a:solidFill>
                <a:latin typeface="Times New Roman" panose="02020603050405020304" pitchFamily="18" charset="0"/>
                <a:ea typeface="宋体" panose="02010600030101010101" pitchFamily="2" charset="-122"/>
              </a:rPr>
              <a:t>为数字型</a:t>
            </a:r>
            <a:endParaRPr lang="zh-CN" altLang="en-US" sz="2400" dirty="0">
              <a:solidFill>
                <a:srgbClr val="FF3399"/>
              </a:solidFill>
              <a:latin typeface="Times New Roman" panose="02020603050405020304" pitchFamily="18" charset="0"/>
              <a:ea typeface="宋体" panose="02010600030101010101" pitchFamily="2" charset="-122"/>
            </a:endParaRPr>
          </a:p>
        </p:txBody>
      </p:sp>
      <p:sp>
        <p:nvSpPr>
          <p:cNvPr id="808965" name="Rectangle 5"/>
          <p:cNvSpPr/>
          <p:nvPr/>
        </p:nvSpPr>
        <p:spPr>
          <a:xfrm>
            <a:off x="628650" y="3068638"/>
            <a:ext cx="6985000" cy="1938337"/>
          </a:xfrm>
          <a:prstGeom prst="rect">
            <a:avLst/>
          </a:prstGeom>
          <a:noFill/>
          <a:ln w="25400">
            <a:noFill/>
          </a:ln>
        </p:spPr>
        <p:txBody>
          <a:bodyPr anchor="t" anchorCtr="0">
            <a:spAutoFit/>
          </a:bodyPr>
          <a:p>
            <a:pPr marL="342900" indent="-342900"/>
            <a:r>
              <a:rPr lang="en-US" altLang="zh-CN" sz="2400" dirty="0">
                <a:solidFill>
                  <a:srgbClr val="000000"/>
                </a:solidFill>
                <a:latin typeface="Verdana" panose="020B0604030504040204" pitchFamily="34" charset="0"/>
                <a:ea typeface="宋体" panose="02010600030101010101" pitchFamily="2" charset="-122"/>
              </a:rPr>
              <a:t>             CREATE  VIEW S_G(Sno,Gavg)</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AS  </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SELECT Sno,AVG(Grade)</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FROM  SC</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GROUP BY Sno;</a:t>
            </a:r>
            <a:endParaRPr lang="zh-CN" altLang="en-US" sz="2400" dirty="0">
              <a:solidFill>
                <a:srgbClr val="FF3399"/>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89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4" grpId="0"/>
      <p:bldP spid="80896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64514" name="Rectangle 2"/>
          <p:cNvSpPr>
            <a:spLocks noGrp="1"/>
          </p:cNvSpPr>
          <p:nvPr>
            <p:ph type="title"/>
          </p:nvPr>
        </p:nvSpPr>
        <p:spPr>
          <a:ln/>
        </p:spPr>
        <p:txBody>
          <a:bodyPr vert="horz" wrap="square" lIns="91440" tIns="45720" rIns="91440" bIns="45720" anchor="b" anchorCtr="0"/>
          <a:p>
            <a:pPr eaLnBrk="1" hangingPunct="1"/>
            <a:r>
              <a:rPr lang="en-US" altLang="zh-CN" sz="3600" dirty="0"/>
              <a:t> 3.6.1  </a:t>
            </a:r>
            <a:r>
              <a:rPr lang="zh-CN" altLang="en-US" sz="3600" dirty="0"/>
              <a:t>定义视图</a:t>
            </a:r>
            <a:endParaRPr lang="zh-CN" altLang="en-US" sz="3600" dirty="0"/>
          </a:p>
        </p:txBody>
      </p:sp>
      <p:sp>
        <p:nvSpPr>
          <p:cNvPr id="64515" name="Rectangle 3"/>
          <p:cNvSpPr>
            <a:spLocks noGrp="1"/>
          </p:cNvSpPr>
          <p:nvPr>
            <p:ph idx="1"/>
          </p:nvPr>
        </p:nvSpPr>
        <p:spPr>
          <a:xfrm>
            <a:off x="468313" y="1196975"/>
            <a:ext cx="8370887" cy="825500"/>
          </a:xfrm>
          <a:ln/>
        </p:spPr>
        <p:txBody>
          <a:bodyPr vert="horz" wrap="square" lIns="91440" tIns="45720" rIns="91440" bIns="45720" anchor="t" anchorCtr="0"/>
          <a:p>
            <a:pPr algn="just" eaLnBrk="1" hangingPunct="1">
              <a:lnSpc>
                <a:spcPct val="120000"/>
              </a:lnSpc>
            </a:pPr>
            <a:r>
              <a:rPr lang="zh-CN" altLang="en-US" sz="3200" dirty="0"/>
              <a:t>不指定属性列</a:t>
            </a:r>
            <a:endParaRPr lang="zh-CN" altLang="en-US" sz="3200" dirty="0"/>
          </a:p>
        </p:txBody>
      </p:sp>
      <p:sp>
        <p:nvSpPr>
          <p:cNvPr id="811012" name="Rectangle 4"/>
          <p:cNvSpPr/>
          <p:nvPr/>
        </p:nvSpPr>
        <p:spPr>
          <a:xfrm>
            <a:off x="611188" y="1963738"/>
            <a:ext cx="8208962" cy="457200"/>
          </a:xfrm>
          <a:prstGeom prst="rect">
            <a:avLst/>
          </a:prstGeom>
          <a:noFill/>
          <a:ln w="25400">
            <a:noFill/>
          </a:ln>
        </p:spPr>
        <p:txBody>
          <a:bodyPr anchor="t" anchorCtr="0">
            <a:spAutoFit/>
          </a:bodyPr>
          <a:p>
            <a:pPr marL="342900" indent="-342900"/>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例</a:t>
            </a:r>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将</a:t>
            </a:r>
            <a:r>
              <a:rPr lang="en-US" altLang="zh-CN" sz="2400" dirty="0">
                <a:solidFill>
                  <a:srgbClr val="000000"/>
                </a:solidFill>
                <a:latin typeface="Times New Roman" panose="02020603050405020304" pitchFamily="18" charset="0"/>
                <a:ea typeface="宋体" panose="02010600030101010101" pitchFamily="2" charset="-122"/>
              </a:rPr>
              <a:t>Student</a:t>
            </a:r>
            <a:r>
              <a:rPr lang="zh-CN" altLang="en-US" sz="2400" dirty="0">
                <a:solidFill>
                  <a:srgbClr val="000000"/>
                </a:solidFill>
                <a:latin typeface="Times New Roman" panose="02020603050405020304" pitchFamily="18" charset="0"/>
                <a:ea typeface="宋体" panose="02010600030101010101" pitchFamily="2" charset="-122"/>
              </a:rPr>
              <a:t>表中所有女生记录定义为一个视图</a:t>
            </a:r>
            <a:endParaRPr lang="zh-CN" altLang="en-US" sz="2400" dirty="0">
              <a:solidFill>
                <a:srgbClr val="000000"/>
              </a:solidFill>
              <a:latin typeface="Times New Roman" panose="02020603050405020304" pitchFamily="18" charset="0"/>
              <a:ea typeface="宋体" panose="02010600030101010101" pitchFamily="2" charset="-122"/>
            </a:endParaRPr>
          </a:p>
        </p:txBody>
      </p:sp>
      <p:sp>
        <p:nvSpPr>
          <p:cNvPr id="811013" name="Rectangle 5"/>
          <p:cNvSpPr/>
          <p:nvPr/>
        </p:nvSpPr>
        <p:spPr>
          <a:xfrm>
            <a:off x="684213" y="2565400"/>
            <a:ext cx="7343775" cy="1631950"/>
          </a:xfrm>
          <a:prstGeom prst="rect">
            <a:avLst/>
          </a:prstGeom>
          <a:noFill/>
          <a:ln w="25400">
            <a:noFill/>
          </a:ln>
        </p:spPr>
        <p:txBody>
          <a:bodyPr anchor="t" anchorCtr="0">
            <a:spAutoFit/>
          </a:bodyPr>
          <a:p>
            <a:pPr marL="342900" indent="-342900"/>
            <a:r>
              <a:rPr lang="en-US" altLang="zh-CN" sz="2000" dirty="0">
                <a:solidFill>
                  <a:srgbClr val="000000"/>
                </a:solidFill>
                <a:latin typeface="Verdana" panose="020B0604030504040204" pitchFamily="34" charset="0"/>
                <a:ea typeface="宋体" panose="02010600030101010101" pitchFamily="2" charset="-122"/>
              </a:rPr>
              <a:t>      CREATE VIEW F_Student(F_Sno,name,sex,age,dept)</a:t>
            </a:r>
            <a:endParaRPr lang="en-US" altLang="zh-CN" sz="2000" dirty="0">
              <a:solidFill>
                <a:srgbClr val="000000"/>
              </a:solidFill>
              <a:latin typeface="Verdana" panose="020B0604030504040204" pitchFamily="34" charset="0"/>
              <a:ea typeface="宋体" panose="02010600030101010101" pitchFamily="2" charset="-122"/>
            </a:endParaRPr>
          </a:p>
          <a:p>
            <a:pPr marL="342900" indent="-342900"/>
            <a:r>
              <a:rPr lang="en-US" altLang="zh-CN" sz="2000" dirty="0">
                <a:solidFill>
                  <a:srgbClr val="000000"/>
                </a:solidFill>
                <a:latin typeface="Verdana" panose="020B0604030504040204" pitchFamily="34" charset="0"/>
                <a:ea typeface="宋体" panose="02010600030101010101" pitchFamily="2" charset="-122"/>
              </a:rPr>
              <a:t>      AS</a:t>
            </a:r>
            <a:endParaRPr lang="en-US" altLang="zh-CN" sz="2000" dirty="0">
              <a:solidFill>
                <a:srgbClr val="000000"/>
              </a:solidFill>
              <a:latin typeface="Verdana" panose="020B0604030504040204" pitchFamily="34" charset="0"/>
              <a:ea typeface="宋体" panose="02010600030101010101" pitchFamily="2" charset="-122"/>
            </a:endParaRPr>
          </a:p>
          <a:p>
            <a:pPr marL="342900" indent="-342900"/>
            <a:r>
              <a:rPr lang="en-US" altLang="zh-CN" sz="2000" dirty="0">
                <a:solidFill>
                  <a:srgbClr val="000000"/>
                </a:solidFill>
                <a:latin typeface="Verdana" panose="020B0604030504040204" pitchFamily="34" charset="0"/>
                <a:ea typeface="宋体" panose="02010600030101010101" pitchFamily="2" charset="-122"/>
              </a:rPr>
              <a:t>      SELECT  *</a:t>
            </a:r>
            <a:endParaRPr lang="en-US" altLang="zh-CN" sz="2000" dirty="0">
              <a:solidFill>
                <a:srgbClr val="000000"/>
              </a:solidFill>
              <a:latin typeface="Verdana" panose="020B0604030504040204" pitchFamily="34" charset="0"/>
              <a:ea typeface="宋体" panose="02010600030101010101" pitchFamily="2" charset="-122"/>
            </a:endParaRPr>
          </a:p>
          <a:p>
            <a:pPr marL="342900" indent="-342900"/>
            <a:r>
              <a:rPr lang="en-US" altLang="zh-CN" sz="2000" dirty="0">
                <a:solidFill>
                  <a:srgbClr val="000000"/>
                </a:solidFill>
                <a:latin typeface="Verdana" panose="020B0604030504040204" pitchFamily="34" charset="0"/>
                <a:ea typeface="宋体" panose="02010600030101010101" pitchFamily="2" charset="-122"/>
              </a:rPr>
              <a:t>      FROM  Student</a:t>
            </a:r>
            <a:endParaRPr lang="en-US" altLang="zh-CN" sz="2000" dirty="0">
              <a:solidFill>
                <a:srgbClr val="000000"/>
              </a:solidFill>
              <a:latin typeface="Verdana" panose="020B0604030504040204" pitchFamily="34" charset="0"/>
              <a:ea typeface="宋体" panose="02010600030101010101" pitchFamily="2" charset="-122"/>
            </a:endParaRPr>
          </a:p>
          <a:p>
            <a:pPr marL="342900" indent="-342900"/>
            <a:r>
              <a:rPr lang="en-US" altLang="zh-CN" sz="2000" dirty="0">
                <a:solidFill>
                  <a:srgbClr val="000000"/>
                </a:solidFill>
                <a:latin typeface="Verdana" panose="020B0604030504040204" pitchFamily="34" charset="0"/>
                <a:ea typeface="宋体" panose="02010600030101010101" pitchFamily="2" charset="-122"/>
              </a:rPr>
              <a:t>      WHERE Ssex='</a:t>
            </a:r>
            <a:r>
              <a:rPr lang="zh-CN" altLang="en-US" sz="2000" dirty="0">
                <a:solidFill>
                  <a:srgbClr val="000000"/>
                </a:solidFill>
                <a:latin typeface="Verdana" panose="020B0604030504040204" pitchFamily="34" charset="0"/>
                <a:ea typeface="宋体" panose="02010600030101010101" pitchFamily="2" charset="-122"/>
              </a:rPr>
              <a:t>女</a:t>
            </a:r>
            <a:r>
              <a:rPr lang="en-US" altLang="zh-CN" sz="2000" dirty="0">
                <a:solidFill>
                  <a:srgbClr val="000000"/>
                </a:solidFill>
                <a:latin typeface="Verdana" panose="020B0604030504040204" pitchFamily="34" charset="0"/>
                <a:ea typeface="宋体" panose="02010600030101010101" pitchFamily="2" charset="-122"/>
              </a:rPr>
              <a:t>';</a:t>
            </a:r>
            <a:endParaRPr lang="zh-CN" altLang="en-US" sz="2000" dirty="0">
              <a:solidFill>
                <a:srgbClr val="000000"/>
              </a:solidFill>
              <a:latin typeface="Verdana" panose="020B0604030504040204" pitchFamily="34" charset="0"/>
              <a:ea typeface="宋体" panose="02010600030101010101" pitchFamily="2" charset="-122"/>
            </a:endParaRPr>
          </a:p>
        </p:txBody>
      </p:sp>
      <p:sp>
        <p:nvSpPr>
          <p:cNvPr id="811014" name="Rectangle 6"/>
          <p:cNvSpPr/>
          <p:nvPr/>
        </p:nvSpPr>
        <p:spPr>
          <a:xfrm>
            <a:off x="473075" y="4292600"/>
            <a:ext cx="8135938" cy="1939925"/>
          </a:xfrm>
          <a:prstGeom prst="rect">
            <a:avLst/>
          </a:prstGeom>
          <a:noFill/>
          <a:ln w="25400">
            <a:noFill/>
          </a:ln>
        </p:spPr>
        <p:txBody>
          <a:bodyPr anchor="t" anchorCtr="0">
            <a:spAutoFit/>
          </a:bodyPr>
          <a:p>
            <a:pPr marL="342900" indent="-342900"/>
            <a:r>
              <a:rPr lang="zh-CN" altLang="en-US" sz="2400" dirty="0">
                <a:solidFill>
                  <a:srgbClr val="000000"/>
                </a:solidFill>
                <a:latin typeface="Times New Roman" panose="02020603050405020304" pitchFamily="18" charset="0"/>
                <a:ea typeface="宋体" panose="02010600030101010101" pitchFamily="2" charset="-122"/>
              </a:rPr>
              <a:t>缺点</a:t>
            </a:r>
            <a:r>
              <a:rPr lang="zh-CN" altLang="en-US" sz="2400" dirty="0">
                <a:solidFill>
                  <a:srgbClr val="000000"/>
                </a:solidFill>
                <a:latin typeface="Times New Roman" panose="02020603050405020304" pitchFamily="18" charset="0"/>
                <a:ea typeface="宋体" panose="02010600030101010101" pitchFamily="2" charset="-122"/>
                <a:sym typeface="Wingdings" panose="05000000000000000000" pitchFamily="2" charset="2"/>
              </a:rPr>
              <a:t>（有些数据库管理系统中）</a:t>
            </a:r>
            <a:endParaRPr lang="zh-CN" altLang="en-US" sz="2400" dirty="0">
              <a:solidFill>
                <a:srgbClr val="000000"/>
              </a:solidFill>
              <a:latin typeface="Times New Roman" panose="02020603050405020304" pitchFamily="18" charset="0"/>
              <a:ea typeface="宋体" panose="02010600030101010101" pitchFamily="2" charset="-122"/>
            </a:endParaRPr>
          </a:p>
          <a:p>
            <a:pPr marL="342900" indent="-342900"/>
            <a:r>
              <a:rPr lang="zh-CN" altLang="en-US" sz="2400" dirty="0">
                <a:solidFill>
                  <a:srgbClr val="000000"/>
                </a:solidFill>
                <a:latin typeface="Times New Roman" panose="02020603050405020304" pitchFamily="18" charset="0"/>
                <a:ea typeface="宋体" panose="02010600030101010101" pitchFamily="2" charset="-122"/>
              </a:rPr>
              <a:t>     修改基表</a:t>
            </a:r>
            <a:r>
              <a:rPr lang="en-US" altLang="zh-CN" sz="2400" dirty="0">
                <a:solidFill>
                  <a:srgbClr val="000000"/>
                </a:solidFill>
                <a:latin typeface="Times New Roman" panose="02020603050405020304" pitchFamily="18" charset="0"/>
                <a:ea typeface="宋体" panose="02010600030101010101" pitchFamily="2" charset="-122"/>
              </a:rPr>
              <a:t>Student</a:t>
            </a:r>
            <a:r>
              <a:rPr lang="zh-CN" altLang="en-US" sz="2400" dirty="0">
                <a:solidFill>
                  <a:srgbClr val="000000"/>
                </a:solidFill>
                <a:latin typeface="Times New Roman" panose="02020603050405020304" pitchFamily="18" charset="0"/>
                <a:ea typeface="宋体" panose="02010600030101010101" pitchFamily="2" charset="-122"/>
              </a:rPr>
              <a:t>的结构后，例如把姓名和性别两列换位置了。</a:t>
            </a:r>
            <a:r>
              <a:rPr lang="en-US" altLang="zh-CN" sz="2400" dirty="0">
                <a:solidFill>
                  <a:srgbClr val="000000"/>
                </a:solidFill>
                <a:latin typeface="Times New Roman" panose="02020603050405020304" pitchFamily="18" charset="0"/>
                <a:ea typeface="宋体" panose="02010600030101010101" pitchFamily="2" charset="-122"/>
              </a:rPr>
              <a:t>Student</a:t>
            </a:r>
            <a:r>
              <a:rPr lang="zh-CN" altLang="en-US" sz="2400" dirty="0">
                <a:solidFill>
                  <a:srgbClr val="000000"/>
                </a:solidFill>
                <a:latin typeface="Times New Roman" panose="02020603050405020304" pitchFamily="18" charset="0"/>
                <a:ea typeface="宋体" panose="02010600030101010101" pitchFamily="2" charset="-122"/>
              </a:rPr>
              <a:t>表与</a:t>
            </a:r>
            <a:r>
              <a:rPr lang="en-US" altLang="zh-CN" sz="2400" dirty="0">
                <a:solidFill>
                  <a:srgbClr val="000000"/>
                </a:solidFill>
                <a:latin typeface="Times New Roman" panose="02020603050405020304" pitchFamily="18" charset="0"/>
                <a:ea typeface="宋体" panose="02010600030101010101" pitchFamily="2" charset="-122"/>
              </a:rPr>
              <a:t>F_Student</a:t>
            </a:r>
            <a:r>
              <a:rPr lang="zh-CN" altLang="en-US" sz="2400" dirty="0">
                <a:solidFill>
                  <a:srgbClr val="000000"/>
                </a:solidFill>
                <a:latin typeface="Times New Roman" panose="02020603050405020304" pitchFamily="18" charset="0"/>
                <a:ea typeface="宋体" panose="02010600030101010101" pitchFamily="2" charset="-122"/>
              </a:rPr>
              <a:t>视图的映象关系被破坏，导致该视图不能正确工作。</a:t>
            </a:r>
            <a:endParaRPr lang="en-US" altLang="zh-CN" sz="2400" dirty="0">
              <a:solidFill>
                <a:srgbClr val="000000"/>
              </a:solidFill>
              <a:latin typeface="Times New Roman" panose="02020603050405020304" pitchFamily="18" charset="0"/>
              <a:ea typeface="宋体" panose="02010600030101010101" pitchFamily="2" charset="-122"/>
            </a:endParaRPr>
          </a:p>
          <a:p>
            <a:pPr marL="342900" indent="-342900"/>
            <a:r>
              <a:rPr lang="zh-CN" altLang="en-US" sz="2400" b="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注：</a:t>
            </a:r>
            <a:r>
              <a:rPr lang="en-US" altLang="zh-CN" sz="2400" b="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MySQL</a:t>
            </a:r>
            <a:r>
              <a:rPr lang="zh-CN" altLang="en-US" sz="2400" b="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中没有这个问题</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10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10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1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2" grpId="0"/>
      <p:bldP spid="811013" grpId="0"/>
      <p:bldP spid="8110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66562" name="Rectangle 2"/>
          <p:cNvSpPr>
            <a:spLocks noGrp="1"/>
          </p:cNvSpPr>
          <p:nvPr>
            <p:ph type="title"/>
          </p:nvPr>
        </p:nvSpPr>
        <p:spPr>
          <a:ln/>
        </p:spPr>
        <p:txBody>
          <a:bodyPr vert="horz" wrap="square" lIns="91440" tIns="45720" rIns="91440" bIns="45720" anchor="b" anchorCtr="0"/>
          <a:p>
            <a:pPr eaLnBrk="1" hangingPunct="1"/>
            <a:r>
              <a:rPr lang="en-US" altLang="zh-CN" sz="3200" dirty="0"/>
              <a:t>3.6.1  </a:t>
            </a:r>
            <a:r>
              <a:rPr lang="zh-CN" altLang="en-US" sz="3200" dirty="0"/>
              <a:t>定义视图</a:t>
            </a:r>
            <a:endParaRPr lang="zh-CN" altLang="en-US" sz="3200" dirty="0"/>
          </a:p>
        </p:txBody>
      </p:sp>
      <p:sp>
        <p:nvSpPr>
          <p:cNvPr id="802819" name="Rectangle 3"/>
          <p:cNvSpPr>
            <a:spLocks noGrp="1"/>
          </p:cNvSpPr>
          <p:nvPr>
            <p:ph idx="1"/>
          </p:nvPr>
        </p:nvSpPr>
        <p:spPr>
          <a:xfrm>
            <a:off x="827088" y="2708275"/>
            <a:ext cx="7772400" cy="3240088"/>
          </a:xfrm>
          <a:ln/>
        </p:spPr>
        <p:txBody>
          <a:bodyPr vert="horz" wrap="square" lIns="91440" tIns="45720" rIns="91440" bIns="45720" anchor="t" anchorCtr="0"/>
          <a:p>
            <a:pPr eaLnBrk="1" hangingPunct="1">
              <a:lnSpc>
                <a:spcPct val="110000"/>
              </a:lnSpc>
              <a:buNone/>
            </a:pPr>
            <a:r>
              <a:rPr lang="en-US" altLang="zh-CN" sz="2100" dirty="0"/>
              <a:t> CREATE VIEW IS_S1(Sno,Sname,Grade)</a:t>
            </a:r>
            <a:endParaRPr lang="en-US" altLang="zh-CN" sz="2100" dirty="0"/>
          </a:p>
          <a:p>
            <a:pPr eaLnBrk="1" hangingPunct="1">
              <a:lnSpc>
                <a:spcPct val="110000"/>
              </a:lnSpc>
              <a:buNone/>
            </a:pPr>
            <a:r>
              <a:rPr lang="en-US" altLang="zh-CN" sz="2100" dirty="0"/>
              <a:t>        AS </a:t>
            </a:r>
            <a:endParaRPr lang="en-US" altLang="zh-CN" sz="2100" dirty="0"/>
          </a:p>
          <a:p>
            <a:pPr eaLnBrk="1" hangingPunct="1">
              <a:lnSpc>
                <a:spcPct val="110000"/>
              </a:lnSpc>
              <a:buNone/>
            </a:pPr>
            <a:r>
              <a:rPr lang="en-US" altLang="zh-CN" sz="2100" dirty="0"/>
              <a:t>        SELECT Student.Sno,Sname,Grade</a:t>
            </a:r>
            <a:endParaRPr lang="en-US" altLang="zh-CN" sz="2100" dirty="0"/>
          </a:p>
          <a:p>
            <a:pPr eaLnBrk="1" hangingPunct="1">
              <a:lnSpc>
                <a:spcPct val="110000"/>
              </a:lnSpc>
              <a:buNone/>
            </a:pPr>
            <a:r>
              <a:rPr lang="en-US" altLang="zh-CN" sz="2100" dirty="0"/>
              <a:t>        FROM  Student,SC</a:t>
            </a:r>
            <a:endParaRPr lang="en-US" altLang="zh-CN" sz="2100" dirty="0"/>
          </a:p>
          <a:p>
            <a:pPr eaLnBrk="1" hangingPunct="1">
              <a:lnSpc>
                <a:spcPct val="110000"/>
              </a:lnSpc>
              <a:buNone/>
            </a:pPr>
            <a:r>
              <a:rPr lang="en-US" altLang="zh-CN" sz="2100" dirty="0"/>
              <a:t>        WHERE  Sdept= 'CS' AND</a:t>
            </a:r>
            <a:endParaRPr lang="en-US" altLang="zh-CN" sz="2100" dirty="0"/>
          </a:p>
          <a:p>
            <a:pPr eaLnBrk="1" hangingPunct="1">
              <a:lnSpc>
                <a:spcPct val="110000"/>
              </a:lnSpc>
              <a:buNone/>
            </a:pPr>
            <a:r>
              <a:rPr lang="en-US" altLang="zh-CN" sz="2100" dirty="0"/>
              <a:t>                       Student.Sno=SC.Sno AND</a:t>
            </a:r>
            <a:endParaRPr lang="en-US" altLang="zh-CN" sz="2100" dirty="0"/>
          </a:p>
          <a:p>
            <a:pPr eaLnBrk="1" hangingPunct="1">
              <a:lnSpc>
                <a:spcPct val="110000"/>
              </a:lnSpc>
              <a:buNone/>
            </a:pPr>
            <a:r>
              <a:rPr lang="en-US" altLang="zh-CN" sz="2100" dirty="0"/>
              <a:t>                       SC.Cno= '1' ;</a:t>
            </a:r>
            <a:endParaRPr lang="zh-CN" altLang="en-US" sz="2100" dirty="0"/>
          </a:p>
        </p:txBody>
      </p:sp>
      <p:sp>
        <p:nvSpPr>
          <p:cNvPr id="802821" name="Rectangle 5"/>
          <p:cNvSpPr/>
          <p:nvPr/>
        </p:nvSpPr>
        <p:spPr>
          <a:xfrm>
            <a:off x="1131888" y="2205038"/>
            <a:ext cx="6153150" cy="461962"/>
          </a:xfrm>
          <a:prstGeom prst="rect">
            <a:avLst/>
          </a:prstGeom>
          <a:noFill/>
          <a:ln w="25400">
            <a:noFill/>
          </a:ln>
        </p:spPr>
        <p:txBody>
          <a:bodyPr wrap="none" anchor="t" anchorCtr="0">
            <a:spAutoFit/>
          </a:bodyPr>
          <a:p>
            <a:pPr marL="342900" indent="-342900" algn="ctr"/>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例</a:t>
            </a:r>
            <a:r>
              <a:rPr lang="en-US" altLang="zh-CN" sz="2400" dirty="0">
                <a:solidFill>
                  <a:srgbClr val="000000"/>
                </a:solidFill>
                <a:latin typeface="Times New Roman" panose="02020603050405020304" pitchFamily="18" charset="0"/>
                <a:ea typeface="宋体" panose="02010600030101010101" pitchFamily="2" charset="-122"/>
              </a:rPr>
              <a:t>3]  </a:t>
            </a:r>
            <a:r>
              <a:rPr lang="zh-CN" altLang="en-US" sz="2400" dirty="0">
                <a:solidFill>
                  <a:srgbClr val="000000"/>
                </a:solidFill>
                <a:latin typeface="Times New Roman" panose="02020603050405020304" pitchFamily="18" charset="0"/>
                <a:ea typeface="宋体" panose="02010600030101010101" pitchFamily="2" charset="-122"/>
              </a:rPr>
              <a:t>建立</a:t>
            </a:r>
            <a:r>
              <a:rPr lang="en-US" altLang="zh-CN" sz="2400" dirty="0">
                <a:solidFill>
                  <a:srgbClr val="000000"/>
                </a:solidFill>
                <a:latin typeface="Times New Roman" panose="02020603050405020304" pitchFamily="18" charset="0"/>
                <a:ea typeface="宋体" panose="02010600030101010101" pitchFamily="2" charset="-122"/>
              </a:rPr>
              <a:t>CS</a:t>
            </a:r>
            <a:r>
              <a:rPr lang="zh-CN" altLang="en-US" sz="2400" dirty="0">
                <a:solidFill>
                  <a:srgbClr val="000000"/>
                </a:solidFill>
                <a:latin typeface="Times New Roman" panose="02020603050405020304" pitchFamily="18" charset="0"/>
                <a:ea typeface="宋体" panose="02010600030101010101" pitchFamily="2" charset="-122"/>
              </a:rPr>
              <a:t>系选修了</a:t>
            </a:r>
            <a:r>
              <a:rPr lang="en-US" altLang="zh-CN" sz="2400" dirty="0">
                <a:solidFill>
                  <a:srgbClr val="000000"/>
                </a:solidFill>
                <a:latin typeface="Times New Roman" panose="02020603050405020304" pitchFamily="18" charset="0"/>
                <a:ea typeface="宋体" panose="02010600030101010101" pitchFamily="2" charset="-122"/>
              </a:rPr>
              <a:t>1</a:t>
            </a:r>
            <a:r>
              <a:rPr lang="zh-CN" altLang="en-US" sz="2400" dirty="0">
                <a:solidFill>
                  <a:srgbClr val="000000"/>
                </a:solidFill>
                <a:latin typeface="Times New Roman" panose="02020603050405020304" pitchFamily="18" charset="0"/>
                <a:ea typeface="宋体" panose="02010600030101010101" pitchFamily="2" charset="-122"/>
              </a:rPr>
              <a:t>号课程的学生视图。</a:t>
            </a:r>
            <a:endParaRPr lang="zh-CN" altLang="en-US" sz="2400" dirty="0">
              <a:solidFill>
                <a:srgbClr val="000000"/>
              </a:solidFill>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436563" y="1268413"/>
            <a:ext cx="822960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469900" marR="0" lvl="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基于多个表的视图</a:t>
            </a:r>
            <a:endParaRPr kumimoji="0" lang="zh-CN" altLang="en-US" sz="23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28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2819">
                                            <p:txEl>
                                              <p:charRg st="0" end="3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2819">
                                            <p:txEl>
                                              <p:charRg st="36" end="4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2819">
                                            <p:txEl>
                                              <p:charRg st="48" end="8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02819">
                                            <p:txEl>
                                              <p:charRg st="87" end="1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02819">
                                            <p:txEl>
                                              <p:charRg st="112" end="14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02819">
                                            <p:txEl>
                                              <p:charRg st="143" end="18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02819">
                                            <p:txEl>
                                              <p:charRg st="189" end="2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19" grpId="0" build="p"/>
      <p:bldP spid="8028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68610" name="Rectangle 2"/>
          <p:cNvSpPr>
            <a:spLocks noGrp="1"/>
          </p:cNvSpPr>
          <p:nvPr>
            <p:ph type="title"/>
          </p:nvPr>
        </p:nvSpPr>
        <p:spPr>
          <a:ln/>
        </p:spPr>
        <p:txBody>
          <a:bodyPr vert="horz" wrap="square" lIns="91440" tIns="45720" rIns="91440" bIns="45720" anchor="b" anchorCtr="0"/>
          <a:p>
            <a:pPr eaLnBrk="1" hangingPunct="1"/>
            <a:r>
              <a:rPr lang="en-US" altLang="zh-CN" sz="3200" dirty="0"/>
              <a:t>3.6.1  </a:t>
            </a:r>
            <a:r>
              <a:rPr lang="zh-CN" altLang="en-US" sz="3200" dirty="0"/>
              <a:t>定义视图</a:t>
            </a:r>
            <a:endParaRPr lang="zh-CN" altLang="en-US" sz="3200" dirty="0"/>
          </a:p>
        </p:txBody>
      </p:sp>
      <p:sp>
        <p:nvSpPr>
          <p:cNvPr id="68611" name="Rectangle 3"/>
          <p:cNvSpPr>
            <a:spLocks noGrp="1"/>
          </p:cNvSpPr>
          <p:nvPr>
            <p:ph idx="1"/>
          </p:nvPr>
        </p:nvSpPr>
        <p:spPr>
          <a:xfrm>
            <a:off x="436563" y="1268413"/>
            <a:ext cx="8229600" cy="879475"/>
          </a:xfrm>
          <a:ln/>
        </p:spPr>
        <p:txBody>
          <a:bodyPr vert="horz" wrap="square" lIns="91440" tIns="45720" rIns="91440" bIns="45720" anchor="t" anchorCtr="0"/>
          <a:p>
            <a:pPr eaLnBrk="1" hangingPunct="1">
              <a:lnSpc>
                <a:spcPct val="130000"/>
              </a:lnSpc>
            </a:pPr>
            <a:r>
              <a:rPr lang="zh-CN" altLang="en-US" dirty="0"/>
              <a:t>基于视图的视图</a:t>
            </a:r>
            <a:endParaRPr lang="zh-CN" altLang="en-US" sz="2300" dirty="0"/>
          </a:p>
        </p:txBody>
      </p:sp>
      <p:sp>
        <p:nvSpPr>
          <p:cNvPr id="804868" name="Rectangle 4"/>
          <p:cNvSpPr/>
          <p:nvPr/>
        </p:nvSpPr>
        <p:spPr>
          <a:xfrm>
            <a:off x="971550" y="3357563"/>
            <a:ext cx="6911975" cy="1938337"/>
          </a:xfrm>
          <a:prstGeom prst="rect">
            <a:avLst/>
          </a:prstGeom>
          <a:noFill/>
          <a:ln w="25400">
            <a:noFill/>
          </a:ln>
        </p:spPr>
        <p:txBody>
          <a:bodyPr anchor="t" anchorCtr="0">
            <a:spAutoFit/>
          </a:bodyPr>
          <a:p>
            <a:pPr marL="342900" indent="-342900"/>
            <a:r>
              <a:rPr lang="en-US" altLang="zh-CN" sz="2400" dirty="0">
                <a:solidFill>
                  <a:srgbClr val="000000"/>
                </a:solidFill>
                <a:latin typeface="Verdana" panose="020B0604030504040204" pitchFamily="34" charset="0"/>
                <a:ea typeface="宋体" panose="02010600030101010101" pitchFamily="2" charset="-122"/>
              </a:rPr>
              <a:t> CREATE VIEW IS_S2</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AS</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SELECT Sno,Sname,Grade</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FROM  IS_S1</a:t>
            </a:r>
            <a:endParaRPr lang="en-US" altLang="zh-CN" sz="2400" dirty="0">
              <a:solidFill>
                <a:srgbClr val="000000"/>
              </a:solidFill>
              <a:latin typeface="Verdana" panose="020B0604030504040204" pitchFamily="34" charset="0"/>
              <a:ea typeface="宋体" panose="02010600030101010101" pitchFamily="2" charset="-122"/>
            </a:endParaRPr>
          </a:p>
          <a:p>
            <a:pPr marL="342900" indent="-342900"/>
            <a:r>
              <a:rPr lang="en-US" altLang="zh-CN" sz="2400" dirty="0">
                <a:solidFill>
                  <a:srgbClr val="000000"/>
                </a:solidFill>
                <a:latin typeface="Verdana" panose="020B0604030504040204" pitchFamily="34" charset="0"/>
                <a:ea typeface="宋体" panose="02010600030101010101" pitchFamily="2" charset="-122"/>
              </a:rPr>
              <a:t>        WHERE  Grade&gt;=90 ;</a:t>
            </a:r>
            <a:endParaRPr lang="zh-CN" altLang="en-US" sz="2400" dirty="0">
              <a:solidFill>
                <a:srgbClr val="000000"/>
              </a:solidFill>
              <a:latin typeface="Verdana" panose="020B0604030504040204" pitchFamily="34" charset="0"/>
              <a:ea typeface="宋体" panose="02010600030101010101" pitchFamily="2" charset="-122"/>
            </a:endParaRPr>
          </a:p>
        </p:txBody>
      </p:sp>
      <p:sp>
        <p:nvSpPr>
          <p:cNvPr id="804869" name="Rectangle 5"/>
          <p:cNvSpPr/>
          <p:nvPr/>
        </p:nvSpPr>
        <p:spPr>
          <a:xfrm>
            <a:off x="611188" y="2349500"/>
            <a:ext cx="7880350" cy="822325"/>
          </a:xfrm>
          <a:prstGeom prst="rect">
            <a:avLst/>
          </a:prstGeom>
          <a:noFill/>
          <a:ln w="25400">
            <a:noFill/>
          </a:ln>
        </p:spPr>
        <p:txBody>
          <a:bodyPr anchor="t" anchorCtr="0">
            <a:spAutoFit/>
          </a:bodyPr>
          <a:p>
            <a:pPr marL="342900" indent="-342900"/>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例</a:t>
            </a:r>
            <a:r>
              <a:rPr lang="en-US" altLang="zh-CN" sz="2400" dirty="0">
                <a:solidFill>
                  <a:srgbClr val="000000"/>
                </a:solidFill>
                <a:latin typeface="Times New Roman" panose="02020603050405020304" pitchFamily="18" charset="0"/>
                <a:ea typeface="宋体" panose="02010600030101010101" pitchFamily="2" charset="-122"/>
              </a:rPr>
              <a:t>4]  </a:t>
            </a:r>
            <a:r>
              <a:rPr lang="zh-CN" altLang="en-US" sz="2400" dirty="0">
                <a:solidFill>
                  <a:srgbClr val="000000"/>
                </a:solidFill>
                <a:latin typeface="Times New Roman" panose="02020603050405020304" pitchFamily="18" charset="0"/>
                <a:ea typeface="宋体" panose="02010600030101010101" pitchFamily="2" charset="-122"/>
              </a:rPr>
              <a:t>建立信息系选修了</a:t>
            </a:r>
            <a:r>
              <a:rPr lang="en-US" altLang="zh-CN" sz="2400" dirty="0">
                <a:solidFill>
                  <a:srgbClr val="000000"/>
                </a:solidFill>
                <a:latin typeface="Times New Roman" panose="02020603050405020304" pitchFamily="18" charset="0"/>
                <a:ea typeface="宋体" panose="02010600030101010101" pitchFamily="2" charset="-122"/>
              </a:rPr>
              <a:t>1</a:t>
            </a:r>
            <a:r>
              <a:rPr lang="zh-CN" altLang="en-US" sz="2400" dirty="0">
                <a:solidFill>
                  <a:srgbClr val="000000"/>
                </a:solidFill>
                <a:latin typeface="Times New Roman" panose="02020603050405020304" pitchFamily="18" charset="0"/>
                <a:ea typeface="宋体" panose="02010600030101010101" pitchFamily="2" charset="-122"/>
              </a:rPr>
              <a:t>号课程且成绩在</a:t>
            </a:r>
            <a:r>
              <a:rPr lang="en-US" altLang="zh-CN" sz="2400" dirty="0">
                <a:solidFill>
                  <a:srgbClr val="000000"/>
                </a:solidFill>
                <a:latin typeface="Times New Roman" panose="02020603050405020304" pitchFamily="18" charset="0"/>
                <a:ea typeface="宋体" panose="02010600030101010101" pitchFamily="2" charset="-122"/>
              </a:rPr>
              <a:t>90</a:t>
            </a:r>
            <a:r>
              <a:rPr lang="zh-CN" altLang="en-US" sz="2400" dirty="0">
                <a:solidFill>
                  <a:srgbClr val="000000"/>
                </a:solidFill>
                <a:latin typeface="Times New Roman" panose="02020603050405020304" pitchFamily="18" charset="0"/>
                <a:ea typeface="宋体" panose="02010600030101010101" pitchFamily="2" charset="-122"/>
              </a:rPr>
              <a:t>分以上的学生的视图。</a:t>
            </a:r>
            <a:endParaRPr lang="zh-CN" altLang="en-US" sz="240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48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4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68" grpId="0"/>
      <p:bldP spid="80486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70658" name="Rectangle 2"/>
          <p:cNvSpPr>
            <a:spLocks noGrp="1"/>
          </p:cNvSpPr>
          <p:nvPr>
            <p:ph type="title"/>
          </p:nvPr>
        </p:nvSpPr>
        <p:spPr>
          <a:ln/>
        </p:spPr>
        <p:txBody>
          <a:bodyPr vert="horz" wrap="square" lIns="91440" tIns="45720" rIns="91440" bIns="45720" anchor="b" anchorCtr="0"/>
          <a:p>
            <a:pPr eaLnBrk="1" hangingPunct="1"/>
            <a:r>
              <a:rPr lang="en-US" altLang="zh-CN" sz="3200" dirty="0"/>
              <a:t>3.6.1  </a:t>
            </a:r>
            <a:r>
              <a:rPr lang="zh-CN" altLang="en-US" sz="3200" dirty="0"/>
              <a:t>定义视图</a:t>
            </a:r>
            <a:endParaRPr lang="zh-CN" altLang="en-US" sz="3200" dirty="0"/>
          </a:p>
        </p:txBody>
      </p:sp>
      <p:sp>
        <p:nvSpPr>
          <p:cNvPr id="70659" name="Rectangle 3"/>
          <p:cNvSpPr>
            <a:spLocks noGrp="1"/>
          </p:cNvSpPr>
          <p:nvPr>
            <p:ph idx="1"/>
          </p:nvPr>
        </p:nvSpPr>
        <p:spPr>
          <a:xfrm>
            <a:off x="468313" y="1412875"/>
            <a:ext cx="8229600" cy="663575"/>
          </a:xfrm>
          <a:ln/>
        </p:spPr>
        <p:txBody>
          <a:bodyPr vert="horz" wrap="square" lIns="91440" tIns="45720" rIns="91440" bIns="45720" anchor="t" anchorCtr="0"/>
          <a:p>
            <a:pPr eaLnBrk="1" hangingPunct="1"/>
            <a:r>
              <a:rPr lang="zh-CN" altLang="en-US" dirty="0"/>
              <a:t>带表达式的视图</a:t>
            </a:r>
            <a:endParaRPr lang="zh-CN" altLang="en-US" sz="1200" dirty="0"/>
          </a:p>
          <a:p>
            <a:pPr eaLnBrk="1" hangingPunct="1">
              <a:buNone/>
            </a:pPr>
            <a:endParaRPr lang="zh-CN" altLang="en-US" sz="2600" dirty="0"/>
          </a:p>
          <a:p>
            <a:pPr eaLnBrk="1" hangingPunct="1">
              <a:lnSpc>
                <a:spcPct val="150000"/>
              </a:lnSpc>
              <a:buNone/>
            </a:pPr>
            <a:endParaRPr lang="en-US" altLang="zh-CN" sz="2200" dirty="0"/>
          </a:p>
        </p:txBody>
      </p:sp>
      <p:sp>
        <p:nvSpPr>
          <p:cNvPr id="806916" name="Rectangle 4"/>
          <p:cNvSpPr/>
          <p:nvPr/>
        </p:nvSpPr>
        <p:spPr>
          <a:xfrm>
            <a:off x="468313" y="2492375"/>
            <a:ext cx="6983412" cy="457200"/>
          </a:xfrm>
          <a:prstGeom prst="rect">
            <a:avLst/>
          </a:prstGeom>
          <a:noFill/>
          <a:ln w="25400">
            <a:noFill/>
          </a:ln>
        </p:spPr>
        <p:txBody>
          <a:bodyPr anchor="t" anchorCtr="0">
            <a:spAutoFit/>
          </a:bodyPr>
          <a:p>
            <a:pPr marL="342900" indent="-342900"/>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例</a:t>
            </a:r>
            <a:r>
              <a:rPr lang="en-US" altLang="zh-CN" sz="2400" dirty="0">
                <a:solidFill>
                  <a:srgbClr val="000000"/>
                </a:solidFill>
                <a:latin typeface="Times New Roman" panose="02020603050405020304" pitchFamily="18" charset="0"/>
                <a:ea typeface="宋体" panose="02010600030101010101" pitchFamily="2" charset="-122"/>
              </a:rPr>
              <a:t>5]  </a:t>
            </a:r>
            <a:r>
              <a:rPr lang="zh-CN" altLang="en-US" sz="2400" dirty="0">
                <a:solidFill>
                  <a:srgbClr val="000000"/>
                </a:solidFill>
                <a:latin typeface="Times New Roman" panose="02020603050405020304" pitchFamily="18" charset="0"/>
                <a:ea typeface="宋体" panose="02010600030101010101" pitchFamily="2" charset="-122"/>
              </a:rPr>
              <a:t>定义一个反映学生出生年份的视图。</a:t>
            </a:r>
            <a:endParaRPr lang="zh-CN" altLang="en-US" sz="2400" dirty="0">
              <a:solidFill>
                <a:srgbClr val="000000"/>
              </a:solidFill>
              <a:latin typeface="Times New Roman" panose="02020603050405020304" pitchFamily="18" charset="0"/>
              <a:ea typeface="宋体" panose="02010600030101010101" pitchFamily="2" charset="-122"/>
            </a:endParaRPr>
          </a:p>
        </p:txBody>
      </p:sp>
      <p:sp>
        <p:nvSpPr>
          <p:cNvPr id="806917" name="Rectangle 5"/>
          <p:cNvSpPr/>
          <p:nvPr/>
        </p:nvSpPr>
        <p:spPr>
          <a:xfrm>
            <a:off x="539750" y="3213100"/>
            <a:ext cx="7632700" cy="1570038"/>
          </a:xfrm>
          <a:prstGeom prst="rect">
            <a:avLst/>
          </a:prstGeom>
          <a:noFill/>
          <a:ln w="25400">
            <a:noFill/>
          </a:ln>
        </p:spPr>
        <p:txBody>
          <a:bodyPr anchor="t" anchorCtr="0">
            <a:spAutoFit/>
          </a:bodyPr>
          <a:p>
            <a:pPr lvl="1" indent="0" eaLnBrk="1" hangingPunct="1"/>
            <a:r>
              <a:rPr lang="en-US" altLang="zh-CN" sz="2400" dirty="0">
                <a:solidFill>
                  <a:srgbClr val="000000"/>
                </a:solidFill>
                <a:latin typeface="Verdana" panose="020B0604030504040204" pitchFamily="34" charset="0"/>
                <a:ea typeface="宋体" panose="02010600030101010101" pitchFamily="2" charset="-122"/>
              </a:rPr>
              <a:t>CREATE  VIEW BT_S(Sno,Sname,Sbirth)</a:t>
            </a:r>
            <a:endParaRPr lang="en-US" altLang="zh-CN" sz="2400" dirty="0">
              <a:solidFill>
                <a:srgbClr val="000000"/>
              </a:solidFill>
              <a:latin typeface="Verdana" panose="020B0604030504040204" pitchFamily="34" charset="0"/>
              <a:ea typeface="宋体" panose="02010600030101010101" pitchFamily="2" charset="-122"/>
            </a:endParaRPr>
          </a:p>
          <a:p>
            <a:pPr lvl="1" indent="0" eaLnBrk="1" hangingPunct="1"/>
            <a:r>
              <a:rPr lang="en-US" altLang="zh-CN" sz="2400" dirty="0">
                <a:solidFill>
                  <a:srgbClr val="000000"/>
                </a:solidFill>
                <a:latin typeface="Verdana" panose="020B0604030504040204" pitchFamily="34" charset="0"/>
                <a:ea typeface="宋体" panose="02010600030101010101" pitchFamily="2" charset="-122"/>
              </a:rPr>
              <a:t>        AS </a:t>
            </a:r>
            <a:endParaRPr lang="en-US" altLang="zh-CN" sz="2400" dirty="0">
              <a:solidFill>
                <a:srgbClr val="000000"/>
              </a:solidFill>
              <a:latin typeface="Verdana" panose="020B0604030504040204" pitchFamily="34" charset="0"/>
              <a:ea typeface="宋体" panose="02010600030101010101" pitchFamily="2" charset="-122"/>
            </a:endParaRPr>
          </a:p>
          <a:p>
            <a:pPr lvl="1" indent="0" eaLnBrk="1" hangingPunct="1"/>
            <a:r>
              <a:rPr lang="en-US" altLang="zh-CN" sz="2400" dirty="0">
                <a:solidFill>
                  <a:srgbClr val="000000"/>
                </a:solidFill>
                <a:latin typeface="Verdana" panose="020B0604030504040204" pitchFamily="34" charset="0"/>
                <a:ea typeface="宋体" panose="02010600030101010101" pitchFamily="2" charset="-122"/>
              </a:rPr>
              <a:t>        SELECT Sno,Sname,2010-Sage</a:t>
            </a:r>
            <a:endParaRPr lang="en-US" altLang="zh-CN" sz="2400" dirty="0">
              <a:solidFill>
                <a:srgbClr val="000000"/>
              </a:solidFill>
              <a:latin typeface="Verdana" panose="020B0604030504040204" pitchFamily="34" charset="0"/>
              <a:ea typeface="宋体" panose="02010600030101010101" pitchFamily="2" charset="-122"/>
            </a:endParaRPr>
          </a:p>
          <a:p>
            <a:pPr lvl="1" indent="0" eaLnBrk="1" hangingPunct="1"/>
            <a:r>
              <a:rPr lang="en-US" altLang="zh-CN" sz="2400" dirty="0">
                <a:solidFill>
                  <a:srgbClr val="000000"/>
                </a:solidFill>
                <a:latin typeface="Verdana" panose="020B0604030504040204" pitchFamily="34" charset="0"/>
                <a:ea typeface="宋体" panose="02010600030101010101" pitchFamily="2" charset="-122"/>
              </a:rPr>
              <a:t>        FROM  Student;</a:t>
            </a:r>
            <a:endParaRPr lang="zh-CN" altLang="en-US" sz="2400" dirty="0">
              <a:solidFill>
                <a:srgbClr val="00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69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6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6" grpId="0"/>
      <p:bldP spid="8069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72706" name="Rectangle 2"/>
          <p:cNvSpPr>
            <a:spLocks noGrp="1"/>
          </p:cNvSpPr>
          <p:nvPr>
            <p:ph type="title"/>
          </p:nvPr>
        </p:nvSpPr>
        <p:spPr>
          <a:ln/>
        </p:spPr>
        <p:txBody>
          <a:bodyPr vert="horz" wrap="square" lIns="91440" tIns="45720" rIns="91440" bIns="45720" anchor="b" anchorCtr="0"/>
          <a:p>
            <a:pPr eaLnBrk="1" hangingPunct="1"/>
            <a:r>
              <a:rPr lang="en-US" altLang="zh-CN" dirty="0"/>
              <a:t>3.6.2  </a:t>
            </a:r>
            <a:r>
              <a:rPr lang="zh-CN" altLang="en-US" dirty="0"/>
              <a:t>查询视图</a:t>
            </a:r>
            <a:endParaRPr lang="zh-CN" altLang="en-US" dirty="0"/>
          </a:p>
        </p:txBody>
      </p:sp>
      <p:sp>
        <p:nvSpPr>
          <p:cNvPr id="72707" name="Rectangle 3"/>
          <p:cNvSpPr>
            <a:spLocks noGrp="1"/>
          </p:cNvSpPr>
          <p:nvPr>
            <p:ph idx="1"/>
          </p:nvPr>
        </p:nvSpPr>
        <p:spPr>
          <a:ln/>
        </p:spPr>
        <p:txBody>
          <a:bodyPr vert="horz" wrap="square" lIns="91440" tIns="45720" rIns="91440" bIns="45720" anchor="t" anchorCtr="0"/>
          <a:p>
            <a:pPr eaLnBrk="1" hangingPunct="1">
              <a:lnSpc>
                <a:spcPct val="120000"/>
              </a:lnSpc>
              <a:spcAft>
                <a:spcPct val="30000"/>
              </a:spcAft>
            </a:pPr>
            <a:r>
              <a:rPr lang="zh-CN" altLang="en-US" sz="2800" dirty="0"/>
              <a:t>用户角度：查询视图与查询基本表相同</a:t>
            </a:r>
            <a:endParaRPr lang="zh-CN" altLang="en-US" sz="2800" dirty="0"/>
          </a:p>
          <a:p>
            <a:pPr eaLnBrk="1" hangingPunct="1">
              <a:lnSpc>
                <a:spcPct val="120000"/>
              </a:lnSpc>
            </a:pPr>
            <a:r>
              <a:rPr lang="zh-CN" altLang="en-US" sz="2800" dirty="0">
                <a:solidFill>
                  <a:srgbClr val="FF0000"/>
                </a:solidFill>
              </a:rPr>
              <a:t>实现视图查询</a:t>
            </a:r>
            <a:r>
              <a:rPr lang="zh-CN" altLang="en-US" sz="2800" dirty="0"/>
              <a:t>的方法</a:t>
            </a:r>
            <a:endParaRPr lang="zh-CN" altLang="en-US" sz="2800" dirty="0"/>
          </a:p>
          <a:p>
            <a:pPr lvl="1" indent="-436245" eaLnBrk="1" hangingPunct="1">
              <a:lnSpc>
                <a:spcPct val="120000"/>
              </a:lnSpc>
            </a:pPr>
            <a:r>
              <a:rPr lang="zh-CN" altLang="en-US" sz="3200" dirty="0"/>
              <a:t>视图消解法（</a:t>
            </a:r>
            <a:r>
              <a:rPr lang="en-US" altLang="zh-CN" sz="3200" dirty="0"/>
              <a:t>View Resolution</a:t>
            </a:r>
            <a:r>
              <a:rPr lang="zh-CN" altLang="en-US" sz="3200" dirty="0"/>
              <a:t>）</a:t>
            </a:r>
            <a:endParaRPr lang="zh-CN" altLang="en-US" sz="3200" dirty="0"/>
          </a:p>
          <a:p>
            <a:pPr lvl="2" indent="-394970" eaLnBrk="1" hangingPunct="1">
              <a:lnSpc>
                <a:spcPct val="120000"/>
              </a:lnSpc>
              <a:buClrTx/>
            </a:pPr>
            <a:r>
              <a:rPr lang="zh-CN" altLang="en-US" sz="2800" dirty="0"/>
              <a:t>进行有效性检查</a:t>
            </a:r>
            <a:endParaRPr lang="zh-CN" altLang="en-US" sz="2800" dirty="0"/>
          </a:p>
          <a:p>
            <a:pPr lvl="2" indent="-394970" eaLnBrk="1" hangingPunct="1">
              <a:lnSpc>
                <a:spcPct val="120000"/>
              </a:lnSpc>
              <a:buClrTx/>
            </a:pPr>
            <a:r>
              <a:rPr lang="zh-CN" altLang="en-US" sz="2800" dirty="0"/>
              <a:t>转</a:t>
            </a:r>
            <a:r>
              <a:rPr lang="zh-CN" altLang="en-US" sz="2800" dirty="0">
                <a:solidFill>
                  <a:srgbClr val="FF0000"/>
                </a:solidFill>
              </a:rPr>
              <a:t>换成等价</a:t>
            </a:r>
            <a:r>
              <a:rPr lang="zh-CN" altLang="en-US" sz="2800" dirty="0"/>
              <a:t>的对基本表的</a:t>
            </a:r>
            <a:r>
              <a:rPr lang="zh-CN" altLang="en-US" sz="2800" dirty="0">
                <a:solidFill>
                  <a:srgbClr val="FF0000"/>
                </a:solidFill>
              </a:rPr>
              <a:t>查询</a:t>
            </a:r>
            <a:endParaRPr lang="zh-CN" altLang="en-US" sz="2800" dirty="0"/>
          </a:p>
          <a:p>
            <a:pPr lvl="2" indent="-394970" eaLnBrk="1" hangingPunct="1">
              <a:lnSpc>
                <a:spcPct val="120000"/>
              </a:lnSpc>
              <a:buClrTx/>
            </a:pPr>
            <a:r>
              <a:rPr lang="zh-CN" altLang="en-US" sz="2800" dirty="0"/>
              <a:t>执行</a:t>
            </a:r>
            <a:r>
              <a:rPr lang="zh-CN" altLang="en-US" sz="2800" dirty="0">
                <a:solidFill>
                  <a:srgbClr val="FF0000"/>
                </a:solidFill>
              </a:rPr>
              <a:t>修正</a:t>
            </a:r>
            <a:r>
              <a:rPr lang="zh-CN" altLang="en-US" sz="2800" dirty="0"/>
              <a:t>后的查询</a:t>
            </a:r>
            <a:endParaRPr lang="zh-CN" altLang="en-US" sz="2800" dirty="0"/>
          </a:p>
        </p:txBody>
      </p:sp>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74754" name="Rectangle 2"/>
          <p:cNvSpPr>
            <a:spLocks noGrp="1"/>
          </p:cNvSpPr>
          <p:nvPr>
            <p:ph type="title"/>
          </p:nvPr>
        </p:nvSpPr>
        <p:spPr>
          <a:ln/>
        </p:spPr>
        <p:txBody>
          <a:bodyPr vert="horz" wrap="square" lIns="91440" tIns="45720" rIns="91440" bIns="45720" anchor="b" anchorCtr="0"/>
          <a:p>
            <a:pPr eaLnBrk="1" hangingPunct="1"/>
            <a:r>
              <a:rPr lang="en-US" altLang="zh-CN" dirty="0"/>
              <a:t>3.6.2  </a:t>
            </a:r>
            <a:r>
              <a:rPr lang="zh-CN" altLang="en-US" dirty="0"/>
              <a:t>查询视图</a:t>
            </a:r>
            <a:endParaRPr lang="zh-CN" altLang="en-US" dirty="0"/>
          </a:p>
        </p:txBody>
      </p:sp>
      <p:sp>
        <p:nvSpPr>
          <p:cNvPr id="821251" name="Rectangle 3"/>
          <p:cNvSpPr>
            <a:spLocks noGrp="1"/>
          </p:cNvSpPr>
          <p:nvPr>
            <p:ph idx="1"/>
          </p:nvPr>
        </p:nvSpPr>
        <p:spPr>
          <a:xfrm>
            <a:off x="468313" y="2133600"/>
            <a:ext cx="8229600" cy="1800225"/>
          </a:xfrm>
          <a:ln/>
        </p:spPr>
        <p:txBody>
          <a:bodyPr vert="horz" wrap="square" lIns="91440" tIns="45720" rIns="91440" bIns="45720" anchor="t" anchorCtr="0"/>
          <a:p>
            <a:pPr eaLnBrk="1" hangingPunct="1">
              <a:lnSpc>
                <a:spcPct val="90000"/>
              </a:lnSpc>
              <a:buNone/>
            </a:pPr>
            <a:r>
              <a:rPr lang="en-US" altLang="zh-CN" sz="2400" dirty="0"/>
              <a:t>             SELECT   Sno</a:t>
            </a:r>
            <a:r>
              <a:rPr lang="zh-CN" altLang="en-US" sz="2400" dirty="0"/>
              <a:t>，</a:t>
            </a:r>
            <a:r>
              <a:rPr lang="en-US" altLang="zh-CN" sz="2400" dirty="0"/>
              <a:t>Sage</a:t>
            </a:r>
            <a:endParaRPr lang="en-US" altLang="zh-CN" sz="2400" dirty="0"/>
          </a:p>
          <a:p>
            <a:pPr lvl="1" indent="-436245" eaLnBrk="1" hangingPunct="1">
              <a:lnSpc>
                <a:spcPct val="90000"/>
              </a:lnSpc>
              <a:buNone/>
            </a:pPr>
            <a:r>
              <a:rPr lang="en-US" altLang="zh-CN" dirty="0"/>
              <a:t>        FROM      IS_Student</a:t>
            </a:r>
            <a:endParaRPr lang="en-US" altLang="zh-CN" dirty="0"/>
          </a:p>
          <a:p>
            <a:pPr lvl="1" indent="-436245" eaLnBrk="1" hangingPunct="1">
              <a:lnSpc>
                <a:spcPct val="90000"/>
              </a:lnSpc>
              <a:buNone/>
            </a:pPr>
            <a:r>
              <a:rPr lang="en-US" altLang="zh-CN" dirty="0"/>
              <a:t>        WHERE   Sage&lt;20</a:t>
            </a:r>
            <a:r>
              <a:rPr lang="zh-CN" altLang="en-US" dirty="0"/>
              <a:t>；</a:t>
            </a:r>
            <a:endParaRPr lang="zh-CN" altLang="en-US" dirty="0"/>
          </a:p>
          <a:p>
            <a:pPr lvl="1" indent="-436245" eaLnBrk="1" hangingPunct="1">
              <a:lnSpc>
                <a:spcPct val="90000"/>
              </a:lnSpc>
              <a:buNone/>
            </a:pPr>
            <a:r>
              <a:rPr lang="en-US" altLang="zh-CN" dirty="0"/>
              <a:t>IS_Student</a:t>
            </a:r>
            <a:r>
              <a:rPr lang="zh-CN" altLang="en-US" dirty="0"/>
              <a:t>视图的定义 </a:t>
            </a:r>
            <a:r>
              <a:rPr lang="en-US" altLang="zh-CN" dirty="0"/>
              <a:t>(</a:t>
            </a:r>
            <a:r>
              <a:rPr lang="zh-CN" altLang="en-US" dirty="0"/>
              <a:t>参见视图定义例</a:t>
            </a:r>
            <a:r>
              <a:rPr lang="en-US" altLang="zh-CN" dirty="0"/>
              <a:t>1)</a:t>
            </a:r>
            <a:endParaRPr lang="en-US" altLang="zh-CN" dirty="0"/>
          </a:p>
        </p:txBody>
      </p:sp>
      <p:sp>
        <p:nvSpPr>
          <p:cNvPr id="74756" name="Rectangle 4"/>
          <p:cNvSpPr/>
          <p:nvPr/>
        </p:nvSpPr>
        <p:spPr>
          <a:xfrm>
            <a:off x="312738" y="1441450"/>
            <a:ext cx="8956675" cy="519113"/>
          </a:xfrm>
          <a:prstGeom prst="rect">
            <a:avLst/>
          </a:prstGeom>
          <a:noFill/>
          <a:ln w="25400">
            <a:noFill/>
          </a:ln>
        </p:spPr>
        <p:txBody>
          <a:bodyPr wrap="none" anchor="t" anchorCtr="0">
            <a:spAutoFit/>
          </a:bodyPr>
          <a:p>
            <a:pPr marL="342900" indent="-342900" algn="ctr"/>
            <a:r>
              <a:rPr lang="en-US" altLang="zh-CN" sz="2800" dirty="0">
                <a:solidFill>
                  <a:srgbClr val="000000"/>
                </a:solidFill>
                <a:latin typeface="Times New Roman" panose="02020603050405020304" pitchFamily="18" charset="0"/>
                <a:ea typeface="宋体" panose="02010600030101010101" pitchFamily="2" charset="-122"/>
              </a:rPr>
              <a:t>[</a:t>
            </a:r>
            <a:r>
              <a:rPr lang="zh-CN" altLang="en-US" sz="2800" dirty="0">
                <a:solidFill>
                  <a:srgbClr val="000000"/>
                </a:solidFill>
                <a:latin typeface="Times New Roman" panose="02020603050405020304" pitchFamily="18" charset="0"/>
                <a:ea typeface="宋体" panose="02010600030101010101" pitchFamily="2" charset="-122"/>
              </a:rPr>
              <a:t>例</a:t>
            </a:r>
            <a:r>
              <a:rPr lang="en-US" altLang="zh-CN"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在信息系学生的视图中找出年龄小于</a:t>
            </a:r>
            <a:r>
              <a:rPr lang="en-US" altLang="zh-CN" sz="2800" dirty="0">
                <a:solidFill>
                  <a:srgbClr val="000000"/>
                </a:solidFill>
                <a:latin typeface="Times New Roman" panose="02020603050405020304" pitchFamily="18" charset="0"/>
                <a:ea typeface="宋体" panose="02010600030101010101" pitchFamily="2" charset="-122"/>
              </a:rPr>
              <a:t>20</a:t>
            </a:r>
            <a:r>
              <a:rPr lang="zh-CN" altLang="en-US" sz="2800" dirty="0">
                <a:solidFill>
                  <a:srgbClr val="000000"/>
                </a:solidFill>
                <a:latin typeface="Times New Roman" panose="02020603050405020304" pitchFamily="18" charset="0"/>
                <a:ea typeface="宋体" panose="02010600030101010101" pitchFamily="2" charset="-122"/>
              </a:rPr>
              <a:t>岁的学生。</a:t>
            </a:r>
            <a:endParaRPr lang="zh-CN" altLang="en-US" sz="2800" dirty="0">
              <a:solidFill>
                <a:srgbClr val="000000"/>
              </a:solidFill>
              <a:latin typeface="Times New Roman" panose="02020603050405020304" pitchFamily="18" charset="0"/>
              <a:ea typeface="宋体" panose="02010600030101010101" pitchFamily="2" charset="-122"/>
            </a:endParaRPr>
          </a:p>
        </p:txBody>
      </p:sp>
      <p:sp>
        <p:nvSpPr>
          <p:cNvPr id="821253" name="Rectangle 5"/>
          <p:cNvSpPr/>
          <p:nvPr/>
        </p:nvSpPr>
        <p:spPr>
          <a:xfrm>
            <a:off x="250825" y="4149725"/>
            <a:ext cx="8229600" cy="2247900"/>
          </a:xfrm>
          <a:prstGeom prst="rect">
            <a:avLst/>
          </a:prstGeom>
          <a:noFill/>
          <a:ln w="9525">
            <a:noFill/>
          </a:ln>
        </p:spPr>
        <p:txBody>
          <a:bodyPr anchor="t" anchorCtr="0"/>
          <a:p>
            <a:pPr marL="742950" lvl="1" indent="-285750" eaLnBrk="1" hangingPunct="1">
              <a:lnSpc>
                <a:spcPct val="120000"/>
              </a:lnSpc>
              <a:spcBef>
                <a:spcPct val="20000"/>
              </a:spcBef>
              <a:buClr>
                <a:srgbClr val="65AAE9"/>
              </a:buClr>
              <a:buFont typeface="Wingdings" panose="05000000000000000000" pitchFamily="2" charset="2"/>
            </a:pPr>
            <a:r>
              <a:rPr lang="zh-CN" altLang="en-US" sz="2800" dirty="0">
                <a:solidFill>
                  <a:srgbClr val="000000"/>
                </a:solidFill>
                <a:latin typeface="Verdana" panose="020B0604030504040204" pitchFamily="34" charset="0"/>
                <a:ea typeface="宋体" panose="02010600030101010101" pitchFamily="2" charset="-122"/>
              </a:rPr>
              <a:t>视图消解转换后的查询语句为：</a:t>
            </a:r>
            <a:endParaRPr lang="zh-CN" altLang="en-US" sz="2800" dirty="0">
              <a:solidFill>
                <a:srgbClr val="000000"/>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zh-CN" altLang="en-US" sz="2400" dirty="0">
                <a:solidFill>
                  <a:srgbClr val="000000"/>
                </a:solidFill>
                <a:latin typeface="Verdana" panose="020B0604030504040204" pitchFamily="34" charset="0"/>
                <a:ea typeface="宋体" panose="02010600030101010101" pitchFamily="2" charset="-122"/>
              </a:rPr>
              <a:t>     </a:t>
            </a:r>
            <a:r>
              <a:rPr lang="en-US" altLang="zh-CN" sz="2400" dirty="0">
                <a:solidFill>
                  <a:srgbClr val="000000"/>
                </a:solidFill>
                <a:latin typeface="Verdana" panose="020B0604030504040204" pitchFamily="34" charset="0"/>
                <a:ea typeface="宋体" panose="02010600030101010101" pitchFamily="2" charset="-122"/>
              </a:rPr>
              <a:t>SELECT  Sno</a:t>
            </a:r>
            <a:r>
              <a:rPr lang="zh-CN" altLang="en-US" sz="2400" dirty="0">
                <a:solidFill>
                  <a:srgbClr val="000000"/>
                </a:solidFill>
                <a:latin typeface="Verdana" panose="020B0604030504040204" pitchFamily="34" charset="0"/>
                <a:ea typeface="宋体" panose="02010600030101010101" pitchFamily="2" charset="-122"/>
              </a:rPr>
              <a:t>，</a:t>
            </a:r>
            <a:r>
              <a:rPr lang="en-US" altLang="zh-CN" sz="2400" dirty="0">
                <a:solidFill>
                  <a:srgbClr val="000000"/>
                </a:solidFill>
                <a:latin typeface="Verdana" panose="020B0604030504040204" pitchFamily="34" charset="0"/>
                <a:ea typeface="宋体" panose="02010600030101010101" pitchFamily="2" charset="-122"/>
              </a:rPr>
              <a:t>Sage       </a:t>
            </a:r>
            <a:endParaRPr lang="en-US" altLang="zh-CN" sz="2400" dirty="0">
              <a:solidFill>
                <a:srgbClr val="000000"/>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400" dirty="0">
                <a:solidFill>
                  <a:srgbClr val="000000"/>
                </a:solidFill>
                <a:latin typeface="Verdana" panose="020B0604030504040204" pitchFamily="34" charset="0"/>
                <a:ea typeface="宋体" panose="02010600030101010101" pitchFamily="2" charset="-122"/>
              </a:rPr>
              <a:t>     FROM  Student</a:t>
            </a:r>
            <a:endParaRPr lang="en-US" altLang="zh-CN" sz="2400" dirty="0">
              <a:solidFill>
                <a:srgbClr val="000000"/>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400" dirty="0">
                <a:solidFill>
                  <a:srgbClr val="000000"/>
                </a:solidFill>
                <a:latin typeface="Verdana" panose="020B0604030504040204" pitchFamily="34" charset="0"/>
                <a:ea typeface="宋体" panose="02010600030101010101" pitchFamily="2" charset="-122"/>
              </a:rPr>
              <a:t>     WHERE  Sdept= 'IS'  AND  Sage&lt;20</a:t>
            </a:r>
            <a:r>
              <a:rPr lang="zh-CN" altLang="en-US" sz="2400" dirty="0">
                <a:solidFill>
                  <a:srgbClr val="000000"/>
                </a:solidFill>
                <a:latin typeface="Verdana" panose="020B0604030504040204" pitchFamily="34" charset="0"/>
                <a:ea typeface="宋体" panose="02010600030101010101" pitchFamily="2" charset="-122"/>
              </a:rPr>
              <a:t>；</a:t>
            </a:r>
            <a:endParaRPr lang="zh-CN" altLang="en-US" sz="2400" dirty="0">
              <a:solidFill>
                <a:srgbClr val="000000"/>
              </a:solidFill>
              <a:latin typeface="Verdana" panose="020B0604030504040204" pitchFamily="34" charset="0"/>
              <a:ea typeface="宋体" panose="02010600030101010101" pitchFamily="2" charset="-122"/>
            </a:endParaRPr>
          </a:p>
          <a:p>
            <a:pPr marL="342900" indent="-342900">
              <a:spcBef>
                <a:spcPct val="20000"/>
              </a:spcBef>
              <a:buClr>
                <a:srgbClr val="7DA0D3"/>
              </a:buClr>
              <a:buFont typeface="Wingdings" panose="05000000000000000000" pitchFamily="2" charset="2"/>
            </a:pPr>
            <a:endParaRPr lang="en-US" altLang="zh-CN" sz="2800" dirty="0">
              <a:solidFill>
                <a:srgbClr val="00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1251">
                                            <p:txEl>
                                              <p:charRg st="0" end="3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1251">
                                            <p:txEl>
                                              <p:charRg st="31" end="6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1251">
                                            <p:txEl>
                                              <p:charRg st="60" end="8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1251">
                                            <p:txEl>
                                              <p:charRg st="85" end="11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21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51" grpId="0" build="p"/>
      <p:bldP spid="82125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76802" name="Rectangle 2"/>
          <p:cNvSpPr>
            <a:spLocks noGrp="1"/>
          </p:cNvSpPr>
          <p:nvPr>
            <p:ph type="title"/>
          </p:nvPr>
        </p:nvSpPr>
        <p:spPr>
          <a:ln/>
        </p:spPr>
        <p:txBody>
          <a:bodyPr vert="horz" wrap="square" lIns="91440" tIns="45720" rIns="91440" bIns="45720" anchor="b" anchorCtr="0"/>
          <a:p>
            <a:pPr eaLnBrk="1" hangingPunct="1"/>
            <a:r>
              <a:rPr lang="en-US" altLang="zh-CN" dirty="0"/>
              <a:t>3.6.2  </a:t>
            </a:r>
            <a:r>
              <a:rPr lang="zh-CN" altLang="en-US" dirty="0"/>
              <a:t>查询视图</a:t>
            </a:r>
            <a:endParaRPr lang="zh-CN" altLang="en-US" dirty="0"/>
          </a:p>
        </p:txBody>
      </p:sp>
      <p:sp>
        <p:nvSpPr>
          <p:cNvPr id="825347" name="Rectangle 3"/>
          <p:cNvSpPr>
            <a:spLocks noGrp="1"/>
          </p:cNvSpPr>
          <p:nvPr>
            <p:ph idx="1"/>
          </p:nvPr>
        </p:nvSpPr>
        <p:spPr>
          <a:xfrm>
            <a:off x="468313" y="2133600"/>
            <a:ext cx="8229600" cy="4495800"/>
          </a:xfrm>
          <a:ln/>
        </p:spPr>
        <p:txBody>
          <a:bodyPr vert="horz" wrap="square" lIns="91440" tIns="45720" rIns="91440" bIns="45720" anchor="t" anchorCtr="0"/>
          <a:p>
            <a:pPr lvl="1" indent="-436245" eaLnBrk="1" hangingPunct="1">
              <a:lnSpc>
                <a:spcPct val="140000"/>
              </a:lnSpc>
              <a:buNone/>
            </a:pPr>
            <a:r>
              <a:rPr lang="en-US" altLang="zh-CN" dirty="0"/>
              <a:t>SELECT  IS_Student.Sno</a:t>
            </a:r>
            <a:r>
              <a:rPr lang="zh-CN" altLang="en-US" dirty="0"/>
              <a:t>，</a:t>
            </a:r>
            <a:r>
              <a:rPr lang="en-US" altLang="zh-CN" dirty="0"/>
              <a:t>Sname</a:t>
            </a:r>
            <a:endParaRPr lang="en-US" altLang="zh-CN" dirty="0"/>
          </a:p>
          <a:p>
            <a:pPr lvl="1" indent="-436245" eaLnBrk="1" hangingPunct="1">
              <a:buNone/>
            </a:pPr>
            <a:r>
              <a:rPr lang="en-US" altLang="zh-CN" dirty="0"/>
              <a:t>FROM     </a:t>
            </a:r>
            <a:r>
              <a:rPr lang="en-US" altLang="zh-CN" dirty="0">
                <a:solidFill>
                  <a:srgbClr val="D32DB7"/>
                </a:solidFill>
              </a:rPr>
              <a:t>IS_Student</a:t>
            </a:r>
            <a:r>
              <a:rPr lang="zh-CN" altLang="en-US" dirty="0"/>
              <a:t>，</a:t>
            </a:r>
            <a:r>
              <a:rPr lang="en-US" altLang="zh-CN" dirty="0"/>
              <a:t>SC</a:t>
            </a:r>
            <a:endParaRPr lang="en-US" altLang="zh-CN" dirty="0"/>
          </a:p>
          <a:p>
            <a:pPr lvl="1" indent="-436245" eaLnBrk="1" hangingPunct="1">
              <a:buNone/>
            </a:pPr>
            <a:r>
              <a:rPr lang="en-US" altLang="zh-CN" dirty="0"/>
              <a:t>WHERE  IS_Student.Sno =SC.Sno AND SC.Cno= '1'</a:t>
            </a:r>
            <a:r>
              <a:rPr lang="zh-CN" altLang="en-US" dirty="0"/>
              <a:t>；</a:t>
            </a:r>
            <a:endParaRPr lang="zh-CN" altLang="en-US" dirty="0"/>
          </a:p>
          <a:p>
            <a:pPr lvl="1" indent="-436245" eaLnBrk="1" hangingPunct="1">
              <a:buNone/>
            </a:pPr>
            <a:endParaRPr lang="zh-CN" altLang="en-US" dirty="0"/>
          </a:p>
          <a:p>
            <a:pPr lvl="1" indent="-436245" eaLnBrk="1" hangingPunct="1">
              <a:buNone/>
            </a:pPr>
            <a:endParaRPr lang="en-US" altLang="zh-CN" sz="3600" dirty="0"/>
          </a:p>
        </p:txBody>
      </p:sp>
      <p:sp>
        <p:nvSpPr>
          <p:cNvPr id="76804" name="Rectangle 4"/>
          <p:cNvSpPr/>
          <p:nvPr/>
        </p:nvSpPr>
        <p:spPr>
          <a:xfrm>
            <a:off x="904875" y="1484313"/>
            <a:ext cx="6169025" cy="523875"/>
          </a:xfrm>
          <a:prstGeom prst="rect">
            <a:avLst/>
          </a:prstGeom>
          <a:noFill/>
          <a:ln w="25400">
            <a:noFill/>
          </a:ln>
        </p:spPr>
        <p:txBody>
          <a:bodyPr wrap="none" anchor="t" anchorCtr="0">
            <a:spAutoFit/>
          </a:bodyPr>
          <a:p>
            <a:pPr marL="342900" indent="-342900" algn="ctr">
              <a:spcBef>
                <a:spcPct val="20000"/>
              </a:spcBef>
              <a:buClr>
                <a:srgbClr val="7DA0D3"/>
              </a:buClr>
              <a:buFont typeface="Wingdings" panose="05000000000000000000" pitchFamily="2" charset="2"/>
            </a:pPr>
            <a:r>
              <a:rPr lang="en-US" altLang="zh-CN" sz="2800" dirty="0">
                <a:solidFill>
                  <a:srgbClr val="000000"/>
                </a:solidFill>
                <a:latin typeface="Times New Roman" panose="02020603050405020304" pitchFamily="18" charset="0"/>
                <a:ea typeface="宋体" panose="02010600030101010101" pitchFamily="2" charset="-122"/>
              </a:rPr>
              <a:t>[</a:t>
            </a:r>
            <a:r>
              <a:rPr lang="zh-CN" altLang="en-US" sz="2800" dirty="0">
                <a:solidFill>
                  <a:srgbClr val="000000"/>
                </a:solidFill>
                <a:latin typeface="Times New Roman" panose="02020603050405020304" pitchFamily="18" charset="0"/>
                <a:ea typeface="宋体" panose="02010600030101010101" pitchFamily="2" charset="-122"/>
              </a:rPr>
              <a:t>例</a:t>
            </a:r>
            <a:r>
              <a:rPr lang="en-US" altLang="zh-CN" sz="2800" dirty="0">
                <a:solidFill>
                  <a:srgbClr val="000000"/>
                </a:solidFill>
                <a:latin typeface="Times New Roman" panose="02020603050405020304" pitchFamily="18" charset="0"/>
                <a:ea typeface="宋体" panose="02010600030101010101" pitchFamily="2" charset="-122"/>
              </a:rPr>
              <a:t>]  </a:t>
            </a:r>
            <a:r>
              <a:rPr lang="zh-CN" altLang="en-US" sz="2800" dirty="0">
                <a:solidFill>
                  <a:srgbClr val="000000"/>
                </a:solidFill>
                <a:latin typeface="Times New Roman" panose="02020603050405020304" pitchFamily="18" charset="0"/>
                <a:ea typeface="宋体" panose="02010600030101010101" pitchFamily="2" charset="-122"/>
              </a:rPr>
              <a:t>查询选修了</a:t>
            </a:r>
            <a:r>
              <a:rPr lang="en-US" altLang="zh-CN" sz="2800" dirty="0">
                <a:solidFill>
                  <a:srgbClr val="000000"/>
                </a:solidFill>
                <a:latin typeface="Times New Roman" panose="02020603050405020304" pitchFamily="18" charset="0"/>
                <a:ea typeface="宋体" panose="02010600030101010101" pitchFamily="2" charset="-122"/>
              </a:rPr>
              <a:t>1</a:t>
            </a:r>
            <a:r>
              <a:rPr lang="zh-CN" altLang="en-US" sz="2800" dirty="0">
                <a:solidFill>
                  <a:srgbClr val="000000"/>
                </a:solidFill>
                <a:latin typeface="Times New Roman" panose="02020603050405020304" pitchFamily="18" charset="0"/>
                <a:ea typeface="宋体" panose="02010600030101010101" pitchFamily="2" charset="-122"/>
              </a:rPr>
              <a:t>号课程的信息系学生</a:t>
            </a:r>
            <a:endParaRPr lang="zh-CN" altLang="en-US" sz="280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5347">
                                            <p:txEl>
                                              <p:charRg st="0" end="2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5347">
                                            <p:txEl>
                                              <p:charRg st="29" end="5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5347">
                                            <p:txEl>
                                              <p:charRg st="52" end="9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78850" name="Rectangle 2"/>
          <p:cNvSpPr>
            <a:spLocks noGrp="1"/>
          </p:cNvSpPr>
          <p:nvPr>
            <p:ph type="title"/>
          </p:nvPr>
        </p:nvSpPr>
        <p:spPr>
          <a:ln/>
        </p:spPr>
        <p:txBody>
          <a:bodyPr vert="horz" wrap="square" lIns="91440" tIns="45720" rIns="91440" bIns="45720" anchor="b" anchorCtr="0"/>
          <a:p>
            <a:pPr eaLnBrk="1" hangingPunct="1"/>
            <a:r>
              <a:rPr lang="en-US" altLang="zh-CN" dirty="0"/>
              <a:t>3.6.2  </a:t>
            </a:r>
            <a:r>
              <a:rPr lang="zh-CN" altLang="en-US" dirty="0"/>
              <a:t>查询视图</a:t>
            </a:r>
            <a:endParaRPr lang="zh-CN" altLang="en-US" dirty="0"/>
          </a:p>
        </p:txBody>
      </p:sp>
      <p:sp>
        <p:nvSpPr>
          <p:cNvPr id="78851" name="Rectangle 3"/>
          <p:cNvSpPr>
            <a:spLocks noGrp="1"/>
          </p:cNvSpPr>
          <p:nvPr>
            <p:ph idx="1"/>
          </p:nvPr>
        </p:nvSpPr>
        <p:spPr>
          <a:ln/>
        </p:spPr>
        <p:txBody>
          <a:bodyPr vert="horz" wrap="square" lIns="91440" tIns="45720" rIns="91440" bIns="45720" anchor="t" anchorCtr="0"/>
          <a:p>
            <a:pPr eaLnBrk="1" latinLnBrk="0" hangingPunct="1">
              <a:lnSpc>
                <a:spcPct val="100000"/>
              </a:lnSpc>
              <a:spcBef>
                <a:spcPts val="0"/>
              </a:spcBef>
            </a:pPr>
            <a:r>
              <a:rPr lang="zh-CN" altLang="en-US" sz="3200" dirty="0"/>
              <a:t>视图消解法的局限</a:t>
            </a:r>
            <a:endParaRPr lang="zh-CN" altLang="en-US" sz="3200" dirty="0"/>
          </a:p>
          <a:p>
            <a:pPr lvl="1" indent="-436245" eaLnBrk="1" latinLnBrk="0" hangingPunct="1">
              <a:lnSpc>
                <a:spcPct val="100000"/>
              </a:lnSpc>
              <a:spcBef>
                <a:spcPts val="0"/>
              </a:spcBef>
            </a:pPr>
            <a:r>
              <a:rPr lang="zh-CN" altLang="en-US" dirty="0"/>
              <a:t>有些情况下，视图消解法不能生成正确查询。</a:t>
            </a:r>
            <a:endParaRPr lang="en-US" altLang="zh-CN" dirty="0"/>
          </a:p>
          <a:p>
            <a:pPr lvl="1" indent="-436245" eaLnBrk="1" latinLnBrk="0" hangingPunct="1">
              <a:lnSpc>
                <a:spcPct val="100000"/>
              </a:lnSpc>
              <a:spcBef>
                <a:spcPts val="0"/>
              </a:spcBef>
            </a:pPr>
            <a:r>
              <a:rPr lang="zh-CN" altLang="en-US" dirty="0"/>
              <a:t>多数关系数据库管理系统对</a:t>
            </a:r>
            <a:r>
              <a:rPr lang="zh-CN" altLang="en-US" b="1" dirty="0">
                <a:solidFill>
                  <a:srgbClr val="FF0000"/>
                </a:solidFill>
              </a:rPr>
              <a:t>行列子集视图</a:t>
            </a:r>
            <a:r>
              <a:rPr lang="zh-CN" altLang="en-US" dirty="0"/>
              <a:t>的查询都可以</a:t>
            </a:r>
            <a:r>
              <a:rPr lang="zh-CN" altLang="en-US" dirty="0">
                <a:solidFill>
                  <a:srgbClr val="FF0000"/>
                </a:solidFill>
              </a:rPr>
              <a:t>正确转换</a:t>
            </a:r>
            <a:r>
              <a:rPr lang="zh-CN" altLang="en-US" dirty="0"/>
              <a:t>，但是对其他的非行列子集视图的查询就不一定能做转换了。这类查询，应对基本表查询。</a:t>
            </a:r>
            <a:endParaRPr lang="zh-CN" altLang="en-US" dirty="0"/>
          </a:p>
          <a:p>
            <a:pPr lvl="1" indent="-436245" eaLnBrk="1" latinLnBrk="0" hangingPunct="1">
              <a:lnSpc>
                <a:spcPct val="100000"/>
              </a:lnSpc>
              <a:spcBef>
                <a:spcPts val="0"/>
              </a:spcBef>
            </a:pPr>
            <a:r>
              <a:rPr lang="zh-CN" altLang="en-US" b="1" dirty="0">
                <a:solidFill>
                  <a:srgbClr val="FF0000"/>
                </a:solidFill>
                <a:latin typeface="Verdana" panose="020B0604030504040204" pitchFamily="34" charset="0"/>
                <a:ea typeface="宋体" panose="02010600030101010101" pitchFamily="2" charset="-122"/>
                <a:sym typeface="+mn-ea"/>
              </a:rPr>
              <a:t>行列子集视图</a:t>
            </a:r>
            <a:r>
              <a:rPr lang="zh-CN" altLang="en-US" b="1" dirty="0">
                <a:latin typeface="Verdana" panose="020B0604030504040204" pitchFamily="34" charset="0"/>
                <a:ea typeface="宋体" panose="02010600030101010101" pitchFamily="2" charset="-122"/>
                <a:sym typeface="+mn-ea"/>
              </a:rPr>
              <a:t>：如果一个视图是</a:t>
            </a:r>
            <a:r>
              <a:rPr lang="zh-CN" altLang="en-US" b="1" dirty="0">
                <a:solidFill>
                  <a:srgbClr val="0000FF"/>
                </a:solidFill>
                <a:latin typeface="Verdana" panose="020B0604030504040204" pitchFamily="34" charset="0"/>
                <a:ea typeface="宋体" panose="02010600030101010101" pitchFamily="2" charset="-122"/>
                <a:sym typeface="+mn-ea"/>
              </a:rPr>
              <a:t>从单表导出</a:t>
            </a:r>
            <a:r>
              <a:rPr lang="zh-CN" altLang="en-US" b="1" dirty="0">
                <a:latin typeface="Verdana" panose="020B0604030504040204" pitchFamily="34" charset="0"/>
                <a:ea typeface="宋体" panose="02010600030101010101" pitchFamily="2" charset="-122"/>
                <a:sym typeface="+mn-ea"/>
              </a:rPr>
              <a:t>，只是</a:t>
            </a:r>
            <a:r>
              <a:rPr lang="zh-CN" altLang="en-US" b="1" dirty="0">
                <a:solidFill>
                  <a:srgbClr val="0000FF"/>
                </a:solidFill>
                <a:latin typeface="Verdana" panose="020B0604030504040204" pitchFamily="34" charset="0"/>
                <a:ea typeface="宋体" panose="02010600030101010101" pitchFamily="2" charset="-122"/>
                <a:sym typeface="+mn-ea"/>
              </a:rPr>
              <a:t>去掉了一些行或列</a:t>
            </a:r>
            <a:r>
              <a:rPr lang="zh-CN" altLang="en-US" b="1" dirty="0">
                <a:latin typeface="Verdana" panose="020B0604030504040204" pitchFamily="34" charset="0"/>
                <a:ea typeface="宋体" panose="02010600030101010101" pitchFamily="2" charset="-122"/>
                <a:sym typeface="+mn-ea"/>
              </a:rPr>
              <a:t>，但</a:t>
            </a:r>
            <a:r>
              <a:rPr lang="zh-CN" altLang="en-US" b="1" dirty="0">
                <a:solidFill>
                  <a:srgbClr val="0000FF"/>
                </a:solidFill>
                <a:latin typeface="Verdana" panose="020B0604030504040204" pitchFamily="34" charset="0"/>
                <a:ea typeface="宋体" panose="02010600030101010101" pitchFamily="2" charset="-122"/>
                <a:sym typeface="+mn-ea"/>
              </a:rPr>
              <a:t>保留了主码</a:t>
            </a:r>
            <a:r>
              <a:rPr lang="zh-CN" altLang="en-US" b="1" dirty="0">
                <a:latin typeface="Verdana" panose="020B0604030504040204" pitchFamily="34" charset="0"/>
                <a:ea typeface="宋体" panose="02010600030101010101" pitchFamily="2" charset="-122"/>
                <a:sym typeface="+mn-ea"/>
              </a:rPr>
              <a:t>。</a:t>
            </a:r>
            <a:endParaRPr lang="zh-CN" altLang="en-US" dirty="0"/>
          </a:p>
          <a:p>
            <a:pPr eaLnBrk="1" hangingPunct="1">
              <a:buNone/>
            </a:pPr>
            <a:r>
              <a:rPr lang="zh-CN" altLang="en-US" sz="2000" dirty="0">
                <a:latin typeface="宋体" panose="02010600030101010101" pitchFamily="2" charset="-122"/>
              </a:rPr>
              <a:t>	</a:t>
            </a:r>
            <a:endParaRPr lang="zh-CN" altLang="en-US" dirty="0">
              <a:latin typeface="宋体" panose="02010600030101010101" pitchFamily="2" charset="-122"/>
            </a:endParaRPr>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80898"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endParaRPr lang="zh-CN" altLang="en-US" sz="3600" dirty="0"/>
          </a:p>
        </p:txBody>
      </p:sp>
      <p:sp>
        <p:nvSpPr>
          <p:cNvPr id="20484" name="Rectangle 3"/>
          <p:cNvSpPr>
            <a:spLocks noGrp="1" noChangeArrowheads="1"/>
          </p:cNvSpPr>
          <p:nvPr>
            <p:ph idx="1"/>
          </p:nvPr>
        </p:nvSpPr>
        <p:spPr>
          <a:xfrm>
            <a:off x="468313" y="1184275"/>
            <a:ext cx="8229600" cy="2892425"/>
          </a:xfrm>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基于一个表的视图：</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例</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建立信息系学生的视图。</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18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CREATE VIEW </a:t>
            </a:r>
            <a:r>
              <a:rPr kumimoji="0" lang="en-US" altLang="zh-CN" sz="1800" b="0" i="0" u="none" strike="noStrike" kern="0" cap="none" spc="0" normalizeH="0" baseline="0" noProof="0" dirty="0" err="1" smtClean="0">
                <a:ln>
                  <a:noFill/>
                </a:ln>
                <a:solidFill>
                  <a:schemeClr val="tx1"/>
                </a:solidFill>
                <a:effectLst/>
                <a:uLnTx/>
                <a:uFillTx/>
                <a:latin typeface="+mn-lt"/>
                <a:ea typeface="+mn-ea"/>
                <a:cs typeface="+mn-cs"/>
              </a:rPr>
              <a:t>IS_Student</a:t>
            </a:r>
            <a:endParaRPr kumimoji="0" lang="en-US" altLang="zh-CN" sz="1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        AS </a:t>
            </a:r>
            <a:endParaRPr kumimoji="0" lang="en-US" altLang="zh-CN" sz="1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        SELECT </a:t>
            </a:r>
            <a:r>
              <a:rPr kumimoji="0" lang="en-US" altLang="zh-CN" sz="1800" b="0" i="0" u="none" strike="noStrike" kern="0" cap="none" spc="0" normalizeH="0" baseline="0" noProof="0" dirty="0" err="1" smtClean="0">
                <a:ln>
                  <a:noFill/>
                </a:ln>
                <a:solidFill>
                  <a:schemeClr val="tx1"/>
                </a:solidFill>
                <a:effectLst/>
                <a:uLnTx/>
                <a:uFillTx/>
                <a:latin typeface="+mn-lt"/>
                <a:ea typeface="+mn-ea"/>
                <a:cs typeface="+mn-cs"/>
              </a:rPr>
              <a:t>Sno,Sname,Sage,sdept</a:t>
            </a:r>
            <a:endParaRPr kumimoji="0" lang="en-US" altLang="zh-CN" sz="1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        FROM  Student</a:t>
            </a:r>
            <a:endParaRPr kumimoji="0" lang="en-US" altLang="zh-CN" sz="1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        WHERE  </a:t>
            </a:r>
            <a:r>
              <a:rPr kumimoji="0" lang="en-US" altLang="zh-CN" sz="1800" b="0" i="0" u="none" strike="noStrike" kern="0" cap="none" spc="0" normalizeH="0" baseline="0" noProof="0" dirty="0" err="1" smtClean="0">
                <a:ln>
                  <a:noFill/>
                </a:ln>
                <a:solidFill>
                  <a:schemeClr val="tx1"/>
                </a:solidFill>
                <a:effectLst/>
                <a:uLnTx/>
                <a:uFillTx/>
                <a:latin typeface="+mn-lt"/>
                <a:ea typeface="+mn-ea"/>
                <a:cs typeface="+mn-cs"/>
              </a:rPr>
              <a:t>Sdept</a:t>
            </a: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 'IS</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1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1800" b="0" i="0" u="none" strike="noStrike" kern="0" cap="none" spc="0" normalizeH="0" baseline="0" noProof="0" dirty="0" smtClean="0">
                <a:ln>
                  <a:noFill/>
                </a:ln>
                <a:solidFill>
                  <a:schemeClr val="tx1"/>
                </a:solidFill>
                <a:effectLst/>
                <a:uLnTx/>
                <a:uFillTx/>
                <a:latin typeface="+mn-lt"/>
                <a:ea typeface="+mn-ea"/>
                <a:cs typeface="+mn-cs"/>
              </a:rPr>
              <a:t>可以使用：</a:t>
            </a:r>
            <a:r>
              <a:rPr kumimoji="0" lang="en-US" altLang="zh-CN" sz="1800" b="0" i="0" u="none" strike="noStrike" kern="0" cap="none" spc="0" normalizeH="0" baseline="0" noProof="0" dirty="0" smtClean="0">
                <a:ln>
                  <a:noFill/>
                </a:ln>
                <a:solidFill>
                  <a:schemeClr val="tx1"/>
                </a:solidFill>
                <a:effectLst/>
                <a:uLnTx/>
                <a:uFillTx/>
                <a:latin typeface="+mn-lt"/>
                <a:ea typeface="+mn-ea"/>
                <a:cs typeface="+mn-cs"/>
              </a:rPr>
              <a:t>Select * from </a:t>
            </a:r>
            <a:r>
              <a:rPr kumimoji="0" lang="en-US" altLang="zh-CN" sz="1800" b="0" i="0" u="none" strike="noStrike" kern="0" cap="none" spc="0" normalizeH="0" baseline="0" noProof="0" dirty="0" err="1" smtClean="0">
                <a:ln>
                  <a:noFill/>
                </a:ln>
                <a:solidFill>
                  <a:schemeClr val="tx1"/>
                </a:solidFill>
                <a:effectLst/>
                <a:uLnTx/>
                <a:uFillTx/>
                <a:latin typeface="+mn-lt"/>
                <a:ea typeface="+mn-ea"/>
                <a:cs typeface="+mn-cs"/>
              </a:rPr>
              <a:t>IS_Student</a:t>
            </a:r>
            <a:r>
              <a:rPr kumimoji="0" lang="zh-CN" altLang="en-US" sz="1800" b="0" i="0" u="none" strike="noStrike" kern="0" cap="none" spc="0" normalizeH="0" baseline="0" noProof="0" dirty="0" smtClean="0">
                <a:ln>
                  <a:noFill/>
                </a:ln>
                <a:solidFill>
                  <a:schemeClr val="tx1"/>
                </a:solidFill>
                <a:effectLst/>
                <a:uLnTx/>
                <a:uFillTx/>
                <a:latin typeface="+mn-lt"/>
                <a:ea typeface="+mn-ea"/>
                <a:cs typeface="+mn-cs"/>
              </a:rPr>
              <a:t>查看视图里面的数据。</a:t>
            </a:r>
            <a:endParaRPr kumimoji="0" lang="en-US" altLang="zh-CN" sz="18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1800" b="0" i="0" u="none" strike="noStrike" kern="0" cap="none" spc="0" normalizeH="0" baseline="0" noProof="0" dirty="0">
              <a:ln>
                <a:noFill/>
              </a:ln>
              <a:solidFill>
                <a:schemeClr val="tx1"/>
              </a:solidFill>
              <a:effectLst/>
              <a:uLnTx/>
              <a:uFillTx/>
              <a:latin typeface="+mn-lt"/>
              <a:ea typeface="+mn-ea"/>
              <a:cs typeface="+mn-cs"/>
            </a:endParaRPr>
          </a:p>
        </p:txBody>
      </p:sp>
      <p:sp>
        <p:nvSpPr>
          <p:cNvPr id="3" name="TextBox 2"/>
          <p:cNvSpPr txBox="1"/>
          <p:nvPr/>
        </p:nvSpPr>
        <p:spPr>
          <a:xfrm>
            <a:off x="684213" y="5157788"/>
            <a:ext cx="5327650" cy="1014412"/>
          </a:xfrm>
          <a:prstGeom prst="rect">
            <a:avLst/>
          </a:prstGeom>
          <a:noFill/>
          <a:ln w="9525" cap="flat" cmpd="sng">
            <a:solidFill>
              <a:srgbClr val="FF0000"/>
            </a:solidFill>
            <a:prstDash val="solid"/>
            <a:miter/>
            <a:headEnd type="none" w="med" len="med"/>
            <a:tailEnd type="none" w="med" len="med"/>
          </a:ln>
        </p:spPr>
        <p:txBody>
          <a:bodyPr anchor="t" anchorCtr="0">
            <a:spAutoFit/>
          </a:bodyPr>
          <a:p>
            <a:r>
              <a:rPr lang="zh-CN" altLang="en-US" sz="2000" dirty="0">
                <a:latin typeface="Verdana" panose="020B0604030504040204" pitchFamily="34" charset="0"/>
                <a:ea typeface="宋体" panose="02010600030101010101" pitchFamily="2" charset="-122"/>
              </a:rPr>
              <a:t>等价于：</a:t>
            </a:r>
            <a:endParaRPr lang="en-US" altLang="zh-CN" sz="2000" dirty="0">
              <a:latin typeface="Verdana" panose="020B0604030504040204" pitchFamily="34" charset="0"/>
              <a:ea typeface="宋体" panose="02010600030101010101" pitchFamily="2" charset="-122"/>
            </a:endParaRPr>
          </a:p>
          <a:p>
            <a:r>
              <a:rPr lang="en-US" altLang="zh-CN" sz="2000" dirty="0">
                <a:latin typeface="Verdana" panose="020B0604030504040204" pitchFamily="34" charset="0"/>
                <a:ea typeface="宋体" panose="02010600030101010101" pitchFamily="2" charset="-122"/>
              </a:rPr>
              <a:t>Insert into student</a:t>
            </a:r>
            <a:endParaRPr lang="en-US" altLang="zh-CN" sz="2000" dirty="0">
              <a:latin typeface="Verdana" panose="020B0604030504040204" pitchFamily="34" charset="0"/>
              <a:ea typeface="宋体" panose="02010600030101010101" pitchFamily="2" charset="-122"/>
            </a:endParaRPr>
          </a:p>
          <a:p>
            <a:r>
              <a:rPr lang="en-US" altLang="zh-CN" sz="2000" dirty="0">
                <a:latin typeface="Verdana" panose="020B0604030504040204" pitchFamily="34" charset="0"/>
                <a:ea typeface="宋体" panose="02010600030101010101" pitchFamily="2" charset="-122"/>
              </a:rPr>
              <a:t>Values </a:t>
            </a:r>
            <a:r>
              <a:rPr lang="fr-FR" altLang="zh-CN"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a:t>
            </a:r>
            <a:r>
              <a:rPr lang="fr-FR" altLang="zh-CN" sz="2000" dirty="0">
                <a:latin typeface="Verdana" panose="020B0604030504040204" pitchFamily="34" charset="0"/>
                <a:ea typeface="宋体" panose="02010600030101010101" pitchFamily="2" charset="-122"/>
              </a:rPr>
              <a:t>001</a:t>
            </a:r>
            <a:r>
              <a:rPr lang="en-US" altLang="zh-CN" sz="2000" dirty="0">
                <a:latin typeface="Verdana" panose="020B0604030504040204" pitchFamily="34" charset="0"/>
                <a:ea typeface="宋体" panose="02010600030101010101" pitchFamily="2" charset="-122"/>
              </a:rPr>
              <a:t>', '</a:t>
            </a:r>
            <a:r>
              <a:rPr lang="zh-CN" altLang="en-US" sz="2000" dirty="0">
                <a:latin typeface="Verdana" panose="020B0604030504040204" pitchFamily="34" charset="0"/>
                <a:ea typeface="宋体" panose="02010600030101010101" pitchFamily="2" charset="-122"/>
              </a:rPr>
              <a:t>张三</a:t>
            </a:r>
            <a:r>
              <a:rPr lang="en-US" altLang="zh-CN" sz="2000" dirty="0">
                <a:latin typeface="Verdana" panose="020B0604030504040204" pitchFamily="34" charset="0"/>
                <a:ea typeface="宋体" panose="02010600030101010101" pitchFamily="2" charset="-122"/>
              </a:rPr>
              <a:t>'</a:t>
            </a:r>
            <a:r>
              <a:rPr lang="fr-FR" altLang="zh-CN"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NULL,</a:t>
            </a:r>
            <a:r>
              <a:rPr lang="fr-FR" altLang="zh-CN" sz="2000" dirty="0">
                <a:latin typeface="Verdana" panose="020B0604030504040204" pitchFamily="34" charset="0"/>
                <a:ea typeface="宋体" panose="02010600030101010101" pitchFamily="2" charset="-122"/>
              </a:rPr>
              <a:t>20,</a:t>
            </a:r>
            <a:r>
              <a:rPr lang="en-US" altLang="zh-CN" sz="2000" dirty="0">
                <a:latin typeface="Verdana" panose="020B0604030504040204" pitchFamily="34" charset="0"/>
                <a:ea typeface="宋体" panose="02010600030101010101" pitchFamily="2" charset="-122"/>
              </a:rPr>
              <a:t> '</a:t>
            </a:r>
            <a:r>
              <a:rPr lang="fr-FR" altLang="zh-CN" sz="2000" dirty="0">
                <a:latin typeface="Verdana" panose="020B0604030504040204" pitchFamily="34" charset="0"/>
                <a:ea typeface="宋体" panose="02010600030101010101" pitchFamily="2" charset="-122"/>
              </a:rPr>
              <a:t>IS</a:t>
            </a:r>
            <a:r>
              <a:rPr lang="en-US" altLang="zh-CN" sz="2000" dirty="0">
                <a:latin typeface="Verdana" panose="020B0604030504040204" pitchFamily="34" charset="0"/>
                <a:ea typeface="宋体" panose="02010600030101010101" pitchFamily="2" charset="-122"/>
              </a:rPr>
              <a:t>'</a:t>
            </a:r>
            <a:r>
              <a:rPr lang="fr-FR" altLang="zh-CN" sz="2000" dirty="0">
                <a:latin typeface="Verdana" panose="020B0604030504040204" pitchFamily="34" charset="0"/>
                <a:ea typeface="宋体" panose="02010600030101010101" pitchFamily="2" charset="-122"/>
              </a:rPr>
              <a:t>)</a:t>
            </a:r>
            <a:endParaRPr lang="fr-FR" altLang="zh-CN" sz="2000" dirty="0">
              <a:latin typeface="Verdana" panose="020B0604030504040204" pitchFamily="34" charset="0"/>
              <a:ea typeface="宋体" panose="02010600030101010101" pitchFamily="2" charset="-122"/>
            </a:endParaRPr>
          </a:p>
        </p:txBody>
      </p:sp>
      <p:sp>
        <p:nvSpPr>
          <p:cNvPr id="6" name="TextBox 5"/>
          <p:cNvSpPr txBox="1"/>
          <p:nvPr/>
        </p:nvSpPr>
        <p:spPr>
          <a:xfrm>
            <a:off x="477838" y="4089400"/>
            <a:ext cx="6624637" cy="1016000"/>
          </a:xfrm>
          <a:prstGeom prst="rect">
            <a:avLst/>
          </a:prstGeom>
          <a:noFill/>
          <a:ln w="9525">
            <a:noFill/>
          </a:ln>
        </p:spPr>
        <p:txBody>
          <a:bodyPr anchor="t" anchorCtr="0">
            <a:spAutoFit/>
          </a:bodyPr>
          <a:p>
            <a:pPr eaLnBrk="0" hangingPunct="0"/>
            <a:r>
              <a:rPr lang="en-US" altLang="zh-CN" sz="2000" dirty="0">
                <a:latin typeface="Verdana" panose="020B0604030504040204" pitchFamily="34" charset="0"/>
                <a:ea typeface="宋体" panose="02010600030101010101" pitchFamily="2" charset="-122"/>
              </a:rPr>
              <a:t>1. insert into is_student</a:t>
            </a:r>
            <a:endParaRPr lang="en-US" altLang="zh-CN" sz="2000" dirty="0">
              <a:latin typeface="Verdana" panose="020B0604030504040204" pitchFamily="34" charset="0"/>
              <a:ea typeface="宋体" panose="02010600030101010101" pitchFamily="2" charset="-122"/>
            </a:endParaRPr>
          </a:p>
          <a:p>
            <a:pPr eaLnBrk="0" hangingPunct="0"/>
            <a:r>
              <a:rPr lang="en-US" altLang="zh-CN" sz="2000" dirty="0">
                <a:latin typeface="Verdana" panose="020B0604030504040204" pitchFamily="34" charset="0"/>
                <a:ea typeface="宋体" panose="02010600030101010101" pitchFamily="2" charset="-122"/>
              </a:rPr>
              <a:t>values('001', '</a:t>
            </a:r>
            <a:r>
              <a:rPr lang="zh-CN" altLang="en-US" sz="2000" dirty="0">
                <a:latin typeface="Verdana" panose="020B0604030504040204" pitchFamily="34" charset="0"/>
                <a:ea typeface="宋体" panose="02010600030101010101" pitchFamily="2" charset="-122"/>
              </a:rPr>
              <a:t>张三</a:t>
            </a:r>
            <a:r>
              <a:rPr lang="en-US" altLang="zh-CN" sz="2000" dirty="0">
                <a:latin typeface="Verdana" panose="020B0604030504040204" pitchFamily="34" charset="0"/>
                <a:ea typeface="宋体" panose="02010600030101010101" pitchFamily="2" charset="-122"/>
              </a:rPr>
              <a:t>',20,'IS')</a:t>
            </a:r>
            <a:endParaRPr lang="en-US" altLang="zh-CN" sz="2000" dirty="0">
              <a:latin typeface="Verdana" panose="020B0604030504040204" pitchFamily="34" charset="0"/>
              <a:ea typeface="宋体" panose="02010600030101010101" pitchFamily="2" charset="-122"/>
            </a:endParaRPr>
          </a:p>
          <a:p>
            <a:pPr eaLnBrk="0" hangingPunct="0"/>
            <a:r>
              <a:rPr lang="en-US" altLang="zh-CN" sz="2000" dirty="0">
                <a:latin typeface="Verdana" panose="020B0604030504040204" pitchFamily="34" charset="0"/>
                <a:ea typeface="宋体" panose="02010600030101010101" pitchFamily="2" charset="-122"/>
              </a:rPr>
              <a:t>- -</a:t>
            </a:r>
            <a:r>
              <a:rPr lang="zh-CN" altLang="en-US" sz="2000" dirty="0">
                <a:latin typeface="Verdana" panose="020B0604030504040204" pitchFamily="34" charset="0"/>
                <a:ea typeface="宋体" panose="02010600030101010101" pitchFamily="2" charset="-122"/>
              </a:rPr>
              <a:t>在视图中可以看到，实际是在表</a:t>
            </a:r>
            <a:r>
              <a:rPr lang="en-US" altLang="zh-CN" sz="2000" dirty="0">
                <a:latin typeface="Verdana" panose="020B0604030504040204" pitchFamily="34" charset="0"/>
                <a:ea typeface="宋体" panose="02010600030101010101" pitchFamily="2" charset="-122"/>
              </a:rPr>
              <a:t>student</a:t>
            </a:r>
            <a:r>
              <a:rPr lang="zh-CN" altLang="en-US" sz="2000" dirty="0">
                <a:latin typeface="Verdana" panose="020B0604030504040204" pitchFamily="34" charset="0"/>
                <a:ea typeface="宋体" panose="02010600030101010101" pitchFamily="2" charset="-122"/>
              </a:rPr>
              <a:t>中插入</a:t>
            </a:r>
            <a:endParaRPr lang="fr-FR" altLang="zh-CN" sz="20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82946"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endParaRPr lang="zh-CN" altLang="en-US" sz="3600" dirty="0"/>
          </a:p>
        </p:txBody>
      </p:sp>
      <p:sp>
        <p:nvSpPr>
          <p:cNvPr id="2" name="TextBox 1"/>
          <p:cNvSpPr txBox="1"/>
          <p:nvPr/>
        </p:nvSpPr>
        <p:spPr>
          <a:xfrm>
            <a:off x="428625" y="1268413"/>
            <a:ext cx="7920038" cy="4598987"/>
          </a:xfrm>
          <a:prstGeom prst="rect">
            <a:avLst/>
          </a:prstGeom>
          <a:noFill/>
          <a:ln w="9525">
            <a:noFill/>
          </a:ln>
        </p:spPr>
        <p:txBody>
          <a:bodyPr anchor="t" anchorCtr="0">
            <a:spAutoFit/>
          </a:bodyPr>
          <a:p>
            <a:pPr eaLnBrk="0" hangingPunct="0"/>
            <a:r>
              <a:rPr lang="en-US" altLang="zh-CN" sz="2400" dirty="0">
                <a:latin typeface="Verdana" panose="020B0604030504040204" pitchFamily="34" charset="0"/>
                <a:ea typeface="宋体" panose="02010600030101010101" pitchFamily="2" charset="-122"/>
              </a:rPr>
              <a:t>2.insert into is_student (sno,sname)</a:t>
            </a:r>
            <a:endParaRPr lang="en-US" altLang="zh-CN" sz="2400" dirty="0">
              <a:latin typeface="Verdana" panose="020B0604030504040204" pitchFamily="34" charset="0"/>
              <a:ea typeface="宋体" panose="02010600030101010101" pitchFamily="2" charset="-122"/>
            </a:endParaRPr>
          </a:p>
          <a:p>
            <a:pPr eaLnBrk="0" hangingPunct="0"/>
            <a:r>
              <a:rPr lang="en-US" altLang="zh-CN" sz="2400" dirty="0">
                <a:latin typeface="Verdana" panose="020B0604030504040204" pitchFamily="34" charset="0"/>
                <a:ea typeface="宋体" panose="02010600030101010101" pitchFamily="2" charset="-122"/>
              </a:rPr>
              <a:t>values('002', '</a:t>
            </a:r>
            <a:r>
              <a:rPr lang="zh-CN" altLang="en-US" sz="2400" dirty="0">
                <a:latin typeface="Verdana" panose="020B0604030504040204" pitchFamily="34" charset="0"/>
                <a:ea typeface="宋体" panose="02010600030101010101" pitchFamily="2" charset="-122"/>
              </a:rPr>
              <a:t>李四</a:t>
            </a:r>
            <a:r>
              <a:rPr lang="en-US" altLang="zh-CN" sz="2400" dirty="0">
                <a:latin typeface="Verdana" panose="020B0604030504040204" pitchFamily="34" charset="0"/>
                <a:ea typeface="宋体" panose="02010600030101010101" pitchFamily="2" charset="-122"/>
              </a:rPr>
              <a:t>') </a:t>
            </a:r>
            <a:endParaRPr lang="en-US" altLang="zh-CN" sz="2400" dirty="0">
              <a:latin typeface="Verdana" panose="020B0604030504040204" pitchFamily="34" charset="0"/>
              <a:ea typeface="宋体" panose="02010600030101010101" pitchFamily="2" charset="-122"/>
            </a:endParaRPr>
          </a:p>
          <a:p>
            <a:pPr eaLnBrk="0" hangingPunct="0"/>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只在表</a:t>
            </a:r>
            <a:r>
              <a:rPr lang="en-US" altLang="zh-CN" sz="2400" dirty="0">
                <a:latin typeface="Verdana" panose="020B0604030504040204" pitchFamily="34" charset="0"/>
                <a:ea typeface="宋体" panose="02010600030101010101" pitchFamily="2" charset="-122"/>
              </a:rPr>
              <a:t>student</a:t>
            </a:r>
            <a:r>
              <a:rPr lang="zh-CN" altLang="en-US" sz="2400" dirty="0">
                <a:latin typeface="Verdana" panose="020B0604030504040204" pitchFamily="34" charset="0"/>
                <a:ea typeface="宋体" panose="02010600030101010101" pitchFamily="2" charset="-122"/>
              </a:rPr>
              <a:t>中插入，视图中没有，因为视图中只显示</a:t>
            </a:r>
            <a:r>
              <a:rPr lang="en-US" altLang="zh-CN" sz="2400" dirty="0">
                <a:latin typeface="Verdana" panose="020B0604030504040204" pitchFamily="34" charset="0"/>
                <a:ea typeface="宋体" panose="02010600030101010101" pitchFamily="2" charset="-122"/>
              </a:rPr>
              <a:t>IS</a:t>
            </a:r>
            <a:r>
              <a:rPr lang="zh-CN" altLang="en-US" sz="2400" dirty="0">
                <a:latin typeface="Verdana" panose="020B0604030504040204" pitchFamily="34" charset="0"/>
                <a:ea typeface="宋体" panose="02010600030101010101" pitchFamily="2" charset="-122"/>
              </a:rPr>
              <a:t>系的，而这个没有指明系的默认为</a:t>
            </a:r>
            <a:r>
              <a:rPr lang="en-US" altLang="zh-CN" sz="2400" dirty="0">
                <a:latin typeface="Verdana" panose="020B0604030504040204" pitchFamily="34" charset="0"/>
                <a:ea typeface="宋体" panose="02010600030101010101" pitchFamily="2" charset="-122"/>
              </a:rPr>
              <a:t>NULL</a:t>
            </a:r>
            <a:endParaRPr lang="en-US" altLang="zh-CN" sz="2400" dirty="0">
              <a:latin typeface="Verdana" panose="020B0604030504040204" pitchFamily="34" charset="0"/>
              <a:ea typeface="宋体" panose="02010600030101010101" pitchFamily="2" charset="-122"/>
            </a:endParaRPr>
          </a:p>
          <a:p>
            <a:pPr eaLnBrk="0" hangingPunct="0"/>
            <a:endParaRPr lang="fr-FR" altLang="zh-CN" sz="2400" dirty="0">
              <a:latin typeface="Verdana" panose="020B0604030504040204" pitchFamily="34" charset="0"/>
              <a:ea typeface="宋体" panose="02010600030101010101" pitchFamily="2" charset="-122"/>
            </a:endParaRPr>
          </a:p>
          <a:p>
            <a:pPr eaLnBrk="0" hangingPunct="0"/>
            <a:r>
              <a:rPr lang="en-US" altLang="zh-CN" sz="2400" dirty="0">
                <a:latin typeface="Verdana" panose="020B0604030504040204" pitchFamily="34" charset="0"/>
                <a:ea typeface="宋体" panose="02010600030101010101" pitchFamily="2" charset="-122"/>
              </a:rPr>
              <a:t>3.insert into is_student</a:t>
            </a:r>
            <a:endParaRPr lang="en-US" altLang="zh-CN" sz="2400" dirty="0">
              <a:latin typeface="Verdana" panose="020B0604030504040204" pitchFamily="34" charset="0"/>
              <a:ea typeface="宋体" panose="02010600030101010101" pitchFamily="2" charset="-122"/>
            </a:endParaRPr>
          </a:p>
          <a:p>
            <a:pPr eaLnBrk="0" hangingPunct="0"/>
            <a:r>
              <a:rPr lang="en-US" altLang="zh-CN" sz="2400" dirty="0">
                <a:latin typeface="Verdana" panose="020B0604030504040204" pitchFamily="34" charset="0"/>
                <a:ea typeface="宋体" panose="02010600030101010101" pitchFamily="2" charset="-122"/>
              </a:rPr>
              <a:t>values('003', '</a:t>
            </a:r>
            <a:r>
              <a:rPr lang="zh-CN" altLang="en-US" sz="2400" dirty="0">
                <a:latin typeface="Verdana" panose="020B0604030504040204" pitchFamily="34" charset="0"/>
                <a:ea typeface="宋体" panose="02010600030101010101" pitchFamily="2" charset="-122"/>
              </a:rPr>
              <a:t>王五</a:t>
            </a:r>
            <a:r>
              <a:rPr lang="en-US" altLang="zh-CN" sz="2400" dirty="0">
                <a:latin typeface="Verdana" panose="020B0604030504040204" pitchFamily="34" charset="0"/>
                <a:ea typeface="宋体" panose="02010600030101010101" pitchFamily="2" charset="-122"/>
              </a:rPr>
              <a:t>',19,'CS') </a:t>
            </a:r>
            <a:r>
              <a:rPr lang="fr-FR" altLang="zh-CN" sz="2400" dirty="0">
                <a:latin typeface="Verdana" panose="020B0604030504040204" pitchFamily="34" charset="0"/>
                <a:ea typeface="宋体" panose="02010600030101010101" pitchFamily="2" charset="-122"/>
              </a:rPr>
              <a:t>   </a:t>
            </a:r>
            <a:endParaRPr lang="fr-FR"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只在表</a:t>
            </a:r>
            <a:r>
              <a:rPr lang="en-US" altLang="zh-CN" sz="2400" dirty="0">
                <a:latin typeface="Verdana" panose="020B0604030504040204" pitchFamily="34" charset="0"/>
                <a:ea typeface="宋体" panose="02010600030101010101" pitchFamily="2" charset="-122"/>
              </a:rPr>
              <a:t>student</a:t>
            </a:r>
            <a:r>
              <a:rPr lang="zh-CN" altLang="en-US" sz="2400" dirty="0">
                <a:latin typeface="Verdana" panose="020B0604030504040204" pitchFamily="34" charset="0"/>
                <a:ea typeface="宋体" panose="02010600030101010101" pitchFamily="2" charset="-122"/>
              </a:rPr>
              <a:t>中插入了，视图中看不到，因为视图中只能看到</a:t>
            </a:r>
            <a:r>
              <a:rPr lang="en-US" altLang="zh-CN" sz="2400" dirty="0">
                <a:latin typeface="Verdana" panose="020B0604030504040204" pitchFamily="34" charset="0"/>
                <a:ea typeface="宋体" panose="02010600030101010101" pitchFamily="2" charset="-122"/>
              </a:rPr>
              <a:t>IS</a:t>
            </a:r>
            <a:r>
              <a:rPr lang="zh-CN" altLang="en-US" sz="2400" dirty="0">
                <a:latin typeface="Verdana" panose="020B0604030504040204" pitchFamily="34" charset="0"/>
                <a:ea typeface="宋体" panose="02010600030101010101" pitchFamily="2" charset="-122"/>
              </a:rPr>
              <a:t>系的。</a:t>
            </a:r>
            <a:endParaRPr lang="en-US" altLang="zh-CN" sz="2400" dirty="0">
              <a:latin typeface="Verdana" panose="020B0604030504040204" pitchFamily="34" charset="0"/>
              <a:ea typeface="宋体" panose="02010600030101010101" pitchFamily="2" charset="-122"/>
            </a:endParaRPr>
          </a:p>
          <a:p>
            <a:endParaRPr lang="en-US" altLang="zh-CN" sz="2400" dirty="0">
              <a:latin typeface="Verdana" panose="020B0604030504040204" pitchFamily="34" charset="0"/>
              <a:ea typeface="宋体" panose="02010600030101010101" pitchFamily="2" charset="-122"/>
            </a:endParaRPr>
          </a:p>
          <a:p>
            <a:pPr>
              <a:buFont typeface="Wingdings" panose="05000000000000000000" pitchFamily="2" charset="2"/>
            </a:pPr>
            <a:r>
              <a:rPr lang="zh-CN" altLang="en-US" sz="2400" dirty="0">
                <a:latin typeface="Verdana" panose="020B0604030504040204" pitchFamily="34" charset="0"/>
                <a:ea typeface="宋体" panose="02010600030101010101" pitchFamily="2" charset="-122"/>
              </a:rPr>
              <a:t>如何解决上述问题？</a:t>
            </a:r>
            <a:r>
              <a:rPr lang="en-US" altLang="zh-CN" sz="2400" dirty="0">
                <a:solidFill>
                  <a:srgbClr val="FF0000"/>
                </a:solidFill>
                <a:latin typeface="Verdana" panose="020B0604030504040204" pitchFamily="34" charset="0"/>
                <a:ea typeface="宋体" panose="02010600030101010101" pitchFamily="2" charset="-122"/>
              </a:rPr>
              <a:t>WITH CHECK OPTION</a:t>
            </a:r>
            <a:endParaRPr lang="en-US" altLang="zh-CN" sz="2400" dirty="0">
              <a:solidFill>
                <a:srgbClr val="FF0000"/>
              </a:solidFill>
              <a:latin typeface="Verdana" panose="020B0604030504040204" pitchFamily="34" charset="0"/>
              <a:ea typeface="宋体" panose="02010600030101010101" pitchFamily="2" charset="-122"/>
            </a:endParaRPr>
          </a:p>
          <a:p>
            <a:endParaRPr lang="zh-CN" altLang="en-US" sz="24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charRg st="0" end="3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charRg st="37" end="5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charRg st="58" end="1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charRg st="112" end="13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charRg st="137" end="16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charRg st="169" end="20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charRg st="210" end="23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84994"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endParaRPr lang="zh-CN" altLang="en-US" sz="3600" dirty="0"/>
          </a:p>
        </p:txBody>
      </p:sp>
      <p:sp>
        <p:nvSpPr>
          <p:cNvPr id="6" name="Rectangle 4"/>
          <p:cNvSpPr>
            <a:spLocks noChangeArrowheads="1"/>
          </p:cNvSpPr>
          <p:nvPr/>
        </p:nvSpPr>
        <p:spPr bwMode="auto">
          <a:xfrm>
            <a:off x="571500" y="1196975"/>
            <a:ext cx="7772400" cy="2808288"/>
          </a:xfrm>
          <a:prstGeom prst="rect">
            <a:avLst/>
          </a:prstGeom>
          <a:noFill/>
          <a:ln>
            <a:noFill/>
          </a:ln>
        </p:spPr>
        <p:txBody>
          <a:bodyPr/>
          <a:lstStyle/>
          <a:p>
            <a:pPr marL="342900" marR="0" lvl="0" indent="-342900" algn="l" defTabSz="914400" rtl="0" eaLnBrk="1" fontAlgn="base" latinLnBrk="0" hangingPunct="1">
              <a:lnSpc>
                <a:spcPct val="120000"/>
              </a:lnSpc>
              <a:spcBef>
                <a:spcPct val="20000"/>
              </a:spcBef>
              <a:spcAft>
                <a:spcPct val="0"/>
              </a:spcAft>
              <a:buClr>
                <a:srgbClr val="7DA0D3"/>
              </a:buClr>
              <a:buSzTx/>
              <a:buFont typeface="Wingdings" panose="05000000000000000000" pitchFamily="2" charset="2"/>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例</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2]</a:t>
            </a:r>
            <a:r>
              <a:rPr kumimoji="0" lang="zh-CN" altLang="en-US" sz="20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建立信息系学生的视图，并要求进行修改和插入操作时仍需保证该视图只有信息系的学生 </a:t>
            </a:r>
            <a:r>
              <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latin typeface="Verdana" panose="020B0604030504040204" pitchFamily="34" charset="0"/>
                <a:ea typeface="宋体" panose="02010600030101010101" pitchFamily="2" charset="-122"/>
                <a:cs typeface="+mn-cs"/>
              </a:rPr>
              <a:t>        </a:t>
            </a: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CREATE VIEW IS_Student1</a:t>
            </a:r>
            <a:endPar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AS </a:t>
            </a:r>
            <a:endPar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SELECT </a:t>
            </a:r>
            <a:r>
              <a:rPr kumimoji="0" lang="en-US" altLang="zh-CN" sz="20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Sno,Sname,Sage,sdept</a:t>
            </a:r>
            <a:endPar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FROM  Student</a:t>
            </a:r>
            <a:endPar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WHERE  </a:t>
            </a:r>
            <a:r>
              <a:rPr kumimoji="0" lang="en-US" altLang="zh-CN" sz="2000" b="0" i="0" u="none" strike="noStrike" kern="1200" cap="none" spc="0" normalizeH="0" baseline="0" noProof="0" dirty="0" err="1">
                <a:ln>
                  <a:noFill/>
                </a:ln>
                <a:solidFill>
                  <a:schemeClr val="tx1"/>
                </a:solidFill>
                <a:effectLst/>
                <a:uLnTx/>
                <a:uFillTx/>
                <a:latin typeface="Verdana" panose="020B0604030504040204" pitchFamily="34" charset="0"/>
                <a:ea typeface="宋体" panose="02010600030101010101" pitchFamily="2" charset="-122"/>
                <a:cs typeface="+mn-cs"/>
              </a:rPr>
              <a:t>Sdept</a:t>
            </a: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'IS'</a:t>
            </a:r>
            <a:endPar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WITH CHECK OPTION</a:t>
            </a:r>
            <a:endParaRPr kumimoji="0" lang="en-US" altLang="zh-CN" sz="2000" b="0"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245" name="TextBox 4"/>
          <p:cNvSpPr txBox="1"/>
          <p:nvPr/>
        </p:nvSpPr>
        <p:spPr>
          <a:xfrm>
            <a:off x="900113" y="3860800"/>
            <a:ext cx="6840537" cy="2308225"/>
          </a:xfrm>
          <a:prstGeom prst="rect">
            <a:avLst/>
          </a:prstGeom>
          <a:noFill/>
          <a:ln w="9525" cap="flat" cmpd="sng">
            <a:solidFill>
              <a:srgbClr val="0000FF"/>
            </a:solidFill>
            <a:prstDash val="solid"/>
            <a:miter/>
            <a:headEnd type="none" w="med" len="med"/>
            <a:tailEnd type="none" w="med" len="med"/>
          </a:ln>
        </p:spPr>
        <p:txBody>
          <a:bodyPr anchor="t" anchorCtr="0">
            <a:spAutoFit/>
          </a:bodyPr>
          <a:p>
            <a:pPr eaLnBrk="0" hangingPunct="0"/>
            <a:r>
              <a:rPr lang="en-US" altLang="zh-CN" dirty="0">
                <a:latin typeface="Verdana" panose="020B0604030504040204" pitchFamily="34" charset="0"/>
                <a:ea typeface="宋体" panose="02010600030101010101" pitchFamily="2" charset="-122"/>
              </a:rPr>
              <a:t>1. insert into is_student</a:t>
            </a:r>
            <a:endParaRPr lang="en-US" altLang="zh-CN" dirty="0">
              <a:latin typeface="Verdana" panose="020B0604030504040204" pitchFamily="34" charset="0"/>
              <a:ea typeface="宋体" panose="02010600030101010101" pitchFamily="2" charset="-122"/>
            </a:endParaRPr>
          </a:p>
          <a:p>
            <a:pPr eaLnBrk="0" hangingPunct="0"/>
            <a:r>
              <a:rPr lang="en-US" altLang="zh-CN" dirty="0">
                <a:latin typeface="Verdana" panose="020B0604030504040204" pitchFamily="34" charset="0"/>
                <a:ea typeface="宋体" panose="02010600030101010101" pitchFamily="2" charset="-122"/>
              </a:rPr>
              <a:t>values('001', '</a:t>
            </a:r>
            <a:r>
              <a:rPr lang="zh-CN" altLang="en-US" dirty="0">
                <a:latin typeface="Verdana" panose="020B0604030504040204" pitchFamily="34" charset="0"/>
                <a:ea typeface="宋体" panose="02010600030101010101" pitchFamily="2" charset="-122"/>
              </a:rPr>
              <a:t>张三</a:t>
            </a:r>
            <a:r>
              <a:rPr lang="en-US" altLang="zh-CN" dirty="0">
                <a:latin typeface="Verdana" panose="020B0604030504040204" pitchFamily="34" charset="0"/>
                <a:ea typeface="宋体" panose="02010600030101010101" pitchFamily="2" charset="-122"/>
              </a:rPr>
              <a:t>',20,'IS')</a:t>
            </a:r>
            <a:endParaRPr lang="en-US" altLang="zh-CN" dirty="0">
              <a:latin typeface="Verdana" panose="020B0604030504040204" pitchFamily="34" charset="0"/>
              <a:ea typeface="宋体" panose="02010600030101010101" pitchFamily="2" charset="-122"/>
            </a:endParaRPr>
          </a:p>
          <a:p>
            <a:r>
              <a:rPr lang="en-US" altLang="zh-CN" dirty="0">
                <a:latin typeface="Verdana" panose="020B0604030504040204" pitchFamily="34" charset="0"/>
                <a:ea typeface="宋体" panose="02010600030101010101" pitchFamily="2" charset="-122"/>
              </a:rPr>
              <a:t> --</a:t>
            </a:r>
            <a:r>
              <a:rPr lang="zh-CN" altLang="en-US" dirty="0">
                <a:latin typeface="Verdana" panose="020B0604030504040204" pitchFamily="34" charset="0"/>
                <a:ea typeface="宋体" panose="02010600030101010101" pitchFamily="2" charset="-122"/>
              </a:rPr>
              <a:t>不仅在视图中可以看到，而且在表中也插入</a:t>
            </a:r>
            <a:endParaRPr lang="fr-FR" altLang="zh-CN" dirty="0">
              <a:latin typeface="Verdana" panose="020B0604030504040204" pitchFamily="34" charset="0"/>
              <a:ea typeface="宋体" panose="02010600030101010101" pitchFamily="2" charset="-122"/>
            </a:endParaRPr>
          </a:p>
          <a:p>
            <a:pPr eaLnBrk="0" hangingPunct="0"/>
            <a:r>
              <a:rPr lang="en-US" altLang="zh-CN" dirty="0">
                <a:latin typeface="Verdana" panose="020B0604030504040204" pitchFamily="34" charset="0"/>
                <a:ea typeface="宋体" panose="02010600030101010101" pitchFamily="2" charset="-122"/>
              </a:rPr>
              <a:t>2.insert into is_student (sno,sname)</a:t>
            </a:r>
            <a:endParaRPr lang="en-US" altLang="zh-CN" dirty="0">
              <a:latin typeface="Verdana" panose="020B0604030504040204" pitchFamily="34" charset="0"/>
              <a:ea typeface="宋体" panose="02010600030101010101" pitchFamily="2" charset="-122"/>
            </a:endParaRPr>
          </a:p>
          <a:p>
            <a:pPr eaLnBrk="0" hangingPunct="0"/>
            <a:r>
              <a:rPr lang="en-US" altLang="zh-CN" dirty="0">
                <a:latin typeface="Verdana" panose="020B0604030504040204" pitchFamily="34" charset="0"/>
                <a:ea typeface="宋体" panose="02010600030101010101" pitchFamily="2" charset="-122"/>
              </a:rPr>
              <a:t>values('002', '</a:t>
            </a:r>
            <a:r>
              <a:rPr lang="zh-CN" altLang="en-US" dirty="0">
                <a:latin typeface="Verdana" panose="020B0604030504040204" pitchFamily="34" charset="0"/>
                <a:ea typeface="宋体" panose="02010600030101010101" pitchFamily="2" charset="-122"/>
              </a:rPr>
              <a:t>李四</a:t>
            </a:r>
            <a:r>
              <a:rPr lang="en-US" altLang="zh-CN" dirty="0">
                <a:latin typeface="Verdana" panose="020B0604030504040204" pitchFamily="34" charset="0"/>
                <a:ea typeface="宋体" panose="02010600030101010101" pitchFamily="2" charset="-122"/>
              </a:rPr>
              <a:t>') </a:t>
            </a:r>
            <a:endParaRPr lang="fr-FR" altLang="zh-CN" dirty="0">
              <a:latin typeface="Verdana" panose="020B0604030504040204" pitchFamily="34" charset="0"/>
              <a:ea typeface="宋体" panose="02010600030101010101" pitchFamily="2" charset="-122"/>
            </a:endParaRPr>
          </a:p>
          <a:p>
            <a:pPr eaLnBrk="0" hangingPunct="0"/>
            <a:r>
              <a:rPr lang="en-US" altLang="zh-CN" dirty="0">
                <a:latin typeface="Verdana" panose="020B0604030504040204" pitchFamily="34" charset="0"/>
                <a:ea typeface="宋体" panose="02010600030101010101" pitchFamily="2" charset="-122"/>
              </a:rPr>
              <a:t>3.insert into is_student</a:t>
            </a:r>
            <a:endParaRPr lang="en-US" altLang="zh-CN" dirty="0">
              <a:latin typeface="Verdana" panose="020B0604030504040204" pitchFamily="34" charset="0"/>
              <a:ea typeface="宋体" panose="02010600030101010101" pitchFamily="2" charset="-122"/>
            </a:endParaRPr>
          </a:p>
          <a:p>
            <a:pPr eaLnBrk="0" hangingPunct="0"/>
            <a:r>
              <a:rPr lang="en-US" altLang="zh-CN" dirty="0">
                <a:latin typeface="Verdana" panose="020B0604030504040204" pitchFamily="34" charset="0"/>
                <a:ea typeface="宋体" panose="02010600030101010101" pitchFamily="2" charset="-122"/>
              </a:rPr>
              <a:t>values('003', '</a:t>
            </a:r>
            <a:r>
              <a:rPr lang="zh-CN" altLang="en-US" dirty="0">
                <a:latin typeface="Verdana" panose="020B0604030504040204" pitchFamily="34" charset="0"/>
                <a:ea typeface="宋体" panose="02010600030101010101" pitchFamily="2" charset="-122"/>
              </a:rPr>
              <a:t>王五</a:t>
            </a:r>
            <a:r>
              <a:rPr lang="en-US" altLang="zh-CN" dirty="0">
                <a:latin typeface="Verdana" panose="020B0604030504040204" pitchFamily="34" charset="0"/>
                <a:ea typeface="宋体" panose="02010600030101010101" pitchFamily="2" charset="-122"/>
              </a:rPr>
              <a:t>',19,'CS') </a:t>
            </a:r>
            <a:r>
              <a:rPr lang="fr-FR" altLang="zh-CN" dirty="0">
                <a:latin typeface="Verdana" panose="020B0604030504040204" pitchFamily="34" charset="0"/>
                <a:ea typeface="宋体" panose="02010600030101010101" pitchFamily="2" charset="-122"/>
              </a:rPr>
              <a:t>   </a:t>
            </a:r>
            <a:endParaRPr lang="fr-FR" altLang="zh-CN" dirty="0">
              <a:latin typeface="Verdana" panose="020B0604030504040204" pitchFamily="34" charset="0"/>
              <a:ea typeface="宋体" panose="02010600030101010101" pitchFamily="2" charset="-122"/>
            </a:endParaRPr>
          </a:p>
          <a:p>
            <a:r>
              <a:rPr lang="en-US" altLang="zh-CN" dirty="0">
                <a:latin typeface="Verdana" panose="020B0604030504040204" pitchFamily="34" charset="0"/>
                <a:ea typeface="宋体" panose="02010600030101010101" pitchFamily="2" charset="-122"/>
              </a:rPr>
              <a:t> --2,3</a:t>
            </a:r>
            <a:r>
              <a:rPr lang="zh-CN" altLang="en-US" dirty="0">
                <a:latin typeface="Verdana" panose="020B0604030504040204" pitchFamily="34" charset="0"/>
                <a:ea typeface="宋体" panose="02010600030101010101" pitchFamily="2" charset="-122"/>
              </a:rPr>
              <a:t>会出错</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245"/>
                                        </p:tgtEl>
                                        <p:attrNameLst>
                                          <p:attrName>style.visibility</p:attrName>
                                        </p:attrNameLst>
                                      </p:cBhvr>
                                      <p:to>
                                        <p:strVal val="visible"/>
                                      </p:to>
                                    </p:set>
                                    <p:animEffect transition="in" filter="blinds(horizontal)">
                                      <p:cBhvr>
                                        <p:cTn id="11"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24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86018"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endParaRPr lang="zh-CN" altLang="en-US" sz="3200" dirty="0"/>
          </a:p>
        </p:txBody>
      </p:sp>
      <p:sp>
        <p:nvSpPr>
          <p:cNvPr id="86019" name="Rectangle 3"/>
          <p:cNvSpPr>
            <a:spLocks noGrp="1"/>
          </p:cNvSpPr>
          <p:nvPr>
            <p:ph idx="1"/>
          </p:nvPr>
        </p:nvSpPr>
        <p:spPr>
          <a:xfrm>
            <a:off x="71438" y="1214438"/>
            <a:ext cx="9001125" cy="5143500"/>
          </a:xfrm>
          <a:ln/>
        </p:spPr>
        <p:txBody>
          <a:bodyPr vert="horz" wrap="square" lIns="91440" tIns="45720" rIns="91440" bIns="45720" anchor="t" anchorCtr="0"/>
          <a:p>
            <a:pPr eaLnBrk="1" hangingPunct="1">
              <a:lnSpc>
                <a:spcPct val="140000"/>
              </a:lnSpc>
            </a:pPr>
            <a:r>
              <a:rPr lang="zh-CN" altLang="en-US" sz="2400" dirty="0"/>
              <a:t>在</a:t>
            </a:r>
            <a:r>
              <a:rPr lang="en-US" altLang="zh-CN" sz="2400" dirty="0"/>
              <a:t>MySQL</a:t>
            </a:r>
            <a:r>
              <a:rPr lang="zh-CN" altLang="en-US" sz="2400" dirty="0"/>
              <a:t>中，</a:t>
            </a:r>
            <a:r>
              <a:rPr lang="en-US" altLang="zh-CN" sz="2400" dirty="0"/>
              <a:t>IS_Student</a:t>
            </a:r>
            <a:r>
              <a:rPr lang="zh-CN" altLang="en-US" sz="2400" dirty="0"/>
              <a:t>视图带</a:t>
            </a:r>
            <a:r>
              <a:rPr lang="en-US" altLang="zh-CN" sz="2400" dirty="0"/>
              <a:t>WITH CHECK OPTION</a:t>
            </a:r>
            <a:endParaRPr lang="zh-CN" altLang="en-US" sz="2400" dirty="0"/>
          </a:p>
          <a:p>
            <a:pPr lvl="1" indent="-436245" eaLnBrk="1" hangingPunct="1">
              <a:lnSpc>
                <a:spcPct val="140000"/>
              </a:lnSpc>
            </a:pPr>
            <a:r>
              <a:rPr lang="zh-CN" altLang="en-US" sz="2400" dirty="0">
                <a:solidFill>
                  <a:srgbClr val="FF0000"/>
                </a:solidFill>
              </a:rPr>
              <a:t>插入操作</a:t>
            </a:r>
            <a:r>
              <a:rPr lang="zh-CN" altLang="en-US" sz="2400" dirty="0"/>
              <a:t>：自动检查</a:t>
            </a:r>
            <a:r>
              <a:rPr lang="en-US" altLang="zh-CN" sz="2400" dirty="0"/>
              <a:t>Sdept</a:t>
            </a:r>
            <a:r>
              <a:rPr lang="zh-CN" altLang="en-US" sz="2400" dirty="0"/>
              <a:t>属性值是否为</a:t>
            </a:r>
            <a:r>
              <a:rPr lang="en-US" altLang="zh-CN" sz="2400" dirty="0"/>
              <a:t>'IS' </a:t>
            </a:r>
            <a:endParaRPr lang="en-US" altLang="zh-CN" sz="2400" dirty="0"/>
          </a:p>
          <a:p>
            <a:pPr lvl="2" indent="-394970" eaLnBrk="1" hangingPunct="1">
              <a:lnSpc>
                <a:spcPct val="140000"/>
              </a:lnSpc>
            </a:pPr>
            <a:r>
              <a:rPr lang="zh-CN" altLang="en-US" sz="2400" dirty="0"/>
              <a:t>如果是，可以插入；如果不是，则拒绝该插入操作</a:t>
            </a:r>
            <a:endParaRPr lang="en-US" altLang="zh-CN" sz="2400" dirty="0"/>
          </a:p>
          <a:p>
            <a:pPr lvl="2" indent="-394970" eaLnBrk="1" hangingPunct="1">
              <a:lnSpc>
                <a:spcPct val="140000"/>
              </a:lnSpc>
            </a:pPr>
            <a:r>
              <a:rPr lang="zh-CN" altLang="en-US" sz="2400" dirty="0"/>
              <a:t>如果没有提供</a:t>
            </a:r>
            <a:r>
              <a:rPr lang="en-US" altLang="zh-CN" sz="2400" dirty="0"/>
              <a:t>Sdept</a:t>
            </a:r>
            <a:r>
              <a:rPr lang="zh-CN" altLang="en-US" sz="2400" dirty="0"/>
              <a:t>属性值，因为没有提供的话会自动默认为</a:t>
            </a:r>
            <a:r>
              <a:rPr lang="en-US" altLang="zh-CN" sz="2400" dirty="0"/>
              <a:t>NULL</a:t>
            </a:r>
            <a:r>
              <a:rPr lang="zh-CN" altLang="en-US" sz="2400" dirty="0"/>
              <a:t>，所以也拒绝</a:t>
            </a:r>
            <a:endParaRPr lang="en-US" altLang="zh-CN" sz="2400" dirty="0"/>
          </a:p>
          <a:p>
            <a:pPr lvl="2" indent="-394970" eaLnBrk="1" hangingPunct="1">
              <a:lnSpc>
                <a:spcPct val="140000"/>
              </a:lnSpc>
            </a:pPr>
            <a:r>
              <a:rPr lang="zh-CN" altLang="en-US" sz="2400" b="1" dirty="0">
                <a:solidFill>
                  <a:srgbClr val="FF0000"/>
                </a:solidFill>
              </a:rPr>
              <a:t>注意</a:t>
            </a:r>
            <a:r>
              <a:rPr lang="zh-CN" altLang="en-US" sz="2400" dirty="0"/>
              <a:t>：</a:t>
            </a:r>
            <a:r>
              <a:rPr lang="zh-CN" altLang="en-US" sz="2400" b="1" dirty="0">
                <a:solidFill>
                  <a:srgbClr val="FF0000"/>
                </a:solidFill>
              </a:rPr>
              <a:t>有些其他数据库管理系统</a:t>
            </a:r>
            <a:r>
              <a:rPr lang="zh-CN" altLang="en-US" sz="2400" dirty="0"/>
              <a:t>如果没有提供</a:t>
            </a:r>
            <a:r>
              <a:rPr lang="en-US" altLang="zh-CN" sz="2400" dirty="0"/>
              <a:t>Sdept</a:t>
            </a:r>
            <a:r>
              <a:rPr lang="zh-CN" altLang="en-US" sz="2400" dirty="0"/>
              <a:t>属性值，则自动定义</a:t>
            </a:r>
            <a:r>
              <a:rPr lang="en-US" altLang="zh-CN" sz="2400" dirty="0"/>
              <a:t>Sdept</a:t>
            </a:r>
            <a:r>
              <a:rPr lang="zh-CN" altLang="en-US" sz="2400" dirty="0"/>
              <a:t>为</a:t>
            </a:r>
            <a:r>
              <a:rPr lang="en-US" altLang="zh-CN" sz="2400" dirty="0"/>
              <a:t>'IS' </a:t>
            </a:r>
            <a:endParaRPr lang="en-US" altLang="zh-CN" sz="2400" dirty="0"/>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1"/>
          <p:cNvSpPr>
            <a:spLocks noGrp="1"/>
          </p:cNvSpPr>
          <p:nvPr>
            <p:ph type="title"/>
          </p:nvPr>
        </p:nvSpPr>
        <p:spPr>
          <a:ln/>
        </p:spPr>
        <p:txBody>
          <a:bodyPr vert="horz" wrap="square" lIns="91440" tIns="45720" rIns="91440" bIns="45720" anchor="b" anchorCtr="0"/>
          <a:p>
            <a:r>
              <a:rPr lang="en-US" altLang="zh-CN" sz="4000" dirty="0"/>
              <a:t>3.6.3  </a:t>
            </a:r>
            <a:r>
              <a:rPr lang="zh-CN" altLang="en-US" sz="4000" dirty="0"/>
              <a:t>更新视图</a:t>
            </a:r>
            <a:endParaRPr lang="zh-CN" altLang="en-US" dirty="0"/>
          </a:p>
        </p:txBody>
      </p:sp>
      <p:sp>
        <p:nvSpPr>
          <p:cNvPr id="88066" name="内容占位符 2"/>
          <p:cNvSpPr>
            <a:spLocks noGrp="1"/>
          </p:cNvSpPr>
          <p:nvPr>
            <p:ph idx="1"/>
          </p:nvPr>
        </p:nvSpPr>
        <p:spPr>
          <a:ln/>
        </p:spPr>
        <p:txBody>
          <a:bodyPr vert="horz" wrap="square" lIns="91440" tIns="45720" rIns="91440" bIns="45720" anchor="t" anchorCtr="0"/>
          <a:p>
            <a:pPr eaLnBrk="1" hangingPunct="1">
              <a:lnSpc>
                <a:spcPct val="140000"/>
              </a:lnSpc>
            </a:pPr>
            <a:r>
              <a:rPr lang="zh-CN" altLang="en-US" sz="2800" b="1" dirty="0">
                <a:solidFill>
                  <a:srgbClr val="FF0000"/>
                </a:solidFill>
              </a:rPr>
              <a:t>不管是否有</a:t>
            </a:r>
            <a:r>
              <a:rPr lang="en-US" altLang="zh-CN" sz="2800" b="1" dirty="0">
                <a:solidFill>
                  <a:srgbClr val="FF0000"/>
                </a:solidFill>
              </a:rPr>
              <a:t>WITH CHECK OPTION</a:t>
            </a:r>
            <a:r>
              <a:rPr lang="zh-CN" altLang="en-US" sz="2800" b="1" dirty="0">
                <a:solidFill>
                  <a:srgbClr val="FF0000"/>
                </a:solidFill>
              </a:rPr>
              <a:t>，修改、删除、查询都是一样的。只有</a:t>
            </a:r>
            <a:r>
              <a:rPr lang="zh-CN" altLang="en-US" sz="2800" b="1" dirty="0">
                <a:solidFill>
                  <a:srgbClr val="0000FF"/>
                </a:solidFill>
              </a:rPr>
              <a:t>插入操作</a:t>
            </a:r>
            <a:r>
              <a:rPr lang="zh-CN" altLang="en-US" sz="2800" b="1" dirty="0">
                <a:solidFill>
                  <a:srgbClr val="FF0000"/>
                </a:solidFill>
              </a:rPr>
              <a:t>不同。</a:t>
            </a:r>
            <a:endParaRPr lang="en-US" altLang="zh-CN" sz="2800" b="1" dirty="0">
              <a:solidFill>
                <a:srgbClr val="FF0000"/>
              </a:solidFill>
            </a:endParaRPr>
          </a:p>
          <a:p>
            <a:pPr eaLnBrk="1" hangingPunct="1">
              <a:lnSpc>
                <a:spcPct val="140000"/>
              </a:lnSpc>
            </a:pPr>
            <a:r>
              <a:rPr lang="zh-CN" altLang="en-US" sz="2800" dirty="0"/>
              <a:t>都按照下面规则执行</a:t>
            </a:r>
            <a:endParaRPr lang="en-US" altLang="zh-CN" sz="2800" dirty="0"/>
          </a:p>
          <a:p>
            <a:pPr lvl="1" indent="-436245" eaLnBrk="1" hangingPunct="1">
              <a:lnSpc>
                <a:spcPct val="140000"/>
              </a:lnSpc>
            </a:pPr>
            <a:r>
              <a:rPr lang="zh-CN" altLang="en-US" sz="2600" dirty="0"/>
              <a:t>修改操作：自动加上</a:t>
            </a:r>
            <a:r>
              <a:rPr lang="en-US" altLang="zh-CN" sz="2600" dirty="0"/>
              <a:t>Sdept= ‘IS’</a:t>
            </a:r>
            <a:r>
              <a:rPr lang="zh-CN" altLang="en-US" sz="2600" dirty="0"/>
              <a:t>的条件。</a:t>
            </a:r>
            <a:endParaRPr lang="zh-CN" altLang="en-US" sz="2600" dirty="0"/>
          </a:p>
          <a:p>
            <a:pPr lvl="1" indent="-436245" eaLnBrk="1" hangingPunct="1">
              <a:lnSpc>
                <a:spcPct val="140000"/>
              </a:lnSpc>
            </a:pPr>
            <a:r>
              <a:rPr lang="zh-CN" altLang="en-US" sz="2600" dirty="0"/>
              <a:t>删除操作：自动加上</a:t>
            </a:r>
            <a:r>
              <a:rPr lang="en-US" altLang="zh-CN" sz="2600" dirty="0"/>
              <a:t>Sdept= ‘IS’</a:t>
            </a:r>
            <a:r>
              <a:rPr lang="zh-CN" altLang="en-US" sz="2600" dirty="0"/>
              <a:t>的条件。</a:t>
            </a:r>
            <a:endParaRPr lang="en-US" altLang="zh-CN" sz="2600" dirty="0"/>
          </a:p>
          <a:p>
            <a:pPr lvl="1" indent="-436245" eaLnBrk="1" hangingPunct="1">
              <a:lnSpc>
                <a:spcPct val="140000"/>
              </a:lnSpc>
            </a:pPr>
            <a:r>
              <a:rPr lang="zh-CN" altLang="en-US" sz="2600" dirty="0"/>
              <a:t>查询操作：自动加上</a:t>
            </a:r>
            <a:r>
              <a:rPr lang="en-US" altLang="zh-CN" sz="2600" dirty="0"/>
              <a:t>Sdept= ‘IS’</a:t>
            </a:r>
            <a:r>
              <a:rPr lang="zh-CN" altLang="en-US" sz="2600" dirty="0"/>
              <a:t>的条件。</a:t>
            </a:r>
            <a:endParaRPr lang="en-US" altLang="zh-CN" sz="2600" dirty="0"/>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89090" name="Rectangle 2"/>
          <p:cNvSpPr>
            <a:spLocks noGrp="1"/>
          </p:cNvSpPr>
          <p:nvPr>
            <p:ph type="title"/>
          </p:nvPr>
        </p:nvSpPr>
        <p:spPr>
          <a:ln/>
        </p:spPr>
        <p:txBody>
          <a:bodyPr vert="horz" wrap="square" lIns="91440" tIns="45720" rIns="91440" bIns="45720" anchor="b" anchorCtr="0"/>
          <a:p>
            <a:pPr eaLnBrk="1" hangingPunct="1"/>
            <a:r>
              <a:rPr lang="en-US" altLang="zh-CN" sz="4000" dirty="0"/>
              <a:t>3.6.3  </a:t>
            </a:r>
            <a:r>
              <a:rPr lang="zh-CN" altLang="en-US" sz="4000" dirty="0"/>
              <a:t>更新视图</a:t>
            </a:r>
            <a:endParaRPr lang="zh-CN" altLang="en-US" dirty="0">
              <a:solidFill>
                <a:srgbClr val="FF0000"/>
              </a:solidFill>
            </a:endParaRPr>
          </a:p>
        </p:txBody>
      </p:sp>
      <p:sp>
        <p:nvSpPr>
          <p:cNvPr id="835587" name="Rectangle 3"/>
          <p:cNvSpPr>
            <a:spLocks noGrp="1"/>
          </p:cNvSpPr>
          <p:nvPr>
            <p:ph idx="1"/>
          </p:nvPr>
        </p:nvSpPr>
        <p:spPr>
          <a:xfrm>
            <a:off x="827088" y="2420938"/>
            <a:ext cx="7772400" cy="1512887"/>
          </a:xfrm>
          <a:ln/>
        </p:spPr>
        <p:txBody>
          <a:bodyPr vert="horz" wrap="square" lIns="91440" tIns="45720" rIns="91440" bIns="45720" anchor="t" anchorCtr="0"/>
          <a:p>
            <a:pPr eaLnBrk="1" hangingPunct="1">
              <a:lnSpc>
                <a:spcPct val="130000"/>
              </a:lnSpc>
              <a:buNone/>
            </a:pPr>
            <a:r>
              <a:rPr lang="en-US" altLang="zh-CN" sz="2000" dirty="0"/>
              <a:t>          UPDATE  </a:t>
            </a:r>
            <a:r>
              <a:rPr lang="en-US" altLang="zh-CN" sz="2000" dirty="0">
                <a:solidFill>
                  <a:srgbClr val="D32DB7"/>
                </a:solidFill>
              </a:rPr>
              <a:t>IS_Student</a:t>
            </a:r>
            <a:endParaRPr lang="en-US" altLang="zh-CN" sz="2000" dirty="0"/>
          </a:p>
          <a:p>
            <a:pPr lvl="2" indent="-394970" eaLnBrk="1" hangingPunct="1">
              <a:lnSpc>
                <a:spcPct val="130000"/>
              </a:lnSpc>
              <a:buClrTx/>
              <a:buFontTx/>
              <a:buNone/>
            </a:pPr>
            <a:r>
              <a:rPr lang="en-US" altLang="zh-CN" dirty="0"/>
              <a:t>SET  Sname= '</a:t>
            </a:r>
            <a:r>
              <a:rPr lang="zh-CN" altLang="en-US" dirty="0"/>
              <a:t>刘辰</a:t>
            </a:r>
            <a:r>
              <a:rPr lang="en-US" altLang="zh-CN" dirty="0"/>
              <a:t>'</a:t>
            </a:r>
            <a:endParaRPr lang="en-US" altLang="zh-CN" dirty="0"/>
          </a:p>
          <a:p>
            <a:pPr lvl="2" indent="-394970" eaLnBrk="1" hangingPunct="1">
              <a:lnSpc>
                <a:spcPct val="130000"/>
              </a:lnSpc>
              <a:buClrTx/>
              <a:buFontTx/>
              <a:buNone/>
            </a:pPr>
            <a:r>
              <a:rPr lang="en-US" altLang="zh-CN" dirty="0"/>
              <a:t>WHERE  Sno= ' 200215122 '</a:t>
            </a:r>
            <a:r>
              <a:rPr lang="zh-CN" altLang="en-US" dirty="0"/>
              <a:t>；</a:t>
            </a:r>
            <a:endParaRPr lang="zh-CN" altLang="en-US" dirty="0"/>
          </a:p>
        </p:txBody>
      </p:sp>
      <p:sp>
        <p:nvSpPr>
          <p:cNvPr id="89092" name="Rectangle 4"/>
          <p:cNvSpPr/>
          <p:nvPr/>
        </p:nvSpPr>
        <p:spPr>
          <a:xfrm>
            <a:off x="684213" y="1484313"/>
            <a:ext cx="7920037" cy="895350"/>
          </a:xfrm>
          <a:prstGeom prst="rect">
            <a:avLst/>
          </a:prstGeom>
          <a:noFill/>
          <a:ln w="25400">
            <a:noFill/>
          </a:ln>
        </p:spPr>
        <p:txBody>
          <a:bodyPr anchor="t" anchorCtr="0">
            <a:spAutoFit/>
          </a:bodyPr>
          <a:p>
            <a:pPr marL="342900" indent="-342900">
              <a:lnSpc>
                <a:spcPct val="110000"/>
              </a:lnSpc>
            </a:pPr>
            <a:r>
              <a:rPr lang="en-US" altLang="zh-CN" sz="2400" dirty="0">
                <a:solidFill>
                  <a:srgbClr val="000000"/>
                </a:solidFill>
                <a:latin typeface="Times New Roman" panose="02020603050405020304" pitchFamily="18" charset="0"/>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例</a:t>
            </a:r>
            <a:r>
              <a:rPr lang="en-US" altLang="zh-CN" sz="2400" dirty="0">
                <a:solidFill>
                  <a:srgbClr val="000000"/>
                </a:solidFill>
                <a:latin typeface="Times New Roman" panose="02020603050405020304" pitchFamily="18" charset="0"/>
                <a:ea typeface="宋体" panose="02010600030101010101" pitchFamily="2" charset="-122"/>
              </a:rPr>
              <a:t>12]  </a:t>
            </a:r>
            <a:r>
              <a:rPr lang="zh-CN" altLang="en-US" sz="2400" dirty="0">
                <a:solidFill>
                  <a:srgbClr val="000000"/>
                </a:solidFill>
                <a:latin typeface="Times New Roman" panose="02020603050405020304" pitchFamily="18" charset="0"/>
                <a:ea typeface="宋体" panose="02010600030101010101" pitchFamily="2" charset="-122"/>
              </a:rPr>
              <a:t>将信息系学生视图</a:t>
            </a:r>
            <a:r>
              <a:rPr lang="en-US" altLang="zh-CN" sz="2400" dirty="0">
                <a:solidFill>
                  <a:srgbClr val="000000"/>
                </a:solidFill>
                <a:latin typeface="Times New Roman" panose="02020603050405020304" pitchFamily="18" charset="0"/>
                <a:ea typeface="宋体" panose="02010600030101010101" pitchFamily="2" charset="-122"/>
              </a:rPr>
              <a:t>IS_Student</a:t>
            </a:r>
            <a:r>
              <a:rPr lang="zh-CN" altLang="en-US" sz="2400" dirty="0">
                <a:solidFill>
                  <a:srgbClr val="000000"/>
                </a:solidFill>
                <a:latin typeface="Times New Roman" panose="02020603050405020304" pitchFamily="18" charset="0"/>
                <a:ea typeface="宋体" panose="02010600030101010101" pitchFamily="2" charset="-122"/>
              </a:rPr>
              <a:t>中学号</a:t>
            </a:r>
            <a:r>
              <a:rPr lang="en-US" altLang="zh-CN" sz="2400" dirty="0">
                <a:solidFill>
                  <a:srgbClr val="000000"/>
                </a:solidFill>
                <a:latin typeface="Times New Roman" panose="02020603050405020304" pitchFamily="18" charset="0"/>
                <a:ea typeface="宋体" panose="02010600030101010101" pitchFamily="2" charset="-122"/>
              </a:rPr>
              <a:t>200215122</a:t>
            </a:r>
            <a:r>
              <a:rPr lang="zh-CN" altLang="en-US" sz="2400" dirty="0">
                <a:solidFill>
                  <a:srgbClr val="000000"/>
                </a:solidFill>
                <a:latin typeface="Times New Roman" panose="02020603050405020304" pitchFamily="18" charset="0"/>
                <a:ea typeface="宋体" panose="02010600030101010101" pitchFamily="2" charset="-122"/>
              </a:rPr>
              <a:t>的学生姓名改为“刘辰”。</a:t>
            </a:r>
            <a:endParaRPr lang="zh-CN" altLang="en-US" sz="2400" dirty="0">
              <a:solidFill>
                <a:srgbClr val="000000"/>
              </a:solidFill>
              <a:latin typeface="Times New Roman" panose="02020603050405020304" pitchFamily="18" charset="0"/>
              <a:ea typeface="宋体" panose="02010600030101010101" pitchFamily="2" charset="-122"/>
            </a:endParaRPr>
          </a:p>
        </p:txBody>
      </p:sp>
      <p:sp>
        <p:nvSpPr>
          <p:cNvPr id="835589" name="Rectangle 5"/>
          <p:cNvSpPr/>
          <p:nvPr/>
        </p:nvSpPr>
        <p:spPr>
          <a:xfrm>
            <a:off x="827088" y="3933825"/>
            <a:ext cx="7888287" cy="1643063"/>
          </a:xfrm>
          <a:prstGeom prst="rect">
            <a:avLst/>
          </a:prstGeom>
          <a:noFill/>
          <a:ln w="25400">
            <a:noFill/>
          </a:ln>
        </p:spPr>
        <p:txBody>
          <a:bodyPr anchor="t" anchorCtr="0">
            <a:spAutoFit/>
          </a:bodyPr>
          <a:p>
            <a:pPr lvl="1" indent="0" eaLnBrk="1" hangingPunct="1">
              <a:lnSpc>
                <a:spcPct val="120000"/>
              </a:lnSpc>
            </a:pPr>
            <a:r>
              <a:rPr lang="zh-CN" altLang="en-US" sz="2400" dirty="0">
                <a:solidFill>
                  <a:srgbClr val="000000"/>
                </a:solidFill>
                <a:latin typeface="Times New Roman" panose="02020603050405020304" pitchFamily="18" charset="0"/>
                <a:ea typeface="宋体" panose="02010600030101010101" pitchFamily="2" charset="-122"/>
              </a:rPr>
              <a:t>转换后的语句：</a:t>
            </a:r>
            <a:endParaRPr lang="zh-CN" altLang="en-US" sz="2400" dirty="0">
              <a:solidFill>
                <a:srgbClr val="000000"/>
              </a:solidFill>
              <a:latin typeface="Times New Roman" panose="02020603050405020304" pitchFamily="18" charset="0"/>
              <a:ea typeface="宋体" panose="02010600030101010101" pitchFamily="2" charset="-122"/>
            </a:endParaRPr>
          </a:p>
          <a:p>
            <a:pPr lvl="2" indent="0" eaLnBrk="1" hangingPunct="1">
              <a:lnSpc>
                <a:spcPct val="120000"/>
              </a:lnSpc>
            </a:pPr>
            <a:r>
              <a:rPr lang="en-US" altLang="zh-CN" sz="2000" dirty="0">
                <a:solidFill>
                  <a:srgbClr val="000000"/>
                </a:solidFill>
                <a:latin typeface="Verdana" panose="020B0604030504040204" pitchFamily="34" charset="0"/>
                <a:ea typeface="宋体" panose="02010600030101010101" pitchFamily="2" charset="-122"/>
              </a:rPr>
              <a:t>UPDATE  </a:t>
            </a:r>
            <a:r>
              <a:rPr lang="en-US" altLang="zh-CN" sz="2000" dirty="0">
                <a:solidFill>
                  <a:srgbClr val="D32DB7"/>
                </a:solidFill>
                <a:latin typeface="Verdana" panose="020B0604030504040204" pitchFamily="34" charset="0"/>
                <a:ea typeface="宋体" panose="02010600030101010101" pitchFamily="2" charset="-122"/>
              </a:rPr>
              <a:t>Student</a:t>
            </a:r>
            <a:endParaRPr lang="en-US" altLang="zh-CN" sz="2000" dirty="0">
              <a:solidFill>
                <a:srgbClr val="D32DB7"/>
              </a:solidFill>
              <a:latin typeface="Verdana" panose="020B0604030504040204" pitchFamily="34" charset="0"/>
              <a:ea typeface="宋体" panose="02010600030101010101" pitchFamily="2" charset="-122"/>
            </a:endParaRPr>
          </a:p>
          <a:p>
            <a:pPr lvl="2" indent="0" eaLnBrk="1" hangingPunct="1">
              <a:lnSpc>
                <a:spcPct val="120000"/>
              </a:lnSpc>
            </a:pPr>
            <a:r>
              <a:rPr lang="en-US" altLang="zh-CN" sz="2000" dirty="0">
                <a:solidFill>
                  <a:srgbClr val="000000"/>
                </a:solidFill>
                <a:latin typeface="Verdana" panose="020B0604030504040204" pitchFamily="34" charset="0"/>
                <a:ea typeface="宋体" panose="02010600030101010101" pitchFamily="2" charset="-122"/>
              </a:rPr>
              <a:t>SET Sname= '</a:t>
            </a:r>
            <a:r>
              <a:rPr lang="zh-CN" altLang="en-US" sz="2000" dirty="0">
                <a:solidFill>
                  <a:srgbClr val="000000"/>
                </a:solidFill>
                <a:latin typeface="Verdana" panose="020B0604030504040204" pitchFamily="34" charset="0"/>
                <a:ea typeface="宋体" panose="02010600030101010101" pitchFamily="2" charset="-122"/>
              </a:rPr>
              <a:t>刘辰</a:t>
            </a:r>
            <a:r>
              <a:rPr lang="en-US" altLang="zh-CN" sz="2000" dirty="0">
                <a:solidFill>
                  <a:srgbClr val="000000"/>
                </a:solidFill>
                <a:latin typeface="Verdana" panose="020B0604030504040204" pitchFamily="34" charset="0"/>
                <a:ea typeface="宋体" panose="02010600030101010101" pitchFamily="2" charset="-122"/>
              </a:rPr>
              <a:t>'</a:t>
            </a:r>
            <a:endParaRPr lang="en-US" altLang="zh-CN" sz="2000" dirty="0">
              <a:solidFill>
                <a:srgbClr val="000000"/>
              </a:solidFill>
              <a:latin typeface="Verdana" panose="020B0604030504040204" pitchFamily="34" charset="0"/>
              <a:ea typeface="宋体" panose="02010600030101010101" pitchFamily="2" charset="-122"/>
            </a:endParaRPr>
          </a:p>
          <a:p>
            <a:pPr lvl="2" indent="0" eaLnBrk="1" hangingPunct="1">
              <a:lnSpc>
                <a:spcPct val="120000"/>
              </a:lnSpc>
            </a:pPr>
            <a:r>
              <a:rPr lang="en-US" altLang="zh-CN" sz="2000" dirty="0">
                <a:solidFill>
                  <a:srgbClr val="000000"/>
                </a:solidFill>
                <a:latin typeface="Verdana" panose="020B0604030504040204" pitchFamily="34" charset="0"/>
                <a:ea typeface="宋体" panose="02010600030101010101" pitchFamily="2" charset="-122"/>
              </a:rPr>
              <a:t>WHERE Sno= ' 200215122 ' AND </a:t>
            </a:r>
            <a:r>
              <a:rPr lang="en-US" altLang="zh-CN" sz="2000" dirty="0">
                <a:solidFill>
                  <a:srgbClr val="D32DB7"/>
                </a:solidFill>
                <a:latin typeface="Verdana" panose="020B0604030504040204" pitchFamily="34" charset="0"/>
                <a:ea typeface="宋体" panose="02010600030101010101" pitchFamily="2" charset="-122"/>
              </a:rPr>
              <a:t>Sdept= 'IS'</a:t>
            </a:r>
            <a:r>
              <a:rPr lang="zh-CN" altLang="en-US" sz="2000" dirty="0">
                <a:solidFill>
                  <a:srgbClr val="000000"/>
                </a:solidFill>
                <a:latin typeface="Verdana" panose="020B0604030504040204" pitchFamily="34" charset="0"/>
                <a:ea typeface="宋体" panose="02010600030101010101" pitchFamily="2" charset="-122"/>
              </a:rPr>
              <a:t>；</a:t>
            </a:r>
            <a:endParaRPr lang="zh-CN" altLang="en-US" sz="2000" dirty="0">
              <a:solidFill>
                <a:srgbClr val="00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5587">
                                            <p:txEl>
                                              <p:charRg st="0" end="2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5587">
                                            <p:txEl>
                                              <p:charRg st="29" end="4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5587">
                                            <p:txEl>
                                              <p:charRg st="46" end="7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5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87" grpId="0" build="p"/>
      <p:bldP spid="83558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91138" name="Rectangle 2"/>
          <p:cNvSpPr>
            <a:spLocks noGrp="1"/>
          </p:cNvSpPr>
          <p:nvPr>
            <p:ph type="title"/>
          </p:nvPr>
        </p:nvSpPr>
        <p:spPr>
          <a:ln/>
        </p:spPr>
        <p:txBody>
          <a:bodyPr vert="horz" wrap="square" lIns="91440" tIns="45720" rIns="91440" bIns="45720" anchor="b" anchorCtr="0"/>
          <a:p>
            <a:pPr eaLnBrk="1" hangingPunct="1"/>
            <a:r>
              <a:rPr lang="en-US" altLang="zh-CN" sz="4000" dirty="0"/>
              <a:t>3.6.3  </a:t>
            </a:r>
            <a:r>
              <a:rPr lang="zh-CN" altLang="en-US" sz="4000" dirty="0"/>
              <a:t>更新视图</a:t>
            </a:r>
            <a:endParaRPr lang="zh-CN" altLang="en-US" dirty="0"/>
          </a:p>
        </p:txBody>
      </p:sp>
      <p:sp>
        <p:nvSpPr>
          <p:cNvPr id="91139" name="Rectangle 3"/>
          <p:cNvSpPr>
            <a:spLocks noGrp="1"/>
          </p:cNvSpPr>
          <p:nvPr>
            <p:ph idx="1"/>
          </p:nvPr>
        </p:nvSpPr>
        <p:spPr>
          <a:xfrm>
            <a:off x="714375" y="1143000"/>
            <a:ext cx="7772400" cy="936625"/>
          </a:xfrm>
          <a:ln/>
        </p:spPr>
        <p:txBody>
          <a:bodyPr vert="horz" wrap="square" lIns="91440" tIns="45720" rIns="91440" bIns="45720" anchor="t" anchorCtr="0"/>
          <a:p>
            <a:pPr eaLnBrk="1" hangingPunct="1">
              <a:lnSpc>
                <a:spcPct val="130000"/>
              </a:lnSpc>
              <a:buNone/>
            </a:pPr>
            <a:r>
              <a:rPr lang="en-US" altLang="zh-CN" sz="2400" dirty="0"/>
              <a:t>[</a:t>
            </a:r>
            <a:r>
              <a:rPr lang="zh-CN" altLang="en-US" sz="2400" dirty="0"/>
              <a:t>例</a:t>
            </a:r>
            <a:r>
              <a:rPr lang="en-US" altLang="zh-CN" sz="2400" dirty="0"/>
              <a:t>14]</a:t>
            </a:r>
            <a:r>
              <a:rPr lang="zh-CN" altLang="en-US" sz="2400" dirty="0"/>
              <a:t>删除信息系学生视图</a:t>
            </a:r>
            <a:r>
              <a:rPr lang="en-US" altLang="zh-CN" sz="2400" dirty="0"/>
              <a:t>IS_Student</a:t>
            </a:r>
            <a:r>
              <a:rPr lang="zh-CN" altLang="en-US" sz="2400" dirty="0"/>
              <a:t>中学号为</a:t>
            </a:r>
            <a:r>
              <a:rPr lang="en-US" altLang="zh-CN" sz="2000" dirty="0"/>
              <a:t>200215129</a:t>
            </a:r>
            <a:r>
              <a:rPr lang="zh-CN" altLang="en-US" sz="2400" dirty="0"/>
              <a:t>的记录 </a:t>
            </a:r>
            <a:endParaRPr lang="zh-CN" altLang="en-US" sz="2400" dirty="0"/>
          </a:p>
        </p:txBody>
      </p:sp>
      <p:sp>
        <p:nvSpPr>
          <p:cNvPr id="839685" name="Rectangle 5"/>
          <p:cNvSpPr/>
          <p:nvPr/>
        </p:nvSpPr>
        <p:spPr>
          <a:xfrm>
            <a:off x="642938" y="2058988"/>
            <a:ext cx="7772400" cy="1512887"/>
          </a:xfrm>
          <a:prstGeom prst="rect">
            <a:avLst/>
          </a:prstGeom>
          <a:noFill/>
          <a:ln w="9525">
            <a:noFill/>
          </a:ln>
        </p:spPr>
        <p:txBody>
          <a:bodyPr anchor="t" anchorCtr="0"/>
          <a:p>
            <a:pPr marL="742950" lvl="1" indent="-285750" eaLnBrk="1" hangingPunct="1">
              <a:lnSpc>
                <a:spcPct val="120000"/>
              </a:lnSpc>
              <a:spcBef>
                <a:spcPct val="20000"/>
              </a:spcBef>
              <a:buClr>
                <a:srgbClr val="65AAE9"/>
              </a:buClr>
              <a:buFont typeface="Wingdings" panose="05000000000000000000" pitchFamily="2" charset="2"/>
            </a:pPr>
            <a:r>
              <a:rPr lang="en-US" altLang="zh-CN" sz="2000" dirty="0">
                <a:solidFill>
                  <a:srgbClr val="000000"/>
                </a:solidFill>
                <a:latin typeface="Verdana" panose="020B0604030504040204" pitchFamily="34" charset="0"/>
                <a:ea typeface="宋体" panose="02010600030101010101" pitchFamily="2" charset="-122"/>
              </a:rPr>
              <a:t>DELETE</a:t>
            </a:r>
            <a:endParaRPr lang="en-US" altLang="zh-CN" sz="2000" dirty="0">
              <a:solidFill>
                <a:srgbClr val="000000"/>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000" dirty="0">
                <a:solidFill>
                  <a:srgbClr val="000000"/>
                </a:solidFill>
                <a:latin typeface="Verdana" panose="020B0604030504040204" pitchFamily="34" charset="0"/>
                <a:ea typeface="宋体" panose="02010600030101010101" pitchFamily="2" charset="-122"/>
              </a:rPr>
              <a:t>FROM </a:t>
            </a:r>
            <a:r>
              <a:rPr lang="en-US" altLang="zh-CN" sz="2000" dirty="0">
                <a:solidFill>
                  <a:srgbClr val="D32DB7"/>
                </a:solidFill>
                <a:latin typeface="Verdana" panose="020B0604030504040204" pitchFamily="34" charset="0"/>
                <a:ea typeface="宋体" panose="02010600030101010101" pitchFamily="2" charset="-122"/>
              </a:rPr>
              <a:t>IS_Student</a:t>
            </a:r>
            <a:endParaRPr lang="en-US" altLang="zh-CN" sz="2000" dirty="0">
              <a:solidFill>
                <a:srgbClr val="D32DB7"/>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000" dirty="0">
                <a:solidFill>
                  <a:srgbClr val="000000"/>
                </a:solidFill>
                <a:latin typeface="Verdana" panose="020B0604030504040204" pitchFamily="34" charset="0"/>
                <a:ea typeface="宋体" panose="02010600030101010101" pitchFamily="2" charset="-122"/>
              </a:rPr>
              <a:t>WHERE Sno= ' 200215129 '</a:t>
            </a:r>
            <a:r>
              <a:rPr lang="zh-CN" altLang="en-US" sz="2000" dirty="0">
                <a:solidFill>
                  <a:srgbClr val="000000"/>
                </a:solidFill>
                <a:latin typeface="Verdana" panose="020B0604030504040204" pitchFamily="34" charset="0"/>
                <a:ea typeface="宋体" panose="02010600030101010101" pitchFamily="2" charset="-122"/>
              </a:rPr>
              <a:t>；</a:t>
            </a:r>
            <a:endParaRPr lang="zh-CN" altLang="en-US" sz="2000" dirty="0">
              <a:solidFill>
                <a:srgbClr val="000000"/>
              </a:solidFill>
              <a:latin typeface="Verdana" panose="020B0604030504040204" pitchFamily="34" charset="0"/>
              <a:ea typeface="宋体" panose="02010600030101010101" pitchFamily="2" charset="-122"/>
            </a:endParaRPr>
          </a:p>
        </p:txBody>
      </p:sp>
      <p:sp>
        <p:nvSpPr>
          <p:cNvPr id="839686" name="Rectangle 6"/>
          <p:cNvSpPr/>
          <p:nvPr/>
        </p:nvSpPr>
        <p:spPr>
          <a:xfrm>
            <a:off x="714375" y="3286125"/>
            <a:ext cx="7772400" cy="1955800"/>
          </a:xfrm>
          <a:prstGeom prst="rect">
            <a:avLst/>
          </a:prstGeom>
          <a:noFill/>
          <a:ln w="9525">
            <a:noFill/>
          </a:ln>
        </p:spPr>
        <p:txBody>
          <a:bodyPr anchor="t" anchorCtr="0"/>
          <a:p>
            <a:pPr marL="342900" indent="-342900">
              <a:lnSpc>
                <a:spcPct val="120000"/>
              </a:lnSpc>
              <a:spcBef>
                <a:spcPct val="20000"/>
              </a:spcBef>
              <a:buClr>
                <a:srgbClr val="7DA0D3"/>
              </a:buClr>
              <a:buFont typeface="Wingdings" panose="05000000000000000000" pitchFamily="2" charset="2"/>
            </a:pPr>
            <a:r>
              <a:rPr lang="zh-CN" altLang="en-US" sz="2400" dirty="0">
                <a:solidFill>
                  <a:srgbClr val="000000"/>
                </a:solidFill>
                <a:latin typeface="Verdana" panose="020B0604030504040204" pitchFamily="34" charset="0"/>
                <a:ea typeface="宋体" panose="02010600030101010101" pitchFamily="2" charset="-122"/>
              </a:rPr>
              <a:t>转换为对基本表的更新：</a:t>
            </a:r>
            <a:endParaRPr lang="zh-CN" altLang="en-US" sz="2800" dirty="0">
              <a:solidFill>
                <a:srgbClr val="000000"/>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000" dirty="0">
                <a:solidFill>
                  <a:srgbClr val="000000"/>
                </a:solidFill>
                <a:latin typeface="Verdana" panose="020B0604030504040204" pitchFamily="34" charset="0"/>
                <a:ea typeface="宋体" panose="02010600030101010101" pitchFamily="2" charset="-122"/>
              </a:rPr>
              <a:t>DELETE</a:t>
            </a:r>
            <a:endParaRPr lang="en-US" altLang="zh-CN" sz="2000" dirty="0">
              <a:solidFill>
                <a:srgbClr val="000000"/>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000" dirty="0">
                <a:solidFill>
                  <a:srgbClr val="000000"/>
                </a:solidFill>
                <a:latin typeface="Verdana" panose="020B0604030504040204" pitchFamily="34" charset="0"/>
                <a:ea typeface="宋体" panose="02010600030101010101" pitchFamily="2" charset="-122"/>
              </a:rPr>
              <a:t>FROM </a:t>
            </a:r>
            <a:r>
              <a:rPr lang="en-US" altLang="zh-CN" sz="2000" dirty="0">
                <a:solidFill>
                  <a:srgbClr val="D32DB7"/>
                </a:solidFill>
                <a:latin typeface="Verdana" panose="020B0604030504040204" pitchFamily="34" charset="0"/>
                <a:ea typeface="宋体" panose="02010600030101010101" pitchFamily="2" charset="-122"/>
              </a:rPr>
              <a:t>Student</a:t>
            </a:r>
            <a:endParaRPr lang="en-US" altLang="zh-CN" sz="2000" dirty="0">
              <a:solidFill>
                <a:srgbClr val="D32DB7"/>
              </a:solidFill>
              <a:latin typeface="Verdana" panose="020B0604030504040204" pitchFamily="34" charset="0"/>
              <a:ea typeface="宋体" panose="02010600030101010101" pitchFamily="2" charset="-122"/>
            </a:endParaRPr>
          </a:p>
          <a:p>
            <a:pPr marL="742950" lvl="1" indent="-285750" eaLnBrk="1" hangingPunct="1">
              <a:lnSpc>
                <a:spcPct val="120000"/>
              </a:lnSpc>
              <a:spcBef>
                <a:spcPct val="20000"/>
              </a:spcBef>
              <a:buClr>
                <a:srgbClr val="65AAE9"/>
              </a:buClr>
              <a:buFont typeface="Wingdings" panose="05000000000000000000" pitchFamily="2" charset="2"/>
            </a:pPr>
            <a:r>
              <a:rPr lang="en-US" altLang="zh-CN" sz="2000" dirty="0">
                <a:solidFill>
                  <a:srgbClr val="000000"/>
                </a:solidFill>
                <a:latin typeface="Verdana" panose="020B0604030504040204" pitchFamily="34" charset="0"/>
                <a:ea typeface="宋体" panose="02010600030101010101" pitchFamily="2" charset="-122"/>
              </a:rPr>
              <a:t>WHERE Sno= ' 200215129 ' AND </a:t>
            </a:r>
            <a:r>
              <a:rPr lang="en-US" altLang="zh-CN" sz="2000" dirty="0">
                <a:solidFill>
                  <a:srgbClr val="D32DB7"/>
                </a:solidFill>
                <a:latin typeface="Verdana" panose="020B0604030504040204" pitchFamily="34" charset="0"/>
                <a:ea typeface="宋体" panose="02010600030101010101" pitchFamily="2" charset="-122"/>
              </a:rPr>
              <a:t>Sdept= 'IS'</a:t>
            </a:r>
            <a:r>
              <a:rPr lang="zh-CN" altLang="en-US" sz="2000" dirty="0">
                <a:solidFill>
                  <a:srgbClr val="000000"/>
                </a:solidFill>
                <a:latin typeface="Verdana" panose="020B0604030504040204" pitchFamily="34" charset="0"/>
                <a:ea typeface="宋体" panose="02010600030101010101" pitchFamily="2" charset="-122"/>
              </a:rPr>
              <a:t>；</a:t>
            </a:r>
            <a:endParaRPr lang="zh-CN" altLang="en-US" sz="2400" dirty="0">
              <a:solidFill>
                <a:srgbClr val="000000"/>
              </a:solidFill>
              <a:latin typeface="Verdana" panose="020B0604030504040204" pitchFamily="34" charset="0"/>
              <a:ea typeface="宋体" panose="02010600030101010101" pitchFamily="2" charset="-122"/>
            </a:endParaRPr>
          </a:p>
          <a:p>
            <a:pPr marL="342900" indent="-342900">
              <a:lnSpc>
                <a:spcPct val="90000"/>
              </a:lnSpc>
              <a:spcBef>
                <a:spcPct val="20000"/>
              </a:spcBef>
              <a:buClr>
                <a:srgbClr val="7DA0D3"/>
              </a:buClr>
              <a:buFont typeface="Wingdings" panose="05000000000000000000" pitchFamily="2" charset="2"/>
            </a:pPr>
            <a:endParaRPr lang="en-US" altLang="zh-CN" sz="3200" dirty="0">
              <a:solidFill>
                <a:srgbClr val="000000"/>
              </a:solidFill>
              <a:latin typeface="Verdana" panose="020B0604030504040204" pitchFamily="34" charset="0"/>
              <a:ea typeface="宋体" panose="02010600030101010101" pitchFamily="2" charset="-122"/>
            </a:endParaRPr>
          </a:p>
        </p:txBody>
      </p:sp>
      <p:sp>
        <p:nvSpPr>
          <p:cNvPr id="91142" name="TextBox 6"/>
          <p:cNvSpPr txBox="1"/>
          <p:nvPr/>
        </p:nvSpPr>
        <p:spPr>
          <a:xfrm>
            <a:off x="714375" y="5000625"/>
            <a:ext cx="8001000" cy="1200150"/>
          </a:xfrm>
          <a:prstGeom prst="rect">
            <a:avLst/>
          </a:prstGeom>
          <a:noFill/>
          <a:ln w="9525">
            <a:noFill/>
          </a:ln>
        </p:spPr>
        <p:txBody>
          <a:bodyPr anchor="t" anchorCtr="0">
            <a:spAutoFit/>
          </a:bodyPr>
          <a:p>
            <a:r>
              <a:rPr lang="zh-CN" altLang="en-US" sz="2400" b="1" dirty="0">
                <a:solidFill>
                  <a:srgbClr val="FF0000"/>
                </a:solidFill>
                <a:latin typeface="Verdana" panose="020B0604030504040204" pitchFamily="34" charset="0"/>
                <a:ea typeface="宋体" panose="02010600030101010101" pitchFamily="2" charset="-122"/>
              </a:rPr>
              <a:t>行列子集视图</a:t>
            </a:r>
            <a:r>
              <a:rPr lang="zh-CN" altLang="en-US" sz="2400" b="1" dirty="0">
                <a:latin typeface="Verdana" panose="020B0604030504040204" pitchFamily="34" charset="0"/>
                <a:ea typeface="宋体" panose="02010600030101010101" pitchFamily="2" charset="-122"/>
              </a:rPr>
              <a:t>：如果一个视图是</a:t>
            </a:r>
            <a:r>
              <a:rPr lang="zh-CN" altLang="en-US" sz="2400" b="1" dirty="0">
                <a:solidFill>
                  <a:srgbClr val="0000FF"/>
                </a:solidFill>
                <a:latin typeface="Verdana" panose="020B0604030504040204" pitchFamily="34" charset="0"/>
                <a:ea typeface="宋体" panose="02010600030101010101" pitchFamily="2" charset="-122"/>
              </a:rPr>
              <a:t>从单表导出</a:t>
            </a:r>
            <a:r>
              <a:rPr lang="zh-CN" altLang="en-US" sz="2400" b="1" dirty="0">
                <a:latin typeface="Verdana" panose="020B0604030504040204" pitchFamily="34" charset="0"/>
                <a:ea typeface="宋体" panose="02010600030101010101" pitchFamily="2" charset="-122"/>
              </a:rPr>
              <a:t>，只是</a:t>
            </a:r>
            <a:r>
              <a:rPr lang="zh-CN" altLang="en-US" sz="2400" b="1" dirty="0">
                <a:solidFill>
                  <a:srgbClr val="0000FF"/>
                </a:solidFill>
                <a:latin typeface="Verdana" panose="020B0604030504040204" pitchFamily="34" charset="0"/>
                <a:ea typeface="宋体" panose="02010600030101010101" pitchFamily="2" charset="-122"/>
              </a:rPr>
              <a:t>去掉了一些行或列</a:t>
            </a:r>
            <a:r>
              <a:rPr lang="zh-CN" altLang="en-US" sz="2400" b="1" dirty="0">
                <a:latin typeface="Verdana" panose="020B0604030504040204" pitchFamily="34" charset="0"/>
                <a:ea typeface="宋体" panose="02010600030101010101" pitchFamily="2" charset="-122"/>
              </a:rPr>
              <a:t>，但</a:t>
            </a:r>
            <a:r>
              <a:rPr lang="zh-CN" altLang="en-US" sz="2400" b="1" dirty="0">
                <a:solidFill>
                  <a:srgbClr val="0000FF"/>
                </a:solidFill>
                <a:latin typeface="Verdana" panose="020B0604030504040204" pitchFamily="34" charset="0"/>
                <a:ea typeface="宋体" panose="02010600030101010101" pitchFamily="2" charset="-122"/>
              </a:rPr>
              <a:t>保留了主码</a:t>
            </a:r>
            <a:r>
              <a:rPr lang="zh-CN" altLang="en-US" sz="2400" b="1" dirty="0">
                <a:latin typeface="Verdana" panose="020B0604030504040204" pitchFamily="34" charset="0"/>
                <a:ea typeface="宋体" panose="02010600030101010101" pitchFamily="2" charset="-122"/>
              </a:rPr>
              <a:t>。一般，通过</a:t>
            </a:r>
            <a:r>
              <a:rPr lang="zh-CN" altLang="en-US" sz="2400" b="1" dirty="0">
                <a:solidFill>
                  <a:srgbClr val="FF0000"/>
                </a:solidFill>
                <a:latin typeface="Verdana" panose="020B0604030504040204" pitchFamily="34" charset="0"/>
                <a:ea typeface="宋体" panose="02010600030101010101" pitchFamily="2" charset="-122"/>
              </a:rPr>
              <a:t>行列子集视图可以进行更新。</a:t>
            </a:r>
            <a:endParaRPr lang="zh-CN" altLang="en-US" sz="2400" b="1" dirty="0">
              <a:solidFill>
                <a:srgbClr val="FF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6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9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5" grpId="0"/>
      <p:bldP spid="83968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93186"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endParaRPr lang="zh-CN" altLang="en-US" dirty="0"/>
          </a:p>
        </p:txBody>
      </p:sp>
      <p:sp>
        <p:nvSpPr>
          <p:cNvPr id="93187" name="Rectangle 3"/>
          <p:cNvSpPr>
            <a:spLocks noGrp="1"/>
          </p:cNvSpPr>
          <p:nvPr>
            <p:ph idx="1"/>
          </p:nvPr>
        </p:nvSpPr>
        <p:spPr>
          <a:xfrm>
            <a:off x="395288" y="1196975"/>
            <a:ext cx="8229600" cy="1023938"/>
          </a:xfrm>
          <a:ln/>
        </p:spPr>
        <p:txBody>
          <a:bodyPr vert="horz" wrap="square" lIns="91440" tIns="45720" rIns="91440" bIns="45720" anchor="t" anchorCtr="0"/>
          <a:p>
            <a:pPr eaLnBrk="1" hangingPunct="1">
              <a:lnSpc>
                <a:spcPct val="110000"/>
              </a:lnSpc>
            </a:pPr>
            <a:r>
              <a:rPr lang="zh-CN" altLang="en-US" sz="2400" dirty="0"/>
              <a:t>更新视图的限制：一些视图是不可更新的，因为对这些视图的更新不能唯一地有意义地转换成对相应基本表的更新</a:t>
            </a:r>
            <a:endParaRPr lang="zh-CN" altLang="en-US" sz="2400" dirty="0"/>
          </a:p>
          <a:p>
            <a:pPr eaLnBrk="1" hangingPunct="1">
              <a:lnSpc>
                <a:spcPct val="110000"/>
              </a:lnSpc>
              <a:buNone/>
            </a:pPr>
            <a:endParaRPr lang="en-US" altLang="zh-CN" sz="3200" dirty="0"/>
          </a:p>
        </p:txBody>
      </p:sp>
      <p:sp>
        <p:nvSpPr>
          <p:cNvPr id="93188" name="Rectangle 4"/>
          <p:cNvSpPr/>
          <p:nvPr/>
        </p:nvSpPr>
        <p:spPr>
          <a:xfrm>
            <a:off x="514350" y="2420938"/>
            <a:ext cx="8229600" cy="2087562"/>
          </a:xfrm>
          <a:prstGeom prst="rect">
            <a:avLst/>
          </a:prstGeom>
          <a:noFill/>
          <a:ln w="9525">
            <a:noFill/>
          </a:ln>
        </p:spPr>
        <p:txBody>
          <a:bodyPr anchor="t" anchorCtr="0"/>
          <a:p>
            <a:pPr marL="742950" lvl="1" indent="-285750" eaLnBrk="1" hangingPunct="1">
              <a:spcBef>
                <a:spcPct val="20000"/>
              </a:spcBef>
              <a:buClr>
                <a:srgbClr val="65AAE9"/>
              </a:buClr>
              <a:buFont typeface="Wingdings" panose="05000000000000000000" pitchFamily="2" charset="2"/>
            </a:pPr>
            <a:r>
              <a:rPr lang="zh-CN" altLang="en-US" sz="2400" dirty="0">
                <a:solidFill>
                  <a:srgbClr val="000000"/>
                </a:solidFill>
                <a:latin typeface="Verdana" panose="020B0604030504040204" pitchFamily="34" charset="0"/>
                <a:ea typeface="宋体" panose="02010600030101010101" pitchFamily="2" charset="-122"/>
              </a:rPr>
              <a:t>例：视图</a:t>
            </a:r>
            <a:r>
              <a:rPr lang="en-US" altLang="zh-CN" sz="2400" dirty="0">
                <a:solidFill>
                  <a:srgbClr val="000000"/>
                </a:solidFill>
                <a:latin typeface="Verdana" panose="020B0604030504040204" pitchFamily="34" charset="0"/>
                <a:ea typeface="宋体" panose="02010600030101010101" pitchFamily="2" charset="-122"/>
              </a:rPr>
              <a:t>S_G</a:t>
            </a:r>
            <a:r>
              <a:rPr lang="zh-CN" altLang="en-US" sz="2400" dirty="0">
                <a:solidFill>
                  <a:srgbClr val="000000"/>
                </a:solidFill>
                <a:latin typeface="Verdana" panose="020B0604030504040204" pitchFamily="34" charset="0"/>
                <a:ea typeface="宋体" panose="02010600030101010101" pitchFamily="2" charset="-122"/>
              </a:rPr>
              <a:t>为不可更新视图。</a:t>
            </a:r>
            <a:endParaRPr lang="zh-CN" altLang="en-US" sz="2400" dirty="0">
              <a:solidFill>
                <a:srgbClr val="000000"/>
              </a:solidFill>
              <a:latin typeface="Verdana" panose="020B0604030504040204" pitchFamily="34" charset="0"/>
              <a:ea typeface="宋体" panose="02010600030101010101" pitchFamily="2" charset="-122"/>
            </a:endParaRPr>
          </a:p>
          <a:p>
            <a:pPr marL="2057400" lvl="4" indent="-228600" eaLnBrk="1" hangingPunct="1">
              <a:lnSpc>
                <a:spcPct val="110000"/>
              </a:lnSpc>
              <a:spcBef>
                <a:spcPct val="20000"/>
              </a:spcBef>
            </a:pPr>
            <a:r>
              <a:rPr lang="en-US" altLang="zh-CN" sz="2000" dirty="0">
                <a:solidFill>
                  <a:srgbClr val="000000"/>
                </a:solidFill>
                <a:latin typeface="Verdana" panose="020B0604030504040204" pitchFamily="34" charset="0"/>
                <a:ea typeface="宋体" panose="02010600030101010101" pitchFamily="2" charset="-122"/>
              </a:rPr>
              <a:t>UPDATE  S_G</a:t>
            </a:r>
            <a:endParaRPr lang="en-US" altLang="zh-CN" sz="2000" dirty="0">
              <a:solidFill>
                <a:srgbClr val="000000"/>
              </a:solidFill>
              <a:latin typeface="Verdana" panose="020B0604030504040204" pitchFamily="34" charset="0"/>
              <a:ea typeface="宋体" panose="02010600030101010101" pitchFamily="2" charset="-122"/>
            </a:endParaRPr>
          </a:p>
          <a:p>
            <a:pPr marL="2057400" lvl="4" indent="-228600" eaLnBrk="1" hangingPunct="1">
              <a:lnSpc>
                <a:spcPct val="110000"/>
              </a:lnSpc>
              <a:spcBef>
                <a:spcPct val="20000"/>
              </a:spcBef>
            </a:pPr>
            <a:r>
              <a:rPr lang="en-US" altLang="zh-CN" sz="2000" dirty="0">
                <a:solidFill>
                  <a:srgbClr val="000000"/>
                </a:solidFill>
                <a:latin typeface="Verdana" panose="020B0604030504040204" pitchFamily="34" charset="0"/>
                <a:ea typeface="宋体" panose="02010600030101010101" pitchFamily="2" charset="-122"/>
              </a:rPr>
              <a:t>SET    Gavg=90</a:t>
            </a:r>
            <a:endParaRPr lang="en-US" altLang="zh-CN" sz="2000" dirty="0">
              <a:solidFill>
                <a:srgbClr val="000000"/>
              </a:solidFill>
              <a:latin typeface="Verdana" panose="020B0604030504040204" pitchFamily="34" charset="0"/>
              <a:ea typeface="宋体" panose="02010600030101010101" pitchFamily="2" charset="-122"/>
            </a:endParaRPr>
          </a:p>
          <a:p>
            <a:pPr marL="2057400" lvl="4" indent="-228600" eaLnBrk="1" hangingPunct="1">
              <a:lnSpc>
                <a:spcPct val="110000"/>
              </a:lnSpc>
              <a:spcBef>
                <a:spcPct val="20000"/>
              </a:spcBef>
            </a:pPr>
            <a:r>
              <a:rPr lang="en-US" altLang="zh-CN" sz="2000" dirty="0">
                <a:solidFill>
                  <a:srgbClr val="000000"/>
                </a:solidFill>
                <a:latin typeface="Verdana" panose="020B0604030504040204" pitchFamily="34" charset="0"/>
                <a:ea typeface="宋体" panose="02010600030101010101" pitchFamily="2" charset="-122"/>
              </a:rPr>
              <a:t>WHERE  Sno= '200215121' </a:t>
            </a:r>
            <a:endParaRPr lang="zh-CN" altLang="en-US" sz="2000" dirty="0">
              <a:solidFill>
                <a:srgbClr val="000000"/>
              </a:solidFill>
              <a:latin typeface="Verdana" panose="020B0604030504040204" pitchFamily="34" charset="0"/>
              <a:ea typeface="宋体" panose="02010600030101010101" pitchFamily="2" charset="-122"/>
            </a:endParaRPr>
          </a:p>
          <a:p>
            <a:pPr marL="742950" lvl="1" indent="-285750" eaLnBrk="1" hangingPunct="1">
              <a:spcBef>
                <a:spcPct val="20000"/>
              </a:spcBef>
              <a:buClr>
                <a:srgbClr val="65AAE9"/>
              </a:buClr>
              <a:buFont typeface="Wingdings" panose="05000000000000000000" pitchFamily="2" charset="2"/>
            </a:pPr>
            <a:r>
              <a:rPr lang="zh-CN" altLang="en-US" sz="2400" dirty="0">
                <a:solidFill>
                  <a:srgbClr val="000000"/>
                </a:solidFill>
                <a:latin typeface="Verdana" panose="020B0604030504040204" pitchFamily="34" charset="0"/>
                <a:ea typeface="宋体" panose="02010600030101010101" pitchFamily="2" charset="-122"/>
              </a:rPr>
              <a:t>这个对视图的更新无法转换成对基本表</a:t>
            </a:r>
            <a:r>
              <a:rPr lang="en-US" altLang="zh-CN" sz="2400" dirty="0">
                <a:solidFill>
                  <a:srgbClr val="000000"/>
                </a:solidFill>
                <a:latin typeface="Verdana" panose="020B0604030504040204" pitchFamily="34" charset="0"/>
                <a:ea typeface="宋体" panose="02010600030101010101" pitchFamily="2" charset="-122"/>
              </a:rPr>
              <a:t>SC</a:t>
            </a:r>
            <a:r>
              <a:rPr lang="zh-CN" altLang="en-US" sz="2400" dirty="0">
                <a:solidFill>
                  <a:srgbClr val="000000"/>
                </a:solidFill>
                <a:latin typeface="Verdana" panose="020B0604030504040204" pitchFamily="34" charset="0"/>
                <a:ea typeface="宋体" panose="02010600030101010101" pitchFamily="2" charset="-122"/>
              </a:rPr>
              <a:t>的更新</a:t>
            </a:r>
            <a:endParaRPr lang="zh-CN" altLang="en-US" sz="2400" dirty="0">
              <a:solidFill>
                <a:srgbClr val="000000"/>
              </a:solidFill>
              <a:latin typeface="Verdana" panose="020B0604030504040204" pitchFamily="34" charset="0"/>
              <a:ea typeface="宋体" panose="02010600030101010101" pitchFamily="2" charset="-122"/>
            </a:endParaRPr>
          </a:p>
        </p:txBody>
      </p:sp>
      <p:sp>
        <p:nvSpPr>
          <p:cNvPr id="93189" name="Rectangle 3"/>
          <p:cNvSpPr txBox="1"/>
          <p:nvPr/>
        </p:nvSpPr>
        <p:spPr>
          <a:xfrm>
            <a:off x="395288" y="4629150"/>
            <a:ext cx="8001000" cy="1176338"/>
          </a:xfrm>
          <a:prstGeom prst="rect">
            <a:avLst/>
          </a:prstGeom>
          <a:noFill/>
          <a:ln w="9525">
            <a:noFill/>
          </a:ln>
        </p:spPr>
        <p:txBody>
          <a:bodyPr anchor="t" anchorCtr="0"/>
          <a:p>
            <a:pPr marL="469900" indent="-469900">
              <a:lnSpc>
                <a:spcPct val="120000"/>
              </a:lnSpc>
              <a:spcBef>
                <a:spcPct val="20000"/>
              </a:spcBef>
              <a:buClr>
                <a:schemeClr val="accent2"/>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实际数据库管理系统中，允许</a:t>
            </a:r>
            <a:r>
              <a:rPr lang="zh-CN" altLang="en-US" sz="2400" b="1" dirty="0">
                <a:latin typeface="宋体" panose="02010600030101010101" pitchFamily="2" charset="-122"/>
                <a:ea typeface="宋体" panose="02010600030101010101" pitchFamily="2" charset="-122"/>
              </a:rPr>
              <a:t>对</a:t>
            </a:r>
            <a:r>
              <a:rPr lang="zh-CN" altLang="en-US" sz="2400" b="1" dirty="0">
                <a:solidFill>
                  <a:srgbClr val="FF0000"/>
                </a:solidFill>
                <a:latin typeface="宋体" panose="02010600030101010101" pitchFamily="2" charset="-122"/>
                <a:ea typeface="宋体" panose="02010600030101010101" pitchFamily="2" charset="-122"/>
              </a:rPr>
              <a:t>行列子集视图</a:t>
            </a:r>
            <a:r>
              <a:rPr lang="zh-CN" altLang="en-US" sz="2400" dirty="0">
                <a:latin typeface="宋体" panose="02010600030101010101" pitchFamily="2" charset="-122"/>
                <a:ea typeface="宋体" panose="02010600030101010101" pitchFamily="2" charset="-122"/>
              </a:rPr>
              <a:t>进行</a:t>
            </a:r>
            <a:r>
              <a:rPr lang="zh-CN" altLang="en-US" sz="2400" b="1" dirty="0">
                <a:solidFill>
                  <a:srgbClr val="FF0000"/>
                </a:solidFill>
                <a:latin typeface="宋体" panose="02010600030101010101" pitchFamily="2" charset="-122"/>
                <a:ea typeface="宋体" panose="02010600030101010101" pitchFamily="2" charset="-122"/>
              </a:rPr>
              <a:t>更新</a:t>
            </a:r>
            <a:endParaRPr lang="zh-CN" altLang="en-US" sz="2400" b="1" dirty="0">
              <a:solidFill>
                <a:srgbClr val="FF0000"/>
              </a:solidFill>
              <a:latin typeface="宋体" panose="02010600030101010101" pitchFamily="2" charset="-122"/>
              <a:ea typeface="宋体" panose="02010600030101010101" pitchFamily="2" charset="-122"/>
            </a:endParaRPr>
          </a:p>
          <a:p>
            <a:pPr marL="469900" indent="-469900">
              <a:lnSpc>
                <a:spcPct val="120000"/>
              </a:lnSpc>
              <a:spcBef>
                <a:spcPct val="20000"/>
              </a:spcBef>
              <a:buClr>
                <a:schemeClr val="accent2"/>
              </a:buClr>
              <a:buFont typeface="Wingdings" panose="05000000000000000000" pitchFamily="2" charset="2"/>
              <a:buChar char="n"/>
            </a:pPr>
            <a:r>
              <a:rPr lang="zh-CN" altLang="en-US" sz="2400" dirty="0">
                <a:latin typeface="宋体" panose="02010600030101010101" pitchFamily="2" charset="-122"/>
                <a:ea typeface="宋体" panose="02010600030101010101" pitchFamily="2" charset="-122"/>
              </a:rPr>
              <a:t>对其他类型视图的更新不同系统有不同限制</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95234"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r>
              <a:rPr lang="en-US" altLang="zh-CN" sz="3600" dirty="0"/>
              <a:t>-</a:t>
            </a:r>
            <a:r>
              <a:rPr lang="zh-CN" altLang="en-US" dirty="0"/>
              <a:t>删除视图</a:t>
            </a:r>
            <a:endParaRPr lang="zh-CN" altLang="en-US" dirty="0"/>
          </a:p>
        </p:txBody>
      </p:sp>
      <p:sp>
        <p:nvSpPr>
          <p:cNvPr id="95235" name="Rectangle 3"/>
          <p:cNvSpPr>
            <a:spLocks noGrp="1"/>
          </p:cNvSpPr>
          <p:nvPr>
            <p:ph idx="1"/>
          </p:nvPr>
        </p:nvSpPr>
        <p:spPr>
          <a:xfrm>
            <a:off x="468313" y="1052513"/>
            <a:ext cx="8229600" cy="5113337"/>
          </a:xfrm>
          <a:ln/>
        </p:spPr>
        <p:txBody>
          <a:bodyPr vert="horz" wrap="square" lIns="91440" tIns="45720" rIns="91440" bIns="45720" anchor="t" anchorCtr="0"/>
          <a:p>
            <a:pPr eaLnBrk="1" hangingPunct="1"/>
            <a:r>
              <a:rPr lang="zh-CN" altLang="en-US" dirty="0"/>
              <a:t>语句的格式：</a:t>
            </a:r>
            <a:endParaRPr lang="en-US" altLang="zh-CN" dirty="0"/>
          </a:p>
          <a:p>
            <a:pPr eaLnBrk="1" hangingPunct="1"/>
            <a:r>
              <a:rPr lang="zh-CN" altLang="en-US" dirty="0"/>
              <a:t>	</a:t>
            </a:r>
            <a:r>
              <a:rPr lang="en-US" altLang="zh-CN" dirty="0"/>
              <a:t>DROP  VIEW  &lt;</a:t>
            </a:r>
            <a:r>
              <a:rPr lang="zh-CN" altLang="en-US" dirty="0"/>
              <a:t>视图名</a:t>
            </a:r>
            <a:r>
              <a:rPr lang="en-US" altLang="zh-CN" dirty="0"/>
              <a:t>&gt;</a:t>
            </a:r>
            <a:r>
              <a:rPr lang="zh-CN" altLang="en-US" dirty="0"/>
              <a:t>；</a:t>
            </a:r>
            <a:endParaRPr lang="zh-CN" altLang="en-US" dirty="0"/>
          </a:p>
          <a:p>
            <a:pPr lvl="1" indent="-436245" eaLnBrk="1" hangingPunct="1">
              <a:lnSpc>
                <a:spcPct val="130000"/>
              </a:lnSpc>
            </a:pPr>
            <a:r>
              <a:rPr lang="zh-CN" altLang="en-US" dirty="0"/>
              <a:t>该语句从数据字典中删除指定的视图定义</a:t>
            </a:r>
            <a:endParaRPr lang="zh-CN" altLang="en-US" dirty="0"/>
          </a:p>
          <a:p>
            <a:pPr lvl="1" indent="-436245" eaLnBrk="1" hangingPunct="1">
              <a:lnSpc>
                <a:spcPct val="130000"/>
              </a:lnSpc>
            </a:pPr>
            <a:r>
              <a:rPr lang="zh-CN" altLang="en-US" b="1" dirty="0">
                <a:solidFill>
                  <a:srgbClr val="FF0000"/>
                </a:solidFill>
              </a:rPr>
              <a:t>如果该视图上还导出了其他视图</a:t>
            </a:r>
            <a:endParaRPr lang="en-US" altLang="zh-CN" b="1" dirty="0">
              <a:solidFill>
                <a:srgbClr val="FF0000"/>
              </a:solidFill>
            </a:endParaRPr>
          </a:p>
          <a:p>
            <a:pPr lvl="2" indent="-394970" eaLnBrk="1" hangingPunct="1">
              <a:lnSpc>
                <a:spcPct val="130000"/>
              </a:lnSpc>
            </a:pPr>
            <a:r>
              <a:rPr lang="en-US" altLang="zh-CN" dirty="0"/>
              <a:t>Kingbase ES</a:t>
            </a:r>
            <a:r>
              <a:rPr lang="zh-CN" altLang="en-US" dirty="0"/>
              <a:t>数据库管理系统，使用</a:t>
            </a:r>
            <a:r>
              <a:rPr lang="en-US" altLang="zh-CN" dirty="0"/>
              <a:t>CASCADE</a:t>
            </a:r>
            <a:r>
              <a:rPr lang="zh-CN" altLang="en-US" dirty="0"/>
              <a:t>级联删除语句，把该视图和由它导出的所有视图一起删除 </a:t>
            </a:r>
            <a:endParaRPr lang="en-US" altLang="zh-CN" dirty="0"/>
          </a:p>
          <a:p>
            <a:pPr lvl="2" indent="-394970" eaLnBrk="1" hangingPunct="1">
              <a:lnSpc>
                <a:spcPct val="130000"/>
              </a:lnSpc>
            </a:pPr>
            <a:r>
              <a:rPr lang="en-US" altLang="zh-CN" dirty="0"/>
              <a:t>MySQL</a:t>
            </a:r>
            <a:r>
              <a:rPr lang="zh-CN" altLang="en-US" dirty="0"/>
              <a:t>数据库管理系统，</a:t>
            </a:r>
            <a:r>
              <a:rPr lang="zh-CN" altLang="en-US" b="1" dirty="0">
                <a:solidFill>
                  <a:srgbClr val="0000FF"/>
                </a:solidFill>
              </a:rPr>
              <a:t>只删除这个视图</a:t>
            </a:r>
            <a:r>
              <a:rPr lang="zh-CN" altLang="en-US" dirty="0"/>
              <a:t>，由它</a:t>
            </a:r>
            <a:r>
              <a:rPr lang="zh-CN" altLang="en-US" b="1" dirty="0">
                <a:solidFill>
                  <a:srgbClr val="0000FF"/>
                </a:solidFill>
              </a:rPr>
              <a:t>导出的视图还存在但是已经失效</a:t>
            </a:r>
            <a:r>
              <a:rPr lang="zh-CN" altLang="en-US" dirty="0"/>
              <a:t>。删除视图时没有</a:t>
            </a:r>
            <a:r>
              <a:rPr lang="en-US" altLang="zh-CN" dirty="0"/>
              <a:t>cascade</a:t>
            </a:r>
            <a:r>
              <a:rPr lang="zh-CN" altLang="en-US" dirty="0"/>
              <a:t>选项</a:t>
            </a:r>
            <a:endParaRPr lang="zh-CN" altLang="en-US" dirty="0"/>
          </a:p>
        </p:txBody>
      </p:sp>
    </p:spTree>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97282" name="Rectangle 2"/>
          <p:cNvSpPr>
            <a:spLocks noGrp="1"/>
          </p:cNvSpPr>
          <p:nvPr>
            <p:ph type="title"/>
          </p:nvPr>
        </p:nvSpPr>
        <p:spPr>
          <a:ln/>
        </p:spPr>
        <p:txBody>
          <a:bodyPr vert="horz" wrap="square" lIns="91440" tIns="45720" rIns="91440" bIns="45720" anchor="b" anchorCtr="0"/>
          <a:p>
            <a:pPr eaLnBrk="1" hangingPunct="1"/>
            <a:r>
              <a:rPr lang="en-US" altLang="zh-CN" sz="3600" dirty="0"/>
              <a:t>3.6.3  </a:t>
            </a:r>
            <a:r>
              <a:rPr lang="zh-CN" altLang="en-US" sz="3600" dirty="0"/>
              <a:t>更新视图</a:t>
            </a:r>
            <a:r>
              <a:rPr lang="en-US" altLang="zh-CN" sz="3600" dirty="0"/>
              <a:t>-</a:t>
            </a:r>
            <a:r>
              <a:rPr lang="zh-CN" altLang="en-US" dirty="0"/>
              <a:t>删除视图</a:t>
            </a:r>
            <a:r>
              <a:rPr lang="en-US" altLang="zh-CN" dirty="0"/>
              <a:t>(</a:t>
            </a:r>
            <a:r>
              <a:rPr lang="zh-CN" altLang="en-US" dirty="0"/>
              <a:t>续）</a:t>
            </a:r>
            <a:endParaRPr lang="zh-CN" altLang="en-US" dirty="0"/>
          </a:p>
        </p:txBody>
      </p:sp>
      <p:sp>
        <p:nvSpPr>
          <p:cNvPr id="97283" name="Rectangle 3"/>
          <p:cNvSpPr>
            <a:spLocks noGrp="1"/>
          </p:cNvSpPr>
          <p:nvPr>
            <p:ph idx="1"/>
          </p:nvPr>
        </p:nvSpPr>
        <p:spPr>
          <a:xfrm>
            <a:off x="395288" y="1143000"/>
            <a:ext cx="8172450" cy="4876800"/>
          </a:xfrm>
          <a:ln/>
        </p:spPr>
        <p:txBody>
          <a:bodyPr vert="horz" wrap="square" lIns="91440" tIns="45720" rIns="91440" bIns="45720" anchor="t" anchorCtr="0"/>
          <a:p>
            <a:pPr eaLnBrk="1" hangingPunct="1">
              <a:lnSpc>
                <a:spcPct val="110000"/>
              </a:lnSpc>
              <a:buNone/>
            </a:pPr>
            <a:r>
              <a:rPr lang="zh-CN" altLang="en-US" dirty="0">
                <a:solidFill>
                  <a:srgbClr val="FF0000"/>
                </a:solidFill>
              </a:rPr>
              <a:t>删除基本表  </a:t>
            </a:r>
            <a:endParaRPr lang="en-US" altLang="zh-CN" dirty="0">
              <a:solidFill>
                <a:srgbClr val="FF0000"/>
              </a:solidFill>
            </a:endParaRPr>
          </a:p>
          <a:p>
            <a:pPr eaLnBrk="1" hangingPunct="1">
              <a:lnSpc>
                <a:spcPct val="110000"/>
              </a:lnSpc>
              <a:buNone/>
            </a:pPr>
            <a:r>
              <a:rPr lang="zh-CN" altLang="en-US" sz="2800" dirty="0"/>
              <a:t>在</a:t>
            </a:r>
            <a:r>
              <a:rPr lang="en-US" altLang="zh-CN" sz="2800" dirty="0"/>
              <a:t>MySQL</a:t>
            </a:r>
            <a:r>
              <a:rPr lang="zh-CN" altLang="en-US" sz="2800" dirty="0"/>
              <a:t>中，删除基表时，如果有由该基表导出的视图定义，该</a:t>
            </a:r>
            <a:r>
              <a:rPr lang="zh-CN" altLang="en-US" sz="2800" b="1" dirty="0">
                <a:solidFill>
                  <a:srgbClr val="FF0000"/>
                </a:solidFill>
              </a:rPr>
              <a:t>基本表可以直接被删除</a:t>
            </a:r>
            <a:r>
              <a:rPr lang="zh-CN" altLang="en-US" sz="2800" dirty="0"/>
              <a:t>，</a:t>
            </a:r>
            <a:r>
              <a:rPr lang="zh-CN" altLang="en-US" sz="2800" b="1" dirty="0">
                <a:solidFill>
                  <a:srgbClr val="0000FF"/>
                </a:solidFill>
              </a:rPr>
              <a:t>视图还在，但是已经失效</a:t>
            </a:r>
            <a:r>
              <a:rPr lang="zh-CN" altLang="en-US" sz="2800" dirty="0"/>
              <a:t>。没有</a:t>
            </a:r>
            <a:r>
              <a:rPr lang="en-US" altLang="zh-CN" sz="2800" dirty="0"/>
              <a:t>cascade</a:t>
            </a:r>
            <a:r>
              <a:rPr lang="zh-CN" altLang="en-US" sz="2800" dirty="0"/>
              <a:t>选项。</a:t>
            </a:r>
            <a:endParaRPr lang="en-US" altLang="zh-CN" sz="2800" dirty="0"/>
          </a:p>
          <a:p>
            <a:pPr eaLnBrk="1" hangingPunct="1">
              <a:lnSpc>
                <a:spcPct val="110000"/>
              </a:lnSpc>
              <a:buNone/>
            </a:pPr>
            <a:r>
              <a:rPr lang="zh-CN" altLang="en-US" sz="2800" dirty="0"/>
              <a:t>在</a:t>
            </a:r>
            <a:r>
              <a:rPr lang="en-US" altLang="zh-CN" sz="2800" dirty="0"/>
              <a:t>kingbase ES</a:t>
            </a:r>
            <a:r>
              <a:rPr lang="zh-CN" altLang="en-US" sz="2800" dirty="0"/>
              <a:t>中，删除基本表时，如果有由该基表导出的视图定义，有两种情况，一种是删除表时加</a:t>
            </a:r>
            <a:r>
              <a:rPr lang="en-US" altLang="zh-CN" sz="2800" dirty="0"/>
              <a:t>cascade</a:t>
            </a:r>
            <a:r>
              <a:rPr lang="zh-CN" altLang="en-US" sz="2800" dirty="0"/>
              <a:t>，级联删除视图；一种是不加</a:t>
            </a:r>
            <a:r>
              <a:rPr lang="en-US" altLang="zh-CN" sz="2800" dirty="0"/>
              <a:t>cascade</a:t>
            </a:r>
            <a:r>
              <a:rPr lang="zh-CN" altLang="en-US" sz="2800" dirty="0"/>
              <a:t>，默认为</a:t>
            </a:r>
            <a:r>
              <a:rPr lang="en-US" altLang="zh-CN" sz="2800" dirty="0"/>
              <a:t>distinct</a:t>
            </a:r>
            <a:r>
              <a:rPr lang="zh-CN" altLang="en-US" sz="2800" dirty="0"/>
              <a:t>，拒绝删除，如果想删除，可以先删除视图，再删除表。</a:t>
            </a:r>
            <a:endParaRPr lang="zh-CN" altLang="en-US" sz="2800" dirty="0"/>
          </a:p>
        </p:txBody>
      </p:sp>
    </p:spTree>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99330" name="Rectangle 2"/>
          <p:cNvSpPr>
            <a:spLocks noGrp="1"/>
          </p:cNvSpPr>
          <p:nvPr>
            <p:ph type="title"/>
          </p:nvPr>
        </p:nvSpPr>
        <p:spPr>
          <a:ln/>
        </p:spPr>
        <p:txBody>
          <a:bodyPr vert="horz" wrap="square" lIns="91440" tIns="45720" rIns="91440" bIns="45720" anchor="b" anchorCtr="0"/>
          <a:p>
            <a:pPr eaLnBrk="1" hangingPunct="1"/>
            <a:r>
              <a:rPr lang="en-US" altLang="zh-CN" sz="3200" dirty="0"/>
              <a:t>3.6  </a:t>
            </a:r>
            <a:r>
              <a:rPr lang="zh-CN" altLang="en-US" sz="3200" dirty="0"/>
              <a:t>视    图</a:t>
            </a:r>
            <a:endParaRPr lang="zh-CN" altLang="en-US" sz="3200" dirty="0"/>
          </a:p>
        </p:txBody>
      </p:sp>
      <p:sp>
        <p:nvSpPr>
          <p:cNvPr id="99331" name="Rectangle 3"/>
          <p:cNvSpPr>
            <a:spLocks noGrp="1"/>
          </p:cNvSpPr>
          <p:nvPr>
            <p:ph idx="1"/>
          </p:nvPr>
        </p:nvSpPr>
        <p:spPr>
          <a:xfrm>
            <a:off x="642938" y="1285875"/>
            <a:ext cx="7859712" cy="4495800"/>
          </a:xfrm>
          <a:ln/>
        </p:spPr>
        <p:txBody>
          <a:bodyPr vert="horz" wrap="square" lIns="91440" tIns="45720" rIns="91440" bIns="45720" anchor="t" anchorCtr="0"/>
          <a:p>
            <a:pPr eaLnBrk="1" hangingPunct="1">
              <a:lnSpc>
                <a:spcPct val="180000"/>
              </a:lnSpc>
              <a:buNone/>
            </a:pPr>
            <a:r>
              <a:rPr lang="en-US" altLang="zh-CN" b="1" dirty="0"/>
              <a:t>3.6.1  </a:t>
            </a:r>
            <a:r>
              <a:rPr lang="zh-CN" altLang="en-US" b="1" dirty="0"/>
              <a:t>定义视图</a:t>
            </a:r>
            <a:endParaRPr lang="zh-CN" altLang="en-US" b="1" dirty="0"/>
          </a:p>
          <a:p>
            <a:pPr eaLnBrk="1" hangingPunct="1">
              <a:lnSpc>
                <a:spcPct val="180000"/>
              </a:lnSpc>
              <a:buNone/>
            </a:pPr>
            <a:r>
              <a:rPr lang="en-US" altLang="zh-CN" b="1" dirty="0"/>
              <a:t>3.6.2  </a:t>
            </a:r>
            <a:r>
              <a:rPr lang="zh-CN" altLang="en-US" b="1" dirty="0"/>
              <a:t>查询视图</a:t>
            </a:r>
            <a:endParaRPr lang="zh-CN" altLang="en-US" b="1" dirty="0"/>
          </a:p>
          <a:p>
            <a:pPr eaLnBrk="1" hangingPunct="1">
              <a:lnSpc>
                <a:spcPct val="180000"/>
              </a:lnSpc>
              <a:buNone/>
            </a:pPr>
            <a:r>
              <a:rPr lang="en-US" altLang="zh-CN" b="1" dirty="0"/>
              <a:t>3.6.3  </a:t>
            </a:r>
            <a:r>
              <a:rPr lang="zh-CN" altLang="en-US" b="1" dirty="0"/>
              <a:t>更新视图</a:t>
            </a:r>
            <a:endParaRPr lang="zh-CN" altLang="en-US" b="1" dirty="0"/>
          </a:p>
          <a:p>
            <a:pPr eaLnBrk="1" hangingPunct="1">
              <a:lnSpc>
                <a:spcPct val="180000"/>
              </a:lnSpc>
              <a:buNone/>
            </a:pPr>
            <a:r>
              <a:rPr lang="en-US" altLang="zh-CN" b="1" dirty="0">
                <a:solidFill>
                  <a:srgbClr val="0033CC"/>
                </a:solidFill>
              </a:rPr>
              <a:t>3.6.4  </a:t>
            </a:r>
            <a:r>
              <a:rPr lang="zh-CN" altLang="en-US" b="1" dirty="0">
                <a:solidFill>
                  <a:srgbClr val="0033CC"/>
                </a:solidFill>
              </a:rPr>
              <a:t>视图的作用</a:t>
            </a:r>
            <a:endParaRPr lang="zh-CN" altLang="en-US" b="1" dirty="0">
              <a:solidFill>
                <a:srgbClr val="0033CC"/>
              </a:solidFill>
            </a:endParaRPr>
          </a:p>
          <a:p>
            <a:pPr eaLnBrk="1" hangingPunct="1">
              <a:buNone/>
            </a:pPr>
            <a:endParaRPr lang="en-US" altLang="zh-CN" b="1" dirty="0">
              <a:solidFill>
                <a:srgbClr val="0033CC"/>
              </a:solidFill>
            </a:endParaRPr>
          </a:p>
        </p:txBody>
      </p:sp>
    </p:spTree>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01378" name="Rectangle 2"/>
          <p:cNvSpPr>
            <a:spLocks noGrp="1"/>
          </p:cNvSpPr>
          <p:nvPr>
            <p:ph type="title"/>
          </p:nvPr>
        </p:nvSpPr>
        <p:spPr>
          <a:ln/>
        </p:spPr>
        <p:txBody>
          <a:bodyPr vert="horz" wrap="square" lIns="91440" tIns="45720" rIns="91440" bIns="45720" anchor="b" anchorCtr="0"/>
          <a:p>
            <a:pPr eaLnBrk="1" hangingPunct="1"/>
            <a:r>
              <a:rPr lang="en-US" altLang="zh-CN" sz="3200" dirty="0"/>
              <a:t>3.6.4  </a:t>
            </a:r>
            <a:r>
              <a:rPr lang="zh-CN" altLang="en-US" sz="3200" dirty="0"/>
              <a:t>视图的作用</a:t>
            </a:r>
            <a:endParaRPr lang="zh-CN" altLang="en-US" sz="3200" dirty="0"/>
          </a:p>
        </p:txBody>
      </p:sp>
      <p:sp>
        <p:nvSpPr>
          <p:cNvPr id="847875" name="Rectangle 3"/>
          <p:cNvSpPr>
            <a:spLocks noGrp="1"/>
          </p:cNvSpPr>
          <p:nvPr>
            <p:ph idx="1"/>
          </p:nvPr>
        </p:nvSpPr>
        <p:spPr>
          <a:xfrm>
            <a:off x="528638" y="1052513"/>
            <a:ext cx="8435975" cy="2808287"/>
          </a:xfrm>
          <a:ln/>
        </p:spPr>
        <p:txBody>
          <a:bodyPr vert="horz" wrap="square" lIns="91440" tIns="45720" rIns="91440" bIns="45720" anchor="t" anchorCtr="0"/>
          <a:p>
            <a:pPr eaLnBrk="1" hangingPunct="1">
              <a:lnSpc>
                <a:spcPct val="130000"/>
              </a:lnSpc>
              <a:buNone/>
            </a:pPr>
            <a:r>
              <a:rPr lang="en-US" altLang="zh-CN" dirty="0"/>
              <a:t>1. </a:t>
            </a:r>
            <a:r>
              <a:rPr lang="zh-CN" altLang="en-US" dirty="0"/>
              <a:t>视图能够简化用户（程序员）的操作</a:t>
            </a:r>
            <a:endParaRPr lang="zh-CN" altLang="en-US" dirty="0"/>
          </a:p>
          <a:p>
            <a:pPr marL="469900" lvl="1" indent="0" eaLnBrk="1" hangingPunct="1">
              <a:lnSpc>
                <a:spcPct val="130000"/>
              </a:lnSpc>
              <a:buNone/>
            </a:pPr>
            <a:r>
              <a:rPr lang="zh-CN" altLang="en-US" sz="2400" dirty="0"/>
              <a:t>视图机制使用户可以将注意力集中在他所关心的数据上。如果这些数据不是直接来自基本表，则可以通过定义视图，使用户眼中的数据库结构简单、清晰，并且可以简化用户的数据查询操作。 </a:t>
            </a:r>
            <a:endParaRPr lang="zh-CN" altLang="en-US" sz="2400" dirty="0"/>
          </a:p>
        </p:txBody>
      </p:sp>
      <p:sp>
        <p:nvSpPr>
          <p:cNvPr id="101380" name="Rectangle 4"/>
          <p:cNvSpPr/>
          <p:nvPr/>
        </p:nvSpPr>
        <p:spPr>
          <a:xfrm>
            <a:off x="755650" y="4149725"/>
            <a:ext cx="8208963" cy="2447925"/>
          </a:xfrm>
          <a:prstGeom prst="rect">
            <a:avLst/>
          </a:prstGeom>
          <a:noFill/>
          <a:ln w="9525">
            <a:noFill/>
          </a:ln>
        </p:spPr>
        <p:txBody>
          <a:bodyPr anchor="t" anchorCtr="0"/>
          <a:p>
            <a:pPr marL="342900" indent="-342900">
              <a:lnSpc>
                <a:spcPct val="130000"/>
              </a:lnSpc>
              <a:spcBef>
                <a:spcPct val="20000"/>
              </a:spcBef>
              <a:buClr>
                <a:srgbClr val="7DA0D3"/>
              </a:buClr>
              <a:buFont typeface="Wingdings" panose="05000000000000000000" pitchFamily="2" charset="2"/>
            </a:pPr>
            <a:endParaRPr lang="zh-CN" altLang="zh-CN" sz="2400" dirty="0">
              <a:solidFill>
                <a:srgbClr val="000000"/>
              </a:solidFill>
              <a:latin typeface="Verdana" panose="020B0604030504040204" pitchFamily="34" charset="0"/>
              <a:ea typeface="宋体" panose="02010600030101010101" pitchFamily="2" charset="-122"/>
            </a:endParaRPr>
          </a:p>
        </p:txBody>
      </p:sp>
      <p:sp>
        <p:nvSpPr>
          <p:cNvPr id="847877" name="Rectangle 5"/>
          <p:cNvSpPr/>
          <p:nvPr/>
        </p:nvSpPr>
        <p:spPr>
          <a:xfrm>
            <a:off x="539750" y="3933825"/>
            <a:ext cx="8537575" cy="2160588"/>
          </a:xfrm>
          <a:prstGeom prst="rect">
            <a:avLst/>
          </a:prstGeom>
          <a:noFill/>
          <a:ln w="9525">
            <a:noFill/>
          </a:ln>
        </p:spPr>
        <p:txBody>
          <a:bodyPr anchor="t" anchorCtr="0"/>
          <a:p>
            <a:pPr marL="342900" indent="-342900">
              <a:spcBef>
                <a:spcPct val="20000"/>
              </a:spcBef>
              <a:buClr>
                <a:srgbClr val="7DA0D3"/>
              </a:buClr>
              <a:buFont typeface="Wingdings" panose="05000000000000000000" pitchFamily="2" charset="2"/>
            </a:pPr>
            <a:r>
              <a:rPr lang="en-US" altLang="zh-CN" sz="2800" dirty="0">
                <a:solidFill>
                  <a:srgbClr val="000000"/>
                </a:solidFill>
                <a:latin typeface="Verdana" panose="020B0604030504040204" pitchFamily="34" charset="0"/>
                <a:ea typeface="宋体" panose="02010600030101010101" pitchFamily="2" charset="-122"/>
              </a:rPr>
              <a:t>2. </a:t>
            </a:r>
            <a:r>
              <a:rPr lang="zh-CN" altLang="en-US" sz="2800" dirty="0">
                <a:solidFill>
                  <a:srgbClr val="000000"/>
                </a:solidFill>
                <a:latin typeface="Verdana" panose="020B0604030504040204" pitchFamily="34" charset="0"/>
                <a:ea typeface="宋体" panose="02010600030101010101" pitchFamily="2" charset="-122"/>
              </a:rPr>
              <a:t>视图使用户</a:t>
            </a:r>
            <a:r>
              <a:rPr lang="zh-CN" altLang="en-US" sz="2800" dirty="0">
                <a:latin typeface="Verdana" panose="020B0604030504040204" pitchFamily="34" charset="0"/>
                <a:ea typeface="宋体" panose="02010600030101010101" pitchFamily="2" charset="-122"/>
              </a:rPr>
              <a:t>（程序员）</a:t>
            </a:r>
            <a:r>
              <a:rPr lang="zh-CN" altLang="en-US" sz="2800" dirty="0">
                <a:solidFill>
                  <a:srgbClr val="000000"/>
                </a:solidFill>
                <a:latin typeface="Verdana" panose="020B0604030504040204" pitchFamily="34" charset="0"/>
                <a:ea typeface="宋体" panose="02010600030101010101" pitchFamily="2" charset="-122"/>
              </a:rPr>
              <a:t>能以多种角度看待同一数据</a:t>
            </a:r>
            <a:endParaRPr lang="zh-CN" altLang="en-US" sz="2800" dirty="0">
              <a:solidFill>
                <a:srgbClr val="000000"/>
              </a:solidFill>
              <a:latin typeface="Verdana" panose="020B0604030504040204" pitchFamily="34" charset="0"/>
              <a:ea typeface="宋体" panose="02010600030101010101" pitchFamily="2" charset="-122"/>
            </a:endParaRPr>
          </a:p>
          <a:p>
            <a:pPr lvl="1" indent="0" eaLnBrk="1" hangingPunct="1">
              <a:lnSpc>
                <a:spcPct val="130000"/>
              </a:lnSpc>
              <a:spcBef>
                <a:spcPct val="20000"/>
              </a:spcBef>
              <a:buClr>
                <a:srgbClr val="65AAE9"/>
              </a:buClr>
            </a:pPr>
            <a:r>
              <a:rPr lang="zh-CN" altLang="en-US" sz="2400" dirty="0">
                <a:solidFill>
                  <a:srgbClr val="000000"/>
                </a:solidFill>
                <a:latin typeface="Verdana" panose="020B0604030504040204" pitchFamily="34" charset="0"/>
                <a:ea typeface="宋体" panose="02010600030101010101" pitchFamily="2" charset="-122"/>
              </a:rPr>
              <a:t>视图机制能使不同的用户以不同的方式看待同一数据，当许多不同种类的用户使用同一个数据库时，这种灵活性是非常重要的。</a:t>
            </a:r>
            <a:endParaRPr lang="zh-CN" altLang="en-US" sz="2400" dirty="0">
              <a:solidFill>
                <a:srgbClr val="00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7875">
                                            <p:txEl>
                                              <p:charRg st="0" end="2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7875">
                                            <p:txEl>
                                              <p:charRg st="20" end="10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478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5" grpId="0" build="p"/>
      <p:bldP spid="84787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03426" name="Rectangle 2"/>
          <p:cNvSpPr>
            <a:spLocks noGrp="1"/>
          </p:cNvSpPr>
          <p:nvPr>
            <p:ph type="title"/>
          </p:nvPr>
        </p:nvSpPr>
        <p:spPr>
          <a:ln/>
        </p:spPr>
        <p:txBody>
          <a:bodyPr vert="horz" wrap="square" lIns="91440" tIns="45720" rIns="91440" bIns="45720" anchor="b" anchorCtr="0"/>
          <a:p>
            <a:pPr eaLnBrk="1" hangingPunct="1"/>
            <a:r>
              <a:rPr lang="zh-CN" altLang="en-US" sz="3200" dirty="0"/>
              <a:t>视图的作用（续）</a:t>
            </a:r>
            <a:endParaRPr lang="zh-CN" altLang="en-US" sz="3200" dirty="0"/>
          </a:p>
        </p:txBody>
      </p:sp>
      <p:sp>
        <p:nvSpPr>
          <p:cNvPr id="854019" name="Rectangle 3"/>
          <p:cNvSpPr>
            <a:spLocks noGrp="1"/>
          </p:cNvSpPr>
          <p:nvPr>
            <p:ph idx="1"/>
          </p:nvPr>
        </p:nvSpPr>
        <p:spPr>
          <a:xfrm>
            <a:off x="433388" y="1268413"/>
            <a:ext cx="8229600" cy="1165225"/>
          </a:xfrm>
          <a:ln/>
        </p:spPr>
        <p:txBody>
          <a:bodyPr vert="horz" wrap="square" lIns="91440" tIns="45720" rIns="91440" bIns="45720" anchor="t" anchorCtr="0"/>
          <a:p>
            <a:pPr eaLnBrk="1" hangingPunct="1">
              <a:lnSpc>
                <a:spcPct val="130000"/>
              </a:lnSpc>
              <a:buNone/>
            </a:pPr>
            <a:r>
              <a:rPr lang="en-US" altLang="zh-CN" dirty="0"/>
              <a:t>3. </a:t>
            </a:r>
            <a:r>
              <a:rPr lang="zh-CN" altLang="en-US" dirty="0"/>
              <a:t>视图对重构数据库提供了</a:t>
            </a:r>
            <a:r>
              <a:rPr lang="zh-CN" altLang="en-US" dirty="0">
                <a:solidFill>
                  <a:srgbClr val="FF3300"/>
                </a:solidFill>
              </a:rPr>
              <a:t>一定</a:t>
            </a:r>
            <a:r>
              <a:rPr lang="zh-CN" altLang="en-US" dirty="0"/>
              <a:t>程度的逻辑独立性 </a:t>
            </a:r>
            <a:endParaRPr lang="zh-CN" altLang="en-US" dirty="0"/>
          </a:p>
        </p:txBody>
      </p:sp>
      <p:sp>
        <p:nvSpPr>
          <p:cNvPr id="854020" name="Rectangle 4"/>
          <p:cNvSpPr/>
          <p:nvPr/>
        </p:nvSpPr>
        <p:spPr>
          <a:xfrm>
            <a:off x="433388" y="2433638"/>
            <a:ext cx="8229600" cy="2695575"/>
          </a:xfrm>
          <a:prstGeom prst="rect">
            <a:avLst/>
          </a:prstGeom>
          <a:noFill/>
          <a:ln w="9525">
            <a:noFill/>
          </a:ln>
        </p:spPr>
        <p:txBody>
          <a:bodyPr anchor="t" anchorCtr="0"/>
          <a:p>
            <a:pPr marL="342900" indent="-342900">
              <a:lnSpc>
                <a:spcPct val="130000"/>
              </a:lnSpc>
              <a:spcBef>
                <a:spcPct val="20000"/>
              </a:spcBef>
              <a:buClr>
                <a:srgbClr val="7DA0D3"/>
              </a:buClr>
              <a:buFont typeface="Wingdings" panose="05000000000000000000" pitchFamily="2" charset="2"/>
            </a:pPr>
            <a:r>
              <a:rPr lang="en-US" altLang="zh-CN" sz="2800" dirty="0">
                <a:solidFill>
                  <a:srgbClr val="000000"/>
                </a:solidFill>
                <a:latin typeface="Verdana" panose="020B0604030504040204" pitchFamily="34" charset="0"/>
                <a:ea typeface="宋体" panose="02010600030101010101" pitchFamily="2" charset="-122"/>
              </a:rPr>
              <a:t>4. </a:t>
            </a:r>
            <a:r>
              <a:rPr lang="zh-CN" altLang="en-US" sz="2800" dirty="0">
                <a:solidFill>
                  <a:srgbClr val="000000"/>
                </a:solidFill>
                <a:latin typeface="Verdana" panose="020B0604030504040204" pitchFamily="34" charset="0"/>
                <a:ea typeface="宋体" panose="02010600030101010101" pitchFamily="2" charset="-122"/>
              </a:rPr>
              <a:t>视图能够对机密数据提供安全保护</a:t>
            </a:r>
            <a:endParaRPr lang="zh-CN" altLang="en-US" sz="2800" dirty="0">
              <a:solidFill>
                <a:srgbClr val="000000"/>
              </a:solidFill>
              <a:latin typeface="Verdana" panose="020B0604030504040204" pitchFamily="34" charset="0"/>
              <a:ea typeface="宋体" panose="02010600030101010101" pitchFamily="2" charset="-122"/>
            </a:endParaRPr>
          </a:p>
          <a:p>
            <a:pPr lvl="1" indent="0" eaLnBrk="1" hangingPunct="1">
              <a:lnSpc>
                <a:spcPct val="130000"/>
              </a:lnSpc>
              <a:spcBef>
                <a:spcPct val="20000"/>
              </a:spcBef>
              <a:buClr>
                <a:srgbClr val="65AAE9"/>
              </a:buClr>
              <a:buFont typeface="Wingdings" panose="05000000000000000000" pitchFamily="2" charset="2"/>
            </a:pPr>
            <a:r>
              <a:rPr lang="zh-CN" altLang="en-US" sz="2400" dirty="0">
                <a:solidFill>
                  <a:srgbClr val="000000"/>
                </a:solidFill>
                <a:latin typeface="Verdana" panose="020B0604030504040204" pitchFamily="34" charset="0"/>
                <a:ea typeface="宋体" panose="02010600030101010101" pitchFamily="2" charset="-122"/>
              </a:rPr>
              <a:t>有了视图机制，就可以在设计数据库应用系统时，对不同的用户定义不同的视图，使机密数据不出现在不应看到这些数据的用户（程序员）视图上，这样就由视图的机制自动提供了对机密数据的安全保护功能。 </a:t>
            </a:r>
            <a:endParaRPr lang="zh-CN" altLang="en-US" sz="2400" dirty="0">
              <a:solidFill>
                <a:srgbClr val="000000"/>
              </a:solidFill>
              <a:latin typeface="Verdana" panose="020B0604030504040204" pitchFamily="34" charset="0"/>
              <a:ea typeface="宋体" panose="02010600030101010101" pitchFamily="2" charset="-122"/>
            </a:endParaRPr>
          </a:p>
        </p:txBody>
      </p:sp>
      <p:sp>
        <p:nvSpPr>
          <p:cNvPr id="854021" name="Rectangle 5"/>
          <p:cNvSpPr/>
          <p:nvPr/>
        </p:nvSpPr>
        <p:spPr>
          <a:xfrm>
            <a:off x="468313" y="5084763"/>
            <a:ext cx="8229600" cy="823912"/>
          </a:xfrm>
          <a:prstGeom prst="rect">
            <a:avLst/>
          </a:prstGeom>
          <a:noFill/>
          <a:ln w="9525">
            <a:noFill/>
          </a:ln>
        </p:spPr>
        <p:txBody>
          <a:bodyPr anchor="t" anchorCtr="0"/>
          <a:p>
            <a:pPr marL="342900" indent="-342900">
              <a:lnSpc>
                <a:spcPct val="130000"/>
              </a:lnSpc>
              <a:spcBef>
                <a:spcPct val="20000"/>
              </a:spcBef>
              <a:buClr>
                <a:srgbClr val="7DA0D3"/>
              </a:buClr>
              <a:buFont typeface="Wingdings" panose="05000000000000000000" pitchFamily="2" charset="2"/>
            </a:pPr>
            <a:r>
              <a:rPr lang="en-US" altLang="zh-CN" sz="2800" dirty="0">
                <a:solidFill>
                  <a:srgbClr val="000000"/>
                </a:solidFill>
                <a:latin typeface="Verdana" panose="020B0604030504040204" pitchFamily="34" charset="0"/>
                <a:ea typeface="宋体" panose="02010600030101010101" pitchFamily="2" charset="-122"/>
              </a:rPr>
              <a:t>5. </a:t>
            </a:r>
            <a:r>
              <a:rPr lang="zh-CN" altLang="en-US" sz="2800" dirty="0">
                <a:solidFill>
                  <a:srgbClr val="000000"/>
                </a:solidFill>
                <a:latin typeface="Verdana" panose="020B0604030504040204" pitchFamily="34" charset="0"/>
                <a:ea typeface="宋体" panose="02010600030101010101" pitchFamily="2" charset="-122"/>
              </a:rPr>
              <a:t>适当的利用视图可以更清晰的表达查询</a:t>
            </a:r>
            <a:endParaRPr lang="zh-CN" altLang="en-US" sz="2800" dirty="0">
              <a:solidFill>
                <a:srgbClr val="000000"/>
              </a:solidFill>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4019">
                                            <p:txEl>
                                              <p:charRg st="0" end="2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40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4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19" grpId="0" build="p"/>
      <p:bldP spid="854020" grpId="0"/>
      <p:bldP spid="85402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4"/>
          <p:cNvSpPr>
            <a:spLocks noGrp="1"/>
          </p:cNvSpPr>
          <p:nvPr>
            <p:ph type="title"/>
          </p:nvPr>
        </p:nvSpPr>
        <p:spPr>
          <a:xfrm>
            <a:off x="755650" y="2565400"/>
            <a:ext cx="7772400" cy="1362075"/>
          </a:xfrm>
        </p:spPr>
        <p:txBody>
          <a:bodyPr vert="horz" wrap="square" lIns="91440" tIns="45720" rIns="91440" bIns="45720" anchor="t" anchorCtr="0"/>
          <a:p>
            <a:pPr marL="0" marR="0" indent="0" algn="ctr" defTabSz="914400" rtl="0" eaLnBrk="0" fontAlgn="base" latinLnBrk="0" hangingPunct="0">
              <a:lnSpc>
                <a:spcPct val="100000"/>
              </a:lnSpc>
              <a:spcBef>
                <a:spcPct val="0"/>
              </a:spcBef>
              <a:spcAft>
                <a:spcPct val="0"/>
              </a:spcAft>
              <a:buClrTx/>
              <a:buSzTx/>
              <a:buFontTx/>
              <a:buNone/>
            </a:pPr>
            <a:r>
              <a:rPr kumimoji="0" lang="zh-CN" altLang="en-US" sz="6000" b="1" i="0" u="none" strike="noStrike" kern="0" cap="all" spc="0" normalizeH="0" baseline="0" noProof="1" dirty="0">
                <a:solidFill>
                  <a:schemeClr val="tx2"/>
                </a:solidFill>
                <a:latin typeface="+mj-lt"/>
                <a:ea typeface="+mj-ea"/>
                <a:cs typeface="+mj-cs"/>
              </a:rPr>
              <a:t>索引</a:t>
            </a:r>
            <a:endParaRPr kumimoji="0" lang="zh-CN" altLang="en-US" sz="6000" b="1" i="0" u="none" strike="noStrike" kern="0" cap="all" spc="0" normalizeH="0" baseline="0" noProof="1" dirty="0">
              <a:solidFill>
                <a:schemeClr val="tx2"/>
              </a:solidFill>
              <a:latin typeface="+mj-lt"/>
              <a:ea typeface="+mj-ea"/>
              <a:cs typeface="+mj-cs"/>
            </a:endParaRPr>
          </a:p>
        </p:txBody>
      </p:sp>
      <p:sp>
        <p:nvSpPr>
          <p:cNvPr id="104450" name="页脚占位符 3"/>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Tree>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页脚占位符 4"/>
          <p:cNvSpPr>
            <a:spLocks noGrp="1"/>
          </p:cNvSpPr>
          <p:nvPr>
            <p:ph type="ftr" sz="quarter" idx="11"/>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a:buSzTx/>
            </a:pPr>
            <a:r>
              <a:rPr lang="en-US" altLang="zh-CN" sz="1200" dirty="0"/>
              <a:t>An Introduction to Database System</a:t>
            </a:r>
            <a:endParaRPr lang="en-US" altLang="zh-CN" sz="1200" dirty="0"/>
          </a:p>
        </p:txBody>
      </p:sp>
      <p:sp>
        <p:nvSpPr>
          <p:cNvPr id="105474"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3.3 </a:t>
            </a:r>
            <a:r>
              <a:rPr lang="zh-CN" altLang="en-US" dirty="0"/>
              <a:t>数据定义</a:t>
            </a:r>
            <a:endParaRPr lang="zh-CN" altLang="en-US" dirty="0"/>
          </a:p>
        </p:txBody>
      </p:sp>
      <p:sp>
        <p:nvSpPr>
          <p:cNvPr id="105475" name="Rectangle 3"/>
          <p:cNvSpPr>
            <a:spLocks noGrp="1"/>
          </p:cNvSpPr>
          <p:nvPr>
            <p:ph idx="1"/>
          </p:nvPr>
        </p:nvSpPr>
        <p:spPr>
          <a:ln/>
        </p:spPr>
        <p:txBody>
          <a:bodyPr vert="horz" wrap="square" lIns="91440" tIns="45720" rIns="91440" bIns="45720" anchor="t" anchorCtr="0"/>
          <a:p>
            <a:pPr eaLnBrk="1" hangingPunct="1">
              <a:lnSpc>
                <a:spcPct val="190000"/>
              </a:lnSpc>
            </a:pPr>
            <a:r>
              <a:rPr lang="en-US" altLang="zh-CN" b="1" dirty="0"/>
              <a:t>3.3.1 </a:t>
            </a:r>
            <a:r>
              <a:rPr lang="zh-CN" altLang="en-US" b="1" dirty="0"/>
              <a:t>模式的定义与删除</a:t>
            </a:r>
            <a:endParaRPr lang="zh-CN" altLang="en-US" b="1" dirty="0"/>
          </a:p>
          <a:p>
            <a:pPr eaLnBrk="1" hangingPunct="1">
              <a:lnSpc>
                <a:spcPct val="190000"/>
              </a:lnSpc>
            </a:pPr>
            <a:r>
              <a:rPr lang="en-US" altLang="zh-CN" b="1" dirty="0"/>
              <a:t>3.3.2 </a:t>
            </a:r>
            <a:r>
              <a:rPr lang="zh-CN" altLang="en-US" b="1" dirty="0"/>
              <a:t>基本表的定义、删除与修改</a:t>
            </a:r>
            <a:endParaRPr lang="zh-CN" altLang="en-US" b="1" dirty="0"/>
          </a:p>
          <a:p>
            <a:pPr eaLnBrk="1" hangingPunct="1">
              <a:lnSpc>
                <a:spcPct val="190000"/>
              </a:lnSpc>
            </a:pPr>
            <a:r>
              <a:rPr lang="en-US" altLang="zh-CN" b="1" dirty="0">
                <a:solidFill>
                  <a:srgbClr val="3333FF"/>
                </a:solidFill>
              </a:rPr>
              <a:t>3.3.3 </a:t>
            </a:r>
            <a:r>
              <a:rPr lang="zh-CN" altLang="en-US" b="1" dirty="0">
                <a:solidFill>
                  <a:srgbClr val="3333FF"/>
                </a:solidFill>
              </a:rPr>
              <a:t>索引的建立与删除</a:t>
            </a:r>
            <a:endParaRPr lang="zh-CN" altLang="en-US" b="1" dirty="0">
              <a:solidFill>
                <a:srgbClr val="3333FF"/>
              </a:solidFill>
            </a:endParaRPr>
          </a:p>
          <a:p>
            <a:pPr eaLnBrk="1" hangingPunct="1">
              <a:buNone/>
            </a:pPr>
            <a:endParaRPr lang="en-US" altLang="zh-CN" b="1" dirty="0"/>
          </a:p>
        </p:txBody>
      </p:sp>
    </p:spTree>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p:nvPr/>
        </p:nvSpPr>
        <p:spPr>
          <a:xfrm>
            <a:off x="684213" y="260350"/>
            <a:ext cx="8229600" cy="792163"/>
          </a:xfrm>
          <a:prstGeom prst="rect">
            <a:avLst/>
          </a:prstGeom>
          <a:noFill/>
          <a:ln w="9525">
            <a:noFill/>
          </a:ln>
        </p:spPr>
        <p:txBody>
          <a:bodyPr anchor="ctr" anchorCtr="0"/>
          <a:p>
            <a:r>
              <a:rPr lang="zh-CN" altLang="en-US" sz="3200" dirty="0">
                <a:solidFill>
                  <a:schemeClr val="tx2"/>
                </a:solidFill>
                <a:latin typeface="Arial" panose="020B0604020202020204" pitchFamily="34" charset="0"/>
                <a:ea typeface="宋体" panose="02010600030101010101" pitchFamily="2" charset="-122"/>
              </a:rPr>
              <a:t>什么是索引</a:t>
            </a:r>
            <a:endParaRPr lang="zh-CN" altLang="en-US" sz="3200" dirty="0">
              <a:solidFill>
                <a:schemeClr val="tx2"/>
              </a:solidFill>
              <a:latin typeface="Arial" panose="020B0604020202020204" pitchFamily="34" charset="0"/>
              <a:ea typeface="宋体" panose="02010600030101010101" pitchFamily="2" charset="-122"/>
            </a:endParaRPr>
          </a:p>
        </p:txBody>
      </p:sp>
      <p:pic>
        <p:nvPicPr>
          <p:cNvPr id="107522" name="Picture 3"/>
          <p:cNvPicPr>
            <a:picLocks noChangeAspect="1"/>
          </p:cNvPicPr>
          <p:nvPr/>
        </p:nvPicPr>
        <p:blipFill>
          <a:blip r:embed="rId1"/>
          <a:stretch>
            <a:fillRect/>
          </a:stretch>
        </p:blipFill>
        <p:spPr>
          <a:xfrm>
            <a:off x="4572000" y="2924175"/>
            <a:ext cx="3333750" cy="3343275"/>
          </a:xfrm>
          <a:prstGeom prst="rect">
            <a:avLst/>
          </a:prstGeom>
          <a:noFill/>
          <a:ln w="9525">
            <a:noFill/>
          </a:ln>
        </p:spPr>
      </p:pic>
      <p:sp>
        <p:nvSpPr>
          <p:cNvPr id="107523" name="Rectangle 4"/>
          <p:cNvSpPr/>
          <p:nvPr/>
        </p:nvSpPr>
        <p:spPr>
          <a:xfrm>
            <a:off x="684213" y="1484313"/>
            <a:ext cx="8459787" cy="4525962"/>
          </a:xfrm>
          <a:prstGeom prst="rect">
            <a:avLst/>
          </a:prstGeom>
          <a:noFill/>
          <a:ln w="9525">
            <a:noFill/>
          </a:ln>
        </p:spPr>
        <p:txBody>
          <a:bodyPr anchor="t" anchorCtr="0"/>
          <a:p>
            <a:pPr marL="342900" indent="-342900">
              <a:spcBef>
                <a:spcPct val="20000"/>
              </a:spcBef>
              <a:buClr>
                <a:schemeClr val="tx2"/>
              </a:buClr>
              <a:buFont typeface="Wingdings" panose="05000000000000000000" pitchFamily="2" charset="2"/>
              <a:buChar char="v"/>
            </a:pPr>
            <a:r>
              <a:rPr lang="zh-CN" altLang="en-US" sz="2400" dirty="0">
                <a:latin typeface="Arial" panose="020B0604020202020204" pitchFamily="34" charset="0"/>
                <a:ea typeface="宋体" panose="02010600030101010101" pitchFamily="2" charset="-122"/>
              </a:rPr>
              <a:t>汉语字典中的汉字按页存放，一般都有汉语拼音目录（索引）、偏旁部首目录等</a:t>
            </a:r>
            <a:endParaRPr lang="zh-CN" altLang="en-US" sz="2400" dirty="0">
              <a:latin typeface="Arial" panose="020B0604020202020204" pitchFamily="34" charset="0"/>
              <a:ea typeface="宋体" panose="02010600030101010101" pitchFamily="2" charset="-122"/>
            </a:endParaRPr>
          </a:p>
          <a:p>
            <a:pPr marL="342900" indent="-342900">
              <a:spcBef>
                <a:spcPct val="20000"/>
              </a:spcBef>
              <a:buClr>
                <a:schemeClr val="tx2"/>
              </a:buClr>
              <a:buFont typeface="Wingdings" panose="05000000000000000000" pitchFamily="2" charset="2"/>
              <a:buChar char="v"/>
            </a:pPr>
            <a:r>
              <a:rPr lang="zh-CN" altLang="en-US" sz="2400" dirty="0">
                <a:latin typeface="Arial" panose="020B0604020202020204" pitchFamily="34" charset="0"/>
                <a:ea typeface="宋体" panose="02010600030101010101" pitchFamily="2" charset="-122"/>
              </a:rPr>
              <a:t>我们可以根据拼音或偏旁部首，快速查找某个字词</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p:nvPr/>
        </p:nvSpPr>
        <p:spPr>
          <a:xfrm>
            <a:off x="1219200" y="1773238"/>
            <a:ext cx="6705600" cy="3740150"/>
          </a:xfrm>
          <a:prstGeom prst="rect">
            <a:avLst/>
          </a:prstGeom>
          <a:gradFill rotWithShape="1">
            <a:gsLst>
              <a:gs pos="0">
                <a:srgbClr val="00CC00"/>
              </a:gs>
              <a:gs pos="100000">
                <a:srgbClr val="FFFFFF"/>
              </a:gs>
            </a:gsLst>
            <a:lin ang="5400000" scaled="1"/>
            <a:tileRect/>
          </a:gradFill>
          <a:ln w="9525" cap="flat" cmpd="sng">
            <a:solidFill>
              <a:schemeClr val="tx1"/>
            </a:solidFill>
            <a:prstDash val="solid"/>
            <a:miter/>
            <a:headEnd type="none" w="med" len="med"/>
            <a:tailEnd type="none" w="med" len="med"/>
          </a:ln>
          <a:effectLst>
            <a:outerShdw dist="89803" dir="2699999" algn="ctr" rotWithShape="0">
              <a:srgbClr val="808080">
                <a:alpha val="50000"/>
              </a:srgbClr>
            </a:outerShdw>
          </a:effectLst>
        </p:spPr>
        <p:txBody>
          <a:bodyPr wrap="none" anchor="t" anchorCtr="0"/>
          <a:p>
            <a:pPr algn="ctr"/>
            <a:endParaRPr lang="en-US" altLang="zh-CN" sz="2000" dirty="0">
              <a:solidFill>
                <a:schemeClr val="bg1"/>
              </a:solidFill>
              <a:latin typeface="Arial" panose="020B0604020202020204" pitchFamily="34" charset="0"/>
              <a:ea typeface="黑体" panose="02010609060101010101" pitchFamily="49" charset="-122"/>
            </a:endParaRPr>
          </a:p>
          <a:p>
            <a:pPr algn="ctr"/>
            <a:r>
              <a:rPr lang="en-US" altLang="zh-CN" sz="2000" dirty="0">
                <a:solidFill>
                  <a:schemeClr val="bg1"/>
                </a:solidFill>
                <a:latin typeface="Arial" panose="020B0604020202020204" pitchFamily="34" charset="0"/>
                <a:ea typeface="黑体" panose="02010609060101010101" pitchFamily="49" charset="-122"/>
              </a:rPr>
              <a:t>Indexes Use Key Values to Locate Data</a:t>
            </a:r>
            <a:endParaRPr lang="en-US" altLang="zh-CN" sz="2000" dirty="0">
              <a:solidFill>
                <a:schemeClr val="bg1"/>
              </a:solidFill>
              <a:latin typeface="Arial" panose="020B0604020202020204" pitchFamily="34" charset="0"/>
              <a:ea typeface="黑体" panose="02010609060101010101" pitchFamily="49" charset="-122"/>
            </a:endParaRPr>
          </a:p>
          <a:p>
            <a:pPr algn="ctr"/>
            <a:r>
              <a:rPr lang="zh-CN" altLang="en-US" sz="2000" dirty="0">
                <a:solidFill>
                  <a:schemeClr val="bg1"/>
                </a:solidFill>
                <a:latin typeface="Arial" panose="020B0604020202020204" pitchFamily="34" charset="0"/>
                <a:ea typeface="黑体" panose="02010609060101010101" pitchFamily="49" charset="-122"/>
              </a:rPr>
              <a:t>（根据索引键查找定位数据行）</a:t>
            </a:r>
            <a:r>
              <a:rPr lang="zh-CN" altLang="en-US" sz="2000" dirty="0">
                <a:latin typeface="Arial" panose="020B0604020202020204" pitchFamily="34" charset="0"/>
                <a:ea typeface="黑体" panose="02010609060101010101" pitchFamily="49" charset="-122"/>
              </a:rPr>
              <a:t> </a:t>
            </a:r>
            <a:endParaRPr lang="zh-CN" altLang="en-US" sz="2000" dirty="0">
              <a:latin typeface="Arial" panose="020B0604020202020204" pitchFamily="34" charset="0"/>
              <a:ea typeface="黑体" panose="02010609060101010101" pitchFamily="49" charset="-122"/>
            </a:endParaRPr>
          </a:p>
        </p:txBody>
      </p:sp>
      <p:grpSp>
        <p:nvGrpSpPr>
          <p:cNvPr id="109570" name="Group 3"/>
          <p:cNvGrpSpPr/>
          <p:nvPr/>
        </p:nvGrpSpPr>
        <p:grpSpPr>
          <a:xfrm>
            <a:off x="685800" y="4724400"/>
            <a:ext cx="7924800" cy="1085850"/>
            <a:chOff x="384" y="3264"/>
            <a:chExt cx="4992" cy="624"/>
          </a:xfrm>
        </p:grpSpPr>
        <p:sp>
          <p:nvSpPr>
            <p:cNvPr id="109571" name="Rectangle 4"/>
            <p:cNvSpPr/>
            <p:nvPr/>
          </p:nvSpPr>
          <p:spPr>
            <a:xfrm>
              <a:off x="384" y="3264"/>
              <a:ext cx="4992" cy="624"/>
            </a:xfrm>
            <a:prstGeom prst="rect">
              <a:avLst/>
            </a:prstGeom>
            <a:gradFill rotWithShape="1">
              <a:gsLst>
                <a:gs pos="0">
                  <a:srgbClr val="FFFFFF"/>
                </a:gs>
                <a:gs pos="50000">
                  <a:srgbClr val="6699FF"/>
                </a:gs>
                <a:gs pos="100000">
                  <a:srgbClr val="FFFFFF"/>
                </a:gs>
              </a:gsLst>
              <a:lin ang="5400000" scaled="1"/>
              <a:tileRect/>
            </a:gradFill>
            <a:ln w="12700" cap="flat" cmpd="sng">
              <a:solidFill>
                <a:srgbClr val="6600CC"/>
              </a:solidFill>
              <a:prstDash val="solid"/>
              <a:miter/>
              <a:headEnd type="none" w="med" len="med"/>
              <a:tailEnd type="none" w="med" len="med"/>
            </a:ln>
            <a:effectLst>
              <a:outerShdw dist="35921" dir="2699999" algn="ctr" rotWithShape="0">
                <a:srgbClr val="6600CC"/>
              </a:outerShdw>
            </a:effectLst>
          </p:spPr>
          <p:txBody>
            <a:bodyPr wrap="none" anchor="t" anchorCtr="0"/>
            <a:p>
              <a:pPr algn="ctr"/>
              <a:r>
                <a:rPr lang="en-US" altLang="zh-CN" sz="1600" dirty="0">
                  <a:latin typeface="Arial" panose="020B0604020202020204" pitchFamily="34" charset="0"/>
                  <a:ea typeface="黑体" panose="02010609060101010101" pitchFamily="49" charset="-122"/>
                </a:rPr>
                <a:t>Data Pages</a:t>
              </a:r>
              <a:r>
                <a:rPr lang="zh-CN" altLang="en-US" sz="1600" dirty="0">
                  <a:latin typeface="Arial" panose="020B0604020202020204" pitchFamily="34" charset="0"/>
                  <a:ea typeface="黑体" panose="02010609060101010101" pitchFamily="49" charset="-122"/>
                </a:rPr>
                <a:t>（数据页）</a:t>
              </a:r>
              <a:endParaRPr lang="zh-CN" altLang="en-US" sz="1600" dirty="0">
                <a:latin typeface="Arial" panose="020B0604020202020204" pitchFamily="34" charset="0"/>
                <a:ea typeface="黑体" panose="02010609060101010101" pitchFamily="49" charset="-122"/>
              </a:endParaRPr>
            </a:p>
          </p:txBody>
        </p:sp>
        <p:grpSp>
          <p:nvGrpSpPr>
            <p:cNvPr id="109572" name="Group 5"/>
            <p:cNvGrpSpPr/>
            <p:nvPr/>
          </p:nvGrpSpPr>
          <p:grpSpPr>
            <a:xfrm>
              <a:off x="432" y="3461"/>
              <a:ext cx="339" cy="347"/>
              <a:chOff x="878" y="2818"/>
              <a:chExt cx="833" cy="854"/>
            </a:xfrm>
          </p:grpSpPr>
          <p:sp>
            <p:nvSpPr>
              <p:cNvPr id="109573" name="Rectangle 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74" name="Rectangle 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75" name="Rectangle 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76" name="Rectangle 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77" name="Rectangle 1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78" name="Rectangle 1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79" name="Rectangle 1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0" name="Rectangle 1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1" name="Rectangle 1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82" name="Rectangle 1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3" name="Rectangle 1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4" name="Rectangle 1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85" name="Rectangle 1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6" name="Rectangle 1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7" name="Rectangle 2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88" name="Rectangle 2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89" name="Rectangle 2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90" name="Rectangle 2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91" name="Rectangle 2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592" name="Group 25"/>
            <p:cNvGrpSpPr/>
            <p:nvPr/>
          </p:nvGrpSpPr>
          <p:grpSpPr>
            <a:xfrm>
              <a:off x="822" y="3461"/>
              <a:ext cx="339" cy="347"/>
              <a:chOff x="878" y="2818"/>
              <a:chExt cx="833" cy="854"/>
            </a:xfrm>
          </p:grpSpPr>
          <p:sp>
            <p:nvSpPr>
              <p:cNvPr id="109593" name="Rectangle 2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94" name="Rectangle 2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95" name="Rectangle 2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96" name="Rectangle 2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97" name="Rectangle 3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598" name="Rectangle 3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599" name="Rectangle 3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0" name="Rectangle 3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1" name="Rectangle 3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02" name="Rectangle 3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3" name="Rectangle 3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4" name="Rectangle 3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05" name="Rectangle 3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6" name="Rectangle 3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7" name="Rectangle 4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08" name="Rectangle 4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09" name="Rectangle 4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10" name="Rectangle 4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11" name="Rectangle 4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612" name="Group 45"/>
            <p:cNvGrpSpPr/>
            <p:nvPr/>
          </p:nvGrpSpPr>
          <p:grpSpPr>
            <a:xfrm>
              <a:off x="1213" y="3461"/>
              <a:ext cx="339" cy="347"/>
              <a:chOff x="878" y="2818"/>
              <a:chExt cx="833" cy="854"/>
            </a:xfrm>
          </p:grpSpPr>
          <p:sp>
            <p:nvSpPr>
              <p:cNvPr id="109613" name="Rectangle 4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14" name="Rectangle 4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15" name="Rectangle 4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16" name="Rectangle 4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17" name="Rectangle 5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18" name="Rectangle 5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19" name="Rectangle 5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0" name="Rectangle 5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1" name="Rectangle 5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22" name="Rectangle 5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3" name="Rectangle 5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4" name="Rectangle 5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25" name="Rectangle 5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6" name="Rectangle 5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7" name="Rectangle 6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28" name="Rectangle 6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29" name="Rectangle 6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30" name="Rectangle 6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31" name="Rectangle 6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632" name="Group 65"/>
            <p:cNvGrpSpPr/>
            <p:nvPr/>
          </p:nvGrpSpPr>
          <p:grpSpPr>
            <a:xfrm>
              <a:off x="1603" y="3461"/>
              <a:ext cx="339" cy="347"/>
              <a:chOff x="878" y="2818"/>
              <a:chExt cx="833" cy="854"/>
            </a:xfrm>
          </p:grpSpPr>
          <p:sp>
            <p:nvSpPr>
              <p:cNvPr id="109633" name="Rectangle 6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34" name="Rectangle 6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35" name="Rectangle 6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36" name="Rectangle 6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37" name="Rectangle 7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38" name="Rectangle 7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39" name="Rectangle 7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0" name="Rectangle 7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1" name="Rectangle 7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42" name="Rectangle 7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3" name="Rectangle 7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4" name="Rectangle 7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45" name="Rectangle 7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6" name="Rectangle 7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7" name="Rectangle 8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48" name="Rectangle 8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49" name="Rectangle 8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50" name="Rectangle 8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51" name="Rectangle 8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652" name="Group 85"/>
            <p:cNvGrpSpPr/>
            <p:nvPr/>
          </p:nvGrpSpPr>
          <p:grpSpPr>
            <a:xfrm>
              <a:off x="1994" y="3461"/>
              <a:ext cx="339" cy="347"/>
              <a:chOff x="878" y="2818"/>
              <a:chExt cx="833" cy="854"/>
            </a:xfrm>
          </p:grpSpPr>
          <p:sp>
            <p:nvSpPr>
              <p:cNvPr id="109653" name="Rectangle 8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54" name="Rectangle 8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55" name="Rectangle 8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56" name="Rectangle 8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57" name="Rectangle 9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58" name="Rectangle 9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59" name="Rectangle 9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0" name="Rectangle 9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1" name="Rectangle 9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62" name="Rectangle 9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3" name="Rectangle 9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4" name="Rectangle 9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65" name="Rectangle 9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6" name="Rectangle 9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7" name="Rectangle 10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68" name="Rectangle 10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69" name="Rectangle 10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70" name="Rectangle 10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71" name="Rectangle 10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672" name="Group 105"/>
            <p:cNvGrpSpPr/>
            <p:nvPr/>
          </p:nvGrpSpPr>
          <p:grpSpPr>
            <a:xfrm>
              <a:off x="2384" y="3461"/>
              <a:ext cx="339" cy="347"/>
              <a:chOff x="878" y="2818"/>
              <a:chExt cx="833" cy="854"/>
            </a:xfrm>
          </p:grpSpPr>
          <p:sp>
            <p:nvSpPr>
              <p:cNvPr id="109673" name="Rectangle 10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74" name="Rectangle 10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75" name="Rectangle 10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76" name="Rectangle 10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77" name="Rectangle 11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78" name="Rectangle 11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79" name="Rectangle 11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0" name="Rectangle 11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1" name="Rectangle 11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82" name="Rectangle 11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3" name="Rectangle 11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4" name="Rectangle 11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85" name="Rectangle 11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6" name="Rectangle 11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7" name="Rectangle 12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88" name="Rectangle 12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89" name="Rectangle 12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90" name="Rectangle 12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91" name="Rectangle 12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692" name="Group 125"/>
            <p:cNvGrpSpPr/>
            <p:nvPr/>
          </p:nvGrpSpPr>
          <p:grpSpPr>
            <a:xfrm>
              <a:off x="3024" y="3461"/>
              <a:ext cx="339" cy="347"/>
              <a:chOff x="878" y="2818"/>
              <a:chExt cx="833" cy="854"/>
            </a:xfrm>
          </p:grpSpPr>
          <p:sp>
            <p:nvSpPr>
              <p:cNvPr id="109693" name="Rectangle 12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94" name="Rectangle 12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95" name="Rectangle 12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96" name="Rectangle 12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97" name="Rectangle 13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698" name="Rectangle 13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699" name="Rectangle 13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0" name="Rectangle 13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1" name="Rectangle 13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02" name="Rectangle 13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3" name="Rectangle 13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4" name="Rectangle 13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05" name="Rectangle 13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6" name="Rectangle 13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7" name="Rectangle 14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08" name="Rectangle 14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09" name="Rectangle 14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10" name="Rectangle 14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11" name="Rectangle 14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712" name="Group 145"/>
            <p:cNvGrpSpPr/>
            <p:nvPr/>
          </p:nvGrpSpPr>
          <p:grpSpPr>
            <a:xfrm>
              <a:off x="3414" y="3461"/>
              <a:ext cx="339" cy="347"/>
              <a:chOff x="878" y="2818"/>
              <a:chExt cx="833" cy="854"/>
            </a:xfrm>
          </p:grpSpPr>
          <p:sp>
            <p:nvSpPr>
              <p:cNvPr id="109713" name="Rectangle 14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14" name="Rectangle 14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15" name="Rectangle 14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16" name="Rectangle 14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17" name="Rectangle 15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18" name="Rectangle 15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19" name="Rectangle 15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0" name="Rectangle 15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1" name="Rectangle 15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22" name="Rectangle 15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3" name="Rectangle 15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4" name="Rectangle 15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25" name="Rectangle 15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6" name="Rectangle 15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7" name="Rectangle 16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28" name="Rectangle 16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29" name="Rectangle 16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30" name="Rectangle 16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31" name="Rectangle 16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732" name="Group 165"/>
            <p:cNvGrpSpPr/>
            <p:nvPr/>
          </p:nvGrpSpPr>
          <p:grpSpPr>
            <a:xfrm>
              <a:off x="3805" y="3461"/>
              <a:ext cx="339" cy="347"/>
              <a:chOff x="878" y="2818"/>
              <a:chExt cx="833" cy="854"/>
            </a:xfrm>
          </p:grpSpPr>
          <p:sp>
            <p:nvSpPr>
              <p:cNvPr id="109733" name="Rectangle 16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34" name="Rectangle 16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35" name="Rectangle 16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36" name="Rectangle 16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37" name="Rectangle 17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38" name="Rectangle 17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39" name="Rectangle 17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0" name="Rectangle 17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1" name="Rectangle 17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42" name="Rectangle 17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3" name="Rectangle 17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4" name="Rectangle 17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45" name="Rectangle 17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6" name="Rectangle 17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7" name="Rectangle 18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48" name="Rectangle 18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49" name="Rectangle 18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50" name="Rectangle 18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51" name="Rectangle 18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752" name="Group 185"/>
            <p:cNvGrpSpPr/>
            <p:nvPr/>
          </p:nvGrpSpPr>
          <p:grpSpPr>
            <a:xfrm>
              <a:off x="4195" y="3461"/>
              <a:ext cx="339" cy="347"/>
              <a:chOff x="878" y="2818"/>
              <a:chExt cx="833" cy="854"/>
            </a:xfrm>
          </p:grpSpPr>
          <p:sp>
            <p:nvSpPr>
              <p:cNvPr id="109753" name="Rectangle 18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54" name="Rectangle 18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55" name="Rectangle 18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56" name="Rectangle 18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57" name="Rectangle 19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58" name="Rectangle 19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59" name="Rectangle 19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0" name="Rectangle 19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1" name="Rectangle 19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62" name="Rectangle 19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3" name="Rectangle 19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4" name="Rectangle 19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65" name="Rectangle 19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6" name="Rectangle 19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7" name="Rectangle 20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68" name="Rectangle 20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69" name="Rectangle 20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70" name="Rectangle 20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71" name="Rectangle 20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772" name="Group 205"/>
            <p:cNvGrpSpPr/>
            <p:nvPr/>
          </p:nvGrpSpPr>
          <p:grpSpPr>
            <a:xfrm>
              <a:off x="4586" y="3461"/>
              <a:ext cx="339" cy="347"/>
              <a:chOff x="878" y="2818"/>
              <a:chExt cx="833" cy="854"/>
            </a:xfrm>
          </p:grpSpPr>
          <p:sp>
            <p:nvSpPr>
              <p:cNvPr id="109773" name="Rectangle 20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74" name="Rectangle 20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75" name="Rectangle 20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76" name="Rectangle 20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77" name="Rectangle 21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78" name="Rectangle 21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79" name="Rectangle 21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0" name="Rectangle 21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1" name="Rectangle 21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82" name="Rectangle 21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3" name="Rectangle 21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4" name="Rectangle 21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85" name="Rectangle 21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6" name="Rectangle 21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7" name="Rectangle 22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88" name="Rectangle 22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89" name="Rectangle 22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90" name="Rectangle 22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91" name="Rectangle 22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792" name="Group 225"/>
            <p:cNvGrpSpPr/>
            <p:nvPr/>
          </p:nvGrpSpPr>
          <p:grpSpPr>
            <a:xfrm>
              <a:off x="4976" y="3461"/>
              <a:ext cx="339" cy="347"/>
              <a:chOff x="878" y="2818"/>
              <a:chExt cx="833" cy="854"/>
            </a:xfrm>
          </p:grpSpPr>
          <p:sp>
            <p:nvSpPr>
              <p:cNvPr id="109793" name="Rectangle 226"/>
              <p:cNvSpPr/>
              <p:nvPr/>
            </p:nvSpPr>
            <p:spPr>
              <a:xfrm>
                <a:off x="878" y="281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94" name="Rectangle 227"/>
              <p:cNvSpPr/>
              <p:nvPr/>
            </p:nvSpPr>
            <p:spPr>
              <a:xfrm>
                <a:off x="1261" y="281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95" name="Rectangle 228"/>
              <p:cNvSpPr/>
              <p:nvPr/>
            </p:nvSpPr>
            <p:spPr>
              <a:xfrm>
                <a:off x="1424" y="281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96" name="Rectangle 229"/>
              <p:cNvSpPr/>
              <p:nvPr/>
            </p:nvSpPr>
            <p:spPr>
              <a:xfrm>
                <a:off x="878" y="2962"/>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97" name="Rectangle 230"/>
              <p:cNvSpPr/>
              <p:nvPr/>
            </p:nvSpPr>
            <p:spPr>
              <a:xfrm>
                <a:off x="1261" y="2962"/>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798" name="Rectangle 231"/>
              <p:cNvSpPr/>
              <p:nvPr/>
            </p:nvSpPr>
            <p:spPr>
              <a:xfrm>
                <a:off x="1424" y="2962"/>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799" name="Rectangle 232"/>
              <p:cNvSpPr/>
              <p:nvPr/>
            </p:nvSpPr>
            <p:spPr>
              <a:xfrm>
                <a:off x="878" y="3106"/>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0" name="Rectangle 233"/>
              <p:cNvSpPr/>
              <p:nvPr/>
            </p:nvSpPr>
            <p:spPr>
              <a:xfrm>
                <a:off x="1261" y="3106"/>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1" name="Rectangle 234"/>
              <p:cNvSpPr/>
              <p:nvPr/>
            </p:nvSpPr>
            <p:spPr>
              <a:xfrm>
                <a:off x="1424" y="3106"/>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802" name="Rectangle 235"/>
              <p:cNvSpPr/>
              <p:nvPr/>
            </p:nvSpPr>
            <p:spPr>
              <a:xfrm>
                <a:off x="878" y="3249"/>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3" name="Rectangle 236"/>
              <p:cNvSpPr/>
              <p:nvPr/>
            </p:nvSpPr>
            <p:spPr>
              <a:xfrm>
                <a:off x="1264" y="3249"/>
                <a:ext cx="160"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4" name="Rectangle 237"/>
              <p:cNvSpPr/>
              <p:nvPr/>
            </p:nvSpPr>
            <p:spPr>
              <a:xfrm>
                <a:off x="1424" y="3249"/>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805" name="Rectangle 238"/>
              <p:cNvSpPr/>
              <p:nvPr/>
            </p:nvSpPr>
            <p:spPr>
              <a:xfrm>
                <a:off x="878" y="3393"/>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6" name="Rectangle 239"/>
              <p:cNvSpPr/>
              <p:nvPr/>
            </p:nvSpPr>
            <p:spPr>
              <a:xfrm>
                <a:off x="1261" y="3393"/>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7" name="Rectangle 240"/>
              <p:cNvSpPr/>
              <p:nvPr/>
            </p:nvSpPr>
            <p:spPr>
              <a:xfrm>
                <a:off x="1424" y="3393"/>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808" name="Rectangle 241"/>
              <p:cNvSpPr/>
              <p:nvPr/>
            </p:nvSpPr>
            <p:spPr>
              <a:xfrm>
                <a:off x="878" y="3528"/>
                <a:ext cx="383"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09" name="Rectangle 242"/>
              <p:cNvSpPr/>
              <p:nvPr/>
            </p:nvSpPr>
            <p:spPr>
              <a:xfrm>
                <a:off x="1261" y="3528"/>
                <a:ext cx="162" cy="144"/>
              </a:xfrm>
              <a:prstGeom prst="rect">
                <a:avLst/>
              </a:prstGeom>
              <a:solidFill>
                <a:schemeClr val="bg1"/>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latin typeface="Arial" panose="020B0604020202020204" pitchFamily="34" charset="0"/>
                  <a:ea typeface="黑体" panose="02010609060101010101" pitchFamily="49" charset="-122"/>
                </a:endParaRPr>
              </a:p>
            </p:txBody>
          </p:sp>
          <p:sp>
            <p:nvSpPr>
              <p:cNvPr id="109810" name="Rectangle 243"/>
              <p:cNvSpPr/>
              <p:nvPr/>
            </p:nvSpPr>
            <p:spPr>
              <a:xfrm>
                <a:off x="1424" y="3528"/>
                <a:ext cx="287" cy="144"/>
              </a:xfrm>
              <a:prstGeom prst="rect">
                <a:avLst/>
              </a:prstGeom>
              <a:solidFill>
                <a:srgbClr val="CCFFFF"/>
              </a:solidFill>
              <a:ln w="12700"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endParaRPr lang="zh-CN" altLang="zh-CN" sz="1500" dirty="0">
                  <a:solidFill>
                    <a:srgbClr val="008080"/>
                  </a:solidFill>
                  <a:latin typeface="Arial" panose="020B0604020202020204" pitchFamily="34" charset="0"/>
                  <a:ea typeface="黑体" panose="02010609060101010101" pitchFamily="49" charset="-122"/>
                </a:endParaRPr>
              </a:p>
            </p:txBody>
          </p:sp>
          <p:sp>
            <p:nvSpPr>
              <p:cNvPr id="109811" name="Rectangle 244"/>
              <p:cNvSpPr/>
              <p:nvPr/>
            </p:nvSpPr>
            <p:spPr>
              <a:xfrm>
                <a:off x="879" y="2818"/>
                <a:ext cx="832" cy="854"/>
              </a:xfrm>
              <a:prstGeom prst="rect">
                <a:avLst/>
              </a:prstGeom>
              <a:noFill/>
              <a:ln w="12700"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sp>
          <p:nvSpPr>
            <p:cNvPr id="109812" name="Text Box 245"/>
            <p:cNvSpPr txBox="1"/>
            <p:nvPr/>
          </p:nvSpPr>
          <p:spPr>
            <a:xfrm>
              <a:off x="2736" y="3456"/>
              <a:ext cx="308" cy="265"/>
            </a:xfrm>
            <a:prstGeom prst="rect">
              <a:avLst/>
            </a:prstGeom>
            <a:noFill/>
            <a:ln w="12700">
              <a:noFill/>
            </a:ln>
            <a:effectLst>
              <a:outerShdw dist="17961" dir="2699999" algn="ctr" rotWithShape="0">
                <a:schemeClr val="tx1"/>
              </a:outerShdw>
            </a:effectLst>
          </p:spPr>
          <p:txBody>
            <a:bodyPr wrap="none" anchor="t" anchorCtr="0">
              <a:spAutoFit/>
            </a:bodyPr>
            <a:p>
              <a:pPr algn="ctr"/>
              <a:r>
                <a:rPr lang="en-US" altLang="zh-CN" sz="2400" dirty="0">
                  <a:solidFill>
                    <a:schemeClr val="bg1"/>
                  </a:solidFill>
                  <a:latin typeface="Arial" panose="020B0604020202020204" pitchFamily="34" charset="0"/>
                  <a:ea typeface="黑体" panose="02010609060101010101" pitchFamily="49" charset="-122"/>
                </a:rPr>
                <a:t>…</a:t>
              </a:r>
              <a:endParaRPr lang="en-US" altLang="zh-CN" sz="2400" dirty="0">
                <a:solidFill>
                  <a:schemeClr val="bg1"/>
                </a:solidFill>
                <a:latin typeface="Arial" panose="020B0604020202020204" pitchFamily="34" charset="0"/>
                <a:ea typeface="黑体" panose="02010609060101010101" pitchFamily="49" charset="-122"/>
              </a:endParaRPr>
            </a:p>
          </p:txBody>
        </p:sp>
      </p:grpSp>
      <p:sp>
        <p:nvSpPr>
          <p:cNvPr id="109813" name="Rectangle 246"/>
          <p:cNvSpPr/>
          <p:nvPr/>
        </p:nvSpPr>
        <p:spPr>
          <a:xfrm>
            <a:off x="3429000" y="2895600"/>
            <a:ext cx="2590800" cy="1470025"/>
          </a:xfrm>
          <a:prstGeom prst="rect">
            <a:avLst/>
          </a:prstGeom>
          <a:solidFill>
            <a:schemeClr val="bg1"/>
          </a:solidFill>
          <a:ln w="9525" cap="flat" cmpd="sng">
            <a:solidFill>
              <a:schemeClr val="bg2"/>
            </a:solidFill>
            <a:prstDash val="solid"/>
            <a:miter/>
            <a:headEnd type="none" w="med" len="med"/>
            <a:tailEnd type="none" w="med" len="med"/>
          </a:ln>
          <a:effectLst>
            <a:outerShdw dist="35921" dir="2699999" algn="ctr" rotWithShape="0">
              <a:srgbClr val="009999"/>
            </a:outerShdw>
          </a:effectLst>
        </p:spPr>
        <p:txBody>
          <a:bodyPr wrap="none" anchor="t" anchorCtr="0"/>
          <a:p>
            <a:pPr algn="ctr"/>
            <a:r>
              <a:rPr lang="en-US" altLang="zh-CN" sz="1600" dirty="0">
                <a:latin typeface="Arial" panose="020B0604020202020204" pitchFamily="34" charset="0"/>
                <a:ea typeface="黑体" panose="02010609060101010101" pitchFamily="49" charset="-122"/>
              </a:rPr>
              <a:t>Index Pages</a:t>
            </a:r>
            <a:r>
              <a:rPr lang="zh-CN" altLang="en-US" sz="1600" dirty="0">
                <a:latin typeface="Arial" panose="020B0604020202020204" pitchFamily="34" charset="0"/>
                <a:ea typeface="黑体" panose="02010609060101010101" pitchFamily="49" charset="-122"/>
              </a:rPr>
              <a:t>（索引页）</a:t>
            </a:r>
            <a:endParaRPr lang="zh-CN" altLang="en-US" sz="1600" dirty="0">
              <a:latin typeface="Arial" panose="020B0604020202020204" pitchFamily="34" charset="0"/>
              <a:ea typeface="黑体" panose="02010609060101010101" pitchFamily="49" charset="-122"/>
            </a:endParaRPr>
          </a:p>
        </p:txBody>
      </p:sp>
      <p:grpSp>
        <p:nvGrpSpPr>
          <p:cNvPr id="109814" name="Group 247"/>
          <p:cNvGrpSpPr/>
          <p:nvPr/>
        </p:nvGrpSpPr>
        <p:grpSpPr>
          <a:xfrm>
            <a:off x="3879850" y="3965575"/>
            <a:ext cx="838200" cy="584200"/>
            <a:chOff x="1100" y="1248"/>
            <a:chExt cx="964" cy="576"/>
          </a:xfrm>
        </p:grpSpPr>
        <p:sp>
          <p:nvSpPr>
            <p:cNvPr id="109815" name="Rectangle 248"/>
            <p:cNvSpPr/>
            <p:nvPr/>
          </p:nvSpPr>
          <p:spPr>
            <a:xfrm>
              <a:off x="1100" y="1248"/>
              <a:ext cx="964" cy="193"/>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solidFill>
                    <a:srgbClr val="008080"/>
                  </a:solidFill>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16" name="Rectangle 249"/>
            <p:cNvSpPr/>
            <p:nvPr/>
          </p:nvSpPr>
          <p:spPr>
            <a:xfrm>
              <a:off x="1100" y="1441"/>
              <a:ext cx="964" cy="191"/>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solidFill>
                    <a:srgbClr val="008080"/>
                  </a:solidFill>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17" name="Rectangle 250"/>
            <p:cNvSpPr/>
            <p:nvPr/>
          </p:nvSpPr>
          <p:spPr>
            <a:xfrm>
              <a:off x="1100" y="1631"/>
              <a:ext cx="964" cy="193"/>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18" name="Rectangle 251"/>
            <p:cNvSpPr/>
            <p:nvPr/>
          </p:nvSpPr>
          <p:spPr>
            <a:xfrm>
              <a:off x="1100" y="1248"/>
              <a:ext cx="964" cy="576"/>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grpSp>
        <p:nvGrpSpPr>
          <p:cNvPr id="109819" name="Group 252"/>
          <p:cNvGrpSpPr/>
          <p:nvPr/>
        </p:nvGrpSpPr>
        <p:grpSpPr>
          <a:xfrm>
            <a:off x="4821238" y="3965575"/>
            <a:ext cx="836612" cy="584200"/>
            <a:chOff x="1100" y="1248"/>
            <a:chExt cx="964" cy="576"/>
          </a:xfrm>
        </p:grpSpPr>
        <p:sp>
          <p:nvSpPr>
            <p:cNvPr id="109820" name="Rectangle 253"/>
            <p:cNvSpPr/>
            <p:nvPr/>
          </p:nvSpPr>
          <p:spPr>
            <a:xfrm>
              <a:off x="1100" y="1248"/>
              <a:ext cx="964" cy="193"/>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solidFill>
                    <a:srgbClr val="008080"/>
                  </a:solidFill>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21" name="Rectangle 254"/>
            <p:cNvSpPr/>
            <p:nvPr/>
          </p:nvSpPr>
          <p:spPr>
            <a:xfrm>
              <a:off x="1100" y="1441"/>
              <a:ext cx="964" cy="191"/>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solidFill>
                    <a:srgbClr val="008080"/>
                  </a:solidFill>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22" name="Rectangle 255"/>
            <p:cNvSpPr/>
            <p:nvPr/>
          </p:nvSpPr>
          <p:spPr>
            <a:xfrm>
              <a:off x="1100" y="1631"/>
              <a:ext cx="964" cy="193"/>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23" name="Rectangle 256"/>
            <p:cNvSpPr/>
            <p:nvPr/>
          </p:nvSpPr>
          <p:spPr>
            <a:xfrm>
              <a:off x="1100" y="1248"/>
              <a:ext cx="964" cy="576"/>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sp>
        <p:nvSpPr>
          <p:cNvPr id="307457" name="Freeform 257"/>
          <p:cNvSpPr/>
          <p:nvPr/>
        </p:nvSpPr>
        <p:spPr bwMode="auto">
          <a:xfrm>
            <a:off x="4000500" y="3286125"/>
            <a:ext cx="381000" cy="714375"/>
          </a:xfrm>
          <a:custGeom>
            <a:avLst/>
            <a:gdLst/>
            <a:ahLst/>
            <a:cxnLst>
              <a:cxn ang="0">
                <a:pos x="192" y="0"/>
              </a:cxn>
              <a:cxn ang="0">
                <a:pos x="48" y="0"/>
              </a:cxn>
              <a:cxn ang="0">
                <a:pos x="48" y="192"/>
              </a:cxn>
              <a:cxn ang="0">
                <a:pos x="0" y="192"/>
              </a:cxn>
              <a:cxn ang="0">
                <a:pos x="67" y="286"/>
              </a:cxn>
              <a:cxn ang="0">
                <a:pos x="144" y="192"/>
              </a:cxn>
              <a:cxn ang="0">
                <a:pos x="96" y="192"/>
              </a:cxn>
              <a:cxn ang="0">
                <a:pos x="96" y="48"/>
              </a:cxn>
              <a:cxn ang="0">
                <a:pos x="192" y="48"/>
              </a:cxn>
              <a:cxn ang="0">
                <a:pos x="192" y="0"/>
              </a:cxn>
            </a:cxnLst>
            <a:rect l="0" t="0" r="r" b="b"/>
            <a:pathLst>
              <a:path w="192" h="286">
                <a:moveTo>
                  <a:pt x="192" y="0"/>
                </a:moveTo>
                <a:lnTo>
                  <a:pt x="48" y="0"/>
                </a:lnTo>
                <a:lnTo>
                  <a:pt x="48" y="192"/>
                </a:lnTo>
                <a:lnTo>
                  <a:pt x="0" y="192"/>
                </a:lnTo>
                <a:lnTo>
                  <a:pt x="67" y="286"/>
                </a:lnTo>
                <a:lnTo>
                  <a:pt x="144" y="192"/>
                </a:lnTo>
                <a:lnTo>
                  <a:pt x="96" y="192"/>
                </a:lnTo>
                <a:lnTo>
                  <a:pt x="96" y="48"/>
                </a:lnTo>
                <a:lnTo>
                  <a:pt x="192" y="48"/>
                </a:lnTo>
                <a:lnTo>
                  <a:pt x="192" y="0"/>
                </a:lnTo>
                <a:close/>
              </a:path>
            </a:pathLst>
          </a:custGeom>
          <a:gradFill rotWithShape="0">
            <a:gsLst>
              <a:gs pos="0">
                <a:srgbClr val="FFCC00"/>
              </a:gs>
              <a:gs pos="50000">
                <a:schemeClr val="bg1"/>
              </a:gs>
              <a:gs pos="100000">
                <a:srgbClr val="FFCC00"/>
              </a:gs>
            </a:gsLst>
            <a:lin ang="5400000" scaled="1"/>
          </a:gradFill>
          <a:ln w="9525" cap="flat" cmpd="sng">
            <a:solidFill>
              <a:schemeClr val="accent2"/>
            </a:solidFill>
            <a:prstDash val="solid"/>
            <a:round/>
            <a:headEnd type="none" w="med" len="med"/>
            <a:tailEnd type="none" w="med" len="med"/>
          </a:ln>
          <a:effectLst>
            <a:outerShdw dist="53882" dir="2700000" algn="ctr" rotWithShape="0">
              <a:schemeClr val="folHlink"/>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109825" name="Group 258"/>
          <p:cNvGrpSpPr/>
          <p:nvPr/>
        </p:nvGrpSpPr>
        <p:grpSpPr>
          <a:xfrm>
            <a:off x="4343400" y="3200400"/>
            <a:ext cx="838200" cy="579438"/>
            <a:chOff x="1100" y="1248"/>
            <a:chExt cx="964" cy="576"/>
          </a:xfrm>
        </p:grpSpPr>
        <p:sp>
          <p:nvSpPr>
            <p:cNvPr id="109826" name="Rectangle 259"/>
            <p:cNvSpPr/>
            <p:nvPr/>
          </p:nvSpPr>
          <p:spPr>
            <a:xfrm>
              <a:off x="1100" y="1248"/>
              <a:ext cx="964" cy="193"/>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solidFill>
                    <a:srgbClr val="008080"/>
                  </a:solidFill>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27" name="Rectangle 260"/>
            <p:cNvSpPr/>
            <p:nvPr/>
          </p:nvSpPr>
          <p:spPr>
            <a:xfrm>
              <a:off x="1100" y="1441"/>
              <a:ext cx="964" cy="191"/>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solidFill>
                    <a:srgbClr val="008080"/>
                  </a:solidFill>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28" name="Rectangle 261"/>
            <p:cNvSpPr/>
            <p:nvPr/>
          </p:nvSpPr>
          <p:spPr>
            <a:xfrm>
              <a:off x="1100" y="1631"/>
              <a:ext cx="964" cy="193"/>
            </a:xfrm>
            <a:prstGeom prst="rect">
              <a:avLst/>
            </a:prstGeom>
            <a:solidFill>
              <a:srgbClr val="CCFFFF"/>
            </a:solidFill>
            <a:ln w="9525" cap="flat" cmpd="sng">
              <a:solidFill>
                <a:schemeClr val="folHlink"/>
              </a:solidFill>
              <a:prstDash val="solid"/>
              <a:miter/>
              <a:headEnd type="none" w="med" len="med"/>
              <a:tailEnd type="none" w="med" len="med"/>
            </a:ln>
            <a:effectLst>
              <a:outerShdw dist="71842" dir="2699999" algn="ctr" rotWithShape="0">
                <a:srgbClr val="808080"/>
              </a:outerShdw>
            </a:effectLst>
          </p:spPr>
          <p:txBody>
            <a:bodyPr wrap="none" anchor="ctr" anchorCtr="0"/>
            <a:p>
              <a:pPr algn="ctr"/>
              <a:r>
                <a:rPr lang="en-US" altLang="zh-CN" sz="1500" dirty="0">
                  <a:latin typeface="Arial Narrow" panose="020B0606020202030204" pitchFamily="34" charset="0"/>
                  <a:ea typeface="宋体" panose="02010600030101010101" pitchFamily="2" charset="-122"/>
                </a:rPr>
                <a:t> </a:t>
              </a:r>
              <a:endParaRPr lang="en-US" altLang="zh-CN" sz="1500" dirty="0">
                <a:latin typeface="Arial Narrow" panose="020B0606020202030204" pitchFamily="34" charset="0"/>
                <a:ea typeface="宋体" panose="02010600030101010101" pitchFamily="2" charset="-122"/>
              </a:endParaRPr>
            </a:p>
          </p:txBody>
        </p:sp>
        <p:sp>
          <p:nvSpPr>
            <p:cNvPr id="109829" name="Rectangle 262"/>
            <p:cNvSpPr/>
            <p:nvPr/>
          </p:nvSpPr>
          <p:spPr>
            <a:xfrm>
              <a:off x="1100" y="1248"/>
              <a:ext cx="964" cy="576"/>
            </a:xfrm>
            <a:prstGeom prst="rect">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Verdana" panose="020B0604030504040204" pitchFamily="34" charset="0"/>
                <a:ea typeface="宋体" panose="02010600030101010101" pitchFamily="2" charset="-122"/>
              </a:endParaRPr>
            </a:p>
          </p:txBody>
        </p:sp>
      </p:grpSp>
      <p:sp>
        <p:nvSpPr>
          <p:cNvPr id="307463" name="AutoShape 263"/>
          <p:cNvSpPr>
            <a:spLocks noChangeArrowheads="1"/>
          </p:cNvSpPr>
          <p:nvPr/>
        </p:nvSpPr>
        <p:spPr bwMode="auto">
          <a:xfrm>
            <a:off x="3962400" y="4554538"/>
            <a:ext cx="304800" cy="609600"/>
          </a:xfrm>
          <a:prstGeom prst="downArrow">
            <a:avLst>
              <a:gd name="adj1" fmla="val 45833"/>
              <a:gd name="adj2" fmla="val 30444"/>
            </a:avLst>
          </a:prstGeom>
          <a:gradFill rotWithShape="0">
            <a:gsLst>
              <a:gs pos="0">
                <a:srgbClr val="FFCC00"/>
              </a:gs>
              <a:gs pos="50000">
                <a:schemeClr val="bg1"/>
              </a:gs>
              <a:gs pos="100000">
                <a:srgbClr val="FFCC00"/>
              </a:gs>
            </a:gsLst>
            <a:lin ang="5400000" scaled="1"/>
          </a:gradFill>
          <a:ln w="9525">
            <a:solidFill>
              <a:schemeClr val="accent2"/>
            </a:solidFill>
            <a:miter lim="800000"/>
          </a:ln>
          <a:effectLst>
            <a:outerShdw dist="53882" dir="2700000" algn="ctr" rotWithShape="0">
              <a:schemeClr val="folHlink"/>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831" name="Rectangle 264"/>
          <p:cNvSpPr/>
          <p:nvPr/>
        </p:nvSpPr>
        <p:spPr>
          <a:xfrm>
            <a:off x="684213" y="260350"/>
            <a:ext cx="8229600" cy="792163"/>
          </a:xfrm>
          <a:prstGeom prst="rect">
            <a:avLst/>
          </a:prstGeom>
          <a:noFill/>
          <a:ln w="9525">
            <a:noFill/>
          </a:ln>
        </p:spPr>
        <p:txBody>
          <a:bodyPr anchor="ctr" anchorCtr="0"/>
          <a:p>
            <a:r>
              <a:rPr lang="zh-CN" altLang="en-US" sz="3200" dirty="0">
                <a:solidFill>
                  <a:schemeClr val="tx2"/>
                </a:solidFill>
                <a:latin typeface="Arial" panose="020B0604020202020204" pitchFamily="34" charset="0"/>
                <a:ea typeface="宋体" panose="02010600030101010101" pitchFamily="2" charset="-122"/>
              </a:rPr>
              <a:t>什么是索引</a:t>
            </a:r>
            <a:endParaRPr lang="zh-CN" altLang="en-US" sz="3200" dirty="0">
              <a:solidFill>
                <a:schemeClr val="tx2"/>
              </a:solidFill>
              <a:latin typeface="Arial" panose="020B0604020202020204" pitchFamily="34" charset="0"/>
              <a:ea typeface="宋体" panose="02010600030101010101" pitchFamily="2" charset="-122"/>
            </a:endParaRPr>
          </a:p>
        </p:txBody>
      </p:sp>
      <p:sp>
        <p:nvSpPr>
          <p:cNvPr id="109832" name="矩形 264"/>
          <p:cNvSpPr/>
          <p:nvPr/>
        </p:nvSpPr>
        <p:spPr>
          <a:xfrm>
            <a:off x="2357438" y="1285875"/>
            <a:ext cx="3987800" cy="369888"/>
          </a:xfrm>
          <a:prstGeom prst="rect">
            <a:avLst/>
          </a:prstGeom>
          <a:noFill/>
          <a:ln w="9525">
            <a:noFill/>
          </a:ln>
        </p:spPr>
        <p:txBody>
          <a:bodyPr wrap="none" anchor="t" anchorCtr="0">
            <a:spAutoFit/>
          </a:bodyPr>
          <a:p>
            <a:r>
              <a:rPr lang="en-US" altLang="zh-CN" dirty="0">
                <a:latin typeface="Verdana" panose="020B0604030504040204" pitchFamily="34" charset="0"/>
                <a:ea typeface="宋体" panose="02010600030101010101" pitchFamily="2" charset="-122"/>
              </a:rPr>
              <a:t>MySQL</a:t>
            </a:r>
            <a:r>
              <a:rPr lang="zh-CN" altLang="en-US" dirty="0">
                <a:latin typeface="Verdana" panose="020B0604030504040204" pitchFamily="34" charset="0"/>
                <a:ea typeface="宋体" panose="02010600030101010101" pitchFamily="2" charset="-122"/>
              </a:rPr>
              <a:t>中的数据记录也是按页存放的</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7457"/>
                                        </p:tgtEl>
                                        <p:attrNameLst>
                                          <p:attrName>style.visibility</p:attrName>
                                        </p:attrNameLst>
                                      </p:cBhvr>
                                      <p:to>
                                        <p:strVal val="visible"/>
                                      </p:to>
                                    </p:set>
                                    <p:animEffect transition="in" filter="wipe(up)">
                                      <p:cBhvr>
                                        <p:cTn id="7" dur="500"/>
                                        <p:tgtEl>
                                          <p:spTgt spid="3074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7463"/>
                                        </p:tgtEl>
                                        <p:attrNameLst>
                                          <p:attrName>style.visibility</p:attrName>
                                        </p:attrNameLst>
                                      </p:cBhvr>
                                      <p:to>
                                        <p:strVal val="visible"/>
                                      </p:to>
                                    </p:set>
                                    <p:animEffect transition="in" filter="wipe(up)">
                                      <p:cBhvr>
                                        <p:cTn id="12" dur="500"/>
                                        <p:tgtEl>
                                          <p:spTgt spid="307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6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p:nvPr/>
        </p:nvSpPr>
        <p:spPr>
          <a:xfrm>
            <a:off x="714375" y="285750"/>
            <a:ext cx="8229600" cy="792163"/>
          </a:xfrm>
          <a:prstGeom prst="rect">
            <a:avLst/>
          </a:prstGeom>
          <a:noFill/>
          <a:ln w="9525">
            <a:noFill/>
          </a:ln>
        </p:spPr>
        <p:txBody>
          <a:bodyPr anchor="ctr" anchorCtr="0"/>
          <a:p>
            <a:r>
              <a:rPr lang="zh-CN" altLang="en-US" sz="3200" dirty="0">
                <a:solidFill>
                  <a:schemeClr val="tx2"/>
                </a:solidFill>
                <a:latin typeface="Arial" panose="020B0604020202020204" pitchFamily="34" charset="0"/>
                <a:ea typeface="宋体" panose="02010600030101010101" pitchFamily="2" charset="-122"/>
              </a:rPr>
              <a:t>什么是索引</a:t>
            </a:r>
            <a:endParaRPr lang="zh-CN" altLang="en-US" sz="3200" dirty="0">
              <a:solidFill>
                <a:schemeClr val="tx2"/>
              </a:solidFill>
              <a:latin typeface="Arial" panose="020B0604020202020204" pitchFamily="34" charset="0"/>
              <a:ea typeface="宋体" panose="02010600030101010101" pitchFamily="2" charset="-122"/>
            </a:endParaRPr>
          </a:p>
        </p:txBody>
      </p:sp>
      <p:sp>
        <p:nvSpPr>
          <p:cNvPr id="110594" name="Rectangle 3"/>
          <p:cNvSpPr/>
          <p:nvPr/>
        </p:nvSpPr>
        <p:spPr>
          <a:xfrm>
            <a:off x="755650" y="1411288"/>
            <a:ext cx="7777163" cy="4608512"/>
          </a:xfrm>
          <a:prstGeom prst="rect">
            <a:avLst/>
          </a:prstGeom>
          <a:noFill/>
          <a:ln w="9525">
            <a:noFill/>
          </a:ln>
        </p:spPr>
        <p:txBody>
          <a:bodyPr anchor="t" anchorCtr="0"/>
          <a:p>
            <a:pPr marL="342900" indent="-342900">
              <a:spcBef>
                <a:spcPct val="20000"/>
              </a:spcBef>
              <a:buClr>
                <a:schemeClr val="tx2"/>
              </a:buClr>
              <a:buFont typeface="Wingdings" panose="05000000000000000000" pitchFamily="2" charset="2"/>
              <a:buChar char="v"/>
            </a:pPr>
            <a:r>
              <a:rPr lang="zh-CN" altLang="en-US" sz="2800" dirty="0">
                <a:latin typeface="Arial" panose="020B0604020202020204" pitchFamily="34" charset="0"/>
                <a:ea typeface="宋体" panose="02010600030101010101" pitchFamily="2" charset="-122"/>
              </a:rPr>
              <a:t>索引：索引是在表上创建的</a:t>
            </a:r>
            <a:r>
              <a:rPr lang="zh-CN" altLang="en-US" sz="2800" b="1" dirty="0">
                <a:solidFill>
                  <a:srgbClr val="FF0000"/>
                </a:solidFill>
                <a:latin typeface="Arial" panose="020B0604020202020204" pitchFamily="34" charset="0"/>
                <a:ea typeface="宋体" panose="02010600030101010101" pitchFamily="2" charset="-122"/>
              </a:rPr>
              <a:t>数据库对象</a:t>
            </a:r>
            <a:r>
              <a:rPr lang="zh-CN" altLang="en-US" sz="2800" dirty="0">
                <a:latin typeface="Arial" panose="020B0604020202020204" pitchFamily="34" charset="0"/>
                <a:ea typeface="宋体" panose="02010600030101010101" pitchFamily="2" charset="-122"/>
              </a:rPr>
              <a:t>，它可以提供到数据的更快的访问通道，并且可以使</a:t>
            </a:r>
            <a:r>
              <a:rPr lang="zh-CN" altLang="en-US" sz="2800" b="1" dirty="0">
                <a:solidFill>
                  <a:srgbClr val="FF0000"/>
                </a:solidFill>
                <a:latin typeface="Arial" panose="020B0604020202020204" pitchFamily="34" charset="0"/>
                <a:ea typeface="宋体" panose="02010600030101010101" pitchFamily="2" charset="-122"/>
              </a:rPr>
              <a:t>查询执行更快</a:t>
            </a:r>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a:p>
            <a:pPr marL="342900" indent="-342900">
              <a:spcBef>
                <a:spcPct val="20000"/>
              </a:spcBef>
              <a:buClr>
                <a:schemeClr val="tx2"/>
              </a:buClr>
              <a:buFont typeface="Wingdings" panose="05000000000000000000" pitchFamily="2" charset="2"/>
              <a:buChar char="v"/>
            </a:pPr>
            <a:r>
              <a:rPr lang="zh-CN" altLang="en-US" sz="2800" b="1" dirty="0">
                <a:solidFill>
                  <a:srgbClr val="0000FF"/>
                </a:solidFill>
                <a:latin typeface="Arial" panose="020B0604020202020204" pitchFamily="34" charset="0"/>
                <a:ea typeface="宋体" panose="02010600030101010101" pitchFamily="2" charset="-122"/>
              </a:rPr>
              <a:t>索引的作用</a:t>
            </a:r>
            <a:r>
              <a:rPr lang="zh-CN" altLang="en-US" sz="2800" dirty="0">
                <a:latin typeface="Arial" panose="020B0604020202020204" pitchFamily="34" charset="0"/>
                <a:ea typeface="宋体" panose="02010600030101010101" pitchFamily="2" charset="-122"/>
              </a:rPr>
              <a:t>：</a:t>
            </a:r>
            <a:r>
              <a:rPr lang="zh-CN" altLang="en-US" sz="2800" b="1" dirty="0">
                <a:solidFill>
                  <a:srgbClr val="0000FF"/>
                </a:solidFill>
                <a:latin typeface="Verdana" panose="020B0604030504040204" pitchFamily="34" charset="0"/>
                <a:ea typeface="宋体" panose="02010600030101010101" pitchFamily="2" charset="-122"/>
              </a:rPr>
              <a:t>加快查询速度</a:t>
            </a:r>
            <a:r>
              <a:rPr lang="zh-CN" altLang="en-US" sz="2800" dirty="0">
                <a:latin typeface="Verdana" panose="020B060403050404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创建了索引的列几乎是</a:t>
            </a:r>
            <a:r>
              <a:rPr lang="zh-CN" altLang="en-US" sz="2800" b="1" dirty="0">
                <a:solidFill>
                  <a:srgbClr val="FF0000"/>
                </a:solidFill>
                <a:latin typeface="Arial" panose="020B0604020202020204" pitchFamily="34" charset="0"/>
                <a:ea typeface="宋体" panose="02010600030101010101" pitchFamily="2" charset="-122"/>
              </a:rPr>
              <a:t>立即响应</a:t>
            </a:r>
            <a:r>
              <a:rPr lang="zh-CN" altLang="en-US" sz="2800" dirty="0">
                <a:latin typeface="Arial" panose="020B0604020202020204" pitchFamily="34" charset="0"/>
                <a:ea typeface="宋体" panose="02010600030101010101" pitchFamily="2" charset="-122"/>
              </a:rPr>
              <a:t>，而不创建索引的列则需要较长时间的等待。</a:t>
            </a:r>
            <a:endParaRPr lang="en-US" altLang="zh-CN" sz="2800" dirty="0">
              <a:latin typeface="Arial" panose="020B0604020202020204" pitchFamily="34" charset="0"/>
              <a:ea typeface="宋体" panose="02010600030101010101" pitchFamily="2" charset="-122"/>
            </a:endParaRPr>
          </a:p>
          <a:p>
            <a:pPr marL="342900" indent="-342900">
              <a:spcBef>
                <a:spcPct val="20000"/>
              </a:spcBef>
              <a:buClr>
                <a:schemeClr val="tx2"/>
              </a:buClr>
              <a:buFont typeface="Wingdings" panose="05000000000000000000" pitchFamily="2" charset="2"/>
              <a:buChar char="v"/>
            </a:pPr>
            <a:r>
              <a:rPr lang="en-US" altLang="zh-CN" sz="2800" dirty="0">
                <a:latin typeface="Arial" panose="020B0604020202020204" pitchFamily="34" charset="0"/>
                <a:ea typeface="宋体" panose="02010600030101010101" pitchFamily="2" charset="-122"/>
              </a:rPr>
              <a:t>SQL</a:t>
            </a:r>
            <a:r>
              <a:rPr lang="zh-CN" altLang="en-US" sz="2800" dirty="0">
                <a:latin typeface="Arial" panose="020B0604020202020204" pitchFamily="34" charset="0"/>
                <a:ea typeface="宋体" panose="02010600030101010101" pitchFamily="2" charset="-122"/>
              </a:rPr>
              <a:t>标准中没有设计索引，但是</a:t>
            </a:r>
            <a:r>
              <a:rPr lang="en-US" altLang="zh-CN" sz="2800" dirty="0">
                <a:latin typeface="Arial" panose="020B0604020202020204" pitchFamily="34" charset="0"/>
                <a:ea typeface="宋体" panose="02010600030101010101" pitchFamily="2" charset="-122"/>
              </a:rPr>
              <a:t>DBMS</a:t>
            </a:r>
            <a:r>
              <a:rPr lang="zh-CN" altLang="en-US" sz="2800" dirty="0">
                <a:latin typeface="Arial" panose="020B0604020202020204" pitchFamily="34" charset="0"/>
                <a:ea typeface="宋体" panose="02010600030101010101" pitchFamily="2" charset="-122"/>
              </a:rPr>
              <a:t>都支持索引。</a:t>
            </a:r>
            <a:endParaRPr lang="zh-CN" altLang="en-US" sz="2800" dirty="0">
              <a:latin typeface="Verdana" panose="020B0604030504040204" pitchFamily="34" charset="0"/>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xfrm>
            <a:off x="914400" y="476250"/>
            <a:ext cx="7391400" cy="563563"/>
          </a:xfrm>
          <a:ln/>
        </p:spPr>
        <p:txBody>
          <a:bodyPr vert="horz" wrap="square" lIns="91440" tIns="45720" rIns="91440" bIns="45720" anchor="b" anchorCtr="0"/>
          <a:p>
            <a:pPr marL="495300" indent="-495300"/>
            <a:r>
              <a:rPr lang="zh-CN" altLang="en-US" dirty="0">
                <a:solidFill>
                  <a:schemeClr val="tx1"/>
                </a:solidFill>
              </a:rPr>
              <a:t>索引的类型</a:t>
            </a:r>
            <a:r>
              <a:rPr lang="zh-CN" altLang="en-US" sz="2800" dirty="0">
                <a:solidFill>
                  <a:schemeClr val="tx1"/>
                </a:solidFill>
              </a:rPr>
              <a:t> </a:t>
            </a:r>
            <a:endParaRPr lang="zh-CN" altLang="en-US" sz="2800" dirty="0">
              <a:solidFill>
                <a:schemeClr val="tx1"/>
              </a:solidFill>
            </a:endParaRPr>
          </a:p>
        </p:txBody>
      </p:sp>
      <p:sp>
        <p:nvSpPr>
          <p:cNvPr id="112642" name="Rectangle 3"/>
          <p:cNvSpPr>
            <a:spLocks noGrp="1"/>
          </p:cNvSpPr>
          <p:nvPr>
            <p:ph idx="1"/>
          </p:nvPr>
        </p:nvSpPr>
        <p:spPr>
          <a:xfrm>
            <a:off x="928688" y="1500188"/>
            <a:ext cx="6891337" cy="4089400"/>
          </a:xfrm>
          <a:ln/>
        </p:spPr>
        <p:txBody>
          <a:bodyPr vert="horz" wrap="square" lIns="91440" tIns="45720" rIns="91440" bIns="45720" anchor="t" anchorCtr="0"/>
          <a:p>
            <a:pPr marL="476250" indent="-457200"/>
            <a:r>
              <a:rPr lang="zh-CN" altLang="en-US" sz="2800" dirty="0">
                <a:ea typeface="经典粗宋简"/>
              </a:rPr>
              <a:t>顺序文件上的索引</a:t>
            </a:r>
            <a:endParaRPr lang="en-US" altLang="zh-CN" sz="2800" dirty="0">
              <a:ea typeface="经典粗宋简"/>
            </a:endParaRPr>
          </a:p>
          <a:p>
            <a:pPr marL="476250" indent="-457200"/>
            <a:r>
              <a:rPr lang="en-US" altLang="zh-CN" sz="2800" dirty="0">
                <a:ea typeface="经典粗宋简"/>
              </a:rPr>
              <a:t>B+</a:t>
            </a:r>
            <a:r>
              <a:rPr lang="zh-CN" altLang="en-US" sz="2800" dirty="0">
                <a:ea typeface="经典粗宋简"/>
              </a:rPr>
              <a:t>树索引</a:t>
            </a:r>
            <a:endParaRPr lang="en-US" altLang="zh-CN" sz="2800" dirty="0">
              <a:ea typeface="经典粗宋简"/>
            </a:endParaRPr>
          </a:p>
          <a:p>
            <a:pPr marL="476250" indent="-457200"/>
            <a:r>
              <a:rPr lang="zh-CN" altLang="en-US" sz="2800" dirty="0">
                <a:ea typeface="经典粗宋简"/>
              </a:rPr>
              <a:t>散列索引</a:t>
            </a:r>
            <a:endParaRPr lang="en-US" altLang="zh-CN" sz="2800" dirty="0">
              <a:ea typeface="经典粗宋简"/>
            </a:endParaRPr>
          </a:p>
          <a:p>
            <a:pPr marL="476250" indent="-457200"/>
            <a:r>
              <a:rPr lang="zh-CN" altLang="en-US" sz="2800" dirty="0">
                <a:ea typeface="经典粗宋简"/>
              </a:rPr>
              <a:t>位图索引</a:t>
            </a:r>
            <a:endParaRPr lang="zh-CN" altLang="en-US" sz="2800" dirty="0">
              <a:ea typeface="经典粗宋简"/>
            </a:endParaRPr>
          </a:p>
        </p:txBody>
      </p:sp>
    </p:spTree>
  </p:cSld>
  <p:clrMapOvr>
    <a:masterClrMapping/>
  </p:clrMapOvr>
  <p:transition advClick="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xfrm>
            <a:off x="914400" y="476250"/>
            <a:ext cx="7391400" cy="563563"/>
          </a:xfrm>
          <a:ln/>
        </p:spPr>
        <p:txBody>
          <a:bodyPr vert="horz" wrap="square" lIns="91440" tIns="45720" rIns="91440" bIns="45720" anchor="b" anchorCtr="0"/>
          <a:p>
            <a:r>
              <a:rPr lang="zh-CN" altLang="en-US" dirty="0">
                <a:solidFill>
                  <a:schemeClr val="tx1"/>
                </a:solidFill>
              </a:rPr>
              <a:t>索引的优缺点</a:t>
            </a:r>
            <a:endParaRPr lang="zh-CN" altLang="en-US" dirty="0">
              <a:solidFill>
                <a:schemeClr val="tx1"/>
              </a:solidFill>
            </a:endParaRPr>
          </a:p>
        </p:txBody>
      </p:sp>
      <p:sp>
        <p:nvSpPr>
          <p:cNvPr id="317443" name="Rectangle 3"/>
          <p:cNvSpPr>
            <a:spLocks noGrp="1" noChangeArrowheads="1"/>
          </p:cNvSpPr>
          <p:nvPr>
            <p:ph idx="1"/>
          </p:nvPr>
        </p:nvSpPr>
        <p:spPr>
          <a:xfrm>
            <a:off x="682625" y="1539875"/>
            <a:ext cx="8137525" cy="4556125"/>
          </a:xfrm>
        </p:spPr>
        <p:txBody>
          <a:bodyPr vert="horz" wrap="square" lIns="91440" tIns="45720" rIns="91440" bIns="45720" numCol="1" anchor="t" anchorCtr="0" compatLnSpc="1"/>
          <a:lstStyle/>
          <a:p>
            <a:pPr marL="469900" marR="0" lvl="0" indent="-469900" algn="l" defTabSz="914400" rtl="0" eaLnBrk="0" fontAlgn="base" latinLnBrk="0" hangingPunct="0">
              <a:lnSpc>
                <a:spcPct val="115000"/>
              </a:lnSpc>
              <a:spcBef>
                <a:spcPct val="20000"/>
              </a:spcBef>
              <a:spcAft>
                <a:spcPct val="0"/>
              </a:spcAft>
              <a:buClr>
                <a:schemeClr val="accent2"/>
              </a:buClr>
              <a:buSzTx/>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uLnTx/>
                <a:uFillTx/>
                <a:latin typeface="+mn-ea"/>
                <a:ea typeface="+mn-ea"/>
                <a:cs typeface="+mn-cs"/>
              </a:rPr>
              <a:t>优点</a:t>
            </a:r>
            <a:endParaRPr kumimoji="0" lang="zh-CN" altLang="en-US" sz="3000" b="0" i="0" u="none" strike="noStrike" kern="0" cap="none" spc="0" normalizeH="0" baseline="0" noProof="0" dirty="0" smtClean="0">
              <a:ln>
                <a:noFill/>
              </a:ln>
              <a:solidFill>
                <a:schemeClr val="tx1"/>
              </a:solidFill>
              <a:effectLst/>
              <a:uLnTx/>
              <a:uFillTx/>
              <a:latin typeface="+mn-ea"/>
              <a:ea typeface="+mn-ea"/>
              <a:cs typeface="+mn-cs"/>
            </a:endParaRPr>
          </a:p>
          <a:p>
            <a:pPr marL="812800" marR="0" lvl="1" indent="-276225" algn="l" defTabSz="914400" rtl="0" eaLnBrk="0" fontAlgn="base" latinLnBrk="0" hangingPunct="0">
              <a:lnSpc>
                <a:spcPct val="115000"/>
              </a:lnSpc>
              <a:spcBef>
                <a:spcPct val="20000"/>
              </a:spcBef>
              <a:spcAft>
                <a:spcPct val="0"/>
              </a:spcAft>
              <a:buClr>
                <a:schemeClr val="accent2"/>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mn-ea"/>
                <a:ea typeface="+mn-ea"/>
                <a:cs typeface="+mn-ea"/>
              </a:rPr>
              <a:t>加快访问速度。查询操作。</a:t>
            </a:r>
            <a:endParaRPr kumimoji="0" lang="zh-CN" altLang="en-US" sz="2800" b="0" i="0" u="none" strike="noStrike" kern="0" cap="none" spc="0" normalizeH="0" baseline="0" noProof="0" dirty="0" smtClean="0">
              <a:ln>
                <a:noFill/>
              </a:ln>
              <a:solidFill>
                <a:schemeClr val="tx1"/>
              </a:solidFill>
              <a:effectLst/>
              <a:uLnTx/>
              <a:uFillTx/>
              <a:latin typeface="+mn-ea"/>
              <a:ea typeface="+mn-ea"/>
              <a:cs typeface="+mn-ea"/>
            </a:endParaRPr>
          </a:p>
          <a:p>
            <a:pPr marL="469900" marR="0" lvl="0" indent="-469900" algn="l" defTabSz="914400" rtl="0" eaLnBrk="0" fontAlgn="base" latinLnBrk="0" hangingPunct="0">
              <a:lnSpc>
                <a:spcPct val="115000"/>
              </a:lnSpc>
              <a:spcBef>
                <a:spcPct val="20000"/>
              </a:spcBef>
              <a:spcAft>
                <a:spcPct val="0"/>
              </a:spcAft>
              <a:buClr>
                <a:schemeClr val="accent2"/>
              </a:buClr>
              <a:buSzTx/>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uLnTx/>
                <a:uFillTx/>
                <a:latin typeface="+mn-ea"/>
                <a:ea typeface="+mn-ea"/>
                <a:cs typeface="+mn-cs"/>
              </a:rPr>
              <a:t>缺点</a:t>
            </a:r>
            <a:endParaRPr kumimoji="0" lang="zh-CN" altLang="en-US" sz="3000" b="0" i="0" u="none" strike="noStrike" kern="0" cap="none" spc="0" normalizeH="0" baseline="0" noProof="0" dirty="0" smtClean="0">
              <a:ln>
                <a:noFill/>
              </a:ln>
              <a:solidFill>
                <a:schemeClr val="tx1"/>
              </a:solidFill>
              <a:effectLst/>
              <a:uLnTx/>
              <a:uFillTx/>
              <a:latin typeface="+mn-ea"/>
              <a:ea typeface="+mn-ea"/>
              <a:cs typeface="+mn-cs"/>
            </a:endParaRPr>
          </a:p>
          <a:p>
            <a:pPr marL="812800" marR="0" lvl="1" indent="-276225" algn="l" defTabSz="914400" rtl="0" eaLnBrk="0" fontAlgn="base" latinLnBrk="0" hangingPunct="0">
              <a:lnSpc>
                <a:spcPct val="115000"/>
              </a:lnSpc>
              <a:spcBef>
                <a:spcPct val="20000"/>
              </a:spcBef>
              <a:spcAft>
                <a:spcPct val="0"/>
              </a:spcAft>
              <a:buClr>
                <a:schemeClr val="accent2"/>
              </a:buClr>
              <a:buSzTx/>
              <a:buFont typeface="Wingdings" panose="05000000000000000000" pitchFamily="2" charset="2"/>
              <a:buChar char="p"/>
              <a:defRPr/>
            </a:pPr>
            <a:r>
              <a:rPr kumimoji="0" lang="ko-KR" altLang="en-US" sz="2800" b="0" i="0" u="none" strike="noStrike" kern="0" cap="none" spc="0" normalizeH="0" baseline="0" noProof="0" dirty="0" smtClean="0">
                <a:ln>
                  <a:noFill/>
                </a:ln>
                <a:solidFill>
                  <a:schemeClr val="tx1"/>
                </a:solidFill>
                <a:effectLst/>
                <a:uLnTx/>
                <a:uFillTx/>
                <a:latin typeface="+mn-ea"/>
                <a:ea typeface="+mn-ea"/>
                <a:cs typeface="+mn-ea"/>
              </a:rPr>
              <a:t>带索引的表在数据库中需要更多的</a:t>
            </a:r>
            <a:r>
              <a:rPr kumimoji="0" lang="ko-KR" altLang="en-US" sz="2800" b="1" i="0" u="none" strike="noStrike" kern="0" cap="none" spc="0" normalizeH="0" baseline="0" noProof="0" dirty="0" smtClean="0">
                <a:ln>
                  <a:noFill/>
                </a:ln>
                <a:solidFill>
                  <a:srgbClr val="FF0000"/>
                </a:solidFill>
                <a:effectLst/>
                <a:uLnTx/>
                <a:uFillTx/>
                <a:latin typeface="+mn-ea"/>
                <a:ea typeface="+mn-ea"/>
                <a:cs typeface="+mn-ea"/>
              </a:rPr>
              <a:t>存储</a:t>
            </a:r>
            <a:r>
              <a:rPr kumimoji="0" lang="ko-KR" altLang="en-US" sz="2800" b="0" i="0" u="none" strike="noStrike" kern="0" cap="none" spc="0" normalizeH="0" baseline="0" noProof="0" dirty="0" smtClean="0">
                <a:ln>
                  <a:noFill/>
                </a:ln>
                <a:solidFill>
                  <a:schemeClr val="tx1"/>
                </a:solidFill>
                <a:effectLst/>
                <a:uLnTx/>
                <a:uFillTx/>
                <a:latin typeface="+mn-ea"/>
                <a:ea typeface="+mn-ea"/>
                <a:cs typeface="+mn-ea"/>
              </a:rPr>
              <a:t>空间</a:t>
            </a:r>
            <a:endParaRPr kumimoji="0" lang="ko-KR" altLang="en-US" sz="2800" b="0" i="0" u="none" strike="noStrike" kern="0" cap="none" spc="0" normalizeH="0" baseline="0" noProof="0" dirty="0" smtClean="0">
              <a:ln>
                <a:noFill/>
              </a:ln>
              <a:solidFill>
                <a:schemeClr val="tx1"/>
              </a:solidFill>
              <a:effectLst/>
              <a:uLnTx/>
              <a:uFillTx/>
              <a:latin typeface="+mn-ea"/>
              <a:ea typeface="+mn-ea"/>
              <a:cs typeface="+mn-ea"/>
            </a:endParaRPr>
          </a:p>
          <a:p>
            <a:pPr marL="812800" marR="0" lvl="1" indent="-276225" algn="l" defTabSz="914400" rtl="0" eaLnBrk="0" fontAlgn="base" latinLnBrk="0" hangingPunct="0">
              <a:lnSpc>
                <a:spcPct val="115000"/>
              </a:lnSpc>
              <a:spcBef>
                <a:spcPct val="20000"/>
              </a:spcBef>
              <a:spcAft>
                <a:spcPct val="0"/>
              </a:spcAft>
              <a:buClr>
                <a:schemeClr val="accent2"/>
              </a:buClr>
              <a:buSzTx/>
              <a:buFont typeface="Wingdings" panose="05000000000000000000" pitchFamily="2" charset="2"/>
              <a:buChar char="p"/>
              <a:defRPr/>
            </a:pPr>
            <a:r>
              <a:rPr kumimoji="0" lang="ko-KR" altLang="en-US" sz="2800" b="1" i="0" u="none" strike="noStrike" kern="0" cap="none" spc="0" normalizeH="0" baseline="0" noProof="0" dirty="0" smtClean="0">
                <a:ln>
                  <a:noFill/>
                </a:ln>
                <a:solidFill>
                  <a:srgbClr val="FF0000"/>
                </a:solidFill>
                <a:effectLst/>
                <a:uLnTx/>
                <a:uFillTx/>
                <a:latin typeface="+mn-ea"/>
                <a:ea typeface="+mn-ea"/>
                <a:cs typeface="+mn-ea"/>
              </a:rPr>
              <a:t>操纵数据的命令</a:t>
            </a:r>
            <a:r>
              <a:rPr kumimoji="0" lang="zh-CN" altLang="en-US" sz="2800" b="1" i="0" u="none" strike="noStrike" kern="0" cap="none" spc="0" normalizeH="0" baseline="0" noProof="0" dirty="0" smtClean="0">
                <a:ln>
                  <a:noFill/>
                </a:ln>
                <a:solidFill>
                  <a:srgbClr val="0000FF"/>
                </a:solidFill>
                <a:effectLst/>
                <a:uLnTx/>
                <a:uFillTx/>
                <a:latin typeface="+mn-ea"/>
                <a:ea typeface="+mn-ea"/>
                <a:cs typeface="+mn-ea"/>
              </a:rPr>
              <a:t>（</a:t>
            </a:r>
            <a:r>
              <a:rPr kumimoji="0" lang="zh-CN" altLang="en-US" sz="2800" b="1" i="0" u="none" strike="noStrike" kern="0" cap="none" spc="0" normalizeH="0" baseline="0" noProof="0" dirty="0">
                <a:ln>
                  <a:noFill/>
                </a:ln>
                <a:solidFill>
                  <a:srgbClr val="0000FF"/>
                </a:solidFill>
                <a:effectLst/>
                <a:uLnTx/>
                <a:uFillTx/>
                <a:latin typeface="+mn-ea"/>
                <a:ea typeface="+mn-ea"/>
                <a:cs typeface="+mn-ea"/>
              </a:rPr>
              <a:t>增删改</a:t>
            </a:r>
            <a:r>
              <a:rPr kumimoji="0" lang="zh-CN" altLang="en-US" sz="2800" b="1" i="0" u="none" strike="noStrike" kern="0" cap="none" spc="0" normalizeH="0" baseline="0" noProof="0" dirty="0" smtClean="0">
                <a:ln>
                  <a:noFill/>
                </a:ln>
                <a:solidFill>
                  <a:srgbClr val="0000FF"/>
                </a:solidFill>
                <a:effectLst/>
                <a:uLnTx/>
                <a:uFillTx/>
                <a:latin typeface="+mn-ea"/>
                <a:ea typeface="+mn-ea"/>
                <a:cs typeface="+mn-ea"/>
              </a:rPr>
              <a:t>）</a:t>
            </a:r>
            <a:r>
              <a:rPr kumimoji="0" lang="ko-KR" altLang="en-US" sz="2800" b="0" i="0" u="none" strike="noStrike" kern="0" cap="none" spc="0" normalizeH="0" baseline="0" noProof="0" dirty="0" smtClean="0">
                <a:ln>
                  <a:noFill/>
                </a:ln>
                <a:solidFill>
                  <a:schemeClr val="tx1"/>
                </a:solidFill>
                <a:effectLst/>
                <a:uLnTx/>
                <a:uFillTx/>
                <a:latin typeface="+mn-ea"/>
                <a:ea typeface="+mn-ea"/>
                <a:cs typeface="+mn-ea"/>
              </a:rPr>
              <a:t>需要更长的处理时间，因为它们需要</a:t>
            </a:r>
            <a:r>
              <a:rPr kumimoji="0" lang="ko-KR" altLang="en-US" sz="2800" b="1" i="0" u="none" strike="noStrike" kern="0" cap="none" spc="0" normalizeH="0" baseline="0" noProof="0" dirty="0" smtClean="0">
                <a:ln>
                  <a:noFill/>
                </a:ln>
                <a:solidFill>
                  <a:srgbClr val="0000FF"/>
                </a:solidFill>
                <a:effectLst/>
                <a:uLnTx/>
                <a:uFillTx/>
                <a:latin typeface="+mn-ea"/>
                <a:ea typeface="+mn-ea"/>
                <a:cs typeface="+mn-ea"/>
              </a:rPr>
              <a:t>对索引进行更新</a:t>
            </a:r>
            <a:r>
              <a:rPr kumimoji="0" lang="zh-CN" altLang="en-US" sz="2800" b="0" i="0" u="none" strike="noStrike" kern="0" cap="none" spc="0" normalizeH="0" baseline="0" noProof="0" dirty="0" smtClean="0">
                <a:ln>
                  <a:noFill/>
                </a:ln>
                <a:solidFill>
                  <a:schemeClr val="tx1"/>
                </a:solidFill>
                <a:effectLst/>
                <a:uLnTx/>
                <a:uFillTx/>
                <a:latin typeface="+mn-ea"/>
                <a:ea typeface="+mn-ea"/>
                <a:cs typeface="+mn-ea"/>
              </a:rPr>
              <a:t>。</a:t>
            </a:r>
            <a:endParaRPr kumimoji="0" lang="zh-CN" altLang="en-US" sz="2200" b="0" i="0" u="none" strike="noStrike" kern="0" cap="none" spc="0" normalizeH="0" baseline="0" noProof="0" dirty="0" smtClean="0">
              <a:ln>
                <a:noFill/>
              </a:ln>
              <a:solidFill>
                <a:schemeClr val="tx1"/>
              </a:solidFill>
              <a:effectLst/>
              <a:uLnTx/>
              <a:uFillTx/>
              <a:latin typeface="+mn-ea"/>
              <a:ea typeface="+mn-ea"/>
              <a:cs typeface="+mn-ea"/>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en-US" altLang="zh-CN" sz="30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7443">
                                            <p:txEl>
                                              <p:charRg st="0" end="3"/>
                                            </p:txEl>
                                          </p:spTgt>
                                        </p:tgtEl>
                                        <p:attrNameLst>
                                          <p:attrName>style.visibility</p:attrName>
                                        </p:attrNameLst>
                                      </p:cBhvr>
                                      <p:to>
                                        <p:strVal val="visible"/>
                                      </p:to>
                                    </p:set>
                                    <p:animEffect transition="in" filter="fade">
                                      <p:cBhvr>
                                        <p:cTn id="7" dur="1000"/>
                                        <p:tgtEl>
                                          <p:spTgt spid="317443">
                                            <p:txEl>
                                              <p:charRg st="0" end="3"/>
                                            </p:txEl>
                                          </p:spTgt>
                                        </p:tgtEl>
                                      </p:cBhvr>
                                    </p:animEffect>
                                    <p:anim calcmode="lin" valueType="num">
                                      <p:cBhvr>
                                        <p:cTn id="8" dur="1000" fill="hold"/>
                                        <p:tgtEl>
                                          <p:spTgt spid="317443">
                                            <p:txEl>
                                              <p:charRg st="0" end="3"/>
                                            </p:txEl>
                                          </p:spTgt>
                                        </p:tgtEl>
                                        <p:attrNameLst>
                                          <p:attrName>ppt_x</p:attrName>
                                        </p:attrNameLst>
                                      </p:cBhvr>
                                      <p:tavLst>
                                        <p:tav tm="0">
                                          <p:val>
                                            <p:strVal val="#ppt_x"/>
                                          </p:val>
                                        </p:tav>
                                        <p:tav tm="100000">
                                          <p:val>
                                            <p:strVal val="#ppt_x"/>
                                          </p:val>
                                        </p:tav>
                                      </p:tavLst>
                                    </p:anim>
                                    <p:anim calcmode="lin" valueType="num">
                                      <p:cBhvr>
                                        <p:cTn id="9" dur="1000" fill="hold"/>
                                        <p:tgtEl>
                                          <p:spTgt spid="317443">
                                            <p:txEl>
                                              <p:charRg st="0"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17443">
                                            <p:txEl>
                                              <p:charRg st="3" end="16"/>
                                            </p:txEl>
                                          </p:spTgt>
                                        </p:tgtEl>
                                        <p:attrNameLst>
                                          <p:attrName>style.visibility</p:attrName>
                                        </p:attrNameLst>
                                      </p:cBhvr>
                                      <p:to>
                                        <p:strVal val="visible"/>
                                      </p:to>
                                    </p:set>
                                    <p:animEffect transition="in" filter="fade">
                                      <p:cBhvr>
                                        <p:cTn id="12" dur="1000"/>
                                        <p:tgtEl>
                                          <p:spTgt spid="317443">
                                            <p:txEl>
                                              <p:charRg st="3" end="16"/>
                                            </p:txEl>
                                          </p:spTgt>
                                        </p:tgtEl>
                                      </p:cBhvr>
                                    </p:animEffect>
                                    <p:anim calcmode="lin" valueType="num">
                                      <p:cBhvr>
                                        <p:cTn id="13" dur="1000" fill="hold"/>
                                        <p:tgtEl>
                                          <p:spTgt spid="317443">
                                            <p:txEl>
                                              <p:charRg st="3" end="16"/>
                                            </p:txEl>
                                          </p:spTgt>
                                        </p:tgtEl>
                                        <p:attrNameLst>
                                          <p:attrName>ppt_x</p:attrName>
                                        </p:attrNameLst>
                                      </p:cBhvr>
                                      <p:tavLst>
                                        <p:tav tm="0">
                                          <p:val>
                                            <p:strVal val="#ppt_x"/>
                                          </p:val>
                                        </p:tav>
                                        <p:tav tm="100000">
                                          <p:val>
                                            <p:strVal val="#ppt_x"/>
                                          </p:val>
                                        </p:tav>
                                      </p:tavLst>
                                    </p:anim>
                                    <p:anim calcmode="lin" valueType="num">
                                      <p:cBhvr>
                                        <p:cTn id="14" dur="1000" fill="hold"/>
                                        <p:tgtEl>
                                          <p:spTgt spid="317443">
                                            <p:txEl>
                                              <p:charRg st="3" end="16"/>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17443">
                                            <p:txEl>
                                              <p:charRg st="16" end="19"/>
                                            </p:txEl>
                                          </p:spTgt>
                                        </p:tgtEl>
                                        <p:attrNameLst>
                                          <p:attrName>style.visibility</p:attrName>
                                        </p:attrNameLst>
                                      </p:cBhvr>
                                      <p:to>
                                        <p:strVal val="visible"/>
                                      </p:to>
                                    </p:set>
                                    <p:animEffect transition="in" filter="slide(fromBottom)">
                                      <p:cBhvr>
                                        <p:cTn id="19" dur="1000"/>
                                        <p:tgtEl>
                                          <p:spTgt spid="317443">
                                            <p:txEl>
                                              <p:charRg st="16" end="19"/>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317443">
                                            <p:txEl>
                                              <p:charRg st="19" end="39"/>
                                            </p:txEl>
                                          </p:spTgt>
                                        </p:tgtEl>
                                        <p:attrNameLst>
                                          <p:attrName>style.visibility</p:attrName>
                                        </p:attrNameLst>
                                      </p:cBhvr>
                                      <p:to>
                                        <p:strVal val="visible"/>
                                      </p:to>
                                    </p:set>
                                    <p:animEffect transition="in" filter="slide(fromBottom)">
                                      <p:cBhvr>
                                        <p:cTn id="22" dur="1000"/>
                                        <p:tgtEl>
                                          <p:spTgt spid="317443">
                                            <p:txEl>
                                              <p:charRg st="19" end="39"/>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317443">
                                            <p:txEl>
                                              <p:charRg st="39" end="76"/>
                                            </p:txEl>
                                          </p:spTgt>
                                        </p:tgtEl>
                                        <p:attrNameLst>
                                          <p:attrName>style.visibility</p:attrName>
                                        </p:attrNameLst>
                                      </p:cBhvr>
                                      <p:to>
                                        <p:strVal val="visible"/>
                                      </p:to>
                                    </p:set>
                                    <p:animEffect transition="in" filter="slide(fromBottom)">
                                      <p:cBhvr>
                                        <p:cTn id="25" dur="1000"/>
                                        <p:tgtEl>
                                          <p:spTgt spid="317443">
                                            <p:txEl>
                                              <p:charRg st="39"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en-US" altLang="zh-CN" dirty="0"/>
              <a:t>3.3.3 </a:t>
            </a:r>
            <a:r>
              <a:rPr lang="zh-CN" altLang="en-US" dirty="0"/>
              <a:t>索引的建立与删除</a:t>
            </a:r>
            <a:endParaRPr lang="zh-CN" altLang="en-US" dirty="0"/>
          </a:p>
        </p:txBody>
      </p:sp>
      <p:sp>
        <p:nvSpPr>
          <p:cNvPr id="114690" name="Rectangle 3"/>
          <p:cNvSpPr>
            <a:spLocks noGrp="1"/>
          </p:cNvSpPr>
          <p:nvPr>
            <p:ph idx="1"/>
          </p:nvPr>
        </p:nvSpPr>
        <p:spPr>
          <a:xfrm>
            <a:off x="468313" y="1268413"/>
            <a:ext cx="8229600" cy="4495800"/>
          </a:xfrm>
          <a:ln/>
        </p:spPr>
        <p:txBody>
          <a:bodyPr vert="horz" wrap="square" lIns="91440" tIns="45720" rIns="91440" bIns="45720" anchor="t" anchorCtr="0"/>
          <a:p>
            <a:pPr algn="just" eaLnBrk="1" hangingPunct="1">
              <a:lnSpc>
                <a:spcPct val="120000"/>
              </a:lnSpc>
            </a:pPr>
            <a:r>
              <a:rPr lang="zh-CN" altLang="en-US" sz="2800" dirty="0"/>
              <a:t>建立索引的目的：加快查询速度</a:t>
            </a:r>
            <a:endParaRPr lang="zh-CN" altLang="en-US" sz="2800" dirty="0"/>
          </a:p>
          <a:p>
            <a:pPr algn="just" eaLnBrk="1" hangingPunct="1">
              <a:lnSpc>
                <a:spcPct val="120000"/>
              </a:lnSpc>
            </a:pPr>
            <a:r>
              <a:rPr lang="zh-CN" altLang="en-US" sz="2800" dirty="0"/>
              <a:t>谁可以建立索引</a:t>
            </a:r>
            <a:endParaRPr lang="zh-CN" altLang="en-US" sz="2800" dirty="0"/>
          </a:p>
          <a:p>
            <a:pPr lvl="1" indent="-436245" algn="just" eaLnBrk="1" hangingPunct="1">
              <a:lnSpc>
                <a:spcPct val="120000"/>
              </a:lnSpc>
            </a:pPr>
            <a:r>
              <a:rPr lang="en-US" altLang="zh-CN" sz="2400" dirty="0"/>
              <a:t>DBA </a:t>
            </a:r>
            <a:r>
              <a:rPr lang="zh-CN" altLang="en-US" sz="2400" dirty="0"/>
              <a:t>或 表的属主（即建立表的人）</a:t>
            </a:r>
            <a:endParaRPr lang="zh-CN" altLang="en-US" sz="2400" dirty="0"/>
          </a:p>
          <a:p>
            <a:pPr lvl="1" indent="-436245" algn="just" eaLnBrk="1" hangingPunct="1">
              <a:lnSpc>
                <a:spcPct val="120000"/>
              </a:lnSpc>
            </a:pPr>
            <a:r>
              <a:rPr lang="en-US" altLang="zh-CN" sz="2400" dirty="0"/>
              <a:t>DBMS</a:t>
            </a:r>
            <a:r>
              <a:rPr lang="zh-CN" altLang="en-US" sz="2400" dirty="0"/>
              <a:t>一般会自动建立以下列上的索引</a:t>
            </a:r>
            <a:endParaRPr lang="zh-CN" altLang="en-US" sz="2400" dirty="0"/>
          </a:p>
          <a:p>
            <a:pPr lvl="2" indent="-394970" algn="just" eaLnBrk="1" hangingPunct="1">
              <a:lnSpc>
                <a:spcPct val="120000"/>
              </a:lnSpc>
              <a:buClrTx/>
              <a:buFontTx/>
              <a:buNone/>
            </a:pPr>
            <a:r>
              <a:rPr lang="zh-CN" altLang="en-US" sz="2400" dirty="0"/>
              <a:t> </a:t>
            </a:r>
            <a:r>
              <a:rPr lang="en-US" altLang="zh-CN" sz="2800" dirty="0"/>
              <a:t>PRIMARY  KEY</a:t>
            </a:r>
            <a:endParaRPr lang="en-US" altLang="zh-CN" sz="2800" dirty="0"/>
          </a:p>
          <a:p>
            <a:pPr lvl="2" indent="-394970" algn="just" eaLnBrk="1" hangingPunct="1">
              <a:lnSpc>
                <a:spcPct val="120000"/>
              </a:lnSpc>
              <a:buClrTx/>
              <a:buFontTx/>
              <a:buNone/>
            </a:pPr>
            <a:r>
              <a:rPr lang="en-US" altLang="zh-CN" sz="2800" dirty="0"/>
              <a:t> UNIQUE</a:t>
            </a:r>
            <a:endParaRPr lang="en-US" altLang="zh-CN" sz="2400" dirty="0"/>
          </a:p>
          <a:p>
            <a:pPr algn="just" eaLnBrk="1" hangingPunct="1">
              <a:lnSpc>
                <a:spcPct val="120000"/>
              </a:lnSpc>
            </a:pPr>
            <a:r>
              <a:rPr lang="zh-CN" altLang="en-US" sz="2800" dirty="0"/>
              <a:t>谁维护索引：</a:t>
            </a:r>
            <a:r>
              <a:rPr lang="en-US" altLang="zh-CN" sz="2800" dirty="0"/>
              <a:t>DBMS</a:t>
            </a:r>
            <a:r>
              <a:rPr lang="zh-CN" altLang="en-US" sz="2800" dirty="0"/>
              <a:t>自动完成</a:t>
            </a:r>
            <a:r>
              <a:rPr lang="zh-CN" altLang="en-US" sz="2800" dirty="0">
                <a:latin typeface="Courier New" panose="02070309020205020404" pitchFamily="49" charset="0"/>
              </a:rPr>
              <a:t> </a:t>
            </a:r>
            <a:endParaRPr lang="en-US" altLang="zh-CN" sz="2800" dirty="0"/>
          </a:p>
          <a:p>
            <a:pPr algn="just" eaLnBrk="1" hangingPunct="1">
              <a:lnSpc>
                <a:spcPct val="120000"/>
              </a:lnSpc>
            </a:pPr>
            <a:r>
              <a:rPr lang="zh-CN" altLang="en-US" sz="2800" dirty="0"/>
              <a:t>索引是</a:t>
            </a:r>
            <a:r>
              <a:rPr lang="en-US" altLang="zh-CN" sz="2800" dirty="0"/>
              <a:t>DBMS</a:t>
            </a:r>
            <a:r>
              <a:rPr lang="zh-CN" altLang="en-US" sz="2800" dirty="0"/>
              <a:t>的关键技术，属于</a:t>
            </a:r>
            <a:r>
              <a:rPr lang="zh-CN" altLang="en-US" sz="2800" b="1" dirty="0">
                <a:solidFill>
                  <a:srgbClr val="FF0000"/>
                </a:solidFill>
              </a:rPr>
              <a:t>内模式</a:t>
            </a:r>
            <a:r>
              <a:rPr lang="zh-CN" altLang="en-US" sz="2800" dirty="0"/>
              <a:t>的范畴</a:t>
            </a:r>
            <a:endParaRPr lang="zh-CN" altLang="en-US" sz="2800" dirty="0"/>
          </a:p>
        </p:txBody>
      </p:sp>
    </p:spTree>
  </p:cSld>
  <p:clrMapOvr>
    <a:masterClrMapping/>
  </p:clrMapOvr>
  <p:transition advClick="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一、建立索引 </a:t>
            </a:r>
            <a:endParaRPr lang="zh-CN" altLang="en-US" dirty="0"/>
          </a:p>
        </p:txBody>
      </p:sp>
      <p:sp>
        <p:nvSpPr>
          <p:cNvPr id="116738" name="Rectangle 3"/>
          <p:cNvSpPr>
            <a:spLocks noGrp="1"/>
          </p:cNvSpPr>
          <p:nvPr>
            <p:ph idx="1"/>
          </p:nvPr>
        </p:nvSpPr>
        <p:spPr>
          <a:xfrm>
            <a:off x="395288" y="1196975"/>
            <a:ext cx="8229600" cy="2808288"/>
          </a:xfrm>
          <a:ln/>
        </p:spPr>
        <p:txBody>
          <a:bodyPr vert="horz" wrap="square" lIns="91440" tIns="45720" rIns="91440" bIns="45720" anchor="t" anchorCtr="0"/>
          <a:p>
            <a:pPr algn="just" eaLnBrk="1" hangingPunct="1">
              <a:lnSpc>
                <a:spcPct val="110000"/>
              </a:lnSpc>
            </a:pPr>
            <a:r>
              <a:rPr lang="zh-CN" altLang="en-US" sz="2800" dirty="0"/>
              <a:t>语句格式（非</a:t>
            </a:r>
            <a:r>
              <a:rPr lang="en-US" altLang="zh-CN" sz="2800" dirty="0"/>
              <a:t>MySQL</a:t>
            </a:r>
            <a:r>
              <a:rPr lang="zh-CN" altLang="en-US" sz="2800" dirty="0"/>
              <a:t>）</a:t>
            </a:r>
            <a:endParaRPr lang="zh-CN" altLang="en-US" sz="2800" dirty="0"/>
          </a:p>
          <a:p>
            <a:pPr lvl="1" indent="-436245" algn="just" eaLnBrk="1" hangingPunct="1">
              <a:lnSpc>
                <a:spcPct val="110000"/>
              </a:lnSpc>
              <a:buNone/>
            </a:pPr>
            <a:r>
              <a:rPr lang="en-US" altLang="zh-CN" sz="2400" dirty="0"/>
              <a:t>CREATE </a:t>
            </a:r>
            <a:r>
              <a:rPr lang="en-US" altLang="zh-CN" sz="2400" dirty="0">
                <a:solidFill>
                  <a:srgbClr val="FF00FF"/>
                </a:solidFill>
              </a:rPr>
              <a:t>[UNIQUE] [</a:t>
            </a:r>
            <a:r>
              <a:rPr lang="en-US" altLang="zh-CN" sz="2400" dirty="0">
                <a:solidFill>
                  <a:srgbClr val="FF0000"/>
                </a:solidFill>
              </a:rPr>
              <a:t>CLUSTERed</a:t>
            </a:r>
            <a:r>
              <a:rPr lang="en-US" altLang="zh-CN" sz="2400" dirty="0">
                <a:solidFill>
                  <a:srgbClr val="FF00FF"/>
                </a:solidFill>
              </a:rPr>
              <a:t>]</a:t>
            </a:r>
            <a:r>
              <a:rPr lang="en-US" altLang="zh-CN" sz="2400" dirty="0"/>
              <a:t> INDEX &lt;</a:t>
            </a:r>
            <a:r>
              <a:rPr lang="zh-CN" altLang="en-US" sz="2400" dirty="0">
                <a:solidFill>
                  <a:srgbClr val="FF0000"/>
                </a:solidFill>
              </a:rPr>
              <a:t>索引名</a:t>
            </a:r>
            <a:r>
              <a:rPr lang="en-US" altLang="zh-CN" sz="2400" dirty="0"/>
              <a:t>&gt; </a:t>
            </a:r>
            <a:endParaRPr lang="en-US" altLang="zh-CN" sz="2400" dirty="0"/>
          </a:p>
          <a:p>
            <a:pPr lvl="1" indent="-436245" algn="just" eaLnBrk="1" hangingPunct="1">
              <a:lnSpc>
                <a:spcPct val="110000"/>
              </a:lnSpc>
              <a:buNone/>
            </a:pPr>
            <a:r>
              <a:rPr lang="en-US" altLang="zh-CN" sz="2400" dirty="0"/>
              <a:t>ON &lt;</a:t>
            </a:r>
            <a:r>
              <a:rPr lang="zh-CN" altLang="en-US" sz="2400" dirty="0"/>
              <a:t>表名</a:t>
            </a:r>
            <a:r>
              <a:rPr lang="en-US" altLang="zh-CN" sz="2400" dirty="0"/>
              <a:t>&gt;(&lt;</a:t>
            </a:r>
            <a:r>
              <a:rPr lang="zh-CN" altLang="en-US" sz="2400" dirty="0"/>
              <a:t>列名</a:t>
            </a:r>
            <a:r>
              <a:rPr lang="en-US" altLang="zh-CN" sz="2400" dirty="0"/>
              <a:t>&gt;[&lt;</a:t>
            </a:r>
            <a:r>
              <a:rPr lang="zh-CN" altLang="en-US" sz="2400" dirty="0"/>
              <a:t>次序</a:t>
            </a:r>
            <a:r>
              <a:rPr lang="en-US" altLang="zh-CN" sz="2400" dirty="0"/>
              <a:t>&gt;][,&lt;</a:t>
            </a:r>
            <a:r>
              <a:rPr lang="zh-CN" altLang="en-US" sz="2400" dirty="0"/>
              <a:t>列名</a:t>
            </a:r>
            <a:r>
              <a:rPr lang="en-US" altLang="zh-CN" sz="2400" dirty="0"/>
              <a:t>&gt;[&lt;</a:t>
            </a:r>
            <a:r>
              <a:rPr lang="zh-CN" altLang="en-US" sz="2400" dirty="0"/>
              <a:t>次序</a:t>
            </a:r>
            <a:r>
              <a:rPr lang="en-US" altLang="zh-CN" sz="2400" dirty="0"/>
              <a:t>&gt;] ]</a:t>
            </a:r>
            <a:r>
              <a:rPr lang="en-US" altLang="zh-CN" sz="2400" dirty="0">
                <a:latin typeface="Courier New" panose="02070309020205020404" pitchFamily="49" charset="0"/>
              </a:rPr>
              <a:t>…</a:t>
            </a:r>
            <a:r>
              <a:rPr lang="en-US" altLang="zh-CN" sz="2400" dirty="0"/>
              <a:t>)</a:t>
            </a:r>
            <a:r>
              <a:rPr lang="zh-CN" altLang="en-US" sz="2400" dirty="0"/>
              <a:t>；</a:t>
            </a:r>
            <a:endParaRPr lang="en-US" altLang="zh-CN" sz="2400" dirty="0"/>
          </a:p>
          <a:p>
            <a:pPr lvl="1" indent="-436245" algn="just" eaLnBrk="1" hangingPunct="1">
              <a:lnSpc>
                <a:spcPct val="110000"/>
              </a:lnSpc>
              <a:buNone/>
            </a:pPr>
            <a:r>
              <a:rPr lang="zh-CN" altLang="en-US" sz="2200" dirty="0"/>
              <a:t>	</a:t>
            </a:r>
            <a:endParaRPr lang="zh-CN" altLang="en-US" dirty="0"/>
          </a:p>
        </p:txBody>
      </p:sp>
      <p:sp>
        <p:nvSpPr>
          <p:cNvPr id="116739" name="Rectangle 4"/>
          <p:cNvSpPr/>
          <p:nvPr/>
        </p:nvSpPr>
        <p:spPr>
          <a:xfrm>
            <a:off x="468313" y="3500438"/>
            <a:ext cx="8351837" cy="1728787"/>
          </a:xfrm>
          <a:prstGeom prst="rect">
            <a:avLst/>
          </a:prstGeom>
          <a:noFill/>
          <a:ln w="9525">
            <a:noFill/>
          </a:ln>
        </p:spPr>
        <p:txBody>
          <a:bodyPr anchor="t" anchorCtr="0"/>
          <a:p>
            <a:pPr marL="342900" indent="-342900">
              <a:lnSpc>
                <a:spcPct val="110000"/>
              </a:lnSpc>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例</a:t>
            </a:r>
            <a:r>
              <a:rPr lang="en-US" altLang="zh-CN" sz="2400" dirty="0">
                <a:latin typeface="Arial" panose="020B0604020202020204" pitchFamily="34" charset="0"/>
                <a:ea typeface="宋体" panose="02010600030101010101" pitchFamily="2" charset="-122"/>
              </a:rPr>
              <a:t>13] CREATE </a:t>
            </a:r>
            <a:r>
              <a:rPr lang="en-US" altLang="zh-CN" sz="2400" b="1" dirty="0">
                <a:solidFill>
                  <a:srgbClr val="FF0000"/>
                </a:solidFill>
                <a:latin typeface="Arial" panose="020B0604020202020204" pitchFamily="34" charset="0"/>
                <a:ea typeface="宋体" panose="02010600030101010101" pitchFamily="2" charset="-122"/>
              </a:rPr>
              <a:t>CLUSTERed</a:t>
            </a:r>
            <a:r>
              <a:rPr lang="en-US" altLang="zh-CN" sz="2400" dirty="0">
                <a:latin typeface="Arial" panose="020B0604020202020204" pitchFamily="34" charset="0"/>
                <a:ea typeface="宋体" panose="02010600030101010101" pitchFamily="2" charset="-122"/>
              </a:rPr>
              <a:t> INDEX  indexStusname </a:t>
            </a:r>
            <a:endParaRPr lang="en-US" altLang="zh-CN" sz="2400" dirty="0">
              <a:latin typeface="Arial" panose="020B0604020202020204" pitchFamily="34" charset="0"/>
              <a:ea typeface="宋体" panose="02010600030101010101" pitchFamily="2" charset="-122"/>
            </a:endParaRPr>
          </a:p>
          <a:p>
            <a:pPr marL="342900" indent="-342900">
              <a:lnSpc>
                <a:spcPct val="110000"/>
              </a:lnSpc>
              <a:spcBef>
                <a:spcPct val="20000"/>
              </a:spcBef>
              <a:buClr>
                <a:schemeClr val="hlink"/>
              </a:buClr>
              <a:buFont typeface="Wingdings" panose="05000000000000000000" pitchFamily="2" charset="2"/>
            </a:pPr>
            <a:r>
              <a:rPr lang="en-US" altLang="zh-CN" sz="2400" dirty="0">
                <a:latin typeface="Arial" panose="020B0604020202020204" pitchFamily="34" charset="0"/>
                <a:ea typeface="宋体" panose="02010600030101010101" pitchFamily="2" charset="-122"/>
              </a:rPr>
              <a:t>           ON   Student(Sname)</a:t>
            </a:r>
            <a:r>
              <a:rPr lang="zh-CN" altLang="en-US" sz="2400" dirty="0">
                <a:latin typeface="Arial" panose="020B0604020202020204" pitchFamily="34" charset="0"/>
                <a:ea typeface="宋体" panose="02010600030101010101" pitchFamily="2" charset="-122"/>
              </a:rPr>
              <a:t>；</a:t>
            </a:r>
            <a:endParaRPr lang="zh-CN" altLang="en-US" sz="2800" dirty="0">
              <a:latin typeface="Arial" panose="020B0604020202020204" pitchFamily="34" charset="0"/>
              <a:ea typeface="宋体" panose="02010600030101010101" pitchFamily="2" charset="-122"/>
            </a:endParaRPr>
          </a:p>
          <a:p>
            <a:pPr marL="742950" lvl="1" indent="-285750" eaLnBrk="1" hangingPunct="1">
              <a:lnSpc>
                <a:spcPct val="110000"/>
              </a:lnSpc>
              <a:spcBef>
                <a:spcPct val="20000"/>
              </a:spcBef>
              <a:buClr>
                <a:schemeClr val="accent1"/>
              </a:buClr>
              <a:buFont typeface="Wingdings" panose="05000000000000000000" pitchFamily="2" charset="2"/>
              <a:buChar char="§"/>
            </a:pPr>
            <a:r>
              <a:rPr lang="zh-CN" altLang="en-US" sz="2400" dirty="0">
                <a:latin typeface="Arial" panose="020B0604020202020204" pitchFamily="34" charset="0"/>
                <a:ea typeface="宋体" panose="02010600030101010101" pitchFamily="2" charset="-122"/>
              </a:rPr>
              <a:t>在</a:t>
            </a:r>
            <a:r>
              <a:rPr lang="en-US" altLang="zh-CN" sz="2400" dirty="0">
                <a:latin typeface="Arial" panose="020B0604020202020204" pitchFamily="34" charset="0"/>
                <a:ea typeface="宋体" panose="02010600030101010101" pitchFamily="2" charset="-122"/>
              </a:rPr>
              <a:t>Student</a:t>
            </a:r>
            <a:r>
              <a:rPr lang="zh-CN" altLang="en-US" sz="2400" dirty="0">
                <a:latin typeface="Arial" panose="020B0604020202020204" pitchFamily="34" charset="0"/>
                <a:ea typeface="宋体" panose="02010600030101010101" pitchFamily="2" charset="-122"/>
              </a:rPr>
              <a:t>表的</a:t>
            </a:r>
            <a:r>
              <a:rPr lang="en-US" altLang="zh-CN" sz="2400" dirty="0">
                <a:latin typeface="Arial" panose="020B0604020202020204" pitchFamily="34" charset="0"/>
                <a:ea typeface="宋体" panose="02010600030101010101" pitchFamily="2" charset="-122"/>
              </a:rPr>
              <a:t>Sname</a:t>
            </a:r>
            <a:r>
              <a:rPr lang="zh-CN" altLang="en-US" sz="2400" dirty="0">
                <a:latin typeface="Arial" panose="020B0604020202020204" pitchFamily="34" charset="0"/>
                <a:ea typeface="宋体" panose="02010600030101010101" pitchFamily="2" charset="-122"/>
              </a:rPr>
              <a:t>列上建立</a:t>
            </a:r>
            <a:r>
              <a:rPr lang="zh-CN" altLang="en-US" sz="2400" b="1" dirty="0">
                <a:solidFill>
                  <a:srgbClr val="0000FF"/>
                </a:solidFill>
                <a:latin typeface="Arial" panose="020B0604020202020204" pitchFamily="34" charset="0"/>
                <a:ea typeface="宋体" panose="02010600030101010101" pitchFamily="2" charset="-122"/>
              </a:rPr>
              <a:t>一个</a:t>
            </a:r>
            <a:r>
              <a:rPr lang="zh-CN" altLang="en-US" sz="2400" b="1" dirty="0">
                <a:solidFill>
                  <a:srgbClr val="FF0000"/>
                </a:solidFill>
                <a:latin typeface="Arial" panose="020B0604020202020204" pitchFamily="34" charset="0"/>
                <a:ea typeface="宋体" panose="02010600030101010101" pitchFamily="2" charset="-122"/>
              </a:rPr>
              <a:t>聚簇索引</a:t>
            </a:r>
            <a:endParaRPr lang="zh-CN" altLang="en-US" sz="24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advClick="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2"/>
          <p:cNvSpPr>
            <a:spLocks noGrp="1"/>
          </p:cNvSpPr>
          <p:nvPr>
            <p:ph type="title"/>
          </p:nvPr>
        </p:nvSpPr>
        <p:spPr>
          <a:xfrm>
            <a:off x="914400" y="476250"/>
            <a:ext cx="7391400" cy="563563"/>
          </a:xfrm>
          <a:ln/>
        </p:spPr>
        <p:txBody>
          <a:bodyPr vert="horz" wrap="square" lIns="91440" tIns="45720" rIns="91440" bIns="45720" anchor="b" anchorCtr="0"/>
          <a:p>
            <a:pPr eaLnBrk="1" hangingPunct="1"/>
            <a:r>
              <a:rPr lang="zh-CN" altLang="en-US" dirty="0"/>
              <a:t>建立索引（续）</a:t>
            </a:r>
            <a:endParaRPr lang="zh-CN" altLang="en-US" dirty="0"/>
          </a:p>
        </p:txBody>
      </p:sp>
      <p:sp>
        <p:nvSpPr>
          <p:cNvPr id="118786" name="Rectangle 3"/>
          <p:cNvSpPr>
            <a:spLocks noGrp="1"/>
          </p:cNvSpPr>
          <p:nvPr>
            <p:ph idx="1"/>
          </p:nvPr>
        </p:nvSpPr>
        <p:spPr>
          <a:xfrm>
            <a:off x="468313" y="1341438"/>
            <a:ext cx="8442325" cy="4495800"/>
          </a:xfrm>
          <a:ln/>
        </p:spPr>
        <p:txBody>
          <a:bodyPr vert="horz" wrap="square" lIns="91440" tIns="45720" rIns="91440" bIns="45720" anchor="t" anchorCtr="0"/>
          <a:p>
            <a:pPr algn="just" eaLnBrk="1" hangingPunct="1">
              <a:lnSpc>
                <a:spcPct val="110000"/>
              </a:lnSpc>
              <a:buNone/>
            </a:pPr>
            <a:r>
              <a:rPr lang="en-US" altLang="zh-CN" sz="2200" dirty="0"/>
              <a:t>  </a:t>
            </a:r>
            <a:r>
              <a:rPr lang="en-US" altLang="zh-CN" sz="2800" dirty="0"/>
              <a:t>[</a:t>
            </a:r>
            <a:r>
              <a:rPr lang="zh-CN" altLang="en-US" sz="2800" dirty="0"/>
              <a:t>例</a:t>
            </a:r>
            <a:r>
              <a:rPr lang="en-US" altLang="zh-CN" sz="2800" dirty="0"/>
              <a:t>14]</a:t>
            </a:r>
            <a:r>
              <a:rPr lang="zh-CN" altLang="en-US" sz="2800" dirty="0"/>
              <a:t>为学生</a:t>
            </a:r>
            <a:r>
              <a:rPr lang="en-US" altLang="zh-CN" sz="2800" dirty="0"/>
              <a:t>-</a:t>
            </a:r>
            <a:r>
              <a:rPr lang="zh-CN" altLang="en-US" sz="2800" dirty="0"/>
              <a:t>课程数据库中的</a:t>
            </a:r>
            <a:r>
              <a:rPr lang="en-US" altLang="zh-CN" sz="2800" dirty="0"/>
              <a:t>Student</a:t>
            </a:r>
            <a:r>
              <a:rPr lang="zh-CN" altLang="en-US" sz="2800" dirty="0"/>
              <a:t>，</a:t>
            </a:r>
            <a:r>
              <a:rPr lang="en-US" altLang="zh-CN" sz="2800" dirty="0"/>
              <a:t>Course</a:t>
            </a:r>
            <a:r>
              <a:rPr lang="zh-CN" altLang="en-US" sz="2800" dirty="0"/>
              <a:t>，</a:t>
            </a:r>
            <a:r>
              <a:rPr lang="en-US" altLang="zh-CN" sz="2800" dirty="0"/>
              <a:t>SC</a:t>
            </a:r>
            <a:r>
              <a:rPr lang="zh-CN" altLang="en-US" sz="2800" dirty="0"/>
              <a:t>三个表建立索引。</a:t>
            </a:r>
            <a:endParaRPr lang="zh-CN" altLang="en-US" sz="2200" dirty="0"/>
          </a:p>
          <a:p>
            <a:pPr algn="just" eaLnBrk="1" hangingPunct="1">
              <a:lnSpc>
                <a:spcPct val="110000"/>
              </a:lnSpc>
              <a:buNone/>
            </a:pPr>
            <a:r>
              <a:rPr lang="zh-CN" altLang="en-US" sz="2200" dirty="0"/>
              <a:t>     </a:t>
            </a:r>
            <a:endParaRPr lang="zh-CN" altLang="en-US" sz="2000" dirty="0"/>
          </a:p>
          <a:p>
            <a:pPr lvl="1" indent="-436245" algn="just" eaLnBrk="1" hangingPunct="1">
              <a:lnSpc>
                <a:spcPct val="110000"/>
              </a:lnSpc>
              <a:buNone/>
            </a:pPr>
            <a:r>
              <a:rPr lang="en-US" altLang="zh-CN" sz="2000" dirty="0"/>
              <a:t>CREATE UNIQUE INDEX  Stusno ON Student(Sno)</a:t>
            </a:r>
            <a:r>
              <a:rPr lang="zh-CN" altLang="en-US" sz="2000" dirty="0"/>
              <a:t>；</a:t>
            </a:r>
            <a:endParaRPr lang="zh-CN" altLang="en-US" sz="2000" dirty="0"/>
          </a:p>
          <a:p>
            <a:pPr lvl="1" indent="-436245" algn="just" eaLnBrk="1" hangingPunct="1">
              <a:lnSpc>
                <a:spcPct val="110000"/>
              </a:lnSpc>
              <a:buNone/>
            </a:pPr>
            <a:r>
              <a:rPr lang="en-US" altLang="zh-CN" sz="2000" dirty="0"/>
              <a:t>CREATE UNIQUE INDEX  Coucno ON Course(Cno)</a:t>
            </a:r>
            <a:r>
              <a:rPr lang="zh-CN" altLang="en-US" sz="2000" dirty="0"/>
              <a:t>；</a:t>
            </a:r>
            <a:endParaRPr lang="zh-CN" altLang="en-US" sz="2000" dirty="0"/>
          </a:p>
          <a:p>
            <a:pPr lvl="1" indent="-436245" eaLnBrk="1" hangingPunct="1">
              <a:lnSpc>
                <a:spcPct val="110000"/>
              </a:lnSpc>
              <a:buNone/>
            </a:pPr>
            <a:r>
              <a:rPr lang="en-US" altLang="zh-CN" sz="2000" dirty="0"/>
              <a:t>CREATE UNIQUE INDEX  SCno ON SC(Sno ASC</a:t>
            </a:r>
            <a:r>
              <a:rPr lang="zh-CN" altLang="en-US" sz="2000" dirty="0"/>
              <a:t>，</a:t>
            </a:r>
            <a:r>
              <a:rPr lang="en-US" altLang="zh-CN" sz="2000" dirty="0"/>
              <a:t>Cno DESC)</a:t>
            </a:r>
            <a:r>
              <a:rPr lang="zh-CN" altLang="en-US" sz="2000" dirty="0"/>
              <a:t>；</a:t>
            </a:r>
            <a:endParaRPr lang="zh-CN" altLang="en-US" sz="2000" dirty="0"/>
          </a:p>
          <a:p>
            <a:pPr lvl="1" indent="-436245" eaLnBrk="1" hangingPunct="1">
              <a:buNone/>
            </a:pPr>
            <a:r>
              <a:rPr lang="zh-CN" altLang="en-US" sz="2000" dirty="0"/>
              <a:t>     </a:t>
            </a:r>
            <a:endParaRPr lang="zh-CN" altLang="en-US" sz="2000" dirty="0"/>
          </a:p>
          <a:p>
            <a:pPr lvl="1" indent="-436245" eaLnBrk="1" hangingPunct="1">
              <a:buNone/>
            </a:pPr>
            <a:r>
              <a:rPr lang="zh-CN" altLang="en-US" sz="2000" dirty="0"/>
              <a:t>      </a:t>
            </a:r>
            <a:r>
              <a:rPr lang="en-US" altLang="zh-CN" dirty="0"/>
              <a:t>Student</a:t>
            </a:r>
            <a:r>
              <a:rPr lang="zh-CN" altLang="en-US" dirty="0"/>
              <a:t>表按学号升序建唯一索引</a:t>
            </a:r>
            <a:endParaRPr lang="zh-CN" altLang="en-US" dirty="0"/>
          </a:p>
          <a:p>
            <a:pPr lvl="1" indent="-436245" eaLnBrk="1" hangingPunct="1">
              <a:buNone/>
            </a:pPr>
            <a:r>
              <a:rPr lang="zh-CN" altLang="en-US" dirty="0"/>
              <a:t>      </a:t>
            </a:r>
            <a:r>
              <a:rPr lang="en-US" altLang="zh-CN" dirty="0"/>
              <a:t>Course</a:t>
            </a:r>
            <a:r>
              <a:rPr lang="zh-CN" altLang="en-US" dirty="0"/>
              <a:t>表按课程号升序建唯一索引</a:t>
            </a:r>
            <a:endParaRPr lang="zh-CN" altLang="en-US" dirty="0"/>
          </a:p>
          <a:p>
            <a:pPr lvl="1" indent="-436245" eaLnBrk="1" hangingPunct="1">
              <a:buNone/>
            </a:pPr>
            <a:r>
              <a:rPr lang="zh-CN" altLang="en-US" dirty="0"/>
              <a:t>      </a:t>
            </a:r>
            <a:r>
              <a:rPr lang="en-US" altLang="zh-CN" dirty="0"/>
              <a:t>SC</a:t>
            </a:r>
            <a:r>
              <a:rPr lang="zh-CN" altLang="en-US" dirty="0"/>
              <a:t>表按学号升序和课程号降序建唯一索引</a:t>
            </a:r>
            <a:endParaRPr lang="zh-CN" altLang="en-US" dirty="0"/>
          </a:p>
        </p:txBody>
      </p:sp>
    </p:spTree>
  </p:cSld>
  <p:clrMapOvr>
    <a:masterClrMapping/>
  </p:clrMapOvr>
  <p:transition advClick="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标题 1"/>
          <p:cNvSpPr>
            <a:spLocks noGrp="1"/>
          </p:cNvSpPr>
          <p:nvPr>
            <p:ph type="title"/>
          </p:nvPr>
        </p:nvSpPr>
        <p:spPr>
          <a:ln/>
        </p:spPr>
        <p:txBody>
          <a:bodyPr vert="horz" wrap="square" lIns="91440" tIns="45720" rIns="91440" bIns="45720" anchor="b" anchorCtr="0"/>
          <a:p>
            <a:r>
              <a:rPr lang="zh-CN" altLang="en-US" dirty="0"/>
              <a:t>注意：</a:t>
            </a:r>
            <a:endParaRPr lang="zh-CN" altLang="en-US" dirty="0"/>
          </a:p>
        </p:txBody>
      </p:sp>
      <p:sp>
        <p:nvSpPr>
          <p:cNvPr id="3" name="内容占位符 2"/>
          <p:cNvSpPr>
            <a:spLocks noGrp="1"/>
          </p:cNvSpPr>
          <p:nvPr>
            <p:ph idx="1"/>
          </p:nvPr>
        </p:nvSpPr>
        <p:spPr>
          <a:xfrm>
            <a:off x="566738" y="1287463"/>
            <a:ext cx="8001000" cy="4518025"/>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Char char="v"/>
              <a:defRPr/>
            </a:pPr>
            <a:r>
              <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在</a:t>
            </a:r>
            <a:r>
              <a:rPr kumimoji="0" lang="zh-CN" altLang="en-US"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最</a:t>
            </a:r>
            <a:r>
              <a:rPr kumimoji="0" lang="zh-CN" altLang="en-US" sz="3200" b="1" i="0" u="none" strike="noStrike" kern="0" cap="none" spc="0" normalizeH="0" baseline="0" noProof="0" dirty="0" smtClean="0">
                <a:ln>
                  <a:noFill/>
                </a:ln>
                <a:solidFill>
                  <a:srgbClr val="0000FF"/>
                </a:solidFill>
                <a:effectLst/>
                <a:uLnTx/>
                <a:uFillTx/>
                <a:latin typeface="Arial" panose="020B0604020202020204" pitchFamily="34" charset="0"/>
                <a:ea typeface="+mn-ea"/>
                <a:cs typeface="+mn-cs"/>
              </a:rPr>
              <a:t>经常查询</a:t>
            </a:r>
            <a:r>
              <a:rPr kumimoji="0" lang="zh-CN" altLang="en-US"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的列</a:t>
            </a:r>
            <a:r>
              <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上建立聚簇索引以提高查询效率 </a:t>
            </a:r>
            <a:endPar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Char char="v"/>
              <a:defRPr/>
            </a:pPr>
            <a:r>
              <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一个基本表上最多只能建立</a:t>
            </a:r>
            <a:r>
              <a:rPr kumimoji="0" lang="zh-CN" altLang="en-US"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一个聚簇索引 </a:t>
            </a:r>
            <a:endParaRPr kumimoji="0" lang="zh-CN" altLang="en-US"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Char char="v"/>
              <a:defRPr/>
            </a:pPr>
            <a:r>
              <a:rPr kumimoji="0" lang="zh-CN" altLang="en-US" sz="3200" b="1" i="0" u="none" strike="noStrike" kern="0" cap="none" spc="0" normalizeH="0" baseline="0" noProof="0" dirty="0" smtClean="0">
                <a:ln>
                  <a:noFill/>
                </a:ln>
                <a:solidFill>
                  <a:srgbClr val="0000FF"/>
                </a:solidFill>
                <a:effectLst/>
                <a:uLnTx/>
                <a:uFillTx/>
                <a:latin typeface="Arial" panose="020B0604020202020204" pitchFamily="34" charset="0"/>
                <a:ea typeface="+mn-ea"/>
                <a:cs typeface="+mn-cs"/>
              </a:rPr>
              <a:t>经常更新</a:t>
            </a:r>
            <a:r>
              <a:rPr kumimoji="0" lang="zh-CN" altLang="en-US" sz="3200" b="0"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的列</a:t>
            </a:r>
            <a:r>
              <a:rPr kumimoji="0" lang="zh-CN" altLang="en-US" sz="3200" b="1" i="0" u="none" strike="noStrike" kern="0" cap="none" spc="0" normalizeH="0" baseline="0" noProof="0" dirty="0" smtClean="0">
                <a:ln>
                  <a:noFill/>
                </a:ln>
                <a:solidFill>
                  <a:srgbClr val="0000FF"/>
                </a:solidFill>
                <a:effectLst/>
                <a:uLnTx/>
                <a:uFillTx/>
                <a:latin typeface="Arial" panose="020B0604020202020204" pitchFamily="34" charset="0"/>
                <a:ea typeface="+mn-ea"/>
                <a:cs typeface="+mn-cs"/>
              </a:rPr>
              <a:t>不宜</a:t>
            </a:r>
            <a:r>
              <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建立聚簇索引</a:t>
            </a:r>
            <a:r>
              <a:rPr kumimoji="0" lang="zh-CN" altLang="en-US" sz="36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 </a:t>
            </a:r>
            <a:endParaRPr kumimoji="0" lang="en-US" altLang="zh-CN" sz="36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hlink"/>
              </a:buClr>
              <a:buSzTx/>
              <a:buFont typeface="Wingdings" panose="05000000000000000000" pitchFamily="2" charset="2"/>
              <a:buChar char="v"/>
              <a:defRPr/>
            </a:pPr>
            <a:r>
              <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不能对有重复值的列加</a:t>
            </a:r>
            <a:r>
              <a:rPr kumimoji="0" lang="en-US" altLang="zh-CN" sz="3200" b="0" i="0" u="none" strike="noStrike" kern="0" cap="none" spc="0" normalizeH="0" baseline="0" noProof="0" dirty="0" smtClean="0">
                <a:ln>
                  <a:noFill/>
                </a:ln>
                <a:solidFill>
                  <a:srgbClr val="FF00FF"/>
                </a:solidFill>
                <a:effectLst/>
                <a:uLnTx/>
                <a:uFillTx/>
                <a:latin typeface="+mn-lt"/>
                <a:ea typeface="+mn-ea"/>
                <a:cs typeface="+mn-cs"/>
              </a:rPr>
              <a:t>UNIQUE</a:t>
            </a:r>
            <a:r>
              <a:rPr kumimoji="0" lang="zh-CN" altLang="en-US" sz="3200" b="0" i="0" u="none" strike="noStrike" kern="0" cap="none" spc="0" normalizeH="0" baseline="0" noProof="0" dirty="0" smtClean="0">
                <a:ln>
                  <a:noFill/>
                </a:ln>
                <a:solidFill>
                  <a:srgbClr val="FF00FF"/>
                </a:solidFill>
                <a:effectLst/>
                <a:uLnTx/>
                <a:uFillTx/>
                <a:latin typeface="+mn-lt"/>
                <a:ea typeface="+mn-ea"/>
                <a:cs typeface="+mn-cs"/>
              </a:rPr>
              <a:t>索引。</a:t>
            </a:r>
            <a:endParaRPr kumimoji="0" lang="zh-CN" altLang="en-US" sz="32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2"/>
          <p:cNvSpPr>
            <a:spLocks noGrp="1"/>
          </p:cNvSpPr>
          <p:nvPr>
            <p:ph type="title"/>
          </p:nvPr>
        </p:nvSpPr>
        <p:spPr>
          <a:xfrm>
            <a:off x="914400" y="476250"/>
            <a:ext cx="7391400" cy="563563"/>
          </a:xfrm>
          <a:ln/>
        </p:spPr>
        <p:txBody>
          <a:bodyPr vert="horz" wrap="square" lIns="91440" tIns="45720" rIns="91440" bIns="45720" anchor="b" anchorCtr="0"/>
          <a:p>
            <a:pPr marL="609600" indent="-609600"/>
            <a:r>
              <a:rPr lang="zh-CN" altLang="en-US" dirty="0"/>
              <a:t>删除索引 </a:t>
            </a:r>
            <a:endParaRPr lang="zh-CN" altLang="en-US" dirty="0"/>
          </a:p>
        </p:txBody>
      </p:sp>
      <p:sp>
        <p:nvSpPr>
          <p:cNvPr id="121858" name="Rectangle 3"/>
          <p:cNvSpPr>
            <a:spLocks noGrp="1"/>
          </p:cNvSpPr>
          <p:nvPr>
            <p:ph idx="1"/>
          </p:nvPr>
        </p:nvSpPr>
        <p:spPr>
          <a:xfrm>
            <a:off x="468313" y="1341438"/>
            <a:ext cx="8404225" cy="4114800"/>
          </a:xfrm>
        </p:spPr>
        <p:txBody>
          <a:bodyPr vert="horz" wrap="square" lIns="91440" tIns="45720" rIns="91440" bIns="45720" anchor="t"/>
          <a:p>
            <a:pPr marL="495300" marR="0" indent="-4953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pPr>
            <a:r>
              <a:rPr kumimoji="0" lang="zh-CN" altLang="en-US" sz="3000" b="0" i="0" u="none" strike="noStrike" kern="0" cap="none" spc="0" normalizeH="0" baseline="0" noProof="1" dirty="0">
                <a:solidFill>
                  <a:schemeClr val="tx1"/>
                </a:solidFill>
                <a:latin typeface="经典平黑简"/>
                <a:ea typeface="经典平黑简"/>
                <a:cs typeface="+mn-cs"/>
              </a:rPr>
              <a:t>格式：</a:t>
            </a:r>
            <a:r>
              <a:rPr kumimoji="0" lang="zh-CN" altLang="en-US" sz="3200" b="0" i="0" u="none" strike="noStrike" kern="0" cap="none" spc="0" normalizeH="0" baseline="0" noProof="1" dirty="0">
                <a:solidFill>
                  <a:schemeClr val="tx1"/>
                </a:solidFill>
                <a:latin typeface="+mn-lt"/>
                <a:ea typeface="+mn-ea"/>
                <a:cs typeface="+mn-cs"/>
              </a:rPr>
              <a:t>（非</a:t>
            </a:r>
            <a:r>
              <a:rPr kumimoji="0" lang="en-US" altLang="zh-CN" sz="3200" b="0" i="0" u="none" strike="noStrike" kern="0" cap="none" spc="0" normalizeH="0" baseline="0" noProof="1" dirty="0">
                <a:solidFill>
                  <a:schemeClr val="tx1"/>
                </a:solidFill>
                <a:latin typeface="+mn-lt"/>
                <a:ea typeface="+mn-ea"/>
                <a:cs typeface="+mn-cs"/>
              </a:rPr>
              <a:t>MySQL</a:t>
            </a:r>
            <a:r>
              <a:rPr kumimoji="0" lang="zh-CN" altLang="en-US" sz="3200" b="0" i="0" u="none" strike="noStrike" kern="0" cap="none" spc="0" normalizeH="0" baseline="0" noProof="1" dirty="0">
                <a:solidFill>
                  <a:schemeClr val="tx1"/>
                </a:solidFill>
                <a:latin typeface="+mn-lt"/>
                <a:ea typeface="+mn-ea"/>
                <a:cs typeface="+mn-cs"/>
              </a:rPr>
              <a:t>）</a:t>
            </a:r>
            <a:endParaRPr kumimoji="0" lang="zh-CN" altLang="en-US" sz="3000" b="0" i="0" u="none" strike="noStrike" kern="0" cap="none" spc="0" normalizeH="0" baseline="0" noProof="1" dirty="0">
              <a:solidFill>
                <a:schemeClr val="tx1"/>
              </a:solidFill>
              <a:latin typeface="经典平黑简"/>
              <a:ea typeface="经典平黑简"/>
              <a:cs typeface="+mn-cs"/>
            </a:endParaRPr>
          </a:p>
          <a:p>
            <a:pPr marL="495300" marR="0" indent="-4953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None/>
            </a:pPr>
            <a:r>
              <a:rPr kumimoji="0" lang="zh-CN" altLang="en-US" sz="3000" b="0" i="0" u="none" strike="noStrike" kern="0" cap="none" spc="0" normalizeH="0" baseline="0" noProof="1" dirty="0">
                <a:solidFill>
                  <a:schemeClr val="tx1"/>
                </a:solidFill>
                <a:latin typeface="经典平黑简"/>
                <a:ea typeface="经典平黑简"/>
                <a:cs typeface="+mn-cs"/>
              </a:rPr>
              <a:t>  </a:t>
            </a:r>
            <a:r>
              <a:rPr kumimoji="0" lang="en-US" altLang="zh-CN" sz="3000" b="0" i="0" u="none" strike="noStrike" kern="0" cap="none" spc="0" normalizeH="0" baseline="0" noProof="1" dirty="0">
                <a:solidFill>
                  <a:srgbClr val="333333"/>
                </a:solidFill>
                <a:latin typeface="+mn-lt"/>
                <a:ea typeface="经典平黑简"/>
                <a:cs typeface="+mn-cs"/>
              </a:rPr>
              <a:t>DROP INDEX</a:t>
            </a:r>
            <a:r>
              <a:rPr kumimoji="0" lang="en-US" altLang="zh-CN" sz="3000" b="0" i="0" u="none" strike="noStrike" kern="0" cap="none" spc="0" normalizeH="0" baseline="0" noProof="1" dirty="0">
                <a:solidFill>
                  <a:srgbClr val="333333"/>
                </a:solidFill>
                <a:latin typeface="经典平黑简"/>
                <a:ea typeface="经典平黑简"/>
                <a:cs typeface="+mn-cs"/>
              </a:rPr>
              <a:t> </a:t>
            </a:r>
            <a:r>
              <a:rPr kumimoji="0" lang="zh-CN" altLang="en-US" sz="3000" b="0" i="0" u="none" strike="noStrike" kern="0" cap="none" spc="0" normalizeH="0" baseline="0" noProof="1" dirty="0">
                <a:solidFill>
                  <a:srgbClr val="333333"/>
                </a:solidFill>
                <a:latin typeface="经典平黑简"/>
                <a:ea typeface="经典平黑简"/>
                <a:cs typeface="+mn-cs"/>
              </a:rPr>
              <a:t>表名</a:t>
            </a:r>
            <a:r>
              <a:rPr kumimoji="0" lang="en-US" altLang="zh-CN" sz="3000" b="0" i="0" u="none" strike="noStrike" kern="0" cap="none" spc="0" normalizeH="0" baseline="0" noProof="1" dirty="0">
                <a:solidFill>
                  <a:srgbClr val="333333"/>
                </a:solidFill>
                <a:latin typeface="经典平黑简"/>
                <a:ea typeface="经典平黑简"/>
                <a:cs typeface="+mn-cs"/>
              </a:rPr>
              <a:t>.</a:t>
            </a:r>
            <a:r>
              <a:rPr kumimoji="0" lang="zh-CN" altLang="en-US" sz="3000" b="0" i="0" u="none" strike="noStrike" kern="0" cap="none" spc="0" normalizeH="0" baseline="0" noProof="1" dirty="0">
                <a:solidFill>
                  <a:srgbClr val="333333"/>
                </a:solidFill>
                <a:latin typeface="经典平黑简"/>
                <a:ea typeface="经典平黑简"/>
                <a:cs typeface="+mn-cs"/>
              </a:rPr>
              <a:t>索引名</a:t>
            </a:r>
            <a:endParaRPr kumimoji="0" lang="zh-CN" altLang="en-US" sz="3000" b="0" i="0" u="none" strike="noStrike" kern="0" cap="none" spc="0" normalizeH="0" baseline="0" noProof="1" dirty="0">
              <a:solidFill>
                <a:srgbClr val="6600FF"/>
              </a:solidFill>
              <a:latin typeface="经典平黑简"/>
              <a:ea typeface="经典平黑简"/>
              <a:cs typeface="+mn-cs"/>
            </a:endParaRPr>
          </a:p>
          <a:p>
            <a:pPr marL="0" marR="0" indent="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None/>
            </a:pPr>
            <a:r>
              <a:rPr kumimoji="0" lang="zh-CN" altLang="en-US" sz="3000" b="0" i="0" u="none" strike="noStrike" kern="0" cap="none" spc="0" normalizeH="0" baseline="0" noProof="1" dirty="0">
                <a:solidFill>
                  <a:srgbClr val="6600FF"/>
                </a:solidFill>
                <a:latin typeface="经典平黑简"/>
                <a:ea typeface="经典平黑简"/>
                <a:cs typeface="+mn-cs"/>
              </a:rPr>
              <a:t>例：删除表</a:t>
            </a:r>
            <a:r>
              <a:rPr kumimoji="0" lang="en-US" altLang="zh-CN" sz="3000" b="0" i="0" u="none" strike="noStrike" kern="0" cap="none" spc="0" normalizeH="0" baseline="0" noProof="1" dirty="0">
                <a:solidFill>
                  <a:srgbClr val="6600FF"/>
                </a:solidFill>
                <a:latin typeface="+mn-lt"/>
                <a:ea typeface="经典平黑简"/>
                <a:cs typeface="+mn-cs"/>
              </a:rPr>
              <a:t>Student</a:t>
            </a:r>
            <a:r>
              <a:rPr kumimoji="0" lang="zh-CN" altLang="en-US" sz="3000" b="0" i="0" u="none" strike="noStrike" kern="0" cap="none" spc="0" normalizeH="0" baseline="0" noProof="1" dirty="0">
                <a:solidFill>
                  <a:srgbClr val="6600FF"/>
                </a:solidFill>
                <a:latin typeface="经典平黑简"/>
                <a:ea typeface="经典平黑简"/>
                <a:cs typeface="+mn-cs"/>
              </a:rPr>
              <a:t>的索引名为</a:t>
            </a:r>
            <a:r>
              <a:rPr kumimoji="0" lang="en-US" altLang="zh-CN" sz="3200" b="0" i="0" u="none" strike="noStrike" kern="0" cap="none" spc="0" normalizeH="0" baseline="0" noProof="1" dirty="0">
                <a:solidFill>
                  <a:schemeClr val="tx1"/>
                </a:solidFill>
                <a:latin typeface="Arial" panose="020B0604020202020204" pitchFamily="34" charset="0"/>
                <a:ea typeface="+mn-ea"/>
                <a:cs typeface="+mn-cs"/>
              </a:rPr>
              <a:t>indexStusname</a:t>
            </a:r>
            <a:r>
              <a:rPr kumimoji="0" lang="zh-CN" altLang="en-US" sz="3200" b="0" i="0" u="none" strike="noStrike" kern="0" cap="none" spc="0" normalizeH="0" baseline="0" noProof="1" dirty="0">
                <a:solidFill>
                  <a:schemeClr val="tx1"/>
                </a:solidFill>
                <a:latin typeface="Arial" panose="020B0604020202020204" pitchFamily="34" charset="0"/>
                <a:ea typeface="+mn-ea"/>
                <a:cs typeface="+mn-cs"/>
              </a:rPr>
              <a:t>的索引。</a:t>
            </a:r>
            <a:endParaRPr kumimoji="0" lang="en-US" altLang="zh-CN" sz="3000" b="0" i="0" u="none" strike="noStrike" kern="0" cap="none" spc="0" normalizeH="0" baseline="0" noProof="1" dirty="0">
              <a:solidFill>
                <a:srgbClr val="6600FF"/>
              </a:solidFill>
              <a:latin typeface="+mn-lt"/>
              <a:ea typeface="经典平黑简"/>
              <a:cs typeface="+mn-cs"/>
            </a:endParaRPr>
          </a:p>
          <a:p>
            <a:pPr marL="495300" marR="0" indent="-4953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None/>
            </a:pPr>
            <a:r>
              <a:rPr kumimoji="0" lang="en-US" altLang="zh-CN" sz="3000" b="0" i="0" u="none" strike="noStrike" kern="0" cap="none" spc="0" normalizeH="0" baseline="0" noProof="1" dirty="0">
                <a:solidFill>
                  <a:srgbClr val="6600FF"/>
                </a:solidFill>
                <a:latin typeface="+mn-lt"/>
                <a:ea typeface="经典平黑简"/>
                <a:cs typeface="+mn-cs"/>
              </a:rPr>
              <a:t>DROP INDEX Studen.</a:t>
            </a:r>
            <a:r>
              <a:rPr kumimoji="0" lang="en-US" altLang="zh-CN" sz="3200" b="0" i="0" u="none" strike="noStrike" kern="0" cap="none" spc="0" normalizeH="0" baseline="0" noProof="1" dirty="0">
                <a:solidFill>
                  <a:schemeClr val="tx1"/>
                </a:solidFill>
                <a:latin typeface="Arial" panose="020B0604020202020204" pitchFamily="34" charset="0"/>
                <a:ea typeface="+mn-ea"/>
                <a:cs typeface="+mn-cs"/>
              </a:rPr>
              <a:t> indexStusname</a:t>
            </a:r>
            <a:endParaRPr kumimoji="0" lang="en-US" altLang="zh-CN" sz="3000" b="0" i="0" u="none" strike="noStrike" kern="0" cap="none" spc="0" normalizeH="0" baseline="0" noProof="1" dirty="0">
              <a:solidFill>
                <a:srgbClr val="6600FF"/>
              </a:solidFill>
              <a:latin typeface="+mn-lt"/>
              <a:ea typeface="经典平黑简"/>
              <a:cs typeface="+mn-cs"/>
            </a:endParaRPr>
          </a:p>
        </p:txBody>
      </p:sp>
    </p:spTree>
  </p:cSld>
  <p:clrMapOvr>
    <a:masterClrMapping/>
  </p:clrMapOvr>
  <p:transition advClick="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a:spLocks noGrp="1"/>
          </p:cNvSpPr>
          <p:nvPr>
            <p:ph type="title"/>
          </p:nvPr>
        </p:nvSpPr>
        <p:spPr>
          <a:xfrm>
            <a:off x="914400" y="476250"/>
            <a:ext cx="7391400" cy="563563"/>
          </a:xfrm>
          <a:ln/>
        </p:spPr>
        <p:txBody>
          <a:bodyPr vert="horz" wrap="square" lIns="91440" tIns="45720" rIns="91440" bIns="45720" anchor="b" anchorCtr="0"/>
          <a:p>
            <a:pPr marL="609600" indent="-609600"/>
            <a:r>
              <a:rPr lang="zh-CN" altLang="en-US" dirty="0"/>
              <a:t>使用</a:t>
            </a:r>
            <a:r>
              <a:rPr lang="en-US" altLang="zh-CN" dirty="0"/>
              <a:t>MySQL</a:t>
            </a:r>
            <a:r>
              <a:rPr lang="zh-CN" altLang="en-US" dirty="0"/>
              <a:t>语句创建索引 </a:t>
            </a:r>
            <a:endParaRPr lang="zh-CN" altLang="en-US" dirty="0"/>
          </a:p>
        </p:txBody>
      </p:sp>
      <p:sp>
        <p:nvSpPr>
          <p:cNvPr id="144387" name="Rectangle 3"/>
          <p:cNvSpPr>
            <a:spLocks noGrp="1"/>
          </p:cNvSpPr>
          <p:nvPr>
            <p:ph idx="1"/>
          </p:nvPr>
        </p:nvSpPr>
        <p:spPr>
          <a:xfrm>
            <a:off x="323850" y="1196975"/>
            <a:ext cx="8640763" cy="5011738"/>
          </a:xfrm>
          <a:ln/>
        </p:spPr>
        <p:txBody>
          <a:bodyPr vert="horz" wrap="square" lIns="91440" tIns="45720" rIns="91440" bIns="45720" anchor="t" anchorCtr="0"/>
          <a:p>
            <a:pPr marL="495300" indent="-495300">
              <a:lnSpc>
                <a:spcPct val="110000"/>
              </a:lnSpc>
              <a:buNone/>
            </a:pPr>
            <a:r>
              <a:rPr lang="en-US" altLang="zh-CN" sz="2400" dirty="0">
                <a:solidFill>
                  <a:srgbClr val="333333"/>
                </a:solidFill>
                <a:ea typeface="经典平黑简"/>
              </a:rPr>
              <a:t>MySQL</a:t>
            </a:r>
            <a:r>
              <a:rPr lang="zh-CN" altLang="en-US" sz="2400" dirty="0">
                <a:solidFill>
                  <a:srgbClr val="333333"/>
                </a:solidFill>
                <a:ea typeface="经典平黑简"/>
              </a:rPr>
              <a:t>中有：普通索引，唯一索引，全文索引，空间索引等。</a:t>
            </a:r>
            <a:endParaRPr lang="en-US" altLang="zh-CN" sz="2400" dirty="0">
              <a:solidFill>
                <a:srgbClr val="333333"/>
              </a:solidFill>
              <a:ea typeface="经典平黑简"/>
            </a:endParaRPr>
          </a:p>
          <a:p>
            <a:pPr marL="495300" indent="-495300">
              <a:lnSpc>
                <a:spcPct val="110000"/>
              </a:lnSpc>
              <a:buNone/>
            </a:pPr>
            <a:r>
              <a:rPr lang="zh-CN" altLang="en-US" sz="2800" dirty="0">
                <a:solidFill>
                  <a:srgbClr val="333333"/>
                </a:solidFill>
                <a:ea typeface="经典平黑简"/>
              </a:rPr>
              <a:t>（</a:t>
            </a:r>
            <a:r>
              <a:rPr lang="en-US" altLang="zh-CN" sz="2800" dirty="0">
                <a:solidFill>
                  <a:srgbClr val="333333"/>
                </a:solidFill>
                <a:ea typeface="经典平黑简"/>
              </a:rPr>
              <a:t>1</a:t>
            </a:r>
            <a:r>
              <a:rPr lang="zh-CN" altLang="en-US" sz="2800" dirty="0">
                <a:solidFill>
                  <a:srgbClr val="333333"/>
                </a:solidFill>
                <a:ea typeface="经典平黑简"/>
              </a:rPr>
              <a:t>）创建表时加索引：</a:t>
            </a:r>
            <a:endParaRPr lang="en-US" altLang="zh-CN" sz="2800" dirty="0">
              <a:solidFill>
                <a:srgbClr val="333333"/>
              </a:solidFill>
              <a:ea typeface="经典平黑简"/>
            </a:endParaRPr>
          </a:p>
          <a:p>
            <a:pPr marL="495300" indent="-495300">
              <a:lnSpc>
                <a:spcPct val="110000"/>
              </a:lnSpc>
              <a:buNone/>
            </a:pPr>
            <a:r>
              <a:rPr lang="en-US" altLang="zh-CN" sz="2000" dirty="0">
                <a:solidFill>
                  <a:srgbClr val="333333"/>
                </a:solidFill>
                <a:ea typeface="经典平黑简"/>
              </a:rPr>
              <a:t>CREATE TABLE Student</a:t>
            </a:r>
            <a:endParaRPr lang="en-US" altLang="zh-CN" sz="2000" dirty="0">
              <a:solidFill>
                <a:srgbClr val="333333"/>
              </a:solidFill>
              <a:ea typeface="经典平黑简"/>
            </a:endParaRPr>
          </a:p>
          <a:p>
            <a:pPr marL="495300" indent="-495300">
              <a:lnSpc>
                <a:spcPct val="110000"/>
              </a:lnSpc>
              <a:buNone/>
            </a:pPr>
            <a:r>
              <a:rPr lang="en-US" altLang="zh-CN" sz="2000" dirty="0">
                <a:solidFill>
                  <a:srgbClr val="333333"/>
                </a:solidFill>
                <a:ea typeface="经典平黑简"/>
              </a:rPr>
              <a:t>(Sno CHAR(9) NOT NULL </a:t>
            </a:r>
            <a:r>
              <a:rPr lang="en-US" altLang="zh-CN" sz="2000" dirty="0">
                <a:solidFill>
                  <a:srgbClr val="FF0000"/>
                </a:solidFill>
                <a:ea typeface="经典平黑简"/>
              </a:rPr>
              <a:t>PRIMARY KEY</a:t>
            </a:r>
            <a:r>
              <a:rPr lang="en-US" altLang="zh-CN" sz="2000" dirty="0">
                <a:solidFill>
                  <a:srgbClr val="333333"/>
                </a:solidFill>
                <a:ea typeface="经典平黑简"/>
              </a:rPr>
              <a:t>, </a:t>
            </a:r>
            <a:r>
              <a:rPr lang="en-US" altLang="zh-CN" sz="2000" dirty="0">
                <a:solidFill>
                  <a:srgbClr val="FF0000"/>
                </a:solidFill>
                <a:ea typeface="经典平黑简"/>
              </a:rPr>
              <a:t>-- mysql</a:t>
            </a:r>
            <a:r>
              <a:rPr lang="zh-CN" altLang="en-US" sz="2000" dirty="0">
                <a:solidFill>
                  <a:srgbClr val="FF0000"/>
                </a:solidFill>
                <a:ea typeface="经典平黑简"/>
              </a:rPr>
              <a:t>会按照主键建立聚簇索引</a:t>
            </a:r>
            <a:endParaRPr lang="en-US" altLang="zh-CN" sz="2000" dirty="0">
              <a:solidFill>
                <a:srgbClr val="FF0000"/>
              </a:solidFill>
              <a:ea typeface="经典平黑简"/>
            </a:endParaRPr>
          </a:p>
          <a:p>
            <a:pPr marL="495300" indent="-495300">
              <a:lnSpc>
                <a:spcPct val="110000"/>
              </a:lnSpc>
              <a:buNone/>
            </a:pPr>
            <a:r>
              <a:rPr lang="en-US" altLang="zh-CN" sz="2000" dirty="0">
                <a:solidFill>
                  <a:srgbClr val="333333"/>
                </a:solidFill>
                <a:ea typeface="经典平黑简"/>
              </a:rPr>
              <a:t>Sname CHAR(20),</a:t>
            </a:r>
            <a:endParaRPr lang="en-US" altLang="zh-CN" sz="2000" dirty="0">
              <a:solidFill>
                <a:srgbClr val="333333"/>
              </a:solidFill>
              <a:ea typeface="经典平黑简"/>
            </a:endParaRPr>
          </a:p>
          <a:p>
            <a:pPr marL="495300" indent="-495300">
              <a:lnSpc>
                <a:spcPct val="110000"/>
              </a:lnSpc>
              <a:buNone/>
            </a:pPr>
            <a:r>
              <a:rPr lang="en-US" altLang="zh-CN" sz="2000" dirty="0">
                <a:solidFill>
                  <a:srgbClr val="333333"/>
                </a:solidFill>
                <a:ea typeface="经典平黑简"/>
              </a:rPr>
              <a:t>Ssex CHAR(2),</a:t>
            </a:r>
            <a:endParaRPr lang="en-US" altLang="zh-CN" sz="2000" dirty="0">
              <a:solidFill>
                <a:srgbClr val="333333"/>
              </a:solidFill>
              <a:ea typeface="经典平黑简"/>
            </a:endParaRPr>
          </a:p>
          <a:p>
            <a:pPr marL="495300" indent="-495300">
              <a:lnSpc>
                <a:spcPct val="110000"/>
              </a:lnSpc>
              <a:buNone/>
            </a:pPr>
            <a:r>
              <a:rPr lang="en-US" altLang="zh-CN" sz="2000" dirty="0">
                <a:solidFill>
                  <a:srgbClr val="333333"/>
                </a:solidFill>
                <a:ea typeface="经典平黑简"/>
              </a:rPr>
              <a:t>Sage SMALLINT,</a:t>
            </a:r>
            <a:endParaRPr lang="en-US" altLang="zh-CN" sz="2000" dirty="0">
              <a:solidFill>
                <a:srgbClr val="333333"/>
              </a:solidFill>
              <a:ea typeface="经典平黑简"/>
            </a:endParaRPr>
          </a:p>
          <a:p>
            <a:pPr marL="495300" indent="-495300">
              <a:lnSpc>
                <a:spcPct val="110000"/>
              </a:lnSpc>
              <a:buNone/>
            </a:pPr>
            <a:r>
              <a:rPr lang="en-US" altLang="zh-CN" sz="2000" dirty="0">
                <a:solidFill>
                  <a:srgbClr val="333333"/>
                </a:solidFill>
                <a:ea typeface="经典平黑简"/>
              </a:rPr>
              <a:t>Sdept CHAR(20),</a:t>
            </a:r>
            <a:endParaRPr lang="en-US" altLang="zh-CN" sz="2000" dirty="0">
              <a:solidFill>
                <a:srgbClr val="333333"/>
              </a:solidFill>
              <a:ea typeface="经典平黑简"/>
            </a:endParaRPr>
          </a:p>
          <a:p>
            <a:pPr marL="495300" indent="-495300">
              <a:lnSpc>
                <a:spcPct val="110000"/>
              </a:lnSpc>
              <a:buNone/>
            </a:pPr>
            <a:r>
              <a:rPr lang="en-US" altLang="zh-CN" sz="2000" dirty="0">
                <a:solidFill>
                  <a:srgbClr val="FF0000"/>
                </a:solidFill>
                <a:ea typeface="经典平黑简"/>
              </a:rPr>
              <a:t>Index (sage),         -- index</a:t>
            </a:r>
            <a:r>
              <a:rPr lang="zh-CN" altLang="en-US" sz="2000" dirty="0">
                <a:solidFill>
                  <a:srgbClr val="FF0000"/>
                </a:solidFill>
                <a:ea typeface="经典平黑简"/>
              </a:rPr>
              <a:t>后面也可以自定义一个索引名，也可以省略</a:t>
            </a:r>
            <a:endParaRPr lang="en-US" altLang="zh-CN" sz="2000" dirty="0">
              <a:solidFill>
                <a:srgbClr val="FF0000"/>
              </a:solidFill>
              <a:ea typeface="经典平黑简"/>
            </a:endParaRPr>
          </a:p>
          <a:p>
            <a:pPr marL="495300" indent="-495300">
              <a:lnSpc>
                <a:spcPct val="110000"/>
              </a:lnSpc>
              <a:buNone/>
            </a:pPr>
            <a:r>
              <a:rPr lang="en-US" altLang="zh-CN" sz="2000" dirty="0">
                <a:solidFill>
                  <a:srgbClr val="FF0000"/>
                </a:solidFill>
                <a:ea typeface="经典平黑简"/>
              </a:rPr>
              <a:t>Unique index(sname)</a:t>
            </a:r>
            <a:endParaRPr lang="en-US" altLang="zh-CN" sz="2000" dirty="0">
              <a:solidFill>
                <a:srgbClr val="FF0000"/>
              </a:solidFill>
              <a:ea typeface="经典平黑简"/>
            </a:endParaRPr>
          </a:p>
          <a:p>
            <a:pPr marL="495300" indent="-495300">
              <a:lnSpc>
                <a:spcPct val="110000"/>
              </a:lnSpc>
              <a:buNone/>
            </a:pPr>
            <a:r>
              <a:rPr lang="en-US" altLang="zh-CN" sz="2000" dirty="0">
                <a:solidFill>
                  <a:srgbClr val="333333"/>
                </a:solidFill>
                <a:ea typeface="经典平黑简"/>
              </a:rPr>
              <a:t>);</a:t>
            </a:r>
            <a:endParaRPr lang="en-US" altLang="zh-CN" sz="2000" dirty="0">
              <a:solidFill>
                <a:srgbClr val="333333"/>
              </a:solidFill>
              <a:ea typeface="经典平黑简"/>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4387">
                                            <p:txEl>
                                              <p:charRg st="0" end="30"/>
                                            </p:txEl>
                                          </p:spTgt>
                                        </p:tgtEl>
                                        <p:attrNameLst>
                                          <p:attrName>style.visibility</p:attrName>
                                        </p:attrNameLst>
                                      </p:cBhvr>
                                      <p:to>
                                        <p:strVal val="visible"/>
                                      </p:to>
                                    </p:set>
                                    <p:animEffect transition="in" filter="blinds(horizontal)">
                                      <p:cBhvr>
                                        <p:cTn id="7" dur="500"/>
                                        <p:tgtEl>
                                          <p:spTgt spid="144387">
                                            <p:txEl>
                                              <p:charRg st="0"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4387">
                                            <p:txEl>
                                              <p:charRg st="30" end="39"/>
                                            </p:txEl>
                                          </p:spTgt>
                                        </p:tgtEl>
                                        <p:attrNameLst>
                                          <p:attrName>style.visibility</p:attrName>
                                        </p:attrNameLst>
                                      </p:cBhvr>
                                      <p:to>
                                        <p:strVal val="visible"/>
                                      </p:to>
                                    </p:set>
                                    <p:animEffect transition="in" filter="blinds(horizontal)">
                                      <p:cBhvr>
                                        <p:cTn id="12" dur="500"/>
                                        <p:tgtEl>
                                          <p:spTgt spid="144387">
                                            <p:txEl>
                                              <p:charRg st="30"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4387">
                                            <p:txEl>
                                              <p:charRg st="39" end="60"/>
                                            </p:txEl>
                                          </p:spTgt>
                                        </p:tgtEl>
                                        <p:attrNameLst>
                                          <p:attrName>style.visibility</p:attrName>
                                        </p:attrNameLst>
                                      </p:cBhvr>
                                      <p:to>
                                        <p:strVal val="visible"/>
                                      </p:to>
                                    </p:set>
                                    <p:animEffect transition="in" filter="blinds(horizontal)">
                                      <p:cBhvr>
                                        <p:cTn id="17" dur="500"/>
                                        <p:tgtEl>
                                          <p:spTgt spid="144387">
                                            <p:txEl>
                                              <p:charRg st="39"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4387">
                                            <p:txEl>
                                              <p:charRg st="96" end="112"/>
                                            </p:txEl>
                                          </p:spTgt>
                                        </p:tgtEl>
                                        <p:attrNameLst>
                                          <p:attrName>style.visibility</p:attrName>
                                        </p:attrNameLst>
                                      </p:cBhvr>
                                      <p:to>
                                        <p:strVal val="visible"/>
                                      </p:to>
                                    </p:set>
                                    <p:animEffect transition="in" filter="blinds(horizontal)">
                                      <p:cBhvr>
                                        <p:cTn id="22" dur="500"/>
                                        <p:tgtEl>
                                          <p:spTgt spid="144387">
                                            <p:txEl>
                                              <p:charRg st="96" end="1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4387">
                                            <p:txEl>
                                              <p:charRg st="112" end="126"/>
                                            </p:txEl>
                                          </p:spTgt>
                                        </p:tgtEl>
                                        <p:attrNameLst>
                                          <p:attrName>style.visibility</p:attrName>
                                        </p:attrNameLst>
                                      </p:cBhvr>
                                      <p:to>
                                        <p:strVal val="visible"/>
                                      </p:to>
                                    </p:set>
                                    <p:animEffect transition="in" filter="blinds(horizontal)">
                                      <p:cBhvr>
                                        <p:cTn id="27" dur="500"/>
                                        <p:tgtEl>
                                          <p:spTgt spid="144387">
                                            <p:txEl>
                                              <p:charRg st="112" end="12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4387">
                                            <p:txEl>
                                              <p:charRg st="126" end="141"/>
                                            </p:txEl>
                                          </p:spTgt>
                                        </p:tgtEl>
                                        <p:attrNameLst>
                                          <p:attrName>style.visibility</p:attrName>
                                        </p:attrNameLst>
                                      </p:cBhvr>
                                      <p:to>
                                        <p:strVal val="visible"/>
                                      </p:to>
                                    </p:set>
                                    <p:animEffect transition="in" filter="blinds(horizontal)">
                                      <p:cBhvr>
                                        <p:cTn id="32" dur="500"/>
                                        <p:tgtEl>
                                          <p:spTgt spid="144387">
                                            <p:txEl>
                                              <p:charRg st="126" end="14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4387">
                                            <p:txEl>
                                              <p:charRg st="141" end="157"/>
                                            </p:txEl>
                                          </p:spTgt>
                                        </p:tgtEl>
                                        <p:attrNameLst>
                                          <p:attrName>style.visibility</p:attrName>
                                        </p:attrNameLst>
                                      </p:cBhvr>
                                      <p:to>
                                        <p:strVal val="visible"/>
                                      </p:to>
                                    </p:set>
                                    <p:animEffect transition="in" filter="blinds(horizontal)">
                                      <p:cBhvr>
                                        <p:cTn id="37" dur="500"/>
                                        <p:tgtEl>
                                          <p:spTgt spid="144387">
                                            <p:txEl>
                                              <p:charRg st="141" end="15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4387">
                                            <p:txEl>
                                              <p:charRg st="157" end="207"/>
                                            </p:txEl>
                                          </p:spTgt>
                                        </p:tgtEl>
                                        <p:attrNameLst>
                                          <p:attrName>style.visibility</p:attrName>
                                        </p:attrNameLst>
                                      </p:cBhvr>
                                      <p:to>
                                        <p:strVal val="visible"/>
                                      </p:to>
                                    </p:set>
                                    <p:animEffect transition="in" filter="blinds(horizontal)">
                                      <p:cBhvr>
                                        <p:cTn id="42" dur="500"/>
                                        <p:tgtEl>
                                          <p:spTgt spid="144387">
                                            <p:txEl>
                                              <p:charRg st="157" end="20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44387">
                                            <p:txEl>
                                              <p:charRg st="207" end="227"/>
                                            </p:txEl>
                                          </p:spTgt>
                                        </p:tgtEl>
                                        <p:attrNameLst>
                                          <p:attrName>style.visibility</p:attrName>
                                        </p:attrNameLst>
                                      </p:cBhvr>
                                      <p:to>
                                        <p:strVal val="visible"/>
                                      </p:to>
                                    </p:set>
                                    <p:animEffect transition="in" filter="blinds(horizontal)">
                                      <p:cBhvr>
                                        <p:cTn id="47" dur="500"/>
                                        <p:tgtEl>
                                          <p:spTgt spid="144387">
                                            <p:txEl>
                                              <p:charRg st="207" end="22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44387">
                                            <p:txEl>
                                              <p:charRg st="227" end="230"/>
                                            </p:txEl>
                                          </p:spTgt>
                                        </p:tgtEl>
                                        <p:attrNameLst>
                                          <p:attrName>style.visibility</p:attrName>
                                        </p:attrNameLst>
                                      </p:cBhvr>
                                      <p:to>
                                        <p:strVal val="visible"/>
                                      </p:to>
                                    </p:set>
                                    <p:animEffect transition="in" filter="blinds(horizontal)">
                                      <p:cBhvr>
                                        <p:cTn id="52" dur="500"/>
                                        <p:tgtEl>
                                          <p:spTgt spid="144387">
                                            <p:txEl>
                                              <p:charRg st="227" end="2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标题 1"/>
          <p:cNvSpPr>
            <a:spLocks noGrp="1"/>
          </p:cNvSpPr>
          <p:nvPr>
            <p:ph type="title"/>
          </p:nvPr>
        </p:nvSpPr>
        <p:spPr>
          <a:ln/>
        </p:spPr>
        <p:txBody>
          <a:bodyPr vert="horz" wrap="square" lIns="91440" tIns="45720" rIns="91440" bIns="45720" anchor="b" anchorCtr="0"/>
          <a:p>
            <a:r>
              <a:rPr lang="zh-CN" altLang="en-US" dirty="0"/>
              <a:t>使用</a:t>
            </a:r>
            <a:r>
              <a:rPr lang="en-US" altLang="zh-CN" dirty="0"/>
              <a:t>MySQL</a:t>
            </a:r>
            <a:r>
              <a:rPr lang="zh-CN" altLang="en-US" dirty="0"/>
              <a:t>语句创建索引 </a:t>
            </a:r>
            <a:endParaRPr lang="zh-CN" altLang="en-US" dirty="0"/>
          </a:p>
        </p:txBody>
      </p:sp>
      <p:sp>
        <p:nvSpPr>
          <p:cNvPr id="68611" name="内容占位符 2"/>
          <p:cNvSpPr>
            <a:spLocks noGrp="1"/>
          </p:cNvSpPr>
          <p:nvPr>
            <p:ph idx="1"/>
          </p:nvPr>
        </p:nvSpPr>
        <p:spPr>
          <a:xfrm>
            <a:off x="566738" y="1071563"/>
            <a:ext cx="8001000" cy="53308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ts val="0"/>
              </a:spcBef>
              <a:spcAft>
                <a:spcPct val="0"/>
              </a:spcAft>
              <a:buClr>
                <a:schemeClr val="accent2"/>
              </a:buClr>
              <a:buSzTx/>
              <a:buFont typeface="Wingdings" panose="05000000000000000000" pitchFamily="2" charset="2"/>
              <a:buNone/>
              <a:defRPr/>
            </a:pPr>
            <a:r>
              <a:rPr kumimoji="0" lang="zh-CN" altLang="en-US" sz="2800" b="0" i="0" u="none" strike="noStrike" kern="0" cap="none" spc="0" normalizeH="0" baseline="0" noProof="1" dirty="0">
                <a:solidFill>
                  <a:schemeClr val="tx1"/>
                </a:solidFill>
                <a:latin typeface="+mn-lt"/>
                <a:ea typeface="+mn-ea"/>
                <a:cs typeface="+mn-cs"/>
                <a:sym typeface="+mn-ea"/>
              </a:rPr>
              <a:t>（</a:t>
            </a:r>
            <a:r>
              <a:rPr kumimoji="0" lang="en-US" altLang="zh-CN" sz="2800" b="0" i="0" u="none" strike="noStrike" kern="0" cap="none" spc="0" normalizeH="0" baseline="0" noProof="1" dirty="0">
                <a:solidFill>
                  <a:schemeClr val="tx1"/>
                </a:solidFill>
                <a:latin typeface="+mn-lt"/>
                <a:ea typeface="+mn-ea"/>
                <a:cs typeface="+mn-cs"/>
                <a:sym typeface="+mn-ea"/>
              </a:rPr>
              <a:t>2</a:t>
            </a:r>
            <a:r>
              <a:rPr kumimoji="0" lang="zh-CN" altLang="en-US" sz="2800" b="0" i="0" u="none" strike="noStrike" kern="0" cap="none" spc="0" normalizeH="0" baseline="0" noProof="1" dirty="0">
                <a:solidFill>
                  <a:schemeClr val="tx1"/>
                </a:solidFill>
                <a:latin typeface="+mn-lt"/>
                <a:ea typeface="+mn-ea"/>
                <a:cs typeface="+mn-cs"/>
                <a:sym typeface="+mn-ea"/>
              </a:rPr>
              <a:t>）在已经存在的表中添加索引</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语法</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1</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ALTER TABLE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表名 </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ADD[UNIQUE|FULLTEXT|SPATIAL] [INDEX|KEY]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索引名</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列名</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长度</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[ASC|DESC]</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例如：</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Alter table student add unique index (</a:t>
            </a:r>
            <a:r>
              <a:rPr kumimoji="0" lang="en-US" altLang="zh-CN" sz="2800" b="0" i="0" u="none" strike="noStrike" kern="0" cap="none" spc="0" normalizeH="0" baseline="0" noProof="0" dirty="0" err="1" smtClean="0">
                <a:ln>
                  <a:noFill/>
                </a:ln>
                <a:solidFill>
                  <a:schemeClr val="tx1"/>
                </a:solidFill>
                <a:effectLst/>
                <a:uLnTx/>
                <a:uFillTx/>
                <a:latin typeface="+mn-lt"/>
                <a:ea typeface="+mn-ea"/>
                <a:cs typeface="+mn-cs"/>
              </a:rPr>
              <a:t>sname</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语法</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2</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CREATE [UNIQUE|FULLTEXT|SPATIAL] INDEX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索引名 </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ON </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表名（列名</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（长度）</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[ASC|DESC] </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ts val="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例如：</a:t>
            </a:r>
            <a:r>
              <a:rPr kumimoji="0" lang="en-US" altLang="zh-CN" sz="2800" b="0" i="0" u="none" strike="noStrike" kern="0" cap="none" spc="0" normalizeH="0" baseline="0" noProof="0" dirty="0" smtClean="0">
                <a:ln>
                  <a:noFill/>
                </a:ln>
                <a:solidFill>
                  <a:schemeClr val="tx1"/>
                </a:solidFill>
                <a:effectLst/>
                <a:uLnTx/>
                <a:uFillTx/>
                <a:latin typeface="+mn-lt"/>
                <a:ea typeface="+mn-ea"/>
                <a:cs typeface="+mn-cs"/>
              </a:rPr>
              <a:t>create unique index index_sname on student (sname) asc</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ts val="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标题 1"/>
          <p:cNvSpPr>
            <a:spLocks noGrp="1"/>
          </p:cNvSpPr>
          <p:nvPr>
            <p:ph type="title"/>
          </p:nvPr>
        </p:nvSpPr>
        <p:spPr>
          <a:ln/>
        </p:spPr>
        <p:txBody>
          <a:bodyPr vert="horz" wrap="square" lIns="91440" tIns="45720" rIns="91440" bIns="45720" anchor="b" anchorCtr="0"/>
          <a:p>
            <a:r>
              <a:rPr lang="zh-CN" altLang="en-US" dirty="0"/>
              <a:t>使用</a:t>
            </a:r>
            <a:r>
              <a:rPr lang="en-US" altLang="zh-CN" dirty="0"/>
              <a:t>MySQL</a:t>
            </a:r>
            <a:r>
              <a:rPr lang="zh-CN" altLang="en-US" dirty="0"/>
              <a:t>语句创建索引 </a:t>
            </a:r>
            <a:endParaRPr lang="zh-CN" altLang="en-US" dirty="0"/>
          </a:p>
        </p:txBody>
      </p:sp>
      <p:sp>
        <p:nvSpPr>
          <p:cNvPr id="71683" name="内容占位符 2"/>
          <p:cNvSpPr>
            <a:spLocks noGrp="1"/>
          </p:cNvSpPr>
          <p:nvPr>
            <p:ph idx="1"/>
          </p:nvPr>
        </p:nvSpPr>
        <p:spPr>
          <a:xfrm>
            <a:off x="566738" y="1071563"/>
            <a:ext cx="8001000" cy="5192713"/>
          </a:xfrm>
        </p:spPr>
        <p:txBody>
          <a:bodyPr vert="horz" wrap="square" lIns="91440" tIns="45720" rIns="91440" bIns="45720" anchor="t" anchorCtr="0"/>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kern="0" cap="none" spc="0" normalizeH="0" baseline="0" noProof="1" dirty="0">
                <a:solidFill>
                  <a:schemeClr val="tx1"/>
                </a:solidFill>
                <a:latin typeface="+mn-lt"/>
                <a:ea typeface="+mn-ea"/>
                <a:cs typeface="+mn-cs"/>
              </a:rPr>
              <a:t>（</a:t>
            </a:r>
            <a:r>
              <a:rPr kumimoji="0" lang="en-US" altLang="zh-CN" sz="3000" b="0" i="0" u="none" strike="noStrike" kern="0" cap="none" spc="0" normalizeH="0" baseline="0" noProof="1" dirty="0">
                <a:solidFill>
                  <a:schemeClr val="tx1"/>
                </a:solidFill>
                <a:latin typeface="+mn-lt"/>
                <a:ea typeface="+mn-ea"/>
                <a:cs typeface="+mn-cs"/>
              </a:rPr>
              <a:t>3</a:t>
            </a:r>
            <a:r>
              <a:rPr kumimoji="0" lang="zh-CN" altLang="en-US" sz="3000" b="0" i="0" u="none" strike="noStrike" kern="0" cap="none" spc="0" normalizeH="0" baseline="0" noProof="1" dirty="0">
                <a:solidFill>
                  <a:schemeClr val="tx1"/>
                </a:solidFill>
                <a:latin typeface="+mn-lt"/>
                <a:ea typeface="+mn-ea"/>
                <a:cs typeface="+mn-cs"/>
              </a:rPr>
              <a:t>）查看索引：</a:t>
            </a:r>
            <a:endParaRPr kumimoji="0" lang="en-US" altLang="zh-CN" sz="30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en-US" altLang="zh-CN" sz="3000" b="0" i="0" u="none" strike="noStrike" kern="0" cap="none" spc="0" normalizeH="0" baseline="0" noProof="1" dirty="0">
                <a:solidFill>
                  <a:schemeClr val="tx1"/>
                </a:solidFill>
                <a:latin typeface="+mn-lt"/>
                <a:ea typeface="+mn-ea"/>
                <a:cs typeface="+mn-cs"/>
              </a:rPr>
              <a:t>show INDEX from sc</a:t>
            </a:r>
            <a:endParaRPr kumimoji="0" lang="en-US" altLang="zh-CN" sz="30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3000" b="0" i="0" u="none" strike="noStrike" kern="0" cap="none" spc="0" normalizeH="0" baseline="0" noProof="1" dirty="0">
                <a:solidFill>
                  <a:schemeClr val="tx1"/>
                </a:solidFill>
                <a:latin typeface="+mn-lt"/>
                <a:ea typeface="+mn-ea"/>
                <a:cs typeface="+mn-cs"/>
              </a:rPr>
              <a:t>（</a:t>
            </a:r>
            <a:r>
              <a:rPr kumimoji="0" lang="en-US" altLang="zh-CN" sz="3000" b="0" i="0" u="none" strike="noStrike" kern="0" cap="none" spc="0" normalizeH="0" baseline="0" noProof="1" dirty="0">
                <a:solidFill>
                  <a:schemeClr val="tx1"/>
                </a:solidFill>
                <a:latin typeface="+mn-lt"/>
                <a:ea typeface="+mn-ea"/>
                <a:cs typeface="+mn-cs"/>
              </a:rPr>
              <a:t>4</a:t>
            </a:r>
            <a:r>
              <a:rPr kumimoji="0" lang="zh-CN" altLang="en-US" sz="3000" b="0" i="0" u="none" strike="noStrike" kern="0" cap="none" spc="0" normalizeH="0" baseline="0" noProof="1" dirty="0">
                <a:solidFill>
                  <a:schemeClr val="tx1"/>
                </a:solidFill>
                <a:latin typeface="+mn-lt"/>
                <a:ea typeface="+mn-ea"/>
                <a:cs typeface="+mn-cs"/>
              </a:rPr>
              <a:t>）删除索引</a:t>
            </a:r>
            <a:endParaRPr kumimoji="0" lang="en-US" altLang="zh-CN" sz="30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3000" b="1" i="0" u="none" strike="noStrike" kern="0" cap="none" spc="0" normalizeH="0" baseline="0" noProof="1" dirty="0">
                <a:solidFill>
                  <a:srgbClr val="FF0000"/>
                </a:solidFill>
                <a:latin typeface="+mn-lt"/>
                <a:ea typeface="+mn-ea"/>
                <a:cs typeface="+mn-cs"/>
              </a:rPr>
              <a:t>语法</a:t>
            </a:r>
            <a:r>
              <a:rPr kumimoji="0" lang="en-US" altLang="zh-CN" sz="3000" b="1" i="0" u="none" strike="noStrike" kern="0" cap="none" spc="0" normalizeH="0" baseline="0" noProof="1" dirty="0">
                <a:solidFill>
                  <a:srgbClr val="FF0000"/>
                </a:solidFill>
                <a:latin typeface="+mn-lt"/>
                <a:ea typeface="+mn-ea"/>
                <a:cs typeface="+mn-cs"/>
              </a:rPr>
              <a:t>1</a:t>
            </a:r>
            <a:r>
              <a:rPr kumimoji="0" lang="zh-CN" altLang="en-US" sz="3000" b="1" i="0" u="none" strike="noStrike" kern="0" cap="none" spc="0" normalizeH="0" baseline="0" noProof="1" dirty="0">
                <a:solidFill>
                  <a:srgbClr val="FF0000"/>
                </a:solidFill>
                <a:latin typeface="+mn-lt"/>
                <a:ea typeface="+mn-ea"/>
                <a:cs typeface="+mn-cs"/>
              </a:rPr>
              <a:t>：</a:t>
            </a:r>
            <a:r>
              <a:rPr kumimoji="0" lang="en-US" altLang="zh-CN" sz="3000" b="0" i="0" u="none" strike="noStrike" kern="0" cap="none" spc="0" normalizeH="0" baseline="0" noProof="1" dirty="0">
                <a:solidFill>
                  <a:schemeClr val="tx1"/>
                </a:solidFill>
                <a:latin typeface="+mn-lt"/>
                <a:ea typeface="+mn-ea"/>
                <a:cs typeface="+mn-cs"/>
              </a:rPr>
              <a:t>ALTER TABLE </a:t>
            </a:r>
            <a:r>
              <a:rPr kumimoji="0" lang="zh-CN" altLang="en-US" sz="3000" b="0" i="0" u="none" strike="noStrike" kern="0" cap="none" spc="0" normalizeH="0" baseline="0" noProof="1" dirty="0">
                <a:solidFill>
                  <a:schemeClr val="tx1"/>
                </a:solidFill>
                <a:latin typeface="+mn-lt"/>
                <a:ea typeface="+mn-ea"/>
                <a:cs typeface="+mn-cs"/>
              </a:rPr>
              <a:t>表名 </a:t>
            </a:r>
            <a:r>
              <a:rPr kumimoji="0" lang="en-US" altLang="zh-CN" sz="3000" b="0" i="0" u="none" strike="noStrike" kern="0" cap="none" spc="0" normalizeH="0" baseline="0" noProof="1" dirty="0">
                <a:solidFill>
                  <a:schemeClr val="tx1"/>
                </a:solidFill>
                <a:latin typeface="+mn-lt"/>
                <a:ea typeface="+mn-ea"/>
                <a:cs typeface="+mn-cs"/>
              </a:rPr>
              <a:t>DROP INDEX </a:t>
            </a:r>
            <a:r>
              <a:rPr kumimoji="0" lang="zh-CN" altLang="en-US" sz="3000" b="0" i="0" u="none" strike="noStrike" kern="0" cap="none" spc="0" normalizeH="0" baseline="0" noProof="1" dirty="0">
                <a:solidFill>
                  <a:schemeClr val="tx1"/>
                </a:solidFill>
                <a:latin typeface="+mn-lt"/>
                <a:ea typeface="+mn-ea"/>
                <a:cs typeface="+mn-cs"/>
              </a:rPr>
              <a:t>索引名</a:t>
            </a:r>
            <a:endParaRPr kumimoji="0" lang="en-US" altLang="zh-CN" sz="30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3000" b="1" i="0" u="none" strike="noStrike" kern="0" cap="none" spc="0" normalizeH="0" baseline="0" noProof="1" dirty="0">
                <a:solidFill>
                  <a:srgbClr val="FF0000"/>
                </a:solidFill>
                <a:latin typeface="+mn-lt"/>
                <a:ea typeface="+mn-ea"/>
                <a:cs typeface="+mn-cs"/>
                <a:sym typeface="+mn-ea"/>
              </a:rPr>
              <a:t>例如：</a:t>
            </a:r>
            <a:r>
              <a:rPr kumimoji="0" lang="en-US" altLang="zh-CN" sz="3000" b="0" i="0" u="none" strike="noStrike" kern="0" cap="none" spc="0" normalizeH="0" baseline="0" noProof="1" dirty="0">
                <a:solidFill>
                  <a:schemeClr val="tx1"/>
                </a:solidFill>
                <a:latin typeface="+mn-lt"/>
                <a:ea typeface="+mn-ea"/>
                <a:cs typeface="+mn-cs"/>
                <a:sym typeface="+mn-ea"/>
              </a:rPr>
              <a:t>alter table student drop index </a:t>
            </a:r>
            <a:r>
              <a:rPr kumimoji="0" lang="en-US" altLang="zh-CN" sz="3000" b="0" i="0" u="none" strike="noStrike" kern="0" cap="none" spc="0" normalizeH="0" baseline="0" noProof="0" dirty="0" smtClean="0">
                <a:ln>
                  <a:noFill/>
                </a:ln>
                <a:solidFill>
                  <a:schemeClr val="tx1"/>
                </a:solidFill>
                <a:effectLst/>
                <a:uLnTx/>
                <a:uFillTx/>
                <a:latin typeface="+mn-lt"/>
                <a:ea typeface="+mn-ea"/>
                <a:cs typeface="+mn-cs"/>
                <a:sym typeface="+mn-ea"/>
              </a:rPr>
              <a:t>index_sname</a:t>
            </a:r>
            <a:endParaRPr kumimoji="0" lang="zh-CN" altLang="en-US" sz="3000" b="1" i="0" u="none" strike="noStrike" kern="0" cap="none" spc="0" normalizeH="0" baseline="0" noProof="1" dirty="0">
              <a:solidFill>
                <a:srgbClr val="FF0000"/>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3000" b="1" i="0" u="none" strike="noStrike" kern="0" cap="none" spc="0" normalizeH="0" baseline="0" noProof="1" dirty="0">
                <a:solidFill>
                  <a:srgbClr val="FF0000"/>
                </a:solidFill>
                <a:latin typeface="+mn-lt"/>
                <a:ea typeface="+mn-ea"/>
                <a:cs typeface="+mn-cs"/>
              </a:rPr>
              <a:t>语法</a:t>
            </a:r>
            <a:r>
              <a:rPr kumimoji="0" lang="en-US" altLang="zh-CN" sz="3000" b="1" i="0" u="none" strike="noStrike" kern="0" cap="none" spc="0" normalizeH="0" baseline="0" noProof="1" dirty="0">
                <a:solidFill>
                  <a:srgbClr val="FF0000"/>
                </a:solidFill>
                <a:latin typeface="+mn-lt"/>
                <a:ea typeface="+mn-ea"/>
                <a:cs typeface="+mn-cs"/>
              </a:rPr>
              <a:t>2</a:t>
            </a:r>
            <a:r>
              <a:rPr kumimoji="0" lang="zh-CN" altLang="en-US" sz="3000" b="1" i="0" u="none" strike="noStrike" kern="0" cap="none" spc="0" normalizeH="0" baseline="0" noProof="1" dirty="0">
                <a:solidFill>
                  <a:srgbClr val="FF0000"/>
                </a:solidFill>
                <a:latin typeface="+mn-lt"/>
                <a:ea typeface="+mn-ea"/>
                <a:cs typeface="+mn-cs"/>
              </a:rPr>
              <a:t>：</a:t>
            </a:r>
            <a:r>
              <a:rPr kumimoji="0" lang="en-US" altLang="zh-CN" sz="3000" b="0" i="0" u="none" strike="noStrike" kern="0" cap="none" spc="0" normalizeH="0" baseline="0" noProof="1" dirty="0">
                <a:solidFill>
                  <a:schemeClr val="tx1"/>
                </a:solidFill>
                <a:latin typeface="+mn-lt"/>
                <a:ea typeface="+mn-ea"/>
                <a:cs typeface="+mn-cs"/>
              </a:rPr>
              <a:t>DROP INDEX </a:t>
            </a:r>
            <a:r>
              <a:rPr kumimoji="0" lang="zh-CN" altLang="en-US" sz="3000" b="0" i="0" u="none" strike="noStrike" kern="0" cap="none" spc="0" normalizeH="0" baseline="0" noProof="1" dirty="0">
                <a:solidFill>
                  <a:schemeClr val="tx1"/>
                </a:solidFill>
                <a:latin typeface="+mn-lt"/>
                <a:ea typeface="+mn-ea"/>
                <a:cs typeface="+mn-cs"/>
              </a:rPr>
              <a:t>索引名 </a:t>
            </a:r>
            <a:r>
              <a:rPr kumimoji="0" lang="en-US" altLang="zh-CN" sz="3000" b="0" i="0" u="none" strike="noStrike" kern="0" cap="none" spc="0" normalizeH="0" baseline="0" noProof="1" dirty="0">
                <a:solidFill>
                  <a:schemeClr val="tx1"/>
                </a:solidFill>
                <a:latin typeface="+mn-lt"/>
                <a:ea typeface="+mn-ea"/>
                <a:cs typeface="+mn-cs"/>
              </a:rPr>
              <a:t>ON </a:t>
            </a:r>
            <a:r>
              <a:rPr kumimoji="0" lang="zh-CN" altLang="en-US" sz="3000" b="0" i="0" u="none" strike="noStrike" kern="0" cap="none" spc="0" normalizeH="0" baseline="0" noProof="1" dirty="0">
                <a:solidFill>
                  <a:schemeClr val="tx1"/>
                </a:solidFill>
                <a:latin typeface="+mn-lt"/>
                <a:ea typeface="+mn-ea"/>
                <a:cs typeface="+mn-cs"/>
              </a:rPr>
              <a:t>表名</a:t>
            </a:r>
            <a:endParaRPr kumimoji="0" lang="zh-CN" altLang="en-US" sz="30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3000" b="1" i="0" u="none" strike="noStrike" kern="0" cap="none" spc="0" normalizeH="0" baseline="0" noProof="1" dirty="0">
                <a:solidFill>
                  <a:srgbClr val="FF0000"/>
                </a:solidFill>
                <a:latin typeface="+mn-lt"/>
                <a:ea typeface="+mn-ea"/>
                <a:cs typeface="+mn-cs"/>
              </a:rPr>
              <a:t>例如：</a:t>
            </a:r>
            <a:r>
              <a:rPr kumimoji="0" lang="en-US" altLang="zh-CN" sz="3000" b="0" i="0" u="none" strike="noStrike" kern="0" cap="none" spc="0" normalizeH="0" baseline="0" noProof="1" dirty="0">
                <a:solidFill>
                  <a:schemeClr val="tx1"/>
                </a:solidFill>
                <a:latin typeface="+mn-lt"/>
                <a:ea typeface="+mn-ea"/>
                <a:cs typeface="+mn-cs"/>
              </a:rPr>
              <a:t>drop index </a:t>
            </a:r>
            <a:r>
              <a:rPr kumimoji="0" lang="en-US" altLang="zh-CN" sz="3000" b="0" i="0" u="none" strike="noStrike" kern="0" cap="none" spc="0" normalizeH="0" baseline="0" noProof="0" dirty="0" smtClean="0">
                <a:ln>
                  <a:noFill/>
                </a:ln>
                <a:solidFill>
                  <a:schemeClr val="tx1"/>
                </a:solidFill>
                <a:effectLst/>
                <a:uLnTx/>
                <a:uFillTx/>
                <a:latin typeface="+mn-lt"/>
                <a:ea typeface="+mn-ea"/>
                <a:cs typeface="+mn-cs"/>
                <a:sym typeface="+mn-ea"/>
              </a:rPr>
              <a:t>index_sname on student</a:t>
            </a:r>
            <a:endParaRPr kumimoji="0" lang="en-US" altLang="zh-CN" sz="3000" b="0" i="0" u="none" strike="noStrike" kern="0" cap="none" spc="0" normalizeH="0" baseline="0" noProof="1" dirty="0">
              <a:solidFill>
                <a:schemeClr val="tx1"/>
              </a:solidFill>
              <a:latin typeface="+mn-lt"/>
              <a:ea typeface="+mn-ea"/>
              <a:cs typeface="+mn-cs"/>
            </a:endParaRPr>
          </a:p>
        </p:txBody>
      </p:sp>
    </p:spTree>
  </p:cSld>
  <p:clrMapOvr>
    <a:masterClrMapping/>
  </p:clrMapOvr>
  <p:transition advClick="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标题 1"/>
          <p:cNvSpPr>
            <a:spLocks noGrp="1"/>
          </p:cNvSpPr>
          <p:nvPr>
            <p:ph type="title"/>
          </p:nvPr>
        </p:nvSpPr>
        <p:spPr>
          <a:ln/>
        </p:spPr>
        <p:txBody>
          <a:bodyPr vert="horz" wrap="square" lIns="91440" tIns="45720" rIns="91440" bIns="45720" anchor="b" anchorCtr="0"/>
          <a:p>
            <a:endParaRPr lang="zh-CN" altLang="en-US" dirty="0"/>
          </a:p>
        </p:txBody>
      </p:sp>
      <p:sp>
        <p:nvSpPr>
          <p:cNvPr id="125954" name="内容占位符 2"/>
          <p:cNvSpPr>
            <a:spLocks noGrp="1"/>
          </p:cNvSpPr>
          <p:nvPr>
            <p:ph idx="1"/>
          </p:nvPr>
        </p:nvSpPr>
        <p:spPr>
          <a:ln/>
        </p:spPr>
        <p:txBody>
          <a:bodyPr vert="horz" wrap="square" lIns="91440" tIns="45720" rIns="91440" bIns="45720" anchor="t" anchorCtr="0"/>
          <a:p>
            <a:endParaRPr lang="zh-CN" altLang="en-US" dirty="0"/>
          </a:p>
        </p:txBody>
      </p:sp>
    </p:spTree>
  </p:cSld>
  <p:clrMapOvr>
    <a:masterClrMapping/>
  </p:clrMapOvr>
  <p:transition advClick="0"/>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11646</Words>
  <Application>WPS 演示</Application>
  <PresentationFormat>全屏显示(4:3)</PresentationFormat>
  <Paragraphs>848</Paragraphs>
  <Slides>68</Slides>
  <Notes>51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0</vt:i4>
      </vt:variant>
      <vt:variant>
        <vt:lpstr>幻灯片标题</vt:lpstr>
      </vt:variant>
      <vt:variant>
        <vt:i4>68</vt:i4>
      </vt:variant>
    </vt:vector>
  </HeadingPairs>
  <TitlesOfParts>
    <vt:vector size="82" baseType="lpstr">
      <vt:lpstr>Arial</vt:lpstr>
      <vt:lpstr>宋体</vt:lpstr>
      <vt:lpstr>Wingdings</vt:lpstr>
      <vt:lpstr>Verdana</vt:lpstr>
      <vt:lpstr>Calibri</vt:lpstr>
      <vt:lpstr>黑体</vt:lpstr>
      <vt:lpstr>Times New Roman</vt:lpstr>
      <vt:lpstr>Arial Narrow</vt:lpstr>
      <vt:lpstr>经典粗宋简</vt:lpstr>
      <vt:lpstr>Courier New</vt:lpstr>
      <vt:lpstr>经典平黑简</vt:lpstr>
      <vt:lpstr>微软雅黑</vt:lpstr>
      <vt:lpstr>Arial Unicode MS</vt:lpstr>
      <vt:lpstr>Profile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shr</cp:lastModifiedBy>
  <cp:revision>148</cp:revision>
  <dcterms:created xsi:type="dcterms:W3CDTF">2014-03-04T01:24:19Z</dcterms:created>
  <dcterms:modified xsi:type="dcterms:W3CDTF">2026-05-10T13:42:43Z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90F776B062ED4D3A8A5C65C045232391_12</vt:lpwstr>
  </property>
  <property fmtid="{D5CDD505-2E9C-101B-9397-08002B2CF9AE}" pid="3" name="KSOProductBuildVer">
    <vt:lpwstr>2052-12.1.0.26375</vt:lpwstr>
  </property>
</Properties>
</file>